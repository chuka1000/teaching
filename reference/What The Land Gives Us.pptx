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Six clicks.</a:t>
            </a:r>
          </a:p>
          <a:p>
            <a:pPr/>
          </a:p>
          <a:p>
            <a:pPr/>
            <a:r>
              <a:t>Q1-3 ARE STRAIGHT RETRIEVAL from Human Population Growth. Q2 in particular: that deck covered land clearing for food in one sentence, this lesson builds on it rather than re-teaching it.</a:t>
            </a:r>
          </a:p>
          <a:p>
            <a:pPr/>
          </a:p>
          <a:p>
            <a:pPr/>
            <a:r>
              <a:t>Q4-6 ARE INTUITIVE, NOT TAUGHT YET. Accept any reasonable answer. They are priming today's vocabulary, not testing it.</a:t>
            </a:r>
          </a:p>
          <a:p>
            <a:pPr/>
          </a:p>
          <a:p>
            <a:pPr/>
            <a:r>
              <a:t>TAUGHT IDENTICALLY TO 9G AND 9I. 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TODAY. 1 minute. Four clicks.</a:t>
            </a:r>
          </a:p>
          <a:p>
            <a:pPr/>
          </a:p>
          <a:p>
            <a:pPr/>
            <a:r>
              <a:t>OBJECTIVE 3 IS WHY THIS LESSON EXISTS. Say that directly: 1 and 2 set it up, 3 is the point. The banner is that promise, made once, up front.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Shape 115"/>
          <p:cNvSpPr/>
          <p:nvPr>
            <p:ph type="sldImg"/>
          </p:nvPr>
        </p:nvSpPr>
        <p:spPr>
          <a:prstGeom prst="rect">
            <a:avLst/>
          </a:prstGeom>
        </p:spPr>
        <p:txBody>
          <a:bodyPr/>
          <a:lstStyle/>
          <a:p>
            <a:pPr/>
          </a:p>
        </p:txBody>
      </p:sp>
      <p:sp>
        <p:nvSpPr>
          <p:cNvPr id="116" name="Shape 116"/>
          <p:cNvSpPr/>
          <p:nvPr>
            <p:ph type="body" sz="quarter" idx="1"/>
          </p:nvPr>
        </p:nvSpPr>
        <p:spPr>
          <a:prstGeom prst="rect">
            <a:avLst/>
          </a:prstGeom>
        </p:spPr>
        <p:txBody>
          <a:bodyPr/>
          <a:lstStyle/>
          <a:p>
            <a:pPr/>
            <a:r>
              <a:t>HOOK. 2 minutes. Four clicks.</a:t>
            </a:r>
          </a:p>
          <a:p>
            <a:pPr/>
          </a:p>
          <a:p>
            <a:pPr/>
            <a:r>
              <a:t>Hands up for each. Tally on the board. Expect A: most students have never thought about soil having a formation time at all.</a:t>
            </a:r>
          </a:p>
          <a:p>
            <a:pPr/>
          </a:p>
          <a:p>
            <a:pPr/>
            <a:r>
              <a:t>DO NOT REVEAL THE ANSWER HERE. Say "let's find out" and move to I Do.</a:t>
            </a:r>
          </a:p>
          <a:p>
            <a:pPr/>
          </a:p>
          <a:p>
            <a:pPr/>
            <a:r>
              <a:t>ANSWER, FOR YOU: B. Not literally as slow as coal (millions of years), but far slower than anyone's intuition: roughly a few hundred to about a thousand years for a few centimetres, depending on climate.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145"/>
          <p:cNvSpPr/>
          <p:nvPr>
            <p:ph type="sldImg"/>
          </p:nvPr>
        </p:nvSpPr>
        <p:spPr>
          <a:prstGeom prst="rect">
            <a:avLst/>
          </a:prstGeom>
        </p:spPr>
        <p:txBody>
          <a:bodyPr/>
          <a:lstStyle/>
          <a:p>
            <a:pPr/>
          </a:p>
        </p:txBody>
      </p:sp>
      <p:sp>
        <p:nvSpPr>
          <p:cNvPr id="146" name="Shape 146"/>
          <p:cNvSpPr/>
          <p:nvPr>
            <p:ph type="body" sz="quarter" idx="1"/>
          </p:nvPr>
        </p:nvSpPr>
        <p:spPr>
          <a:prstGeom prst="rect">
            <a:avLst/>
          </a:prstGeom>
        </p:spPr>
        <p:txBody>
          <a:bodyPr/>
          <a:lstStyle/>
          <a:p>
            <a:pPr/>
            <a:r>
              <a:t>I DO. 3 minutes. One click, the whole row at once.</a:t>
            </a:r>
          </a:p>
          <a:p>
            <a:pPr/>
          </a:p>
          <a:p>
            <a:pPr/>
            <a:r>
              <a:t>THIS SLIDE IS DELIBERATELY THIN. Name the five, spend about two minutes total, and say so: "you do not need to memorise this list, you need to understand the next two slides properly."</a:t>
            </a:r>
          </a:p>
          <a:p>
            <a:pPr/>
          </a:p>
          <a:p>
            <a:pPr/>
            <a:r>
              <a:t>FOOD IS THE ONE THEY ALREADY PARTLY KNOW, from last lesson's land clearing. Do not re-explain it, just point at it and move on.</a:t>
            </a:r>
          </a:p>
          <a:p>
            <a:pPr/>
          </a:p>
          <a:p>
            <a:pPr/>
            <a:r>
              <a:t>ENERGY IS A USEFUL FORESHADOW: coal formed over millions of years, from the Hook. Point back at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a:r>
              <a:t>I DO. 3 minutes. Five clicks: four parts, then the banner.</a:t>
            </a:r>
          </a:p>
          <a:p>
            <a:pPr/>
          </a:p>
          <a:p>
            <a:pPr/>
            <a:r>
              <a:t>"SOIL IS NOT JUST DIRT" IS THE LINE TO SAY OUT LOUD. Most students think of it as crushed-up rock. The organic matter and living organisms are the part that usually gets missed.</a:t>
            </a:r>
          </a:p>
          <a:p>
            <a:pPr/>
          </a:p>
          <a:p>
            <a:pPr/>
            <a:r>
              <a:t>THE BANNER CONNECTS BACK TO "PRODUCER", from Do Now Q3 and Human Population Growth. This is where that definition actually happens, physically.</a:t>
            </a:r>
          </a:p>
          <a:p>
            <a:pPr/>
          </a:p>
          <a:p>
            <a:pPr/>
            <a:r>
              <a:t>THIS SLIDE IS THE FOUNDATION FOR OBJECTIVE 3. If soil is just broken rock, it is hard to see why it would take so long to form. Once dead organic matter and living organisms are in the picture, "it takes time to build up" makes more sense.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r>
              <a:t>WE DO. 5 minutes. Four clicks. Take answers from the room first.</a:t>
            </a:r>
          </a:p>
          <a:p>
            <a:pPr/>
          </a:p>
          <a:p>
            <a:pPr/>
            <a:r>
              <a:t>ROW 1 IS OBJECTIVE 2. ROWS 2-4 ARE ALL OBJECTIVE 3, from different angles. That is deliberate, per the brief: objective 3 gets more airtime than 1 and 2 combined.</a:t>
            </a:r>
          </a:p>
          <a:p>
            <a:pPr/>
          </a:p>
          <a:p>
            <a:pPr/>
            <a:r>
              <a:t>ROW 3 USES THE HOOK'S OWN COMPARISON. Point back at the tally.</a:t>
            </a:r>
          </a:p>
          <a:p>
            <a:pPr/>
          </a:p>
          <a:p>
            <a:pPr/>
            <a:r>
              <a:t>ROW 4 IS THE MOST COMMON REAL-WORLD VERSION OF THE MISCONCEPTION. Ask a follow-up: "so what actually makes something count as non-renewable?" Answer: not whether it CAN reform, but whether it reforms fast enough to matter on a human timescale.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Shape 250"/>
          <p:cNvSpPr/>
          <p:nvPr>
            <p:ph type="sldImg"/>
          </p:nvPr>
        </p:nvSpPr>
        <p:spPr>
          <a:prstGeom prst="rect">
            <a:avLst/>
          </a:prstGeom>
        </p:spPr>
        <p:txBody>
          <a:bodyPr/>
          <a:lstStyle/>
          <a:p>
            <a:pPr/>
          </a:p>
        </p:txBody>
      </p:sp>
      <p:sp>
        <p:nvSpPr>
          <p:cNvPr id="251" name="Shape 251"/>
          <p:cNvSpPr/>
          <p:nvPr>
            <p:ph type="body" sz="quarter" idx="1"/>
          </p:nvPr>
        </p:nvSpPr>
        <p:spPr>
          <a:prstGeom prst="rect">
            <a:avLst/>
          </a:prstGeom>
        </p:spPr>
        <p:txBody>
          <a:bodyPr/>
          <a:lstStyle/>
          <a:p>
            <a:pPr/>
            <a:r>
              <a:t>COLD CALL. 6 minutes. Six clicks. Name a student, then ask. Thinking time before the answer.</a:t>
            </a:r>
          </a:p>
          <a:p>
            <a:pPr/>
          </a:p>
          <a:p>
            <a:pPr/>
            <a:r>
              <a:t>Q1 HAS SEVERAL RIGHT ANSWERS, same pattern as Human Population Growth's Cold Call Q3. Take two or three, do not just accept the first and move on.</a:t>
            </a:r>
          </a:p>
          <a:p>
            <a:pPr/>
          </a:p>
          <a:p>
            <a:pPr/>
            <a:r>
              <a:t>Q4-6 ARE OBJECTIVE 3, cold, in three different phrasings. This is the rehearsal for Gold on the worksheet.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Shape 276"/>
          <p:cNvSpPr/>
          <p:nvPr>
            <p:ph type="sldImg"/>
          </p:nvPr>
        </p:nvSpPr>
        <p:spPr>
          <a:prstGeom prst="rect">
            <a:avLst/>
          </a:prstGeom>
        </p:spPr>
        <p:txBody>
          <a:bodyPr/>
          <a:lstStyle/>
          <a:p>
            <a:pPr/>
          </a:p>
        </p:txBody>
      </p:sp>
      <p:sp>
        <p:nvSpPr>
          <p:cNvPr id="277" name="Shape 277"/>
          <p:cNvSpPr/>
          <p:nvPr>
            <p:ph type="body" sz="quarter" idx="1"/>
          </p:nvPr>
        </p:nvSpPr>
        <p:spPr>
          <a:prstGeom prst="rect">
            <a:avLst/>
          </a:prstGeom>
        </p:spPr>
        <p:txBody>
          <a:bodyPr/>
          <a:lstStyle/>
          <a:p>
            <a:pPr/>
            <a:r>
              <a:t>YOU DO. 14 minutes. Four clicks.</a:t>
            </a:r>
          </a:p>
          <a:p>
            <a:pPr/>
          </a:p>
          <a:p>
            <a:pPr/>
            <a:r>
              <a:t>CIRCULATE WITH ONE QUESTION: "how fast does that happen, compared to how fast we use it?"</a:t>
            </a:r>
          </a:p>
          <a:p>
            <a:pPr/>
          </a:p>
          <a:p>
            <a:pPr/>
            <a:r>
              <a:t>WHERE THEY WILL STALL: Gold Q9, judging the farmer's claim, rather than just repeating the definition. Last lesson flagged "judging a claim" as a stall point too, this is deliberately the same skill, applied again.</a:t>
            </a:r>
          </a:p>
          <a:p>
            <a:pPr/>
          </a:p>
          <a:p>
            <a:pPr/>
            <a:r>
              <a:t>AT 3 MINUTES REMAINING, stop them. Answers are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4" name="Shape 324"/>
          <p:cNvSpPr/>
          <p:nvPr>
            <p:ph type="sldImg"/>
          </p:nvPr>
        </p:nvSpPr>
        <p:spPr>
          <a:prstGeom prst="rect">
            <a:avLst/>
          </a:prstGeom>
        </p:spPr>
        <p:txBody>
          <a:bodyPr/>
          <a:lstStyle/>
          <a:p>
            <a:pPr/>
          </a:p>
        </p:txBody>
      </p:sp>
      <p:sp>
        <p:nvSpPr>
          <p:cNvPr id="325" name="Shape 325"/>
          <p:cNvSpPr/>
          <p:nvPr>
            <p:ph type="body" sz="quarter" idx="1"/>
          </p:nvPr>
        </p:nvSpPr>
        <p:spPr>
          <a:prstGeom prst="rect">
            <a:avLst/>
          </a:prstGeom>
        </p:spPr>
        <p:txBody>
          <a:bodyPr/>
          <a:lstStyle/>
          <a:p>
            <a:pPr/>
            <a:r>
              <a:t>ANSWERS. 3 minutes. Five clicks, two at a time. They mark their own in a different colour.</a:t>
            </a:r>
          </a:p>
          <a:p>
            <a:pPr/>
          </a:p>
          <a:p>
            <a:pPr/>
            <a:r>
              <a:t>Q8, Q9 AND Q10 ARE THE REAL TEST OF TODAY. Take two or three student answers out loud for each rather than reading the model answer straight off the slide, the reasoning is the point, not the exact wording.</a:t>
            </a:r>
          </a:p>
          <a:p>
            <a:pPr/>
          </a:p>
          <a:p>
            <a:pPr/>
            <a:r>
              <a:t>Q9 IS THE LESSON'S THESIS, restated as a judgement. If it is shaky, that is worth five minutes at the start of next lesson before anything new.</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Shape 353"/>
          <p:cNvSpPr/>
          <p:nvPr>
            <p:ph type="sldImg"/>
          </p:nvPr>
        </p:nvSpPr>
        <p:spPr>
          <a:prstGeom prst="rect">
            <a:avLst/>
          </a:prstGeom>
        </p:spPr>
        <p:txBody>
          <a:bodyPr/>
          <a:lstStyle/>
          <a:p>
            <a:pPr/>
          </a:p>
        </p:txBody>
      </p:sp>
      <p:sp>
        <p:nvSpPr>
          <p:cNvPr id="354" name="Shape 354"/>
          <p:cNvSpPr/>
          <p:nvPr>
            <p:ph type="body" sz="quarter" idx="1"/>
          </p:nvPr>
        </p:nvSpPr>
        <p:spPr>
          <a:prstGeom prst="rect">
            <a:avLst/>
          </a:prstGeom>
        </p:spPr>
        <p:txBody>
          <a:bodyPr/>
          <a:lstStyle/>
          <a:p>
            <a:pPr/>
            <a:r>
              <a:t>PLENARY. 3 minutes. Six clicks.</a:t>
            </a:r>
          </a:p>
          <a:p>
            <a:pPr/>
          </a:p>
          <a:p>
            <a:pPr/>
            <a:r>
              <a:t>Q3 IS THE AVOID POINT AND OBJECTIVE 3, asked directly. If this splits the room, that is the first five minutes of next lesson, not a footnote.</a:t>
            </a:r>
          </a:p>
          <a:p>
            <a:pPr/>
          </a:p>
          <a:p>
            <a:pPr/>
            <a:r>
              <a:t>Q5 IS THE HONEST TEST of whether the formation-vs-loss comparison actually landed. Ask a follow-up: "so is soil renewable or not?" Answer: technically yes, practically no, on any timescale a person lives through.</a:t>
            </a:r>
          </a:p>
          <a:p>
            <a:pPr/>
          </a:p>
          <a:p>
            <a:pPr/>
            <a:r>
              <a:t>The closing line extends the Today banner. That repetition is deliberate.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926079" y="350520"/>
            <a:ext cx="630936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100">
                <a:solidFill>
                  <a:srgbClr val="3D2B1F"/>
                </a:solidFill>
                <a:latin typeface="Georgia"/>
                <a:ea typeface="Georgia"/>
                <a:cs typeface="Georgia"/>
                <a:sym typeface="Georgia"/>
              </a:defRPr>
            </a:lvl1pPr>
          </a:lstStyle>
          <a:p>
            <a:pPr/>
            <a:r>
              <a:t>What The Land Gives Us</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6B5A48"/>
                </a:solidFill>
                <a:latin typeface="Arial"/>
                <a:ea typeface="Arial"/>
                <a:cs typeface="Arial"/>
                <a:sym typeface="Arial"/>
              </a:defRPr>
            </a:lvl1pPr>
          </a:lstStyle>
          <a:p>
            <a:pPr/>
            <a:r>
              <a:t>Thursday 24 September 2026</a:t>
            </a:r>
          </a:p>
        </p:txBody>
      </p:sp>
      <p:sp>
        <p:nvSpPr>
          <p:cNvPr id="26" name="rule"/>
          <p:cNvSpPr/>
          <p:nvPr/>
        </p:nvSpPr>
        <p:spPr>
          <a:xfrm>
            <a:off x="1170432" y="896111"/>
            <a:ext cx="10472623" cy="36577"/>
          </a:xfrm>
          <a:prstGeom prst="rect">
            <a:avLst/>
          </a:prstGeom>
          <a:solidFill>
            <a:srgbClr val="C99A3D"/>
          </a:solidFill>
          <a:ln w="12700">
            <a:solidFill>
              <a:srgbClr val="C99A3D"/>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28" name="d0_badge"/>
          <p:cNvSpPr/>
          <p:nvPr/>
        </p:nvSpPr>
        <p:spPr>
          <a:xfrm>
            <a:off x="1371600" y="1298447"/>
            <a:ext cx="384048" cy="384049"/>
          </a:xfrm>
          <a:prstGeom prst="ellipse">
            <a:avLst/>
          </a:prstGeom>
          <a:solidFill>
            <a:srgbClr val="C99A3D"/>
          </a:solidFill>
          <a:ln w="12700">
            <a:solidFill>
              <a:srgbClr val="C99A3D"/>
            </a:solidFill>
          </a:ln>
        </p:spPr>
        <p:txBody>
          <a:bodyPr lIns="45719" rIns="45719"/>
          <a:lstStyle/>
          <a:p>
            <a:pPr/>
          </a:p>
        </p:txBody>
      </p:sp>
      <p:sp>
        <p:nvSpPr>
          <p:cNvPr id="29" name="d0_num"/>
          <p:cNvSpPr txBox="1"/>
          <p:nvPr/>
        </p:nvSpPr>
        <p:spPr>
          <a:xfrm>
            <a:off x="1371600" y="138887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30" name="d0_q"/>
          <p:cNvSpPr txBox="1"/>
          <p:nvPr/>
        </p:nvSpPr>
        <p:spPr>
          <a:xfrm>
            <a:off x="1901951" y="1260762"/>
            <a:ext cx="416646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the difference between a community and a population.</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32" name="A community is multiple population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A community is multiple populations.</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35" name="d1_badge"/>
          <p:cNvSpPr/>
          <p:nvPr/>
        </p:nvSpPr>
        <p:spPr>
          <a:xfrm>
            <a:off x="6745072" y="1298447"/>
            <a:ext cx="384049" cy="384049"/>
          </a:xfrm>
          <a:prstGeom prst="ellipse">
            <a:avLst/>
          </a:prstGeom>
          <a:solidFill>
            <a:srgbClr val="C99A3D"/>
          </a:solidFill>
          <a:ln w="12700">
            <a:solidFill>
              <a:srgbClr val="C99A3D"/>
            </a:solidFill>
          </a:ln>
        </p:spPr>
        <p:txBody>
          <a:bodyPr lIns="45719" rIns="45719"/>
          <a:lstStyle/>
          <a:p>
            <a:pPr/>
          </a:p>
        </p:txBody>
      </p:sp>
      <p:sp>
        <p:nvSpPr>
          <p:cNvPr id="36" name="d1_num"/>
          <p:cNvSpPr txBox="1"/>
          <p:nvPr/>
        </p:nvSpPr>
        <p:spPr>
          <a:xfrm>
            <a:off x="6745072" y="138887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37" name="d1_q"/>
          <p:cNvSpPr txBox="1"/>
          <p:nvPr/>
        </p:nvSpPr>
        <p:spPr>
          <a:xfrm>
            <a:off x="7275424" y="1260762"/>
            <a:ext cx="416646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Name one thing that happens to forests as the human population grows.</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39" name="They are cleared to grow food."/>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They are cleared to grow food.</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2" name="d2_badge"/>
          <p:cNvSpPr/>
          <p:nvPr/>
        </p:nvSpPr>
        <p:spPr>
          <a:xfrm>
            <a:off x="1371600" y="2962655"/>
            <a:ext cx="384048" cy="384049"/>
          </a:xfrm>
          <a:prstGeom prst="ellipse">
            <a:avLst/>
          </a:prstGeom>
          <a:solidFill>
            <a:srgbClr val="C99A3D"/>
          </a:solidFill>
          <a:ln w="12700">
            <a:solidFill>
              <a:srgbClr val="C99A3D"/>
            </a:solidFill>
          </a:ln>
        </p:spPr>
        <p:txBody>
          <a:bodyPr lIns="45719" rIns="45719"/>
          <a:lstStyle/>
          <a:p>
            <a:pPr/>
          </a:p>
        </p:txBody>
      </p:sp>
      <p:sp>
        <p:nvSpPr>
          <p:cNvPr id="43" name="d2_num"/>
          <p:cNvSpPr txBox="1"/>
          <p:nvPr/>
        </p:nvSpPr>
        <p:spPr>
          <a:xfrm>
            <a:off x="1371600" y="30530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44" name="d2_q"/>
          <p:cNvSpPr txBox="1"/>
          <p:nvPr/>
        </p:nvSpPr>
        <p:spPr>
          <a:xfrm>
            <a:off x="1901951" y="3045620"/>
            <a:ext cx="4166465"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what a producer does.</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46" name="Makes its own food using light."/>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Makes its own food using light.</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9" name="d3_badge"/>
          <p:cNvSpPr/>
          <p:nvPr/>
        </p:nvSpPr>
        <p:spPr>
          <a:xfrm>
            <a:off x="6745072" y="2962655"/>
            <a:ext cx="384049" cy="384049"/>
          </a:xfrm>
          <a:prstGeom prst="ellipse">
            <a:avLst/>
          </a:prstGeom>
          <a:solidFill>
            <a:srgbClr val="C99A3D"/>
          </a:solidFill>
          <a:ln w="12700">
            <a:solidFill>
              <a:srgbClr val="C99A3D"/>
            </a:solidFill>
          </a:ln>
        </p:spPr>
        <p:txBody>
          <a:bodyPr lIns="45719" rIns="45719"/>
          <a:lstStyle/>
          <a:p>
            <a:pPr/>
          </a:p>
        </p:txBody>
      </p:sp>
      <p:sp>
        <p:nvSpPr>
          <p:cNvPr id="50" name="d3_num"/>
          <p:cNvSpPr txBox="1"/>
          <p:nvPr/>
        </p:nvSpPr>
        <p:spPr>
          <a:xfrm>
            <a:off x="6745072" y="30530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4</a:t>
            </a:r>
          </a:p>
        </p:txBody>
      </p:sp>
      <p:sp>
        <p:nvSpPr>
          <p:cNvPr id="51" name="d3_q"/>
          <p:cNvSpPr txBox="1"/>
          <p:nvPr/>
        </p:nvSpPr>
        <p:spPr>
          <a:xfrm>
            <a:off x="7275424" y="3045620"/>
            <a:ext cx="4166465"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one thing a growing plant takes from soil.</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53" name="Water and nutrients (any correct example)."/>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Water and nutrients (any correct example).</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56" name="d4_badge"/>
          <p:cNvSpPr/>
          <p:nvPr/>
        </p:nvSpPr>
        <p:spPr>
          <a:xfrm>
            <a:off x="1371600" y="4626864"/>
            <a:ext cx="384048" cy="384049"/>
          </a:xfrm>
          <a:prstGeom prst="ellipse">
            <a:avLst/>
          </a:prstGeom>
          <a:solidFill>
            <a:srgbClr val="C99A3D"/>
          </a:solidFill>
          <a:ln w="12700">
            <a:solidFill>
              <a:srgbClr val="C99A3D"/>
            </a:solidFill>
          </a:ln>
        </p:spPr>
        <p:txBody>
          <a:bodyPr lIns="45719" rIns="45719"/>
          <a:lstStyle/>
          <a:p>
            <a:pPr/>
          </a:p>
        </p:txBody>
      </p:sp>
      <p:sp>
        <p:nvSpPr>
          <p:cNvPr id="57" name="d4_num"/>
          <p:cNvSpPr txBox="1"/>
          <p:nvPr/>
        </p:nvSpPr>
        <p:spPr>
          <a:xfrm>
            <a:off x="1371600" y="47172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5</a:t>
            </a:r>
          </a:p>
        </p:txBody>
      </p:sp>
      <p:sp>
        <p:nvSpPr>
          <p:cNvPr id="58" name="d4_q"/>
          <p:cNvSpPr txBox="1"/>
          <p:nvPr/>
        </p:nvSpPr>
        <p:spPr>
          <a:xfrm>
            <a:off x="1901951" y="4589178"/>
            <a:ext cx="416646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Name one material taken from the ground for building.</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60" name="Any real example: stone, sand, metal ore."/>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Any real example: stone, sand, metal ore.</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63" name="d5_badge"/>
          <p:cNvSpPr/>
          <p:nvPr/>
        </p:nvSpPr>
        <p:spPr>
          <a:xfrm>
            <a:off x="6745072" y="4626864"/>
            <a:ext cx="384049" cy="384049"/>
          </a:xfrm>
          <a:prstGeom prst="ellipse">
            <a:avLst/>
          </a:prstGeom>
          <a:solidFill>
            <a:srgbClr val="C99A3D"/>
          </a:solidFill>
          <a:ln w="12700">
            <a:solidFill>
              <a:srgbClr val="C99A3D"/>
            </a:solidFill>
          </a:ln>
        </p:spPr>
        <p:txBody>
          <a:bodyPr lIns="45719" rIns="45719"/>
          <a:lstStyle/>
          <a:p>
            <a:pPr/>
          </a:p>
        </p:txBody>
      </p:sp>
      <p:sp>
        <p:nvSpPr>
          <p:cNvPr id="64" name="d5_num"/>
          <p:cNvSpPr txBox="1"/>
          <p:nvPr/>
        </p:nvSpPr>
        <p:spPr>
          <a:xfrm>
            <a:off x="6745072" y="47172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6</a:t>
            </a:r>
          </a:p>
        </p:txBody>
      </p:sp>
      <p:sp>
        <p:nvSpPr>
          <p:cNvPr id="65" name="d5_q"/>
          <p:cNvSpPr txBox="1"/>
          <p:nvPr/>
        </p:nvSpPr>
        <p:spPr>
          <a:xfrm>
            <a:off x="7275424" y="4589178"/>
            <a:ext cx="416646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one way land is used, other than growing food.</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67" name="Any real example: mining, forestry, building, energy."/>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Any real example: mining, forestry, building, energy.</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54" grpId="5"/>
      <p:bldP build="whole" bldLvl="1" animBg="1" rev="0" advAuto="0" spid="47" grpId="4"/>
      <p:bldP build="whole" bldLvl="1" animBg="1" rev="0" advAuto="0" spid="68" grpId="7"/>
      <p:bldP build="whole" bldLvl="1" animBg="1" rev="0" advAuto="0" spid="33" grpId="2"/>
      <p:bldP build="whole" bldLvl="1" animBg="1" rev="0" advAuto="0" spid="40" grpId="3"/>
      <p:bldP build="whole" bldLvl="1" animBg="1" rev="0" advAuto="0" spid="61" grpId="6"/>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Today</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Identify the main land resources.</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Explain what soil is and why it matters.</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90" name="o2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Explain why soil counts as a non-renewable resource on a human timescale.</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defRPr sz="1600"/>
              </a:pPr>
            </a:p>
          </p:txBody>
        </p:sp>
        <p:sp>
          <p:nvSpPr>
            <p:cNvPr id="93" name="Land looks endless. What it takes to remake some of it is not."/>
            <p:cNvSpPr txBox="1"/>
            <p:nvPr/>
          </p:nvSpPr>
          <p:spPr>
            <a:xfrm>
              <a:off x="36901" y="209063"/>
              <a:ext cx="1039882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C99A3D"/>
                  </a:solidFill>
                  <a:latin typeface="Arial"/>
                  <a:ea typeface="Arial"/>
                  <a:cs typeface="Arial"/>
                  <a:sym typeface="Arial"/>
                </a:defRPr>
              </a:lvl1pPr>
            </a:lstStyle>
            <a:p>
              <a:pPr/>
              <a:r>
                <a:t>Land looks endless. What it takes to remake some of it is not.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94" grpId="5"/>
      <p:bldP build="whole" bldLvl="1" animBg="1" rev="0" advAuto="0" spid="81" grpId="2"/>
      <p:bldP build="whole" bldLvl="1" animBg="1" rev="0" advAuto="0" spid="91" grpId="4"/>
      <p:bldP build="whole" bldLvl="1" animBg="1" rev="0" advAuto="0" spid="86" grpId="3"/>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893311"/>
            <a:ext cx="10472623" cy="755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3D2B1F"/>
                </a:solidFill>
                <a:latin typeface="Georgia"/>
                <a:ea typeface="Georgia"/>
                <a:cs typeface="Georgia"/>
                <a:sym typeface="Georgia"/>
              </a:defRPr>
            </a:lvl1pPr>
          </a:lstStyle>
          <a:p>
            <a:pPr/>
            <a:r>
              <a:t>Coal took millions of years to form. How long does it take to form the soil we grow food in?</a:t>
            </a:r>
          </a:p>
        </p:txBody>
      </p:sp>
      <p:grpSp>
        <p:nvGrpSpPr>
          <p:cNvPr id="106" name="h0"/>
          <p:cNvGrpSpPr/>
          <p:nvPr/>
        </p:nvGrpSpPr>
        <p:grpSpPr>
          <a:xfrm>
            <a:off x="1170432" y="2487167"/>
            <a:ext cx="3307994" cy="1554481"/>
            <a:chOff x="0" y="0"/>
            <a:chExt cx="3307993" cy="1554480"/>
          </a:xfrm>
        </p:grpSpPr>
        <p:sp>
          <p:nvSpPr>
            <p:cNvPr id="103" name="h0_bg"/>
            <p:cNvSpPr/>
            <p:nvPr/>
          </p:nvSpPr>
          <p:spPr>
            <a:xfrm>
              <a:off x="0" y="0"/>
              <a:ext cx="3307994" cy="1554481"/>
            </a:xfrm>
            <a:prstGeom prst="roundRect">
              <a:avLst>
                <a:gd name="adj" fmla="val 58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4"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A</a:t>
              </a:r>
            </a:p>
          </p:txBody>
        </p:sp>
        <p:sp>
          <p:nvSpPr>
            <p:cNvPr id="105" name="h0_t"/>
            <p:cNvSpPr txBox="1"/>
            <p:nvPr/>
          </p:nvSpPr>
          <p:spPr>
            <a:xfrm>
              <a:off x="256032" y="640079"/>
              <a:ext cx="2795930" cy="501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600">
                  <a:solidFill>
                    <a:srgbClr val="3D2B1F"/>
                  </a:solidFill>
                  <a:latin typeface="Georgia"/>
                  <a:ea typeface="Georgia"/>
                  <a:cs typeface="Georgia"/>
                  <a:sym typeface="Georgia"/>
                </a:defRPr>
              </a:lvl1pPr>
            </a:lstStyle>
            <a:p>
              <a:pPr/>
              <a:r>
                <a:t>A few years. Soil forms quickly.</a:t>
              </a:r>
            </a:p>
          </p:txBody>
        </p:sp>
      </p:grpSp>
      <p:grpSp>
        <p:nvGrpSpPr>
          <p:cNvPr id="110" name="h1"/>
          <p:cNvGrpSpPr/>
          <p:nvPr/>
        </p:nvGrpSpPr>
        <p:grpSpPr>
          <a:xfrm>
            <a:off x="4752745" y="2487167"/>
            <a:ext cx="3307995" cy="1554481"/>
            <a:chOff x="0" y="0"/>
            <a:chExt cx="3307993" cy="1554480"/>
          </a:xfrm>
        </p:grpSpPr>
        <p:sp>
          <p:nvSpPr>
            <p:cNvPr id="107" name="h1_bg"/>
            <p:cNvSpPr/>
            <p:nvPr/>
          </p:nvSpPr>
          <p:spPr>
            <a:xfrm>
              <a:off x="0" y="0"/>
              <a:ext cx="3307994" cy="1554481"/>
            </a:xfrm>
            <a:prstGeom prst="roundRect">
              <a:avLst>
                <a:gd name="adj" fmla="val 58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8"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B</a:t>
              </a:r>
            </a:p>
          </p:txBody>
        </p:sp>
        <p:sp>
          <p:nvSpPr>
            <p:cNvPr id="109" name="h1_t"/>
            <p:cNvSpPr txBox="1"/>
            <p:nvPr/>
          </p:nvSpPr>
          <p:spPr>
            <a:xfrm>
              <a:off x="256032" y="640079"/>
              <a:ext cx="2795930" cy="755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600">
                  <a:solidFill>
                    <a:srgbClr val="3D2B1F"/>
                  </a:solidFill>
                  <a:latin typeface="Georgia"/>
                  <a:ea typeface="Georgia"/>
                  <a:cs typeface="Georgia"/>
                  <a:sym typeface="Georgia"/>
                </a:defRPr>
              </a:lvl1pPr>
            </a:lstStyle>
            <a:p>
              <a:pPr/>
              <a:r>
                <a:t>Much slower than you would think: hundreds to thousands of years.</a:t>
              </a:r>
            </a:p>
          </p:txBody>
        </p:sp>
      </p:grpSp>
      <p:grpSp>
        <p:nvGrpSpPr>
          <p:cNvPr id="114" name="h2"/>
          <p:cNvGrpSpPr/>
          <p:nvPr/>
        </p:nvGrpSpPr>
        <p:grpSpPr>
          <a:xfrm>
            <a:off x="8335061" y="2487167"/>
            <a:ext cx="3307994" cy="1554481"/>
            <a:chOff x="0" y="0"/>
            <a:chExt cx="3307993" cy="1554480"/>
          </a:xfrm>
        </p:grpSpPr>
        <p:sp>
          <p:nvSpPr>
            <p:cNvPr id="111" name="h2_bg"/>
            <p:cNvSpPr/>
            <p:nvPr/>
          </p:nvSpPr>
          <p:spPr>
            <a:xfrm>
              <a:off x="0" y="0"/>
              <a:ext cx="3307994" cy="1554481"/>
            </a:xfrm>
            <a:prstGeom prst="roundRect">
              <a:avLst>
                <a:gd name="adj" fmla="val 58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12"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C</a:t>
              </a:r>
            </a:p>
          </p:txBody>
        </p:sp>
        <p:sp>
          <p:nvSpPr>
            <p:cNvPr id="113" name="h2_t"/>
            <p:cNvSpPr txBox="1"/>
            <p:nvPr/>
          </p:nvSpPr>
          <p:spPr>
            <a:xfrm>
              <a:off x="256032" y="640079"/>
              <a:ext cx="2795930" cy="501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600">
                  <a:solidFill>
                    <a:srgbClr val="3D2B1F"/>
                  </a:solidFill>
                  <a:latin typeface="Georgia"/>
                  <a:ea typeface="Georgia"/>
                  <a:cs typeface="Georgia"/>
                  <a:sym typeface="Georgia"/>
                </a:defRPr>
              </a:lvl1pPr>
            </a:lstStyle>
            <a:p>
              <a:pPr/>
              <a:r>
                <a:t>Soil does not form at all. It has just always been there.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6"/>
                                        </p:tgtEl>
                                        <p:attrNameLst>
                                          <p:attrName>style.visibility</p:attrName>
                                        </p:attrNameLst>
                                      </p:cBhvr>
                                      <p:to>
                                        <p:strVal val="visible"/>
                                      </p:to>
                                    </p:set>
                                    <p:animEffect filter="fade" transition="in">
                                      <p:cBhvr>
                                        <p:cTn id="11" dur="400"/>
                                        <p:tgtEl>
                                          <p:spTgt spid="106"/>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0"/>
                                        </p:tgtEl>
                                        <p:attrNameLst>
                                          <p:attrName>style.visibility</p:attrName>
                                        </p:attrNameLst>
                                      </p:cBhvr>
                                      <p:to>
                                        <p:strVal val="visible"/>
                                      </p:to>
                                    </p:set>
                                    <p:animEffect filter="fade" transition="in">
                                      <p:cBhvr>
                                        <p:cTn id="15" dur="400"/>
                                        <p:tgtEl>
                                          <p:spTgt spid="110"/>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4"/>
                                        </p:tgtEl>
                                        <p:attrNameLst>
                                          <p:attrName>style.visibility</p:attrName>
                                        </p:attrNameLst>
                                      </p:cBhvr>
                                      <p:to>
                                        <p:strVal val="visible"/>
                                      </p:to>
                                    </p:set>
                                    <p:animEffect filter="fade" transition="in">
                                      <p:cBhvr>
                                        <p:cTn id="19" dur="4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4" grpId="4"/>
      <p:bldP build="whole" bldLvl="1" animBg="1" rev="0" advAuto="0" spid="110" grpId="3"/>
      <p:bldP build="whole" bldLvl="1" animBg="1" rev="0" advAuto="0" spid="106"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1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1" name="phase_pill"/>
          <p:cNvGrpSpPr/>
          <p:nvPr/>
        </p:nvGrpSpPr>
        <p:grpSpPr>
          <a:xfrm>
            <a:off x="1170432" y="310895"/>
            <a:ext cx="1623975" cy="329185"/>
            <a:chOff x="0" y="0"/>
            <a:chExt cx="1623974" cy="329184"/>
          </a:xfrm>
        </p:grpSpPr>
        <p:sp>
          <p:nvSpPr>
            <p:cNvPr id="119"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20"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2"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The main land resources</a:t>
            </a:r>
          </a:p>
        </p:txBody>
      </p:sp>
      <p:sp>
        <p:nvSpPr>
          <p:cNvPr id="123"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B5A48"/>
                </a:solidFill>
                <a:latin typeface="Arial"/>
                <a:ea typeface="Arial"/>
                <a:cs typeface="Arial"/>
                <a:sym typeface="Arial"/>
              </a:defRPr>
            </a:lvl1pPr>
          </a:lstStyle>
          <a:p>
            <a:pPr/>
            <a:r>
              <a:t>Fast overview. The rest of the lesson is about one of these.</a:t>
            </a:r>
          </a:p>
        </p:txBody>
      </p:sp>
      <p:grpSp>
        <p:nvGrpSpPr>
          <p:cNvPr id="144" name="land_row"/>
          <p:cNvGrpSpPr/>
          <p:nvPr/>
        </p:nvGrpSpPr>
        <p:grpSpPr>
          <a:xfrm>
            <a:off x="1170432" y="2606039"/>
            <a:ext cx="10472625" cy="2103122"/>
            <a:chOff x="0" y="0"/>
            <a:chExt cx="10472624" cy="2103120"/>
          </a:xfrm>
        </p:grpSpPr>
        <p:sp>
          <p:nvSpPr>
            <p:cNvPr id="124" name="lr0_bg"/>
            <p:cNvSpPr/>
            <p:nvPr/>
          </p:nvSpPr>
          <p:spPr>
            <a:xfrm>
              <a:off x="0" y="0"/>
              <a:ext cx="1948222" cy="2103121"/>
            </a:xfrm>
            <a:prstGeom prst="roundRect">
              <a:avLst>
                <a:gd name="adj" fmla="val 469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25" name="lr0_icon" descr="lr0_icon"/>
            <p:cNvPicPr>
              <a:picLocks noChangeAspect="1"/>
            </p:cNvPicPr>
            <p:nvPr/>
          </p:nvPicPr>
          <p:blipFill>
            <a:blip r:embed="rId6">
              <a:extLst/>
            </a:blip>
            <a:stretch>
              <a:fillRect/>
            </a:stretch>
          </p:blipFill>
          <p:spPr>
            <a:xfrm>
              <a:off x="754654" y="201168"/>
              <a:ext cx="438913" cy="438913"/>
            </a:xfrm>
            <a:prstGeom prst="rect">
              <a:avLst/>
            </a:prstGeom>
            <a:ln w="12700" cap="flat">
              <a:noFill/>
              <a:miter lim="400000"/>
            </a:ln>
            <a:effectLst/>
          </p:spPr>
        </p:pic>
        <p:sp>
          <p:nvSpPr>
            <p:cNvPr id="126" name="lr0_n"/>
            <p:cNvSpPr txBox="1"/>
            <p:nvPr/>
          </p:nvSpPr>
          <p:spPr>
            <a:xfrm>
              <a:off x="91440" y="786384"/>
              <a:ext cx="1765342" cy="1987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600"/>
                </a:lnSpc>
                <a:defRPr b="1" sz="1300">
                  <a:solidFill>
                    <a:srgbClr val="3D2B1F"/>
                  </a:solidFill>
                  <a:latin typeface="Georgia"/>
                  <a:ea typeface="Georgia"/>
                  <a:cs typeface="Georgia"/>
                  <a:sym typeface="Georgia"/>
                </a:defRPr>
              </a:lvl1pPr>
            </a:lstStyle>
            <a:p>
              <a:pPr/>
              <a:r>
                <a:t>Food</a:t>
              </a:r>
            </a:p>
          </p:txBody>
        </p:sp>
        <p:sp>
          <p:nvSpPr>
            <p:cNvPr id="127" name="lr0_t"/>
            <p:cNvSpPr txBox="1"/>
            <p:nvPr/>
          </p:nvSpPr>
          <p:spPr>
            <a:xfrm>
              <a:off x="91440" y="1316736"/>
              <a:ext cx="1765342" cy="171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400"/>
                </a:lnSpc>
                <a:defRPr sz="1100">
                  <a:solidFill>
                    <a:srgbClr val="6B5A48"/>
                  </a:solidFill>
                  <a:latin typeface="Arial"/>
                  <a:ea typeface="Arial"/>
                  <a:cs typeface="Arial"/>
                  <a:sym typeface="Arial"/>
                </a:defRPr>
              </a:lvl1pPr>
            </a:lstStyle>
            <a:p>
              <a:pPr/>
              <a:r>
                <a:t>Crops, grazing land</a:t>
              </a:r>
            </a:p>
          </p:txBody>
        </p:sp>
        <p:sp>
          <p:nvSpPr>
            <p:cNvPr id="128" name="lr1_bg"/>
            <p:cNvSpPr/>
            <p:nvPr/>
          </p:nvSpPr>
          <p:spPr>
            <a:xfrm>
              <a:off x="2131101" y="0"/>
              <a:ext cx="1948222" cy="2103121"/>
            </a:xfrm>
            <a:prstGeom prst="roundRect">
              <a:avLst>
                <a:gd name="adj" fmla="val 469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29" name="lr1_icon" descr="lr1_icon"/>
            <p:cNvPicPr>
              <a:picLocks noChangeAspect="1"/>
            </p:cNvPicPr>
            <p:nvPr/>
          </p:nvPicPr>
          <p:blipFill>
            <a:blip r:embed="rId7">
              <a:extLst/>
            </a:blip>
            <a:stretch>
              <a:fillRect/>
            </a:stretch>
          </p:blipFill>
          <p:spPr>
            <a:xfrm>
              <a:off x="2885755" y="201168"/>
              <a:ext cx="438913" cy="438913"/>
            </a:xfrm>
            <a:prstGeom prst="rect">
              <a:avLst/>
            </a:prstGeom>
            <a:ln w="12700" cap="flat">
              <a:noFill/>
              <a:miter lim="400000"/>
            </a:ln>
            <a:effectLst/>
          </p:spPr>
        </p:pic>
        <p:sp>
          <p:nvSpPr>
            <p:cNvPr id="130" name="lr1_n"/>
            <p:cNvSpPr txBox="1"/>
            <p:nvPr/>
          </p:nvSpPr>
          <p:spPr>
            <a:xfrm>
              <a:off x="2222541" y="786384"/>
              <a:ext cx="1765342" cy="1987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600"/>
                </a:lnSpc>
                <a:defRPr b="1" sz="1300">
                  <a:solidFill>
                    <a:srgbClr val="3D2B1F"/>
                  </a:solidFill>
                  <a:latin typeface="Georgia"/>
                  <a:ea typeface="Georgia"/>
                  <a:cs typeface="Georgia"/>
                  <a:sym typeface="Georgia"/>
                </a:defRPr>
              </a:lvl1pPr>
            </a:lstStyle>
            <a:p>
              <a:pPr/>
              <a:r>
                <a:t>Minerals</a:t>
              </a:r>
            </a:p>
          </p:txBody>
        </p:sp>
        <p:sp>
          <p:nvSpPr>
            <p:cNvPr id="131" name="lr1_t"/>
            <p:cNvSpPr txBox="1"/>
            <p:nvPr/>
          </p:nvSpPr>
          <p:spPr>
            <a:xfrm>
              <a:off x="2222541" y="1316736"/>
              <a:ext cx="1765342" cy="171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400"/>
                </a:lnSpc>
                <a:defRPr sz="1100">
                  <a:solidFill>
                    <a:srgbClr val="6B5A48"/>
                  </a:solidFill>
                  <a:latin typeface="Arial"/>
                  <a:ea typeface="Arial"/>
                  <a:cs typeface="Arial"/>
                  <a:sym typeface="Arial"/>
                </a:defRPr>
              </a:lvl1pPr>
            </a:lstStyle>
            <a:p>
              <a:pPr/>
              <a:r>
                <a:t>Metals, dug from rock</a:t>
              </a:r>
            </a:p>
          </p:txBody>
        </p:sp>
        <p:sp>
          <p:nvSpPr>
            <p:cNvPr id="132" name="lr2_bg"/>
            <p:cNvSpPr/>
            <p:nvPr/>
          </p:nvSpPr>
          <p:spPr>
            <a:xfrm>
              <a:off x="4262201" y="0"/>
              <a:ext cx="1948222" cy="2103121"/>
            </a:xfrm>
            <a:prstGeom prst="roundRect">
              <a:avLst>
                <a:gd name="adj" fmla="val 469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33" name="lr2_icon" descr="lr2_icon"/>
            <p:cNvPicPr>
              <a:picLocks noChangeAspect="1"/>
            </p:cNvPicPr>
            <p:nvPr/>
          </p:nvPicPr>
          <p:blipFill>
            <a:blip r:embed="rId8">
              <a:extLst/>
            </a:blip>
            <a:stretch>
              <a:fillRect/>
            </a:stretch>
          </p:blipFill>
          <p:spPr>
            <a:xfrm>
              <a:off x="5016856" y="201168"/>
              <a:ext cx="438913" cy="438913"/>
            </a:xfrm>
            <a:prstGeom prst="rect">
              <a:avLst/>
            </a:prstGeom>
            <a:ln w="12700" cap="flat">
              <a:noFill/>
              <a:miter lim="400000"/>
            </a:ln>
            <a:effectLst/>
          </p:spPr>
        </p:pic>
        <p:sp>
          <p:nvSpPr>
            <p:cNvPr id="134" name="lr2_n"/>
            <p:cNvSpPr txBox="1"/>
            <p:nvPr/>
          </p:nvSpPr>
          <p:spPr>
            <a:xfrm>
              <a:off x="4353641" y="786384"/>
              <a:ext cx="1765342" cy="1987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600"/>
                </a:lnSpc>
                <a:defRPr b="1" sz="1300">
                  <a:solidFill>
                    <a:srgbClr val="3D2B1F"/>
                  </a:solidFill>
                  <a:latin typeface="Georgia"/>
                  <a:ea typeface="Georgia"/>
                  <a:cs typeface="Georgia"/>
                  <a:sym typeface="Georgia"/>
                </a:defRPr>
              </a:lvl1pPr>
            </a:lstStyle>
            <a:p>
              <a:pPr/>
              <a:r>
                <a:t>Timber</a:t>
              </a:r>
            </a:p>
          </p:txBody>
        </p:sp>
        <p:sp>
          <p:nvSpPr>
            <p:cNvPr id="135" name="lr2_t"/>
            <p:cNvSpPr txBox="1"/>
            <p:nvPr/>
          </p:nvSpPr>
          <p:spPr>
            <a:xfrm>
              <a:off x="4353641" y="1316736"/>
              <a:ext cx="1765342" cy="171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400"/>
                </a:lnSpc>
                <a:defRPr sz="1100">
                  <a:solidFill>
                    <a:srgbClr val="6B5A48"/>
                  </a:solidFill>
                  <a:latin typeface="Arial"/>
                  <a:ea typeface="Arial"/>
                  <a:cs typeface="Arial"/>
                  <a:sym typeface="Arial"/>
                </a:defRPr>
              </a:lvl1pPr>
            </a:lstStyle>
            <a:p>
              <a:pPr/>
              <a:r>
                <a:t>Wood, from forests</a:t>
              </a:r>
            </a:p>
          </p:txBody>
        </p:sp>
        <p:sp>
          <p:nvSpPr>
            <p:cNvPr id="136" name="lr3_bg"/>
            <p:cNvSpPr/>
            <p:nvPr/>
          </p:nvSpPr>
          <p:spPr>
            <a:xfrm>
              <a:off x="6393302" y="0"/>
              <a:ext cx="1948222" cy="2103121"/>
            </a:xfrm>
            <a:prstGeom prst="roundRect">
              <a:avLst>
                <a:gd name="adj" fmla="val 469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37" name="lr3_icon" descr="lr3_icon"/>
            <p:cNvPicPr>
              <a:picLocks noChangeAspect="1"/>
            </p:cNvPicPr>
            <p:nvPr/>
          </p:nvPicPr>
          <p:blipFill>
            <a:blip r:embed="rId9">
              <a:extLst/>
            </a:blip>
            <a:stretch>
              <a:fillRect/>
            </a:stretch>
          </p:blipFill>
          <p:spPr>
            <a:xfrm>
              <a:off x="7147956" y="201168"/>
              <a:ext cx="438913" cy="438913"/>
            </a:xfrm>
            <a:prstGeom prst="rect">
              <a:avLst/>
            </a:prstGeom>
            <a:ln w="12700" cap="flat">
              <a:noFill/>
              <a:miter lim="400000"/>
            </a:ln>
            <a:effectLst/>
          </p:spPr>
        </p:pic>
        <p:sp>
          <p:nvSpPr>
            <p:cNvPr id="138" name="lr3_n"/>
            <p:cNvSpPr txBox="1"/>
            <p:nvPr/>
          </p:nvSpPr>
          <p:spPr>
            <a:xfrm>
              <a:off x="6484742" y="786384"/>
              <a:ext cx="1765342" cy="1987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600"/>
                </a:lnSpc>
                <a:defRPr b="1" sz="1300">
                  <a:solidFill>
                    <a:srgbClr val="3D2B1F"/>
                  </a:solidFill>
                  <a:latin typeface="Georgia"/>
                  <a:ea typeface="Georgia"/>
                  <a:cs typeface="Georgia"/>
                  <a:sym typeface="Georgia"/>
                </a:defRPr>
              </a:lvl1pPr>
            </a:lstStyle>
            <a:p>
              <a:pPr/>
              <a:r>
                <a:t>Building materials</a:t>
              </a:r>
            </a:p>
          </p:txBody>
        </p:sp>
        <p:sp>
          <p:nvSpPr>
            <p:cNvPr id="139" name="lr3_t"/>
            <p:cNvSpPr txBox="1"/>
            <p:nvPr/>
          </p:nvSpPr>
          <p:spPr>
            <a:xfrm>
              <a:off x="6484742" y="1316736"/>
              <a:ext cx="1765342" cy="171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400"/>
                </a:lnSpc>
                <a:defRPr sz="1100">
                  <a:solidFill>
                    <a:srgbClr val="6B5A48"/>
                  </a:solidFill>
                  <a:latin typeface="Arial"/>
                  <a:ea typeface="Arial"/>
                  <a:cs typeface="Arial"/>
                  <a:sym typeface="Arial"/>
                </a:defRPr>
              </a:lvl1pPr>
            </a:lstStyle>
            <a:p>
              <a:pPr/>
              <a:r>
                <a:t>Stone, sand, clay</a:t>
              </a:r>
            </a:p>
          </p:txBody>
        </p:sp>
        <p:sp>
          <p:nvSpPr>
            <p:cNvPr id="140" name="lr4_bg"/>
            <p:cNvSpPr/>
            <p:nvPr/>
          </p:nvSpPr>
          <p:spPr>
            <a:xfrm>
              <a:off x="8524403" y="0"/>
              <a:ext cx="1948222" cy="2103121"/>
            </a:xfrm>
            <a:prstGeom prst="roundRect">
              <a:avLst>
                <a:gd name="adj" fmla="val 469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41" name="lr4_icon" descr="lr4_icon"/>
            <p:cNvPicPr>
              <a:picLocks noChangeAspect="1"/>
            </p:cNvPicPr>
            <p:nvPr/>
          </p:nvPicPr>
          <p:blipFill>
            <a:blip r:embed="rId10">
              <a:extLst/>
            </a:blip>
            <a:stretch>
              <a:fillRect/>
            </a:stretch>
          </p:blipFill>
          <p:spPr>
            <a:xfrm>
              <a:off x="9279057" y="201168"/>
              <a:ext cx="438913" cy="438913"/>
            </a:xfrm>
            <a:prstGeom prst="rect">
              <a:avLst/>
            </a:prstGeom>
            <a:ln w="12700" cap="flat">
              <a:noFill/>
              <a:miter lim="400000"/>
            </a:ln>
            <a:effectLst/>
          </p:spPr>
        </p:pic>
        <p:sp>
          <p:nvSpPr>
            <p:cNvPr id="142" name="lr4_n"/>
            <p:cNvSpPr txBox="1"/>
            <p:nvPr/>
          </p:nvSpPr>
          <p:spPr>
            <a:xfrm>
              <a:off x="8615843" y="786384"/>
              <a:ext cx="1765342" cy="1987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600"/>
                </a:lnSpc>
                <a:defRPr b="1" sz="1300">
                  <a:solidFill>
                    <a:srgbClr val="3D2B1F"/>
                  </a:solidFill>
                  <a:latin typeface="Georgia"/>
                  <a:ea typeface="Georgia"/>
                  <a:cs typeface="Georgia"/>
                  <a:sym typeface="Georgia"/>
                </a:defRPr>
              </a:lvl1pPr>
            </a:lstStyle>
            <a:p>
              <a:pPr/>
              <a:r>
                <a:t>Energy</a:t>
              </a:r>
            </a:p>
          </p:txBody>
        </p:sp>
        <p:sp>
          <p:nvSpPr>
            <p:cNvPr id="143" name="lr4_t"/>
            <p:cNvSpPr txBox="1"/>
            <p:nvPr/>
          </p:nvSpPr>
          <p:spPr>
            <a:xfrm>
              <a:off x="8615843" y="1316736"/>
              <a:ext cx="1765342" cy="171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400"/>
                </a:lnSpc>
                <a:defRPr sz="1100">
                  <a:solidFill>
                    <a:srgbClr val="6B5A48"/>
                  </a:solidFill>
                  <a:latin typeface="Arial"/>
                  <a:ea typeface="Arial"/>
                  <a:cs typeface="Arial"/>
                  <a:sym typeface="Arial"/>
                </a:defRPr>
              </a:lvl1pPr>
            </a:lstStyle>
            <a:p>
              <a:pPr/>
              <a:r>
                <a:t>Coal, oil, gas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44"/>
                                        </p:tgtEl>
                                        <p:attrNameLst>
                                          <p:attrName>style.visibility</p:attrName>
                                        </p:attrNameLst>
                                      </p:cBhvr>
                                      <p:to>
                                        <p:strVal val="visible"/>
                                      </p:to>
                                    </p:set>
                                    <p:animEffect filter="fade" transition="in">
                                      <p:cBhvr>
                                        <p:cTn id="11" dur="4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2" fill="hold" display="0">
                  <p:stCondLst>
                    <p:cond delay="indefinite"/>
                  </p:stCondLst>
                </p:cTn>
                <p:tgtEl>
                  <p:spTgt spid="118"/>
                </p:tgtEl>
              </p:cMediaNode>
            </p:video>
            <p:seq concurrent="1" prevAc="none" nextAc="seek">
              <p:cTn id="13" evtFilter="cancelBubble" nodeType="interactiveSeq" restart="whenNotActive" fill="hold">
                <p:stCondLst>
                  <p:cond delay="0" evt="onClick">
                    <p:tgtEl>
                      <p:spTgt spid="118"/>
                    </p:tgtEl>
                  </p:cond>
                </p:stCondLst>
                <p:endSync delay="0" evt="end">
                  <p:rtn val="all"/>
                </p:endSync>
                <p:childTnLst>
                  <p:par>
                    <p:cTn id="14" fill="hold">
                      <p:stCondLst>
                        <p:cond delay="0"/>
                      </p:stCondLst>
                      <p:childTnLst>
                        <p:par>
                          <p:cTn id="15" fill="hold">
                            <p:stCondLst>
                              <p:cond delay="0"/>
                            </p:stCondLst>
                            <p:childTnLst>
                              <p:par>
                                <p:cTn id="16" presetClass="mediacall" nodeType="clickEffect" presetSubtype="0" presetID="2" fill="hold">
                                  <p:stCondLst>
                                    <p:cond delay="0"/>
                                  </p:stCondLst>
                                  <p:childTnLst>
                                    <p:cmd type="call" cmd="togglePause">
                                      <p:cBhvr>
                                        <p:cTn id="17" dur="1" fill="hold"/>
                                        <p:tgtEl>
                                          <p:spTgt spid="118"/>
                                        </p:tgtEl>
                                      </p:cBhvr>
                                    </p:cmd>
                                  </p:childTnLst>
                                </p:cTn>
                              </p:par>
                            </p:childTnLst>
                          </p:cTn>
                        </p:par>
                      </p:childTnLst>
                    </p:cTn>
                  </p:par>
                </p:childTnLst>
              </p:cTn>
              <p:nextCondLst>
                <p:cond delay="0" evt="onClick">
                  <p:tgtEl>
                    <p:spTgt spid="118"/>
                  </p:tgtEl>
                </p:cond>
              </p:nextCondLst>
            </p:seq>
          </p:childTnLst>
        </p:cTn>
      </p:par>
    </p:tnLst>
    <p:bldLst>
      <p:bldP build="whole" bldLvl="1" animBg="1" rev="0" advAuto="0" spid="144"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4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51" name="phase_pill"/>
          <p:cNvGrpSpPr/>
          <p:nvPr/>
        </p:nvGrpSpPr>
        <p:grpSpPr>
          <a:xfrm>
            <a:off x="1170432" y="310895"/>
            <a:ext cx="1623975" cy="329185"/>
            <a:chOff x="0" y="0"/>
            <a:chExt cx="1623974" cy="329184"/>
          </a:xfrm>
        </p:grpSpPr>
        <p:sp>
          <p:nvSpPr>
            <p:cNvPr id="149"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50"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52"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What soil actually is</a:t>
            </a:r>
          </a:p>
        </p:txBody>
      </p:sp>
      <p:grpSp>
        <p:nvGrpSpPr>
          <p:cNvPr id="156" name="sp0"/>
          <p:cNvGrpSpPr/>
          <p:nvPr/>
        </p:nvGrpSpPr>
        <p:grpSpPr>
          <a:xfrm>
            <a:off x="1170432" y="2011679"/>
            <a:ext cx="5099152" cy="932689"/>
            <a:chOff x="0" y="0"/>
            <a:chExt cx="5099151" cy="932688"/>
          </a:xfrm>
        </p:grpSpPr>
        <p:sp>
          <p:nvSpPr>
            <p:cNvPr id="153" name="sp0_bg"/>
            <p:cNvSpPr/>
            <p:nvPr/>
          </p:nvSpPr>
          <p:spPr>
            <a:xfrm>
              <a:off x="0" y="0"/>
              <a:ext cx="5099152" cy="932689"/>
            </a:xfrm>
            <a:prstGeom prst="roundRect">
              <a:avLst>
                <a:gd name="adj" fmla="val 98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54" name="sp0_n"/>
            <p:cNvSpPr txBox="1"/>
            <p:nvPr/>
          </p:nvSpPr>
          <p:spPr>
            <a:xfrm>
              <a:off x="201167" y="175514"/>
              <a:ext cx="46968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3D2B1F"/>
                  </a:solidFill>
                  <a:latin typeface="Georgia"/>
                  <a:ea typeface="Georgia"/>
                  <a:cs typeface="Georgia"/>
                  <a:sym typeface="Georgia"/>
                </a:defRPr>
              </a:lvl1pPr>
            </a:lstStyle>
            <a:p>
              <a:pPr/>
              <a:r>
                <a:t>Broken rock</a:t>
              </a:r>
            </a:p>
          </p:txBody>
        </p:sp>
        <p:sp>
          <p:nvSpPr>
            <p:cNvPr id="155" name="sp0_t"/>
            <p:cNvSpPr txBox="1"/>
            <p:nvPr/>
          </p:nvSpPr>
          <p:spPr>
            <a:xfrm>
              <a:off x="201167" y="457200"/>
              <a:ext cx="4696817"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6B5A48"/>
                  </a:solidFill>
                  <a:latin typeface="Arial"/>
                  <a:ea typeface="Arial"/>
                  <a:cs typeface="Arial"/>
                  <a:sym typeface="Arial"/>
                </a:defRPr>
              </a:lvl1pPr>
            </a:lstStyle>
            <a:p>
              <a:pPr/>
              <a:r>
                <a:t>Ground down by weather, over a very long time.</a:t>
              </a:r>
            </a:p>
          </p:txBody>
        </p:sp>
      </p:grpSp>
      <p:grpSp>
        <p:nvGrpSpPr>
          <p:cNvPr id="160" name="sp1"/>
          <p:cNvGrpSpPr/>
          <p:nvPr/>
        </p:nvGrpSpPr>
        <p:grpSpPr>
          <a:xfrm>
            <a:off x="6543903" y="2011679"/>
            <a:ext cx="5099153" cy="932689"/>
            <a:chOff x="0" y="0"/>
            <a:chExt cx="5099151" cy="932688"/>
          </a:xfrm>
        </p:grpSpPr>
        <p:sp>
          <p:nvSpPr>
            <p:cNvPr id="157" name="sp1_bg"/>
            <p:cNvSpPr/>
            <p:nvPr/>
          </p:nvSpPr>
          <p:spPr>
            <a:xfrm>
              <a:off x="0" y="0"/>
              <a:ext cx="5099152" cy="932689"/>
            </a:xfrm>
            <a:prstGeom prst="roundRect">
              <a:avLst>
                <a:gd name="adj" fmla="val 98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58" name="sp1_n"/>
            <p:cNvSpPr txBox="1"/>
            <p:nvPr/>
          </p:nvSpPr>
          <p:spPr>
            <a:xfrm>
              <a:off x="201167" y="175514"/>
              <a:ext cx="46968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3D2B1F"/>
                  </a:solidFill>
                  <a:latin typeface="Georgia"/>
                  <a:ea typeface="Georgia"/>
                  <a:cs typeface="Georgia"/>
                  <a:sym typeface="Georgia"/>
                </a:defRPr>
              </a:lvl1pPr>
            </a:lstStyle>
            <a:p>
              <a:pPr/>
              <a:r>
                <a:t>Dead organic matter</a:t>
              </a:r>
            </a:p>
          </p:txBody>
        </p:sp>
        <p:sp>
          <p:nvSpPr>
            <p:cNvPr id="159" name="sp1_t"/>
            <p:cNvSpPr txBox="1"/>
            <p:nvPr/>
          </p:nvSpPr>
          <p:spPr>
            <a:xfrm>
              <a:off x="201167" y="457200"/>
              <a:ext cx="4696817"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6B5A48"/>
                  </a:solidFill>
                  <a:latin typeface="Arial"/>
                  <a:ea typeface="Arial"/>
                  <a:cs typeface="Arial"/>
                  <a:sym typeface="Arial"/>
                </a:defRPr>
              </a:lvl1pPr>
            </a:lstStyle>
            <a:p>
              <a:pPr/>
              <a:r>
                <a:t>Broken down by decomposers into humus.</a:t>
              </a:r>
            </a:p>
          </p:txBody>
        </p:sp>
      </p:grpSp>
      <p:grpSp>
        <p:nvGrpSpPr>
          <p:cNvPr id="164" name="sp2"/>
          <p:cNvGrpSpPr/>
          <p:nvPr/>
        </p:nvGrpSpPr>
        <p:grpSpPr>
          <a:xfrm>
            <a:off x="1170432" y="3090672"/>
            <a:ext cx="5099152" cy="932689"/>
            <a:chOff x="0" y="0"/>
            <a:chExt cx="5099151" cy="932688"/>
          </a:xfrm>
        </p:grpSpPr>
        <p:sp>
          <p:nvSpPr>
            <p:cNvPr id="161" name="sp2_bg"/>
            <p:cNvSpPr/>
            <p:nvPr/>
          </p:nvSpPr>
          <p:spPr>
            <a:xfrm>
              <a:off x="0" y="0"/>
              <a:ext cx="5099152" cy="932689"/>
            </a:xfrm>
            <a:prstGeom prst="roundRect">
              <a:avLst>
                <a:gd name="adj" fmla="val 98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62" name="sp2_n"/>
            <p:cNvSpPr txBox="1"/>
            <p:nvPr/>
          </p:nvSpPr>
          <p:spPr>
            <a:xfrm>
              <a:off x="201167" y="175514"/>
              <a:ext cx="46968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3D2B1F"/>
                  </a:solidFill>
                  <a:latin typeface="Georgia"/>
                  <a:ea typeface="Georgia"/>
                  <a:cs typeface="Georgia"/>
                  <a:sym typeface="Georgia"/>
                </a:defRPr>
              </a:lvl1pPr>
            </a:lstStyle>
            <a:p>
              <a:pPr/>
              <a:r>
                <a:t>Water and air</a:t>
              </a:r>
            </a:p>
          </p:txBody>
        </p:sp>
        <p:sp>
          <p:nvSpPr>
            <p:cNvPr id="163" name="sp2_t"/>
            <p:cNvSpPr txBox="1"/>
            <p:nvPr/>
          </p:nvSpPr>
          <p:spPr>
            <a:xfrm>
              <a:off x="201167" y="457200"/>
              <a:ext cx="4696817"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6B5A48"/>
                  </a:solidFill>
                  <a:latin typeface="Arial"/>
                  <a:ea typeface="Arial"/>
                  <a:cs typeface="Arial"/>
                  <a:sym typeface="Arial"/>
                </a:defRPr>
              </a:lvl1pPr>
            </a:lstStyle>
            <a:p>
              <a:pPr/>
              <a:r>
                <a:t>Held in the gaps between particles.</a:t>
              </a:r>
            </a:p>
          </p:txBody>
        </p:sp>
      </p:grpSp>
      <p:grpSp>
        <p:nvGrpSpPr>
          <p:cNvPr id="168" name="sp3"/>
          <p:cNvGrpSpPr/>
          <p:nvPr/>
        </p:nvGrpSpPr>
        <p:grpSpPr>
          <a:xfrm>
            <a:off x="6543903" y="3090672"/>
            <a:ext cx="5099153" cy="932689"/>
            <a:chOff x="0" y="0"/>
            <a:chExt cx="5099151" cy="932688"/>
          </a:xfrm>
        </p:grpSpPr>
        <p:sp>
          <p:nvSpPr>
            <p:cNvPr id="165" name="sp3_bg"/>
            <p:cNvSpPr/>
            <p:nvPr/>
          </p:nvSpPr>
          <p:spPr>
            <a:xfrm>
              <a:off x="0" y="0"/>
              <a:ext cx="5099152" cy="932689"/>
            </a:xfrm>
            <a:prstGeom prst="roundRect">
              <a:avLst>
                <a:gd name="adj" fmla="val 98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66" name="sp3_n"/>
            <p:cNvSpPr txBox="1"/>
            <p:nvPr/>
          </p:nvSpPr>
          <p:spPr>
            <a:xfrm>
              <a:off x="201167" y="175514"/>
              <a:ext cx="46968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3D2B1F"/>
                  </a:solidFill>
                  <a:latin typeface="Georgia"/>
                  <a:ea typeface="Georgia"/>
                  <a:cs typeface="Georgia"/>
                  <a:sym typeface="Georgia"/>
                </a:defRPr>
              </a:lvl1pPr>
            </a:lstStyle>
            <a:p>
              <a:pPr/>
              <a:r>
                <a:t>Living organisms</a:t>
              </a:r>
            </a:p>
          </p:txBody>
        </p:sp>
        <p:sp>
          <p:nvSpPr>
            <p:cNvPr id="167" name="sp3_t"/>
            <p:cNvSpPr txBox="1"/>
            <p:nvPr/>
          </p:nvSpPr>
          <p:spPr>
            <a:xfrm>
              <a:off x="201167" y="457200"/>
              <a:ext cx="4696817"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6B5A48"/>
                  </a:solidFill>
                  <a:latin typeface="Arial"/>
                  <a:ea typeface="Arial"/>
                  <a:cs typeface="Arial"/>
                  <a:sym typeface="Arial"/>
                </a:defRPr>
              </a:lvl1pPr>
            </a:lstStyle>
            <a:p>
              <a:pPr/>
              <a:r>
                <a:t>Bacteria, fungi, worms, insects.</a:t>
              </a:r>
            </a:p>
          </p:txBody>
        </p:sp>
      </p:grpSp>
      <p:grpSp>
        <p:nvGrpSpPr>
          <p:cNvPr id="171" name="soil_banner"/>
          <p:cNvGrpSpPr/>
          <p:nvPr/>
        </p:nvGrpSpPr>
        <p:grpSpPr>
          <a:xfrm>
            <a:off x="1170432" y="4206240"/>
            <a:ext cx="10472623" cy="713233"/>
            <a:chOff x="0" y="0"/>
            <a:chExt cx="10472622" cy="713231"/>
          </a:xfrm>
        </p:grpSpPr>
        <p:sp>
          <p:nvSpPr>
            <p:cNvPr id="169" name="Rounded Rectangle"/>
            <p:cNvSpPr/>
            <p:nvPr/>
          </p:nvSpPr>
          <p:spPr>
            <a:xfrm>
              <a:off x="0" y="0"/>
              <a:ext cx="10472623" cy="713232"/>
            </a:xfrm>
            <a:prstGeom prst="roundRect">
              <a:avLst>
                <a:gd name="adj" fmla="val 15385"/>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defRPr sz="1500"/>
              </a:pPr>
            </a:p>
          </p:txBody>
        </p:sp>
        <p:sp>
          <p:nvSpPr>
            <p:cNvPr id="170" name="Nearly every land food chain starts here. Producers grow in soil, and get their water and nutrients from it."/>
            <p:cNvSpPr txBox="1"/>
            <p:nvPr/>
          </p:nvSpPr>
          <p:spPr>
            <a:xfrm>
              <a:off x="36901" y="249877"/>
              <a:ext cx="10398821" cy="2134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905" tIns="1905" rIns="1905" bIns="1905" numCol="1" anchor="ctr">
              <a:spAutoFit/>
            </a:bodyPr>
            <a:lstStyle>
              <a:lvl1pPr algn="ctr">
                <a:defRPr b="1" sz="1500">
                  <a:solidFill>
                    <a:srgbClr val="C99A3D"/>
                  </a:solidFill>
                  <a:latin typeface="Arial"/>
                  <a:ea typeface="Arial"/>
                  <a:cs typeface="Arial"/>
                  <a:sym typeface="Arial"/>
                </a:defRPr>
              </a:lvl1pPr>
            </a:lstStyle>
            <a:p>
              <a:pPr/>
              <a:r>
                <a:t>Nearly every land food chain starts here. Producers grow in soil, and get their water and nutrients from it.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4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56"/>
                                        </p:tgtEl>
                                        <p:attrNameLst>
                                          <p:attrName>style.visibility</p:attrName>
                                        </p:attrNameLst>
                                      </p:cBhvr>
                                      <p:to>
                                        <p:strVal val="visible"/>
                                      </p:to>
                                    </p:set>
                                    <p:animEffect filter="fade" transition="in">
                                      <p:cBhvr>
                                        <p:cTn id="11" dur="400"/>
                                        <p:tgtEl>
                                          <p:spTgt spid="15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60"/>
                                        </p:tgtEl>
                                        <p:attrNameLst>
                                          <p:attrName>style.visibility</p:attrName>
                                        </p:attrNameLst>
                                      </p:cBhvr>
                                      <p:to>
                                        <p:strVal val="visible"/>
                                      </p:to>
                                    </p:set>
                                    <p:animEffect filter="fade" transition="in">
                                      <p:cBhvr>
                                        <p:cTn id="16" dur="400"/>
                                        <p:tgtEl>
                                          <p:spTgt spid="16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64"/>
                                        </p:tgtEl>
                                        <p:attrNameLst>
                                          <p:attrName>style.visibility</p:attrName>
                                        </p:attrNameLst>
                                      </p:cBhvr>
                                      <p:to>
                                        <p:strVal val="visible"/>
                                      </p:to>
                                    </p:set>
                                    <p:animEffect filter="fade" transition="in">
                                      <p:cBhvr>
                                        <p:cTn id="21" dur="400"/>
                                        <p:tgtEl>
                                          <p:spTgt spid="16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68"/>
                                        </p:tgtEl>
                                        <p:attrNameLst>
                                          <p:attrName>style.visibility</p:attrName>
                                        </p:attrNameLst>
                                      </p:cBhvr>
                                      <p:to>
                                        <p:strVal val="visible"/>
                                      </p:to>
                                    </p:set>
                                    <p:animEffect filter="fade" transition="in">
                                      <p:cBhvr>
                                        <p:cTn id="26" dur="400"/>
                                        <p:tgtEl>
                                          <p:spTgt spid="168"/>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6" fill="hold">
                                  <p:stCondLst>
                                    <p:cond delay="0"/>
                                  </p:stCondLst>
                                  <p:iterate type="el" backwards="0">
                                    <p:tmAbs val="0"/>
                                  </p:iterate>
                                  <p:childTnLst>
                                    <p:set>
                                      <p:cBhvr>
                                        <p:cTn id="30" fill="hold"/>
                                        <p:tgtEl>
                                          <p:spTgt spid="171"/>
                                        </p:tgtEl>
                                        <p:attrNameLst>
                                          <p:attrName>style.visibility</p:attrName>
                                        </p:attrNameLst>
                                      </p:cBhvr>
                                      <p:to>
                                        <p:strVal val="visible"/>
                                      </p:to>
                                    </p:set>
                                    <p:anim calcmode="lin" valueType="num">
                                      <p:cBhvr>
                                        <p:cTn id="31" dur="400" fill="hold"/>
                                        <p:tgtEl>
                                          <p:spTgt spid="171"/>
                                        </p:tgtEl>
                                        <p:attrNameLst>
                                          <p:attrName>ppt_w</p:attrName>
                                        </p:attrNameLst>
                                      </p:cBhvr>
                                      <p:tavLst>
                                        <p:tav tm="0">
                                          <p:val>
                                            <p:fltVal val="0"/>
                                          </p:val>
                                        </p:tav>
                                        <p:tav tm="100000">
                                          <p:val>
                                            <p:strVal val="#ppt_w"/>
                                          </p:val>
                                        </p:tav>
                                      </p:tavLst>
                                    </p:anim>
                                    <p:anim calcmode="lin" valueType="num">
                                      <p:cBhvr>
                                        <p:cTn id="32" dur="400" fill="hold"/>
                                        <p:tgtEl>
                                          <p:spTgt spid="17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3" fill="hold" display="0">
                  <p:stCondLst>
                    <p:cond delay="indefinite"/>
                  </p:stCondLst>
                </p:cTn>
                <p:tgtEl>
                  <p:spTgt spid="148"/>
                </p:tgtEl>
              </p:cMediaNode>
            </p:video>
            <p:seq concurrent="1" prevAc="none" nextAc="seek">
              <p:cTn id="34" evtFilter="cancelBubble" nodeType="interactiveSeq" restart="whenNotActive" fill="hold">
                <p:stCondLst>
                  <p:cond delay="0" evt="onClick">
                    <p:tgtEl>
                      <p:spTgt spid="148"/>
                    </p:tgtEl>
                  </p:cond>
                </p:stCondLst>
                <p:endSync delay="0" evt="end">
                  <p:rtn val="all"/>
                </p:endSync>
                <p:childTnLst>
                  <p:par>
                    <p:cTn id="35" fill="hold">
                      <p:stCondLst>
                        <p:cond delay="0"/>
                      </p:stCondLst>
                      <p:childTnLst>
                        <p:par>
                          <p:cTn id="36" fill="hold">
                            <p:stCondLst>
                              <p:cond delay="0"/>
                            </p:stCondLst>
                            <p:childTnLst>
                              <p:par>
                                <p:cTn id="37" presetClass="mediacall" nodeType="clickEffect" presetSubtype="0" presetID="2" fill="hold">
                                  <p:stCondLst>
                                    <p:cond delay="0"/>
                                  </p:stCondLst>
                                  <p:childTnLst>
                                    <p:cmd type="call" cmd="togglePause">
                                      <p:cBhvr>
                                        <p:cTn id="38" dur="1" fill="hold"/>
                                        <p:tgtEl>
                                          <p:spTgt spid="148"/>
                                        </p:tgtEl>
                                      </p:cBhvr>
                                    </p:cmd>
                                  </p:childTnLst>
                                </p:cTn>
                              </p:par>
                            </p:childTnLst>
                          </p:cTn>
                        </p:par>
                      </p:childTnLst>
                    </p:cTn>
                  </p:par>
                </p:childTnLst>
              </p:cTn>
              <p:nextCondLst>
                <p:cond delay="0" evt="onClick">
                  <p:tgtEl>
                    <p:spTgt spid="148"/>
                  </p:tgtEl>
                </p:cond>
              </p:nextCondLst>
            </p:seq>
          </p:childTnLst>
        </p:cTn>
      </p:par>
    </p:tnLst>
    <p:bldLst>
      <p:bldP build="whole" bldLvl="1" animBg="1" rev="0" advAuto="0" spid="171" grpId="6"/>
      <p:bldP build="whole" bldLvl="1" animBg="1" rev="0" advAuto="0" spid="156" grpId="2"/>
      <p:bldP build="whole" bldLvl="1" animBg="1" rev="0" advAuto="0" spid="160" grpId="3"/>
      <p:bldP build="whole" bldLvl="1" animBg="1" rev="0" advAuto="0" spid="164" grpId="4"/>
      <p:bldP build="whole" bldLvl="1" animBg="1" rev="0" advAuto="0" spid="168" grpId="5"/>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7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78" name="phase_pill"/>
          <p:cNvGrpSpPr/>
          <p:nvPr/>
        </p:nvGrpSpPr>
        <p:grpSpPr>
          <a:xfrm>
            <a:off x="1170432" y="310895"/>
            <a:ext cx="1713586" cy="329185"/>
            <a:chOff x="0" y="0"/>
            <a:chExt cx="1713585" cy="329184"/>
          </a:xfrm>
        </p:grpSpPr>
        <p:sp>
          <p:nvSpPr>
            <p:cNvPr id="176" name="Rounded Rectangle"/>
            <p:cNvSpPr/>
            <p:nvPr/>
          </p:nvSpPr>
          <p:spPr>
            <a:xfrm>
              <a:off x="0" y="0"/>
              <a:ext cx="1713586"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77"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79"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What should be the correct answer?</a:t>
            </a:r>
          </a:p>
        </p:txBody>
      </p:sp>
      <p:sp>
        <p:nvSpPr>
          <p:cNvPr id="180"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B5A48"/>
                </a:solidFill>
                <a:latin typeface="Arial"/>
                <a:ea typeface="Arial"/>
                <a:cs typeface="Arial"/>
                <a:sym typeface="Arial"/>
              </a:defRPr>
            </a:lvl1pPr>
          </a:lstStyle>
          <a:p>
            <a:pPr/>
            <a:r>
              <a:t>Spot the mistake.</a:t>
            </a:r>
          </a:p>
        </p:txBody>
      </p:sp>
      <p:sp>
        <p:nvSpPr>
          <p:cNvPr id="181" name="wd0_bg"/>
          <p:cNvSpPr/>
          <p:nvPr/>
        </p:nvSpPr>
        <p:spPr>
          <a:xfrm>
            <a:off x="1170432" y="2322576"/>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82" name="wd0_q"/>
          <p:cNvSpPr txBox="1"/>
          <p:nvPr/>
        </p:nvSpPr>
        <p:spPr>
          <a:xfrm>
            <a:off x="1426463" y="2632920"/>
            <a:ext cx="603504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"Soil is just dirt. It does not really do anything."</a:t>
            </a:r>
          </a:p>
        </p:txBody>
      </p:sp>
      <p:grpSp>
        <p:nvGrpSpPr>
          <p:cNvPr id="185" name="wd0_a"/>
          <p:cNvGrpSpPr/>
          <p:nvPr/>
        </p:nvGrpSpPr>
        <p:grpSpPr>
          <a:xfrm>
            <a:off x="7662671" y="2414016"/>
            <a:ext cx="3888944" cy="658369"/>
            <a:chOff x="0" y="0"/>
            <a:chExt cx="3888942" cy="658368"/>
          </a:xfrm>
        </p:grpSpPr>
        <p:sp>
          <p:nvSpPr>
            <p:cNvPr id="183" name="Rounded Rectangle"/>
            <p:cNvSpPr/>
            <p:nvPr/>
          </p:nvSpPr>
          <p:spPr>
            <a:xfrm>
              <a:off x="0" y="0"/>
              <a:ext cx="3888943" cy="658369"/>
            </a:xfrm>
            <a:prstGeom prst="roundRect">
              <a:avLst>
                <a:gd name="adj" fmla="val 13889"/>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184" name="Soil is rock, dead organic matter, water, air and living things. Nearly every land food chain starts in it."/>
            <p:cNvSpPr txBox="1"/>
            <p:nvPr/>
          </p:nvSpPr>
          <p:spPr>
            <a:xfrm>
              <a:off x="36307" y="178307"/>
              <a:ext cx="3816328"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Soil is rock, dead organic matter, water, air and living things. Nearly every land food chain starts in it.</a:t>
              </a:r>
            </a:p>
          </p:txBody>
        </p:sp>
      </p:grpSp>
      <p:sp>
        <p:nvSpPr>
          <p:cNvPr id="186" name="wd1_bg"/>
          <p:cNvSpPr/>
          <p:nvPr/>
        </p:nvSpPr>
        <p:spPr>
          <a:xfrm>
            <a:off x="1170432" y="3346703"/>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87" name="wd1_q"/>
          <p:cNvSpPr txBox="1"/>
          <p:nvPr/>
        </p:nvSpPr>
        <p:spPr>
          <a:xfrm>
            <a:off x="1426463" y="3657048"/>
            <a:ext cx="603504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"If soil gets used up, more will form again soon."</a:t>
            </a:r>
          </a:p>
        </p:txBody>
      </p:sp>
      <p:grpSp>
        <p:nvGrpSpPr>
          <p:cNvPr id="190" name="wd1_a"/>
          <p:cNvGrpSpPr/>
          <p:nvPr/>
        </p:nvGrpSpPr>
        <p:grpSpPr>
          <a:xfrm>
            <a:off x="7662671" y="3438144"/>
            <a:ext cx="3888944" cy="658369"/>
            <a:chOff x="0" y="0"/>
            <a:chExt cx="3888942" cy="658368"/>
          </a:xfrm>
        </p:grpSpPr>
        <p:sp>
          <p:nvSpPr>
            <p:cNvPr id="188" name="Rounded Rectangle"/>
            <p:cNvSpPr/>
            <p:nvPr/>
          </p:nvSpPr>
          <p:spPr>
            <a:xfrm>
              <a:off x="0" y="0"/>
              <a:ext cx="3888943" cy="658369"/>
            </a:xfrm>
            <a:prstGeom prst="roundRect">
              <a:avLst>
                <a:gd name="adj" fmla="val 13889"/>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189" name="Soil forms extremely slowly, often centuries to a millennium for a few centimetres."/>
            <p:cNvSpPr txBox="1"/>
            <p:nvPr/>
          </p:nvSpPr>
          <p:spPr>
            <a:xfrm>
              <a:off x="36307" y="178307"/>
              <a:ext cx="3816328"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Soil forms extremely slowly, often centuries to a millennium for a few centimetres.</a:t>
              </a:r>
            </a:p>
          </p:txBody>
        </p:sp>
      </p:grpSp>
      <p:sp>
        <p:nvSpPr>
          <p:cNvPr id="191" name="wd2_bg"/>
          <p:cNvSpPr/>
          <p:nvPr/>
        </p:nvSpPr>
        <p:spPr>
          <a:xfrm>
            <a:off x="1170432" y="4370832"/>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92" name="wd2_q"/>
          <p:cNvSpPr txBox="1"/>
          <p:nvPr/>
        </p:nvSpPr>
        <p:spPr>
          <a:xfrm>
            <a:off x="1426463" y="4681176"/>
            <a:ext cx="603504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"Coal, soil and vegetables all form at about the same speed."</a:t>
            </a:r>
          </a:p>
        </p:txBody>
      </p:sp>
      <p:grpSp>
        <p:nvGrpSpPr>
          <p:cNvPr id="195" name="wd2_a"/>
          <p:cNvGrpSpPr/>
          <p:nvPr/>
        </p:nvGrpSpPr>
        <p:grpSpPr>
          <a:xfrm>
            <a:off x="7662671" y="4462271"/>
            <a:ext cx="3888944" cy="658369"/>
            <a:chOff x="0" y="0"/>
            <a:chExt cx="3888942" cy="658368"/>
          </a:xfrm>
        </p:grpSpPr>
        <p:sp>
          <p:nvSpPr>
            <p:cNvPr id="193" name="Rounded Rectangle"/>
            <p:cNvSpPr/>
            <p:nvPr/>
          </p:nvSpPr>
          <p:spPr>
            <a:xfrm>
              <a:off x="0" y="0"/>
              <a:ext cx="3888943" cy="658369"/>
            </a:xfrm>
            <a:prstGeom prst="roundRect">
              <a:avLst>
                <a:gd name="adj" fmla="val 13889"/>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194" name="Very different timescales: coal takes millions of years, soil centuries to a millennium, a vegetable months."/>
            <p:cNvSpPr txBox="1"/>
            <p:nvPr/>
          </p:nvSpPr>
          <p:spPr>
            <a:xfrm>
              <a:off x="36307" y="178307"/>
              <a:ext cx="3816328"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Very different timescales: coal takes millions of years, soil centuries to a millennium, a vegetable months.</a:t>
              </a:r>
            </a:p>
          </p:txBody>
        </p:sp>
      </p:grpSp>
      <p:sp>
        <p:nvSpPr>
          <p:cNvPr id="196" name="wd3_bg"/>
          <p:cNvSpPr/>
          <p:nvPr/>
        </p:nvSpPr>
        <p:spPr>
          <a:xfrm>
            <a:off x="1170432" y="5394959"/>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97" name="wd3_q"/>
          <p:cNvSpPr txBox="1"/>
          <p:nvPr/>
        </p:nvSpPr>
        <p:spPr>
          <a:xfrm>
            <a:off x="1426463" y="5705304"/>
            <a:ext cx="603504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"Erosion is not a problem, because soil is renewable."</a:t>
            </a:r>
          </a:p>
        </p:txBody>
      </p:sp>
      <p:grpSp>
        <p:nvGrpSpPr>
          <p:cNvPr id="200" name="wd3_a"/>
          <p:cNvGrpSpPr/>
          <p:nvPr/>
        </p:nvGrpSpPr>
        <p:grpSpPr>
          <a:xfrm>
            <a:off x="7662671" y="5486400"/>
            <a:ext cx="3888944" cy="658369"/>
            <a:chOff x="0" y="0"/>
            <a:chExt cx="3888942" cy="658368"/>
          </a:xfrm>
        </p:grpSpPr>
        <p:sp>
          <p:nvSpPr>
            <p:cNvPr id="198" name="Rounded Rectangle"/>
            <p:cNvSpPr/>
            <p:nvPr/>
          </p:nvSpPr>
          <p:spPr>
            <a:xfrm>
              <a:off x="0" y="0"/>
              <a:ext cx="3888943" cy="658369"/>
            </a:xfrm>
            <a:prstGeom prst="roundRect">
              <a:avLst>
                <a:gd name="adj" fmla="val 13889"/>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199" name="Soil can be lost far faster than it forms. That is exactly why it counts as non-renewable on a human timescale."/>
            <p:cNvSpPr txBox="1"/>
            <p:nvPr/>
          </p:nvSpPr>
          <p:spPr>
            <a:xfrm>
              <a:off x="36307" y="178307"/>
              <a:ext cx="3816328"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Soil can be lost far faster than it forms. That is exactly why it counts as non-renewable on a human timescale.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7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85"/>
                                        </p:tgtEl>
                                        <p:attrNameLst>
                                          <p:attrName>style.visibility</p:attrName>
                                        </p:attrNameLst>
                                      </p:cBhvr>
                                      <p:to>
                                        <p:strVal val="visible"/>
                                      </p:to>
                                    </p:set>
                                    <p:anim calcmode="lin" valueType="num">
                                      <p:cBhvr>
                                        <p:cTn id="11" dur="400" fill="hold"/>
                                        <p:tgtEl>
                                          <p:spTgt spid="185"/>
                                        </p:tgtEl>
                                        <p:attrNameLst>
                                          <p:attrName>ppt_w</p:attrName>
                                        </p:attrNameLst>
                                      </p:cBhvr>
                                      <p:tavLst>
                                        <p:tav tm="0">
                                          <p:val>
                                            <p:fltVal val="0"/>
                                          </p:val>
                                        </p:tav>
                                        <p:tav tm="100000">
                                          <p:val>
                                            <p:strVal val="#ppt_w"/>
                                          </p:val>
                                        </p:tav>
                                      </p:tavLst>
                                    </p:anim>
                                    <p:anim calcmode="lin" valueType="num">
                                      <p:cBhvr>
                                        <p:cTn id="12" dur="400" fill="hold"/>
                                        <p:tgtEl>
                                          <p:spTgt spid="185"/>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90"/>
                                        </p:tgtEl>
                                        <p:attrNameLst>
                                          <p:attrName>style.visibility</p:attrName>
                                        </p:attrNameLst>
                                      </p:cBhvr>
                                      <p:to>
                                        <p:strVal val="visible"/>
                                      </p:to>
                                    </p:set>
                                    <p:anim calcmode="lin" valueType="num">
                                      <p:cBhvr>
                                        <p:cTn id="17" dur="400" fill="hold"/>
                                        <p:tgtEl>
                                          <p:spTgt spid="190"/>
                                        </p:tgtEl>
                                        <p:attrNameLst>
                                          <p:attrName>ppt_w</p:attrName>
                                        </p:attrNameLst>
                                      </p:cBhvr>
                                      <p:tavLst>
                                        <p:tav tm="0">
                                          <p:val>
                                            <p:fltVal val="0"/>
                                          </p:val>
                                        </p:tav>
                                        <p:tav tm="100000">
                                          <p:val>
                                            <p:strVal val="#ppt_w"/>
                                          </p:val>
                                        </p:tav>
                                      </p:tavLst>
                                    </p:anim>
                                    <p:anim calcmode="lin" valueType="num">
                                      <p:cBhvr>
                                        <p:cTn id="18" dur="400" fill="hold"/>
                                        <p:tgtEl>
                                          <p:spTgt spid="190"/>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95"/>
                                        </p:tgtEl>
                                        <p:attrNameLst>
                                          <p:attrName>style.visibility</p:attrName>
                                        </p:attrNameLst>
                                      </p:cBhvr>
                                      <p:to>
                                        <p:strVal val="visible"/>
                                      </p:to>
                                    </p:set>
                                    <p:anim calcmode="lin" valueType="num">
                                      <p:cBhvr>
                                        <p:cTn id="23" dur="400" fill="hold"/>
                                        <p:tgtEl>
                                          <p:spTgt spid="195"/>
                                        </p:tgtEl>
                                        <p:attrNameLst>
                                          <p:attrName>ppt_w</p:attrName>
                                        </p:attrNameLst>
                                      </p:cBhvr>
                                      <p:tavLst>
                                        <p:tav tm="0">
                                          <p:val>
                                            <p:fltVal val="0"/>
                                          </p:val>
                                        </p:tav>
                                        <p:tav tm="100000">
                                          <p:val>
                                            <p:strVal val="#ppt_w"/>
                                          </p:val>
                                        </p:tav>
                                      </p:tavLst>
                                    </p:anim>
                                    <p:anim calcmode="lin" valueType="num">
                                      <p:cBhvr>
                                        <p:cTn id="24" dur="400" fill="hold"/>
                                        <p:tgtEl>
                                          <p:spTgt spid="195"/>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00"/>
                                        </p:tgtEl>
                                        <p:attrNameLst>
                                          <p:attrName>style.visibility</p:attrName>
                                        </p:attrNameLst>
                                      </p:cBhvr>
                                      <p:to>
                                        <p:strVal val="visible"/>
                                      </p:to>
                                    </p:set>
                                    <p:anim calcmode="lin" valueType="num">
                                      <p:cBhvr>
                                        <p:cTn id="29" dur="400" fill="hold"/>
                                        <p:tgtEl>
                                          <p:spTgt spid="200"/>
                                        </p:tgtEl>
                                        <p:attrNameLst>
                                          <p:attrName>ppt_w</p:attrName>
                                        </p:attrNameLst>
                                      </p:cBhvr>
                                      <p:tavLst>
                                        <p:tav tm="0">
                                          <p:val>
                                            <p:fltVal val="0"/>
                                          </p:val>
                                        </p:tav>
                                        <p:tav tm="100000">
                                          <p:val>
                                            <p:strVal val="#ppt_w"/>
                                          </p:val>
                                        </p:tav>
                                      </p:tavLst>
                                    </p:anim>
                                    <p:anim calcmode="lin" valueType="num">
                                      <p:cBhvr>
                                        <p:cTn id="30" dur="400" fill="hold"/>
                                        <p:tgtEl>
                                          <p:spTgt spid="20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75"/>
                </p:tgtEl>
              </p:cMediaNode>
            </p:video>
            <p:seq concurrent="1" prevAc="none" nextAc="seek">
              <p:cTn id="32" evtFilter="cancelBubble" nodeType="interactiveSeq" restart="whenNotActive" fill="hold">
                <p:stCondLst>
                  <p:cond delay="0" evt="onClick">
                    <p:tgtEl>
                      <p:spTgt spid="175"/>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75"/>
                                        </p:tgtEl>
                                      </p:cBhvr>
                                    </p:cmd>
                                  </p:childTnLst>
                                </p:cTn>
                              </p:par>
                            </p:childTnLst>
                          </p:cTn>
                        </p:par>
                      </p:childTnLst>
                    </p:cTn>
                  </p:par>
                </p:childTnLst>
              </p:cTn>
              <p:nextCondLst>
                <p:cond delay="0" evt="onClick">
                  <p:tgtEl>
                    <p:spTgt spid="175"/>
                  </p:tgtEl>
                </p:cond>
              </p:nextCondLst>
            </p:seq>
          </p:childTnLst>
        </p:cTn>
      </p:par>
    </p:tnLst>
    <p:bldLst>
      <p:bldP build="whole" bldLvl="1" animBg="1" rev="0" advAuto="0" spid="190" grpId="3"/>
      <p:bldP build="whole" bldLvl="1" animBg="1" rev="0" advAuto="0" spid="200" grpId="5"/>
      <p:bldP build="whole" bldLvl="1" animBg="1" rev="0" advAuto="0" spid="185" grpId="2"/>
      <p:bldP build="whole" bldLvl="1" animBg="1" rev="0" advAuto="0" spid="195" grpId="4"/>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04"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07" name="phase_pill"/>
          <p:cNvGrpSpPr/>
          <p:nvPr/>
        </p:nvGrpSpPr>
        <p:grpSpPr>
          <a:xfrm>
            <a:off x="1170432" y="310895"/>
            <a:ext cx="2072030" cy="329185"/>
            <a:chOff x="0" y="0"/>
            <a:chExt cx="2072029" cy="329184"/>
          </a:xfrm>
        </p:grpSpPr>
        <p:sp>
          <p:nvSpPr>
            <p:cNvPr id="205" name="Rounded Rectangle"/>
            <p:cNvSpPr/>
            <p:nvPr/>
          </p:nvSpPr>
          <p:spPr>
            <a:xfrm>
              <a:off x="0" y="0"/>
              <a:ext cx="2072030"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06"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08" name="c0_bg"/>
          <p:cNvSpPr/>
          <p:nvPr/>
        </p:nvSpPr>
        <p:spPr>
          <a:xfrm>
            <a:off x="1170432" y="969263"/>
            <a:ext cx="5117441" cy="1389890"/>
          </a:xfrm>
          <a:prstGeom prst="roundRect">
            <a:avLst>
              <a:gd name="adj" fmla="val 6579"/>
            </a:avLst>
          </a:prstGeom>
          <a:solidFill>
            <a:srgbClr val="FFFFFF"/>
          </a:solidFill>
          <a:ln w="16510">
            <a:solidFill>
              <a:srgbClr val="D8DEEC"/>
            </a:solidFill>
          </a:ln>
        </p:spPr>
        <p:txBody>
          <a:bodyPr lIns="45719" rIns="45719"/>
          <a:lstStyle/>
          <a:p>
            <a:pPr/>
          </a:p>
        </p:txBody>
      </p:sp>
      <p:sp>
        <p:nvSpPr>
          <p:cNvPr id="209" name="c0_badge"/>
          <p:cNvSpPr/>
          <p:nvPr/>
        </p:nvSpPr>
        <p:spPr>
          <a:xfrm>
            <a:off x="1371600" y="1133855"/>
            <a:ext cx="384048" cy="384049"/>
          </a:xfrm>
          <a:prstGeom prst="ellipse">
            <a:avLst/>
          </a:prstGeom>
          <a:solidFill>
            <a:srgbClr val="C99A3D"/>
          </a:solidFill>
          <a:ln w="12700">
            <a:solidFill>
              <a:srgbClr val="C99A3D"/>
            </a:solidFill>
          </a:ln>
        </p:spPr>
        <p:txBody>
          <a:bodyPr lIns="45719" rIns="45719"/>
          <a:lstStyle/>
          <a:p>
            <a:pPr/>
          </a:p>
        </p:txBody>
      </p:sp>
      <p:sp>
        <p:nvSpPr>
          <p:cNvPr id="210" name="c0_num"/>
          <p:cNvSpPr txBox="1"/>
          <p:nvPr/>
        </p:nvSpPr>
        <p:spPr>
          <a:xfrm>
            <a:off x="1371600" y="12242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211" name="c0_q"/>
          <p:cNvSpPr txBox="1"/>
          <p:nvPr/>
        </p:nvSpPr>
        <p:spPr>
          <a:xfrm>
            <a:off x="1901951" y="1313466"/>
            <a:ext cx="4184753"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Name one main land resource, other than food.</a:t>
            </a:r>
          </a:p>
        </p:txBody>
      </p:sp>
      <p:grpSp>
        <p:nvGrpSpPr>
          <p:cNvPr id="214" name="c0_a"/>
          <p:cNvGrpSpPr/>
          <p:nvPr/>
        </p:nvGrpSpPr>
        <p:grpSpPr>
          <a:xfrm>
            <a:off x="1371600" y="1810511"/>
            <a:ext cx="4715105" cy="402337"/>
            <a:chOff x="0" y="0"/>
            <a:chExt cx="4715104" cy="402336"/>
          </a:xfrm>
        </p:grpSpPr>
        <p:sp>
          <p:nvSpPr>
            <p:cNvPr id="212"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13" name="Any real example: minerals, timber, building materials, energy."/>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Any real example: minerals, timber, building materials, energy.</a:t>
              </a:r>
            </a:p>
          </p:txBody>
        </p:sp>
      </p:grpSp>
      <p:sp>
        <p:nvSpPr>
          <p:cNvPr id="215" name="c1_bg"/>
          <p:cNvSpPr/>
          <p:nvPr/>
        </p:nvSpPr>
        <p:spPr>
          <a:xfrm>
            <a:off x="6525615" y="969263"/>
            <a:ext cx="5117441" cy="1389890"/>
          </a:xfrm>
          <a:prstGeom prst="roundRect">
            <a:avLst>
              <a:gd name="adj" fmla="val 6579"/>
            </a:avLst>
          </a:prstGeom>
          <a:solidFill>
            <a:srgbClr val="FFFFFF"/>
          </a:solidFill>
          <a:ln w="16510">
            <a:solidFill>
              <a:srgbClr val="D8DEEC"/>
            </a:solidFill>
          </a:ln>
        </p:spPr>
        <p:txBody>
          <a:bodyPr lIns="45719" rIns="45719"/>
          <a:lstStyle/>
          <a:p>
            <a:pPr/>
          </a:p>
        </p:txBody>
      </p:sp>
      <p:sp>
        <p:nvSpPr>
          <p:cNvPr id="216" name="c1_badge"/>
          <p:cNvSpPr/>
          <p:nvPr/>
        </p:nvSpPr>
        <p:spPr>
          <a:xfrm>
            <a:off x="6726783" y="1133855"/>
            <a:ext cx="384049" cy="384049"/>
          </a:xfrm>
          <a:prstGeom prst="ellipse">
            <a:avLst/>
          </a:prstGeom>
          <a:solidFill>
            <a:srgbClr val="C99A3D"/>
          </a:solidFill>
          <a:ln w="12700">
            <a:solidFill>
              <a:srgbClr val="C99A3D"/>
            </a:solidFill>
          </a:ln>
        </p:spPr>
        <p:txBody>
          <a:bodyPr lIns="45719" rIns="45719"/>
          <a:lstStyle/>
          <a:p>
            <a:pPr/>
          </a:p>
        </p:txBody>
      </p:sp>
      <p:sp>
        <p:nvSpPr>
          <p:cNvPr id="217" name="c1_num"/>
          <p:cNvSpPr txBox="1"/>
          <p:nvPr/>
        </p:nvSpPr>
        <p:spPr>
          <a:xfrm>
            <a:off x="6726783" y="12242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218" name="c1_q"/>
          <p:cNvSpPr txBox="1"/>
          <p:nvPr/>
        </p:nvSpPr>
        <p:spPr>
          <a:xfrm>
            <a:off x="7257136" y="1313466"/>
            <a:ext cx="4184753"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State the four things soil is made of.</a:t>
            </a:r>
          </a:p>
        </p:txBody>
      </p:sp>
      <p:grpSp>
        <p:nvGrpSpPr>
          <p:cNvPr id="221" name="c1_a"/>
          <p:cNvGrpSpPr/>
          <p:nvPr/>
        </p:nvGrpSpPr>
        <p:grpSpPr>
          <a:xfrm>
            <a:off x="6726783" y="1810511"/>
            <a:ext cx="4715106" cy="402337"/>
            <a:chOff x="0" y="0"/>
            <a:chExt cx="4715104" cy="402336"/>
          </a:xfrm>
        </p:grpSpPr>
        <p:sp>
          <p:nvSpPr>
            <p:cNvPr id="219"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20" name="Broken rock, dead organic matter, water and air, living organisms."/>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Broken rock, dead organic matter, water and air, living organisms.</a:t>
              </a:r>
            </a:p>
          </p:txBody>
        </p:sp>
      </p:grpSp>
      <p:sp>
        <p:nvSpPr>
          <p:cNvPr id="222" name="c2_bg"/>
          <p:cNvSpPr/>
          <p:nvPr/>
        </p:nvSpPr>
        <p:spPr>
          <a:xfrm>
            <a:off x="1170432" y="2560320"/>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23" name="c2_badge"/>
          <p:cNvSpPr/>
          <p:nvPr/>
        </p:nvSpPr>
        <p:spPr>
          <a:xfrm>
            <a:off x="1371600" y="2724911"/>
            <a:ext cx="384048" cy="384049"/>
          </a:xfrm>
          <a:prstGeom prst="ellipse">
            <a:avLst/>
          </a:prstGeom>
          <a:solidFill>
            <a:srgbClr val="C99A3D"/>
          </a:solidFill>
          <a:ln w="12700">
            <a:solidFill>
              <a:srgbClr val="C99A3D"/>
            </a:solidFill>
          </a:ln>
        </p:spPr>
        <p:txBody>
          <a:bodyPr lIns="45719" rIns="45719"/>
          <a:lstStyle/>
          <a:p>
            <a:pPr/>
          </a:p>
        </p:txBody>
      </p:sp>
      <p:sp>
        <p:nvSpPr>
          <p:cNvPr id="224" name="c2_num"/>
          <p:cNvSpPr txBox="1"/>
          <p:nvPr/>
        </p:nvSpPr>
        <p:spPr>
          <a:xfrm>
            <a:off x="1371600" y="281533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225" name="c2_q"/>
          <p:cNvSpPr txBox="1"/>
          <p:nvPr/>
        </p:nvSpPr>
        <p:spPr>
          <a:xfrm>
            <a:off x="1901951" y="2904522"/>
            <a:ext cx="4184753"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State why soil matters for food chains.</a:t>
            </a:r>
          </a:p>
        </p:txBody>
      </p:sp>
      <p:grpSp>
        <p:nvGrpSpPr>
          <p:cNvPr id="228" name="c2_a"/>
          <p:cNvGrpSpPr/>
          <p:nvPr/>
        </p:nvGrpSpPr>
        <p:grpSpPr>
          <a:xfrm>
            <a:off x="1371600" y="3401567"/>
            <a:ext cx="4715105" cy="402337"/>
            <a:chOff x="0" y="0"/>
            <a:chExt cx="4715104" cy="402336"/>
          </a:xfrm>
        </p:grpSpPr>
        <p:sp>
          <p:nvSpPr>
            <p:cNvPr id="226"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27" name="Producers grow in it, and get water and nutrients from it."/>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Producers grow in it, and get water and nutrients from it.</a:t>
              </a:r>
            </a:p>
          </p:txBody>
        </p:sp>
      </p:grpSp>
      <p:sp>
        <p:nvSpPr>
          <p:cNvPr id="229" name="c3_bg"/>
          <p:cNvSpPr/>
          <p:nvPr/>
        </p:nvSpPr>
        <p:spPr>
          <a:xfrm>
            <a:off x="6525615" y="2560320"/>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30" name="c3_badge"/>
          <p:cNvSpPr/>
          <p:nvPr/>
        </p:nvSpPr>
        <p:spPr>
          <a:xfrm>
            <a:off x="6726783" y="2724911"/>
            <a:ext cx="384049" cy="384049"/>
          </a:xfrm>
          <a:prstGeom prst="ellipse">
            <a:avLst/>
          </a:prstGeom>
          <a:solidFill>
            <a:srgbClr val="C99A3D"/>
          </a:solidFill>
          <a:ln w="12700">
            <a:solidFill>
              <a:srgbClr val="C99A3D"/>
            </a:solidFill>
          </a:ln>
        </p:spPr>
        <p:txBody>
          <a:bodyPr lIns="45719" rIns="45719"/>
          <a:lstStyle/>
          <a:p>
            <a:pPr/>
          </a:p>
        </p:txBody>
      </p:sp>
      <p:sp>
        <p:nvSpPr>
          <p:cNvPr id="231" name="c3_num"/>
          <p:cNvSpPr txBox="1"/>
          <p:nvPr/>
        </p:nvSpPr>
        <p:spPr>
          <a:xfrm>
            <a:off x="6726783" y="281533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4</a:t>
            </a:r>
          </a:p>
        </p:txBody>
      </p:sp>
      <p:sp>
        <p:nvSpPr>
          <p:cNvPr id="232" name="c3_q"/>
          <p:cNvSpPr txBox="1"/>
          <p:nvPr/>
        </p:nvSpPr>
        <p:spPr>
          <a:xfrm>
            <a:off x="7257136" y="2796572"/>
            <a:ext cx="4184753"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State roughly how long it takes to form a few centimetres of soil.</a:t>
            </a:r>
          </a:p>
        </p:txBody>
      </p:sp>
      <p:grpSp>
        <p:nvGrpSpPr>
          <p:cNvPr id="235" name="c3_a"/>
          <p:cNvGrpSpPr/>
          <p:nvPr/>
        </p:nvGrpSpPr>
        <p:grpSpPr>
          <a:xfrm>
            <a:off x="6726783" y="3401567"/>
            <a:ext cx="4715106" cy="402337"/>
            <a:chOff x="0" y="0"/>
            <a:chExt cx="4715104" cy="402336"/>
          </a:xfrm>
        </p:grpSpPr>
        <p:sp>
          <p:nvSpPr>
            <p:cNvPr id="233"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34" name="A few hundred to about a thousand years."/>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A few hundred to about a thousand years.</a:t>
              </a:r>
            </a:p>
          </p:txBody>
        </p:sp>
      </p:grpSp>
      <p:sp>
        <p:nvSpPr>
          <p:cNvPr id="236" name="c4_bg"/>
          <p:cNvSpPr/>
          <p:nvPr/>
        </p:nvSpPr>
        <p:spPr>
          <a:xfrm>
            <a:off x="1170432" y="4151376"/>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37" name="c4_badge"/>
          <p:cNvSpPr/>
          <p:nvPr/>
        </p:nvSpPr>
        <p:spPr>
          <a:xfrm>
            <a:off x="1371600" y="4315967"/>
            <a:ext cx="384048" cy="384049"/>
          </a:xfrm>
          <a:prstGeom prst="ellipse">
            <a:avLst/>
          </a:prstGeom>
          <a:solidFill>
            <a:srgbClr val="C99A3D"/>
          </a:solidFill>
          <a:ln w="12700">
            <a:solidFill>
              <a:srgbClr val="C99A3D"/>
            </a:solidFill>
          </a:ln>
        </p:spPr>
        <p:txBody>
          <a:bodyPr lIns="45719" rIns="45719"/>
          <a:lstStyle/>
          <a:p>
            <a:pPr/>
          </a:p>
        </p:txBody>
      </p:sp>
      <p:sp>
        <p:nvSpPr>
          <p:cNvPr id="238" name="c4_num"/>
          <p:cNvSpPr txBox="1"/>
          <p:nvPr/>
        </p:nvSpPr>
        <p:spPr>
          <a:xfrm>
            <a:off x="1371600" y="440639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5</a:t>
            </a:r>
          </a:p>
        </p:txBody>
      </p:sp>
      <p:sp>
        <p:nvSpPr>
          <p:cNvPr id="239" name="c4_q"/>
          <p:cNvSpPr txBox="1"/>
          <p:nvPr/>
        </p:nvSpPr>
        <p:spPr>
          <a:xfrm>
            <a:off x="1901951" y="4495578"/>
            <a:ext cx="4184753"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State whether soil can be lost faster than it forms.</a:t>
            </a:r>
          </a:p>
        </p:txBody>
      </p:sp>
      <p:grpSp>
        <p:nvGrpSpPr>
          <p:cNvPr id="242" name="c4_a"/>
          <p:cNvGrpSpPr/>
          <p:nvPr/>
        </p:nvGrpSpPr>
        <p:grpSpPr>
          <a:xfrm>
            <a:off x="1371600" y="4992623"/>
            <a:ext cx="4715105" cy="402337"/>
            <a:chOff x="0" y="0"/>
            <a:chExt cx="4715104" cy="402336"/>
          </a:xfrm>
        </p:grpSpPr>
        <p:sp>
          <p:nvSpPr>
            <p:cNvPr id="240"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41" name="Yes, through erosion, especially on poorly managed farmland."/>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Yes, through erosion, especially on poorly managed farmland.</a:t>
              </a:r>
            </a:p>
          </p:txBody>
        </p:sp>
      </p:grpSp>
      <p:sp>
        <p:nvSpPr>
          <p:cNvPr id="243" name="c5_bg"/>
          <p:cNvSpPr/>
          <p:nvPr/>
        </p:nvSpPr>
        <p:spPr>
          <a:xfrm>
            <a:off x="6525615" y="4151376"/>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44" name="c5_badge"/>
          <p:cNvSpPr/>
          <p:nvPr/>
        </p:nvSpPr>
        <p:spPr>
          <a:xfrm>
            <a:off x="6726783" y="4315967"/>
            <a:ext cx="384049" cy="384049"/>
          </a:xfrm>
          <a:prstGeom prst="ellipse">
            <a:avLst/>
          </a:prstGeom>
          <a:solidFill>
            <a:srgbClr val="C99A3D"/>
          </a:solidFill>
          <a:ln w="12700">
            <a:solidFill>
              <a:srgbClr val="C99A3D"/>
            </a:solidFill>
          </a:ln>
        </p:spPr>
        <p:txBody>
          <a:bodyPr lIns="45719" rIns="45719"/>
          <a:lstStyle/>
          <a:p>
            <a:pPr/>
          </a:p>
        </p:txBody>
      </p:sp>
      <p:sp>
        <p:nvSpPr>
          <p:cNvPr id="245" name="c5_num"/>
          <p:cNvSpPr txBox="1"/>
          <p:nvPr/>
        </p:nvSpPr>
        <p:spPr>
          <a:xfrm>
            <a:off x="6726783" y="440639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6</a:t>
            </a:r>
          </a:p>
        </p:txBody>
      </p:sp>
      <p:sp>
        <p:nvSpPr>
          <p:cNvPr id="246" name="c5_q"/>
          <p:cNvSpPr txBox="1"/>
          <p:nvPr/>
        </p:nvSpPr>
        <p:spPr>
          <a:xfrm>
            <a:off x="7257136" y="4387628"/>
            <a:ext cx="4184753"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State why soil counts as non-renewable on a human timescale.</a:t>
            </a:r>
          </a:p>
        </p:txBody>
      </p:sp>
      <p:grpSp>
        <p:nvGrpSpPr>
          <p:cNvPr id="249" name="c5_a"/>
          <p:cNvGrpSpPr/>
          <p:nvPr/>
        </p:nvGrpSpPr>
        <p:grpSpPr>
          <a:xfrm>
            <a:off x="6726783" y="4992623"/>
            <a:ext cx="4715106" cy="402337"/>
            <a:chOff x="0" y="0"/>
            <a:chExt cx="4715104" cy="402336"/>
          </a:xfrm>
        </p:grpSpPr>
        <p:sp>
          <p:nvSpPr>
            <p:cNvPr id="247"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48" name="It forms far slower than we use or erode it, even though it eventually reforms."/>
            <p:cNvSpPr txBox="1"/>
            <p:nvPr/>
          </p:nvSpPr>
          <p:spPr>
            <a:xfrm>
              <a:off x="35037" y="50037"/>
              <a:ext cx="4645030" cy="302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It forms far slower than we use or erode it, even though it eventually reforms.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04"/>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14"/>
                                        </p:tgtEl>
                                        <p:attrNameLst>
                                          <p:attrName>style.visibility</p:attrName>
                                        </p:attrNameLst>
                                      </p:cBhvr>
                                      <p:to>
                                        <p:strVal val="visible"/>
                                      </p:to>
                                    </p:set>
                                    <p:animEffect filter="wipe(left)" transition="in">
                                      <p:cBhvr>
                                        <p:cTn id="11" dur="400"/>
                                        <p:tgtEl>
                                          <p:spTgt spid="214"/>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21"/>
                                        </p:tgtEl>
                                        <p:attrNameLst>
                                          <p:attrName>style.visibility</p:attrName>
                                        </p:attrNameLst>
                                      </p:cBhvr>
                                      <p:to>
                                        <p:strVal val="visible"/>
                                      </p:to>
                                    </p:set>
                                    <p:animEffect filter="wipe(left)" transition="in">
                                      <p:cBhvr>
                                        <p:cTn id="16" dur="400"/>
                                        <p:tgtEl>
                                          <p:spTgt spid="22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28"/>
                                        </p:tgtEl>
                                        <p:attrNameLst>
                                          <p:attrName>style.visibility</p:attrName>
                                        </p:attrNameLst>
                                      </p:cBhvr>
                                      <p:to>
                                        <p:strVal val="visible"/>
                                      </p:to>
                                    </p:set>
                                    <p:animEffect filter="wipe(left)" transition="in">
                                      <p:cBhvr>
                                        <p:cTn id="21" dur="400"/>
                                        <p:tgtEl>
                                          <p:spTgt spid="228"/>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35"/>
                                        </p:tgtEl>
                                        <p:attrNameLst>
                                          <p:attrName>style.visibility</p:attrName>
                                        </p:attrNameLst>
                                      </p:cBhvr>
                                      <p:to>
                                        <p:strVal val="visible"/>
                                      </p:to>
                                    </p:set>
                                    <p:animEffect filter="wipe(left)" transition="in">
                                      <p:cBhvr>
                                        <p:cTn id="26" dur="400"/>
                                        <p:tgtEl>
                                          <p:spTgt spid="235"/>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42"/>
                                        </p:tgtEl>
                                        <p:attrNameLst>
                                          <p:attrName>style.visibility</p:attrName>
                                        </p:attrNameLst>
                                      </p:cBhvr>
                                      <p:to>
                                        <p:strVal val="visible"/>
                                      </p:to>
                                    </p:set>
                                    <p:animEffect filter="wipe(left)" transition="in">
                                      <p:cBhvr>
                                        <p:cTn id="31" dur="400"/>
                                        <p:tgtEl>
                                          <p:spTgt spid="242"/>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49"/>
                                        </p:tgtEl>
                                        <p:attrNameLst>
                                          <p:attrName>style.visibility</p:attrName>
                                        </p:attrNameLst>
                                      </p:cBhvr>
                                      <p:to>
                                        <p:strVal val="visible"/>
                                      </p:to>
                                    </p:set>
                                    <p:animEffect filter="wipe(left)" transition="in">
                                      <p:cBhvr>
                                        <p:cTn id="36" dur="4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4"/>
                </p:tgtEl>
              </p:cMediaNode>
            </p:video>
            <p:seq concurrent="1" prevAc="none" nextAc="seek">
              <p:cTn id="38" evtFilter="cancelBubble" nodeType="interactiveSeq" restart="whenNotActive" fill="hold">
                <p:stCondLst>
                  <p:cond delay="0" evt="onClick">
                    <p:tgtEl>
                      <p:spTgt spid="204"/>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4"/>
                                        </p:tgtEl>
                                      </p:cBhvr>
                                    </p:cmd>
                                  </p:childTnLst>
                                </p:cTn>
                              </p:par>
                            </p:childTnLst>
                          </p:cTn>
                        </p:par>
                      </p:childTnLst>
                    </p:cTn>
                  </p:par>
                </p:childTnLst>
              </p:cTn>
              <p:nextCondLst>
                <p:cond delay="0" evt="onClick">
                  <p:tgtEl>
                    <p:spTgt spid="204"/>
                  </p:tgtEl>
                </p:cond>
              </p:nextCondLst>
            </p:seq>
          </p:childTnLst>
        </p:cTn>
      </p:par>
    </p:tnLst>
    <p:bldLst>
      <p:bldP build="whole" bldLvl="1" animBg="1" rev="0" advAuto="0" spid="249" grpId="7"/>
      <p:bldP build="whole" bldLvl="1" animBg="1" rev="0" advAuto="0" spid="242" grpId="6"/>
      <p:bldP build="whole" bldLvl="1" animBg="1" rev="0" advAuto="0" spid="228" grpId="4"/>
      <p:bldP build="whole" bldLvl="1" animBg="1" rev="0" advAuto="0" spid="214" grpId="2"/>
      <p:bldP build="whole" bldLvl="1" animBg="1" rev="0" advAuto="0" spid="235" grpId="5"/>
      <p:bldP build="whole" bldLvl="1" animBg="1" rev="0" advAuto="0" spid="221" grpId="3"/>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5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56" name="phase_pill"/>
          <p:cNvGrpSpPr/>
          <p:nvPr/>
        </p:nvGrpSpPr>
        <p:grpSpPr>
          <a:xfrm>
            <a:off x="1170432" y="310895"/>
            <a:ext cx="1892808" cy="329185"/>
            <a:chOff x="0" y="0"/>
            <a:chExt cx="1892807" cy="329184"/>
          </a:xfrm>
        </p:grpSpPr>
        <p:sp>
          <p:nvSpPr>
            <p:cNvPr id="254"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55"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57"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58" name="slide_title"/>
          <p:cNvSpPr txBox="1"/>
          <p:nvPr/>
        </p:nvSpPr>
        <p:spPr>
          <a:xfrm>
            <a:off x="1170432" y="1126860"/>
            <a:ext cx="8643823" cy="3614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900"/>
              </a:lnSpc>
              <a:defRPr b="1" sz="2400">
                <a:solidFill>
                  <a:srgbClr val="3D2B1F"/>
                </a:solidFill>
                <a:latin typeface="Georgia"/>
                <a:ea typeface="Georgia"/>
                <a:cs typeface="Georgia"/>
                <a:sym typeface="Georgia"/>
              </a:defRPr>
            </a:lvl1pPr>
          </a:lstStyle>
          <a:p>
            <a:pPr/>
            <a:r>
              <a:t>What The Land Gives Us worksheet</a:t>
            </a:r>
          </a:p>
        </p:txBody>
      </p:sp>
      <p:sp>
        <p:nvSpPr>
          <p:cNvPr id="259"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B5482E"/>
                </a:solidFill>
                <a:latin typeface="Arial"/>
                <a:ea typeface="Arial"/>
                <a:cs typeface="Arial"/>
                <a:sym typeface="Arial"/>
              </a:defRPr>
            </a:lvl1pPr>
          </a:lstStyle>
          <a:p>
            <a:pPr/>
            <a:r>
              <a:t>Open Google Classroom now.</a:t>
            </a:r>
          </a:p>
        </p:txBody>
      </p:sp>
      <p:grpSp>
        <p:nvGrpSpPr>
          <p:cNvPr id="264" name="t0"/>
          <p:cNvGrpSpPr/>
          <p:nvPr/>
        </p:nvGrpSpPr>
        <p:grpSpPr>
          <a:xfrm>
            <a:off x="1170432" y="2322576"/>
            <a:ext cx="3307994" cy="1828801"/>
            <a:chOff x="0" y="0"/>
            <a:chExt cx="3307993" cy="1828800"/>
          </a:xfrm>
        </p:grpSpPr>
        <p:sp>
          <p:nvSpPr>
            <p:cNvPr id="260" name="t0_bg"/>
            <p:cNvSpPr/>
            <p:nvPr/>
          </p:nvSpPr>
          <p:spPr>
            <a:xfrm>
              <a:off x="0" y="0"/>
              <a:ext cx="3307994" cy="1828800"/>
            </a:xfrm>
            <a:prstGeom prst="roundRect">
              <a:avLst>
                <a:gd name="adj" fmla="val 5000"/>
              </a:avLst>
            </a:prstGeom>
            <a:solidFill>
              <a:srgbClr val="F5E5DE"/>
            </a:solidFill>
            <a:ln w="20320" cap="flat">
              <a:solidFill>
                <a:srgbClr val="B5482E"/>
              </a:solidFill>
              <a:prstDash val="solid"/>
              <a:round/>
            </a:ln>
            <a:effectLst/>
          </p:spPr>
          <p:txBody>
            <a:bodyPr wrap="square" lIns="45719" tIns="45719" rIns="45719" bIns="45719" numCol="1" anchor="t">
              <a:noAutofit/>
            </a:bodyPr>
            <a:lstStyle/>
            <a:p>
              <a:pPr/>
            </a:p>
          </p:txBody>
        </p:sp>
        <p:sp>
          <p:nvSpPr>
            <p:cNvPr id="261"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B5482E"/>
                  </a:solidFill>
                  <a:latin typeface="Arial"/>
                  <a:ea typeface="Arial"/>
                  <a:cs typeface="Arial"/>
                  <a:sym typeface="Arial"/>
                </a:defRPr>
              </a:lvl1pPr>
            </a:lstStyle>
            <a:p>
              <a:pPr/>
              <a:r>
                <a:t>BRONZE</a:t>
              </a:r>
            </a:p>
          </p:txBody>
        </p:sp>
        <p:sp>
          <p:nvSpPr>
            <p:cNvPr id="262" name="t0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3D2B1F"/>
                  </a:solidFill>
                  <a:latin typeface="Arial"/>
                  <a:ea typeface="Arial"/>
                  <a:cs typeface="Arial"/>
                  <a:sym typeface="Arial"/>
                </a:defRPr>
              </a:lvl1pPr>
            </a:lstStyle>
            <a:p>
              <a:pPr/>
              <a:r>
                <a:t>Identify it</a:t>
              </a:r>
            </a:p>
          </p:txBody>
        </p:sp>
        <p:sp>
          <p:nvSpPr>
            <p:cNvPr id="263" name="t0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B5A48"/>
                  </a:solidFill>
                  <a:latin typeface="Arial"/>
                  <a:ea typeface="Arial"/>
                  <a:cs typeface="Arial"/>
                  <a:sym typeface="Arial"/>
                </a:defRPr>
              </a:lvl1pPr>
            </a:lstStyle>
            <a:p>
              <a:pPr/>
              <a:r>
                <a:t>Name the main land resources and what soil is made of.</a:t>
              </a:r>
            </a:p>
          </p:txBody>
        </p:sp>
      </p:grpSp>
      <p:grpSp>
        <p:nvGrpSpPr>
          <p:cNvPr id="269" name="t1"/>
          <p:cNvGrpSpPr/>
          <p:nvPr/>
        </p:nvGrpSpPr>
        <p:grpSpPr>
          <a:xfrm>
            <a:off x="4752745" y="2322576"/>
            <a:ext cx="3307995" cy="1828801"/>
            <a:chOff x="0" y="0"/>
            <a:chExt cx="3307993" cy="1828800"/>
          </a:xfrm>
        </p:grpSpPr>
        <p:sp>
          <p:nvSpPr>
            <p:cNvPr id="265" name="t1_bg"/>
            <p:cNvSpPr/>
            <p:nvPr/>
          </p:nvSpPr>
          <p:spPr>
            <a:xfrm>
              <a:off x="0" y="0"/>
              <a:ext cx="3307994" cy="1828800"/>
            </a:xfrm>
            <a:prstGeom prst="roundRect">
              <a:avLst>
                <a:gd name="adj" fmla="val 5000"/>
              </a:avLst>
            </a:prstGeom>
            <a:solidFill>
              <a:srgbClr val="F0EBE0"/>
            </a:solidFill>
            <a:ln w="20320" cap="flat">
              <a:solidFill>
                <a:srgbClr val="81715F"/>
              </a:solidFill>
              <a:prstDash val="solid"/>
              <a:round/>
            </a:ln>
            <a:effectLst/>
          </p:spPr>
          <p:txBody>
            <a:bodyPr wrap="square" lIns="45719" tIns="45719" rIns="45719" bIns="45719" numCol="1" anchor="t">
              <a:noAutofit/>
            </a:bodyPr>
            <a:lstStyle/>
            <a:p>
              <a:pPr/>
            </a:p>
          </p:txBody>
        </p:sp>
        <p:sp>
          <p:nvSpPr>
            <p:cNvPr id="266"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81715F"/>
                  </a:solidFill>
                  <a:latin typeface="Arial"/>
                  <a:ea typeface="Arial"/>
                  <a:cs typeface="Arial"/>
                  <a:sym typeface="Arial"/>
                </a:defRPr>
              </a:lvl1pPr>
            </a:lstStyle>
            <a:p>
              <a:pPr/>
              <a:r>
                <a:t>SILVER</a:t>
              </a:r>
            </a:p>
          </p:txBody>
        </p:sp>
        <p:sp>
          <p:nvSpPr>
            <p:cNvPr id="267" name="t1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3D2B1F"/>
                  </a:solidFill>
                  <a:latin typeface="Arial"/>
                  <a:ea typeface="Arial"/>
                  <a:cs typeface="Arial"/>
                  <a:sym typeface="Arial"/>
                </a:defRPr>
              </a:lvl1pPr>
            </a:lstStyle>
            <a:p>
              <a:pPr/>
              <a:r>
                <a:t>Explain it</a:t>
              </a:r>
            </a:p>
          </p:txBody>
        </p:sp>
        <p:sp>
          <p:nvSpPr>
            <p:cNvPr id="268" name="t1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B5A48"/>
                  </a:solidFill>
                  <a:latin typeface="Arial"/>
                  <a:ea typeface="Arial"/>
                  <a:cs typeface="Arial"/>
                  <a:sym typeface="Arial"/>
                </a:defRPr>
              </a:lvl1pPr>
            </a:lstStyle>
            <a:p>
              <a:pPr/>
              <a:r>
                <a:t>Explain what soil is, and how it can be lost faster than it forms.</a:t>
              </a:r>
            </a:p>
          </p:txBody>
        </p:sp>
      </p:grpSp>
      <p:grpSp>
        <p:nvGrpSpPr>
          <p:cNvPr id="274" name="t2"/>
          <p:cNvGrpSpPr/>
          <p:nvPr/>
        </p:nvGrpSpPr>
        <p:grpSpPr>
          <a:xfrm>
            <a:off x="8335061" y="2322576"/>
            <a:ext cx="3307994" cy="1828801"/>
            <a:chOff x="0" y="0"/>
            <a:chExt cx="3307993" cy="1828800"/>
          </a:xfrm>
        </p:grpSpPr>
        <p:sp>
          <p:nvSpPr>
            <p:cNvPr id="270" name="t2_bg"/>
            <p:cNvSpPr/>
            <p:nvPr/>
          </p:nvSpPr>
          <p:spPr>
            <a:xfrm>
              <a:off x="0" y="0"/>
              <a:ext cx="3307994" cy="1828800"/>
            </a:xfrm>
            <a:prstGeom prst="roundRect">
              <a:avLst>
                <a:gd name="adj" fmla="val 5000"/>
              </a:avLst>
            </a:prstGeom>
            <a:solidFill>
              <a:srgbClr val="ECE1CB"/>
            </a:solidFill>
            <a:ln w="20320" cap="flat">
              <a:solidFill>
                <a:srgbClr val="8F6D2A"/>
              </a:solidFill>
              <a:prstDash val="solid"/>
              <a:round/>
            </a:ln>
            <a:effectLst/>
          </p:spPr>
          <p:txBody>
            <a:bodyPr wrap="square" lIns="45719" tIns="45719" rIns="45719" bIns="45719" numCol="1" anchor="t">
              <a:noAutofit/>
            </a:bodyPr>
            <a:lstStyle/>
            <a:p>
              <a:pPr/>
            </a:p>
          </p:txBody>
        </p:sp>
        <p:sp>
          <p:nvSpPr>
            <p:cNvPr id="271"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8F6D2A"/>
                  </a:solidFill>
                  <a:latin typeface="Arial"/>
                  <a:ea typeface="Arial"/>
                  <a:cs typeface="Arial"/>
                  <a:sym typeface="Arial"/>
                </a:defRPr>
              </a:lvl1pPr>
            </a:lstStyle>
            <a:p>
              <a:pPr/>
              <a:r>
                <a:t>GOLD</a:t>
              </a:r>
            </a:p>
          </p:txBody>
        </p:sp>
        <p:sp>
          <p:nvSpPr>
            <p:cNvPr id="272" name="t2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3D2B1F"/>
                  </a:solidFill>
                  <a:latin typeface="Arial"/>
                  <a:ea typeface="Arial"/>
                  <a:cs typeface="Arial"/>
                  <a:sym typeface="Arial"/>
                </a:defRPr>
              </a:lvl1pPr>
            </a:lstStyle>
            <a:p>
              <a:pPr/>
              <a:r>
                <a:t>Judge it</a:t>
              </a:r>
            </a:p>
          </p:txBody>
        </p:sp>
        <p:sp>
          <p:nvSpPr>
            <p:cNvPr id="273" name="t2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B5A48"/>
                  </a:solidFill>
                  <a:latin typeface="Arial"/>
                  <a:ea typeface="Arial"/>
                  <a:cs typeface="Arial"/>
                  <a:sym typeface="Arial"/>
                </a:defRPr>
              </a:lvl1pPr>
            </a:lstStyle>
            <a:p>
              <a:pPr/>
              <a:r>
                <a:t>Judge a claim about soil, using formation and loss timescales.</a:t>
              </a:r>
            </a:p>
          </p:txBody>
        </p:sp>
      </p:grpSp>
      <p:sp>
        <p:nvSpPr>
          <p:cNvPr id="275" name="yd_note"/>
          <p:cNvSpPr txBox="1"/>
          <p:nvPr/>
        </p:nvSpPr>
        <p:spPr>
          <a:xfrm>
            <a:off x="1170432" y="4543319"/>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3D2B1F"/>
                </a:solidFill>
                <a:latin typeface="Arial"/>
                <a:ea typeface="Arial"/>
                <a:cs typeface="Arial"/>
                <a:sym typeface="Arial"/>
              </a:defRPr>
            </a:lvl1pPr>
          </a:lstStyle>
          <a:p>
            <a:pPr/>
            <a:r>
              <a:t>Formation takes centuries. Loss can take years. That gap is the whole answer.</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5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64"/>
                                        </p:tgtEl>
                                        <p:attrNameLst>
                                          <p:attrName>style.visibility</p:attrName>
                                        </p:attrNameLst>
                                      </p:cBhvr>
                                      <p:to>
                                        <p:strVal val="visible"/>
                                      </p:to>
                                    </p:set>
                                    <p:animEffect filter="fade" transition="in">
                                      <p:cBhvr>
                                        <p:cTn id="11" dur="400"/>
                                        <p:tgtEl>
                                          <p:spTgt spid="264"/>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69"/>
                                        </p:tgtEl>
                                        <p:attrNameLst>
                                          <p:attrName>style.visibility</p:attrName>
                                        </p:attrNameLst>
                                      </p:cBhvr>
                                      <p:to>
                                        <p:strVal val="visible"/>
                                      </p:to>
                                    </p:set>
                                    <p:animEffect filter="fade" transition="in">
                                      <p:cBhvr>
                                        <p:cTn id="16" dur="400"/>
                                        <p:tgtEl>
                                          <p:spTgt spid="269"/>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74"/>
                                        </p:tgtEl>
                                        <p:attrNameLst>
                                          <p:attrName>style.visibility</p:attrName>
                                        </p:attrNameLst>
                                      </p:cBhvr>
                                      <p:to>
                                        <p:strVal val="visible"/>
                                      </p:to>
                                    </p:set>
                                    <p:animEffect filter="fade" transition="in">
                                      <p:cBhvr>
                                        <p:cTn id="21" dur="400"/>
                                        <p:tgtEl>
                                          <p:spTgt spid="27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75"/>
                                        </p:tgtEl>
                                        <p:attrNameLst>
                                          <p:attrName>style.visibility</p:attrName>
                                        </p:attrNameLst>
                                      </p:cBhvr>
                                      <p:to>
                                        <p:strVal val="visible"/>
                                      </p:to>
                                    </p:set>
                                    <p:animEffect filter="fade" transition="in">
                                      <p:cBhvr>
                                        <p:cTn id="26" dur="400"/>
                                        <p:tgtEl>
                                          <p:spTgt spid="27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53"/>
                </p:tgtEl>
              </p:cMediaNode>
            </p:video>
            <p:seq concurrent="1" prevAc="none" nextAc="seek">
              <p:cTn id="28" evtFilter="cancelBubble" nodeType="interactiveSeq" restart="whenNotActive" fill="hold">
                <p:stCondLst>
                  <p:cond delay="0" evt="onClick">
                    <p:tgtEl>
                      <p:spTgt spid="253"/>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53"/>
                                        </p:tgtEl>
                                      </p:cBhvr>
                                    </p:cmd>
                                  </p:childTnLst>
                                </p:cTn>
                              </p:par>
                            </p:childTnLst>
                          </p:cTn>
                        </p:par>
                      </p:childTnLst>
                    </p:cTn>
                  </p:par>
                </p:childTnLst>
              </p:cTn>
              <p:nextCondLst>
                <p:cond delay="0" evt="onClick">
                  <p:tgtEl>
                    <p:spTgt spid="253"/>
                  </p:tgtEl>
                </p:cond>
              </p:nextCondLst>
            </p:seq>
          </p:childTnLst>
        </p:cTn>
      </p:par>
    </p:tnLst>
    <p:bldLst>
      <p:bldP build="whole" bldLvl="1" animBg="1" rev="0" advAuto="0" spid="274" grpId="4"/>
      <p:bldP build="whole" bldLvl="1" animBg="1" rev="0" advAuto="0" spid="275" grpId="5"/>
      <p:bldP build="whole" bldLvl="1" animBg="1" rev="0" advAuto="0" spid="269" grpId="3"/>
      <p:bldP build="whole" bldLvl="1" animBg="1" rev="0" advAuto="0" spid="264" grpId="2"/>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7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82" name="phase_pill"/>
          <p:cNvGrpSpPr/>
          <p:nvPr/>
        </p:nvGrpSpPr>
        <p:grpSpPr>
          <a:xfrm>
            <a:off x="1170432" y="310895"/>
            <a:ext cx="1892808" cy="329185"/>
            <a:chOff x="0" y="0"/>
            <a:chExt cx="1892807" cy="329184"/>
          </a:xfrm>
        </p:grpSpPr>
        <p:sp>
          <p:nvSpPr>
            <p:cNvPr id="280"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81" name="ANSWERS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ANSWERS · 3 MIN</a:t>
              </a:r>
            </a:p>
          </p:txBody>
        </p:sp>
      </p:grpSp>
      <p:sp>
        <p:nvSpPr>
          <p:cNvPr id="283"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Answers</a:t>
            </a:r>
          </a:p>
        </p:txBody>
      </p:sp>
      <p:grpSp>
        <p:nvGrpSpPr>
          <p:cNvPr id="287" name="a0"/>
          <p:cNvGrpSpPr/>
          <p:nvPr/>
        </p:nvGrpSpPr>
        <p:grpSpPr>
          <a:xfrm>
            <a:off x="1170432" y="1828800"/>
            <a:ext cx="5117441" cy="658369"/>
            <a:chOff x="0" y="0"/>
            <a:chExt cx="5117439" cy="658368"/>
          </a:xfrm>
        </p:grpSpPr>
        <p:sp>
          <p:nvSpPr>
            <p:cNvPr id="284" name="a0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85" name="a0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1</a:t>
              </a:r>
            </a:p>
          </p:txBody>
        </p:sp>
        <p:sp>
          <p:nvSpPr>
            <p:cNvPr id="286" name="a0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Any three: minerals, timber, building materials, energy.</a:t>
              </a:r>
            </a:p>
          </p:txBody>
        </p:sp>
      </p:grpSp>
      <p:grpSp>
        <p:nvGrpSpPr>
          <p:cNvPr id="291" name="a1"/>
          <p:cNvGrpSpPr/>
          <p:nvPr/>
        </p:nvGrpSpPr>
        <p:grpSpPr>
          <a:xfrm>
            <a:off x="6525615" y="1828800"/>
            <a:ext cx="5117441" cy="658369"/>
            <a:chOff x="0" y="0"/>
            <a:chExt cx="5117439" cy="658368"/>
          </a:xfrm>
        </p:grpSpPr>
        <p:sp>
          <p:nvSpPr>
            <p:cNvPr id="288" name="a1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89" name="a1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2</a:t>
              </a:r>
            </a:p>
          </p:txBody>
        </p:sp>
        <p:sp>
          <p:nvSpPr>
            <p:cNvPr id="290" name="a1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Coal, oil, or gas (fossil fuels).</a:t>
              </a:r>
            </a:p>
          </p:txBody>
        </p:sp>
      </p:grpSp>
      <p:grpSp>
        <p:nvGrpSpPr>
          <p:cNvPr id="295" name="a2"/>
          <p:cNvGrpSpPr/>
          <p:nvPr/>
        </p:nvGrpSpPr>
        <p:grpSpPr>
          <a:xfrm>
            <a:off x="1170432" y="2578607"/>
            <a:ext cx="5117441" cy="658369"/>
            <a:chOff x="0" y="0"/>
            <a:chExt cx="5117439" cy="658368"/>
          </a:xfrm>
        </p:grpSpPr>
        <p:sp>
          <p:nvSpPr>
            <p:cNvPr id="292" name="a2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3" name="a2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3</a:t>
              </a:r>
            </a:p>
          </p:txBody>
        </p:sp>
        <p:sp>
          <p:nvSpPr>
            <p:cNvPr id="294" name="a2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Broken rock, dead organic matter, water and air, living organisms.</a:t>
              </a:r>
            </a:p>
          </p:txBody>
        </p:sp>
      </p:grpSp>
      <p:grpSp>
        <p:nvGrpSpPr>
          <p:cNvPr id="299" name="a3"/>
          <p:cNvGrpSpPr/>
          <p:nvPr/>
        </p:nvGrpSpPr>
        <p:grpSpPr>
          <a:xfrm>
            <a:off x="6525615" y="2578607"/>
            <a:ext cx="5117441" cy="658369"/>
            <a:chOff x="0" y="0"/>
            <a:chExt cx="5117439" cy="658368"/>
          </a:xfrm>
        </p:grpSpPr>
        <p:sp>
          <p:nvSpPr>
            <p:cNvPr id="296" name="a3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7" name="a3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4</a:t>
              </a:r>
            </a:p>
          </p:txBody>
        </p:sp>
        <p:sp>
          <p:nvSpPr>
            <p:cNvPr id="298" name="a3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Producers grow in soil and get water and nutrients from it.</a:t>
              </a:r>
            </a:p>
          </p:txBody>
        </p:sp>
      </p:grpSp>
      <p:grpSp>
        <p:nvGrpSpPr>
          <p:cNvPr id="303" name="a4"/>
          <p:cNvGrpSpPr/>
          <p:nvPr/>
        </p:nvGrpSpPr>
        <p:grpSpPr>
          <a:xfrm>
            <a:off x="1170432" y="3328415"/>
            <a:ext cx="5117441" cy="658369"/>
            <a:chOff x="0" y="0"/>
            <a:chExt cx="5117439" cy="658368"/>
          </a:xfrm>
        </p:grpSpPr>
        <p:sp>
          <p:nvSpPr>
            <p:cNvPr id="300" name="a4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1" name="a4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5</a:t>
              </a:r>
            </a:p>
          </p:txBody>
        </p:sp>
        <p:sp>
          <p:nvSpPr>
            <p:cNvPr id="302" name="a4_t"/>
            <p:cNvSpPr txBox="1"/>
            <p:nvPr/>
          </p:nvSpPr>
          <p:spPr>
            <a:xfrm>
              <a:off x="749808" y="154361"/>
              <a:ext cx="4166464" cy="3496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It also has dead organic matter, water, air and living things, not just rock.</a:t>
              </a:r>
            </a:p>
          </p:txBody>
        </p:sp>
      </p:grpSp>
      <p:grpSp>
        <p:nvGrpSpPr>
          <p:cNvPr id="307" name="a5"/>
          <p:cNvGrpSpPr/>
          <p:nvPr/>
        </p:nvGrpSpPr>
        <p:grpSpPr>
          <a:xfrm>
            <a:off x="6525615" y="3328415"/>
            <a:ext cx="5117441" cy="658369"/>
            <a:chOff x="0" y="0"/>
            <a:chExt cx="5117439" cy="658368"/>
          </a:xfrm>
        </p:grpSpPr>
        <p:sp>
          <p:nvSpPr>
            <p:cNvPr id="304" name="a5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5" name="a5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6</a:t>
              </a:r>
            </a:p>
          </p:txBody>
        </p:sp>
        <p:sp>
          <p:nvSpPr>
            <p:cNvPr id="306" name="a5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Roughly a few hundred to about a thousand years.</a:t>
              </a:r>
            </a:p>
          </p:txBody>
        </p:sp>
      </p:grpSp>
      <p:grpSp>
        <p:nvGrpSpPr>
          <p:cNvPr id="311" name="a6"/>
          <p:cNvGrpSpPr/>
          <p:nvPr/>
        </p:nvGrpSpPr>
        <p:grpSpPr>
          <a:xfrm>
            <a:off x="1170432" y="4078223"/>
            <a:ext cx="5117441" cy="658369"/>
            <a:chOff x="0" y="0"/>
            <a:chExt cx="5117439" cy="658368"/>
          </a:xfrm>
        </p:grpSpPr>
        <p:sp>
          <p:nvSpPr>
            <p:cNvPr id="308" name="a6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9" name="a6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7</a:t>
              </a:r>
            </a:p>
          </p:txBody>
        </p:sp>
        <p:sp>
          <p:nvSpPr>
            <p:cNvPr id="310" name="a6_t"/>
            <p:cNvSpPr txBox="1"/>
            <p:nvPr/>
          </p:nvSpPr>
          <p:spPr>
            <a:xfrm>
              <a:off x="749808" y="154361"/>
              <a:ext cx="4166464" cy="3496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Erosion, especially wind and water on farmland, can strip it away in years.</a:t>
              </a:r>
            </a:p>
          </p:txBody>
        </p:sp>
      </p:grpSp>
      <p:grpSp>
        <p:nvGrpSpPr>
          <p:cNvPr id="315" name="a7"/>
          <p:cNvGrpSpPr/>
          <p:nvPr/>
        </p:nvGrpSpPr>
        <p:grpSpPr>
          <a:xfrm>
            <a:off x="6525615" y="4078223"/>
            <a:ext cx="5117441" cy="658369"/>
            <a:chOff x="0" y="0"/>
            <a:chExt cx="5117439" cy="658368"/>
          </a:xfrm>
        </p:grpSpPr>
        <p:sp>
          <p:nvSpPr>
            <p:cNvPr id="312" name="a7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3" name="a7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8</a:t>
              </a:r>
            </a:p>
          </p:txBody>
        </p:sp>
        <p:sp>
          <p:nvSpPr>
            <p:cNvPr id="314" name="a7_t"/>
            <p:cNvSpPr txBox="1"/>
            <p:nvPr/>
          </p:nvSpPr>
          <p:spPr>
            <a:xfrm>
              <a:off x="749808" y="154361"/>
              <a:ext cx="4166464" cy="3496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It forms far slower (centuries+) than we use or erode it (years). Lost soil will not return within a human lifetime.</a:t>
              </a:r>
            </a:p>
          </p:txBody>
        </p:sp>
      </p:grpSp>
      <p:grpSp>
        <p:nvGrpSpPr>
          <p:cNvPr id="319" name="a8"/>
          <p:cNvGrpSpPr/>
          <p:nvPr/>
        </p:nvGrpSpPr>
        <p:grpSpPr>
          <a:xfrm>
            <a:off x="1170432" y="4828032"/>
            <a:ext cx="5117441" cy="658369"/>
            <a:chOff x="0" y="0"/>
            <a:chExt cx="5117439" cy="658368"/>
          </a:xfrm>
        </p:grpSpPr>
        <p:sp>
          <p:nvSpPr>
            <p:cNvPr id="316" name="a8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7" name="a8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9</a:t>
              </a:r>
            </a:p>
          </p:txBody>
        </p:sp>
        <p:sp>
          <p:nvSpPr>
            <p:cNvPr id="318" name="a8_t"/>
            <p:cNvSpPr txBox="1"/>
            <p:nvPr/>
          </p:nvSpPr>
          <p:spPr>
            <a:xfrm>
              <a:off x="749808" y="154361"/>
              <a:ext cx="4166464" cy="3496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Misleading. Soil forms too slowly for eventual reform to matter on a human timescale.</a:t>
              </a:r>
            </a:p>
          </p:txBody>
        </p:sp>
      </p:grpSp>
      <p:grpSp>
        <p:nvGrpSpPr>
          <p:cNvPr id="323" name="a9"/>
          <p:cNvGrpSpPr/>
          <p:nvPr/>
        </p:nvGrpSpPr>
        <p:grpSpPr>
          <a:xfrm>
            <a:off x="6525615" y="4828032"/>
            <a:ext cx="5117441" cy="658369"/>
            <a:chOff x="0" y="0"/>
            <a:chExt cx="5117439" cy="658368"/>
          </a:xfrm>
        </p:grpSpPr>
        <p:sp>
          <p:nvSpPr>
            <p:cNvPr id="320" name="a9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21" name="a9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10</a:t>
              </a:r>
            </a:p>
          </p:txBody>
        </p:sp>
        <p:sp>
          <p:nvSpPr>
            <p:cNvPr id="322" name="a9_t"/>
            <p:cNvSpPr txBox="1"/>
            <p:nvPr/>
          </p:nvSpPr>
          <p:spPr>
            <a:xfrm>
              <a:off x="749808" y="154361"/>
              <a:ext cx="4166464" cy="3496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Food regrows in one season. Soil takes centuries. Treating them the same risks permanent loss.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7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87"/>
                                        </p:tgtEl>
                                        <p:attrNameLst>
                                          <p:attrName>style.visibility</p:attrName>
                                        </p:attrNameLst>
                                      </p:cBhvr>
                                      <p:to>
                                        <p:strVal val="visible"/>
                                      </p:to>
                                    </p:set>
                                    <p:animEffect filter="fade" transition="in">
                                      <p:cBhvr>
                                        <p:cTn id="11" dur="400"/>
                                        <p:tgtEl>
                                          <p:spTgt spid="28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291"/>
                                        </p:tgtEl>
                                        <p:attrNameLst>
                                          <p:attrName>style.visibility</p:attrName>
                                        </p:attrNameLst>
                                      </p:cBhvr>
                                      <p:to>
                                        <p:strVal val="visible"/>
                                      </p:to>
                                    </p:set>
                                    <p:animEffect filter="fade" transition="in">
                                      <p:cBhvr>
                                        <p:cTn id="15" dur="400"/>
                                        <p:tgtEl>
                                          <p:spTgt spid="291"/>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295"/>
                                        </p:tgtEl>
                                        <p:attrNameLst>
                                          <p:attrName>style.visibility</p:attrName>
                                        </p:attrNameLst>
                                      </p:cBhvr>
                                      <p:to>
                                        <p:strVal val="visible"/>
                                      </p:to>
                                    </p:set>
                                    <p:animEffect filter="fade" transition="in">
                                      <p:cBhvr>
                                        <p:cTn id="20" dur="400"/>
                                        <p:tgtEl>
                                          <p:spTgt spid="295"/>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299"/>
                                        </p:tgtEl>
                                        <p:attrNameLst>
                                          <p:attrName>style.visibility</p:attrName>
                                        </p:attrNameLst>
                                      </p:cBhvr>
                                      <p:to>
                                        <p:strVal val="visible"/>
                                      </p:to>
                                    </p:set>
                                    <p:animEffect filter="fade" transition="in">
                                      <p:cBhvr>
                                        <p:cTn id="24" dur="400"/>
                                        <p:tgtEl>
                                          <p:spTgt spid="299"/>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303"/>
                                        </p:tgtEl>
                                        <p:attrNameLst>
                                          <p:attrName>style.visibility</p:attrName>
                                        </p:attrNameLst>
                                      </p:cBhvr>
                                      <p:to>
                                        <p:strVal val="visible"/>
                                      </p:to>
                                    </p:set>
                                    <p:animEffect filter="fade" transition="in">
                                      <p:cBhvr>
                                        <p:cTn id="29" dur="400"/>
                                        <p:tgtEl>
                                          <p:spTgt spid="303"/>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307"/>
                                        </p:tgtEl>
                                        <p:attrNameLst>
                                          <p:attrName>style.visibility</p:attrName>
                                        </p:attrNameLst>
                                      </p:cBhvr>
                                      <p:to>
                                        <p:strVal val="visible"/>
                                      </p:to>
                                    </p:set>
                                    <p:animEffect filter="fade" transition="in">
                                      <p:cBhvr>
                                        <p:cTn id="33" dur="400"/>
                                        <p:tgtEl>
                                          <p:spTgt spid="307"/>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311"/>
                                        </p:tgtEl>
                                        <p:attrNameLst>
                                          <p:attrName>style.visibility</p:attrName>
                                        </p:attrNameLst>
                                      </p:cBhvr>
                                      <p:to>
                                        <p:strVal val="visible"/>
                                      </p:to>
                                    </p:set>
                                    <p:animEffect filter="fade" transition="in">
                                      <p:cBhvr>
                                        <p:cTn id="38" dur="400"/>
                                        <p:tgtEl>
                                          <p:spTgt spid="311"/>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315"/>
                                        </p:tgtEl>
                                        <p:attrNameLst>
                                          <p:attrName>style.visibility</p:attrName>
                                        </p:attrNameLst>
                                      </p:cBhvr>
                                      <p:to>
                                        <p:strVal val="visible"/>
                                      </p:to>
                                    </p:set>
                                    <p:animEffect filter="fade" transition="in">
                                      <p:cBhvr>
                                        <p:cTn id="42" dur="400"/>
                                        <p:tgtEl>
                                          <p:spTgt spid="315"/>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319"/>
                                        </p:tgtEl>
                                        <p:attrNameLst>
                                          <p:attrName>style.visibility</p:attrName>
                                        </p:attrNameLst>
                                      </p:cBhvr>
                                      <p:to>
                                        <p:strVal val="visible"/>
                                      </p:to>
                                    </p:set>
                                    <p:animEffect filter="fade" transition="in">
                                      <p:cBhvr>
                                        <p:cTn id="47" dur="400"/>
                                        <p:tgtEl>
                                          <p:spTgt spid="319"/>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323"/>
                                        </p:tgtEl>
                                        <p:attrNameLst>
                                          <p:attrName>style.visibility</p:attrName>
                                        </p:attrNameLst>
                                      </p:cBhvr>
                                      <p:to>
                                        <p:strVal val="visible"/>
                                      </p:to>
                                    </p:set>
                                    <p:animEffect filter="fade" transition="in">
                                      <p:cBhvr>
                                        <p:cTn id="51" dur="4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2" fill="hold" display="0">
                  <p:stCondLst>
                    <p:cond delay="indefinite"/>
                  </p:stCondLst>
                </p:cTn>
                <p:tgtEl>
                  <p:spTgt spid="279"/>
                </p:tgtEl>
              </p:cMediaNode>
            </p:video>
            <p:seq concurrent="1" prevAc="none" nextAc="seek">
              <p:cTn id="53" evtFilter="cancelBubble" nodeType="interactiveSeq" restart="whenNotActive" fill="hold">
                <p:stCondLst>
                  <p:cond delay="0" evt="onClick">
                    <p:tgtEl>
                      <p:spTgt spid="279"/>
                    </p:tgtEl>
                  </p:cond>
                </p:stCondLst>
                <p:endSync delay="0" evt="end">
                  <p:rtn val="all"/>
                </p:endSync>
                <p:childTnLst>
                  <p:par>
                    <p:cTn id="54" fill="hold">
                      <p:stCondLst>
                        <p:cond delay="0"/>
                      </p:stCondLst>
                      <p:childTnLst>
                        <p:par>
                          <p:cTn id="55" fill="hold">
                            <p:stCondLst>
                              <p:cond delay="0"/>
                            </p:stCondLst>
                            <p:childTnLst>
                              <p:par>
                                <p:cTn id="56" presetClass="mediacall" nodeType="clickEffect" presetSubtype="0" presetID="2" fill="hold">
                                  <p:stCondLst>
                                    <p:cond delay="0"/>
                                  </p:stCondLst>
                                  <p:childTnLst>
                                    <p:cmd type="call" cmd="togglePause">
                                      <p:cBhvr>
                                        <p:cTn id="57" dur="1" fill="hold"/>
                                        <p:tgtEl>
                                          <p:spTgt spid="279"/>
                                        </p:tgtEl>
                                      </p:cBhvr>
                                    </p:cmd>
                                  </p:childTnLst>
                                </p:cTn>
                              </p:par>
                            </p:childTnLst>
                          </p:cTn>
                        </p:par>
                      </p:childTnLst>
                    </p:cTn>
                  </p:par>
                </p:childTnLst>
              </p:cTn>
              <p:nextCondLst>
                <p:cond delay="0" evt="onClick">
                  <p:tgtEl>
                    <p:spTgt spid="279"/>
                  </p:tgtEl>
                </p:cond>
              </p:nextCondLst>
            </p:seq>
          </p:childTnLst>
        </p:cTn>
      </p:par>
    </p:tnLst>
    <p:bldLst>
      <p:bldP build="whole" bldLvl="1" animBg="1" rev="0" advAuto="0" spid="307" grpId="7"/>
      <p:bldP build="whole" bldLvl="1" animBg="1" rev="0" advAuto="0" spid="323" grpId="11"/>
      <p:bldP build="whole" bldLvl="1" animBg="1" rev="0" advAuto="0" spid="287" grpId="2"/>
      <p:bldP build="whole" bldLvl="1" animBg="1" rev="0" advAuto="0" spid="303" grpId="6"/>
      <p:bldP build="whole" bldLvl="1" animBg="1" rev="0" advAuto="0" spid="319" grpId="10"/>
      <p:bldP build="whole" bldLvl="1" animBg="1" rev="0" advAuto="0" spid="299" grpId="5"/>
      <p:bldP build="whole" bldLvl="1" animBg="1" rev="0" advAuto="0" spid="315" grpId="9"/>
      <p:bldP build="whole" bldLvl="1" animBg="1" rev="0" advAuto="0" spid="295" grpId="4"/>
      <p:bldP build="whole" bldLvl="1" animBg="1" rev="0" advAuto="0" spid="311" grpId="8"/>
      <p:bldP build="whole" bldLvl="1" animBg="1" rev="0" advAuto="0" spid="291"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3D2B1F"/>
        </a:solidFill>
      </p:bgPr>
    </p:bg>
    <p:spTree>
      <p:nvGrpSpPr>
        <p:cNvPr id="1" name=""/>
        <p:cNvGrpSpPr/>
        <p:nvPr/>
      </p:nvGrpSpPr>
      <p:grpSpPr>
        <a:xfrm>
          <a:off x="0" y="0"/>
          <a:ext cx="0" cy="0"/>
          <a:chOff x="0" y="0"/>
          <a:chExt cx="0" cy="0"/>
        </a:xfrm>
      </p:grpSpPr>
      <p:pic>
        <p:nvPicPr>
          <p:cNvPr id="32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30" name="phase_pill"/>
          <p:cNvGrpSpPr/>
          <p:nvPr/>
        </p:nvGrpSpPr>
        <p:grpSpPr>
          <a:xfrm>
            <a:off x="1170432" y="310895"/>
            <a:ext cx="1892808" cy="329185"/>
            <a:chOff x="0" y="0"/>
            <a:chExt cx="1892807" cy="329184"/>
          </a:xfrm>
        </p:grpSpPr>
        <p:sp>
          <p:nvSpPr>
            <p:cNvPr id="328" name="Rounded Rectangle"/>
            <p:cNvSpPr/>
            <p:nvPr/>
          </p:nvSpPr>
          <p:spPr>
            <a:xfrm>
              <a:off x="0" y="0"/>
              <a:ext cx="1892808" cy="329185"/>
            </a:xfrm>
            <a:prstGeom prst="roundRect">
              <a:avLst>
                <a:gd name="adj" fmla="val 44444"/>
              </a:avLst>
            </a:prstGeom>
            <a:solidFill>
              <a:srgbClr val="C99A3D"/>
            </a:solidFill>
            <a:ln w="12700" cap="flat">
              <a:noFill/>
              <a:miter lim="400000"/>
            </a:ln>
            <a:effectLst/>
          </p:spPr>
          <p:txBody>
            <a:bodyPr wrap="square" lIns="45719" tIns="45719" rIns="45719" bIns="45719" numCol="1" anchor="ctr">
              <a:noAutofit/>
            </a:bodyPr>
            <a:lstStyle/>
            <a:p>
              <a:pPr algn="ctr">
                <a:defRPr sz="1100"/>
              </a:pPr>
            </a:p>
          </p:txBody>
        </p:sp>
        <p:sp>
          <p:nvSpPr>
            <p:cNvPr id="329"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3D2B1F"/>
                  </a:solidFill>
                  <a:latin typeface="Arial"/>
                  <a:ea typeface="Arial"/>
                  <a:cs typeface="Arial"/>
                  <a:sym typeface="Arial"/>
                </a:defRPr>
              </a:lvl1pPr>
            </a:lstStyle>
            <a:p>
              <a:pPr/>
              <a:r>
                <a:t>PLENARY · 3 MIN</a:t>
              </a:r>
            </a:p>
          </p:txBody>
        </p:sp>
      </p:grpSp>
      <p:sp>
        <p:nvSpPr>
          <p:cNvPr id="331"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F2EBDD"/>
                </a:solidFill>
                <a:latin typeface="Georgia"/>
                <a:ea typeface="Georgia"/>
                <a:cs typeface="Georgia"/>
                <a:sym typeface="Georgia"/>
              </a:defRPr>
            </a:lvl1pPr>
          </a:lstStyle>
          <a:p>
            <a:pPr/>
            <a:r>
              <a:t>True or false?</a:t>
            </a:r>
          </a:p>
        </p:txBody>
      </p:sp>
      <p:grpSp>
        <p:nvGrpSpPr>
          <p:cNvPr id="334" name="p0_stmt"/>
          <p:cNvGrpSpPr/>
          <p:nvPr/>
        </p:nvGrpSpPr>
        <p:grpSpPr>
          <a:xfrm>
            <a:off x="1170432" y="2194560"/>
            <a:ext cx="8552383" cy="640081"/>
            <a:chOff x="0" y="0"/>
            <a:chExt cx="8552382" cy="640080"/>
          </a:xfrm>
        </p:grpSpPr>
        <p:sp>
          <p:nvSpPr>
            <p:cNvPr id="332" name="p0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33"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Soil is just broken-up rock.</a:t>
              </a:r>
            </a:p>
          </p:txBody>
        </p:sp>
      </p:grpSp>
      <p:sp>
        <p:nvSpPr>
          <p:cNvPr id="335"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C99A3D"/>
                </a:solidFill>
                <a:latin typeface="Arial"/>
                <a:ea typeface="Arial"/>
                <a:cs typeface="Arial"/>
                <a:sym typeface="Arial"/>
              </a:defRPr>
            </a:lvl1pPr>
          </a:lstStyle>
          <a:p>
            <a:pPr/>
            <a:r>
              <a:t>FALSE</a:t>
            </a:r>
          </a:p>
        </p:txBody>
      </p:sp>
      <p:grpSp>
        <p:nvGrpSpPr>
          <p:cNvPr id="338" name="p1_stmt"/>
          <p:cNvGrpSpPr/>
          <p:nvPr/>
        </p:nvGrpSpPr>
        <p:grpSpPr>
          <a:xfrm>
            <a:off x="1170432" y="2999232"/>
            <a:ext cx="8552383" cy="640081"/>
            <a:chOff x="0" y="0"/>
            <a:chExt cx="8552382" cy="640080"/>
          </a:xfrm>
        </p:grpSpPr>
        <p:sp>
          <p:nvSpPr>
            <p:cNvPr id="336" name="p1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37" name="p1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Soil forms much slower than most crops grow.</a:t>
              </a:r>
            </a:p>
          </p:txBody>
        </p:sp>
      </p:grpSp>
      <p:sp>
        <p:nvSpPr>
          <p:cNvPr id="339"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grpSp>
        <p:nvGrpSpPr>
          <p:cNvPr id="342" name="p2_stmt"/>
          <p:cNvGrpSpPr/>
          <p:nvPr/>
        </p:nvGrpSpPr>
        <p:grpSpPr>
          <a:xfrm>
            <a:off x="1170432" y="3803903"/>
            <a:ext cx="8552383" cy="640081"/>
            <a:chOff x="0" y="0"/>
            <a:chExt cx="8552382" cy="640080"/>
          </a:xfrm>
        </p:grpSpPr>
        <p:sp>
          <p:nvSpPr>
            <p:cNvPr id="340" name="p2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41"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Because soil eventually reforms, losing it quickly is not a problem.</a:t>
              </a:r>
            </a:p>
          </p:txBody>
        </p:sp>
      </p:grpSp>
      <p:sp>
        <p:nvSpPr>
          <p:cNvPr id="343"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C99A3D"/>
                </a:solidFill>
                <a:latin typeface="Arial"/>
                <a:ea typeface="Arial"/>
                <a:cs typeface="Arial"/>
                <a:sym typeface="Arial"/>
              </a:defRPr>
            </a:lvl1pPr>
          </a:lstStyle>
          <a:p>
            <a:pPr/>
            <a:r>
              <a:t>FALSE</a:t>
            </a:r>
          </a:p>
        </p:txBody>
      </p:sp>
      <p:grpSp>
        <p:nvGrpSpPr>
          <p:cNvPr id="346" name="p3_stmt"/>
          <p:cNvGrpSpPr/>
          <p:nvPr/>
        </p:nvGrpSpPr>
        <p:grpSpPr>
          <a:xfrm>
            <a:off x="1170432" y="4608576"/>
            <a:ext cx="8552383" cy="640081"/>
            <a:chOff x="0" y="0"/>
            <a:chExt cx="8552382" cy="640080"/>
          </a:xfrm>
        </p:grpSpPr>
        <p:sp>
          <p:nvSpPr>
            <p:cNvPr id="344" name="p3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45"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Nearly every land food chain starts with a producer growing in soil.</a:t>
              </a:r>
            </a:p>
          </p:txBody>
        </p:sp>
      </p:grpSp>
      <p:sp>
        <p:nvSpPr>
          <p:cNvPr id="347"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grpSp>
        <p:nvGrpSpPr>
          <p:cNvPr id="350" name="p4_stmt"/>
          <p:cNvGrpSpPr/>
          <p:nvPr/>
        </p:nvGrpSpPr>
        <p:grpSpPr>
          <a:xfrm>
            <a:off x="1170432" y="5413247"/>
            <a:ext cx="8552383" cy="640081"/>
            <a:chOff x="0" y="0"/>
            <a:chExt cx="8552382" cy="640080"/>
          </a:xfrm>
        </p:grpSpPr>
        <p:sp>
          <p:nvSpPr>
            <p:cNvPr id="348" name="p4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49"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Soil can be lost by erosion faster than it forms.</a:t>
              </a:r>
            </a:p>
          </p:txBody>
        </p:sp>
      </p:grpSp>
      <p:sp>
        <p:nvSpPr>
          <p:cNvPr id="351"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sp>
        <p:nvSpPr>
          <p:cNvPr id="352"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C99A3D"/>
                </a:solidFill>
                <a:latin typeface="Arial"/>
                <a:ea typeface="Arial"/>
                <a:cs typeface="Arial"/>
                <a:sym typeface="Arial"/>
              </a:defRPr>
            </a:lvl1pPr>
          </a:lstStyle>
          <a:p>
            <a:pPr/>
            <a:r>
              <a:t>Land can look endless. What it takes to remake some of it is not.</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2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34"/>
                                        </p:tgtEl>
                                        <p:attrNameLst>
                                          <p:attrName>style.visibility</p:attrName>
                                        </p:attrNameLst>
                                      </p:cBhvr>
                                      <p:to>
                                        <p:strVal val="visible"/>
                                      </p:to>
                                    </p:set>
                                    <p:animEffect filter="fade" transition="in">
                                      <p:cBhvr>
                                        <p:cTn id="11" dur="400"/>
                                        <p:tgtEl>
                                          <p:spTgt spid="334"/>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35"/>
                                        </p:tgtEl>
                                        <p:attrNameLst>
                                          <p:attrName>style.visibility</p:attrName>
                                        </p:attrNameLst>
                                      </p:cBhvr>
                                      <p:to>
                                        <p:strVal val="visible"/>
                                      </p:to>
                                    </p:set>
                                    <p:anim calcmode="lin" valueType="num">
                                      <p:cBhvr>
                                        <p:cTn id="16" dur="400" fill="hold"/>
                                        <p:tgtEl>
                                          <p:spTgt spid="335"/>
                                        </p:tgtEl>
                                        <p:attrNameLst>
                                          <p:attrName>ppt_w</p:attrName>
                                        </p:attrNameLst>
                                      </p:cBhvr>
                                      <p:tavLst>
                                        <p:tav tm="0">
                                          <p:val>
                                            <p:fltVal val="0"/>
                                          </p:val>
                                        </p:tav>
                                        <p:tav tm="100000">
                                          <p:val>
                                            <p:strVal val="#ppt_w"/>
                                          </p:val>
                                        </p:tav>
                                      </p:tavLst>
                                    </p:anim>
                                    <p:anim calcmode="lin" valueType="num">
                                      <p:cBhvr>
                                        <p:cTn id="17" dur="400" fill="hold"/>
                                        <p:tgtEl>
                                          <p:spTgt spid="335"/>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38"/>
                                        </p:tgtEl>
                                        <p:attrNameLst>
                                          <p:attrName>style.visibility</p:attrName>
                                        </p:attrNameLst>
                                      </p:cBhvr>
                                      <p:to>
                                        <p:strVal val="visible"/>
                                      </p:to>
                                    </p:set>
                                    <p:animEffect filter="fade" transition="in">
                                      <p:cBhvr>
                                        <p:cTn id="22" dur="400"/>
                                        <p:tgtEl>
                                          <p:spTgt spid="338"/>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39"/>
                                        </p:tgtEl>
                                        <p:attrNameLst>
                                          <p:attrName>style.visibility</p:attrName>
                                        </p:attrNameLst>
                                      </p:cBhvr>
                                      <p:to>
                                        <p:strVal val="visible"/>
                                      </p:to>
                                    </p:set>
                                    <p:anim calcmode="lin" valueType="num">
                                      <p:cBhvr>
                                        <p:cTn id="27" dur="400" fill="hold"/>
                                        <p:tgtEl>
                                          <p:spTgt spid="339"/>
                                        </p:tgtEl>
                                        <p:attrNameLst>
                                          <p:attrName>ppt_w</p:attrName>
                                        </p:attrNameLst>
                                      </p:cBhvr>
                                      <p:tavLst>
                                        <p:tav tm="0">
                                          <p:val>
                                            <p:fltVal val="0"/>
                                          </p:val>
                                        </p:tav>
                                        <p:tav tm="100000">
                                          <p:val>
                                            <p:strVal val="#ppt_w"/>
                                          </p:val>
                                        </p:tav>
                                      </p:tavLst>
                                    </p:anim>
                                    <p:anim calcmode="lin" valueType="num">
                                      <p:cBhvr>
                                        <p:cTn id="28" dur="400" fill="hold"/>
                                        <p:tgtEl>
                                          <p:spTgt spid="33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42"/>
                                        </p:tgtEl>
                                        <p:attrNameLst>
                                          <p:attrName>style.visibility</p:attrName>
                                        </p:attrNameLst>
                                      </p:cBhvr>
                                      <p:to>
                                        <p:strVal val="visible"/>
                                      </p:to>
                                    </p:set>
                                    <p:animEffect filter="fade" transition="in">
                                      <p:cBhvr>
                                        <p:cTn id="33" dur="400"/>
                                        <p:tgtEl>
                                          <p:spTgt spid="342"/>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43"/>
                                        </p:tgtEl>
                                        <p:attrNameLst>
                                          <p:attrName>style.visibility</p:attrName>
                                        </p:attrNameLst>
                                      </p:cBhvr>
                                      <p:to>
                                        <p:strVal val="visible"/>
                                      </p:to>
                                    </p:set>
                                    <p:anim calcmode="lin" valueType="num">
                                      <p:cBhvr>
                                        <p:cTn id="38" dur="400" fill="hold"/>
                                        <p:tgtEl>
                                          <p:spTgt spid="343"/>
                                        </p:tgtEl>
                                        <p:attrNameLst>
                                          <p:attrName>ppt_w</p:attrName>
                                        </p:attrNameLst>
                                      </p:cBhvr>
                                      <p:tavLst>
                                        <p:tav tm="0">
                                          <p:val>
                                            <p:fltVal val="0"/>
                                          </p:val>
                                        </p:tav>
                                        <p:tav tm="100000">
                                          <p:val>
                                            <p:strVal val="#ppt_w"/>
                                          </p:val>
                                        </p:tav>
                                      </p:tavLst>
                                    </p:anim>
                                    <p:anim calcmode="lin" valueType="num">
                                      <p:cBhvr>
                                        <p:cTn id="39" dur="400" fill="hold"/>
                                        <p:tgtEl>
                                          <p:spTgt spid="343"/>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46"/>
                                        </p:tgtEl>
                                        <p:attrNameLst>
                                          <p:attrName>style.visibility</p:attrName>
                                        </p:attrNameLst>
                                      </p:cBhvr>
                                      <p:to>
                                        <p:strVal val="visible"/>
                                      </p:to>
                                    </p:set>
                                    <p:animEffect filter="fade" transition="in">
                                      <p:cBhvr>
                                        <p:cTn id="44" dur="400"/>
                                        <p:tgtEl>
                                          <p:spTgt spid="346"/>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47"/>
                                        </p:tgtEl>
                                        <p:attrNameLst>
                                          <p:attrName>style.visibility</p:attrName>
                                        </p:attrNameLst>
                                      </p:cBhvr>
                                      <p:to>
                                        <p:strVal val="visible"/>
                                      </p:to>
                                    </p:set>
                                    <p:anim calcmode="lin" valueType="num">
                                      <p:cBhvr>
                                        <p:cTn id="49" dur="400" fill="hold"/>
                                        <p:tgtEl>
                                          <p:spTgt spid="347"/>
                                        </p:tgtEl>
                                        <p:attrNameLst>
                                          <p:attrName>ppt_w</p:attrName>
                                        </p:attrNameLst>
                                      </p:cBhvr>
                                      <p:tavLst>
                                        <p:tav tm="0">
                                          <p:val>
                                            <p:fltVal val="0"/>
                                          </p:val>
                                        </p:tav>
                                        <p:tav tm="100000">
                                          <p:val>
                                            <p:strVal val="#ppt_w"/>
                                          </p:val>
                                        </p:tav>
                                      </p:tavLst>
                                    </p:anim>
                                    <p:anim calcmode="lin" valueType="num">
                                      <p:cBhvr>
                                        <p:cTn id="50" dur="400" fill="hold"/>
                                        <p:tgtEl>
                                          <p:spTgt spid="347"/>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50"/>
                                        </p:tgtEl>
                                        <p:attrNameLst>
                                          <p:attrName>style.visibility</p:attrName>
                                        </p:attrNameLst>
                                      </p:cBhvr>
                                      <p:to>
                                        <p:strVal val="visible"/>
                                      </p:to>
                                    </p:set>
                                    <p:animEffect filter="fade" transition="in">
                                      <p:cBhvr>
                                        <p:cTn id="55" dur="400"/>
                                        <p:tgtEl>
                                          <p:spTgt spid="350"/>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51"/>
                                        </p:tgtEl>
                                        <p:attrNameLst>
                                          <p:attrName>style.visibility</p:attrName>
                                        </p:attrNameLst>
                                      </p:cBhvr>
                                      <p:to>
                                        <p:strVal val="visible"/>
                                      </p:to>
                                    </p:set>
                                    <p:anim calcmode="lin" valueType="num">
                                      <p:cBhvr>
                                        <p:cTn id="60" dur="400" fill="hold"/>
                                        <p:tgtEl>
                                          <p:spTgt spid="351"/>
                                        </p:tgtEl>
                                        <p:attrNameLst>
                                          <p:attrName>ppt_w</p:attrName>
                                        </p:attrNameLst>
                                      </p:cBhvr>
                                      <p:tavLst>
                                        <p:tav tm="0">
                                          <p:val>
                                            <p:fltVal val="0"/>
                                          </p:val>
                                        </p:tav>
                                        <p:tav tm="100000">
                                          <p:val>
                                            <p:strVal val="#ppt_w"/>
                                          </p:val>
                                        </p:tav>
                                      </p:tavLst>
                                    </p:anim>
                                    <p:anim calcmode="lin" valueType="num">
                                      <p:cBhvr>
                                        <p:cTn id="61" dur="400" fill="hold"/>
                                        <p:tgtEl>
                                          <p:spTgt spid="351"/>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52"/>
                                        </p:tgtEl>
                                        <p:attrNameLst>
                                          <p:attrName>style.visibility</p:attrName>
                                        </p:attrNameLst>
                                      </p:cBhvr>
                                      <p:to>
                                        <p:strVal val="visible"/>
                                      </p:to>
                                    </p:set>
                                    <p:animEffect filter="fade" transition="in">
                                      <p:cBhvr>
                                        <p:cTn id="66" dur="4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27"/>
                </p:tgtEl>
              </p:cMediaNode>
            </p:video>
            <p:seq concurrent="1" prevAc="none" nextAc="seek">
              <p:cTn id="68" evtFilter="cancelBubble" nodeType="interactiveSeq" restart="whenNotActive" fill="hold">
                <p:stCondLst>
                  <p:cond delay="0" evt="onClick">
                    <p:tgtEl>
                      <p:spTgt spid="327"/>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27"/>
                                        </p:tgtEl>
                                      </p:cBhvr>
                                    </p:cmd>
                                  </p:childTnLst>
                                </p:cTn>
                              </p:par>
                            </p:childTnLst>
                          </p:cTn>
                        </p:par>
                      </p:childTnLst>
                    </p:cTn>
                  </p:par>
                </p:childTnLst>
              </p:cTn>
              <p:nextCondLst>
                <p:cond delay="0" evt="onClick">
                  <p:tgtEl>
                    <p:spTgt spid="327"/>
                  </p:tgtEl>
                </p:cond>
              </p:nextCondLst>
            </p:seq>
          </p:childTnLst>
        </p:cTn>
      </p:par>
    </p:tnLst>
    <p:bldLst>
      <p:bldP build="whole" bldLvl="1" animBg="1" rev="0" advAuto="0" spid="346" grpId="8"/>
      <p:bldP build="whole" bldLvl="1" animBg="1" rev="0" advAuto="0" spid="351" grpId="11"/>
      <p:bldP build="whole" bldLvl="1" animBg="1" rev="0" advAuto="0" spid="342" grpId="6"/>
      <p:bldP build="whole" bldLvl="1" animBg="1" rev="0" advAuto="0" spid="339" grpId="5"/>
      <p:bldP build="whole" bldLvl="1" animBg="1" rev="0" advAuto="0" spid="338" grpId="4"/>
      <p:bldP build="whole" bldLvl="1" animBg="1" rev="0" advAuto="0" spid="343" grpId="7"/>
      <p:bldP build="whole" bldLvl="1" animBg="1" rev="0" advAuto="0" spid="334" grpId="2"/>
      <p:bldP build="whole" bldLvl="1" animBg="1" rev="0" advAuto="0" spid="335" grpId="3"/>
      <p:bldP build="whole" bldLvl="1" animBg="1" rev="0" advAuto="0" spid="352" grpId="12"/>
      <p:bldP build="whole" bldLvl="1" animBg="1" rev="0" advAuto="0" spid="347" grpId="9"/>
      <p:bldP build="whole" bldLvl="1" animBg="1" rev="0" advAuto="0" spid="350" grpId="10"/>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