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media5.mp4" ContentType="video/unknown"/>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media/media7.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Six clicks.</a:t>
            </a:r>
          </a:p>
          <a:p>
            <a:pPr/>
          </a:p>
          <a:p>
            <a:pPr/>
            <a:r>
              <a:t>Q3 AND Q4 ARE THE CLASS'S OWN WORKSHEET ANSWER, read back to them. They got this right last lesson without the formal terms. Say that: "you could already do this, today you get the words for it."</a:t>
            </a:r>
          </a:p>
          <a:p>
            <a:pPr/>
          </a:p>
          <a:p>
            <a:pPr/>
            <a:r>
              <a:t>Q1, Q2, Q5 AND Q6 are straight retrieval from How Scientists Investigate. None of it is new.</a:t>
            </a:r>
          </a:p>
          <a:p>
            <a:pPr/>
          </a:p>
          <a:p>
            <a:pPr/>
            <a:r>
              <a:t>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TODAY. 1 minute. Four clicks.</a:t>
            </a:r>
          </a:p>
          <a:p>
            <a:pPr/>
          </a:p>
          <a:p>
            <a:pPr/>
            <a:r>
              <a:t>THE BANNER IS THE WHOLE LESSON. Three clauses, three objectives, in order. Point at each clause as you name the matching objective.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Shape 117"/>
          <p:cNvSpPr/>
          <p:nvPr>
            <p:ph type="sldImg"/>
          </p:nvPr>
        </p:nvSpPr>
        <p:spPr>
          <a:prstGeom prst="rect">
            <a:avLst/>
          </a:prstGeom>
        </p:spPr>
        <p:txBody>
          <a:bodyPr/>
          <a:lstStyle/>
          <a:p>
            <a:pPr/>
          </a:p>
        </p:txBody>
      </p:sp>
      <p:sp>
        <p:nvSpPr>
          <p:cNvPr id="118" name="Shape 118"/>
          <p:cNvSpPr/>
          <p:nvPr>
            <p:ph type="body" sz="quarter" idx="1"/>
          </p:nvPr>
        </p:nvSpPr>
        <p:spPr>
          <a:prstGeom prst="rect">
            <a:avLst/>
          </a:prstGeom>
        </p:spPr>
        <p:txBody>
          <a:bodyPr/>
          <a:lstStyle/>
          <a:p>
            <a:pPr/>
            <a:r>
              <a:t>HOOK. 2 minutes. Four clicks.</a:t>
            </a:r>
          </a:p>
          <a:p>
            <a:pPr/>
          </a:p>
          <a:p>
            <a:pPr/>
            <a:r>
              <a:t>Hands up for each. Tally on the board. There will be a real split between A and B: that is the point, not a problem to fix.</a:t>
            </a:r>
          </a:p>
          <a:p>
            <a:pPr/>
          </a:p>
          <a:p>
            <a:pPr/>
            <a:r>
              <a:t>ANSWER: C. This is a genuinely open question, real aeroplanes get more complicated (too heavy and it just drops), which is exactly why it needs a fair test rather than a guess.</a:t>
            </a:r>
          </a:p>
          <a:p>
            <a:pPr/>
          </a:p>
          <a:p>
            <a:pPr/>
            <a:r>
              <a:t>DO NOT SETTLE THE ARGUMENT. Say "let's find out how you would actually test this" and move to I Do. The paper aeroplane question carries through to You Do.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Shape 145"/>
          <p:cNvSpPr/>
          <p:nvPr>
            <p:ph type="sldImg"/>
          </p:nvPr>
        </p:nvSpPr>
        <p:spPr>
          <a:prstGeom prst="rect">
            <a:avLst/>
          </a:prstGeom>
        </p:spPr>
        <p:txBody>
          <a:bodyPr/>
          <a:lstStyle/>
          <a:p>
            <a:pPr/>
          </a:p>
        </p:txBody>
      </p:sp>
      <p:sp>
        <p:nvSpPr>
          <p:cNvPr id="146" name="Shape 146"/>
          <p:cNvSpPr/>
          <p:nvPr>
            <p:ph type="body" sz="quarter" idx="1"/>
          </p:nvPr>
        </p:nvSpPr>
        <p:spPr>
          <a:prstGeom prst="rect">
            <a:avLst/>
          </a:prstGeom>
        </p:spPr>
        <p:txBody>
          <a:bodyPr/>
          <a:lstStyle/>
          <a:p>
            <a:pPr/>
            <a:r>
              <a:t>I DO. 3 minutes. Three clicks: row 1, the arrow, row 2.</a:t>
            </a:r>
          </a:p>
          <a:p>
            <a:pPr/>
          </a:p>
          <a:p>
            <a:pPr/>
            <a:r>
              <a:t>THE ARROW MATTERS: manipulated causes a change in responding, not the other way round. Say it in that order every time: "I change this, so this responds."</a:t>
            </a:r>
          </a:p>
          <a:p>
            <a:pPr/>
          </a:p>
          <a:p>
            <a:pPr/>
            <a:r>
              <a:t>THE EXAMPLE CHIPS ARE THE CLASS'S OWN WORKSHEET ANSWER FROM LAST LESSON. Point that out again here, it is worth repeating.</a:t>
            </a:r>
          </a:p>
          <a:p>
            <a:pPr/>
          </a:p>
          <a:p>
            <a:pPr/>
            <a:r>
              <a:t>"INDEPENDENT" AND "DEPENDENT" ARE THE EXAM WORDS. "Manipulated" and "responding" are the plain-English ones. Use both together every time today so neither feels like the "real" one.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pPr/>
            <a:r>
              <a:t>I DO. 3 minutes. Two clicks: controlled, then replication.</a:t>
            </a:r>
          </a:p>
          <a:p>
            <a:pPr/>
          </a:p>
          <a:p>
            <a:pPr/>
            <a:r>
              <a:t>CONTROLLED VARIABLES ARE THE EASIEST TO FORGET because nothing happens to them. Ask: "what would happen if a different person threw it each time?" to make the point live.</a:t>
            </a:r>
          </a:p>
          <a:p>
            <a:pPr/>
          </a:p>
          <a:p>
            <a:pPr/>
            <a:r>
              <a:t>REPLICATION CONNECTS STRAIGHT BACK TO THE DO NOW: "why do scientists repeat a test" was already a retrieval question. This is the same idea with a reason attached.</a:t>
            </a:r>
          </a:p>
          <a:p>
            <a:pPr/>
          </a:p>
          <a:p>
            <a:pPr/>
            <a:r>
              <a:t>BOTH IDEAS SERVE THE SAME GOAL: making sure the responding variable changed because of the manipulated variable, and nothing else.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hape 197"/>
          <p:cNvSpPr/>
          <p:nvPr>
            <p:ph type="sldImg"/>
          </p:nvPr>
        </p:nvSpPr>
        <p:spPr>
          <a:prstGeom prst="rect">
            <a:avLst/>
          </a:prstGeom>
        </p:spPr>
        <p:txBody>
          <a:bodyPr/>
          <a:lstStyle/>
          <a:p>
            <a:pPr/>
          </a:p>
        </p:txBody>
      </p:sp>
      <p:sp>
        <p:nvSpPr>
          <p:cNvPr id="198" name="Shape 198"/>
          <p:cNvSpPr/>
          <p:nvPr>
            <p:ph type="body" sz="quarter" idx="1"/>
          </p:nvPr>
        </p:nvSpPr>
        <p:spPr>
          <a:prstGeom prst="rect">
            <a:avLst/>
          </a:prstGeom>
        </p:spPr>
        <p:txBody>
          <a:bodyPr/>
          <a:lstStyle/>
          <a:p>
            <a:pPr/>
            <a:r>
              <a:t>WE DO. 5 minutes. Four clicks. Take answers from the room first.</a:t>
            </a:r>
          </a:p>
          <a:p>
            <a:pPr/>
          </a:p>
          <a:p>
            <a:pPr/>
            <a:r>
              <a:t>ROW 1 IS THE SAME PAIR AS I DO 1, DELIBERATELY FLIPPED. If this trips people up, that is worth noticing, not skipping past.</a:t>
            </a:r>
          </a:p>
          <a:p>
            <a:pPr/>
          </a:p>
          <a:p>
            <a:pPr/>
            <a:r>
              <a:t>ROW 3 IS THE MISCONCEPTION THIS WHOLE LESSON IS BUILT AROUND, alongside row 4. Spend the extra few seconds on both.</a:t>
            </a:r>
          </a:p>
          <a:p>
            <a:pPr/>
          </a:p>
          <a:p>
            <a:pPr/>
            <a:r>
              <a:t>ROW 4 IS THE ONE MOST LIKELY TO GO WRONG. "Controlled" sounds like it should mean "the thing I am controlling for the result", which is backwards. Say the correct version twice.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246"/>
          <p:cNvSpPr/>
          <p:nvPr>
            <p:ph type="sldImg"/>
          </p:nvPr>
        </p:nvSpPr>
        <p:spPr>
          <a:prstGeom prst="rect">
            <a:avLst/>
          </a:prstGeom>
        </p:spPr>
        <p:txBody>
          <a:bodyPr/>
          <a:lstStyle/>
          <a:p>
            <a:pPr/>
          </a:p>
        </p:txBody>
      </p:sp>
      <p:sp>
        <p:nvSpPr>
          <p:cNvPr id="247" name="Shape 247"/>
          <p:cNvSpPr/>
          <p:nvPr>
            <p:ph type="body" sz="quarter" idx="1"/>
          </p:nvPr>
        </p:nvSpPr>
        <p:spPr>
          <a:prstGeom prst="rect">
            <a:avLst/>
          </a:prstGeom>
        </p:spPr>
        <p:txBody>
          <a:bodyPr/>
          <a:lstStyle/>
          <a:p>
            <a:pPr/>
            <a:r>
              <a:t>COLD CALL. 6 minutes. Six clicks. Name a student, then ask. Thinking time before the answer.</a:t>
            </a:r>
          </a:p>
          <a:p>
            <a:pPr/>
          </a:p>
          <a:p>
            <a:pPr/>
            <a:r>
              <a:t>Q1-3 ARE THE VOCABULARY THIS LESSON EXISTS TO TEACH. This is the drilling that got cut from How Scientists Investigate. Do not rush it.</a:t>
            </a:r>
          </a:p>
          <a:p>
            <a:pPr/>
          </a:p>
          <a:p>
            <a:pPr/>
            <a:r>
              <a:t>Q4 AND Q5 ARE A FRESH EXAMPLE, not the plant or the aeroplane. If both of those are secure, a new context is the real test.</a:t>
            </a:r>
          </a:p>
          <a:p>
            <a:pPr/>
          </a:p>
          <a:p>
            <a:pPr/>
            <a:r>
              <a:t>Q6 is retrieval, should be fast.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Shape 272"/>
          <p:cNvSpPr/>
          <p:nvPr>
            <p:ph type="sldImg"/>
          </p:nvPr>
        </p:nvSpPr>
        <p:spPr>
          <a:prstGeom prst="rect">
            <a:avLst/>
          </a:prstGeom>
        </p:spPr>
        <p:txBody>
          <a:bodyPr/>
          <a:lstStyle/>
          <a:p>
            <a:pPr/>
          </a:p>
        </p:txBody>
      </p:sp>
      <p:sp>
        <p:nvSpPr>
          <p:cNvPr id="273" name="Shape 273"/>
          <p:cNvSpPr/>
          <p:nvPr>
            <p:ph type="body" sz="quarter" idx="1"/>
          </p:nvPr>
        </p:nvSpPr>
        <p:spPr>
          <a:prstGeom prst="rect">
            <a:avLst/>
          </a:prstGeom>
        </p:spPr>
        <p:txBody>
          <a:bodyPr/>
          <a:lstStyle/>
          <a:p>
            <a:pPr/>
            <a:r>
              <a:t>YOU DO. 14 minutes. Four clicks.</a:t>
            </a:r>
          </a:p>
          <a:p>
            <a:pPr/>
          </a:p>
          <a:p>
            <a:pPr/>
            <a:r>
              <a:t>THIS IS A DESIGN TASK. No aeroplanes get built or thrown today, per the brief, only named and planned.</a:t>
            </a:r>
          </a:p>
          <a:p>
            <a:pPr/>
          </a:p>
          <a:p>
            <a:pPr/>
            <a:r>
              <a:t>CIRCULATE WITH ONE QUESTION: "which one are you changing, and which one are you measuring?"</a:t>
            </a:r>
          </a:p>
          <a:p>
            <a:pPr/>
          </a:p>
          <a:p>
            <a:pPr/>
            <a:r>
              <a:t>WHERE THEY WILL STALL: Silver (naming three controlled variables, not just one) and Gold's "because" clause, giving a reason rather than just a prediction.</a:t>
            </a:r>
          </a:p>
          <a:p>
            <a:pPr/>
          </a:p>
          <a:p>
            <a:pPr/>
            <a:r>
              <a:t>AT 3 MINUTES REMAINING, stop them. Answers are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Shape 320"/>
          <p:cNvSpPr/>
          <p:nvPr>
            <p:ph type="sldImg"/>
          </p:nvPr>
        </p:nvSpPr>
        <p:spPr>
          <a:prstGeom prst="rect">
            <a:avLst/>
          </a:prstGeom>
        </p:spPr>
        <p:txBody>
          <a:bodyPr/>
          <a:lstStyle/>
          <a:p>
            <a:pPr/>
          </a:p>
        </p:txBody>
      </p:sp>
      <p:sp>
        <p:nvSpPr>
          <p:cNvPr id="321" name="Shape 321"/>
          <p:cNvSpPr/>
          <p:nvPr>
            <p:ph type="body" sz="quarter" idx="1"/>
          </p:nvPr>
        </p:nvSpPr>
        <p:spPr>
          <a:prstGeom prst="rect">
            <a:avLst/>
          </a:prstGeom>
        </p:spPr>
        <p:txBody>
          <a:bodyPr/>
          <a:lstStyle/>
          <a:p>
            <a:pPr/>
            <a:r>
              <a:t>ANSWERS. 3 minutes. Five clicks, two at a time. They mark their own in a different colour.</a:t>
            </a:r>
          </a:p>
          <a:p>
            <a:pPr/>
          </a:p>
          <a:p>
            <a:pPr/>
            <a:r>
              <a:t>Q8, Q9 AND Q10 have no single right answer. Take two or three out loud for each rather than reading a model answer.</a:t>
            </a:r>
          </a:p>
          <a:p>
            <a:pPr/>
          </a:p>
          <a:p>
            <a:pPr/>
            <a:r>
              <a:t>Q10 IS THE REAL TEST OF THE LESSON. Anyone who can name all three variables for their own chosen question, correctly, has understood today. If it is shaky, that is five minutes at the start of next lesson.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9" name="Shape 349"/>
          <p:cNvSpPr/>
          <p:nvPr>
            <p:ph type="sldImg"/>
          </p:nvPr>
        </p:nvSpPr>
        <p:spPr>
          <a:prstGeom prst="rect">
            <a:avLst/>
          </a:prstGeom>
        </p:spPr>
        <p:txBody>
          <a:bodyPr/>
          <a:lstStyle/>
          <a:p>
            <a:pPr/>
          </a:p>
        </p:txBody>
      </p:sp>
      <p:sp>
        <p:nvSpPr>
          <p:cNvPr id="350" name="Shape 350"/>
          <p:cNvSpPr/>
          <p:nvPr>
            <p:ph type="body" sz="quarter" idx="1"/>
          </p:nvPr>
        </p:nvSpPr>
        <p:spPr>
          <a:prstGeom prst="rect">
            <a:avLst/>
          </a:prstGeom>
        </p:spPr>
        <p:txBody>
          <a:bodyPr/>
          <a:lstStyle/>
          <a:p>
            <a:pPr/>
            <a:r>
              <a:t>PLENARY. 3 minutes. Six clicks.</a:t>
            </a:r>
          </a:p>
          <a:p>
            <a:pPr/>
          </a:p>
          <a:p>
            <a:pPr/>
            <a:r>
              <a:t>Q1 AND Q2 CHECK THE PAIR IS NOT REVERSED, the single most likely slip today.</a:t>
            </a:r>
          </a:p>
          <a:p>
            <a:pPr/>
          </a:p>
          <a:p>
            <a:pPr/>
            <a:r>
              <a:t>Q5 IS THE OPEN-ENDED ONE: any example of a manipulated variable is correct, this one just closes the loop on the Hook question.</a:t>
            </a:r>
          </a:p>
          <a:p>
            <a:pPr/>
          </a:p>
          <a:p>
            <a:pPr/>
            <a:r>
              <a:t>The closing line is the whole lesson, in order.</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4780" y="769937"/>
            <a:ext cx="974344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6797994" y="2438400"/>
            <a:ext cx="4770227"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69877" y="6232199"/>
            <a:ext cx="258622" cy="248303"/>
          </a:xfrm>
          <a:prstGeom prst="rect">
            <a:avLst/>
          </a:prstGeom>
          <a:ln w="12700">
            <a:miter lim="400000"/>
          </a:ln>
        </p:spPr>
        <p:txBody>
          <a:bodyPr wrap="none" lIns="45718" tIns="45718" rIns="45718" bIns="45718" anchor="ctr">
            <a:spAutoFit/>
          </a:bodyPr>
          <a:lstStyle>
            <a:lvl1pPr algn="r">
              <a:defRPr sz="1200">
                <a:latin typeface="+mj-lt"/>
                <a:ea typeface="+mj-ea"/>
                <a:cs typeface="+mj-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23" name="phase_pill"/>
          <p:cNvGrpSpPr/>
          <p:nvPr/>
        </p:nvGrpSpPr>
        <p:grpSpPr>
          <a:xfrm>
            <a:off x="1170432" y="310894"/>
            <a:ext cx="1892809" cy="329188"/>
            <a:chOff x="0" y="0"/>
            <a:chExt cx="1892808" cy="329186"/>
          </a:xfrm>
        </p:grpSpPr>
        <p:sp>
          <p:nvSpPr>
            <p:cNvPr id="21" name="Rounded Rectangle"/>
            <p:cNvSpPr/>
            <p:nvPr/>
          </p:nvSpPr>
          <p:spPr>
            <a:xfrm>
              <a:off x="0" y="-1"/>
              <a:ext cx="1892809"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j-lt"/>
                  <a:ea typeface="+mj-ea"/>
                  <a:cs typeface="+mj-cs"/>
                  <a:sym typeface="Calibri"/>
                </a:defRPr>
              </a:pPr>
            </a:p>
          </p:txBody>
        </p:sp>
        <p:sp>
          <p:nvSpPr>
            <p:cNvPr id="22" name="DO NOW · 10 MIN"/>
            <p:cNvSpPr txBox="1"/>
            <p:nvPr/>
          </p:nvSpPr>
          <p:spPr>
            <a:xfrm>
              <a:off x="42850" y="90677"/>
              <a:ext cx="1807107"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3291840" y="331470"/>
            <a:ext cx="5669282"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400">
                <a:solidFill>
                  <a:srgbClr val="15395C"/>
                </a:solidFill>
                <a:latin typeface="Georgia"/>
                <a:ea typeface="Georgia"/>
                <a:cs typeface="Georgia"/>
                <a:sym typeface="Georgia"/>
              </a:defRPr>
            </a:lvl1pPr>
          </a:lstStyle>
          <a:p>
            <a:pPr/>
            <a:r>
              <a:t>Fair Tests and Variables</a:t>
            </a:r>
          </a:p>
        </p:txBody>
      </p:sp>
      <p:sp>
        <p:nvSpPr>
          <p:cNvPr id="25" name="lesson_date"/>
          <p:cNvSpPr txBox="1"/>
          <p:nvPr/>
        </p:nvSpPr>
        <p:spPr>
          <a:xfrm>
            <a:off x="8534095" y="382938"/>
            <a:ext cx="3108962" cy="1850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55708A"/>
                </a:solidFill>
                <a:latin typeface="Arial"/>
                <a:ea typeface="Arial"/>
                <a:cs typeface="Arial"/>
                <a:sym typeface="Arial"/>
              </a:defRPr>
            </a:lvl1pPr>
          </a:lstStyle>
          <a:p>
            <a:pPr/>
            <a:r>
              <a:t>Friday 25 September 2026</a:t>
            </a:r>
          </a:p>
        </p:txBody>
      </p:sp>
      <p:sp>
        <p:nvSpPr>
          <p:cNvPr id="26" name="rule"/>
          <p:cNvSpPr/>
          <p:nvPr/>
        </p:nvSpPr>
        <p:spPr>
          <a:xfrm>
            <a:off x="1170432" y="896110"/>
            <a:ext cx="10472623" cy="36579"/>
          </a:xfrm>
          <a:prstGeom prst="rect">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28" name="d0_badge"/>
          <p:cNvSpPr/>
          <p:nvPr/>
        </p:nvSpPr>
        <p:spPr>
          <a:xfrm>
            <a:off x="1371600" y="1298447"/>
            <a:ext cx="384048" cy="384051"/>
          </a:xfrm>
          <a:prstGeom prst="ellipse">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29" name="d0_num"/>
          <p:cNvSpPr txBox="1"/>
          <p:nvPr/>
        </p:nvSpPr>
        <p:spPr>
          <a:xfrm>
            <a:off x="1371600" y="138887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30" name="d0_q"/>
          <p:cNvSpPr txBox="1"/>
          <p:nvPr/>
        </p:nvSpPr>
        <p:spPr>
          <a:xfrm>
            <a:off x="1901950" y="1362261"/>
            <a:ext cx="4166466" cy="2564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E2A40"/>
                </a:solidFill>
                <a:latin typeface="Arial"/>
                <a:ea typeface="Arial"/>
                <a:cs typeface="Arial"/>
                <a:sym typeface="Arial"/>
              </a:defRPr>
            </a:lvl1pPr>
          </a:lstStyle>
          <a:p>
            <a:pPr/>
            <a:r>
              <a:t>State what a hypothesis is.</a:t>
            </a:r>
          </a:p>
        </p:txBody>
      </p:sp>
      <p:grpSp>
        <p:nvGrpSpPr>
          <p:cNvPr id="33" name="d0_a"/>
          <p:cNvGrpSpPr/>
          <p:nvPr/>
        </p:nvGrpSpPr>
        <p:grpSpPr>
          <a:xfrm>
            <a:off x="1371599" y="2048255"/>
            <a:ext cx="4696820" cy="438916"/>
            <a:chOff x="0" y="0"/>
            <a:chExt cx="4696818" cy="438914"/>
          </a:xfrm>
        </p:grpSpPr>
        <p:sp>
          <p:nvSpPr>
            <p:cNvPr id="31" name="Rounded Rectangle"/>
            <p:cNvSpPr/>
            <p:nvPr/>
          </p:nvSpPr>
          <p:spPr>
            <a:xfrm>
              <a:off x="-1" y="0"/>
              <a:ext cx="4696820" cy="438915"/>
            </a:xfrm>
            <a:prstGeom prst="roundRect">
              <a:avLst>
                <a:gd name="adj" fmla="val 20833"/>
              </a:avLst>
            </a:prstGeom>
            <a:solidFill>
              <a:srgbClr val="FDF3DC"/>
            </a:solidFill>
            <a:ln w="16510" cap="flat">
              <a:solidFill>
                <a:srgbClr val="FFD921"/>
              </a:solidFill>
              <a:prstDash val="solid"/>
              <a:round/>
            </a:ln>
            <a:effectLst/>
          </p:spPr>
          <p:txBody>
            <a:bodyPr wrap="square" lIns="45718" tIns="45718" rIns="45718" bIns="45718" numCol="1" anchor="ctr">
              <a:noAutofit/>
            </a:bodyPr>
            <a:lstStyle/>
            <a:p>
              <a:pPr>
                <a:defRPr sz="1400">
                  <a:latin typeface="+mj-lt"/>
                  <a:ea typeface="+mj-ea"/>
                  <a:cs typeface="+mj-cs"/>
                  <a:sym typeface="Calibri"/>
                </a:defRPr>
              </a:pPr>
            </a:p>
          </p:txBody>
        </p:sp>
        <p:sp>
          <p:nvSpPr>
            <p:cNvPr id="32" name="A prediction you can test."/>
            <p:cNvSpPr txBox="1"/>
            <p:nvPr/>
          </p:nvSpPr>
          <p:spPr>
            <a:xfrm>
              <a:off x="35034" y="119748"/>
              <a:ext cx="4626748" cy="1994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5395C"/>
                  </a:solidFill>
                  <a:latin typeface="Arial"/>
                  <a:ea typeface="Arial"/>
                  <a:cs typeface="Arial"/>
                  <a:sym typeface="Arial"/>
                </a:defRPr>
              </a:lvl1pPr>
            </a:lstStyle>
            <a:p>
              <a:pPr/>
              <a:r>
                <a:t>A prediction you can test.</a:t>
              </a:r>
            </a:p>
          </p:txBody>
        </p:sp>
      </p:grpSp>
      <p:sp>
        <p:nvSpPr>
          <p:cNvPr id="34" name="d1_bg"/>
          <p:cNvSpPr/>
          <p:nvPr/>
        </p:nvSpPr>
        <p:spPr>
          <a:xfrm>
            <a:off x="6543902" y="1133855"/>
            <a:ext cx="5099154" cy="1481329"/>
          </a:xfrm>
          <a:prstGeom prst="roundRect">
            <a:avLst>
              <a:gd name="adj" fmla="val 6173"/>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35" name="d1_badge"/>
          <p:cNvSpPr/>
          <p:nvPr/>
        </p:nvSpPr>
        <p:spPr>
          <a:xfrm>
            <a:off x="6745072" y="1298447"/>
            <a:ext cx="384051" cy="384051"/>
          </a:xfrm>
          <a:prstGeom prst="ellipse">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36" name="d1_num"/>
          <p:cNvSpPr txBox="1"/>
          <p:nvPr/>
        </p:nvSpPr>
        <p:spPr>
          <a:xfrm>
            <a:off x="6745072" y="1388871"/>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37" name="d1_q"/>
          <p:cNvSpPr txBox="1"/>
          <p:nvPr/>
        </p:nvSpPr>
        <p:spPr>
          <a:xfrm>
            <a:off x="7275424" y="1362261"/>
            <a:ext cx="4166466" cy="2564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E2A40"/>
                </a:solidFill>
                <a:latin typeface="Arial"/>
                <a:ea typeface="Arial"/>
                <a:cs typeface="Arial"/>
                <a:sym typeface="Arial"/>
              </a:defRPr>
            </a:lvl1pPr>
          </a:lstStyle>
          <a:p>
            <a:pPr/>
            <a:r>
              <a:t>What is a scientific law?</a:t>
            </a:r>
          </a:p>
        </p:txBody>
      </p:sp>
      <p:grpSp>
        <p:nvGrpSpPr>
          <p:cNvPr id="40" name="d1_a"/>
          <p:cNvGrpSpPr/>
          <p:nvPr/>
        </p:nvGrpSpPr>
        <p:grpSpPr>
          <a:xfrm>
            <a:off x="6745071" y="2048255"/>
            <a:ext cx="4696820" cy="438916"/>
            <a:chOff x="0" y="0"/>
            <a:chExt cx="4696818" cy="438914"/>
          </a:xfrm>
        </p:grpSpPr>
        <p:sp>
          <p:nvSpPr>
            <p:cNvPr id="38" name="Rounded Rectangle"/>
            <p:cNvSpPr/>
            <p:nvPr/>
          </p:nvSpPr>
          <p:spPr>
            <a:xfrm>
              <a:off x="-1" y="0"/>
              <a:ext cx="4696820" cy="438915"/>
            </a:xfrm>
            <a:prstGeom prst="roundRect">
              <a:avLst>
                <a:gd name="adj" fmla="val 20833"/>
              </a:avLst>
            </a:prstGeom>
            <a:solidFill>
              <a:srgbClr val="FDF3DC"/>
            </a:solidFill>
            <a:ln w="16510" cap="flat">
              <a:solidFill>
                <a:srgbClr val="FFD921"/>
              </a:solidFill>
              <a:prstDash val="solid"/>
              <a:round/>
            </a:ln>
            <a:effectLst/>
          </p:spPr>
          <p:txBody>
            <a:bodyPr wrap="square" lIns="45718" tIns="45718" rIns="45718" bIns="45718" numCol="1" anchor="ctr">
              <a:noAutofit/>
            </a:bodyPr>
            <a:lstStyle/>
            <a:p>
              <a:pPr>
                <a:defRPr sz="1400">
                  <a:latin typeface="+mj-lt"/>
                  <a:ea typeface="+mj-ea"/>
                  <a:cs typeface="+mj-cs"/>
                  <a:sym typeface="Calibri"/>
                </a:defRPr>
              </a:pPr>
            </a:p>
          </p:txBody>
        </p:sp>
        <p:sp>
          <p:nvSpPr>
            <p:cNvPr id="39" name="A description of how something should behave."/>
            <p:cNvSpPr txBox="1"/>
            <p:nvPr/>
          </p:nvSpPr>
          <p:spPr>
            <a:xfrm>
              <a:off x="35034" y="119748"/>
              <a:ext cx="4626748" cy="1994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5395C"/>
                  </a:solidFill>
                  <a:latin typeface="Arial"/>
                  <a:ea typeface="Arial"/>
                  <a:cs typeface="Arial"/>
                  <a:sym typeface="Arial"/>
                </a:defRPr>
              </a:lvl1pPr>
            </a:lstStyle>
            <a:p>
              <a:pPr/>
              <a:r>
                <a:t>A description of how something should behave.</a:t>
              </a:r>
            </a:p>
          </p:txBody>
        </p:sp>
      </p:grpSp>
      <p:sp>
        <p:nvSpPr>
          <p:cNvPr id="41" name="d2_bg"/>
          <p:cNvSpPr/>
          <p:nvPr/>
        </p:nvSpPr>
        <p:spPr>
          <a:xfrm>
            <a:off x="1170432" y="2798064"/>
            <a:ext cx="5099152" cy="1481330"/>
          </a:xfrm>
          <a:prstGeom prst="roundRect">
            <a:avLst>
              <a:gd name="adj" fmla="val 6173"/>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42" name="d2_badge"/>
          <p:cNvSpPr/>
          <p:nvPr/>
        </p:nvSpPr>
        <p:spPr>
          <a:xfrm>
            <a:off x="1371600" y="2962655"/>
            <a:ext cx="384048" cy="384051"/>
          </a:xfrm>
          <a:prstGeom prst="ellipse">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43" name="d2_num"/>
          <p:cNvSpPr txBox="1"/>
          <p:nvPr/>
        </p:nvSpPr>
        <p:spPr>
          <a:xfrm>
            <a:off x="1371600" y="305307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44" name="d2_q"/>
          <p:cNvSpPr txBox="1"/>
          <p:nvPr/>
        </p:nvSpPr>
        <p:spPr>
          <a:xfrm>
            <a:off x="1901950" y="2893118"/>
            <a:ext cx="4166466"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E2A40"/>
                </a:solidFill>
                <a:latin typeface="Arial"/>
                <a:ea typeface="Arial"/>
                <a:cs typeface="Arial"/>
                <a:sym typeface="Arial"/>
              </a:defRPr>
            </a:lvl1pPr>
          </a:lstStyle>
          <a:p>
            <a:pPr/>
            <a:r>
              <a:t>In "plants grow taller with more sunlight", name the thing being changed.</a:t>
            </a:r>
          </a:p>
        </p:txBody>
      </p:sp>
      <p:grpSp>
        <p:nvGrpSpPr>
          <p:cNvPr id="47" name="d2_a"/>
          <p:cNvGrpSpPr/>
          <p:nvPr/>
        </p:nvGrpSpPr>
        <p:grpSpPr>
          <a:xfrm>
            <a:off x="1371599" y="3712464"/>
            <a:ext cx="4696820" cy="438915"/>
            <a:chOff x="0" y="0"/>
            <a:chExt cx="4696818" cy="438914"/>
          </a:xfrm>
        </p:grpSpPr>
        <p:sp>
          <p:nvSpPr>
            <p:cNvPr id="45" name="Rounded Rectangle"/>
            <p:cNvSpPr/>
            <p:nvPr/>
          </p:nvSpPr>
          <p:spPr>
            <a:xfrm>
              <a:off x="-1" y="-1"/>
              <a:ext cx="4696820" cy="438915"/>
            </a:xfrm>
            <a:prstGeom prst="roundRect">
              <a:avLst>
                <a:gd name="adj" fmla="val 20833"/>
              </a:avLst>
            </a:prstGeom>
            <a:solidFill>
              <a:srgbClr val="FDF3DC"/>
            </a:solidFill>
            <a:ln w="16510" cap="flat">
              <a:solidFill>
                <a:srgbClr val="FFD921"/>
              </a:solidFill>
              <a:prstDash val="solid"/>
              <a:round/>
            </a:ln>
            <a:effectLst/>
          </p:spPr>
          <p:txBody>
            <a:bodyPr wrap="square" lIns="45718" tIns="45718" rIns="45718" bIns="45718" numCol="1" anchor="ctr">
              <a:noAutofit/>
            </a:bodyPr>
            <a:lstStyle/>
            <a:p>
              <a:pPr>
                <a:defRPr sz="1400">
                  <a:latin typeface="+mj-lt"/>
                  <a:ea typeface="+mj-ea"/>
                  <a:cs typeface="+mj-cs"/>
                  <a:sym typeface="Calibri"/>
                </a:defRPr>
              </a:pPr>
            </a:p>
          </p:txBody>
        </p:sp>
        <p:sp>
          <p:nvSpPr>
            <p:cNvPr id="46" name="The amount of sunlight."/>
            <p:cNvSpPr txBox="1"/>
            <p:nvPr/>
          </p:nvSpPr>
          <p:spPr>
            <a:xfrm>
              <a:off x="35034" y="119748"/>
              <a:ext cx="4626748" cy="1994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5395C"/>
                  </a:solidFill>
                  <a:latin typeface="Arial"/>
                  <a:ea typeface="Arial"/>
                  <a:cs typeface="Arial"/>
                  <a:sym typeface="Arial"/>
                </a:defRPr>
              </a:lvl1pPr>
            </a:lstStyle>
            <a:p>
              <a:pPr/>
              <a:r>
                <a:t>The amount of sunlight.</a:t>
              </a:r>
            </a:p>
          </p:txBody>
        </p:sp>
      </p:grpSp>
      <p:sp>
        <p:nvSpPr>
          <p:cNvPr id="48" name="d3_bg"/>
          <p:cNvSpPr/>
          <p:nvPr/>
        </p:nvSpPr>
        <p:spPr>
          <a:xfrm>
            <a:off x="6543902" y="2798064"/>
            <a:ext cx="5099154" cy="1481330"/>
          </a:xfrm>
          <a:prstGeom prst="roundRect">
            <a:avLst>
              <a:gd name="adj" fmla="val 6173"/>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49" name="d3_badge"/>
          <p:cNvSpPr/>
          <p:nvPr/>
        </p:nvSpPr>
        <p:spPr>
          <a:xfrm>
            <a:off x="6745072" y="2962655"/>
            <a:ext cx="384051" cy="384051"/>
          </a:xfrm>
          <a:prstGeom prst="ellipse">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50" name="d3_num"/>
          <p:cNvSpPr txBox="1"/>
          <p:nvPr/>
        </p:nvSpPr>
        <p:spPr>
          <a:xfrm>
            <a:off x="6745072" y="3053078"/>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4</a:t>
            </a:r>
          </a:p>
        </p:txBody>
      </p:sp>
      <p:sp>
        <p:nvSpPr>
          <p:cNvPr id="51" name="d3_q"/>
          <p:cNvSpPr txBox="1"/>
          <p:nvPr/>
        </p:nvSpPr>
        <p:spPr>
          <a:xfrm>
            <a:off x="7275424" y="2893118"/>
            <a:ext cx="4166466"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E2A40"/>
                </a:solidFill>
                <a:latin typeface="Arial"/>
                <a:ea typeface="Arial"/>
                <a:cs typeface="Arial"/>
                <a:sym typeface="Arial"/>
              </a:defRPr>
            </a:lvl1pPr>
          </a:lstStyle>
          <a:p>
            <a:pPr/>
            <a:r>
              <a:t>In "plants grow taller with more sunlight", name the thing being measured.</a:t>
            </a:r>
          </a:p>
        </p:txBody>
      </p:sp>
      <p:grpSp>
        <p:nvGrpSpPr>
          <p:cNvPr id="54" name="d3_a"/>
          <p:cNvGrpSpPr/>
          <p:nvPr/>
        </p:nvGrpSpPr>
        <p:grpSpPr>
          <a:xfrm>
            <a:off x="6745071" y="3712464"/>
            <a:ext cx="4696820" cy="438915"/>
            <a:chOff x="0" y="0"/>
            <a:chExt cx="4696818" cy="438914"/>
          </a:xfrm>
        </p:grpSpPr>
        <p:sp>
          <p:nvSpPr>
            <p:cNvPr id="52" name="Rounded Rectangle"/>
            <p:cNvSpPr/>
            <p:nvPr/>
          </p:nvSpPr>
          <p:spPr>
            <a:xfrm>
              <a:off x="-1" y="-1"/>
              <a:ext cx="4696820" cy="438915"/>
            </a:xfrm>
            <a:prstGeom prst="roundRect">
              <a:avLst>
                <a:gd name="adj" fmla="val 20833"/>
              </a:avLst>
            </a:prstGeom>
            <a:solidFill>
              <a:srgbClr val="FDF3DC"/>
            </a:solidFill>
            <a:ln w="16510" cap="flat">
              <a:solidFill>
                <a:srgbClr val="FFD921"/>
              </a:solidFill>
              <a:prstDash val="solid"/>
              <a:round/>
            </a:ln>
            <a:effectLst/>
          </p:spPr>
          <p:txBody>
            <a:bodyPr wrap="square" lIns="45718" tIns="45718" rIns="45718" bIns="45718" numCol="1" anchor="ctr">
              <a:noAutofit/>
            </a:bodyPr>
            <a:lstStyle/>
            <a:p>
              <a:pPr>
                <a:defRPr sz="1400">
                  <a:latin typeface="+mj-lt"/>
                  <a:ea typeface="+mj-ea"/>
                  <a:cs typeface="+mj-cs"/>
                  <a:sym typeface="Calibri"/>
                </a:defRPr>
              </a:pPr>
            </a:p>
          </p:txBody>
        </p:sp>
        <p:sp>
          <p:nvSpPr>
            <p:cNvPr id="53" name="Plant height."/>
            <p:cNvSpPr txBox="1"/>
            <p:nvPr/>
          </p:nvSpPr>
          <p:spPr>
            <a:xfrm>
              <a:off x="35034" y="119748"/>
              <a:ext cx="4626748" cy="1994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5395C"/>
                  </a:solidFill>
                  <a:latin typeface="Arial"/>
                  <a:ea typeface="Arial"/>
                  <a:cs typeface="Arial"/>
                  <a:sym typeface="Arial"/>
                </a:defRPr>
              </a:lvl1pPr>
            </a:lstStyle>
            <a:p>
              <a:pPr/>
              <a:r>
                <a:t>Plant height.</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56" name="d4_badge"/>
          <p:cNvSpPr/>
          <p:nvPr/>
        </p:nvSpPr>
        <p:spPr>
          <a:xfrm>
            <a:off x="1371600" y="4626864"/>
            <a:ext cx="384048" cy="384051"/>
          </a:xfrm>
          <a:prstGeom prst="ellipse">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57" name="d4_num"/>
          <p:cNvSpPr txBox="1"/>
          <p:nvPr/>
        </p:nvSpPr>
        <p:spPr>
          <a:xfrm>
            <a:off x="1371600" y="47172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5</a:t>
            </a:r>
          </a:p>
        </p:txBody>
      </p:sp>
      <p:sp>
        <p:nvSpPr>
          <p:cNvPr id="58" name="d4_q"/>
          <p:cNvSpPr txBox="1"/>
          <p:nvPr/>
        </p:nvSpPr>
        <p:spPr>
          <a:xfrm>
            <a:off x="1901950" y="4690676"/>
            <a:ext cx="4166466"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E2A40"/>
                </a:solidFill>
                <a:latin typeface="Arial"/>
                <a:ea typeface="Arial"/>
                <a:cs typeface="Arial"/>
                <a:sym typeface="Arial"/>
              </a:defRPr>
            </a:lvl1pPr>
          </a:lstStyle>
          <a:p>
            <a:pPr/>
            <a:r>
              <a:t>State why scientists repeat a test.</a:t>
            </a:r>
          </a:p>
        </p:txBody>
      </p:sp>
      <p:grpSp>
        <p:nvGrpSpPr>
          <p:cNvPr id="61" name="d4_a"/>
          <p:cNvGrpSpPr/>
          <p:nvPr/>
        </p:nvGrpSpPr>
        <p:grpSpPr>
          <a:xfrm>
            <a:off x="1371599" y="5376671"/>
            <a:ext cx="4696820" cy="438915"/>
            <a:chOff x="0" y="0"/>
            <a:chExt cx="4696818" cy="438914"/>
          </a:xfrm>
        </p:grpSpPr>
        <p:sp>
          <p:nvSpPr>
            <p:cNvPr id="59" name="Rounded Rectangle"/>
            <p:cNvSpPr/>
            <p:nvPr/>
          </p:nvSpPr>
          <p:spPr>
            <a:xfrm>
              <a:off x="-1" y="-1"/>
              <a:ext cx="4696820" cy="438915"/>
            </a:xfrm>
            <a:prstGeom prst="roundRect">
              <a:avLst>
                <a:gd name="adj" fmla="val 20833"/>
              </a:avLst>
            </a:prstGeom>
            <a:solidFill>
              <a:srgbClr val="FDF3DC"/>
            </a:solidFill>
            <a:ln w="16510" cap="flat">
              <a:solidFill>
                <a:srgbClr val="FFD921"/>
              </a:solidFill>
              <a:prstDash val="solid"/>
              <a:round/>
            </a:ln>
            <a:effectLst/>
          </p:spPr>
          <p:txBody>
            <a:bodyPr wrap="square" lIns="45718" tIns="45718" rIns="45718" bIns="45718" numCol="1" anchor="ctr">
              <a:noAutofit/>
            </a:bodyPr>
            <a:lstStyle/>
            <a:p>
              <a:pPr>
                <a:defRPr sz="1400">
                  <a:latin typeface="+mj-lt"/>
                  <a:ea typeface="+mj-ea"/>
                  <a:cs typeface="+mj-cs"/>
                  <a:sym typeface="Calibri"/>
                </a:defRPr>
              </a:pPr>
            </a:p>
          </p:txBody>
        </p:sp>
        <p:sp>
          <p:nvSpPr>
            <p:cNvPr id="60" name="To check the result is not a fluke."/>
            <p:cNvSpPr txBox="1"/>
            <p:nvPr/>
          </p:nvSpPr>
          <p:spPr>
            <a:xfrm>
              <a:off x="35034" y="119748"/>
              <a:ext cx="4626748" cy="1994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5395C"/>
                  </a:solidFill>
                  <a:latin typeface="Arial"/>
                  <a:ea typeface="Arial"/>
                  <a:cs typeface="Arial"/>
                  <a:sym typeface="Arial"/>
                </a:defRPr>
              </a:lvl1pPr>
            </a:lstStyle>
            <a:p>
              <a:pPr/>
              <a:r>
                <a:t>To check the result is not a fluke.</a:t>
              </a:r>
            </a:p>
          </p:txBody>
        </p:sp>
      </p:grpSp>
      <p:sp>
        <p:nvSpPr>
          <p:cNvPr id="62" name="d5_bg"/>
          <p:cNvSpPr/>
          <p:nvPr/>
        </p:nvSpPr>
        <p:spPr>
          <a:xfrm>
            <a:off x="6543902" y="4462271"/>
            <a:ext cx="5099154" cy="1481329"/>
          </a:xfrm>
          <a:prstGeom prst="roundRect">
            <a:avLst>
              <a:gd name="adj" fmla="val 6173"/>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63" name="d5_badge"/>
          <p:cNvSpPr/>
          <p:nvPr/>
        </p:nvSpPr>
        <p:spPr>
          <a:xfrm>
            <a:off x="6745072" y="4626864"/>
            <a:ext cx="384051" cy="384051"/>
          </a:xfrm>
          <a:prstGeom prst="ellipse">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64" name="d5_num"/>
          <p:cNvSpPr txBox="1"/>
          <p:nvPr/>
        </p:nvSpPr>
        <p:spPr>
          <a:xfrm>
            <a:off x="6745072" y="4717288"/>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6</a:t>
            </a:r>
          </a:p>
        </p:txBody>
      </p:sp>
      <p:sp>
        <p:nvSpPr>
          <p:cNvPr id="65" name="d5_q"/>
          <p:cNvSpPr txBox="1"/>
          <p:nvPr/>
        </p:nvSpPr>
        <p:spPr>
          <a:xfrm>
            <a:off x="7275424" y="4690676"/>
            <a:ext cx="4166466"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E2A40"/>
                </a:solidFill>
                <a:latin typeface="Arial"/>
                <a:ea typeface="Arial"/>
                <a:cs typeface="Arial"/>
                <a:sym typeface="Arial"/>
              </a:defRPr>
            </a:lvl1pPr>
          </a:lstStyle>
          <a:p>
            <a:pPr/>
            <a:r>
              <a:t>Complete: if [I change this], then [this ___].</a:t>
            </a:r>
          </a:p>
        </p:txBody>
      </p:sp>
      <p:grpSp>
        <p:nvGrpSpPr>
          <p:cNvPr id="68" name="d5_a"/>
          <p:cNvGrpSpPr/>
          <p:nvPr/>
        </p:nvGrpSpPr>
        <p:grpSpPr>
          <a:xfrm>
            <a:off x="6745071" y="5376671"/>
            <a:ext cx="4696820" cy="438915"/>
            <a:chOff x="0" y="0"/>
            <a:chExt cx="4696818" cy="438914"/>
          </a:xfrm>
        </p:grpSpPr>
        <p:sp>
          <p:nvSpPr>
            <p:cNvPr id="66" name="Rounded Rectangle"/>
            <p:cNvSpPr/>
            <p:nvPr/>
          </p:nvSpPr>
          <p:spPr>
            <a:xfrm>
              <a:off x="-1" y="-1"/>
              <a:ext cx="4696820" cy="438915"/>
            </a:xfrm>
            <a:prstGeom prst="roundRect">
              <a:avLst>
                <a:gd name="adj" fmla="val 20833"/>
              </a:avLst>
            </a:prstGeom>
            <a:solidFill>
              <a:srgbClr val="FDF3DC"/>
            </a:solidFill>
            <a:ln w="16510" cap="flat">
              <a:solidFill>
                <a:srgbClr val="FFD921"/>
              </a:solidFill>
              <a:prstDash val="solid"/>
              <a:round/>
            </a:ln>
            <a:effectLst/>
          </p:spPr>
          <p:txBody>
            <a:bodyPr wrap="square" lIns="45718" tIns="45718" rIns="45718" bIns="45718" numCol="1" anchor="ctr">
              <a:noAutofit/>
            </a:bodyPr>
            <a:lstStyle/>
            <a:p>
              <a:pPr>
                <a:defRPr sz="1400">
                  <a:latin typeface="+mj-lt"/>
                  <a:ea typeface="+mj-ea"/>
                  <a:cs typeface="+mj-cs"/>
                  <a:sym typeface="Calibri"/>
                </a:defRPr>
              </a:pPr>
            </a:p>
          </p:txBody>
        </p:sp>
        <p:sp>
          <p:nvSpPr>
            <p:cNvPr id="67" name="happens"/>
            <p:cNvSpPr txBox="1"/>
            <p:nvPr/>
          </p:nvSpPr>
          <p:spPr>
            <a:xfrm>
              <a:off x="35034" y="119748"/>
              <a:ext cx="4626748" cy="1994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5395C"/>
                  </a:solidFill>
                  <a:latin typeface="Arial"/>
                  <a:ea typeface="Arial"/>
                  <a:cs typeface="Arial"/>
                  <a:sym typeface="Arial"/>
                </a:defRPr>
              </a:lvl1pPr>
            </a:lstStyle>
            <a:p>
              <a:pPr/>
              <a:r>
                <a:t>happens</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par>
                    <p:cTn id="37" fill="hold">
                      <p:stCondLst>
                        <p:cond delay="indefinite"/>
                      </p:stCondLst>
                      <p:childTnLst>
                        <p:par>
                          <p:cTn id="38" fill="hold">
                            <p:stCondLst>
                              <p:cond delay="0"/>
                            </p:stCondLst>
                            <p:childTnLst>
                              <p:par>
                                <p:cTn id="39" presetClass="mediacall" nodeType="clickEffect" presetSubtype="0" presetID="3" grpId="1" fill="hold">
                                  <p:stCondLst>
                                    <p:cond delay="0"/>
                                  </p:stCondLst>
                                  <p:childTnLst>
                                    <p:cmd type="call" cmd="stop">
                                      <p:cBhvr>
                                        <p:cTn id="40" dur="1000" fill="hold"/>
                                        <p:tgtEl>
                                          <p:spTgt spid="20"/>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41" fill="hold" display="0">
                  <p:stCondLst>
                    <p:cond delay="indefinite"/>
                  </p:stCondLst>
                </p:cTn>
                <p:tgtEl>
                  <p:spTgt spid="20"/>
                </p:tgtEl>
              </p:cMediaNode>
            </p:video>
            <p:seq concurrent="1" prevAc="none" nextAc="seek">
              <p:cTn id="42" evtFilter="cancelBubble" nodeType="interactiveSeq" restart="whenNotActive" fill="hold">
                <p:stCondLst>
                  <p:cond delay="0" evt="onClick">
                    <p:tgtEl>
                      <p:spTgt spid="20"/>
                    </p:tgtEl>
                  </p:cond>
                </p:stCondLst>
                <p:endSync delay="0" evt="end">
                  <p:rtn val="all"/>
                </p:endSync>
                <p:childTnLst>
                  <p:par>
                    <p:cTn id="43" fill="hold">
                      <p:stCondLst>
                        <p:cond delay="0"/>
                      </p:stCondLst>
                      <p:childTnLst>
                        <p:par>
                          <p:cTn id="44" fill="hold">
                            <p:stCondLst>
                              <p:cond delay="0"/>
                            </p:stCondLst>
                            <p:childTnLst>
                              <p:par>
                                <p:cTn id="45" presetClass="mediacall" nodeType="clickEffect" presetSubtype="0" presetID="2" fill="hold">
                                  <p:stCondLst>
                                    <p:cond delay="0"/>
                                  </p:stCondLst>
                                  <p:childTnLst>
                                    <p:cmd type="call" cmd="togglePause">
                                      <p:cBhvr>
                                        <p:cTn id="46"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61" grpId="6"/>
      <p:bldP build="whole" bldLvl="1" animBg="1" rev="0" advAuto="0" spid="68" grpId="7"/>
      <p:bldP build="whole" bldLvl="1" animBg="1" rev="0" advAuto="0" spid="54" grpId="5"/>
      <p:bldP build="whole" bldLvl="1" animBg="1" rev="0" advAuto="0" spid="33" grpId="2"/>
      <p:bldP build="whole" bldLvl="1" animBg="1" rev="0" advAuto="0" spid="40" grpId="3"/>
      <p:bldP build="whole" bldLvl="1" animBg="1" rev="0" advAuto="0" spid="47" grpId="4"/>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75" name="phase_pill"/>
          <p:cNvGrpSpPr/>
          <p:nvPr/>
        </p:nvGrpSpPr>
        <p:grpSpPr>
          <a:xfrm>
            <a:off x="1170431" y="310894"/>
            <a:ext cx="1713589" cy="329188"/>
            <a:chOff x="0" y="0"/>
            <a:chExt cx="1713587" cy="329186"/>
          </a:xfrm>
        </p:grpSpPr>
        <p:sp>
          <p:nvSpPr>
            <p:cNvPr id="73" name="Rounded Rectangle"/>
            <p:cNvSpPr/>
            <p:nvPr/>
          </p:nvSpPr>
          <p:spPr>
            <a:xfrm>
              <a:off x="-1" y="-1"/>
              <a:ext cx="1713588"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j-lt"/>
                  <a:ea typeface="+mj-ea"/>
                  <a:cs typeface="+mj-cs"/>
                  <a:sym typeface="Calibri"/>
                </a:defRPr>
              </a:pPr>
            </a:p>
          </p:txBody>
        </p:sp>
        <p:sp>
          <p:nvSpPr>
            <p:cNvPr id="74" name="TODAY · 1 MIN"/>
            <p:cNvSpPr txBox="1"/>
            <p:nvPr/>
          </p:nvSpPr>
          <p:spPr>
            <a:xfrm>
              <a:off x="42850" y="90677"/>
              <a:ext cx="1627885"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5395C"/>
                </a:solidFill>
                <a:latin typeface="Georgia"/>
                <a:ea typeface="Georgia"/>
                <a:cs typeface="Georgia"/>
                <a:sym typeface="Georgia"/>
              </a:defRPr>
            </a:lvl1pPr>
          </a:lstStyle>
          <a:p>
            <a:pPr/>
            <a:r>
              <a:t>Today</a:t>
            </a:r>
          </a:p>
        </p:txBody>
      </p:sp>
      <p:grpSp>
        <p:nvGrpSpPr>
          <p:cNvPr id="81" name="o0"/>
          <p:cNvGrpSpPr/>
          <p:nvPr/>
        </p:nvGrpSpPr>
        <p:grpSpPr>
          <a:xfrm>
            <a:off x="1170431" y="2194559"/>
            <a:ext cx="3307996" cy="1792227"/>
            <a:chOff x="0" y="0"/>
            <a:chExt cx="3307994" cy="1792225"/>
          </a:xfrm>
        </p:grpSpPr>
        <p:sp>
          <p:nvSpPr>
            <p:cNvPr id="77" name="o0_bg"/>
            <p:cNvSpPr/>
            <p:nvPr/>
          </p:nvSpPr>
          <p:spPr>
            <a:xfrm>
              <a:off x="-1" y="-1"/>
              <a:ext cx="3307996" cy="1792227"/>
            </a:xfrm>
            <a:prstGeom prst="roundRect">
              <a:avLst>
                <a:gd name="adj" fmla="val 510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78" name="o0_badge"/>
            <p:cNvSpPr/>
            <p:nvPr/>
          </p:nvSpPr>
          <p:spPr>
            <a:xfrm>
              <a:off x="237744" y="201168"/>
              <a:ext cx="384050" cy="384051"/>
            </a:xfrm>
            <a:prstGeom prst="ellipse">
              <a:avLst/>
            </a:prstGeom>
            <a:solidFill>
              <a:srgbClr val="FFD921"/>
            </a:solidFill>
            <a:ln w="12700" cap="flat">
              <a:solidFill>
                <a:srgbClr val="FFD921"/>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79" name="o0_num"/>
            <p:cNvSpPr txBox="1"/>
            <p:nvPr/>
          </p:nvSpPr>
          <p:spPr>
            <a:xfrm>
              <a:off x="237743" y="29159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80" name="o0_t"/>
            <p:cNvSpPr txBox="1"/>
            <p:nvPr/>
          </p:nvSpPr>
          <p:spPr>
            <a:xfrm>
              <a:off x="237744" y="713231"/>
              <a:ext cx="2832507"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E2A40"/>
                  </a:solidFill>
                  <a:latin typeface="Arial"/>
                  <a:ea typeface="Arial"/>
                  <a:cs typeface="Arial"/>
                  <a:sym typeface="Arial"/>
                </a:defRPr>
              </a:lvl1pPr>
            </a:lstStyle>
            <a:p>
              <a:pPr/>
              <a:r>
                <a:t>Identify the independent variable, the one you change.</a:t>
              </a:r>
            </a:p>
          </p:txBody>
        </p:sp>
      </p:grpSp>
      <p:grpSp>
        <p:nvGrpSpPr>
          <p:cNvPr id="86" name="o1"/>
          <p:cNvGrpSpPr/>
          <p:nvPr/>
        </p:nvGrpSpPr>
        <p:grpSpPr>
          <a:xfrm>
            <a:off x="4752745" y="2194559"/>
            <a:ext cx="3307997" cy="1792227"/>
            <a:chOff x="0" y="0"/>
            <a:chExt cx="3307995" cy="1792225"/>
          </a:xfrm>
        </p:grpSpPr>
        <p:sp>
          <p:nvSpPr>
            <p:cNvPr id="82" name="o1_bg"/>
            <p:cNvSpPr/>
            <p:nvPr/>
          </p:nvSpPr>
          <p:spPr>
            <a:xfrm>
              <a:off x="0" y="-1"/>
              <a:ext cx="3307996" cy="1792227"/>
            </a:xfrm>
            <a:prstGeom prst="roundRect">
              <a:avLst>
                <a:gd name="adj" fmla="val 510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83" name="o1_badge"/>
            <p:cNvSpPr/>
            <p:nvPr/>
          </p:nvSpPr>
          <p:spPr>
            <a:xfrm>
              <a:off x="237744" y="201168"/>
              <a:ext cx="384051" cy="384051"/>
            </a:xfrm>
            <a:prstGeom prst="ellipse">
              <a:avLst/>
            </a:prstGeom>
            <a:solidFill>
              <a:srgbClr val="FFD921"/>
            </a:solidFill>
            <a:ln w="12700" cap="flat">
              <a:solidFill>
                <a:srgbClr val="FFD921"/>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84" name="o1_num"/>
            <p:cNvSpPr txBox="1"/>
            <p:nvPr/>
          </p:nvSpPr>
          <p:spPr>
            <a:xfrm>
              <a:off x="237744" y="29159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85" name="o1_t"/>
            <p:cNvSpPr txBox="1"/>
            <p:nvPr/>
          </p:nvSpPr>
          <p:spPr>
            <a:xfrm>
              <a:off x="237744" y="713231"/>
              <a:ext cx="2832508"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E2A40"/>
                  </a:solidFill>
                  <a:latin typeface="Arial"/>
                  <a:ea typeface="Arial"/>
                  <a:cs typeface="Arial"/>
                  <a:sym typeface="Arial"/>
                </a:defRPr>
              </a:lvl1pPr>
            </a:lstStyle>
            <a:p>
              <a:pPr/>
              <a:r>
                <a:t>Identify the dependent variable, the one you measure.</a:t>
              </a:r>
            </a:p>
          </p:txBody>
        </p:sp>
      </p:grpSp>
      <p:grpSp>
        <p:nvGrpSpPr>
          <p:cNvPr id="91" name="o2"/>
          <p:cNvGrpSpPr/>
          <p:nvPr/>
        </p:nvGrpSpPr>
        <p:grpSpPr>
          <a:xfrm>
            <a:off x="8335060" y="2194559"/>
            <a:ext cx="3307996" cy="1792227"/>
            <a:chOff x="0" y="0"/>
            <a:chExt cx="3307994" cy="1792225"/>
          </a:xfrm>
        </p:grpSpPr>
        <p:sp>
          <p:nvSpPr>
            <p:cNvPr id="87" name="o2_bg"/>
            <p:cNvSpPr/>
            <p:nvPr/>
          </p:nvSpPr>
          <p:spPr>
            <a:xfrm>
              <a:off x="-1" y="-1"/>
              <a:ext cx="3307996" cy="1792227"/>
            </a:xfrm>
            <a:prstGeom prst="roundRect">
              <a:avLst>
                <a:gd name="adj" fmla="val 510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88" name="o2_badge"/>
            <p:cNvSpPr/>
            <p:nvPr/>
          </p:nvSpPr>
          <p:spPr>
            <a:xfrm>
              <a:off x="237744" y="201168"/>
              <a:ext cx="384050" cy="384051"/>
            </a:xfrm>
            <a:prstGeom prst="ellipse">
              <a:avLst/>
            </a:prstGeom>
            <a:solidFill>
              <a:srgbClr val="FFD921"/>
            </a:solidFill>
            <a:ln w="12700" cap="flat">
              <a:solidFill>
                <a:srgbClr val="FFD921"/>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89" name="o2_num"/>
            <p:cNvSpPr txBox="1"/>
            <p:nvPr/>
          </p:nvSpPr>
          <p:spPr>
            <a:xfrm>
              <a:off x="237743" y="29159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90" name="o2_t"/>
            <p:cNvSpPr txBox="1"/>
            <p:nvPr/>
          </p:nvSpPr>
          <p:spPr>
            <a:xfrm>
              <a:off x="237744" y="713231"/>
              <a:ext cx="2832507" cy="75157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E2A40"/>
                  </a:solidFill>
                  <a:latin typeface="Arial"/>
                  <a:ea typeface="Arial"/>
                  <a:cs typeface="Arial"/>
                  <a:sym typeface="Arial"/>
                </a:defRPr>
              </a:lvl1pPr>
            </a:lstStyle>
            <a:p>
              <a:pPr/>
              <a:r>
                <a:t>Explain why controlled variables and repeating a test make it fair.</a:t>
              </a:r>
            </a:p>
          </p:txBody>
        </p:sp>
      </p:grpSp>
      <p:grpSp>
        <p:nvGrpSpPr>
          <p:cNvPr id="94" name="obj_banner"/>
          <p:cNvGrpSpPr/>
          <p:nvPr/>
        </p:nvGrpSpPr>
        <p:grpSpPr>
          <a:xfrm>
            <a:off x="1170431" y="4279391"/>
            <a:ext cx="10472626" cy="640083"/>
            <a:chOff x="0" y="0"/>
            <a:chExt cx="10472624" cy="640082"/>
          </a:xfrm>
        </p:grpSpPr>
        <p:sp>
          <p:nvSpPr>
            <p:cNvPr id="92" name="Rounded Rectangle"/>
            <p:cNvSpPr/>
            <p:nvPr/>
          </p:nvSpPr>
          <p:spPr>
            <a:xfrm>
              <a:off x="-1" y="-1"/>
              <a:ext cx="10472626" cy="640083"/>
            </a:xfrm>
            <a:prstGeom prst="roundRect">
              <a:avLst>
                <a:gd name="adj" fmla="val 17143"/>
              </a:avLst>
            </a:prstGeom>
            <a:solidFill>
              <a:srgbClr val="15395C"/>
            </a:solidFill>
            <a:ln w="9525" cap="flat">
              <a:solidFill>
                <a:srgbClr val="15395C"/>
              </a:solidFill>
              <a:prstDash val="solid"/>
              <a:round/>
            </a:ln>
            <a:effectLst/>
          </p:spPr>
          <p:txBody>
            <a:bodyPr wrap="square" lIns="45718" tIns="45718" rIns="45718" bIns="45718" numCol="1" anchor="ctr">
              <a:noAutofit/>
            </a:bodyPr>
            <a:lstStyle/>
            <a:p>
              <a:pPr algn="ctr">
                <a:defRPr sz="1600">
                  <a:latin typeface="+mj-lt"/>
                  <a:ea typeface="+mj-ea"/>
                  <a:cs typeface="+mj-cs"/>
                  <a:sym typeface="Calibri"/>
                </a:defRPr>
              </a:pPr>
            </a:p>
          </p:txBody>
        </p:sp>
        <p:sp>
          <p:nvSpPr>
            <p:cNvPr id="93" name="One thing changes. One thing is measured. Everything else stays the same."/>
            <p:cNvSpPr txBox="1"/>
            <p:nvPr/>
          </p:nvSpPr>
          <p:spPr>
            <a:xfrm>
              <a:off x="36901" y="209063"/>
              <a:ext cx="10398822"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D921"/>
                  </a:solidFill>
                  <a:latin typeface="Arial"/>
                  <a:ea typeface="Arial"/>
                  <a:cs typeface="Arial"/>
                  <a:sym typeface="Arial"/>
                </a:defRPr>
              </a:lvl1pPr>
            </a:lstStyle>
            <a:p>
              <a:pPr/>
              <a:r>
                <a:t>One thing changes. One thing is measured. Everything else stays the same.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Class="mediacall" nodeType="clickEffect" presetSubtype="0" presetID="3" grpId="1" fill="hold">
                                  <p:stCondLst>
                                    <p:cond delay="0"/>
                                  </p:stCondLst>
                                  <p:childTnLst>
                                    <p:cmd type="call" cmd="stop">
                                      <p:cBhvr>
                                        <p:cTn id="31" dur="1000" fill="hold"/>
                                        <p:tgtEl>
                                          <p:spTgt spid="72"/>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2" fill="hold" display="0">
                  <p:stCondLst>
                    <p:cond delay="indefinite"/>
                  </p:stCondLst>
                </p:cTn>
                <p:tgtEl>
                  <p:spTgt spid="72"/>
                </p:tgtEl>
              </p:cMediaNode>
            </p:video>
            <p:seq concurrent="1" prevAc="none" nextAc="seek">
              <p:cTn id="33" evtFilter="cancelBubble" nodeType="interactiveSeq" restart="whenNotActive" fill="hold">
                <p:stCondLst>
                  <p:cond delay="0" evt="onClick">
                    <p:tgtEl>
                      <p:spTgt spid="72"/>
                    </p:tgtEl>
                  </p:cond>
                </p:stCondLst>
                <p:endSync delay="0" evt="end">
                  <p:rtn val="all"/>
                </p:endSync>
                <p:childTnLst>
                  <p:par>
                    <p:cTn id="34" fill="hold">
                      <p:stCondLst>
                        <p:cond delay="0"/>
                      </p:stCondLst>
                      <p:childTnLst>
                        <p:par>
                          <p:cTn id="35" fill="hold">
                            <p:stCondLst>
                              <p:cond delay="0"/>
                            </p:stCondLst>
                            <p:childTnLst>
                              <p:par>
                                <p:cTn id="36" presetClass="mediacall" nodeType="clickEffect" presetSubtype="0" presetID="2" fill="hold">
                                  <p:stCondLst>
                                    <p:cond delay="0"/>
                                  </p:stCondLst>
                                  <p:childTnLst>
                                    <p:cmd type="call" cmd="togglePause">
                                      <p:cBhvr>
                                        <p:cTn id="37"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6" grpId="3"/>
      <p:bldP build="whole" bldLvl="1" animBg="1" rev="0" advAuto="0" spid="94" grpId="5"/>
      <p:bldP build="whole" bldLvl="1" animBg="1" rev="0" advAuto="0" spid="81" grpId="2"/>
      <p:bldP build="whole" bldLvl="1" animBg="1" rev="0" advAuto="0" spid="91"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101" name="phase_pill"/>
          <p:cNvGrpSpPr/>
          <p:nvPr/>
        </p:nvGrpSpPr>
        <p:grpSpPr>
          <a:xfrm>
            <a:off x="1170432" y="310894"/>
            <a:ext cx="1623977" cy="329188"/>
            <a:chOff x="0" y="0"/>
            <a:chExt cx="1623976" cy="329186"/>
          </a:xfrm>
        </p:grpSpPr>
        <p:sp>
          <p:nvSpPr>
            <p:cNvPr id="99" name="Rounded Rectangle"/>
            <p:cNvSpPr/>
            <p:nvPr/>
          </p:nvSpPr>
          <p:spPr>
            <a:xfrm>
              <a:off x="-1" y="-1"/>
              <a:ext cx="1623978"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j-lt"/>
                  <a:ea typeface="+mj-ea"/>
                  <a:cs typeface="+mj-cs"/>
                  <a:sym typeface="Calibri"/>
                </a:defRPr>
              </a:pPr>
            </a:p>
          </p:txBody>
        </p:sp>
        <p:sp>
          <p:nvSpPr>
            <p:cNvPr id="100" name="HOOK · 2 MIN"/>
            <p:cNvSpPr txBox="1"/>
            <p:nvPr/>
          </p:nvSpPr>
          <p:spPr>
            <a:xfrm>
              <a:off x="42851" y="90677"/>
              <a:ext cx="1538273"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pic>
        <p:nvPicPr>
          <p:cNvPr id="102" name="hook_icon" descr="hook_icon"/>
          <p:cNvPicPr>
            <a:picLocks noChangeAspect="1"/>
          </p:cNvPicPr>
          <p:nvPr/>
        </p:nvPicPr>
        <p:blipFill>
          <a:blip r:embed="rId6">
            <a:extLst/>
          </a:blip>
          <a:stretch>
            <a:fillRect/>
          </a:stretch>
        </p:blipFill>
        <p:spPr>
          <a:xfrm>
            <a:off x="10865815" y="786383"/>
            <a:ext cx="548642" cy="548641"/>
          </a:xfrm>
          <a:prstGeom prst="rect">
            <a:avLst/>
          </a:prstGeom>
          <a:ln w="12700">
            <a:miter lim="400000"/>
          </a:ln>
        </p:spPr>
      </p:pic>
      <p:sp>
        <p:nvSpPr>
          <p:cNvPr id="103" name="slide_title"/>
          <p:cNvSpPr txBox="1"/>
          <p:nvPr/>
        </p:nvSpPr>
        <p:spPr>
          <a:xfrm>
            <a:off x="1170432" y="806340"/>
            <a:ext cx="9558223" cy="9293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700"/>
              </a:lnSpc>
              <a:defRPr b="1" sz="3000">
                <a:solidFill>
                  <a:srgbClr val="15395C"/>
                </a:solidFill>
                <a:latin typeface="Georgia"/>
                <a:ea typeface="Georgia"/>
                <a:cs typeface="Georgia"/>
                <a:sym typeface="Georgia"/>
              </a:defRPr>
            </a:lvl1pPr>
          </a:lstStyle>
          <a:p>
            <a:pPr/>
            <a:r>
              <a:t>Does a paper aeroplane fly further if it is heavier?</a:t>
            </a:r>
          </a:p>
        </p:txBody>
      </p:sp>
      <p:sp>
        <p:nvSpPr>
          <p:cNvPr id="104" name="slide_sub"/>
          <p:cNvSpPr txBox="1"/>
          <p:nvPr/>
        </p:nvSpPr>
        <p:spPr>
          <a:xfrm>
            <a:off x="1170432" y="1872925"/>
            <a:ext cx="10472623"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55708A"/>
                </a:solidFill>
                <a:latin typeface="Arial"/>
                <a:ea typeface="Arial"/>
                <a:cs typeface="Arial"/>
                <a:sym typeface="Arial"/>
              </a:defRPr>
            </a:lvl1pPr>
          </a:lstStyle>
          <a:p>
            <a:pPr/>
            <a:r>
              <a:t>What would you need to do to find out?</a:t>
            </a:r>
          </a:p>
        </p:txBody>
      </p:sp>
      <p:grpSp>
        <p:nvGrpSpPr>
          <p:cNvPr id="108" name="h0"/>
          <p:cNvGrpSpPr/>
          <p:nvPr/>
        </p:nvGrpSpPr>
        <p:grpSpPr>
          <a:xfrm>
            <a:off x="1170431" y="2487166"/>
            <a:ext cx="3307996" cy="1554484"/>
            <a:chOff x="0" y="0"/>
            <a:chExt cx="3307994" cy="1554482"/>
          </a:xfrm>
        </p:grpSpPr>
        <p:sp>
          <p:nvSpPr>
            <p:cNvPr id="105" name="h0_bg"/>
            <p:cNvSpPr/>
            <p:nvPr/>
          </p:nvSpPr>
          <p:spPr>
            <a:xfrm>
              <a:off x="-1" y="-1"/>
              <a:ext cx="3307996" cy="1554484"/>
            </a:xfrm>
            <a:prstGeom prst="roundRect">
              <a:avLst>
                <a:gd name="adj" fmla="val 588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106" name="h0_k"/>
            <p:cNvSpPr txBox="1"/>
            <p:nvPr/>
          </p:nvSpPr>
          <p:spPr>
            <a:xfrm>
              <a:off x="256031" y="239268"/>
              <a:ext cx="548642"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D312F"/>
                  </a:solidFill>
                  <a:latin typeface="Georgia"/>
                  <a:ea typeface="Georgia"/>
                  <a:cs typeface="Georgia"/>
                  <a:sym typeface="Georgia"/>
                </a:defRPr>
              </a:lvl1pPr>
            </a:lstStyle>
            <a:p>
              <a:pPr/>
              <a:r>
                <a:t>A</a:t>
              </a:r>
            </a:p>
          </p:txBody>
        </p:sp>
        <p:sp>
          <p:nvSpPr>
            <p:cNvPr id="107" name="h0_t"/>
            <p:cNvSpPr txBox="1"/>
            <p:nvPr/>
          </p:nvSpPr>
          <p:spPr>
            <a:xfrm>
              <a:off x="256032" y="829773"/>
              <a:ext cx="2795931" cy="26069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700">
                  <a:solidFill>
                    <a:srgbClr val="15395C"/>
                  </a:solidFill>
                  <a:latin typeface="Georgia"/>
                  <a:ea typeface="Georgia"/>
                  <a:cs typeface="Georgia"/>
                  <a:sym typeface="Georgia"/>
                </a:defRPr>
              </a:lvl1pPr>
            </a:lstStyle>
            <a:p>
              <a:pPr/>
              <a:r>
                <a:t>Heavier flies further.</a:t>
              </a:r>
            </a:p>
          </p:txBody>
        </p:sp>
      </p:grpSp>
      <p:grpSp>
        <p:nvGrpSpPr>
          <p:cNvPr id="112" name="h1"/>
          <p:cNvGrpSpPr/>
          <p:nvPr/>
        </p:nvGrpSpPr>
        <p:grpSpPr>
          <a:xfrm>
            <a:off x="4752745" y="2487166"/>
            <a:ext cx="3307997" cy="1554484"/>
            <a:chOff x="0" y="0"/>
            <a:chExt cx="3307995" cy="1554482"/>
          </a:xfrm>
        </p:grpSpPr>
        <p:sp>
          <p:nvSpPr>
            <p:cNvPr id="109" name="h1_bg"/>
            <p:cNvSpPr/>
            <p:nvPr/>
          </p:nvSpPr>
          <p:spPr>
            <a:xfrm>
              <a:off x="0" y="-1"/>
              <a:ext cx="3307996" cy="1554484"/>
            </a:xfrm>
            <a:prstGeom prst="roundRect">
              <a:avLst>
                <a:gd name="adj" fmla="val 588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110" name="h1_k"/>
            <p:cNvSpPr txBox="1"/>
            <p:nvPr/>
          </p:nvSpPr>
          <p:spPr>
            <a:xfrm>
              <a:off x="256032" y="239268"/>
              <a:ext cx="548641"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D312F"/>
                  </a:solidFill>
                  <a:latin typeface="Georgia"/>
                  <a:ea typeface="Georgia"/>
                  <a:cs typeface="Georgia"/>
                  <a:sym typeface="Georgia"/>
                </a:defRPr>
              </a:lvl1pPr>
            </a:lstStyle>
            <a:p>
              <a:pPr/>
              <a:r>
                <a:t>B</a:t>
              </a:r>
            </a:p>
          </p:txBody>
        </p:sp>
        <p:sp>
          <p:nvSpPr>
            <p:cNvPr id="111" name="h1_t"/>
            <p:cNvSpPr txBox="1"/>
            <p:nvPr/>
          </p:nvSpPr>
          <p:spPr>
            <a:xfrm>
              <a:off x="256032" y="829773"/>
              <a:ext cx="2795932" cy="26069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700">
                  <a:solidFill>
                    <a:srgbClr val="15395C"/>
                  </a:solidFill>
                  <a:latin typeface="Georgia"/>
                  <a:ea typeface="Georgia"/>
                  <a:cs typeface="Georgia"/>
                  <a:sym typeface="Georgia"/>
                </a:defRPr>
              </a:lvl1pPr>
            </a:lstStyle>
            <a:p>
              <a:pPr/>
              <a:r>
                <a:t>Lighter flies further.</a:t>
              </a:r>
            </a:p>
          </p:txBody>
        </p:sp>
      </p:grpSp>
      <p:grpSp>
        <p:nvGrpSpPr>
          <p:cNvPr id="116" name="h2"/>
          <p:cNvGrpSpPr/>
          <p:nvPr/>
        </p:nvGrpSpPr>
        <p:grpSpPr>
          <a:xfrm>
            <a:off x="8335060" y="2487166"/>
            <a:ext cx="3307996" cy="1554484"/>
            <a:chOff x="0" y="0"/>
            <a:chExt cx="3307994" cy="1554482"/>
          </a:xfrm>
        </p:grpSpPr>
        <p:sp>
          <p:nvSpPr>
            <p:cNvPr id="113" name="h2_bg"/>
            <p:cNvSpPr/>
            <p:nvPr/>
          </p:nvSpPr>
          <p:spPr>
            <a:xfrm>
              <a:off x="-1" y="-1"/>
              <a:ext cx="3307996" cy="1554484"/>
            </a:xfrm>
            <a:prstGeom prst="roundRect">
              <a:avLst>
                <a:gd name="adj" fmla="val 588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114" name="h2_k"/>
            <p:cNvSpPr txBox="1"/>
            <p:nvPr/>
          </p:nvSpPr>
          <p:spPr>
            <a:xfrm>
              <a:off x="256031" y="239268"/>
              <a:ext cx="548642"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D312F"/>
                  </a:solidFill>
                  <a:latin typeface="Georgia"/>
                  <a:ea typeface="Georgia"/>
                  <a:cs typeface="Georgia"/>
                  <a:sym typeface="Georgia"/>
                </a:defRPr>
              </a:lvl1pPr>
            </a:lstStyle>
            <a:p>
              <a:pPr/>
              <a:r>
                <a:t>C</a:t>
              </a:r>
            </a:p>
          </p:txBody>
        </p:sp>
        <p:sp>
          <p:nvSpPr>
            <p:cNvPr id="115" name="h2_t"/>
            <p:cNvSpPr txBox="1"/>
            <p:nvPr/>
          </p:nvSpPr>
          <p:spPr>
            <a:xfrm>
              <a:off x="256032" y="696423"/>
              <a:ext cx="2795931" cy="5273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700">
                  <a:solidFill>
                    <a:srgbClr val="15395C"/>
                  </a:solidFill>
                  <a:latin typeface="Georgia"/>
                  <a:ea typeface="Georgia"/>
                  <a:cs typeface="Georgia"/>
                  <a:sym typeface="Georgia"/>
                </a:defRPr>
              </a:lvl1pPr>
            </a:lstStyle>
            <a:p>
              <a:pPr/>
              <a:r>
                <a:t>You cannot tell without testing it.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8"/>
                                        </p:tgtEl>
                                        <p:attrNameLst>
                                          <p:attrName>style.visibility</p:attrName>
                                        </p:attrNameLst>
                                      </p:cBhvr>
                                      <p:to>
                                        <p:strVal val="visible"/>
                                      </p:to>
                                    </p:set>
                                    <p:animEffect filter="fade" transition="in">
                                      <p:cBhvr>
                                        <p:cTn id="11" dur="400"/>
                                        <p:tgtEl>
                                          <p:spTgt spid="108"/>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2"/>
                                        </p:tgtEl>
                                        <p:attrNameLst>
                                          <p:attrName>style.visibility</p:attrName>
                                        </p:attrNameLst>
                                      </p:cBhvr>
                                      <p:to>
                                        <p:strVal val="visible"/>
                                      </p:to>
                                    </p:set>
                                    <p:animEffect filter="fade" transition="in">
                                      <p:cBhvr>
                                        <p:cTn id="15" dur="400"/>
                                        <p:tgtEl>
                                          <p:spTgt spid="112"/>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6"/>
                                        </p:tgtEl>
                                        <p:attrNameLst>
                                          <p:attrName>style.visibility</p:attrName>
                                        </p:attrNameLst>
                                      </p:cBhvr>
                                      <p:to>
                                        <p:strVal val="visible"/>
                                      </p:to>
                                    </p:set>
                                    <p:animEffect filter="fade" transition="in">
                                      <p:cBhvr>
                                        <p:cTn id="19" dur="400"/>
                                        <p:tgtEl>
                                          <p:spTgt spid="116"/>
                                        </p:tgtEl>
                                      </p:cBhvr>
                                    </p:animEffect>
                                  </p:childTnLst>
                                </p:cTn>
                              </p:par>
                            </p:childTnLst>
                          </p:cTn>
                        </p:par>
                      </p:childTnLst>
                    </p:cTn>
                  </p:par>
                  <p:par>
                    <p:cTn id="20" fill="hold">
                      <p:stCondLst>
                        <p:cond delay="indefinite"/>
                      </p:stCondLst>
                      <p:childTnLst>
                        <p:par>
                          <p:cTn id="21" fill="hold">
                            <p:stCondLst>
                              <p:cond delay="0"/>
                            </p:stCondLst>
                            <p:childTnLst>
                              <p:par>
                                <p:cTn id="22" presetClass="mediacall" nodeType="clickEffect" presetSubtype="0" presetID="3" grpId="1" fill="hold">
                                  <p:stCondLst>
                                    <p:cond delay="0"/>
                                  </p:stCondLst>
                                  <p:childTnLst>
                                    <p:cmd type="call" cmd="stop">
                                      <p:cBhvr>
                                        <p:cTn id="23" dur="1000" fill="hold"/>
                                        <p:tgtEl>
                                          <p:spTgt spid="98"/>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4" fill="hold" display="0">
                  <p:stCondLst>
                    <p:cond delay="indefinite"/>
                  </p:stCondLst>
                </p:cTn>
                <p:tgtEl>
                  <p:spTgt spid="98"/>
                </p:tgtEl>
              </p:cMediaNode>
            </p:video>
            <p:seq concurrent="1" prevAc="none" nextAc="seek">
              <p:cTn id="25" evtFilter="cancelBubble" nodeType="interactiveSeq" restart="whenNotActive" fill="hold">
                <p:stCondLst>
                  <p:cond delay="0" evt="onClick">
                    <p:tgtEl>
                      <p:spTgt spid="98"/>
                    </p:tgtEl>
                  </p:cond>
                </p:stCondLst>
                <p:endSync delay="0" evt="end">
                  <p:rtn val="all"/>
                </p:endSync>
                <p:childTnLst>
                  <p:par>
                    <p:cTn id="26" fill="hold">
                      <p:stCondLst>
                        <p:cond delay="0"/>
                      </p:stCondLst>
                      <p:childTnLst>
                        <p:par>
                          <p:cTn id="27" fill="hold">
                            <p:stCondLst>
                              <p:cond delay="0"/>
                            </p:stCondLst>
                            <p:childTnLst>
                              <p:par>
                                <p:cTn id="28" presetClass="mediacall" nodeType="clickEffect" presetSubtype="0" presetID="2" fill="hold">
                                  <p:stCondLst>
                                    <p:cond delay="0"/>
                                  </p:stCondLst>
                                  <p:childTnLst>
                                    <p:cmd type="call" cmd="togglePause">
                                      <p:cBhvr>
                                        <p:cTn id="29"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08" grpId="2"/>
      <p:bldP build="whole" bldLvl="1" animBg="1" rev="0" advAuto="0" spid="112" grpId="3"/>
      <p:bldP build="whole" bldLvl="1" animBg="1" rev="0" advAuto="0" spid="116" grpId="4"/>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1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123" name="phase_pill"/>
          <p:cNvGrpSpPr/>
          <p:nvPr/>
        </p:nvGrpSpPr>
        <p:grpSpPr>
          <a:xfrm>
            <a:off x="1170432" y="310894"/>
            <a:ext cx="1623977" cy="329188"/>
            <a:chOff x="0" y="0"/>
            <a:chExt cx="1623976" cy="329186"/>
          </a:xfrm>
        </p:grpSpPr>
        <p:sp>
          <p:nvSpPr>
            <p:cNvPr id="121" name="Rounded Rectangle"/>
            <p:cNvSpPr/>
            <p:nvPr/>
          </p:nvSpPr>
          <p:spPr>
            <a:xfrm>
              <a:off x="-1" y="-1"/>
              <a:ext cx="1623978"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j-lt"/>
                  <a:ea typeface="+mj-ea"/>
                  <a:cs typeface="+mj-cs"/>
                  <a:sym typeface="Calibri"/>
                </a:defRPr>
              </a:pPr>
            </a:p>
          </p:txBody>
        </p:sp>
        <p:sp>
          <p:nvSpPr>
            <p:cNvPr id="122" name="I DO · 3 MIN"/>
            <p:cNvSpPr txBox="1"/>
            <p:nvPr/>
          </p:nvSpPr>
          <p:spPr>
            <a:xfrm>
              <a:off x="42851" y="90677"/>
              <a:ext cx="1538273"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4"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5395C"/>
                </a:solidFill>
                <a:latin typeface="Georgia"/>
                <a:ea typeface="Georgia"/>
                <a:cs typeface="Georgia"/>
                <a:sym typeface="Georgia"/>
              </a:defRPr>
            </a:lvl1pPr>
          </a:lstStyle>
          <a:p>
            <a:pPr/>
            <a:r>
              <a:t>Two variables, every fair test</a:t>
            </a:r>
          </a:p>
        </p:txBody>
      </p:sp>
      <p:grpSp>
        <p:nvGrpSpPr>
          <p:cNvPr id="132" name="mv0"/>
          <p:cNvGrpSpPr/>
          <p:nvPr/>
        </p:nvGrpSpPr>
        <p:grpSpPr>
          <a:xfrm>
            <a:off x="1170431" y="2103119"/>
            <a:ext cx="10472626" cy="1234444"/>
            <a:chOff x="0" y="-1"/>
            <a:chExt cx="10472624" cy="1234443"/>
          </a:xfrm>
        </p:grpSpPr>
        <p:sp>
          <p:nvSpPr>
            <p:cNvPr id="125" name="mv0_bg"/>
            <p:cNvSpPr/>
            <p:nvPr/>
          </p:nvSpPr>
          <p:spPr>
            <a:xfrm>
              <a:off x="-1" y="-2"/>
              <a:ext cx="10472626" cy="1234445"/>
            </a:xfrm>
            <a:prstGeom prst="roundRect">
              <a:avLst>
                <a:gd name="adj" fmla="val 7407"/>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pic>
          <p:nvPicPr>
            <p:cNvPr id="126" name="mv0_icon" descr="mv0_icon"/>
            <p:cNvPicPr>
              <a:picLocks noChangeAspect="1"/>
            </p:cNvPicPr>
            <p:nvPr/>
          </p:nvPicPr>
          <p:blipFill>
            <a:blip r:embed="rId6">
              <a:extLst/>
            </a:blip>
            <a:stretch>
              <a:fillRect/>
            </a:stretch>
          </p:blipFill>
          <p:spPr>
            <a:xfrm>
              <a:off x="201166" y="182879"/>
              <a:ext cx="438914" cy="438914"/>
            </a:xfrm>
            <a:prstGeom prst="rect">
              <a:avLst/>
            </a:prstGeom>
            <a:ln w="12700" cap="flat">
              <a:noFill/>
              <a:miter lim="400000"/>
            </a:ln>
            <a:effectLst/>
          </p:spPr>
        </p:pic>
        <p:sp>
          <p:nvSpPr>
            <p:cNvPr id="127" name="mv0_n"/>
            <p:cNvSpPr txBox="1"/>
            <p:nvPr/>
          </p:nvSpPr>
          <p:spPr>
            <a:xfrm>
              <a:off x="786382" y="229615"/>
              <a:ext cx="3291842"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5395C"/>
                  </a:solidFill>
                  <a:latin typeface="Georgia"/>
                  <a:ea typeface="Georgia"/>
                  <a:cs typeface="Georgia"/>
                  <a:sym typeface="Georgia"/>
                </a:defRPr>
              </a:lvl1pPr>
            </a:lstStyle>
            <a:p>
              <a:pPr/>
              <a:r>
                <a:t>INDEPENDENT</a:t>
              </a:r>
            </a:p>
          </p:txBody>
        </p:sp>
        <p:sp>
          <p:nvSpPr>
            <p:cNvPr id="128" name="mv0_d"/>
            <p:cNvSpPr txBox="1"/>
            <p:nvPr/>
          </p:nvSpPr>
          <p:spPr>
            <a:xfrm>
              <a:off x="786384" y="730968"/>
              <a:ext cx="7308799" cy="2205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800"/>
                </a:lnSpc>
                <a:defRPr sz="1400">
                  <a:solidFill>
                    <a:srgbClr val="0E2A40"/>
                  </a:solidFill>
                  <a:latin typeface="Arial"/>
                  <a:ea typeface="Arial"/>
                  <a:cs typeface="Arial"/>
                  <a:sym typeface="Arial"/>
                </a:defRPr>
              </a:pPr>
              <a:r>
                <a:t>The one YOU choose to </a:t>
              </a:r>
              <a:r>
                <a:rPr b="1"/>
                <a:t>change</a:t>
              </a:r>
              <a:r>
                <a:t>.</a:t>
              </a:r>
            </a:p>
          </p:txBody>
        </p:sp>
        <p:grpSp>
          <p:nvGrpSpPr>
            <p:cNvPr id="131" name="mv0_e"/>
            <p:cNvGrpSpPr/>
            <p:nvPr/>
          </p:nvGrpSpPr>
          <p:grpSpPr>
            <a:xfrm>
              <a:off x="8095182" y="402335"/>
              <a:ext cx="2194563" cy="420627"/>
              <a:chOff x="0" y="0"/>
              <a:chExt cx="2194562" cy="420626"/>
            </a:xfrm>
          </p:grpSpPr>
          <p:sp>
            <p:nvSpPr>
              <p:cNvPr id="129" name="Rounded Rectangle"/>
              <p:cNvSpPr/>
              <p:nvPr/>
            </p:nvSpPr>
            <p:spPr>
              <a:xfrm>
                <a:off x="0" y="-1"/>
                <a:ext cx="2194563" cy="420628"/>
              </a:xfrm>
              <a:prstGeom prst="roundRect">
                <a:avLst>
                  <a:gd name="adj" fmla="val 17391"/>
                </a:avLst>
              </a:prstGeom>
              <a:solidFill>
                <a:srgbClr val="15395C"/>
              </a:solidFill>
              <a:ln w="9525" cap="flat">
                <a:solidFill>
                  <a:srgbClr val="15395C"/>
                </a:solidFill>
                <a:prstDash val="solid"/>
                <a:round/>
              </a:ln>
              <a:effectLst/>
            </p:spPr>
            <p:txBody>
              <a:bodyPr wrap="square" lIns="45718" tIns="45718" rIns="45718" bIns="45718" numCol="1" anchor="ctr">
                <a:noAutofit/>
              </a:bodyPr>
              <a:lstStyle/>
              <a:p>
                <a:pPr algn="ctr">
                  <a:defRPr sz="1300">
                    <a:latin typeface="+mj-lt"/>
                    <a:ea typeface="+mj-ea"/>
                    <a:cs typeface="+mj-cs"/>
                    <a:sym typeface="Calibri"/>
                  </a:defRPr>
                </a:pPr>
              </a:p>
            </p:txBody>
          </p:sp>
          <p:sp>
            <p:nvSpPr>
              <p:cNvPr id="130" name="Amount of sunlight"/>
              <p:cNvSpPr txBox="1"/>
              <p:nvPr/>
            </p:nvSpPr>
            <p:spPr>
              <a:xfrm>
                <a:off x="26186" y="117762"/>
                <a:ext cx="2142189"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latin typeface="Arial"/>
                    <a:ea typeface="Arial"/>
                    <a:cs typeface="Arial"/>
                    <a:sym typeface="Arial"/>
                  </a:defRPr>
                </a:lvl1pPr>
              </a:lstStyle>
              <a:p>
                <a:pPr/>
                <a:r>
                  <a:t>Amount of sunlight</a:t>
                </a:r>
              </a:p>
            </p:txBody>
          </p:sp>
        </p:grpSp>
      </p:grpSp>
      <p:grpSp>
        <p:nvGrpSpPr>
          <p:cNvPr id="140" name="mv1"/>
          <p:cNvGrpSpPr/>
          <p:nvPr/>
        </p:nvGrpSpPr>
        <p:grpSpPr>
          <a:xfrm>
            <a:off x="1170431" y="3520439"/>
            <a:ext cx="10472626" cy="1234444"/>
            <a:chOff x="0" y="-1"/>
            <a:chExt cx="10472624" cy="1234443"/>
          </a:xfrm>
        </p:grpSpPr>
        <p:sp>
          <p:nvSpPr>
            <p:cNvPr id="133" name="mv1_bg"/>
            <p:cNvSpPr/>
            <p:nvPr/>
          </p:nvSpPr>
          <p:spPr>
            <a:xfrm>
              <a:off x="-1" y="-2"/>
              <a:ext cx="10472626" cy="1234445"/>
            </a:xfrm>
            <a:prstGeom prst="roundRect">
              <a:avLst>
                <a:gd name="adj" fmla="val 7407"/>
              </a:avLst>
            </a:prstGeom>
            <a:solidFill>
              <a:srgbClr val="FDF3DC"/>
            </a:solidFill>
            <a:ln w="16510" cap="flat">
              <a:solidFill>
                <a:srgbClr val="FFD921"/>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pic>
          <p:nvPicPr>
            <p:cNvPr id="134" name="mv1_icon" descr="mv1_icon"/>
            <p:cNvPicPr>
              <a:picLocks noChangeAspect="1"/>
            </p:cNvPicPr>
            <p:nvPr/>
          </p:nvPicPr>
          <p:blipFill>
            <a:blip r:embed="rId7">
              <a:extLst/>
            </a:blip>
            <a:stretch>
              <a:fillRect/>
            </a:stretch>
          </p:blipFill>
          <p:spPr>
            <a:xfrm>
              <a:off x="201166" y="182879"/>
              <a:ext cx="438914" cy="438914"/>
            </a:xfrm>
            <a:prstGeom prst="rect">
              <a:avLst/>
            </a:prstGeom>
            <a:ln w="12700" cap="flat">
              <a:noFill/>
              <a:miter lim="400000"/>
            </a:ln>
            <a:effectLst/>
          </p:spPr>
        </p:pic>
        <p:sp>
          <p:nvSpPr>
            <p:cNvPr id="135" name="mv1_n"/>
            <p:cNvSpPr txBox="1"/>
            <p:nvPr/>
          </p:nvSpPr>
          <p:spPr>
            <a:xfrm>
              <a:off x="786382" y="229615"/>
              <a:ext cx="3291842"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5395C"/>
                  </a:solidFill>
                  <a:latin typeface="Georgia"/>
                  <a:ea typeface="Georgia"/>
                  <a:cs typeface="Georgia"/>
                  <a:sym typeface="Georgia"/>
                </a:defRPr>
              </a:lvl1pPr>
            </a:lstStyle>
            <a:p>
              <a:pPr/>
              <a:r>
                <a:t>DEPENDENT</a:t>
              </a:r>
            </a:p>
          </p:txBody>
        </p:sp>
        <p:sp>
          <p:nvSpPr>
            <p:cNvPr id="136" name="mv1_d"/>
            <p:cNvSpPr txBox="1"/>
            <p:nvPr/>
          </p:nvSpPr>
          <p:spPr>
            <a:xfrm>
              <a:off x="786384" y="730968"/>
              <a:ext cx="7308799" cy="2205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800"/>
                </a:lnSpc>
                <a:defRPr sz="1400">
                  <a:solidFill>
                    <a:srgbClr val="0E2A40"/>
                  </a:solidFill>
                  <a:latin typeface="Arial"/>
                  <a:ea typeface="Arial"/>
                  <a:cs typeface="Arial"/>
                  <a:sym typeface="Arial"/>
                </a:defRPr>
              </a:pPr>
              <a:r>
                <a:t>The one that changes because of it, and that you </a:t>
              </a:r>
              <a:r>
                <a:rPr b="1"/>
                <a:t>measure</a:t>
              </a:r>
              <a:r>
                <a:t>.</a:t>
              </a:r>
            </a:p>
          </p:txBody>
        </p:sp>
        <p:grpSp>
          <p:nvGrpSpPr>
            <p:cNvPr id="139" name="mv1_e"/>
            <p:cNvGrpSpPr/>
            <p:nvPr/>
          </p:nvGrpSpPr>
          <p:grpSpPr>
            <a:xfrm>
              <a:off x="8095182" y="402335"/>
              <a:ext cx="2194563" cy="420627"/>
              <a:chOff x="0" y="0"/>
              <a:chExt cx="2194562" cy="420626"/>
            </a:xfrm>
          </p:grpSpPr>
          <p:sp>
            <p:nvSpPr>
              <p:cNvPr id="137" name="Rounded Rectangle"/>
              <p:cNvSpPr/>
              <p:nvPr/>
            </p:nvSpPr>
            <p:spPr>
              <a:xfrm>
                <a:off x="0" y="-1"/>
                <a:ext cx="2194563" cy="420628"/>
              </a:xfrm>
              <a:prstGeom prst="roundRect">
                <a:avLst>
                  <a:gd name="adj" fmla="val 17391"/>
                </a:avLst>
              </a:prstGeom>
              <a:solidFill>
                <a:srgbClr val="15395C"/>
              </a:solidFill>
              <a:ln w="9525" cap="flat">
                <a:solidFill>
                  <a:srgbClr val="15395C"/>
                </a:solidFill>
                <a:prstDash val="solid"/>
                <a:round/>
              </a:ln>
              <a:effectLst/>
            </p:spPr>
            <p:txBody>
              <a:bodyPr wrap="square" lIns="45718" tIns="45718" rIns="45718" bIns="45718" numCol="1" anchor="ctr">
                <a:noAutofit/>
              </a:bodyPr>
              <a:lstStyle/>
              <a:p>
                <a:pPr algn="ctr">
                  <a:defRPr sz="1300">
                    <a:latin typeface="+mj-lt"/>
                    <a:ea typeface="+mj-ea"/>
                    <a:cs typeface="+mj-cs"/>
                    <a:sym typeface="Calibri"/>
                  </a:defRPr>
                </a:pPr>
              </a:p>
            </p:txBody>
          </p:sp>
          <p:sp>
            <p:nvSpPr>
              <p:cNvPr id="138" name="Plant height"/>
              <p:cNvSpPr txBox="1"/>
              <p:nvPr/>
            </p:nvSpPr>
            <p:spPr>
              <a:xfrm>
                <a:off x="26186" y="117762"/>
                <a:ext cx="2142189"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latin typeface="Arial"/>
                    <a:ea typeface="Arial"/>
                    <a:cs typeface="Arial"/>
                    <a:sym typeface="Arial"/>
                  </a:defRPr>
                </a:lvl1pPr>
              </a:lstStyle>
              <a:p>
                <a:pPr/>
                <a:r>
                  <a:t>Plant height</a:t>
                </a:r>
              </a:p>
            </p:txBody>
          </p:sp>
        </p:grpSp>
      </p:grpSp>
      <p:sp>
        <p:nvSpPr>
          <p:cNvPr id="141" name="mv_arrow"/>
          <p:cNvSpPr/>
          <p:nvPr/>
        </p:nvSpPr>
        <p:spPr>
          <a:xfrm rot="5400000">
            <a:off x="6347307" y="3364991"/>
            <a:ext cx="118874" cy="128017"/>
          </a:xfrm>
          <a:prstGeom prst="rightArrow">
            <a:avLst>
              <a:gd name="adj1" fmla="val 50000"/>
              <a:gd name="adj2" fmla="val 50000"/>
            </a:avLst>
          </a:prstGeom>
          <a:solidFill>
            <a:srgbClr val="957D11"/>
          </a:solidFill>
          <a:ln w="12700">
            <a:solidFill>
              <a:srgbClr val="957D11"/>
            </a:solidFill>
          </a:ln>
        </p:spPr>
        <p:txBody>
          <a:bodyPr lIns="45718" tIns="45718" rIns="45718" bIns="45718"/>
          <a:lstStyle/>
          <a:p>
            <a:pPr>
              <a:defRPr>
                <a:latin typeface="+mj-lt"/>
                <a:ea typeface="+mj-ea"/>
                <a:cs typeface="+mj-cs"/>
                <a:sym typeface="Calibri"/>
              </a:defRPr>
            </a:pPr>
          </a:p>
        </p:txBody>
      </p:sp>
      <p:grpSp>
        <p:nvGrpSpPr>
          <p:cNvPr id="144" name="obj_banner"/>
          <p:cNvGrpSpPr/>
          <p:nvPr/>
        </p:nvGrpSpPr>
        <p:grpSpPr>
          <a:xfrm>
            <a:off x="1170431" y="4937759"/>
            <a:ext cx="10472626" cy="640083"/>
            <a:chOff x="0" y="0"/>
            <a:chExt cx="10472624" cy="640082"/>
          </a:xfrm>
        </p:grpSpPr>
        <p:sp>
          <p:nvSpPr>
            <p:cNvPr id="142" name="Rounded Rectangle"/>
            <p:cNvSpPr/>
            <p:nvPr/>
          </p:nvSpPr>
          <p:spPr>
            <a:xfrm>
              <a:off x="-1" y="-1"/>
              <a:ext cx="10472626" cy="640083"/>
            </a:xfrm>
            <a:prstGeom prst="roundRect">
              <a:avLst>
                <a:gd name="adj" fmla="val 17143"/>
              </a:avLst>
            </a:prstGeom>
            <a:solidFill>
              <a:srgbClr val="15395C"/>
            </a:solidFill>
            <a:ln w="9525" cap="flat">
              <a:solidFill>
                <a:srgbClr val="15395C"/>
              </a:solidFill>
              <a:prstDash val="solid"/>
              <a:round/>
            </a:ln>
            <a:effectLst/>
          </p:spPr>
          <p:txBody>
            <a:bodyPr wrap="square" lIns="45718" tIns="45718" rIns="45718" bIns="45718" numCol="1" anchor="ctr">
              <a:noAutofit/>
            </a:bodyPr>
            <a:lstStyle/>
            <a:p>
              <a:pPr algn="ctr">
                <a:defRPr sz="1600">
                  <a:latin typeface="+mj-lt"/>
                  <a:ea typeface="+mj-ea"/>
                  <a:cs typeface="+mj-cs"/>
                  <a:sym typeface="Calibri"/>
                </a:defRPr>
              </a:pPr>
            </a:p>
          </p:txBody>
        </p:sp>
        <p:sp>
          <p:nvSpPr>
            <p:cNvPr id="143" name="One thing changes. One thing is measured. Everything else stays the same."/>
            <p:cNvSpPr txBox="1"/>
            <p:nvPr/>
          </p:nvSpPr>
          <p:spPr>
            <a:xfrm>
              <a:off x="36901" y="209063"/>
              <a:ext cx="10398822"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D921"/>
                  </a:solidFill>
                  <a:latin typeface="Arial"/>
                  <a:ea typeface="Arial"/>
                  <a:cs typeface="Arial"/>
                  <a:sym typeface="Arial"/>
                </a:defRPr>
              </a:lvl1pPr>
            </a:lstStyle>
            <a:p>
              <a:pPr/>
              <a:r>
                <a:t>BONUS: Write down some independent variables and their dependent variables. We might investigate!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32"/>
                                        </p:tgtEl>
                                        <p:attrNameLst>
                                          <p:attrName>style.visibility</p:attrName>
                                        </p:attrNameLst>
                                      </p:cBhvr>
                                      <p:to>
                                        <p:strVal val="visible"/>
                                      </p:to>
                                    </p:set>
                                    <p:animEffect filter="fade" transition="in">
                                      <p:cBhvr>
                                        <p:cTn id="11" dur="400"/>
                                        <p:tgtEl>
                                          <p:spTgt spid="13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41"/>
                                        </p:tgtEl>
                                        <p:attrNameLst>
                                          <p:attrName>style.visibility</p:attrName>
                                        </p:attrNameLst>
                                      </p:cBhvr>
                                      <p:to>
                                        <p:strVal val="visible"/>
                                      </p:to>
                                    </p:set>
                                    <p:animEffect filter="fade" transition="in">
                                      <p:cBhvr>
                                        <p:cTn id="16" dur="400"/>
                                        <p:tgtEl>
                                          <p:spTgt spid="141"/>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40"/>
                                        </p:tgtEl>
                                        <p:attrNameLst>
                                          <p:attrName>style.visibility</p:attrName>
                                        </p:attrNameLst>
                                      </p:cBhvr>
                                      <p:to>
                                        <p:strVal val="visible"/>
                                      </p:to>
                                    </p:set>
                                    <p:animEffect filter="fade" transition="in">
                                      <p:cBhvr>
                                        <p:cTn id="21" dur="400"/>
                                        <p:tgtEl>
                                          <p:spTgt spid="140"/>
                                        </p:tgtEl>
                                      </p:cBhvr>
                                    </p:animEffect>
                                  </p:childTnLst>
                                </p:cTn>
                              </p:par>
                            </p:childTnLst>
                          </p:cTn>
                        </p:par>
                      </p:childTnLst>
                    </p:cTn>
                  </p:par>
                  <p:par>
                    <p:cTn id="22" fill="hold">
                      <p:stCondLst>
                        <p:cond delay="indefinite"/>
                      </p:stCondLst>
                      <p:childTnLst>
                        <p:par>
                          <p:cTn id="23" fill="hold">
                            <p:stCondLst>
                              <p:cond delay="0"/>
                            </p:stCondLst>
                            <p:childTnLst>
                              <p:par>
                                <p:cTn id="24" presetClass="mediacall" nodeType="clickEffect" presetSubtype="0" presetID="3" grpId="1" fill="hold">
                                  <p:stCondLst>
                                    <p:cond delay="0"/>
                                  </p:stCondLst>
                                  <p:childTnLst>
                                    <p:cmd type="call" cmd="stop">
                                      <p:cBhvr>
                                        <p:cTn id="25" dur="1000" fill="hold"/>
                                        <p:tgtEl>
                                          <p:spTgt spid="120"/>
                                        </p:tgtEl>
                                      </p:cBhvr>
                                    </p:cmd>
                                  </p:childTnLst>
                                </p:cTn>
                              </p:par>
                            </p:childTnLst>
                          </p:cTn>
                        </p:par>
                      </p:childTnLst>
                    </p:cTn>
                  </p:par>
                  <p:par>
                    <p:cTn id="26" fill="hold">
                      <p:stCondLst>
                        <p:cond delay="indefinite"/>
                      </p:stCondLst>
                      <p:childTnLst>
                        <p:par>
                          <p:cTn id="27" fill="hold">
                            <p:stCondLst>
                              <p:cond delay="0"/>
                            </p:stCondLst>
                            <p:childTnLst>
                              <p:par>
                                <p:cTn id="28" presetClass="entr" nodeType="clickEffect" presetSubtype="16" presetID="23" grpId="5" fill="hold">
                                  <p:stCondLst>
                                    <p:cond delay="0"/>
                                  </p:stCondLst>
                                  <p:iterate type="el" backwards="0">
                                    <p:tmAbs val="0"/>
                                  </p:iterate>
                                  <p:childTnLst>
                                    <p:set>
                                      <p:cBhvr>
                                        <p:cTn id="29" fill="hold"/>
                                        <p:tgtEl>
                                          <p:spTgt spid="144"/>
                                        </p:tgtEl>
                                        <p:attrNameLst>
                                          <p:attrName>style.visibility</p:attrName>
                                        </p:attrNameLst>
                                      </p:cBhvr>
                                      <p:to>
                                        <p:strVal val="visible"/>
                                      </p:to>
                                    </p:set>
                                    <p:anim calcmode="lin" valueType="num">
                                      <p:cBhvr>
                                        <p:cTn id="30" dur="400" fill="hold"/>
                                        <p:tgtEl>
                                          <p:spTgt spid="144"/>
                                        </p:tgtEl>
                                        <p:attrNameLst>
                                          <p:attrName>ppt_w</p:attrName>
                                        </p:attrNameLst>
                                      </p:cBhvr>
                                      <p:tavLst>
                                        <p:tav tm="0">
                                          <p:val>
                                            <p:fltVal val="0"/>
                                          </p:val>
                                        </p:tav>
                                        <p:tav tm="100000">
                                          <p:val>
                                            <p:strVal val="#ppt_w"/>
                                          </p:val>
                                        </p:tav>
                                      </p:tavLst>
                                    </p:anim>
                                    <p:anim calcmode="lin" valueType="num">
                                      <p:cBhvr>
                                        <p:cTn id="31" dur="400" fill="hold"/>
                                        <p:tgtEl>
                                          <p:spTgt spid="14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2" fill="hold" display="0">
                  <p:stCondLst>
                    <p:cond delay="indefinite"/>
                  </p:stCondLst>
                </p:cTn>
                <p:tgtEl>
                  <p:spTgt spid="120"/>
                </p:tgtEl>
              </p:cMediaNode>
            </p:video>
            <p:seq concurrent="1" prevAc="none" nextAc="seek">
              <p:cTn id="33" evtFilter="cancelBubble" nodeType="interactiveSeq" restart="whenNotActive" fill="hold">
                <p:stCondLst>
                  <p:cond delay="0" evt="onClick">
                    <p:tgtEl>
                      <p:spTgt spid="120"/>
                    </p:tgtEl>
                  </p:cond>
                </p:stCondLst>
                <p:endSync delay="0" evt="end">
                  <p:rtn val="all"/>
                </p:endSync>
                <p:childTnLst>
                  <p:par>
                    <p:cTn id="34" fill="hold">
                      <p:stCondLst>
                        <p:cond delay="0"/>
                      </p:stCondLst>
                      <p:childTnLst>
                        <p:par>
                          <p:cTn id="35" fill="hold">
                            <p:stCondLst>
                              <p:cond delay="0"/>
                            </p:stCondLst>
                            <p:childTnLst>
                              <p:par>
                                <p:cTn id="36" presetClass="mediacall" nodeType="clickEffect" presetSubtype="0" presetID="2" fill="hold">
                                  <p:stCondLst>
                                    <p:cond delay="0"/>
                                  </p:stCondLst>
                                  <p:childTnLst>
                                    <p:cmd type="call" cmd="togglePause">
                                      <p:cBhvr>
                                        <p:cTn id="37" dur="1" fill="hold"/>
                                        <p:tgtEl>
                                          <p:spTgt spid="120"/>
                                        </p:tgtEl>
                                      </p:cBhvr>
                                    </p:cmd>
                                  </p:childTnLst>
                                </p:cTn>
                              </p:par>
                            </p:childTnLst>
                          </p:cTn>
                        </p:par>
                      </p:childTnLst>
                    </p:cTn>
                  </p:par>
                </p:childTnLst>
              </p:cTn>
              <p:nextCondLst>
                <p:cond delay="0" evt="onClick">
                  <p:tgtEl>
                    <p:spTgt spid="120"/>
                  </p:tgtEl>
                </p:cond>
              </p:nextCondLst>
            </p:seq>
          </p:childTnLst>
        </p:cTn>
      </p:par>
    </p:tnLst>
    <p:bldLst>
      <p:bldP build="whole" bldLvl="1" animBg="1" rev="0" advAuto="0" spid="132" grpId="2"/>
      <p:bldP build="whole" bldLvl="1" animBg="1" rev="0" advAuto="0" spid="144" grpId="5"/>
      <p:bldP build="whole" bldLvl="1" animBg="1" rev="0" advAuto="0" spid="141" grpId="3"/>
      <p:bldP build="whole" bldLvl="1" animBg="1" rev="0" advAuto="0" spid="140" grpId="4"/>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14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151" name="phase_pill"/>
          <p:cNvGrpSpPr/>
          <p:nvPr/>
        </p:nvGrpSpPr>
        <p:grpSpPr>
          <a:xfrm>
            <a:off x="1170432" y="310894"/>
            <a:ext cx="1623977" cy="329188"/>
            <a:chOff x="0" y="0"/>
            <a:chExt cx="1623976" cy="329186"/>
          </a:xfrm>
        </p:grpSpPr>
        <p:sp>
          <p:nvSpPr>
            <p:cNvPr id="149" name="Rounded Rectangle"/>
            <p:cNvSpPr/>
            <p:nvPr/>
          </p:nvSpPr>
          <p:spPr>
            <a:xfrm>
              <a:off x="-1" y="-1"/>
              <a:ext cx="1623978"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j-lt"/>
                  <a:ea typeface="+mj-ea"/>
                  <a:cs typeface="+mj-cs"/>
                  <a:sym typeface="Calibri"/>
                </a:defRPr>
              </a:pPr>
            </a:p>
          </p:txBody>
        </p:sp>
        <p:sp>
          <p:nvSpPr>
            <p:cNvPr id="150" name="I DO · 3 MIN"/>
            <p:cNvSpPr txBox="1"/>
            <p:nvPr/>
          </p:nvSpPr>
          <p:spPr>
            <a:xfrm>
              <a:off x="42851" y="90677"/>
              <a:ext cx="1538273"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52"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5395C"/>
                </a:solidFill>
                <a:latin typeface="Georgia"/>
                <a:ea typeface="Georgia"/>
                <a:cs typeface="Georgia"/>
                <a:sym typeface="Georgia"/>
              </a:defRPr>
            </a:lvl1pPr>
          </a:lstStyle>
          <a:p>
            <a:pPr/>
            <a:r>
              <a:t>Keep everything else the same. Then do it again.</a:t>
            </a:r>
          </a:p>
        </p:txBody>
      </p:sp>
      <p:grpSp>
        <p:nvGrpSpPr>
          <p:cNvPr id="158" name="ctrl"/>
          <p:cNvGrpSpPr/>
          <p:nvPr/>
        </p:nvGrpSpPr>
        <p:grpSpPr>
          <a:xfrm>
            <a:off x="1170431" y="2103120"/>
            <a:ext cx="5099155" cy="2597630"/>
            <a:chOff x="0" y="0"/>
            <a:chExt cx="5099153" cy="2597629"/>
          </a:xfrm>
        </p:grpSpPr>
        <p:sp>
          <p:nvSpPr>
            <p:cNvPr id="153" name="ctrl_bg"/>
            <p:cNvSpPr/>
            <p:nvPr/>
          </p:nvSpPr>
          <p:spPr>
            <a:xfrm>
              <a:off x="-1" y="0"/>
              <a:ext cx="5099155" cy="2597630"/>
            </a:xfrm>
            <a:prstGeom prst="roundRect">
              <a:avLst>
                <a:gd name="adj" fmla="val 3521"/>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pic>
          <p:nvPicPr>
            <p:cNvPr id="154" name="ctrl_icon" descr="ctrl_icon"/>
            <p:cNvPicPr>
              <a:picLocks noChangeAspect="1"/>
            </p:cNvPicPr>
            <p:nvPr/>
          </p:nvPicPr>
          <p:blipFill>
            <a:blip r:embed="rId6">
              <a:extLst/>
            </a:blip>
            <a:stretch>
              <a:fillRect/>
            </a:stretch>
          </p:blipFill>
          <p:spPr>
            <a:xfrm>
              <a:off x="219454" y="182880"/>
              <a:ext cx="384051" cy="384050"/>
            </a:xfrm>
            <a:prstGeom prst="rect">
              <a:avLst/>
            </a:prstGeom>
            <a:ln w="12700" cap="flat">
              <a:noFill/>
              <a:miter lim="400000"/>
            </a:ln>
            <a:effectLst/>
          </p:spPr>
        </p:pic>
        <p:sp>
          <p:nvSpPr>
            <p:cNvPr id="155" name="ctrl_h"/>
            <p:cNvSpPr txBox="1"/>
            <p:nvPr/>
          </p:nvSpPr>
          <p:spPr>
            <a:xfrm>
              <a:off x="731520" y="263397"/>
              <a:ext cx="4184753"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15395C"/>
                  </a:solidFill>
                  <a:latin typeface="Georgia"/>
                  <a:ea typeface="Georgia"/>
                  <a:cs typeface="Georgia"/>
                  <a:sym typeface="Georgia"/>
                </a:defRPr>
              </a:lvl1pPr>
            </a:lstStyle>
            <a:p>
              <a:pPr/>
              <a:r>
                <a:t>CONTROLLED VARIABLES</a:t>
              </a:r>
            </a:p>
          </p:txBody>
        </p:sp>
        <p:sp>
          <p:nvSpPr>
            <p:cNvPr id="156" name="ctrl_def"/>
            <p:cNvSpPr txBox="1"/>
            <p:nvPr/>
          </p:nvSpPr>
          <p:spPr>
            <a:xfrm>
              <a:off x="219456" y="694944"/>
              <a:ext cx="4660241" cy="4491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0E2A40"/>
                  </a:solidFill>
                  <a:latin typeface="Arial"/>
                  <a:ea typeface="Arial"/>
                  <a:cs typeface="Arial"/>
                  <a:sym typeface="Arial"/>
                </a:defRPr>
              </a:lvl1pPr>
            </a:lstStyle>
            <a:p>
              <a:pPr/>
              <a:r>
                <a:t>Kept exactly the same, so they cannot be the reason for the result.</a:t>
              </a:r>
            </a:p>
          </p:txBody>
        </p:sp>
        <p:sp>
          <p:nvSpPr>
            <p:cNvPr id="157" name="ctrl_list"/>
            <p:cNvSpPr txBox="1"/>
            <p:nvPr/>
          </p:nvSpPr>
          <p:spPr>
            <a:xfrm>
              <a:off x="219456" y="1243584"/>
              <a:ext cx="4660241" cy="12541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2000"/>
                </a:lnSpc>
                <a:defRPr sz="1300">
                  <a:solidFill>
                    <a:srgbClr val="55708A"/>
                  </a:solidFill>
                  <a:latin typeface="Arial"/>
                  <a:ea typeface="Arial"/>
                  <a:cs typeface="Arial"/>
                  <a:sym typeface="Arial"/>
                </a:defRPr>
              </a:pPr>
              <a:r>
                <a:t>For the paper aeroplane:</a:t>
              </a:r>
            </a:p>
            <a:p>
              <a:pPr>
                <a:lnSpc>
                  <a:spcPts val="2000"/>
                </a:lnSpc>
                <a:defRPr sz="1300">
                  <a:solidFill>
                    <a:srgbClr val="55708A"/>
                  </a:solidFill>
                  <a:latin typeface="Arial"/>
                  <a:ea typeface="Arial"/>
                  <a:cs typeface="Arial"/>
                  <a:sym typeface="Arial"/>
                </a:defRPr>
              </a:pPr>
              <a:r>
                <a:t>•  Same paper</a:t>
              </a:r>
            </a:p>
            <a:p>
              <a:pPr>
                <a:lnSpc>
                  <a:spcPts val="2000"/>
                </a:lnSpc>
                <a:defRPr sz="1300">
                  <a:solidFill>
                    <a:srgbClr val="55708A"/>
                  </a:solidFill>
                  <a:latin typeface="Arial"/>
                  <a:ea typeface="Arial"/>
                  <a:cs typeface="Arial"/>
                  <a:sym typeface="Arial"/>
                </a:defRPr>
              </a:pPr>
              <a:r>
                <a:t>•  Same fold</a:t>
              </a:r>
            </a:p>
            <a:p>
              <a:pPr>
                <a:lnSpc>
                  <a:spcPts val="2000"/>
                </a:lnSpc>
                <a:defRPr sz="1300">
                  <a:solidFill>
                    <a:srgbClr val="55708A"/>
                  </a:solidFill>
                  <a:latin typeface="Arial"/>
                  <a:ea typeface="Arial"/>
                  <a:cs typeface="Arial"/>
                  <a:sym typeface="Arial"/>
                </a:defRPr>
              </a:pPr>
              <a:r>
                <a:t>•  Same thrower</a:t>
              </a:r>
            </a:p>
            <a:p>
              <a:pPr>
                <a:lnSpc>
                  <a:spcPts val="2000"/>
                </a:lnSpc>
                <a:defRPr sz="1300">
                  <a:solidFill>
                    <a:srgbClr val="55708A"/>
                  </a:solidFill>
                  <a:latin typeface="Arial"/>
                  <a:ea typeface="Arial"/>
                  <a:cs typeface="Arial"/>
                  <a:sym typeface="Arial"/>
                </a:defRPr>
              </a:pPr>
              <a:r>
                <a:t>•  Same launch height</a:t>
              </a:r>
            </a:p>
          </p:txBody>
        </p:sp>
      </p:grpSp>
      <p:grpSp>
        <p:nvGrpSpPr>
          <p:cNvPr id="164" name="rep"/>
          <p:cNvGrpSpPr/>
          <p:nvPr/>
        </p:nvGrpSpPr>
        <p:grpSpPr>
          <a:xfrm>
            <a:off x="6543903" y="2103120"/>
            <a:ext cx="5099154" cy="2597074"/>
            <a:chOff x="0" y="0"/>
            <a:chExt cx="5099153" cy="2597073"/>
          </a:xfrm>
        </p:grpSpPr>
        <p:sp>
          <p:nvSpPr>
            <p:cNvPr id="159" name="rep_bg"/>
            <p:cNvSpPr/>
            <p:nvPr/>
          </p:nvSpPr>
          <p:spPr>
            <a:xfrm>
              <a:off x="0" y="0"/>
              <a:ext cx="5099154" cy="2597074"/>
            </a:xfrm>
            <a:prstGeom prst="roundRect">
              <a:avLst>
                <a:gd name="adj" fmla="val 3521"/>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pic>
          <p:nvPicPr>
            <p:cNvPr id="160" name="rep_icon" descr="rep_icon"/>
            <p:cNvPicPr>
              <a:picLocks noChangeAspect="1"/>
            </p:cNvPicPr>
            <p:nvPr/>
          </p:nvPicPr>
          <p:blipFill>
            <a:blip r:embed="rId7">
              <a:extLst/>
            </a:blip>
            <a:stretch>
              <a:fillRect/>
            </a:stretch>
          </p:blipFill>
          <p:spPr>
            <a:xfrm>
              <a:off x="219455" y="182880"/>
              <a:ext cx="384050" cy="384050"/>
            </a:xfrm>
            <a:prstGeom prst="rect">
              <a:avLst/>
            </a:prstGeom>
            <a:ln w="12700" cap="flat">
              <a:noFill/>
              <a:miter lim="400000"/>
            </a:ln>
            <a:effectLst/>
          </p:spPr>
        </p:pic>
        <p:sp>
          <p:nvSpPr>
            <p:cNvPr id="161" name="rep_h"/>
            <p:cNvSpPr txBox="1"/>
            <p:nvPr/>
          </p:nvSpPr>
          <p:spPr>
            <a:xfrm>
              <a:off x="731520" y="263397"/>
              <a:ext cx="4184754"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15395C"/>
                  </a:solidFill>
                  <a:latin typeface="Georgia"/>
                  <a:ea typeface="Georgia"/>
                  <a:cs typeface="Georgia"/>
                  <a:sym typeface="Georgia"/>
                </a:defRPr>
              </a:lvl1pPr>
            </a:lstStyle>
            <a:p>
              <a:pPr/>
              <a:r>
                <a:t>REPLICATION</a:t>
              </a:r>
            </a:p>
          </p:txBody>
        </p:sp>
        <p:sp>
          <p:nvSpPr>
            <p:cNvPr id="162" name="rep_def"/>
            <p:cNvSpPr txBox="1"/>
            <p:nvPr/>
          </p:nvSpPr>
          <p:spPr>
            <a:xfrm>
              <a:off x="219456" y="694943"/>
              <a:ext cx="4660243" cy="4491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0E2A40"/>
                  </a:solidFill>
                  <a:latin typeface="Arial"/>
                  <a:ea typeface="Arial"/>
                  <a:cs typeface="Arial"/>
                  <a:sym typeface="Arial"/>
                </a:defRPr>
              </a:lvl1pPr>
            </a:lstStyle>
            <a:p>
              <a:pPr/>
              <a:r>
                <a:t>Repeat the test and take an average, so one strange result does not fool you.</a:t>
              </a:r>
            </a:p>
          </p:txBody>
        </p:sp>
        <p:sp>
          <p:nvSpPr>
            <p:cNvPr id="163" name="rep_note"/>
            <p:cNvSpPr txBox="1"/>
            <p:nvPr/>
          </p:nvSpPr>
          <p:spPr>
            <a:xfrm>
              <a:off x="219456" y="1517903"/>
              <a:ext cx="4660243" cy="675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300">
                  <a:solidFill>
                    <a:srgbClr val="55708A"/>
                  </a:solidFill>
                  <a:latin typeface="Arial"/>
                  <a:ea typeface="Arial"/>
                  <a:cs typeface="Arial"/>
                  <a:sym typeface="Arial"/>
                </a:defRPr>
              </a:lvl1pPr>
            </a:lstStyle>
            <a:p>
              <a:pPr/>
              <a:r>
                <a:t>Throw the same aeroplane three times. If two throws land near each other and one lands far off, that one throw is the fluke, not the pattern.</a:t>
              </a:r>
            </a:p>
          </p:txBody>
        </p:sp>
      </p:grpSp>
      <p:grpSp>
        <p:nvGrpSpPr>
          <p:cNvPr id="167" name="obj_banner"/>
          <p:cNvGrpSpPr/>
          <p:nvPr/>
        </p:nvGrpSpPr>
        <p:grpSpPr>
          <a:xfrm>
            <a:off x="1170431" y="4875140"/>
            <a:ext cx="10472626" cy="640083"/>
            <a:chOff x="0" y="0"/>
            <a:chExt cx="10472624" cy="640082"/>
          </a:xfrm>
        </p:grpSpPr>
        <p:sp>
          <p:nvSpPr>
            <p:cNvPr id="165" name="Rounded Rectangle"/>
            <p:cNvSpPr/>
            <p:nvPr/>
          </p:nvSpPr>
          <p:spPr>
            <a:xfrm>
              <a:off x="-1" y="-1"/>
              <a:ext cx="10472626" cy="640083"/>
            </a:xfrm>
            <a:prstGeom prst="roundRect">
              <a:avLst>
                <a:gd name="adj" fmla="val 17143"/>
              </a:avLst>
            </a:prstGeom>
            <a:solidFill>
              <a:srgbClr val="15395C"/>
            </a:solidFill>
            <a:ln w="9525" cap="flat">
              <a:solidFill>
                <a:srgbClr val="15395C"/>
              </a:solidFill>
              <a:prstDash val="solid"/>
              <a:round/>
            </a:ln>
            <a:effectLst/>
          </p:spPr>
          <p:txBody>
            <a:bodyPr wrap="square" lIns="45718" tIns="45718" rIns="45718" bIns="45718" numCol="1" anchor="ctr">
              <a:noAutofit/>
            </a:bodyPr>
            <a:lstStyle/>
            <a:p>
              <a:pPr algn="ctr">
                <a:defRPr sz="1600">
                  <a:latin typeface="+mj-lt"/>
                  <a:ea typeface="+mj-ea"/>
                  <a:cs typeface="+mj-cs"/>
                  <a:sym typeface="Calibri"/>
                </a:defRPr>
              </a:pPr>
            </a:p>
          </p:txBody>
        </p:sp>
        <p:sp>
          <p:nvSpPr>
            <p:cNvPr id="166" name="One thing changes. One thing is measured. Everything else stays the same."/>
            <p:cNvSpPr txBox="1"/>
            <p:nvPr/>
          </p:nvSpPr>
          <p:spPr>
            <a:xfrm>
              <a:off x="36901" y="209063"/>
              <a:ext cx="10398822"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D921"/>
                  </a:solidFill>
                  <a:latin typeface="Arial"/>
                  <a:ea typeface="Arial"/>
                  <a:cs typeface="Arial"/>
                  <a:sym typeface="Arial"/>
                </a:defRPr>
              </a:lvl1pPr>
            </a:lstStyle>
            <a:p>
              <a:pPr/>
              <a:r>
                <a:t>Take an experiment you want to do, and write down its control variables.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4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58"/>
                                        </p:tgtEl>
                                        <p:attrNameLst>
                                          <p:attrName>style.visibility</p:attrName>
                                        </p:attrNameLst>
                                      </p:cBhvr>
                                      <p:to>
                                        <p:strVal val="visible"/>
                                      </p:to>
                                    </p:set>
                                    <p:animEffect filter="fade" transition="in">
                                      <p:cBhvr>
                                        <p:cTn id="11" dur="400"/>
                                        <p:tgtEl>
                                          <p:spTgt spid="15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64"/>
                                        </p:tgtEl>
                                        <p:attrNameLst>
                                          <p:attrName>style.visibility</p:attrName>
                                        </p:attrNameLst>
                                      </p:cBhvr>
                                      <p:to>
                                        <p:strVal val="visible"/>
                                      </p:to>
                                    </p:set>
                                    <p:animEffect filter="fade" transition="in">
                                      <p:cBhvr>
                                        <p:cTn id="16" dur="400"/>
                                        <p:tgtEl>
                                          <p:spTgt spid="164"/>
                                        </p:tgtEl>
                                      </p:cBhvr>
                                    </p:animEffect>
                                  </p:childTnLst>
                                </p:cTn>
                              </p:par>
                            </p:childTnLst>
                          </p:cTn>
                        </p:par>
                      </p:childTnLst>
                    </p:cTn>
                  </p:par>
                  <p:par>
                    <p:cTn id="17" fill="hold">
                      <p:stCondLst>
                        <p:cond delay="indefinite"/>
                      </p:stCondLst>
                      <p:childTnLst>
                        <p:par>
                          <p:cTn id="18" fill="hold">
                            <p:stCondLst>
                              <p:cond delay="0"/>
                            </p:stCondLst>
                            <p:childTnLst>
                              <p:par>
                                <p:cTn id="19" presetClass="mediacall" nodeType="clickEffect" presetSubtype="0" presetID="3" grpId="1" fill="hold">
                                  <p:stCondLst>
                                    <p:cond delay="0"/>
                                  </p:stCondLst>
                                  <p:childTnLst>
                                    <p:cmd type="call" cmd="stop">
                                      <p:cBhvr>
                                        <p:cTn id="20" dur="1000" fill="hold"/>
                                        <p:tgtEl>
                                          <p:spTgt spid="148"/>
                                        </p:tgtEl>
                                      </p:cBhvr>
                                    </p:cmd>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16" presetID="23" grpId="4" fill="hold">
                                  <p:stCondLst>
                                    <p:cond delay="0"/>
                                  </p:stCondLst>
                                  <p:iterate type="el" backwards="0">
                                    <p:tmAbs val="0"/>
                                  </p:iterate>
                                  <p:childTnLst>
                                    <p:set>
                                      <p:cBhvr>
                                        <p:cTn id="24" fill="hold"/>
                                        <p:tgtEl>
                                          <p:spTgt spid="167"/>
                                        </p:tgtEl>
                                        <p:attrNameLst>
                                          <p:attrName>style.visibility</p:attrName>
                                        </p:attrNameLst>
                                      </p:cBhvr>
                                      <p:to>
                                        <p:strVal val="visible"/>
                                      </p:to>
                                    </p:set>
                                    <p:anim calcmode="lin" valueType="num">
                                      <p:cBhvr>
                                        <p:cTn id="25" dur="400" fill="hold"/>
                                        <p:tgtEl>
                                          <p:spTgt spid="167"/>
                                        </p:tgtEl>
                                        <p:attrNameLst>
                                          <p:attrName>ppt_w</p:attrName>
                                        </p:attrNameLst>
                                      </p:cBhvr>
                                      <p:tavLst>
                                        <p:tav tm="0">
                                          <p:val>
                                            <p:fltVal val="0"/>
                                          </p:val>
                                        </p:tav>
                                        <p:tav tm="100000">
                                          <p:val>
                                            <p:strVal val="#ppt_w"/>
                                          </p:val>
                                        </p:tav>
                                      </p:tavLst>
                                    </p:anim>
                                    <p:anim calcmode="lin" valueType="num">
                                      <p:cBhvr>
                                        <p:cTn id="26" dur="400" fill="hold"/>
                                        <p:tgtEl>
                                          <p:spTgt spid="16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148"/>
                </p:tgtEl>
              </p:cMediaNode>
            </p:video>
            <p:seq concurrent="1" prevAc="none" nextAc="seek">
              <p:cTn id="28" evtFilter="cancelBubble" nodeType="interactiveSeq" restart="whenNotActive" fill="hold">
                <p:stCondLst>
                  <p:cond delay="0" evt="onClick">
                    <p:tgtEl>
                      <p:spTgt spid="148"/>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148"/>
                                        </p:tgtEl>
                                      </p:cBhvr>
                                    </p:cmd>
                                  </p:childTnLst>
                                </p:cTn>
                              </p:par>
                            </p:childTnLst>
                          </p:cTn>
                        </p:par>
                      </p:childTnLst>
                    </p:cTn>
                  </p:par>
                </p:childTnLst>
              </p:cTn>
              <p:nextCondLst>
                <p:cond delay="0" evt="onClick">
                  <p:tgtEl>
                    <p:spTgt spid="148"/>
                  </p:tgtEl>
                </p:cond>
              </p:nextCondLst>
            </p:seq>
          </p:childTnLst>
        </p:cTn>
      </p:par>
    </p:tnLst>
    <p:bldLst>
      <p:bldP build="whole" bldLvl="1" animBg="1" rev="0" advAuto="0" spid="167" grpId="4"/>
      <p:bldP build="whole" bldLvl="1" animBg="1" rev="0" advAuto="0" spid="158" grpId="2"/>
      <p:bldP build="whole" bldLvl="1" animBg="1" rev="0" advAuto="0" spid="164" grpId="3"/>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17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174" name="phase_pill"/>
          <p:cNvGrpSpPr/>
          <p:nvPr/>
        </p:nvGrpSpPr>
        <p:grpSpPr>
          <a:xfrm>
            <a:off x="1170431" y="310894"/>
            <a:ext cx="1713589" cy="329188"/>
            <a:chOff x="0" y="0"/>
            <a:chExt cx="1713587" cy="329186"/>
          </a:xfrm>
        </p:grpSpPr>
        <p:sp>
          <p:nvSpPr>
            <p:cNvPr id="172" name="Rounded Rectangle"/>
            <p:cNvSpPr/>
            <p:nvPr/>
          </p:nvSpPr>
          <p:spPr>
            <a:xfrm>
              <a:off x="-1" y="-1"/>
              <a:ext cx="1713588"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j-lt"/>
                  <a:ea typeface="+mj-ea"/>
                  <a:cs typeface="+mj-cs"/>
                  <a:sym typeface="Calibri"/>
                </a:defRPr>
              </a:pPr>
            </a:p>
          </p:txBody>
        </p:sp>
        <p:sp>
          <p:nvSpPr>
            <p:cNvPr id="173" name="WE DO · 5 MIN"/>
            <p:cNvSpPr txBox="1"/>
            <p:nvPr/>
          </p:nvSpPr>
          <p:spPr>
            <a:xfrm>
              <a:off x="42850" y="90677"/>
              <a:ext cx="1627885"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75"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5395C"/>
                </a:solidFill>
                <a:latin typeface="Georgia"/>
                <a:ea typeface="Georgia"/>
                <a:cs typeface="Georgia"/>
                <a:sym typeface="Georgia"/>
              </a:defRPr>
            </a:lvl1pPr>
          </a:lstStyle>
          <a:p>
            <a:pPr/>
            <a:r>
              <a:t>What should be the correct answer?</a:t>
            </a:r>
          </a:p>
        </p:txBody>
      </p:sp>
      <p:sp>
        <p:nvSpPr>
          <p:cNvPr id="176" name="slide_sub"/>
          <p:cNvSpPr txBox="1"/>
          <p:nvPr/>
        </p:nvSpPr>
        <p:spPr>
          <a:xfrm>
            <a:off x="1170432" y="1644670"/>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55708A"/>
                </a:solidFill>
                <a:latin typeface="Arial"/>
                <a:ea typeface="Arial"/>
                <a:cs typeface="Arial"/>
                <a:sym typeface="Arial"/>
              </a:defRPr>
            </a:lvl1pPr>
          </a:lstStyle>
          <a:p>
            <a:pPr/>
            <a:r>
              <a:t>Spot the mistake.</a:t>
            </a:r>
          </a:p>
        </p:txBody>
      </p:sp>
      <p:sp>
        <p:nvSpPr>
          <p:cNvPr id="177" name="wd0_bg"/>
          <p:cNvSpPr/>
          <p:nvPr/>
        </p:nvSpPr>
        <p:spPr>
          <a:xfrm>
            <a:off x="1170432" y="2322576"/>
            <a:ext cx="10472623" cy="841250"/>
          </a:xfrm>
          <a:prstGeom prst="roundRect">
            <a:avLst>
              <a:gd name="adj" fmla="val 10870"/>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178" name="wd0_q"/>
          <p:cNvSpPr txBox="1"/>
          <p:nvPr/>
        </p:nvSpPr>
        <p:spPr>
          <a:xfrm>
            <a:off x="1426462" y="2627839"/>
            <a:ext cx="6035044" cy="2307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400">
                <a:solidFill>
                  <a:srgbClr val="0E2A40"/>
                </a:solidFill>
                <a:latin typeface="Arial"/>
                <a:ea typeface="Arial"/>
                <a:cs typeface="Arial"/>
                <a:sym typeface="Arial"/>
              </a:defRPr>
            </a:lvl1pPr>
          </a:lstStyle>
          <a:p>
            <a:pPr/>
            <a:r>
              <a:t>"In the plant test, the dependent variable is the amount of sunlight."</a:t>
            </a:r>
          </a:p>
        </p:txBody>
      </p:sp>
      <p:grpSp>
        <p:nvGrpSpPr>
          <p:cNvPr id="181" name="wd0_a"/>
          <p:cNvGrpSpPr/>
          <p:nvPr/>
        </p:nvGrpSpPr>
        <p:grpSpPr>
          <a:xfrm>
            <a:off x="7662671" y="2414016"/>
            <a:ext cx="3888945" cy="658371"/>
            <a:chOff x="0" y="0"/>
            <a:chExt cx="3888944" cy="658370"/>
          </a:xfrm>
        </p:grpSpPr>
        <p:sp>
          <p:nvSpPr>
            <p:cNvPr id="179" name="Rounded Rectangle"/>
            <p:cNvSpPr/>
            <p:nvPr/>
          </p:nvSpPr>
          <p:spPr>
            <a:xfrm>
              <a:off x="0" y="-1"/>
              <a:ext cx="3888945" cy="658372"/>
            </a:xfrm>
            <a:prstGeom prst="roundRect">
              <a:avLst>
                <a:gd name="adj" fmla="val 13889"/>
              </a:avLst>
            </a:prstGeom>
            <a:solidFill>
              <a:srgbClr val="FDF3DC"/>
            </a:solidFill>
            <a:ln w="19050" cap="flat">
              <a:solidFill>
                <a:srgbClr val="CD312F"/>
              </a:solidFill>
              <a:prstDash val="solid"/>
              <a:round/>
            </a:ln>
            <a:effectLst/>
          </p:spPr>
          <p:txBody>
            <a:bodyPr wrap="square" lIns="45718" tIns="45718" rIns="45718" bIns="45718" numCol="1" anchor="ctr">
              <a:noAutofit/>
            </a:bodyPr>
            <a:lstStyle/>
            <a:p>
              <a:pPr algn="ctr">
                <a:defRPr sz="1300">
                  <a:latin typeface="+mj-lt"/>
                  <a:ea typeface="+mj-ea"/>
                  <a:cs typeface="+mj-cs"/>
                  <a:sym typeface="Calibri"/>
                </a:defRPr>
              </a:pPr>
            </a:p>
          </p:txBody>
        </p:sp>
        <p:sp>
          <p:nvSpPr>
            <p:cNvPr id="180" name="Sunlight is changed. Plant height is the dependent variable."/>
            <p:cNvSpPr txBox="1"/>
            <p:nvPr/>
          </p:nvSpPr>
          <p:spPr>
            <a:xfrm>
              <a:off x="36307" y="140622"/>
              <a:ext cx="3816330" cy="3771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300">
                  <a:solidFill>
                    <a:srgbClr val="15395C"/>
                  </a:solidFill>
                  <a:latin typeface="Arial"/>
                  <a:ea typeface="Arial"/>
                  <a:cs typeface="Arial"/>
                  <a:sym typeface="Arial"/>
                </a:defRPr>
              </a:lvl1pPr>
            </a:lstStyle>
            <a:p>
              <a:pPr/>
              <a:r>
                <a:t>Sunlight is changed. Plant height is the dependent variable.</a:t>
              </a:r>
            </a:p>
          </p:txBody>
        </p:sp>
      </p:grpSp>
      <p:sp>
        <p:nvSpPr>
          <p:cNvPr id="182" name="wd1_bg"/>
          <p:cNvSpPr/>
          <p:nvPr/>
        </p:nvSpPr>
        <p:spPr>
          <a:xfrm>
            <a:off x="1170432" y="3346703"/>
            <a:ext cx="10472623" cy="841250"/>
          </a:xfrm>
          <a:prstGeom prst="roundRect">
            <a:avLst>
              <a:gd name="adj" fmla="val 10870"/>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183" name="wd1_q"/>
          <p:cNvSpPr txBox="1"/>
          <p:nvPr/>
        </p:nvSpPr>
        <p:spPr>
          <a:xfrm>
            <a:off x="1426462" y="3651968"/>
            <a:ext cx="6035044" cy="2307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400">
                <a:solidFill>
                  <a:srgbClr val="0E2A40"/>
                </a:solidFill>
                <a:latin typeface="Arial"/>
                <a:ea typeface="Arial"/>
                <a:cs typeface="Arial"/>
                <a:sym typeface="Arial"/>
              </a:defRPr>
            </a:lvl1pPr>
          </a:lstStyle>
          <a:p>
            <a:pPr/>
            <a:r>
              <a:t>"For the aeroplane test, I will use a different thrower each time to save time."</a:t>
            </a:r>
          </a:p>
        </p:txBody>
      </p:sp>
      <p:grpSp>
        <p:nvGrpSpPr>
          <p:cNvPr id="186" name="wd1_a"/>
          <p:cNvGrpSpPr/>
          <p:nvPr/>
        </p:nvGrpSpPr>
        <p:grpSpPr>
          <a:xfrm>
            <a:off x="7662671" y="3438144"/>
            <a:ext cx="3888945" cy="658371"/>
            <a:chOff x="0" y="0"/>
            <a:chExt cx="3888944" cy="658370"/>
          </a:xfrm>
        </p:grpSpPr>
        <p:sp>
          <p:nvSpPr>
            <p:cNvPr id="184" name="Rounded Rectangle"/>
            <p:cNvSpPr/>
            <p:nvPr/>
          </p:nvSpPr>
          <p:spPr>
            <a:xfrm>
              <a:off x="0" y="-1"/>
              <a:ext cx="3888945" cy="658372"/>
            </a:xfrm>
            <a:prstGeom prst="roundRect">
              <a:avLst>
                <a:gd name="adj" fmla="val 13889"/>
              </a:avLst>
            </a:prstGeom>
            <a:solidFill>
              <a:srgbClr val="FDF3DC"/>
            </a:solidFill>
            <a:ln w="19050" cap="flat">
              <a:solidFill>
                <a:srgbClr val="CD312F"/>
              </a:solidFill>
              <a:prstDash val="solid"/>
              <a:round/>
            </a:ln>
            <a:effectLst/>
          </p:spPr>
          <p:txBody>
            <a:bodyPr wrap="square" lIns="45718" tIns="45718" rIns="45718" bIns="45718" numCol="1" anchor="ctr">
              <a:noAutofit/>
            </a:bodyPr>
            <a:lstStyle/>
            <a:p>
              <a:pPr algn="ctr">
                <a:defRPr sz="1300">
                  <a:latin typeface="+mj-lt"/>
                  <a:ea typeface="+mj-ea"/>
                  <a:cs typeface="+mj-cs"/>
                  <a:sym typeface="Calibri"/>
                </a:defRPr>
              </a:pPr>
            </a:p>
          </p:txBody>
        </p:sp>
        <p:sp>
          <p:nvSpPr>
            <p:cNvPr id="185" name="The thrower should be controlled: the same person, every time."/>
            <p:cNvSpPr txBox="1"/>
            <p:nvPr/>
          </p:nvSpPr>
          <p:spPr>
            <a:xfrm>
              <a:off x="36307" y="140622"/>
              <a:ext cx="3816330" cy="3771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300">
                  <a:solidFill>
                    <a:srgbClr val="15395C"/>
                  </a:solidFill>
                  <a:latin typeface="Arial"/>
                  <a:ea typeface="Arial"/>
                  <a:cs typeface="Arial"/>
                  <a:sym typeface="Arial"/>
                </a:defRPr>
              </a:lvl1pPr>
            </a:lstStyle>
            <a:p>
              <a:pPr/>
              <a:r>
                <a:t>The thrower should be controlled: the same person, every time.</a:t>
              </a:r>
            </a:p>
          </p:txBody>
        </p:sp>
      </p:grpSp>
      <p:sp>
        <p:nvSpPr>
          <p:cNvPr id="187" name="wd2_bg"/>
          <p:cNvSpPr/>
          <p:nvPr/>
        </p:nvSpPr>
        <p:spPr>
          <a:xfrm>
            <a:off x="1170432" y="4370832"/>
            <a:ext cx="10472623" cy="841250"/>
          </a:xfrm>
          <a:prstGeom prst="roundRect">
            <a:avLst>
              <a:gd name="adj" fmla="val 10870"/>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188" name="wd2_q"/>
          <p:cNvSpPr txBox="1"/>
          <p:nvPr/>
        </p:nvSpPr>
        <p:spPr>
          <a:xfrm>
            <a:off x="1426462" y="4676095"/>
            <a:ext cx="6035044" cy="2307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400">
                <a:solidFill>
                  <a:srgbClr val="0E2A40"/>
                </a:solidFill>
                <a:latin typeface="Arial"/>
                <a:ea typeface="Arial"/>
                <a:cs typeface="Arial"/>
                <a:sym typeface="Arial"/>
              </a:defRPr>
            </a:lvl1pPr>
          </a:lstStyle>
          <a:p>
            <a:pPr/>
            <a:r>
              <a:t>"I only need to throw the plane once."</a:t>
            </a:r>
          </a:p>
        </p:txBody>
      </p:sp>
      <p:grpSp>
        <p:nvGrpSpPr>
          <p:cNvPr id="191" name="wd2_a"/>
          <p:cNvGrpSpPr/>
          <p:nvPr/>
        </p:nvGrpSpPr>
        <p:grpSpPr>
          <a:xfrm>
            <a:off x="7662671" y="4462271"/>
            <a:ext cx="3888945" cy="658371"/>
            <a:chOff x="0" y="0"/>
            <a:chExt cx="3888944" cy="658370"/>
          </a:xfrm>
        </p:grpSpPr>
        <p:sp>
          <p:nvSpPr>
            <p:cNvPr id="189" name="Rounded Rectangle"/>
            <p:cNvSpPr/>
            <p:nvPr/>
          </p:nvSpPr>
          <p:spPr>
            <a:xfrm>
              <a:off x="0" y="-1"/>
              <a:ext cx="3888945" cy="658372"/>
            </a:xfrm>
            <a:prstGeom prst="roundRect">
              <a:avLst>
                <a:gd name="adj" fmla="val 13889"/>
              </a:avLst>
            </a:prstGeom>
            <a:solidFill>
              <a:srgbClr val="FDF3DC"/>
            </a:solidFill>
            <a:ln w="19050" cap="flat">
              <a:solidFill>
                <a:srgbClr val="CD312F"/>
              </a:solidFill>
              <a:prstDash val="solid"/>
              <a:round/>
            </a:ln>
            <a:effectLst/>
          </p:spPr>
          <p:txBody>
            <a:bodyPr wrap="square" lIns="45718" tIns="45718" rIns="45718" bIns="45718" numCol="1" anchor="ctr">
              <a:noAutofit/>
            </a:bodyPr>
            <a:lstStyle/>
            <a:p>
              <a:pPr algn="ctr">
                <a:defRPr sz="1300">
                  <a:latin typeface="+mj-lt"/>
                  <a:ea typeface="+mj-ea"/>
                  <a:cs typeface="+mj-cs"/>
                  <a:sym typeface="Calibri"/>
                </a:defRPr>
              </a:pPr>
            </a:p>
          </p:txBody>
        </p:sp>
        <p:sp>
          <p:nvSpPr>
            <p:cNvPr id="190" name="Repeat the test and take an average."/>
            <p:cNvSpPr txBox="1"/>
            <p:nvPr/>
          </p:nvSpPr>
          <p:spPr>
            <a:xfrm>
              <a:off x="36307" y="235872"/>
              <a:ext cx="3816330" cy="1866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300">
                  <a:solidFill>
                    <a:srgbClr val="15395C"/>
                  </a:solidFill>
                  <a:latin typeface="Arial"/>
                  <a:ea typeface="Arial"/>
                  <a:cs typeface="Arial"/>
                  <a:sym typeface="Arial"/>
                </a:defRPr>
              </a:lvl1pPr>
            </a:lstStyle>
            <a:p>
              <a:pPr/>
              <a:r>
                <a:t>Repeat the test and take an average.</a:t>
              </a:r>
            </a:p>
          </p:txBody>
        </p:sp>
      </p:grpSp>
      <p:sp>
        <p:nvSpPr>
          <p:cNvPr id="192" name="wd3_bg"/>
          <p:cNvSpPr/>
          <p:nvPr/>
        </p:nvSpPr>
        <p:spPr>
          <a:xfrm>
            <a:off x="1170432" y="5394959"/>
            <a:ext cx="10472623" cy="841250"/>
          </a:xfrm>
          <a:prstGeom prst="roundRect">
            <a:avLst>
              <a:gd name="adj" fmla="val 10870"/>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193" name="wd3_q"/>
          <p:cNvSpPr txBox="1"/>
          <p:nvPr/>
        </p:nvSpPr>
        <p:spPr>
          <a:xfrm>
            <a:off x="1426462" y="5700224"/>
            <a:ext cx="6035044" cy="2307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400">
                <a:solidFill>
                  <a:srgbClr val="0E2A40"/>
                </a:solidFill>
                <a:latin typeface="Arial"/>
                <a:ea typeface="Arial"/>
                <a:cs typeface="Arial"/>
                <a:sym typeface="Arial"/>
              </a:defRPr>
            </a:lvl1pPr>
          </a:lstStyle>
          <a:p>
            <a:pPr/>
            <a:r>
              <a:t>"Controlled variables are the ones I want to find out."</a:t>
            </a:r>
          </a:p>
        </p:txBody>
      </p:sp>
      <p:grpSp>
        <p:nvGrpSpPr>
          <p:cNvPr id="196" name="wd3_a"/>
          <p:cNvGrpSpPr/>
          <p:nvPr/>
        </p:nvGrpSpPr>
        <p:grpSpPr>
          <a:xfrm>
            <a:off x="7662671" y="5486399"/>
            <a:ext cx="3888945" cy="658372"/>
            <a:chOff x="0" y="0"/>
            <a:chExt cx="3888944" cy="658370"/>
          </a:xfrm>
        </p:grpSpPr>
        <p:sp>
          <p:nvSpPr>
            <p:cNvPr id="194" name="Rounded Rectangle"/>
            <p:cNvSpPr/>
            <p:nvPr/>
          </p:nvSpPr>
          <p:spPr>
            <a:xfrm>
              <a:off x="0" y="-1"/>
              <a:ext cx="3888945" cy="658372"/>
            </a:xfrm>
            <a:prstGeom prst="roundRect">
              <a:avLst>
                <a:gd name="adj" fmla="val 13889"/>
              </a:avLst>
            </a:prstGeom>
            <a:solidFill>
              <a:srgbClr val="FDF3DC"/>
            </a:solidFill>
            <a:ln w="19050" cap="flat">
              <a:solidFill>
                <a:srgbClr val="CD312F"/>
              </a:solidFill>
              <a:prstDash val="solid"/>
              <a:round/>
            </a:ln>
            <a:effectLst/>
          </p:spPr>
          <p:txBody>
            <a:bodyPr wrap="square" lIns="45718" tIns="45718" rIns="45718" bIns="45718" numCol="1" anchor="ctr">
              <a:noAutofit/>
            </a:bodyPr>
            <a:lstStyle/>
            <a:p>
              <a:pPr algn="ctr">
                <a:defRPr sz="1300">
                  <a:latin typeface="+mj-lt"/>
                  <a:ea typeface="+mj-ea"/>
                  <a:cs typeface="+mj-cs"/>
                  <a:sym typeface="Calibri"/>
                </a:defRPr>
              </a:pPr>
            </a:p>
          </p:txBody>
        </p:sp>
        <p:sp>
          <p:nvSpPr>
            <p:cNvPr id="195" name="Controlled variables are kept the same. The thing you want to find out is the dependent variable."/>
            <p:cNvSpPr txBox="1"/>
            <p:nvPr/>
          </p:nvSpPr>
          <p:spPr>
            <a:xfrm>
              <a:off x="36307" y="45372"/>
              <a:ext cx="3816330" cy="5676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300">
                  <a:solidFill>
                    <a:srgbClr val="15395C"/>
                  </a:solidFill>
                  <a:latin typeface="Arial"/>
                  <a:ea typeface="Arial"/>
                  <a:cs typeface="Arial"/>
                  <a:sym typeface="Arial"/>
                </a:defRPr>
              </a:lvl1pPr>
            </a:lstStyle>
            <a:p>
              <a:pPr/>
              <a:r>
                <a:t>Controlled variables are kept the same. The thing you want to find out is the dependent variable.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7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81"/>
                                        </p:tgtEl>
                                        <p:attrNameLst>
                                          <p:attrName>style.visibility</p:attrName>
                                        </p:attrNameLst>
                                      </p:cBhvr>
                                      <p:to>
                                        <p:strVal val="visible"/>
                                      </p:to>
                                    </p:set>
                                    <p:anim calcmode="lin" valueType="num">
                                      <p:cBhvr>
                                        <p:cTn id="11" dur="400" fill="hold"/>
                                        <p:tgtEl>
                                          <p:spTgt spid="181"/>
                                        </p:tgtEl>
                                        <p:attrNameLst>
                                          <p:attrName>ppt_w</p:attrName>
                                        </p:attrNameLst>
                                      </p:cBhvr>
                                      <p:tavLst>
                                        <p:tav tm="0">
                                          <p:val>
                                            <p:fltVal val="0"/>
                                          </p:val>
                                        </p:tav>
                                        <p:tav tm="100000">
                                          <p:val>
                                            <p:strVal val="#ppt_w"/>
                                          </p:val>
                                        </p:tav>
                                      </p:tavLst>
                                    </p:anim>
                                    <p:anim calcmode="lin" valueType="num">
                                      <p:cBhvr>
                                        <p:cTn id="12" dur="400" fill="hold"/>
                                        <p:tgtEl>
                                          <p:spTgt spid="181"/>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86"/>
                                        </p:tgtEl>
                                        <p:attrNameLst>
                                          <p:attrName>style.visibility</p:attrName>
                                        </p:attrNameLst>
                                      </p:cBhvr>
                                      <p:to>
                                        <p:strVal val="visible"/>
                                      </p:to>
                                    </p:set>
                                    <p:anim calcmode="lin" valueType="num">
                                      <p:cBhvr>
                                        <p:cTn id="17" dur="400" fill="hold"/>
                                        <p:tgtEl>
                                          <p:spTgt spid="186"/>
                                        </p:tgtEl>
                                        <p:attrNameLst>
                                          <p:attrName>ppt_w</p:attrName>
                                        </p:attrNameLst>
                                      </p:cBhvr>
                                      <p:tavLst>
                                        <p:tav tm="0">
                                          <p:val>
                                            <p:fltVal val="0"/>
                                          </p:val>
                                        </p:tav>
                                        <p:tav tm="100000">
                                          <p:val>
                                            <p:strVal val="#ppt_w"/>
                                          </p:val>
                                        </p:tav>
                                      </p:tavLst>
                                    </p:anim>
                                    <p:anim calcmode="lin" valueType="num">
                                      <p:cBhvr>
                                        <p:cTn id="18" dur="400" fill="hold"/>
                                        <p:tgtEl>
                                          <p:spTgt spid="186"/>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191"/>
                                        </p:tgtEl>
                                        <p:attrNameLst>
                                          <p:attrName>style.visibility</p:attrName>
                                        </p:attrNameLst>
                                      </p:cBhvr>
                                      <p:to>
                                        <p:strVal val="visible"/>
                                      </p:to>
                                    </p:set>
                                    <p:anim calcmode="lin" valueType="num">
                                      <p:cBhvr>
                                        <p:cTn id="23" dur="400" fill="hold"/>
                                        <p:tgtEl>
                                          <p:spTgt spid="191"/>
                                        </p:tgtEl>
                                        <p:attrNameLst>
                                          <p:attrName>ppt_w</p:attrName>
                                        </p:attrNameLst>
                                      </p:cBhvr>
                                      <p:tavLst>
                                        <p:tav tm="0">
                                          <p:val>
                                            <p:fltVal val="0"/>
                                          </p:val>
                                        </p:tav>
                                        <p:tav tm="100000">
                                          <p:val>
                                            <p:strVal val="#ppt_w"/>
                                          </p:val>
                                        </p:tav>
                                      </p:tavLst>
                                    </p:anim>
                                    <p:anim calcmode="lin" valueType="num">
                                      <p:cBhvr>
                                        <p:cTn id="24" dur="400" fill="hold"/>
                                        <p:tgtEl>
                                          <p:spTgt spid="191"/>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196"/>
                                        </p:tgtEl>
                                        <p:attrNameLst>
                                          <p:attrName>style.visibility</p:attrName>
                                        </p:attrNameLst>
                                      </p:cBhvr>
                                      <p:to>
                                        <p:strVal val="visible"/>
                                      </p:to>
                                    </p:set>
                                    <p:anim calcmode="lin" valueType="num">
                                      <p:cBhvr>
                                        <p:cTn id="29" dur="400" fill="hold"/>
                                        <p:tgtEl>
                                          <p:spTgt spid="196"/>
                                        </p:tgtEl>
                                        <p:attrNameLst>
                                          <p:attrName>ppt_w</p:attrName>
                                        </p:attrNameLst>
                                      </p:cBhvr>
                                      <p:tavLst>
                                        <p:tav tm="0">
                                          <p:val>
                                            <p:fltVal val="0"/>
                                          </p:val>
                                        </p:tav>
                                        <p:tav tm="100000">
                                          <p:val>
                                            <p:strVal val="#ppt_w"/>
                                          </p:val>
                                        </p:tav>
                                      </p:tavLst>
                                    </p:anim>
                                    <p:anim calcmode="lin" valueType="num">
                                      <p:cBhvr>
                                        <p:cTn id="30" dur="400" fill="hold"/>
                                        <p:tgtEl>
                                          <p:spTgt spid="196"/>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Class="mediacall" nodeType="clickEffect" presetSubtype="0" presetID="3" grpId="1" fill="hold">
                                  <p:stCondLst>
                                    <p:cond delay="0"/>
                                  </p:stCondLst>
                                  <p:childTnLst>
                                    <p:cmd type="call" cmd="stop">
                                      <p:cBhvr>
                                        <p:cTn id="34" dur="1000" fill="hold"/>
                                        <p:tgtEl>
                                          <p:spTgt spid="171"/>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5" fill="hold" display="0">
                  <p:stCondLst>
                    <p:cond delay="indefinite"/>
                  </p:stCondLst>
                </p:cTn>
                <p:tgtEl>
                  <p:spTgt spid="171"/>
                </p:tgtEl>
              </p:cMediaNode>
            </p:video>
            <p:seq concurrent="1" prevAc="none" nextAc="seek">
              <p:cTn id="36" evtFilter="cancelBubble" nodeType="interactiveSeq" restart="whenNotActive" fill="hold">
                <p:stCondLst>
                  <p:cond delay="0" evt="onClick">
                    <p:tgtEl>
                      <p:spTgt spid="171"/>
                    </p:tgtEl>
                  </p:cond>
                </p:stCondLst>
                <p:endSync delay="0" evt="end">
                  <p:rtn val="all"/>
                </p:endSync>
                <p:childTnLst>
                  <p:par>
                    <p:cTn id="37" fill="hold">
                      <p:stCondLst>
                        <p:cond delay="0"/>
                      </p:stCondLst>
                      <p:childTnLst>
                        <p:par>
                          <p:cTn id="38" fill="hold">
                            <p:stCondLst>
                              <p:cond delay="0"/>
                            </p:stCondLst>
                            <p:childTnLst>
                              <p:par>
                                <p:cTn id="39" presetClass="mediacall" nodeType="clickEffect" presetSubtype="0" presetID="2" fill="hold">
                                  <p:stCondLst>
                                    <p:cond delay="0"/>
                                  </p:stCondLst>
                                  <p:childTnLst>
                                    <p:cmd type="call" cmd="togglePause">
                                      <p:cBhvr>
                                        <p:cTn id="40" dur="1" fill="hold"/>
                                        <p:tgtEl>
                                          <p:spTgt spid="171"/>
                                        </p:tgtEl>
                                      </p:cBhvr>
                                    </p:cmd>
                                  </p:childTnLst>
                                </p:cTn>
                              </p:par>
                            </p:childTnLst>
                          </p:cTn>
                        </p:par>
                      </p:childTnLst>
                    </p:cTn>
                  </p:par>
                </p:childTnLst>
              </p:cTn>
              <p:nextCondLst>
                <p:cond delay="0" evt="onClick">
                  <p:tgtEl>
                    <p:spTgt spid="171"/>
                  </p:tgtEl>
                </p:cond>
              </p:nextCondLst>
            </p:seq>
          </p:childTnLst>
        </p:cTn>
      </p:par>
    </p:tnLst>
    <p:bldLst>
      <p:bldP build="whole" bldLvl="1" animBg="1" rev="0" advAuto="0" spid="196" grpId="5"/>
      <p:bldP build="whole" bldLvl="1" animBg="1" rev="0" advAuto="0" spid="181" grpId="2"/>
      <p:bldP build="whole" bldLvl="1" animBg="1" rev="0" advAuto="0" spid="191" grpId="4"/>
      <p:bldP build="whole" bldLvl="1" animBg="1" rev="0" advAuto="0" spid="186"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0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203" name="phase_pill"/>
          <p:cNvGrpSpPr/>
          <p:nvPr/>
        </p:nvGrpSpPr>
        <p:grpSpPr>
          <a:xfrm>
            <a:off x="1170431" y="310894"/>
            <a:ext cx="2072033" cy="329188"/>
            <a:chOff x="0" y="0"/>
            <a:chExt cx="2072031" cy="329186"/>
          </a:xfrm>
        </p:grpSpPr>
        <p:sp>
          <p:nvSpPr>
            <p:cNvPr id="201" name="Rounded Rectangle"/>
            <p:cNvSpPr/>
            <p:nvPr/>
          </p:nvSpPr>
          <p:spPr>
            <a:xfrm>
              <a:off x="-1" y="-1"/>
              <a:ext cx="2072033"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j-lt"/>
                  <a:ea typeface="+mj-ea"/>
                  <a:cs typeface="+mj-cs"/>
                  <a:sym typeface="Calibri"/>
                </a:defRPr>
              </a:pPr>
            </a:p>
          </p:txBody>
        </p:sp>
        <p:sp>
          <p:nvSpPr>
            <p:cNvPr id="202" name="COLD CALL · 6 MIN"/>
            <p:cNvSpPr txBox="1"/>
            <p:nvPr/>
          </p:nvSpPr>
          <p:spPr>
            <a:xfrm>
              <a:off x="42850" y="90677"/>
              <a:ext cx="1986329"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04" name="c0_bg"/>
          <p:cNvSpPr/>
          <p:nvPr/>
        </p:nvSpPr>
        <p:spPr>
          <a:xfrm>
            <a:off x="1170432" y="969263"/>
            <a:ext cx="5117442" cy="1389890"/>
          </a:xfrm>
          <a:prstGeom prst="roundRect">
            <a:avLst>
              <a:gd name="adj" fmla="val 6579"/>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205" name="c0_badge"/>
          <p:cNvSpPr/>
          <p:nvPr/>
        </p:nvSpPr>
        <p:spPr>
          <a:xfrm>
            <a:off x="1371600" y="1133855"/>
            <a:ext cx="384048" cy="384051"/>
          </a:xfrm>
          <a:prstGeom prst="ellipse">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206" name="c0_num"/>
          <p:cNvSpPr txBox="1"/>
          <p:nvPr/>
        </p:nvSpPr>
        <p:spPr>
          <a:xfrm>
            <a:off x="1371600" y="122427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207" name="c0_q"/>
          <p:cNvSpPr txBox="1"/>
          <p:nvPr/>
        </p:nvSpPr>
        <p:spPr>
          <a:xfrm>
            <a:off x="1901950" y="1179964"/>
            <a:ext cx="4184755"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What do you call the thing you choose to change?</a:t>
            </a:r>
          </a:p>
        </p:txBody>
      </p:sp>
      <p:grpSp>
        <p:nvGrpSpPr>
          <p:cNvPr id="210" name="c0_a"/>
          <p:cNvGrpSpPr/>
          <p:nvPr/>
        </p:nvGrpSpPr>
        <p:grpSpPr>
          <a:xfrm>
            <a:off x="1371599" y="1810510"/>
            <a:ext cx="4715107" cy="402340"/>
            <a:chOff x="0" y="0"/>
            <a:chExt cx="4715105" cy="402338"/>
          </a:xfrm>
        </p:grpSpPr>
        <p:sp>
          <p:nvSpPr>
            <p:cNvPr id="208" name="Rounded Rectangle"/>
            <p:cNvSpPr/>
            <p:nvPr/>
          </p:nvSpPr>
          <p:spPr>
            <a:xfrm>
              <a:off x="-1" y="-1"/>
              <a:ext cx="4715107" cy="402340"/>
            </a:xfrm>
            <a:prstGeom prst="roundRect">
              <a:avLst>
                <a:gd name="adj" fmla="val 22727"/>
              </a:avLst>
            </a:prstGeom>
            <a:solidFill>
              <a:srgbClr val="FDF3DC"/>
            </a:solidFill>
            <a:ln w="16510" cap="flat">
              <a:solidFill>
                <a:srgbClr val="FFD921"/>
              </a:solidFill>
              <a:prstDash val="solid"/>
              <a:round/>
            </a:ln>
            <a:effectLst/>
          </p:spPr>
          <p:txBody>
            <a:bodyPr wrap="square" lIns="45718" tIns="45718" rIns="45718" bIns="45718" numCol="1" anchor="ctr">
              <a:noAutofit/>
            </a:bodyPr>
            <a:lstStyle/>
            <a:p>
              <a:pPr>
                <a:defRPr sz="1400">
                  <a:latin typeface="+mj-lt"/>
                  <a:ea typeface="+mj-ea"/>
                  <a:cs typeface="+mj-cs"/>
                  <a:sym typeface="Calibri"/>
                </a:defRPr>
              </a:pPr>
            </a:p>
          </p:txBody>
        </p:sp>
        <p:sp>
          <p:nvSpPr>
            <p:cNvPr id="209" name="The independent variable."/>
            <p:cNvSpPr txBox="1"/>
            <p:nvPr/>
          </p:nvSpPr>
          <p:spPr>
            <a:xfrm>
              <a:off x="35037" y="101460"/>
              <a:ext cx="4645031" cy="1994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5395C"/>
                  </a:solidFill>
                  <a:latin typeface="Arial"/>
                  <a:ea typeface="Arial"/>
                  <a:cs typeface="Arial"/>
                  <a:sym typeface="Arial"/>
                </a:defRPr>
              </a:lvl1pPr>
            </a:lstStyle>
            <a:p>
              <a:pPr/>
              <a:r>
                <a:t>The independent variable.</a:t>
              </a:r>
            </a:p>
          </p:txBody>
        </p:sp>
      </p:grpSp>
      <p:sp>
        <p:nvSpPr>
          <p:cNvPr id="211" name="c1_bg"/>
          <p:cNvSpPr/>
          <p:nvPr/>
        </p:nvSpPr>
        <p:spPr>
          <a:xfrm>
            <a:off x="6525614" y="969263"/>
            <a:ext cx="5117442" cy="1389890"/>
          </a:xfrm>
          <a:prstGeom prst="roundRect">
            <a:avLst>
              <a:gd name="adj" fmla="val 6579"/>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212" name="c1_badge"/>
          <p:cNvSpPr/>
          <p:nvPr/>
        </p:nvSpPr>
        <p:spPr>
          <a:xfrm>
            <a:off x="6726783" y="1133855"/>
            <a:ext cx="384051" cy="384051"/>
          </a:xfrm>
          <a:prstGeom prst="ellipse">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213" name="c1_num"/>
          <p:cNvSpPr txBox="1"/>
          <p:nvPr/>
        </p:nvSpPr>
        <p:spPr>
          <a:xfrm>
            <a:off x="6726783" y="1224278"/>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214" name="c1_q"/>
          <p:cNvSpPr txBox="1"/>
          <p:nvPr/>
        </p:nvSpPr>
        <p:spPr>
          <a:xfrm>
            <a:off x="7257136" y="1300614"/>
            <a:ext cx="4184754" cy="2334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What do you call the thing you measure?</a:t>
            </a:r>
          </a:p>
        </p:txBody>
      </p:sp>
      <p:grpSp>
        <p:nvGrpSpPr>
          <p:cNvPr id="217" name="c1_a"/>
          <p:cNvGrpSpPr/>
          <p:nvPr/>
        </p:nvGrpSpPr>
        <p:grpSpPr>
          <a:xfrm>
            <a:off x="6726783" y="1810510"/>
            <a:ext cx="4715108" cy="402340"/>
            <a:chOff x="0" y="0"/>
            <a:chExt cx="4715106" cy="402338"/>
          </a:xfrm>
        </p:grpSpPr>
        <p:sp>
          <p:nvSpPr>
            <p:cNvPr id="215" name="Rounded Rectangle"/>
            <p:cNvSpPr/>
            <p:nvPr/>
          </p:nvSpPr>
          <p:spPr>
            <a:xfrm>
              <a:off x="0" y="-1"/>
              <a:ext cx="4715107" cy="402340"/>
            </a:xfrm>
            <a:prstGeom prst="roundRect">
              <a:avLst>
                <a:gd name="adj" fmla="val 22727"/>
              </a:avLst>
            </a:prstGeom>
            <a:solidFill>
              <a:srgbClr val="FDF3DC"/>
            </a:solidFill>
            <a:ln w="16510" cap="flat">
              <a:solidFill>
                <a:srgbClr val="FFD921"/>
              </a:solidFill>
              <a:prstDash val="solid"/>
              <a:round/>
            </a:ln>
            <a:effectLst/>
          </p:spPr>
          <p:txBody>
            <a:bodyPr wrap="square" lIns="45718" tIns="45718" rIns="45718" bIns="45718" numCol="1" anchor="ctr">
              <a:noAutofit/>
            </a:bodyPr>
            <a:lstStyle/>
            <a:p>
              <a:pPr>
                <a:defRPr sz="1400">
                  <a:latin typeface="+mj-lt"/>
                  <a:ea typeface="+mj-ea"/>
                  <a:cs typeface="+mj-cs"/>
                  <a:sym typeface="Calibri"/>
                </a:defRPr>
              </a:pPr>
            </a:p>
          </p:txBody>
        </p:sp>
        <p:sp>
          <p:nvSpPr>
            <p:cNvPr id="216" name="The dependent variable."/>
            <p:cNvSpPr txBox="1"/>
            <p:nvPr/>
          </p:nvSpPr>
          <p:spPr>
            <a:xfrm>
              <a:off x="35037" y="101460"/>
              <a:ext cx="4645032" cy="1994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5395C"/>
                  </a:solidFill>
                  <a:latin typeface="Arial"/>
                  <a:ea typeface="Arial"/>
                  <a:cs typeface="Arial"/>
                  <a:sym typeface="Arial"/>
                </a:defRPr>
              </a:lvl1pPr>
            </a:lstStyle>
            <a:p>
              <a:pPr/>
              <a:r>
                <a:t>The dependent variable.</a:t>
              </a:r>
            </a:p>
          </p:txBody>
        </p:sp>
      </p:grpSp>
      <p:sp>
        <p:nvSpPr>
          <p:cNvPr id="218" name="c2_bg"/>
          <p:cNvSpPr/>
          <p:nvPr/>
        </p:nvSpPr>
        <p:spPr>
          <a:xfrm>
            <a:off x="1170432" y="2560320"/>
            <a:ext cx="5117442" cy="1389890"/>
          </a:xfrm>
          <a:prstGeom prst="roundRect">
            <a:avLst>
              <a:gd name="adj" fmla="val 6579"/>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219" name="c2_badge"/>
          <p:cNvSpPr/>
          <p:nvPr/>
        </p:nvSpPr>
        <p:spPr>
          <a:xfrm>
            <a:off x="1371600" y="2724910"/>
            <a:ext cx="384048" cy="384052"/>
          </a:xfrm>
          <a:prstGeom prst="ellipse">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220" name="c2_num"/>
          <p:cNvSpPr txBox="1"/>
          <p:nvPr/>
        </p:nvSpPr>
        <p:spPr>
          <a:xfrm>
            <a:off x="1371600" y="2815334"/>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221" name="c2_q"/>
          <p:cNvSpPr txBox="1"/>
          <p:nvPr/>
        </p:nvSpPr>
        <p:spPr>
          <a:xfrm>
            <a:off x="1901950" y="2771020"/>
            <a:ext cx="4184755"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What do you call a variable that is kept the same?</a:t>
            </a:r>
          </a:p>
        </p:txBody>
      </p:sp>
      <p:grpSp>
        <p:nvGrpSpPr>
          <p:cNvPr id="224" name="c2_a"/>
          <p:cNvGrpSpPr/>
          <p:nvPr/>
        </p:nvGrpSpPr>
        <p:grpSpPr>
          <a:xfrm>
            <a:off x="1371599" y="3401567"/>
            <a:ext cx="4715107" cy="402339"/>
            <a:chOff x="0" y="0"/>
            <a:chExt cx="4715105" cy="402338"/>
          </a:xfrm>
        </p:grpSpPr>
        <p:sp>
          <p:nvSpPr>
            <p:cNvPr id="222" name="Rounded Rectangle"/>
            <p:cNvSpPr/>
            <p:nvPr/>
          </p:nvSpPr>
          <p:spPr>
            <a:xfrm>
              <a:off x="-1" y="-1"/>
              <a:ext cx="4715107" cy="402340"/>
            </a:xfrm>
            <a:prstGeom prst="roundRect">
              <a:avLst>
                <a:gd name="adj" fmla="val 22727"/>
              </a:avLst>
            </a:prstGeom>
            <a:solidFill>
              <a:srgbClr val="FDF3DC"/>
            </a:solidFill>
            <a:ln w="16510" cap="flat">
              <a:solidFill>
                <a:srgbClr val="FFD921"/>
              </a:solidFill>
              <a:prstDash val="solid"/>
              <a:round/>
            </a:ln>
            <a:effectLst/>
          </p:spPr>
          <p:txBody>
            <a:bodyPr wrap="square" lIns="45718" tIns="45718" rIns="45718" bIns="45718" numCol="1" anchor="ctr">
              <a:noAutofit/>
            </a:bodyPr>
            <a:lstStyle/>
            <a:p>
              <a:pPr>
                <a:defRPr sz="1400">
                  <a:latin typeface="+mj-lt"/>
                  <a:ea typeface="+mj-ea"/>
                  <a:cs typeface="+mj-cs"/>
                  <a:sym typeface="Calibri"/>
                </a:defRPr>
              </a:pPr>
            </a:p>
          </p:txBody>
        </p:sp>
        <p:sp>
          <p:nvSpPr>
            <p:cNvPr id="223" name="A controlled variable."/>
            <p:cNvSpPr txBox="1"/>
            <p:nvPr/>
          </p:nvSpPr>
          <p:spPr>
            <a:xfrm>
              <a:off x="35037" y="101460"/>
              <a:ext cx="4645031" cy="1994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5395C"/>
                  </a:solidFill>
                  <a:latin typeface="Arial"/>
                  <a:ea typeface="Arial"/>
                  <a:cs typeface="Arial"/>
                  <a:sym typeface="Arial"/>
                </a:defRPr>
              </a:lvl1pPr>
            </a:lstStyle>
            <a:p>
              <a:pPr/>
              <a:r>
                <a:t>A controlled variable.</a:t>
              </a:r>
            </a:p>
          </p:txBody>
        </p:sp>
      </p:grpSp>
      <p:sp>
        <p:nvSpPr>
          <p:cNvPr id="225" name="c3_bg"/>
          <p:cNvSpPr/>
          <p:nvPr/>
        </p:nvSpPr>
        <p:spPr>
          <a:xfrm>
            <a:off x="6525614" y="2560320"/>
            <a:ext cx="5117442" cy="1389890"/>
          </a:xfrm>
          <a:prstGeom prst="roundRect">
            <a:avLst>
              <a:gd name="adj" fmla="val 6579"/>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226" name="c3_badge"/>
          <p:cNvSpPr/>
          <p:nvPr/>
        </p:nvSpPr>
        <p:spPr>
          <a:xfrm>
            <a:off x="6726783" y="2724910"/>
            <a:ext cx="384051" cy="384052"/>
          </a:xfrm>
          <a:prstGeom prst="ellipse">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227" name="c3_num"/>
          <p:cNvSpPr txBox="1"/>
          <p:nvPr/>
        </p:nvSpPr>
        <p:spPr>
          <a:xfrm>
            <a:off x="6726783" y="2815334"/>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4</a:t>
            </a:r>
          </a:p>
        </p:txBody>
      </p:sp>
      <p:sp>
        <p:nvSpPr>
          <p:cNvPr id="228" name="c3_q"/>
          <p:cNvSpPr txBox="1"/>
          <p:nvPr/>
        </p:nvSpPr>
        <p:spPr>
          <a:xfrm>
            <a:off x="7257136" y="2771020"/>
            <a:ext cx="4184754"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For "does more sugar make ice melt faster", name the independent variable.</a:t>
            </a:r>
          </a:p>
        </p:txBody>
      </p:sp>
      <p:grpSp>
        <p:nvGrpSpPr>
          <p:cNvPr id="231" name="c3_a"/>
          <p:cNvGrpSpPr/>
          <p:nvPr/>
        </p:nvGrpSpPr>
        <p:grpSpPr>
          <a:xfrm>
            <a:off x="6726783" y="3401567"/>
            <a:ext cx="4715108" cy="402339"/>
            <a:chOff x="0" y="0"/>
            <a:chExt cx="4715106" cy="402338"/>
          </a:xfrm>
        </p:grpSpPr>
        <p:sp>
          <p:nvSpPr>
            <p:cNvPr id="229" name="Rounded Rectangle"/>
            <p:cNvSpPr/>
            <p:nvPr/>
          </p:nvSpPr>
          <p:spPr>
            <a:xfrm>
              <a:off x="0" y="-1"/>
              <a:ext cx="4715107" cy="402340"/>
            </a:xfrm>
            <a:prstGeom prst="roundRect">
              <a:avLst>
                <a:gd name="adj" fmla="val 22727"/>
              </a:avLst>
            </a:prstGeom>
            <a:solidFill>
              <a:srgbClr val="FDF3DC"/>
            </a:solidFill>
            <a:ln w="16510" cap="flat">
              <a:solidFill>
                <a:srgbClr val="FFD921"/>
              </a:solidFill>
              <a:prstDash val="solid"/>
              <a:round/>
            </a:ln>
            <a:effectLst/>
          </p:spPr>
          <p:txBody>
            <a:bodyPr wrap="square" lIns="45718" tIns="45718" rIns="45718" bIns="45718" numCol="1" anchor="ctr">
              <a:noAutofit/>
            </a:bodyPr>
            <a:lstStyle/>
            <a:p>
              <a:pPr>
                <a:defRPr sz="1400">
                  <a:latin typeface="+mj-lt"/>
                  <a:ea typeface="+mj-ea"/>
                  <a:cs typeface="+mj-cs"/>
                  <a:sym typeface="Calibri"/>
                </a:defRPr>
              </a:pPr>
            </a:p>
          </p:txBody>
        </p:sp>
        <p:sp>
          <p:nvSpPr>
            <p:cNvPr id="230" name="The amount of sugar."/>
            <p:cNvSpPr txBox="1"/>
            <p:nvPr/>
          </p:nvSpPr>
          <p:spPr>
            <a:xfrm>
              <a:off x="35037" y="101460"/>
              <a:ext cx="4645032" cy="1994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5395C"/>
                  </a:solidFill>
                  <a:latin typeface="Arial"/>
                  <a:ea typeface="Arial"/>
                  <a:cs typeface="Arial"/>
                  <a:sym typeface="Arial"/>
                </a:defRPr>
              </a:lvl1pPr>
            </a:lstStyle>
            <a:p>
              <a:pPr/>
              <a:r>
                <a:t>The amount of sugar.</a:t>
              </a:r>
            </a:p>
          </p:txBody>
        </p:sp>
      </p:grpSp>
      <p:sp>
        <p:nvSpPr>
          <p:cNvPr id="232" name="c4_bg"/>
          <p:cNvSpPr/>
          <p:nvPr/>
        </p:nvSpPr>
        <p:spPr>
          <a:xfrm>
            <a:off x="1170432" y="4151376"/>
            <a:ext cx="5117442" cy="1389890"/>
          </a:xfrm>
          <a:prstGeom prst="roundRect">
            <a:avLst>
              <a:gd name="adj" fmla="val 6579"/>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233" name="c4_badge"/>
          <p:cNvSpPr/>
          <p:nvPr/>
        </p:nvSpPr>
        <p:spPr>
          <a:xfrm>
            <a:off x="1371600" y="4315967"/>
            <a:ext cx="384048" cy="384051"/>
          </a:xfrm>
          <a:prstGeom prst="ellipse">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234" name="c4_num"/>
          <p:cNvSpPr txBox="1"/>
          <p:nvPr/>
        </p:nvSpPr>
        <p:spPr>
          <a:xfrm>
            <a:off x="1371600" y="440639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5</a:t>
            </a:r>
          </a:p>
        </p:txBody>
      </p:sp>
      <p:sp>
        <p:nvSpPr>
          <p:cNvPr id="235" name="c4_q"/>
          <p:cNvSpPr txBox="1"/>
          <p:nvPr/>
        </p:nvSpPr>
        <p:spPr>
          <a:xfrm>
            <a:off x="1901950" y="4482727"/>
            <a:ext cx="418475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For the same test, name the dependent variable.</a:t>
            </a:r>
          </a:p>
        </p:txBody>
      </p:sp>
      <p:grpSp>
        <p:nvGrpSpPr>
          <p:cNvPr id="238" name="c4_a"/>
          <p:cNvGrpSpPr/>
          <p:nvPr/>
        </p:nvGrpSpPr>
        <p:grpSpPr>
          <a:xfrm>
            <a:off x="1371599" y="4992623"/>
            <a:ext cx="4715107" cy="402339"/>
            <a:chOff x="0" y="0"/>
            <a:chExt cx="4715105" cy="402338"/>
          </a:xfrm>
        </p:grpSpPr>
        <p:sp>
          <p:nvSpPr>
            <p:cNvPr id="236" name="Rounded Rectangle"/>
            <p:cNvSpPr/>
            <p:nvPr/>
          </p:nvSpPr>
          <p:spPr>
            <a:xfrm>
              <a:off x="-1" y="-1"/>
              <a:ext cx="4715107" cy="402340"/>
            </a:xfrm>
            <a:prstGeom prst="roundRect">
              <a:avLst>
                <a:gd name="adj" fmla="val 22727"/>
              </a:avLst>
            </a:prstGeom>
            <a:solidFill>
              <a:srgbClr val="FDF3DC"/>
            </a:solidFill>
            <a:ln w="16510" cap="flat">
              <a:solidFill>
                <a:srgbClr val="FFD921"/>
              </a:solidFill>
              <a:prstDash val="solid"/>
              <a:round/>
            </a:ln>
            <a:effectLst/>
          </p:spPr>
          <p:txBody>
            <a:bodyPr wrap="square" lIns="45718" tIns="45718" rIns="45718" bIns="45718" numCol="1" anchor="ctr">
              <a:noAutofit/>
            </a:bodyPr>
            <a:lstStyle/>
            <a:p>
              <a:pPr>
                <a:defRPr sz="1400">
                  <a:latin typeface="+mj-lt"/>
                  <a:ea typeface="+mj-ea"/>
                  <a:cs typeface="+mj-cs"/>
                  <a:sym typeface="Calibri"/>
                </a:defRPr>
              </a:pPr>
            </a:p>
          </p:txBody>
        </p:sp>
        <p:sp>
          <p:nvSpPr>
            <p:cNvPr id="237" name="How fast the ice melts."/>
            <p:cNvSpPr txBox="1"/>
            <p:nvPr/>
          </p:nvSpPr>
          <p:spPr>
            <a:xfrm>
              <a:off x="35037" y="101460"/>
              <a:ext cx="4645031" cy="1994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5395C"/>
                  </a:solidFill>
                  <a:latin typeface="Arial"/>
                  <a:ea typeface="Arial"/>
                  <a:cs typeface="Arial"/>
                  <a:sym typeface="Arial"/>
                </a:defRPr>
              </a:lvl1pPr>
            </a:lstStyle>
            <a:p>
              <a:pPr/>
              <a:r>
                <a:t>How fast the ice melts.</a:t>
              </a:r>
            </a:p>
          </p:txBody>
        </p:sp>
      </p:grpSp>
      <p:sp>
        <p:nvSpPr>
          <p:cNvPr id="239" name="c5_bg"/>
          <p:cNvSpPr/>
          <p:nvPr/>
        </p:nvSpPr>
        <p:spPr>
          <a:xfrm>
            <a:off x="6525614" y="4151376"/>
            <a:ext cx="5117442" cy="1389890"/>
          </a:xfrm>
          <a:prstGeom prst="roundRect">
            <a:avLst>
              <a:gd name="adj" fmla="val 6579"/>
            </a:avLst>
          </a:prstGeom>
          <a:solidFill>
            <a:srgbClr val="FFFFFF"/>
          </a:solidFill>
          <a:ln w="16510">
            <a:solidFill>
              <a:srgbClr val="D8DEEC"/>
            </a:solidFill>
          </a:ln>
        </p:spPr>
        <p:txBody>
          <a:bodyPr lIns="45718" tIns="45718" rIns="45718" bIns="45718"/>
          <a:lstStyle/>
          <a:p>
            <a:pPr>
              <a:defRPr>
                <a:latin typeface="+mj-lt"/>
                <a:ea typeface="+mj-ea"/>
                <a:cs typeface="+mj-cs"/>
                <a:sym typeface="Calibri"/>
              </a:defRPr>
            </a:pPr>
          </a:p>
        </p:txBody>
      </p:sp>
      <p:sp>
        <p:nvSpPr>
          <p:cNvPr id="240" name="c5_badge"/>
          <p:cNvSpPr/>
          <p:nvPr/>
        </p:nvSpPr>
        <p:spPr>
          <a:xfrm>
            <a:off x="6726783" y="4315967"/>
            <a:ext cx="384051" cy="384051"/>
          </a:xfrm>
          <a:prstGeom prst="ellipse">
            <a:avLst/>
          </a:prstGeom>
          <a:solidFill>
            <a:srgbClr val="FFD921"/>
          </a:solidFill>
          <a:ln w="12700">
            <a:solidFill>
              <a:srgbClr val="FFD921"/>
            </a:solidFill>
          </a:ln>
        </p:spPr>
        <p:txBody>
          <a:bodyPr lIns="45718" tIns="45718" rIns="45718" bIns="45718"/>
          <a:lstStyle/>
          <a:p>
            <a:pPr>
              <a:defRPr>
                <a:latin typeface="+mj-lt"/>
                <a:ea typeface="+mj-ea"/>
                <a:cs typeface="+mj-cs"/>
                <a:sym typeface="Calibri"/>
              </a:defRPr>
            </a:pPr>
          </a:p>
        </p:txBody>
      </p:sp>
      <p:sp>
        <p:nvSpPr>
          <p:cNvPr id="241" name="c5_num"/>
          <p:cNvSpPr txBox="1"/>
          <p:nvPr/>
        </p:nvSpPr>
        <p:spPr>
          <a:xfrm>
            <a:off x="6726783" y="4406391"/>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6</a:t>
            </a:r>
          </a:p>
        </p:txBody>
      </p:sp>
      <p:sp>
        <p:nvSpPr>
          <p:cNvPr id="242" name="c5_q"/>
          <p:cNvSpPr txBox="1"/>
          <p:nvPr/>
        </p:nvSpPr>
        <p:spPr>
          <a:xfrm>
            <a:off x="7257136" y="4482727"/>
            <a:ext cx="4184754"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State one reason to repeat a test.</a:t>
            </a:r>
          </a:p>
        </p:txBody>
      </p:sp>
      <p:grpSp>
        <p:nvGrpSpPr>
          <p:cNvPr id="245" name="c5_a"/>
          <p:cNvGrpSpPr/>
          <p:nvPr/>
        </p:nvGrpSpPr>
        <p:grpSpPr>
          <a:xfrm>
            <a:off x="6726783" y="4992623"/>
            <a:ext cx="4715108" cy="402339"/>
            <a:chOff x="0" y="0"/>
            <a:chExt cx="4715106" cy="402338"/>
          </a:xfrm>
        </p:grpSpPr>
        <p:sp>
          <p:nvSpPr>
            <p:cNvPr id="243" name="Rounded Rectangle"/>
            <p:cNvSpPr/>
            <p:nvPr/>
          </p:nvSpPr>
          <p:spPr>
            <a:xfrm>
              <a:off x="0" y="-1"/>
              <a:ext cx="4715107" cy="402340"/>
            </a:xfrm>
            <a:prstGeom prst="roundRect">
              <a:avLst>
                <a:gd name="adj" fmla="val 22727"/>
              </a:avLst>
            </a:prstGeom>
            <a:solidFill>
              <a:srgbClr val="FDF3DC"/>
            </a:solidFill>
            <a:ln w="16510" cap="flat">
              <a:solidFill>
                <a:srgbClr val="FFD921"/>
              </a:solidFill>
              <a:prstDash val="solid"/>
              <a:round/>
            </a:ln>
            <a:effectLst/>
          </p:spPr>
          <p:txBody>
            <a:bodyPr wrap="square" lIns="45718" tIns="45718" rIns="45718" bIns="45718" numCol="1" anchor="ctr">
              <a:noAutofit/>
            </a:bodyPr>
            <a:lstStyle/>
            <a:p>
              <a:pPr>
                <a:defRPr sz="1400">
                  <a:latin typeface="+mj-lt"/>
                  <a:ea typeface="+mj-ea"/>
                  <a:cs typeface="+mj-cs"/>
                  <a:sym typeface="Calibri"/>
                </a:defRPr>
              </a:pPr>
            </a:p>
          </p:txBody>
        </p:sp>
        <p:sp>
          <p:nvSpPr>
            <p:cNvPr id="244" name="To check the result was not a fluke."/>
            <p:cNvSpPr txBox="1"/>
            <p:nvPr/>
          </p:nvSpPr>
          <p:spPr>
            <a:xfrm>
              <a:off x="35037" y="101460"/>
              <a:ext cx="4645032" cy="1994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5395C"/>
                  </a:solidFill>
                  <a:latin typeface="Arial"/>
                  <a:ea typeface="Arial"/>
                  <a:cs typeface="Arial"/>
                  <a:sym typeface="Arial"/>
                </a:defRPr>
              </a:lvl1pPr>
            </a:lstStyle>
            <a:p>
              <a:pPr/>
              <a:r>
                <a:t>To check the result was not a fluke.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0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10"/>
                                        </p:tgtEl>
                                        <p:attrNameLst>
                                          <p:attrName>style.visibility</p:attrName>
                                        </p:attrNameLst>
                                      </p:cBhvr>
                                      <p:to>
                                        <p:strVal val="visible"/>
                                      </p:to>
                                    </p:set>
                                    <p:animEffect filter="wipe(left)" transition="in">
                                      <p:cBhvr>
                                        <p:cTn id="11" dur="400"/>
                                        <p:tgtEl>
                                          <p:spTgt spid="21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17"/>
                                        </p:tgtEl>
                                        <p:attrNameLst>
                                          <p:attrName>style.visibility</p:attrName>
                                        </p:attrNameLst>
                                      </p:cBhvr>
                                      <p:to>
                                        <p:strVal val="visible"/>
                                      </p:to>
                                    </p:set>
                                    <p:animEffect filter="wipe(left)" transition="in">
                                      <p:cBhvr>
                                        <p:cTn id="16" dur="400"/>
                                        <p:tgtEl>
                                          <p:spTgt spid="21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24"/>
                                        </p:tgtEl>
                                        <p:attrNameLst>
                                          <p:attrName>style.visibility</p:attrName>
                                        </p:attrNameLst>
                                      </p:cBhvr>
                                      <p:to>
                                        <p:strVal val="visible"/>
                                      </p:to>
                                    </p:set>
                                    <p:animEffect filter="wipe(left)" transition="in">
                                      <p:cBhvr>
                                        <p:cTn id="21" dur="400"/>
                                        <p:tgtEl>
                                          <p:spTgt spid="224"/>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31"/>
                                        </p:tgtEl>
                                        <p:attrNameLst>
                                          <p:attrName>style.visibility</p:attrName>
                                        </p:attrNameLst>
                                      </p:cBhvr>
                                      <p:to>
                                        <p:strVal val="visible"/>
                                      </p:to>
                                    </p:set>
                                    <p:animEffect filter="wipe(left)" transition="in">
                                      <p:cBhvr>
                                        <p:cTn id="26" dur="400"/>
                                        <p:tgtEl>
                                          <p:spTgt spid="231"/>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38"/>
                                        </p:tgtEl>
                                        <p:attrNameLst>
                                          <p:attrName>style.visibility</p:attrName>
                                        </p:attrNameLst>
                                      </p:cBhvr>
                                      <p:to>
                                        <p:strVal val="visible"/>
                                      </p:to>
                                    </p:set>
                                    <p:animEffect filter="wipe(left)" transition="in">
                                      <p:cBhvr>
                                        <p:cTn id="31" dur="400"/>
                                        <p:tgtEl>
                                          <p:spTgt spid="238"/>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45"/>
                                        </p:tgtEl>
                                        <p:attrNameLst>
                                          <p:attrName>style.visibility</p:attrName>
                                        </p:attrNameLst>
                                      </p:cBhvr>
                                      <p:to>
                                        <p:strVal val="visible"/>
                                      </p:to>
                                    </p:set>
                                    <p:animEffect filter="wipe(left)" transition="in">
                                      <p:cBhvr>
                                        <p:cTn id="36" dur="400"/>
                                        <p:tgtEl>
                                          <p:spTgt spid="245"/>
                                        </p:tgtEl>
                                      </p:cBhvr>
                                    </p:animEffect>
                                  </p:childTnLst>
                                </p:cTn>
                              </p:par>
                            </p:childTnLst>
                          </p:cTn>
                        </p:par>
                      </p:childTnLst>
                    </p:cTn>
                  </p:par>
                  <p:par>
                    <p:cTn id="37" fill="hold">
                      <p:stCondLst>
                        <p:cond delay="indefinite"/>
                      </p:stCondLst>
                      <p:childTnLst>
                        <p:par>
                          <p:cTn id="38" fill="hold">
                            <p:stCondLst>
                              <p:cond delay="0"/>
                            </p:stCondLst>
                            <p:childTnLst>
                              <p:par>
                                <p:cTn id="39" presetClass="mediacall" nodeType="clickEffect" presetSubtype="0" presetID="3" grpId="1" fill="hold">
                                  <p:stCondLst>
                                    <p:cond delay="0"/>
                                  </p:stCondLst>
                                  <p:childTnLst>
                                    <p:cmd type="call" cmd="stop">
                                      <p:cBhvr>
                                        <p:cTn id="40" dur="1000" fill="hold"/>
                                        <p:tgtEl>
                                          <p:spTgt spid="200"/>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41" fill="hold" display="0">
                  <p:stCondLst>
                    <p:cond delay="indefinite"/>
                  </p:stCondLst>
                </p:cTn>
                <p:tgtEl>
                  <p:spTgt spid="200"/>
                </p:tgtEl>
              </p:cMediaNode>
            </p:video>
            <p:seq concurrent="1" prevAc="none" nextAc="seek">
              <p:cTn id="42" evtFilter="cancelBubble" nodeType="interactiveSeq" restart="whenNotActive" fill="hold">
                <p:stCondLst>
                  <p:cond delay="0" evt="onClick">
                    <p:tgtEl>
                      <p:spTgt spid="200"/>
                    </p:tgtEl>
                  </p:cond>
                </p:stCondLst>
                <p:endSync delay="0" evt="end">
                  <p:rtn val="all"/>
                </p:endSync>
                <p:childTnLst>
                  <p:par>
                    <p:cTn id="43" fill="hold">
                      <p:stCondLst>
                        <p:cond delay="0"/>
                      </p:stCondLst>
                      <p:childTnLst>
                        <p:par>
                          <p:cTn id="44" fill="hold">
                            <p:stCondLst>
                              <p:cond delay="0"/>
                            </p:stCondLst>
                            <p:childTnLst>
                              <p:par>
                                <p:cTn id="45" presetClass="mediacall" nodeType="clickEffect" presetSubtype="0" presetID="2" fill="hold">
                                  <p:stCondLst>
                                    <p:cond delay="0"/>
                                  </p:stCondLst>
                                  <p:childTnLst>
                                    <p:cmd type="call" cmd="togglePause">
                                      <p:cBhvr>
                                        <p:cTn id="46" dur="1" fill="hold"/>
                                        <p:tgtEl>
                                          <p:spTgt spid="200"/>
                                        </p:tgtEl>
                                      </p:cBhvr>
                                    </p:cmd>
                                  </p:childTnLst>
                                </p:cTn>
                              </p:par>
                            </p:childTnLst>
                          </p:cTn>
                        </p:par>
                      </p:childTnLst>
                    </p:cTn>
                  </p:par>
                </p:childTnLst>
              </p:cTn>
              <p:nextCondLst>
                <p:cond delay="0" evt="onClick">
                  <p:tgtEl>
                    <p:spTgt spid="200"/>
                  </p:tgtEl>
                </p:cond>
              </p:nextCondLst>
            </p:seq>
          </p:childTnLst>
        </p:cTn>
      </p:par>
    </p:tnLst>
    <p:bldLst>
      <p:bldP build="whole" bldLvl="1" animBg="1" rev="0" advAuto="0" spid="238" grpId="6"/>
      <p:bldP build="whole" bldLvl="1" animBg="1" rev="0" advAuto="0" spid="224" grpId="4"/>
      <p:bldP build="whole" bldLvl="1" animBg="1" rev="0" advAuto="0" spid="210" grpId="2"/>
      <p:bldP build="whole" bldLvl="1" animBg="1" rev="0" advAuto="0" spid="245" grpId="7"/>
      <p:bldP build="whole" bldLvl="1" animBg="1" rev="0" advAuto="0" spid="231" grpId="5"/>
      <p:bldP build="whole" bldLvl="1" animBg="1" rev="0" advAuto="0" spid="217" grpId="3"/>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4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252" name="phase_pill"/>
          <p:cNvGrpSpPr/>
          <p:nvPr/>
        </p:nvGrpSpPr>
        <p:grpSpPr>
          <a:xfrm>
            <a:off x="1170432" y="310894"/>
            <a:ext cx="1892809" cy="329188"/>
            <a:chOff x="0" y="0"/>
            <a:chExt cx="1892808" cy="329186"/>
          </a:xfrm>
        </p:grpSpPr>
        <p:sp>
          <p:nvSpPr>
            <p:cNvPr id="250" name="Rounded Rectangle"/>
            <p:cNvSpPr/>
            <p:nvPr/>
          </p:nvSpPr>
          <p:spPr>
            <a:xfrm>
              <a:off x="0" y="-1"/>
              <a:ext cx="1892809"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j-lt"/>
                  <a:ea typeface="+mj-ea"/>
                  <a:cs typeface="+mj-cs"/>
                  <a:sym typeface="Calibri"/>
                </a:defRPr>
              </a:pPr>
            </a:p>
          </p:txBody>
        </p:sp>
        <p:sp>
          <p:nvSpPr>
            <p:cNvPr id="251" name="YOU DO · 14 MIN"/>
            <p:cNvSpPr txBox="1"/>
            <p:nvPr/>
          </p:nvSpPr>
          <p:spPr>
            <a:xfrm>
              <a:off x="42850" y="90677"/>
              <a:ext cx="1807107"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14 MIN</a:t>
              </a:r>
            </a:p>
          </p:txBody>
        </p:sp>
      </p:grpSp>
      <p:pic>
        <p:nvPicPr>
          <p:cNvPr id="253" name="gc_logo" descr="gc_logo"/>
          <p:cNvPicPr>
            <a:picLocks noChangeAspect="1"/>
          </p:cNvPicPr>
          <p:nvPr/>
        </p:nvPicPr>
        <p:blipFill>
          <a:blip r:embed="rId6">
            <a:alphaModFix amt="38000"/>
            <a:extLst/>
          </a:blip>
          <a:stretch>
            <a:fillRect/>
          </a:stretch>
        </p:blipFill>
        <p:spPr>
          <a:xfrm>
            <a:off x="10088574" y="786383"/>
            <a:ext cx="1554482" cy="1344170"/>
          </a:xfrm>
          <a:prstGeom prst="rect">
            <a:avLst/>
          </a:prstGeom>
          <a:ln w="12700">
            <a:miter lim="400000"/>
          </a:ln>
        </p:spPr>
      </p:pic>
      <p:sp>
        <p:nvSpPr>
          <p:cNvPr id="254" name="slide_title"/>
          <p:cNvSpPr txBox="1"/>
          <p:nvPr/>
        </p:nvSpPr>
        <p:spPr>
          <a:xfrm>
            <a:off x="1170432" y="1107442"/>
            <a:ext cx="8643823" cy="4002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200"/>
              </a:lnSpc>
              <a:defRPr b="1" sz="2700">
                <a:solidFill>
                  <a:srgbClr val="15395C"/>
                </a:solidFill>
                <a:latin typeface="Georgia"/>
                <a:ea typeface="Georgia"/>
                <a:cs typeface="Georgia"/>
                <a:sym typeface="Georgia"/>
              </a:defRPr>
            </a:lvl1pPr>
          </a:lstStyle>
          <a:p>
            <a:pPr/>
            <a:r>
              <a:t>Fair Tests and Variables worksheet</a:t>
            </a:r>
          </a:p>
        </p:txBody>
      </p:sp>
      <p:sp>
        <p:nvSpPr>
          <p:cNvPr id="255" name="slide_sub"/>
          <p:cNvSpPr txBox="1"/>
          <p:nvPr/>
        </p:nvSpPr>
        <p:spPr>
          <a:xfrm>
            <a:off x="1170432" y="1924786"/>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D312F"/>
                </a:solidFill>
                <a:latin typeface="Arial"/>
                <a:ea typeface="Arial"/>
                <a:cs typeface="Arial"/>
                <a:sym typeface="Arial"/>
              </a:defRPr>
            </a:lvl1pPr>
          </a:lstStyle>
          <a:p>
            <a:pPr/>
            <a:r>
              <a:t>Open Google Classroom now.</a:t>
            </a:r>
          </a:p>
        </p:txBody>
      </p:sp>
      <p:grpSp>
        <p:nvGrpSpPr>
          <p:cNvPr id="260" name="t0"/>
          <p:cNvGrpSpPr/>
          <p:nvPr/>
        </p:nvGrpSpPr>
        <p:grpSpPr>
          <a:xfrm>
            <a:off x="1170431" y="2322576"/>
            <a:ext cx="3307996" cy="1828802"/>
            <a:chOff x="0" y="0"/>
            <a:chExt cx="3307994" cy="1828800"/>
          </a:xfrm>
        </p:grpSpPr>
        <p:sp>
          <p:nvSpPr>
            <p:cNvPr id="256" name="t0_bg"/>
            <p:cNvSpPr/>
            <p:nvPr/>
          </p:nvSpPr>
          <p:spPr>
            <a:xfrm>
              <a:off x="-1" y="0"/>
              <a:ext cx="3307996" cy="1828801"/>
            </a:xfrm>
            <a:prstGeom prst="roundRect">
              <a:avLst>
                <a:gd name="adj" fmla="val 5000"/>
              </a:avLst>
            </a:prstGeom>
            <a:solidFill>
              <a:srgbClr val="FDEAE8"/>
            </a:solidFill>
            <a:ln w="20320" cap="flat">
              <a:solidFill>
                <a:srgbClr val="CD312F"/>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257" name="t0_h"/>
            <p:cNvSpPr txBox="1"/>
            <p:nvPr/>
          </p:nvSpPr>
          <p:spPr>
            <a:xfrm>
              <a:off x="237744" y="242638"/>
              <a:ext cx="2832507"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CD312F"/>
                  </a:solidFill>
                  <a:latin typeface="Arial"/>
                  <a:ea typeface="Arial"/>
                  <a:cs typeface="Arial"/>
                  <a:sym typeface="Arial"/>
                </a:defRPr>
              </a:lvl1pPr>
            </a:lstStyle>
            <a:p>
              <a:pPr/>
              <a:r>
                <a:t>BRONZE</a:t>
              </a:r>
            </a:p>
          </p:txBody>
        </p:sp>
        <p:sp>
          <p:nvSpPr>
            <p:cNvPr id="258" name="t0_s"/>
            <p:cNvSpPr txBox="1"/>
            <p:nvPr/>
          </p:nvSpPr>
          <p:spPr>
            <a:xfrm>
              <a:off x="237744" y="571475"/>
              <a:ext cx="2832507"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5395C"/>
                  </a:solidFill>
                  <a:latin typeface="Arial"/>
                  <a:ea typeface="Arial"/>
                  <a:cs typeface="Arial"/>
                  <a:sym typeface="Arial"/>
                </a:defRPr>
              </a:lvl1pPr>
            </a:lstStyle>
            <a:p>
              <a:pPr/>
              <a:r>
                <a:t>Name it</a:t>
              </a:r>
            </a:p>
          </p:txBody>
        </p:sp>
        <p:sp>
          <p:nvSpPr>
            <p:cNvPr id="259" name="t0_b"/>
            <p:cNvSpPr txBox="1"/>
            <p:nvPr/>
          </p:nvSpPr>
          <p:spPr>
            <a:xfrm>
              <a:off x="237744" y="877823"/>
              <a:ext cx="2832507" cy="7133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400">
                  <a:solidFill>
                    <a:srgbClr val="55708A"/>
                  </a:solidFill>
                  <a:latin typeface="Arial"/>
                  <a:ea typeface="Arial"/>
                  <a:cs typeface="Arial"/>
                  <a:sym typeface="Arial"/>
                </a:defRPr>
              </a:lvl1pPr>
            </a:lstStyle>
            <a:p>
              <a:pPr/>
              <a:r>
                <a:t>Name the independent and dependent variable for the aeroplane question.</a:t>
              </a:r>
            </a:p>
          </p:txBody>
        </p:sp>
      </p:grpSp>
      <p:grpSp>
        <p:nvGrpSpPr>
          <p:cNvPr id="265" name="t1"/>
          <p:cNvGrpSpPr/>
          <p:nvPr/>
        </p:nvGrpSpPr>
        <p:grpSpPr>
          <a:xfrm>
            <a:off x="4752745" y="2322576"/>
            <a:ext cx="3307997" cy="1828802"/>
            <a:chOff x="0" y="0"/>
            <a:chExt cx="3307995" cy="1828800"/>
          </a:xfrm>
        </p:grpSpPr>
        <p:sp>
          <p:nvSpPr>
            <p:cNvPr id="261" name="t1_bg"/>
            <p:cNvSpPr/>
            <p:nvPr/>
          </p:nvSpPr>
          <p:spPr>
            <a:xfrm>
              <a:off x="0" y="0"/>
              <a:ext cx="3307996" cy="1828801"/>
            </a:xfrm>
            <a:prstGeom prst="roundRect">
              <a:avLst>
                <a:gd name="adj" fmla="val 5000"/>
              </a:avLst>
            </a:prstGeom>
            <a:solidFill>
              <a:srgbClr val="F1F2F6"/>
            </a:solidFill>
            <a:ln w="20320" cap="flat">
              <a:solidFill>
                <a:srgbClr val="5A6480"/>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262" name="t1_h"/>
            <p:cNvSpPr txBox="1"/>
            <p:nvPr/>
          </p:nvSpPr>
          <p:spPr>
            <a:xfrm>
              <a:off x="237744" y="242638"/>
              <a:ext cx="2832508"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5A6480"/>
                  </a:solidFill>
                  <a:latin typeface="Arial"/>
                  <a:ea typeface="Arial"/>
                  <a:cs typeface="Arial"/>
                  <a:sym typeface="Arial"/>
                </a:defRPr>
              </a:lvl1pPr>
            </a:lstStyle>
            <a:p>
              <a:pPr/>
              <a:r>
                <a:t>SILVER</a:t>
              </a:r>
            </a:p>
          </p:txBody>
        </p:sp>
        <p:sp>
          <p:nvSpPr>
            <p:cNvPr id="263" name="t1_s"/>
            <p:cNvSpPr txBox="1"/>
            <p:nvPr/>
          </p:nvSpPr>
          <p:spPr>
            <a:xfrm>
              <a:off x="237744" y="571475"/>
              <a:ext cx="2832508"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5395C"/>
                  </a:solidFill>
                  <a:latin typeface="Arial"/>
                  <a:ea typeface="Arial"/>
                  <a:cs typeface="Arial"/>
                  <a:sym typeface="Arial"/>
                </a:defRPr>
              </a:lvl1pPr>
            </a:lstStyle>
            <a:p>
              <a:pPr/>
              <a:r>
                <a:t>Control it</a:t>
              </a:r>
            </a:p>
          </p:txBody>
        </p:sp>
        <p:sp>
          <p:nvSpPr>
            <p:cNvPr id="264" name="t1_b"/>
            <p:cNvSpPr txBox="1"/>
            <p:nvPr/>
          </p:nvSpPr>
          <p:spPr>
            <a:xfrm>
              <a:off x="237744" y="877823"/>
              <a:ext cx="2832508" cy="4720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400">
                  <a:solidFill>
                    <a:srgbClr val="55708A"/>
                  </a:solidFill>
                  <a:latin typeface="Arial"/>
                  <a:ea typeface="Arial"/>
                  <a:cs typeface="Arial"/>
                  <a:sym typeface="Arial"/>
                </a:defRPr>
              </a:lvl1pPr>
            </a:lstStyle>
            <a:p>
              <a:pPr/>
              <a:r>
                <a:t>List three variables you must control to make it a fair test.</a:t>
              </a:r>
            </a:p>
          </p:txBody>
        </p:sp>
      </p:grpSp>
      <p:grpSp>
        <p:nvGrpSpPr>
          <p:cNvPr id="270" name="t2"/>
          <p:cNvGrpSpPr/>
          <p:nvPr/>
        </p:nvGrpSpPr>
        <p:grpSpPr>
          <a:xfrm>
            <a:off x="8335060" y="2322576"/>
            <a:ext cx="3307996" cy="1828802"/>
            <a:chOff x="0" y="0"/>
            <a:chExt cx="3307994" cy="1828800"/>
          </a:xfrm>
        </p:grpSpPr>
        <p:sp>
          <p:nvSpPr>
            <p:cNvPr id="266" name="t2_bg"/>
            <p:cNvSpPr/>
            <p:nvPr/>
          </p:nvSpPr>
          <p:spPr>
            <a:xfrm>
              <a:off x="-1" y="0"/>
              <a:ext cx="3307996" cy="1828801"/>
            </a:xfrm>
            <a:prstGeom prst="roundRect">
              <a:avLst>
                <a:gd name="adj" fmla="val 5000"/>
              </a:avLst>
            </a:prstGeom>
            <a:solidFill>
              <a:srgbClr val="FDF3DC"/>
            </a:solidFill>
            <a:ln w="20320" cap="flat">
              <a:solidFill>
                <a:srgbClr val="957D11"/>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267" name="t2_h"/>
            <p:cNvSpPr txBox="1"/>
            <p:nvPr/>
          </p:nvSpPr>
          <p:spPr>
            <a:xfrm>
              <a:off x="237744" y="242638"/>
              <a:ext cx="2832507"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957D11"/>
                  </a:solidFill>
                  <a:latin typeface="Arial"/>
                  <a:ea typeface="Arial"/>
                  <a:cs typeface="Arial"/>
                  <a:sym typeface="Arial"/>
                </a:defRPr>
              </a:lvl1pPr>
            </a:lstStyle>
            <a:p>
              <a:pPr/>
              <a:r>
                <a:t>GOLD</a:t>
              </a:r>
            </a:p>
          </p:txBody>
        </p:sp>
        <p:sp>
          <p:nvSpPr>
            <p:cNvPr id="268" name="t2_s"/>
            <p:cNvSpPr txBox="1"/>
            <p:nvPr/>
          </p:nvSpPr>
          <p:spPr>
            <a:xfrm>
              <a:off x="237744" y="571475"/>
              <a:ext cx="2832507"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5395C"/>
                  </a:solidFill>
                  <a:latin typeface="Arial"/>
                  <a:ea typeface="Arial"/>
                  <a:cs typeface="Arial"/>
                  <a:sym typeface="Arial"/>
                </a:defRPr>
              </a:lvl1pPr>
            </a:lstStyle>
            <a:p>
              <a:pPr/>
              <a:r>
                <a:t>Design it</a:t>
              </a:r>
            </a:p>
          </p:txBody>
        </p:sp>
        <p:sp>
          <p:nvSpPr>
            <p:cNvPr id="269" name="t2_b"/>
            <p:cNvSpPr txBox="1"/>
            <p:nvPr/>
          </p:nvSpPr>
          <p:spPr>
            <a:xfrm>
              <a:off x="237744" y="877823"/>
              <a:ext cx="2832507" cy="4720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400">
                  <a:solidFill>
                    <a:srgbClr val="55708A"/>
                  </a:solidFill>
                  <a:latin typeface="Arial"/>
                  <a:ea typeface="Arial"/>
                  <a:cs typeface="Arial"/>
                  <a:sym typeface="Arial"/>
                </a:defRPr>
              </a:lvl1pPr>
            </a:lstStyle>
            <a:p>
              <a:pPr/>
              <a:r>
                <a:t>Write the hypothesis and explain why you would repeat each throw.</a:t>
              </a:r>
            </a:p>
          </p:txBody>
        </p:sp>
      </p:grpSp>
      <p:sp>
        <p:nvSpPr>
          <p:cNvPr id="271" name="yd_note"/>
          <p:cNvSpPr txBox="1"/>
          <p:nvPr/>
        </p:nvSpPr>
        <p:spPr>
          <a:xfrm>
            <a:off x="1170432" y="4543319"/>
            <a:ext cx="10472623"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5395C"/>
                </a:solidFill>
                <a:latin typeface="Arial"/>
                <a:ea typeface="Arial"/>
                <a:cs typeface="Arial"/>
                <a:sym typeface="Arial"/>
              </a:defRPr>
            </a:lvl1pPr>
          </a:lstStyle>
          <a:p>
            <a:pPr/>
            <a:r>
              <a:t>Remember the shape: if [I change this], then [this happens], because [reason].</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4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60"/>
                                        </p:tgtEl>
                                        <p:attrNameLst>
                                          <p:attrName>style.visibility</p:attrName>
                                        </p:attrNameLst>
                                      </p:cBhvr>
                                      <p:to>
                                        <p:strVal val="visible"/>
                                      </p:to>
                                    </p:set>
                                    <p:animEffect filter="fade" transition="in">
                                      <p:cBhvr>
                                        <p:cTn id="11" dur="400"/>
                                        <p:tgtEl>
                                          <p:spTgt spid="26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65"/>
                                        </p:tgtEl>
                                        <p:attrNameLst>
                                          <p:attrName>style.visibility</p:attrName>
                                        </p:attrNameLst>
                                      </p:cBhvr>
                                      <p:to>
                                        <p:strVal val="visible"/>
                                      </p:to>
                                    </p:set>
                                    <p:animEffect filter="fade" transition="in">
                                      <p:cBhvr>
                                        <p:cTn id="16" dur="400"/>
                                        <p:tgtEl>
                                          <p:spTgt spid="265"/>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70"/>
                                        </p:tgtEl>
                                        <p:attrNameLst>
                                          <p:attrName>style.visibility</p:attrName>
                                        </p:attrNameLst>
                                      </p:cBhvr>
                                      <p:to>
                                        <p:strVal val="visible"/>
                                      </p:to>
                                    </p:set>
                                    <p:animEffect filter="fade" transition="in">
                                      <p:cBhvr>
                                        <p:cTn id="21" dur="400"/>
                                        <p:tgtEl>
                                          <p:spTgt spid="270"/>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71"/>
                                        </p:tgtEl>
                                        <p:attrNameLst>
                                          <p:attrName>style.visibility</p:attrName>
                                        </p:attrNameLst>
                                      </p:cBhvr>
                                      <p:to>
                                        <p:strVal val="visible"/>
                                      </p:to>
                                    </p:set>
                                    <p:animEffect filter="fade" transition="in">
                                      <p:cBhvr>
                                        <p:cTn id="26" dur="400"/>
                                        <p:tgtEl>
                                          <p:spTgt spid="271"/>
                                        </p:tgtEl>
                                      </p:cBhvr>
                                    </p:animEffect>
                                  </p:childTnLst>
                                </p:cTn>
                              </p:par>
                            </p:childTnLst>
                          </p:cTn>
                        </p:par>
                      </p:childTnLst>
                    </p:cTn>
                  </p:par>
                  <p:par>
                    <p:cTn id="27" fill="hold">
                      <p:stCondLst>
                        <p:cond delay="indefinite"/>
                      </p:stCondLst>
                      <p:childTnLst>
                        <p:par>
                          <p:cTn id="28" fill="hold">
                            <p:stCondLst>
                              <p:cond delay="0"/>
                            </p:stCondLst>
                            <p:childTnLst>
                              <p:par>
                                <p:cTn id="29" presetClass="mediacall" nodeType="clickEffect" presetSubtype="0" presetID="3" grpId="1" fill="hold">
                                  <p:stCondLst>
                                    <p:cond delay="0"/>
                                  </p:stCondLst>
                                  <p:childTnLst>
                                    <p:cmd type="call" cmd="stop">
                                      <p:cBhvr>
                                        <p:cTn id="30" dur="1000" fill="hold"/>
                                        <p:tgtEl>
                                          <p:spTgt spid="249"/>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249"/>
                </p:tgtEl>
              </p:cMediaNode>
            </p:video>
            <p:seq concurrent="1" prevAc="none" nextAc="seek">
              <p:cTn id="32" evtFilter="cancelBubble" nodeType="interactiveSeq" restart="whenNotActive" fill="hold">
                <p:stCondLst>
                  <p:cond delay="0" evt="onClick">
                    <p:tgtEl>
                      <p:spTgt spid="249"/>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249"/>
                                        </p:tgtEl>
                                      </p:cBhvr>
                                    </p:cmd>
                                  </p:childTnLst>
                                </p:cTn>
                              </p:par>
                            </p:childTnLst>
                          </p:cTn>
                        </p:par>
                      </p:childTnLst>
                    </p:cTn>
                  </p:par>
                </p:childTnLst>
              </p:cTn>
              <p:nextCondLst>
                <p:cond delay="0" evt="onClick">
                  <p:tgtEl>
                    <p:spTgt spid="249"/>
                  </p:tgtEl>
                </p:cond>
              </p:nextCondLst>
            </p:seq>
          </p:childTnLst>
        </p:cTn>
      </p:par>
    </p:tnLst>
    <p:bldLst>
      <p:bldP build="whole" bldLvl="1" animBg="1" rev="0" advAuto="0" spid="260" grpId="2"/>
      <p:bldP build="whole" bldLvl="1" animBg="1" rev="0" advAuto="0" spid="265" grpId="3"/>
      <p:bldP build="whole" bldLvl="1" animBg="1" rev="0" advAuto="0" spid="271" grpId="5"/>
      <p:bldP build="whole" bldLvl="1" animBg="1" rev="0" advAuto="0" spid="270" grpId="4"/>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7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278" name="phase_pill"/>
          <p:cNvGrpSpPr/>
          <p:nvPr/>
        </p:nvGrpSpPr>
        <p:grpSpPr>
          <a:xfrm>
            <a:off x="1170432" y="310894"/>
            <a:ext cx="1892809" cy="329188"/>
            <a:chOff x="0" y="0"/>
            <a:chExt cx="1892808" cy="329186"/>
          </a:xfrm>
        </p:grpSpPr>
        <p:sp>
          <p:nvSpPr>
            <p:cNvPr id="276" name="Rounded Rectangle"/>
            <p:cNvSpPr/>
            <p:nvPr/>
          </p:nvSpPr>
          <p:spPr>
            <a:xfrm>
              <a:off x="0" y="-1"/>
              <a:ext cx="1892809"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j-lt"/>
                  <a:ea typeface="+mj-ea"/>
                  <a:cs typeface="+mj-cs"/>
                  <a:sym typeface="Calibri"/>
                </a:defRPr>
              </a:pPr>
            </a:p>
          </p:txBody>
        </p:sp>
        <p:sp>
          <p:nvSpPr>
            <p:cNvPr id="277" name="ANSWERS · 3 MIN"/>
            <p:cNvSpPr txBox="1"/>
            <p:nvPr/>
          </p:nvSpPr>
          <p:spPr>
            <a:xfrm>
              <a:off x="42850" y="90677"/>
              <a:ext cx="1807107"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ANSWERS · 3 MIN</a:t>
              </a:r>
            </a:p>
          </p:txBody>
        </p:sp>
      </p:grpSp>
      <p:sp>
        <p:nvSpPr>
          <p:cNvPr id="279"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5395C"/>
                </a:solidFill>
                <a:latin typeface="Georgia"/>
                <a:ea typeface="Georgia"/>
                <a:cs typeface="Georgia"/>
                <a:sym typeface="Georgia"/>
              </a:defRPr>
            </a:lvl1pPr>
          </a:lstStyle>
          <a:p>
            <a:pPr/>
            <a:r>
              <a:t>Answers</a:t>
            </a:r>
          </a:p>
        </p:txBody>
      </p:sp>
      <p:grpSp>
        <p:nvGrpSpPr>
          <p:cNvPr id="283" name="a0"/>
          <p:cNvGrpSpPr/>
          <p:nvPr/>
        </p:nvGrpSpPr>
        <p:grpSpPr>
          <a:xfrm>
            <a:off x="1170432" y="1828799"/>
            <a:ext cx="5117443" cy="658372"/>
            <a:chOff x="0" y="0"/>
            <a:chExt cx="5117441" cy="658370"/>
          </a:xfrm>
        </p:grpSpPr>
        <p:sp>
          <p:nvSpPr>
            <p:cNvPr id="280" name="a0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281" name="a0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1</a:t>
              </a:r>
            </a:p>
          </p:txBody>
        </p:sp>
        <p:sp>
          <p:nvSpPr>
            <p:cNvPr id="282" name="a0_t"/>
            <p:cNvSpPr txBox="1"/>
            <p:nvPr/>
          </p:nvSpPr>
          <p:spPr>
            <a:xfrm>
              <a:off x="749808" y="231756"/>
              <a:ext cx="4166466" cy="1948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sz="1200">
                  <a:solidFill>
                    <a:srgbClr val="0E2A40"/>
                  </a:solidFill>
                  <a:latin typeface="Arial"/>
                  <a:ea typeface="Arial"/>
                  <a:cs typeface="Arial"/>
                  <a:sym typeface="Arial"/>
                </a:defRPr>
              </a:lvl1pPr>
            </a:lstStyle>
            <a:p>
              <a:pPr/>
              <a:r>
                <a:t>The weight of the paper aeroplane.</a:t>
              </a:r>
            </a:p>
          </p:txBody>
        </p:sp>
      </p:grpSp>
      <p:grpSp>
        <p:nvGrpSpPr>
          <p:cNvPr id="287" name="a1"/>
          <p:cNvGrpSpPr/>
          <p:nvPr/>
        </p:nvGrpSpPr>
        <p:grpSpPr>
          <a:xfrm>
            <a:off x="6525614" y="1828799"/>
            <a:ext cx="5117443" cy="658372"/>
            <a:chOff x="0" y="0"/>
            <a:chExt cx="5117441" cy="658370"/>
          </a:xfrm>
        </p:grpSpPr>
        <p:sp>
          <p:nvSpPr>
            <p:cNvPr id="284" name="a1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285" name="a1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2</a:t>
              </a:r>
            </a:p>
          </p:txBody>
        </p:sp>
        <p:sp>
          <p:nvSpPr>
            <p:cNvPr id="286" name="a1_t"/>
            <p:cNvSpPr txBox="1"/>
            <p:nvPr/>
          </p:nvSpPr>
          <p:spPr>
            <a:xfrm>
              <a:off x="749808" y="231756"/>
              <a:ext cx="4166466" cy="1948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sz="1200">
                  <a:solidFill>
                    <a:srgbClr val="0E2A40"/>
                  </a:solidFill>
                  <a:latin typeface="Arial"/>
                  <a:ea typeface="Arial"/>
                  <a:cs typeface="Arial"/>
                  <a:sym typeface="Arial"/>
                </a:defRPr>
              </a:lvl1pPr>
            </a:lstStyle>
            <a:p>
              <a:pPr/>
              <a:r>
                <a:t>The distance the aeroplane flies.</a:t>
              </a:r>
            </a:p>
          </p:txBody>
        </p:sp>
      </p:grpSp>
      <p:grpSp>
        <p:nvGrpSpPr>
          <p:cNvPr id="291" name="a2"/>
          <p:cNvGrpSpPr/>
          <p:nvPr/>
        </p:nvGrpSpPr>
        <p:grpSpPr>
          <a:xfrm>
            <a:off x="1170432" y="2578606"/>
            <a:ext cx="5117443" cy="658371"/>
            <a:chOff x="0" y="0"/>
            <a:chExt cx="5117441" cy="658370"/>
          </a:xfrm>
        </p:grpSpPr>
        <p:sp>
          <p:nvSpPr>
            <p:cNvPr id="288" name="a2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289" name="a2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3</a:t>
              </a:r>
            </a:p>
          </p:txBody>
        </p:sp>
        <p:sp>
          <p:nvSpPr>
            <p:cNvPr id="290" name="a2_t"/>
            <p:cNvSpPr txBox="1"/>
            <p:nvPr/>
          </p:nvSpPr>
          <p:spPr>
            <a:xfrm>
              <a:off x="749808" y="231756"/>
              <a:ext cx="4166466" cy="1948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sz="1200">
                  <a:solidFill>
                    <a:srgbClr val="0E2A40"/>
                  </a:solidFill>
                  <a:latin typeface="Arial"/>
                  <a:ea typeface="Arial"/>
                  <a:cs typeface="Arial"/>
                  <a:sym typeface="Arial"/>
                </a:defRPr>
              </a:lvl1pPr>
            </a:lstStyle>
            <a:p>
              <a:pPr/>
              <a:r>
                <a:t>Kept the same.</a:t>
              </a:r>
            </a:p>
          </p:txBody>
        </p:sp>
      </p:grpSp>
      <p:grpSp>
        <p:nvGrpSpPr>
          <p:cNvPr id="295" name="a3"/>
          <p:cNvGrpSpPr/>
          <p:nvPr/>
        </p:nvGrpSpPr>
        <p:grpSpPr>
          <a:xfrm>
            <a:off x="6525614" y="2578606"/>
            <a:ext cx="5117443" cy="658371"/>
            <a:chOff x="0" y="0"/>
            <a:chExt cx="5117441" cy="658370"/>
          </a:xfrm>
        </p:grpSpPr>
        <p:sp>
          <p:nvSpPr>
            <p:cNvPr id="292" name="a3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293" name="a3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4</a:t>
              </a:r>
            </a:p>
          </p:txBody>
        </p:sp>
        <p:sp>
          <p:nvSpPr>
            <p:cNvPr id="294" name="a3_t"/>
            <p:cNvSpPr txBox="1"/>
            <p:nvPr/>
          </p:nvSpPr>
          <p:spPr>
            <a:xfrm>
              <a:off x="749808" y="130156"/>
              <a:ext cx="4166466" cy="3980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sz="1200">
                  <a:solidFill>
                    <a:srgbClr val="0E2A40"/>
                  </a:solidFill>
                  <a:latin typeface="Arial"/>
                  <a:ea typeface="Arial"/>
                  <a:cs typeface="Arial"/>
                  <a:sym typeface="Arial"/>
                </a:defRPr>
              </a:lvl1pPr>
            </a:lstStyle>
            <a:p>
              <a:pPr/>
              <a:r>
                <a:t>To check the result is not a fluke, and to get a reliable average.</a:t>
              </a:r>
            </a:p>
          </p:txBody>
        </p:sp>
      </p:grpSp>
      <p:grpSp>
        <p:nvGrpSpPr>
          <p:cNvPr id="299" name="a4"/>
          <p:cNvGrpSpPr/>
          <p:nvPr/>
        </p:nvGrpSpPr>
        <p:grpSpPr>
          <a:xfrm>
            <a:off x="1170432" y="3328415"/>
            <a:ext cx="5117443" cy="658371"/>
            <a:chOff x="0" y="0"/>
            <a:chExt cx="5117441" cy="658370"/>
          </a:xfrm>
        </p:grpSpPr>
        <p:sp>
          <p:nvSpPr>
            <p:cNvPr id="296" name="a4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297" name="a4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5</a:t>
              </a:r>
            </a:p>
          </p:txBody>
        </p:sp>
        <p:sp>
          <p:nvSpPr>
            <p:cNvPr id="298" name="a4_t"/>
            <p:cNvSpPr txBox="1"/>
            <p:nvPr/>
          </p:nvSpPr>
          <p:spPr>
            <a:xfrm>
              <a:off x="749808" y="130156"/>
              <a:ext cx="4166466" cy="3980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sz="1200">
                  <a:solidFill>
                    <a:srgbClr val="0E2A40"/>
                  </a:solidFill>
                  <a:latin typeface="Arial"/>
                  <a:ea typeface="Arial"/>
                  <a:cs typeface="Arial"/>
                  <a:sym typeface="Arial"/>
                </a:defRPr>
              </a:lvl1pPr>
            </a:lstStyle>
            <a:p>
              <a:pPr/>
              <a:r>
                <a:t>Any three: same paper, same fold, same thrower, same launch height, no wind.</a:t>
              </a:r>
            </a:p>
          </p:txBody>
        </p:sp>
      </p:grpSp>
      <p:grpSp>
        <p:nvGrpSpPr>
          <p:cNvPr id="303" name="a5"/>
          <p:cNvGrpSpPr/>
          <p:nvPr/>
        </p:nvGrpSpPr>
        <p:grpSpPr>
          <a:xfrm>
            <a:off x="6525614" y="3328415"/>
            <a:ext cx="5117443" cy="658371"/>
            <a:chOff x="0" y="0"/>
            <a:chExt cx="5117441" cy="658370"/>
          </a:xfrm>
        </p:grpSpPr>
        <p:sp>
          <p:nvSpPr>
            <p:cNvPr id="300" name="a5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301" name="a5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6</a:t>
              </a:r>
            </a:p>
          </p:txBody>
        </p:sp>
        <p:sp>
          <p:nvSpPr>
            <p:cNvPr id="302" name="a5_t"/>
            <p:cNvSpPr txBox="1"/>
            <p:nvPr/>
          </p:nvSpPr>
          <p:spPr>
            <a:xfrm>
              <a:off x="749808" y="130156"/>
              <a:ext cx="4166466" cy="3980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sz="1200">
                  <a:solidFill>
                    <a:srgbClr val="0E2A40"/>
                  </a:solidFill>
                  <a:latin typeface="Arial"/>
                  <a:ea typeface="Arial"/>
                  <a:cs typeface="Arial"/>
                  <a:sym typeface="Arial"/>
                </a:defRPr>
              </a:lvl1pPr>
            </a:lstStyle>
            <a:p>
              <a:pPr/>
              <a:r>
                <a:t>So the throw itself is not the reason for any difference in distance.</a:t>
              </a:r>
            </a:p>
          </p:txBody>
        </p:sp>
      </p:grpSp>
      <p:grpSp>
        <p:nvGrpSpPr>
          <p:cNvPr id="307" name="a6"/>
          <p:cNvGrpSpPr/>
          <p:nvPr/>
        </p:nvGrpSpPr>
        <p:grpSpPr>
          <a:xfrm>
            <a:off x="1170432" y="4078223"/>
            <a:ext cx="5117443" cy="658371"/>
            <a:chOff x="0" y="0"/>
            <a:chExt cx="5117441" cy="658370"/>
          </a:xfrm>
        </p:grpSpPr>
        <p:sp>
          <p:nvSpPr>
            <p:cNvPr id="304" name="a6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305" name="a6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7</a:t>
              </a:r>
            </a:p>
          </p:txBody>
        </p:sp>
        <p:sp>
          <p:nvSpPr>
            <p:cNvPr id="306" name="a6_t"/>
            <p:cNvSpPr txBox="1"/>
            <p:nvPr/>
          </p:nvSpPr>
          <p:spPr>
            <a:xfrm>
              <a:off x="749808" y="130156"/>
              <a:ext cx="4166466" cy="3980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sz="1200">
                  <a:solidFill>
                    <a:srgbClr val="0E2A40"/>
                  </a:solidFill>
                  <a:latin typeface="Arial"/>
                  <a:ea typeface="Arial"/>
                  <a:cs typeface="Arial"/>
                  <a:sym typeface="Arial"/>
                </a:defRPr>
              </a:lvl1pPr>
            </a:lstStyle>
            <a:p>
              <a:pPr/>
              <a:r>
                <a:t>Independent: amount of sugar. Dependent: how fast the ice melts.</a:t>
              </a:r>
            </a:p>
          </p:txBody>
        </p:sp>
      </p:grpSp>
      <p:grpSp>
        <p:nvGrpSpPr>
          <p:cNvPr id="311" name="a7"/>
          <p:cNvGrpSpPr/>
          <p:nvPr/>
        </p:nvGrpSpPr>
        <p:grpSpPr>
          <a:xfrm>
            <a:off x="6525614" y="4078223"/>
            <a:ext cx="5117443" cy="658371"/>
            <a:chOff x="0" y="0"/>
            <a:chExt cx="5117441" cy="658370"/>
          </a:xfrm>
        </p:grpSpPr>
        <p:sp>
          <p:nvSpPr>
            <p:cNvPr id="308" name="a7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309" name="a7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8</a:t>
              </a:r>
            </a:p>
          </p:txBody>
        </p:sp>
        <p:sp>
          <p:nvSpPr>
            <p:cNvPr id="310" name="a7_t"/>
            <p:cNvSpPr txBox="1"/>
            <p:nvPr/>
          </p:nvSpPr>
          <p:spPr>
            <a:xfrm>
              <a:off x="749808" y="130156"/>
              <a:ext cx="4166466" cy="3980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sz="1200">
                  <a:solidFill>
                    <a:srgbClr val="0E2A40"/>
                  </a:solidFill>
                  <a:latin typeface="Arial"/>
                  <a:ea typeface="Arial"/>
                  <a:cs typeface="Arial"/>
                  <a:sym typeface="Arial"/>
                </a:defRPr>
              </a:lvl1pPr>
            </a:lstStyle>
            <a:p>
              <a:pPr/>
              <a:r>
                <a:t>Accept any "if...then...because" hypothesis linking weight and distance.</a:t>
              </a:r>
            </a:p>
          </p:txBody>
        </p:sp>
      </p:grpSp>
      <p:grpSp>
        <p:nvGrpSpPr>
          <p:cNvPr id="315" name="a8"/>
          <p:cNvGrpSpPr/>
          <p:nvPr/>
        </p:nvGrpSpPr>
        <p:grpSpPr>
          <a:xfrm>
            <a:off x="1170432" y="4828032"/>
            <a:ext cx="5117443" cy="658371"/>
            <a:chOff x="0" y="0"/>
            <a:chExt cx="5117441" cy="658370"/>
          </a:xfrm>
        </p:grpSpPr>
        <p:sp>
          <p:nvSpPr>
            <p:cNvPr id="312" name="a8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313" name="a8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9</a:t>
              </a:r>
            </a:p>
          </p:txBody>
        </p:sp>
        <p:sp>
          <p:nvSpPr>
            <p:cNvPr id="314" name="a8_t"/>
            <p:cNvSpPr txBox="1"/>
            <p:nvPr/>
          </p:nvSpPr>
          <p:spPr>
            <a:xfrm>
              <a:off x="749808" y="130156"/>
              <a:ext cx="4166466" cy="3980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sz="1200">
                  <a:solidFill>
                    <a:srgbClr val="0E2A40"/>
                  </a:solidFill>
                  <a:latin typeface="Arial"/>
                  <a:ea typeface="Arial"/>
                  <a:cs typeface="Arial"/>
                  <a:sym typeface="Arial"/>
                </a:defRPr>
              </a:lvl1pPr>
            </a:lstStyle>
            <a:p>
              <a:pPr/>
              <a:r>
                <a:t>Repeat several times and take an average, so one unusual throw does not fool you.</a:t>
              </a:r>
            </a:p>
          </p:txBody>
        </p:sp>
      </p:grpSp>
      <p:grpSp>
        <p:nvGrpSpPr>
          <p:cNvPr id="319" name="a9"/>
          <p:cNvGrpSpPr/>
          <p:nvPr/>
        </p:nvGrpSpPr>
        <p:grpSpPr>
          <a:xfrm>
            <a:off x="6525614" y="4828032"/>
            <a:ext cx="5117443" cy="658371"/>
            <a:chOff x="0" y="0"/>
            <a:chExt cx="5117441" cy="658370"/>
          </a:xfrm>
        </p:grpSpPr>
        <p:sp>
          <p:nvSpPr>
            <p:cNvPr id="316" name="a9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317" name="a9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10</a:t>
              </a:r>
            </a:p>
          </p:txBody>
        </p:sp>
        <p:sp>
          <p:nvSpPr>
            <p:cNvPr id="318" name="a9_t"/>
            <p:cNvSpPr txBox="1"/>
            <p:nvPr/>
          </p:nvSpPr>
          <p:spPr>
            <a:xfrm>
              <a:off x="749808" y="130156"/>
              <a:ext cx="4166466" cy="3980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sz="1200">
                  <a:solidFill>
                    <a:srgbClr val="0E2A40"/>
                  </a:solidFill>
                  <a:latin typeface="Arial"/>
                  <a:ea typeface="Arial"/>
                  <a:cs typeface="Arial"/>
                  <a:sym typeface="Arial"/>
                </a:defRPr>
              </a:lvl1pPr>
            </a:lstStyle>
            <a:p>
              <a:pPr/>
              <a:r>
                <a:t>Answers vary. Must name a manipulated, a responding, and a controlled variable.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7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83"/>
                                        </p:tgtEl>
                                        <p:attrNameLst>
                                          <p:attrName>style.visibility</p:attrName>
                                        </p:attrNameLst>
                                      </p:cBhvr>
                                      <p:to>
                                        <p:strVal val="visible"/>
                                      </p:to>
                                    </p:set>
                                    <p:animEffect filter="fade" transition="in">
                                      <p:cBhvr>
                                        <p:cTn id="11" dur="400"/>
                                        <p:tgtEl>
                                          <p:spTgt spid="283"/>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287"/>
                                        </p:tgtEl>
                                        <p:attrNameLst>
                                          <p:attrName>style.visibility</p:attrName>
                                        </p:attrNameLst>
                                      </p:cBhvr>
                                      <p:to>
                                        <p:strVal val="visible"/>
                                      </p:to>
                                    </p:set>
                                    <p:animEffect filter="fade" transition="in">
                                      <p:cBhvr>
                                        <p:cTn id="15" dur="400"/>
                                        <p:tgtEl>
                                          <p:spTgt spid="287"/>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291"/>
                                        </p:tgtEl>
                                        <p:attrNameLst>
                                          <p:attrName>style.visibility</p:attrName>
                                        </p:attrNameLst>
                                      </p:cBhvr>
                                      <p:to>
                                        <p:strVal val="visible"/>
                                      </p:to>
                                    </p:set>
                                    <p:animEffect filter="fade" transition="in">
                                      <p:cBhvr>
                                        <p:cTn id="20" dur="400"/>
                                        <p:tgtEl>
                                          <p:spTgt spid="291"/>
                                        </p:tgtEl>
                                      </p:cBhvr>
                                    </p:animEffect>
                                  </p:childTnLst>
                                </p:cTn>
                              </p:par>
                            </p:childTnLst>
                          </p:cTn>
                        </p:par>
                        <p:par>
                          <p:cTn id="21" fill="hold">
                            <p:stCondLst>
                              <p:cond delay="400"/>
                            </p:stCondLst>
                            <p:childTnLst>
                              <p:par>
                                <p:cTn id="22" presetClass="entr" nodeType="afterEffect" presetID="10" grpId="5" fill="hold">
                                  <p:stCondLst>
                                    <p:cond delay="150"/>
                                  </p:stCondLst>
                                  <p:iterate type="el" backwards="0">
                                    <p:tmAbs val="0"/>
                                  </p:iterate>
                                  <p:childTnLst>
                                    <p:set>
                                      <p:cBhvr>
                                        <p:cTn id="23" fill="hold"/>
                                        <p:tgtEl>
                                          <p:spTgt spid="295"/>
                                        </p:tgtEl>
                                        <p:attrNameLst>
                                          <p:attrName>style.visibility</p:attrName>
                                        </p:attrNameLst>
                                      </p:cBhvr>
                                      <p:to>
                                        <p:strVal val="visible"/>
                                      </p:to>
                                    </p:set>
                                    <p:animEffect filter="fade" transition="in">
                                      <p:cBhvr>
                                        <p:cTn id="24" dur="400"/>
                                        <p:tgtEl>
                                          <p:spTgt spid="295"/>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299"/>
                                        </p:tgtEl>
                                        <p:attrNameLst>
                                          <p:attrName>style.visibility</p:attrName>
                                        </p:attrNameLst>
                                      </p:cBhvr>
                                      <p:to>
                                        <p:strVal val="visible"/>
                                      </p:to>
                                    </p:set>
                                    <p:animEffect filter="fade" transition="in">
                                      <p:cBhvr>
                                        <p:cTn id="29" dur="400"/>
                                        <p:tgtEl>
                                          <p:spTgt spid="299"/>
                                        </p:tgtEl>
                                      </p:cBhvr>
                                    </p:animEffect>
                                  </p:childTnLst>
                                </p:cTn>
                              </p:par>
                            </p:childTnLst>
                          </p:cTn>
                        </p:par>
                        <p:par>
                          <p:cTn id="30" fill="hold">
                            <p:stCondLst>
                              <p:cond delay="400"/>
                            </p:stCondLst>
                            <p:childTnLst>
                              <p:par>
                                <p:cTn id="31" presetClass="entr" nodeType="afterEffect" presetID="10" grpId="7" fill="hold">
                                  <p:stCondLst>
                                    <p:cond delay="150"/>
                                  </p:stCondLst>
                                  <p:iterate type="el" backwards="0">
                                    <p:tmAbs val="0"/>
                                  </p:iterate>
                                  <p:childTnLst>
                                    <p:set>
                                      <p:cBhvr>
                                        <p:cTn id="32" fill="hold"/>
                                        <p:tgtEl>
                                          <p:spTgt spid="303"/>
                                        </p:tgtEl>
                                        <p:attrNameLst>
                                          <p:attrName>style.visibility</p:attrName>
                                        </p:attrNameLst>
                                      </p:cBhvr>
                                      <p:to>
                                        <p:strVal val="visible"/>
                                      </p:to>
                                    </p:set>
                                    <p:animEffect filter="fade" transition="in">
                                      <p:cBhvr>
                                        <p:cTn id="33" dur="400"/>
                                        <p:tgtEl>
                                          <p:spTgt spid="303"/>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8" fill="hold">
                                  <p:stCondLst>
                                    <p:cond delay="0"/>
                                  </p:stCondLst>
                                  <p:iterate type="el" backwards="0">
                                    <p:tmAbs val="0"/>
                                  </p:iterate>
                                  <p:childTnLst>
                                    <p:set>
                                      <p:cBhvr>
                                        <p:cTn id="37" fill="hold"/>
                                        <p:tgtEl>
                                          <p:spTgt spid="307"/>
                                        </p:tgtEl>
                                        <p:attrNameLst>
                                          <p:attrName>style.visibility</p:attrName>
                                        </p:attrNameLst>
                                      </p:cBhvr>
                                      <p:to>
                                        <p:strVal val="visible"/>
                                      </p:to>
                                    </p:set>
                                    <p:animEffect filter="fade" transition="in">
                                      <p:cBhvr>
                                        <p:cTn id="38" dur="400"/>
                                        <p:tgtEl>
                                          <p:spTgt spid="307"/>
                                        </p:tgtEl>
                                      </p:cBhvr>
                                    </p:animEffect>
                                  </p:childTnLst>
                                </p:cTn>
                              </p:par>
                            </p:childTnLst>
                          </p:cTn>
                        </p:par>
                        <p:par>
                          <p:cTn id="39" fill="hold">
                            <p:stCondLst>
                              <p:cond delay="400"/>
                            </p:stCondLst>
                            <p:childTnLst>
                              <p:par>
                                <p:cTn id="40" presetClass="entr" nodeType="afterEffect" presetID="10" grpId="9" fill="hold">
                                  <p:stCondLst>
                                    <p:cond delay="150"/>
                                  </p:stCondLst>
                                  <p:iterate type="el" backwards="0">
                                    <p:tmAbs val="0"/>
                                  </p:iterate>
                                  <p:childTnLst>
                                    <p:set>
                                      <p:cBhvr>
                                        <p:cTn id="41" fill="hold"/>
                                        <p:tgtEl>
                                          <p:spTgt spid="311"/>
                                        </p:tgtEl>
                                        <p:attrNameLst>
                                          <p:attrName>style.visibility</p:attrName>
                                        </p:attrNameLst>
                                      </p:cBhvr>
                                      <p:to>
                                        <p:strVal val="visible"/>
                                      </p:to>
                                    </p:set>
                                    <p:animEffect filter="fade" transition="in">
                                      <p:cBhvr>
                                        <p:cTn id="42" dur="400"/>
                                        <p:tgtEl>
                                          <p:spTgt spid="311"/>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10" fill="hold">
                                  <p:stCondLst>
                                    <p:cond delay="0"/>
                                  </p:stCondLst>
                                  <p:iterate type="el" backwards="0">
                                    <p:tmAbs val="0"/>
                                  </p:iterate>
                                  <p:childTnLst>
                                    <p:set>
                                      <p:cBhvr>
                                        <p:cTn id="46" fill="hold"/>
                                        <p:tgtEl>
                                          <p:spTgt spid="315"/>
                                        </p:tgtEl>
                                        <p:attrNameLst>
                                          <p:attrName>style.visibility</p:attrName>
                                        </p:attrNameLst>
                                      </p:cBhvr>
                                      <p:to>
                                        <p:strVal val="visible"/>
                                      </p:to>
                                    </p:set>
                                    <p:animEffect filter="fade" transition="in">
                                      <p:cBhvr>
                                        <p:cTn id="47" dur="400"/>
                                        <p:tgtEl>
                                          <p:spTgt spid="315"/>
                                        </p:tgtEl>
                                      </p:cBhvr>
                                    </p:animEffect>
                                  </p:childTnLst>
                                </p:cTn>
                              </p:par>
                            </p:childTnLst>
                          </p:cTn>
                        </p:par>
                        <p:par>
                          <p:cTn id="48" fill="hold">
                            <p:stCondLst>
                              <p:cond delay="400"/>
                            </p:stCondLst>
                            <p:childTnLst>
                              <p:par>
                                <p:cTn id="49" presetClass="entr" nodeType="afterEffect" presetID="10" grpId="11" fill="hold">
                                  <p:stCondLst>
                                    <p:cond delay="150"/>
                                  </p:stCondLst>
                                  <p:iterate type="el" backwards="0">
                                    <p:tmAbs val="0"/>
                                  </p:iterate>
                                  <p:childTnLst>
                                    <p:set>
                                      <p:cBhvr>
                                        <p:cTn id="50" fill="hold"/>
                                        <p:tgtEl>
                                          <p:spTgt spid="319"/>
                                        </p:tgtEl>
                                        <p:attrNameLst>
                                          <p:attrName>style.visibility</p:attrName>
                                        </p:attrNameLst>
                                      </p:cBhvr>
                                      <p:to>
                                        <p:strVal val="visible"/>
                                      </p:to>
                                    </p:set>
                                    <p:animEffect filter="fade" transition="in">
                                      <p:cBhvr>
                                        <p:cTn id="51" dur="400"/>
                                        <p:tgtEl>
                                          <p:spTgt spid="319"/>
                                        </p:tgtEl>
                                      </p:cBhvr>
                                    </p:animEffect>
                                  </p:childTnLst>
                                </p:cTn>
                              </p:par>
                            </p:childTnLst>
                          </p:cTn>
                        </p:par>
                      </p:childTnLst>
                    </p:cTn>
                  </p:par>
                  <p:par>
                    <p:cTn id="52" fill="hold">
                      <p:stCondLst>
                        <p:cond delay="indefinite"/>
                      </p:stCondLst>
                      <p:childTnLst>
                        <p:par>
                          <p:cTn id="53" fill="hold">
                            <p:stCondLst>
                              <p:cond delay="0"/>
                            </p:stCondLst>
                            <p:childTnLst>
                              <p:par>
                                <p:cTn id="54" presetClass="mediacall" nodeType="clickEffect" presetSubtype="0" presetID="3" grpId="1" fill="hold">
                                  <p:stCondLst>
                                    <p:cond delay="0"/>
                                  </p:stCondLst>
                                  <p:childTnLst>
                                    <p:cmd type="call" cmd="stop">
                                      <p:cBhvr>
                                        <p:cTn id="55" dur="1000" fill="hold"/>
                                        <p:tgtEl>
                                          <p:spTgt spid="275"/>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56" fill="hold" display="0">
                  <p:stCondLst>
                    <p:cond delay="indefinite"/>
                  </p:stCondLst>
                </p:cTn>
                <p:tgtEl>
                  <p:spTgt spid="275"/>
                </p:tgtEl>
              </p:cMediaNode>
            </p:video>
            <p:seq concurrent="1" prevAc="none" nextAc="seek">
              <p:cTn id="57" evtFilter="cancelBubble" nodeType="interactiveSeq" restart="whenNotActive" fill="hold">
                <p:stCondLst>
                  <p:cond delay="0" evt="onClick">
                    <p:tgtEl>
                      <p:spTgt spid="275"/>
                    </p:tgtEl>
                  </p:cond>
                </p:stCondLst>
                <p:endSync delay="0" evt="end">
                  <p:rtn val="all"/>
                </p:endSync>
                <p:childTnLst>
                  <p:par>
                    <p:cTn id="58" fill="hold">
                      <p:stCondLst>
                        <p:cond delay="0"/>
                      </p:stCondLst>
                      <p:childTnLst>
                        <p:par>
                          <p:cTn id="59" fill="hold">
                            <p:stCondLst>
                              <p:cond delay="0"/>
                            </p:stCondLst>
                            <p:childTnLst>
                              <p:par>
                                <p:cTn id="60" presetClass="mediacall" nodeType="clickEffect" presetSubtype="0" presetID="2" fill="hold">
                                  <p:stCondLst>
                                    <p:cond delay="0"/>
                                  </p:stCondLst>
                                  <p:childTnLst>
                                    <p:cmd type="call" cmd="togglePause">
                                      <p:cBhvr>
                                        <p:cTn id="61" dur="1" fill="hold"/>
                                        <p:tgtEl>
                                          <p:spTgt spid="275"/>
                                        </p:tgtEl>
                                      </p:cBhvr>
                                    </p:cmd>
                                  </p:childTnLst>
                                </p:cTn>
                              </p:par>
                            </p:childTnLst>
                          </p:cTn>
                        </p:par>
                      </p:childTnLst>
                    </p:cTn>
                  </p:par>
                </p:childTnLst>
              </p:cTn>
              <p:nextCondLst>
                <p:cond delay="0" evt="onClick">
                  <p:tgtEl>
                    <p:spTgt spid="275"/>
                  </p:tgtEl>
                </p:cond>
              </p:nextCondLst>
            </p:seq>
          </p:childTnLst>
        </p:cTn>
      </p:par>
    </p:tnLst>
    <p:bldLst>
      <p:bldP build="whole" bldLvl="1" animBg="1" rev="0" advAuto="0" spid="299" grpId="6"/>
      <p:bldP build="whole" bldLvl="1" animBg="1" rev="0" advAuto="0" spid="315" grpId="10"/>
      <p:bldP build="whole" bldLvl="1" animBg="1" rev="0" advAuto="0" spid="283" grpId="2"/>
      <p:bldP build="whole" bldLvl="1" animBg="1" rev="0" advAuto="0" spid="295" grpId="5"/>
      <p:bldP build="whole" bldLvl="1" animBg="1" rev="0" advAuto="0" spid="311" grpId="9"/>
      <p:bldP build="whole" bldLvl="1" animBg="1" rev="0" advAuto="0" spid="291" grpId="4"/>
      <p:bldP build="whole" bldLvl="1" animBg="1" rev="0" advAuto="0" spid="307" grpId="8"/>
      <p:bldP build="whole" bldLvl="1" animBg="1" rev="0" advAuto="0" spid="287" grpId="3"/>
      <p:bldP build="whole" bldLvl="1" animBg="1" rev="0" advAuto="0" spid="303" grpId="7"/>
      <p:bldP build="whole" bldLvl="1" animBg="1" rev="0" advAuto="0" spid="319" grpId="1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5395C"/>
        </a:solidFill>
      </p:bgPr>
    </p:bg>
    <p:spTree>
      <p:nvGrpSpPr>
        <p:cNvPr id="1" name=""/>
        <p:cNvGrpSpPr/>
        <p:nvPr/>
      </p:nvGrpSpPr>
      <p:grpSpPr>
        <a:xfrm>
          <a:off x="0" y="0"/>
          <a:ext cx="0" cy="0"/>
          <a:chOff x="0" y="0"/>
          <a:chExt cx="0" cy="0"/>
        </a:xfrm>
      </p:grpSpPr>
      <p:pic>
        <p:nvPicPr>
          <p:cNvPr id="32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326" name="phase_pill"/>
          <p:cNvGrpSpPr/>
          <p:nvPr/>
        </p:nvGrpSpPr>
        <p:grpSpPr>
          <a:xfrm>
            <a:off x="1170432" y="310894"/>
            <a:ext cx="1892809" cy="329188"/>
            <a:chOff x="0" y="0"/>
            <a:chExt cx="1892808" cy="329186"/>
          </a:xfrm>
        </p:grpSpPr>
        <p:sp>
          <p:nvSpPr>
            <p:cNvPr id="324" name="Rounded Rectangle"/>
            <p:cNvSpPr/>
            <p:nvPr/>
          </p:nvSpPr>
          <p:spPr>
            <a:xfrm>
              <a:off x="0" y="-1"/>
              <a:ext cx="1892809" cy="329188"/>
            </a:xfrm>
            <a:prstGeom prst="roundRect">
              <a:avLst>
                <a:gd name="adj" fmla="val 44444"/>
              </a:avLst>
            </a:prstGeom>
            <a:solidFill>
              <a:srgbClr val="FFD921"/>
            </a:solidFill>
            <a:ln w="12700" cap="flat">
              <a:noFill/>
              <a:miter lim="400000"/>
            </a:ln>
            <a:effectLst/>
          </p:spPr>
          <p:txBody>
            <a:bodyPr wrap="square" lIns="45718" tIns="45718" rIns="45718" bIns="45718" numCol="1" anchor="ctr">
              <a:noAutofit/>
            </a:bodyPr>
            <a:lstStyle/>
            <a:p>
              <a:pPr algn="ctr">
                <a:defRPr sz="1100">
                  <a:latin typeface="+mj-lt"/>
                  <a:ea typeface="+mj-ea"/>
                  <a:cs typeface="+mj-cs"/>
                  <a:sym typeface="Calibri"/>
                </a:defRPr>
              </a:pPr>
            </a:p>
          </p:txBody>
        </p:sp>
        <p:sp>
          <p:nvSpPr>
            <p:cNvPr id="325" name="PLENARY · 3 MIN"/>
            <p:cNvSpPr txBox="1"/>
            <p:nvPr/>
          </p:nvSpPr>
          <p:spPr>
            <a:xfrm>
              <a:off x="42850" y="90677"/>
              <a:ext cx="1807107"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5395C"/>
                  </a:solidFill>
                  <a:latin typeface="Arial"/>
                  <a:ea typeface="Arial"/>
                  <a:cs typeface="Arial"/>
                  <a:sym typeface="Arial"/>
                </a:defRPr>
              </a:lvl1pPr>
            </a:lstStyle>
            <a:p>
              <a:pPr/>
              <a:r>
                <a:t>PLENARY · 3 MIN</a:t>
              </a:r>
            </a:p>
          </p:txBody>
        </p:sp>
      </p:grpSp>
      <p:sp>
        <p:nvSpPr>
          <p:cNvPr id="327"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F2F6FB"/>
                </a:solidFill>
                <a:latin typeface="Georgia"/>
                <a:ea typeface="Georgia"/>
                <a:cs typeface="Georgia"/>
                <a:sym typeface="Georgia"/>
              </a:defRPr>
            </a:lvl1pPr>
          </a:lstStyle>
          <a:p>
            <a:pPr/>
            <a:r>
              <a:t>True or false?</a:t>
            </a:r>
          </a:p>
        </p:txBody>
      </p:sp>
      <p:grpSp>
        <p:nvGrpSpPr>
          <p:cNvPr id="330" name="p0_stmt"/>
          <p:cNvGrpSpPr/>
          <p:nvPr/>
        </p:nvGrpSpPr>
        <p:grpSpPr>
          <a:xfrm>
            <a:off x="1170431" y="2194560"/>
            <a:ext cx="8552385" cy="640083"/>
            <a:chOff x="0" y="0"/>
            <a:chExt cx="8552384" cy="640082"/>
          </a:xfrm>
        </p:grpSpPr>
        <p:sp>
          <p:nvSpPr>
            <p:cNvPr id="328" name="p0_bg"/>
            <p:cNvSpPr/>
            <p:nvPr/>
          </p:nvSpPr>
          <p:spPr>
            <a:xfrm>
              <a:off x="-1" y="-1"/>
              <a:ext cx="8552385" cy="640083"/>
            </a:xfrm>
            <a:prstGeom prst="roundRect">
              <a:avLst>
                <a:gd name="adj" fmla="val 14286"/>
              </a:avLst>
            </a:prstGeom>
            <a:solidFill>
              <a:srgbClr val="1E4A6B"/>
            </a:solidFill>
            <a:ln w="12700" cap="flat">
              <a:solidFill>
                <a:srgbClr val="2C5C82"/>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329" name="p0_q"/>
            <p:cNvSpPr txBox="1"/>
            <p:nvPr/>
          </p:nvSpPr>
          <p:spPr>
            <a:xfrm>
              <a:off x="256032" y="215206"/>
              <a:ext cx="8186623"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The independent variable is the one you measure.</a:t>
              </a:r>
            </a:p>
          </p:txBody>
        </p:sp>
      </p:grpSp>
      <p:sp>
        <p:nvSpPr>
          <p:cNvPr id="331" name="p0_v"/>
          <p:cNvSpPr txBox="1"/>
          <p:nvPr/>
        </p:nvSpPr>
        <p:spPr>
          <a:xfrm>
            <a:off x="9905695" y="2391130"/>
            <a:ext cx="1737362"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D921"/>
                </a:solidFill>
                <a:latin typeface="Arial"/>
                <a:ea typeface="Arial"/>
                <a:cs typeface="Arial"/>
                <a:sym typeface="Arial"/>
              </a:defRPr>
            </a:lvl1pPr>
          </a:lstStyle>
          <a:p>
            <a:pPr/>
            <a:r>
              <a:t>FALSE</a:t>
            </a:r>
          </a:p>
        </p:txBody>
      </p:sp>
      <p:grpSp>
        <p:nvGrpSpPr>
          <p:cNvPr id="334" name="p1_stmt"/>
          <p:cNvGrpSpPr/>
          <p:nvPr/>
        </p:nvGrpSpPr>
        <p:grpSpPr>
          <a:xfrm>
            <a:off x="1170431" y="2999232"/>
            <a:ext cx="8552385" cy="640083"/>
            <a:chOff x="0" y="0"/>
            <a:chExt cx="8552384" cy="640082"/>
          </a:xfrm>
        </p:grpSpPr>
        <p:sp>
          <p:nvSpPr>
            <p:cNvPr id="332" name="p1_bg"/>
            <p:cNvSpPr/>
            <p:nvPr/>
          </p:nvSpPr>
          <p:spPr>
            <a:xfrm>
              <a:off x="-1" y="-1"/>
              <a:ext cx="8552385" cy="640083"/>
            </a:xfrm>
            <a:prstGeom prst="roundRect">
              <a:avLst>
                <a:gd name="adj" fmla="val 14286"/>
              </a:avLst>
            </a:prstGeom>
            <a:solidFill>
              <a:srgbClr val="1E4A6B"/>
            </a:solidFill>
            <a:ln w="12700" cap="flat">
              <a:solidFill>
                <a:srgbClr val="2C5C82"/>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333" name="p1_q"/>
            <p:cNvSpPr txBox="1"/>
            <p:nvPr/>
          </p:nvSpPr>
          <p:spPr>
            <a:xfrm>
              <a:off x="256032" y="215206"/>
              <a:ext cx="8186623"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The dependent variable changes because of the manipulated variable.</a:t>
              </a:r>
            </a:p>
          </p:txBody>
        </p:sp>
      </p:grpSp>
      <p:sp>
        <p:nvSpPr>
          <p:cNvPr id="335" name="p1_v"/>
          <p:cNvSpPr txBox="1"/>
          <p:nvPr/>
        </p:nvSpPr>
        <p:spPr>
          <a:xfrm>
            <a:off x="9905695" y="3195802"/>
            <a:ext cx="1737362"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00A33E"/>
                </a:solidFill>
                <a:latin typeface="Arial"/>
                <a:ea typeface="Arial"/>
                <a:cs typeface="Arial"/>
                <a:sym typeface="Arial"/>
              </a:defRPr>
            </a:lvl1pPr>
          </a:lstStyle>
          <a:p>
            <a:pPr/>
            <a:r>
              <a:t>TRUE</a:t>
            </a:r>
          </a:p>
        </p:txBody>
      </p:sp>
      <p:grpSp>
        <p:nvGrpSpPr>
          <p:cNvPr id="338" name="p2_stmt"/>
          <p:cNvGrpSpPr/>
          <p:nvPr/>
        </p:nvGrpSpPr>
        <p:grpSpPr>
          <a:xfrm>
            <a:off x="1170431" y="3803903"/>
            <a:ext cx="8552385" cy="640083"/>
            <a:chOff x="0" y="0"/>
            <a:chExt cx="8552384" cy="640082"/>
          </a:xfrm>
        </p:grpSpPr>
        <p:sp>
          <p:nvSpPr>
            <p:cNvPr id="336" name="p2_bg"/>
            <p:cNvSpPr/>
            <p:nvPr/>
          </p:nvSpPr>
          <p:spPr>
            <a:xfrm>
              <a:off x="-1" y="-1"/>
              <a:ext cx="8552385" cy="640083"/>
            </a:xfrm>
            <a:prstGeom prst="roundRect">
              <a:avLst>
                <a:gd name="adj" fmla="val 14286"/>
              </a:avLst>
            </a:prstGeom>
            <a:solidFill>
              <a:srgbClr val="1E4A6B"/>
            </a:solidFill>
            <a:ln w="12700" cap="flat">
              <a:solidFill>
                <a:srgbClr val="2C5C82"/>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337" name="p2_q"/>
            <p:cNvSpPr txBox="1"/>
            <p:nvPr/>
          </p:nvSpPr>
          <p:spPr>
            <a:xfrm>
              <a:off x="256032" y="215206"/>
              <a:ext cx="8186623"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A controlled variable is one you keep the same.</a:t>
              </a:r>
            </a:p>
          </p:txBody>
        </p:sp>
      </p:grpSp>
      <p:sp>
        <p:nvSpPr>
          <p:cNvPr id="339" name="p2_v"/>
          <p:cNvSpPr txBox="1"/>
          <p:nvPr/>
        </p:nvSpPr>
        <p:spPr>
          <a:xfrm>
            <a:off x="9905695" y="4000474"/>
            <a:ext cx="1737362"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00A33E"/>
                </a:solidFill>
                <a:latin typeface="Arial"/>
                <a:ea typeface="Arial"/>
                <a:cs typeface="Arial"/>
                <a:sym typeface="Arial"/>
              </a:defRPr>
            </a:lvl1pPr>
          </a:lstStyle>
          <a:p>
            <a:pPr/>
            <a:r>
              <a:t>TRUE</a:t>
            </a:r>
          </a:p>
        </p:txBody>
      </p:sp>
      <p:grpSp>
        <p:nvGrpSpPr>
          <p:cNvPr id="342" name="p3_stmt"/>
          <p:cNvGrpSpPr/>
          <p:nvPr/>
        </p:nvGrpSpPr>
        <p:grpSpPr>
          <a:xfrm>
            <a:off x="1170431" y="4608576"/>
            <a:ext cx="8552385" cy="640083"/>
            <a:chOff x="0" y="0"/>
            <a:chExt cx="8552384" cy="640082"/>
          </a:xfrm>
        </p:grpSpPr>
        <p:sp>
          <p:nvSpPr>
            <p:cNvPr id="340" name="p3_bg"/>
            <p:cNvSpPr/>
            <p:nvPr/>
          </p:nvSpPr>
          <p:spPr>
            <a:xfrm>
              <a:off x="-1" y="-1"/>
              <a:ext cx="8552385" cy="640083"/>
            </a:xfrm>
            <a:prstGeom prst="roundRect">
              <a:avLst>
                <a:gd name="adj" fmla="val 14286"/>
              </a:avLst>
            </a:prstGeom>
            <a:solidFill>
              <a:srgbClr val="1E4A6B"/>
            </a:solidFill>
            <a:ln w="12700" cap="flat">
              <a:solidFill>
                <a:srgbClr val="2C5C82"/>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341" name="p3_q"/>
            <p:cNvSpPr txBox="1"/>
            <p:nvPr/>
          </p:nvSpPr>
          <p:spPr>
            <a:xfrm>
              <a:off x="256032" y="215206"/>
              <a:ext cx="8186623"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You only need to test something once to trust the result.</a:t>
              </a:r>
            </a:p>
          </p:txBody>
        </p:sp>
      </p:grpSp>
      <p:sp>
        <p:nvSpPr>
          <p:cNvPr id="343" name="p3_v"/>
          <p:cNvSpPr txBox="1"/>
          <p:nvPr/>
        </p:nvSpPr>
        <p:spPr>
          <a:xfrm>
            <a:off x="9905695" y="4805147"/>
            <a:ext cx="1737362"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D921"/>
                </a:solidFill>
                <a:latin typeface="Arial"/>
                <a:ea typeface="Arial"/>
                <a:cs typeface="Arial"/>
                <a:sym typeface="Arial"/>
              </a:defRPr>
            </a:lvl1pPr>
          </a:lstStyle>
          <a:p>
            <a:pPr/>
            <a:r>
              <a:t>FALSE</a:t>
            </a:r>
          </a:p>
        </p:txBody>
      </p:sp>
      <p:grpSp>
        <p:nvGrpSpPr>
          <p:cNvPr id="346" name="p4_stmt"/>
          <p:cNvGrpSpPr/>
          <p:nvPr/>
        </p:nvGrpSpPr>
        <p:grpSpPr>
          <a:xfrm>
            <a:off x="1170431" y="5413247"/>
            <a:ext cx="8552385" cy="640083"/>
            <a:chOff x="0" y="0"/>
            <a:chExt cx="8552384" cy="640082"/>
          </a:xfrm>
        </p:grpSpPr>
        <p:sp>
          <p:nvSpPr>
            <p:cNvPr id="344" name="p4_bg"/>
            <p:cNvSpPr/>
            <p:nvPr/>
          </p:nvSpPr>
          <p:spPr>
            <a:xfrm>
              <a:off x="-1" y="-1"/>
              <a:ext cx="8552385" cy="640083"/>
            </a:xfrm>
            <a:prstGeom prst="roundRect">
              <a:avLst>
                <a:gd name="adj" fmla="val 14286"/>
              </a:avLst>
            </a:prstGeom>
            <a:solidFill>
              <a:srgbClr val="1E4A6B"/>
            </a:solidFill>
            <a:ln w="12700" cap="flat">
              <a:solidFill>
                <a:srgbClr val="2C5C82"/>
              </a:solidFill>
              <a:prstDash val="solid"/>
              <a:round/>
            </a:ln>
            <a:effectLst/>
          </p:spPr>
          <p:txBody>
            <a:bodyPr wrap="square" lIns="45718" tIns="45718" rIns="45718" bIns="45718" numCol="1" anchor="t">
              <a:noAutofit/>
            </a:bodyPr>
            <a:lstStyle/>
            <a:p>
              <a:pPr>
                <a:defRPr>
                  <a:latin typeface="+mj-lt"/>
                  <a:ea typeface="+mj-ea"/>
                  <a:cs typeface="+mj-cs"/>
                  <a:sym typeface="Calibri"/>
                </a:defRPr>
              </a:pPr>
            </a:p>
          </p:txBody>
        </p:sp>
        <p:sp>
          <p:nvSpPr>
            <p:cNvPr id="345" name="p4_q"/>
            <p:cNvSpPr txBox="1"/>
            <p:nvPr/>
          </p:nvSpPr>
          <p:spPr>
            <a:xfrm>
              <a:off x="256032" y="215206"/>
              <a:ext cx="8186623"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"How heavy the paper aeroplane is" could be a independent variable.</a:t>
              </a:r>
            </a:p>
          </p:txBody>
        </p:sp>
      </p:grpSp>
      <p:sp>
        <p:nvSpPr>
          <p:cNvPr id="347" name="p4_v"/>
          <p:cNvSpPr txBox="1"/>
          <p:nvPr/>
        </p:nvSpPr>
        <p:spPr>
          <a:xfrm>
            <a:off x="9905695" y="5609818"/>
            <a:ext cx="1737362"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00A33E"/>
                </a:solidFill>
                <a:latin typeface="Arial"/>
                <a:ea typeface="Arial"/>
                <a:cs typeface="Arial"/>
                <a:sym typeface="Arial"/>
              </a:defRPr>
            </a:lvl1pPr>
          </a:lstStyle>
          <a:p>
            <a:pPr/>
            <a:r>
              <a:t>TRUE</a:t>
            </a:r>
          </a:p>
        </p:txBody>
      </p:sp>
      <p:sp>
        <p:nvSpPr>
          <p:cNvPr id="348" name="pl_next"/>
          <p:cNvSpPr txBox="1"/>
          <p:nvPr/>
        </p:nvSpPr>
        <p:spPr>
          <a:xfrm>
            <a:off x="1170432" y="6195381"/>
            <a:ext cx="10472623"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FFD921"/>
                </a:solidFill>
                <a:latin typeface="Arial"/>
                <a:ea typeface="Arial"/>
                <a:cs typeface="Arial"/>
                <a:sym typeface="Arial"/>
              </a:defRPr>
            </a:lvl1pPr>
          </a:lstStyle>
          <a:p>
            <a:pPr/>
            <a:r>
              <a:t>Change one thing. Measure one thing. Keep the rest the same. Then do it again.</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2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30"/>
                                        </p:tgtEl>
                                        <p:attrNameLst>
                                          <p:attrName>style.visibility</p:attrName>
                                        </p:attrNameLst>
                                      </p:cBhvr>
                                      <p:to>
                                        <p:strVal val="visible"/>
                                      </p:to>
                                    </p:set>
                                    <p:animEffect filter="fade" transition="in">
                                      <p:cBhvr>
                                        <p:cTn id="11" dur="400"/>
                                        <p:tgtEl>
                                          <p:spTgt spid="33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31"/>
                                        </p:tgtEl>
                                        <p:attrNameLst>
                                          <p:attrName>style.visibility</p:attrName>
                                        </p:attrNameLst>
                                      </p:cBhvr>
                                      <p:to>
                                        <p:strVal val="visible"/>
                                      </p:to>
                                    </p:set>
                                    <p:anim calcmode="lin" valueType="num">
                                      <p:cBhvr>
                                        <p:cTn id="16" dur="400" fill="hold"/>
                                        <p:tgtEl>
                                          <p:spTgt spid="331"/>
                                        </p:tgtEl>
                                        <p:attrNameLst>
                                          <p:attrName>ppt_w</p:attrName>
                                        </p:attrNameLst>
                                      </p:cBhvr>
                                      <p:tavLst>
                                        <p:tav tm="0">
                                          <p:val>
                                            <p:fltVal val="0"/>
                                          </p:val>
                                        </p:tav>
                                        <p:tav tm="100000">
                                          <p:val>
                                            <p:strVal val="#ppt_w"/>
                                          </p:val>
                                        </p:tav>
                                      </p:tavLst>
                                    </p:anim>
                                    <p:anim calcmode="lin" valueType="num">
                                      <p:cBhvr>
                                        <p:cTn id="17" dur="400" fill="hold"/>
                                        <p:tgtEl>
                                          <p:spTgt spid="331"/>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34"/>
                                        </p:tgtEl>
                                        <p:attrNameLst>
                                          <p:attrName>style.visibility</p:attrName>
                                        </p:attrNameLst>
                                      </p:cBhvr>
                                      <p:to>
                                        <p:strVal val="visible"/>
                                      </p:to>
                                    </p:set>
                                    <p:animEffect filter="fade" transition="in">
                                      <p:cBhvr>
                                        <p:cTn id="22" dur="400"/>
                                        <p:tgtEl>
                                          <p:spTgt spid="334"/>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35"/>
                                        </p:tgtEl>
                                        <p:attrNameLst>
                                          <p:attrName>style.visibility</p:attrName>
                                        </p:attrNameLst>
                                      </p:cBhvr>
                                      <p:to>
                                        <p:strVal val="visible"/>
                                      </p:to>
                                    </p:set>
                                    <p:anim calcmode="lin" valueType="num">
                                      <p:cBhvr>
                                        <p:cTn id="27" dur="400" fill="hold"/>
                                        <p:tgtEl>
                                          <p:spTgt spid="335"/>
                                        </p:tgtEl>
                                        <p:attrNameLst>
                                          <p:attrName>ppt_w</p:attrName>
                                        </p:attrNameLst>
                                      </p:cBhvr>
                                      <p:tavLst>
                                        <p:tav tm="0">
                                          <p:val>
                                            <p:fltVal val="0"/>
                                          </p:val>
                                        </p:tav>
                                        <p:tav tm="100000">
                                          <p:val>
                                            <p:strVal val="#ppt_w"/>
                                          </p:val>
                                        </p:tav>
                                      </p:tavLst>
                                    </p:anim>
                                    <p:anim calcmode="lin" valueType="num">
                                      <p:cBhvr>
                                        <p:cTn id="28" dur="400" fill="hold"/>
                                        <p:tgtEl>
                                          <p:spTgt spid="335"/>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38"/>
                                        </p:tgtEl>
                                        <p:attrNameLst>
                                          <p:attrName>style.visibility</p:attrName>
                                        </p:attrNameLst>
                                      </p:cBhvr>
                                      <p:to>
                                        <p:strVal val="visible"/>
                                      </p:to>
                                    </p:set>
                                    <p:animEffect filter="fade" transition="in">
                                      <p:cBhvr>
                                        <p:cTn id="33" dur="400"/>
                                        <p:tgtEl>
                                          <p:spTgt spid="338"/>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39"/>
                                        </p:tgtEl>
                                        <p:attrNameLst>
                                          <p:attrName>style.visibility</p:attrName>
                                        </p:attrNameLst>
                                      </p:cBhvr>
                                      <p:to>
                                        <p:strVal val="visible"/>
                                      </p:to>
                                    </p:set>
                                    <p:anim calcmode="lin" valueType="num">
                                      <p:cBhvr>
                                        <p:cTn id="38" dur="400" fill="hold"/>
                                        <p:tgtEl>
                                          <p:spTgt spid="339"/>
                                        </p:tgtEl>
                                        <p:attrNameLst>
                                          <p:attrName>ppt_w</p:attrName>
                                        </p:attrNameLst>
                                      </p:cBhvr>
                                      <p:tavLst>
                                        <p:tav tm="0">
                                          <p:val>
                                            <p:fltVal val="0"/>
                                          </p:val>
                                        </p:tav>
                                        <p:tav tm="100000">
                                          <p:val>
                                            <p:strVal val="#ppt_w"/>
                                          </p:val>
                                        </p:tav>
                                      </p:tavLst>
                                    </p:anim>
                                    <p:anim calcmode="lin" valueType="num">
                                      <p:cBhvr>
                                        <p:cTn id="39" dur="400" fill="hold"/>
                                        <p:tgtEl>
                                          <p:spTgt spid="339"/>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42"/>
                                        </p:tgtEl>
                                        <p:attrNameLst>
                                          <p:attrName>style.visibility</p:attrName>
                                        </p:attrNameLst>
                                      </p:cBhvr>
                                      <p:to>
                                        <p:strVal val="visible"/>
                                      </p:to>
                                    </p:set>
                                    <p:animEffect filter="fade" transition="in">
                                      <p:cBhvr>
                                        <p:cTn id="44" dur="400"/>
                                        <p:tgtEl>
                                          <p:spTgt spid="342"/>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43"/>
                                        </p:tgtEl>
                                        <p:attrNameLst>
                                          <p:attrName>style.visibility</p:attrName>
                                        </p:attrNameLst>
                                      </p:cBhvr>
                                      <p:to>
                                        <p:strVal val="visible"/>
                                      </p:to>
                                    </p:set>
                                    <p:anim calcmode="lin" valueType="num">
                                      <p:cBhvr>
                                        <p:cTn id="49" dur="400" fill="hold"/>
                                        <p:tgtEl>
                                          <p:spTgt spid="343"/>
                                        </p:tgtEl>
                                        <p:attrNameLst>
                                          <p:attrName>ppt_w</p:attrName>
                                        </p:attrNameLst>
                                      </p:cBhvr>
                                      <p:tavLst>
                                        <p:tav tm="0">
                                          <p:val>
                                            <p:fltVal val="0"/>
                                          </p:val>
                                        </p:tav>
                                        <p:tav tm="100000">
                                          <p:val>
                                            <p:strVal val="#ppt_w"/>
                                          </p:val>
                                        </p:tav>
                                      </p:tavLst>
                                    </p:anim>
                                    <p:anim calcmode="lin" valueType="num">
                                      <p:cBhvr>
                                        <p:cTn id="50" dur="400" fill="hold"/>
                                        <p:tgtEl>
                                          <p:spTgt spid="343"/>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46"/>
                                        </p:tgtEl>
                                        <p:attrNameLst>
                                          <p:attrName>style.visibility</p:attrName>
                                        </p:attrNameLst>
                                      </p:cBhvr>
                                      <p:to>
                                        <p:strVal val="visible"/>
                                      </p:to>
                                    </p:set>
                                    <p:animEffect filter="fade" transition="in">
                                      <p:cBhvr>
                                        <p:cTn id="55" dur="400"/>
                                        <p:tgtEl>
                                          <p:spTgt spid="346"/>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47"/>
                                        </p:tgtEl>
                                        <p:attrNameLst>
                                          <p:attrName>style.visibility</p:attrName>
                                        </p:attrNameLst>
                                      </p:cBhvr>
                                      <p:to>
                                        <p:strVal val="visible"/>
                                      </p:to>
                                    </p:set>
                                    <p:anim calcmode="lin" valueType="num">
                                      <p:cBhvr>
                                        <p:cTn id="60" dur="400" fill="hold"/>
                                        <p:tgtEl>
                                          <p:spTgt spid="347"/>
                                        </p:tgtEl>
                                        <p:attrNameLst>
                                          <p:attrName>ppt_w</p:attrName>
                                        </p:attrNameLst>
                                      </p:cBhvr>
                                      <p:tavLst>
                                        <p:tav tm="0">
                                          <p:val>
                                            <p:fltVal val="0"/>
                                          </p:val>
                                        </p:tav>
                                        <p:tav tm="100000">
                                          <p:val>
                                            <p:strVal val="#ppt_w"/>
                                          </p:val>
                                        </p:tav>
                                      </p:tavLst>
                                    </p:anim>
                                    <p:anim calcmode="lin" valueType="num">
                                      <p:cBhvr>
                                        <p:cTn id="61" dur="400" fill="hold"/>
                                        <p:tgtEl>
                                          <p:spTgt spid="347"/>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48"/>
                                        </p:tgtEl>
                                        <p:attrNameLst>
                                          <p:attrName>style.visibility</p:attrName>
                                        </p:attrNameLst>
                                      </p:cBhvr>
                                      <p:to>
                                        <p:strVal val="visible"/>
                                      </p:to>
                                    </p:set>
                                    <p:animEffect filter="fade" transition="in">
                                      <p:cBhvr>
                                        <p:cTn id="66" dur="400"/>
                                        <p:tgtEl>
                                          <p:spTgt spid="348"/>
                                        </p:tgtEl>
                                      </p:cBhvr>
                                    </p:animEffect>
                                  </p:childTnLst>
                                </p:cTn>
                              </p:par>
                            </p:childTnLst>
                          </p:cTn>
                        </p:par>
                      </p:childTnLst>
                    </p:cTn>
                  </p:par>
                  <p:par>
                    <p:cTn id="67" fill="hold">
                      <p:stCondLst>
                        <p:cond delay="indefinite"/>
                      </p:stCondLst>
                      <p:childTnLst>
                        <p:par>
                          <p:cTn id="68" fill="hold">
                            <p:stCondLst>
                              <p:cond delay="0"/>
                            </p:stCondLst>
                            <p:childTnLst>
                              <p:par>
                                <p:cTn id="69" presetClass="mediacall" nodeType="clickEffect" presetSubtype="0" presetID="3" grpId="1" fill="hold">
                                  <p:stCondLst>
                                    <p:cond delay="0"/>
                                  </p:stCondLst>
                                  <p:childTnLst>
                                    <p:cmd type="call" cmd="stop">
                                      <p:cBhvr>
                                        <p:cTn id="70" dur="1000" fill="hold"/>
                                        <p:tgtEl>
                                          <p:spTgt spid="323"/>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71" fill="hold" display="0">
                  <p:stCondLst>
                    <p:cond delay="indefinite"/>
                  </p:stCondLst>
                </p:cTn>
                <p:tgtEl>
                  <p:spTgt spid="323"/>
                </p:tgtEl>
              </p:cMediaNode>
            </p:video>
            <p:seq concurrent="1" prevAc="none" nextAc="seek">
              <p:cTn id="72" evtFilter="cancelBubble" nodeType="interactiveSeq" restart="whenNotActive" fill="hold">
                <p:stCondLst>
                  <p:cond delay="0" evt="onClick">
                    <p:tgtEl>
                      <p:spTgt spid="323"/>
                    </p:tgtEl>
                  </p:cond>
                </p:stCondLst>
                <p:endSync delay="0" evt="end">
                  <p:rtn val="all"/>
                </p:endSync>
                <p:childTnLst>
                  <p:par>
                    <p:cTn id="73" fill="hold">
                      <p:stCondLst>
                        <p:cond delay="0"/>
                      </p:stCondLst>
                      <p:childTnLst>
                        <p:par>
                          <p:cTn id="74" fill="hold">
                            <p:stCondLst>
                              <p:cond delay="0"/>
                            </p:stCondLst>
                            <p:childTnLst>
                              <p:par>
                                <p:cTn id="75" presetClass="mediacall" nodeType="clickEffect" presetSubtype="0" presetID="2" fill="hold">
                                  <p:stCondLst>
                                    <p:cond delay="0"/>
                                  </p:stCondLst>
                                  <p:childTnLst>
                                    <p:cmd type="call" cmd="togglePause">
                                      <p:cBhvr>
                                        <p:cTn id="76" dur="1" fill="hold"/>
                                        <p:tgtEl>
                                          <p:spTgt spid="323"/>
                                        </p:tgtEl>
                                      </p:cBhvr>
                                    </p:cmd>
                                  </p:childTnLst>
                                </p:cTn>
                              </p:par>
                            </p:childTnLst>
                          </p:cTn>
                        </p:par>
                      </p:childTnLst>
                    </p:cTn>
                  </p:par>
                </p:childTnLst>
              </p:cTn>
              <p:nextCondLst>
                <p:cond delay="0" evt="onClick">
                  <p:tgtEl>
                    <p:spTgt spid="323"/>
                  </p:tgtEl>
                </p:cond>
              </p:nextCondLst>
            </p:seq>
          </p:childTnLst>
        </p:cTn>
      </p:par>
    </p:tnLst>
    <p:bldLst>
      <p:bldP build="whole" bldLvl="1" animBg="1" rev="0" advAuto="0" spid="334" grpId="4"/>
      <p:bldP build="whole" bldLvl="1" animBg="1" rev="0" advAuto="0" spid="347" grpId="11"/>
      <p:bldP build="whole" bldLvl="1" animBg="1" rev="0" advAuto="0" spid="339" grpId="7"/>
      <p:bldP build="whole" bldLvl="1" animBg="1" rev="0" advAuto="0" spid="330" grpId="2"/>
      <p:bldP build="whole" bldLvl="1" animBg="1" rev="0" advAuto="0" spid="348" grpId="12"/>
      <p:bldP build="whole" bldLvl="1" animBg="1" rev="0" advAuto="0" spid="343" grpId="9"/>
      <p:bldP build="whole" bldLvl="1" animBg="1" rev="0" advAuto="0" spid="346" grpId="10"/>
      <p:bldP build="whole" bldLvl="1" animBg="1" rev="0" advAuto="0" spid="338" grpId="6"/>
      <p:bldP build="whole" bldLvl="1" animBg="1" rev="0" advAuto="0" spid="331" grpId="3"/>
      <p:bldP build="whole" bldLvl="1" animBg="1" rev="0" advAuto="0" spid="342" grpId="8"/>
      <p:bldP build="whole" bldLvl="1" animBg="1" rev="0" advAuto="0" spid="335" grpId="5"/>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