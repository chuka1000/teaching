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media/media5.mp4" ContentType="video/unknown"/>
  <Override PartName="/ppt/notesSlides/notesSlide5.xml" ContentType="application/vnd.openxmlformats-officedocument.presentationml.notesSlide+xml"/>
  <Override PartName="/ppt/media/media6.mp4" ContentType="video/unknown"/>
  <Override PartName="/ppt/notesSlides/notesSlide6.xml" ContentType="application/vnd.openxmlformats-officedocument.presentationml.notesSlide+xml"/>
  <Override PartName="/ppt/media/media7.mp4" ContentType="video/unknown"/>
  <Override PartName="/ppt/notesSlides/notesSlide7.xml" ContentType="application/vnd.openxmlformats-officedocument.presentationml.notesSlide+xml"/>
  <Override PartName="/ppt/media/media8.mp4" ContentType="video/unknown"/>
  <Override PartName="/ppt/notesSlides/notesSlide8.xml" ContentType="application/vnd.openxmlformats-officedocument.presentationml.notesSlide+xml"/>
  <Override PartName="/ppt/media/media9.mp4" ContentType="video/unknown"/>
  <Override PartName="/ppt/notesSlides/notesSlide9.xml" ContentType="application/vnd.openxmlformats-officedocument.presentationml.notesSlide+xml"/>
  <Override PartName="/ppt/media/media10.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there is no practical today. Six clicks.</a:t>
            </a:r>
          </a:p>
          <a:p>
            <a:pPr/>
          </a:p>
          <a:p>
            <a:pPr/>
            <a:r>
              <a:t>I READ reference/Natural Selection In Action.pptx and the two lessons before it, and checked every question against their Do Nows. Nothing here repeats them: no "name the four steps", no "what is variation", no John Gould, no "can one animal evolve". The six are six different skills.</a:t>
            </a:r>
          </a:p>
          <a:p>
            <a:pPr/>
          </a:p>
          <a:p>
            <a:pPr/>
            <a:r>
              <a:t>Q1 IS AN EARTH-SCIENCE LINK (chemistry at KS3): sedimentary rock. Today's lesson sits on it, because a fossil is a sedimentary-rock story. Accept "layers of sand and mud, squashed and cemented". Q2 LOOKS BACK TO LAST LESSON: the answer has to say survive AND pass on. Q3 IS A YEAR 7 IDEA BROUGHT BACK, and it matters today: students hear "just a theory" about evolution. The scientific meaning is a well-tested explanation backed by a huge amount of evidence, and fossils are part of that evidence.</a:t>
            </a:r>
          </a:p>
          <a:p>
            <a:pPr/>
          </a:p>
          <a:p>
            <a:pPr/>
            <a:r>
              <a:t>Q4 IS THE ONE NUMBER, and it plants deep time: 10 cm at 2 cm per 1000 years is 5000 years. Watch for 20 (10 × 2) and for 5 (they forgot the 1000). Rock layers take a very long time to build, and that idea returns in the We Do.</a:t>
            </a:r>
          </a:p>
          <a:p>
            <a:pPr/>
          </a:p>
          <a:p>
            <a:pPr/>
            <a:r>
              <a:t>Q5 ASKS FOR EVIDENCE, not the process. Any real example from last lesson is fine. Q6 IS PLANTED for the first half: bones, teeth, shells. Do not explain why yet.</a:t>
            </a:r>
          </a:p>
          <a:p>
            <a:pPr/>
          </a:p>
          <a:p>
            <a:pPr/>
            <a:r>
              <a:t>THE BRIEF LEFT "THEY FOUND HARD" BLANK. I have not guessed this time; the likely stumbling blocks (gaps, and "gaps disprove evolution") are flagged in the notes on slides 5, 6 and 9.</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Lesson 1 was what natural selection is, lesson 2 how Darwin got there, lesson 3 evidence you can watch now (finches, bacteria). Today is evidence from the past, left in rock. Darwin knew fossils were both his best evidence and his biggest worry: a chapter of the Origin is called "On the Imperfection of the Geological Record". That is objective 3.</a:t>
            </a:r>
          </a:p>
          <a:p>
            <a:pPr/>
          </a:p>
          <a:p>
            <a:pPr/>
            <a:r>
              <a:t>THE THREE OBJECTIVES ARE YOUR WORDING AND ARE TAUGHT IN ORDER: I Do 1 is how a fossil forms, I Do 2 is the order and the gaps.</a:t>
            </a:r>
          </a:p>
          <a:p>
            <a:pPr/>
          </a:p>
          <a:p>
            <a:pPr/>
            <a:r>
              <a:t>THE BANNER IS THE LESSON IN ONE LINE. Two halves: fossils are rare (so there are gaps), and the rocks give the order (so the fossils tell a story). Say both halves.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hape 118"/>
          <p:cNvSpPr/>
          <p:nvPr>
            <p:ph type="sldImg"/>
          </p:nvPr>
        </p:nvSpPr>
        <p:spPr>
          <a:prstGeom prst="rect">
            <a:avLst/>
          </a:prstGeom>
        </p:spPr>
        <p:txBody>
          <a:bodyPr/>
          <a:lstStyle/>
          <a:p>
            <a:pPr/>
          </a:p>
        </p:txBody>
      </p:sp>
      <p:sp>
        <p:nvSpPr>
          <p:cNvPr id="119" name="Shape 119"/>
          <p:cNvSpPr/>
          <p:nvPr>
            <p:ph type="body" sz="quarter" idx="1"/>
          </p:nvPr>
        </p:nvSpPr>
        <p:spPr>
          <a:prstGeom prst="rect">
            <a:avLst/>
          </a:prstGeom>
        </p:spPr>
        <p:txBody>
          <a:bodyPr/>
          <a:lstStyle/>
          <a:p>
            <a:pPr/>
            <a:r>
              <a:t>HOOK. 2 minutes. Three cards on one click.</a:t>
            </a:r>
          </a:p>
          <a:p>
            <a:pPr/>
          </a:p>
          <a:p>
            <a:pPr/>
            <a:r>
              <a:t>Show of hands for each, and tally on the board. Do not settle it: the next slide does.</a:t>
            </a:r>
          </a:p>
          <a:p>
            <a:pPr/>
          </a:p>
          <a:p>
            <a:pPr/>
            <a:r>
              <a:t>ANSWER, FOR YOU: B. It has a hard shell, and it is buried quickly in mud. Every card has the same two questions hidden in it: does it have hard parts, and is it buried fast? A jellyfish is soft and drifts in open water, so it rots or is eaten. A leaf on a forest floor is left on the surface to rot. Only the clam has both.</a:t>
            </a:r>
          </a:p>
          <a:p>
            <a:pPr/>
          </a:p>
          <a:p>
            <a:pPr/>
            <a:r>
              <a:t>EXPECT A SPLIT BETWEEN A AND B. Students who pick A say "the sea is where fossils come from". Ask them what is left of a jellyfish on a beach after a day. That is objective 3 arriving early: it is the reason for most of the gaps.</a:t>
            </a:r>
          </a:p>
          <a:p>
            <a:pPr/>
          </a:p>
          <a:p>
            <a:pPr/>
            <a:r>
              <a:t>DO NOT SAY "HARD PARTS" OR "BURIED" YET. Those words are the first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r>
              <a:t>I DO. 3 minutes. Seven clicks: the animation first (click 1), then the five steps one at a time, then the banner. The animation STARTS ON CLICK, so say the question first and press play when you want them to watch.</a:t>
            </a:r>
          </a:p>
          <a:p>
            <a:pPr/>
          </a:p>
          <a:p>
            <a:pPr/>
            <a:r>
              <a:t>THE ANIMATION (about 27 seconds). One clam, five stages. It PAUSES at each one: nothing moves while the caption is being read. (1) The clam dies on the sea floor, the soft body pink inside the shell. (2) Mud and sand fall and cover it. (3) The soft body rots away, leaving an empty shell. (4) More layers build up, everything turns to rock, "millions of years", and minerals turn the shell to stone. (5) The sea has gone and the rock is worn away, so the fossil shows at the surface. Talk over the pauses, and click the video to play it again.</a:t>
            </a:r>
          </a:p>
          <a:p>
            <a:pPr/>
          </a:p>
          <a:p>
            <a:pPr/>
            <a:r>
              <a:t>THE TWO CONDITIONS ARE THE WHOLE OF OBJECTIVES 1 AND 3: HARD PARTS AND QUICK BURIAL. Hard parts (bones, teeth, shells, wood) last long enough to be buried. Quick burial protects the body from scavengers, from oxygen and from rotting. A body that has neither is gone in weeks. Say the banner three times. It is the answer to the Hook: the clam has both.</a:t>
            </a:r>
          </a:p>
          <a:p>
            <a:pPr/>
          </a:p>
          <a:p>
            <a:pPr/>
            <a:r>
              <a:t>MINERALS. Water in the rock is rich in dissolved minerals, and they fill or replace the hard parts, particle by particle, so the shell becomes stone in the shape of a shell. It is NOT the original shell, and it is not "bone that has gone hard". This is We Do row 4. Depending on the minerals it can take from a few years to much longer.</a:t>
            </a:r>
          </a:p>
          <a:p>
            <a:pPr/>
          </a:p>
          <a:p>
            <a:pPr/>
            <a:r>
              <a:t>ROCK, NOT MUD. Sediment turns to sedimentary rock as more layers press down and minerals glue it together. That is Do Now Q1: point back at it.</a:t>
            </a:r>
          </a:p>
          <a:p>
            <a:pPr/>
          </a:p>
          <a:p>
            <a:pPr/>
            <a:r>
              <a:t>STEP 5 IS EASY TO SKIP. A fossil in a rock nobody ever sees is not a discovery. The rock has to be lifted (movements of the Earth) and worn away (weather, rivers, sea) so that it shows. Sometimes that happens; often it does not, which is gap number three.</a:t>
            </a:r>
          </a:p>
          <a:p>
            <a:pPr/>
          </a:p>
          <a:p>
            <a:pPr/>
            <a:r>
              <a:t>IF THEY ASK "HOW LONG?": it varies. The shape of the shell can be preserved in a few thousand years; most fossils people find are millions of years old.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I DO. 3 minutes. Six clicks: the animation, the order card, the gaps header, then the three gaps. The animation STARTS ON CLICK.</a:t>
            </a:r>
          </a:p>
          <a:p>
            <a:pPr/>
          </a:p>
          <a:p>
            <a:pPr/>
            <a:r>
              <a:t>THE ANIMATION (about 29 seconds). Three layers form one on top of another, each burying a different fossil: a trilobite first, an ammonite next, a mammal bone last. It pauses on each. Then the layers are rock, labelled oldest, older, youngest, and an arrow says older at the bottom and younger at the top. It is a cross-section and NOT TO SCALE; say so.</a:t>
            </a:r>
          </a:p>
          <a:p>
            <a:pPr/>
          </a:p>
          <a:p>
            <a:pPr/>
            <a:r>
              <a:t>THE ORDER. Nicolas Steno stated it in 1669: in layers that have not been disturbed, the oldest is at the bottom, because it had to be there first. It sounds obvious and it is the key to everything. From the early 1800s William Smith showed that layers in different places could be matched by their fossils. Two things follow: (1) the fossils are in an order, and the order is time; (2) the fossils in the layers change from layer to layer, which is evidence that living things change, and that some kinds die out.</a:t>
            </a:r>
          </a:p>
          <a:p>
            <a:pPr/>
          </a:p>
          <a:p>
            <a:pPr/>
            <a:r>
              <a:t>THE TWO EXAMPLES. Tiktaalik was found on Ellesmere Island, in Arctic Canada, in 2004, and is about 375 million years old. It is a fish with a flat head, a neck, and the bones of a limb inside its fins. Archaeopteryx was found in Germany in 1861, two years after the Origin, and is about 150 million years old: feathers like a bird, teeth and a bony tail like a reptile. Both sit between two groups. Do not call them "missing links" (there is no single chain), say "they show the change".</a:t>
            </a:r>
          </a:p>
          <a:p>
            <a:pPr/>
          </a:p>
          <a:p>
            <a:pPr/>
            <a:r>
              <a:t>THE GAPS. Three reasons, one card each: soft bodies rot (Hook A, jellyfish); rock is worn away, squashed or melted (a fossil can form and then be destroyed); many fossils are simply not found yet (under the sea, under cities, in places nobody has dug). Fewer than one in twenty of all the kinds of living thing that have lived are known from fossils; the true figure is unknown and probably much lower.</a:t>
            </a:r>
          </a:p>
          <a:p>
            <a:pPr/>
          </a:p>
          <a:p>
            <a:pPr/>
            <a:r>
              <a:t>THE MISCONCEPTION TO PRE-EMPT: "gaps mean evolution is wrong". Say it out loud now, and We Do row 3 finishes it. Darwin raised the gaps himself in 1859 and gave the same reasons. Gaps are what you would expect if fossils are rare; a gap is not evidence against.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r>
              <a:t>WE DO. 5 minutes. Four clicks. Take answers from the room first, then click.</a:t>
            </a:r>
          </a:p>
          <a:p>
            <a:pPr/>
          </a:p>
          <a:p>
            <a:pPr/>
            <a:r>
              <a:t>ROW 1 IS OBJECTIVE 2. If a student defends it, ask "which layer was laid down first?" and let them answer with the animation in mind. The exception is worth one sentence for a keen student: mountain building can fold or turn rocks upside down, and then scientists use the fossils themselves to work out which way up the layers were. Hold it for a question.</a:t>
            </a:r>
          </a:p>
          <a:p>
            <a:pPr/>
          </a:p>
          <a:p>
            <a:pPr/>
            <a:r>
              <a:t>ROW 2 IS THE HOOK, WORKED. Do Now Q6 (bones, teeth, shells) and the banner from I Do 1 do the work. Ask which of the two conditions a jellyfish fails, and take both: it has no hard parts, and it is usually not buried before it rots.</a:t>
            </a:r>
          </a:p>
          <a:p>
            <a:pPr/>
          </a:p>
          <a:p>
            <a:pPr/>
            <a:r>
              <a:t>ROW 3 IS THE ONE THAT MATTERS MOST. It is objective 3, and it is the one people repeat as adults ("there are missing links, so it is not true"). Two moves: (1) gaps are expected, because fossils are rare; the record is a few pages torn out of a huge book; (2) the fossils we do have show change over time, and new fossils keep filling gaps (Tiktaalik was found by looking in rocks of the right age in the right kind of place). Darwin said the same thing in 1859.</a:t>
            </a:r>
          </a:p>
          <a:p>
            <a:pPr/>
          </a:p>
          <a:p>
            <a:pPr/>
            <a:r>
              <a:t>ROW 4 IS THE MINERALS POINT. The shape of the shell is real; the material is not. It is a stone copy. If a student says "petrified", accept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hape 259"/>
          <p:cNvSpPr/>
          <p:nvPr>
            <p:ph type="sldImg"/>
          </p:nvPr>
        </p:nvSpPr>
        <p:spPr>
          <a:prstGeom prst="rect">
            <a:avLst/>
          </a:prstGeom>
        </p:spPr>
        <p:txBody>
          <a:bodyPr/>
          <a:lstStyle/>
          <a:p>
            <a:pPr/>
          </a:p>
        </p:txBody>
      </p:sp>
      <p:sp>
        <p:nvSpPr>
          <p:cNvPr id="260" name="Shape 260"/>
          <p:cNvSpPr/>
          <p:nvPr>
            <p:ph type="body" sz="quarter" idx="1"/>
          </p:nvPr>
        </p:nvSpPr>
        <p:spPr>
          <a:prstGeom prst="rect">
            <a:avLst/>
          </a:prstGeom>
        </p:spPr>
        <p:txBody>
          <a:bodyPr/>
          <a:lstStyle/>
          <a:p>
            <a:pPr/>
            <a:r>
              <a:t>COLD CALL. 6 minutes. Six clicks. Name a student, then ask. Students have no mini whiteboards, so answers are spoken.</a:t>
            </a:r>
          </a:p>
          <a:p>
            <a:pPr/>
          </a:p>
          <a:p>
            <a:pPr/>
            <a:r>
              <a:t>Q1 AND Q2 ARE OBJECTIVE 1. Q1 is Do Now Q6 again; it should be easy. For Q2, "so it does not rot" is a good answer; the best answers name the scavengers and the air.</a:t>
            </a:r>
          </a:p>
          <a:p>
            <a:pPr/>
          </a:p>
          <a:p>
            <a:pPr/>
            <a:r>
              <a:t>Q3 AND Q4 ARE OBJECTIVE 2. Q3 needs "deeper is older" and nothing else. Q4 needs two things: they change, and some die out (accept "go extinct").</a:t>
            </a:r>
          </a:p>
          <a:p>
            <a:pPr/>
          </a:p>
          <a:p>
            <a:pPr/>
            <a:r>
              <a:t>Q5 AND Q6 ARE OBJECTIVE 3. For Q5 the full answer is no hard parts, so they rot before they are buried. For Q6 accept either of the other two reasons: rock destroyed (worn away, squashed, melted), or not found yet. If someone says "they did not exist", ask them to say more: it is a common half-answer that confuses a gap in the record with a gap in life.</a:t>
            </a:r>
          </a:p>
          <a:p>
            <a:pPr/>
          </a:p>
          <a:p>
            <a:pPr/>
            <a:r>
              <a:t>IF MOST OF THE ROOM IS RIGHT BY Q4, spend longer on Q5 and Q6, and ask "which of the gaps could scientists fix?" (Not found yet. Go and look.) IF SHORT OF TIME, cut Q1 and Q3.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hape 285"/>
          <p:cNvSpPr/>
          <p:nvPr>
            <p:ph type="sldImg"/>
          </p:nvPr>
        </p:nvSpPr>
        <p:spPr>
          <a:prstGeom prst="rect">
            <a:avLst/>
          </a:prstGeom>
        </p:spPr>
        <p:txBody>
          <a:bodyPr/>
          <a:lstStyle/>
          <a:p>
            <a:pPr/>
          </a:p>
        </p:txBody>
      </p:sp>
      <p:sp>
        <p:nvSpPr>
          <p:cNvPr id="286" name="Shape 286"/>
          <p:cNvSpPr/>
          <p:nvPr>
            <p:ph type="body" sz="quarter" idx="1"/>
          </p:nvPr>
        </p:nvSpPr>
        <p:spPr>
          <a:prstGeom prst="rect">
            <a:avLst/>
          </a:prstGeom>
        </p:spPr>
        <p:txBody>
          <a:bodyPr/>
          <a:lstStyle/>
          <a:p>
            <a:pPr/>
            <a:r>
              <a:t>YOU DO. 17 minutes: the standard 14 and the 3 that used to be the Answers slide. Four clicks. THE GAME IS DIG SITE, and the worksheet is the fallback.</a:t>
            </a:r>
          </a:p>
          <a:p>
            <a:pPr/>
          </a:p>
          <a:p>
            <a:pPr/>
            <a:r>
              <a:t>WHAT THEY DO. Open the file "Fossils And The Fossil Record game" from Google Classroom. Three rounds of six questions, each on their own device. Some are multiple choice (tap or press 1 to 4), some are numbers (type an answer and press Check). A wrong answer says what the mistake probably was and how to get to the right one. EVERY STUDENT GETS A DIFFERENT GAME: different organisms, different rock layers, different numbers, in a different order, so a neighbour's answers are no use. The skills and their order are the same for everyone, so the end screen means the same thing for all of them. Each game has a six-character code, shown on the start and end screens. If a student says a question looked wrong, add #CODE to the end of the file's address and you will see exactly what they saw. There are no lives and no penalty for being slow.</a:t>
            </a:r>
          </a:p>
          <a:p>
            <a:pPr/>
          </a:p>
          <a:p>
            <a:pPr/>
            <a:r>
              <a:t>THE DIFFICULTY RAMPS ON PURPOSE, AND THE TOP IS MEANT TO BE HARD. Round 1 is how a fossil forms (objective 1). Round 2 is reading a picture of rock layers (objective 2): which is oldest, which is older, how many layers came before, which lived at the same time as which, and how many years between two layers. Round 3 goes well past the lesson: matching layers at two different sites by their fossils, working out which layer contains X and Z but not Y, rock that has been turned upside down, how many stages of time are missing, and two puzzles that are meant to be almost impossible. Expect most students to fail questions 17 and 18. That is the design. Tell them before they start.</a:t>
            </a:r>
          </a:p>
          <a:p>
            <a:pPr/>
          </a:p>
          <a:p>
            <a:pPr/>
            <a:r>
              <a:t>AT THE END OF EACH ROUND, and again on the last screen, there is a drop-down for every round with how long each question took and whether it was right and, for a wrong one, what the student wrote and how to get to the answer. Use it when you sit with a student.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ten questions in Bronze, Silver and Gold, with a rock-layers diagram, and the answers printed UPSIDE DOWN on its last page for students to check.</a:t>
            </a:r>
          </a:p>
          <a:p>
            <a:pPr/>
          </a:p>
          <a:p>
            <a:pPr/>
            <a:r>
              <a:t>CIRCULATE WITH ONE QUESTION: "which layer was laid down first?" AT 3 MINUTES REMAINING, stop them. There is no Answers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PLENARY. 3 minutes. Eleven clicks: each statement, then its answer, then the closing line.</a:t>
            </a:r>
          </a:p>
          <a:p>
            <a:pPr/>
          </a:p>
          <a:p>
            <a:pPr/>
            <a:r>
              <a:t>Q5 SETTLES THE HOOK. Go back to the tally. The clam had a hard shell and was quickly covered; the jellyfish had neither. So B.</a:t>
            </a:r>
          </a:p>
          <a:p>
            <a:pPr/>
          </a:p>
          <a:p>
            <a:pPr/>
            <a:r>
              <a:t>EVERY FALSE IS A MISCONCEPTION FROM TODAY. Q1: a fossil is a stone copy, with the original replaced by minerals (We Do row 4). Q3 IS THE ONE TO WATCH, objective 3: gaps are expected because fossils are rare, and the fossils we have show change over time. If the room splits on Q3, that is the first thing to reteach. Q4: most living things leave nothing at all.</a:t>
            </a:r>
          </a:p>
          <a:p>
            <a:pPr/>
          </a:p>
          <a:p>
            <a:pPr/>
            <a:r>
              <a:t>Q2 IS OBJECTIVE 2 IN ONE SENTENCE, and it is TRUE with a condition: "not been disturbed". You do not have to raise the overturned-rock exception; the game does, in round 3.</a:t>
            </a:r>
          </a:p>
          <a:p>
            <a:pPr/>
          </a:p>
          <a:p>
            <a:pPr/>
            <a:r>
              <a:t>THE CLOSING LINE ENDS THE LESSON on the two halves of the banner. THIS LESSON MAKES NO PROMISE FOR THE NEXT ONE. If you want to lead on: fossils show that living things change, but how old are they? Dating rocks is the natural next question, and it uses the same layers.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6.mp4"/><Relationship Id="rId7" Type="http://schemas.microsoft.com/office/2007/relationships/media" Target="../media/media6.mp4"/><Relationship Id="rId8"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1.png"/><Relationship Id="rId6"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10.mp4"/><Relationship Id="rId4" Type="http://schemas.microsoft.com/office/2007/relationships/media" Target="../media/media10.mp4"/><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926079" y="344170"/>
            <a:ext cx="630936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F3D2B"/>
                </a:solidFill>
                <a:latin typeface="Georgia"/>
                <a:ea typeface="Georgia"/>
                <a:cs typeface="Georgia"/>
                <a:sym typeface="Georgia"/>
              </a:defRPr>
            </a:lvl1pPr>
          </a:lstStyle>
          <a:p>
            <a:pPr/>
            <a:r>
              <a:t>Fossils And The Fossil Record</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2685A"/>
                </a:solidFill>
                <a:latin typeface="Arial"/>
                <a:ea typeface="Arial"/>
                <a:cs typeface="Arial"/>
                <a:sym typeface="Arial"/>
              </a:defRPr>
            </a:lvl1pPr>
          </a:lstStyle>
          <a:p>
            <a:pPr/>
            <a:r>
              <a:t>Friday 9 October 2026</a:t>
            </a:r>
          </a:p>
        </p:txBody>
      </p:sp>
      <p:sp>
        <p:nvSpPr>
          <p:cNvPr id="26" name="rule"/>
          <p:cNvSpPr/>
          <p:nvPr/>
        </p:nvSpPr>
        <p:spPr>
          <a:xfrm>
            <a:off x="1170432" y="896111"/>
            <a:ext cx="10472623" cy="36577"/>
          </a:xfrm>
          <a:prstGeom prst="rect">
            <a:avLst/>
          </a:prstGeom>
          <a:solidFill>
            <a:srgbClr val="DE9A4C"/>
          </a:solidFill>
          <a:ln w="12700">
            <a:solidFill>
              <a:srgbClr val="DE9A4C"/>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426463"/>
            <a:ext cx="384048" cy="384049"/>
          </a:xfrm>
          <a:prstGeom prst="ellipse">
            <a:avLst/>
          </a:prstGeom>
          <a:solidFill>
            <a:srgbClr val="DE9A4C"/>
          </a:solidFill>
          <a:ln w="12700">
            <a:solidFill>
              <a:srgbClr val="DE9A4C"/>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30" name="d0_q"/>
          <p:cNvSpPr txBox="1"/>
          <p:nvPr/>
        </p:nvSpPr>
        <p:spPr>
          <a:xfrm>
            <a:off x="1901951"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how sedimentary rock forms.</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32" name="Sand and mud settle in layers. Over a very long time they are squashed and stuck together."/>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Sand and mud settle in layers. Over a very long time they are squashed and stuck together.</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426463"/>
            <a:ext cx="384049" cy="384049"/>
          </a:xfrm>
          <a:prstGeom prst="ellipse">
            <a:avLst/>
          </a:prstGeom>
          <a:solidFill>
            <a:srgbClr val="DE9A4C"/>
          </a:solidFill>
          <a:ln w="12700">
            <a:solidFill>
              <a:srgbClr val="DE9A4C"/>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37" name="d1_q"/>
          <p:cNvSpPr txBox="1"/>
          <p:nvPr/>
        </p:nvSpPr>
        <p:spPr>
          <a:xfrm>
            <a:off x="7275424"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Explain why resistant bacteria become more common when antibiotics are used.</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39" name="The antibiotic kills the others. Resistant bacteria survive and pass resistance on."/>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The antibiotic kills the others. Resistant bacteria survive and pass resistance on.</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3090672"/>
            <a:ext cx="384048" cy="384049"/>
          </a:xfrm>
          <a:prstGeom prst="ellipse">
            <a:avLst/>
          </a:prstGeom>
          <a:solidFill>
            <a:srgbClr val="DE9A4C"/>
          </a:solidFill>
          <a:ln w="12700">
            <a:solidFill>
              <a:srgbClr val="DE9A4C"/>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student says: “Evolution is only a theory, so it is just a guess.” Find the mistake.</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46" name="A scientific theory is a well-tested explanation, backed by a huge amount of evidence."/>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A scientific theory is a well-tested explanation, backed by a huge amount of evidence.</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3090672"/>
            <a:ext cx="384049" cy="384049"/>
          </a:xfrm>
          <a:prstGeom prst="ellipse">
            <a:avLst/>
          </a:prstGeom>
          <a:solidFill>
            <a:srgbClr val="DE9A4C"/>
          </a:solidFill>
          <a:ln w="12700">
            <a:solidFill>
              <a:srgbClr val="DE9A4C"/>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51" name="d3_q"/>
          <p:cNvSpPr txBox="1"/>
          <p:nvPr/>
        </p:nvSpPr>
        <p:spPr>
          <a:xfrm>
            <a:off x="7275424"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Sediment builds up at 2 cm every 1000 years. Calculate how long it takes to build 10 cm.</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53" name="5000 years. 10 ÷ 2 = 5, and 5 × 1000 = 5000."/>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5000 years. 10 ÷ 2 = 5, and 5 × 1000 = 5000.</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754879"/>
            <a:ext cx="384048" cy="384049"/>
          </a:xfrm>
          <a:prstGeom prst="ellipse">
            <a:avLst/>
          </a:prstGeom>
          <a:solidFill>
            <a:srgbClr val="DE9A4C"/>
          </a:solidFill>
          <a:ln w="12700">
            <a:solidFill>
              <a:srgbClr val="DE9A4C"/>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one piece of evidence that natural selection is happening now.</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60" name="Antibiotic resistance (MRSA), or the deeper beaks of the Daphne Major finches."/>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Antibiotic resistance (MRSA), or the deeper beaks of the Daphne Major finches.</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754879"/>
            <a:ext cx="384049" cy="384049"/>
          </a:xfrm>
          <a:prstGeom prst="ellipse">
            <a:avLst/>
          </a:prstGeom>
          <a:solidFill>
            <a:srgbClr val="DE9A4C"/>
          </a:solidFill>
          <a:ln w="12700">
            <a:solidFill>
              <a:srgbClr val="DE9A4C"/>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65" name="d5_q"/>
          <p:cNvSpPr txBox="1"/>
          <p:nvPr/>
        </p:nvSpPr>
        <p:spPr>
          <a:xfrm>
            <a:off x="7275424"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Name two parts of an animal that could last a very long time after it dies.</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67" name="Bones, teeth or shell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Bones, teeth or shells.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47" grpId="4"/>
      <p:bldP build="whole" bldLvl="1" animBg="1" rev="0" advAuto="0" spid="61" grpId="6"/>
      <p:bldP build="whole" bldLvl="1" animBg="1" rev="0" advAuto="0" spid="40" grpId="3"/>
      <p:bldP build="whole" bldLvl="1" animBg="1" rev="0" advAuto="0" spid="68" grpId="7"/>
      <p:bldP build="whole" bldLvl="1" animBg="1" rev="0" advAuto="0" spid="33" grpId="2"/>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2161643" cy="329185"/>
            <a:chOff x="0" y="0"/>
            <a:chExt cx="2161642" cy="329184"/>
          </a:xfrm>
        </p:grpSpPr>
        <p:sp>
          <p:nvSpPr>
            <p:cNvPr id="73" name="Rounded Rectangle"/>
            <p:cNvSpPr/>
            <p:nvPr/>
          </p:nvSpPr>
          <p:spPr>
            <a:xfrm>
              <a:off x="0" y="0"/>
              <a:ext cx="2161643"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1" y="90677"/>
              <a:ext cx="207594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80" name="o0_t"/>
            <p:cNvSpPr txBox="1"/>
            <p:nvPr/>
          </p:nvSpPr>
          <p:spPr>
            <a:xfrm>
              <a:off x="237744" y="713231"/>
              <a:ext cx="2832506" cy="243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Describe how a fossil forms.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what the order of fossils in rock layers tells us.</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why the fossil record has gaps.</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700"/>
              </a:pPr>
            </a:p>
          </p:txBody>
        </p:sp>
        <p:sp>
          <p:nvSpPr>
            <p:cNvPr id="93" name="Few living things become fossils. The rocks give the order."/>
            <p:cNvSpPr txBox="1"/>
            <p:nvPr/>
          </p:nvSpPr>
          <p:spPr>
            <a:xfrm>
              <a:off x="36901" y="196571"/>
              <a:ext cx="10398821"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DE9A4C"/>
                  </a:solidFill>
                  <a:latin typeface="Arial"/>
                  <a:ea typeface="Arial"/>
                  <a:cs typeface="Arial"/>
                  <a:sym typeface="Arial"/>
                </a:defRPr>
              </a:lvl1pPr>
            </a:lstStyle>
            <a:p>
              <a:pPr/>
              <a:r>
                <a:t>Few living things become fossils. The rocks give the order.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4" grpId="5"/>
      <p:bldP build="whole" bldLvl="1" animBg="1" rev="0" advAuto="0" spid="81" grpId="2"/>
      <p:bldP build="whole" bldLvl="1" animBg="1" rev="0" advAuto="0" spid="91" grpId="4"/>
      <p:bldP build="whole" bldLvl="1" animBg="1" rev="0" advAuto="0" spid="86" grpId="3"/>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86103"/>
            <a:ext cx="1047262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F3D2B"/>
                </a:solidFill>
                <a:latin typeface="Georgia"/>
                <a:ea typeface="Georgia"/>
                <a:cs typeface="Georgia"/>
                <a:sym typeface="Georgia"/>
              </a:defRPr>
            </a:lvl1pPr>
          </a:lstStyle>
          <a:p>
            <a:pPr/>
            <a:r>
              <a:t>Which of these is most likely to become a fossil?</a:t>
            </a:r>
          </a:p>
        </p:txBody>
      </p:sp>
      <p:grpSp>
        <p:nvGrpSpPr>
          <p:cNvPr id="107" name="h0"/>
          <p:cNvGrpSpPr/>
          <p:nvPr/>
        </p:nvGrpSpPr>
        <p:grpSpPr>
          <a:xfrm>
            <a:off x="1170432" y="2103120"/>
            <a:ext cx="3307994" cy="3566160"/>
            <a:chOff x="0" y="0"/>
            <a:chExt cx="3307993" cy="3566159"/>
          </a:xfrm>
        </p:grpSpPr>
        <p:sp>
          <p:nvSpPr>
            <p:cNvPr id="103" name="h0_bg"/>
            <p:cNvSpPr/>
            <p:nvPr/>
          </p:nvSpPr>
          <p:spPr>
            <a:xfrm>
              <a:off x="0" y="0"/>
              <a:ext cx="3307994" cy="3566160"/>
            </a:xfrm>
            <a:prstGeom prst="roundRect">
              <a:avLst>
                <a:gd name="adj" fmla="val 276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4" name="h0_k"/>
            <p:cNvSpPr txBox="1"/>
            <p:nvPr/>
          </p:nvSpPr>
          <p:spPr>
            <a:xfrm>
              <a:off x="256032" y="220979"/>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A</a:t>
              </a:r>
            </a:p>
          </p:txBody>
        </p:sp>
        <p:pic>
          <p:nvPicPr>
            <p:cNvPr id="105" name="h0_icon" descr="h0_icon"/>
            <p:cNvPicPr>
              <a:picLocks noChangeAspect="1"/>
            </p:cNvPicPr>
            <p:nvPr/>
          </p:nvPicPr>
          <p:blipFill>
            <a:blip r:embed="rId6">
              <a:extLst/>
            </a:blip>
            <a:stretch>
              <a:fillRect/>
            </a:stretch>
          </p:blipFill>
          <p:spPr>
            <a:xfrm>
              <a:off x="968196" y="502920"/>
              <a:ext cx="1371601" cy="1371600"/>
            </a:xfrm>
            <a:prstGeom prst="rect">
              <a:avLst/>
            </a:prstGeom>
            <a:ln w="12700" cap="flat">
              <a:noFill/>
              <a:miter lim="400000"/>
            </a:ln>
            <a:effectLst/>
          </p:spPr>
        </p:pic>
        <p:sp>
          <p:nvSpPr>
            <p:cNvPr id="106" name="h0_t"/>
            <p:cNvSpPr txBox="1"/>
            <p:nvPr/>
          </p:nvSpPr>
          <p:spPr>
            <a:xfrm>
              <a:off x="274319" y="2084831"/>
              <a:ext cx="2759355" cy="5502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A jellyfish that dies in the open sea.</a:t>
              </a:r>
            </a:p>
          </p:txBody>
        </p:sp>
      </p:grpSp>
      <p:grpSp>
        <p:nvGrpSpPr>
          <p:cNvPr id="112" name="h1"/>
          <p:cNvGrpSpPr/>
          <p:nvPr/>
        </p:nvGrpSpPr>
        <p:grpSpPr>
          <a:xfrm>
            <a:off x="4752745" y="2103120"/>
            <a:ext cx="3307995" cy="3566160"/>
            <a:chOff x="0" y="0"/>
            <a:chExt cx="3307993" cy="3566159"/>
          </a:xfrm>
        </p:grpSpPr>
        <p:sp>
          <p:nvSpPr>
            <p:cNvPr id="108" name="h1_bg"/>
            <p:cNvSpPr/>
            <p:nvPr/>
          </p:nvSpPr>
          <p:spPr>
            <a:xfrm>
              <a:off x="0" y="0"/>
              <a:ext cx="3307994" cy="3566160"/>
            </a:xfrm>
            <a:prstGeom prst="roundRect">
              <a:avLst>
                <a:gd name="adj" fmla="val 276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20979"/>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B</a:t>
              </a:r>
            </a:p>
          </p:txBody>
        </p:sp>
        <p:pic>
          <p:nvPicPr>
            <p:cNvPr id="110" name="h1_icon" descr="h1_icon"/>
            <p:cNvPicPr>
              <a:picLocks noChangeAspect="1"/>
            </p:cNvPicPr>
            <p:nvPr/>
          </p:nvPicPr>
          <p:blipFill>
            <a:blip r:embed="rId7">
              <a:extLst/>
            </a:blip>
            <a:stretch>
              <a:fillRect/>
            </a:stretch>
          </p:blipFill>
          <p:spPr>
            <a:xfrm>
              <a:off x="968197" y="502920"/>
              <a:ext cx="1371601" cy="1371600"/>
            </a:xfrm>
            <a:prstGeom prst="rect">
              <a:avLst/>
            </a:prstGeom>
            <a:ln w="12700" cap="flat">
              <a:noFill/>
              <a:miter lim="400000"/>
            </a:ln>
            <a:effectLst/>
          </p:spPr>
        </p:pic>
        <p:sp>
          <p:nvSpPr>
            <p:cNvPr id="111" name="h1_t"/>
            <p:cNvSpPr txBox="1"/>
            <p:nvPr/>
          </p:nvSpPr>
          <p:spPr>
            <a:xfrm>
              <a:off x="274319" y="2084831"/>
              <a:ext cx="2759355" cy="8296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A clam that dies on the sea floor and is quickly covered in mud.</a:t>
              </a:r>
            </a:p>
          </p:txBody>
        </p:sp>
      </p:grpSp>
      <p:grpSp>
        <p:nvGrpSpPr>
          <p:cNvPr id="117" name="h2"/>
          <p:cNvGrpSpPr/>
          <p:nvPr/>
        </p:nvGrpSpPr>
        <p:grpSpPr>
          <a:xfrm>
            <a:off x="8335061" y="2103120"/>
            <a:ext cx="3307994" cy="3566160"/>
            <a:chOff x="0" y="0"/>
            <a:chExt cx="3307993" cy="3566159"/>
          </a:xfrm>
        </p:grpSpPr>
        <p:sp>
          <p:nvSpPr>
            <p:cNvPr id="113" name="h2_bg"/>
            <p:cNvSpPr/>
            <p:nvPr/>
          </p:nvSpPr>
          <p:spPr>
            <a:xfrm>
              <a:off x="0" y="0"/>
              <a:ext cx="3307994" cy="3566160"/>
            </a:xfrm>
            <a:prstGeom prst="roundRect">
              <a:avLst>
                <a:gd name="adj" fmla="val 276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4" name="h2_k"/>
            <p:cNvSpPr txBox="1"/>
            <p:nvPr/>
          </p:nvSpPr>
          <p:spPr>
            <a:xfrm>
              <a:off x="256032" y="220979"/>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C</a:t>
              </a:r>
            </a:p>
          </p:txBody>
        </p:sp>
        <p:pic>
          <p:nvPicPr>
            <p:cNvPr id="115" name="h2_icon" descr="h2_icon"/>
            <p:cNvPicPr>
              <a:picLocks noChangeAspect="1"/>
            </p:cNvPicPr>
            <p:nvPr/>
          </p:nvPicPr>
          <p:blipFill>
            <a:blip r:embed="rId8">
              <a:extLst/>
            </a:blip>
            <a:stretch>
              <a:fillRect/>
            </a:stretch>
          </p:blipFill>
          <p:spPr>
            <a:xfrm>
              <a:off x="968196" y="502920"/>
              <a:ext cx="1371601" cy="1371600"/>
            </a:xfrm>
            <a:prstGeom prst="rect">
              <a:avLst/>
            </a:prstGeom>
            <a:ln w="12700" cap="flat">
              <a:noFill/>
              <a:miter lim="400000"/>
            </a:ln>
            <a:effectLst/>
          </p:spPr>
        </p:pic>
        <p:sp>
          <p:nvSpPr>
            <p:cNvPr id="116" name="h2_t"/>
            <p:cNvSpPr txBox="1"/>
            <p:nvPr/>
          </p:nvSpPr>
          <p:spPr>
            <a:xfrm>
              <a:off x="274319" y="2084831"/>
              <a:ext cx="2759355" cy="5502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A leaf that falls on a rock on a forest floor.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2"/>
                                        </p:tgtEl>
                                        <p:attrNameLst>
                                          <p:attrName>style.visibility</p:attrName>
                                        </p:attrNameLst>
                                      </p:cBhvr>
                                      <p:to>
                                        <p:strVal val="visible"/>
                                      </p:to>
                                    </p:set>
                                    <p:animEffect filter="fade" transition="in">
                                      <p:cBhvr>
                                        <p:cTn id="15" dur="400"/>
                                        <p:tgtEl>
                                          <p:spTgt spid="112"/>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7"/>
                                        </p:tgtEl>
                                        <p:attrNameLst>
                                          <p:attrName>style.visibility</p:attrName>
                                        </p:attrNameLst>
                                      </p:cBhvr>
                                      <p:to>
                                        <p:strVal val="visible"/>
                                      </p:to>
                                    </p:set>
                                    <p:animEffect filter="fade" transition="in">
                                      <p:cBhvr>
                                        <p:cTn id="19" dur="4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2" grpId="3"/>
      <p:bldP build="whole" bldLvl="1" animBg="1" rev="0" advAuto="0" spid="117" grpId="4"/>
      <p:bldP build="whole" bldLvl="1" animBg="1" rev="0" advAuto="0" spid="107"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2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4" name="phase_pill"/>
          <p:cNvGrpSpPr/>
          <p:nvPr/>
        </p:nvGrpSpPr>
        <p:grpSpPr>
          <a:xfrm>
            <a:off x="1170432" y="310895"/>
            <a:ext cx="1623975" cy="329185"/>
            <a:chOff x="0" y="0"/>
            <a:chExt cx="1623974" cy="329184"/>
          </a:xfrm>
        </p:grpSpPr>
        <p:sp>
          <p:nvSpPr>
            <p:cNvPr id="122"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23"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How a fossil forms</a:t>
            </a:r>
          </a:p>
        </p:txBody>
      </p:sp>
      <p:pic>
        <p:nvPicPr>
          <p:cNvPr id="126" name="vid_formation" descr="vid_formation"/>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170432" y="1737360"/>
            <a:ext cx="5943601" cy="3714751"/>
          </a:xfrm>
          <a:prstGeom prst="rect">
            <a:avLst/>
          </a:prstGeom>
          <a:ln w="12700">
            <a:miter lim="400000"/>
          </a:ln>
        </p:spPr>
      </p:pic>
      <p:grpSp>
        <p:nvGrpSpPr>
          <p:cNvPr id="129" name="form_banner"/>
          <p:cNvGrpSpPr/>
          <p:nvPr/>
        </p:nvGrpSpPr>
        <p:grpSpPr>
          <a:xfrm>
            <a:off x="1170432" y="5634990"/>
            <a:ext cx="5943601" cy="603505"/>
            <a:chOff x="0" y="0"/>
            <a:chExt cx="5943600" cy="603504"/>
          </a:xfrm>
        </p:grpSpPr>
        <p:sp>
          <p:nvSpPr>
            <p:cNvPr id="127" name="Rounded Rectangle"/>
            <p:cNvSpPr/>
            <p:nvPr/>
          </p:nvSpPr>
          <p:spPr>
            <a:xfrm>
              <a:off x="0" y="0"/>
              <a:ext cx="5943600" cy="603505"/>
            </a:xfrm>
            <a:prstGeom prst="roundRect">
              <a:avLst>
                <a:gd name="adj" fmla="val 18182"/>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900"/>
              </a:pPr>
            </a:p>
          </p:txBody>
        </p:sp>
        <p:sp>
          <p:nvSpPr>
            <p:cNvPr id="128" name="Fossils form when hard parts are buried fast."/>
            <p:cNvSpPr txBox="1"/>
            <p:nvPr/>
          </p:nvSpPr>
          <p:spPr>
            <a:xfrm>
              <a:off x="36901" y="164729"/>
              <a:ext cx="5869798" cy="2740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p>
              <a:pPr algn="ctr">
                <a:defRPr b="1" sz="1900">
                  <a:solidFill>
                    <a:srgbClr val="DE9A4C"/>
                  </a:solidFill>
                  <a:latin typeface="Arial"/>
                  <a:ea typeface="Arial"/>
                  <a:cs typeface="Arial"/>
                  <a:sym typeface="Arial"/>
                </a:defRPr>
              </a:pPr>
              <a:r>
                <a:t>Fossils form when </a:t>
              </a:r>
              <a:r>
                <a:rPr u="sng"/>
                <a:t>hard parts</a:t>
              </a:r>
              <a:r>
                <a:t> are </a:t>
              </a:r>
              <a:r>
                <a:rPr u="sng"/>
                <a:t>buried fast</a:t>
              </a:r>
              <a:r>
                <a:t>.</a:t>
              </a:r>
            </a:p>
          </p:txBody>
        </p:sp>
      </p:grpSp>
      <p:grpSp>
        <p:nvGrpSpPr>
          <p:cNvPr id="134" name="fs0"/>
          <p:cNvGrpSpPr/>
          <p:nvPr/>
        </p:nvGrpSpPr>
        <p:grpSpPr>
          <a:xfrm>
            <a:off x="7388352" y="1737360"/>
            <a:ext cx="4254704" cy="786385"/>
            <a:chOff x="0" y="0"/>
            <a:chExt cx="4254703" cy="786384"/>
          </a:xfrm>
        </p:grpSpPr>
        <p:sp>
          <p:nvSpPr>
            <p:cNvPr id="130" name="fs0_bg"/>
            <p:cNvSpPr/>
            <p:nvPr/>
          </p:nvSpPr>
          <p:spPr>
            <a:xfrm>
              <a:off x="0" y="-1"/>
              <a:ext cx="4254704" cy="786386"/>
            </a:xfrm>
            <a:prstGeom prst="roundRect">
              <a:avLst>
                <a:gd name="adj" fmla="val 116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31" name="fs0_badge"/>
            <p:cNvSpPr/>
            <p:nvPr/>
          </p:nvSpPr>
          <p:spPr>
            <a:xfrm>
              <a:off x="164592" y="201167"/>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32" name="fs0_num"/>
            <p:cNvSpPr txBox="1"/>
            <p:nvPr/>
          </p:nvSpPr>
          <p:spPr>
            <a:xfrm>
              <a:off x="164592"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133" name="fs0_t"/>
            <p:cNvSpPr txBox="1"/>
            <p:nvPr/>
          </p:nvSpPr>
          <p:spPr>
            <a:xfrm>
              <a:off x="749807" y="289338"/>
              <a:ext cx="3358593"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The animal dies.</a:t>
              </a:r>
            </a:p>
          </p:txBody>
        </p:sp>
      </p:grpSp>
      <p:grpSp>
        <p:nvGrpSpPr>
          <p:cNvPr id="139" name="fs1"/>
          <p:cNvGrpSpPr/>
          <p:nvPr/>
        </p:nvGrpSpPr>
        <p:grpSpPr>
          <a:xfrm>
            <a:off x="7388352" y="2642615"/>
            <a:ext cx="4254704" cy="786386"/>
            <a:chOff x="0" y="0"/>
            <a:chExt cx="4254703" cy="786384"/>
          </a:xfrm>
        </p:grpSpPr>
        <p:sp>
          <p:nvSpPr>
            <p:cNvPr id="135" name="fs1_bg"/>
            <p:cNvSpPr/>
            <p:nvPr/>
          </p:nvSpPr>
          <p:spPr>
            <a:xfrm>
              <a:off x="0" y="-1"/>
              <a:ext cx="4254704" cy="786386"/>
            </a:xfrm>
            <a:prstGeom prst="roundRect">
              <a:avLst>
                <a:gd name="adj" fmla="val 116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36" name="fs1_badge"/>
            <p:cNvSpPr/>
            <p:nvPr/>
          </p:nvSpPr>
          <p:spPr>
            <a:xfrm>
              <a:off x="164592" y="201167"/>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37" name="fs1_num"/>
            <p:cNvSpPr txBox="1"/>
            <p:nvPr/>
          </p:nvSpPr>
          <p:spPr>
            <a:xfrm>
              <a:off x="164592"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138" name="fs1_t"/>
            <p:cNvSpPr txBox="1"/>
            <p:nvPr/>
          </p:nvSpPr>
          <p:spPr>
            <a:xfrm>
              <a:off x="749807" y="289338"/>
              <a:ext cx="3358593"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Mud and sand bury it quickly.</a:t>
              </a:r>
            </a:p>
          </p:txBody>
        </p:sp>
      </p:grpSp>
      <p:grpSp>
        <p:nvGrpSpPr>
          <p:cNvPr id="144" name="fs2"/>
          <p:cNvGrpSpPr/>
          <p:nvPr/>
        </p:nvGrpSpPr>
        <p:grpSpPr>
          <a:xfrm>
            <a:off x="7388352" y="3547871"/>
            <a:ext cx="4254704" cy="786385"/>
            <a:chOff x="0" y="0"/>
            <a:chExt cx="4254703" cy="786384"/>
          </a:xfrm>
        </p:grpSpPr>
        <p:sp>
          <p:nvSpPr>
            <p:cNvPr id="140" name="fs2_bg"/>
            <p:cNvSpPr/>
            <p:nvPr/>
          </p:nvSpPr>
          <p:spPr>
            <a:xfrm>
              <a:off x="0" y="-1"/>
              <a:ext cx="4254704" cy="786386"/>
            </a:xfrm>
            <a:prstGeom prst="roundRect">
              <a:avLst>
                <a:gd name="adj" fmla="val 116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41" name="fs2_badge"/>
            <p:cNvSpPr/>
            <p:nvPr/>
          </p:nvSpPr>
          <p:spPr>
            <a:xfrm>
              <a:off x="164592" y="201167"/>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42" name="fs2_num"/>
            <p:cNvSpPr txBox="1"/>
            <p:nvPr/>
          </p:nvSpPr>
          <p:spPr>
            <a:xfrm>
              <a:off x="164592"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143" name="fs2_t"/>
            <p:cNvSpPr txBox="1"/>
            <p:nvPr/>
          </p:nvSpPr>
          <p:spPr>
            <a:xfrm>
              <a:off x="749807" y="289338"/>
              <a:ext cx="3358593"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The soft parts rot. The hard parts stay.</a:t>
              </a:r>
            </a:p>
          </p:txBody>
        </p:sp>
      </p:grpSp>
      <p:grpSp>
        <p:nvGrpSpPr>
          <p:cNvPr id="149" name="fs3"/>
          <p:cNvGrpSpPr/>
          <p:nvPr/>
        </p:nvGrpSpPr>
        <p:grpSpPr>
          <a:xfrm>
            <a:off x="7388352" y="4453128"/>
            <a:ext cx="4254704" cy="786385"/>
            <a:chOff x="0" y="0"/>
            <a:chExt cx="4254703" cy="786384"/>
          </a:xfrm>
        </p:grpSpPr>
        <p:sp>
          <p:nvSpPr>
            <p:cNvPr id="145" name="fs3_bg"/>
            <p:cNvSpPr/>
            <p:nvPr/>
          </p:nvSpPr>
          <p:spPr>
            <a:xfrm>
              <a:off x="0" y="-1"/>
              <a:ext cx="4254704" cy="786386"/>
            </a:xfrm>
            <a:prstGeom prst="roundRect">
              <a:avLst>
                <a:gd name="adj" fmla="val 116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46" name="fs3_badge"/>
            <p:cNvSpPr/>
            <p:nvPr/>
          </p:nvSpPr>
          <p:spPr>
            <a:xfrm>
              <a:off x="164592" y="201167"/>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47" name="fs3_num"/>
            <p:cNvSpPr txBox="1"/>
            <p:nvPr/>
          </p:nvSpPr>
          <p:spPr>
            <a:xfrm>
              <a:off x="164592"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148" name="fs3_t"/>
            <p:cNvSpPr txBox="1"/>
            <p:nvPr/>
          </p:nvSpPr>
          <p:spPr>
            <a:xfrm>
              <a:off x="749807" y="181388"/>
              <a:ext cx="3358593"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The layers turn to rock. Minerals turn the hard parts to stone.</a:t>
              </a:r>
            </a:p>
          </p:txBody>
        </p:sp>
      </p:grpSp>
      <p:grpSp>
        <p:nvGrpSpPr>
          <p:cNvPr id="154" name="fs4"/>
          <p:cNvGrpSpPr/>
          <p:nvPr/>
        </p:nvGrpSpPr>
        <p:grpSpPr>
          <a:xfrm>
            <a:off x="7388352" y="5358384"/>
            <a:ext cx="4254704" cy="786385"/>
            <a:chOff x="0" y="0"/>
            <a:chExt cx="4254703" cy="786384"/>
          </a:xfrm>
        </p:grpSpPr>
        <p:sp>
          <p:nvSpPr>
            <p:cNvPr id="150" name="fs4_bg"/>
            <p:cNvSpPr/>
            <p:nvPr/>
          </p:nvSpPr>
          <p:spPr>
            <a:xfrm>
              <a:off x="0" y="-1"/>
              <a:ext cx="4254704" cy="786386"/>
            </a:xfrm>
            <a:prstGeom prst="roundRect">
              <a:avLst>
                <a:gd name="adj" fmla="val 1162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51" name="fs4_badge"/>
            <p:cNvSpPr/>
            <p:nvPr/>
          </p:nvSpPr>
          <p:spPr>
            <a:xfrm>
              <a:off x="164592" y="201167"/>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52" name="fs4_num"/>
            <p:cNvSpPr txBox="1"/>
            <p:nvPr/>
          </p:nvSpPr>
          <p:spPr>
            <a:xfrm>
              <a:off x="164592"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153" name="fs4_t"/>
            <p:cNvSpPr txBox="1"/>
            <p:nvPr/>
          </p:nvSpPr>
          <p:spPr>
            <a:xfrm>
              <a:off x="749807" y="181388"/>
              <a:ext cx="3358593"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The rock is lifted and worn away. The fossil is found.</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21"/>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1" grpId="2" fill="hold">
                                  <p:stCondLst>
                                    <p:cond delay="0"/>
                                  </p:stCondLst>
                                  <p:childTnLst>
                                    <p:cmd type="call" cmd="playFrom(0.0)">
                                      <p:cBhvr>
                                        <p:cTn id="10" dur="27400" fill="hold"/>
                                        <p:tgtEl>
                                          <p:spTgt spid="126"/>
                                        </p:tgtEl>
                                      </p:cBhvr>
                                    </p:cmd>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3" fill="hold">
                                  <p:stCondLst>
                                    <p:cond delay="0"/>
                                  </p:stCondLst>
                                  <p:iterate type="el" backwards="0">
                                    <p:tmAbs val="0"/>
                                  </p:iterate>
                                  <p:childTnLst>
                                    <p:set>
                                      <p:cBhvr>
                                        <p:cTn id="14" fill="hold"/>
                                        <p:tgtEl>
                                          <p:spTgt spid="134"/>
                                        </p:tgtEl>
                                        <p:attrNameLst>
                                          <p:attrName>style.visibility</p:attrName>
                                        </p:attrNameLst>
                                      </p:cBhvr>
                                      <p:to>
                                        <p:strVal val="visible"/>
                                      </p:to>
                                    </p:set>
                                    <p:animEffect filter="fade" transition="in">
                                      <p:cBhvr>
                                        <p:cTn id="15" dur="400"/>
                                        <p:tgtEl>
                                          <p:spTgt spid="134"/>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39"/>
                                        </p:tgtEl>
                                        <p:attrNameLst>
                                          <p:attrName>style.visibility</p:attrName>
                                        </p:attrNameLst>
                                      </p:cBhvr>
                                      <p:to>
                                        <p:strVal val="visible"/>
                                      </p:to>
                                    </p:set>
                                    <p:animEffect filter="fade" transition="in">
                                      <p:cBhvr>
                                        <p:cTn id="20" dur="400"/>
                                        <p:tgtEl>
                                          <p:spTgt spid="139"/>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144"/>
                                        </p:tgtEl>
                                        <p:attrNameLst>
                                          <p:attrName>style.visibility</p:attrName>
                                        </p:attrNameLst>
                                      </p:cBhvr>
                                      <p:to>
                                        <p:strVal val="visible"/>
                                      </p:to>
                                    </p:set>
                                    <p:animEffect filter="fade" transition="in">
                                      <p:cBhvr>
                                        <p:cTn id="25" dur="400"/>
                                        <p:tgtEl>
                                          <p:spTgt spid="144"/>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ID="10" grpId="6" fill="hold">
                                  <p:stCondLst>
                                    <p:cond delay="0"/>
                                  </p:stCondLst>
                                  <p:iterate type="el" backwards="0">
                                    <p:tmAbs val="0"/>
                                  </p:iterate>
                                  <p:childTnLst>
                                    <p:set>
                                      <p:cBhvr>
                                        <p:cTn id="29" fill="hold"/>
                                        <p:tgtEl>
                                          <p:spTgt spid="149"/>
                                        </p:tgtEl>
                                        <p:attrNameLst>
                                          <p:attrName>style.visibility</p:attrName>
                                        </p:attrNameLst>
                                      </p:cBhvr>
                                      <p:to>
                                        <p:strVal val="visible"/>
                                      </p:to>
                                    </p:set>
                                    <p:animEffect filter="fade" transition="in">
                                      <p:cBhvr>
                                        <p:cTn id="30" dur="400"/>
                                        <p:tgtEl>
                                          <p:spTgt spid="149"/>
                                        </p:tgtEl>
                                      </p:cBhvr>
                                    </p:animEffect>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7" fill="hold">
                                  <p:stCondLst>
                                    <p:cond delay="0"/>
                                  </p:stCondLst>
                                  <p:iterate type="el" backwards="0">
                                    <p:tmAbs val="0"/>
                                  </p:iterate>
                                  <p:childTnLst>
                                    <p:set>
                                      <p:cBhvr>
                                        <p:cTn id="34" fill="hold"/>
                                        <p:tgtEl>
                                          <p:spTgt spid="154"/>
                                        </p:tgtEl>
                                        <p:attrNameLst>
                                          <p:attrName>style.visibility</p:attrName>
                                        </p:attrNameLst>
                                      </p:cBhvr>
                                      <p:to>
                                        <p:strVal val="visible"/>
                                      </p:to>
                                    </p:set>
                                    <p:animEffect filter="fade" transition="in">
                                      <p:cBhvr>
                                        <p:cTn id="35" dur="400"/>
                                        <p:tgtEl>
                                          <p:spTgt spid="154"/>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16" presetID="23" grpId="8" fill="hold">
                                  <p:stCondLst>
                                    <p:cond delay="0"/>
                                  </p:stCondLst>
                                  <p:iterate type="el" backwards="0">
                                    <p:tmAbs val="0"/>
                                  </p:iterate>
                                  <p:childTnLst>
                                    <p:set>
                                      <p:cBhvr>
                                        <p:cTn id="39" fill="hold"/>
                                        <p:tgtEl>
                                          <p:spTgt spid="129"/>
                                        </p:tgtEl>
                                        <p:attrNameLst>
                                          <p:attrName>style.visibility</p:attrName>
                                        </p:attrNameLst>
                                      </p:cBhvr>
                                      <p:to>
                                        <p:strVal val="visible"/>
                                      </p:to>
                                    </p:set>
                                    <p:anim calcmode="lin" valueType="num">
                                      <p:cBhvr>
                                        <p:cTn id="40" dur="400" fill="hold"/>
                                        <p:tgtEl>
                                          <p:spTgt spid="129"/>
                                        </p:tgtEl>
                                        <p:attrNameLst>
                                          <p:attrName>ppt_w</p:attrName>
                                        </p:attrNameLst>
                                      </p:cBhvr>
                                      <p:tavLst>
                                        <p:tav tm="0">
                                          <p:val>
                                            <p:fltVal val="0"/>
                                          </p:val>
                                        </p:tav>
                                        <p:tav tm="100000">
                                          <p:val>
                                            <p:strVal val="#ppt_w"/>
                                          </p:val>
                                        </p:tav>
                                      </p:tavLst>
                                    </p:anim>
                                    <p:anim calcmode="lin" valueType="num">
                                      <p:cBhvr>
                                        <p:cTn id="41" dur="400" fill="hold"/>
                                        <p:tgtEl>
                                          <p:spTgt spid="12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2" fill="hold" display="0">
                  <p:stCondLst>
                    <p:cond delay="indefinite"/>
                  </p:stCondLst>
                </p:cTn>
                <p:tgtEl>
                  <p:spTgt spid="121"/>
                </p:tgtEl>
              </p:cMediaNode>
            </p:video>
            <p:seq concurrent="1" prevAc="none" nextAc="seek">
              <p:cTn id="43" evtFilter="cancelBubble" nodeType="interactiveSeq" restart="whenNotActive" fill="hold">
                <p:stCondLst>
                  <p:cond delay="0" evt="onClick">
                    <p:tgtEl>
                      <p:spTgt spid="121"/>
                    </p:tgtEl>
                  </p:cond>
                </p:stCondLst>
                <p:endSync delay="0" evt="end">
                  <p:rtn val="all"/>
                </p:endSync>
                <p:childTnLst>
                  <p:par>
                    <p:cTn id="44" fill="hold">
                      <p:stCondLst>
                        <p:cond delay="0"/>
                      </p:stCondLst>
                      <p:childTnLst>
                        <p:par>
                          <p:cTn id="45" fill="hold">
                            <p:stCondLst>
                              <p:cond delay="0"/>
                            </p:stCondLst>
                            <p:childTnLst>
                              <p:par>
                                <p:cTn id="46" presetClass="mediacall" nodeType="clickEffect" presetSubtype="0" presetID="2" fill="hold">
                                  <p:stCondLst>
                                    <p:cond delay="0"/>
                                  </p:stCondLst>
                                  <p:childTnLst>
                                    <p:cmd type="call" cmd="togglePause">
                                      <p:cBhvr>
                                        <p:cTn id="47" dur="1" fill="hold"/>
                                        <p:tgtEl>
                                          <p:spTgt spid="121"/>
                                        </p:tgtEl>
                                      </p:cBhvr>
                                    </p:cmd>
                                  </p:childTnLst>
                                </p:cTn>
                              </p:par>
                            </p:childTnLst>
                          </p:cTn>
                        </p:par>
                      </p:childTnLst>
                    </p:cTn>
                  </p:par>
                </p:childTnLst>
              </p:cTn>
              <p:nextCondLst>
                <p:cond delay="0" evt="onClick">
                  <p:tgtEl>
                    <p:spTgt spid="121"/>
                  </p:tgtEl>
                </p:cond>
              </p:nextCondLst>
            </p:seq>
            <p:video fullScrn="0">
              <p:cMediaNode mute="0" showWhenStopped="1" numSld="1" vol="100000">
                <p:cTn id="48" fill="hold" display="0">
                  <p:stCondLst>
                    <p:cond delay="indefinite"/>
                  </p:stCondLst>
                </p:cTn>
                <p:tgtEl>
                  <p:spTgt spid="126"/>
                </p:tgtEl>
              </p:cMediaNode>
            </p:video>
            <p:seq concurrent="1" prevAc="none" nextAc="seek">
              <p:cTn id="49" evtFilter="cancelBubble" nodeType="interactiveSeq" restart="whenNotActive" fill="hold">
                <p:stCondLst>
                  <p:cond delay="0" evt="onClick">
                    <p:tgtEl>
                      <p:spTgt spid="126"/>
                    </p:tgtEl>
                  </p:cond>
                </p:stCondLst>
                <p:endSync delay="0" evt="end">
                  <p:rtn val="all"/>
                </p:endSync>
                <p:childTnLst>
                  <p:par>
                    <p:cTn id="50" fill="hold">
                      <p:stCondLst>
                        <p:cond delay="0"/>
                      </p:stCondLst>
                      <p:childTnLst>
                        <p:par>
                          <p:cTn id="51" fill="hold">
                            <p:stCondLst>
                              <p:cond delay="0"/>
                            </p:stCondLst>
                            <p:childTnLst>
                              <p:par>
                                <p:cTn id="52" presetClass="mediacall" nodeType="clickEffect" presetSubtype="0" presetID="2" fill="hold">
                                  <p:stCondLst>
                                    <p:cond delay="0"/>
                                  </p:stCondLst>
                                  <p:childTnLst>
                                    <p:cmd type="call" cmd="togglePause">
                                      <p:cBhvr>
                                        <p:cTn id="53" dur="1" fill="hold"/>
                                        <p:tgtEl>
                                          <p:spTgt spid="126"/>
                                        </p:tgtEl>
                                      </p:cBhvr>
                                    </p:cmd>
                                  </p:childTnLst>
                                </p:cTn>
                              </p:par>
                            </p:childTnLst>
                          </p:cTn>
                        </p:par>
                      </p:childTnLst>
                    </p:cTn>
                  </p:par>
                </p:childTnLst>
              </p:cTn>
              <p:nextCondLst>
                <p:cond delay="0" evt="onClick">
                  <p:tgtEl>
                    <p:spTgt spid="126"/>
                  </p:tgtEl>
                </p:cond>
              </p:nextCondLst>
            </p:seq>
          </p:childTnLst>
        </p:cTn>
      </p:par>
    </p:tnLst>
    <p:bldLst>
      <p:bldP build="whole" bldLvl="1" animBg="1" rev="0" advAuto="0" spid="134" grpId="3"/>
      <p:bldP build="whole" bldLvl="1" animBg="1" rev="0" advAuto="0" spid="144" grpId="5"/>
      <p:bldP build="whole" bldLvl="1" animBg="1" rev="0" advAuto="0" spid="154" grpId="7"/>
      <p:bldP build="whole" bldLvl="1" animBg="1" rev="0" advAuto="0" spid="129" grpId="8"/>
      <p:bldP build="whole" bldLvl="1" animBg="1" rev="0" advAuto="0" spid="139" grpId="4"/>
      <p:bldP build="whole" bldLvl="1" animBg="1" rev="0" advAuto="0" spid="149" grpId="6"/>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5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61" name="phase_pill"/>
          <p:cNvGrpSpPr/>
          <p:nvPr/>
        </p:nvGrpSpPr>
        <p:grpSpPr>
          <a:xfrm>
            <a:off x="1170432" y="310895"/>
            <a:ext cx="1623975" cy="329185"/>
            <a:chOff x="0" y="0"/>
            <a:chExt cx="1623974" cy="329184"/>
          </a:xfrm>
        </p:grpSpPr>
        <p:sp>
          <p:nvSpPr>
            <p:cNvPr id="15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60"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62"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What the layers tell us</a:t>
            </a:r>
          </a:p>
        </p:txBody>
      </p:sp>
      <p:pic>
        <p:nvPicPr>
          <p:cNvPr id="163" name="vid_layers" descr="vid_layers"/>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170432" y="1737360"/>
            <a:ext cx="4206241" cy="4556760"/>
          </a:xfrm>
          <a:prstGeom prst="rect">
            <a:avLst/>
          </a:prstGeom>
          <a:ln w="12700">
            <a:miter lim="400000"/>
          </a:ln>
        </p:spPr>
      </p:pic>
      <p:grpSp>
        <p:nvGrpSpPr>
          <p:cNvPr id="167" name="ordg"/>
          <p:cNvGrpSpPr/>
          <p:nvPr/>
        </p:nvGrpSpPr>
        <p:grpSpPr>
          <a:xfrm>
            <a:off x="5650991" y="1737360"/>
            <a:ext cx="5992064" cy="2560321"/>
            <a:chOff x="0" y="0"/>
            <a:chExt cx="5992062" cy="2560320"/>
          </a:xfrm>
        </p:grpSpPr>
        <p:sp>
          <p:nvSpPr>
            <p:cNvPr id="164" name="ord_bg"/>
            <p:cNvSpPr/>
            <p:nvPr/>
          </p:nvSpPr>
          <p:spPr>
            <a:xfrm>
              <a:off x="0" y="0"/>
              <a:ext cx="5992063" cy="2560321"/>
            </a:xfrm>
            <a:prstGeom prst="roundRect">
              <a:avLst>
                <a:gd name="adj" fmla="val 3571"/>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65" name="ord_h"/>
            <p:cNvSpPr txBox="1"/>
            <p:nvPr/>
          </p:nvSpPr>
          <p:spPr>
            <a:xfrm>
              <a:off x="256031" y="175514"/>
              <a:ext cx="5480000"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500">
                  <a:solidFill>
                    <a:srgbClr val="1F3D2B"/>
                  </a:solidFill>
                  <a:latin typeface="Georgia"/>
                  <a:ea typeface="Georgia"/>
                  <a:cs typeface="Georgia"/>
                  <a:sym typeface="Georgia"/>
                </a:defRPr>
              </a:lvl1pPr>
            </a:lstStyle>
            <a:p>
              <a:pPr/>
              <a:r>
                <a:t>THE ORDER</a:t>
              </a:r>
            </a:p>
          </p:txBody>
        </p:sp>
        <p:sp>
          <p:nvSpPr>
            <p:cNvPr id="166" name="ord_t"/>
            <p:cNvSpPr txBox="1"/>
            <p:nvPr/>
          </p:nvSpPr>
          <p:spPr>
            <a:xfrm>
              <a:off x="256031" y="493775"/>
              <a:ext cx="5480000" cy="1340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600"/>
                </a:lnSpc>
                <a:spcBef>
                  <a:spcPts val="500"/>
                </a:spcBef>
                <a:buSzPct val="100000"/>
                <a:buChar char="•"/>
                <a:defRPr b="1" sz="1300">
                  <a:solidFill>
                    <a:srgbClr val="182B1E"/>
                  </a:solidFill>
                  <a:latin typeface="Arial"/>
                  <a:ea typeface="Arial"/>
                  <a:cs typeface="Arial"/>
                  <a:sym typeface="Arial"/>
                </a:defRPr>
              </a:pPr>
              <a:r>
                <a:t>Deeper layers are older. Higher layers are younger.</a:t>
              </a:r>
            </a:p>
            <a:p>
              <a:pPr marL="342900" indent="-342900">
                <a:lnSpc>
                  <a:spcPts val="1600"/>
                </a:lnSpc>
                <a:spcBef>
                  <a:spcPts val="500"/>
                </a:spcBef>
                <a:buSzPct val="100000"/>
                <a:buChar char="•"/>
                <a:defRPr b="1" sz="1300">
                  <a:solidFill>
                    <a:srgbClr val="182B1E"/>
                  </a:solidFill>
                  <a:latin typeface="Arial"/>
                  <a:ea typeface="Arial"/>
                  <a:cs typeface="Arial"/>
                  <a:sym typeface="Arial"/>
                </a:defRPr>
              </a:pPr>
              <a:r>
                <a:t>Different layers hold different fossils. Living things change over time, and some die out.</a:t>
              </a:r>
            </a:p>
            <a:p>
              <a:pPr marL="342900" indent="-342900">
                <a:lnSpc>
                  <a:spcPts val="1600"/>
                </a:lnSpc>
                <a:buSzPct val="100000"/>
                <a:buChar char="•"/>
                <a:defRPr b="1" sz="1300">
                  <a:solidFill>
                    <a:srgbClr val="182B1E"/>
                  </a:solidFill>
                  <a:latin typeface="Arial"/>
                  <a:ea typeface="Arial"/>
                  <a:cs typeface="Arial"/>
                  <a:sym typeface="Arial"/>
                </a:defRPr>
              </a:pPr>
              <a:r>
                <a:t>Some fossils show the change. Tiktaalik (about 375 million years old) had fins and the bones of a limb. Archaeopteryx (about 150 million years old) had feathers and teeth.</a:t>
              </a:r>
            </a:p>
          </p:txBody>
        </p:sp>
      </p:grpSp>
      <p:grpSp>
        <p:nvGrpSpPr>
          <p:cNvPr id="171" name="gapg"/>
          <p:cNvGrpSpPr/>
          <p:nvPr/>
        </p:nvGrpSpPr>
        <p:grpSpPr>
          <a:xfrm>
            <a:off x="5650991" y="4434840"/>
            <a:ext cx="5992064" cy="1874521"/>
            <a:chOff x="0" y="0"/>
            <a:chExt cx="5992062" cy="1874520"/>
          </a:xfrm>
        </p:grpSpPr>
        <p:sp>
          <p:nvSpPr>
            <p:cNvPr id="168" name="gap_bg"/>
            <p:cNvSpPr/>
            <p:nvPr/>
          </p:nvSpPr>
          <p:spPr>
            <a:xfrm>
              <a:off x="0" y="0"/>
              <a:ext cx="5992063" cy="1874521"/>
            </a:xfrm>
            <a:prstGeom prst="roundRect">
              <a:avLst>
                <a:gd name="adj" fmla="val 487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69" name="gap_h"/>
            <p:cNvSpPr txBox="1"/>
            <p:nvPr/>
          </p:nvSpPr>
          <p:spPr>
            <a:xfrm>
              <a:off x="256031" y="157226"/>
              <a:ext cx="146304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500">
                  <a:solidFill>
                    <a:srgbClr val="1F3D2B"/>
                  </a:solidFill>
                  <a:latin typeface="Georgia"/>
                  <a:ea typeface="Georgia"/>
                  <a:cs typeface="Georgia"/>
                  <a:sym typeface="Georgia"/>
                </a:defRPr>
              </a:lvl1pPr>
            </a:lstStyle>
            <a:p>
              <a:pPr/>
              <a:r>
                <a:t>THE GAPS</a:t>
              </a:r>
            </a:p>
          </p:txBody>
        </p:sp>
        <p:sp>
          <p:nvSpPr>
            <p:cNvPr id="170" name="gap_s"/>
            <p:cNvSpPr txBox="1"/>
            <p:nvPr/>
          </p:nvSpPr>
          <p:spPr>
            <a:xfrm>
              <a:off x="1783079" y="178768"/>
              <a:ext cx="402610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52685A"/>
                  </a:solidFill>
                  <a:latin typeface="Arial"/>
                  <a:ea typeface="Arial"/>
                  <a:cs typeface="Arial"/>
                  <a:sym typeface="Arial"/>
                </a:defRPr>
              </a:lvl1pPr>
            </a:lstStyle>
            <a:p>
              <a:pPr/>
              <a:r>
                <a:t>Most living things never become fossils.</a:t>
              </a:r>
            </a:p>
          </p:txBody>
        </p:sp>
      </p:grpSp>
      <p:grpSp>
        <p:nvGrpSpPr>
          <p:cNvPr id="174" name="gp0"/>
          <p:cNvGrpSpPr/>
          <p:nvPr/>
        </p:nvGrpSpPr>
        <p:grpSpPr>
          <a:xfrm>
            <a:off x="5907023" y="4983479"/>
            <a:ext cx="1741323" cy="1188721"/>
            <a:chOff x="0" y="0"/>
            <a:chExt cx="1741322" cy="1188719"/>
          </a:xfrm>
        </p:grpSpPr>
        <p:sp>
          <p:nvSpPr>
            <p:cNvPr id="172" name="Rounded Rectangle"/>
            <p:cNvSpPr/>
            <p:nvPr/>
          </p:nvSpPr>
          <p:spPr>
            <a:xfrm>
              <a:off x="0" y="0"/>
              <a:ext cx="1741323" cy="1188720"/>
            </a:xfrm>
            <a:prstGeom prst="roundRect">
              <a:avLst>
                <a:gd name="adj" fmla="val 7692"/>
              </a:avLst>
            </a:prstGeom>
            <a:solidFill>
              <a:srgbClr val="F3E7CE"/>
            </a:solidFill>
            <a:ln w="16510" cap="flat">
              <a:solidFill>
                <a:srgbClr val="C1442D"/>
              </a:solidFill>
              <a:prstDash val="solid"/>
              <a:round/>
            </a:ln>
            <a:effectLst/>
          </p:spPr>
          <p:txBody>
            <a:bodyPr wrap="square" lIns="45719" tIns="45719" rIns="45719" bIns="45719" numCol="1" anchor="ctr">
              <a:noAutofit/>
            </a:bodyPr>
            <a:lstStyle/>
            <a:p>
              <a:pPr algn="ctr">
                <a:lnSpc>
                  <a:spcPts val="1600"/>
                </a:lnSpc>
                <a:defRPr sz="1200"/>
              </a:pPr>
            </a:p>
          </p:txBody>
        </p:sp>
        <p:sp>
          <p:nvSpPr>
            <p:cNvPr id="173" name="Soft bodies rot before they can be buried."/>
            <p:cNvSpPr txBox="1"/>
            <p:nvPr/>
          </p:nvSpPr>
          <p:spPr>
            <a:xfrm>
              <a:off x="35036" y="394316"/>
              <a:ext cx="1671250" cy="400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600"/>
                </a:lnSpc>
                <a:defRPr b="1" sz="1200">
                  <a:solidFill>
                    <a:srgbClr val="1F3D2B"/>
                  </a:solidFill>
                  <a:latin typeface="Arial"/>
                  <a:ea typeface="Arial"/>
                  <a:cs typeface="Arial"/>
                  <a:sym typeface="Arial"/>
                </a:defRPr>
              </a:lvl1pPr>
            </a:lstStyle>
            <a:p>
              <a:pPr/>
              <a:r>
                <a:t>Soft bodies rot before they can be buried.</a:t>
              </a:r>
            </a:p>
          </p:txBody>
        </p:sp>
      </p:grpSp>
      <p:grpSp>
        <p:nvGrpSpPr>
          <p:cNvPr id="177" name="gp1"/>
          <p:cNvGrpSpPr/>
          <p:nvPr/>
        </p:nvGrpSpPr>
        <p:grpSpPr>
          <a:xfrm>
            <a:off x="7776361" y="4983479"/>
            <a:ext cx="1741323" cy="1188721"/>
            <a:chOff x="0" y="0"/>
            <a:chExt cx="1741322" cy="1188719"/>
          </a:xfrm>
        </p:grpSpPr>
        <p:sp>
          <p:nvSpPr>
            <p:cNvPr id="175" name="Rounded Rectangle"/>
            <p:cNvSpPr/>
            <p:nvPr/>
          </p:nvSpPr>
          <p:spPr>
            <a:xfrm>
              <a:off x="0" y="0"/>
              <a:ext cx="1741323" cy="1188720"/>
            </a:xfrm>
            <a:prstGeom prst="roundRect">
              <a:avLst>
                <a:gd name="adj" fmla="val 7692"/>
              </a:avLst>
            </a:prstGeom>
            <a:solidFill>
              <a:srgbClr val="F3E7CE"/>
            </a:solidFill>
            <a:ln w="16510" cap="flat">
              <a:solidFill>
                <a:srgbClr val="C1442D"/>
              </a:solidFill>
              <a:prstDash val="solid"/>
              <a:round/>
            </a:ln>
            <a:effectLst/>
          </p:spPr>
          <p:txBody>
            <a:bodyPr wrap="square" lIns="45719" tIns="45719" rIns="45719" bIns="45719" numCol="1" anchor="ctr">
              <a:noAutofit/>
            </a:bodyPr>
            <a:lstStyle/>
            <a:p>
              <a:pPr algn="ctr">
                <a:lnSpc>
                  <a:spcPts val="1600"/>
                </a:lnSpc>
                <a:defRPr sz="1200"/>
              </a:pPr>
            </a:p>
          </p:txBody>
        </p:sp>
        <p:sp>
          <p:nvSpPr>
            <p:cNvPr id="176" name="Rock is worn away, squashed or melted."/>
            <p:cNvSpPr txBox="1"/>
            <p:nvPr/>
          </p:nvSpPr>
          <p:spPr>
            <a:xfrm>
              <a:off x="35036" y="394316"/>
              <a:ext cx="1671250" cy="400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600"/>
                </a:lnSpc>
                <a:defRPr b="1" sz="1200">
                  <a:solidFill>
                    <a:srgbClr val="1F3D2B"/>
                  </a:solidFill>
                  <a:latin typeface="Arial"/>
                  <a:ea typeface="Arial"/>
                  <a:cs typeface="Arial"/>
                  <a:sym typeface="Arial"/>
                </a:defRPr>
              </a:lvl1pPr>
            </a:lstStyle>
            <a:p>
              <a:pPr/>
              <a:r>
                <a:t>Rock is worn away, squashed or melted.</a:t>
              </a:r>
            </a:p>
          </p:txBody>
        </p:sp>
      </p:grpSp>
      <p:grpSp>
        <p:nvGrpSpPr>
          <p:cNvPr id="180" name="gp2"/>
          <p:cNvGrpSpPr/>
          <p:nvPr/>
        </p:nvGrpSpPr>
        <p:grpSpPr>
          <a:xfrm>
            <a:off x="9645701" y="4983479"/>
            <a:ext cx="1741323" cy="1188721"/>
            <a:chOff x="0" y="0"/>
            <a:chExt cx="1741322" cy="1188719"/>
          </a:xfrm>
        </p:grpSpPr>
        <p:sp>
          <p:nvSpPr>
            <p:cNvPr id="178" name="Rounded Rectangle"/>
            <p:cNvSpPr/>
            <p:nvPr/>
          </p:nvSpPr>
          <p:spPr>
            <a:xfrm>
              <a:off x="0" y="0"/>
              <a:ext cx="1741323" cy="1188720"/>
            </a:xfrm>
            <a:prstGeom prst="roundRect">
              <a:avLst>
                <a:gd name="adj" fmla="val 7692"/>
              </a:avLst>
            </a:prstGeom>
            <a:solidFill>
              <a:srgbClr val="F3E7CE"/>
            </a:solidFill>
            <a:ln w="16510" cap="flat">
              <a:solidFill>
                <a:srgbClr val="C1442D"/>
              </a:solidFill>
              <a:prstDash val="solid"/>
              <a:round/>
            </a:ln>
            <a:effectLst/>
          </p:spPr>
          <p:txBody>
            <a:bodyPr wrap="square" lIns="45719" tIns="45719" rIns="45719" bIns="45719" numCol="1" anchor="ctr">
              <a:noAutofit/>
            </a:bodyPr>
            <a:lstStyle/>
            <a:p>
              <a:pPr algn="ctr">
                <a:lnSpc>
                  <a:spcPts val="1600"/>
                </a:lnSpc>
                <a:defRPr sz="1200"/>
              </a:pPr>
            </a:p>
          </p:txBody>
        </p:sp>
        <p:sp>
          <p:nvSpPr>
            <p:cNvPr id="179" name="Many fossils are not found yet."/>
            <p:cNvSpPr txBox="1"/>
            <p:nvPr/>
          </p:nvSpPr>
          <p:spPr>
            <a:xfrm>
              <a:off x="35036" y="394316"/>
              <a:ext cx="1671250" cy="400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600"/>
                </a:lnSpc>
                <a:defRPr b="1" sz="1200">
                  <a:solidFill>
                    <a:srgbClr val="1F3D2B"/>
                  </a:solidFill>
                  <a:latin typeface="Arial"/>
                  <a:ea typeface="Arial"/>
                  <a:cs typeface="Arial"/>
                  <a:sym typeface="Arial"/>
                </a:defRPr>
              </a:lvl1pPr>
            </a:lstStyle>
            <a:p>
              <a:pPr/>
              <a:r>
                <a:t>Many fossils are not found yet.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58"/>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1" grpId="2" fill="hold">
                                  <p:stCondLst>
                                    <p:cond delay="0"/>
                                  </p:stCondLst>
                                  <p:childTnLst>
                                    <p:cmd type="call" cmd="playFrom(0.0)">
                                      <p:cBhvr>
                                        <p:cTn id="10" dur="29150" fill="hold"/>
                                        <p:tgtEl>
                                          <p:spTgt spid="163"/>
                                        </p:tgtEl>
                                      </p:cBhvr>
                                    </p:cmd>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3" fill="hold">
                                  <p:stCondLst>
                                    <p:cond delay="0"/>
                                  </p:stCondLst>
                                  <p:iterate type="el" backwards="0">
                                    <p:tmAbs val="0"/>
                                  </p:iterate>
                                  <p:childTnLst>
                                    <p:set>
                                      <p:cBhvr>
                                        <p:cTn id="14" fill="hold"/>
                                        <p:tgtEl>
                                          <p:spTgt spid="167"/>
                                        </p:tgtEl>
                                        <p:attrNameLst>
                                          <p:attrName>style.visibility</p:attrName>
                                        </p:attrNameLst>
                                      </p:cBhvr>
                                      <p:to>
                                        <p:strVal val="visible"/>
                                      </p:to>
                                    </p:set>
                                    <p:animEffect filter="fade" transition="in">
                                      <p:cBhvr>
                                        <p:cTn id="15" dur="400"/>
                                        <p:tgtEl>
                                          <p:spTgt spid="167"/>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71"/>
                                        </p:tgtEl>
                                        <p:attrNameLst>
                                          <p:attrName>style.visibility</p:attrName>
                                        </p:attrNameLst>
                                      </p:cBhvr>
                                      <p:to>
                                        <p:strVal val="visible"/>
                                      </p:to>
                                    </p:set>
                                    <p:animEffect filter="fade" transition="in">
                                      <p:cBhvr>
                                        <p:cTn id="20" dur="400"/>
                                        <p:tgtEl>
                                          <p:spTgt spid="171"/>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5" fill="hold">
                                  <p:stCondLst>
                                    <p:cond delay="0"/>
                                  </p:stCondLst>
                                  <p:iterate type="el" backwards="0">
                                    <p:tmAbs val="0"/>
                                  </p:iterate>
                                  <p:childTnLst>
                                    <p:set>
                                      <p:cBhvr>
                                        <p:cTn id="24" fill="hold"/>
                                        <p:tgtEl>
                                          <p:spTgt spid="174"/>
                                        </p:tgtEl>
                                        <p:attrNameLst>
                                          <p:attrName>style.visibility</p:attrName>
                                        </p:attrNameLst>
                                      </p:cBhvr>
                                      <p:to>
                                        <p:strVal val="visible"/>
                                      </p:to>
                                    </p:set>
                                    <p:anim calcmode="lin" valueType="num">
                                      <p:cBhvr>
                                        <p:cTn id="25" dur="400" fill="hold"/>
                                        <p:tgtEl>
                                          <p:spTgt spid="174"/>
                                        </p:tgtEl>
                                        <p:attrNameLst>
                                          <p:attrName>ppt_w</p:attrName>
                                        </p:attrNameLst>
                                      </p:cBhvr>
                                      <p:tavLst>
                                        <p:tav tm="0">
                                          <p:val>
                                            <p:fltVal val="0"/>
                                          </p:val>
                                        </p:tav>
                                        <p:tav tm="100000">
                                          <p:val>
                                            <p:strVal val="#ppt_w"/>
                                          </p:val>
                                        </p:tav>
                                      </p:tavLst>
                                    </p:anim>
                                    <p:anim calcmode="lin" valueType="num">
                                      <p:cBhvr>
                                        <p:cTn id="26" dur="400" fill="hold"/>
                                        <p:tgtEl>
                                          <p:spTgt spid="174"/>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6" fill="hold">
                                  <p:stCondLst>
                                    <p:cond delay="0"/>
                                  </p:stCondLst>
                                  <p:iterate type="el" backwards="0">
                                    <p:tmAbs val="0"/>
                                  </p:iterate>
                                  <p:childTnLst>
                                    <p:set>
                                      <p:cBhvr>
                                        <p:cTn id="30" fill="hold"/>
                                        <p:tgtEl>
                                          <p:spTgt spid="177"/>
                                        </p:tgtEl>
                                        <p:attrNameLst>
                                          <p:attrName>style.visibility</p:attrName>
                                        </p:attrNameLst>
                                      </p:cBhvr>
                                      <p:to>
                                        <p:strVal val="visible"/>
                                      </p:to>
                                    </p:set>
                                    <p:anim calcmode="lin" valueType="num">
                                      <p:cBhvr>
                                        <p:cTn id="31" dur="400" fill="hold"/>
                                        <p:tgtEl>
                                          <p:spTgt spid="177"/>
                                        </p:tgtEl>
                                        <p:attrNameLst>
                                          <p:attrName>ppt_w</p:attrName>
                                        </p:attrNameLst>
                                      </p:cBhvr>
                                      <p:tavLst>
                                        <p:tav tm="0">
                                          <p:val>
                                            <p:fltVal val="0"/>
                                          </p:val>
                                        </p:tav>
                                        <p:tav tm="100000">
                                          <p:val>
                                            <p:strVal val="#ppt_w"/>
                                          </p:val>
                                        </p:tav>
                                      </p:tavLst>
                                    </p:anim>
                                    <p:anim calcmode="lin" valueType="num">
                                      <p:cBhvr>
                                        <p:cTn id="32" dur="400" fill="hold"/>
                                        <p:tgtEl>
                                          <p:spTgt spid="177"/>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16" presetID="23" grpId="7" fill="hold">
                                  <p:stCondLst>
                                    <p:cond delay="0"/>
                                  </p:stCondLst>
                                  <p:iterate type="el" backwards="0">
                                    <p:tmAbs val="0"/>
                                  </p:iterate>
                                  <p:childTnLst>
                                    <p:set>
                                      <p:cBhvr>
                                        <p:cTn id="36" fill="hold"/>
                                        <p:tgtEl>
                                          <p:spTgt spid="180"/>
                                        </p:tgtEl>
                                        <p:attrNameLst>
                                          <p:attrName>style.visibility</p:attrName>
                                        </p:attrNameLst>
                                      </p:cBhvr>
                                      <p:to>
                                        <p:strVal val="visible"/>
                                      </p:to>
                                    </p:set>
                                    <p:anim calcmode="lin" valueType="num">
                                      <p:cBhvr>
                                        <p:cTn id="37" dur="400" fill="hold"/>
                                        <p:tgtEl>
                                          <p:spTgt spid="180"/>
                                        </p:tgtEl>
                                        <p:attrNameLst>
                                          <p:attrName>ppt_w</p:attrName>
                                        </p:attrNameLst>
                                      </p:cBhvr>
                                      <p:tavLst>
                                        <p:tav tm="0">
                                          <p:val>
                                            <p:fltVal val="0"/>
                                          </p:val>
                                        </p:tav>
                                        <p:tav tm="100000">
                                          <p:val>
                                            <p:strVal val="#ppt_w"/>
                                          </p:val>
                                        </p:tav>
                                      </p:tavLst>
                                    </p:anim>
                                    <p:anim calcmode="lin" valueType="num">
                                      <p:cBhvr>
                                        <p:cTn id="38" dur="400" fill="hold"/>
                                        <p:tgtEl>
                                          <p:spTgt spid="18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9" fill="hold" display="0">
                  <p:stCondLst>
                    <p:cond delay="indefinite"/>
                  </p:stCondLst>
                </p:cTn>
                <p:tgtEl>
                  <p:spTgt spid="158"/>
                </p:tgtEl>
              </p:cMediaNode>
            </p:video>
            <p:seq concurrent="1" prevAc="none" nextAc="seek">
              <p:cTn id="40" evtFilter="cancelBubble" nodeType="interactiveSeq" restart="whenNotActive" fill="hold">
                <p:stCondLst>
                  <p:cond delay="0" evt="onClick">
                    <p:tgtEl>
                      <p:spTgt spid="158"/>
                    </p:tgtEl>
                  </p:cond>
                </p:stCondLst>
                <p:endSync delay="0" evt="end">
                  <p:rtn val="all"/>
                </p:endSync>
                <p:childTnLst>
                  <p:par>
                    <p:cTn id="41" fill="hold">
                      <p:stCondLst>
                        <p:cond delay="0"/>
                      </p:stCondLst>
                      <p:childTnLst>
                        <p:par>
                          <p:cTn id="42" fill="hold">
                            <p:stCondLst>
                              <p:cond delay="0"/>
                            </p:stCondLst>
                            <p:childTnLst>
                              <p:par>
                                <p:cTn id="43" presetClass="mediacall" nodeType="clickEffect" presetSubtype="0" presetID="2" fill="hold">
                                  <p:stCondLst>
                                    <p:cond delay="0"/>
                                  </p:stCondLst>
                                  <p:childTnLst>
                                    <p:cmd type="call" cmd="togglePause">
                                      <p:cBhvr>
                                        <p:cTn id="44" dur="1" fill="hold"/>
                                        <p:tgtEl>
                                          <p:spTgt spid="158"/>
                                        </p:tgtEl>
                                      </p:cBhvr>
                                    </p:cmd>
                                  </p:childTnLst>
                                </p:cTn>
                              </p:par>
                            </p:childTnLst>
                          </p:cTn>
                        </p:par>
                      </p:childTnLst>
                    </p:cTn>
                  </p:par>
                </p:childTnLst>
              </p:cTn>
              <p:nextCondLst>
                <p:cond delay="0" evt="onClick">
                  <p:tgtEl>
                    <p:spTgt spid="158"/>
                  </p:tgtEl>
                </p:cond>
              </p:nextCondLst>
            </p:seq>
            <p:video fullScrn="0">
              <p:cMediaNode mute="0" showWhenStopped="1" numSld="1" vol="100000">
                <p:cTn id="45" fill="hold" display="0">
                  <p:stCondLst>
                    <p:cond delay="indefinite"/>
                  </p:stCondLst>
                </p:cTn>
                <p:tgtEl>
                  <p:spTgt spid="163"/>
                </p:tgtEl>
              </p:cMediaNode>
            </p:video>
            <p:seq concurrent="1" prevAc="none" nextAc="seek">
              <p:cTn id="46" evtFilter="cancelBubble" nodeType="interactiveSeq" restart="whenNotActive" fill="hold">
                <p:stCondLst>
                  <p:cond delay="0" evt="onClick">
                    <p:tgtEl>
                      <p:spTgt spid="163"/>
                    </p:tgtEl>
                  </p:cond>
                </p:stCondLst>
                <p:endSync delay="0" evt="end">
                  <p:rtn val="all"/>
                </p:endSync>
                <p:childTnLst>
                  <p:par>
                    <p:cTn id="47" fill="hold">
                      <p:stCondLst>
                        <p:cond delay="0"/>
                      </p:stCondLst>
                      <p:childTnLst>
                        <p:par>
                          <p:cTn id="48" fill="hold">
                            <p:stCondLst>
                              <p:cond delay="0"/>
                            </p:stCondLst>
                            <p:childTnLst>
                              <p:par>
                                <p:cTn id="49" presetClass="mediacall" nodeType="clickEffect" presetSubtype="0" presetID="2" fill="hold">
                                  <p:stCondLst>
                                    <p:cond delay="0"/>
                                  </p:stCondLst>
                                  <p:childTnLst>
                                    <p:cmd type="call" cmd="togglePause">
                                      <p:cBhvr>
                                        <p:cTn id="50" dur="1" fill="hold"/>
                                        <p:tgtEl>
                                          <p:spTgt spid="163"/>
                                        </p:tgtEl>
                                      </p:cBhvr>
                                    </p:cmd>
                                  </p:childTnLst>
                                </p:cTn>
                              </p:par>
                            </p:childTnLst>
                          </p:cTn>
                        </p:par>
                      </p:childTnLst>
                    </p:cTn>
                  </p:par>
                </p:childTnLst>
              </p:cTn>
              <p:nextCondLst>
                <p:cond delay="0" evt="onClick">
                  <p:tgtEl>
                    <p:spTgt spid="163"/>
                  </p:tgtEl>
                </p:cond>
              </p:nextCondLst>
            </p:seq>
          </p:childTnLst>
        </p:cTn>
      </p:par>
    </p:tnLst>
    <p:bldLst>
      <p:bldP build="whole" bldLvl="1" animBg="1" rev="0" advAuto="0" spid="174" grpId="5"/>
      <p:bldP build="whole" bldLvl="1" animBg="1" rev="0" advAuto="0" spid="167" grpId="3"/>
      <p:bldP build="whole" bldLvl="1" animBg="1" rev="0" advAuto="0" spid="177" grpId="6"/>
      <p:bldP build="whole" bldLvl="1" animBg="1" rev="0" advAuto="0" spid="171" grpId="4"/>
      <p:bldP build="whole" bldLvl="1" animBg="1" rev="0" advAuto="0" spid="180" grpId="7"/>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8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7" name="phase_pill"/>
          <p:cNvGrpSpPr/>
          <p:nvPr/>
        </p:nvGrpSpPr>
        <p:grpSpPr>
          <a:xfrm>
            <a:off x="1170432" y="310895"/>
            <a:ext cx="1713586" cy="329185"/>
            <a:chOff x="0" y="0"/>
            <a:chExt cx="1713585" cy="329184"/>
          </a:xfrm>
        </p:grpSpPr>
        <p:sp>
          <p:nvSpPr>
            <p:cNvPr id="185"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86"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8"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What should be the correct answer?</a:t>
            </a:r>
          </a:p>
        </p:txBody>
      </p:sp>
      <p:sp>
        <p:nvSpPr>
          <p:cNvPr id="189"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2685A"/>
                </a:solidFill>
                <a:latin typeface="Arial"/>
                <a:ea typeface="Arial"/>
                <a:cs typeface="Arial"/>
                <a:sym typeface="Arial"/>
              </a:defRPr>
            </a:lvl1pPr>
          </a:lstStyle>
          <a:p>
            <a:pPr/>
            <a:r>
              <a:t>Spot the mistake.</a:t>
            </a:r>
          </a:p>
        </p:txBody>
      </p:sp>
      <p:sp>
        <p:nvSpPr>
          <p:cNvPr id="190"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1" name="wd0_q"/>
          <p:cNvSpPr txBox="1"/>
          <p:nvPr/>
        </p:nvSpPr>
        <p:spPr>
          <a:xfrm>
            <a:off x="1426463" y="2626495"/>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"The deepest layer has the youngest fossils."</a:t>
            </a:r>
          </a:p>
        </p:txBody>
      </p:sp>
      <p:grpSp>
        <p:nvGrpSpPr>
          <p:cNvPr id="194" name="wd0_a"/>
          <p:cNvGrpSpPr/>
          <p:nvPr/>
        </p:nvGrpSpPr>
        <p:grpSpPr>
          <a:xfrm>
            <a:off x="6748271" y="2404872"/>
            <a:ext cx="4803344" cy="676656"/>
            <a:chOff x="0" y="0"/>
            <a:chExt cx="4803342" cy="676655"/>
          </a:xfrm>
        </p:grpSpPr>
        <p:sp>
          <p:nvSpPr>
            <p:cNvPr id="192"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193" name="Deeper layers were laid down first, so their fossils are the oldest."/>
            <p:cNvSpPr txBox="1"/>
            <p:nvPr/>
          </p:nvSpPr>
          <p:spPr>
            <a:xfrm>
              <a:off x="36307" y="251158"/>
              <a:ext cx="473072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Deeper layers were laid down first, so their fossils are the oldest.</a:t>
              </a:r>
            </a:p>
          </p:txBody>
        </p:sp>
      </p:grpSp>
      <p:sp>
        <p:nvSpPr>
          <p:cNvPr id="195"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196" name="wd1_q"/>
          <p:cNvSpPr txBox="1"/>
          <p:nvPr/>
        </p:nvSpPr>
        <p:spPr>
          <a:xfrm>
            <a:off x="1426463" y="3529973"/>
            <a:ext cx="512064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"Jellyfish are common fossils because there were millions of them."</a:t>
            </a:r>
          </a:p>
        </p:txBody>
      </p:sp>
      <p:grpSp>
        <p:nvGrpSpPr>
          <p:cNvPr id="199" name="wd1_a"/>
          <p:cNvGrpSpPr/>
          <p:nvPr/>
        </p:nvGrpSpPr>
        <p:grpSpPr>
          <a:xfrm>
            <a:off x="6748271" y="3429000"/>
            <a:ext cx="4803344" cy="676656"/>
            <a:chOff x="0" y="0"/>
            <a:chExt cx="4803342" cy="676655"/>
          </a:xfrm>
        </p:grpSpPr>
        <p:sp>
          <p:nvSpPr>
            <p:cNvPr id="197"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198" name="Jellyfish have no hard parts. They rot before they can be buried, so they rarely fossilise."/>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Jellyfish have no hard parts. They rot before they can be buried, so they rarely fossilise.</a:t>
              </a:r>
            </a:p>
          </p:txBody>
        </p:sp>
      </p:grpSp>
      <p:sp>
        <p:nvSpPr>
          <p:cNvPr id="200"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01" name="wd2_q"/>
          <p:cNvSpPr txBox="1"/>
          <p:nvPr/>
        </p:nvSpPr>
        <p:spPr>
          <a:xfrm>
            <a:off x="1426463" y="4554101"/>
            <a:ext cx="512064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"There are gaps in the fossil record, so evolution did not happen."</a:t>
            </a:r>
          </a:p>
        </p:txBody>
      </p:sp>
      <p:grpSp>
        <p:nvGrpSpPr>
          <p:cNvPr id="204" name="wd2_a"/>
          <p:cNvGrpSpPr/>
          <p:nvPr/>
        </p:nvGrpSpPr>
        <p:grpSpPr>
          <a:xfrm>
            <a:off x="6748271" y="4453128"/>
            <a:ext cx="4803344" cy="676657"/>
            <a:chOff x="0" y="0"/>
            <a:chExt cx="4803342" cy="676655"/>
          </a:xfrm>
        </p:grpSpPr>
        <p:sp>
          <p:nvSpPr>
            <p:cNvPr id="202"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203" name="Very few living things become fossils, so gaps are expected. The fossils we have show change over time."/>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Very few living things become fossils, so gaps are expected. The fossils we have show change over time.</a:t>
              </a:r>
            </a:p>
          </p:txBody>
        </p:sp>
      </p:grpSp>
      <p:sp>
        <p:nvSpPr>
          <p:cNvPr id="205"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06" name="wd3_q"/>
          <p:cNvSpPr txBox="1"/>
          <p:nvPr/>
        </p:nvSpPr>
        <p:spPr>
          <a:xfrm>
            <a:off x="1426463" y="5698879"/>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fossil is the animal's real body, unchanged."</a:t>
            </a:r>
          </a:p>
        </p:txBody>
      </p:sp>
      <p:grpSp>
        <p:nvGrpSpPr>
          <p:cNvPr id="209" name="wd3_a"/>
          <p:cNvGrpSpPr/>
          <p:nvPr/>
        </p:nvGrpSpPr>
        <p:grpSpPr>
          <a:xfrm>
            <a:off x="6748271" y="5477255"/>
            <a:ext cx="4803344" cy="676657"/>
            <a:chOff x="0" y="0"/>
            <a:chExt cx="4803342" cy="676655"/>
          </a:xfrm>
        </p:grpSpPr>
        <p:sp>
          <p:nvSpPr>
            <p:cNvPr id="207"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208" name="Minerals replace the hard parts and turn them to stone. The shape stays."/>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Minerals replace the hard parts and turn them to stone. The shape stays.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8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94"/>
                                        </p:tgtEl>
                                        <p:attrNameLst>
                                          <p:attrName>style.visibility</p:attrName>
                                        </p:attrNameLst>
                                      </p:cBhvr>
                                      <p:to>
                                        <p:strVal val="visible"/>
                                      </p:to>
                                    </p:set>
                                    <p:anim calcmode="lin" valueType="num">
                                      <p:cBhvr>
                                        <p:cTn id="11" dur="400" fill="hold"/>
                                        <p:tgtEl>
                                          <p:spTgt spid="194"/>
                                        </p:tgtEl>
                                        <p:attrNameLst>
                                          <p:attrName>ppt_w</p:attrName>
                                        </p:attrNameLst>
                                      </p:cBhvr>
                                      <p:tavLst>
                                        <p:tav tm="0">
                                          <p:val>
                                            <p:fltVal val="0"/>
                                          </p:val>
                                        </p:tav>
                                        <p:tav tm="100000">
                                          <p:val>
                                            <p:strVal val="#ppt_w"/>
                                          </p:val>
                                        </p:tav>
                                      </p:tavLst>
                                    </p:anim>
                                    <p:anim calcmode="lin" valueType="num">
                                      <p:cBhvr>
                                        <p:cTn id="12" dur="400" fill="hold"/>
                                        <p:tgtEl>
                                          <p:spTgt spid="194"/>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99"/>
                                        </p:tgtEl>
                                        <p:attrNameLst>
                                          <p:attrName>style.visibility</p:attrName>
                                        </p:attrNameLst>
                                      </p:cBhvr>
                                      <p:to>
                                        <p:strVal val="visible"/>
                                      </p:to>
                                    </p:set>
                                    <p:anim calcmode="lin" valueType="num">
                                      <p:cBhvr>
                                        <p:cTn id="17" dur="400" fill="hold"/>
                                        <p:tgtEl>
                                          <p:spTgt spid="199"/>
                                        </p:tgtEl>
                                        <p:attrNameLst>
                                          <p:attrName>ppt_w</p:attrName>
                                        </p:attrNameLst>
                                      </p:cBhvr>
                                      <p:tavLst>
                                        <p:tav tm="0">
                                          <p:val>
                                            <p:fltVal val="0"/>
                                          </p:val>
                                        </p:tav>
                                        <p:tav tm="100000">
                                          <p:val>
                                            <p:strVal val="#ppt_w"/>
                                          </p:val>
                                        </p:tav>
                                      </p:tavLst>
                                    </p:anim>
                                    <p:anim calcmode="lin" valueType="num">
                                      <p:cBhvr>
                                        <p:cTn id="18" dur="400" fill="hold"/>
                                        <p:tgtEl>
                                          <p:spTgt spid="199"/>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04"/>
                                        </p:tgtEl>
                                        <p:attrNameLst>
                                          <p:attrName>style.visibility</p:attrName>
                                        </p:attrNameLst>
                                      </p:cBhvr>
                                      <p:to>
                                        <p:strVal val="visible"/>
                                      </p:to>
                                    </p:set>
                                    <p:anim calcmode="lin" valueType="num">
                                      <p:cBhvr>
                                        <p:cTn id="23" dur="400" fill="hold"/>
                                        <p:tgtEl>
                                          <p:spTgt spid="204"/>
                                        </p:tgtEl>
                                        <p:attrNameLst>
                                          <p:attrName>ppt_w</p:attrName>
                                        </p:attrNameLst>
                                      </p:cBhvr>
                                      <p:tavLst>
                                        <p:tav tm="0">
                                          <p:val>
                                            <p:fltVal val="0"/>
                                          </p:val>
                                        </p:tav>
                                        <p:tav tm="100000">
                                          <p:val>
                                            <p:strVal val="#ppt_w"/>
                                          </p:val>
                                        </p:tav>
                                      </p:tavLst>
                                    </p:anim>
                                    <p:anim calcmode="lin" valueType="num">
                                      <p:cBhvr>
                                        <p:cTn id="24" dur="400" fill="hold"/>
                                        <p:tgtEl>
                                          <p:spTgt spid="204"/>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09"/>
                                        </p:tgtEl>
                                        <p:attrNameLst>
                                          <p:attrName>style.visibility</p:attrName>
                                        </p:attrNameLst>
                                      </p:cBhvr>
                                      <p:to>
                                        <p:strVal val="visible"/>
                                      </p:to>
                                    </p:set>
                                    <p:anim calcmode="lin" valueType="num">
                                      <p:cBhvr>
                                        <p:cTn id="29" dur="400" fill="hold"/>
                                        <p:tgtEl>
                                          <p:spTgt spid="209"/>
                                        </p:tgtEl>
                                        <p:attrNameLst>
                                          <p:attrName>ppt_w</p:attrName>
                                        </p:attrNameLst>
                                      </p:cBhvr>
                                      <p:tavLst>
                                        <p:tav tm="0">
                                          <p:val>
                                            <p:fltVal val="0"/>
                                          </p:val>
                                        </p:tav>
                                        <p:tav tm="100000">
                                          <p:val>
                                            <p:strVal val="#ppt_w"/>
                                          </p:val>
                                        </p:tav>
                                      </p:tavLst>
                                    </p:anim>
                                    <p:anim calcmode="lin" valueType="num">
                                      <p:cBhvr>
                                        <p:cTn id="30" dur="400" fill="hold"/>
                                        <p:tgtEl>
                                          <p:spTgt spid="20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84"/>
                </p:tgtEl>
              </p:cMediaNode>
            </p:video>
            <p:seq concurrent="1" prevAc="none" nextAc="seek">
              <p:cTn id="32" evtFilter="cancelBubble" nodeType="interactiveSeq" restart="whenNotActive" fill="hold">
                <p:stCondLst>
                  <p:cond delay="0" evt="onClick">
                    <p:tgtEl>
                      <p:spTgt spid="184"/>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84"/>
                                        </p:tgtEl>
                                      </p:cBhvr>
                                    </p:cmd>
                                  </p:childTnLst>
                                </p:cTn>
                              </p:par>
                            </p:childTnLst>
                          </p:cTn>
                        </p:par>
                      </p:childTnLst>
                    </p:cTn>
                  </p:par>
                </p:childTnLst>
              </p:cTn>
              <p:nextCondLst>
                <p:cond delay="0" evt="onClick">
                  <p:tgtEl>
                    <p:spTgt spid="184"/>
                  </p:tgtEl>
                </p:cond>
              </p:nextCondLst>
            </p:seq>
          </p:childTnLst>
        </p:cTn>
      </p:par>
    </p:tnLst>
    <p:bldLst>
      <p:bldP build="whole" bldLvl="1" animBg="1" rev="0" advAuto="0" spid="204" grpId="4"/>
      <p:bldP build="whole" bldLvl="1" animBg="1" rev="0" advAuto="0" spid="199" grpId="3"/>
      <p:bldP build="whole" bldLvl="1" animBg="1" rev="0" advAuto="0" spid="209" grpId="5"/>
      <p:bldP build="whole" bldLvl="1" animBg="1" rev="0" advAuto="0" spid="194" grpId="2"/>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1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16" name="phase_pill"/>
          <p:cNvGrpSpPr/>
          <p:nvPr/>
        </p:nvGrpSpPr>
        <p:grpSpPr>
          <a:xfrm>
            <a:off x="1170432" y="310895"/>
            <a:ext cx="2072030" cy="329185"/>
            <a:chOff x="0" y="0"/>
            <a:chExt cx="2072029" cy="329184"/>
          </a:xfrm>
        </p:grpSpPr>
        <p:sp>
          <p:nvSpPr>
            <p:cNvPr id="214" name="Rounded Rectangle"/>
            <p:cNvSpPr/>
            <p:nvPr/>
          </p:nvSpPr>
          <p:spPr>
            <a:xfrm>
              <a:off x="0" y="0"/>
              <a:ext cx="2072030"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15"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17" name="c0_bg"/>
          <p:cNvSpPr/>
          <p:nvPr/>
        </p:nvSpPr>
        <p:spPr>
          <a:xfrm>
            <a:off x="1170432" y="960119"/>
            <a:ext cx="5099152" cy="1572769"/>
          </a:xfrm>
          <a:prstGeom prst="roundRect">
            <a:avLst>
              <a:gd name="adj" fmla="val 5814"/>
            </a:avLst>
          </a:prstGeom>
          <a:solidFill>
            <a:srgbClr val="FFFFFF"/>
          </a:solidFill>
          <a:ln w="16510">
            <a:solidFill>
              <a:srgbClr val="D8DEEC"/>
            </a:solidFill>
          </a:ln>
        </p:spPr>
        <p:txBody>
          <a:bodyPr lIns="45719" rIns="45719"/>
          <a:lstStyle/>
          <a:p>
            <a:pPr/>
          </a:p>
        </p:txBody>
      </p:sp>
      <p:sp>
        <p:nvSpPr>
          <p:cNvPr id="218" name="c0_badge"/>
          <p:cNvSpPr/>
          <p:nvPr/>
        </p:nvSpPr>
        <p:spPr>
          <a:xfrm>
            <a:off x="1371600" y="1307591"/>
            <a:ext cx="384048" cy="384049"/>
          </a:xfrm>
          <a:prstGeom prst="ellipse">
            <a:avLst/>
          </a:prstGeom>
          <a:solidFill>
            <a:srgbClr val="DE9A4C"/>
          </a:solidFill>
          <a:ln w="12700">
            <a:solidFill>
              <a:srgbClr val="DE9A4C"/>
            </a:solidFill>
          </a:ln>
        </p:spPr>
        <p:txBody>
          <a:bodyPr lIns="45719" rIns="45719"/>
          <a:lstStyle/>
          <a:p>
            <a:pPr/>
          </a:p>
        </p:txBody>
      </p:sp>
      <p:sp>
        <p:nvSpPr>
          <p:cNvPr id="219"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220" name="c0_q"/>
          <p:cNvSpPr txBox="1"/>
          <p:nvPr/>
        </p:nvSpPr>
        <p:spPr>
          <a:xfrm>
            <a:off x="1901951"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two parts of an animal that can become fossils.</a:t>
            </a:r>
          </a:p>
        </p:txBody>
      </p:sp>
      <p:grpSp>
        <p:nvGrpSpPr>
          <p:cNvPr id="223" name="c0_a"/>
          <p:cNvGrpSpPr/>
          <p:nvPr/>
        </p:nvGrpSpPr>
        <p:grpSpPr>
          <a:xfrm>
            <a:off x="1371600" y="1965960"/>
            <a:ext cx="4696817" cy="438913"/>
            <a:chOff x="0" y="0"/>
            <a:chExt cx="4696816" cy="438912"/>
          </a:xfrm>
        </p:grpSpPr>
        <p:sp>
          <p:nvSpPr>
            <p:cNvPr id="221"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222" name="Bones, teeth or shell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Bones, teeth or shells.</a:t>
              </a:r>
            </a:p>
          </p:txBody>
        </p:sp>
      </p:grpSp>
      <p:sp>
        <p:nvSpPr>
          <p:cNvPr id="224" name="c1_bg"/>
          <p:cNvSpPr/>
          <p:nvPr/>
        </p:nvSpPr>
        <p:spPr>
          <a:xfrm>
            <a:off x="6543903" y="960119"/>
            <a:ext cx="5099153" cy="1572769"/>
          </a:xfrm>
          <a:prstGeom prst="roundRect">
            <a:avLst>
              <a:gd name="adj" fmla="val 5814"/>
            </a:avLst>
          </a:prstGeom>
          <a:solidFill>
            <a:srgbClr val="FFFFFF"/>
          </a:solidFill>
          <a:ln w="16510">
            <a:solidFill>
              <a:srgbClr val="D8DEEC"/>
            </a:solidFill>
          </a:ln>
        </p:spPr>
        <p:txBody>
          <a:bodyPr lIns="45719" rIns="45719"/>
          <a:lstStyle/>
          <a:p>
            <a:pPr/>
          </a:p>
        </p:txBody>
      </p:sp>
      <p:sp>
        <p:nvSpPr>
          <p:cNvPr id="225" name="c1_badge"/>
          <p:cNvSpPr/>
          <p:nvPr/>
        </p:nvSpPr>
        <p:spPr>
          <a:xfrm>
            <a:off x="6745072" y="1307591"/>
            <a:ext cx="384049" cy="384049"/>
          </a:xfrm>
          <a:prstGeom prst="ellipse">
            <a:avLst/>
          </a:prstGeom>
          <a:solidFill>
            <a:srgbClr val="DE9A4C"/>
          </a:solidFill>
          <a:ln w="12700">
            <a:solidFill>
              <a:srgbClr val="DE9A4C"/>
            </a:solidFill>
          </a:ln>
        </p:spPr>
        <p:txBody>
          <a:bodyPr lIns="45719" rIns="45719"/>
          <a:lstStyle/>
          <a:p>
            <a:pPr/>
          </a:p>
        </p:txBody>
      </p:sp>
      <p:sp>
        <p:nvSpPr>
          <p:cNvPr id="226"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227" name="c1_q"/>
          <p:cNvSpPr txBox="1"/>
          <p:nvPr/>
        </p:nvSpPr>
        <p:spPr>
          <a:xfrm>
            <a:off x="7275424"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why quick burial helps a fossil to form.</a:t>
            </a:r>
          </a:p>
        </p:txBody>
      </p:sp>
      <p:grpSp>
        <p:nvGrpSpPr>
          <p:cNvPr id="230" name="c1_a"/>
          <p:cNvGrpSpPr/>
          <p:nvPr/>
        </p:nvGrpSpPr>
        <p:grpSpPr>
          <a:xfrm>
            <a:off x="6745072" y="1965960"/>
            <a:ext cx="4696817" cy="438913"/>
            <a:chOff x="0" y="0"/>
            <a:chExt cx="4696816" cy="438912"/>
          </a:xfrm>
        </p:grpSpPr>
        <p:sp>
          <p:nvSpPr>
            <p:cNvPr id="228"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229" name="It protects the body from scavengers and from rotting away."/>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It protects the body from scavengers and from rotting away.</a:t>
              </a:r>
            </a:p>
          </p:txBody>
        </p:sp>
      </p:grpSp>
      <p:sp>
        <p:nvSpPr>
          <p:cNvPr id="231" name="c2_bg"/>
          <p:cNvSpPr/>
          <p:nvPr/>
        </p:nvSpPr>
        <p:spPr>
          <a:xfrm>
            <a:off x="1170432" y="2679192"/>
            <a:ext cx="5099152" cy="1572769"/>
          </a:xfrm>
          <a:prstGeom prst="roundRect">
            <a:avLst>
              <a:gd name="adj" fmla="val 5814"/>
            </a:avLst>
          </a:prstGeom>
          <a:solidFill>
            <a:srgbClr val="FFFFFF"/>
          </a:solidFill>
          <a:ln w="16510">
            <a:solidFill>
              <a:srgbClr val="D8DEEC"/>
            </a:solidFill>
          </a:ln>
        </p:spPr>
        <p:txBody>
          <a:bodyPr lIns="45719" rIns="45719"/>
          <a:lstStyle/>
          <a:p>
            <a:pPr/>
          </a:p>
        </p:txBody>
      </p:sp>
      <p:sp>
        <p:nvSpPr>
          <p:cNvPr id="232" name="c2_badge"/>
          <p:cNvSpPr/>
          <p:nvPr/>
        </p:nvSpPr>
        <p:spPr>
          <a:xfrm>
            <a:off x="1371600" y="3026664"/>
            <a:ext cx="384048" cy="384049"/>
          </a:xfrm>
          <a:prstGeom prst="ellipse">
            <a:avLst/>
          </a:prstGeom>
          <a:solidFill>
            <a:srgbClr val="DE9A4C"/>
          </a:solidFill>
          <a:ln w="12700">
            <a:solidFill>
              <a:srgbClr val="DE9A4C"/>
            </a:solidFill>
          </a:ln>
        </p:spPr>
        <p:txBody>
          <a:bodyPr lIns="45719" rIns="45719"/>
          <a:lstStyle/>
          <a:p>
            <a:pPr/>
          </a:p>
        </p:txBody>
      </p:sp>
      <p:sp>
        <p:nvSpPr>
          <p:cNvPr id="233"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234" name="c2_q"/>
          <p:cNvSpPr txBox="1"/>
          <p:nvPr/>
        </p:nvSpPr>
        <p:spPr>
          <a:xfrm>
            <a:off x="1901951"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A shell is in a higher layer than a fish bone. State which is older.</a:t>
            </a:r>
          </a:p>
        </p:txBody>
      </p:sp>
      <p:grpSp>
        <p:nvGrpSpPr>
          <p:cNvPr id="237" name="c2_a"/>
          <p:cNvGrpSpPr/>
          <p:nvPr/>
        </p:nvGrpSpPr>
        <p:grpSpPr>
          <a:xfrm>
            <a:off x="1371600" y="3685032"/>
            <a:ext cx="4696817" cy="438913"/>
            <a:chOff x="0" y="0"/>
            <a:chExt cx="4696816" cy="438912"/>
          </a:xfrm>
        </p:grpSpPr>
        <p:sp>
          <p:nvSpPr>
            <p:cNvPr id="235"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236" name="The fish bone. Deeper layers are older."/>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The fish bone. Deeper layers are older.</a:t>
              </a:r>
            </a:p>
          </p:txBody>
        </p:sp>
      </p:grpSp>
      <p:sp>
        <p:nvSpPr>
          <p:cNvPr id="238" name="c3_bg"/>
          <p:cNvSpPr/>
          <p:nvPr/>
        </p:nvSpPr>
        <p:spPr>
          <a:xfrm>
            <a:off x="6543903" y="2679192"/>
            <a:ext cx="5099153" cy="1572769"/>
          </a:xfrm>
          <a:prstGeom prst="roundRect">
            <a:avLst>
              <a:gd name="adj" fmla="val 5814"/>
            </a:avLst>
          </a:prstGeom>
          <a:solidFill>
            <a:srgbClr val="FFFFFF"/>
          </a:solidFill>
          <a:ln w="16510">
            <a:solidFill>
              <a:srgbClr val="D8DEEC"/>
            </a:solidFill>
          </a:ln>
        </p:spPr>
        <p:txBody>
          <a:bodyPr lIns="45719" rIns="45719"/>
          <a:lstStyle/>
          <a:p>
            <a:pPr/>
          </a:p>
        </p:txBody>
      </p:sp>
      <p:sp>
        <p:nvSpPr>
          <p:cNvPr id="239" name="c3_badge"/>
          <p:cNvSpPr/>
          <p:nvPr/>
        </p:nvSpPr>
        <p:spPr>
          <a:xfrm>
            <a:off x="6745072" y="3026664"/>
            <a:ext cx="384049" cy="384049"/>
          </a:xfrm>
          <a:prstGeom prst="ellipse">
            <a:avLst/>
          </a:prstGeom>
          <a:solidFill>
            <a:srgbClr val="DE9A4C"/>
          </a:solidFill>
          <a:ln w="12700">
            <a:solidFill>
              <a:srgbClr val="DE9A4C"/>
            </a:solidFill>
          </a:ln>
        </p:spPr>
        <p:txBody>
          <a:bodyPr lIns="45719" rIns="45719"/>
          <a:lstStyle/>
          <a:p>
            <a:pPr/>
          </a:p>
        </p:txBody>
      </p:sp>
      <p:sp>
        <p:nvSpPr>
          <p:cNvPr id="240"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241"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what different fossils in different layers show about living things.</a:t>
            </a:r>
          </a:p>
        </p:txBody>
      </p:sp>
      <p:grpSp>
        <p:nvGrpSpPr>
          <p:cNvPr id="244" name="c3_a"/>
          <p:cNvGrpSpPr/>
          <p:nvPr/>
        </p:nvGrpSpPr>
        <p:grpSpPr>
          <a:xfrm>
            <a:off x="6745072" y="3685032"/>
            <a:ext cx="4696817" cy="438913"/>
            <a:chOff x="0" y="0"/>
            <a:chExt cx="4696816" cy="438912"/>
          </a:xfrm>
        </p:grpSpPr>
        <p:sp>
          <p:nvSpPr>
            <p:cNvPr id="242"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243" name="They change over time, and some die out."/>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They change over time, and some die out.</a:t>
              </a:r>
            </a:p>
          </p:txBody>
        </p:sp>
      </p:grpSp>
      <p:sp>
        <p:nvSpPr>
          <p:cNvPr id="245" name="c4_bg"/>
          <p:cNvSpPr/>
          <p:nvPr/>
        </p:nvSpPr>
        <p:spPr>
          <a:xfrm>
            <a:off x="1170432" y="4398264"/>
            <a:ext cx="5099152" cy="1572769"/>
          </a:xfrm>
          <a:prstGeom prst="roundRect">
            <a:avLst>
              <a:gd name="adj" fmla="val 5814"/>
            </a:avLst>
          </a:prstGeom>
          <a:solidFill>
            <a:srgbClr val="FFFFFF"/>
          </a:solidFill>
          <a:ln w="16510">
            <a:solidFill>
              <a:srgbClr val="D8DEEC"/>
            </a:solidFill>
          </a:ln>
        </p:spPr>
        <p:txBody>
          <a:bodyPr lIns="45719" rIns="45719"/>
          <a:lstStyle/>
          <a:p>
            <a:pPr/>
          </a:p>
        </p:txBody>
      </p:sp>
      <p:sp>
        <p:nvSpPr>
          <p:cNvPr id="246" name="c4_badge"/>
          <p:cNvSpPr/>
          <p:nvPr/>
        </p:nvSpPr>
        <p:spPr>
          <a:xfrm>
            <a:off x="1371600" y="4745735"/>
            <a:ext cx="384048" cy="384049"/>
          </a:xfrm>
          <a:prstGeom prst="ellipse">
            <a:avLst/>
          </a:prstGeom>
          <a:solidFill>
            <a:srgbClr val="DE9A4C"/>
          </a:solidFill>
          <a:ln w="12700">
            <a:solidFill>
              <a:srgbClr val="DE9A4C"/>
            </a:solidFill>
          </a:ln>
        </p:spPr>
        <p:txBody>
          <a:bodyPr lIns="45719" rIns="45719"/>
          <a:lstStyle/>
          <a:p>
            <a:pPr/>
          </a:p>
        </p:txBody>
      </p:sp>
      <p:sp>
        <p:nvSpPr>
          <p:cNvPr id="247"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248"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Explain why jellyfish are rare in the fossil record.</a:t>
            </a:r>
          </a:p>
        </p:txBody>
      </p:sp>
      <p:grpSp>
        <p:nvGrpSpPr>
          <p:cNvPr id="251" name="c4_a"/>
          <p:cNvGrpSpPr/>
          <p:nvPr/>
        </p:nvGrpSpPr>
        <p:grpSpPr>
          <a:xfrm>
            <a:off x="1371600" y="5404103"/>
            <a:ext cx="4696817" cy="438913"/>
            <a:chOff x="0" y="0"/>
            <a:chExt cx="4696816" cy="438912"/>
          </a:xfrm>
        </p:grpSpPr>
        <p:sp>
          <p:nvSpPr>
            <p:cNvPr id="249"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250" name="No hard parts, so they rot before they can be buried."/>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No hard parts, so they rot before they can be buried.</a:t>
              </a:r>
            </a:p>
          </p:txBody>
        </p:sp>
      </p:grpSp>
      <p:sp>
        <p:nvSpPr>
          <p:cNvPr id="252" name="c5_bg"/>
          <p:cNvSpPr/>
          <p:nvPr/>
        </p:nvSpPr>
        <p:spPr>
          <a:xfrm>
            <a:off x="6543903" y="4398264"/>
            <a:ext cx="5099153" cy="1572769"/>
          </a:xfrm>
          <a:prstGeom prst="roundRect">
            <a:avLst>
              <a:gd name="adj" fmla="val 5814"/>
            </a:avLst>
          </a:prstGeom>
          <a:solidFill>
            <a:srgbClr val="FFFFFF"/>
          </a:solidFill>
          <a:ln w="16510">
            <a:solidFill>
              <a:srgbClr val="D8DEEC"/>
            </a:solidFill>
          </a:ln>
        </p:spPr>
        <p:txBody>
          <a:bodyPr lIns="45719" rIns="45719"/>
          <a:lstStyle/>
          <a:p>
            <a:pPr/>
          </a:p>
        </p:txBody>
      </p:sp>
      <p:sp>
        <p:nvSpPr>
          <p:cNvPr id="253" name="c5_badge"/>
          <p:cNvSpPr/>
          <p:nvPr/>
        </p:nvSpPr>
        <p:spPr>
          <a:xfrm>
            <a:off x="6745072" y="4745735"/>
            <a:ext cx="384049" cy="384049"/>
          </a:xfrm>
          <a:prstGeom prst="ellipse">
            <a:avLst/>
          </a:prstGeom>
          <a:solidFill>
            <a:srgbClr val="DE9A4C"/>
          </a:solidFill>
          <a:ln w="12700">
            <a:solidFill>
              <a:srgbClr val="DE9A4C"/>
            </a:solidFill>
          </a:ln>
        </p:spPr>
        <p:txBody>
          <a:bodyPr lIns="45719" rIns="45719"/>
          <a:lstStyle/>
          <a:p>
            <a:pPr/>
          </a:p>
        </p:txBody>
      </p:sp>
      <p:sp>
        <p:nvSpPr>
          <p:cNvPr id="254"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255"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one reason, other than soft bodies, why the fossil record has gaps.</a:t>
            </a:r>
          </a:p>
        </p:txBody>
      </p:sp>
      <p:grpSp>
        <p:nvGrpSpPr>
          <p:cNvPr id="258" name="c5_a"/>
          <p:cNvGrpSpPr/>
          <p:nvPr/>
        </p:nvGrpSpPr>
        <p:grpSpPr>
          <a:xfrm>
            <a:off x="6745072" y="5404103"/>
            <a:ext cx="4696817" cy="438913"/>
            <a:chOff x="0" y="0"/>
            <a:chExt cx="4696816" cy="438912"/>
          </a:xfrm>
        </p:grpSpPr>
        <p:sp>
          <p:nvSpPr>
            <p:cNvPr id="256"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257" name="Rock is worn away, squashed or melted, or fossils are not found yet."/>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Rock is worn away, squashed or melted, or fossils are not found yet.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1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23"/>
                                        </p:tgtEl>
                                        <p:attrNameLst>
                                          <p:attrName>style.visibility</p:attrName>
                                        </p:attrNameLst>
                                      </p:cBhvr>
                                      <p:to>
                                        <p:strVal val="visible"/>
                                      </p:to>
                                    </p:set>
                                    <p:animEffect filter="wipe(left)" transition="in">
                                      <p:cBhvr>
                                        <p:cTn id="11" dur="400"/>
                                        <p:tgtEl>
                                          <p:spTgt spid="22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30"/>
                                        </p:tgtEl>
                                        <p:attrNameLst>
                                          <p:attrName>style.visibility</p:attrName>
                                        </p:attrNameLst>
                                      </p:cBhvr>
                                      <p:to>
                                        <p:strVal val="visible"/>
                                      </p:to>
                                    </p:set>
                                    <p:animEffect filter="wipe(left)" transition="in">
                                      <p:cBhvr>
                                        <p:cTn id="16" dur="400"/>
                                        <p:tgtEl>
                                          <p:spTgt spid="23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37"/>
                                        </p:tgtEl>
                                        <p:attrNameLst>
                                          <p:attrName>style.visibility</p:attrName>
                                        </p:attrNameLst>
                                      </p:cBhvr>
                                      <p:to>
                                        <p:strVal val="visible"/>
                                      </p:to>
                                    </p:set>
                                    <p:animEffect filter="wipe(left)" transition="in">
                                      <p:cBhvr>
                                        <p:cTn id="21" dur="400"/>
                                        <p:tgtEl>
                                          <p:spTgt spid="23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44"/>
                                        </p:tgtEl>
                                        <p:attrNameLst>
                                          <p:attrName>style.visibility</p:attrName>
                                        </p:attrNameLst>
                                      </p:cBhvr>
                                      <p:to>
                                        <p:strVal val="visible"/>
                                      </p:to>
                                    </p:set>
                                    <p:animEffect filter="wipe(left)" transition="in">
                                      <p:cBhvr>
                                        <p:cTn id="26" dur="400"/>
                                        <p:tgtEl>
                                          <p:spTgt spid="24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51"/>
                                        </p:tgtEl>
                                        <p:attrNameLst>
                                          <p:attrName>style.visibility</p:attrName>
                                        </p:attrNameLst>
                                      </p:cBhvr>
                                      <p:to>
                                        <p:strVal val="visible"/>
                                      </p:to>
                                    </p:set>
                                    <p:animEffect filter="wipe(left)" transition="in">
                                      <p:cBhvr>
                                        <p:cTn id="31" dur="400"/>
                                        <p:tgtEl>
                                          <p:spTgt spid="25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58"/>
                                        </p:tgtEl>
                                        <p:attrNameLst>
                                          <p:attrName>style.visibility</p:attrName>
                                        </p:attrNameLst>
                                      </p:cBhvr>
                                      <p:to>
                                        <p:strVal val="visible"/>
                                      </p:to>
                                    </p:set>
                                    <p:animEffect filter="wipe(left)" transition="in">
                                      <p:cBhvr>
                                        <p:cTn id="36" dur="4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13"/>
                </p:tgtEl>
              </p:cMediaNode>
            </p:video>
            <p:seq concurrent="1" prevAc="none" nextAc="seek">
              <p:cTn id="38" evtFilter="cancelBubble" nodeType="interactiveSeq" restart="whenNotActive" fill="hold">
                <p:stCondLst>
                  <p:cond delay="0" evt="onClick">
                    <p:tgtEl>
                      <p:spTgt spid="213"/>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13"/>
                                        </p:tgtEl>
                                      </p:cBhvr>
                                    </p:cmd>
                                  </p:childTnLst>
                                </p:cTn>
                              </p:par>
                            </p:childTnLst>
                          </p:cTn>
                        </p:par>
                      </p:childTnLst>
                    </p:cTn>
                  </p:par>
                </p:childTnLst>
              </p:cTn>
              <p:nextCondLst>
                <p:cond delay="0" evt="onClick">
                  <p:tgtEl>
                    <p:spTgt spid="213"/>
                  </p:tgtEl>
                </p:cond>
              </p:nextCondLst>
            </p:seq>
          </p:childTnLst>
        </p:cTn>
      </p:par>
    </p:tnLst>
    <p:bldLst>
      <p:bldP build="whole" bldLvl="1" animBg="1" rev="0" advAuto="0" spid="223" grpId="2"/>
      <p:bldP build="whole" bldLvl="1" animBg="1" rev="0" advAuto="0" spid="258" grpId="7"/>
      <p:bldP build="whole" bldLvl="1" animBg="1" rev="0" advAuto="0" spid="244" grpId="5"/>
      <p:bldP build="whole" bldLvl="1" animBg="1" rev="0" advAuto="0" spid="230" grpId="3"/>
      <p:bldP build="whole" bldLvl="1" animBg="1" rev="0" advAuto="0" spid="251" grpId="6"/>
      <p:bldP build="whole" bldLvl="1" animBg="1" rev="0" advAuto="0" spid="237" grpId="4"/>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6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65" name="phase_pill"/>
          <p:cNvGrpSpPr/>
          <p:nvPr/>
        </p:nvGrpSpPr>
        <p:grpSpPr>
          <a:xfrm>
            <a:off x="1170432" y="310895"/>
            <a:ext cx="1892808" cy="329185"/>
            <a:chOff x="0" y="0"/>
            <a:chExt cx="1892807" cy="329184"/>
          </a:xfrm>
        </p:grpSpPr>
        <p:sp>
          <p:nvSpPr>
            <p:cNvPr id="263"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64" name="YOU DO · 17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17 MIN</a:t>
              </a:r>
            </a:p>
          </p:txBody>
        </p:sp>
      </p:grpSp>
      <p:pic>
        <p:nvPicPr>
          <p:cNvPr id="266"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67"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F3D2B"/>
                </a:solidFill>
                <a:latin typeface="Georgia"/>
                <a:ea typeface="Georgia"/>
                <a:cs typeface="Georgia"/>
                <a:sym typeface="Georgia"/>
              </a:defRPr>
            </a:lvl1pPr>
          </a:lstStyle>
          <a:p>
            <a:pPr/>
            <a:r>
              <a:t>Fossils And The Fossil Record game</a:t>
            </a:r>
          </a:p>
        </p:txBody>
      </p:sp>
      <p:sp>
        <p:nvSpPr>
          <p:cNvPr id="268"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1442D"/>
                </a:solidFill>
                <a:latin typeface="Arial"/>
                <a:ea typeface="Arial"/>
                <a:cs typeface="Arial"/>
                <a:sym typeface="Arial"/>
              </a:defRPr>
            </a:lvl1pPr>
          </a:lstStyle>
          <a:p>
            <a:pPr/>
            <a:r>
              <a:t>Open Google Classroom now.</a:t>
            </a:r>
          </a:p>
        </p:txBody>
      </p:sp>
      <p:grpSp>
        <p:nvGrpSpPr>
          <p:cNvPr id="273" name="t0"/>
          <p:cNvGrpSpPr/>
          <p:nvPr/>
        </p:nvGrpSpPr>
        <p:grpSpPr>
          <a:xfrm>
            <a:off x="1170432" y="2322576"/>
            <a:ext cx="3307994" cy="1920241"/>
            <a:chOff x="0" y="0"/>
            <a:chExt cx="3307993" cy="1920239"/>
          </a:xfrm>
        </p:grpSpPr>
        <p:sp>
          <p:nvSpPr>
            <p:cNvPr id="269" name="t0_bg"/>
            <p:cNvSpPr/>
            <p:nvPr/>
          </p:nvSpPr>
          <p:spPr>
            <a:xfrm>
              <a:off x="0" y="0"/>
              <a:ext cx="3307994" cy="1920240"/>
            </a:xfrm>
            <a:prstGeom prst="roundRect">
              <a:avLst>
                <a:gd name="adj" fmla="val 4762"/>
              </a:avLst>
            </a:prstGeom>
            <a:solidFill>
              <a:srgbClr val="FBEAE6"/>
            </a:solidFill>
            <a:ln w="20320" cap="flat">
              <a:solidFill>
                <a:srgbClr val="C1442D"/>
              </a:solidFill>
              <a:prstDash val="solid"/>
              <a:round/>
            </a:ln>
            <a:effectLst/>
          </p:spPr>
          <p:txBody>
            <a:bodyPr wrap="square" lIns="45719" tIns="45719" rIns="45719" bIns="45719" numCol="1" anchor="t">
              <a:noAutofit/>
            </a:bodyPr>
            <a:lstStyle/>
            <a:p>
              <a:pPr/>
            </a:p>
          </p:txBody>
        </p:sp>
        <p:sp>
          <p:nvSpPr>
            <p:cNvPr id="270"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1442D"/>
                  </a:solidFill>
                  <a:latin typeface="Arial"/>
                  <a:ea typeface="Arial"/>
                  <a:cs typeface="Arial"/>
                  <a:sym typeface="Arial"/>
                </a:defRPr>
              </a:lvl1pPr>
            </a:lstStyle>
            <a:p>
              <a:pPr/>
              <a:r>
                <a:t>ROUND 1</a:t>
              </a:r>
            </a:p>
          </p:txBody>
        </p:sp>
        <p:sp>
          <p:nvSpPr>
            <p:cNvPr id="271"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How fossils form</a:t>
              </a:r>
            </a:p>
          </p:txBody>
        </p:sp>
        <p:sp>
          <p:nvSpPr>
            <p:cNvPr id="272" name="t0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Hard parts, quick burial, and the steps in order.</a:t>
              </a:r>
            </a:p>
          </p:txBody>
        </p:sp>
      </p:grpSp>
      <p:grpSp>
        <p:nvGrpSpPr>
          <p:cNvPr id="278" name="t1"/>
          <p:cNvGrpSpPr/>
          <p:nvPr/>
        </p:nvGrpSpPr>
        <p:grpSpPr>
          <a:xfrm>
            <a:off x="4752745" y="2322576"/>
            <a:ext cx="3307995" cy="1920241"/>
            <a:chOff x="0" y="0"/>
            <a:chExt cx="3307993" cy="1920239"/>
          </a:xfrm>
        </p:grpSpPr>
        <p:sp>
          <p:nvSpPr>
            <p:cNvPr id="274" name="t1_bg"/>
            <p:cNvSpPr/>
            <p:nvPr/>
          </p:nvSpPr>
          <p:spPr>
            <a:xfrm>
              <a:off x="0" y="0"/>
              <a:ext cx="3307994" cy="1920240"/>
            </a:xfrm>
            <a:prstGeom prst="roundRect">
              <a:avLst>
                <a:gd name="adj" fmla="val 4762"/>
              </a:avLst>
            </a:prstGeom>
            <a:solidFill>
              <a:srgbClr val="F1F2EE"/>
            </a:solidFill>
            <a:ln w="20320" cap="flat">
              <a:solidFill>
                <a:srgbClr val="6E8074"/>
              </a:solidFill>
              <a:prstDash val="solid"/>
              <a:round/>
            </a:ln>
            <a:effectLst/>
          </p:spPr>
          <p:txBody>
            <a:bodyPr wrap="square" lIns="45719" tIns="45719" rIns="45719" bIns="45719" numCol="1" anchor="t">
              <a:noAutofit/>
            </a:bodyPr>
            <a:lstStyle/>
            <a:p>
              <a:pPr/>
            </a:p>
          </p:txBody>
        </p:sp>
        <p:sp>
          <p:nvSpPr>
            <p:cNvPr id="275"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6E8074"/>
                  </a:solidFill>
                  <a:latin typeface="Arial"/>
                  <a:ea typeface="Arial"/>
                  <a:cs typeface="Arial"/>
                  <a:sym typeface="Arial"/>
                </a:defRPr>
              </a:lvl1pPr>
            </a:lstStyle>
            <a:p>
              <a:pPr/>
              <a:r>
                <a:t>ROUND 2</a:t>
              </a:r>
            </a:p>
          </p:txBody>
        </p:sp>
        <p:sp>
          <p:nvSpPr>
            <p:cNvPr id="276"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Reading the layers</a:t>
              </a:r>
            </a:p>
          </p:txBody>
        </p:sp>
        <p:sp>
          <p:nvSpPr>
            <p:cNvPr id="277"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Which layer is oldest? What lived when? How long between?</a:t>
              </a:r>
            </a:p>
          </p:txBody>
        </p:sp>
      </p:grpSp>
      <p:grpSp>
        <p:nvGrpSpPr>
          <p:cNvPr id="283" name="t2"/>
          <p:cNvGrpSpPr/>
          <p:nvPr/>
        </p:nvGrpSpPr>
        <p:grpSpPr>
          <a:xfrm>
            <a:off x="8335061" y="2322576"/>
            <a:ext cx="3307994" cy="1920241"/>
            <a:chOff x="0" y="0"/>
            <a:chExt cx="3307993" cy="1920239"/>
          </a:xfrm>
        </p:grpSpPr>
        <p:sp>
          <p:nvSpPr>
            <p:cNvPr id="279" name="t2_bg"/>
            <p:cNvSpPr/>
            <p:nvPr/>
          </p:nvSpPr>
          <p:spPr>
            <a:xfrm>
              <a:off x="0" y="0"/>
              <a:ext cx="3307994" cy="1920240"/>
            </a:xfrm>
            <a:prstGeom prst="roundRect">
              <a:avLst>
                <a:gd name="adj" fmla="val 4762"/>
              </a:avLst>
            </a:prstGeom>
            <a:solidFill>
              <a:srgbClr val="F3E7CE"/>
            </a:solidFill>
            <a:ln w="20320" cap="flat">
              <a:solidFill>
                <a:srgbClr val="A8651F"/>
              </a:solidFill>
              <a:prstDash val="solid"/>
              <a:round/>
            </a:ln>
            <a:effectLst/>
          </p:spPr>
          <p:txBody>
            <a:bodyPr wrap="square" lIns="45719" tIns="45719" rIns="45719" bIns="45719" numCol="1" anchor="t">
              <a:noAutofit/>
            </a:bodyPr>
            <a:lstStyle/>
            <a:p>
              <a:pPr/>
            </a:p>
          </p:txBody>
        </p:sp>
        <p:sp>
          <p:nvSpPr>
            <p:cNvPr id="280"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A8651F"/>
                  </a:solidFill>
                  <a:latin typeface="Arial"/>
                  <a:ea typeface="Arial"/>
                  <a:cs typeface="Arial"/>
                  <a:sym typeface="Arial"/>
                </a:defRPr>
              </a:lvl1pPr>
            </a:lstStyle>
            <a:p>
              <a:pPr/>
              <a:r>
                <a:t>ROUND 3</a:t>
              </a:r>
            </a:p>
          </p:txBody>
        </p:sp>
        <p:sp>
          <p:nvSpPr>
            <p:cNvPr id="281"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Beat the rock</a:t>
              </a:r>
            </a:p>
          </p:txBody>
        </p:sp>
        <p:sp>
          <p:nvSpPr>
            <p:cNvPr id="282" name="t2_b"/>
            <p:cNvSpPr txBox="1"/>
            <p:nvPr/>
          </p:nvSpPr>
          <p:spPr>
            <a:xfrm>
              <a:off x="237744" y="877823"/>
              <a:ext cx="2832506" cy="6777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Very hard. The last questions are meant to be almost impossible. Do what you can.</a:t>
              </a:r>
            </a:p>
          </p:txBody>
        </p:sp>
      </p:grpSp>
      <p:sp>
        <p:nvSpPr>
          <p:cNvPr id="284" name="yd_note"/>
          <p:cNvSpPr txBox="1"/>
          <p:nvPr/>
        </p:nvSpPr>
        <p:spPr>
          <a:xfrm>
            <a:off x="1170432" y="453542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F3D2B"/>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020000" fill="hold"/>
                                        <p:tgtEl>
                                          <p:spTgt spid="26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3"/>
                                        </p:tgtEl>
                                        <p:attrNameLst>
                                          <p:attrName>style.visibility</p:attrName>
                                        </p:attrNameLst>
                                      </p:cBhvr>
                                      <p:to>
                                        <p:strVal val="visible"/>
                                      </p:to>
                                    </p:set>
                                    <p:animEffect filter="fade" transition="in">
                                      <p:cBhvr>
                                        <p:cTn id="11" dur="400"/>
                                        <p:tgtEl>
                                          <p:spTgt spid="27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8"/>
                                        </p:tgtEl>
                                        <p:attrNameLst>
                                          <p:attrName>style.visibility</p:attrName>
                                        </p:attrNameLst>
                                      </p:cBhvr>
                                      <p:to>
                                        <p:strVal val="visible"/>
                                      </p:to>
                                    </p:set>
                                    <p:animEffect filter="fade" transition="in">
                                      <p:cBhvr>
                                        <p:cTn id="16" dur="400"/>
                                        <p:tgtEl>
                                          <p:spTgt spid="27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83"/>
                                        </p:tgtEl>
                                        <p:attrNameLst>
                                          <p:attrName>style.visibility</p:attrName>
                                        </p:attrNameLst>
                                      </p:cBhvr>
                                      <p:to>
                                        <p:strVal val="visible"/>
                                      </p:to>
                                    </p:set>
                                    <p:animEffect filter="fade" transition="in">
                                      <p:cBhvr>
                                        <p:cTn id="21" dur="400"/>
                                        <p:tgtEl>
                                          <p:spTgt spid="28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84"/>
                                        </p:tgtEl>
                                        <p:attrNameLst>
                                          <p:attrName>style.visibility</p:attrName>
                                        </p:attrNameLst>
                                      </p:cBhvr>
                                      <p:to>
                                        <p:strVal val="visible"/>
                                      </p:to>
                                    </p:set>
                                    <p:animEffect filter="fade" transition="in">
                                      <p:cBhvr>
                                        <p:cTn id="26" dur="4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62"/>
                </p:tgtEl>
              </p:cMediaNode>
            </p:video>
            <p:seq concurrent="1" prevAc="none" nextAc="seek">
              <p:cTn id="28" evtFilter="cancelBubble" nodeType="interactiveSeq" restart="whenNotActive" fill="hold">
                <p:stCondLst>
                  <p:cond delay="0" evt="onClick">
                    <p:tgtEl>
                      <p:spTgt spid="262"/>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62"/>
                                        </p:tgtEl>
                                      </p:cBhvr>
                                    </p:cmd>
                                  </p:childTnLst>
                                </p:cTn>
                              </p:par>
                            </p:childTnLst>
                          </p:cTn>
                        </p:par>
                      </p:childTnLst>
                    </p:cTn>
                  </p:par>
                </p:childTnLst>
              </p:cTn>
              <p:nextCondLst>
                <p:cond delay="0" evt="onClick">
                  <p:tgtEl>
                    <p:spTgt spid="262"/>
                  </p:tgtEl>
                </p:cond>
              </p:nextCondLst>
            </p:seq>
          </p:childTnLst>
        </p:cTn>
      </p:par>
    </p:tnLst>
    <p:bldLst>
      <p:bldP build="whole" bldLvl="1" animBg="1" rev="0" advAuto="0" spid="273" grpId="2"/>
      <p:bldP build="whole" bldLvl="1" animBg="1" rev="0" advAuto="0" spid="283" grpId="4"/>
      <p:bldP build="whole" bldLvl="1" animBg="1" rev="0" advAuto="0" spid="284" grpId="5"/>
      <p:bldP build="whole" bldLvl="1" animBg="1" rev="0" advAuto="0" spid="278"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D2B"/>
        </a:solidFill>
      </p:bgPr>
    </p:bg>
    <p:spTree>
      <p:nvGrpSpPr>
        <p:cNvPr id="1" name=""/>
        <p:cNvGrpSpPr/>
        <p:nvPr/>
      </p:nvGrpSpPr>
      <p:grpSpPr>
        <a:xfrm>
          <a:off x="0" y="0"/>
          <a:ext cx="0" cy="0"/>
          <a:chOff x="0" y="0"/>
          <a:chExt cx="0" cy="0"/>
        </a:xfrm>
      </p:grpSpPr>
      <p:pic>
        <p:nvPicPr>
          <p:cNvPr id="28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1" name="phase_pill"/>
          <p:cNvGrpSpPr/>
          <p:nvPr/>
        </p:nvGrpSpPr>
        <p:grpSpPr>
          <a:xfrm>
            <a:off x="1170432" y="310895"/>
            <a:ext cx="1892808" cy="329185"/>
            <a:chOff x="0" y="0"/>
            <a:chExt cx="1892807" cy="329184"/>
          </a:xfrm>
        </p:grpSpPr>
        <p:sp>
          <p:nvSpPr>
            <p:cNvPr id="289" name="Rounded Rectangle"/>
            <p:cNvSpPr/>
            <p:nvPr/>
          </p:nvSpPr>
          <p:spPr>
            <a:xfrm>
              <a:off x="0" y="0"/>
              <a:ext cx="1892808" cy="329185"/>
            </a:xfrm>
            <a:prstGeom prst="roundRect">
              <a:avLst>
                <a:gd name="adj" fmla="val 44444"/>
              </a:avLst>
            </a:prstGeom>
            <a:solidFill>
              <a:srgbClr val="DE9A4C"/>
            </a:solidFill>
            <a:ln w="12700" cap="flat">
              <a:noFill/>
              <a:miter lim="400000"/>
            </a:ln>
            <a:effectLst/>
          </p:spPr>
          <p:txBody>
            <a:bodyPr wrap="square" lIns="45719" tIns="45719" rIns="45719" bIns="45719" numCol="1" anchor="ctr">
              <a:noAutofit/>
            </a:bodyPr>
            <a:lstStyle/>
            <a:p>
              <a:pPr algn="ctr">
                <a:defRPr sz="1100"/>
              </a:pPr>
            </a:p>
          </p:txBody>
        </p:sp>
        <p:sp>
          <p:nvSpPr>
            <p:cNvPr id="290"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F3D2B"/>
                  </a:solidFill>
                  <a:latin typeface="Arial"/>
                  <a:ea typeface="Arial"/>
                  <a:cs typeface="Arial"/>
                  <a:sym typeface="Arial"/>
                </a:defRPr>
              </a:lvl1pPr>
            </a:lstStyle>
            <a:p>
              <a:pPr/>
              <a:r>
                <a:t>PLENARY · 3 MIN</a:t>
              </a:r>
            </a:p>
          </p:txBody>
        </p:sp>
      </p:grpSp>
      <p:sp>
        <p:nvSpPr>
          <p:cNvPr id="292"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5F1E6"/>
                </a:solidFill>
                <a:latin typeface="Georgia"/>
                <a:ea typeface="Georgia"/>
                <a:cs typeface="Georgia"/>
                <a:sym typeface="Georgia"/>
              </a:defRPr>
            </a:lvl1pPr>
          </a:lstStyle>
          <a:p>
            <a:pPr/>
            <a:r>
              <a:t>True or false?</a:t>
            </a:r>
          </a:p>
        </p:txBody>
      </p:sp>
      <p:grpSp>
        <p:nvGrpSpPr>
          <p:cNvPr id="295" name="p0_stmt"/>
          <p:cNvGrpSpPr/>
          <p:nvPr/>
        </p:nvGrpSpPr>
        <p:grpSpPr>
          <a:xfrm>
            <a:off x="1170432" y="2194560"/>
            <a:ext cx="8552383" cy="640081"/>
            <a:chOff x="0" y="0"/>
            <a:chExt cx="8552382" cy="640080"/>
          </a:xfrm>
        </p:grpSpPr>
        <p:sp>
          <p:nvSpPr>
            <p:cNvPr id="293" name="p0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294"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A fossil is the whole body of an animal, unchanged.</a:t>
              </a:r>
            </a:p>
          </p:txBody>
        </p:sp>
      </p:grpSp>
      <p:sp>
        <p:nvSpPr>
          <p:cNvPr id="296"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299" name="p1_stmt"/>
          <p:cNvGrpSpPr/>
          <p:nvPr/>
        </p:nvGrpSpPr>
        <p:grpSpPr>
          <a:xfrm>
            <a:off x="1170432" y="2999232"/>
            <a:ext cx="8552383" cy="640081"/>
            <a:chOff x="0" y="0"/>
            <a:chExt cx="8552382" cy="640080"/>
          </a:xfrm>
        </p:grpSpPr>
        <p:sp>
          <p:nvSpPr>
            <p:cNvPr id="297" name="p1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298"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In rock that has not been disturbed, the deepest layers are the oldest.</a:t>
              </a:r>
            </a:p>
          </p:txBody>
        </p:sp>
      </p:grpSp>
      <p:sp>
        <p:nvSpPr>
          <p:cNvPr id="300"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03" name="p2_stmt"/>
          <p:cNvGrpSpPr/>
          <p:nvPr/>
        </p:nvGrpSpPr>
        <p:grpSpPr>
          <a:xfrm>
            <a:off x="1170432" y="3803903"/>
            <a:ext cx="8552383" cy="640081"/>
            <a:chOff x="0" y="0"/>
            <a:chExt cx="8552382" cy="640080"/>
          </a:xfrm>
        </p:grpSpPr>
        <p:sp>
          <p:nvSpPr>
            <p:cNvPr id="301" name="p2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02"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Gaps in the fossil record show that evolution did not happen.</a:t>
              </a:r>
            </a:p>
          </p:txBody>
        </p:sp>
      </p:grpSp>
      <p:sp>
        <p:nvSpPr>
          <p:cNvPr id="304"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07" name="p3_stmt"/>
          <p:cNvGrpSpPr/>
          <p:nvPr/>
        </p:nvGrpSpPr>
        <p:grpSpPr>
          <a:xfrm>
            <a:off x="1170432" y="4608576"/>
            <a:ext cx="8552383" cy="640081"/>
            <a:chOff x="0" y="0"/>
            <a:chExt cx="8552382" cy="640080"/>
          </a:xfrm>
        </p:grpSpPr>
        <p:sp>
          <p:nvSpPr>
            <p:cNvPr id="305" name="p3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06"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Most living things become fossils.</a:t>
              </a:r>
            </a:p>
          </p:txBody>
        </p:sp>
      </p:grpSp>
      <p:sp>
        <p:nvSpPr>
          <p:cNvPr id="308"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11" name="p4_stmt"/>
          <p:cNvGrpSpPr/>
          <p:nvPr/>
        </p:nvGrpSpPr>
        <p:grpSpPr>
          <a:xfrm>
            <a:off x="1170432" y="5413247"/>
            <a:ext cx="8552383" cy="640081"/>
            <a:chOff x="0" y="0"/>
            <a:chExt cx="8552382" cy="640080"/>
          </a:xfrm>
        </p:grpSpPr>
        <p:sp>
          <p:nvSpPr>
            <p:cNvPr id="309" name="p4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10"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An animal with a hard shell is more likely to become a fossil than a jellyfish.</a:t>
              </a:r>
            </a:p>
          </p:txBody>
        </p:sp>
      </p:grpSp>
      <p:sp>
        <p:nvSpPr>
          <p:cNvPr id="312"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sp>
        <p:nvSpPr>
          <p:cNvPr id="313"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DE9A4C"/>
                </a:solidFill>
                <a:latin typeface="Arial"/>
                <a:ea typeface="Arial"/>
                <a:cs typeface="Arial"/>
                <a:sym typeface="Arial"/>
              </a:defRPr>
            </a:lvl1pPr>
          </a:lstStyle>
          <a:p>
            <a:pPr/>
            <a:r>
              <a:t>Fossils are rare. The rocks give the order.</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5"/>
                                        </p:tgtEl>
                                        <p:attrNameLst>
                                          <p:attrName>style.visibility</p:attrName>
                                        </p:attrNameLst>
                                      </p:cBhvr>
                                      <p:to>
                                        <p:strVal val="visible"/>
                                      </p:to>
                                    </p:set>
                                    <p:animEffect filter="fade" transition="in">
                                      <p:cBhvr>
                                        <p:cTn id="11" dur="400"/>
                                        <p:tgtEl>
                                          <p:spTgt spid="29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96"/>
                                        </p:tgtEl>
                                        <p:attrNameLst>
                                          <p:attrName>style.visibility</p:attrName>
                                        </p:attrNameLst>
                                      </p:cBhvr>
                                      <p:to>
                                        <p:strVal val="visible"/>
                                      </p:to>
                                    </p:set>
                                    <p:anim calcmode="lin" valueType="num">
                                      <p:cBhvr>
                                        <p:cTn id="16" dur="400" fill="hold"/>
                                        <p:tgtEl>
                                          <p:spTgt spid="296"/>
                                        </p:tgtEl>
                                        <p:attrNameLst>
                                          <p:attrName>ppt_w</p:attrName>
                                        </p:attrNameLst>
                                      </p:cBhvr>
                                      <p:tavLst>
                                        <p:tav tm="0">
                                          <p:val>
                                            <p:fltVal val="0"/>
                                          </p:val>
                                        </p:tav>
                                        <p:tav tm="100000">
                                          <p:val>
                                            <p:strVal val="#ppt_w"/>
                                          </p:val>
                                        </p:tav>
                                      </p:tavLst>
                                    </p:anim>
                                    <p:anim calcmode="lin" valueType="num">
                                      <p:cBhvr>
                                        <p:cTn id="17" dur="400" fill="hold"/>
                                        <p:tgtEl>
                                          <p:spTgt spid="296"/>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99"/>
                                        </p:tgtEl>
                                        <p:attrNameLst>
                                          <p:attrName>style.visibility</p:attrName>
                                        </p:attrNameLst>
                                      </p:cBhvr>
                                      <p:to>
                                        <p:strVal val="visible"/>
                                      </p:to>
                                    </p:set>
                                    <p:animEffect filter="fade" transition="in">
                                      <p:cBhvr>
                                        <p:cTn id="22" dur="400"/>
                                        <p:tgtEl>
                                          <p:spTgt spid="299"/>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00"/>
                                        </p:tgtEl>
                                        <p:attrNameLst>
                                          <p:attrName>style.visibility</p:attrName>
                                        </p:attrNameLst>
                                      </p:cBhvr>
                                      <p:to>
                                        <p:strVal val="visible"/>
                                      </p:to>
                                    </p:set>
                                    <p:anim calcmode="lin" valueType="num">
                                      <p:cBhvr>
                                        <p:cTn id="27" dur="400" fill="hold"/>
                                        <p:tgtEl>
                                          <p:spTgt spid="300"/>
                                        </p:tgtEl>
                                        <p:attrNameLst>
                                          <p:attrName>ppt_w</p:attrName>
                                        </p:attrNameLst>
                                      </p:cBhvr>
                                      <p:tavLst>
                                        <p:tav tm="0">
                                          <p:val>
                                            <p:fltVal val="0"/>
                                          </p:val>
                                        </p:tav>
                                        <p:tav tm="100000">
                                          <p:val>
                                            <p:strVal val="#ppt_w"/>
                                          </p:val>
                                        </p:tav>
                                      </p:tavLst>
                                    </p:anim>
                                    <p:anim calcmode="lin" valueType="num">
                                      <p:cBhvr>
                                        <p:cTn id="28" dur="400" fill="hold"/>
                                        <p:tgtEl>
                                          <p:spTgt spid="300"/>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03"/>
                                        </p:tgtEl>
                                        <p:attrNameLst>
                                          <p:attrName>style.visibility</p:attrName>
                                        </p:attrNameLst>
                                      </p:cBhvr>
                                      <p:to>
                                        <p:strVal val="visible"/>
                                      </p:to>
                                    </p:set>
                                    <p:animEffect filter="fade" transition="in">
                                      <p:cBhvr>
                                        <p:cTn id="33" dur="400"/>
                                        <p:tgtEl>
                                          <p:spTgt spid="303"/>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04"/>
                                        </p:tgtEl>
                                        <p:attrNameLst>
                                          <p:attrName>style.visibility</p:attrName>
                                        </p:attrNameLst>
                                      </p:cBhvr>
                                      <p:to>
                                        <p:strVal val="visible"/>
                                      </p:to>
                                    </p:set>
                                    <p:anim calcmode="lin" valueType="num">
                                      <p:cBhvr>
                                        <p:cTn id="38" dur="400" fill="hold"/>
                                        <p:tgtEl>
                                          <p:spTgt spid="304"/>
                                        </p:tgtEl>
                                        <p:attrNameLst>
                                          <p:attrName>ppt_w</p:attrName>
                                        </p:attrNameLst>
                                      </p:cBhvr>
                                      <p:tavLst>
                                        <p:tav tm="0">
                                          <p:val>
                                            <p:fltVal val="0"/>
                                          </p:val>
                                        </p:tav>
                                        <p:tav tm="100000">
                                          <p:val>
                                            <p:strVal val="#ppt_w"/>
                                          </p:val>
                                        </p:tav>
                                      </p:tavLst>
                                    </p:anim>
                                    <p:anim calcmode="lin" valueType="num">
                                      <p:cBhvr>
                                        <p:cTn id="39" dur="400" fill="hold"/>
                                        <p:tgtEl>
                                          <p:spTgt spid="304"/>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07"/>
                                        </p:tgtEl>
                                        <p:attrNameLst>
                                          <p:attrName>style.visibility</p:attrName>
                                        </p:attrNameLst>
                                      </p:cBhvr>
                                      <p:to>
                                        <p:strVal val="visible"/>
                                      </p:to>
                                    </p:set>
                                    <p:animEffect filter="fade" transition="in">
                                      <p:cBhvr>
                                        <p:cTn id="44" dur="400"/>
                                        <p:tgtEl>
                                          <p:spTgt spid="307"/>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08"/>
                                        </p:tgtEl>
                                        <p:attrNameLst>
                                          <p:attrName>style.visibility</p:attrName>
                                        </p:attrNameLst>
                                      </p:cBhvr>
                                      <p:to>
                                        <p:strVal val="visible"/>
                                      </p:to>
                                    </p:set>
                                    <p:anim calcmode="lin" valueType="num">
                                      <p:cBhvr>
                                        <p:cTn id="49" dur="400" fill="hold"/>
                                        <p:tgtEl>
                                          <p:spTgt spid="308"/>
                                        </p:tgtEl>
                                        <p:attrNameLst>
                                          <p:attrName>ppt_w</p:attrName>
                                        </p:attrNameLst>
                                      </p:cBhvr>
                                      <p:tavLst>
                                        <p:tav tm="0">
                                          <p:val>
                                            <p:fltVal val="0"/>
                                          </p:val>
                                        </p:tav>
                                        <p:tav tm="100000">
                                          <p:val>
                                            <p:strVal val="#ppt_w"/>
                                          </p:val>
                                        </p:tav>
                                      </p:tavLst>
                                    </p:anim>
                                    <p:anim calcmode="lin" valueType="num">
                                      <p:cBhvr>
                                        <p:cTn id="50" dur="400" fill="hold"/>
                                        <p:tgtEl>
                                          <p:spTgt spid="308"/>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11"/>
                                        </p:tgtEl>
                                        <p:attrNameLst>
                                          <p:attrName>style.visibility</p:attrName>
                                        </p:attrNameLst>
                                      </p:cBhvr>
                                      <p:to>
                                        <p:strVal val="visible"/>
                                      </p:to>
                                    </p:set>
                                    <p:animEffect filter="fade" transition="in">
                                      <p:cBhvr>
                                        <p:cTn id="55" dur="400"/>
                                        <p:tgtEl>
                                          <p:spTgt spid="311"/>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12"/>
                                        </p:tgtEl>
                                        <p:attrNameLst>
                                          <p:attrName>style.visibility</p:attrName>
                                        </p:attrNameLst>
                                      </p:cBhvr>
                                      <p:to>
                                        <p:strVal val="visible"/>
                                      </p:to>
                                    </p:set>
                                    <p:anim calcmode="lin" valueType="num">
                                      <p:cBhvr>
                                        <p:cTn id="60" dur="400" fill="hold"/>
                                        <p:tgtEl>
                                          <p:spTgt spid="312"/>
                                        </p:tgtEl>
                                        <p:attrNameLst>
                                          <p:attrName>ppt_w</p:attrName>
                                        </p:attrNameLst>
                                      </p:cBhvr>
                                      <p:tavLst>
                                        <p:tav tm="0">
                                          <p:val>
                                            <p:fltVal val="0"/>
                                          </p:val>
                                        </p:tav>
                                        <p:tav tm="100000">
                                          <p:val>
                                            <p:strVal val="#ppt_w"/>
                                          </p:val>
                                        </p:tav>
                                      </p:tavLst>
                                    </p:anim>
                                    <p:anim calcmode="lin" valueType="num">
                                      <p:cBhvr>
                                        <p:cTn id="61" dur="400" fill="hold"/>
                                        <p:tgtEl>
                                          <p:spTgt spid="312"/>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13"/>
                                        </p:tgtEl>
                                        <p:attrNameLst>
                                          <p:attrName>style.visibility</p:attrName>
                                        </p:attrNameLst>
                                      </p:cBhvr>
                                      <p:to>
                                        <p:strVal val="visible"/>
                                      </p:to>
                                    </p:set>
                                    <p:animEffect filter="fade" transition="in">
                                      <p:cBhvr>
                                        <p:cTn id="66" dur="4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88"/>
                </p:tgtEl>
              </p:cMediaNode>
            </p:video>
            <p:seq concurrent="1" prevAc="none" nextAc="seek">
              <p:cTn id="68" evtFilter="cancelBubble" nodeType="interactiveSeq" restart="whenNotActive" fill="hold">
                <p:stCondLst>
                  <p:cond delay="0" evt="onClick">
                    <p:tgtEl>
                      <p:spTgt spid="288"/>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88"/>
                                        </p:tgtEl>
                                      </p:cBhvr>
                                    </p:cmd>
                                  </p:childTnLst>
                                </p:cTn>
                              </p:par>
                            </p:childTnLst>
                          </p:cTn>
                        </p:par>
                      </p:childTnLst>
                    </p:cTn>
                  </p:par>
                </p:childTnLst>
              </p:cTn>
              <p:nextCondLst>
                <p:cond delay="0" evt="onClick">
                  <p:tgtEl>
                    <p:spTgt spid="288"/>
                  </p:tgtEl>
                </p:cond>
              </p:nextCondLst>
            </p:seq>
          </p:childTnLst>
        </p:cTn>
      </p:par>
    </p:tnLst>
    <p:bldLst>
      <p:bldP build="whole" bldLvl="1" animBg="1" rev="0" advAuto="0" spid="303" grpId="6"/>
      <p:bldP build="whole" bldLvl="1" animBg="1" rev="0" advAuto="0" spid="308" grpId="9"/>
      <p:bldP build="whole" bldLvl="1" animBg="1" rev="0" advAuto="0" spid="296" grpId="3"/>
      <p:bldP build="whole" bldLvl="1" animBg="1" rev="0" advAuto="0" spid="299" grpId="4"/>
      <p:bldP build="whole" bldLvl="1" animBg="1" rev="0" advAuto="0" spid="295" grpId="2"/>
      <p:bldP build="whole" bldLvl="1" animBg="1" rev="0" advAuto="0" spid="307" grpId="8"/>
      <p:bldP build="whole" bldLvl="1" animBg="1" rev="0" advAuto="0" spid="304" grpId="7"/>
      <p:bldP build="whole" bldLvl="1" animBg="1" rev="0" advAuto="0" spid="300" grpId="5"/>
      <p:bldP build="whole" bldLvl="1" animBg="1" rev="0" advAuto="0" spid="311" grpId="10"/>
      <p:bldP build="whole" bldLvl="1" animBg="1" rev="0" advAuto="0" spid="313" grpId="12"/>
      <p:bldP build="whole" bldLvl="1" animBg="1" rev="0" advAuto="0" spid="312" grpId="11"/>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