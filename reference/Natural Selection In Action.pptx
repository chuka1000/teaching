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g"/>
  <Default Extension="png" ContentType="image/png"/>
  <Default Extension="bmp" ContentType="image/bmp"/>
  <Default Extension="gif" ContentType="image/gif"/>
  <Default Extension="tif" ContentType="image/tif"/>
  <Default Extension="pdf" ContentType="application/pdf"/>
  <Default Extension="mov" ContentType="application/movie"/>
  <Default Extension="vml" ContentType="application/vnd.openxmlformats-officedocument.vmlDrawing"/>
  <Default Extension="xlsx" ContentType="application/vnd.openxmlformats-officedocument.spreadsheetml.sheet"/>
  <Override PartName="/docProps/core.xml" ContentType="application/vnd.openxmlformats-package.core-properties+xml"/>
  <Override PartName="/docProps/app.xml" ContentType="application/vnd.openxmlformats-officedocument.extended-properties+xml"/>
  <Override PartName="/ppt/presentation.xml" ContentType="application/vnd.openxmlformats-officedocument.presentationml.presentation.main+xml"/>
  <Override PartName="/ppt/presProps.xml" ContentType="application/vnd.openxmlformats-officedocument.presentationml.presProps+xml"/>
  <Override PartName="/ppt/viewProps.xml" ContentType="application/vnd.openxmlformats-officedocument.presentationml.viewProps+xml"/>
  <Override PartName="/ppt/commentAuthors.xml" ContentType="application/vnd.openxmlformats-officedocument.presentationml.commentAuthors+xml"/>
  <Override PartName="/ppt/tableStyles.xml" ContentType="application/vnd.openxmlformats-officedocument.presentationml.tableStyles+xml"/>
  <Override PartName="/ppt/slideMasters/slideMaster1.xml" ContentType="application/vnd.openxmlformats-officedocument.presentationml.slideMaster+xml"/>
  <Override PartName="/ppt/theme/theme1.xml" ContentType="application/vnd.openxmlformats-officedocument.theme+xml"/>
  <Override PartName="/ppt/notesMasters/notesMaster1.xml" ContentType="application/vnd.openxmlformats-officedocument.presentationml.notes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media/media1.mp4" ContentType="video/unknown"/>
  <Override PartName="/ppt/notesSlides/notesSlide2.xml" ContentType="application/vnd.openxmlformats-officedocument.presentationml.notesSlide+xml"/>
  <Override PartName="/ppt/media/media2.mp4" ContentType="video/unknown"/>
  <Override PartName="/ppt/notesSlides/notesSlide3.xml" ContentType="application/vnd.openxmlformats-officedocument.presentationml.notesSlide+xml"/>
  <Override PartName="/ppt/media/media3.mp4" ContentType="video/unknown"/>
  <Override PartName="/ppt/notesSlides/notesSlide4.xml" ContentType="application/vnd.openxmlformats-officedocument.presentationml.notesSlide+xml"/>
  <Override PartName="/ppt/media/media4.mp4" ContentType="video/unknown"/>
  <Override PartName="/ppt/notesSlides/notesSlide5.xml" ContentType="application/vnd.openxmlformats-officedocument.presentationml.notesSlide+xml"/>
  <Override PartName="/ppt/media/media5.mp4" ContentType="video/unknown"/>
  <Override PartName="/ppt/notesSlides/notesSlide6.xml" ContentType="application/vnd.openxmlformats-officedocument.presentationml.notesSlide+xml"/>
  <Override PartName="/ppt/notesSlides/notesSlide7.xml" ContentType="application/vnd.openxmlformats-officedocument.presentationml.notesSlide+xml"/>
  <Override PartName="/ppt/media/media6.mp4" ContentType="video/unknown"/>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media/media7.mp4" ContentType="video/unknown"/>
</Types>
</file>

<file path=_rels/.rels><?xml version="1.0" encoding="UTF-8"?>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ldMasterIdLst>
    <p:sldMasterId id="2147483648" r:id="rId5"/>
  </p:sldMasterIdLst>
  <p:notesMasterIdLst>
    <p:notesMasterId r:id="rId7"/>
  </p:notesMasterIdLst>
  <p:sldIdLst>
    <p:sldId id="256" r:id="rId8"/>
    <p:sldId id="257" r:id="rId9"/>
    <p:sldId id="258" r:id="rId10"/>
    <p:sldId id="259" r:id="rId11"/>
    <p:sldId id="260" r:id="rId12"/>
    <p:sldId id="261" r:id="rId13"/>
    <p:sldId id="262" r:id="rId14"/>
    <p:sldId id="263" r:id="rId15"/>
    <p:sldId id="264" r:id="rId16"/>
    <p:sldId id="265" r:id="rId17"/>
  </p:sldIdLst>
  <p:sldSz cx="121793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1pPr>
    <a:lvl2pPr marL="0" marR="0" indent="457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2pPr>
    <a:lvl3pPr marL="0" marR="0" indent="914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3pPr>
    <a:lvl4pPr marL="0" marR="0" indent="1371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4pPr>
    <a:lvl5pPr marL="0" marR="0" indent="18288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5pPr>
    <a:lvl6pPr marL="0" marR="0" indent="22860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6pPr>
    <a:lvl7pPr marL="0" marR="0" indent="27432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7pPr>
    <a:lvl8pPr marL="0" marR="0" indent="32004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8pPr>
    <a:lvl9pPr marL="0" marR="0" indent="365760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file>

<file path=ppt/presProps.xml><?xml version="1.0" encoding="utf-8"?>
<p:presentation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showPr loop="0"/>
</p:presentationPr>
</file>

<file path=ppt/tableStyles.xml><?xml version="1.0" encoding="utf-8"?>
<a:tblStyleLst xmlns:a="http://schemas.openxmlformats.org/drawingml/2006/main" xmlns:r="http://schemas.openxmlformats.org/officeDocument/2006/relationships" def="{5940675A-B579-460E-94D1-54222C63F5DA}">
  <a:tblStyle styleId="{4C3C2611-4C71-4FC5-86AE-919BDF0F9419}"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b="def" i="def"/>
      <a:tcStyle>
        <a:tcBdr/>
        <a:fill>
          <a:solidFill>
            <a:srgbClr val="E8EBF5"/>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b="def" i="def"/>
      <a:tcStyle>
        <a:tcBdr/>
        <a:fill>
          <a:solidFill>
            <a:srgbClr val="F0F0F0"/>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b="def" i="def"/>
      <a:tcStyle>
        <a:tcBdr/>
        <a:fill>
          <a:solidFill>
            <a:srgbClr val="EBF1E8"/>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aj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b="def" i="def"/>
      <a:tcStyle>
        <a:tcBdr/>
        <a:fill>
          <a:solidFill>
            <a:srgbClr val="FFFFFF"/>
          </a:solidFill>
        </a:fill>
      </a:tcStyle>
    </a:band2H>
    <a:firstCol>
      <a:tcTxStyle b="on" i="off">
        <a:fontRef idx="maj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aj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aj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aj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b="def" i="def"/>
      <a:tcStyle>
        <a:tcBdr/>
        <a:fill>
          <a:solidFill>
            <a:srgbClr val="E6E6E6"/>
          </a:solidFill>
        </a:fill>
      </a:tcStyle>
    </a:band2H>
    <a:firstCol>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aj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b="def" i="def"/>
      <a:tcStyle>
        <a:tcBdr/>
        <a:fill>
          <a:solidFill>
            <a:srgbClr val="FFFFFF"/>
          </a:solidFill>
        </a:fill>
      </a:tcStyle>
    </a:band2H>
    <a:firstCol>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aj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Comments="1"/>
</file>

<file path=ppt/_rels/presentation.xml.rels><?xml version="1.0" encoding="UTF-8"?>
<Relationships xmlns="http://schemas.openxmlformats.org/package/2006/relationships"><Relationship Id="rId1" Type="http://schemas.openxmlformats.org/officeDocument/2006/relationships/presProps" Target="presProps.xml"/><Relationship Id="rId2" Type="http://schemas.openxmlformats.org/officeDocument/2006/relationships/viewProps" Target="viewProps.xml"/><Relationship Id="rId3" Type="http://schemas.openxmlformats.org/officeDocument/2006/relationships/commentAuthors" Target="commentAuthors.xml"/><Relationship Id="rId4" Type="http://schemas.openxmlformats.org/officeDocument/2006/relationships/tableStyles" Target="tableStyles.xml"/><Relationship Id="rId5" Type="http://schemas.openxmlformats.org/officeDocument/2006/relationships/slideMaster" Target="slideMasters/slideMaster1.xml"/><Relationship Id="rId6" Type="http://schemas.openxmlformats.org/officeDocument/2006/relationships/theme" Target="theme/theme1.xml"/><Relationship Id="rId7" Type="http://schemas.openxmlformats.org/officeDocument/2006/relationships/notesMaster" Target="notesMasters/notesMaster1.xml"/><Relationship Id="rId8" Type="http://schemas.openxmlformats.org/officeDocument/2006/relationships/slide" Target="slides/slide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s>

</file>

<file path=ppt/notesMasters/_rels/notesMaster1.xml.rels><?xml version="1.0" encoding="UTF-8"?>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spTree>
      <p:nvGrpSpPr>
        <p:cNvPr id="1" name=""/>
        <p:cNvGrpSpPr/>
        <p:nvPr/>
      </p:nvGrpSpPr>
      <p:grpSpPr>
        <a:xfrm>
          <a:off x="0" y="0"/>
          <a:ext cx="0" cy="0"/>
          <a:chOff x="0" y="0"/>
          <a:chExt cx="0" cy="0"/>
        </a:xfrm>
      </p:grpSpPr>
      <p:sp>
        <p:nvSpPr>
          <p:cNvPr id="17" name="Shape 17"/>
          <p:cNvSpPr/>
          <p:nvPr>
            <p:ph type="sldImg"/>
          </p:nvPr>
        </p:nvSpPr>
        <p:spPr>
          <a:xfrm>
            <a:off x="1143000" y="685800"/>
            <a:ext cx="4572000" cy="3429000"/>
          </a:xfrm>
          <a:prstGeom prst="rect">
            <a:avLst/>
          </a:prstGeom>
        </p:spPr>
        <p:txBody>
          <a:bodyPr/>
          <a:lstStyle/>
          <a:p>
            <a:pPr/>
          </a:p>
        </p:txBody>
      </p:sp>
      <p:sp>
        <p:nvSpPr>
          <p:cNvPr id="18" name="Shape 18"/>
          <p:cNvSpPr/>
          <p:nvPr>
            <p:ph type="body" sz="quarter" idx="1"/>
          </p:nvPr>
        </p:nvSpPr>
        <p:spPr>
          <a:xfrm>
            <a:off x="914400" y="4343400"/>
            <a:ext cx="5029200" cy="4114800"/>
          </a:xfrm>
          <a:prstGeom prst="rect">
            <a:avLst/>
          </a:prstGeom>
        </p:spPr>
        <p:txBody>
          <a:bodyPr/>
          <a:lstStyle/>
          <a:p>
            <a:pPr/>
          </a:p>
        </p:txBody>
      </p:sp>
    </p:spTree>
  </p:cSld>
  <p:clrMap bg1="lt1" tx1="dk1" bg2="lt2" tx2="dk2" accent1="accent1" accent2="accent2" accent3="accent3" accent4="accent4" accent5="accent5" accent6="accent6" hlink="hlink" folHlink="folHlink"/>
  <p:notesStyle>
    <a:lvl1pPr latinLnBrk="0">
      <a:defRPr sz="1200">
        <a:latin typeface="+mj-lt"/>
        <a:ea typeface="+mj-ea"/>
        <a:cs typeface="+mj-cs"/>
        <a:sym typeface="Calibri"/>
      </a:defRPr>
    </a:lvl1pPr>
    <a:lvl2pPr indent="228600" latinLnBrk="0">
      <a:defRPr sz="1200">
        <a:latin typeface="+mj-lt"/>
        <a:ea typeface="+mj-ea"/>
        <a:cs typeface="+mj-cs"/>
        <a:sym typeface="Calibri"/>
      </a:defRPr>
    </a:lvl2pPr>
    <a:lvl3pPr indent="457200" latinLnBrk="0">
      <a:defRPr sz="1200">
        <a:latin typeface="+mj-lt"/>
        <a:ea typeface="+mj-ea"/>
        <a:cs typeface="+mj-cs"/>
        <a:sym typeface="Calibri"/>
      </a:defRPr>
    </a:lvl3pPr>
    <a:lvl4pPr indent="685800" latinLnBrk="0">
      <a:defRPr sz="1200">
        <a:latin typeface="+mj-lt"/>
        <a:ea typeface="+mj-ea"/>
        <a:cs typeface="+mj-cs"/>
        <a:sym typeface="Calibri"/>
      </a:defRPr>
    </a:lvl4pPr>
    <a:lvl5pPr indent="914400" latinLnBrk="0">
      <a:defRPr sz="1200">
        <a:latin typeface="+mj-lt"/>
        <a:ea typeface="+mj-ea"/>
        <a:cs typeface="+mj-cs"/>
        <a:sym typeface="Calibri"/>
      </a:defRPr>
    </a:lvl5pPr>
    <a:lvl6pPr indent="1143000" latinLnBrk="0">
      <a:defRPr sz="1200">
        <a:latin typeface="+mj-lt"/>
        <a:ea typeface="+mj-ea"/>
        <a:cs typeface="+mj-cs"/>
        <a:sym typeface="Calibri"/>
      </a:defRPr>
    </a:lvl6pPr>
    <a:lvl7pPr indent="1371600" latinLnBrk="0">
      <a:defRPr sz="1200">
        <a:latin typeface="+mj-lt"/>
        <a:ea typeface="+mj-ea"/>
        <a:cs typeface="+mj-cs"/>
        <a:sym typeface="Calibri"/>
      </a:defRPr>
    </a:lvl7pPr>
    <a:lvl8pPr indent="1600200" latinLnBrk="0">
      <a:defRPr sz="1200">
        <a:latin typeface="+mj-lt"/>
        <a:ea typeface="+mj-ea"/>
        <a:cs typeface="+mj-cs"/>
        <a:sym typeface="Calibri"/>
      </a:defRPr>
    </a:lvl8pPr>
    <a:lvl9pPr indent="1828800" latinLnBrk="0">
      <a:defRPr sz="1200">
        <a:latin typeface="+mj-lt"/>
        <a:ea typeface="+mj-ea"/>
        <a:cs typeface="+mj-cs"/>
        <a:sym typeface="Calibri"/>
      </a:defRPr>
    </a:lvl9pPr>
  </p:notesStyle>
</p:notesMaster>
</file>

<file path=ppt/notesSlides/_rels/notesSlide1.xml.rels><?xml version="1.0" encoding="UTF-8"?>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69" name="Shape 69"/>
          <p:cNvSpPr/>
          <p:nvPr>
            <p:ph type="sldImg"/>
          </p:nvPr>
        </p:nvSpPr>
        <p:spPr>
          <a:prstGeom prst="rect">
            <a:avLst/>
          </a:prstGeom>
        </p:spPr>
        <p:txBody>
          <a:bodyPr/>
          <a:lstStyle/>
          <a:p>
            <a:pPr/>
          </a:p>
        </p:txBody>
      </p:sp>
      <p:sp>
        <p:nvSpPr>
          <p:cNvPr id="70" name="Shape 70"/>
          <p:cNvSpPr/>
          <p:nvPr>
            <p:ph type="body" sz="quarter" idx="1"/>
          </p:nvPr>
        </p:nvSpPr>
        <p:spPr>
          <a:prstGeom prst="rect">
            <a:avLst/>
          </a:prstGeom>
        </p:spPr>
        <p:txBody>
          <a:bodyPr/>
          <a:lstStyle/>
          <a:p>
            <a:pPr/>
            <a:r>
              <a:t>DO NOW. 8 minutes, not 10, to make room for the beak game. Six clicks.</a:t>
            </a:r>
          </a:p>
          <a:p>
            <a:pPr/>
          </a:p>
          <a:p>
            <a:pPr/>
            <a:r>
              <a:t>Q1-5 ARE RETRIEVAL from Natural Selection and How Darwin Got There. Q1 is the frame for the whole lesson: every example today is checked against those four steps. Q3 and Q4 are the two ideas most likely to have slipped. If Q3 gets "yes", stop and fix it now, because objective 3 depends on it.</a:t>
            </a:r>
          </a:p>
          <a:p>
            <a:pPr/>
          </a:p>
          <a:p>
            <a:pPr/>
            <a:r>
              <a:t>Q5 CLOSES LAST LESSON. Darwin barely noticed the finches and John Gould identified them in London in 1837. That is why today's finch example is not Darwin's. It is the work of two later scientists, Peter and Rosemary Grant.</a:t>
            </a:r>
          </a:p>
          <a:p>
            <a:pPr/>
          </a:p>
          <a:p>
            <a:pPr/>
            <a:r>
              <a:t>Q6 IS A PLANTED FACT for the second half. Accept "antibiotics", "penicillin", "medicine from the doctor". Do not explain resistance yet.</a:t>
            </a:r>
          </a:p>
          <a:p>
            <a:pPr/>
          </a:p>
          <a:p>
            <a:pPr/>
            <a:r>
              <a:t>THE BRIEF LEFT "THEY FOUND HARD" BLANK, so I have guessed, from how this unit has gone: (1) wording where an animal changes on purpose, (2) population, not individual, and (3) "my body got used to the antibiotic". All three are built into the lesson. Tell me if the class found something else hard and I will rework it.</a:t>
            </a:r>
          </a:p>
          <a:p>
            <a:pPr/>
          </a:p>
          <a:p>
            <a:pPr/>
            <a:r>
              <a:t>CHANGE THE DATE before you teach.</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95" name="Shape 95"/>
          <p:cNvSpPr/>
          <p:nvPr>
            <p:ph type="sldImg"/>
          </p:nvPr>
        </p:nvSpPr>
        <p:spPr>
          <a:prstGeom prst="rect">
            <a:avLst/>
          </a:prstGeom>
        </p:spPr>
        <p:txBody>
          <a:bodyPr/>
          <a:lstStyle/>
          <a:p>
            <a:pPr/>
          </a:p>
        </p:txBody>
      </p:sp>
      <p:sp>
        <p:nvSpPr>
          <p:cNvPr id="96" name="Shape 96"/>
          <p:cNvSpPr/>
          <p:nvPr>
            <p:ph type="body" sz="quarter" idx="1"/>
          </p:nvPr>
        </p:nvSpPr>
        <p:spPr>
          <a:prstGeom prst="rect">
            <a:avLst/>
          </a:prstGeom>
        </p:spPr>
        <p:txBody>
          <a:bodyPr/>
          <a:lstStyle/>
          <a:p>
            <a:pPr/>
            <a:r>
              <a:t>TODAY. 1 minute. Four clicks.</a:t>
            </a:r>
          </a:p>
          <a:p>
            <a:pPr/>
          </a:p>
          <a:p>
            <a:pPr/>
            <a:r>
              <a:t>THE FIRST TWO LESSONS WERE WHAT IT IS AND HOW DARWIN GOT THERE. TODAY IS EVIDENCE: natural selection in action, in a real place and a real hospital. Say that.</a:t>
            </a:r>
          </a:p>
          <a:p>
            <a:pPr/>
          </a:p>
          <a:p>
            <a:pPr/>
            <a:r>
              <a:t>OBJECTIVE 3 IS A WRITING SKILL, NOT A FACT. It is the one to spend your attention on. Every explanation students write today has to pass one test: does anything in it want, need, try, learn or decide? If so, rewrite.</a:t>
            </a:r>
          </a:p>
          <a:p>
            <a:pPr/>
          </a:p>
          <a:p>
            <a:pPr/>
            <a:r>
              <a:t>THE BANNER IS THE RULE FOR THE LESSON. Say it aloud, and quote it back the first time a student says "so that".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16" name="Shape 116"/>
          <p:cNvSpPr/>
          <p:nvPr>
            <p:ph type="sldImg"/>
          </p:nvPr>
        </p:nvSpPr>
        <p:spPr>
          <a:prstGeom prst="rect">
            <a:avLst/>
          </a:prstGeom>
        </p:spPr>
        <p:txBody>
          <a:bodyPr/>
          <a:lstStyle/>
          <a:p>
            <a:pPr/>
          </a:p>
        </p:txBody>
      </p:sp>
      <p:sp>
        <p:nvSpPr>
          <p:cNvPr id="117" name="Shape 117"/>
          <p:cNvSpPr/>
          <p:nvPr>
            <p:ph type="body" sz="quarter" idx="1"/>
          </p:nvPr>
        </p:nvSpPr>
        <p:spPr>
          <a:prstGeom prst="rect">
            <a:avLst/>
          </a:prstGeom>
        </p:spPr>
        <p:txBody>
          <a:bodyPr/>
          <a:lstStyle/>
          <a:p>
            <a:pPr/>
            <a:r>
              <a:t>HOOK. 2 minutes. Three cards on one click.</a:t>
            </a:r>
          </a:p>
          <a:p>
            <a:pPr/>
          </a:p>
          <a:p>
            <a:pPr/>
            <a:r>
              <a:t>Hands up for each. Tally on the board. Expect a strong vote for A: it is the most natural way to say it, and it is exactly the wording objective 3 is about. Some will pick C, which sounds scientific.</a:t>
            </a:r>
          </a:p>
          <a:p>
            <a:pPr/>
          </a:p>
          <a:p>
            <a:pPr/>
            <a:r>
              <a:t>DO NOT REVEAL THE ANSWER HERE. Say "the scientists who counted every bird will show us" and move on.</a:t>
            </a:r>
          </a:p>
          <a:p>
            <a:pPr/>
          </a:p>
          <a:p>
            <a:pPr/>
            <a:r>
              <a:t>ANSWER, FOR YOU: B. A has the finches doing something on purpose (needing, then growing). C has the environment changing individual birds directly. Neither is what happened. Nobody has to be told this on the slide: the next slide shows the counting, and We Do comes back to A.</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153" name="Shape 153"/>
          <p:cNvSpPr/>
          <p:nvPr>
            <p:ph type="sldImg"/>
          </p:nvPr>
        </p:nvSpPr>
        <p:spPr>
          <a:prstGeom prst="rect">
            <a:avLst/>
          </a:prstGeom>
        </p:spPr>
        <p:txBody>
          <a:bodyPr/>
          <a:lstStyle/>
          <a:p>
            <a:pPr/>
          </a:p>
        </p:txBody>
      </p:sp>
      <p:sp>
        <p:nvSpPr>
          <p:cNvPr id="154" name="Shape 154"/>
          <p:cNvSpPr/>
          <p:nvPr>
            <p:ph type="body" sz="quarter" idx="1"/>
          </p:nvPr>
        </p:nvSpPr>
        <p:spPr>
          <a:prstGeom prst="rect">
            <a:avLst/>
          </a:prstGeom>
        </p:spPr>
        <p:txBody>
          <a:bodyPr/>
          <a:lstStyle/>
          <a:p>
            <a:pPr/>
            <a:r>
              <a:t>I DO. 3 minutes. Four clicks, one step at a time, then the banner.</a:t>
            </a:r>
          </a:p>
          <a:p>
            <a:pPr/>
          </a:p>
          <a:p>
            <a:pPr/>
            <a:r>
              <a:t>THIS IS THE REAL VERSION OF THE FINCH STORY. Last lesson the class learned Darwin barely noticed the finches. From 1973 Peter and Rosemary Grant (Princeton) tagged and measured the finches on Daphne Major, a small Galapagos island, year after year. When a drought hit in 1977 they were already there with the numbers. The data is Boag and Grant, Science, 1981.</a:t>
            </a:r>
          </a:p>
          <a:p>
            <a:pPr/>
          </a:p>
          <a:p>
            <a:pPr/>
            <a:r>
              <a:t>READ THE FOUR STEPS AS A CHECKLIST against the Do Now Q1 answer. Each card is one step with its evidence. Ask "which step is this?" before you click each card.</a:t>
            </a:r>
          </a:p>
          <a:p>
            <a:pPr/>
          </a:p>
          <a:p>
            <a:pPr/>
            <a:r>
              <a:t>WHAT "DEEPER" MEANS: the depth of a beak is how tall it is, top to bottom. A deeper beak can crack a bigger, harder seed. Hold a hand up and show it.</a:t>
            </a:r>
          </a:p>
          <a:p>
            <a:pPr/>
          </a:p>
          <a:p>
            <a:pPr/>
            <a:r>
              <a:t>THE NUMBERS ARE SMALL AND TRUE. 9.42 mm to 9.96 mm is about half a millimetre, and it was enough. Do not round them up for effect. The average moved because of who survived, not because any bird grew.</a:t>
            </a:r>
          </a:p>
          <a:p>
            <a:pPr/>
          </a:p>
          <a:p>
            <a:pPr/>
            <a:r>
              <a:t>THE BANNER IS OBJECTIVE 3 IN ONE LINE. It is also the answer to the Hook: B.</a:t>
            </a:r>
          </a:p>
          <a:p>
            <a:pPr/>
          </a:p>
          <a:p>
            <a:pPr/>
            <a:r>
              <a:t>IF ASKED "DID THE BEAKS KEEP GETTING BIGGER?": no. When wetter years came and small seeds returned, selection swung the other way in later years. That is a good point to leave for next time: selection follows the environment, it does not head anywhere.</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03" name="Shape 203"/>
          <p:cNvSpPr/>
          <p:nvPr>
            <p:ph type="sldImg"/>
          </p:nvPr>
        </p:nvSpPr>
        <p:spPr>
          <a:prstGeom prst="rect">
            <a:avLst/>
          </a:prstGeom>
        </p:spPr>
        <p:txBody>
          <a:bodyPr/>
          <a:lstStyle/>
          <a:p>
            <a:pPr/>
          </a:p>
        </p:txBody>
      </p:sp>
      <p:sp>
        <p:nvSpPr>
          <p:cNvPr id="204" name="Shape 204"/>
          <p:cNvSpPr/>
          <p:nvPr>
            <p:ph type="body" sz="quarter" idx="1"/>
          </p:nvPr>
        </p:nvSpPr>
        <p:spPr>
          <a:prstGeom prst="rect">
            <a:avLst/>
          </a:prstGeom>
        </p:spPr>
        <p:txBody>
          <a:bodyPr/>
          <a:lstStyle/>
          <a:p>
            <a:pPr/>
            <a:r>
              <a:t>PRACTICAL. 11 minutes. Four clicks: the three beaks and the food, the steps, the model line, then the discussion line.</a:t>
            </a:r>
          </a:p>
          <a:p>
            <a:pPr/>
          </a:p>
          <a:p>
            <a:pPr/>
            <a:r>
              <a:t>BEFORE THE LESSON (5 minutes). Per group of six: one tray of dried beans (about 150, spread out), six small pots, and a bag holding two tweezers, two spoons and two forks. Use the same kind of bean in every tray. Small beans work best: kidney beans are too big for forks and tweezers to be a fair fight, mung or black-eyed beans are better. A student with a stopwatch, or the timer on your phone, runs the 30 seconds.</a:t>
            </a:r>
          </a:p>
          <a:p>
            <a:pPr/>
          </a:p>
          <a:p>
            <a:pPr/>
            <a:r>
              <a:t>THE RESULTS TABLE IS ON THE WORKSHEET, top of the Bronze section. It lists six players, their beak and their beans for rounds 1 to 3. Students write it in as they go, so the numbers are down before the discussion.</a:t>
            </a:r>
          </a:p>
          <a:p>
            <a:pPr/>
          </a:p>
          <a:p>
            <a:pPr/>
            <a:r>
              <a:t>TIMING. 2 minutes: click through the slide, hand out the equipment, and stress step 1: beaks are drawn from the bag, not picked. If they choose, it looks like the players are choosing, and that is exactly the wording we are trying to remove. 5 minutes: three rounds, roughly 30 seconds to play and 60 to count and record. 3 minutes: click the model line, then the discussion line. 1 minute: clear up.</a:t>
            </a:r>
          </a:p>
          <a:p>
            <a:pPr/>
          </a:p>
          <a:p>
            <a:pPr/>
            <a:r>
              <a:t>THE RULE: after each round the player with the fewest beans is out. They keep the stopwatch or the tally for the rest of the game. Keep going for three rounds, so three players are out and three remain.</a:t>
            </a:r>
          </a:p>
          <a:p>
            <a:pPr/>
          </a:p>
          <a:p>
            <a:pPr/>
            <a:r>
              <a:t>WHAT USUALLY HAPPENS. Spoons collect the most and forks the least, because beans slip through the tines. Tweezers are slow but steady. It is the pattern, not a guarantee: if your class result is different, that is a real result and it is worth discussing. Some variation is also the player, not the beak. Say so. It is a limitation of the model, and Silver and Gold work on limitations.</a:t>
            </a:r>
          </a:p>
          <a:p>
            <a:pPr/>
          </a:p>
          <a:p>
            <a:pPr/>
            <a:r>
              <a:t>THE DISCUSSION. Which beaks are left? Now ask: would the same beak win if the food were rice, or small seeds, or nectar? No. The best beak depends on the food, which is the real lesson: "best" is not fixed, it depends on the environment. If you have time, swap the beans for rice and run one more round.</a:t>
            </a:r>
          </a:p>
          <a:p>
            <a:pPr/>
          </a:p>
          <a:p>
            <a:pPr/>
            <a:r>
              <a:t>THE MODEL LEAVES ONE STEP OUT. Ask which of the four steps the game does not show. Answer: inheritance. The players who survive do not have chicks. That is Gold Q8.</a:t>
            </a:r>
          </a:p>
          <a:p>
            <a:pPr/>
          </a:p>
          <a:p>
            <a:pPr/>
            <a:r>
              <a:t>CLEAR UP: beans back in the tray, not the floor. Count the utensils.</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60" name="Shape 260"/>
          <p:cNvSpPr/>
          <p:nvPr>
            <p:ph type="sldImg"/>
          </p:nvPr>
        </p:nvSpPr>
        <p:spPr>
          <a:prstGeom prst="rect">
            <a:avLst/>
          </a:prstGeom>
        </p:spPr>
        <p:txBody>
          <a:bodyPr/>
          <a:lstStyle/>
          <a:p>
            <a:pPr/>
          </a:p>
        </p:txBody>
      </p:sp>
      <p:sp>
        <p:nvSpPr>
          <p:cNvPr id="261" name="Shape 261"/>
          <p:cNvSpPr/>
          <p:nvPr>
            <p:ph type="body" sz="quarter" idx="1"/>
          </p:nvPr>
        </p:nvSpPr>
        <p:spPr>
          <a:prstGeom prst="rect">
            <a:avLst/>
          </a:prstGeom>
        </p:spPr>
        <p:txBody>
          <a:bodyPr/>
          <a:lstStyle/>
          <a:p>
            <a:pPr/>
            <a:r>
              <a:t>I DO. 3 minutes. Four clicks, one stage at a time, then both facts together, then the banner.</a:t>
            </a:r>
          </a:p>
          <a:p>
            <a:pPr/>
          </a:p>
          <a:p>
            <a:pPr/>
            <a:r>
              <a:t>THIS IS THE SAME FOUR STEPS, IN A PLACE STUDENTS CAN SEE. Stage 2 is not "competition" for food. The antibiotic is what decides who survives, which is the job competition did on Daphne Major. If a student notices, say so: that is a good spot.</a:t>
            </a:r>
          </a:p>
          <a:p>
            <a:pPr/>
          </a:p>
          <a:p>
            <a:pPr/>
            <a:r>
              <a:t>STAGE 1 IS THE STEP MOST WORTH SLOWING FOR. The resistant bacterium is there BEFORE the antibiotic. The antibiotic does not create it and the bacteria do not respond to it. The red one is red from the start. Some genetic studies suggest the MRSA resistance gene was already around before methicillin was used at all. Hold that for a keen student.</a:t>
            </a:r>
          </a:p>
          <a:p>
            <a:pPr/>
          </a:p>
          <a:p>
            <a:pPr/>
            <a:r>
              <a:t>WHY IT IS "NOW". Some bacteria divide about every 20 minutes in good conditions, so a lifetime of generations fits inside a few days. The finches took decades of counting. Bacteria do it while a patient is ill.</a:t>
            </a:r>
          </a:p>
          <a:p>
            <a:pPr/>
          </a:p>
          <a:p>
            <a:pPr/>
            <a:r>
              <a:t>THE TWO FACTS. 1959 to 1961: two years from a new antibiotic to resistance, MRSA (methicillin-resistant Staphylococcus aureus). 2023: the World Health Organization's GLASS report (2025) says about 1 in 6 lab-confirmed bacterial infections was resistant. Both facts checked; the report also says resistance rose in over 40% of the antibiotics monitored between 2018 and 2023.</a:t>
            </a:r>
          </a:p>
          <a:p>
            <a:pPr/>
          </a:p>
          <a:p>
            <a:pPr/>
            <a:r>
              <a:t>THE COMMON MISCONCEPTION IS "MY BODY GOT USED TO IT". A person does not become resistant. The bacteria are resistant. Say it out loud; it comes back in We Do.</a:t>
            </a:r>
          </a:p>
          <a:p>
            <a:pPr/>
          </a:p>
          <a:p>
            <a:pPr/>
            <a:r>
              <a:t>ON MEDICAL ADVICE: do not tell students to "always finish the course". Current advice is that the prescriber decides how long. Say "follow the advice you are given". That is enough for this lesson.</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289" name="Shape 289"/>
          <p:cNvSpPr/>
          <p:nvPr>
            <p:ph type="sldImg"/>
          </p:nvPr>
        </p:nvSpPr>
        <p:spPr>
          <a:prstGeom prst="rect">
            <a:avLst/>
          </a:prstGeom>
        </p:spPr>
        <p:txBody>
          <a:bodyPr/>
          <a:lstStyle/>
          <a:p>
            <a:pPr/>
          </a:p>
        </p:txBody>
      </p:sp>
      <p:sp>
        <p:nvSpPr>
          <p:cNvPr id="290" name="Shape 290"/>
          <p:cNvSpPr/>
          <p:nvPr>
            <p:ph type="body" sz="quarter" idx="1"/>
          </p:nvPr>
        </p:nvSpPr>
        <p:spPr>
          <a:prstGeom prst="rect">
            <a:avLst/>
          </a:prstGeom>
        </p:spPr>
        <p:txBody>
          <a:bodyPr/>
          <a:lstStyle/>
          <a:p>
            <a:pPr/>
            <a:r>
              <a:t>WE DO. 5 minutes. Four clicks. Take answers from the room first, then click.</a:t>
            </a:r>
          </a:p>
          <a:p>
            <a:pPr/>
          </a:p>
          <a:p>
            <a:pPr/>
            <a:r>
              <a:t>THIS IS OBJECTIVE 3, PRACTISED FOUR TIMES. Every wrong statement has the same shape: something wants, needs, stretches or changes, so that something else happens. The correction has the same shape too: some already had it, they survived, they passed it on. Say the pattern out loud after row 2, and let the class finish it for rows 3 and 4.</a:t>
            </a:r>
          </a:p>
          <a:p>
            <a:pPr/>
          </a:p>
          <a:p>
            <a:pPr/>
            <a:r>
              <a:t>ROW 1 IS THE HOOK, ANSWER A. If anyone still defends it, ask "how would the finch know what beak to grow?"</a:t>
            </a:r>
          </a:p>
          <a:p>
            <a:pPr/>
          </a:p>
          <a:p>
            <a:pPr/>
            <a:r>
              <a:t>ROW 2 IS THE ONE THE CLASS IS MOST LIKELY TO BELIEVE, and it is the one people believe as adults. A person taking antibiotics does not become resistant. Their bacteria might be.</a:t>
            </a:r>
          </a:p>
          <a:p>
            <a:pPr/>
          </a:p>
          <a:p>
            <a:pPr/>
            <a:r>
              <a:t>ROW 3 IS THE BEAK GAME. It is a good place to ask "what did the players do to get a better beak?" Nothing: they were handed one.</a:t>
            </a:r>
          </a:p>
          <a:p>
            <a:pPr/>
          </a:p>
          <a:p>
            <a:pPr/>
            <a:r>
              <a:t>ROW 4 IS THE GIRAFFE, BROUGHT BACK from Natural Selection, to show the rule is the same for any animal. If it lands quickly, good.</a:t>
            </a:r>
          </a:p>
          <a:p>
            <a:pPr/>
          </a:p>
          <a:p>
            <a:pPr/>
            <a:r>
              <a:t>THE WORKSHEET REWRITE TASK IS THE SAME SKILL. If they can do it aloud here, Gold Q10 is fine.</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15" name="Shape 315"/>
          <p:cNvSpPr/>
          <p:nvPr>
            <p:ph type="sldImg"/>
          </p:nvPr>
        </p:nvSpPr>
        <p:spPr>
          <a:prstGeom prst="rect">
            <a:avLst/>
          </a:prstGeom>
        </p:spPr>
        <p:txBody>
          <a:bodyPr/>
          <a:lstStyle/>
          <a:p>
            <a:pPr/>
          </a:p>
        </p:txBody>
      </p:sp>
      <p:sp>
        <p:nvSpPr>
          <p:cNvPr id="316" name="Shape 316"/>
          <p:cNvSpPr/>
          <p:nvPr>
            <p:ph type="body" sz="quarter" idx="1"/>
          </p:nvPr>
        </p:nvSpPr>
        <p:spPr>
          <a:prstGeom prst="rect">
            <a:avLst/>
          </a:prstGeom>
        </p:spPr>
        <p:txBody>
          <a:bodyPr/>
          <a:lstStyle/>
          <a:p>
            <a:pPr/>
            <a:r>
              <a:t>YOU DO. 11 minutes, not 14, because the beak game took the time. Four clicks.</a:t>
            </a:r>
          </a:p>
          <a:p>
            <a:pPr/>
          </a:p>
          <a:p>
            <a:pPr/>
            <a:r>
              <a:t>THE RESULTS TABLE IS AT THE TOP OF THE BRONZE SECTION. They should already have filled it in during the game. If a group is missing numbers, let them copy from a neighbour, and note it is one class result, not their own.</a:t>
            </a:r>
          </a:p>
          <a:p>
            <a:pPr/>
          </a:p>
          <a:p>
            <a:pPr/>
            <a:r>
              <a:t>CIRCULATE WITH ONE QUESTION: "does anything in that sentence want, need, try or learn?" It works for every tier.</a:t>
            </a:r>
          </a:p>
          <a:p>
            <a:pPr/>
          </a:p>
          <a:p>
            <a:pPr/>
            <a:r>
              <a:t>WHERE THEY WILL STALL: Gold Q10. They can spot the wrong wording but rewrite it with a new "so" ("so they could survive"). The fix is the shape from We Do: some already had it, they survived, they passed it on.</a:t>
            </a:r>
          </a:p>
          <a:p>
            <a:pPr/>
          </a:p>
          <a:p>
            <a:pPr/>
            <a:r>
              <a:t>SILVER Q6 IS AN EASY MARK LOST. Students write "the chicks got deeper beaks" without saying why. It needs inheritance: the survivors had deeper beaks, so their chicks did.</a:t>
            </a:r>
          </a:p>
          <a:p>
            <a:pPr/>
          </a:p>
          <a:p>
            <a:pPr/>
            <a:r>
              <a:t>AT 3 MINUTES REMAINING, stop them. Answers are on the next slide.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63" name="Shape 363"/>
          <p:cNvSpPr/>
          <p:nvPr>
            <p:ph type="sldImg"/>
          </p:nvPr>
        </p:nvSpPr>
        <p:spPr>
          <a:prstGeom prst="rect">
            <a:avLst/>
          </a:prstGeom>
        </p:spPr>
        <p:txBody>
          <a:bodyPr/>
          <a:lstStyle/>
          <a:p>
            <a:pPr/>
          </a:p>
        </p:txBody>
      </p:sp>
      <p:sp>
        <p:nvSpPr>
          <p:cNvPr id="364" name="Shape 364"/>
          <p:cNvSpPr/>
          <p:nvPr>
            <p:ph type="body" sz="quarter" idx="1"/>
          </p:nvPr>
        </p:nvSpPr>
        <p:spPr>
          <a:prstGeom prst="rect">
            <a:avLst/>
          </a:prstGeom>
        </p:spPr>
        <p:txBody>
          <a:bodyPr/>
          <a:lstStyle/>
          <a:p>
            <a:pPr/>
            <a:r>
              <a:t>ANSWERS. 3 minutes. Five clicks, two at a time. They mark their own in a different colour.</a:t>
            </a:r>
          </a:p>
          <a:p>
            <a:pPr/>
          </a:p>
          <a:p>
            <a:pPr/>
            <a:r>
              <a:t>Q4 COMES FROM THE CLASS'S OWN TABLE. Ask two or three groups. Usually the spoon collects most, but accept whatever the table says. If a group's answer disagrees with the table in front of them, that is the mark to fix.</a:t>
            </a:r>
          </a:p>
          <a:p>
            <a:pPr/>
          </a:p>
          <a:p>
            <a:pPr/>
            <a:r>
              <a:t>Q8 HAS SEVERAL RIGHT ANSWERS. Take two or three from the room. The best one is "no chicks": the game leaves out inheritance.</a:t>
            </a:r>
          </a:p>
          <a:p>
            <a:pPr/>
          </a:p>
          <a:p>
            <a:pPr/>
            <a:r>
              <a:t>Q9 AND Q10 ARE THE REAL TEST OF OBJECTIVES 2 AND 3. For Q10, read a student's rewrite aloud and ask the room whether anything in it wanted, needed, tried or learned. If yes, fix it together.</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spTree>
      <p:nvGrpSpPr>
        <p:cNvPr id="1" name=""/>
        <p:cNvGrpSpPr/>
        <p:nvPr/>
      </p:nvGrpSpPr>
      <p:grpSpPr>
        <a:xfrm>
          <a:off x="0" y="0"/>
          <a:ext cx="0" cy="0"/>
          <a:chOff x="0" y="0"/>
          <a:chExt cx="0" cy="0"/>
        </a:xfrm>
      </p:grpSpPr>
      <p:sp>
        <p:nvSpPr>
          <p:cNvPr id="392" name="Shape 392"/>
          <p:cNvSpPr/>
          <p:nvPr>
            <p:ph type="sldImg"/>
          </p:nvPr>
        </p:nvSpPr>
        <p:spPr>
          <a:prstGeom prst="rect">
            <a:avLst/>
          </a:prstGeom>
        </p:spPr>
        <p:txBody>
          <a:bodyPr/>
          <a:lstStyle/>
          <a:p>
            <a:pPr/>
          </a:p>
        </p:txBody>
      </p:sp>
      <p:sp>
        <p:nvSpPr>
          <p:cNvPr id="393" name="Shape 393"/>
          <p:cNvSpPr/>
          <p:nvPr>
            <p:ph type="body" sz="quarter" idx="1"/>
          </p:nvPr>
        </p:nvSpPr>
        <p:spPr>
          <a:prstGeom prst="rect">
            <a:avLst/>
          </a:prstGeom>
        </p:spPr>
        <p:txBody>
          <a:bodyPr/>
          <a:lstStyle/>
          <a:p>
            <a:pPr/>
            <a:r>
              <a:t>PLENARY. 3 minutes. Eleven clicks: each statement, then its answer, then the closing line.</a:t>
            </a:r>
          </a:p>
          <a:p>
            <a:pPr/>
          </a:p>
          <a:p>
            <a:pPr/>
            <a:r>
              <a:t>BOTH FALSES ARE MISCONCEPTIONS FROM TODAY. Q1 is Hook answer C: the environment changing individual birds. Q3 is the antibiotic version. People do believe the medicine causes the resistance. For Q3, the accurate line for this age group is: the resistant bacteria were already there, and the antibiotic removed the rest.</a:t>
            </a:r>
          </a:p>
          <a:p>
            <a:pPr/>
          </a:p>
          <a:p>
            <a:pPr/>
            <a:r>
              <a:t>Q2 AND Q4 ARE THE TWO KEY STEPS, survival and inheritance, one in each example. Q5 is objective 2 in one sentence.</a:t>
            </a:r>
          </a:p>
          <a:p>
            <a:pPr/>
          </a:p>
          <a:p>
            <a:pPr/>
            <a:r>
              <a:t>THE CLOSING LINE ENDS THE LESSON on the two things students are asked to remember: it is happening now, and nothing in it is a choice.</a:t>
            </a:r>
          </a:p>
          <a:p>
            <a:pPr/>
          </a:p>
          <a:p>
            <a:pPr/>
            <a:r>
              <a:t>THIS LESSON MAKES NO PROMISE FOR THE NEXT ONE. If you want to lead on, a natural next question is what else in the room, the hospital or the farm is the same story. Your call.</a:t>
            </a:r>
          </a:p>
        </p:txBody>
      </p:sp>
    </p:spTree>
  </p:cSld>
  <p:clrMapOvr>
    <a:masterClrMapping/>
  </p:clrMapOvr>
</p:notes>
</file>

<file path=ppt/slideLayouts/_rels/slideLayout1.xml.rels><?xml version="1.0" encoding="UTF-8"?>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type="tx" showMasterSp="1" showMasterPhAnim="1">
  <p:cSld name="DEFAULT">
    <p:spTree>
      <p:nvGrpSpPr>
        <p:cNvPr id="1" name=""/>
        <p:cNvGrpSpPr/>
        <p:nvPr/>
      </p:nvGrpSpPr>
      <p:grpSpPr>
        <a:xfrm>
          <a:off x="0" y="0"/>
          <a:ext cx="0" cy="0"/>
          <a:chOff x="0" y="0"/>
          <a:chExt cx="0" cy="0"/>
        </a:xfrm>
      </p:grpSpPr>
      <p:sp>
        <p:nvSpPr>
          <p:cNvPr id="11" name="Slide Number"/>
          <p:cNvSpPr txBox="1"/>
          <p:nvPr>
            <p:ph type="sldNum" sz="quarter" idx="2"/>
          </p:nvPr>
        </p:nvSpPr>
        <p:spPr>
          <a:prstGeom prst="rect">
            <a:avLst/>
          </a:prstGeom>
        </p:spPr>
        <p:txBody>
          <a:bodyPr/>
          <a:lstStyle/>
          <a:p>
            <a:pPr/>
            <a:fld id="{86CB4B4D-7CA3-9044-876B-883B54F8677D}" type="slidenum"/>
          </a:p>
        </p:txBody>
      </p:sp>
    </p:spTree>
  </p:cSld>
  <p:clrMapOvr>
    <a:masterClrMapping/>
  </p:clrMapOvr>
  <p:transition xmlns:p14="http://schemas.microsoft.com/office/powerpoint/2010/main" spd="med" advClick="1"/>
</p:sldLayout>
</file>

<file path=ppt/slideMasters/_rels/slideMaster1.xml.rels><?xml version="1.0" encoding="UTF-8"?>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p:cSld>
    <p:bg>
      <p:bgPr>
        <a:solidFill>
          <a:srgbClr val="FFFFFF"/>
        </a:solidFill>
      </p:bgPr>
    </p:bg>
    <p:spTree>
      <p:nvGrpSpPr>
        <p:cNvPr id="1" name=""/>
        <p:cNvGrpSpPr/>
        <p:nvPr/>
      </p:nvGrpSpPr>
      <p:grpSpPr>
        <a:xfrm>
          <a:off x="0" y="0"/>
          <a:ext cx="0" cy="0"/>
          <a:chOff x="0" y="0"/>
          <a:chExt cx="0" cy="0"/>
        </a:xfrm>
      </p:grpSpPr>
      <p:sp>
        <p:nvSpPr>
          <p:cNvPr id="2" name="Title Text"/>
          <p:cNvSpPr txBox="1"/>
          <p:nvPr>
            <p:ph type="title"/>
          </p:nvPr>
        </p:nvSpPr>
        <p:spPr>
          <a:xfrm>
            <a:off x="608965" y="92074"/>
            <a:ext cx="10961370" cy="1508127"/>
          </a:xfrm>
          <a:prstGeom prst="rect">
            <a:avLst/>
          </a:prstGeom>
          <a:ln w="12700">
            <a:miter lim="400000"/>
          </a:ln>
          <a:extLst>
            <a:ext uri="{C572A759-6A51-4108-AA02-DFA0A04FC94B}">
              <ma14:wrappingTextBoxFlag xmlns:ma14="http://schemas.microsoft.com/office/mac/drawingml/2011/main" val="1"/>
            </a:ext>
          </a:extLst>
        </p:spPr>
        <p:txBody>
          <a:bodyPr lIns="45719" rIns="45719" anchor="ctr"/>
          <a:lstStyle/>
          <a:p>
            <a:pPr/>
            <a:r>
              <a:t>Title Text</a:t>
            </a:r>
          </a:p>
        </p:txBody>
      </p:sp>
      <p:sp>
        <p:nvSpPr>
          <p:cNvPr id="3" name="Body Level One…"/>
          <p:cNvSpPr txBox="1"/>
          <p:nvPr>
            <p:ph type="body" idx="1"/>
          </p:nvPr>
        </p:nvSpPr>
        <p:spPr>
          <a:xfrm>
            <a:off x="608965" y="1600200"/>
            <a:ext cx="10961370" cy="5257800"/>
          </a:xfrm>
          <a:prstGeom prst="rect">
            <a:avLst/>
          </a:prstGeom>
          <a:ln w="12700">
            <a:miter lim="400000"/>
          </a:ln>
          <a:extLst>
            <a:ext uri="{C572A759-6A51-4108-AA02-DFA0A04FC94B}">
              <ma14:wrappingTextBoxFlag xmlns:ma14="http://schemas.microsoft.com/office/mac/drawingml/2011/main" val="1"/>
            </a:ext>
          </a:extLst>
        </p:spPr>
        <p:txBody>
          <a:bodyPr lIns="45719" rIns="45719"/>
          <a:lstStyle/>
          <a:p>
            <a:pPr/>
            <a:r>
              <a:t>Body Level One</a:t>
            </a:r>
          </a:p>
          <a:p>
            <a:pPr lvl="1"/>
            <a:r>
              <a:t>Body Level Two</a:t>
            </a:r>
          </a:p>
          <a:p>
            <a:pPr lvl="2"/>
            <a:r>
              <a:t>Body Level Three</a:t>
            </a:r>
          </a:p>
          <a:p>
            <a:pPr lvl="3"/>
            <a:r>
              <a:t>Body Level Four</a:t>
            </a:r>
          </a:p>
          <a:p>
            <a:pPr lvl="4"/>
            <a:r>
              <a:t>Body Level Five</a:t>
            </a:r>
          </a:p>
        </p:txBody>
      </p:sp>
      <p:sp>
        <p:nvSpPr>
          <p:cNvPr id="4" name="Slide Number"/>
          <p:cNvSpPr txBox="1"/>
          <p:nvPr>
            <p:ph type="sldNum" sz="quarter" idx="2"/>
          </p:nvPr>
        </p:nvSpPr>
        <p:spPr>
          <a:xfrm>
            <a:off x="5886661" y="6172200"/>
            <a:ext cx="2841838" cy="368301"/>
          </a:xfrm>
          <a:prstGeom prst="rect">
            <a:avLst/>
          </a:prstGeom>
          <a:ln w="12700">
            <a:miter lim="400000"/>
          </a:ln>
        </p:spPr>
        <p:txBody>
          <a:bodyPr wrap="none" lIns="45719" rIns="45719" anchor="ctr">
            <a:spAutoFit/>
          </a:bodyPr>
          <a:lstStyle>
            <a:lvl1pPr algn="r">
              <a:defRPr sz="1200"/>
            </a:lvl1pPr>
          </a:lstStyle>
          <a:p>
            <a:pPr/>
            <a:fld id="{86CB4B4D-7CA3-9044-876B-883B54F8677D}" type="slidenum"/>
          </a:p>
        </p:txBody>
      </p:sp>
    </p:spTree>
  </p:cSld>
  <p:clrMap bg1="lt1" tx1="dk1" bg2="lt2" tx2="dk2" accent1="accent1" accent2="accent2" accent3="accent3" accent4="accent4" accent5="accent5" accent6="accent6" hlink="hlink" folHlink="folHlink"/>
  <p:sldLayoutIdLst>
    <p:sldLayoutId id="2147483649" r:id="rId2"/>
  </p:sldLayoutIdLst>
  <p:transition xmlns:p14="http://schemas.microsoft.com/office/powerpoint/2010/main" spd="med" advClick="1"/>
  <p:txStyles>
    <p:titleStyle>
      <a:lvl1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1pPr>
      <a:lvl2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2pPr>
      <a:lvl3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3pPr>
      <a:lvl4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4pPr>
      <a:lvl5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5pPr>
      <a:lvl6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6pPr>
      <a:lvl7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7pPr>
      <a:lvl8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8pPr>
      <a:lvl9pPr marL="0" marR="0" indent="0" algn="ctr" defTabSz="914400" rtl="0" latinLnBrk="0">
        <a:lnSpc>
          <a:spcPct val="100000"/>
        </a:lnSpc>
        <a:spcBef>
          <a:spcPts val="0"/>
        </a:spcBef>
        <a:spcAft>
          <a:spcPts val="0"/>
        </a:spcAft>
        <a:buClrTx/>
        <a:buSzTx/>
        <a:buFontTx/>
        <a:buNone/>
        <a:tabLst/>
        <a:defRPr b="0" baseline="0" cap="none" i="0" spc="0" strike="noStrike" sz="4400" u="none">
          <a:solidFill>
            <a:srgbClr val="000000"/>
          </a:solidFill>
          <a:uFillTx/>
          <a:latin typeface="Calibri Light"/>
          <a:ea typeface="Calibri Light"/>
          <a:cs typeface="Calibri Light"/>
          <a:sym typeface="Calibri Light"/>
        </a:defRPr>
      </a:lvl9pPr>
    </p:titleStyle>
    <p:bodyStyle>
      <a:lvl1pPr marL="342900" marR="0" indent="-3429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1pPr>
      <a:lvl2pPr marL="783771" marR="0" indent="-326571"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2pPr>
      <a:lvl3pPr marL="1219200" marR="0" indent="-30480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3pPr>
      <a:lvl4pPr marL="17373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4pPr>
      <a:lvl5pPr marL="21945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5pPr>
      <a:lvl6pPr marL="26517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6pPr>
      <a:lvl7pPr marL="3108960" marR="0" indent="-365760"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7pPr>
      <a:lvl8pPr marL="35661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8pPr>
      <a:lvl9pPr marL="4023359" marR="0" indent="-365759" algn="l" defTabSz="914400" rtl="0" latinLnBrk="0">
        <a:lnSpc>
          <a:spcPct val="100000"/>
        </a:lnSpc>
        <a:spcBef>
          <a:spcPts val="700"/>
        </a:spcBef>
        <a:spcAft>
          <a:spcPts val="0"/>
        </a:spcAft>
        <a:buClrTx/>
        <a:buSzPct val="100000"/>
        <a:buFont typeface="Arial"/>
        <a:buChar char="•"/>
        <a:tabLst/>
        <a:defRPr b="0" baseline="0" cap="none" i="0" spc="0" strike="noStrike" sz="3200" u="none">
          <a:solidFill>
            <a:srgbClr val="000000"/>
          </a:solidFill>
          <a:uFillTx/>
          <a:latin typeface="+mj-lt"/>
          <a:ea typeface="+mj-ea"/>
          <a:cs typeface="+mj-cs"/>
          <a:sym typeface="Calibri"/>
        </a:defRPr>
      </a:lvl9pPr>
    </p:bodyStyle>
    <p:otherStyle>
      <a:lvl1pPr marL="0" marR="0" indent="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1pPr>
      <a:lvl2pPr marL="0" marR="0" indent="457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2pPr>
      <a:lvl3pPr marL="0" marR="0" indent="914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3pPr>
      <a:lvl4pPr marL="0" marR="0" indent="1371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4pPr>
      <a:lvl5pPr marL="0" marR="0" indent="18288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5pPr>
      <a:lvl6pPr marL="0" marR="0" indent="22860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6pPr>
      <a:lvl7pPr marL="0" marR="0" indent="27432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7pPr>
      <a:lvl8pPr marL="0" marR="0" indent="32004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8pPr>
      <a:lvl9pPr marL="0" marR="0" indent="3657600" algn="r" defTabSz="914400" rtl="0" latinLnBrk="0">
        <a:lnSpc>
          <a:spcPct val="100000"/>
        </a:lnSpc>
        <a:spcBef>
          <a:spcPts val="0"/>
        </a:spcBef>
        <a:spcAft>
          <a:spcPts val="0"/>
        </a:spcAft>
        <a:buClrTx/>
        <a:buSzTx/>
        <a:buFontTx/>
        <a:buNone/>
        <a:tabLst/>
        <a:defRPr b="0" baseline="0" cap="none" i="0" spc="0" strike="noStrike" sz="1200" u="none">
          <a:solidFill>
            <a:schemeClr val="tx1"/>
          </a:solidFill>
          <a:uFillTx/>
          <a:latin typeface="+mn-lt"/>
          <a:ea typeface="+mn-ea"/>
          <a:cs typeface="+mn-cs"/>
          <a:sym typeface="Calibri"/>
        </a:defRPr>
      </a:lvl9pPr>
    </p:otherStyle>
  </p:txStyles>
</p:sldMaster>
</file>

<file path=ppt/slides/_rels/slide1.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video" Target="../media/media1.mp4"/><Relationship Id="rId4" Type="http://schemas.microsoft.com/office/2007/relationships/media" Target="../media/media1.mp4"/><Relationship Id="rId5" Type="http://schemas.openxmlformats.org/officeDocument/2006/relationships/image" Target="../media/image1.png"/></Relationships>

</file>

<file path=ppt/slides/_rels/slide2.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video" Target="../media/media2.mp4"/><Relationship Id="rId4" Type="http://schemas.microsoft.com/office/2007/relationships/media" Target="../media/media2.mp4"/><Relationship Id="rId5" Type="http://schemas.openxmlformats.org/officeDocument/2006/relationships/image" Target="../media/image1.png"/></Relationships>

</file>

<file path=ppt/slides/_rels/slide3.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 Id="rId3" Type="http://schemas.openxmlformats.org/officeDocument/2006/relationships/video" Target="../media/media3.mp4"/><Relationship Id="rId4" Type="http://schemas.microsoft.com/office/2007/relationships/media" Target="../media/media3.mp4"/><Relationship Id="rId5" Type="http://schemas.openxmlformats.org/officeDocument/2006/relationships/image" Target="../media/image1.png"/><Relationship Id="rId6" Type="http://schemas.openxmlformats.org/officeDocument/2006/relationships/image" Target="../media/image2.png"/></Relationships>

</file>

<file path=ppt/slides/_rels/slide4.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image" Target="../media/image1.tif"/><Relationship Id="rId7" Type="http://schemas.openxmlformats.org/officeDocument/2006/relationships/image" Target="../media/image2.png"/></Relationships>

</file>

<file path=ppt/slides/_rels/slide5.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video" Target="../media/media5.mp4"/><Relationship Id="rId4" Type="http://schemas.microsoft.com/office/2007/relationships/media" Target="../media/media5.mp4"/><Relationship Id="rId5" Type="http://schemas.openxmlformats.org/officeDocument/2006/relationships/image" Target="../media/image1.png"/><Relationship Id="rId6" Type="http://schemas.openxmlformats.org/officeDocument/2006/relationships/image" Target="../media/image3.png"/><Relationship Id="rId7" Type="http://schemas.openxmlformats.org/officeDocument/2006/relationships/image" Target="../media/image4.png"/><Relationship Id="rId8" Type="http://schemas.openxmlformats.org/officeDocument/2006/relationships/image" Target="../media/image5.png"/><Relationship Id="rId9" Type="http://schemas.openxmlformats.org/officeDocument/2006/relationships/image" Target="../media/image6.png"/></Relationships>

</file>

<file path=ppt/slides/_rels/slide6.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 Id="rId6" Type="http://schemas.openxmlformats.org/officeDocument/2006/relationships/image" Target="../media/image7.png"/><Relationship Id="rId7" Type="http://schemas.openxmlformats.org/officeDocument/2006/relationships/image" Target="../media/image8.png"/><Relationship Id="rId8" Type="http://schemas.openxmlformats.org/officeDocument/2006/relationships/image" Target="../media/image9.png"/></Relationships>

</file>

<file path=ppt/slides/_rels/slide7.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 Id="rId3" Type="http://schemas.openxmlformats.org/officeDocument/2006/relationships/video" Target="../media/media6.mp4"/><Relationship Id="rId4" Type="http://schemas.microsoft.com/office/2007/relationships/media" Target="../media/media6.mp4"/><Relationship Id="rId5" Type="http://schemas.openxmlformats.org/officeDocument/2006/relationships/image" Target="../media/image1.png"/></Relationships>

</file>

<file path=ppt/slides/_rels/slide8.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 Id="rId3" Type="http://schemas.openxmlformats.org/officeDocument/2006/relationships/video" Target="../media/media5.mp4"/><Relationship Id="rId4" Type="http://schemas.microsoft.com/office/2007/relationships/media" Target="../media/media5.mp4"/><Relationship Id="rId5" Type="http://schemas.openxmlformats.org/officeDocument/2006/relationships/image" Target="../media/image1.png"/><Relationship Id="rId6" Type="http://schemas.openxmlformats.org/officeDocument/2006/relationships/image" Target="../media/image10.png"/></Relationships>

</file>

<file path=ppt/slides/_rels/slide9.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 Id="rId3" Type="http://schemas.openxmlformats.org/officeDocument/2006/relationships/video" Target="../media/media4.mp4"/><Relationship Id="rId4" Type="http://schemas.microsoft.com/office/2007/relationships/media" Target="../media/media4.mp4"/><Relationship Id="rId5" Type="http://schemas.openxmlformats.org/officeDocument/2006/relationships/image" Target="../media/image1.png"/></Relationships>

</file>

<file path=ppt/slides/_rels/slide10.xml.rels><?xml version="1.0" encoding="UTF-8"?>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 Id="rId3" Type="http://schemas.openxmlformats.org/officeDocument/2006/relationships/video" Target="../media/media7.mp4"/><Relationship Id="rId4" Type="http://schemas.microsoft.com/office/2007/relationships/media" Target="../media/media7.mp4"/><Relationship Id="rId5" Type="http://schemas.openxmlformats.org/officeDocument/2006/relationships/image" Target="../media/image11.png"/></Relationships>

</file>

<file path=ppt/slides/slide1.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20"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3" name="phase_pill"/>
          <p:cNvGrpSpPr/>
          <p:nvPr/>
        </p:nvGrpSpPr>
        <p:grpSpPr>
          <a:xfrm>
            <a:off x="1170432" y="310895"/>
            <a:ext cx="1803197" cy="329185"/>
            <a:chOff x="0" y="0"/>
            <a:chExt cx="1803196" cy="329184"/>
          </a:xfrm>
        </p:grpSpPr>
        <p:sp>
          <p:nvSpPr>
            <p:cNvPr id="21" name="Rounded Rectangle"/>
            <p:cNvSpPr/>
            <p:nvPr/>
          </p:nvSpPr>
          <p:spPr>
            <a:xfrm>
              <a:off x="0" y="0"/>
              <a:ext cx="1803197"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22" name="DO NOW · 8 MIN"/>
            <p:cNvSpPr txBox="1"/>
            <p:nvPr/>
          </p:nvSpPr>
          <p:spPr>
            <a:xfrm>
              <a:off x="42850" y="90677"/>
              <a:ext cx="1717496"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DO NOW · 8 MIN</a:t>
              </a:r>
            </a:p>
          </p:txBody>
        </p:sp>
      </p:grpSp>
      <p:sp>
        <p:nvSpPr>
          <p:cNvPr id="24" name="lesson_title"/>
          <p:cNvSpPr txBox="1"/>
          <p:nvPr/>
        </p:nvSpPr>
        <p:spPr>
          <a:xfrm>
            <a:off x="2926079" y="344169"/>
            <a:ext cx="6309361" cy="317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2200">
                <a:solidFill>
                  <a:srgbClr val="1F3D2B"/>
                </a:solidFill>
                <a:latin typeface="Georgia"/>
                <a:ea typeface="Georgia"/>
                <a:cs typeface="Georgia"/>
                <a:sym typeface="Georgia"/>
              </a:defRPr>
            </a:lvl1pPr>
          </a:lstStyle>
          <a:p>
            <a:pPr/>
            <a:r>
              <a:t>Natural Selection In Action</a:t>
            </a:r>
          </a:p>
        </p:txBody>
      </p:sp>
      <p:sp>
        <p:nvSpPr>
          <p:cNvPr id="25" name="lesson_date"/>
          <p:cNvSpPr txBox="1"/>
          <p:nvPr/>
        </p:nvSpPr>
        <p:spPr>
          <a:xfrm>
            <a:off x="8534095" y="382938"/>
            <a:ext cx="3108961" cy="18510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r">
              <a:defRPr sz="1300">
                <a:solidFill>
                  <a:srgbClr val="52685A"/>
                </a:solidFill>
                <a:latin typeface="Arial"/>
                <a:ea typeface="Arial"/>
                <a:cs typeface="Arial"/>
                <a:sym typeface="Arial"/>
              </a:defRPr>
            </a:lvl1pPr>
          </a:lstStyle>
          <a:p>
            <a:pPr/>
            <a:r>
              <a:t>Friday 2 October 2026</a:t>
            </a:r>
          </a:p>
        </p:txBody>
      </p:sp>
      <p:sp>
        <p:nvSpPr>
          <p:cNvPr id="26" name="rule"/>
          <p:cNvSpPr/>
          <p:nvPr/>
        </p:nvSpPr>
        <p:spPr>
          <a:xfrm>
            <a:off x="1170432" y="896111"/>
            <a:ext cx="10472623" cy="36577"/>
          </a:xfrm>
          <a:prstGeom prst="rect">
            <a:avLst/>
          </a:prstGeom>
          <a:solidFill>
            <a:srgbClr val="DE9A4C"/>
          </a:solidFill>
          <a:ln w="12700">
            <a:solidFill>
              <a:srgbClr val="DE9A4C"/>
            </a:solidFill>
          </a:ln>
        </p:spPr>
        <p:txBody>
          <a:bodyPr lIns="45719" rIns="45719"/>
          <a:lstStyle/>
          <a:p>
            <a:pPr/>
          </a:p>
        </p:txBody>
      </p:sp>
      <p:sp>
        <p:nvSpPr>
          <p:cNvPr id="27" name="d0_bg"/>
          <p:cNvSpPr/>
          <p:nvPr/>
        </p:nvSpPr>
        <p:spPr>
          <a:xfrm>
            <a:off x="1170432" y="1133855"/>
            <a:ext cx="5099152"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28" name="d0_badge"/>
          <p:cNvSpPr/>
          <p:nvPr/>
        </p:nvSpPr>
        <p:spPr>
          <a:xfrm>
            <a:off x="1371600" y="1298447"/>
            <a:ext cx="384048" cy="384049"/>
          </a:xfrm>
          <a:prstGeom prst="ellipse">
            <a:avLst/>
          </a:prstGeom>
          <a:solidFill>
            <a:srgbClr val="DE9A4C"/>
          </a:solidFill>
          <a:ln w="12700">
            <a:solidFill>
              <a:srgbClr val="DE9A4C"/>
            </a:solidFill>
          </a:ln>
        </p:spPr>
        <p:txBody>
          <a:bodyPr lIns="45719" rIns="45719"/>
          <a:lstStyle/>
          <a:p>
            <a:pPr/>
          </a:p>
        </p:txBody>
      </p:sp>
      <p:sp>
        <p:nvSpPr>
          <p:cNvPr id="29" name="d0_num"/>
          <p:cNvSpPr txBox="1"/>
          <p:nvPr/>
        </p:nvSpPr>
        <p:spPr>
          <a:xfrm>
            <a:off x="1371600" y="1388872"/>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1</a:t>
            </a:r>
          </a:p>
        </p:txBody>
      </p:sp>
      <p:sp>
        <p:nvSpPr>
          <p:cNvPr id="30" name="d0_q"/>
          <p:cNvSpPr txBox="1"/>
          <p:nvPr/>
        </p:nvSpPr>
        <p:spPr>
          <a:xfrm>
            <a:off x="1901951" y="1501783"/>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Name the four steps of natural selection.</a:t>
            </a:r>
          </a:p>
        </p:txBody>
      </p:sp>
      <p:grpSp>
        <p:nvGrpSpPr>
          <p:cNvPr id="33" name="d0_a"/>
          <p:cNvGrpSpPr/>
          <p:nvPr/>
        </p:nvGrpSpPr>
        <p:grpSpPr>
          <a:xfrm>
            <a:off x="1371600" y="2048255"/>
            <a:ext cx="4696817" cy="438914"/>
            <a:chOff x="0" y="0"/>
            <a:chExt cx="4696816" cy="438912"/>
          </a:xfrm>
        </p:grpSpPr>
        <p:sp>
          <p:nvSpPr>
            <p:cNvPr id="31" name="Rounded Rectangle"/>
            <p:cNvSpPr/>
            <p:nvPr/>
          </p:nvSpPr>
          <p:spPr>
            <a:xfrm>
              <a:off x="0" y="0"/>
              <a:ext cx="4696817" cy="438913"/>
            </a:xfrm>
            <a:prstGeom prst="roundRect">
              <a:avLst>
                <a:gd name="adj" fmla="val 20833"/>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300"/>
              </a:pPr>
            </a:p>
          </p:txBody>
        </p:sp>
        <p:sp>
          <p:nvSpPr>
            <p:cNvPr id="32" name="Variation, competition, survival, inheritance."/>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F3D2B"/>
                  </a:solidFill>
                  <a:latin typeface="Arial"/>
                  <a:ea typeface="Arial"/>
                  <a:cs typeface="Arial"/>
                  <a:sym typeface="Arial"/>
                </a:defRPr>
              </a:lvl1pPr>
            </a:lstStyle>
            <a:p>
              <a:pPr/>
              <a:r>
                <a:t>Variation, competition, survival, inheritance.</a:t>
              </a:r>
            </a:p>
          </p:txBody>
        </p:sp>
      </p:grpSp>
      <p:sp>
        <p:nvSpPr>
          <p:cNvPr id="34" name="d1_bg"/>
          <p:cNvSpPr/>
          <p:nvPr/>
        </p:nvSpPr>
        <p:spPr>
          <a:xfrm>
            <a:off x="6543903" y="1133855"/>
            <a:ext cx="5099153"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35" name="d1_badge"/>
          <p:cNvSpPr/>
          <p:nvPr/>
        </p:nvSpPr>
        <p:spPr>
          <a:xfrm>
            <a:off x="6745072" y="1298447"/>
            <a:ext cx="384049" cy="384049"/>
          </a:xfrm>
          <a:prstGeom prst="ellipse">
            <a:avLst/>
          </a:prstGeom>
          <a:solidFill>
            <a:srgbClr val="DE9A4C"/>
          </a:solidFill>
          <a:ln w="12700">
            <a:solidFill>
              <a:srgbClr val="DE9A4C"/>
            </a:solidFill>
          </a:ln>
        </p:spPr>
        <p:txBody>
          <a:bodyPr lIns="45719" rIns="45719"/>
          <a:lstStyle/>
          <a:p>
            <a:pPr/>
          </a:p>
        </p:txBody>
      </p:sp>
      <p:sp>
        <p:nvSpPr>
          <p:cNvPr id="36" name="d1_num"/>
          <p:cNvSpPr txBox="1"/>
          <p:nvPr/>
        </p:nvSpPr>
        <p:spPr>
          <a:xfrm>
            <a:off x="6745072" y="1388872"/>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2</a:t>
            </a:r>
          </a:p>
        </p:txBody>
      </p:sp>
      <p:sp>
        <p:nvSpPr>
          <p:cNvPr id="37" name="d1_q"/>
          <p:cNvSpPr txBox="1"/>
          <p:nvPr/>
        </p:nvSpPr>
        <p:spPr>
          <a:xfrm>
            <a:off x="7275424" y="1501783"/>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State what variation means.</a:t>
            </a:r>
          </a:p>
        </p:txBody>
      </p:sp>
      <p:grpSp>
        <p:nvGrpSpPr>
          <p:cNvPr id="40" name="d1_a"/>
          <p:cNvGrpSpPr/>
          <p:nvPr/>
        </p:nvGrpSpPr>
        <p:grpSpPr>
          <a:xfrm>
            <a:off x="6745072" y="2048255"/>
            <a:ext cx="4696817" cy="438914"/>
            <a:chOff x="0" y="0"/>
            <a:chExt cx="4696816" cy="438912"/>
          </a:xfrm>
        </p:grpSpPr>
        <p:sp>
          <p:nvSpPr>
            <p:cNvPr id="38" name="Rounded Rectangle"/>
            <p:cNvSpPr/>
            <p:nvPr/>
          </p:nvSpPr>
          <p:spPr>
            <a:xfrm>
              <a:off x="0" y="0"/>
              <a:ext cx="4696817" cy="438913"/>
            </a:xfrm>
            <a:prstGeom prst="roundRect">
              <a:avLst>
                <a:gd name="adj" fmla="val 20833"/>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300"/>
              </a:pPr>
            </a:p>
          </p:txBody>
        </p:sp>
        <p:sp>
          <p:nvSpPr>
            <p:cNvPr id="39" name="Differences between individuals of the same species."/>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F3D2B"/>
                  </a:solidFill>
                  <a:latin typeface="Arial"/>
                  <a:ea typeface="Arial"/>
                  <a:cs typeface="Arial"/>
                  <a:sym typeface="Arial"/>
                </a:defRPr>
              </a:lvl1pPr>
            </a:lstStyle>
            <a:p>
              <a:pPr/>
              <a:r>
                <a:t>Differences between individuals of the same species.</a:t>
              </a:r>
            </a:p>
          </p:txBody>
        </p:sp>
      </p:grpSp>
      <p:sp>
        <p:nvSpPr>
          <p:cNvPr id="41" name="d2_bg"/>
          <p:cNvSpPr/>
          <p:nvPr/>
        </p:nvSpPr>
        <p:spPr>
          <a:xfrm>
            <a:off x="1170432" y="2798064"/>
            <a:ext cx="5099152"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42" name="d2_badge"/>
          <p:cNvSpPr/>
          <p:nvPr/>
        </p:nvSpPr>
        <p:spPr>
          <a:xfrm>
            <a:off x="1371600" y="2962655"/>
            <a:ext cx="384048" cy="384049"/>
          </a:xfrm>
          <a:prstGeom prst="ellipse">
            <a:avLst/>
          </a:prstGeom>
          <a:solidFill>
            <a:srgbClr val="DE9A4C"/>
          </a:solidFill>
          <a:ln w="12700">
            <a:solidFill>
              <a:srgbClr val="DE9A4C"/>
            </a:solidFill>
          </a:ln>
        </p:spPr>
        <p:txBody>
          <a:bodyPr lIns="45719" rIns="45719"/>
          <a:lstStyle/>
          <a:p>
            <a:pPr/>
          </a:p>
        </p:txBody>
      </p:sp>
      <p:sp>
        <p:nvSpPr>
          <p:cNvPr id="43" name="d2_num"/>
          <p:cNvSpPr txBox="1"/>
          <p:nvPr/>
        </p:nvSpPr>
        <p:spPr>
          <a:xfrm>
            <a:off x="1371600" y="3053079"/>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3</a:t>
            </a:r>
          </a:p>
        </p:txBody>
      </p:sp>
      <p:sp>
        <p:nvSpPr>
          <p:cNvPr id="44" name="d2_q"/>
          <p:cNvSpPr txBox="1"/>
          <p:nvPr/>
        </p:nvSpPr>
        <p:spPr>
          <a:xfrm>
            <a:off x="1901951" y="3165990"/>
            <a:ext cx="4166465" cy="2334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State what competition means.</a:t>
            </a:r>
          </a:p>
        </p:txBody>
      </p:sp>
      <p:grpSp>
        <p:nvGrpSpPr>
          <p:cNvPr id="47" name="d2_a"/>
          <p:cNvGrpSpPr/>
          <p:nvPr/>
        </p:nvGrpSpPr>
        <p:grpSpPr>
          <a:xfrm>
            <a:off x="1371600" y="3712464"/>
            <a:ext cx="4696817" cy="438913"/>
            <a:chOff x="0" y="0"/>
            <a:chExt cx="4696816" cy="438912"/>
          </a:xfrm>
        </p:grpSpPr>
        <p:sp>
          <p:nvSpPr>
            <p:cNvPr id="45" name="Rounded Rectangle"/>
            <p:cNvSpPr/>
            <p:nvPr/>
          </p:nvSpPr>
          <p:spPr>
            <a:xfrm>
              <a:off x="0" y="0"/>
              <a:ext cx="4696817" cy="438913"/>
            </a:xfrm>
            <a:prstGeom prst="roundRect">
              <a:avLst>
                <a:gd name="adj" fmla="val 20833"/>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300"/>
              </a:pPr>
            </a:p>
          </p:txBody>
        </p:sp>
        <p:sp>
          <p:nvSpPr>
            <p:cNvPr id="46" name="Individuals have to fight for limited resources."/>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F3D2B"/>
                  </a:solidFill>
                  <a:latin typeface="Arial"/>
                  <a:ea typeface="Arial"/>
                  <a:cs typeface="Arial"/>
                  <a:sym typeface="Arial"/>
                </a:defRPr>
              </a:lvl1pPr>
            </a:lstStyle>
            <a:p>
              <a:pPr/>
              <a:r>
                <a:t>Individuals have to fight for limited resources.</a:t>
              </a:r>
            </a:p>
          </p:txBody>
        </p:sp>
      </p:grpSp>
      <p:sp>
        <p:nvSpPr>
          <p:cNvPr id="48" name="d3_bg"/>
          <p:cNvSpPr/>
          <p:nvPr/>
        </p:nvSpPr>
        <p:spPr>
          <a:xfrm>
            <a:off x="6543903" y="2798064"/>
            <a:ext cx="5099153"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49" name="d3_badge"/>
          <p:cNvSpPr/>
          <p:nvPr/>
        </p:nvSpPr>
        <p:spPr>
          <a:xfrm>
            <a:off x="6745072" y="2962655"/>
            <a:ext cx="384049" cy="384049"/>
          </a:xfrm>
          <a:prstGeom prst="ellipse">
            <a:avLst/>
          </a:prstGeom>
          <a:solidFill>
            <a:srgbClr val="DE9A4C"/>
          </a:solidFill>
          <a:ln w="12700">
            <a:solidFill>
              <a:srgbClr val="DE9A4C"/>
            </a:solidFill>
          </a:ln>
        </p:spPr>
        <p:txBody>
          <a:bodyPr lIns="45719" rIns="45719"/>
          <a:lstStyle/>
          <a:p>
            <a:pPr/>
          </a:p>
        </p:txBody>
      </p:sp>
      <p:sp>
        <p:nvSpPr>
          <p:cNvPr id="50" name="d3_num"/>
          <p:cNvSpPr txBox="1"/>
          <p:nvPr/>
        </p:nvSpPr>
        <p:spPr>
          <a:xfrm>
            <a:off x="6745072" y="3053079"/>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4</a:t>
            </a:r>
          </a:p>
        </p:txBody>
      </p:sp>
      <p:sp>
        <p:nvSpPr>
          <p:cNvPr id="51" name="d3_q"/>
          <p:cNvSpPr txBox="1"/>
          <p:nvPr/>
        </p:nvSpPr>
        <p:spPr>
          <a:xfrm>
            <a:off x="7275424" y="3165990"/>
            <a:ext cx="4166465" cy="23341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State where variation comes from.</a:t>
            </a:r>
          </a:p>
        </p:txBody>
      </p:sp>
      <p:grpSp>
        <p:nvGrpSpPr>
          <p:cNvPr id="54" name="d3_a"/>
          <p:cNvGrpSpPr/>
          <p:nvPr/>
        </p:nvGrpSpPr>
        <p:grpSpPr>
          <a:xfrm>
            <a:off x="6745072" y="3712464"/>
            <a:ext cx="4696817" cy="438913"/>
            <a:chOff x="0" y="0"/>
            <a:chExt cx="4696816" cy="438912"/>
          </a:xfrm>
        </p:grpSpPr>
        <p:sp>
          <p:nvSpPr>
            <p:cNvPr id="52" name="Rounded Rectangle"/>
            <p:cNvSpPr/>
            <p:nvPr/>
          </p:nvSpPr>
          <p:spPr>
            <a:xfrm>
              <a:off x="0" y="0"/>
              <a:ext cx="4696817" cy="438913"/>
            </a:xfrm>
            <a:prstGeom prst="roundRect">
              <a:avLst>
                <a:gd name="adj" fmla="val 20833"/>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300"/>
              </a:pPr>
            </a:p>
          </p:txBody>
        </p:sp>
        <p:sp>
          <p:nvSpPr>
            <p:cNvPr id="53" name="Random chance."/>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F3D2B"/>
                  </a:solidFill>
                  <a:latin typeface="Arial"/>
                  <a:ea typeface="Arial"/>
                  <a:cs typeface="Arial"/>
                  <a:sym typeface="Arial"/>
                </a:defRPr>
              </a:lvl1pPr>
            </a:lstStyle>
            <a:p>
              <a:pPr/>
              <a:r>
                <a:t>Random chance.</a:t>
              </a:r>
            </a:p>
          </p:txBody>
        </p:sp>
      </p:grpSp>
      <p:sp>
        <p:nvSpPr>
          <p:cNvPr id="55" name="d4_bg"/>
          <p:cNvSpPr/>
          <p:nvPr/>
        </p:nvSpPr>
        <p:spPr>
          <a:xfrm>
            <a:off x="1170432" y="4462271"/>
            <a:ext cx="5099152"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56" name="d4_badge"/>
          <p:cNvSpPr/>
          <p:nvPr/>
        </p:nvSpPr>
        <p:spPr>
          <a:xfrm>
            <a:off x="1371600" y="4626864"/>
            <a:ext cx="384048" cy="384049"/>
          </a:xfrm>
          <a:prstGeom prst="ellipse">
            <a:avLst/>
          </a:prstGeom>
          <a:solidFill>
            <a:srgbClr val="DE9A4C"/>
          </a:solidFill>
          <a:ln w="12700">
            <a:solidFill>
              <a:srgbClr val="DE9A4C"/>
            </a:solidFill>
          </a:ln>
        </p:spPr>
        <p:txBody>
          <a:bodyPr lIns="45719" rIns="45719"/>
          <a:lstStyle/>
          <a:p>
            <a:pPr/>
          </a:p>
        </p:txBody>
      </p:sp>
      <p:sp>
        <p:nvSpPr>
          <p:cNvPr id="57" name="d4_num"/>
          <p:cNvSpPr txBox="1"/>
          <p:nvPr/>
        </p:nvSpPr>
        <p:spPr>
          <a:xfrm>
            <a:off x="1371600" y="4717288"/>
            <a:ext cx="384048"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5</a:t>
            </a:r>
          </a:p>
        </p:txBody>
      </p:sp>
      <p:sp>
        <p:nvSpPr>
          <p:cNvPr id="58" name="d4_q"/>
          <p:cNvSpPr txBox="1"/>
          <p:nvPr/>
        </p:nvSpPr>
        <p:spPr>
          <a:xfrm>
            <a:off x="1901951" y="4709549"/>
            <a:ext cx="4166465"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State who identified Darwin's finches as related species.</a:t>
            </a:r>
          </a:p>
        </p:txBody>
      </p:sp>
      <p:grpSp>
        <p:nvGrpSpPr>
          <p:cNvPr id="61" name="d4_a"/>
          <p:cNvGrpSpPr/>
          <p:nvPr/>
        </p:nvGrpSpPr>
        <p:grpSpPr>
          <a:xfrm>
            <a:off x="1371600" y="5376671"/>
            <a:ext cx="4696817" cy="438913"/>
            <a:chOff x="0" y="0"/>
            <a:chExt cx="4696816" cy="438912"/>
          </a:xfrm>
        </p:grpSpPr>
        <p:sp>
          <p:nvSpPr>
            <p:cNvPr id="59" name="Rounded Rectangle"/>
            <p:cNvSpPr/>
            <p:nvPr/>
          </p:nvSpPr>
          <p:spPr>
            <a:xfrm>
              <a:off x="0" y="0"/>
              <a:ext cx="4696817" cy="438913"/>
            </a:xfrm>
            <a:prstGeom prst="roundRect">
              <a:avLst>
                <a:gd name="adj" fmla="val 20833"/>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300"/>
              </a:pPr>
            </a:p>
          </p:txBody>
        </p:sp>
        <p:sp>
          <p:nvSpPr>
            <p:cNvPr id="60" name="John Gould."/>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F3D2B"/>
                  </a:solidFill>
                  <a:latin typeface="Arial"/>
                  <a:ea typeface="Arial"/>
                  <a:cs typeface="Arial"/>
                  <a:sym typeface="Arial"/>
                </a:defRPr>
              </a:lvl1pPr>
            </a:lstStyle>
            <a:p>
              <a:pPr/>
              <a:r>
                <a:t>John Gould.</a:t>
              </a:r>
            </a:p>
          </p:txBody>
        </p:sp>
      </p:grpSp>
      <p:sp>
        <p:nvSpPr>
          <p:cNvPr id="62" name="d5_bg"/>
          <p:cNvSpPr/>
          <p:nvPr/>
        </p:nvSpPr>
        <p:spPr>
          <a:xfrm>
            <a:off x="6543903" y="4462271"/>
            <a:ext cx="5099153" cy="1481329"/>
          </a:xfrm>
          <a:prstGeom prst="roundRect">
            <a:avLst>
              <a:gd name="adj" fmla="val 6173"/>
            </a:avLst>
          </a:prstGeom>
          <a:solidFill>
            <a:srgbClr val="FFFFFF"/>
          </a:solidFill>
          <a:ln w="16510">
            <a:solidFill>
              <a:srgbClr val="D8DEEC"/>
            </a:solidFill>
          </a:ln>
        </p:spPr>
        <p:txBody>
          <a:bodyPr lIns="45719" rIns="45719"/>
          <a:lstStyle/>
          <a:p>
            <a:pPr/>
          </a:p>
        </p:txBody>
      </p:sp>
      <p:sp>
        <p:nvSpPr>
          <p:cNvPr id="63" name="d5_badge"/>
          <p:cNvSpPr/>
          <p:nvPr/>
        </p:nvSpPr>
        <p:spPr>
          <a:xfrm>
            <a:off x="6745072" y="4626864"/>
            <a:ext cx="384049" cy="384049"/>
          </a:xfrm>
          <a:prstGeom prst="ellipse">
            <a:avLst/>
          </a:prstGeom>
          <a:solidFill>
            <a:srgbClr val="DE9A4C"/>
          </a:solidFill>
          <a:ln w="12700">
            <a:solidFill>
              <a:srgbClr val="DE9A4C"/>
            </a:solidFill>
          </a:ln>
        </p:spPr>
        <p:txBody>
          <a:bodyPr lIns="45719" rIns="45719"/>
          <a:lstStyle/>
          <a:p>
            <a:pPr/>
          </a:p>
        </p:txBody>
      </p:sp>
      <p:sp>
        <p:nvSpPr>
          <p:cNvPr id="64" name="d5_num"/>
          <p:cNvSpPr txBox="1"/>
          <p:nvPr/>
        </p:nvSpPr>
        <p:spPr>
          <a:xfrm>
            <a:off x="6745072" y="4717288"/>
            <a:ext cx="384049" cy="2032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gn="ctr">
              <a:defRPr b="1" sz="1400">
                <a:solidFill>
                  <a:srgbClr val="1F3D2B"/>
                </a:solidFill>
                <a:latin typeface="Georgia"/>
                <a:ea typeface="Georgia"/>
                <a:cs typeface="Georgia"/>
                <a:sym typeface="Georgia"/>
              </a:defRPr>
            </a:lvl1pPr>
          </a:lstStyle>
          <a:p>
            <a:pPr/>
            <a:r>
              <a:t>6</a:t>
            </a:r>
          </a:p>
        </p:txBody>
      </p:sp>
      <p:sp>
        <p:nvSpPr>
          <p:cNvPr id="65" name="d5_q"/>
          <p:cNvSpPr txBox="1"/>
          <p:nvPr/>
        </p:nvSpPr>
        <p:spPr>
          <a:xfrm>
            <a:off x="7275424" y="4830199"/>
            <a:ext cx="4166465"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Name a medicine that kills bacteria.</a:t>
            </a:r>
          </a:p>
        </p:txBody>
      </p:sp>
      <p:grpSp>
        <p:nvGrpSpPr>
          <p:cNvPr id="68" name="d5_a"/>
          <p:cNvGrpSpPr/>
          <p:nvPr/>
        </p:nvGrpSpPr>
        <p:grpSpPr>
          <a:xfrm>
            <a:off x="6745072" y="5376671"/>
            <a:ext cx="4696817" cy="438913"/>
            <a:chOff x="0" y="0"/>
            <a:chExt cx="4696816" cy="438912"/>
          </a:xfrm>
        </p:grpSpPr>
        <p:sp>
          <p:nvSpPr>
            <p:cNvPr id="66" name="Rounded Rectangle"/>
            <p:cNvSpPr/>
            <p:nvPr/>
          </p:nvSpPr>
          <p:spPr>
            <a:xfrm>
              <a:off x="0" y="0"/>
              <a:ext cx="4696817" cy="438913"/>
            </a:xfrm>
            <a:prstGeom prst="roundRect">
              <a:avLst>
                <a:gd name="adj" fmla="val 20833"/>
              </a:avLst>
            </a:prstGeom>
            <a:solidFill>
              <a:srgbClr val="F3E7CE"/>
            </a:solidFill>
            <a:ln w="16510" cap="flat">
              <a:solidFill>
                <a:srgbClr val="DE9A4C"/>
              </a:solidFill>
              <a:prstDash val="solid"/>
              <a:round/>
            </a:ln>
            <a:effectLst/>
          </p:spPr>
          <p:txBody>
            <a:bodyPr wrap="square" lIns="45719" tIns="45719" rIns="45719" bIns="45719" numCol="1" anchor="ctr">
              <a:noAutofit/>
            </a:bodyPr>
            <a:lstStyle/>
            <a:p>
              <a:pPr>
                <a:defRPr sz="1300"/>
              </a:pPr>
            </a:p>
          </p:txBody>
        </p:sp>
        <p:sp>
          <p:nvSpPr>
            <p:cNvPr id="67" name="An antibiotic, for example, penicillin."/>
            <p:cNvSpPr txBox="1"/>
            <p:nvPr/>
          </p:nvSpPr>
          <p:spPr>
            <a:xfrm>
              <a:off x="35035" y="125890"/>
              <a:ext cx="4626746" cy="187132"/>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015" tIns="1015" rIns="1015" bIns="1015" numCol="1" anchor="ctr">
              <a:spAutoFit/>
            </a:bodyPr>
            <a:lstStyle>
              <a:lvl1pPr>
                <a:defRPr b="1" sz="1300">
                  <a:solidFill>
                    <a:srgbClr val="1F3D2B"/>
                  </a:solidFill>
                  <a:latin typeface="Arial"/>
                  <a:ea typeface="Arial"/>
                  <a:cs typeface="Arial"/>
                  <a:sym typeface="Arial"/>
                </a:defRPr>
              </a:lvl1pPr>
            </a:lstStyle>
            <a:p>
              <a:pPr/>
              <a:r>
                <a:t>An antibiotic, for example, penicillin.</a:t>
              </a:r>
            </a:p>
          </p:txBody>
        </p:sp>
      </p:grpSp>
    </p:spTree>
  </p:cSld>
  <p:clrMapOvr>
    <a:masterClrMapping/>
  </p:clrMapOvr>
  <p:transition xmlns:p14="http://schemas.microsoft.com/office/powerpoint/2010/main" spd="med" advClick="1"/>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480000" fill="hold"/>
                                        <p:tgtEl>
                                          <p:spTgt spid="20"/>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8" presetID="22" grpId="2" fill="hold">
                                  <p:stCondLst>
                                    <p:cond delay="0"/>
                                  </p:stCondLst>
                                  <p:iterate type="el" backwards="0">
                                    <p:tmAbs val="0"/>
                                  </p:iterate>
                                  <p:childTnLst>
                                    <p:set>
                                      <p:cBhvr>
                                        <p:cTn id="10" fill="hold"/>
                                        <p:tgtEl>
                                          <p:spTgt spid="33"/>
                                        </p:tgtEl>
                                        <p:attrNameLst>
                                          <p:attrName>style.visibility</p:attrName>
                                        </p:attrNameLst>
                                      </p:cBhvr>
                                      <p:to>
                                        <p:strVal val="visible"/>
                                      </p:to>
                                    </p:set>
                                    <p:animEffect filter="wipe(left)" transition="in">
                                      <p:cBhvr>
                                        <p:cTn id="11" dur="400"/>
                                        <p:tgtEl>
                                          <p:spTgt spid="3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8" presetID="22" grpId="3" fill="hold">
                                  <p:stCondLst>
                                    <p:cond delay="0"/>
                                  </p:stCondLst>
                                  <p:iterate type="el" backwards="0">
                                    <p:tmAbs val="0"/>
                                  </p:iterate>
                                  <p:childTnLst>
                                    <p:set>
                                      <p:cBhvr>
                                        <p:cTn id="15" fill="hold"/>
                                        <p:tgtEl>
                                          <p:spTgt spid="40"/>
                                        </p:tgtEl>
                                        <p:attrNameLst>
                                          <p:attrName>style.visibility</p:attrName>
                                        </p:attrNameLst>
                                      </p:cBhvr>
                                      <p:to>
                                        <p:strVal val="visible"/>
                                      </p:to>
                                    </p:set>
                                    <p:animEffect filter="wipe(left)" transition="in">
                                      <p:cBhvr>
                                        <p:cTn id="16" dur="400"/>
                                        <p:tgtEl>
                                          <p:spTgt spid="40"/>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Subtype="8" presetID="22" grpId="4" fill="hold">
                                  <p:stCondLst>
                                    <p:cond delay="0"/>
                                  </p:stCondLst>
                                  <p:iterate type="el" backwards="0">
                                    <p:tmAbs val="0"/>
                                  </p:iterate>
                                  <p:childTnLst>
                                    <p:set>
                                      <p:cBhvr>
                                        <p:cTn id="20" fill="hold"/>
                                        <p:tgtEl>
                                          <p:spTgt spid="47"/>
                                        </p:tgtEl>
                                        <p:attrNameLst>
                                          <p:attrName>style.visibility</p:attrName>
                                        </p:attrNameLst>
                                      </p:cBhvr>
                                      <p:to>
                                        <p:strVal val="visible"/>
                                      </p:to>
                                    </p:set>
                                    <p:animEffect filter="wipe(left)" transition="in">
                                      <p:cBhvr>
                                        <p:cTn id="21" dur="400"/>
                                        <p:tgtEl>
                                          <p:spTgt spid="47"/>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8" presetID="22" grpId="5" fill="hold">
                                  <p:stCondLst>
                                    <p:cond delay="0"/>
                                  </p:stCondLst>
                                  <p:iterate type="el" backwards="0">
                                    <p:tmAbs val="0"/>
                                  </p:iterate>
                                  <p:childTnLst>
                                    <p:set>
                                      <p:cBhvr>
                                        <p:cTn id="25" fill="hold"/>
                                        <p:tgtEl>
                                          <p:spTgt spid="54"/>
                                        </p:tgtEl>
                                        <p:attrNameLst>
                                          <p:attrName>style.visibility</p:attrName>
                                        </p:attrNameLst>
                                      </p:cBhvr>
                                      <p:to>
                                        <p:strVal val="visible"/>
                                      </p:to>
                                    </p:set>
                                    <p:animEffect filter="wipe(left)" transition="in">
                                      <p:cBhvr>
                                        <p:cTn id="26" dur="400"/>
                                        <p:tgtEl>
                                          <p:spTgt spid="54"/>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8" presetID="22" grpId="6" fill="hold">
                                  <p:stCondLst>
                                    <p:cond delay="0"/>
                                  </p:stCondLst>
                                  <p:iterate type="el" backwards="0">
                                    <p:tmAbs val="0"/>
                                  </p:iterate>
                                  <p:childTnLst>
                                    <p:set>
                                      <p:cBhvr>
                                        <p:cTn id="30" fill="hold"/>
                                        <p:tgtEl>
                                          <p:spTgt spid="61"/>
                                        </p:tgtEl>
                                        <p:attrNameLst>
                                          <p:attrName>style.visibility</p:attrName>
                                        </p:attrNameLst>
                                      </p:cBhvr>
                                      <p:to>
                                        <p:strVal val="visible"/>
                                      </p:to>
                                    </p:set>
                                    <p:animEffect filter="wipe(left)" transition="in">
                                      <p:cBhvr>
                                        <p:cTn id="31" dur="400"/>
                                        <p:tgtEl>
                                          <p:spTgt spid="61"/>
                                        </p:tgtEl>
                                      </p:cBhvr>
                                    </p:animEffect>
                                  </p:childTnLst>
                                </p:cTn>
                              </p:par>
                            </p:childTnLst>
                          </p:cTn>
                        </p:par>
                      </p:childTnLst>
                    </p:cTn>
                  </p:par>
                  <p:par>
                    <p:cTn id="32" fill="hold">
                      <p:stCondLst>
                        <p:cond delay="indefinite"/>
                      </p:stCondLst>
                      <p:childTnLst>
                        <p:par>
                          <p:cTn id="33" fill="hold">
                            <p:stCondLst>
                              <p:cond delay="0"/>
                            </p:stCondLst>
                            <p:childTnLst>
                              <p:par>
                                <p:cTn id="34" presetClass="entr" nodeType="clickEffect" presetSubtype="8" presetID="22" grpId="7" fill="hold">
                                  <p:stCondLst>
                                    <p:cond delay="0"/>
                                  </p:stCondLst>
                                  <p:iterate type="el" backwards="0">
                                    <p:tmAbs val="0"/>
                                  </p:iterate>
                                  <p:childTnLst>
                                    <p:set>
                                      <p:cBhvr>
                                        <p:cTn id="35" fill="hold"/>
                                        <p:tgtEl>
                                          <p:spTgt spid="68"/>
                                        </p:tgtEl>
                                        <p:attrNameLst>
                                          <p:attrName>style.visibility</p:attrName>
                                        </p:attrNameLst>
                                      </p:cBhvr>
                                      <p:to>
                                        <p:strVal val="visible"/>
                                      </p:to>
                                    </p:set>
                                    <p:animEffect filter="wipe(left)" transition="in">
                                      <p:cBhvr>
                                        <p:cTn id="36" dur="400"/>
                                        <p:tgtEl>
                                          <p:spTgt spid="68"/>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7" fill="hold" display="0">
                  <p:stCondLst>
                    <p:cond delay="indefinite"/>
                  </p:stCondLst>
                </p:cTn>
                <p:tgtEl>
                  <p:spTgt spid="20"/>
                </p:tgtEl>
              </p:cMediaNode>
            </p:video>
            <p:seq concurrent="1" prevAc="none" nextAc="seek">
              <p:cTn id="38" evtFilter="cancelBubble" nodeType="interactiveSeq" restart="whenNotActive" fill="hold">
                <p:stCondLst>
                  <p:cond delay="0" evt="onClick">
                    <p:tgtEl>
                      <p:spTgt spid="20"/>
                    </p:tgtEl>
                  </p:cond>
                </p:stCondLst>
                <p:endSync delay="0" evt="end">
                  <p:rtn val="all"/>
                </p:endSync>
                <p:childTnLst>
                  <p:par>
                    <p:cTn id="39" fill="hold">
                      <p:stCondLst>
                        <p:cond delay="0"/>
                      </p:stCondLst>
                      <p:childTnLst>
                        <p:par>
                          <p:cTn id="40" fill="hold">
                            <p:stCondLst>
                              <p:cond delay="0"/>
                            </p:stCondLst>
                            <p:childTnLst>
                              <p:par>
                                <p:cTn id="41" presetClass="mediacall" nodeType="clickEffect" presetSubtype="0" presetID="2" fill="hold">
                                  <p:stCondLst>
                                    <p:cond delay="0"/>
                                  </p:stCondLst>
                                  <p:childTnLst>
                                    <p:cmd type="call" cmd="togglePause">
                                      <p:cBhvr>
                                        <p:cTn id="42" dur="1" fill="hold"/>
                                        <p:tgtEl>
                                          <p:spTgt spid="20"/>
                                        </p:tgtEl>
                                      </p:cBhvr>
                                    </p:cmd>
                                  </p:childTnLst>
                                </p:cTn>
                              </p:par>
                            </p:childTnLst>
                          </p:cTn>
                        </p:par>
                      </p:childTnLst>
                    </p:cTn>
                  </p:par>
                </p:childTnLst>
              </p:cTn>
              <p:nextCondLst>
                <p:cond delay="0" evt="onClick">
                  <p:tgtEl>
                    <p:spTgt spid="20"/>
                  </p:tgtEl>
                </p:cond>
              </p:nextCondLst>
            </p:seq>
          </p:childTnLst>
        </p:cTn>
      </p:par>
    </p:tnLst>
    <p:bldLst>
      <p:bldP build="whole" bldLvl="1" animBg="1" rev="0" advAuto="0" spid="33" grpId="2"/>
      <p:bldP build="whole" bldLvl="1" animBg="1" rev="0" advAuto="0" spid="47" grpId="4"/>
      <p:bldP build="whole" bldLvl="1" animBg="1" rev="0" advAuto="0" spid="54" grpId="5"/>
      <p:bldP build="whole" bldLvl="1" animBg="1" rev="0" advAuto="0" spid="61" grpId="6"/>
      <p:bldP build="whole" bldLvl="1" animBg="1" rev="0" advAuto="0" spid="68" grpId="7"/>
      <p:bldP build="whole" bldLvl="1" animBg="1" rev="0" advAuto="0" spid="40" grpId="3"/>
    </p:bldLst>
  </p:timing>
</p:sld>
</file>

<file path=ppt/slides/slide2.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7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75" name="phase_pill"/>
          <p:cNvGrpSpPr/>
          <p:nvPr/>
        </p:nvGrpSpPr>
        <p:grpSpPr>
          <a:xfrm>
            <a:off x="1170432" y="310895"/>
            <a:ext cx="1713586" cy="329185"/>
            <a:chOff x="0" y="0"/>
            <a:chExt cx="1713585" cy="329184"/>
          </a:xfrm>
        </p:grpSpPr>
        <p:sp>
          <p:nvSpPr>
            <p:cNvPr id="73" name="Rounded Rectangle"/>
            <p:cNvSpPr/>
            <p:nvPr/>
          </p:nvSpPr>
          <p:spPr>
            <a:xfrm>
              <a:off x="0" y="0"/>
              <a:ext cx="1713586"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74" name="TODAY · 1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TODAY · 1 MIN</a:t>
              </a:r>
            </a:p>
          </p:txBody>
        </p:sp>
      </p:grpSp>
      <p:sp>
        <p:nvSpPr>
          <p:cNvPr id="76"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F3D2B"/>
                </a:solidFill>
                <a:latin typeface="Georgia"/>
                <a:ea typeface="Georgia"/>
                <a:cs typeface="Georgia"/>
                <a:sym typeface="Georgia"/>
              </a:defRPr>
            </a:lvl1pPr>
          </a:lstStyle>
          <a:p>
            <a:pPr/>
            <a:r>
              <a:t>Today</a:t>
            </a:r>
          </a:p>
        </p:txBody>
      </p:sp>
      <p:grpSp>
        <p:nvGrpSpPr>
          <p:cNvPr id="81" name="o0"/>
          <p:cNvGrpSpPr/>
          <p:nvPr/>
        </p:nvGrpSpPr>
        <p:grpSpPr>
          <a:xfrm>
            <a:off x="1170432" y="2194560"/>
            <a:ext cx="3307994" cy="1792224"/>
            <a:chOff x="0" y="0"/>
            <a:chExt cx="3307993" cy="1792223"/>
          </a:xfrm>
        </p:grpSpPr>
        <p:sp>
          <p:nvSpPr>
            <p:cNvPr id="77" name="o0_bg"/>
            <p:cNvSpPr/>
            <p:nvPr/>
          </p:nvSpPr>
          <p:spPr>
            <a:xfrm>
              <a:off x="0" y="0"/>
              <a:ext cx="3307994" cy="1792224"/>
            </a:xfrm>
            <a:prstGeom prst="roundRect">
              <a:avLst>
                <a:gd name="adj" fmla="val 510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78" name="o0_badge"/>
            <p:cNvSpPr/>
            <p:nvPr/>
          </p:nvSpPr>
          <p:spPr>
            <a:xfrm>
              <a:off x="237744" y="201168"/>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79" name="o0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1</a:t>
              </a:r>
            </a:p>
          </p:txBody>
        </p:sp>
        <p:sp>
          <p:nvSpPr>
            <p:cNvPr id="80" name="o0_t"/>
            <p:cNvSpPr txBox="1"/>
            <p:nvPr/>
          </p:nvSpPr>
          <p:spPr>
            <a:xfrm>
              <a:off x="237744" y="713231"/>
              <a:ext cx="2832506" cy="751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182B1E"/>
                  </a:solidFill>
                  <a:latin typeface="Arial"/>
                  <a:ea typeface="Arial"/>
                  <a:cs typeface="Arial"/>
                  <a:sym typeface="Arial"/>
                </a:defRPr>
              </a:lvl1pPr>
            </a:lstStyle>
            <a:p>
              <a:pPr/>
              <a:r>
                <a:t>Explain a real example of natural selection using the four steps.</a:t>
              </a:r>
            </a:p>
          </p:txBody>
        </p:sp>
      </p:grpSp>
      <p:grpSp>
        <p:nvGrpSpPr>
          <p:cNvPr id="86" name="o1"/>
          <p:cNvGrpSpPr/>
          <p:nvPr/>
        </p:nvGrpSpPr>
        <p:grpSpPr>
          <a:xfrm>
            <a:off x="4752745" y="2194560"/>
            <a:ext cx="3307995" cy="1792224"/>
            <a:chOff x="0" y="0"/>
            <a:chExt cx="3307993" cy="1792223"/>
          </a:xfrm>
        </p:grpSpPr>
        <p:sp>
          <p:nvSpPr>
            <p:cNvPr id="82" name="o1_bg"/>
            <p:cNvSpPr/>
            <p:nvPr/>
          </p:nvSpPr>
          <p:spPr>
            <a:xfrm>
              <a:off x="0" y="0"/>
              <a:ext cx="3307994" cy="1792224"/>
            </a:xfrm>
            <a:prstGeom prst="roundRect">
              <a:avLst>
                <a:gd name="adj" fmla="val 510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83" name="o1_badge"/>
            <p:cNvSpPr/>
            <p:nvPr/>
          </p:nvSpPr>
          <p:spPr>
            <a:xfrm>
              <a:off x="237744" y="201168"/>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84" name="o1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2</a:t>
              </a:r>
            </a:p>
          </p:txBody>
        </p:sp>
        <p:sp>
          <p:nvSpPr>
            <p:cNvPr id="85" name="o1_t"/>
            <p:cNvSpPr txBox="1"/>
            <p:nvPr/>
          </p:nvSpPr>
          <p:spPr>
            <a:xfrm>
              <a:off x="237744" y="713231"/>
              <a:ext cx="2832506" cy="751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182B1E"/>
                  </a:solidFill>
                  <a:latin typeface="Arial"/>
                  <a:ea typeface="Arial"/>
                  <a:cs typeface="Arial"/>
                  <a:sym typeface="Arial"/>
                </a:defRPr>
              </a:lvl1pPr>
            </a:lstStyle>
            <a:p>
              <a:pPr/>
              <a:r>
                <a:t>Explain why antibiotic resistance is natural selection happening now.</a:t>
              </a:r>
            </a:p>
          </p:txBody>
        </p:sp>
      </p:grpSp>
      <p:grpSp>
        <p:nvGrpSpPr>
          <p:cNvPr id="91" name="o2"/>
          <p:cNvGrpSpPr/>
          <p:nvPr/>
        </p:nvGrpSpPr>
        <p:grpSpPr>
          <a:xfrm>
            <a:off x="8335061" y="2194560"/>
            <a:ext cx="3307994" cy="1792224"/>
            <a:chOff x="0" y="0"/>
            <a:chExt cx="3307993" cy="1792223"/>
          </a:xfrm>
        </p:grpSpPr>
        <p:sp>
          <p:nvSpPr>
            <p:cNvPr id="87" name="o2_bg"/>
            <p:cNvSpPr/>
            <p:nvPr/>
          </p:nvSpPr>
          <p:spPr>
            <a:xfrm>
              <a:off x="0" y="0"/>
              <a:ext cx="3307994" cy="1792224"/>
            </a:xfrm>
            <a:prstGeom prst="roundRect">
              <a:avLst>
                <a:gd name="adj" fmla="val 510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88" name="o2_badge"/>
            <p:cNvSpPr/>
            <p:nvPr/>
          </p:nvSpPr>
          <p:spPr>
            <a:xfrm>
              <a:off x="237744" y="201168"/>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89" name="o2_num"/>
            <p:cNvSpPr txBox="1"/>
            <p:nvPr/>
          </p:nvSpPr>
          <p:spPr>
            <a:xfrm>
              <a:off x="237744" y="291591"/>
              <a:ext cx="384048"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3</a:t>
              </a:r>
            </a:p>
          </p:txBody>
        </p:sp>
        <p:sp>
          <p:nvSpPr>
            <p:cNvPr id="90" name="o2_t"/>
            <p:cNvSpPr txBox="1"/>
            <p:nvPr/>
          </p:nvSpPr>
          <p:spPr>
            <a:xfrm>
              <a:off x="237744" y="713231"/>
              <a:ext cx="2832506" cy="751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500">
                  <a:solidFill>
                    <a:srgbClr val="182B1E"/>
                  </a:solidFill>
                  <a:latin typeface="Arial"/>
                  <a:ea typeface="Arial"/>
                  <a:cs typeface="Arial"/>
                  <a:sym typeface="Arial"/>
                </a:defRPr>
              </a:lvl1pPr>
            </a:lstStyle>
            <a:p>
              <a:pPr/>
              <a:r>
                <a:t>Write an explanation that does not say an organism changed on purpose.</a:t>
              </a:r>
            </a:p>
          </p:txBody>
        </p:sp>
      </p:grpSp>
      <p:grpSp>
        <p:nvGrpSpPr>
          <p:cNvPr id="94" name="obj_banner"/>
          <p:cNvGrpSpPr/>
          <p:nvPr/>
        </p:nvGrpSpPr>
        <p:grpSpPr>
          <a:xfrm>
            <a:off x="1170432" y="4279391"/>
            <a:ext cx="10472623" cy="640081"/>
            <a:chOff x="0" y="0"/>
            <a:chExt cx="10472622" cy="640080"/>
          </a:xfrm>
        </p:grpSpPr>
        <p:sp>
          <p:nvSpPr>
            <p:cNvPr id="92" name="Rounded Rectangle"/>
            <p:cNvSpPr/>
            <p:nvPr/>
          </p:nvSpPr>
          <p:spPr>
            <a:xfrm>
              <a:off x="0" y="0"/>
              <a:ext cx="10472623" cy="640081"/>
            </a:xfrm>
            <a:prstGeom prst="roundRect">
              <a:avLst>
                <a:gd name="adj" fmla="val 17143"/>
              </a:avLst>
            </a:prstGeom>
            <a:solidFill>
              <a:srgbClr val="1F3D2B"/>
            </a:solidFill>
            <a:ln w="9525" cap="flat">
              <a:solidFill>
                <a:srgbClr val="1F3D2B"/>
              </a:solidFill>
              <a:prstDash val="solid"/>
              <a:round/>
            </a:ln>
            <a:effectLst/>
          </p:spPr>
          <p:txBody>
            <a:bodyPr wrap="square" lIns="45719" tIns="45719" rIns="45719" bIns="45719" numCol="1" anchor="ctr">
              <a:noAutofit/>
            </a:bodyPr>
            <a:lstStyle/>
            <a:p>
              <a:pPr algn="ctr">
                <a:defRPr sz="1700"/>
              </a:pPr>
            </a:p>
          </p:txBody>
        </p:sp>
        <p:sp>
          <p:nvSpPr>
            <p:cNvPr id="93" name="Nothing changes on purpose."/>
            <p:cNvSpPr txBox="1"/>
            <p:nvPr/>
          </p:nvSpPr>
          <p:spPr>
            <a:xfrm>
              <a:off x="36901" y="196571"/>
              <a:ext cx="10398821"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700">
                  <a:solidFill>
                    <a:srgbClr val="DE9A4C"/>
                  </a:solidFill>
                  <a:latin typeface="Arial"/>
                  <a:ea typeface="Arial"/>
                  <a:cs typeface="Arial"/>
                  <a:sym typeface="Arial"/>
                </a:defRPr>
              </a:lvl1pPr>
            </a:lstStyle>
            <a:p>
              <a:pPr/>
              <a:r>
                <a:t>Nothing changes on purpose.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0000" fill="hold"/>
                                        <p:tgtEl>
                                          <p:spTgt spid="7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81"/>
                                        </p:tgtEl>
                                        <p:attrNameLst>
                                          <p:attrName>style.visibility</p:attrName>
                                        </p:attrNameLst>
                                      </p:cBhvr>
                                      <p:to>
                                        <p:strVal val="visible"/>
                                      </p:to>
                                    </p:set>
                                    <p:animEffect filter="fade" transition="in">
                                      <p:cBhvr>
                                        <p:cTn id="11" dur="400"/>
                                        <p:tgtEl>
                                          <p:spTgt spid="81"/>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86"/>
                                        </p:tgtEl>
                                        <p:attrNameLst>
                                          <p:attrName>style.visibility</p:attrName>
                                        </p:attrNameLst>
                                      </p:cBhvr>
                                      <p:to>
                                        <p:strVal val="visible"/>
                                      </p:to>
                                    </p:set>
                                    <p:animEffect filter="fade" transition="in">
                                      <p:cBhvr>
                                        <p:cTn id="16" dur="400"/>
                                        <p:tgtEl>
                                          <p:spTgt spid="86"/>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91"/>
                                        </p:tgtEl>
                                        <p:attrNameLst>
                                          <p:attrName>style.visibility</p:attrName>
                                        </p:attrNameLst>
                                      </p:cBhvr>
                                      <p:to>
                                        <p:strVal val="visible"/>
                                      </p:to>
                                    </p:set>
                                    <p:animEffect filter="fade" transition="in">
                                      <p:cBhvr>
                                        <p:cTn id="21" dur="400"/>
                                        <p:tgtEl>
                                          <p:spTgt spid="9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Subtype="16" presetID="23" grpId="5" fill="hold">
                                  <p:stCondLst>
                                    <p:cond delay="0"/>
                                  </p:stCondLst>
                                  <p:iterate type="el" backwards="0">
                                    <p:tmAbs val="0"/>
                                  </p:iterate>
                                  <p:childTnLst>
                                    <p:set>
                                      <p:cBhvr>
                                        <p:cTn id="25" fill="hold"/>
                                        <p:tgtEl>
                                          <p:spTgt spid="94"/>
                                        </p:tgtEl>
                                        <p:attrNameLst>
                                          <p:attrName>style.visibility</p:attrName>
                                        </p:attrNameLst>
                                      </p:cBhvr>
                                      <p:to>
                                        <p:strVal val="visible"/>
                                      </p:to>
                                    </p:set>
                                    <p:anim calcmode="lin" valueType="num">
                                      <p:cBhvr>
                                        <p:cTn id="26" dur="400" fill="hold"/>
                                        <p:tgtEl>
                                          <p:spTgt spid="94"/>
                                        </p:tgtEl>
                                        <p:attrNameLst>
                                          <p:attrName>ppt_w</p:attrName>
                                        </p:attrNameLst>
                                      </p:cBhvr>
                                      <p:tavLst>
                                        <p:tav tm="0">
                                          <p:val>
                                            <p:fltVal val="0"/>
                                          </p:val>
                                        </p:tav>
                                        <p:tav tm="100000">
                                          <p:val>
                                            <p:strVal val="#ppt_w"/>
                                          </p:val>
                                        </p:tav>
                                      </p:tavLst>
                                    </p:anim>
                                    <p:anim calcmode="lin" valueType="num">
                                      <p:cBhvr>
                                        <p:cTn id="27" dur="400" fill="hold"/>
                                        <p:tgtEl>
                                          <p:spTgt spid="94"/>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8" fill="hold" display="0">
                  <p:stCondLst>
                    <p:cond delay="indefinite"/>
                  </p:stCondLst>
                </p:cTn>
                <p:tgtEl>
                  <p:spTgt spid="72"/>
                </p:tgtEl>
              </p:cMediaNode>
            </p:video>
            <p:seq concurrent="1" prevAc="none" nextAc="seek">
              <p:cTn id="29" evtFilter="cancelBubble" nodeType="interactiveSeq" restart="whenNotActive" fill="hold">
                <p:stCondLst>
                  <p:cond delay="0" evt="onClick">
                    <p:tgtEl>
                      <p:spTgt spid="72"/>
                    </p:tgtEl>
                  </p:cond>
                </p:stCondLst>
                <p:endSync delay="0" evt="end">
                  <p:rtn val="all"/>
                </p:endSync>
                <p:childTnLst>
                  <p:par>
                    <p:cTn id="30" fill="hold">
                      <p:stCondLst>
                        <p:cond delay="0"/>
                      </p:stCondLst>
                      <p:childTnLst>
                        <p:par>
                          <p:cTn id="31" fill="hold">
                            <p:stCondLst>
                              <p:cond delay="0"/>
                            </p:stCondLst>
                            <p:childTnLst>
                              <p:par>
                                <p:cTn id="32" presetClass="mediacall" nodeType="clickEffect" presetSubtype="0" presetID="2" fill="hold">
                                  <p:stCondLst>
                                    <p:cond delay="0"/>
                                  </p:stCondLst>
                                  <p:childTnLst>
                                    <p:cmd type="call" cmd="togglePause">
                                      <p:cBhvr>
                                        <p:cTn id="33" dur="1" fill="hold"/>
                                        <p:tgtEl>
                                          <p:spTgt spid="72"/>
                                        </p:tgtEl>
                                      </p:cBhvr>
                                    </p:cmd>
                                  </p:childTnLst>
                                </p:cTn>
                              </p:par>
                            </p:childTnLst>
                          </p:cTn>
                        </p:par>
                      </p:childTnLst>
                    </p:cTn>
                  </p:par>
                </p:childTnLst>
              </p:cTn>
              <p:nextCondLst>
                <p:cond delay="0" evt="onClick">
                  <p:tgtEl>
                    <p:spTgt spid="72"/>
                  </p:tgtEl>
                </p:cond>
              </p:nextCondLst>
            </p:seq>
          </p:childTnLst>
        </p:cTn>
      </p:par>
    </p:tnLst>
    <p:bldLst>
      <p:bldP build="whole" bldLvl="1" animBg="1" rev="0" advAuto="0" spid="86" grpId="3"/>
      <p:bldP build="whole" bldLvl="1" animBg="1" rev="0" advAuto="0" spid="81" grpId="2"/>
      <p:bldP build="whole" bldLvl="1" animBg="1" rev="0" advAuto="0" spid="91" grpId="4"/>
      <p:bldP build="whole" bldLvl="1" animBg="1" rev="0" advAuto="0" spid="94" grpId="5"/>
    </p:bldLst>
  </p:timing>
</p:sld>
</file>

<file path=ppt/slides/slide3.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9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01" name="phase_pill"/>
          <p:cNvGrpSpPr/>
          <p:nvPr/>
        </p:nvGrpSpPr>
        <p:grpSpPr>
          <a:xfrm>
            <a:off x="1170432" y="310895"/>
            <a:ext cx="1623975" cy="329185"/>
            <a:chOff x="0" y="0"/>
            <a:chExt cx="1623974" cy="329184"/>
          </a:xfrm>
        </p:grpSpPr>
        <p:sp>
          <p:nvSpPr>
            <p:cNvPr id="99" name="Rounded Rectangle"/>
            <p:cNvSpPr/>
            <p:nvPr/>
          </p:nvSpPr>
          <p:spPr>
            <a:xfrm>
              <a:off x="0" y="0"/>
              <a:ext cx="1623975"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100" name="HOOK · 2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HOOK · 2 MIN</a:t>
              </a:r>
            </a:p>
          </p:txBody>
        </p:sp>
      </p:grpSp>
      <p:sp>
        <p:nvSpPr>
          <p:cNvPr id="102" name="slide_title"/>
          <p:cNvSpPr txBox="1"/>
          <p:nvPr/>
        </p:nvSpPr>
        <p:spPr>
          <a:xfrm>
            <a:off x="1170432" y="813932"/>
            <a:ext cx="9009583" cy="113362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000"/>
              </a:lnSpc>
              <a:defRPr b="1" sz="2400">
                <a:solidFill>
                  <a:srgbClr val="1F3D2B"/>
                </a:solidFill>
                <a:latin typeface="Georgia"/>
                <a:ea typeface="Georgia"/>
                <a:cs typeface="Georgia"/>
                <a:sym typeface="Georgia"/>
              </a:defRPr>
            </a:lvl1pPr>
          </a:lstStyle>
          <a:p>
            <a:pPr/>
            <a:r>
              <a:t>In 1977 a drought killed most of the finches on a Galapagos island. The next generation had bigger beaks. Why?</a:t>
            </a:r>
          </a:p>
        </p:txBody>
      </p:sp>
      <p:pic>
        <p:nvPicPr>
          <p:cNvPr id="103" name="hook_finch" descr="hook_finch"/>
          <p:cNvPicPr>
            <a:picLocks noChangeAspect="1"/>
          </p:cNvPicPr>
          <p:nvPr/>
        </p:nvPicPr>
        <p:blipFill>
          <a:blip r:embed="rId6">
            <a:extLst/>
          </a:blip>
          <a:stretch>
            <a:fillRect/>
          </a:stretch>
        </p:blipFill>
        <p:spPr>
          <a:xfrm>
            <a:off x="10454334" y="822960"/>
            <a:ext cx="1188721" cy="1188721"/>
          </a:xfrm>
          <a:prstGeom prst="rect">
            <a:avLst/>
          </a:prstGeom>
          <a:ln w="12700">
            <a:miter lim="400000"/>
          </a:ln>
        </p:spPr>
      </p:pic>
      <p:grpSp>
        <p:nvGrpSpPr>
          <p:cNvPr id="107" name="h0"/>
          <p:cNvGrpSpPr/>
          <p:nvPr/>
        </p:nvGrpSpPr>
        <p:grpSpPr>
          <a:xfrm>
            <a:off x="1170432" y="2487167"/>
            <a:ext cx="3307994" cy="1737361"/>
            <a:chOff x="0" y="0"/>
            <a:chExt cx="3307993" cy="1737360"/>
          </a:xfrm>
        </p:grpSpPr>
        <p:sp>
          <p:nvSpPr>
            <p:cNvPr id="104" name="h0_bg"/>
            <p:cNvSpPr/>
            <p:nvPr/>
          </p:nvSpPr>
          <p:spPr>
            <a:xfrm>
              <a:off x="0" y="0"/>
              <a:ext cx="3307994" cy="1737361"/>
            </a:xfrm>
            <a:prstGeom prst="roundRect">
              <a:avLst>
                <a:gd name="adj" fmla="val 5263"/>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05" name="h0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1442D"/>
                  </a:solidFill>
                  <a:latin typeface="Georgia"/>
                  <a:ea typeface="Georgia"/>
                  <a:cs typeface="Georgia"/>
                  <a:sym typeface="Georgia"/>
                </a:defRPr>
              </a:lvl1pPr>
            </a:lstStyle>
            <a:p>
              <a:pPr/>
              <a:r>
                <a:t>A</a:t>
              </a:r>
            </a:p>
          </p:txBody>
        </p:sp>
        <p:sp>
          <p:nvSpPr>
            <p:cNvPr id="106" name="h0_t"/>
            <p:cNvSpPr txBox="1"/>
            <p:nvPr/>
          </p:nvSpPr>
          <p:spPr>
            <a:xfrm>
              <a:off x="256032" y="640079"/>
              <a:ext cx="2795930" cy="10097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600">
                  <a:solidFill>
                    <a:srgbClr val="1F3D2B"/>
                  </a:solidFill>
                  <a:latin typeface="Georgia"/>
                  <a:ea typeface="Georgia"/>
                  <a:cs typeface="Georgia"/>
                  <a:sym typeface="Georgia"/>
                </a:defRPr>
              </a:lvl1pPr>
            </a:lstStyle>
            <a:p>
              <a:pPr/>
              <a:r>
                <a:t>The finches needed bigger beaks for finding food deep in the ground, so their beaks grew.</a:t>
              </a:r>
            </a:p>
          </p:txBody>
        </p:sp>
      </p:grpSp>
      <p:grpSp>
        <p:nvGrpSpPr>
          <p:cNvPr id="111" name="h1"/>
          <p:cNvGrpSpPr/>
          <p:nvPr/>
        </p:nvGrpSpPr>
        <p:grpSpPr>
          <a:xfrm>
            <a:off x="4752745" y="2487167"/>
            <a:ext cx="3307995" cy="1737361"/>
            <a:chOff x="0" y="0"/>
            <a:chExt cx="3307993" cy="1737360"/>
          </a:xfrm>
        </p:grpSpPr>
        <p:sp>
          <p:nvSpPr>
            <p:cNvPr id="108" name="h1_bg"/>
            <p:cNvSpPr/>
            <p:nvPr/>
          </p:nvSpPr>
          <p:spPr>
            <a:xfrm>
              <a:off x="0" y="0"/>
              <a:ext cx="3307994" cy="1737361"/>
            </a:xfrm>
            <a:prstGeom prst="roundRect">
              <a:avLst>
                <a:gd name="adj" fmla="val 5263"/>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09" name="h1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1442D"/>
                  </a:solidFill>
                  <a:latin typeface="Georgia"/>
                  <a:ea typeface="Georgia"/>
                  <a:cs typeface="Georgia"/>
                  <a:sym typeface="Georgia"/>
                </a:defRPr>
              </a:lvl1pPr>
            </a:lstStyle>
            <a:p>
              <a:pPr/>
              <a:r>
                <a:t>B</a:t>
              </a:r>
            </a:p>
          </p:txBody>
        </p:sp>
        <p:sp>
          <p:nvSpPr>
            <p:cNvPr id="110" name="h1_t"/>
            <p:cNvSpPr txBox="1"/>
            <p:nvPr/>
          </p:nvSpPr>
          <p:spPr>
            <a:xfrm>
              <a:off x="256032" y="640079"/>
              <a:ext cx="2795930" cy="10097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600">
                  <a:solidFill>
                    <a:srgbClr val="1F3D2B"/>
                  </a:solidFill>
                  <a:latin typeface="Georgia"/>
                  <a:ea typeface="Georgia"/>
                  <a:cs typeface="Georgia"/>
                  <a:sym typeface="Georgia"/>
                </a:defRPr>
              </a:lvl1pPr>
            </a:lstStyle>
            <a:p>
              <a:pPr/>
              <a:r>
                <a:t>Finches with bigger beaks survived more often and had chicks with bigger beaks.</a:t>
              </a:r>
            </a:p>
          </p:txBody>
        </p:sp>
      </p:grpSp>
      <p:grpSp>
        <p:nvGrpSpPr>
          <p:cNvPr id="115" name="h2"/>
          <p:cNvGrpSpPr/>
          <p:nvPr/>
        </p:nvGrpSpPr>
        <p:grpSpPr>
          <a:xfrm>
            <a:off x="8335061" y="2487167"/>
            <a:ext cx="3307994" cy="1737361"/>
            <a:chOff x="0" y="0"/>
            <a:chExt cx="3307993" cy="1737360"/>
          </a:xfrm>
        </p:grpSpPr>
        <p:sp>
          <p:nvSpPr>
            <p:cNvPr id="112" name="h2_bg"/>
            <p:cNvSpPr/>
            <p:nvPr/>
          </p:nvSpPr>
          <p:spPr>
            <a:xfrm>
              <a:off x="0" y="0"/>
              <a:ext cx="3307994" cy="1737361"/>
            </a:xfrm>
            <a:prstGeom prst="roundRect">
              <a:avLst>
                <a:gd name="adj" fmla="val 5263"/>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13" name="h2_k"/>
            <p:cNvSpPr txBox="1"/>
            <p:nvPr/>
          </p:nvSpPr>
          <p:spPr>
            <a:xfrm>
              <a:off x="256032" y="239268"/>
              <a:ext cx="548640" cy="381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2600">
                  <a:solidFill>
                    <a:srgbClr val="C1442D"/>
                  </a:solidFill>
                  <a:latin typeface="Georgia"/>
                  <a:ea typeface="Georgia"/>
                  <a:cs typeface="Georgia"/>
                  <a:sym typeface="Georgia"/>
                </a:defRPr>
              </a:lvl1pPr>
            </a:lstStyle>
            <a:p>
              <a:pPr/>
              <a:r>
                <a:t>C</a:t>
              </a:r>
            </a:p>
          </p:txBody>
        </p:sp>
        <p:sp>
          <p:nvSpPr>
            <p:cNvPr id="114" name="h2_t"/>
            <p:cNvSpPr txBox="1"/>
            <p:nvPr/>
          </p:nvSpPr>
          <p:spPr>
            <a:xfrm>
              <a:off x="256032" y="640079"/>
              <a:ext cx="2795930" cy="50175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b="1" sz="1600">
                  <a:solidFill>
                    <a:srgbClr val="1F3D2B"/>
                  </a:solidFill>
                  <a:latin typeface="Georgia"/>
                  <a:ea typeface="Georgia"/>
                  <a:cs typeface="Georgia"/>
                  <a:sym typeface="Georgia"/>
                </a:defRPr>
              </a:lvl1pPr>
            </a:lstStyle>
            <a:p>
              <a:pPr/>
              <a:r>
                <a:t>The drought made the beaks grow bigger.</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20000" fill="hold"/>
                                        <p:tgtEl>
                                          <p:spTgt spid="9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07"/>
                                        </p:tgtEl>
                                        <p:attrNameLst>
                                          <p:attrName>style.visibility</p:attrName>
                                        </p:attrNameLst>
                                      </p:cBhvr>
                                      <p:to>
                                        <p:strVal val="visible"/>
                                      </p:to>
                                    </p:set>
                                    <p:animEffect filter="fade" transition="in">
                                      <p:cBhvr>
                                        <p:cTn id="11" dur="400"/>
                                        <p:tgtEl>
                                          <p:spTgt spid="107"/>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111"/>
                                        </p:tgtEl>
                                        <p:attrNameLst>
                                          <p:attrName>style.visibility</p:attrName>
                                        </p:attrNameLst>
                                      </p:cBhvr>
                                      <p:to>
                                        <p:strVal val="visible"/>
                                      </p:to>
                                    </p:set>
                                    <p:animEffect filter="fade" transition="in">
                                      <p:cBhvr>
                                        <p:cTn id="15" dur="400"/>
                                        <p:tgtEl>
                                          <p:spTgt spid="111"/>
                                        </p:tgtEl>
                                      </p:cBhvr>
                                    </p:animEffect>
                                  </p:childTnLst>
                                </p:cTn>
                              </p:par>
                            </p:childTnLst>
                          </p:cTn>
                        </p:par>
                        <p:par>
                          <p:cTn id="16" fill="hold">
                            <p:stCondLst>
                              <p:cond delay="950"/>
                            </p:stCondLst>
                            <p:childTnLst>
                              <p:par>
                                <p:cTn id="17" presetClass="entr" nodeType="afterEffect" presetID="10" grpId="4" fill="hold">
                                  <p:stCondLst>
                                    <p:cond delay="300"/>
                                  </p:stCondLst>
                                  <p:iterate type="el" backwards="0">
                                    <p:tmAbs val="0"/>
                                  </p:iterate>
                                  <p:childTnLst>
                                    <p:set>
                                      <p:cBhvr>
                                        <p:cTn id="18" fill="hold"/>
                                        <p:tgtEl>
                                          <p:spTgt spid="115"/>
                                        </p:tgtEl>
                                        <p:attrNameLst>
                                          <p:attrName>style.visibility</p:attrName>
                                        </p:attrNameLst>
                                      </p:cBhvr>
                                      <p:to>
                                        <p:strVal val="visible"/>
                                      </p:to>
                                    </p:set>
                                    <p:animEffect filter="fade" transition="in">
                                      <p:cBhvr>
                                        <p:cTn id="19" dur="400"/>
                                        <p:tgtEl>
                                          <p:spTgt spid="115"/>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0" fill="hold" display="0">
                  <p:stCondLst>
                    <p:cond delay="indefinite"/>
                  </p:stCondLst>
                </p:cTn>
                <p:tgtEl>
                  <p:spTgt spid="98"/>
                </p:tgtEl>
              </p:cMediaNode>
            </p:video>
            <p:seq concurrent="1" prevAc="none" nextAc="seek">
              <p:cTn id="21" evtFilter="cancelBubble" nodeType="interactiveSeq" restart="whenNotActive" fill="hold">
                <p:stCondLst>
                  <p:cond delay="0" evt="onClick">
                    <p:tgtEl>
                      <p:spTgt spid="98"/>
                    </p:tgtEl>
                  </p:cond>
                </p:stCondLst>
                <p:endSync delay="0" evt="end">
                  <p:rtn val="all"/>
                </p:endSync>
                <p:childTnLst>
                  <p:par>
                    <p:cTn id="22" fill="hold">
                      <p:stCondLst>
                        <p:cond delay="0"/>
                      </p:stCondLst>
                      <p:childTnLst>
                        <p:par>
                          <p:cTn id="23" fill="hold">
                            <p:stCondLst>
                              <p:cond delay="0"/>
                            </p:stCondLst>
                            <p:childTnLst>
                              <p:par>
                                <p:cTn id="24" presetClass="mediacall" nodeType="clickEffect" presetSubtype="0" presetID="2" fill="hold">
                                  <p:stCondLst>
                                    <p:cond delay="0"/>
                                  </p:stCondLst>
                                  <p:childTnLst>
                                    <p:cmd type="call" cmd="togglePause">
                                      <p:cBhvr>
                                        <p:cTn id="25" dur="1" fill="hold"/>
                                        <p:tgtEl>
                                          <p:spTgt spid="98"/>
                                        </p:tgtEl>
                                      </p:cBhvr>
                                    </p:cmd>
                                  </p:childTnLst>
                                </p:cTn>
                              </p:par>
                            </p:childTnLst>
                          </p:cTn>
                        </p:par>
                      </p:childTnLst>
                    </p:cTn>
                  </p:par>
                </p:childTnLst>
              </p:cTn>
              <p:nextCondLst>
                <p:cond delay="0" evt="onClick">
                  <p:tgtEl>
                    <p:spTgt spid="98"/>
                  </p:tgtEl>
                </p:cond>
              </p:nextCondLst>
            </p:seq>
          </p:childTnLst>
        </p:cTn>
      </p:par>
    </p:tnLst>
    <p:bldLst>
      <p:bldP build="whole" bldLvl="1" animBg="1" rev="0" advAuto="0" spid="111" grpId="3"/>
      <p:bldP build="whole" bldLvl="1" animBg="1" rev="0" advAuto="0" spid="115" grpId="4"/>
      <p:bldP build="whole" bldLvl="1" animBg="1" rev="0" advAuto="0" spid="107" grpId="2"/>
    </p:bldLst>
  </p:timing>
</p:sld>
</file>

<file path=ppt/slides/slide4.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119"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22" name="phase_pill"/>
          <p:cNvGrpSpPr/>
          <p:nvPr/>
        </p:nvGrpSpPr>
        <p:grpSpPr>
          <a:xfrm>
            <a:off x="1170432" y="310895"/>
            <a:ext cx="1623975" cy="329185"/>
            <a:chOff x="0" y="0"/>
            <a:chExt cx="1623974" cy="329184"/>
          </a:xfrm>
        </p:grpSpPr>
        <p:sp>
          <p:nvSpPr>
            <p:cNvPr id="120" name="Rounded Rectangle"/>
            <p:cNvSpPr/>
            <p:nvPr/>
          </p:nvSpPr>
          <p:spPr>
            <a:xfrm>
              <a:off x="0" y="0"/>
              <a:ext cx="1623975"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121"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123" name="slide_title"/>
          <p:cNvSpPr txBox="1"/>
          <p:nvPr/>
        </p:nvSpPr>
        <p:spPr>
          <a:xfrm>
            <a:off x="1170431" y="1003807"/>
            <a:ext cx="9375345"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1F3D2B"/>
                </a:solidFill>
                <a:latin typeface="Georgia"/>
                <a:ea typeface="Georgia"/>
                <a:cs typeface="Georgia"/>
                <a:sym typeface="Georgia"/>
              </a:defRPr>
            </a:lvl1pPr>
          </a:lstStyle>
          <a:p>
            <a:pPr/>
            <a:r>
              <a:t>Daphne Major, 1977</a:t>
            </a:r>
          </a:p>
        </p:txBody>
      </p:sp>
      <p:grpSp>
        <p:nvGrpSpPr>
          <p:cNvPr id="129" name="st0"/>
          <p:cNvGrpSpPr/>
          <p:nvPr/>
        </p:nvGrpSpPr>
        <p:grpSpPr>
          <a:xfrm>
            <a:off x="1170432" y="1737360"/>
            <a:ext cx="5144873" cy="1901952"/>
            <a:chOff x="0" y="0"/>
            <a:chExt cx="5144872" cy="1901951"/>
          </a:xfrm>
        </p:grpSpPr>
        <p:sp>
          <p:nvSpPr>
            <p:cNvPr id="124" name="st0_bg"/>
            <p:cNvSpPr/>
            <p:nvPr/>
          </p:nvSpPr>
          <p:spPr>
            <a:xfrm>
              <a:off x="0" y="0"/>
              <a:ext cx="5144873" cy="1901952"/>
            </a:xfrm>
            <a:prstGeom prst="roundRect">
              <a:avLst>
                <a:gd name="adj" fmla="val 4808"/>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25" name="st0_badge"/>
            <p:cNvSpPr/>
            <p:nvPr/>
          </p:nvSpPr>
          <p:spPr>
            <a:xfrm>
              <a:off x="219455" y="182880"/>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126" name="st0_num"/>
            <p:cNvSpPr txBox="1"/>
            <p:nvPr/>
          </p:nvSpPr>
          <p:spPr>
            <a:xfrm>
              <a:off x="219455" y="273303"/>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1</a:t>
              </a:r>
            </a:p>
          </p:txBody>
        </p:sp>
        <p:sp>
          <p:nvSpPr>
            <p:cNvPr id="127" name="st0_h"/>
            <p:cNvSpPr txBox="1"/>
            <p:nvPr/>
          </p:nvSpPr>
          <p:spPr>
            <a:xfrm>
              <a:off x="786383" y="254253"/>
              <a:ext cx="4139034"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600">
                  <a:solidFill>
                    <a:srgbClr val="1F3D2B"/>
                  </a:solidFill>
                  <a:latin typeface="Georgia"/>
                  <a:ea typeface="Georgia"/>
                  <a:cs typeface="Georgia"/>
                  <a:sym typeface="Georgia"/>
                </a:defRPr>
              </a:lvl1pPr>
            </a:lstStyle>
            <a:p>
              <a:pPr/>
              <a:r>
                <a:t>VARIATION</a:t>
              </a:r>
            </a:p>
          </p:txBody>
        </p:sp>
        <p:sp>
          <p:nvSpPr>
            <p:cNvPr id="128" name="st0_t"/>
            <p:cNvSpPr txBox="1"/>
            <p:nvPr/>
          </p:nvSpPr>
          <p:spPr>
            <a:xfrm>
              <a:off x="256032" y="694943"/>
              <a:ext cx="4632809" cy="751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sz="1500">
                  <a:solidFill>
                    <a:srgbClr val="182B1E"/>
                  </a:solidFill>
                  <a:latin typeface="Arial"/>
                  <a:ea typeface="Arial"/>
                  <a:cs typeface="Arial"/>
                  <a:sym typeface="Arial"/>
                </a:defRPr>
              </a:lvl1pPr>
            </a:lstStyle>
            <a:p>
              <a:pPr/>
              <a:r>
                <a:t>Medium ground finches on the island had beaks of different depths, top to bottom. Beak depth is inherited from parents.</a:t>
              </a:r>
            </a:p>
          </p:txBody>
        </p:sp>
      </p:grpSp>
      <p:grpSp>
        <p:nvGrpSpPr>
          <p:cNvPr id="135" name="st1"/>
          <p:cNvGrpSpPr/>
          <p:nvPr/>
        </p:nvGrpSpPr>
        <p:grpSpPr>
          <a:xfrm>
            <a:off x="6498183" y="1737360"/>
            <a:ext cx="5144873" cy="1901952"/>
            <a:chOff x="0" y="0"/>
            <a:chExt cx="5144872" cy="1901951"/>
          </a:xfrm>
        </p:grpSpPr>
        <p:sp>
          <p:nvSpPr>
            <p:cNvPr id="130" name="st1_bg"/>
            <p:cNvSpPr/>
            <p:nvPr/>
          </p:nvSpPr>
          <p:spPr>
            <a:xfrm>
              <a:off x="0" y="0"/>
              <a:ext cx="5144873" cy="1901952"/>
            </a:xfrm>
            <a:prstGeom prst="roundRect">
              <a:avLst>
                <a:gd name="adj" fmla="val 4808"/>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31" name="st1_badge"/>
            <p:cNvSpPr/>
            <p:nvPr/>
          </p:nvSpPr>
          <p:spPr>
            <a:xfrm>
              <a:off x="219455" y="182880"/>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132" name="st1_num"/>
            <p:cNvSpPr txBox="1"/>
            <p:nvPr/>
          </p:nvSpPr>
          <p:spPr>
            <a:xfrm>
              <a:off x="219455" y="273303"/>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2</a:t>
              </a:r>
            </a:p>
          </p:txBody>
        </p:sp>
        <p:sp>
          <p:nvSpPr>
            <p:cNvPr id="133" name="st1_h"/>
            <p:cNvSpPr txBox="1"/>
            <p:nvPr/>
          </p:nvSpPr>
          <p:spPr>
            <a:xfrm>
              <a:off x="786383" y="254253"/>
              <a:ext cx="4139034"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600">
                  <a:solidFill>
                    <a:srgbClr val="1F3D2B"/>
                  </a:solidFill>
                  <a:latin typeface="Georgia"/>
                  <a:ea typeface="Georgia"/>
                  <a:cs typeface="Georgia"/>
                  <a:sym typeface="Georgia"/>
                </a:defRPr>
              </a:lvl1pPr>
            </a:lstStyle>
            <a:p>
              <a:pPr/>
              <a:r>
                <a:t>COMPETITION</a:t>
              </a:r>
            </a:p>
          </p:txBody>
        </p:sp>
        <p:sp>
          <p:nvSpPr>
            <p:cNvPr id="134" name="st1_t"/>
            <p:cNvSpPr txBox="1"/>
            <p:nvPr/>
          </p:nvSpPr>
          <p:spPr>
            <a:xfrm>
              <a:off x="256032" y="694943"/>
              <a:ext cx="4632809" cy="751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sz="1500">
                  <a:solidFill>
                    <a:srgbClr val="182B1E"/>
                  </a:solidFill>
                  <a:latin typeface="Arial"/>
                  <a:ea typeface="Arial"/>
                  <a:cs typeface="Arial"/>
                  <a:sym typeface="Arial"/>
                </a:defRPr>
              </a:lvl1pPr>
            </a:lstStyle>
            <a:p>
              <a:pPr/>
              <a:r>
                <a:t>In 1977 a drought hit. Few plants made seeds. The small, soft seeds ran out first, leaving mostly large, hard seeds.</a:t>
              </a:r>
            </a:p>
          </p:txBody>
        </p:sp>
      </p:grpSp>
      <p:grpSp>
        <p:nvGrpSpPr>
          <p:cNvPr id="141" name="st2"/>
          <p:cNvGrpSpPr/>
          <p:nvPr/>
        </p:nvGrpSpPr>
        <p:grpSpPr>
          <a:xfrm>
            <a:off x="1170432" y="3822191"/>
            <a:ext cx="5144873" cy="1901953"/>
            <a:chOff x="0" y="0"/>
            <a:chExt cx="5144872" cy="1901951"/>
          </a:xfrm>
        </p:grpSpPr>
        <p:sp>
          <p:nvSpPr>
            <p:cNvPr id="136" name="st2_bg"/>
            <p:cNvSpPr/>
            <p:nvPr/>
          </p:nvSpPr>
          <p:spPr>
            <a:xfrm>
              <a:off x="0" y="0"/>
              <a:ext cx="5144873" cy="1901952"/>
            </a:xfrm>
            <a:prstGeom prst="roundRect">
              <a:avLst>
                <a:gd name="adj" fmla="val 4808"/>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37" name="st2_badge"/>
            <p:cNvSpPr/>
            <p:nvPr/>
          </p:nvSpPr>
          <p:spPr>
            <a:xfrm>
              <a:off x="219455" y="182880"/>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138" name="st2_num"/>
            <p:cNvSpPr txBox="1"/>
            <p:nvPr/>
          </p:nvSpPr>
          <p:spPr>
            <a:xfrm>
              <a:off x="219455" y="273303"/>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3</a:t>
              </a:r>
            </a:p>
          </p:txBody>
        </p:sp>
        <p:sp>
          <p:nvSpPr>
            <p:cNvPr id="139" name="st2_h"/>
            <p:cNvSpPr txBox="1"/>
            <p:nvPr/>
          </p:nvSpPr>
          <p:spPr>
            <a:xfrm>
              <a:off x="786383" y="254253"/>
              <a:ext cx="4139034"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600">
                  <a:solidFill>
                    <a:srgbClr val="1F3D2B"/>
                  </a:solidFill>
                  <a:latin typeface="Georgia"/>
                  <a:ea typeface="Georgia"/>
                  <a:cs typeface="Georgia"/>
                  <a:sym typeface="Georgia"/>
                </a:defRPr>
              </a:lvl1pPr>
            </a:lstStyle>
            <a:p>
              <a:pPr/>
              <a:r>
                <a:t>SURVIVAL</a:t>
              </a:r>
            </a:p>
          </p:txBody>
        </p:sp>
        <p:sp>
          <p:nvSpPr>
            <p:cNvPr id="140" name="st2_t"/>
            <p:cNvSpPr txBox="1"/>
            <p:nvPr/>
          </p:nvSpPr>
          <p:spPr>
            <a:xfrm>
              <a:off x="256032" y="694943"/>
              <a:ext cx="4632809" cy="751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sz="1500">
                  <a:solidFill>
                    <a:srgbClr val="182B1E"/>
                  </a:solidFill>
                  <a:latin typeface="Arial"/>
                  <a:ea typeface="Arial"/>
                  <a:cs typeface="Arial"/>
                  <a:sym typeface="Arial"/>
                </a:defRPr>
              </a:lvl1pPr>
            </a:lstStyle>
            <a:p>
              <a:pPr/>
              <a:r>
                <a:t>About 85% of the finches died. The survivors had deeper beaks: 9.96 mm on average, against 9.42 mm before.</a:t>
              </a:r>
            </a:p>
          </p:txBody>
        </p:sp>
      </p:grpSp>
      <p:grpSp>
        <p:nvGrpSpPr>
          <p:cNvPr id="147" name="st3"/>
          <p:cNvGrpSpPr/>
          <p:nvPr/>
        </p:nvGrpSpPr>
        <p:grpSpPr>
          <a:xfrm>
            <a:off x="6498183" y="3822191"/>
            <a:ext cx="5144873" cy="1901953"/>
            <a:chOff x="0" y="0"/>
            <a:chExt cx="5144872" cy="1901951"/>
          </a:xfrm>
        </p:grpSpPr>
        <p:sp>
          <p:nvSpPr>
            <p:cNvPr id="142" name="st3_bg"/>
            <p:cNvSpPr/>
            <p:nvPr/>
          </p:nvSpPr>
          <p:spPr>
            <a:xfrm>
              <a:off x="0" y="0"/>
              <a:ext cx="5144873" cy="1901952"/>
            </a:xfrm>
            <a:prstGeom prst="roundRect">
              <a:avLst>
                <a:gd name="adj" fmla="val 4808"/>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43" name="st3_badge"/>
            <p:cNvSpPr/>
            <p:nvPr/>
          </p:nvSpPr>
          <p:spPr>
            <a:xfrm>
              <a:off x="219455" y="182880"/>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144" name="st3_num"/>
            <p:cNvSpPr txBox="1"/>
            <p:nvPr/>
          </p:nvSpPr>
          <p:spPr>
            <a:xfrm>
              <a:off x="219455" y="273303"/>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4</a:t>
              </a:r>
            </a:p>
          </p:txBody>
        </p:sp>
        <p:sp>
          <p:nvSpPr>
            <p:cNvPr id="145" name="st3_h"/>
            <p:cNvSpPr txBox="1"/>
            <p:nvPr/>
          </p:nvSpPr>
          <p:spPr>
            <a:xfrm>
              <a:off x="786383" y="254253"/>
              <a:ext cx="4139034"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00" sz="1600">
                  <a:solidFill>
                    <a:srgbClr val="1F3D2B"/>
                  </a:solidFill>
                  <a:latin typeface="Georgia"/>
                  <a:ea typeface="Georgia"/>
                  <a:cs typeface="Georgia"/>
                  <a:sym typeface="Georgia"/>
                </a:defRPr>
              </a:lvl1pPr>
            </a:lstStyle>
            <a:p>
              <a:pPr/>
              <a:r>
                <a:t>INHERITANCE</a:t>
              </a:r>
            </a:p>
          </p:txBody>
        </p:sp>
        <p:sp>
          <p:nvSpPr>
            <p:cNvPr id="146" name="st3_t"/>
            <p:cNvSpPr txBox="1"/>
            <p:nvPr/>
          </p:nvSpPr>
          <p:spPr>
            <a:xfrm>
              <a:off x="256032" y="694943"/>
              <a:ext cx="4632809" cy="49757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2000"/>
                </a:lnSpc>
                <a:defRPr sz="1500">
                  <a:solidFill>
                    <a:srgbClr val="182B1E"/>
                  </a:solidFill>
                  <a:latin typeface="Arial"/>
                  <a:ea typeface="Arial"/>
                  <a:cs typeface="Arial"/>
                  <a:sym typeface="Arial"/>
                </a:defRPr>
              </a:lvl1pPr>
            </a:lstStyle>
            <a:p>
              <a:pPr/>
              <a:r>
                <a:t>The survivors' chicks had deeper beaks too. The next generation's average was about 4% deeper.</a:t>
              </a:r>
            </a:p>
          </p:txBody>
        </p:sp>
      </p:grpSp>
      <p:grpSp>
        <p:nvGrpSpPr>
          <p:cNvPr id="150" name="dm_banner"/>
          <p:cNvGrpSpPr/>
          <p:nvPr/>
        </p:nvGrpSpPr>
        <p:grpSpPr>
          <a:xfrm>
            <a:off x="1170432" y="5907023"/>
            <a:ext cx="10472623" cy="566929"/>
            <a:chOff x="0" y="0"/>
            <a:chExt cx="10472622" cy="566927"/>
          </a:xfrm>
        </p:grpSpPr>
        <p:sp>
          <p:nvSpPr>
            <p:cNvPr id="148" name="Rounded Rectangle"/>
            <p:cNvSpPr/>
            <p:nvPr/>
          </p:nvSpPr>
          <p:spPr>
            <a:xfrm>
              <a:off x="0" y="0"/>
              <a:ext cx="10472623" cy="566928"/>
            </a:xfrm>
            <a:prstGeom prst="roundRect">
              <a:avLst>
                <a:gd name="adj" fmla="val 19355"/>
              </a:avLst>
            </a:prstGeom>
            <a:solidFill>
              <a:srgbClr val="1F3D2B"/>
            </a:solidFill>
            <a:ln w="9525" cap="flat">
              <a:solidFill>
                <a:srgbClr val="1F3D2B"/>
              </a:solidFill>
              <a:prstDash val="solid"/>
              <a:round/>
            </a:ln>
            <a:effectLst/>
          </p:spPr>
          <p:txBody>
            <a:bodyPr wrap="square" lIns="45719" tIns="45719" rIns="45719" bIns="45719" numCol="1" anchor="ctr">
              <a:noAutofit/>
            </a:bodyPr>
            <a:lstStyle/>
            <a:p>
              <a:pPr algn="ctr">
                <a:defRPr sz="1700"/>
              </a:pPr>
            </a:p>
          </p:txBody>
        </p:sp>
        <p:sp>
          <p:nvSpPr>
            <p:cNvPr id="149" name="No finch grew a bigger beak. The population changed."/>
            <p:cNvSpPr txBox="1"/>
            <p:nvPr/>
          </p:nvSpPr>
          <p:spPr>
            <a:xfrm>
              <a:off x="36901" y="158725"/>
              <a:ext cx="10398821" cy="24947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70" tIns="1270" rIns="1270" bIns="1270" numCol="1" anchor="ctr">
              <a:spAutoFit/>
            </a:bodyPr>
            <a:lstStyle>
              <a:lvl1pPr algn="ctr">
                <a:defRPr b="1" sz="1700">
                  <a:solidFill>
                    <a:srgbClr val="DE9A4C"/>
                  </a:solidFill>
                  <a:latin typeface="Arial"/>
                  <a:ea typeface="Arial"/>
                  <a:cs typeface="Arial"/>
                  <a:sym typeface="Arial"/>
                </a:defRPr>
              </a:lvl1pPr>
            </a:lstStyle>
            <a:p>
              <a:pPr/>
              <a:r>
                <a:t>No finch grew a bigger beak. The population changed.</a:t>
              </a:r>
            </a:p>
          </p:txBody>
        </p:sp>
      </p:grpSp>
      <p:pic>
        <p:nvPicPr>
          <p:cNvPr id="151" name="Image" descr="Image"/>
          <p:cNvPicPr>
            <a:picLocks noChangeAspect="1"/>
          </p:cNvPicPr>
          <p:nvPr/>
        </p:nvPicPr>
        <p:blipFill>
          <a:blip r:embed="rId6">
            <a:extLst/>
          </a:blip>
          <a:stretch>
            <a:fillRect/>
          </a:stretch>
        </p:blipFill>
        <p:spPr>
          <a:xfrm>
            <a:off x="7807417" y="-1124267"/>
            <a:ext cx="4181082" cy="2789936"/>
          </a:xfrm>
          <a:prstGeom prst="rect">
            <a:avLst/>
          </a:prstGeom>
          <a:ln w="12700">
            <a:miter lim="400000"/>
          </a:ln>
        </p:spPr>
      </p:pic>
      <p:pic>
        <p:nvPicPr>
          <p:cNvPr id="152" name="dm_finch" descr="dm_finch"/>
          <p:cNvPicPr>
            <a:picLocks noChangeAspect="1"/>
          </p:cNvPicPr>
          <p:nvPr/>
        </p:nvPicPr>
        <p:blipFill>
          <a:blip r:embed="rId7">
            <a:extLst/>
          </a:blip>
          <a:stretch>
            <a:fillRect/>
          </a:stretch>
        </p:blipFill>
        <p:spPr>
          <a:xfrm>
            <a:off x="5972403" y="3224275"/>
            <a:ext cx="868681" cy="868681"/>
          </a:xfrm>
          <a:prstGeom prst="rect">
            <a:avLst/>
          </a:prstGeom>
          <a:ln w="12700">
            <a:miter lim="400000"/>
          </a:ln>
        </p:spPr>
      </p:pic>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119"/>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29"/>
                                        </p:tgtEl>
                                        <p:attrNameLst>
                                          <p:attrName>style.visibility</p:attrName>
                                        </p:attrNameLst>
                                      </p:cBhvr>
                                      <p:to>
                                        <p:strVal val="visible"/>
                                      </p:to>
                                    </p:set>
                                    <p:animEffect filter="fade" transition="in">
                                      <p:cBhvr>
                                        <p:cTn id="11" dur="400"/>
                                        <p:tgtEl>
                                          <p:spTgt spid="129"/>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35"/>
                                        </p:tgtEl>
                                        <p:attrNameLst>
                                          <p:attrName>style.visibility</p:attrName>
                                        </p:attrNameLst>
                                      </p:cBhvr>
                                      <p:to>
                                        <p:strVal val="visible"/>
                                      </p:to>
                                    </p:set>
                                    <p:animEffect filter="fade" transition="in">
                                      <p:cBhvr>
                                        <p:cTn id="16" dur="400"/>
                                        <p:tgtEl>
                                          <p:spTgt spid="135"/>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141"/>
                                        </p:tgtEl>
                                        <p:attrNameLst>
                                          <p:attrName>style.visibility</p:attrName>
                                        </p:attrNameLst>
                                      </p:cBhvr>
                                      <p:to>
                                        <p:strVal val="visible"/>
                                      </p:to>
                                    </p:set>
                                    <p:animEffect filter="fade" transition="in">
                                      <p:cBhvr>
                                        <p:cTn id="21" dur="400"/>
                                        <p:tgtEl>
                                          <p:spTgt spid="141"/>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147"/>
                                        </p:tgtEl>
                                        <p:attrNameLst>
                                          <p:attrName>style.visibility</p:attrName>
                                        </p:attrNameLst>
                                      </p:cBhvr>
                                      <p:to>
                                        <p:strVal val="visible"/>
                                      </p:to>
                                    </p:set>
                                    <p:animEffect filter="fade" transition="in">
                                      <p:cBhvr>
                                        <p:cTn id="26" dur="400"/>
                                        <p:tgtEl>
                                          <p:spTgt spid="147"/>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Subtype="16" presetID="23" grpId="6" fill="hold">
                                  <p:stCondLst>
                                    <p:cond delay="0"/>
                                  </p:stCondLst>
                                  <p:iterate type="el" backwards="0">
                                    <p:tmAbs val="0"/>
                                  </p:iterate>
                                  <p:childTnLst>
                                    <p:set>
                                      <p:cBhvr>
                                        <p:cTn id="30" fill="hold"/>
                                        <p:tgtEl>
                                          <p:spTgt spid="150"/>
                                        </p:tgtEl>
                                        <p:attrNameLst>
                                          <p:attrName>style.visibility</p:attrName>
                                        </p:attrNameLst>
                                      </p:cBhvr>
                                      <p:to>
                                        <p:strVal val="visible"/>
                                      </p:to>
                                    </p:set>
                                    <p:anim calcmode="lin" valueType="num">
                                      <p:cBhvr>
                                        <p:cTn id="31" dur="400" fill="hold"/>
                                        <p:tgtEl>
                                          <p:spTgt spid="150"/>
                                        </p:tgtEl>
                                        <p:attrNameLst>
                                          <p:attrName>ppt_w</p:attrName>
                                        </p:attrNameLst>
                                      </p:cBhvr>
                                      <p:tavLst>
                                        <p:tav tm="0">
                                          <p:val>
                                            <p:fltVal val="0"/>
                                          </p:val>
                                        </p:tav>
                                        <p:tav tm="100000">
                                          <p:val>
                                            <p:strVal val="#ppt_w"/>
                                          </p:val>
                                        </p:tav>
                                      </p:tavLst>
                                    </p:anim>
                                    <p:anim calcmode="lin" valueType="num">
                                      <p:cBhvr>
                                        <p:cTn id="32" dur="400" fill="hold"/>
                                        <p:tgtEl>
                                          <p:spTgt spid="150"/>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3" fill="hold" display="0">
                  <p:stCondLst>
                    <p:cond delay="indefinite"/>
                  </p:stCondLst>
                </p:cTn>
                <p:tgtEl>
                  <p:spTgt spid="119"/>
                </p:tgtEl>
              </p:cMediaNode>
            </p:video>
            <p:seq concurrent="1" prevAc="none" nextAc="seek">
              <p:cTn id="34" evtFilter="cancelBubble" nodeType="interactiveSeq" restart="whenNotActive" fill="hold">
                <p:stCondLst>
                  <p:cond delay="0" evt="onClick">
                    <p:tgtEl>
                      <p:spTgt spid="119"/>
                    </p:tgtEl>
                  </p:cond>
                </p:stCondLst>
                <p:endSync delay="0" evt="end">
                  <p:rtn val="all"/>
                </p:endSync>
                <p:childTnLst>
                  <p:par>
                    <p:cTn id="35" fill="hold">
                      <p:stCondLst>
                        <p:cond delay="0"/>
                      </p:stCondLst>
                      <p:childTnLst>
                        <p:par>
                          <p:cTn id="36" fill="hold">
                            <p:stCondLst>
                              <p:cond delay="0"/>
                            </p:stCondLst>
                            <p:childTnLst>
                              <p:par>
                                <p:cTn id="37" presetClass="mediacall" nodeType="clickEffect" presetSubtype="0" presetID="2" fill="hold">
                                  <p:stCondLst>
                                    <p:cond delay="0"/>
                                  </p:stCondLst>
                                  <p:childTnLst>
                                    <p:cmd type="call" cmd="togglePause">
                                      <p:cBhvr>
                                        <p:cTn id="38" dur="1" fill="hold"/>
                                        <p:tgtEl>
                                          <p:spTgt spid="119"/>
                                        </p:tgtEl>
                                      </p:cBhvr>
                                    </p:cmd>
                                  </p:childTnLst>
                                </p:cTn>
                              </p:par>
                            </p:childTnLst>
                          </p:cTn>
                        </p:par>
                      </p:childTnLst>
                    </p:cTn>
                  </p:par>
                </p:childTnLst>
              </p:cTn>
              <p:nextCondLst>
                <p:cond delay="0" evt="onClick">
                  <p:tgtEl>
                    <p:spTgt spid="119"/>
                  </p:tgtEl>
                </p:cond>
              </p:nextCondLst>
            </p:seq>
          </p:childTnLst>
        </p:cTn>
      </p:par>
    </p:tnLst>
    <p:bldLst>
      <p:bldP build="whole" bldLvl="1" animBg="1" rev="0" advAuto="0" spid="129" grpId="2"/>
      <p:bldP build="whole" bldLvl="1" animBg="1" rev="0" advAuto="0" spid="135" grpId="3"/>
      <p:bldP build="whole" bldLvl="1" animBg="1" rev="0" advAuto="0" spid="147" grpId="5"/>
      <p:bldP build="whole" bldLvl="1" animBg="1" rev="0" advAuto="0" spid="150" grpId="6"/>
      <p:bldP build="whole" bldLvl="1" animBg="1" rev="0" advAuto="0" spid="141" grpId="4"/>
    </p:bldLst>
  </p:timing>
</p:sld>
</file>

<file path=ppt/slides/slide5.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156"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159" name="phase_pill"/>
          <p:cNvGrpSpPr/>
          <p:nvPr/>
        </p:nvGrpSpPr>
        <p:grpSpPr>
          <a:xfrm>
            <a:off x="1170432" y="310895"/>
            <a:ext cx="2161643" cy="329185"/>
            <a:chOff x="0" y="0"/>
            <a:chExt cx="2161642" cy="329184"/>
          </a:xfrm>
        </p:grpSpPr>
        <p:sp>
          <p:nvSpPr>
            <p:cNvPr id="157" name="Rounded Rectangle"/>
            <p:cNvSpPr/>
            <p:nvPr/>
          </p:nvSpPr>
          <p:spPr>
            <a:xfrm>
              <a:off x="0" y="0"/>
              <a:ext cx="2161643"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158" name="PRACTICAL · 11 MIN"/>
            <p:cNvSpPr txBox="1"/>
            <p:nvPr/>
          </p:nvSpPr>
          <p:spPr>
            <a:xfrm>
              <a:off x="42851" y="90677"/>
              <a:ext cx="2075940"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PRACTICAL · 11 MIN</a:t>
              </a:r>
            </a:p>
          </p:txBody>
        </p:sp>
      </p:grpSp>
      <p:sp>
        <p:nvSpPr>
          <p:cNvPr id="160"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F3D2B"/>
                </a:solidFill>
                <a:latin typeface="Georgia"/>
                <a:ea typeface="Georgia"/>
                <a:cs typeface="Georgia"/>
                <a:sym typeface="Georgia"/>
              </a:defRPr>
            </a:lvl1pPr>
          </a:lstStyle>
          <a:p>
            <a:pPr/>
            <a:r>
              <a:t>The beak game</a:t>
            </a:r>
          </a:p>
        </p:txBody>
      </p:sp>
      <p:grpSp>
        <p:nvGrpSpPr>
          <p:cNvPr id="176" name="beaks"/>
          <p:cNvGrpSpPr/>
          <p:nvPr/>
        </p:nvGrpSpPr>
        <p:grpSpPr>
          <a:xfrm>
            <a:off x="1170431" y="1783079"/>
            <a:ext cx="5394962" cy="3246121"/>
            <a:chOff x="0" y="0"/>
            <a:chExt cx="5394960" cy="3246120"/>
          </a:xfrm>
        </p:grpSpPr>
        <p:sp>
          <p:nvSpPr>
            <p:cNvPr id="161" name="bk0_bg"/>
            <p:cNvSpPr/>
            <p:nvPr/>
          </p:nvSpPr>
          <p:spPr>
            <a:xfrm>
              <a:off x="-1" y="-1"/>
              <a:ext cx="1664209" cy="1645922"/>
            </a:xfrm>
            <a:prstGeom prst="roundRect">
              <a:avLst>
                <a:gd name="adj" fmla="val 5556"/>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162" name="bk0_icon" descr="bk0_icon"/>
            <p:cNvPicPr>
              <a:picLocks noChangeAspect="1"/>
            </p:cNvPicPr>
            <p:nvPr/>
          </p:nvPicPr>
          <p:blipFill>
            <a:blip r:embed="rId6">
              <a:extLst/>
            </a:blip>
            <a:stretch>
              <a:fillRect/>
            </a:stretch>
          </p:blipFill>
          <p:spPr>
            <a:xfrm>
              <a:off x="411479" y="146304"/>
              <a:ext cx="841249" cy="841249"/>
            </a:xfrm>
            <a:prstGeom prst="rect">
              <a:avLst/>
            </a:prstGeom>
            <a:ln w="12700" cap="flat">
              <a:noFill/>
              <a:miter lim="400000"/>
            </a:ln>
            <a:effectLst/>
          </p:spPr>
        </p:pic>
        <p:sp>
          <p:nvSpPr>
            <p:cNvPr id="163" name="bk0_h"/>
            <p:cNvSpPr txBox="1"/>
            <p:nvPr/>
          </p:nvSpPr>
          <p:spPr>
            <a:xfrm>
              <a:off x="-1" y="1122934"/>
              <a:ext cx="1664209"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1F3D2B"/>
                  </a:solidFill>
                  <a:latin typeface="Georgia"/>
                  <a:ea typeface="Georgia"/>
                  <a:cs typeface="Georgia"/>
                  <a:sym typeface="Georgia"/>
                </a:defRPr>
              </a:lvl1pPr>
            </a:lstStyle>
            <a:p>
              <a:pPr/>
              <a:r>
                <a:t>Tweezers</a:t>
              </a:r>
            </a:p>
          </p:txBody>
        </p:sp>
        <p:sp>
          <p:nvSpPr>
            <p:cNvPr id="164" name="bk0_s"/>
            <p:cNvSpPr txBox="1"/>
            <p:nvPr/>
          </p:nvSpPr>
          <p:spPr>
            <a:xfrm>
              <a:off x="-1" y="1398269"/>
              <a:ext cx="1664209"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100">
                  <a:solidFill>
                    <a:srgbClr val="52685A"/>
                  </a:solidFill>
                  <a:latin typeface="Arial"/>
                  <a:ea typeface="Arial"/>
                  <a:cs typeface="Arial"/>
                  <a:sym typeface="Arial"/>
                </a:defRPr>
              </a:lvl1pPr>
            </a:lstStyle>
            <a:p>
              <a:pPr/>
              <a:r>
                <a:t>beak</a:t>
              </a:r>
            </a:p>
          </p:txBody>
        </p:sp>
        <p:sp>
          <p:nvSpPr>
            <p:cNvPr id="165" name="bk1_bg"/>
            <p:cNvSpPr/>
            <p:nvPr/>
          </p:nvSpPr>
          <p:spPr>
            <a:xfrm>
              <a:off x="1865375" y="-1"/>
              <a:ext cx="1664209" cy="1645922"/>
            </a:xfrm>
            <a:prstGeom prst="roundRect">
              <a:avLst>
                <a:gd name="adj" fmla="val 5556"/>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166" name="bk1_icon" descr="bk1_icon"/>
            <p:cNvPicPr>
              <a:picLocks noChangeAspect="1"/>
            </p:cNvPicPr>
            <p:nvPr/>
          </p:nvPicPr>
          <p:blipFill>
            <a:blip r:embed="rId7">
              <a:extLst/>
            </a:blip>
            <a:stretch>
              <a:fillRect/>
            </a:stretch>
          </p:blipFill>
          <p:spPr>
            <a:xfrm>
              <a:off x="2276855" y="146304"/>
              <a:ext cx="841249" cy="841249"/>
            </a:xfrm>
            <a:prstGeom prst="rect">
              <a:avLst/>
            </a:prstGeom>
            <a:ln w="12700" cap="flat">
              <a:noFill/>
              <a:miter lim="400000"/>
            </a:ln>
            <a:effectLst/>
          </p:spPr>
        </p:pic>
        <p:sp>
          <p:nvSpPr>
            <p:cNvPr id="167" name="bk1_h"/>
            <p:cNvSpPr txBox="1"/>
            <p:nvPr/>
          </p:nvSpPr>
          <p:spPr>
            <a:xfrm>
              <a:off x="1865375" y="1122934"/>
              <a:ext cx="1664209"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1F3D2B"/>
                  </a:solidFill>
                  <a:latin typeface="Georgia"/>
                  <a:ea typeface="Georgia"/>
                  <a:cs typeface="Georgia"/>
                  <a:sym typeface="Georgia"/>
                </a:defRPr>
              </a:lvl1pPr>
            </a:lstStyle>
            <a:p>
              <a:pPr/>
              <a:r>
                <a:t>Spoon</a:t>
              </a:r>
            </a:p>
          </p:txBody>
        </p:sp>
        <p:sp>
          <p:nvSpPr>
            <p:cNvPr id="168" name="bk1_s"/>
            <p:cNvSpPr txBox="1"/>
            <p:nvPr/>
          </p:nvSpPr>
          <p:spPr>
            <a:xfrm>
              <a:off x="1865375" y="1398269"/>
              <a:ext cx="1664209"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100">
                  <a:solidFill>
                    <a:srgbClr val="52685A"/>
                  </a:solidFill>
                  <a:latin typeface="Arial"/>
                  <a:ea typeface="Arial"/>
                  <a:cs typeface="Arial"/>
                  <a:sym typeface="Arial"/>
                </a:defRPr>
              </a:lvl1pPr>
            </a:lstStyle>
            <a:p>
              <a:pPr/>
              <a:r>
                <a:t>beak</a:t>
              </a:r>
            </a:p>
          </p:txBody>
        </p:sp>
        <p:sp>
          <p:nvSpPr>
            <p:cNvPr id="169" name="bk2_bg"/>
            <p:cNvSpPr/>
            <p:nvPr/>
          </p:nvSpPr>
          <p:spPr>
            <a:xfrm>
              <a:off x="3730751" y="-1"/>
              <a:ext cx="1664210" cy="1645922"/>
            </a:xfrm>
            <a:prstGeom prst="roundRect">
              <a:avLst>
                <a:gd name="adj" fmla="val 5556"/>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170" name="bk2_icon" descr="bk2_icon"/>
            <p:cNvPicPr>
              <a:picLocks noChangeAspect="1"/>
            </p:cNvPicPr>
            <p:nvPr/>
          </p:nvPicPr>
          <p:blipFill>
            <a:blip r:embed="rId8">
              <a:extLst/>
            </a:blip>
            <a:stretch>
              <a:fillRect/>
            </a:stretch>
          </p:blipFill>
          <p:spPr>
            <a:xfrm>
              <a:off x="4142231" y="146304"/>
              <a:ext cx="841249" cy="841249"/>
            </a:xfrm>
            <a:prstGeom prst="rect">
              <a:avLst/>
            </a:prstGeom>
            <a:ln w="12700" cap="flat">
              <a:noFill/>
              <a:miter lim="400000"/>
            </a:ln>
            <a:effectLst/>
          </p:spPr>
        </p:pic>
        <p:sp>
          <p:nvSpPr>
            <p:cNvPr id="171" name="bk2_h"/>
            <p:cNvSpPr txBox="1"/>
            <p:nvPr/>
          </p:nvSpPr>
          <p:spPr>
            <a:xfrm>
              <a:off x="3730751" y="1122934"/>
              <a:ext cx="1664209" cy="2413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600">
                  <a:solidFill>
                    <a:srgbClr val="1F3D2B"/>
                  </a:solidFill>
                  <a:latin typeface="Georgia"/>
                  <a:ea typeface="Georgia"/>
                  <a:cs typeface="Georgia"/>
                  <a:sym typeface="Georgia"/>
                </a:defRPr>
              </a:lvl1pPr>
            </a:lstStyle>
            <a:p>
              <a:pPr/>
              <a:r>
                <a:t>Fork</a:t>
              </a:r>
            </a:p>
          </p:txBody>
        </p:sp>
        <p:sp>
          <p:nvSpPr>
            <p:cNvPr id="172" name="bk2_s"/>
            <p:cNvSpPr txBox="1"/>
            <p:nvPr/>
          </p:nvSpPr>
          <p:spPr>
            <a:xfrm>
              <a:off x="3730751" y="1398269"/>
              <a:ext cx="1664209"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sz="1100">
                  <a:solidFill>
                    <a:srgbClr val="52685A"/>
                  </a:solidFill>
                  <a:latin typeface="Arial"/>
                  <a:ea typeface="Arial"/>
                  <a:cs typeface="Arial"/>
                  <a:sym typeface="Arial"/>
                </a:defRPr>
              </a:lvl1pPr>
            </a:lstStyle>
            <a:p>
              <a:pPr/>
              <a:r>
                <a:t>beak</a:t>
              </a:r>
            </a:p>
          </p:txBody>
        </p:sp>
        <p:sp>
          <p:nvSpPr>
            <p:cNvPr id="173" name="food_bg"/>
            <p:cNvSpPr/>
            <p:nvPr/>
          </p:nvSpPr>
          <p:spPr>
            <a:xfrm>
              <a:off x="-1" y="1828800"/>
              <a:ext cx="5394962" cy="1417321"/>
            </a:xfrm>
            <a:prstGeom prst="roundRect">
              <a:avLst>
                <a:gd name="adj" fmla="val 6452"/>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pic>
          <p:nvPicPr>
            <p:cNvPr id="174" name="food_icon" descr="food_icon"/>
            <p:cNvPicPr>
              <a:picLocks noChangeAspect="1"/>
            </p:cNvPicPr>
            <p:nvPr/>
          </p:nvPicPr>
          <p:blipFill>
            <a:blip r:embed="rId9">
              <a:extLst/>
            </a:blip>
            <a:stretch>
              <a:fillRect/>
            </a:stretch>
          </p:blipFill>
          <p:spPr>
            <a:xfrm>
              <a:off x="237743" y="2176272"/>
              <a:ext cx="713233" cy="713233"/>
            </a:xfrm>
            <a:prstGeom prst="rect">
              <a:avLst/>
            </a:prstGeom>
            <a:ln w="12700" cap="flat">
              <a:noFill/>
              <a:miter lim="400000"/>
            </a:ln>
            <a:effectLst/>
          </p:spPr>
        </p:pic>
        <p:sp>
          <p:nvSpPr>
            <p:cNvPr id="175" name="food_t"/>
            <p:cNvSpPr txBox="1"/>
            <p:nvPr/>
          </p:nvSpPr>
          <p:spPr>
            <a:xfrm>
              <a:off x="1152144" y="2145240"/>
              <a:ext cx="4059936" cy="7844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p>
              <a:pPr>
                <a:lnSpc>
                  <a:spcPts val="2100"/>
                </a:lnSpc>
                <a:defRPr b="1" sz="1400">
                  <a:solidFill>
                    <a:srgbClr val="182B1E"/>
                  </a:solidFill>
                  <a:latin typeface="Arial"/>
                  <a:ea typeface="Arial"/>
                  <a:cs typeface="Arial"/>
                  <a:sym typeface="Arial"/>
                </a:defRPr>
              </a:pPr>
              <a:r>
                <a:t>Food: dried beans in a tray.</a:t>
              </a:r>
            </a:p>
            <a:p>
              <a:pPr>
                <a:lnSpc>
                  <a:spcPts val="2100"/>
                </a:lnSpc>
                <a:defRPr b="1" sz="1400">
                  <a:solidFill>
                    <a:srgbClr val="182B1E"/>
                  </a:solidFill>
                  <a:latin typeface="Arial"/>
                  <a:ea typeface="Arial"/>
                  <a:cs typeface="Arial"/>
                  <a:sym typeface="Arial"/>
                </a:defRPr>
              </a:pPr>
              <a:r>
                <a:t>Your pot: one small pot.</a:t>
              </a:r>
            </a:p>
            <a:p>
              <a:pPr>
                <a:lnSpc>
                  <a:spcPts val="2100"/>
                </a:lnSpc>
                <a:defRPr b="1" sz="1400">
                  <a:solidFill>
                    <a:srgbClr val="182B1E"/>
                  </a:solidFill>
                  <a:latin typeface="Arial"/>
                  <a:ea typeface="Arial"/>
                  <a:cs typeface="Arial"/>
                  <a:sym typeface="Arial"/>
                </a:defRPr>
              </a:pPr>
              <a:r>
                <a:t>Time: 30 seconds a round.</a:t>
              </a:r>
            </a:p>
          </p:txBody>
        </p:sp>
      </p:grpSp>
      <p:grpSp>
        <p:nvGrpSpPr>
          <p:cNvPr id="181" name="ps0"/>
          <p:cNvGrpSpPr/>
          <p:nvPr/>
        </p:nvGrpSpPr>
        <p:grpSpPr>
          <a:xfrm>
            <a:off x="6839711" y="1783079"/>
            <a:ext cx="4803345" cy="731521"/>
            <a:chOff x="0" y="0"/>
            <a:chExt cx="4803343" cy="731520"/>
          </a:xfrm>
        </p:grpSpPr>
        <p:sp>
          <p:nvSpPr>
            <p:cNvPr id="177" name="ps0_bg"/>
            <p:cNvSpPr/>
            <p:nvPr/>
          </p:nvSpPr>
          <p:spPr>
            <a:xfrm>
              <a:off x="-1" y="-1"/>
              <a:ext cx="4803345" cy="731522"/>
            </a:xfrm>
            <a:prstGeom prst="roundRect">
              <a:avLst>
                <a:gd name="adj" fmla="val 12500"/>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78" name="ps0_badge"/>
            <p:cNvSpPr/>
            <p:nvPr/>
          </p:nvSpPr>
          <p:spPr>
            <a:xfrm>
              <a:off x="146303" y="173735"/>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179" name="ps0_num"/>
            <p:cNvSpPr txBox="1"/>
            <p:nvPr/>
          </p:nvSpPr>
          <p:spPr>
            <a:xfrm>
              <a:off x="146303" y="264159"/>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1</a:t>
              </a:r>
            </a:p>
          </p:txBody>
        </p:sp>
        <p:sp>
          <p:nvSpPr>
            <p:cNvPr id="180" name="ps0_t"/>
            <p:cNvSpPr txBox="1"/>
            <p:nvPr/>
          </p:nvSpPr>
          <p:spPr>
            <a:xfrm>
              <a:off x="676655" y="261906"/>
              <a:ext cx="3980384" cy="2077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b="1" sz="1300">
                  <a:solidFill>
                    <a:srgbClr val="182B1E"/>
                  </a:solidFill>
                  <a:latin typeface="Arial"/>
                  <a:ea typeface="Arial"/>
                  <a:cs typeface="Arial"/>
                  <a:sym typeface="Arial"/>
                </a:defRPr>
              </a:lvl1pPr>
            </a:lstStyle>
            <a:p>
              <a:pPr/>
              <a:r>
                <a:t>Receive a beak at random.</a:t>
              </a:r>
            </a:p>
          </p:txBody>
        </p:sp>
      </p:grpSp>
      <p:grpSp>
        <p:nvGrpSpPr>
          <p:cNvPr id="186" name="ps1"/>
          <p:cNvGrpSpPr/>
          <p:nvPr/>
        </p:nvGrpSpPr>
        <p:grpSpPr>
          <a:xfrm>
            <a:off x="6839711" y="2647188"/>
            <a:ext cx="4803345" cy="731521"/>
            <a:chOff x="0" y="0"/>
            <a:chExt cx="4803343" cy="731520"/>
          </a:xfrm>
        </p:grpSpPr>
        <p:sp>
          <p:nvSpPr>
            <p:cNvPr id="182" name="ps1_bg"/>
            <p:cNvSpPr/>
            <p:nvPr/>
          </p:nvSpPr>
          <p:spPr>
            <a:xfrm>
              <a:off x="-1" y="-1"/>
              <a:ext cx="4803345" cy="731522"/>
            </a:xfrm>
            <a:prstGeom prst="roundRect">
              <a:avLst>
                <a:gd name="adj" fmla="val 12500"/>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83" name="ps1_badge"/>
            <p:cNvSpPr/>
            <p:nvPr/>
          </p:nvSpPr>
          <p:spPr>
            <a:xfrm>
              <a:off x="146303" y="173735"/>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184" name="ps1_num"/>
            <p:cNvSpPr txBox="1"/>
            <p:nvPr/>
          </p:nvSpPr>
          <p:spPr>
            <a:xfrm>
              <a:off x="146303" y="264159"/>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2</a:t>
              </a:r>
            </a:p>
          </p:txBody>
        </p:sp>
        <p:sp>
          <p:nvSpPr>
            <p:cNvPr id="185" name="ps1_t"/>
            <p:cNvSpPr txBox="1"/>
            <p:nvPr/>
          </p:nvSpPr>
          <p:spPr>
            <a:xfrm>
              <a:off x="676655" y="153956"/>
              <a:ext cx="3980384"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b="1" sz="1300">
                  <a:solidFill>
                    <a:srgbClr val="182B1E"/>
                  </a:solidFill>
                  <a:latin typeface="Arial"/>
                  <a:ea typeface="Arial"/>
                  <a:cs typeface="Arial"/>
                  <a:sym typeface="Arial"/>
                </a:defRPr>
              </a:lvl1pPr>
            </a:lstStyle>
            <a:p>
              <a:pPr/>
              <a:r>
                <a:t>Try moving as many beans into your pot in 30 seconds.</a:t>
              </a:r>
            </a:p>
          </p:txBody>
        </p:sp>
      </p:grpSp>
      <p:grpSp>
        <p:nvGrpSpPr>
          <p:cNvPr id="191" name="ps2"/>
          <p:cNvGrpSpPr/>
          <p:nvPr/>
        </p:nvGrpSpPr>
        <p:grpSpPr>
          <a:xfrm>
            <a:off x="6839711" y="3511296"/>
            <a:ext cx="4803345" cy="731521"/>
            <a:chOff x="0" y="0"/>
            <a:chExt cx="4803343" cy="731520"/>
          </a:xfrm>
        </p:grpSpPr>
        <p:sp>
          <p:nvSpPr>
            <p:cNvPr id="187" name="ps2_bg"/>
            <p:cNvSpPr/>
            <p:nvPr/>
          </p:nvSpPr>
          <p:spPr>
            <a:xfrm>
              <a:off x="-1" y="-1"/>
              <a:ext cx="4803345" cy="731522"/>
            </a:xfrm>
            <a:prstGeom prst="roundRect">
              <a:avLst>
                <a:gd name="adj" fmla="val 12500"/>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88" name="ps2_badge"/>
            <p:cNvSpPr/>
            <p:nvPr/>
          </p:nvSpPr>
          <p:spPr>
            <a:xfrm>
              <a:off x="146303" y="173735"/>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189" name="ps2_num"/>
            <p:cNvSpPr txBox="1"/>
            <p:nvPr/>
          </p:nvSpPr>
          <p:spPr>
            <a:xfrm>
              <a:off x="146303" y="264159"/>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3</a:t>
              </a:r>
            </a:p>
          </p:txBody>
        </p:sp>
        <p:sp>
          <p:nvSpPr>
            <p:cNvPr id="190" name="ps2_t"/>
            <p:cNvSpPr txBox="1"/>
            <p:nvPr/>
          </p:nvSpPr>
          <p:spPr>
            <a:xfrm>
              <a:off x="676655" y="261906"/>
              <a:ext cx="3980384" cy="2077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b="1" sz="1300">
                  <a:solidFill>
                    <a:srgbClr val="182B1E"/>
                  </a:solidFill>
                  <a:latin typeface="Arial"/>
                  <a:ea typeface="Arial"/>
                  <a:cs typeface="Arial"/>
                  <a:sym typeface="Arial"/>
                </a:defRPr>
              </a:lvl1pPr>
            </a:lstStyle>
            <a:p>
              <a:pPr/>
              <a:r>
                <a:t>Count your beans. Write your number in the table.</a:t>
              </a:r>
            </a:p>
          </p:txBody>
        </p:sp>
      </p:grpSp>
      <p:grpSp>
        <p:nvGrpSpPr>
          <p:cNvPr id="196" name="ps3"/>
          <p:cNvGrpSpPr/>
          <p:nvPr/>
        </p:nvGrpSpPr>
        <p:grpSpPr>
          <a:xfrm>
            <a:off x="6839711" y="4375403"/>
            <a:ext cx="4803345" cy="731521"/>
            <a:chOff x="0" y="0"/>
            <a:chExt cx="4803343" cy="731520"/>
          </a:xfrm>
        </p:grpSpPr>
        <p:sp>
          <p:nvSpPr>
            <p:cNvPr id="192" name="ps3_bg"/>
            <p:cNvSpPr/>
            <p:nvPr/>
          </p:nvSpPr>
          <p:spPr>
            <a:xfrm>
              <a:off x="-1" y="-1"/>
              <a:ext cx="4803345" cy="731522"/>
            </a:xfrm>
            <a:prstGeom prst="roundRect">
              <a:avLst>
                <a:gd name="adj" fmla="val 12500"/>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193" name="ps3_badge"/>
            <p:cNvSpPr/>
            <p:nvPr/>
          </p:nvSpPr>
          <p:spPr>
            <a:xfrm>
              <a:off x="146303" y="173735"/>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194" name="ps3_num"/>
            <p:cNvSpPr txBox="1"/>
            <p:nvPr/>
          </p:nvSpPr>
          <p:spPr>
            <a:xfrm>
              <a:off x="146303" y="264159"/>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4</a:t>
              </a:r>
            </a:p>
          </p:txBody>
        </p:sp>
        <p:sp>
          <p:nvSpPr>
            <p:cNvPr id="195" name="ps3_t"/>
            <p:cNvSpPr txBox="1"/>
            <p:nvPr/>
          </p:nvSpPr>
          <p:spPr>
            <a:xfrm>
              <a:off x="676655" y="153956"/>
              <a:ext cx="3980384" cy="42360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700"/>
                </a:lnSpc>
                <a:defRPr b="1" sz="1300">
                  <a:solidFill>
                    <a:srgbClr val="182B1E"/>
                  </a:solidFill>
                  <a:latin typeface="Arial"/>
                  <a:ea typeface="Arial"/>
                  <a:cs typeface="Arial"/>
                  <a:sym typeface="Arial"/>
                </a:defRPr>
              </a:lvl1pPr>
            </a:lstStyle>
            <a:p>
              <a:pPr/>
              <a:r>
                <a:t>The one with the fewest beans loses. Play again. Three rounds.</a:t>
              </a:r>
            </a:p>
          </p:txBody>
        </p:sp>
      </p:grpSp>
      <p:grpSp>
        <p:nvGrpSpPr>
          <p:cNvPr id="199" name="model_banner"/>
          <p:cNvGrpSpPr/>
          <p:nvPr/>
        </p:nvGrpSpPr>
        <p:grpSpPr>
          <a:xfrm>
            <a:off x="1170432" y="5230367"/>
            <a:ext cx="10472623" cy="603505"/>
            <a:chOff x="0" y="0"/>
            <a:chExt cx="10472622" cy="603504"/>
          </a:xfrm>
        </p:grpSpPr>
        <p:sp>
          <p:nvSpPr>
            <p:cNvPr id="197" name="Rounded Rectangle"/>
            <p:cNvSpPr/>
            <p:nvPr/>
          </p:nvSpPr>
          <p:spPr>
            <a:xfrm>
              <a:off x="0" y="0"/>
              <a:ext cx="10472623" cy="603505"/>
            </a:xfrm>
            <a:prstGeom prst="roundRect">
              <a:avLst>
                <a:gd name="adj" fmla="val 18182"/>
              </a:avLst>
            </a:prstGeom>
            <a:solidFill>
              <a:srgbClr val="1F3D2B"/>
            </a:solidFill>
            <a:ln w="9525" cap="flat">
              <a:solidFill>
                <a:srgbClr val="1F3D2B"/>
              </a:solidFill>
              <a:prstDash val="solid"/>
              <a:round/>
            </a:ln>
            <a:effectLst/>
          </p:spPr>
          <p:txBody>
            <a:bodyPr wrap="square" lIns="45719" tIns="45719" rIns="45719" bIns="45719" numCol="1" anchor="ctr">
              <a:noAutofit/>
            </a:bodyPr>
            <a:lstStyle/>
            <a:p>
              <a:pPr algn="ctr">
                <a:defRPr sz="1400"/>
              </a:pPr>
            </a:p>
          </p:txBody>
        </p:sp>
        <p:sp>
          <p:nvSpPr>
            <p:cNvPr id="198" name="A model: beaks are handed out by chance, beans are the food, and the player who is out did not survive."/>
            <p:cNvSpPr txBox="1"/>
            <p:nvPr/>
          </p:nvSpPr>
          <p:spPr>
            <a:xfrm>
              <a:off x="36901" y="201790"/>
              <a:ext cx="10398821" cy="1999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70" tIns="1270" rIns="1270" bIns="1270" numCol="1" anchor="ctr">
              <a:spAutoFit/>
            </a:bodyPr>
            <a:lstStyle>
              <a:lvl1pPr algn="ctr">
                <a:defRPr b="1" sz="1400">
                  <a:solidFill>
                    <a:srgbClr val="DE9A4C"/>
                  </a:solidFill>
                  <a:latin typeface="Arial"/>
                  <a:ea typeface="Arial"/>
                  <a:cs typeface="Arial"/>
                  <a:sym typeface="Arial"/>
                </a:defRPr>
              </a:lvl1pPr>
            </a:lstStyle>
            <a:p>
              <a:pPr/>
              <a:r>
                <a:t>A model: beaks are handed out by chance, beans are the food, and the player who is out did not survive.</a:t>
              </a:r>
            </a:p>
          </p:txBody>
        </p:sp>
      </p:grpSp>
      <p:grpSp>
        <p:nvGrpSpPr>
          <p:cNvPr id="202" name="look_banner"/>
          <p:cNvGrpSpPr/>
          <p:nvPr/>
        </p:nvGrpSpPr>
        <p:grpSpPr>
          <a:xfrm>
            <a:off x="1170432" y="5943600"/>
            <a:ext cx="10472623" cy="566928"/>
            <a:chOff x="0" y="0"/>
            <a:chExt cx="10472622" cy="566927"/>
          </a:xfrm>
        </p:grpSpPr>
        <p:sp>
          <p:nvSpPr>
            <p:cNvPr id="200" name="Rounded Rectangle"/>
            <p:cNvSpPr/>
            <p:nvPr/>
          </p:nvSpPr>
          <p:spPr>
            <a:xfrm>
              <a:off x="0" y="0"/>
              <a:ext cx="10472623" cy="566928"/>
            </a:xfrm>
            <a:prstGeom prst="roundRect">
              <a:avLst>
                <a:gd name="adj" fmla="val 19355"/>
              </a:avLst>
            </a:prstGeom>
            <a:solidFill>
              <a:srgbClr val="F3E7CE"/>
            </a:solidFill>
            <a:ln w="19050" cap="flat">
              <a:solidFill>
                <a:srgbClr val="DE9A4C"/>
              </a:solidFill>
              <a:prstDash val="solid"/>
              <a:round/>
            </a:ln>
            <a:effectLst/>
          </p:spPr>
          <p:txBody>
            <a:bodyPr wrap="square" lIns="45719" tIns="45719" rIns="45719" bIns="45719" numCol="1" anchor="ctr">
              <a:noAutofit/>
            </a:bodyPr>
            <a:lstStyle/>
            <a:p>
              <a:pPr algn="ctr">
                <a:defRPr sz="1400"/>
              </a:pPr>
            </a:p>
          </p:txBody>
        </p:sp>
        <p:sp>
          <p:nvSpPr>
            <p:cNvPr id="201" name="Discuss: which beaks are left? Would the same beak win if the food were rice?"/>
            <p:cNvSpPr txBox="1"/>
            <p:nvPr/>
          </p:nvSpPr>
          <p:spPr>
            <a:xfrm>
              <a:off x="41663" y="183502"/>
              <a:ext cx="10389297" cy="19992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70" tIns="1270" rIns="1270" bIns="1270" numCol="1" anchor="ctr">
              <a:spAutoFit/>
            </a:bodyPr>
            <a:lstStyle>
              <a:lvl1pPr algn="ctr">
                <a:defRPr b="1" sz="1400">
                  <a:solidFill>
                    <a:srgbClr val="1F3D2B"/>
                  </a:solidFill>
                  <a:latin typeface="Arial"/>
                  <a:ea typeface="Arial"/>
                  <a:cs typeface="Arial"/>
                  <a:sym typeface="Arial"/>
                </a:defRPr>
              </a:lvl1pPr>
            </a:lstStyle>
            <a:p>
              <a:pPr/>
              <a:r>
                <a:t>Discuss: which beaks are left? Would the same beak win if the food were rice?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60000" fill="hold"/>
                                        <p:tgtEl>
                                          <p:spTgt spid="156"/>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176"/>
                                        </p:tgtEl>
                                        <p:attrNameLst>
                                          <p:attrName>style.visibility</p:attrName>
                                        </p:attrNameLst>
                                      </p:cBhvr>
                                      <p:to>
                                        <p:strVal val="visible"/>
                                      </p:to>
                                    </p:set>
                                    <p:animEffect filter="fade" transition="in">
                                      <p:cBhvr>
                                        <p:cTn id="11" dur="400"/>
                                        <p:tgtEl>
                                          <p:spTgt spid="176"/>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181"/>
                                        </p:tgtEl>
                                        <p:attrNameLst>
                                          <p:attrName>style.visibility</p:attrName>
                                        </p:attrNameLst>
                                      </p:cBhvr>
                                      <p:to>
                                        <p:strVal val="visible"/>
                                      </p:to>
                                    </p:set>
                                    <p:animEffect filter="fade" transition="in">
                                      <p:cBhvr>
                                        <p:cTn id="16" dur="400"/>
                                        <p:tgtEl>
                                          <p:spTgt spid="181"/>
                                        </p:tgtEl>
                                      </p:cBhvr>
                                    </p:animEffect>
                                  </p:childTnLst>
                                </p:cTn>
                              </p:par>
                            </p:childTnLst>
                          </p:cTn>
                        </p:par>
                        <p:par>
                          <p:cTn id="17" fill="hold">
                            <p:stCondLst>
                              <p:cond delay="400"/>
                            </p:stCondLst>
                            <p:childTnLst>
                              <p:par>
                                <p:cTn id="18" presetClass="entr" nodeType="afterEffect" presetID="10" grpId="4" fill="hold">
                                  <p:stCondLst>
                                    <p:cond delay="150"/>
                                  </p:stCondLst>
                                  <p:iterate type="el" backwards="0">
                                    <p:tmAbs val="0"/>
                                  </p:iterate>
                                  <p:childTnLst>
                                    <p:set>
                                      <p:cBhvr>
                                        <p:cTn id="19" fill="hold"/>
                                        <p:tgtEl>
                                          <p:spTgt spid="186"/>
                                        </p:tgtEl>
                                        <p:attrNameLst>
                                          <p:attrName>style.visibility</p:attrName>
                                        </p:attrNameLst>
                                      </p:cBhvr>
                                      <p:to>
                                        <p:strVal val="visible"/>
                                      </p:to>
                                    </p:set>
                                    <p:animEffect filter="fade" transition="in">
                                      <p:cBhvr>
                                        <p:cTn id="20" dur="400"/>
                                        <p:tgtEl>
                                          <p:spTgt spid="186"/>
                                        </p:tgtEl>
                                      </p:cBhvr>
                                    </p:animEffect>
                                  </p:childTnLst>
                                </p:cTn>
                              </p:par>
                            </p:childTnLst>
                          </p:cTn>
                        </p:par>
                        <p:par>
                          <p:cTn id="21" fill="hold">
                            <p:stCondLst>
                              <p:cond delay="950"/>
                            </p:stCondLst>
                            <p:childTnLst>
                              <p:par>
                                <p:cTn id="22" presetClass="entr" nodeType="afterEffect" presetID="10" grpId="5" fill="hold">
                                  <p:stCondLst>
                                    <p:cond delay="300"/>
                                  </p:stCondLst>
                                  <p:iterate type="el" backwards="0">
                                    <p:tmAbs val="0"/>
                                  </p:iterate>
                                  <p:childTnLst>
                                    <p:set>
                                      <p:cBhvr>
                                        <p:cTn id="23" fill="hold"/>
                                        <p:tgtEl>
                                          <p:spTgt spid="191"/>
                                        </p:tgtEl>
                                        <p:attrNameLst>
                                          <p:attrName>style.visibility</p:attrName>
                                        </p:attrNameLst>
                                      </p:cBhvr>
                                      <p:to>
                                        <p:strVal val="visible"/>
                                      </p:to>
                                    </p:set>
                                    <p:animEffect filter="fade" transition="in">
                                      <p:cBhvr>
                                        <p:cTn id="24" dur="400"/>
                                        <p:tgtEl>
                                          <p:spTgt spid="191"/>
                                        </p:tgtEl>
                                      </p:cBhvr>
                                    </p:animEffect>
                                  </p:childTnLst>
                                </p:cTn>
                              </p:par>
                            </p:childTnLst>
                          </p:cTn>
                        </p:par>
                        <p:par>
                          <p:cTn id="25" fill="hold">
                            <p:stCondLst>
                              <p:cond delay="1650"/>
                            </p:stCondLst>
                            <p:childTnLst>
                              <p:par>
                                <p:cTn id="26" presetClass="entr" nodeType="afterEffect" presetID="10" grpId="6" fill="hold">
                                  <p:stCondLst>
                                    <p:cond delay="450"/>
                                  </p:stCondLst>
                                  <p:iterate type="el" backwards="0">
                                    <p:tmAbs val="0"/>
                                  </p:iterate>
                                  <p:childTnLst>
                                    <p:set>
                                      <p:cBhvr>
                                        <p:cTn id="27" fill="hold"/>
                                        <p:tgtEl>
                                          <p:spTgt spid="196"/>
                                        </p:tgtEl>
                                        <p:attrNameLst>
                                          <p:attrName>style.visibility</p:attrName>
                                        </p:attrNameLst>
                                      </p:cBhvr>
                                      <p:to>
                                        <p:strVal val="visible"/>
                                      </p:to>
                                    </p:set>
                                    <p:animEffect filter="fade" transition="in">
                                      <p:cBhvr>
                                        <p:cTn id="28" dur="400"/>
                                        <p:tgtEl>
                                          <p:spTgt spid="196"/>
                                        </p:tgtEl>
                                      </p:cBhvr>
                                    </p:animEffect>
                                  </p:childTnLst>
                                </p:cTn>
                              </p:par>
                            </p:childTnLst>
                          </p:cTn>
                        </p:par>
                      </p:childTnLst>
                    </p:cTn>
                  </p:par>
                  <p:par>
                    <p:cTn id="29" fill="hold">
                      <p:stCondLst>
                        <p:cond delay="indefinite"/>
                      </p:stCondLst>
                      <p:childTnLst>
                        <p:par>
                          <p:cTn id="30" fill="hold">
                            <p:stCondLst>
                              <p:cond delay="0"/>
                            </p:stCondLst>
                            <p:childTnLst>
                              <p:par>
                                <p:cTn id="31" presetClass="entr" nodeType="clickEffect" presetSubtype="16" presetID="23" grpId="7" fill="hold">
                                  <p:stCondLst>
                                    <p:cond delay="0"/>
                                  </p:stCondLst>
                                  <p:iterate type="el" backwards="0">
                                    <p:tmAbs val="0"/>
                                  </p:iterate>
                                  <p:childTnLst>
                                    <p:set>
                                      <p:cBhvr>
                                        <p:cTn id="32" fill="hold"/>
                                        <p:tgtEl>
                                          <p:spTgt spid="199"/>
                                        </p:tgtEl>
                                        <p:attrNameLst>
                                          <p:attrName>style.visibility</p:attrName>
                                        </p:attrNameLst>
                                      </p:cBhvr>
                                      <p:to>
                                        <p:strVal val="visible"/>
                                      </p:to>
                                    </p:set>
                                    <p:anim calcmode="lin" valueType="num">
                                      <p:cBhvr>
                                        <p:cTn id="33" dur="400" fill="hold"/>
                                        <p:tgtEl>
                                          <p:spTgt spid="199"/>
                                        </p:tgtEl>
                                        <p:attrNameLst>
                                          <p:attrName>ppt_w</p:attrName>
                                        </p:attrNameLst>
                                      </p:cBhvr>
                                      <p:tavLst>
                                        <p:tav tm="0">
                                          <p:val>
                                            <p:fltVal val="0"/>
                                          </p:val>
                                        </p:tav>
                                        <p:tav tm="100000">
                                          <p:val>
                                            <p:strVal val="#ppt_w"/>
                                          </p:val>
                                        </p:tav>
                                      </p:tavLst>
                                    </p:anim>
                                    <p:anim calcmode="lin" valueType="num">
                                      <p:cBhvr>
                                        <p:cTn id="34" dur="400" fill="hold"/>
                                        <p:tgtEl>
                                          <p:spTgt spid="199"/>
                                        </p:tgtEl>
                                        <p:attrNameLst>
                                          <p:attrName>ppt_h</p:attrName>
                                        </p:attrNameLst>
                                      </p:cBhvr>
                                      <p:tavLst>
                                        <p:tav tm="0">
                                          <p:val>
                                            <p:fltVal val="0"/>
                                          </p:val>
                                        </p:tav>
                                        <p:tav tm="100000">
                                          <p:val>
                                            <p:strVal val="#ppt_h"/>
                                          </p:val>
                                        </p:tav>
                                      </p:tavLst>
                                    </p:anim>
                                  </p:childTnLst>
                                </p:cTn>
                              </p:par>
                            </p:childTnLst>
                          </p:cTn>
                        </p:par>
                      </p:childTnLst>
                    </p:cTn>
                  </p:par>
                  <p:par>
                    <p:cTn id="35" fill="hold">
                      <p:stCondLst>
                        <p:cond delay="indefinite"/>
                      </p:stCondLst>
                      <p:childTnLst>
                        <p:par>
                          <p:cTn id="36" fill="hold">
                            <p:stCondLst>
                              <p:cond delay="0"/>
                            </p:stCondLst>
                            <p:childTnLst>
                              <p:par>
                                <p:cTn id="37" presetClass="entr" nodeType="clickEffect" presetSubtype="16" presetID="23" grpId="8" fill="hold">
                                  <p:stCondLst>
                                    <p:cond delay="0"/>
                                  </p:stCondLst>
                                  <p:iterate type="el" backwards="0">
                                    <p:tmAbs val="0"/>
                                  </p:iterate>
                                  <p:childTnLst>
                                    <p:set>
                                      <p:cBhvr>
                                        <p:cTn id="38" fill="hold"/>
                                        <p:tgtEl>
                                          <p:spTgt spid="202"/>
                                        </p:tgtEl>
                                        <p:attrNameLst>
                                          <p:attrName>style.visibility</p:attrName>
                                        </p:attrNameLst>
                                      </p:cBhvr>
                                      <p:to>
                                        <p:strVal val="visible"/>
                                      </p:to>
                                    </p:set>
                                    <p:anim calcmode="lin" valueType="num">
                                      <p:cBhvr>
                                        <p:cTn id="39" dur="400" fill="hold"/>
                                        <p:tgtEl>
                                          <p:spTgt spid="202"/>
                                        </p:tgtEl>
                                        <p:attrNameLst>
                                          <p:attrName>ppt_w</p:attrName>
                                        </p:attrNameLst>
                                      </p:cBhvr>
                                      <p:tavLst>
                                        <p:tav tm="0">
                                          <p:val>
                                            <p:fltVal val="0"/>
                                          </p:val>
                                        </p:tav>
                                        <p:tav tm="100000">
                                          <p:val>
                                            <p:strVal val="#ppt_w"/>
                                          </p:val>
                                        </p:tav>
                                      </p:tavLst>
                                    </p:anim>
                                    <p:anim calcmode="lin" valueType="num">
                                      <p:cBhvr>
                                        <p:cTn id="40" dur="400" fill="hold"/>
                                        <p:tgtEl>
                                          <p:spTgt spid="202"/>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41" fill="hold" display="0">
                  <p:stCondLst>
                    <p:cond delay="indefinite"/>
                  </p:stCondLst>
                </p:cTn>
                <p:tgtEl>
                  <p:spTgt spid="156"/>
                </p:tgtEl>
              </p:cMediaNode>
            </p:video>
            <p:seq concurrent="1" prevAc="none" nextAc="seek">
              <p:cTn id="42" evtFilter="cancelBubble" nodeType="interactiveSeq" restart="whenNotActive" fill="hold">
                <p:stCondLst>
                  <p:cond delay="0" evt="onClick">
                    <p:tgtEl>
                      <p:spTgt spid="156"/>
                    </p:tgtEl>
                  </p:cond>
                </p:stCondLst>
                <p:endSync delay="0" evt="end">
                  <p:rtn val="all"/>
                </p:endSync>
                <p:childTnLst>
                  <p:par>
                    <p:cTn id="43" fill="hold">
                      <p:stCondLst>
                        <p:cond delay="0"/>
                      </p:stCondLst>
                      <p:childTnLst>
                        <p:par>
                          <p:cTn id="44" fill="hold">
                            <p:stCondLst>
                              <p:cond delay="0"/>
                            </p:stCondLst>
                            <p:childTnLst>
                              <p:par>
                                <p:cTn id="45" presetClass="mediacall" nodeType="clickEffect" presetSubtype="0" presetID="2" fill="hold">
                                  <p:stCondLst>
                                    <p:cond delay="0"/>
                                  </p:stCondLst>
                                  <p:childTnLst>
                                    <p:cmd type="call" cmd="togglePause">
                                      <p:cBhvr>
                                        <p:cTn id="46" dur="1" fill="hold"/>
                                        <p:tgtEl>
                                          <p:spTgt spid="156"/>
                                        </p:tgtEl>
                                      </p:cBhvr>
                                    </p:cmd>
                                  </p:childTnLst>
                                </p:cTn>
                              </p:par>
                            </p:childTnLst>
                          </p:cTn>
                        </p:par>
                      </p:childTnLst>
                    </p:cTn>
                  </p:par>
                </p:childTnLst>
              </p:cTn>
              <p:nextCondLst>
                <p:cond delay="0" evt="onClick">
                  <p:tgtEl>
                    <p:spTgt spid="156"/>
                  </p:tgtEl>
                </p:cond>
              </p:nextCondLst>
            </p:seq>
          </p:childTnLst>
        </p:cTn>
      </p:par>
    </p:tnLst>
    <p:bldLst>
      <p:bldP build="whole" bldLvl="1" animBg="1" rev="0" advAuto="0" spid="176" grpId="2"/>
      <p:bldP build="whole" bldLvl="1" animBg="1" rev="0" advAuto="0" spid="186" grpId="4"/>
      <p:bldP build="whole" bldLvl="1" animBg="1" rev="0" advAuto="0" spid="202" grpId="8"/>
      <p:bldP build="whole" bldLvl="1" animBg="1" rev="0" advAuto="0" spid="196" grpId="6"/>
      <p:bldP build="whole" bldLvl="1" animBg="1" rev="0" advAuto="0" spid="199" grpId="7"/>
      <p:bldP build="whole" bldLvl="1" animBg="1" rev="0" advAuto="0" spid="181" grpId="3"/>
      <p:bldP build="whole" bldLvl="1" animBg="1" rev="0" advAuto="0" spid="191" grpId="5"/>
    </p:bldLst>
  </p:timing>
</p:sld>
</file>

<file path=ppt/slides/slide6.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206"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09" name="phase_pill"/>
          <p:cNvGrpSpPr/>
          <p:nvPr/>
        </p:nvGrpSpPr>
        <p:grpSpPr>
          <a:xfrm>
            <a:off x="1170432" y="310895"/>
            <a:ext cx="1623975" cy="329185"/>
            <a:chOff x="0" y="0"/>
            <a:chExt cx="1623974" cy="329184"/>
          </a:xfrm>
        </p:grpSpPr>
        <p:sp>
          <p:nvSpPr>
            <p:cNvPr id="207" name="Rounded Rectangle"/>
            <p:cNvSpPr/>
            <p:nvPr/>
          </p:nvSpPr>
          <p:spPr>
            <a:xfrm>
              <a:off x="0" y="0"/>
              <a:ext cx="1623975"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208" name="I DO · 3 MIN"/>
            <p:cNvSpPr txBox="1"/>
            <p:nvPr/>
          </p:nvSpPr>
          <p:spPr>
            <a:xfrm>
              <a:off x="42851" y="90677"/>
              <a:ext cx="1538272"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I DO · 3 MIN</a:t>
              </a:r>
            </a:p>
          </p:txBody>
        </p:sp>
      </p:grpSp>
      <p:sp>
        <p:nvSpPr>
          <p:cNvPr id="210" name="slide_title"/>
          <p:cNvSpPr txBox="1"/>
          <p:nvPr/>
        </p:nvSpPr>
        <p:spPr>
          <a:xfrm>
            <a:off x="1170432" y="1003807"/>
            <a:ext cx="10472623" cy="4064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2800">
                <a:solidFill>
                  <a:srgbClr val="1F3D2B"/>
                </a:solidFill>
                <a:latin typeface="Georgia"/>
                <a:ea typeface="Georgia"/>
                <a:cs typeface="Georgia"/>
                <a:sym typeface="Georgia"/>
              </a:defRPr>
            </a:lvl1pPr>
          </a:lstStyle>
          <a:p>
            <a:pPr/>
            <a:r>
              <a:t>Antibiotic resistance: natural selection now</a:t>
            </a:r>
          </a:p>
        </p:txBody>
      </p:sp>
      <p:grpSp>
        <p:nvGrpSpPr>
          <p:cNvPr id="222" name="sg0"/>
          <p:cNvGrpSpPr/>
          <p:nvPr/>
        </p:nvGrpSpPr>
        <p:grpSpPr>
          <a:xfrm>
            <a:off x="1170432" y="1737359"/>
            <a:ext cx="2480997" cy="2697482"/>
            <a:chOff x="0" y="0"/>
            <a:chExt cx="2480996" cy="2697480"/>
          </a:xfrm>
        </p:grpSpPr>
        <p:sp>
          <p:nvSpPr>
            <p:cNvPr id="211" name="sg0_bg"/>
            <p:cNvSpPr/>
            <p:nvPr/>
          </p:nvSpPr>
          <p:spPr>
            <a:xfrm>
              <a:off x="0" y="-1"/>
              <a:ext cx="2480997" cy="2697482"/>
            </a:xfrm>
            <a:prstGeom prst="roundRect">
              <a:avLst>
                <a:gd name="adj" fmla="val 3686"/>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12" name="sg0_badge"/>
            <p:cNvSpPr/>
            <p:nvPr/>
          </p:nvSpPr>
          <p:spPr>
            <a:xfrm>
              <a:off x="164592" y="146303"/>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213" name="sg0_num"/>
            <p:cNvSpPr txBox="1"/>
            <p:nvPr/>
          </p:nvSpPr>
          <p:spPr>
            <a:xfrm>
              <a:off x="164592" y="236727"/>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1</a:t>
              </a:r>
            </a:p>
          </p:txBody>
        </p:sp>
        <p:sp>
          <p:nvSpPr>
            <p:cNvPr id="214" name="sg0_h"/>
            <p:cNvSpPr txBox="1"/>
            <p:nvPr/>
          </p:nvSpPr>
          <p:spPr>
            <a:xfrm>
              <a:off x="640080" y="236727"/>
              <a:ext cx="1749477"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80" sz="1400">
                  <a:solidFill>
                    <a:srgbClr val="1F3D2B"/>
                  </a:solidFill>
                  <a:latin typeface="Georgia"/>
                  <a:ea typeface="Georgia"/>
                  <a:cs typeface="Georgia"/>
                  <a:sym typeface="Georgia"/>
                </a:defRPr>
              </a:lvl1pPr>
            </a:lstStyle>
            <a:p>
              <a:pPr/>
              <a:r>
                <a:t>VARIATION</a:t>
              </a:r>
            </a:p>
          </p:txBody>
        </p:sp>
        <p:sp>
          <p:nvSpPr>
            <p:cNvPr id="215" name="sg0_t"/>
            <p:cNvSpPr txBox="1"/>
            <p:nvPr/>
          </p:nvSpPr>
          <p:spPr>
            <a:xfrm>
              <a:off x="219455" y="1975103"/>
              <a:ext cx="2042086" cy="4007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b="1" sz="1300">
                  <a:solidFill>
                    <a:srgbClr val="182B1E"/>
                  </a:solidFill>
                  <a:latin typeface="Arial"/>
                  <a:ea typeface="Arial"/>
                  <a:cs typeface="Arial"/>
                  <a:sym typeface="Arial"/>
                </a:defRPr>
              </a:lvl1pPr>
            </a:lstStyle>
            <a:p>
              <a:pPr/>
              <a:r>
                <a:t>Bacteria vary. By chance, one is resistant.</a:t>
              </a:r>
            </a:p>
          </p:txBody>
        </p:sp>
        <p:pic>
          <p:nvPicPr>
            <p:cNvPr id="216" name="sg0_b0" descr="sg0_b0"/>
            <p:cNvPicPr>
              <a:picLocks noChangeAspect="1"/>
            </p:cNvPicPr>
            <p:nvPr/>
          </p:nvPicPr>
          <p:blipFill>
            <a:blip r:embed="rId6">
              <a:extLst/>
            </a:blip>
            <a:stretch>
              <a:fillRect/>
            </a:stretch>
          </p:blipFill>
          <p:spPr>
            <a:xfrm>
              <a:off x="274320" y="731519"/>
              <a:ext cx="566929" cy="566929"/>
            </a:xfrm>
            <a:prstGeom prst="rect">
              <a:avLst/>
            </a:prstGeom>
            <a:ln w="12700" cap="flat">
              <a:noFill/>
              <a:miter lim="400000"/>
            </a:ln>
            <a:effectLst/>
          </p:spPr>
        </p:pic>
        <p:pic>
          <p:nvPicPr>
            <p:cNvPr id="217" name="sg0_b1" descr="sg0_b1"/>
            <p:cNvPicPr>
              <a:picLocks noChangeAspect="1"/>
            </p:cNvPicPr>
            <p:nvPr/>
          </p:nvPicPr>
          <p:blipFill>
            <a:blip r:embed="rId6">
              <a:extLst/>
            </a:blip>
            <a:stretch>
              <a:fillRect/>
            </a:stretch>
          </p:blipFill>
          <p:spPr>
            <a:xfrm>
              <a:off x="1005840" y="731519"/>
              <a:ext cx="566929" cy="566929"/>
            </a:xfrm>
            <a:prstGeom prst="rect">
              <a:avLst/>
            </a:prstGeom>
            <a:ln w="12700" cap="flat">
              <a:noFill/>
              <a:miter lim="400000"/>
            </a:ln>
            <a:effectLst/>
          </p:spPr>
        </p:pic>
        <p:pic>
          <p:nvPicPr>
            <p:cNvPr id="218" name="sg0_b2" descr="sg0_b2"/>
            <p:cNvPicPr>
              <a:picLocks noChangeAspect="1"/>
            </p:cNvPicPr>
            <p:nvPr/>
          </p:nvPicPr>
          <p:blipFill>
            <a:blip r:embed="rId6">
              <a:extLst/>
            </a:blip>
            <a:stretch>
              <a:fillRect/>
            </a:stretch>
          </p:blipFill>
          <p:spPr>
            <a:xfrm>
              <a:off x="1737360" y="731519"/>
              <a:ext cx="566929" cy="566929"/>
            </a:xfrm>
            <a:prstGeom prst="rect">
              <a:avLst/>
            </a:prstGeom>
            <a:ln w="12700" cap="flat">
              <a:noFill/>
              <a:miter lim="400000"/>
            </a:ln>
            <a:effectLst/>
          </p:spPr>
        </p:pic>
        <p:pic>
          <p:nvPicPr>
            <p:cNvPr id="219" name="sg0_b3" descr="sg0_b3"/>
            <p:cNvPicPr>
              <a:picLocks noChangeAspect="1"/>
            </p:cNvPicPr>
            <p:nvPr/>
          </p:nvPicPr>
          <p:blipFill>
            <a:blip r:embed="rId6">
              <a:extLst/>
            </a:blip>
            <a:stretch>
              <a:fillRect/>
            </a:stretch>
          </p:blipFill>
          <p:spPr>
            <a:xfrm>
              <a:off x="274320" y="1353311"/>
              <a:ext cx="566929" cy="566929"/>
            </a:xfrm>
            <a:prstGeom prst="rect">
              <a:avLst/>
            </a:prstGeom>
            <a:ln w="12700" cap="flat">
              <a:noFill/>
              <a:miter lim="400000"/>
            </a:ln>
            <a:effectLst/>
          </p:spPr>
        </p:pic>
        <p:pic>
          <p:nvPicPr>
            <p:cNvPr id="220" name="sg0_b4" descr="sg0_b4"/>
            <p:cNvPicPr>
              <a:picLocks noChangeAspect="1"/>
            </p:cNvPicPr>
            <p:nvPr/>
          </p:nvPicPr>
          <p:blipFill>
            <a:blip r:embed="rId7">
              <a:extLst/>
            </a:blip>
            <a:stretch>
              <a:fillRect/>
            </a:stretch>
          </p:blipFill>
          <p:spPr>
            <a:xfrm>
              <a:off x="1005840" y="1353311"/>
              <a:ext cx="566929" cy="566929"/>
            </a:xfrm>
            <a:prstGeom prst="rect">
              <a:avLst/>
            </a:prstGeom>
            <a:ln w="12700" cap="flat">
              <a:noFill/>
              <a:miter lim="400000"/>
            </a:ln>
            <a:effectLst/>
          </p:spPr>
        </p:pic>
        <p:pic>
          <p:nvPicPr>
            <p:cNvPr id="221" name="sg0_b5" descr="sg0_b5"/>
            <p:cNvPicPr>
              <a:picLocks noChangeAspect="1"/>
            </p:cNvPicPr>
            <p:nvPr/>
          </p:nvPicPr>
          <p:blipFill>
            <a:blip r:embed="rId6">
              <a:extLst/>
            </a:blip>
            <a:stretch>
              <a:fillRect/>
            </a:stretch>
          </p:blipFill>
          <p:spPr>
            <a:xfrm>
              <a:off x="1737360" y="1353311"/>
              <a:ext cx="566929" cy="566929"/>
            </a:xfrm>
            <a:prstGeom prst="rect">
              <a:avLst/>
            </a:prstGeom>
            <a:ln w="12700" cap="flat">
              <a:noFill/>
              <a:miter lim="400000"/>
            </a:ln>
            <a:effectLst/>
          </p:spPr>
        </p:pic>
      </p:grpSp>
      <p:grpSp>
        <p:nvGrpSpPr>
          <p:cNvPr id="229" name="sg1"/>
          <p:cNvGrpSpPr/>
          <p:nvPr/>
        </p:nvGrpSpPr>
        <p:grpSpPr>
          <a:xfrm>
            <a:off x="3834307" y="1737359"/>
            <a:ext cx="2480997" cy="2697482"/>
            <a:chOff x="0" y="0"/>
            <a:chExt cx="2480996" cy="2697480"/>
          </a:xfrm>
        </p:grpSpPr>
        <p:sp>
          <p:nvSpPr>
            <p:cNvPr id="223" name="sg1_bg"/>
            <p:cNvSpPr/>
            <p:nvPr/>
          </p:nvSpPr>
          <p:spPr>
            <a:xfrm>
              <a:off x="0" y="-1"/>
              <a:ext cx="2480997" cy="2697482"/>
            </a:xfrm>
            <a:prstGeom prst="roundRect">
              <a:avLst>
                <a:gd name="adj" fmla="val 3686"/>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24" name="sg1_badge"/>
            <p:cNvSpPr/>
            <p:nvPr/>
          </p:nvSpPr>
          <p:spPr>
            <a:xfrm>
              <a:off x="164592" y="146303"/>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225" name="sg1_num"/>
            <p:cNvSpPr txBox="1"/>
            <p:nvPr/>
          </p:nvSpPr>
          <p:spPr>
            <a:xfrm>
              <a:off x="164592" y="236727"/>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2</a:t>
              </a:r>
            </a:p>
          </p:txBody>
        </p:sp>
        <p:sp>
          <p:nvSpPr>
            <p:cNvPr id="226" name="sg1_h"/>
            <p:cNvSpPr txBox="1"/>
            <p:nvPr/>
          </p:nvSpPr>
          <p:spPr>
            <a:xfrm>
              <a:off x="640080" y="236727"/>
              <a:ext cx="1749477"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80" sz="1400">
                  <a:solidFill>
                    <a:srgbClr val="1F3D2B"/>
                  </a:solidFill>
                  <a:latin typeface="Georgia"/>
                  <a:ea typeface="Georgia"/>
                  <a:cs typeface="Georgia"/>
                  <a:sym typeface="Georgia"/>
                </a:defRPr>
              </a:lvl1pPr>
            </a:lstStyle>
            <a:p>
              <a:pPr/>
              <a:r>
                <a:t>ANTIBIOTIC</a:t>
              </a:r>
            </a:p>
          </p:txBody>
        </p:sp>
        <p:sp>
          <p:nvSpPr>
            <p:cNvPr id="227" name="sg1_t"/>
            <p:cNvSpPr txBox="1"/>
            <p:nvPr/>
          </p:nvSpPr>
          <p:spPr>
            <a:xfrm>
              <a:off x="219455" y="1975103"/>
              <a:ext cx="2042086" cy="4007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b="1" sz="1300">
                  <a:solidFill>
                    <a:srgbClr val="182B1E"/>
                  </a:solidFill>
                  <a:latin typeface="Arial"/>
                  <a:ea typeface="Arial"/>
                  <a:cs typeface="Arial"/>
                  <a:sym typeface="Arial"/>
                </a:defRPr>
              </a:lvl1pPr>
            </a:lstStyle>
            <a:p>
              <a:pPr/>
              <a:r>
                <a:t>It kills the bacteria that are not resistant.</a:t>
              </a:r>
            </a:p>
          </p:txBody>
        </p:sp>
        <p:pic>
          <p:nvPicPr>
            <p:cNvPr id="228" name="sg1_b0" descr="sg1_b0"/>
            <p:cNvPicPr>
              <a:picLocks noChangeAspect="1"/>
            </p:cNvPicPr>
            <p:nvPr/>
          </p:nvPicPr>
          <p:blipFill>
            <a:blip r:embed="rId8">
              <a:extLst/>
            </a:blip>
            <a:stretch>
              <a:fillRect/>
            </a:stretch>
          </p:blipFill>
          <p:spPr>
            <a:xfrm>
              <a:off x="783298" y="786383"/>
              <a:ext cx="914401" cy="914401"/>
            </a:xfrm>
            <a:prstGeom prst="rect">
              <a:avLst/>
            </a:prstGeom>
            <a:ln w="12700" cap="flat">
              <a:noFill/>
              <a:miter lim="400000"/>
            </a:ln>
            <a:effectLst/>
          </p:spPr>
        </p:pic>
      </p:grpSp>
      <p:grpSp>
        <p:nvGrpSpPr>
          <p:cNvPr id="236" name="sg2"/>
          <p:cNvGrpSpPr/>
          <p:nvPr/>
        </p:nvGrpSpPr>
        <p:grpSpPr>
          <a:xfrm>
            <a:off x="6498183" y="1737359"/>
            <a:ext cx="2480998" cy="2697482"/>
            <a:chOff x="0" y="0"/>
            <a:chExt cx="2480996" cy="2697480"/>
          </a:xfrm>
        </p:grpSpPr>
        <p:sp>
          <p:nvSpPr>
            <p:cNvPr id="230" name="sg2_bg"/>
            <p:cNvSpPr/>
            <p:nvPr/>
          </p:nvSpPr>
          <p:spPr>
            <a:xfrm>
              <a:off x="0" y="-1"/>
              <a:ext cx="2480997" cy="2697482"/>
            </a:xfrm>
            <a:prstGeom prst="roundRect">
              <a:avLst>
                <a:gd name="adj" fmla="val 3686"/>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31" name="sg2_badge"/>
            <p:cNvSpPr/>
            <p:nvPr/>
          </p:nvSpPr>
          <p:spPr>
            <a:xfrm>
              <a:off x="164592" y="146303"/>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232" name="sg2_num"/>
            <p:cNvSpPr txBox="1"/>
            <p:nvPr/>
          </p:nvSpPr>
          <p:spPr>
            <a:xfrm>
              <a:off x="164592" y="236727"/>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3</a:t>
              </a:r>
            </a:p>
          </p:txBody>
        </p:sp>
        <p:sp>
          <p:nvSpPr>
            <p:cNvPr id="233" name="sg2_h"/>
            <p:cNvSpPr txBox="1"/>
            <p:nvPr/>
          </p:nvSpPr>
          <p:spPr>
            <a:xfrm>
              <a:off x="640080" y="236727"/>
              <a:ext cx="1749477"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80" sz="1400">
                  <a:solidFill>
                    <a:srgbClr val="1F3D2B"/>
                  </a:solidFill>
                  <a:latin typeface="Georgia"/>
                  <a:ea typeface="Georgia"/>
                  <a:cs typeface="Georgia"/>
                  <a:sym typeface="Georgia"/>
                </a:defRPr>
              </a:lvl1pPr>
            </a:lstStyle>
            <a:p>
              <a:pPr/>
              <a:r>
                <a:t>SURVIVAL</a:t>
              </a:r>
            </a:p>
          </p:txBody>
        </p:sp>
        <p:sp>
          <p:nvSpPr>
            <p:cNvPr id="234" name="sg2_t"/>
            <p:cNvSpPr txBox="1"/>
            <p:nvPr/>
          </p:nvSpPr>
          <p:spPr>
            <a:xfrm>
              <a:off x="219455" y="1975103"/>
              <a:ext cx="2042086" cy="4007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b="1" sz="1300">
                  <a:solidFill>
                    <a:srgbClr val="182B1E"/>
                  </a:solidFill>
                  <a:latin typeface="Arial"/>
                  <a:ea typeface="Arial"/>
                  <a:cs typeface="Arial"/>
                  <a:sym typeface="Arial"/>
                </a:defRPr>
              </a:lvl1pPr>
            </a:lstStyle>
            <a:p>
              <a:pPr/>
              <a:r>
                <a:t>The resistant bacterium survives.</a:t>
              </a:r>
            </a:p>
          </p:txBody>
        </p:sp>
        <p:pic>
          <p:nvPicPr>
            <p:cNvPr id="235" name="sg2_b0" descr="sg2_b0"/>
            <p:cNvPicPr>
              <a:picLocks noChangeAspect="1"/>
            </p:cNvPicPr>
            <p:nvPr/>
          </p:nvPicPr>
          <p:blipFill>
            <a:blip r:embed="rId7">
              <a:extLst/>
            </a:blip>
            <a:stretch>
              <a:fillRect/>
            </a:stretch>
          </p:blipFill>
          <p:spPr>
            <a:xfrm>
              <a:off x="783298" y="786383"/>
              <a:ext cx="914401" cy="914401"/>
            </a:xfrm>
            <a:prstGeom prst="rect">
              <a:avLst/>
            </a:prstGeom>
            <a:ln w="12700" cap="flat">
              <a:noFill/>
              <a:miter lim="400000"/>
            </a:ln>
            <a:effectLst/>
          </p:spPr>
        </p:pic>
      </p:grpSp>
      <p:grpSp>
        <p:nvGrpSpPr>
          <p:cNvPr id="248" name="sg3"/>
          <p:cNvGrpSpPr/>
          <p:nvPr/>
        </p:nvGrpSpPr>
        <p:grpSpPr>
          <a:xfrm>
            <a:off x="9162059" y="1737359"/>
            <a:ext cx="2480997" cy="2697482"/>
            <a:chOff x="0" y="0"/>
            <a:chExt cx="2480996" cy="2697480"/>
          </a:xfrm>
        </p:grpSpPr>
        <p:sp>
          <p:nvSpPr>
            <p:cNvPr id="237" name="sg3_bg"/>
            <p:cNvSpPr/>
            <p:nvPr/>
          </p:nvSpPr>
          <p:spPr>
            <a:xfrm>
              <a:off x="0" y="-1"/>
              <a:ext cx="2480997" cy="2697482"/>
            </a:xfrm>
            <a:prstGeom prst="roundRect">
              <a:avLst>
                <a:gd name="adj" fmla="val 3686"/>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38" name="sg3_badge"/>
            <p:cNvSpPr/>
            <p:nvPr/>
          </p:nvSpPr>
          <p:spPr>
            <a:xfrm>
              <a:off x="164592" y="146303"/>
              <a:ext cx="384049" cy="384049"/>
            </a:xfrm>
            <a:prstGeom prst="ellipse">
              <a:avLst/>
            </a:prstGeom>
            <a:solidFill>
              <a:srgbClr val="DE9A4C"/>
            </a:solidFill>
            <a:ln w="12700" cap="flat">
              <a:solidFill>
                <a:srgbClr val="DE9A4C"/>
              </a:solidFill>
              <a:prstDash val="solid"/>
              <a:round/>
            </a:ln>
            <a:effectLst/>
          </p:spPr>
          <p:txBody>
            <a:bodyPr wrap="square" lIns="45719" tIns="45719" rIns="45719" bIns="45719" numCol="1" anchor="t">
              <a:noAutofit/>
            </a:bodyPr>
            <a:lstStyle/>
            <a:p>
              <a:pPr/>
            </a:p>
          </p:txBody>
        </p:sp>
        <p:sp>
          <p:nvSpPr>
            <p:cNvPr id="239" name="sg3_num"/>
            <p:cNvSpPr txBox="1"/>
            <p:nvPr/>
          </p:nvSpPr>
          <p:spPr>
            <a:xfrm>
              <a:off x="164592" y="236727"/>
              <a:ext cx="384049"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z="1400">
                  <a:solidFill>
                    <a:srgbClr val="1F3D2B"/>
                  </a:solidFill>
                  <a:latin typeface="Georgia"/>
                  <a:ea typeface="Georgia"/>
                  <a:cs typeface="Georgia"/>
                  <a:sym typeface="Georgia"/>
                </a:defRPr>
              </a:lvl1pPr>
            </a:lstStyle>
            <a:p>
              <a:pPr/>
              <a:r>
                <a:t>4</a:t>
              </a:r>
            </a:p>
          </p:txBody>
        </p:sp>
        <p:sp>
          <p:nvSpPr>
            <p:cNvPr id="240" name="sg3_h"/>
            <p:cNvSpPr txBox="1"/>
            <p:nvPr/>
          </p:nvSpPr>
          <p:spPr>
            <a:xfrm>
              <a:off x="640080" y="236727"/>
              <a:ext cx="1749477" cy="2032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80" sz="1400">
                  <a:solidFill>
                    <a:srgbClr val="1F3D2B"/>
                  </a:solidFill>
                  <a:latin typeface="Georgia"/>
                  <a:ea typeface="Georgia"/>
                  <a:cs typeface="Georgia"/>
                  <a:sym typeface="Georgia"/>
                </a:defRPr>
              </a:lvl1pPr>
            </a:lstStyle>
            <a:p>
              <a:pPr/>
              <a:r>
                <a:t>INHERITANCE</a:t>
              </a:r>
            </a:p>
          </p:txBody>
        </p:sp>
        <p:sp>
          <p:nvSpPr>
            <p:cNvPr id="241" name="sg3_t"/>
            <p:cNvSpPr txBox="1"/>
            <p:nvPr/>
          </p:nvSpPr>
          <p:spPr>
            <a:xfrm>
              <a:off x="219455" y="1975103"/>
              <a:ext cx="2042086" cy="60394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600"/>
                </a:lnSpc>
                <a:defRPr b="1" sz="1300">
                  <a:solidFill>
                    <a:srgbClr val="182B1E"/>
                  </a:solidFill>
                  <a:latin typeface="Arial"/>
                  <a:ea typeface="Arial"/>
                  <a:cs typeface="Arial"/>
                  <a:sym typeface="Arial"/>
                </a:defRPr>
              </a:lvl1pPr>
            </a:lstStyle>
            <a:p>
              <a:pPr/>
              <a:r>
                <a:t>It divides. Its offspring are resistant too. Soon most are.</a:t>
              </a:r>
            </a:p>
          </p:txBody>
        </p:sp>
        <p:pic>
          <p:nvPicPr>
            <p:cNvPr id="242" name="sg3_b0" descr="sg3_b0"/>
            <p:cNvPicPr>
              <a:picLocks noChangeAspect="1"/>
            </p:cNvPicPr>
            <p:nvPr/>
          </p:nvPicPr>
          <p:blipFill>
            <a:blip r:embed="rId7">
              <a:extLst/>
            </a:blip>
            <a:stretch>
              <a:fillRect/>
            </a:stretch>
          </p:blipFill>
          <p:spPr>
            <a:xfrm>
              <a:off x="274320" y="731519"/>
              <a:ext cx="566929" cy="566929"/>
            </a:xfrm>
            <a:prstGeom prst="rect">
              <a:avLst/>
            </a:prstGeom>
            <a:ln w="12700" cap="flat">
              <a:noFill/>
              <a:miter lim="400000"/>
            </a:ln>
            <a:effectLst/>
          </p:spPr>
        </p:pic>
        <p:pic>
          <p:nvPicPr>
            <p:cNvPr id="243" name="sg3_b1" descr="sg3_b1"/>
            <p:cNvPicPr>
              <a:picLocks noChangeAspect="1"/>
            </p:cNvPicPr>
            <p:nvPr/>
          </p:nvPicPr>
          <p:blipFill>
            <a:blip r:embed="rId7">
              <a:extLst/>
            </a:blip>
            <a:stretch>
              <a:fillRect/>
            </a:stretch>
          </p:blipFill>
          <p:spPr>
            <a:xfrm>
              <a:off x="1005840" y="731519"/>
              <a:ext cx="566929" cy="566929"/>
            </a:xfrm>
            <a:prstGeom prst="rect">
              <a:avLst/>
            </a:prstGeom>
            <a:ln w="12700" cap="flat">
              <a:noFill/>
              <a:miter lim="400000"/>
            </a:ln>
            <a:effectLst/>
          </p:spPr>
        </p:pic>
        <p:pic>
          <p:nvPicPr>
            <p:cNvPr id="244" name="sg3_b2" descr="sg3_b2"/>
            <p:cNvPicPr>
              <a:picLocks noChangeAspect="1"/>
            </p:cNvPicPr>
            <p:nvPr/>
          </p:nvPicPr>
          <p:blipFill>
            <a:blip r:embed="rId7">
              <a:extLst/>
            </a:blip>
            <a:stretch>
              <a:fillRect/>
            </a:stretch>
          </p:blipFill>
          <p:spPr>
            <a:xfrm>
              <a:off x="1737360" y="731519"/>
              <a:ext cx="566929" cy="566929"/>
            </a:xfrm>
            <a:prstGeom prst="rect">
              <a:avLst/>
            </a:prstGeom>
            <a:ln w="12700" cap="flat">
              <a:noFill/>
              <a:miter lim="400000"/>
            </a:ln>
            <a:effectLst/>
          </p:spPr>
        </p:pic>
        <p:pic>
          <p:nvPicPr>
            <p:cNvPr id="245" name="sg3_b3" descr="sg3_b3"/>
            <p:cNvPicPr>
              <a:picLocks noChangeAspect="1"/>
            </p:cNvPicPr>
            <p:nvPr/>
          </p:nvPicPr>
          <p:blipFill>
            <a:blip r:embed="rId7">
              <a:extLst/>
            </a:blip>
            <a:stretch>
              <a:fillRect/>
            </a:stretch>
          </p:blipFill>
          <p:spPr>
            <a:xfrm>
              <a:off x="274320" y="1353311"/>
              <a:ext cx="566929" cy="566929"/>
            </a:xfrm>
            <a:prstGeom prst="rect">
              <a:avLst/>
            </a:prstGeom>
            <a:ln w="12700" cap="flat">
              <a:noFill/>
              <a:miter lim="400000"/>
            </a:ln>
            <a:effectLst/>
          </p:spPr>
        </p:pic>
        <p:pic>
          <p:nvPicPr>
            <p:cNvPr id="246" name="sg3_b4" descr="sg3_b4"/>
            <p:cNvPicPr>
              <a:picLocks noChangeAspect="1"/>
            </p:cNvPicPr>
            <p:nvPr/>
          </p:nvPicPr>
          <p:blipFill>
            <a:blip r:embed="rId7">
              <a:extLst/>
            </a:blip>
            <a:stretch>
              <a:fillRect/>
            </a:stretch>
          </p:blipFill>
          <p:spPr>
            <a:xfrm>
              <a:off x="1005840" y="1353311"/>
              <a:ext cx="566929" cy="566929"/>
            </a:xfrm>
            <a:prstGeom prst="rect">
              <a:avLst/>
            </a:prstGeom>
            <a:ln w="12700" cap="flat">
              <a:noFill/>
              <a:miter lim="400000"/>
            </a:ln>
            <a:effectLst/>
          </p:spPr>
        </p:pic>
        <p:pic>
          <p:nvPicPr>
            <p:cNvPr id="247" name="sg3_b5" descr="sg3_b5"/>
            <p:cNvPicPr>
              <a:picLocks noChangeAspect="1"/>
            </p:cNvPicPr>
            <p:nvPr/>
          </p:nvPicPr>
          <p:blipFill>
            <a:blip r:embed="rId7">
              <a:extLst/>
            </a:blip>
            <a:stretch>
              <a:fillRect/>
            </a:stretch>
          </p:blipFill>
          <p:spPr>
            <a:xfrm>
              <a:off x="1737360" y="1353311"/>
              <a:ext cx="566929" cy="566929"/>
            </a:xfrm>
            <a:prstGeom prst="rect">
              <a:avLst/>
            </a:prstGeom>
            <a:ln w="12700" cap="flat">
              <a:noFill/>
              <a:miter lim="400000"/>
            </a:ln>
            <a:effectLst/>
          </p:spPr>
        </p:pic>
      </p:grpSp>
      <p:grpSp>
        <p:nvGrpSpPr>
          <p:cNvPr id="252" name="stat0"/>
          <p:cNvGrpSpPr/>
          <p:nvPr/>
        </p:nvGrpSpPr>
        <p:grpSpPr>
          <a:xfrm>
            <a:off x="1170432" y="4617720"/>
            <a:ext cx="5144873" cy="896113"/>
            <a:chOff x="0" y="0"/>
            <a:chExt cx="5144872" cy="896111"/>
          </a:xfrm>
        </p:grpSpPr>
        <p:sp>
          <p:nvSpPr>
            <p:cNvPr id="249" name="stat0_bg"/>
            <p:cNvSpPr/>
            <p:nvPr/>
          </p:nvSpPr>
          <p:spPr>
            <a:xfrm>
              <a:off x="0" y="0"/>
              <a:ext cx="5144873" cy="896112"/>
            </a:xfrm>
            <a:prstGeom prst="roundRect">
              <a:avLst>
                <a:gd name="adj" fmla="val 10204"/>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50" name="stat0_big"/>
            <p:cNvSpPr txBox="1"/>
            <p:nvPr/>
          </p:nvSpPr>
          <p:spPr>
            <a:xfrm>
              <a:off x="201167" y="321055"/>
              <a:ext cx="1481329"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A8651F"/>
                  </a:solidFill>
                  <a:latin typeface="Georgia"/>
                  <a:ea typeface="Georgia"/>
                  <a:cs typeface="Georgia"/>
                  <a:sym typeface="Georgia"/>
                </a:defRPr>
              </a:lvl1pPr>
            </a:lstStyle>
            <a:p>
              <a:pPr/>
              <a:r>
                <a:t>1959 to 1961</a:t>
              </a:r>
            </a:p>
          </p:txBody>
        </p:sp>
        <p:sp>
          <p:nvSpPr>
            <p:cNvPr id="251" name="stat0_t"/>
            <p:cNvSpPr txBox="1"/>
            <p:nvPr/>
          </p:nvSpPr>
          <p:spPr>
            <a:xfrm>
              <a:off x="1737360" y="165208"/>
              <a:ext cx="3261209" cy="5656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500"/>
                </a:lnSpc>
                <a:defRPr sz="1200">
                  <a:solidFill>
                    <a:srgbClr val="182B1E"/>
                  </a:solidFill>
                  <a:latin typeface="Arial"/>
                  <a:ea typeface="Arial"/>
                  <a:cs typeface="Arial"/>
                  <a:sym typeface="Arial"/>
                </a:defRPr>
              </a:lvl1pPr>
            </a:lstStyle>
            <a:p>
              <a:pPr/>
              <a:r>
                <a:t>Methicillin was introduced in 1959. The first resistant infection, MRSA, was reported in the UK in 1961.</a:t>
              </a:r>
            </a:p>
          </p:txBody>
        </p:sp>
      </p:grpSp>
      <p:grpSp>
        <p:nvGrpSpPr>
          <p:cNvPr id="256" name="stat1"/>
          <p:cNvGrpSpPr/>
          <p:nvPr/>
        </p:nvGrpSpPr>
        <p:grpSpPr>
          <a:xfrm>
            <a:off x="6498183" y="4617720"/>
            <a:ext cx="5144873" cy="896113"/>
            <a:chOff x="0" y="0"/>
            <a:chExt cx="5144872" cy="896111"/>
          </a:xfrm>
        </p:grpSpPr>
        <p:sp>
          <p:nvSpPr>
            <p:cNvPr id="253" name="stat1_bg"/>
            <p:cNvSpPr/>
            <p:nvPr/>
          </p:nvSpPr>
          <p:spPr>
            <a:xfrm>
              <a:off x="0" y="0"/>
              <a:ext cx="5144873" cy="896112"/>
            </a:xfrm>
            <a:prstGeom prst="roundRect">
              <a:avLst>
                <a:gd name="adj" fmla="val 10204"/>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254" name="stat1_big"/>
            <p:cNvSpPr txBox="1"/>
            <p:nvPr/>
          </p:nvSpPr>
          <p:spPr>
            <a:xfrm>
              <a:off x="201167" y="321055"/>
              <a:ext cx="1481329" cy="2540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A8651F"/>
                  </a:solidFill>
                  <a:latin typeface="Georgia"/>
                  <a:ea typeface="Georgia"/>
                  <a:cs typeface="Georgia"/>
                  <a:sym typeface="Georgia"/>
                </a:defRPr>
              </a:lvl1pPr>
            </a:lstStyle>
            <a:p>
              <a:pPr/>
              <a:r>
                <a:t>2023</a:t>
              </a:r>
            </a:p>
          </p:txBody>
        </p:sp>
        <p:sp>
          <p:nvSpPr>
            <p:cNvPr id="255" name="stat1_t"/>
            <p:cNvSpPr txBox="1"/>
            <p:nvPr/>
          </p:nvSpPr>
          <p:spPr>
            <a:xfrm>
              <a:off x="1737360" y="165208"/>
              <a:ext cx="3261209" cy="56569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500"/>
                </a:lnSpc>
                <a:defRPr sz="1200">
                  <a:solidFill>
                    <a:srgbClr val="182B1E"/>
                  </a:solidFill>
                  <a:latin typeface="Arial"/>
                  <a:ea typeface="Arial"/>
                  <a:cs typeface="Arial"/>
                  <a:sym typeface="Arial"/>
                </a:defRPr>
              </a:lvl1pPr>
            </a:lstStyle>
            <a:p>
              <a:pPr/>
              <a:r>
                <a:t>About 1 in 6 lab-confirmed bacterial infections worldwide was resistant to treatment. Source: WHO, 2025.</a:t>
              </a:r>
            </a:p>
          </p:txBody>
        </p:sp>
      </p:grpSp>
      <p:grpSp>
        <p:nvGrpSpPr>
          <p:cNvPr id="259" name="ab_banner"/>
          <p:cNvGrpSpPr/>
          <p:nvPr/>
        </p:nvGrpSpPr>
        <p:grpSpPr>
          <a:xfrm>
            <a:off x="1170432" y="5660135"/>
            <a:ext cx="10472623" cy="530353"/>
            <a:chOff x="0" y="0"/>
            <a:chExt cx="10472622" cy="530351"/>
          </a:xfrm>
        </p:grpSpPr>
        <p:sp>
          <p:nvSpPr>
            <p:cNvPr id="257" name="Rounded Rectangle"/>
            <p:cNvSpPr/>
            <p:nvPr/>
          </p:nvSpPr>
          <p:spPr>
            <a:xfrm>
              <a:off x="0" y="0"/>
              <a:ext cx="10472623" cy="530352"/>
            </a:xfrm>
            <a:prstGeom prst="roundRect">
              <a:avLst>
                <a:gd name="adj" fmla="val 20690"/>
              </a:avLst>
            </a:prstGeom>
            <a:solidFill>
              <a:srgbClr val="1F3D2B"/>
            </a:solidFill>
            <a:ln w="9525" cap="flat">
              <a:solidFill>
                <a:srgbClr val="1F3D2B"/>
              </a:solidFill>
              <a:prstDash val="solid"/>
              <a:round/>
            </a:ln>
            <a:effectLst/>
          </p:spPr>
          <p:txBody>
            <a:bodyPr wrap="square" lIns="45719" tIns="45719" rIns="45719" bIns="45719" numCol="1" anchor="ctr">
              <a:noAutofit/>
            </a:bodyPr>
            <a:lstStyle/>
            <a:p>
              <a:pPr algn="ctr">
                <a:defRPr sz="1600"/>
              </a:pPr>
            </a:p>
          </p:txBody>
        </p:sp>
        <p:sp>
          <p:nvSpPr>
            <p:cNvPr id="258" name="Bacteria do not learn to resist. Resistant bacteria survive."/>
            <p:cNvSpPr txBox="1"/>
            <p:nvPr/>
          </p:nvSpPr>
          <p:spPr>
            <a:xfrm>
              <a:off x="36901" y="152929"/>
              <a:ext cx="10398821" cy="224494"/>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1270" tIns="1270" rIns="1270" bIns="1270" numCol="1" anchor="ctr">
              <a:spAutoFit/>
            </a:bodyPr>
            <a:lstStyle>
              <a:lvl1pPr algn="ctr">
                <a:defRPr b="1" sz="1600">
                  <a:solidFill>
                    <a:srgbClr val="DE9A4C"/>
                  </a:solidFill>
                  <a:latin typeface="Arial"/>
                  <a:ea typeface="Arial"/>
                  <a:cs typeface="Arial"/>
                  <a:sym typeface="Arial"/>
                </a:defRPr>
              </a:lvl1pPr>
            </a:lstStyle>
            <a:p>
              <a:pPr/>
              <a:r>
                <a:t>Bacteria do not learn to resist. Resistant bacteria survive.</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206"/>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222"/>
                                        </p:tgtEl>
                                        <p:attrNameLst>
                                          <p:attrName>style.visibility</p:attrName>
                                        </p:attrNameLst>
                                      </p:cBhvr>
                                      <p:to>
                                        <p:strVal val="visible"/>
                                      </p:to>
                                    </p:set>
                                    <p:animEffect filter="fade" transition="in">
                                      <p:cBhvr>
                                        <p:cTn id="11" dur="400"/>
                                        <p:tgtEl>
                                          <p:spTgt spid="222"/>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229"/>
                                        </p:tgtEl>
                                        <p:attrNameLst>
                                          <p:attrName>style.visibility</p:attrName>
                                        </p:attrNameLst>
                                      </p:cBhvr>
                                      <p:to>
                                        <p:strVal val="visible"/>
                                      </p:to>
                                    </p:set>
                                    <p:animEffect filter="fade" transition="in">
                                      <p:cBhvr>
                                        <p:cTn id="16" dur="400"/>
                                        <p:tgtEl>
                                          <p:spTgt spid="229"/>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236"/>
                                        </p:tgtEl>
                                        <p:attrNameLst>
                                          <p:attrName>style.visibility</p:attrName>
                                        </p:attrNameLst>
                                      </p:cBhvr>
                                      <p:to>
                                        <p:strVal val="visible"/>
                                      </p:to>
                                    </p:set>
                                    <p:animEffect filter="fade" transition="in">
                                      <p:cBhvr>
                                        <p:cTn id="21" dur="400"/>
                                        <p:tgtEl>
                                          <p:spTgt spid="236"/>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248"/>
                                        </p:tgtEl>
                                        <p:attrNameLst>
                                          <p:attrName>style.visibility</p:attrName>
                                        </p:attrNameLst>
                                      </p:cBhvr>
                                      <p:to>
                                        <p:strVal val="visible"/>
                                      </p:to>
                                    </p:set>
                                    <p:animEffect filter="fade" transition="in">
                                      <p:cBhvr>
                                        <p:cTn id="26" dur="400"/>
                                        <p:tgtEl>
                                          <p:spTgt spid="248"/>
                                        </p:tgtEl>
                                      </p:cBhvr>
                                    </p:animEffect>
                                  </p:childTnLst>
                                </p:cTn>
                              </p:par>
                            </p:childTnLst>
                          </p:cTn>
                        </p:par>
                      </p:childTnLst>
                    </p:cTn>
                  </p:par>
                  <p:par>
                    <p:cTn id="27" fill="hold">
                      <p:stCondLst>
                        <p:cond delay="indefinite"/>
                      </p:stCondLst>
                      <p:childTnLst>
                        <p:par>
                          <p:cTn id="28" fill="hold">
                            <p:stCondLst>
                              <p:cond delay="0"/>
                            </p:stCondLst>
                            <p:childTnLst>
                              <p:par>
                                <p:cTn id="29" presetClass="entr" nodeType="clickEffect" presetID="10" grpId="6" fill="hold">
                                  <p:stCondLst>
                                    <p:cond delay="0"/>
                                  </p:stCondLst>
                                  <p:iterate type="el" backwards="0">
                                    <p:tmAbs val="0"/>
                                  </p:iterate>
                                  <p:childTnLst>
                                    <p:set>
                                      <p:cBhvr>
                                        <p:cTn id="30" fill="hold"/>
                                        <p:tgtEl>
                                          <p:spTgt spid="252"/>
                                        </p:tgtEl>
                                        <p:attrNameLst>
                                          <p:attrName>style.visibility</p:attrName>
                                        </p:attrNameLst>
                                      </p:cBhvr>
                                      <p:to>
                                        <p:strVal val="visible"/>
                                      </p:to>
                                    </p:set>
                                    <p:animEffect filter="fade" transition="in">
                                      <p:cBhvr>
                                        <p:cTn id="31" dur="400"/>
                                        <p:tgtEl>
                                          <p:spTgt spid="252"/>
                                        </p:tgtEl>
                                      </p:cBhvr>
                                    </p:animEffect>
                                  </p:childTnLst>
                                </p:cTn>
                              </p:par>
                            </p:childTnLst>
                          </p:cTn>
                        </p:par>
                        <p:par>
                          <p:cTn id="32" fill="hold">
                            <p:stCondLst>
                              <p:cond delay="400"/>
                            </p:stCondLst>
                            <p:childTnLst>
                              <p:par>
                                <p:cTn id="33" presetClass="entr" nodeType="afterEffect" presetID="10" grpId="7" fill="hold">
                                  <p:stCondLst>
                                    <p:cond delay="150"/>
                                  </p:stCondLst>
                                  <p:iterate type="el" backwards="0">
                                    <p:tmAbs val="0"/>
                                  </p:iterate>
                                  <p:childTnLst>
                                    <p:set>
                                      <p:cBhvr>
                                        <p:cTn id="34" fill="hold"/>
                                        <p:tgtEl>
                                          <p:spTgt spid="256"/>
                                        </p:tgtEl>
                                        <p:attrNameLst>
                                          <p:attrName>style.visibility</p:attrName>
                                        </p:attrNameLst>
                                      </p:cBhvr>
                                      <p:to>
                                        <p:strVal val="visible"/>
                                      </p:to>
                                    </p:set>
                                    <p:animEffect filter="fade" transition="in">
                                      <p:cBhvr>
                                        <p:cTn id="35" dur="400"/>
                                        <p:tgtEl>
                                          <p:spTgt spid="256"/>
                                        </p:tgtEl>
                                      </p:cBhvr>
                                    </p:animEffect>
                                  </p:childTnLst>
                                </p:cTn>
                              </p:par>
                            </p:childTnLst>
                          </p:cTn>
                        </p:par>
                      </p:childTnLst>
                    </p:cTn>
                  </p:par>
                  <p:par>
                    <p:cTn id="36" fill="hold">
                      <p:stCondLst>
                        <p:cond delay="indefinite"/>
                      </p:stCondLst>
                      <p:childTnLst>
                        <p:par>
                          <p:cTn id="37" fill="hold">
                            <p:stCondLst>
                              <p:cond delay="0"/>
                            </p:stCondLst>
                            <p:childTnLst>
                              <p:par>
                                <p:cTn id="38" presetClass="entr" nodeType="clickEffect" presetSubtype="16" presetID="23" grpId="8" fill="hold">
                                  <p:stCondLst>
                                    <p:cond delay="0"/>
                                  </p:stCondLst>
                                  <p:iterate type="el" backwards="0">
                                    <p:tmAbs val="0"/>
                                  </p:iterate>
                                  <p:childTnLst>
                                    <p:set>
                                      <p:cBhvr>
                                        <p:cTn id="39" fill="hold"/>
                                        <p:tgtEl>
                                          <p:spTgt spid="259"/>
                                        </p:tgtEl>
                                        <p:attrNameLst>
                                          <p:attrName>style.visibility</p:attrName>
                                        </p:attrNameLst>
                                      </p:cBhvr>
                                      <p:to>
                                        <p:strVal val="visible"/>
                                      </p:to>
                                    </p:set>
                                    <p:anim calcmode="lin" valueType="num">
                                      <p:cBhvr>
                                        <p:cTn id="40" dur="400" fill="hold"/>
                                        <p:tgtEl>
                                          <p:spTgt spid="259"/>
                                        </p:tgtEl>
                                        <p:attrNameLst>
                                          <p:attrName>ppt_w</p:attrName>
                                        </p:attrNameLst>
                                      </p:cBhvr>
                                      <p:tavLst>
                                        <p:tav tm="0">
                                          <p:val>
                                            <p:fltVal val="0"/>
                                          </p:val>
                                        </p:tav>
                                        <p:tav tm="100000">
                                          <p:val>
                                            <p:strVal val="#ppt_w"/>
                                          </p:val>
                                        </p:tav>
                                      </p:tavLst>
                                    </p:anim>
                                    <p:anim calcmode="lin" valueType="num">
                                      <p:cBhvr>
                                        <p:cTn id="41" dur="400" fill="hold"/>
                                        <p:tgtEl>
                                          <p:spTgt spid="259"/>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42" fill="hold" display="0">
                  <p:stCondLst>
                    <p:cond delay="indefinite"/>
                  </p:stCondLst>
                </p:cTn>
                <p:tgtEl>
                  <p:spTgt spid="206"/>
                </p:tgtEl>
              </p:cMediaNode>
            </p:video>
            <p:seq concurrent="1" prevAc="none" nextAc="seek">
              <p:cTn id="43" evtFilter="cancelBubble" nodeType="interactiveSeq" restart="whenNotActive" fill="hold">
                <p:stCondLst>
                  <p:cond delay="0" evt="onClick">
                    <p:tgtEl>
                      <p:spTgt spid="206"/>
                    </p:tgtEl>
                  </p:cond>
                </p:stCondLst>
                <p:endSync delay="0" evt="end">
                  <p:rtn val="all"/>
                </p:endSync>
                <p:childTnLst>
                  <p:par>
                    <p:cTn id="44" fill="hold">
                      <p:stCondLst>
                        <p:cond delay="0"/>
                      </p:stCondLst>
                      <p:childTnLst>
                        <p:par>
                          <p:cTn id="45" fill="hold">
                            <p:stCondLst>
                              <p:cond delay="0"/>
                            </p:stCondLst>
                            <p:childTnLst>
                              <p:par>
                                <p:cTn id="46" presetClass="mediacall" nodeType="clickEffect" presetSubtype="0" presetID="2" fill="hold">
                                  <p:stCondLst>
                                    <p:cond delay="0"/>
                                  </p:stCondLst>
                                  <p:childTnLst>
                                    <p:cmd type="call" cmd="togglePause">
                                      <p:cBhvr>
                                        <p:cTn id="47" dur="1" fill="hold"/>
                                        <p:tgtEl>
                                          <p:spTgt spid="206"/>
                                        </p:tgtEl>
                                      </p:cBhvr>
                                    </p:cmd>
                                  </p:childTnLst>
                                </p:cTn>
                              </p:par>
                            </p:childTnLst>
                          </p:cTn>
                        </p:par>
                      </p:childTnLst>
                    </p:cTn>
                  </p:par>
                </p:childTnLst>
              </p:cTn>
              <p:nextCondLst>
                <p:cond delay="0" evt="onClick">
                  <p:tgtEl>
                    <p:spTgt spid="206"/>
                  </p:tgtEl>
                </p:cond>
              </p:nextCondLst>
            </p:seq>
          </p:childTnLst>
        </p:cTn>
      </p:par>
    </p:tnLst>
    <p:bldLst>
      <p:bldP build="whole" bldLvl="1" animBg="1" rev="0" advAuto="0" spid="236" grpId="4"/>
      <p:bldP build="whole" bldLvl="1" animBg="1" rev="0" advAuto="0" spid="256" grpId="7"/>
      <p:bldP build="whole" bldLvl="1" animBg="1" rev="0" advAuto="0" spid="259" grpId="8"/>
      <p:bldP build="whole" bldLvl="1" animBg="1" rev="0" advAuto="0" spid="229" grpId="3"/>
      <p:bldP build="whole" bldLvl="1" animBg="1" rev="0" advAuto="0" spid="252" grpId="6"/>
      <p:bldP build="whole" bldLvl="1" animBg="1" rev="0" advAuto="0" spid="248" grpId="5"/>
      <p:bldP build="whole" bldLvl="1" animBg="1" rev="0" advAuto="0" spid="222" grpId="2"/>
    </p:bldLst>
  </p:timing>
</p:sld>
</file>

<file path=ppt/slides/slide7.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263"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66" name="phase_pill"/>
          <p:cNvGrpSpPr/>
          <p:nvPr/>
        </p:nvGrpSpPr>
        <p:grpSpPr>
          <a:xfrm>
            <a:off x="1170432" y="310895"/>
            <a:ext cx="1713586" cy="329185"/>
            <a:chOff x="0" y="0"/>
            <a:chExt cx="1713585" cy="329184"/>
          </a:xfrm>
        </p:grpSpPr>
        <p:sp>
          <p:nvSpPr>
            <p:cNvPr id="264" name="Rounded Rectangle"/>
            <p:cNvSpPr/>
            <p:nvPr/>
          </p:nvSpPr>
          <p:spPr>
            <a:xfrm>
              <a:off x="0" y="0"/>
              <a:ext cx="1713586"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265" name="WE DO · 5 MIN"/>
            <p:cNvSpPr txBox="1"/>
            <p:nvPr/>
          </p:nvSpPr>
          <p:spPr>
            <a:xfrm>
              <a:off x="42850" y="90677"/>
              <a:ext cx="1627885"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WE DO · 5 MIN</a:t>
              </a:r>
            </a:p>
          </p:txBody>
        </p:sp>
      </p:grpSp>
      <p:sp>
        <p:nvSpPr>
          <p:cNvPr id="267"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F3D2B"/>
                </a:solidFill>
                <a:latin typeface="Georgia"/>
                <a:ea typeface="Georgia"/>
                <a:cs typeface="Georgia"/>
                <a:sym typeface="Georgia"/>
              </a:defRPr>
            </a:lvl1pPr>
          </a:lstStyle>
          <a:p>
            <a:pPr/>
            <a:r>
              <a:t>What should be the correct answer?</a:t>
            </a:r>
          </a:p>
        </p:txBody>
      </p:sp>
      <p:sp>
        <p:nvSpPr>
          <p:cNvPr id="268" name="slide_sub"/>
          <p:cNvSpPr txBox="1"/>
          <p:nvPr/>
        </p:nvSpPr>
        <p:spPr>
          <a:xfrm>
            <a:off x="1170432" y="1644671"/>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sz="1600">
                <a:solidFill>
                  <a:srgbClr val="52685A"/>
                </a:solidFill>
                <a:latin typeface="Arial"/>
                <a:ea typeface="Arial"/>
                <a:cs typeface="Arial"/>
                <a:sym typeface="Arial"/>
              </a:defRPr>
            </a:lvl1pPr>
          </a:lstStyle>
          <a:p>
            <a:pPr/>
            <a:r>
              <a:t>Spot the mistake.</a:t>
            </a:r>
          </a:p>
        </p:txBody>
      </p:sp>
      <p:sp>
        <p:nvSpPr>
          <p:cNvPr id="269" name="wd0_bg"/>
          <p:cNvSpPr/>
          <p:nvPr/>
        </p:nvSpPr>
        <p:spPr>
          <a:xfrm>
            <a:off x="1170432" y="2322576"/>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270" name="wd0_q"/>
          <p:cNvSpPr txBox="1"/>
          <p:nvPr/>
        </p:nvSpPr>
        <p:spPr>
          <a:xfrm>
            <a:off x="1426463" y="2626495"/>
            <a:ext cx="5120642"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"The finches needed bigger beaks, so their beaks grew."</a:t>
            </a:r>
          </a:p>
        </p:txBody>
      </p:sp>
      <p:grpSp>
        <p:nvGrpSpPr>
          <p:cNvPr id="273" name="wd0_a"/>
          <p:cNvGrpSpPr/>
          <p:nvPr/>
        </p:nvGrpSpPr>
        <p:grpSpPr>
          <a:xfrm>
            <a:off x="6748271" y="2404872"/>
            <a:ext cx="4803344" cy="676656"/>
            <a:chOff x="0" y="0"/>
            <a:chExt cx="4803342" cy="676655"/>
          </a:xfrm>
        </p:grpSpPr>
        <p:sp>
          <p:nvSpPr>
            <p:cNvPr id="271" name="Rounded Rectangle"/>
            <p:cNvSpPr/>
            <p:nvPr/>
          </p:nvSpPr>
          <p:spPr>
            <a:xfrm>
              <a:off x="0" y="0"/>
              <a:ext cx="4803343" cy="676656"/>
            </a:xfrm>
            <a:prstGeom prst="roundRect">
              <a:avLst>
                <a:gd name="adj" fmla="val 13514"/>
              </a:avLst>
            </a:prstGeom>
            <a:solidFill>
              <a:srgbClr val="F3E7CE"/>
            </a:solidFill>
            <a:ln w="19050" cap="flat">
              <a:solidFill>
                <a:srgbClr val="C1442D"/>
              </a:solidFill>
              <a:prstDash val="solid"/>
              <a:round/>
            </a:ln>
            <a:effectLst/>
          </p:spPr>
          <p:txBody>
            <a:bodyPr wrap="square" lIns="45719" tIns="45719" rIns="45719" bIns="45719" numCol="1" anchor="ctr">
              <a:noAutofit/>
            </a:bodyPr>
            <a:lstStyle/>
            <a:p>
              <a:pPr algn="ctr">
                <a:defRPr sz="1200"/>
              </a:pPr>
            </a:p>
          </p:txBody>
        </p:sp>
        <p:sp>
          <p:nvSpPr>
            <p:cNvPr id="272" name="Finches with deeper beaks survived more often and passed them on. No finch grew a bigger beak."/>
            <p:cNvSpPr txBox="1"/>
            <p:nvPr/>
          </p:nvSpPr>
          <p:spPr>
            <a:xfrm>
              <a:off x="36307" y="162258"/>
              <a:ext cx="4730729" cy="3521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1F3D2B"/>
                  </a:solidFill>
                  <a:latin typeface="Arial"/>
                  <a:ea typeface="Arial"/>
                  <a:cs typeface="Arial"/>
                  <a:sym typeface="Arial"/>
                </a:defRPr>
              </a:lvl1pPr>
            </a:lstStyle>
            <a:p>
              <a:pPr/>
              <a:r>
                <a:t>Finches with deeper beaks survived more often and passed them on. No finch grew a bigger beak.</a:t>
              </a:r>
            </a:p>
          </p:txBody>
        </p:sp>
      </p:grpSp>
      <p:sp>
        <p:nvSpPr>
          <p:cNvPr id="274" name="wd1_bg"/>
          <p:cNvSpPr/>
          <p:nvPr/>
        </p:nvSpPr>
        <p:spPr>
          <a:xfrm>
            <a:off x="1170432" y="3346703"/>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275" name="wd1_q"/>
          <p:cNvSpPr txBox="1"/>
          <p:nvPr/>
        </p:nvSpPr>
        <p:spPr>
          <a:xfrm>
            <a:off x="1426463" y="3650623"/>
            <a:ext cx="5120642"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"My body got used to the antibiotic, so it stopped working."</a:t>
            </a:r>
          </a:p>
        </p:txBody>
      </p:sp>
      <p:grpSp>
        <p:nvGrpSpPr>
          <p:cNvPr id="278" name="wd1_a"/>
          <p:cNvGrpSpPr/>
          <p:nvPr/>
        </p:nvGrpSpPr>
        <p:grpSpPr>
          <a:xfrm>
            <a:off x="6748271" y="3429000"/>
            <a:ext cx="4803344" cy="676656"/>
            <a:chOff x="0" y="0"/>
            <a:chExt cx="4803342" cy="676655"/>
          </a:xfrm>
        </p:grpSpPr>
        <p:sp>
          <p:nvSpPr>
            <p:cNvPr id="276" name="Rounded Rectangle"/>
            <p:cNvSpPr/>
            <p:nvPr/>
          </p:nvSpPr>
          <p:spPr>
            <a:xfrm>
              <a:off x="0" y="0"/>
              <a:ext cx="4803343" cy="676656"/>
            </a:xfrm>
            <a:prstGeom prst="roundRect">
              <a:avLst>
                <a:gd name="adj" fmla="val 13514"/>
              </a:avLst>
            </a:prstGeom>
            <a:solidFill>
              <a:srgbClr val="F3E7CE"/>
            </a:solidFill>
            <a:ln w="19050" cap="flat">
              <a:solidFill>
                <a:srgbClr val="C1442D"/>
              </a:solidFill>
              <a:prstDash val="solid"/>
              <a:round/>
            </a:ln>
            <a:effectLst/>
          </p:spPr>
          <p:txBody>
            <a:bodyPr wrap="square" lIns="45719" tIns="45719" rIns="45719" bIns="45719" numCol="1" anchor="ctr">
              <a:noAutofit/>
            </a:bodyPr>
            <a:lstStyle/>
            <a:p>
              <a:pPr algn="ctr">
                <a:defRPr sz="1200"/>
              </a:pPr>
            </a:p>
          </p:txBody>
        </p:sp>
        <p:sp>
          <p:nvSpPr>
            <p:cNvPr id="277" name="Your body did not change. Some bacteria were already resistant. They survived and multiplied."/>
            <p:cNvSpPr txBox="1"/>
            <p:nvPr/>
          </p:nvSpPr>
          <p:spPr>
            <a:xfrm>
              <a:off x="36307" y="162258"/>
              <a:ext cx="4730729" cy="3521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1F3D2B"/>
                  </a:solidFill>
                  <a:latin typeface="Arial"/>
                  <a:ea typeface="Arial"/>
                  <a:cs typeface="Arial"/>
                  <a:sym typeface="Arial"/>
                </a:defRPr>
              </a:lvl1pPr>
            </a:lstStyle>
            <a:p>
              <a:pPr/>
              <a:r>
                <a:t>Your body did not change. Some bacteria were already resistant. They survived and multiplied.</a:t>
              </a:r>
            </a:p>
          </p:txBody>
        </p:sp>
      </p:grpSp>
      <p:sp>
        <p:nvSpPr>
          <p:cNvPr id="279" name="wd2_bg"/>
          <p:cNvSpPr/>
          <p:nvPr/>
        </p:nvSpPr>
        <p:spPr>
          <a:xfrm>
            <a:off x="1170432" y="4370832"/>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280" name="wd2_q"/>
          <p:cNvSpPr txBox="1"/>
          <p:nvPr/>
        </p:nvSpPr>
        <p:spPr>
          <a:xfrm>
            <a:off x="1426463" y="4674751"/>
            <a:ext cx="5120642" cy="233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"The tweezers changed to collect more beans."</a:t>
            </a:r>
          </a:p>
        </p:txBody>
      </p:sp>
      <p:grpSp>
        <p:nvGrpSpPr>
          <p:cNvPr id="283" name="wd2_a"/>
          <p:cNvGrpSpPr/>
          <p:nvPr/>
        </p:nvGrpSpPr>
        <p:grpSpPr>
          <a:xfrm>
            <a:off x="6748271" y="4453128"/>
            <a:ext cx="4803344" cy="676657"/>
            <a:chOff x="0" y="0"/>
            <a:chExt cx="4803342" cy="676655"/>
          </a:xfrm>
        </p:grpSpPr>
        <p:sp>
          <p:nvSpPr>
            <p:cNvPr id="281" name="Rounded Rectangle"/>
            <p:cNvSpPr/>
            <p:nvPr/>
          </p:nvSpPr>
          <p:spPr>
            <a:xfrm>
              <a:off x="0" y="0"/>
              <a:ext cx="4803343" cy="676656"/>
            </a:xfrm>
            <a:prstGeom prst="roundRect">
              <a:avLst>
                <a:gd name="adj" fmla="val 13514"/>
              </a:avLst>
            </a:prstGeom>
            <a:solidFill>
              <a:srgbClr val="F3E7CE"/>
            </a:solidFill>
            <a:ln w="19050" cap="flat">
              <a:solidFill>
                <a:srgbClr val="C1442D"/>
              </a:solidFill>
              <a:prstDash val="solid"/>
              <a:round/>
            </a:ln>
            <a:effectLst/>
          </p:spPr>
          <p:txBody>
            <a:bodyPr wrap="square" lIns="45719" tIns="45719" rIns="45719" bIns="45719" numCol="1" anchor="ctr">
              <a:noAutofit/>
            </a:bodyPr>
            <a:lstStyle/>
            <a:p>
              <a:pPr algn="ctr">
                <a:defRPr sz="1200"/>
              </a:pPr>
            </a:p>
          </p:txBody>
        </p:sp>
        <p:sp>
          <p:nvSpPr>
            <p:cNvPr id="282" name="Nothing changed. Some beaks collected fewer beans, so those players were out."/>
            <p:cNvSpPr txBox="1"/>
            <p:nvPr/>
          </p:nvSpPr>
          <p:spPr>
            <a:xfrm>
              <a:off x="36307" y="162258"/>
              <a:ext cx="4730729" cy="3521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1F3D2B"/>
                  </a:solidFill>
                  <a:latin typeface="Arial"/>
                  <a:ea typeface="Arial"/>
                  <a:cs typeface="Arial"/>
                  <a:sym typeface="Arial"/>
                </a:defRPr>
              </a:lvl1pPr>
            </a:lstStyle>
            <a:p>
              <a:pPr/>
              <a:r>
                <a:t>Nothing changed. Some beaks collected fewer beans, so those players were out.</a:t>
              </a:r>
            </a:p>
          </p:txBody>
        </p:sp>
      </p:grpSp>
      <p:sp>
        <p:nvSpPr>
          <p:cNvPr id="284" name="wd3_bg"/>
          <p:cNvSpPr/>
          <p:nvPr/>
        </p:nvSpPr>
        <p:spPr>
          <a:xfrm>
            <a:off x="1170432" y="5394959"/>
            <a:ext cx="10472623" cy="841249"/>
          </a:xfrm>
          <a:prstGeom prst="roundRect">
            <a:avLst>
              <a:gd name="adj" fmla="val 10870"/>
            </a:avLst>
          </a:prstGeom>
          <a:solidFill>
            <a:srgbClr val="FFFFFF"/>
          </a:solidFill>
          <a:ln w="16510">
            <a:solidFill>
              <a:srgbClr val="D8DEEC"/>
            </a:solidFill>
          </a:ln>
        </p:spPr>
        <p:txBody>
          <a:bodyPr lIns="45719" rIns="45719"/>
          <a:lstStyle/>
          <a:p>
            <a:pPr/>
          </a:p>
        </p:txBody>
      </p:sp>
      <p:sp>
        <p:nvSpPr>
          <p:cNvPr id="285" name="wd3_q"/>
          <p:cNvSpPr txBox="1"/>
          <p:nvPr/>
        </p:nvSpPr>
        <p:spPr>
          <a:xfrm>
            <a:off x="1426463" y="5578229"/>
            <a:ext cx="5120642" cy="4747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1900"/>
              </a:lnSpc>
              <a:defRPr sz="1500">
                <a:solidFill>
                  <a:srgbClr val="182B1E"/>
                </a:solidFill>
                <a:latin typeface="Arial"/>
                <a:ea typeface="Arial"/>
                <a:cs typeface="Arial"/>
                <a:sym typeface="Arial"/>
              </a:defRPr>
            </a:lvl1pPr>
          </a:lstStyle>
          <a:p>
            <a:pPr/>
            <a:r>
              <a:t>"The giraffe stretched its neck, so its babies had longer necks."</a:t>
            </a:r>
          </a:p>
        </p:txBody>
      </p:sp>
      <p:grpSp>
        <p:nvGrpSpPr>
          <p:cNvPr id="288" name="wd3_a"/>
          <p:cNvGrpSpPr/>
          <p:nvPr/>
        </p:nvGrpSpPr>
        <p:grpSpPr>
          <a:xfrm>
            <a:off x="6748271" y="5477255"/>
            <a:ext cx="4803344" cy="676657"/>
            <a:chOff x="0" y="0"/>
            <a:chExt cx="4803342" cy="676655"/>
          </a:xfrm>
        </p:grpSpPr>
        <p:sp>
          <p:nvSpPr>
            <p:cNvPr id="286" name="Rounded Rectangle"/>
            <p:cNvSpPr/>
            <p:nvPr/>
          </p:nvSpPr>
          <p:spPr>
            <a:xfrm>
              <a:off x="0" y="0"/>
              <a:ext cx="4803343" cy="676656"/>
            </a:xfrm>
            <a:prstGeom prst="roundRect">
              <a:avLst>
                <a:gd name="adj" fmla="val 13514"/>
              </a:avLst>
            </a:prstGeom>
            <a:solidFill>
              <a:srgbClr val="F3E7CE"/>
            </a:solidFill>
            <a:ln w="19050" cap="flat">
              <a:solidFill>
                <a:srgbClr val="C1442D"/>
              </a:solidFill>
              <a:prstDash val="solid"/>
              <a:round/>
            </a:ln>
            <a:effectLst/>
          </p:spPr>
          <p:txBody>
            <a:bodyPr wrap="square" lIns="45719" tIns="45719" rIns="45719" bIns="45719" numCol="1" anchor="ctr">
              <a:noAutofit/>
            </a:bodyPr>
            <a:lstStyle/>
            <a:p>
              <a:pPr algn="ctr">
                <a:defRPr sz="1200"/>
              </a:pPr>
            </a:p>
          </p:txBody>
        </p:sp>
        <p:sp>
          <p:nvSpPr>
            <p:cNvPr id="287" name="Giraffes with longer necks survived more often and passed them on. Stretching is not inherited."/>
            <p:cNvSpPr txBox="1"/>
            <p:nvPr/>
          </p:nvSpPr>
          <p:spPr>
            <a:xfrm>
              <a:off x="36307" y="162258"/>
              <a:ext cx="4730729" cy="35214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761" tIns="761" rIns="761" bIns="761" numCol="1" anchor="ctr">
              <a:spAutoFit/>
            </a:bodyPr>
            <a:lstStyle>
              <a:lvl1pPr algn="ctr">
                <a:defRPr b="1" sz="1200">
                  <a:solidFill>
                    <a:srgbClr val="1F3D2B"/>
                  </a:solidFill>
                  <a:latin typeface="Arial"/>
                  <a:ea typeface="Arial"/>
                  <a:cs typeface="Arial"/>
                  <a:sym typeface="Arial"/>
                </a:defRPr>
              </a:lvl1pPr>
            </a:lstStyle>
            <a:p>
              <a:pPr/>
              <a:r>
                <a:t>Giraffes with longer necks survived more often and passed them on. Stretching is not inherited.</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300000" fill="hold"/>
                                        <p:tgtEl>
                                          <p:spTgt spid="263"/>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Subtype="16" presetID="23" grpId="2" fill="hold">
                                  <p:stCondLst>
                                    <p:cond delay="0"/>
                                  </p:stCondLst>
                                  <p:iterate type="el" backwards="0">
                                    <p:tmAbs val="0"/>
                                  </p:iterate>
                                  <p:childTnLst>
                                    <p:set>
                                      <p:cBhvr>
                                        <p:cTn id="10" fill="hold"/>
                                        <p:tgtEl>
                                          <p:spTgt spid="273"/>
                                        </p:tgtEl>
                                        <p:attrNameLst>
                                          <p:attrName>style.visibility</p:attrName>
                                        </p:attrNameLst>
                                      </p:cBhvr>
                                      <p:to>
                                        <p:strVal val="visible"/>
                                      </p:to>
                                    </p:set>
                                    <p:anim calcmode="lin" valueType="num">
                                      <p:cBhvr>
                                        <p:cTn id="11" dur="400" fill="hold"/>
                                        <p:tgtEl>
                                          <p:spTgt spid="273"/>
                                        </p:tgtEl>
                                        <p:attrNameLst>
                                          <p:attrName>ppt_w</p:attrName>
                                        </p:attrNameLst>
                                      </p:cBhvr>
                                      <p:tavLst>
                                        <p:tav tm="0">
                                          <p:val>
                                            <p:fltVal val="0"/>
                                          </p:val>
                                        </p:tav>
                                        <p:tav tm="100000">
                                          <p:val>
                                            <p:strVal val="#ppt_w"/>
                                          </p:val>
                                        </p:tav>
                                      </p:tavLst>
                                    </p:anim>
                                    <p:anim calcmode="lin" valueType="num">
                                      <p:cBhvr>
                                        <p:cTn id="12" dur="400" fill="hold"/>
                                        <p:tgtEl>
                                          <p:spTgt spid="273"/>
                                        </p:tgtEl>
                                        <p:attrNameLst>
                                          <p:attrName>ppt_h</p:attrName>
                                        </p:attrNameLst>
                                      </p:cBhvr>
                                      <p:tavLst>
                                        <p:tav tm="0">
                                          <p:val>
                                            <p:fltVal val="0"/>
                                          </p:val>
                                        </p:tav>
                                        <p:tav tm="100000">
                                          <p:val>
                                            <p:strVal val="#ppt_h"/>
                                          </p:val>
                                        </p:tav>
                                      </p:tavLst>
                                    </p:anim>
                                  </p:childTnLst>
                                </p:cTn>
                              </p:par>
                            </p:childTnLst>
                          </p:cTn>
                        </p:par>
                      </p:childTnLst>
                    </p:cTn>
                  </p:par>
                  <p:par>
                    <p:cTn id="13" fill="hold">
                      <p:stCondLst>
                        <p:cond delay="indefinite"/>
                      </p:stCondLst>
                      <p:childTnLst>
                        <p:par>
                          <p:cTn id="14" fill="hold">
                            <p:stCondLst>
                              <p:cond delay="0"/>
                            </p:stCondLst>
                            <p:childTnLst>
                              <p:par>
                                <p:cTn id="15" presetClass="entr" nodeType="clickEffect" presetSubtype="16" presetID="23" grpId="3" fill="hold">
                                  <p:stCondLst>
                                    <p:cond delay="0"/>
                                  </p:stCondLst>
                                  <p:iterate type="el" backwards="0">
                                    <p:tmAbs val="0"/>
                                  </p:iterate>
                                  <p:childTnLst>
                                    <p:set>
                                      <p:cBhvr>
                                        <p:cTn id="16" fill="hold"/>
                                        <p:tgtEl>
                                          <p:spTgt spid="278"/>
                                        </p:tgtEl>
                                        <p:attrNameLst>
                                          <p:attrName>style.visibility</p:attrName>
                                        </p:attrNameLst>
                                      </p:cBhvr>
                                      <p:to>
                                        <p:strVal val="visible"/>
                                      </p:to>
                                    </p:set>
                                    <p:anim calcmode="lin" valueType="num">
                                      <p:cBhvr>
                                        <p:cTn id="17" dur="400" fill="hold"/>
                                        <p:tgtEl>
                                          <p:spTgt spid="278"/>
                                        </p:tgtEl>
                                        <p:attrNameLst>
                                          <p:attrName>ppt_w</p:attrName>
                                        </p:attrNameLst>
                                      </p:cBhvr>
                                      <p:tavLst>
                                        <p:tav tm="0">
                                          <p:val>
                                            <p:fltVal val="0"/>
                                          </p:val>
                                        </p:tav>
                                        <p:tav tm="100000">
                                          <p:val>
                                            <p:strVal val="#ppt_w"/>
                                          </p:val>
                                        </p:tav>
                                      </p:tavLst>
                                    </p:anim>
                                    <p:anim calcmode="lin" valueType="num">
                                      <p:cBhvr>
                                        <p:cTn id="18" dur="400" fill="hold"/>
                                        <p:tgtEl>
                                          <p:spTgt spid="278"/>
                                        </p:tgtEl>
                                        <p:attrNameLst>
                                          <p:attrName>ppt_h</p:attrName>
                                        </p:attrNameLst>
                                      </p:cBhvr>
                                      <p:tavLst>
                                        <p:tav tm="0">
                                          <p:val>
                                            <p:fltVal val="0"/>
                                          </p:val>
                                        </p:tav>
                                        <p:tav tm="100000">
                                          <p:val>
                                            <p:strVal val="#ppt_h"/>
                                          </p:val>
                                        </p:tav>
                                      </p:tavLst>
                                    </p:anim>
                                  </p:childTnLst>
                                </p:cTn>
                              </p:par>
                            </p:childTnLst>
                          </p:cTn>
                        </p:par>
                      </p:childTnLst>
                    </p:cTn>
                  </p:par>
                  <p:par>
                    <p:cTn id="19" fill="hold">
                      <p:stCondLst>
                        <p:cond delay="indefinite"/>
                      </p:stCondLst>
                      <p:childTnLst>
                        <p:par>
                          <p:cTn id="20" fill="hold">
                            <p:stCondLst>
                              <p:cond delay="0"/>
                            </p:stCondLst>
                            <p:childTnLst>
                              <p:par>
                                <p:cTn id="21" presetClass="entr" nodeType="clickEffect" presetSubtype="16" presetID="23" grpId="4" fill="hold">
                                  <p:stCondLst>
                                    <p:cond delay="0"/>
                                  </p:stCondLst>
                                  <p:iterate type="el" backwards="0">
                                    <p:tmAbs val="0"/>
                                  </p:iterate>
                                  <p:childTnLst>
                                    <p:set>
                                      <p:cBhvr>
                                        <p:cTn id="22" fill="hold"/>
                                        <p:tgtEl>
                                          <p:spTgt spid="283"/>
                                        </p:tgtEl>
                                        <p:attrNameLst>
                                          <p:attrName>style.visibility</p:attrName>
                                        </p:attrNameLst>
                                      </p:cBhvr>
                                      <p:to>
                                        <p:strVal val="visible"/>
                                      </p:to>
                                    </p:set>
                                    <p:anim calcmode="lin" valueType="num">
                                      <p:cBhvr>
                                        <p:cTn id="23" dur="400" fill="hold"/>
                                        <p:tgtEl>
                                          <p:spTgt spid="283"/>
                                        </p:tgtEl>
                                        <p:attrNameLst>
                                          <p:attrName>ppt_w</p:attrName>
                                        </p:attrNameLst>
                                      </p:cBhvr>
                                      <p:tavLst>
                                        <p:tav tm="0">
                                          <p:val>
                                            <p:fltVal val="0"/>
                                          </p:val>
                                        </p:tav>
                                        <p:tav tm="100000">
                                          <p:val>
                                            <p:strVal val="#ppt_w"/>
                                          </p:val>
                                        </p:tav>
                                      </p:tavLst>
                                    </p:anim>
                                    <p:anim calcmode="lin" valueType="num">
                                      <p:cBhvr>
                                        <p:cTn id="24" dur="400" fill="hold"/>
                                        <p:tgtEl>
                                          <p:spTgt spid="283"/>
                                        </p:tgtEl>
                                        <p:attrNameLst>
                                          <p:attrName>ppt_h</p:attrName>
                                        </p:attrNameLst>
                                      </p:cBhvr>
                                      <p:tavLst>
                                        <p:tav tm="0">
                                          <p:val>
                                            <p:fltVal val="0"/>
                                          </p:val>
                                        </p:tav>
                                        <p:tav tm="100000">
                                          <p:val>
                                            <p:strVal val="#ppt_h"/>
                                          </p:val>
                                        </p:tav>
                                      </p:tavLst>
                                    </p:anim>
                                  </p:childTnLst>
                                </p:cTn>
                              </p:par>
                            </p:childTnLst>
                          </p:cTn>
                        </p:par>
                      </p:childTnLst>
                    </p:cTn>
                  </p:par>
                  <p:par>
                    <p:cTn id="25" fill="hold">
                      <p:stCondLst>
                        <p:cond delay="indefinite"/>
                      </p:stCondLst>
                      <p:childTnLst>
                        <p:par>
                          <p:cTn id="26" fill="hold">
                            <p:stCondLst>
                              <p:cond delay="0"/>
                            </p:stCondLst>
                            <p:childTnLst>
                              <p:par>
                                <p:cTn id="27" presetClass="entr" nodeType="clickEffect" presetSubtype="16" presetID="23" grpId="5" fill="hold">
                                  <p:stCondLst>
                                    <p:cond delay="0"/>
                                  </p:stCondLst>
                                  <p:iterate type="el" backwards="0">
                                    <p:tmAbs val="0"/>
                                  </p:iterate>
                                  <p:childTnLst>
                                    <p:set>
                                      <p:cBhvr>
                                        <p:cTn id="28" fill="hold"/>
                                        <p:tgtEl>
                                          <p:spTgt spid="288"/>
                                        </p:tgtEl>
                                        <p:attrNameLst>
                                          <p:attrName>style.visibility</p:attrName>
                                        </p:attrNameLst>
                                      </p:cBhvr>
                                      <p:to>
                                        <p:strVal val="visible"/>
                                      </p:to>
                                    </p:set>
                                    <p:anim calcmode="lin" valueType="num">
                                      <p:cBhvr>
                                        <p:cTn id="29" dur="400" fill="hold"/>
                                        <p:tgtEl>
                                          <p:spTgt spid="288"/>
                                        </p:tgtEl>
                                        <p:attrNameLst>
                                          <p:attrName>ppt_w</p:attrName>
                                        </p:attrNameLst>
                                      </p:cBhvr>
                                      <p:tavLst>
                                        <p:tav tm="0">
                                          <p:val>
                                            <p:fltVal val="0"/>
                                          </p:val>
                                        </p:tav>
                                        <p:tav tm="100000">
                                          <p:val>
                                            <p:strVal val="#ppt_w"/>
                                          </p:val>
                                        </p:tav>
                                      </p:tavLst>
                                    </p:anim>
                                    <p:anim calcmode="lin" valueType="num">
                                      <p:cBhvr>
                                        <p:cTn id="30" dur="400" fill="hold"/>
                                        <p:tgtEl>
                                          <p:spTgt spid="288"/>
                                        </p:tgtEl>
                                        <p:attrNameLst>
                                          <p:attrName>ppt_h</p:attrName>
                                        </p:attrNameLst>
                                      </p:cBhvr>
                                      <p:tavLst>
                                        <p:tav tm="0">
                                          <p:val>
                                            <p:fltVal val="0"/>
                                          </p:val>
                                        </p:tav>
                                        <p:tav tm="100000">
                                          <p:val>
                                            <p:strVal val="#ppt_h"/>
                                          </p:val>
                                        </p:tav>
                                      </p:tavLst>
                                    </p:anim>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31" fill="hold" display="0">
                  <p:stCondLst>
                    <p:cond delay="indefinite"/>
                  </p:stCondLst>
                </p:cTn>
                <p:tgtEl>
                  <p:spTgt spid="263"/>
                </p:tgtEl>
              </p:cMediaNode>
            </p:video>
            <p:seq concurrent="1" prevAc="none" nextAc="seek">
              <p:cTn id="32" evtFilter="cancelBubble" nodeType="interactiveSeq" restart="whenNotActive" fill="hold">
                <p:stCondLst>
                  <p:cond delay="0" evt="onClick">
                    <p:tgtEl>
                      <p:spTgt spid="263"/>
                    </p:tgtEl>
                  </p:cond>
                </p:stCondLst>
                <p:endSync delay="0" evt="end">
                  <p:rtn val="all"/>
                </p:endSync>
                <p:childTnLst>
                  <p:par>
                    <p:cTn id="33" fill="hold">
                      <p:stCondLst>
                        <p:cond delay="0"/>
                      </p:stCondLst>
                      <p:childTnLst>
                        <p:par>
                          <p:cTn id="34" fill="hold">
                            <p:stCondLst>
                              <p:cond delay="0"/>
                            </p:stCondLst>
                            <p:childTnLst>
                              <p:par>
                                <p:cTn id="35" presetClass="mediacall" nodeType="clickEffect" presetSubtype="0" presetID="2" fill="hold">
                                  <p:stCondLst>
                                    <p:cond delay="0"/>
                                  </p:stCondLst>
                                  <p:childTnLst>
                                    <p:cmd type="call" cmd="togglePause">
                                      <p:cBhvr>
                                        <p:cTn id="36" dur="1" fill="hold"/>
                                        <p:tgtEl>
                                          <p:spTgt spid="263"/>
                                        </p:tgtEl>
                                      </p:cBhvr>
                                    </p:cmd>
                                  </p:childTnLst>
                                </p:cTn>
                              </p:par>
                            </p:childTnLst>
                          </p:cTn>
                        </p:par>
                      </p:childTnLst>
                    </p:cTn>
                  </p:par>
                </p:childTnLst>
              </p:cTn>
              <p:nextCondLst>
                <p:cond delay="0" evt="onClick">
                  <p:tgtEl>
                    <p:spTgt spid="263"/>
                  </p:tgtEl>
                </p:cond>
              </p:nextCondLst>
            </p:seq>
          </p:childTnLst>
        </p:cTn>
      </p:par>
    </p:tnLst>
    <p:bldLst>
      <p:bldP build="whole" bldLvl="1" animBg="1" rev="0" advAuto="0" spid="283" grpId="4"/>
      <p:bldP build="whole" bldLvl="1" animBg="1" rev="0" advAuto="0" spid="288" grpId="5"/>
      <p:bldP build="whole" bldLvl="1" animBg="1" rev="0" advAuto="0" spid="273" grpId="2"/>
      <p:bldP build="whole" bldLvl="1" animBg="1" rev="0" advAuto="0" spid="278" grpId="3"/>
    </p:bldLst>
  </p:timing>
</p:sld>
</file>

<file path=ppt/slides/slide8.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292"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295" name="phase_pill"/>
          <p:cNvGrpSpPr/>
          <p:nvPr/>
        </p:nvGrpSpPr>
        <p:grpSpPr>
          <a:xfrm>
            <a:off x="1170432" y="310895"/>
            <a:ext cx="1892808" cy="329185"/>
            <a:chOff x="0" y="0"/>
            <a:chExt cx="1892807" cy="329184"/>
          </a:xfrm>
        </p:grpSpPr>
        <p:sp>
          <p:nvSpPr>
            <p:cNvPr id="293" name="Rounded Rectangle"/>
            <p:cNvSpPr/>
            <p:nvPr/>
          </p:nvSpPr>
          <p:spPr>
            <a:xfrm>
              <a:off x="0" y="0"/>
              <a:ext cx="1892808"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294" name="YOU DO · 11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YOU DO · 11 MIN</a:t>
              </a:r>
            </a:p>
          </p:txBody>
        </p:sp>
      </p:grpSp>
      <p:pic>
        <p:nvPicPr>
          <p:cNvPr id="296" name="gc_logo" descr="gc_logo"/>
          <p:cNvPicPr>
            <a:picLocks noChangeAspect="1"/>
          </p:cNvPicPr>
          <p:nvPr/>
        </p:nvPicPr>
        <p:blipFill>
          <a:blip r:embed="rId6">
            <a:alphaModFix amt="38000"/>
            <a:extLst/>
          </a:blip>
          <a:stretch>
            <a:fillRect/>
          </a:stretch>
        </p:blipFill>
        <p:spPr>
          <a:xfrm>
            <a:off x="10088574" y="786383"/>
            <a:ext cx="1554481" cy="1344169"/>
          </a:xfrm>
          <a:prstGeom prst="rect">
            <a:avLst/>
          </a:prstGeom>
          <a:ln w="12700">
            <a:miter lim="400000"/>
          </a:ln>
        </p:spPr>
      </p:pic>
      <p:sp>
        <p:nvSpPr>
          <p:cNvPr id="297" name="slide_title"/>
          <p:cNvSpPr txBox="1"/>
          <p:nvPr/>
        </p:nvSpPr>
        <p:spPr>
          <a:xfrm>
            <a:off x="1170432" y="1120387"/>
            <a:ext cx="8643823" cy="374410"/>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lnSpc>
                <a:spcPts val="3000"/>
              </a:lnSpc>
              <a:defRPr b="1" sz="2500">
                <a:solidFill>
                  <a:srgbClr val="1F3D2B"/>
                </a:solidFill>
                <a:latin typeface="Georgia"/>
                <a:ea typeface="Georgia"/>
                <a:cs typeface="Georgia"/>
                <a:sym typeface="Georgia"/>
              </a:defRPr>
            </a:lvl1pPr>
          </a:lstStyle>
          <a:p>
            <a:pPr/>
            <a:r>
              <a:t>Natural Selection In Action worksheet</a:t>
            </a:r>
          </a:p>
        </p:txBody>
      </p:sp>
      <p:sp>
        <p:nvSpPr>
          <p:cNvPr id="298" name="slide_sub"/>
          <p:cNvSpPr txBox="1"/>
          <p:nvPr/>
        </p:nvSpPr>
        <p:spPr>
          <a:xfrm>
            <a:off x="1170432" y="1924787"/>
            <a:ext cx="8643823"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700">
                <a:solidFill>
                  <a:srgbClr val="C1442D"/>
                </a:solidFill>
                <a:latin typeface="Arial"/>
                <a:ea typeface="Arial"/>
                <a:cs typeface="Arial"/>
                <a:sym typeface="Arial"/>
              </a:defRPr>
            </a:lvl1pPr>
          </a:lstStyle>
          <a:p>
            <a:pPr/>
            <a:r>
              <a:t>Open Google Classroom now.</a:t>
            </a:r>
          </a:p>
        </p:txBody>
      </p:sp>
      <p:grpSp>
        <p:nvGrpSpPr>
          <p:cNvPr id="303" name="t0"/>
          <p:cNvGrpSpPr/>
          <p:nvPr/>
        </p:nvGrpSpPr>
        <p:grpSpPr>
          <a:xfrm>
            <a:off x="1170432" y="2322576"/>
            <a:ext cx="3307994" cy="1920241"/>
            <a:chOff x="0" y="0"/>
            <a:chExt cx="3307993" cy="1920239"/>
          </a:xfrm>
        </p:grpSpPr>
        <p:sp>
          <p:nvSpPr>
            <p:cNvPr id="299" name="t0_bg"/>
            <p:cNvSpPr/>
            <p:nvPr/>
          </p:nvSpPr>
          <p:spPr>
            <a:xfrm>
              <a:off x="0" y="0"/>
              <a:ext cx="3307994" cy="1920240"/>
            </a:xfrm>
            <a:prstGeom prst="roundRect">
              <a:avLst>
                <a:gd name="adj" fmla="val 4762"/>
              </a:avLst>
            </a:prstGeom>
            <a:solidFill>
              <a:srgbClr val="FBEAE6"/>
            </a:solidFill>
            <a:ln w="20320" cap="flat">
              <a:solidFill>
                <a:srgbClr val="C1442D"/>
              </a:solidFill>
              <a:prstDash val="solid"/>
              <a:round/>
            </a:ln>
            <a:effectLst/>
          </p:spPr>
          <p:txBody>
            <a:bodyPr wrap="square" lIns="45719" tIns="45719" rIns="45719" bIns="45719" numCol="1" anchor="t">
              <a:noAutofit/>
            </a:bodyPr>
            <a:lstStyle/>
            <a:p>
              <a:pPr/>
            </a:p>
          </p:txBody>
        </p:sp>
        <p:sp>
          <p:nvSpPr>
            <p:cNvPr id="300" name="t0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C1442D"/>
                  </a:solidFill>
                  <a:latin typeface="Arial"/>
                  <a:ea typeface="Arial"/>
                  <a:cs typeface="Arial"/>
                  <a:sym typeface="Arial"/>
                </a:defRPr>
              </a:lvl1pPr>
            </a:lstStyle>
            <a:p>
              <a:pPr/>
              <a:r>
                <a:t>BRONZE</a:t>
              </a:r>
            </a:p>
          </p:txBody>
        </p:sp>
        <p:sp>
          <p:nvSpPr>
            <p:cNvPr id="301" name="t0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1F3D2B"/>
                  </a:solidFill>
                  <a:latin typeface="Arial"/>
                  <a:ea typeface="Arial"/>
                  <a:cs typeface="Arial"/>
                  <a:sym typeface="Arial"/>
                </a:defRPr>
              </a:lvl1pPr>
            </a:lstStyle>
            <a:p>
              <a:pPr/>
              <a:r>
                <a:t>Record it</a:t>
              </a:r>
            </a:p>
          </p:txBody>
        </p:sp>
        <p:sp>
          <p:nvSpPr>
            <p:cNvPr id="302" name="t0_b"/>
            <p:cNvSpPr txBox="1"/>
            <p:nvPr/>
          </p:nvSpPr>
          <p:spPr>
            <a:xfrm>
              <a:off x="237744" y="877823"/>
              <a:ext cx="2832506" cy="4491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52685A"/>
                  </a:solidFill>
                  <a:latin typeface="Arial"/>
                  <a:ea typeface="Arial"/>
                  <a:cs typeface="Arial"/>
                  <a:sym typeface="Arial"/>
                </a:defRPr>
              </a:lvl1pPr>
            </a:lstStyle>
            <a:p>
              <a:pPr/>
              <a:r>
                <a:t>Fill in your beak game results. Name the four steps.</a:t>
              </a:r>
            </a:p>
          </p:txBody>
        </p:sp>
      </p:grpSp>
      <p:grpSp>
        <p:nvGrpSpPr>
          <p:cNvPr id="308" name="t1"/>
          <p:cNvGrpSpPr/>
          <p:nvPr/>
        </p:nvGrpSpPr>
        <p:grpSpPr>
          <a:xfrm>
            <a:off x="4752745" y="2322576"/>
            <a:ext cx="3307995" cy="1920241"/>
            <a:chOff x="0" y="0"/>
            <a:chExt cx="3307993" cy="1920239"/>
          </a:xfrm>
        </p:grpSpPr>
        <p:sp>
          <p:nvSpPr>
            <p:cNvPr id="304" name="t1_bg"/>
            <p:cNvSpPr/>
            <p:nvPr/>
          </p:nvSpPr>
          <p:spPr>
            <a:xfrm>
              <a:off x="0" y="0"/>
              <a:ext cx="3307994" cy="1920240"/>
            </a:xfrm>
            <a:prstGeom prst="roundRect">
              <a:avLst>
                <a:gd name="adj" fmla="val 4762"/>
              </a:avLst>
            </a:prstGeom>
            <a:solidFill>
              <a:srgbClr val="F1F2EE"/>
            </a:solidFill>
            <a:ln w="20320" cap="flat">
              <a:solidFill>
                <a:srgbClr val="6E8074"/>
              </a:solidFill>
              <a:prstDash val="solid"/>
              <a:round/>
            </a:ln>
            <a:effectLst/>
          </p:spPr>
          <p:txBody>
            <a:bodyPr wrap="square" lIns="45719" tIns="45719" rIns="45719" bIns="45719" numCol="1" anchor="t">
              <a:noAutofit/>
            </a:bodyPr>
            <a:lstStyle/>
            <a:p>
              <a:pPr/>
            </a:p>
          </p:txBody>
        </p:sp>
        <p:sp>
          <p:nvSpPr>
            <p:cNvPr id="305" name="t1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6E8074"/>
                  </a:solidFill>
                  <a:latin typeface="Arial"/>
                  <a:ea typeface="Arial"/>
                  <a:cs typeface="Arial"/>
                  <a:sym typeface="Arial"/>
                </a:defRPr>
              </a:lvl1pPr>
            </a:lstStyle>
            <a:p>
              <a:pPr/>
              <a:r>
                <a:t>SILVER</a:t>
              </a:r>
            </a:p>
          </p:txBody>
        </p:sp>
        <p:sp>
          <p:nvSpPr>
            <p:cNvPr id="306" name="t1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1F3D2B"/>
                  </a:solidFill>
                  <a:latin typeface="Arial"/>
                  <a:ea typeface="Arial"/>
                  <a:cs typeface="Arial"/>
                  <a:sym typeface="Arial"/>
                </a:defRPr>
              </a:lvl1pPr>
            </a:lstStyle>
            <a:p>
              <a:pPr/>
              <a:r>
                <a:t>Explain it</a:t>
              </a:r>
            </a:p>
          </p:txBody>
        </p:sp>
        <p:sp>
          <p:nvSpPr>
            <p:cNvPr id="307" name="t1_b"/>
            <p:cNvSpPr txBox="1"/>
            <p:nvPr/>
          </p:nvSpPr>
          <p:spPr>
            <a:xfrm>
              <a:off x="237744" y="877823"/>
              <a:ext cx="2832506" cy="4491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52685A"/>
                  </a:solidFill>
                  <a:latin typeface="Arial"/>
                  <a:ea typeface="Arial"/>
                  <a:cs typeface="Arial"/>
                  <a:sym typeface="Arial"/>
                </a:defRPr>
              </a:lvl1pPr>
            </a:lstStyle>
            <a:p>
              <a:pPr/>
              <a:r>
                <a:t>Explain the finch example, and why some bacteria survive an antibiotic.</a:t>
              </a:r>
            </a:p>
          </p:txBody>
        </p:sp>
      </p:grpSp>
      <p:grpSp>
        <p:nvGrpSpPr>
          <p:cNvPr id="313" name="t2"/>
          <p:cNvGrpSpPr/>
          <p:nvPr/>
        </p:nvGrpSpPr>
        <p:grpSpPr>
          <a:xfrm>
            <a:off x="8335061" y="2322576"/>
            <a:ext cx="3307994" cy="1920241"/>
            <a:chOff x="0" y="0"/>
            <a:chExt cx="3307993" cy="1920239"/>
          </a:xfrm>
        </p:grpSpPr>
        <p:sp>
          <p:nvSpPr>
            <p:cNvPr id="309" name="t2_bg"/>
            <p:cNvSpPr/>
            <p:nvPr/>
          </p:nvSpPr>
          <p:spPr>
            <a:xfrm>
              <a:off x="0" y="0"/>
              <a:ext cx="3307994" cy="1920240"/>
            </a:xfrm>
            <a:prstGeom prst="roundRect">
              <a:avLst>
                <a:gd name="adj" fmla="val 4762"/>
              </a:avLst>
            </a:prstGeom>
            <a:solidFill>
              <a:srgbClr val="F3E7CE"/>
            </a:solidFill>
            <a:ln w="20320" cap="flat">
              <a:solidFill>
                <a:srgbClr val="A8651F"/>
              </a:solidFill>
              <a:prstDash val="solid"/>
              <a:round/>
            </a:ln>
            <a:effectLst/>
          </p:spPr>
          <p:txBody>
            <a:bodyPr wrap="square" lIns="45719" tIns="45719" rIns="45719" bIns="45719" numCol="1" anchor="t">
              <a:noAutofit/>
            </a:bodyPr>
            <a:lstStyle/>
            <a:p>
              <a:pPr/>
            </a:p>
          </p:txBody>
        </p:sp>
        <p:sp>
          <p:nvSpPr>
            <p:cNvPr id="310" name="t2_h"/>
            <p:cNvSpPr txBox="1"/>
            <p:nvPr/>
          </p:nvSpPr>
          <p:spPr>
            <a:xfrm>
              <a:off x="237744" y="242638"/>
              <a:ext cx="2832506"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pc="120" sz="1500">
                  <a:solidFill>
                    <a:srgbClr val="A8651F"/>
                  </a:solidFill>
                  <a:latin typeface="Arial"/>
                  <a:ea typeface="Arial"/>
                  <a:cs typeface="Arial"/>
                  <a:sym typeface="Arial"/>
                </a:defRPr>
              </a:lvl1pPr>
            </a:lstStyle>
            <a:p>
              <a:pPr/>
              <a:r>
                <a:t>GOLD</a:t>
              </a:r>
            </a:p>
          </p:txBody>
        </p:sp>
        <p:sp>
          <p:nvSpPr>
            <p:cNvPr id="311" name="t2_s"/>
            <p:cNvSpPr txBox="1"/>
            <p:nvPr/>
          </p:nvSpPr>
          <p:spPr>
            <a:xfrm>
              <a:off x="237744" y="571475"/>
              <a:ext cx="2832506" cy="24693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sz="1700">
                  <a:solidFill>
                    <a:srgbClr val="1F3D2B"/>
                  </a:solidFill>
                  <a:latin typeface="Arial"/>
                  <a:ea typeface="Arial"/>
                  <a:cs typeface="Arial"/>
                  <a:sym typeface="Arial"/>
                </a:defRPr>
              </a:lvl1pPr>
            </a:lstStyle>
            <a:p>
              <a:pPr/>
              <a:r>
                <a:t>Rewrite it</a:t>
              </a:r>
            </a:p>
          </p:txBody>
        </p:sp>
        <p:sp>
          <p:nvSpPr>
            <p:cNvPr id="312" name="t2_b"/>
            <p:cNvSpPr txBox="1"/>
            <p:nvPr/>
          </p:nvSpPr>
          <p:spPr>
            <a:xfrm>
              <a:off x="237744" y="877823"/>
              <a:ext cx="2832506" cy="90636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t">
              <a:spAutoFit/>
            </a:bodyPr>
            <a:lstStyle>
              <a:lvl1pPr>
                <a:lnSpc>
                  <a:spcPts val="1800"/>
                </a:lnSpc>
                <a:defRPr sz="1400">
                  <a:solidFill>
                    <a:srgbClr val="52685A"/>
                  </a:solidFill>
                  <a:latin typeface="Arial"/>
                  <a:ea typeface="Arial"/>
                  <a:cs typeface="Arial"/>
                  <a:sym typeface="Arial"/>
                </a:defRPr>
              </a:lvl1pPr>
            </a:lstStyle>
            <a:p>
              <a:pPr/>
              <a:r>
                <a:t>Explain antibiotic resistance as natural selection. Rewrite a sentence so nothing changes on purpose.</a:t>
              </a:r>
            </a:p>
          </p:txBody>
        </p:sp>
      </p:grpSp>
      <p:sp>
        <p:nvSpPr>
          <p:cNvPr id="314" name="yd_note"/>
          <p:cNvSpPr txBox="1"/>
          <p:nvPr/>
        </p:nvSpPr>
        <p:spPr>
          <a:xfrm>
            <a:off x="1170432" y="4634759"/>
            <a:ext cx="10472623" cy="221954"/>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1600">
                <a:solidFill>
                  <a:srgbClr val="1F3D2B"/>
                </a:solidFill>
                <a:latin typeface="Arial"/>
                <a:ea typeface="Arial"/>
                <a:cs typeface="Arial"/>
                <a:sym typeface="Arial"/>
              </a:defRPr>
            </a:lvl1pPr>
          </a:lstStyle>
          <a:p>
            <a:pPr/>
            <a:r>
              <a:t>Check your writing: nothing wanted, needed, tried or learned.</a:t>
            </a:r>
          </a:p>
        </p:txBody>
      </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660000" fill="hold"/>
                                        <p:tgtEl>
                                          <p:spTgt spid="292"/>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03"/>
                                        </p:tgtEl>
                                        <p:attrNameLst>
                                          <p:attrName>style.visibility</p:attrName>
                                        </p:attrNameLst>
                                      </p:cBhvr>
                                      <p:to>
                                        <p:strVal val="visible"/>
                                      </p:to>
                                    </p:set>
                                    <p:animEffect filter="fade" transition="in">
                                      <p:cBhvr>
                                        <p:cTn id="11" dur="400"/>
                                        <p:tgtEl>
                                          <p:spTgt spid="30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ID="10" grpId="3" fill="hold">
                                  <p:stCondLst>
                                    <p:cond delay="0"/>
                                  </p:stCondLst>
                                  <p:iterate type="el" backwards="0">
                                    <p:tmAbs val="0"/>
                                  </p:iterate>
                                  <p:childTnLst>
                                    <p:set>
                                      <p:cBhvr>
                                        <p:cTn id="15" fill="hold"/>
                                        <p:tgtEl>
                                          <p:spTgt spid="308"/>
                                        </p:tgtEl>
                                        <p:attrNameLst>
                                          <p:attrName>style.visibility</p:attrName>
                                        </p:attrNameLst>
                                      </p:cBhvr>
                                      <p:to>
                                        <p:strVal val="visible"/>
                                      </p:to>
                                    </p:set>
                                    <p:animEffect filter="fade" transition="in">
                                      <p:cBhvr>
                                        <p:cTn id="16" dur="400"/>
                                        <p:tgtEl>
                                          <p:spTgt spid="308"/>
                                        </p:tgtEl>
                                      </p:cBhvr>
                                    </p:animEffect>
                                  </p:childTnLst>
                                </p:cTn>
                              </p:par>
                            </p:childTnLst>
                          </p:cTn>
                        </p:par>
                      </p:childTnLst>
                    </p:cTn>
                  </p:par>
                  <p:par>
                    <p:cTn id="17" fill="hold">
                      <p:stCondLst>
                        <p:cond delay="indefinite"/>
                      </p:stCondLst>
                      <p:childTnLst>
                        <p:par>
                          <p:cTn id="18" fill="hold">
                            <p:stCondLst>
                              <p:cond delay="0"/>
                            </p:stCondLst>
                            <p:childTnLst>
                              <p:par>
                                <p:cTn id="19" presetClass="entr" nodeType="clickEffect" presetID="10" grpId="4" fill="hold">
                                  <p:stCondLst>
                                    <p:cond delay="0"/>
                                  </p:stCondLst>
                                  <p:iterate type="el" backwards="0">
                                    <p:tmAbs val="0"/>
                                  </p:iterate>
                                  <p:childTnLst>
                                    <p:set>
                                      <p:cBhvr>
                                        <p:cTn id="20" fill="hold"/>
                                        <p:tgtEl>
                                          <p:spTgt spid="313"/>
                                        </p:tgtEl>
                                        <p:attrNameLst>
                                          <p:attrName>style.visibility</p:attrName>
                                        </p:attrNameLst>
                                      </p:cBhvr>
                                      <p:to>
                                        <p:strVal val="visible"/>
                                      </p:to>
                                    </p:set>
                                    <p:animEffect filter="fade" transition="in">
                                      <p:cBhvr>
                                        <p:cTn id="21" dur="400"/>
                                        <p:tgtEl>
                                          <p:spTgt spid="313"/>
                                        </p:tgtEl>
                                      </p:cBhvr>
                                    </p:animEffect>
                                  </p:childTnLst>
                                </p:cTn>
                              </p:par>
                            </p:childTnLst>
                          </p:cTn>
                        </p:par>
                      </p:childTnLst>
                    </p:cTn>
                  </p:par>
                  <p:par>
                    <p:cTn id="22" fill="hold">
                      <p:stCondLst>
                        <p:cond delay="indefinite"/>
                      </p:stCondLst>
                      <p:childTnLst>
                        <p:par>
                          <p:cTn id="23" fill="hold">
                            <p:stCondLst>
                              <p:cond delay="0"/>
                            </p:stCondLst>
                            <p:childTnLst>
                              <p:par>
                                <p:cTn id="24" presetClass="entr" nodeType="clickEffect" presetID="10" grpId="5" fill="hold">
                                  <p:stCondLst>
                                    <p:cond delay="0"/>
                                  </p:stCondLst>
                                  <p:iterate type="el" backwards="0">
                                    <p:tmAbs val="0"/>
                                  </p:iterate>
                                  <p:childTnLst>
                                    <p:set>
                                      <p:cBhvr>
                                        <p:cTn id="25" fill="hold"/>
                                        <p:tgtEl>
                                          <p:spTgt spid="314"/>
                                        </p:tgtEl>
                                        <p:attrNameLst>
                                          <p:attrName>style.visibility</p:attrName>
                                        </p:attrNameLst>
                                      </p:cBhvr>
                                      <p:to>
                                        <p:strVal val="visible"/>
                                      </p:to>
                                    </p:set>
                                    <p:animEffect filter="fade" transition="in">
                                      <p:cBhvr>
                                        <p:cTn id="26" dur="400"/>
                                        <p:tgtEl>
                                          <p:spTgt spid="314"/>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27" fill="hold" display="0">
                  <p:stCondLst>
                    <p:cond delay="indefinite"/>
                  </p:stCondLst>
                </p:cTn>
                <p:tgtEl>
                  <p:spTgt spid="292"/>
                </p:tgtEl>
              </p:cMediaNode>
            </p:video>
            <p:seq concurrent="1" prevAc="none" nextAc="seek">
              <p:cTn id="28" evtFilter="cancelBubble" nodeType="interactiveSeq" restart="whenNotActive" fill="hold">
                <p:stCondLst>
                  <p:cond delay="0" evt="onClick">
                    <p:tgtEl>
                      <p:spTgt spid="292"/>
                    </p:tgtEl>
                  </p:cond>
                </p:stCondLst>
                <p:endSync delay="0" evt="end">
                  <p:rtn val="all"/>
                </p:endSync>
                <p:childTnLst>
                  <p:par>
                    <p:cTn id="29" fill="hold">
                      <p:stCondLst>
                        <p:cond delay="0"/>
                      </p:stCondLst>
                      <p:childTnLst>
                        <p:par>
                          <p:cTn id="30" fill="hold">
                            <p:stCondLst>
                              <p:cond delay="0"/>
                            </p:stCondLst>
                            <p:childTnLst>
                              <p:par>
                                <p:cTn id="31" presetClass="mediacall" nodeType="clickEffect" presetSubtype="0" presetID="2" fill="hold">
                                  <p:stCondLst>
                                    <p:cond delay="0"/>
                                  </p:stCondLst>
                                  <p:childTnLst>
                                    <p:cmd type="call" cmd="togglePause">
                                      <p:cBhvr>
                                        <p:cTn id="32" dur="1" fill="hold"/>
                                        <p:tgtEl>
                                          <p:spTgt spid="292"/>
                                        </p:tgtEl>
                                      </p:cBhvr>
                                    </p:cmd>
                                  </p:childTnLst>
                                </p:cTn>
                              </p:par>
                            </p:childTnLst>
                          </p:cTn>
                        </p:par>
                      </p:childTnLst>
                    </p:cTn>
                  </p:par>
                </p:childTnLst>
              </p:cTn>
              <p:nextCondLst>
                <p:cond delay="0" evt="onClick">
                  <p:tgtEl>
                    <p:spTgt spid="292"/>
                  </p:tgtEl>
                </p:cond>
              </p:nextCondLst>
            </p:seq>
          </p:childTnLst>
        </p:cTn>
      </p:par>
    </p:tnLst>
    <p:bldLst>
      <p:bldP build="whole" bldLvl="1" animBg="1" rev="0" advAuto="0" spid="314" grpId="5"/>
      <p:bldP build="whole" bldLvl="1" animBg="1" rev="0" advAuto="0" spid="308" grpId="3"/>
      <p:bldP build="whole" bldLvl="1" animBg="1" rev="0" advAuto="0" spid="303" grpId="2"/>
      <p:bldP build="whole" bldLvl="1" animBg="1" rev="0" advAuto="0" spid="313" grpId="4"/>
    </p:bldLst>
  </p:timing>
</p:sld>
</file>

<file path=ppt/slides/slide9.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F5F1E6"/>
        </a:solidFill>
      </p:bgPr>
    </p:bg>
    <p:spTree>
      <p:nvGrpSpPr>
        <p:cNvPr id="1" name=""/>
        <p:cNvGrpSpPr/>
        <p:nvPr/>
      </p:nvGrpSpPr>
      <p:grpSpPr>
        <a:xfrm>
          <a:off x="0" y="0"/>
          <a:ext cx="0" cy="0"/>
          <a:chOff x="0" y="0"/>
          <a:chExt cx="0" cy="0"/>
        </a:xfrm>
      </p:grpSpPr>
      <p:pic>
        <p:nvPicPr>
          <p:cNvPr id="318"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321" name="phase_pill"/>
          <p:cNvGrpSpPr/>
          <p:nvPr/>
        </p:nvGrpSpPr>
        <p:grpSpPr>
          <a:xfrm>
            <a:off x="1170432" y="310895"/>
            <a:ext cx="1892808" cy="329185"/>
            <a:chOff x="0" y="0"/>
            <a:chExt cx="1892807" cy="329184"/>
          </a:xfrm>
        </p:grpSpPr>
        <p:sp>
          <p:nvSpPr>
            <p:cNvPr id="319" name="Rounded Rectangle"/>
            <p:cNvSpPr/>
            <p:nvPr/>
          </p:nvSpPr>
          <p:spPr>
            <a:xfrm>
              <a:off x="0" y="0"/>
              <a:ext cx="1892808" cy="329185"/>
            </a:xfrm>
            <a:prstGeom prst="roundRect">
              <a:avLst>
                <a:gd name="adj" fmla="val 44444"/>
              </a:avLst>
            </a:prstGeom>
            <a:solidFill>
              <a:srgbClr val="1F3D2B"/>
            </a:solidFill>
            <a:ln w="12700" cap="flat">
              <a:noFill/>
              <a:miter lim="400000"/>
            </a:ln>
            <a:effectLst/>
          </p:spPr>
          <p:txBody>
            <a:bodyPr wrap="square" lIns="45719" tIns="45719" rIns="45719" bIns="45719" numCol="1" anchor="ctr">
              <a:noAutofit/>
            </a:bodyPr>
            <a:lstStyle/>
            <a:p>
              <a:pPr algn="ctr">
                <a:defRPr sz="1100"/>
              </a:pPr>
            </a:p>
          </p:txBody>
        </p:sp>
        <p:sp>
          <p:nvSpPr>
            <p:cNvPr id="320" name="ANSWERS · 3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FFFFFF"/>
                  </a:solidFill>
                  <a:latin typeface="Arial"/>
                  <a:ea typeface="Arial"/>
                  <a:cs typeface="Arial"/>
                  <a:sym typeface="Arial"/>
                </a:defRPr>
              </a:lvl1pPr>
            </a:lstStyle>
            <a:p>
              <a:pPr/>
              <a:r>
                <a:t>ANSWERS · 3 MIN</a:t>
              </a:r>
            </a:p>
          </p:txBody>
        </p:sp>
      </p:grpSp>
      <p:sp>
        <p:nvSpPr>
          <p:cNvPr id="322"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1F3D2B"/>
                </a:solidFill>
                <a:latin typeface="Georgia"/>
                <a:ea typeface="Georgia"/>
                <a:cs typeface="Georgia"/>
                <a:sym typeface="Georgia"/>
              </a:defRPr>
            </a:lvl1pPr>
          </a:lstStyle>
          <a:p>
            <a:pPr/>
            <a:r>
              <a:t>Answers</a:t>
            </a:r>
          </a:p>
        </p:txBody>
      </p:sp>
      <p:grpSp>
        <p:nvGrpSpPr>
          <p:cNvPr id="326" name="a0"/>
          <p:cNvGrpSpPr/>
          <p:nvPr/>
        </p:nvGrpSpPr>
        <p:grpSpPr>
          <a:xfrm>
            <a:off x="1170432" y="1828800"/>
            <a:ext cx="5117441" cy="658369"/>
            <a:chOff x="0" y="0"/>
            <a:chExt cx="5117439" cy="658368"/>
          </a:xfrm>
        </p:grpSpPr>
        <p:sp>
          <p:nvSpPr>
            <p:cNvPr id="323" name="a0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24" name="a0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A8651F"/>
                  </a:solidFill>
                  <a:latin typeface="Georgia"/>
                  <a:ea typeface="Georgia"/>
                  <a:cs typeface="Georgia"/>
                  <a:sym typeface="Georgia"/>
                </a:defRPr>
              </a:lvl1pPr>
            </a:lstStyle>
            <a:p>
              <a:pPr/>
              <a:r>
                <a:t>1</a:t>
              </a:r>
            </a:p>
          </p:txBody>
        </p:sp>
        <p:sp>
          <p:nvSpPr>
            <p:cNvPr id="325" name="a0_t"/>
            <p:cNvSpPr txBox="1"/>
            <p:nvPr/>
          </p:nvSpPr>
          <p:spPr>
            <a:xfrm>
              <a:off x="749808" y="241916"/>
              <a:ext cx="4166464" cy="1745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200">
                  <a:solidFill>
                    <a:srgbClr val="182B1E"/>
                  </a:solidFill>
                  <a:latin typeface="Arial"/>
                  <a:ea typeface="Arial"/>
                  <a:cs typeface="Arial"/>
                  <a:sym typeface="Arial"/>
                </a:defRPr>
              </a:lvl1pPr>
            </a:lstStyle>
            <a:p>
              <a:pPr/>
              <a:r>
                <a:t>Variation, competition, survival, inheritance.</a:t>
              </a:r>
            </a:p>
          </p:txBody>
        </p:sp>
      </p:grpSp>
      <p:grpSp>
        <p:nvGrpSpPr>
          <p:cNvPr id="330" name="a1"/>
          <p:cNvGrpSpPr/>
          <p:nvPr/>
        </p:nvGrpSpPr>
        <p:grpSpPr>
          <a:xfrm>
            <a:off x="6525615" y="1828800"/>
            <a:ext cx="5117441" cy="658369"/>
            <a:chOff x="0" y="0"/>
            <a:chExt cx="5117439" cy="658368"/>
          </a:xfrm>
        </p:grpSpPr>
        <p:sp>
          <p:nvSpPr>
            <p:cNvPr id="327" name="a1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28" name="a1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A8651F"/>
                  </a:solidFill>
                  <a:latin typeface="Georgia"/>
                  <a:ea typeface="Georgia"/>
                  <a:cs typeface="Georgia"/>
                  <a:sym typeface="Georgia"/>
                </a:defRPr>
              </a:lvl1pPr>
            </a:lstStyle>
            <a:p>
              <a:pPr/>
              <a:r>
                <a:t>2</a:t>
              </a:r>
            </a:p>
          </p:txBody>
        </p:sp>
        <p:sp>
          <p:nvSpPr>
            <p:cNvPr id="329" name="a1_t"/>
            <p:cNvSpPr txBox="1"/>
            <p:nvPr/>
          </p:nvSpPr>
          <p:spPr>
            <a:xfrm>
              <a:off x="749808" y="241916"/>
              <a:ext cx="4166464" cy="1745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200">
                  <a:solidFill>
                    <a:srgbClr val="182B1E"/>
                  </a:solidFill>
                  <a:latin typeface="Arial"/>
                  <a:ea typeface="Arial"/>
                  <a:cs typeface="Arial"/>
                  <a:sym typeface="Arial"/>
                </a:defRPr>
              </a:lvl1pPr>
            </a:lstStyle>
            <a:p>
              <a:pPr/>
              <a:r>
                <a:t>The food, the seeds a bird eats.</a:t>
              </a:r>
            </a:p>
          </p:txBody>
        </p:sp>
      </p:grpSp>
      <p:grpSp>
        <p:nvGrpSpPr>
          <p:cNvPr id="334" name="a2"/>
          <p:cNvGrpSpPr/>
          <p:nvPr/>
        </p:nvGrpSpPr>
        <p:grpSpPr>
          <a:xfrm>
            <a:off x="1170432" y="2578607"/>
            <a:ext cx="5117441" cy="658369"/>
            <a:chOff x="0" y="0"/>
            <a:chExt cx="5117439" cy="658368"/>
          </a:xfrm>
        </p:grpSpPr>
        <p:sp>
          <p:nvSpPr>
            <p:cNvPr id="331" name="a2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32" name="a2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A8651F"/>
                  </a:solidFill>
                  <a:latin typeface="Georgia"/>
                  <a:ea typeface="Georgia"/>
                  <a:cs typeface="Georgia"/>
                  <a:sym typeface="Georgia"/>
                </a:defRPr>
              </a:lvl1pPr>
            </a:lstStyle>
            <a:p>
              <a:pPr/>
              <a:r>
                <a:t>3</a:t>
              </a:r>
            </a:p>
          </p:txBody>
        </p:sp>
        <p:sp>
          <p:nvSpPr>
            <p:cNvPr id="333" name="a2_t"/>
            <p:cNvSpPr txBox="1"/>
            <p:nvPr/>
          </p:nvSpPr>
          <p:spPr>
            <a:xfrm>
              <a:off x="749808" y="241916"/>
              <a:ext cx="4166464" cy="1745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200">
                  <a:solidFill>
                    <a:srgbClr val="182B1E"/>
                  </a:solidFill>
                  <a:latin typeface="Arial"/>
                  <a:ea typeface="Arial"/>
                  <a:cs typeface="Arial"/>
                  <a:sym typeface="Arial"/>
                </a:defRPr>
              </a:lvl1pPr>
            </a:lstStyle>
            <a:p>
              <a:pPr/>
              <a:r>
                <a:t>A bird that did not survive, for example one that starved.</a:t>
              </a:r>
            </a:p>
          </p:txBody>
        </p:sp>
      </p:grpSp>
      <p:grpSp>
        <p:nvGrpSpPr>
          <p:cNvPr id="338" name="a3"/>
          <p:cNvGrpSpPr/>
          <p:nvPr/>
        </p:nvGrpSpPr>
        <p:grpSpPr>
          <a:xfrm>
            <a:off x="6525615" y="2578607"/>
            <a:ext cx="5117441" cy="658369"/>
            <a:chOff x="0" y="0"/>
            <a:chExt cx="5117439" cy="658368"/>
          </a:xfrm>
        </p:grpSpPr>
        <p:sp>
          <p:nvSpPr>
            <p:cNvPr id="335" name="a3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36" name="a3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A8651F"/>
                  </a:solidFill>
                  <a:latin typeface="Georgia"/>
                  <a:ea typeface="Georgia"/>
                  <a:cs typeface="Georgia"/>
                  <a:sym typeface="Georgia"/>
                </a:defRPr>
              </a:lvl1pPr>
            </a:lstStyle>
            <a:p>
              <a:pPr/>
              <a:r>
                <a:t>4</a:t>
              </a:r>
            </a:p>
          </p:txBody>
        </p:sp>
        <p:sp>
          <p:nvSpPr>
            <p:cNvPr id="337" name="a3_t"/>
            <p:cNvSpPr txBox="1"/>
            <p:nvPr/>
          </p:nvSpPr>
          <p:spPr>
            <a:xfrm>
              <a:off x="749808" y="241916"/>
              <a:ext cx="4166464" cy="1745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200">
                  <a:solidFill>
                    <a:srgbClr val="182B1E"/>
                  </a:solidFill>
                  <a:latin typeface="Arial"/>
                  <a:ea typeface="Arial"/>
                  <a:cs typeface="Arial"/>
                  <a:sym typeface="Arial"/>
                </a:defRPr>
              </a:lvl1pPr>
            </a:lstStyle>
            <a:p>
              <a:pPr/>
              <a:r>
                <a:t>From your own table. Often the spoon.</a:t>
              </a:r>
            </a:p>
          </p:txBody>
        </p:sp>
      </p:grpSp>
      <p:grpSp>
        <p:nvGrpSpPr>
          <p:cNvPr id="342" name="a4"/>
          <p:cNvGrpSpPr/>
          <p:nvPr/>
        </p:nvGrpSpPr>
        <p:grpSpPr>
          <a:xfrm>
            <a:off x="1170432" y="3328415"/>
            <a:ext cx="5117441" cy="658369"/>
            <a:chOff x="0" y="0"/>
            <a:chExt cx="5117439" cy="658368"/>
          </a:xfrm>
        </p:grpSpPr>
        <p:sp>
          <p:nvSpPr>
            <p:cNvPr id="339" name="a4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40" name="a4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A8651F"/>
                  </a:solidFill>
                  <a:latin typeface="Georgia"/>
                  <a:ea typeface="Georgia"/>
                  <a:cs typeface="Georgia"/>
                  <a:sym typeface="Georgia"/>
                </a:defRPr>
              </a:lvl1pPr>
            </a:lstStyle>
            <a:p>
              <a:pPr/>
              <a:r>
                <a:t>5</a:t>
              </a:r>
            </a:p>
          </p:txBody>
        </p:sp>
        <p:sp>
          <p:nvSpPr>
            <p:cNvPr id="341" name="a4_t"/>
            <p:cNvSpPr txBox="1"/>
            <p:nvPr/>
          </p:nvSpPr>
          <p:spPr>
            <a:xfrm>
              <a:off x="749808" y="153016"/>
              <a:ext cx="4166464" cy="3523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200">
                  <a:solidFill>
                    <a:srgbClr val="182B1E"/>
                  </a:solidFill>
                  <a:latin typeface="Arial"/>
                  <a:ea typeface="Arial"/>
                  <a:cs typeface="Arial"/>
                  <a:sym typeface="Arial"/>
                </a:defRPr>
              </a:lvl1pPr>
            </a:lstStyle>
            <a:p>
              <a:pPr/>
              <a:r>
                <a:t>The drought meant few seeds. Small seeds ran out, so finches competed for the hard seeds.</a:t>
              </a:r>
            </a:p>
          </p:txBody>
        </p:sp>
      </p:grpSp>
      <p:grpSp>
        <p:nvGrpSpPr>
          <p:cNvPr id="346" name="a5"/>
          <p:cNvGrpSpPr/>
          <p:nvPr/>
        </p:nvGrpSpPr>
        <p:grpSpPr>
          <a:xfrm>
            <a:off x="6525615" y="3328415"/>
            <a:ext cx="5117441" cy="658369"/>
            <a:chOff x="0" y="0"/>
            <a:chExt cx="5117439" cy="658368"/>
          </a:xfrm>
        </p:grpSpPr>
        <p:sp>
          <p:nvSpPr>
            <p:cNvPr id="343" name="a5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44" name="a5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A8651F"/>
                  </a:solidFill>
                  <a:latin typeface="Georgia"/>
                  <a:ea typeface="Georgia"/>
                  <a:cs typeface="Georgia"/>
                  <a:sym typeface="Georgia"/>
                </a:defRPr>
              </a:lvl1pPr>
            </a:lstStyle>
            <a:p>
              <a:pPr/>
              <a:r>
                <a:t>6</a:t>
              </a:r>
            </a:p>
          </p:txBody>
        </p:sp>
        <p:sp>
          <p:nvSpPr>
            <p:cNvPr id="345" name="a5_t"/>
            <p:cNvSpPr txBox="1"/>
            <p:nvPr/>
          </p:nvSpPr>
          <p:spPr>
            <a:xfrm>
              <a:off x="749808" y="153016"/>
              <a:ext cx="4166464" cy="3523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200">
                  <a:solidFill>
                    <a:srgbClr val="182B1E"/>
                  </a:solidFill>
                  <a:latin typeface="Arial"/>
                  <a:ea typeface="Arial"/>
                  <a:cs typeface="Arial"/>
                  <a:sym typeface="Arial"/>
                </a:defRPr>
              </a:lvl1pPr>
            </a:lstStyle>
            <a:p>
              <a:pPr/>
              <a:r>
                <a:t>Beak depth is inherited. Survivors had deeper beaks, so their chicks did too.</a:t>
              </a:r>
            </a:p>
          </p:txBody>
        </p:sp>
      </p:grpSp>
      <p:grpSp>
        <p:nvGrpSpPr>
          <p:cNvPr id="350" name="a6"/>
          <p:cNvGrpSpPr/>
          <p:nvPr/>
        </p:nvGrpSpPr>
        <p:grpSpPr>
          <a:xfrm>
            <a:off x="1170432" y="4078223"/>
            <a:ext cx="5117441" cy="658369"/>
            <a:chOff x="0" y="0"/>
            <a:chExt cx="5117439" cy="658368"/>
          </a:xfrm>
        </p:grpSpPr>
        <p:sp>
          <p:nvSpPr>
            <p:cNvPr id="347" name="a6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48" name="a6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A8651F"/>
                  </a:solidFill>
                  <a:latin typeface="Georgia"/>
                  <a:ea typeface="Georgia"/>
                  <a:cs typeface="Georgia"/>
                  <a:sym typeface="Georgia"/>
                </a:defRPr>
              </a:lvl1pPr>
            </a:lstStyle>
            <a:p>
              <a:pPr/>
              <a:r>
                <a:t>7</a:t>
              </a:r>
            </a:p>
          </p:txBody>
        </p:sp>
        <p:sp>
          <p:nvSpPr>
            <p:cNvPr id="349" name="a6_t"/>
            <p:cNvSpPr txBox="1"/>
            <p:nvPr/>
          </p:nvSpPr>
          <p:spPr>
            <a:xfrm>
              <a:off x="749808" y="153016"/>
              <a:ext cx="4166464" cy="3523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200">
                  <a:solidFill>
                    <a:srgbClr val="182B1E"/>
                  </a:solidFill>
                  <a:latin typeface="Arial"/>
                  <a:ea typeface="Arial"/>
                  <a:cs typeface="Arial"/>
                  <a:sym typeface="Arial"/>
                </a:defRPr>
              </a:lvl1pPr>
            </a:lstStyle>
            <a:p>
              <a:pPr/>
              <a:r>
                <a:t>Bacteria vary. By chance a few are already resistant, so the antibiotic does not kill them.</a:t>
              </a:r>
            </a:p>
          </p:txBody>
        </p:sp>
      </p:grpSp>
      <p:grpSp>
        <p:nvGrpSpPr>
          <p:cNvPr id="354" name="a7"/>
          <p:cNvGrpSpPr/>
          <p:nvPr/>
        </p:nvGrpSpPr>
        <p:grpSpPr>
          <a:xfrm>
            <a:off x="6525615" y="4078223"/>
            <a:ext cx="5117441" cy="658369"/>
            <a:chOff x="0" y="0"/>
            <a:chExt cx="5117439" cy="658368"/>
          </a:xfrm>
        </p:grpSpPr>
        <p:sp>
          <p:nvSpPr>
            <p:cNvPr id="351" name="a7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52" name="a7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A8651F"/>
                  </a:solidFill>
                  <a:latin typeface="Georgia"/>
                  <a:ea typeface="Georgia"/>
                  <a:cs typeface="Georgia"/>
                  <a:sym typeface="Georgia"/>
                </a:defRPr>
              </a:lvl1pPr>
            </a:lstStyle>
            <a:p>
              <a:pPr/>
              <a:r>
                <a:t>8</a:t>
              </a:r>
            </a:p>
          </p:txBody>
        </p:sp>
        <p:sp>
          <p:nvSpPr>
            <p:cNvPr id="353" name="a7_t"/>
            <p:cNvSpPr txBox="1"/>
            <p:nvPr/>
          </p:nvSpPr>
          <p:spPr>
            <a:xfrm>
              <a:off x="749808" y="153016"/>
              <a:ext cx="4166464" cy="3523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200">
                  <a:solidFill>
                    <a:srgbClr val="182B1E"/>
                  </a:solidFill>
                  <a:latin typeface="Arial"/>
                  <a:ea typeface="Arial"/>
                  <a:cs typeface="Arial"/>
                  <a:sym typeface="Arial"/>
                </a:defRPr>
              </a:lvl1pPr>
            </a:lstStyle>
            <a:p>
              <a:pPr/>
              <a:r>
                <a:t>Any one: no chicks inherit beaks in the game; beaks were handed out; it took minutes, not generations.</a:t>
              </a:r>
            </a:p>
          </p:txBody>
        </p:sp>
      </p:grpSp>
      <p:grpSp>
        <p:nvGrpSpPr>
          <p:cNvPr id="358" name="a8"/>
          <p:cNvGrpSpPr/>
          <p:nvPr/>
        </p:nvGrpSpPr>
        <p:grpSpPr>
          <a:xfrm>
            <a:off x="1170432" y="4828032"/>
            <a:ext cx="5117441" cy="658369"/>
            <a:chOff x="0" y="0"/>
            <a:chExt cx="5117439" cy="658368"/>
          </a:xfrm>
        </p:grpSpPr>
        <p:sp>
          <p:nvSpPr>
            <p:cNvPr id="355" name="a8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56" name="a8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A8651F"/>
                  </a:solidFill>
                  <a:latin typeface="Georgia"/>
                  <a:ea typeface="Georgia"/>
                  <a:cs typeface="Georgia"/>
                  <a:sym typeface="Georgia"/>
                </a:defRPr>
              </a:lvl1pPr>
            </a:lstStyle>
            <a:p>
              <a:pPr/>
              <a:r>
                <a:t>9</a:t>
              </a:r>
            </a:p>
          </p:txBody>
        </p:sp>
        <p:sp>
          <p:nvSpPr>
            <p:cNvPr id="357" name="a8_t"/>
            <p:cNvSpPr txBox="1"/>
            <p:nvPr/>
          </p:nvSpPr>
          <p:spPr>
            <a:xfrm>
              <a:off x="749808" y="153016"/>
              <a:ext cx="4166464" cy="3523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200">
                  <a:solidFill>
                    <a:srgbClr val="182B1E"/>
                  </a:solidFill>
                  <a:latin typeface="Arial"/>
                  <a:ea typeface="Arial"/>
                  <a:cs typeface="Arial"/>
                  <a:sym typeface="Arial"/>
                </a:defRPr>
              </a:lvl1pPr>
            </a:lstStyle>
            <a:p>
              <a:pPr/>
              <a:r>
                <a:t>Bacteria vary. The antibiotic kills most. The resistant survive and pass resistance on when they divide.</a:t>
              </a:r>
            </a:p>
          </p:txBody>
        </p:sp>
      </p:grpSp>
      <p:grpSp>
        <p:nvGrpSpPr>
          <p:cNvPr id="362" name="a9"/>
          <p:cNvGrpSpPr/>
          <p:nvPr/>
        </p:nvGrpSpPr>
        <p:grpSpPr>
          <a:xfrm>
            <a:off x="6525615" y="4828032"/>
            <a:ext cx="5117441" cy="658369"/>
            <a:chOff x="0" y="0"/>
            <a:chExt cx="5117439" cy="658368"/>
          </a:xfrm>
        </p:grpSpPr>
        <p:sp>
          <p:nvSpPr>
            <p:cNvPr id="359" name="a9_bg"/>
            <p:cNvSpPr/>
            <p:nvPr/>
          </p:nvSpPr>
          <p:spPr>
            <a:xfrm>
              <a:off x="0" y="0"/>
              <a:ext cx="5117440" cy="658369"/>
            </a:xfrm>
            <a:prstGeom prst="roundRect">
              <a:avLst>
                <a:gd name="adj" fmla="val 13889"/>
              </a:avLst>
            </a:prstGeom>
            <a:solidFill>
              <a:srgbClr val="FFFFFF"/>
            </a:solidFill>
            <a:ln w="16510" cap="flat">
              <a:solidFill>
                <a:srgbClr val="D8DEEC"/>
              </a:solidFill>
              <a:prstDash val="solid"/>
              <a:round/>
            </a:ln>
            <a:effectLst/>
          </p:spPr>
          <p:txBody>
            <a:bodyPr wrap="square" lIns="45719" tIns="45719" rIns="45719" bIns="45719" numCol="1" anchor="t">
              <a:noAutofit/>
            </a:bodyPr>
            <a:lstStyle/>
            <a:p>
              <a:pPr/>
            </a:p>
          </p:txBody>
        </p:sp>
        <p:sp>
          <p:nvSpPr>
            <p:cNvPr id="360" name="a9_n"/>
            <p:cNvSpPr txBox="1"/>
            <p:nvPr/>
          </p:nvSpPr>
          <p:spPr>
            <a:xfrm>
              <a:off x="219455" y="195833"/>
              <a:ext cx="457201" cy="266701"/>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b="1">
                  <a:solidFill>
                    <a:srgbClr val="A8651F"/>
                  </a:solidFill>
                  <a:latin typeface="Georgia"/>
                  <a:ea typeface="Georgia"/>
                  <a:cs typeface="Georgia"/>
                  <a:sym typeface="Georgia"/>
                </a:defRPr>
              </a:lvl1pPr>
            </a:lstStyle>
            <a:p>
              <a:pPr/>
              <a:r>
                <a:t>10</a:t>
              </a:r>
            </a:p>
          </p:txBody>
        </p:sp>
        <p:sp>
          <p:nvSpPr>
            <p:cNvPr id="361" name="a9_t"/>
            <p:cNvSpPr txBox="1"/>
            <p:nvPr/>
          </p:nvSpPr>
          <p:spPr>
            <a:xfrm>
              <a:off x="749808" y="153016"/>
              <a:ext cx="4166464" cy="352336"/>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nSpc>
                  <a:spcPts val="1400"/>
                </a:lnSpc>
                <a:defRPr sz="1200">
                  <a:solidFill>
                    <a:srgbClr val="182B1E"/>
                  </a:solidFill>
                  <a:latin typeface="Arial"/>
                  <a:ea typeface="Arial"/>
                  <a:cs typeface="Arial"/>
                  <a:sym typeface="Arial"/>
                </a:defRPr>
              </a:lvl1pPr>
            </a:lstStyle>
            <a:p>
              <a:pPr/>
              <a:r>
                <a:t>A few bacteria were already resistant. They survived and passed resistance on.</a:t>
              </a:r>
            </a:p>
          </p:txBody>
        </p:sp>
      </p:grpSp>
    </p:spTree>
  </p:cSld>
  <p:clrMapOvr>
    <a:masterClrMapping/>
  </p:clrMapOvr>
  <mc:AlternateContent xmlns:mc="http://schemas.openxmlformats.org/markup-compatibility/2006">
    <mc:Choice xmlns:p14="http://schemas.microsoft.com/office/powerpoint/2010/main" Requires="p14">
      <p:transition spd="med" advClick="1" p14:dur="1000">
        <p:fade/>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318"/>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26"/>
                                        </p:tgtEl>
                                        <p:attrNameLst>
                                          <p:attrName>style.visibility</p:attrName>
                                        </p:attrNameLst>
                                      </p:cBhvr>
                                      <p:to>
                                        <p:strVal val="visible"/>
                                      </p:to>
                                    </p:set>
                                    <p:animEffect filter="fade" transition="in">
                                      <p:cBhvr>
                                        <p:cTn id="11" dur="400"/>
                                        <p:tgtEl>
                                          <p:spTgt spid="326"/>
                                        </p:tgtEl>
                                      </p:cBhvr>
                                    </p:animEffect>
                                  </p:childTnLst>
                                </p:cTn>
                              </p:par>
                            </p:childTnLst>
                          </p:cTn>
                        </p:par>
                        <p:par>
                          <p:cTn id="12" fill="hold">
                            <p:stCondLst>
                              <p:cond delay="400"/>
                            </p:stCondLst>
                            <p:childTnLst>
                              <p:par>
                                <p:cTn id="13" presetClass="entr" nodeType="afterEffect" presetID="10" grpId="3" fill="hold">
                                  <p:stCondLst>
                                    <p:cond delay="150"/>
                                  </p:stCondLst>
                                  <p:iterate type="el" backwards="0">
                                    <p:tmAbs val="0"/>
                                  </p:iterate>
                                  <p:childTnLst>
                                    <p:set>
                                      <p:cBhvr>
                                        <p:cTn id="14" fill="hold"/>
                                        <p:tgtEl>
                                          <p:spTgt spid="330"/>
                                        </p:tgtEl>
                                        <p:attrNameLst>
                                          <p:attrName>style.visibility</p:attrName>
                                        </p:attrNameLst>
                                      </p:cBhvr>
                                      <p:to>
                                        <p:strVal val="visible"/>
                                      </p:to>
                                    </p:set>
                                    <p:animEffect filter="fade" transition="in">
                                      <p:cBhvr>
                                        <p:cTn id="15" dur="400"/>
                                        <p:tgtEl>
                                          <p:spTgt spid="330"/>
                                        </p:tgtEl>
                                      </p:cBhvr>
                                    </p:animEffect>
                                  </p:childTnLst>
                                </p:cTn>
                              </p:par>
                            </p:childTnLst>
                          </p:cTn>
                        </p:par>
                      </p:childTnLst>
                    </p:cTn>
                  </p:par>
                  <p:par>
                    <p:cTn id="16" fill="hold">
                      <p:stCondLst>
                        <p:cond delay="indefinite"/>
                      </p:stCondLst>
                      <p:childTnLst>
                        <p:par>
                          <p:cTn id="17" fill="hold">
                            <p:stCondLst>
                              <p:cond delay="0"/>
                            </p:stCondLst>
                            <p:childTnLst>
                              <p:par>
                                <p:cTn id="18" presetClass="entr" nodeType="clickEffect" presetID="10" grpId="4" fill="hold">
                                  <p:stCondLst>
                                    <p:cond delay="0"/>
                                  </p:stCondLst>
                                  <p:iterate type="el" backwards="0">
                                    <p:tmAbs val="0"/>
                                  </p:iterate>
                                  <p:childTnLst>
                                    <p:set>
                                      <p:cBhvr>
                                        <p:cTn id="19" fill="hold"/>
                                        <p:tgtEl>
                                          <p:spTgt spid="334"/>
                                        </p:tgtEl>
                                        <p:attrNameLst>
                                          <p:attrName>style.visibility</p:attrName>
                                        </p:attrNameLst>
                                      </p:cBhvr>
                                      <p:to>
                                        <p:strVal val="visible"/>
                                      </p:to>
                                    </p:set>
                                    <p:animEffect filter="fade" transition="in">
                                      <p:cBhvr>
                                        <p:cTn id="20" dur="400"/>
                                        <p:tgtEl>
                                          <p:spTgt spid="334"/>
                                        </p:tgtEl>
                                      </p:cBhvr>
                                    </p:animEffect>
                                  </p:childTnLst>
                                </p:cTn>
                              </p:par>
                            </p:childTnLst>
                          </p:cTn>
                        </p:par>
                        <p:par>
                          <p:cTn id="21" fill="hold">
                            <p:stCondLst>
                              <p:cond delay="400"/>
                            </p:stCondLst>
                            <p:childTnLst>
                              <p:par>
                                <p:cTn id="22" presetClass="entr" nodeType="afterEffect" presetID="10" grpId="5" fill="hold">
                                  <p:stCondLst>
                                    <p:cond delay="150"/>
                                  </p:stCondLst>
                                  <p:iterate type="el" backwards="0">
                                    <p:tmAbs val="0"/>
                                  </p:iterate>
                                  <p:childTnLst>
                                    <p:set>
                                      <p:cBhvr>
                                        <p:cTn id="23" fill="hold"/>
                                        <p:tgtEl>
                                          <p:spTgt spid="338"/>
                                        </p:tgtEl>
                                        <p:attrNameLst>
                                          <p:attrName>style.visibility</p:attrName>
                                        </p:attrNameLst>
                                      </p:cBhvr>
                                      <p:to>
                                        <p:strVal val="visible"/>
                                      </p:to>
                                    </p:set>
                                    <p:animEffect filter="fade" transition="in">
                                      <p:cBhvr>
                                        <p:cTn id="24" dur="400"/>
                                        <p:tgtEl>
                                          <p:spTgt spid="338"/>
                                        </p:tgtEl>
                                      </p:cBhvr>
                                    </p:animEffect>
                                  </p:childTnLst>
                                </p:cTn>
                              </p:par>
                            </p:childTnLst>
                          </p:cTn>
                        </p:par>
                      </p:childTnLst>
                    </p:cTn>
                  </p:par>
                  <p:par>
                    <p:cTn id="25" fill="hold">
                      <p:stCondLst>
                        <p:cond delay="indefinite"/>
                      </p:stCondLst>
                      <p:childTnLst>
                        <p:par>
                          <p:cTn id="26" fill="hold">
                            <p:stCondLst>
                              <p:cond delay="0"/>
                            </p:stCondLst>
                            <p:childTnLst>
                              <p:par>
                                <p:cTn id="27" presetClass="entr" nodeType="clickEffect" presetID="10" grpId="6" fill="hold">
                                  <p:stCondLst>
                                    <p:cond delay="0"/>
                                  </p:stCondLst>
                                  <p:iterate type="el" backwards="0">
                                    <p:tmAbs val="0"/>
                                  </p:iterate>
                                  <p:childTnLst>
                                    <p:set>
                                      <p:cBhvr>
                                        <p:cTn id="28" fill="hold"/>
                                        <p:tgtEl>
                                          <p:spTgt spid="342"/>
                                        </p:tgtEl>
                                        <p:attrNameLst>
                                          <p:attrName>style.visibility</p:attrName>
                                        </p:attrNameLst>
                                      </p:cBhvr>
                                      <p:to>
                                        <p:strVal val="visible"/>
                                      </p:to>
                                    </p:set>
                                    <p:animEffect filter="fade" transition="in">
                                      <p:cBhvr>
                                        <p:cTn id="29" dur="400"/>
                                        <p:tgtEl>
                                          <p:spTgt spid="342"/>
                                        </p:tgtEl>
                                      </p:cBhvr>
                                    </p:animEffect>
                                  </p:childTnLst>
                                </p:cTn>
                              </p:par>
                            </p:childTnLst>
                          </p:cTn>
                        </p:par>
                        <p:par>
                          <p:cTn id="30" fill="hold">
                            <p:stCondLst>
                              <p:cond delay="400"/>
                            </p:stCondLst>
                            <p:childTnLst>
                              <p:par>
                                <p:cTn id="31" presetClass="entr" nodeType="afterEffect" presetID="10" grpId="7" fill="hold">
                                  <p:stCondLst>
                                    <p:cond delay="150"/>
                                  </p:stCondLst>
                                  <p:iterate type="el" backwards="0">
                                    <p:tmAbs val="0"/>
                                  </p:iterate>
                                  <p:childTnLst>
                                    <p:set>
                                      <p:cBhvr>
                                        <p:cTn id="32" fill="hold"/>
                                        <p:tgtEl>
                                          <p:spTgt spid="346"/>
                                        </p:tgtEl>
                                        <p:attrNameLst>
                                          <p:attrName>style.visibility</p:attrName>
                                        </p:attrNameLst>
                                      </p:cBhvr>
                                      <p:to>
                                        <p:strVal val="visible"/>
                                      </p:to>
                                    </p:set>
                                    <p:animEffect filter="fade" transition="in">
                                      <p:cBhvr>
                                        <p:cTn id="33" dur="400"/>
                                        <p:tgtEl>
                                          <p:spTgt spid="346"/>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ID="10" grpId="8" fill="hold">
                                  <p:stCondLst>
                                    <p:cond delay="0"/>
                                  </p:stCondLst>
                                  <p:iterate type="el" backwards="0">
                                    <p:tmAbs val="0"/>
                                  </p:iterate>
                                  <p:childTnLst>
                                    <p:set>
                                      <p:cBhvr>
                                        <p:cTn id="37" fill="hold"/>
                                        <p:tgtEl>
                                          <p:spTgt spid="350"/>
                                        </p:tgtEl>
                                        <p:attrNameLst>
                                          <p:attrName>style.visibility</p:attrName>
                                        </p:attrNameLst>
                                      </p:cBhvr>
                                      <p:to>
                                        <p:strVal val="visible"/>
                                      </p:to>
                                    </p:set>
                                    <p:animEffect filter="fade" transition="in">
                                      <p:cBhvr>
                                        <p:cTn id="38" dur="400"/>
                                        <p:tgtEl>
                                          <p:spTgt spid="350"/>
                                        </p:tgtEl>
                                      </p:cBhvr>
                                    </p:animEffect>
                                  </p:childTnLst>
                                </p:cTn>
                              </p:par>
                            </p:childTnLst>
                          </p:cTn>
                        </p:par>
                        <p:par>
                          <p:cTn id="39" fill="hold">
                            <p:stCondLst>
                              <p:cond delay="400"/>
                            </p:stCondLst>
                            <p:childTnLst>
                              <p:par>
                                <p:cTn id="40" presetClass="entr" nodeType="afterEffect" presetID="10" grpId="9" fill="hold">
                                  <p:stCondLst>
                                    <p:cond delay="150"/>
                                  </p:stCondLst>
                                  <p:iterate type="el" backwards="0">
                                    <p:tmAbs val="0"/>
                                  </p:iterate>
                                  <p:childTnLst>
                                    <p:set>
                                      <p:cBhvr>
                                        <p:cTn id="41" fill="hold"/>
                                        <p:tgtEl>
                                          <p:spTgt spid="354"/>
                                        </p:tgtEl>
                                        <p:attrNameLst>
                                          <p:attrName>style.visibility</p:attrName>
                                        </p:attrNameLst>
                                      </p:cBhvr>
                                      <p:to>
                                        <p:strVal val="visible"/>
                                      </p:to>
                                    </p:set>
                                    <p:animEffect filter="fade" transition="in">
                                      <p:cBhvr>
                                        <p:cTn id="42" dur="400"/>
                                        <p:tgtEl>
                                          <p:spTgt spid="354"/>
                                        </p:tgtEl>
                                      </p:cBhvr>
                                    </p:animEffect>
                                  </p:childTnLst>
                                </p:cTn>
                              </p:par>
                            </p:childTnLst>
                          </p:cTn>
                        </p:par>
                      </p:childTnLst>
                    </p:cTn>
                  </p:par>
                  <p:par>
                    <p:cTn id="43" fill="hold">
                      <p:stCondLst>
                        <p:cond delay="indefinite"/>
                      </p:stCondLst>
                      <p:childTnLst>
                        <p:par>
                          <p:cTn id="44" fill="hold">
                            <p:stCondLst>
                              <p:cond delay="0"/>
                            </p:stCondLst>
                            <p:childTnLst>
                              <p:par>
                                <p:cTn id="45" presetClass="entr" nodeType="clickEffect" presetID="10" grpId="10" fill="hold">
                                  <p:stCondLst>
                                    <p:cond delay="0"/>
                                  </p:stCondLst>
                                  <p:iterate type="el" backwards="0">
                                    <p:tmAbs val="0"/>
                                  </p:iterate>
                                  <p:childTnLst>
                                    <p:set>
                                      <p:cBhvr>
                                        <p:cTn id="46" fill="hold"/>
                                        <p:tgtEl>
                                          <p:spTgt spid="358"/>
                                        </p:tgtEl>
                                        <p:attrNameLst>
                                          <p:attrName>style.visibility</p:attrName>
                                        </p:attrNameLst>
                                      </p:cBhvr>
                                      <p:to>
                                        <p:strVal val="visible"/>
                                      </p:to>
                                    </p:set>
                                    <p:animEffect filter="fade" transition="in">
                                      <p:cBhvr>
                                        <p:cTn id="47" dur="400"/>
                                        <p:tgtEl>
                                          <p:spTgt spid="358"/>
                                        </p:tgtEl>
                                      </p:cBhvr>
                                    </p:animEffect>
                                  </p:childTnLst>
                                </p:cTn>
                              </p:par>
                            </p:childTnLst>
                          </p:cTn>
                        </p:par>
                        <p:par>
                          <p:cTn id="48" fill="hold">
                            <p:stCondLst>
                              <p:cond delay="400"/>
                            </p:stCondLst>
                            <p:childTnLst>
                              <p:par>
                                <p:cTn id="49" presetClass="entr" nodeType="afterEffect" presetID="10" grpId="11" fill="hold">
                                  <p:stCondLst>
                                    <p:cond delay="150"/>
                                  </p:stCondLst>
                                  <p:iterate type="el" backwards="0">
                                    <p:tmAbs val="0"/>
                                  </p:iterate>
                                  <p:childTnLst>
                                    <p:set>
                                      <p:cBhvr>
                                        <p:cTn id="50" fill="hold"/>
                                        <p:tgtEl>
                                          <p:spTgt spid="362"/>
                                        </p:tgtEl>
                                        <p:attrNameLst>
                                          <p:attrName>style.visibility</p:attrName>
                                        </p:attrNameLst>
                                      </p:cBhvr>
                                      <p:to>
                                        <p:strVal val="visible"/>
                                      </p:to>
                                    </p:set>
                                    <p:animEffect filter="fade" transition="in">
                                      <p:cBhvr>
                                        <p:cTn id="51" dur="400"/>
                                        <p:tgtEl>
                                          <p:spTgt spid="362"/>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52" fill="hold" display="0">
                  <p:stCondLst>
                    <p:cond delay="indefinite"/>
                  </p:stCondLst>
                </p:cTn>
                <p:tgtEl>
                  <p:spTgt spid="318"/>
                </p:tgtEl>
              </p:cMediaNode>
            </p:video>
            <p:seq concurrent="1" prevAc="none" nextAc="seek">
              <p:cTn id="53" evtFilter="cancelBubble" nodeType="interactiveSeq" restart="whenNotActive" fill="hold">
                <p:stCondLst>
                  <p:cond delay="0" evt="onClick">
                    <p:tgtEl>
                      <p:spTgt spid="318"/>
                    </p:tgtEl>
                  </p:cond>
                </p:stCondLst>
                <p:endSync delay="0" evt="end">
                  <p:rtn val="all"/>
                </p:endSync>
                <p:childTnLst>
                  <p:par>
                    <p:cTn id="54" fill="hold">
                      <p:stCondLst>
                        <p:cond delay="0"/>
                      </p:stCondLst>
                      <p:childTnLst>
                        <p:par>
                          <p:cTn id="55" fill="hold">
                            <p:stCondLst>
                              <p:cond delay="0"/>
                            </p:stCondLst>
                            <p:childTnLst>
                              <p:par>
                                <p:cTn id="56" presetClass="mediacall" nodeType="clickEffect" presetSubtype="0" presetID="2" fill="hold">
                                  <p:stCondLst>
                                    <p:cond delay="0"/>
                                  </p:stCondLst>
                                  <p:childTnLst>
                                    <p:cmd type="call" cmd="togglePause">
                                      <p:cBhvr>
                                        <p:cTn id="57" dur="1" fill="hold"/>
                                        <p:tgtEl>
                                          <p:spTgt spid="318"/>
                                        </p:tgtEl>
                                      </p:cBhvr>
                                    </p:cmd>
                                  </p:childTnLst>
                                </p:cTn>
                              </p:par>
                            </p:childTnLst>
                          </p:cTn>
                        </p:par>
                      </p:childTnLst>
                    </p:cTn>
                  </p:par>
                </p:childTnLst>
              </p:cTn>
              <p:nextCondLst>
                <p:cond delay="0" evt="onClick">
                  <p:tgtEl>
                    <p:spTgt spid="318"/>
                  </p:tgtEl>
                </p:cond>
              </p:nextCondLst>
            </p:seq>
          </p:childTnLst>
        </p:cTn>
      </p:par>
    </p:tnLst>
    <p:bldLst>
      <p:bldP build="whole" bldLvl="1" animBg="1" rev="0" advAuto="0" spid="346" grpId="7"/>
      <p:bldP build="whole" bldLvl="1" animBg="1" rev="0" advAuto="0" spid="362" grpId="11"/>
      <p:bldP build="whole" bldLvl="1" animBg="1" rev="0" advAuto="0" spid="326" grpId="2"/>
      <p:bldP build="whole" bldLvl="1" animBg="1" rev="0" advAuto="0" spid="342" grpId="6"/>
      <p:bldP build="whole" bldLvl="1" animBg="1" rev="0" advAuto="0" spid="358" grpId="10"/>
      <p:bldP build="whole" bldLvl="1" animBg="1" rev="0" advAuto="0" spid="338" grpId="5"/>
      <p:bldP build="whole" bldLvl="1" animBg="1" rev="0" advAuto="0" spid="354" grpId="9"/>
      <p:bldP build="whole" bldLvl="1" animBg="1" rev="0" advAuto="0" spid="334" grpId="4"/>
      <p:bldP build="whole" bldLvl="1" animBg="1" rev="0" advAuto="0" spid="350" grpId="8"/>
      <p:bldP build="whole" bldLvl="1" animBg="1" rev="0" advAuto="0" spid="330" grpId="3"/>
    </p:bldLst>
  </p:timing>
</p:sld>
</file>

<file path=ppt/slides/slide10.xml><?xml version="1.0" encoding="utf-8"?>
<p:sld xmlns:a="http://schemas.openxmlformats.org/drawingml/2006/main" xmlns:r="http://schemas.openxmlformats.org/officeDocument/2006/relationships" xmlns:p="http://schemas.openxmlformats.org/presentationml/2006/main" xmlns:m="http://schemas.openxmlformats.org/officeDocument/2006/math" xmlns:a14="http://schemas.microsoft.com/office/drawing/2010/main" showMasterSp="1" showMasterPhAnim="1">
  <p:cSld>
    <p:bg>
      <p:bgPr>
        <a:solidFill>
          <a:srgbClr val="1F3D2B"/>
        </a:solidFill>
      </p:bgPr>
    </p:bg>
    <p:spTree>
      <p:nvGrpSpPr>
        <p:cNvPr id="1" name=""/>
        <p:cNvGrpSpPr/>
        <p:nvPr/>
      </p:nvGrpSpPr>
      <p:grpSpPr>
        <a:xfrm>
          <a:off x="0" y="0"/>
          <a:ext cx="0" cy="0"/>
          <a:chOff x="0" y="0"/>
          <a:chExt cx="0" cy="0"/>
        </a:xfrm>
      </p:grpSpPr>
      <p:pic>
        <p:nvPicPr>
          <p:cNvPr id="366" name="timer_video" descr="timer_video"/>
          <p:cNvPicPr>
            <a:picLocks noChangeAspect="0"/>
          </p:cNvPicPr>
          <p:nvPr>
            <a:videoFile r:link="rId3"/>
            <p:extLst>
              <p:ext uri="{DAA4B4D4-6D71-4841-9C94-3DE7FCFB9230}">
                <p14:media xmlns:p14="http://schemas.microsoft.com/office/powerpoint/2010/main" r:embed="rId4"/>
              </p:ext>
            </p:extLst>
          </p:nvPr>
        </p:nvPicPr>
        <p:blipFill>
          <a:blip r:embed="rId5">
            <a:extLst/>
          </a:blip>
          <a:stretch>
            <a:fillRect/>
          </a:stretch>
        </p:blipFill>
        <p:spPr>
          <a:xfrm>
            <a:off x="310895" y="310895"/>
            <a:ext cx="457201" cy="6236210"/>
          </a:xfrm>
          <a:prstGeom prst="rect">
            <a:avLst/>
          </a:prstGeom>
          <a:ln w="12700">
            <a:miter lim="400000"/>
          </a:ln>
        </p:spPr>
      </p:pic>
      <p:grpSp>
        <p:nvGrpSpPr>
          <p:cNvPr id="369" name="phase_pill"/>
          <p:cNvGrpSpPr/>
          <p:nvPr/>
        </p:nvGrpSpPr>
        <p:grpSpPr>
          <a:xfrm>
            <a:off x="1170432" y="310895"/>
            <a:ext cx="1892808" cy="329185"/>
            <a:chOff x="0" y="0"/>
            <a:chExt cx="1892807" cy="329184"/>
          </a:xfrm>
        </p:grpSpPr>
        <p:sp>
          <p:nvSpPr>
            <p:cNvPr id="367" name="Rounded Rectangle"/>
            <p:cNvSpPr/>
            <p:nvPr/>
          </p:nvSpPr>
          <p:spPr>
            <a:xfrm>
              <a:off x="0" y="0"/>
              <a:ext cx="1892808" cy="329185"/>
            </a:xfrm>
            <a:prstGeom prst="roundRect">
              <a:avLst>
                <a:gd name="adj" fmla="val 44444"/>
              </a:avLst>
            </a:prstGeom>
            <a:solidFill>
              <a:srgbClr val="DE9A4C"/>
            </a:solidFill>
            <a:ln w="12700" cap="flat">
              <a:noFill/>
              <a:miter lim="400000"/>
            </a:ln>
            <a:effectLst/>
          </p:spPr>
          <p:txBody>
            <a:bodyPr wrap="square" lIns="45719" tIns="45719" rIns="45719" bIns="45719" numCol="1" anchor="ctr">
              <a:noAutofit/>
            </a:bodyPr>
            <a:lstStyle/>
            <a:p>
              <a:pPr algn="ctr">
                <a:defRPr sz="1100"/>
              </a:pPr>
            </a:p>
          </p:txBody>
        </p:sp>
        <p:sp>
          <p:nvSpPr>
            <p:cNvPr id="368" name="PLENARY · 3 MIN"/>
            <p:cNvSpPr txBox="1"/>
            <p:nvPr/>
          </p:nvSpPr>
          <p:spPr>
            <a:xfrm>
              <a:off x="42850" y="90677"/>
              <a:ext cx="1807107" cy="147830"/>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lgn="ctr">
                <a:defRPr b="1" spc="120" sz="1100">
                  <a:solidFill>
                    <a:srgbClr val="1F3D2B"/>
                  </a:solidFill>
                  <a:latin typeface="Arial"/>
                  <a:ea typeface="Arial"/>
                  <a:cs typeface="Arial"/>
                  <a:sym typeface="Arial"/>
                </a:defRPr>
              </a:lvl1pPr>
            </a:lstStyle>
            <a:p>
              <a:pPr/>
              <a:r>
                <a:t>PLENARY · 3 MIN</a:t>
              </a:r>
            </a:p>
          </p:txBody>
        </p:sp>
      </p:grpSp>
      <p:sp>
        <p:nvSpPr>
          <p:cNvPr id="370" name="slide_title"/>
          <p:cNvSpPr txBox="1"/>
          <p:nvPr/>
        </p:nvSpPr>
        <p:spPr>
          <a:xfrm>
            <a:off x="1170432" y="984757"/>
            <a:ext cx="10472623" cy="444501"/>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z="3000">
                <a:solidFill>
                  <a:srgbClr val="F5F1E6"/>
                </a:solidFill>
                <a:latin typeface="Georgia"/>
                <a:ea typeface="Georgia"/>
                <a:cs typeface="Georgia"/>
                <a:sym typeface="Georgia"/>
              </a:defRPr>
            </a:lvl1pPr>
          </a:lstStyle>
          <a:p>
            <a:pPr/>
            <a:r>
              <a:t>True or false?</a:t>
            </a:r>
          </a:p>
        </p:txBody>
      </p:sp>
      <p:grpSp>
        <p:nvGrpSpPr>
          <p:cNvPr id="373" name="p0_stmt"/>
          <p:cNvGrpSpPr/>
          <p:nvPr/>
        </p:nvGrpSpPr>
        <p:grpSpPr>
          <a:xfrm>
            <a:off x="1170432" y="2194560"/>
            <a:ext cx="8552383" cy="640081"/>
            <a:chOff x="0" y="0"/>
            <a:chExt cx="8552382" cy="640080"/>
          </a:xfrm>
        </p:grpSpPr>
        <p:sp>
          <p:nvSpPr>
            <p:cNvPr id="371" name="p0_bg"/>
            <p:cNvSpPr/>
            <p:nvPr/>
          </p:nvSpPr>
          <p:spPr>
            <a:xfrm>
              <a:off x="0" y="0"/>
              <a:ext cx="8552383" cy="640081"/>
            </a:xfrm>
            <a:prstGeom prst="roundRect">
              <a:avLst>
                <a:gd name="adj" fmla="val 14286"/>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372" name="p0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5F1E6"/>
                  </a:solidFill>
                  <a:latin typeface="Arial"/>
                  <a:ea typeface="Arial"/>
                  <a:cs typeface="Arial"/>
                  <a:sym typeface="Arial"/>
                </a:defRPr>
              </a:lvl1pPr>
            </a:lstStyle>
            <a:p>
              <a:pPr/>
              <a:r>
                <a:t>The drought made the finches' beaks grow bigger.</a:t>
              </a:r>
            </a:p>
          </p:txBody>
        </p:sp>
      </p:grpSp>
      <p:sp>
        <p:nvSpPr>
          <p:cNvPr id="374" name="p0_v"/>
          <p:cNvSpPr txBox="1"/>
          <p:nvPr/>
        </p:nvSpPr>
        <p:spPr>
          <a:xfrm>
            <a:off x="9905695" y="2391131"/>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DE9A4C"/>
                </a:solidFill>
                <a:latin typeface="Arial"/>
                <a:ea typeface="Arial"/>
                <a:cs typeface="Arial"/>
                <a:sym typeface="Arial"/>
              </a:defRPr>
            </a:lvl1pPr>
          </a:lstStyle>
          <a:p>
            <a:pPr/>
            <a:r>
              <a:t>FALSE</a:t>
            </a:r>
          </a:p>
        </p:txBody>
      </p:sp>
      <p:grpSp>
        <p:nvGrpSpPr>
          <p:cNvPr id="377" name="p1_stmt"/>
          <p:cNvGrpSpPr/>
          <p:nvPr/>
        </p:nvGrpSpPr>
        <p:grpSpPr>
          <a:xfrm>
            <a:off x="1170432" y="2999232"/>
            <a:ext cx="8552383" cy="640081"/>
            <a:chOff x="0" y="0"/>
            <a:chExt cx="8552382" cy="640080"/>
          </a:xfrm>
        </p:grpSpPr>
        <p:sp>
          <p:nvSpPr>
            <p:cNvPr id="375" name="p1_bg"/>
            <p:cNvSpPr/>
            <p:nvPr/>
          </p:nvSpPr>
          <p:spPr>
            <a:xfrm>
              <a:off x="0" y="0"/>
              <a:ext cx="8552383" cy="640081"/>
            </a:xfrm>
            <a:prstGeom prst="roundRect">
              <a:avLst>
                <a:gd name="adj" fmla="val 14286"/>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376" name="p1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5F1E6"/>
                  </a:solidFill>
                  <a:latin typeface="Arial"/>
                  <a:ea typeface="Arial"/>
                  <a:cs typeface="Arial"/>
                  <a:sym typeface="Arial"/>
                </a:defRPr>
              </a:lvl1pPr>
            </a:lstStyle>
            <a:p>
              <a:pPr/>
              <a:r>
                <a:t>Finches with deeper beaks survived the drought more often.</a:t>
              </a:r>
            </a:p>
          </p:txBody>
        </p:sp>
      </p:grpSp>
      <p:sp>
        <p:nvSpPr>
          <p:cNvPr id="378" name="p1_v"/>
          <p:cNvSpPr txBox="1"/>
          <p:nvPr/>
        </p:nvSpPr>
        <p:spPr>
          <a:xfrm>
            <a:off x="9905695" y="3195803"/>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3E93A3"/>
                </a:solidFill>
                <a:latin typeface="Arial"/>
                <a:ea typeface="Arial"/>
                <a:cs typeface="Arial"/>
                <a:sym typeface="Arial"/>
              </a:defRPr>
            </a:lvl1pPr>
          </a:lstStyle>
          <a:p>
            <a:pPr/>
            <a:r>
              <a:t>TRUE</a:t>
            </a:r>
          </a:p>
        </p:txBody>
      </p:sp>
      <p:grpSp>
        <p:nvGrpSpPr>
          <p:cNvPr id="381" name="p2_stmt"/>
          <p:cNvGrpSpPr/>
          <p:nvPr/>
        </p:nvGrpSpPr>
        <p:grpSpPr>
          <a:xfrm>
            <a:off x="1170432" y="3803903"/>
            <a:ext cx="8552383" cy="640081"/>
            <a:chOff x="0" y="0"/>
            <a:chExt cx="8552382" cy="640080"/>
          </a:xfrm>
        </p:grpSpPr>
        <p:sp>
          <p:nvSpPr>
            <p:cNvPr id="379" name="p2_bg"/>
            <p:cNvSpPr/>
            <p:nvPr/>
          </p:nvSpPr>
          <p:spPr>
            <a:xfrm>
              <a:off x="0" y="0"/>
              <a:ext cx="8552383" cy="640081"/>
            </a:xfrm>
            <a:prstGeom prst="roundRect">
              <a:avLst>
                <a:gd name="adj" fmla="val 14286"/>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380" name="p2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5F1E6"/>
                  </a:solidFill>
                  <a:latin typeface="Arial"/>
                  <a:ea typeface="Arial"/>
                  <a:cs typeface="Arial"/>
                  <a:sym typeface="Arial"/>
                </a:defRPr>
              </a:lvl1pPr>
            </a:lstStyle>
            <a:p>
              <a:pPr/>
              <a:r>
                <a:t>Antibiotics cause bacteria to become resistant.</a:t>
              </a:r>
            </a:p>
          </p:txBody>
        </p:sp>
      </p:grpSp>
      <p:sp>
        <p:nvSpPr>
          <p:cNvPr id="382" name="p2_v"/>
          <p:cNvSpPr txBox="1"/>
          <p:nvPr/>
        </p:nvSpPr>
        <p:spPr>
          <a:xfrm>
            <a:off x="9905695" y="4000475"/>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DE9A4C"/>
                </a:solidFill>
                <a:latin typeface="Arial"/>
                <a:ea typeface="Arial"/>
                <a:cs typeface="Arial"/>
                <a:sym typeface="Arial"/>
              </a:defRPr>
            </a:lvl1pPr>
          </a:lstStyle>
          <a:p>
            <a:pPr/>
            <a:r>
              <a:t>FALSE</a:t>
            </a:r>
          </a:p>
        </p:txBody>
      </p:sp>
      <p:grpSp>
        <p:nvGrpSpPr>
          <p:cNvPr id="385" name="p3_stmt"/>
          <p:cNvGrpSpPr/>
          <p:nvPr/>
        </p:nvGrpSpPr>
        <p:grpSpPr>
          <a:xfrm>
            <a:off x="1170432" y="4608576"/>
            <a:ext cx="8552383" cy="640081"/>
            <a:chOff x="0" y="0"/>
            <a:chExt cx="8552382" cy="640080"/>
          </a:xfrm>
        </p:grpSpPr>
        <p:sp>
          <p:nvSpPr>
            <p:cNvPr id="383" name="p3_bg"/>
            <p:cNvSpPr/>
            <p:nvPr/>
          </p:nvSpPr>
          <p:spPr>
            <a:xfrm>
              <a:off x="0" y="0"/>
              <a:ext cx="8552383" cy="640081"/>
            </a:xfrm>
            <a:prstGeom prst="roundRect">
              <a:avLst>
                <a:gd name="adj" fmla="val 14286"/>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384" name="p3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5F1E6"/>
                  </a:solidFill>
                  <a:latin typeface="Arial"/>
                  <a:ea typeface="Arial"/>
                  <a:cs typeface="Arial"/>
                  <a:sym typeface="Arial"/>
                </a:defRPr>
              </a:lvl1pPr>
            </a:lstStyle>
            <a:p>
              <a:pPr/>
              <a:r>
                <a:t>Resistant bacteria pass resistance on when they divide.</a:t>
              </a:r>
            </a:p>
          </p:txBody>
        </p:sp>
      </p:grpSp>
      <p:sp>
        <p:nvSpPr>
          <p:cNvPr id="386" name="p3_v"/>
          <p:cNvSpPr txBox="1"/>
          <p:nvPr/>
        </p:nvSpPr>
        <p:spPr>
          <a:xfrm>
            <a:off x="9905695" y="4805147"/>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3E93A3"/>
                </a:solidFill>
                <a:latin typeface="Arial"/>
                <a:ea typeface="Arial"/>
                <a:cs typeface="Arial"/>
                <a:sym typeface="Arial"/>
              </a:defRPr>
            </a:lvl1pPr>
          </a:lstStyle>
          <a:p>
            <a:pPr/>
            <a:r>
              <a:t>TRUE</a:t>
            </a:r>
          </a:p>
        </p:txBody>
      </p:sp>
      <p:grpSp>
        <p:nvGrpSpPr>
          <p:cNvPr id="389" name="p4_stmt"/>
          <p:cNvGrpSpPr/>
          <p:nvPr/>
        </p:nvGrpSpPr>
        <p:grpSpPr>
          <a:xfrm>
            <a:off x="1170432" y="5413247"/>
            <a:ext cx="8552383" cy="640081"/>
            <a:chOff x="0" y="0"/>
            <a:chExt cx="8552382" cy="640080"/>
          </a:xfrm>
        </p:grpSpPr>
        <p:sp>
          <p:nvSpPr>
            <p:cNvPr id="387" name="p4_bg"/>
            <p:cNvSpPr/>
            <p:nvPr/>
          </p:nvSpPr>
          <p:spPr>
            <a:xfrm>
              <a:off x="0" y="0"/>
              <a:ext cx="8552383" cy="640081"/>
            </a:xfrm>
            <a:prstGeom prst="roundRect">
              <a:avLst>
                <a:gd name="adj" fmla="val 14286"/>
              </a:avLst>
            </a:prstGeom>
            <a:solidFill>
              <a:srgbClr val="3A5F44"/>
            </a:solidFill>
            <a:ln w="12700" cap="flat">
              <a:solidFill>
                <a:srgbClr val="3A5F44"/>
              </a:solidFill>
              <a:prstDash val="solid"/>
              <a:round/>
            </a:ln>
            <a:effectLst/>
          </p:spPr>
          <p:txBody>
            <a:bodyPr wrap="square" lIns="45719" tIns="45719" rIns="45719" bIns="45719" numCol="1" anchor="t">
              <a:noAutofit/>
            </a:bodyPr>
            <a:lstStyle/>
            <a:p>
              <a:pPr/>
            </a:p>
          </p:txBody>
        </p:sp>
        <p:sp>
          <p:nvSpPr>
            <p:cNvPr id="388" name="p4_q"/>
            <p:cNvSpPr txBox="1"/>
            <p:nvPr/>
          </p:nvSpPr>
          <p:spPr>
            <a:xfrm>
              <a:off x="256032" y="215206"/>
              <a:ext cx="8186623" cy="209668"/>
            </a:xfrm>
            <a:prstGeom prst="rect">
              <a:avLst/>
            </a:prstGeom>
            <a:noFill/>
            <a:ln w="12700" cap="flat">
              <a:noFill/>
              <a:miter lim="400000"/>
            </a:ln>
            <a:effectLst/>
            <a:extLst>
              <a:ext uri="{C572A759-6A51-4108-AA02-DFA0A04FC94B}">
                <ma14:wrappingTextBoxFlag xmlns:ma14="http://schemas.microsoft.com/office/mac/drawingml/2011/main" val="1"/>
              </a:ext>
            </a:extLst>
          </p:spPr>
          <p:txBody>
            <a:bodyPr wrap="square" lIns="0" tIns="0" rIns="0" bIns="0" numCol="1" anchor="ctr">
              <a:spAutoFit/>
            </a:bodyPr>
            <a:lstStyle>
              <a:lvl1pPr>
                <a:defRPr sz="1500">
                  <a:solidFill>
                    <a:srgbClr val="F5F1E6"/>
                  </a:solidFill>
                  <a:latin typeface="Arial"/>
                  <a:ea typeface="Arial"/>
                  <a:cs typeface="Arial"/>
                  <a:sym typeface="Arial"/>
                </a:defRPr>
              </a:lvl1pPr>
            </a:lstStyle>
            <a:p>
              <a:pPr/>
              <a:r>
                <a:t>Antibiotic resistance is natural selection happening now.</a:t>
              </a:r>
            </a:p>
          </p:txBody>
        </p:sp>
      </p:grpSp>
      <p:sp>
        <p:nvSpPr>
          <p:cNvPr id="390" name="p4_v"/>
          <p:cNvSpPr txBox="1"/>
          <p:nvPr/>
        </p:nvSpPr>
        <p:spPr>
          <a:xfrm>
            <a:off x="9905695" y="5609819"/>
            <a:ext cx="1737361" cy="246938"/>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spc="100" sz="1700">
                <a:solidFill>
                  <a:srgbClr val="3E93A3"/>
                </a:solidFill>
                <a:latin typeface="Arial"/>
                <a:ea typeface="Arial"/>
                <a:cs typeface="Arial"/>
                <a:sym typeface="Arial"/>
              </a:defRPr>
            </a:lvl1pPr>
          </a:lstStyle>
          <a:p>
            <a:pPr/>
            <a:r>
              <a:t>TRUE</a:t>
            </a:r>
          </a:p>
        </p:txBody>
      </p:sp>
      <p:sp>
        <p:nvSpPr>
          <p:cNvPr id="391" name="pl_next"/>
          <p:cNvSpPr txBox="1"/>
          <p:nvPr/>
        </p:nvSpPr>
        <p:spPr>
          <a:xfrm>
            <a:off x="1170432" y="6195381"/>
            <a:ext cx="10472623" cy="209669"/>
          </a:xfrm>
          <a:prstGeom prst="rect">
            <a:avLst/>
          </a:prstGeom>
          <a:ln w="12700">
            <a:miter lim="400000"/>
          </a:ln>
          <a:extLst>
            <a:ext uri="{C572A759-6A51-4108-AA02-DFA0A04FC94B}">
              <ma14:wrappingTextBoxFlag xmlns:ma14="http://schemas.microsoft.com/office/mac/drawingml/2011/main" val="1"/>
            </a:ext>
          </a:extLst>
        </p:spPr>
        <p:txBody>
          <a:bodyPr lIns="0" tIns="0" rIns="0" bIns="0" anchor="ctr">
            <a:spAutoFit/>
          </a:bodyPr>
          <a:lstStyle>
            <a:lvl1pPr>
              <a:defRPr b="1" i="1" sz="1500">
                <a:solidFill>
                  <a:srgbClr val="DE9A4C"/>
                </a:solidFill>
                <a:latin typeface="Arial"/>
                <a:ea typeface="Arial"/>
                <a:cs typeface="Arial"/>
                <a:sym typeface="Arial"/>
              </a:defRPr>
            </a:lvl1pPr>
          </a:lstStyle>
          <a:p>
            <a:pPr/>
            <a:r>
              <a:t>Natural selection is happening now, and nobody is choosing.</a:t>
            </a:r>
          </a:p>
        </p:txBody>
      </p:sp>
    </p:spTree>
  </p:cSld>
  <p:clrMapOvr>
    <a:masterClrMapping/>
  </p:clrMapOvr>
  <mc:AlternateContent xmlns:mc="http://schemas.openxmlformats.org/markup-compatibility/2006">
    <mc:Choice xmlns:p14="http://schemas.microsoft.com/office/powerpoint/2010/main" Requires="p14">
      <p:transition spd="med" advClick="1" p14:dur="1000">
        <p:push dir="u"/>
      </p:transition>
    </mc:Choice>
    <mc:Fallback>
      <p:transition spd="med">
        <p:fade/>
      </p:transition>
    </mc:Fallback>
  </mc:AlternateContent>
  <p:timing>
    <p:tnLst>
      <p:par>
        <p:cTn id="1" nodeType="tmRoot" restart="never" dur="indefinite" fill="hold">
          <p:childTnLst>
            <p:seq concurrent="1" prevAc="none" nextAc="seek">
              <p:cTn id="2" nodeType="mainSeq" dur="indefinite" fill="hold">
                <p:childTnLst>
                  <p:par>
                    <p:cTn id="3" fill="hold">
                      <p:stCondLst>
                        <p:cond delay="indefinite"/>
                        <p:cond evt="onBegin">
                          <p:tn val="2"/>
                        </p:cond>
                      </p:stCondLst>
                      <p:childTnLst>
                        <p:par>
                          <p:cTn id="4" fill="hold">
                            <p:stCondLst>
                              <p:cond delay="0"/>
                            </p:stCondLst>
                            <p:childTnLst>
                              <p:par>
                                <p:cTn id="5" presetClass="mediacall" nodeType="afterEffect" presetSubtype="0" presetID="1" grpId="1" fill="hold">
                                  <p:stCondLst>
                                    <p:cond delay="0"/>
                                  </p:stCondLst>
                                  <p:childTnLst>
                                    <p:cmd type="call" cmd="playFrom(0.0)">
                                      <p:cBhvr>
                                        <p:cTn id="6" dur="180000" fill="hold"/>
                                        <p:tgtEl>
                                          <p:spTgt spid="366"/>
                                        </p:tgtEl>
                                      </p:cBhvr>
                                    </p:cmd>
                                  </p:childTnLst>
                                </p:cTn>
                              </p:par>
                            </p:childTnLst>
                          </p:cTn>
                        </p:par>
                      </p:childTnLst>
                    </p:cTn>
                  </p:par>
                  <p:par>
                    <p:cTn id="7" fill="hold">
                      <p:stCondLst>
                        <p:cond delay="indefinite"/>
                      </p:stCondLst>
                      <p:childTnLst>
                        <p:par>
                          <p:cTn id="8" fill="hold">
                            <p:stCondLst>
                              <p:cond delay="0"/>
                            </p:stCondLst>
                            <p:childTnLst>
                              <p:par>
                                <p:cTn id="9" presetClass="entr" nodeType="clickEffect" presetID="10" grpId="2" fill="hold">
                                  <p:stCondLst>
                                    <p:cond delay="0"/>
                                  </p:stCondLst>
                                  <p:iterate type="el" backwards="0">
                                    <p:tmAbs val="0"/>
                                  </p:iterate>
                                  <p:childTnLst>
                                    <p:set>
                                      <p:cBhvr>
                                        <p:cTn id="10" fill="hold"/>
                                        <p:tgtEl>
                                          <p:spTgt spid="373"/>
                                        </p:tgtEl>
                                        <p:attrNameLst>
                                          <p:attrName>style.visibility</p:attrName>
                                        </p:attrNameLst>
                                      </p:cBhvr>
                                      <p:to>
                                        <p:strVal val="visible"/>
                                      </p:to>
                                    </p:set>
                                    <p:animEffect filter="fade" transition="in">
                                      <p:cBhvr>
                                        <p:cTn id="11" dur="400"/>
                                        <p:tgtEl>
                                          <p:spTgt spid="373"/>
                                        </p:tgtEl>
                                      </p:cBhvr>
                                    </p:animEffect>
                                  </p:childTnLst>
                                </p:cTn>
                              </p:par>
                            </p:childTnLst>
                          </p:cTn>
                        </p:par>
                      </p:childTnLst>
                    </p:cTn>
                  </p:par>
                  <p:par>
                    <p:cTn id="12" fill="hold">
                      <p:stCondLst>
                        <p:cond delay="indefinite"/>
                      </p:stCondLst>
                      <p:childTnLst>
                        <p:par>
                          <p:cTn id="13" fill="hold">
                            <p:stCondLst>
                              <p:cond delay="0"/>
                            </p:stCondLst>
                            <p:childTnLst>
                              <p:par>
                                <p:cTn id="14" presetClass="entr" nodeType="clickEffect" presetSubtype="16" presetID="23" grpId="3" fill="hold">
                                  <p:stCondLst>
                                    <p:cond delay="0"/>
                                  </p:stCondLst>
                                  <p:iterate type="el" backwards="0">
                                    <p:tmAbs val="0"/>
                                  </p:iterate>
                                  <p:childTnLst>
                                    <p:set>
                                      <p:cBhvr>
                                        <p:cTn id="15" fill="hold"/>
                                        <p:tgtEl>
                                          <p:spTgt spid="374"/>
                                        </p:tgtEl>
                                        <p:attrNameLst>
                                          <p:attrName>style.visibility</p:attrName>
                                        </p:attrNameLst>
                                      </p:cBhvr>
                                      <p:to>
                                        <p:strVal val="visible"/>
                                      </p:to>
                                    </p:set>
                                    <p:anim calcmode="lin" valueType="num">
                                      <p:cBhvr>
                                        <p:cTn id="16" dur="400" fill="hold"/>
                                        <p:tgtEl>
                                          <p:spTgt spid="374"/>
                                        </p:tgtEl>
                                        <p:attrNameLst>
                                          <p:attrName>ppt_w</p:attrName>
                                        </p:attrNameLst>
                                      </p:cBhvr>
                                      <p:tavLst>
                                        <p:tav tm="0">
                                          <p:val>
                                            <p:fltVal val="0"/>
                                          </p:val>
                                        </p:tav>
                                        <p:tav tm="100000">
                                          <p:val>
                                            <p:strVal val="#ppt_w"/>
                                          </p:val>
                                        </p:tav>
                                      </p:tavLst>
                                    </p:anim>
                                    <p:anim calcmode="lin" valueType="num">
                                      <p:cBhvr>
                                        <p:cTn id="17" dur="400" fill="hold"/>
                                        <p:tgtEl>
                                          <p:spTgt spid="374"/>
                                        </p:tgtEl>
                                        <p:attrNameLst>
                                          <p:attrName>ppt_h</p:attrName>
                                        </p:attrNameLst>
                                      </p:cBhvr>
                                      <p:tavLst>
                                        <p:tav tm="0">
                                          <p:val>
                                            <p:fltVal val="0"/>
                                          </p:val>
                                        </p:tav>
                                        <p:tav tm="100000">
                                          <p:val>
                                            <p:strVal val="#ppt_h"/>
                                          </p:val>
                                        </p:tav>
                                      </p:tavLst>
                                    </p:anim>
                                  </p:childTnLst>
                                </p:cTn>
                              </p:par>
                            </p:childTnLst>
                          </p:cTn>
                        </p:par>
                      </p:childTnLst>
                    </p:cTn>
                  </p:par>
                  <p:par>
                    <p:cTn id="18" fill="hold">
                      <p:stCondLst>
                        <p:cond delay="indefinite"/>
                      </p:stCondLst>
                      <p:childTnLst>
                        <p:par>
                          <p:cTn id="19" fill="hold">
                            <p:stCondLst>
                              <p:cond delay="0"/>
                            </p:stCondLst>
                            <p:childTnLst>
                              <p:par>
                                <p:cTn id="20" presetClass="entr" nodeType="clickEffect" presetID="10" grpId="4" fill="hold">
                                  <p:stCondLst>
                                    <p:cond delay="0"/>
                                  </p:stCondLst>
                                  <p:iterate type="el" backwards="0">
                                    <p:tmAbs val="0"/>
                                  </p:iterate>
                                  <p:childTnLst>
                                    <p:set>
                                      <p:cBhvr>
                                        <p:cTn id="21" fill="hold"/>
                                        <p:tgtEl>
                                          <p:spTgt spid="377"/>
                                        </p:tgtEl>
                                        <p:attrNameLst>
                                          <p:attrName>style.visibility</p:attrName>
                                        </p:attrNameLst>
                                      </p:cBhvr>
                                      <p:to>
                                        <p:strVal val="visible"/>
                                      </p:to>
                                    </p:set>
                                    <p:animEffect filter="fade" transition="in">
                                      <p:cBhvr>
                                        <p:cTn id="22" dur="400"/>
                                        <p:tgtEl>
                                          <p:spTgt spid="377"/>
                                        </p:tgtEl>
                                      </p:cBhvr>
                                    </p:animEffect>
                                  </p:childTnLst>
                                </p:cTn>
                              </p:par>
                            </p:childTnLst>
                          </p:cTn>
                        </p:par>
                      </p:childTnLst>
                    </p:cTn>
                  </p:par>
                  <p:par>
                    <p:cTn id="23" fill="hold">
                      <p:stCondLst>
                        <p:cond delay="indefinite"/>
                      </p:stCondLst>
                      <p:childTnLst>
                        <p:par>
                          <p:cTn id="24" fill="hold">
                            <p:stCondLst>
                              <p:cond delay="0"/>
                            </p:stCondLst>
                            <p:childTnLst>
                              <p:par>
                                <p:cTn id="25" presetClass="entr" nodeType="clickEffect" presetSubtype="16" presetID="23" grpId="5" fill="hold">
                                  <p:stCondLst>
                                    <p:cond delay="0"/>
                                  </p:stCondLst>
                                  <p:iterate type="el" backwards="0">
                                    <p:tmAbs val="0"/>
                                  </p:iterate>
                                  <p:childTnLst>
                                    <p:set>
                                      <p:cBhvr>
                                        <p:cTn id="26" fill="hold"/>
                                        <p:tgtEl>
                                          <p:spTgt spid="378"/>
                                        </p:tgtEl>
                                        <p:attrNameLst>
                                          <p:attrName>style.visibility</p:attrName>
                                        </p:attrNameLst>
                                      </p:cBhvr>
                                      <p:to>
                                        <p:strVal val="visible"/>
                                      </p:to>
                                    </p:set>
                                    <p:anim calcmode="lin" valueType="num">
                                      <p:cBhvr>
                                        <p:cTn id="27" dur="400" fill="hold"/>
                                        <p:tgtEl>
                                          <p:spTgt spid="378"/>
                                        </p:tgtEl>
                                        <p:attrNameLst>
                                          <p:attrName>ppt_w</p:attrName>
                                        </p:attrNameLst>
                                      </p:cBhvr>
                                      <p:tavLst>
                                        <p:tav tm="0">
                                          <p:val>
                                            <p:fltVal val="0"/>
                                          </p:val>
                                        </p:tav>
                                        <p:tav tm="100000">
                                          <p:val>
                                            <p:strVal val="#ppt_w"/>
                                          </p:val>
                                        </p:tav>
                                      </p:tavLst>
                                    </p:anim>
                                    <p:anim calcmode="lin" valueType="num">
                                      <p:cBhvr>
                                        <p:cTn id="28" dur="400" fill="hold"/>
                                        <p:tgtEl>
                                          <p:spTgt spid="378"/>
                                        </p:tgtEl>
                                        <p:attrNameLst>
                                          <p:attrName>ppt_h</p:attrName>
                                        </p:attrNameLst>
                                      </p:cBhvr>
                                      <p:tavLst>
                                        <p:tav tm="0">
                                          <p:val>
                                            <p:fltVal val="0"/>
                                          </p:val>
                                        </p:tav>
                                        <p:tav tm="100000">
                                          <p:val>
                                            <p:strVal val="#ppt_h"/>
                                          </p:val>
                                        </p:tav>
                                      </p:tavLst>
                                    </p:anim>
                                  </p:childTnLst>
                                </p:cTn>
                              </p:par>
                            </p:childTnLst>
                          </p:cTn>
                        </p:par>
                      </p:childTnLst>
                    </p:cTn>
                  </p:par>
                  <p:par>
                    <p:cTn id="29" fill="hold">
                      <p:stCondLst>
                        <p:cond delay="indefinite"/>
                      </p:stCondLst>
                      <p:childTnLst>
                        <p:par>
                          <p:cTn id="30" fill="hold">
                            <p:stCondLst>
                              <p:cond delay="0"/>
                            </p:stCondLst>
                            <p:childTnLst>
                              <p:par>
                                <p:cTn id="31" presetClass="entr" nodeType="clickEffect" presetID="10" grpId="6" fill="hold">
                                  <p:stCondLst>
                                    <p:cond delay="0"/>
                                  </p:stCondLst>
                                  <p:iterate type="el" backwards="0">
                                    <p:tmAbs val="0"/>
                                  </p:iterate>
                                  <p:childTnLst>
                                    <p:set>
                                      <p:cBhvr>
                                        <p:cTn id="32" fill="hold"/>
                                        <p:tgtEl>
                                          <p:spTgt spid="381"/>
                                        </p:tgtEl>
                                        <p:attrNameLst>
                                          <p:attrName>style.visibility</p:attrName>
                                        </p:attrNameLst>
                                      </p:cBhvr>
                                      <p:to>
                                        <p:strVal val="visible"/>
                                      </p:to>
                                    </p:set>
                                    <p:animEffect filter="fade" transition="in">
                                      <p:cBhvr>
                                        <p:cTn id="33" dur="400"/>
                                        <p:tgtEl>
                                          <p:spTgt spid="381"/>
                                        </p:tgtEl>
                                      </p:cBhvr>
                                    </p:animEffect>
                                  </p:childTnLst>
                                </p:cTn>
                              </p:par>
                            </p:childTnLst>
                          </p:cTn>
                        </p:par>
                      </p:childTnLst>
                    </p:cTn>
                  </p:par>
                  <p:par>
                    <p:cTn id="34" fill="hold">
                      <p:stCondLst>
                        <p:cond delay="indefinite"/>
                      </p:stCondLst>
                      <p:childTnLst>
                        <p:par>
                          <p:cTn id="35" fill="hold">
                            <p:stCondLst>
                              <p:cond delay="0"/>
                            </p:stCondLst>
                            <p:childTnLst>
                              <p:par>
                                <p:cTn id="36" presetClass="entr" nodeType="clickEffect" presetSubtype="16" presetID="23" grpId="7" fill="hold">
                                  <p:stCondLst>
                                    <p:cond delay="0"/>
                                  </p:stCondLst>
                                  <p:iterate type="el" backwards="0">
                                    <p:tmAbs val="0"/>
                                  </p:iterate>
                                  <p:childTnLst>
                                    <p:set>
                                      <p:cBhvr>
                                        <p:cTn id="37" fill="hold"/>
                                        <p:tgtEl>
                                          <p:spTgt spid="382"/>
                                        </p:tgtEl>
                                        <p:attrNameLst>
                                          <p:attrName>style.visibility</p:attrName>
                                        </p:attrNameLst>
                                      </p:cBhvr>
                                      <p:to>
                                        <p:strVal val="visible"/>
                                      </p:to>
                                    </p:set>
                                    <p:anim calcmode="lin" valueType="num">
                                      <p:cBhvr>
                                        <p:cTn id="38" dur="400" fill="hold"/>
                                        <p:tgtEl>
                                          <p:spTgt spid="382"/>
                                        </p:tgtEl>
                                        <p:attrNameLst>
                                          <p:attrName>ppt_w</p:attrName>
                                        </p:attrNameLst>
                                      </p:cBhvr>
                                      <p:tavLst>
                                        <p:tav tm="0">
                                          <p:val>
                                            <p:fltVal val="0"/>
                                          </p:val>
                                        </p:tav>
                                        <p:tav tm="100000">
                                          <p:val>
                                            <p:strVal val="#ppt_w"/>
                                          </p:val>
                                        </p:tav>
                                      </p:tavLst>
                                    </p:anim>
                                    <p:anim calcmode="lin" valueType="num">
                                      <p:cBhvr>
                                        <p:cTn id="39" dur="400" fill="hold"/>
                                        <p:tgtEl>
                                          <p:spTgt spid="382"/>
                                        </p:tgtEl>
                                        <p:attrNameLst>
                                          <p:attrName>ppt_h</p:attrName>
                                        </p:attrNameLst>
                                      </p:cBhvr>
                                      <p:tavLst>
                                        <p:tav tm="0">
                                          <p:val>
                                            <p:fltVal val="0"/>
                                          </p:val>
                                        </p:tav>
                                        <p:tav tm="100000">
                                          <p:val>
                                            <p:strVal val="#ppt_h"/>
                                          </p:val>
                                        </p:tav>
                                      </p:tavLst>
                                    </p:anim>
                                  </p:childTnLst>
                                </p:cTn>
                              </p:par>
                            </p:childTnLst>
                          </p:cTn>
                        </p:par>
                      </p:childTnLst>
                    </p:cTn>
                  </p:par>
                  <p:par>
                    <p:cTn id="40" fill="hold">
                      <p:stCondLst>
                        <p:cond delay="indefinite"/>
                      </p:stCondLst>
                      <p:childTnLst>
                        <p:par>
                          <p:cTn id="41" fill="hold">
                            <p:stCondLst>
                              <p:cond delay="0"/>
                            </p:stCondLst>
                            <p:childTnLst>
                              <p:par>
                                <p:cTn id="42" presetClass="entr" nodeType="clickEffect" presetID="10" grpId="8" fill="hold">
                                  <p:stCondLst>
                                    <p:cond delay="0"/>
                                  </p:stCondLst>
                                  <p:iterate type="el" backwards="0">
                                    <p:tmAbs val="0"/>
                                  </p:iterate>
                                  <p:childTnLst>
                                    <p:set>
                                      <p:cBhvr>
                                        <p:cTn id="43" fill="hold"/>
                                        <p:tgtEl>
                                          <p:spTgt spid="385"/>
                                        </p:tgtEl>
                                        <p:attrNameLst>
                                          <p:attrName>style.visibility</p:attrName>
                                        </p:attrNameLst>
                                      </p:cBhvr>
                                      <p:to>
                                        <p:strVal val="visible"/>
                                      </p:to>
                                    </p:set>
                                    <p:animEffect filter="fade" transition="in">
                                      <p:cBhvr>
                                        <p:cTn id="44" dur="400"/>
                                        <p:tgtEl>
                                          <p:spTgt spid="385"/>
                                        </p:tgtEl>
                                      </p:cBhvr>
                                    </p:animEffect>
                                  </p:childTnLst>
                                </p:cTn>
                              </p:par>
                            </p:childTnLst>
                          </p:cTn>
                        </p:par>
                      </p:childTnLst>
                    </p:cTn>
                  </p:par>
                  <p:par>
                    <p:cTn id="45" fill="hold">
                      <p:stCondLst>
                        <p:cond delay="indefinite"/>
                      </p:stCondLst>
                      <p:childTnLst>
                        <p:par>
                          <p:cTn id="46" fill="hold">
                            <p:stCondLst>
                              <p:cond delay="0"/>
                            </p:stCondLst>
                            <p:childTnLst>
                              <p:par>
                                <p:cTn id="47" presetClass="entr" nodeType="clickEffect" presetSubtype="16" presetID="23" grpId="9" fill="hold">
                                  <p:stCondLst>
                                    <p:cond delay="0"/>
                                  </p:stCondLst>
                                  <p:iterate type="el" backwards="0">
                                    <p:tmAbs val="0"/>
                                  </p:iterate>
                                  <p:childTnLst>
                                    <p:set>
                                      <p:cBhvr>
                                        <p:cTn id="48" fill="hold"/>
                                        <p:tgtEl>
                                          <p:spTgt spid="386"/>
                                        </p:tgtEl>
                                        <p:attrNameLst>
                                          <p:attrName>style.visibility</p:attrName>
                                        </p:attrNameLst>
                                      </p:cBhvr>
                                      <p:to>
                                        <p:strVal val="visible"/>
                                      </p:to>
                                    </p:set>
                                    <p:anim calcmode="lin" valueType="num">
                                      <p:cBhvr>
                                        <p:cTn id="49" dur="400" fill="hold"/>
                                        <p:tgtEl>
                                          <p:spTgt spid="386"/>
                                        </p:tgtEl>
                                        <p:attrNameLst>
                                          <p:attrName>ppt_w</p:attrName>
                                        </p:attrNameLst>
                                      </p:cBhvr>
                                      <p:tavLst>
                                        <p:tav tm="0">
                                          <p:val>
                                            <p:fltVal val="0"/>
                                          </p:val>
                                        </p:tav>
                                        <p:tav tm="100000">
                                          <p:val>
                                            <p:strVal val="#ppt_w"/>
                                          </p:val>
                                        </p:tav>
                                      </p:tavLst>
                                    </p:anim>
                                    <p:anim calcmode="lin" valueType="num">
                                      <p:cBhvr>
                                        <p:cTn id="50" dur="400" fill="hold"/>
                                        <p:tgtEl>
                                          <p:spTgt spid="386"/>
                                        </p:tgtEl>
                                        <p:attrNameLst>
                                          <p:attrName>ppt_h</p:attrName>
                                        </p:attrNameLst>
                                      </p:cBhvr>
                                      <p:tavLst>
                                        <p:tav tm="0">
                                          <p:val>
                                            <p:fltVal val="0"/>
                                          </p:val>
                                        </p:tav>
                                        <p:tav tm="100000">
                                          <p:val>
                                            <p:strVal val="#ppt_h"/>
                                          </p:val>
                                        </p:tav>
                                      </p:tavLst>
                                    </p:anim>
                                  </p:childTnLst>
                                </p:cTn>
                              </p:par>
                            </p:childTnLst>
                          </p:cTn>
                        </p:par>
                      </p:childTnLst>
                    </p:cTn>
                  </p:par>
                  <p:par>
                    <p:cTn id="51" fill="hold">
                      <p:stCondLst>
                        <p:cond delay="indefinite"/>
                      </p:stCondLst>
                      <p:childTnLst>
                        <p:par>
                          <p:cTn id="52" fill="hold">
                            <p:stCondLst>
                              <p:cond delay="0"/>
                            </p:stCondLst>
                            <p:childTnLst>
                              <p:par>
                                <p:cTn id="53" presetClass="entr" nodeType="clickEffect" presetID="10" grpId="10" fill="hold">
                                  <p:stCondLst>
                                    <p:cond delay="0"/>
                                  </p:stCondLst>
                                  <p:iterate type="el" backwards="0">
                                    <p:tmAbs val="0"/>
                                  </p:iterate>
                                  <p:childTnLst>
                                    <p:set>
                                      <p:cBhvr>
                                        <p:cTn id="54" fill="hold"/>
                                        <p:tgtEl>
                                          <p:spTgt spid="389"/>
                                        </p:tgtEl>
                                        <p:attrNameLst>
                                          <p:attrName>style.visibility</p:attrName>
                                        </p:attrNameLst>
                                      </p:cBhvr>
                                      <p:to>
                                        <p:strVal val="visible"/>
                                      </p:to>
                                    </p:set>
                                    <p:animEffect filter="fade" transition="in">
                                      <p:cBhvr>
                                        <p:cTn id="55" dur="400"/>
                                        <p:tgtEl>
                                          <p:spTgt spid="389"/>
                                        </p:tgtEl>
                                      </p:cBhvr>
                                    </p:animEffect>
                                  </p:childTnLst>
                                </p:cTn>
                              </p:par>
                            </p:childTnLst>
                          </p:cTn>
                        </p:par>
                      </p:childTnLst>
                    </p:cTn>
                  </p:par>
                  <p:par>
                    <p:cTn id="56" fill="hold">
                      <p:stCondLst>
                        <p:cond delay="indefinite"/>
                      </p:stCondLst>
                      <p:childTnLst>
                        <p:par>
                          <p:cTn id="57" fill="hold">
                            <p:stCondLst>
                              <p:cond delay="0"/>
                            </p:stCondLst>
                            <p:childTnLst>
                              <p:par>
                                <p:cTn id="58" presetClass="entr" nodeType="clickEffect" presetSubtype="16" presetID="23" grpId="11" fill="hold">
                                  <p:stCondLst>
                                    <p:cond delay="0"/>
                                  </p:stCondLst>
                                  <p:iterate type="el" backwards="0">
                                    <p:tmAbs val="0"/>
                                  </p:iterate>
                                  <p:childTnLst>
                                    <p:set>
                                      <p:cBhvr>
                                        <p:cTn id="59" fill="hold"/>
                                        <p:tgtEl>
                                          <p:spTgt spid="390"/>
                                        </p:tgtEl>
                                        <p:attrNameLst>
                                          <p:attrName>style.visibility</p:attrName>
                                        </p:attrNameLst>
                                      </p:cBhvr>
                                      <p:to>
                                        <p:strVal val="visible"/>
                                      </p:to>
                                    </p:set>
                                    <p:anim calcmode="lin" valueType="num">
                                      <p:cBhvr>
                                        <p:cTn id="60" dur="400" fill="hold"/>
                                        <p:tgtEl>
                                          <p:spTgt spid="390"/>
                                        </p:tgtEl>
                                        <p:attrNameLst>
                                          <p:attrName>ppt_w</p:attrName>
                                        </p:attrNameLst>
                                      </p:cBhvr>
                                      <p:tavLst>
                                        <p:tav tm="0">
                                          <p:val>
                                            <p:fltVal val="0"/>
                                          </p:val>
                                        </p:tav>
                                        <p:tav tm="100000">
                                          <p:val>
                                            <p:strVal val="#ppt_w"/>
                                          </p:val>
                                        </p:tav>
                                      </p:tavLst>
                                    </p:anim>
                                    <p:anim calcmode="lin" valueType="num">
                                      <p:cBhvr>
                                        <p:cTn id="61" dur="400" fill="hold"/>
                                        <p:tgtEl>
                                          <p:spTgt spid="390"/>
                                        </p:tgtEl>
                                        <p:attrNameLst>
                                          <p:attrName>ppt_h</p:attrName>
                                        </p:attrNameLst>
                                      </p:cBhvr>
                                      <p:tavLst>
                                        <p:tav tm="0">
                                          <p:val>
                                            <p:fltVal val="0"/>
                                          </p:val>
                                        </p:tav>
                                        <p:tav tm="100000">
                                          <p:val>
                                            <p:strVal val="#ppt_h"/>
                                          </p:val>
                                        </p:tav>
                                      </p:tavLst>
                                    </p:anim>
                                  </p:childTnLst>
                                </p:cTn>
                              </p:par>
                            </p:childTnLst>
                          </p:cTn>
                        </p:par>
                      </p:childTnLst>
                    </p:cTn>
                  </p:par>
                  <p:par>
                    <p:cTn id="62" fill="hold">
                      <p:stCondLst>
                        <p:cond delay="indefinite"/>
                      </p:stCondLst>
                      <p:childTnLst>
                        <p:par>
                          <p:cTn id="63" fill="hold">
                            <p:stCondLst>
                              <p:cond delay="0"/>
                            </p:stCondLst>
                            <p:childTnLst>
                              <p:par>
                                <p:cTn id="64" presetClass="entr" nodeType="clickEffect" presetID="10" grpId="12" fill="hold">
                                  <p:stCondLst>
                                    <p:cond delay="0"/>
                                  </p:stCondLst>
                                  <p:iterate type="el" backwards="0">
                                    <p:tmAbs val="0"/>
                                  </p:iterate>
                                  <p:childTnLst>
                                    <p:set>
                                      <p:cBhvr>
                                        <p:cTn id="65" fill="hold"/>
                                        <p:tgtEl>
                                          <p:spTgt spid="391"/>
                                        </p:tgtEl>
                                        <p:attrNameLst>
                                          <p:attrName>style.visibility</p:attrName>
                                        </p:attrNameLst>
                                      </p:cBhvr>
                                      <p:to>
                                        <p:strVal val="visible"/>
                                      </p:to>
                                    </p:set>
                                    <p:animEffect filter="fade" transition="in">
                                      <p:cBhvr>
                                        <p:cTn id="66" dur="400"/>
                                        <p:tgtEl>
                                          <p:spTgt spid="391"/>
                                        </p:tgtEl>
                                      </p:cBhvr>
                                    </p:animEffect>
                                  </p:childTnLst>
                                </p:cTn>
                              </p:par>
                            </p:childTnLst>
                          </p:cTn>
                        </p:par>
                      </p:childTnLst>
                    </p:cTn>
                  </p:par>
                </p:childTnLst>
              </p:cTn>
              <p:prevCondLst>
                <p:cond evt="onPrev">
                  <p:tgtEl>
                    <p:sldTgt/>
                  </p:tgtEl>
                </p:cond>
              </p:prevCondLst>
              <p:nextCondLst>
                <p:cond evt="onNext">
                  <p:tgtEl>
                    <p:sldTgt/>
                  </p:tgtEl>
                </p:cond>
              </p:nextCondLst>
            </p:seq>
            <p:video fullScrn="0">
              <p:cMediaNode mute="0" showWhenStopped="1" numSld="1" vol="0">
                <p:cTn id="67" fill="hold" display="0">
                  <p:stCondLst>
                    <p:cond delay="indefinite"/>
                  </p:stCondLst>
                </p:cTn>
                <p:tgtEl>
                  <p:spTgt spid="366"/>
                </p:tgtEl>
              </p:cMediaNode>
            </p:video>
            <p:seq concurrent="1" prevAc="none" nextAc="seek">
              <p:cTn id="68" evtFilter="cancelBubble" nodeType="interactiveSeq" restart="whenNotActive" fill="hold">
                <p:stCondLst>
                  <p:cond delay="0" evt="onClick">
                    <p:tgtEl>
                      <p:spTgt spid="366"/>
                    </p:tgtEl>
                  </p:cond>
                </p:stCondLst>
                <p:endSync delay="0" evt="end">
                  <p:rtn val="all"/>
                </p:endSync>
                <p:childTnLst>
                  <p:par>
                    <p:cTn id="69" fill="hold">
                      <p:stCondLst>
                        <p:cond delay="0"/>
                      </p:stCondLst>
                      <p:childTnLst>
                        <p:par>
                          <p:cTn id="70" fill="hold">
                            <p:stCondLst>
                              <p:cond delay="0"/>
                            </p:stCondLst>
                            <p:childTnLst>
                              <p:par>
                                <p:cTn id="71" presetClass="mediacall" nodeType="clickEffect" presetSubtype="0" presetID="2" fill="hold">
                                  <p:stCondLst>
                                    <p:cond delay="0"/>
                                  </p:stCondLst>
                                  <p:childTnLst>
                                    <p:cmd type="call" cmd="togglePause">
                                      <p:cBhvr>
                                        <p:cTn id="72" dur="1" fill="hold"/>
                                        <p:tgtEl>
                                          <p:spTgt spid="366"/>
                                        </p:tgtEl>
                                      </p:cBhvr>
                                    </p:cmd>
                                  </p:childTnLst>
                                </p:cTn>
                              </p:par>
                            </p:childTnLst>
                          </p:cTn>
                        </p:par>
                      </p:childTnLst>
                    </p:cTn>
                  </p:par>
                </p:childTnLst>
              </p:cTn>
              <p:nextCondLst>
                <p:cond delay="0" evt="onClick">
                  <p:tgtEl>
                    <p:spTgt spid="366"/>
                  </p:tgtEl>
                </p:cond>
              </p:nextCondLst>
            </p:seq>
          </p:childTnLst>
        </p:cTn>
      </p:par>
    </p:tnLst>
    <p:bldLst>
      <p:bldP build="whole" bldLvl="1" animBg="1" rev="0" advAuto="0" spid="390" grpId="11"/>
      <p:bldP build="whole" bldLvl="1" animBg="1" rev="0" advAuto="0" spid="377" grpId="4"/>
      <p:bldP build="whole" bldLvl="1" animBg="1" rev="0" advAuto="0" spid="386" grpId="9"/>
      <p:bldP build="whole" bldLvl="1" animBg="1" rev="0" advAuto="0" spid="373" grpId="2"/>
      <p:bldP build="whole" bldLvl="1" animBg="1" rev="0" advAuto="0" spid="391" grpId="12"/>
      <p:bldP build="whole" bldLvl="1" animBg="1" rev="0" advAuto="0" spid="378" grpId="5"/>
      <p:bldP build="whole" bldLvl="1" animBg="1" rev="0" advAuto="0" spid="389" grpId="10"/>
      <p:bldP build="whole" bldLvl="1" animBg="1" rev="0" advAuto="0" spid="374" grpId="3"/>
      <p:bldP build="whole" bldLvl="1" animBg="1" rev="0" advAuto="0" spid="385" grpId="8"/>
      <p:bldP build="whole" bldLvl="1" animBg="1" rev="0" advAuto="0" spid="382" grpId="7"/>
      <p:bldP build="whole" bldLvl="1" animBg="1" rev="0" advAuto="0" spid="381" grpId="6"/>
    </p:bldLst>
  </p:timing>
</p:sld>
</file>

<file path=ppt/theme/theme1.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ppt/theme/theme2.xml><?xml version="1.0" encoding="utf-8"?>
<a:theme xmlns:a="http://schemas.openxmlformats.org/drawingml/2006/main" xmlns:r="http://schemas.openxmlformats.org/officeDocument/2006/relationships"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Calibri"/>
        <a:ea typeface="Calibri"/>
        <a:cs typeface="Calibri"/>
      </a:majorFont>
      <a:minorFont>
        <a:latin typeface="Helvetica"/>
        <a:ea typeface="Helvetica"/>
        <a:cs typeface="Helvetica"/>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12700" cap="flat">
          <a:solidFill>
            <a:schemeClr val="accent1"/>
          </a:solidFill>
          <a:prstDash val="solid"/>
          <a:miter lim="800000"/>
        </a:ln>
        <a:effectLst/>
        <a:sp3d/>
      </a:spPr>
      <a:bodyPr rot="0" spcFirstLastPara="1" vertOverflow="overflow" horzOverflow="overflow" vert="horz" wrap="square" lIns="45719" tIns="45719" rIns="45719" bIns="45719" numCol="1" spcCol="38100" rtlCol="0" anchor="ctr"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spDef>
    <a:lnDef>
      <a:spPr>
        <a:noFill/>
        <a:ln w="12700" cap="flat">
          <a:solidFill>
            <a:schemeClr val="accent1"/>
          </a:solidFill>
          <a:prstDash val="solid"/>
          <a:miter lim="800000"/>
        </a:ln>
        <a:effectLst/>
        <a:sp3d/>
      </a:spPr>
      <a:bodyPr rot="0" spcFirstLastPara="1" vertOverflow="overflow" horzOverflow="overflow" vert="horz" wrap="square" lIns="91439" tIns="45719" rIns="91439" bIns="45719" numCol="1" spcCol="38100" rtlCol="0" anchor="t" upright="0">
        <a:noAutofit/>
      </a:bodyPr>
      <a:lstStyle>
        <a:def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upright="0">
        <a:spAutoFit/>
      </a:bodyPr>
      <a:lstStyle>
        <a:defPPr marL="0" marR="0" indent="0" algn="l" defTabSz="914400" rtl="0" fontAlgn="auto" latinLnBrk="0"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latin typeface="+mj-lt"/>
            <a:ea typeface="+mj-ea"/>
            <a:cs typeface="+mj-cs"/>
            <a:sym typeface="Calibri"/>
          </a:defRPr>
        </a:defPPr>
        <a:lvl1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b="0" baseline="0" cap="none" i="0" spc="0" strike="noStrike" sz="1800" u="none" kumimoji="0" normalizeH="0">
            <a:ln>
              <a:noFill/>
            </a:ln>
            <a:solidFill>
              <a:srgbClr val="000000"/>
            </a:solidFill>
            <a:effectLst/>
            <a:uFillTx/>
          </a:defRPr>
        </a:lvl9pPr>
      </a:lstStyle>
      <a:style>
        <a:lnRef idx="0"/>
        <a:fillRef idx="0"/>
        <a:effectRef idx="0"/>
        <a:fontRef idx="none"/>
      </a:style>
    </a:txDef>
  </a:objectDefaults>
</a:theme>
</file>

<file path=docProps/app.xml><?xml version="1.0" encoding="utf-8"?>
<Properties xmlns="http://schemas.openxmlformats.org/officeDocument/2006/extended-properties" xmlns:vt="http://schemas.openxmlformats.org/officeDocument/2006/docPropsVTypes"/>
</file>

<file path=docProps/core.xml><?xml version="1.0" encoding="utf-8"?>
<cp:coreProperties xmlns:cp="http://schemas.openxmlformats.org/package/2006/metadata/core-properties" xmlns:dc="http://purl.org/dc/elements/1.1/" xmlns:dcterms="http://purl.org/dc/terms/" xmlns:xsi="http://www.w3.org/2001/XMLSchema-instance"/>
</file>