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10 minutes, the standard length. Six clicks.
I READ reference/What The Earth Gives Us.pptx (the stated PREVIOUS lesson). Q1, Q2 and Q4 retrieve it directly; Q2 reuses the cod figure as plain retrieval, which is fine two lessons on, it is a dramatic fact worth keeping live.
Q3 IS THE ONE CALCULATION, fresh numbers, not the previous lesson's own worksheet figures. Watch for 10% (dividing the wrong way).
Q5 AND Q6 ARE INTUITIVE, NOT TAUGHT YET. Accept any reasonable answer. Q5 primes conservation from the student's own experience. Q6 primes the whole of objective 2 in a sentence, before the term "sustainable" is used.
THEY FOUND HARD: not stated in the brief. Nothing guessed.
CHANGE THE DATE before you teach, if the actual lesson falls on a different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minute. Four clicks.
WHERE THIS SITS. The last lesson ended on "renewable or not is about the rate". Today is the other half: now you can tell whether a resource is being used too fast, what do people actually DO about it? Say "last lesson told you how to spot the problem. Today is the fix."
OBJECTIVE 2 IS WHY THIS LESSON EXISTS. Objective 1 gives the general idea (conservation); objective 3 gives real examples (management in practice); objective 2, the sustainable amount, is the number underneath both of them.
THE BANNER IS OBJECTIVE 2, SAID PLAINLY, and it is also the previous lesson's rate idea turned into an instruction rather than a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minutes. Three cards on one click.
Show of hands for each, and tally on the board. Do not settle it: I Do 1 does.
ANSWER, FOR YOU: B. About 25,000, roughly 93% of the population's size before whaling began. Ten of the fourteen known humpback populations worldwide have recovered since the 1986 international ban on commercial whaling. Expect A to attract a lot of votes: after a 93% collapse, most students will assume a species stays rare.
THE DELIBERATE CONTRAST: last lesson's cod fell by about 93% and, thirty years on, still have not recovered. This whale population also fell hard, and then recovered, because hunting was banned in time and the stock was given the chance to regrow. Say that contrast directly: same size of collapse, different outcome.
DO NOT EXPLAIN WHY YET. Say "something was done differently here. That is today's lesson" and move to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Three clicks: the definition, the whale card, the cod card.
OBJECTIVE 1, SETTLED WITH THE HOOK. Conservation is not one single action; it is the general idea of managing use so a resource survives. A hunting ban is one form of it.
THE CONTRAST CARDS ARE THE POINT OF THE SLIDE. Same starting problem (a population crashing from overuse), different timing of the response. Say it plainly: conservation works when it happens before the stock is gone, not after.
IF ASKED WHY COD STILL HAS NOT RECOVERED EVEN WITH NO FISHING SINCE 1992: a population that has fallen this far recovers slowly even once protected, because there are so few breeding adults left. This is worth a sentence, not a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Two clicks: the definition, then the worked example.
OBJECTIVE 2, THE NUMBER UNDER EVERYTHING TODAY. This is the previous lesson's "cut no faster than it regrows" forest example, turned into an actual calculation.
THE CALCULATION IS STOCK × GROWTH RATE. It is the same method as a function-machine rule and a density calculation: identify the two numbers, multiply, done. Say it slowly once: "ten per cent of two hundred thousand is twenty thousand".
THE LAST LINE IS THE KEY IDEA: catch exactly the sustainable amount, and the stock does not shrink OR grow, it stays the same, indefinitely. Catch less, and it grows (this lesson's Do Now Q6). Catch more, and it shrinks (last lesson's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5 minutes. Four clicks. Take answers from the room first, then click.
ROW 1 IS OBJECTIVE 1, THE COMMONEST MISREADING OF THE WORD. Conservation is about rate, exactly like last lesson: using something AT a sustainable rate, not refusing to use it.
ROW 2 IS OBJECTIVE 2, THE EXACT EXAMPLE FROM I DO 2, restated as a misconception. Push on this one: "sustainable" does not mean "nothing happens", it means "the stock does not shrink".
ROW 3 IS OBJECTIVE 3, recycling named as a real management method, directly setting up Cold Call Q4.
ROW 4 IS THE HOOK, THE WHOLE LESSON'S MESSAGE. Be honest about the "decades" part: this is not a quick fix, which is exactly why acting early (objective 1)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CALL. 6 minutes. Six clicks. Name a student, then ask. Students have no mini whiteboards, so answers are spoken.
Q1 AND Q2 ARE OBJECTIVES 1 AND 2, COLD. Both need the reasoning, not just the word repeated.
Q3 IS THE CALCULATION, FRESH NUMBERS. Watch for the formula flip (dividing instead of multiplying), the same slip this class met in Density.
Q4 IS OBJECTIVE 3 DIRECTLY. There are several right answers; take two or three if time allows.
Q5 AND Q6 CLOSE THE LOOP on I Do 2 and the Hook. If most of the room is right by Q4, spend longer here. IF SHORT OF TIME, cut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17 minutes: the standard 14 and the 3 that used to be the Answers slide. Four clicks. THE GAME IS SUSTAINABLE YIELD ("your call"), and the worksheet is the fallback, built every time.
WHAT THEY DO. Open the file "Making It Last game" from Google Classroom. Three rounds of six questions, each on their own device, all multiple choice. EVERY STUDENT GETS A DIFFERENT GAME: different stocks, growth rates and catches, in a different order. The skills and their order are the same for everyone. Each game has a six-character code, shown on the start and end screens; add #CODE to the file's address to see exactly what a student saw.
THE DIFFICULTY RAMPS ON PURPOSE. Round 1 is the calculation from I Do 2: stock times growth rate. Round 2 adds what was actually taken, and asks whether the stock grows, shrinks, or stays the same, a direct extension of objective 2. Round 3 is harder numbers and management-method reasoning, and the last two questions (17 and 18) are drawn from a small pool: a multi-year "years until the stock is gone" calculation, and a scenario that needs the right MANAGEMENT METHOD chosen, not a number at all. Expect most students to fail those two. That is the design; tell them before they start.
AT THE END OF EACH ROUND, and again on the last screen, there is a drop-down for every round with how long each question took and, for a wrong one, what the student wrote and how to get to the answer. There is a "Stop and see my results" button on every question.
ON AN iPAD, an HTML file attached in Google Classroom can be awkward to open. Check before relying on it. If a student cannot open it, finishes early or is absent, the worksheet is the fallback: ten questions in Bronze, Silver and Gold, with the answers printed UPSIDE DOWN on its last page.
CIRCULATE WITH ONE QUESTION: "is more being taken than the stock can replace?" AT 3 MINUTES REMAINING, stop them. There is no Answers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3 minutes. Eleven clicks: each statement, then its answer, then the closing line.
Q1 IS THE MISCONCEPTION AND OBJECTIVE 1 DIRECTLY. Q2 IS OBJECTIVE 2, PLAINLY TRUE.
Q3 IS OBJECTIVE 3, ONE NAMED METHOD CONFIRMED. Q4 SETTLES I DO 2 ONE LAST TIME: cutting at the regrowth rate IS sustainable.
Q5 IS THE HOOK, SETTLED. If this splits the room, that is the first five minutes of next lesson, not a footnote.
THE CLOSING LINE REPEATS THE OBJECTIVES BANNER, on purpose. THIS LESSON MAKES NO PROMISE FOR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DO NOW · 10 MIN</a:t>
            </a:r>
            <a:endParaRPr lang="en-US" sz="1100" dirty="0"/>
          </a:p>
        </p:txBody>
      </p:sp>
      <p:sp>
        <p:nvSpPr>
          <p:cNvPr id="4" name="lesson_title"/>
          <p:cNvSpPr txBox="1"/>
          <p:nvPr/>
        </p:nvSpPr>
        <p:spPr>
          <a:xfrm>
            <a:off x="2651760" y="201168"/>
            <a:ext cx="6858000" cy="603504"/>
          </a:xfrm>
          <a:prstGeom prst="rect">
            <a:avLst/>
          </a:prstGeom>
          <a:noFill/>
          <a:ln/>
        </p:spPr>
        <p:txBody>
          <a:bodyPr wrap="square" lIns="0" tIns="0" rIns="0" bIns="0" rtlCol="0" anchor="ctr"/>
          <a:lstStyle/>
          <a:p>
            <a:pPr algn="ctr" indent="0" marL="0">
              <a:buNone/>
            </a:pPr>
            <a:r>
              <a:rPr lang="en-US" sz="2200" b="1" dirty="0">
                <a:solidFill>
                  <a:srgbClr val="3D2B1F"/>
                </a:solidFill>
                <a:latin typeface="Georgia" pitchFamily="34" charset="0"/>
                <a:ea typeface="Georgia" pitchFamily="34" charset="-122"/>
                <a:cs typeface="Georgia" pitchFamily="34" charset="-120"/>
              </a:rPr>
              <a:t>Making It Last</a:t>
            </a:r>
            <a:endParaRPr lang="en-US" sz="2200" dirty="0"/>
          </a:p>
        </p:txBody>
      </p:sp>
      <p:sp>
        <p:nvSpPr>
          <p:cNvPr id="5" name="lesson_date"/>
          <p:cNvSpPr txBox="1"/>
          <p:nvPr/>
        </p:nvSpPr>
        <p:spPr>
          <a:xfrm>
            <a:off x="8534095" y="310896"/>
            <a:ext cx="3108960" cy="329184"/>
          </a:xfrm>
          <a:prstGeom prst="rect">
            <a:avLst/>
          </a:prstGeom>
          <a:noFill/>
          <a:ln/>
        </p:spPr>
        <p:txBody>
          <a:bodyPr wrap="square" lIns="0" tIns="0" rIns="0" bIns="0" rtlCol="0" anchor="ctr"/>
          <a:lstStyle/>
          <a:p>
            <a:pPr algn="r" indent="0" marL="0">
              <a:buNone/>
            </a:pPr>
            <a:r>
              <a:rPr lang="en-US" sz="1300" dirty="0">
                <a:solidFill>
                  <a:srgbClr val="6B5A48"/>
                </a:solidFill>
                <a:latin typeface="Arial" pitchFamily="34" charset="0"/>
                <a:ea typeface="Arial" pitchFamily="34" charset="-122"/>
                <a:cs typeface="Arial" pitchFamily="34" charset="-120"/>
              </a:rPr>
              <a:t>Saturday 3 October 2026</a:t>
            </a:r>
            <a:endParaRPr lang="en-US" sz="1300" dirty="0"/>
          </a:p>
        </p:txBody>
      </p:sp>
      <p:sp>
        <p:nvSpPr>
          <p:cNvPr id="6" name="rule"/>
          <p:cNvSpPr/>
          <p:nvPr/>
        </p:nvSpPr>
        <p:spPr>
          <a:xfrm>
            <a:off x="1170432" y="896112"/>
            <a:ext cx="10472623" cy="36576"/>
          </a:xfrm>
          <a:prstGeom prst="rect">
            <a:avLst/>
          </a:prstGeom>
          <a:solidFill>
            <a:srgbClr val="C99A3D"/>
          </a:solidFill>
          <a:ln w="12700">
            <a:solidFill>
              <a:srgbClr val="C99A3D"/>
            </a:solidFill>
            <a:prstDash val="solid"/>
          </a:ln>
        </p:spPr>
      </p:sp>
      <p:sp>
        <p:nvSpPr>
          <p:cNvPr id="7" name="d0_bg"/>
          <p:cNvSpPr/>
          <p:nvPr/>
        </p:nvSpPr>
        <p:spPr>
          <a:xfrm>
            <a:off x="1170432" y="1133856"/>
            <a:ext cx="5099152" cy="1481328"/>
          </a:xfrm>
          <a:prstGeom prst="roundRect">
            <a:avLst>
              <a:gd name="adj" fmla="val 6173"/>
            </a:avLst>
          </a:prstGeom>
          <a:solidFill>
            <a:srgbClr val="FFFFFF"/>
          </a:solidFill>
          <a:ln w="16510">
            <a:solidFill>
              <a:srgbClr val="D9C9A8"/>
            </a:solidFill>
            <a:prstDash val="solid"/>
          </a:ln>
        </p:spPr>
      </p:sp>
      <p:sp>
        <p:nvSpPr>
          <p:cNvPr id="8" name="d0_badge"/>
          <p:cNvSpPr/>
          <p:nvPr/>
        </p:nvSpPr>
        <p:spPr>
          <a:xfrm>
            <a:off x="1371600" y="1426464"/>
            <a:ext cx="384048" cy="384048"/>
          </a:xfrm>
          <a:prstGeom prst="ellipse">
            <a:avLst/>
          </a:prstGeom>
          <a:solidFill>
            <a:srgbClr val="C99A3D"/>
          </a:solidFill>
          <a:ln w="12700">
            <a:solidFill>
              <a:srgbClr val="C99A3D"/>
            </a:solidFill>
            <a:prstDash val="solid"/>
          </a:ln>
        </p:spPr>
      </p:sp>
      <p:sp>
        <p:nvSpPr>
          <p:cNvPr id="9" name="d0_num"/>
          <p:cNvSpPr txBox="1"/>
          <p:nvPr/>
        </p:nvSpPr>
        <p:spPr>
          <a:xfrm>
            <a:off x="1371600" y="14264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1</a:t>
            </a:r>
            <a:endParaRPr lang="en-US" sz="1400" dirty="0"/>
          </a:p>
        </p:txBody>
      </p:sp>
      <p:sp>
        <p:nvSpPr>
          <p:cNvPr id="10" name="d0_q"/>
          <p:cNvSpPr txBox="1"/>
          <p:nvPr/>
        </p:nvSpPr>
        <p:spPr>
          <a:xfrm>
            <a:off x="1901952" y="1261872"/>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forest is cut down no faster than it regrows. State whether it is renewable.</a:t>
            </a:r>
            <a:endParaRPr lang="en-US" sz="1500" dirty="0"/>
          </a:p>
        </p:txBody>
      </p:sp>
      <p:sp>
        <p:nvSpPr>
          <p:cNvPr id="11" name="d0_a"/>
          <p:cNvSpPr/>
          <p:nvPr/>
        </p:nvSpPr>
        <p:spPr>
          <a:xfrm>
            <a:off x="1371600" y="2048256"/>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Yes. Renewable, because it is not used faster than it replaces itself.</a:t>
            </a:r>
            <a:endParaRPr lang="en-US" sz="1350" dirty="0"/>
          </a:p>
        </p:txBody>
      </p:sp>
      <p:sp>
        <p:nvSpPr>
          <p:cNvPr id="12" name="d1_bg"/>
          <p:cNvSpPr/>
          <p:nvPr/>
        </p:nvSpPr>
        <p:spPr>
          <a:xfrm>
            <a:off x="6543904" y="1133856"/>
            <a:ext cx="5099152" cy="1481328"/>
          </a:xfrm>
          <a:prstGeom prst="roundRect">
            <a:avLst>
              <a:gd name="adj" fmla="val 6173"/>
            </a:avLst>
          </a:prstGeom>
          <a:solidFill>
            <a:srgbClr val="FFFFFF"/>
          </a:solidFill>
          <a:ln w="16510">
            <a:solidFill>
              <a:srgbClr val="D9C9A8"/>
            </a:solidFill>
            <a:prstDash val="solid"/>
          </a:ln>
        </p:spPr>
      </p:sp>
      <p:sp>
        <p:nvSpPr>
          <p:cNvPr id="13" name="d1_badge"/>
          <p:cNvSpPr/>
          <p:nvPr/>
        </p:nvSpPr>
        <p:spPr>
          <a:xfrm>
            <a:off x="6745072" y="1426464"/>
            <a:ext cx="384048" cy="384048"/>
          </a:xfrm>
          <a:prstGeom prst="ellipse">
            <a:avLst/>
          </a:prstGeom>
          <a:solidFill>
            <a:srgbClr val="C99A3D"/>
          </a:solidFill>
          <a:ln w="12700">
            <a:solidFill>
              <a:srgbClr val="C99A3D"/>
            </a:solidFill>
            <a:prstDash val="solid"/>
          </a:ln>
        </p:spPr>
      </p:sp>
      <p:sp>
        <p:nvSpPr>
          <p:cNvPr id="14" name="d1_num"/>
          <p:cNvSpPr txBox="1"/>
          <p:nvPr/>
        </p:nvSpPr>
        <p:spPr>
          <a:xfrm>
            <a:off x="6745072" y="14264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2</a:t>
            </a:r>
            <a:endParaRPr lang="en-US" sz="1400" dirty="0"/>
          </a:p>
        </p:txBody>
      </p:sp>
      <p:sp>
        <p:nvSpPr>
          <p:cNvPr id="15" name="d1_q"/>
          <p:cNvSpPr txBox="1"/>
          <p:nvPr/>
        </p:nvSpPr>
        <p:spPr>
          <a:xfrm>
            <a:off x="7275424" y="1261872"/>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State roughly what happened to the number of cod off Newfoundland between 1962 and 1992.</a:t>
            </a:r>
            <a:endParaRPr lang="en-US" sz="1500" dirty="0"/>
          </a:p>
        </p:txBody>
      </p:sp>
      <p:sp>
        <p:nvSpPr>
          <p:cNvPr id="16" name="d1_a"/>
          <p:cNvSpPr/>
          <p:nvPr/>
        </p:nvSpPr>
        <p:spPr>
          <a:xfrm>
            <a:off x="6745072" y="2048256"/>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It collapsed, falling by about 93%.</a:t>
            </a:r>
            <a:endParaRPr lang="en-US" sz="1350" dirty="0"/>
          </a:p>
        </p:txBody>
      </p:sp>
      <p:sp>
        <p:nvSpPr>
          <p:cNvPr id="17" name="d2_bg"/>
          <p:cNvSpPr/>
          <p:nvPr/>
        </p:nvSpPr>
        <p:spPr>
          <a:xfrm>
            <a:off x="1170432" y="2798064"/>
            <a:ext cx="5099152" cy="1481328"/>
          </a:xfrm>
          <a:prstGeom prst="roundRect">
            <a:avLst>
              <a:gd name="adj" fmla="val 6173"/>
            </a:avLst>
          </a:prstGeom>
          <a:solidFill>
            <a:srgbClr val="FFFFFF"/>
          </a:solidFill>
          <a:ln w="16510">
            <a:solidFill>
              <a:srgbClr val="D9C9A8"/>
            </a:solidFill>
            <a:prstDash val="solid"/>
          </a:ln>
        </p:spPr>
      </p:sp>
      <p:sp>
        <p:nvSpPr>
          <p:cNvPr id="18" name="d2_badge"/>
          <p:cNvSpPr/>
          <p:nvPr/>
        </p:nvSpPr>
        <p:spPr>
          <a:xfrm>
            <a:off x="1371600" y="3090672"/>
            <a:ext cx="384048" cy="384048"/>
          </a:xfrm>
          <a:prstGeom prst="ellipse">
            <a:avLst/>
          </a:prstGeom>
          <a:solidFill>
            <a:srgbClr val="C99A3D"/>
          </a:solidFill>
          <a:ln w="12700">
            <a:solidFill>
              <a:srgbClr val="C99A3D"/>
            </a:solidFill>
            <a:prstDash val="solid"/>
          </a:ln>
        </p:spPr>
      </p:sp>
      <p:sp>
        <p:nvSpPr>
          <p:cNvPr id="19" name="d2_num"/>
          <p:cNvSpPr txBox="1"/>
          <p:nvPr/>
        </p:nvSpPr>
        <p:spPr>
          <a:xfrm>
            <a:off x="1371600" y="309067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3</a:t>
            </a:r>
            <a:endParaRPr lang="en-US" sz="1400" dirty="0"/>
          </a:p>
        </p:txBody>
      </p:sp>
      <p:sp>
        <p:nvSpPr>
          <p:cNvPr id="20" name="d2_q"/>
          <p:cNvSpPr txBox="1"/>
          <p:nvPr/>
        </p:nvSpPr>
        <p:spPr>
          <a:xfrm>
            <a:off x="1901952" y="2926080"/>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fish stock of 500,000 tonnes falls to 50,000 tonnes. Calculate the percentage decrease.</a:t>
            </a:r>
            <a:endParaRPr lang="en-US" sz="1500" dirty="0"/>
          </a:p>
        </p:txBody>
      </p:sp>
      <p:sp>
        <p:nvSpPr>
          <p:cNvPr id="21" name="d2_a"/>
          <p:cNvSpPr/>
          <p:nvPr/>
        </p:nvSpPr>
        <p:spPr>
          <a:xfrm>
            <a:off x="1371600" y="3712464"/>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90%. (500,000 − 50,000) ÷ 500,000 × 100.</a:t>
            </a:r>
            <a:endParaRPr lang="en-US" sz="1350" dirty="0"/>
          </a:p>
        </p:txBody>
      </p:sp>
      <p:sp>
        <p:nvSpPr>
          <p:cNvPr id="22" name="d3_bg"/>
          <p:cNvSpPr/>
          <p:nvPr/>
        </p:nvSpPr>
        <p:spPr>
          <a:xfrm>
            <a:off x="6543904" y="2798064"/>
            <a:ext cx="5099152" cy="1481328"/>
          </a:xfrm>
          <a:prstGeom prst="roundRect">
            <a:avLst>
              <a:gd name="adj" fmla="val 6173"/>
            </a:avLst>
          </a:prstGeom>
          <a:solidFill>
            <a:srgbClr val="FFFFFF"/>
          </a:solidFill>
          <a:ln w="16510">
            <a:solidFill>
              <a:srgbClr val="D9C9A8"/>
            </a:solidFill>
            <a:prstDash val="solid"/>
          </a:ln>
        </p:spPr>
      </p:sp>
      <p:sp>
        <p:nvSpPr>
          <p:cNvPr id="23" name="d3_badge"/>
          <p:cNvSpPr/>
          <p:nvPr/>
        </p:nvSpPr>
        <p:spPr>
          <a:xfrm>
            <a:off x="6745072" y="3090672"/>
            <a:ext cx="384048" cy="384048"/>
          </a:xfrm>
          <a:prstGeom prst="ellipse">
            <a:avLst/>
          </a:prstGeom>
          <a:solidFill>
            <a:srgbClr val="C99A3D"/>
          </a:solidFill>
          <a:ln w="12700">
            <a:solidFill>
              <a:srgbClr val="C99A3D"/>
            </a:solidFill>
            <a:prstDash val="solid"/>
          </a:ln>
        </p:spPr>
      </p:sp>
      <p:sp>
        <p:nvSpPr>
          <p:cNvPr id="24" name="d3_num"/>
          <p:cNvSpPr txBox="1"/>
          <p:nvPr/>
        </p:nvSpPr>
        <p:spPr>
          <a:xfrm>
            <a:off x="6745072" y="309067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4</a:t>
            </a:r>
            <a:endParaRPr lang="en-US" sz="1400" dirty="0"/>
          </a:p>
        </p:txBody>
      </p:sp>
      <p:sp>
        <p:nvSpPr>
          <p:cNvPr id="25" name="d3_q"/>
          <p:cNvSpPr txBox="1"/>
          <p:nvPr/>
        </p:nvSpPr>
        <p:spPr>
          <a:xfrm>
            <a:off x="7275424" y="2926080"/>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State why soil counts as non-renewable, even though new soil can form.</a:t>
            </a:r>
            <a:endParaRPr lang="en-US" sz="1500" dirty="0"/>
          </a:p>
        </p:txBody>
      </p:sp>
      <p:sp>
        <p:nvSpPr>
          <p:cNvPr id="26" name="d3_a"/>
          <p:cNvSpPr/>
          <p:nvPr/>
        </p:nvSpPr>
        <p:spPr>
          <a:xfrm>
            <a:off x="6745072" y="3712464"/>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It forms far slower than it is used or lost.</a:t>
            </a:r>
            <a:endParaRPr lang="en-US" sz="1350" dirty="0"/>
          </a:p>
        </p:txBody>
      </p:sp>
      <p:sp>
        <p:nvSpPr>
          <p:cNvPr id="27" name="d4_bg"/>
          <p:cNvSpPr/>
          <p:nvPr/>
        </p:nvSpPr>
        <p:spPr>
          <a:xfrm>
            <a:off x="1170432" y="4462272"/>
            <a:ext cx="5099152" cy="1481328"/>
          </a:xfrm>
          <a:prstGeom prst="roundRect">
            <a:avLst>
              <a:gd name="adj" fmla="val 6173"/>
            </a:avLst>
          </a:prstGeom>
          <a:solidFill>
            <a:srgbClr val="FFFFFF"/>
          </a:solidFill>
          <a:ln w="16510">
            <a:solidFill>
              <a:srgbClr val="D9C9A8"/>
            </a:solidFill>
            <a:prstDash val="solid"/>
          </a:ln>
        </p:spPr>
      </p:sp>
      <p:sp>
        <p:nvSpPr>
          <p:cNvPr id="28" name="d4_badge"/>
          <p:cNvSpPr/>
          <p:nvPr/>
        </p:nvSpPr>
        <p:spPr>
          <a:xfrm>
            <a:off x="1371600" y="4754880"/>
            <a:ext cx="384048" cy="384048"/>
          </a:xfrm>
          <a:prstGeom prst="ellipse">
            <a:avLst/>
          </a:prstGeom>
          <a:solidFill>
            <a:srgbClr val="C99A3D"/>
          </a:solidFill>
          <a:ln w="12700">
            <a:solidFill>
              <a:srgbClr val="C99A3D"/>
            </a:solidFill>
            <a:prstDash val="solid"/>
          </a:ln>
        </p:spPr>
      </p:sp>
      <p:sp>
        <p:nvSpPr>
          <p:cNvPr id="29" name="d4_num"/>
          <p:cNvSpPr txBox="1"/>
          <p:nvPr/>
        </p:nvSpPr>
        <p:spPr>
          <a:xfrm>
            <a:off x="1371600" y="4754880"/>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5</a:t>
            </a:r>
            <a:endParaRPr lang="en-US" sz="1400" dirty="0"/>
          </a:p>
        </p:txBody>
      </p:sp>
      <p:sp>
        <p:nvSpPr>
          <p:cNvPr id="30" name="d4_q"/>
          <p:cNvSpPr txBox="1"/>
          <p:nvPr/>
        </p:nvSpPr>
        <p:spPr>
          <a:xfrm>
            <a:off x="1901952" y="4590288"/>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Name one thing you, or your family, do to make a resource last longer.</a:t>
            </a:r>
            <a:endParaRPr lang="en-US" sz="1500" dirty="0"/>
          </a:p>
        </p:txBody>
      </p:sp>
      <p:sp>
        <p:nvSpPr>
          <p:cNvPr id="31" name="d4_a"/>
          <p:cNvSpPr/>
          <p:nvPr/>
        </p:nvSpPr>
        <p:spPr>
          <a:xfrm>
            <a:off x="1371600" y="5376672"/>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Any reasonable answer: recycling, turning off taps, using less.</a:t>
            </a:r>
            <a:endParaRPr lang="en-US" sz="1350" dirty="0"/>
          </a:p>
        </p:txBody>
      </p:sp>
      <p:sp>
        <p:nvSpPr>
          <p:cNvPr id="32" name="d5_bg"/>
          <p:cNvSpPr/>
          <p:nvPr/>
        </p:nvSpPr>
        <p:spPr>
          <a:xfrm>
            <a:off x="6543904" y="4462272"/>
            <a:ext cx="5099152" cy="1481328"/>
          </a:xfrm>
          <a:prstGeom prst="roundRect">
            <a:avLst>
              <a:gd name="adj" fmla="val 6173"/>
            </a:avLst>
          </a:prstGeom>
          <a:solidFill>
            <a:srgbClr val="FFFFFF"/>
          </a:solidFill>
          <a:ln w="16510">
            <a:solidFill>
              <a:srgbClr val="D9C9A8"/>
            </a:solidFill>
            <a:prstDash val="solid"/>
          </a:ln>
        </p:spPr>
      </p:sp>
      <p:sp>
        <p:nvSpPr>
          <p:cNvPr id="33" name="d5_badge"/>
          <p:cNvSpPr/>
          <p:nvPr/>
        </p:nvSpPr>
        <p:spPr>
          <a:xfrm>
            <a:off x="6745072" y="4754880"/>
            <a:ext cx="384048" cy="384048"/>
          </a:xfrm>
          <a:prstGeom prst="ellipse">
            <a:avLst/>
          </a:prstGeom>
          <a:solidFill>
            <a:srgbClr val="C99A3D"/>
          </a:solidFill>
          <a:ln w="12700">
            <a:solidFill>
              <a:srgbClr val="C99A3D"/>
            </a:solidFill>
            <a:prstDash val="solid"/>
          </a:ln>
        </p:spPr>
      </p:sp>
      <p:sp>
        <p:nvSpPr>
          <p:cNvPr id="34" name="d5_num"/>
          <p:cNvSpPr txBox="1"/>
          <p:nvPr/>
        </p:nvSpPr>
        <p:spPr>
          <a:xfrm>
            <a:off x="6745072" y="4754880"/>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6</a:t>
            </a:r>
            <a:endParaRPr lang="en-US" sz="1400" dirty="0"/>
          </a:p>
        </p:txBody>
      </p:sp>
      <p:sp>
        <p:nvSpPr>
          <p:cNvPr id="35" name="d5_q"/>
          <p:cNvSpPr txBox="1"/>
          <p:nvPr/>
        </p:nvSpPr>
        <p:spPr>
          <a:xfrm>
            <a:off x="7275424" y="4590288"/>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fishing boat catches fewer fish each year than the stock can replace. Predict what happens to the fish stock over time.</a:t>
            </a:r>
            <a:endParaRPr lang="en-US" sz="1500" dirty="0"/>
          </a:p>
        </p:txBody>
      </p:sp>
      <p:sp>
        <p:nvSpPr>
          <p:cNvPr id="36" name="d5_a"/>
          <p:cNvSpPr/>
          <p:nvPr/>
        </p:nvSpPr>
        <p:spPr>
          <a:xfrm>
            <a:off x="6745072" y="5376672"/>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It stays the same size, or grows.</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wipe(right)">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wipe(right)">
                                      <p:cBhvr>
                                        <p:cTn id="9" dur="4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right)">
                                      <p:cBhvr>
                                        <p:cTn id="14" dur="4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right)">
                                      <p:cBhvr>
                                        <p:cTn id="24" dur="4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right)">
                                      <p:cBhvr>
                                        <p:cTn id="2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713586"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TODAY · 1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Objectives</a:t>
            </a:r>
            <a:endParaRPr lang="en-US" sz="3000" dirty="0"/>
          </a:p>
        </p:txBody>
      </p:sp>
      <p:grpSp>
        <p:nvGrpSpPr>
          <p:cNvPr id="18" name="o0"/>
          <p:cNvGrpSpPr/>
          <p:nvPr/>
        </p:nvGrpSpPr>
        <p:grpSpPr>
          <a:xfrm>
            <a:off x="1170432" y="2194560"/>
            <a:ext cx="3307994" cy="1792224"/>
            <a:chOff x="1170432" y="2194560"/>
            <a:chExt cx="3307994" cy="1792224"/>
          </a:xfrm>
        </p:grpSpPr>
        <p:sp>
          <p:nvSpPr>
            <p:cNvPr id="5" name="o0_bg"/>
            <p:cNvSpPr/>
            <p:nvPr/>
          </p:nvSpPr>
          <p:spPr>
            <a:xfrm>
              <a:off x="1170432" y="2194560"/>
              <a:ext cx="3307994" cy="1792224"/>
            </a:xfrm>
            <a:prstGeom prst="roundRect">
              <a:avLst>
                <a:gd name="adj" fmla="val 5102"/>
              </a:avLst>
            </a:prstGeom>
            <a:solidFill>
              <a:srgbClr val="FFFFFF"/>
            </a:solidFill>
            <a:ln w="16510">
              <a:solidFill>
                <a:srgbClr val="D9C9A8"/>
              </a:solidFill>
              <a:prstDash val="solid"/>
            </a:ln>
          </p:spPr>
        </p:sp>
        <p:sp>
          <p:nvSpPr>
            <p:cNvPr id="6" name="o0_badge"/>
            <p:cNvSpPr/>
            <p:nvPr/>
          </p:nvSpPr>
          <p:spPr>
            <a:xfrm>
              <a:off x="1408176" y="2395728"/>
              <a:ext cx="384048" cy="384048"/>
            </a:xfrm>
            <a:prstGeom prst="ellipse">
              <a:avLst/>
            </a:prstGeom>
            <a:solidFill>
              <a:srgbClr val="C99A3D"/>
            </a:solidFill>
            <a:ln w="12700">
              <a:solidFill>
                <a:srgbClr val="C99A3D"/>
              </a:solidFill>
              <a:prstDash val="solid"/>
            </a:ln>
          </p:spPr>
        </p:sp>
        <p:sp>
          <p:nvSpPr>
            <p:cNvPr id="7" name="o0_num"/>
            <p:cNvSpPr txBox="1"/>
            <p:nvPr/>
          </p:nvSpPr>
          <p:spPr>
            <a:xfrm>
              <a:off x="1408176" y="2395728"/>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1</a:t>
              </a:r>
              <a:endParaRPr lang="en-US" sz="1400" dirty="0"/>
            </a:p>
          </p:txBody>
        </p:sp>
        <p:sp>
          <p:nvSpPr>
            <p:cNvPr id="8" name="o0_t"/>
            <p:cNvSpPr txBox="1"/>
            <p:nvPr/>
          </p:nvSpPr>
          <p:spPr>
            <a:xfrm>
              <a:off x="1408176" y="2907792"/>
              <a:ext cx="2832506" cy="914400"/>
            </a:xfrm>
            <a:prstGeom prst="rect">
              <a:avLst/>
            </a:prstGeom>
            <a:noFill/>
            <a:ln/>
          </p:spPr>
          <p:txBody>
            <a:bodyPr wrap="square" lIns="0" tIns="0" rIns="0" bIns="0" rtlCol="0" anchor="t"/>
            <a:lstStyle/>
            <a:p>
              <a:pPr indent="0" marL="0">
                <a:lnSpc>
                  <a:spcPts val="2000"/>
                </a:lnSpc>
                <a:buNone/>
              </a:pPr>
              <a:r>
                <a:rPr lang="en-US" sz="1550" b="1" dirty="0">
                  <a:solidFill>
                    <a:srgbClr val="2A1D14"/>
                  </a:solidFill>
                  <a:latin typeface="Arial" pitchFamily="34" charset="0"/>
                  <a:ea typeface="Arial" pitchFamily="34" charset="-122"/>
                  <a:cs typeface="Arial" pitchFamily="34" charset="-120"/>
                </a:rPr>
                <a:t>Explain what conservation means.</a:t>
              </a:r>
              <a:endParaRPr lang="en-US" sz="1550" dirty="0"/>
            </a:p>
          </p:txBody>
        </p:sp>
      </p:grpSp>
      <p:grpSp>
        <p:nvGrpSpPr>
          <p:cNvPr id="19" name="o1"/>
          <p:cNvGrpSpPr/>
          <p:nvPr/>
        </p:nvGrpSpPr>
        <p:grpSpPr>
          <a:xfrm>
            <a:off x="4752746" y="2194560"/>
            <a:ext cx="3307994" cy="1792224"/>
            <a:chOff x="4752746" y="2194560"/>
            <a:chExt cx="3307994" cy="1792224"/>
          </a:xfrm>
        </p:grpSpPr>
        <p:sp>
          <p:nvSpPr>
            <p:cNvPr id="9" name="o1_bg"/>
            <p:cNvSpPr/>
            <p:nvPr/>
          </p:nvSpPr>
          <p:spPr>
            <a:xfrm>
              <a:off x="4752746" y="2194560"/>
              <a:ext cx="3307994" cy="1792224"/>
            </a:xfrm>
            <a:prstGeom prst="roundRect">
              <a:avLst>
                <a:gd name="adj" fmla="val 5102"/>
              </a:avLst>
            </a:prstGeom>
            <a:solidFill>
              <a:srgbClr val="FFFFFF"/>
            </a:solidFill>
            <a:ln w="16510">
              <a:solidFill>
                <a:srgbClr val="D9C9A8"/>
              </a:solidFill>
              <a:prstDash val="solid"/>
            </a:ln>
          </p:spPr>
        </p:sp>
        <p:sp>
          <p:nvSpPr>
            <p:cNvPr id="10" name="o1_badge"/>
            <p:cNvSpPr/>
            <p:nvPr/>
          </p:nvSpPr>
          <p:spPr>
            <a:xfrm>
              <a:off x="4990490" y="2395728"/>
              <a:ext cx="384048" cy="384048"/>
            </a:xfrm>
            <a:prstGeom prst="ellipse">
              <a:avLst/>
            </a:prstGeom>
            <a:solidFill>
              <a:srgbClr val="C99A3D"/>
            </a:solidFill>
            <a:ln w="12700">
              <a:solidFill>
                <a:srgbClr val="C99A3D"/>
              </a:solidFill>
              <a:prstDash val="solid"/>
            </a:ln>
          </p:spPr>
        </p:sp>
        <p:sp>
          <p:nvSpPr>
            <p:cNvPr id="11" name="o1_num"/>
            <p:cNvSpPr txBox="1"/>
            <p:nvPr/>
          </p:nvSpPr>
          <p:spPr>
            <a:xfrm>
              <a:off x="4990490" y="2395728"/>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2</a:t>
              </a:r>
              <a:endParaRPr lang="en-US" sz="1400" dirty="0"/>
            </a:p>
          </p:txBody>
        </p:sp>
        <p:sp>
          <p:nvSpPr>
            <p:cNvPr id="12" name="o1_t"/>
            <p:cNvSpPr txBox="1"/>
            <p:nvPr/>
          </p:nvSpPr>
          <p:spPr>
            <a:xfrm>
              <a:off x="4990490" y="2907792"/>
              <a:ext cx="2832506" cy="914400"/>
            </a:xfrm>
            <a:prstGeom prst="rect">
              <a:avLst/>
            </a:prstGeom>
            <a:noFill/>
            <a:ln/>
          </p:spPr>
          <p:txBody>
            <a:bodyPr wrap="square" lIns="0" tIns="0" rIns="0" bIns="0" rtlCol="0" anchor="t"/>
            <a:lstStyle/>
            <a:p>
              <a:pPr indent="0" marL="0">
                <a:lnSpc>
                  <a:spcPts val="2000"/>
                </a:lnSpc>
                <a:buNone/>
              </a:pPr>
              <a:r>
                <a:rPr lang="en-US" sz="1550" b="1" dirty="0">
                  <a:solidFill>
                    <a:srgbClr val="2A1D14"/>
                  </a:solidFill>
                  <a:latin typeface="Arial" pitchFamily="34" charset="0"/>
                  <a:ea typeface="Arial" pitchFamily="34" charset="-122"/>
                  <a:cs typeface="Arial" pitchFamily="34" charset="-120"/>
                </a:rPr>
                <a:t>Explain what taking a sustainable amount means.</a:t>
              </a:r>
              <a:endParaRPr lang="en-US" sz="1550" dirty="0"/>
            </a:p>
          </p:txBody>
        </p:sp>
      </p:grpSp>
      <p:grpSp>
        <p:nvGrpSpPr>
          <p:cNvPr id="20" name="o2"/>
          <p:cNvGrpSpPr/>
          <p:nvPr/>
        </p:nvGrpSpPr>
        <p:grpSpPr>
          <a:xfrm>
            <a:off x="8335061" y="2194560"/>
            <a:ext cx="3307994" cy="1792224"/>
            <a:chOff x="8335061" y="2194560"/>
            <a:chExt cx="3307994" cy="1792224"/>
          </a:xfrm>
        </p:grpSpPr>
        <p:sp>
          <p:nvSpPr>
            <p:cNvPr id="13" name="o2_bg"/>
            <p:cNvSpPr/>
            <p:nvPr/>
          </p:nvSpPr>
          <p:spPr>
            <a:xfrm>
              <a:off x="8335061" y="2194560"/>
              <a:ext cx="3307994" cy="1792224"/>
            </a:xfrm>
            <a:prstGeom prst="roundRect">
              <a:avLst>
                <a:gd name="adj" fmla="val 5102"/>
              </a:avLst>
            </a:prstGeom>
            <a:solidFill>
              <a:srgbClr val="FFFFFF"/>
            </a:solidFill>
            <a:ln w="16510">
              <a:solidFill>
                <a:srgbClr val="D9C9A8"/>
              </a:solidFill>
              <a:prstDash val="solid"/>
            </a:ln>
          </p:spPr>
        </p:sp>
        <p:sp>
          <p:nvSpPr>
            <p:cNvPr id="14" name="o2_badge"/>
            <p:cNvSpPr/>
            <p:nvPr/>
          </p:nvSpPr>
          <p:spPr>
            <a:xfrm>
              <a:off x="8572805" y="2395728"/>
              <a:ext cx="384048" cy="384048"/>
            </a:xfrm>
            <a:prstGeom prst="ellipse">
              <a:avLst/>
            </a:prstGeom>
            <a:solidFill>
              <a:srgbClr val="C99A3D"/>
            </a:solidFill>
            <a:ln w="12700">
              <a:solidFill>
                <a:srgbClr val="C99A3D"/>
              </a:solidFill>
              <a:prstDash val="solid"/>
            </a:ln>
          </p:spPr>
        </p:sp>
        <p:sp>
          <p:nvSpPr>
            <p:cNvPr id="15" name="o2_num"/>
            <p:cNvSpPr txBox="1"/>
            <p:nvPr/>
          </p:nvSpPr>
          <p:spPr>
            <a:xfrm>
              <a:off x="8572805" y="2395728"/>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3</a:t>
              </a:r>
              <a:endParaRPr lang="en-US" sz="1400" dirty="0"/>
            </a:p>
          </p:txBody>
        </p:sp>
        <p:sp>
          <p:nvSpPr>
            <p:cNvPr id="16" name="o2_t"/>
            <p:cNvSpPr txBox="1"/>
            <p:nvPr/>
          </p:nvSpPr>
          <p:spPr>
            <a:xfrm>
              <a:off x="8572805" y="2907792"/>
              <a:ext cx="2832506" cy="914400"/>
            </a:xfrm>
            <a:prstGeom prst="rect">
              <a:avLst/>
            </a:prstGeom>
            <a:noFill/>
            <a:ln/>
          </p:spPr>
          <p:txBody>
            <a:bodyPr wrap="square" lIns="0" tIns="0" rIns="0" bIns="0" rtlCol="0" anchor="t"/>
            <a:lstStyle/>
            <a:p>
              <a:pPr indent="0" marL="0">
                <a:lnSpc>
                  <a:spcPts val="2000"/>
                </a:lnSpc>
                <a:buNone/>
              </a:pPr>
              <a:r>
                <a:rPr lang="en-US" sz="1550" b="1" dirty="0">
                  <a:solidFill>
                    <a:srgbClr val="2A1D14"/>
                  </a:solidFill>
                  <a:latin typeface="Arial" pitchFamily="34" charset="0"/>
                  <a:ea typeface="Arial" pitchFamily="34" charset="-122"/>
                  <a:cs typeface="Arial" pitchFamily="34" charset="-120"/>
                </a:rPr>
                <a:t>Describe two ways a resource is managed in practice.</a:t>
              </a:r>
              <a:endParaRPr lang="en-US" sz="1550" dirty="0"/>
            </a:p>
          </p:txBody>
        </p:sp>
      </p:grpSp>
      <p:sp>
        <p:nvSpPr>
          <p:cNvPr id="17" name="obj_banner"/>
          <p:cNvSpPr/>
          <p:nvPr/>
        </p:nvSpPr>
        <p:spPr>
          <a:xfrm>
            <a:off x="1170432" y="4279392"/>
            <a:ext cx="10472623" cy="640080"/>
          </a:xfrm>
          <a:prstGeom prst="roundRect">
            <a:avLst>
              <a:gd name="adj" fmla="val 17143"/>
            </a:avLst>
          </a:prstGeom>
          <a:solidFill>
            <a:srgbClr val="3D2B1F"/>
          </a:solidFill>
          <a:ln>
            <a:solidFill>
              <a:srgbClr val="3D2B1F"/>
            </a:solidFill>
          </a:ln>
        </p:spPr>
        <p:txBody>
          <a:bodyPr wrap="square" lIns="1524" tIns="1524" rIns="1524" bIns="1524" rtlCol="0" anchor="ctr"/>
          <a:lstStyle/>
          <a:p>
            <a:pPr algn="ctr" indent="0" marL="0">
              <a:lnSpc>
                <a:spcPts val="2200"/>
              </a:lnSpc>
              <a:buNone/>
            </a:pPr>
            <a:r>
              <a:rPr lang="en-US" sz="1700" b="1" dirty="0">
                <a:solidFill>
                  <a:srgbClr val="C99A3D"/>
                </a:solidFill>
                <a:latin typeface="Arial" pitchFamily="34" charset="0"/>
                <a:ea typeface="Arial" pitchFamily="34" charset="-122"/>
                <a:cs typeface="Arial" pitchFamily="34" charset="-120"/>
              </a:rPr>
              <a:t>Making a resource last means taking </a:t>
            </a:r>
            <a:pPr algn="ctr" indent="0" marL="0">
              <a:lnSpc>
                <a:spcPts val="2200"/>
              </a:lnSpc>
              <a:buNone/>
            </a:pPr>
            <a:r>
              <a:rPr lang="en-US" sz="1700" b="1" u="sng" dirty="0">
                <a:solidFill>
                  <a:srgbClr val="C99A3D"/>
                </a:solidFill>
                <a:latin typeface="Arial" pitchFamily="34" charset="0"/>
                <a:ea typeface="Arial" pitchFamily="34" charset="-122"/>
                <a:cs typeface="Arial" pitchFamily="34" charset="-120"/>
              </a:rPr>
              <a:t>no more than it can replace</a:t>
            </a:r>
            <a:pPr algn="ctr" indent="0" marL="0">
              <a:lnSpc>
                <a:spcPts val="2200"/>
              </a:lnSpc>
              <a:buNone/>
            </a:pPr>
            <a:r>
              <a:rPr lang="en-US" sz="1700" b="1" dirty="0">
                <a:solidFill>
                  <a:srgbClr val="C99A3D"/>
                </a:solidFill>
                <a:latin typeface="Arial" pitchFamily="34" charset="0"/>
                <a:ea typeface="Arial" pitchFamily="34" charset="-122"/>
                <a:cs typeface="Arial" pitchFamily="34" charset="-120"/>
              </a:rPr>
              <a: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1" presetID="23" presetClass="entr" presetSubtype="1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animScale>
                                      <p:cBhvr>
                                        <p:cTn id="20"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4" fill="hold" display="0">
                  <p:stCondLst>
                    <p:cond delay="0"/>
                  </p:stCondLst>
                  <p:endCondLst>
                    <p:cond evt="onStopAudio" delay="0">
                      <p:tgtEl>
                        <p:sldTgt/>
                      </p:tgtEl>
                    </p:cond>
                  </p:end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HOOK · 2 MIN</a:t>
            </a:r>
            <a:endParaRPr lang="en-US" sz="1100" dirty="0"/>
          </a:p>
        </p:txBody>
      </p:sp>
      <p:sp>
        <p:nvSpPr>
          <p:cNvPr id="4" name="slide_title"/>
          <p:cNvSpPr txBox="1"/>
          <p:nvPr/>
        </p:nvSpPr>
        <p:spPr>
          <a:xfrm>
            <a:off x="1170432" y="786384"/>
            <a:ext cx="9055303" cy="1188720"/>
          </a:xfrm>
          <a:prstGeom prst="rect">
            <a:avLst/>
          </a:prstGeom>
          <a:noFill/>
          <a:ln/>
        </p:spPr>
        <p:txBody>
          <a:bodyPr wrap="square" lIns="0" tIns="0" rIns="0" bIns="0" rtlCol="0" anchor="ctr"/>
          <a:lstStyle/>
          <a:p>
            <a:pPr indent="0" marL="0">
              <a:lnSpc>
                <a:spcPts val="2600"/>
              </a:lnSpc>
              <a:buNone/>
            </a:pPr>
            <a:r>
              <a:rPr lang="en-US" sz="2100" b="1" dirty="0">
                <a:solidFill>
                  <a:srgbClr val="3D2B1F"/>
                </a:solidFill>
                <a:latin typeface="Georgia" pitchFamily="34" charset="0"/>
                <a:ea typeface="Georgia" pitchFamily="34" charset="-122"/>
                <a:cs typeface="Georgia" pitchFamily="34" charset="-120"/>
              </a:rPr>
              <a:t>By the 1950s, about 450 humpback whales were left off the coast of Brazil. Hunting them was banned in 1986. About how many are there today?</a:t>
            </a:r>
            <a:endParaRPr lang="en-US" sz="2100" dirty="0"/>
          </a:p>
        </p:txBody>
      </p:sp>
      <p:pic>
        <p:nvPicPr>
          <p:cNvPr id="5" name="hook_whale" descr="/Users/chukanwobodo/Desktop/lesson-toolkit/assets/icons/whale_topsoil_accentInk.png">    </p:cNvPr>
          <p:cNvPicPr>
            <a:picLocks noChangeAspect="1"/>
          </p:cNvPicPr>
          <p:nvPr/>
        </p:nvPicPr>
        <p:blipFill>
          <a:blip r:embed="rId4"/>
          <a:stretch>
            <a:fillRect/>
          </a:stretch>
        </p:blipFill>
        <p:spPr>
          <a:xfrm>
            <a:off x="10362895" y="822960"/>
            <a:ext cx="1188720" cy="1188720"/>
          </a:xfrm>
          <a:prstGeom prst="rect">
            <a:avLst/>
          </a:prstGeom>
        </p:spPr>
      </p:pic>
      <p:grpSp>
        <p:nvGrpSpPr>
          <p:cNvPr id="15" name="h0"/>
          <p:cNvGrpSpPr/>
          <p:nvPr/>
        </p:nvGrpSpPr>
        <p:grpSpPr>
          <a:xfrm>
            <a:off x="1170432" y="2487168"/>
            <a:ext cx="3307994" cy="1828800"/>
            <a:chOff x="1170432" y="2487168"/>
            <a:chExt cx="3307994" cy="1828800"/>
          </a:xfrm>
        </p:grpSpPr>
        <p:sp>
          <p:nvSpPr>
            <p:cNvPr id="6" name="h0_bg"/>
            <p:cNvSpPr/>
            <p:nvPr/>
          </p:nvSpPr>
          <p:spPr>
            <a:xfrm>
              <a:off x="1170432" y="2487168"/>
              <a:ext cx="3307994" cy="1828800"/>
            </a:xfrm>
            <a:prstGeom prst="roundRect">
              <a:avLst>
                <a:gd name="adj" fmla="val 5000"/>
              </a:avLst>
            </a:prstGeom>
            <a:solidFill>
              <a:srgbClr val="FFFFFF"/>
            </a:solidFill>
            <a:ln w="16510">
              <a:solidFill>
                <a:srgbClr val="D9C9A8"/>
              </a:solidFill>
              <a:prstDash val="solid"/>
            </a:ln>
          </p:spPr>
        </p:sp>
        <p:sp>
          <p:nvSpPr>
            <p:cNvPr id="7" name="h0_k"/>
            <p:cNvSpPr txBox="1"/>
            <p:nvPr/>
          </p:nvSpPr>
          <p:spPr>
            <a:xfrm>
              <a:off x="1426464" y="2688336"/>
              <a:ext cx="548640" cy="457200"/>
            </a:xfrm>
            <a:prstGeom prst="rect">
              <a:avLst/>
            </a:prstGeom>
            <a:noFill/>
            <a:ln/>
          </p:spPr>
          <p:txBody>
            <a:bodyPr wrap="square" lIns="0" tIns="0" rIns="0" bIns="0" rtlCol="0" anchor="ctr"/>
            <a:lstStyle/>
            <a:p>
              <a:pPr indent="0" marL="0">
                <a:buNone/>
              </a:pPr>
              <a:r>
                <a:rPr lang="en-US" sz="2600" b="1" dirty="0">
                  <a:solidFill>
                    <a:srgbClr val="B5482E"/>
                  </a:solidFill>
                  <a:latin typeface="Georgia" pitchFamily="34" charset="0"/>
                  <a:ea typeface="Georgia" pitchFamily="34" charset="-122"/>
                  <a:cs typeface="Georgia" pitchFamily="34" charset="-120"/>
                </a:rPr>
                <a:t>A</a:t>
              </a:r>
              <a:endParaRPr lang="en-US" sz="2600" dirty="0"/>
            </a:p>
          </p:txBody>
        </p:sp>
        <p:sp>
          <p:nvSpPr>
            <p:cNvPr id="8" name="h0_t"/>
            <p:cNvSpPr txBox="1"/>
            <p:nvPr/>
          </p:nvSpPr>
          <p:spPr>
            <a:xfrm>
              <a:off x="1426464" y="3163824"/>
              <a:ext cx="2795930" cy="1005840"/>
            </a:xfrm>
            <a:prstGeom prst="rect">
              <a:avLst/>
            </a:prstGeom>
            <a:noFill/>
            <a:ln/>
          </p:spPr>
          <p:txBody>
            <a:bodyPr wrap="square" lIns="0" tIns="0" rIns="0" bIns="0" rtlCol="0" anchor="t"/>
            <a:lstStyle/>
            <a:p>
              <a:pPr indent="0" marL="0">
                <a:lnSpc>
                  <a:spcPts val="2300"/>
                </a:lnSpc>
                <a:buNone/>
              </a:pPr>
              <a:r>
                <a:rPr lang="en-US" sz="1800" b="1" dirty="0">
                  <a:solidFill>
                    <a:srgbClr val="3D2B1F"/>
                  </a:solidFill>
                  <a:latin typeface="Georgia" pitchFamily="34" charset="0"/>
                  <a:ea typeface="Georgia" pitchFamily="34" charset="-122"/>
                  <a:cs typeface="Georgia" pitchFamily="34" charset="-120"/>
                </a:rPr>
                <a:t>About 2,000</a:t>
              </a:r>
              <a:endParaRPr lang="en-US" sz="1800" dirty="0"/>
            </a:p>
          </p:txBody>
        </p:sp>
      </p:grpSp>
      <p:grpSp>
        <p:nvGrpSpPr>
          <p:cNvPr id="16" name="h1"/>
          <p:cNvGrpSpPr/>
          <p:nvPr/>
        </p:nvGrpSpPr>
        <p:grpSpPr>
          <a:xfrm>
            <a:off x="4752746" y="2487168"/>
            <a:ext cx="3307994" cy="1828800"/>
            <a:chOff x="4752746" y="2487168"/>
            <a:chExt cx="3307994" cy="1828800"/>
          </a:xfrm>
        </p:grpSpPr>
        <p:sp>
          <p:nvSpPr>
            <p:cNvPr id="9" name="h1_bg"/>
            <p:cNvSpPr/>
            <p:nvPr/>
          </p:nvSpPr>
          <p:spPr>
            <a:xfrm>
              <a:off x="4752746" y="2487168"/>
              <a:ext cx="3307994" cy="1828800"/>
            </a:xfrm>
            <a:prstGeom prst="roundRect">
              <a:avLst>
                <a:gd name="adj" fmla="val 5000"/>
              </a:avLst>
            </a:prstGeom>
            <a:solidFill>
              <a:srgbClr val="FFFFFF"/>
            </a:solidFill>
            <a:ln w="16510">
              <a:solidFill>
                <a:srgbClr val="D9C9A8"/>
              </a:solidFill>
              <a:prstDash val="solid"/>
            </a:ln>
          </p:spPr>
        </p:sp>
        <p:sp>
          <p:nvSpPr>
            <p:cNvPr id="10" name="h1_k"/>
            <p:cNvSpPr txBox="1"/>
            <p:nvPr/>
          </p:nvSpPr>
          <p:spPr>
            <a:xfrm>
              <a:off x="5008778" y="2688336"/>
              <a:ext cx="548640" cy="457200"/>
            </a:xfrm>
            <a:prstGeom prst="rect">
              <a:avLst/>
            </a:prstGeom>
            <a:noFill/>
            <a:ln/>
          </p:spPr>
          <p:txBody>
            <a:bodyPr wrap="square" lIns="0" tIns="0" rIns="0" bIns="0" rtlCol="0" anchor="ctr"/>
            <a:lstStyle/>
            <a:p>
              <a:pPr indent="0" marL="0">
                <a:buNone/>
              </a:pPr>
              <a:r>
                <a:rPr lang="en-US" sz="2600" b="1" dirty="0">
                  <a:solidFill>
                    <a:srgbClr val="B5482E"/>
                  </a:solidFill>
                  <a:latin typeface="Georgia" pitchFamily="34" charset="0"/>
                  <a:ea typeface="Georgia" pitchFamily="34" charset="-122"/>
                  <a:cs typeface="Georgia" pitchFamily="34" charset="-120"/>
                </a:rPr>
                <a:t>B</a:t>
              </a:r>
              <a:endParaRPr lang="en-US" sz="2600" dirty="0"/>
            </a:p>
          </p:txBody>
        </p:sp>
        <p:sp>
          <p:nvSpPr>
            <p:cNvPr id="11" name="h1_t"/>
            <p:cNvSpPr txBox="1"/>
            <p:nvPr/>
          </p:nvSpPr>
          <p:spPr>
            <a:xfrm>
              <a:off x="5008778" y="3163824"/>
              <a:ext cx="2795930" cy="1005840"/>
            </a:xfrm>
            <a:prstGeom prst="rect">
              <a:avLst/>
            </a:prstGeom>
            <a:noFill/>
            <a:ln/>
          </p:spPr>
          <p:txBody>
            <a:bodyPr wrap="square" lIns="0" tIns="0" rIns="0" bIns="0" rtlCol="0" anchor="t"/>
            <a:lstStyle/>
            <a:p>
              <a:pPr indent="0" marL="0">
                <a:lnSpc>
                  <a:spcPts val="2300"/>
                </a:lnSpc>
                <a:buNone/>
              </a:pPr>
              <a:r>
                <a:rPr lang="en-US" sz="1800" b="1" dirty="0">
                  <a:solidFill>
                    <a:srgbClr val="3D2B1F"/>
                  </a:solidFill>
                  <a:latin typeface="Georgia" pitchFamily="34" charset="0"/>
                  <a:ea typeface="Georgia" pitchFamily="34" charset="-122"/>
                  <a:cs typeface="Georgia" pitchFamily="34" charset="-120"/>
                </a:rPr>
                <a:t>About 25,000</a:t>
              </a:r>
              <a:endParaRPr lang="en-US" sz="1800" dirty="0"/>
            </a:p>
          </p:txBody>
        </p:sp>
      </p:grpSp>
      <p:grpSp>
        <p:nvGrpSpPr>
          <p:cNvPr id="17" name="h2"/>
          <p:cNvGrpSpPr/>
          <p:nvPr/>
        </p:nvGrpSpPr>
        <p:grpSpPr>
          <a:xfrm>
            <a:off x="8335061" y="2487168"/>
            <a:ext cx="3307994" cy="1828800"/>
            <a:chOff x="8335061" y="2487168"/>
            <a:chExt cx="3307994" cy="1828800"/>
          </a:xfrm>
        </p:grpSpPr>
        <p:sp>
          <p:nvSpPr>
            <p:cNvPr id="12" name="h2_bg"/>
            <p:cNvSpPr/>
            <p:nvPr/>
          </p:nvSpPr>
          <p:spPr>
            <a:xfrm>
              <a:off x="8335061" y="2487168"/>
              <a:ext cx="3307994" cy="1828800"/>
            </a:xfrm>
            <a:prstGeom prst="roundRect">
              <a:avLst>
                <a:gd name="adj" fmla="val 5000"/>
              </a:avLst>
            </a:prstGeom>
            <a:solidFill>
              <a:srgbClr val="FFFFFF"/>
            </a:solidFill>
            <a:ln w="16510">
              <a:solidFill>
                <a:srgbClr val="D9C9A8"/>
              </a:solidFill>
              <a:prstDash val="solid"/>
            </a:ln>
          </p:spPr>
        </p:sp>
        <p:sp>
          <p:nvSpPr>
            <p:cNvPr id="13" name="h2_k"/>
            <p:cNvSpPr txBox="1"/>
            <p:nvPr/>
          </p:nvSpPr>
          <p:spPr>
            <a:xfrm>
              <a:off x="8591093" y="2688336"/>
              <a:ext cx="548640" cy="457200"/>
            </a:xfrm>
            <a:prstGeom prst="rect">
              <a:avLst/>
            </a:prstGeom>
            <a:noFill/>
            <a:ln/>
          </p:spPr>
          <p:txBody>
            <a:bodyPr wrap="square" lIns="0" tIns="0" rIns="0" bIns="0" rtlCol="0" anchor="ctr"/>
            <a:lstStyle/>
            <a:p>
              <a:pPr indent="0" marL="0">
                <a:buNone/>
              </a:pPr>
              <a:r>
                <a:rPr lang="en-US" sz="2600" b="1" dirty="0">
                  <a:solidFill>
                    <a:srgbClr val="B5482E"/>
                  </a:solidFill>
                  <a:latin typeface="Georgia" pitchFamily="34" charset="0"/>
                  <a:ea typeface="Georgia" pitchFamily="34" charset="-122"/>
                  <a:cs typeface="Georgia" pitchFamily="34" charset="-120"/>
                </a:rPr>
                <a:t>C</a:t>
              </a:r>
              <a:endParaRPr lang="en-US" sz="2600" dirty="0"/>
            </a:p>
          </p:txBody>
        </p:sp>
        <p:sp>
          <p:nvSpPr>
            <p:cNvPr id="14" name="h2_t"/>
            <p:cNvSpPr txBox="1"/>
            <p:nvPr/>
          </p:nvSpPr>
          <p:spPr>
            <a:xfrm>
              <a:off x="8591093" y="3163824"/>
              <a:ext cx="2795930" cy="1005840"/>
            </a:xfrm>
            <a:prstGeom prst="rect">
              <a:avLst/>
            </a:prstGeom>
            <a:noFill/>
            <a:ln/>
          </p:spPr>
          <p:txBody>
            <a:bodyPr wrap="square" lIns="0" tIns="0" rIns="0" bIns="0" rtlCol="0" anchor="t"/>
            <a:lstStyle/>
            <a:p>
              <a:pPr indent="0" marL="0">
                <a:lnSpc>
                  <a:spcPts val="2300"/>
                </a:lnSpc>
                <a:buNone/>
              </a:pPr>
              <a:r>
                <a:rPr lang="en-US" sz="1800" b="1" dirty="0">
                  <a:solidFill>
                    <a:srgbClr val="3D2B1F"/>
                  </a:solidFill>
                  <a:latin typeface="Georgia" pitchFamily="34" charset="0"/>
                  <a:ea typeface="Georgia" pitchFamily="34" charset="-122"/>
                  <a:cs typeface="Georgia" pitchFamily="34" charset="-120"/>
                </a:rPr>
                <a:t>About 100,000</a:t>
              </a:r>
              <a:endParaRPr lang="en-US" sz="18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400"/>
                                        <p:tgtEl>
                                          <p:spTgt spid="15"/>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11" presetID="10" presetClass="entr" presetSubtype="0" fill="hold" grpId="0"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4" fill="hold" display="0">
                  <p:stCondLst>
                    <p:cond delay="0"/>
                  </p:stCondLst>
                  <p:endCondLst>
                    <p:cond evt="onStopAudio" delay="0">
                      <p:tgtEl>
                        <p:sldTgt/>
                      </p:tgtEl>
                    </p:cond>
                  </p:end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I DO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Conservation</a:t>
            </a:r>
            <a:endParaRPr lang="en-US" sz="3000" dirty="0"/>
          </a:p>
        </p:txBody>
      </p:sp>
      <p:grpSp>
        <p:nvGrpSpPr>
          <p:cNvPr id="15" name="def"/>
          <p:cNvGrpSpPr/>
          <p:nvPr/>
        </p:nvGrpSpPr>
        <p:grpSpPr>
          <a:xfrm>
            <a:off x="1170432" y="1920240"/>
            <a:ext cx="10472623" cy="914400"/>
            <a:chOff x="1170432" y="1920240"/>
            <a:chExt cx="10472623" cy="914400"/>
          </a:xfrm>
        </p:grpSpPr>
        <p:sp>
          <p:nvSpPr>
            <p:cNvPr id="5" name="def_bg"/>
            <p:cNvSpPr/>
            <p:nvPr/>
          </p:nvSpPr>
          <p:spPr>
            <a:xfrm>
              <a:off x="1170432" y="1920240"/>
              <a:ext cx="10472623" cy="914400"/>
            </a:xfrm>
            <a:prstGeom prst="roundRect">
              <a:avLst>
                <a:gd name="adj" fmla="val 10000"/>
              </a:avLst>
            </a:prstGeom>
            <a:solidFill>
              <a:srgbClr val="FFFFFF"/>
            </a:solidFill>
            <a:ln w="16510">
              <a:solidFill>
                <a:srgbClr val="D9C9A8"/>
              </a:solidFill>
              <a:prstDash val="solid"/>
            </a:ln>
          </p:spPr>
        </p:sp>
        <p:sp>
          <p:nvSpPr>
            <p:cNvPr id="6" name="def_t"/>
            <p:cNvSpPr txBox="1"/>
            <p:nvPr/>
          </p:nvSpPr>
          <p:spPr>
            <a:xfrm>
              <a:off x="1444752" y="1920240"/>
              <a:ext cx="9923983" cy="914400"/>
            </a:xfrm>
            <a:prstGeom prst="rect">
              <a:avLst/>
            </a:prstGeom>
            <a:noFill/>
            <a:ln/>
          </p:spPr>
          <p:txBody>
            <a:bodyPr wrap="square" lIns="0" tIns="0" rIns="0" bIns="0" rtlCol="0" anchor="ctr"/>
            <a:lstStyle/>
            <a:p>
              <a:pPr indent="0" marL="0">
                <a:lnSpc>
                  <a:spcPts val="2100"/>
                </a:lnSpc>
                <a:buNone/>
              </a:pPr>
              <a:r>
                <a:rPr lang="en-US" sz="1650" dirty="0">
                  <a:solidFill>
                    <a:srgbClr val="2A1D14"/>
                  </a:solidFill>
                  <a:latin typeface="Arial" pitchFamily="34" charset="0"/>
                  <a:ea typeface="Arial" pitchFamily="34" charset="-122"/>
                  <a:cs typeface="Arial" pitchFamily="34" charset="-120"/>
                </a:rPr>
                <a:t>Conservation means protecting and managing a resource carefully, so it is </a:t>
              </a:r>
              <a:pPr indent="0" marL="0">
                <a:lnSpc>
                  <a:spcPts val="2100"/>
                </a:lnSpc>
                <a:buNone/>
              </a:pPr>
              <a:r>
                <a:rPr lang="en-US" sz="1650" b="1" dirty="0">
                  <a:solidFill>
                    <a:srgbClr val="8F6D2A"/>
                  </a:solidFill>
                  <a:latin typeface="Arial" pitchFamily="34" charset="0"/>
                  <a:ea typeface="Arial" pitchFamily="34" charset="-122"/>
                  <a:cs typeface="Arial" pitchFamily="34" charset="-120"/>
                </a:rPr>
                <a:t>still available in the future</a:t>
              </a:r>
              <a:pPr indent="0" marL="0">
                <a:lnSpc>
                  <a:spcPts val="2100"/>
                </a:lnSpc>
                <a:buNone/>
              </a:pPr>
              <a:r>
                <a:rPr lang="en-US" sz="1650" dirty="0">
                  <a:solidFill>
                    <a:srgbClr val="2A1D14"/>
                  </a:solidFill>
                  <a:latin typeface="Arial" pitchFamily="34" charset="0"/>
                  <a:ea typeface="Arial" pitchFamily="34" charset="-122"/>
                  <a:cs typeface="Arial" pitchFamily="34" charset="-120"/>
                </a:rPr>
                <a:t>.</a:t>
              </a:r>
              <a:endParaRPr lang="en-US" sz="1650" dirty="0"/>
            </a:p>
          </p:txBody>
        </p:sp>
      </p:grpSp>
      <p:grpSp>
        <p:nvGrpSpPr>
          <p:cNvPr id="16" name="whg"/>
          <p:cNvGrpSpPr/>
          <p:nvPr/>
        </p:nvGrpSpPr>
        <p:grpSpPr>
          <a:xfrm>
            <a:off x="1170432" y="3054096"/>
            <a:ext cx="5099152" cy="1645920"/>
            <a:chOff x="1170432" y="3054096"/>
            <a:chExt cx="5099152" cy="1645920"/>
          </a:xfrm>
        </p:grpSpPr>
        <p:sp>
          <p:nvSpPr>
            <p:cNvPr id="7" name="wh_bg"/>
            <p:cNvSpPr/>
            <p:nvPr/>
          </p:nvSpPr>
          <p:spPr>
            <a:xfrm>
              <a:off x="1170432" y="3054096"/>
              <a:ext cx="5099152" cy="1645920"/>
            </a:xfrm>
            <a:prstGeom prst="roundRect">
              <a:avLst>
                <a:gd name="adj" fmla="val 5556"/>
              </a:avLst>
            </a:prstGeom>
            <a:solidFill>
              <a:srgbClr val="FFFFFF"/>
            </a:solidFill>
            <a:ln w="16510">
              <a:solidFill>
                <a:srgbClr val="D9C9A8"/>
              </a:solidFill>
              <a:prstDash val="solid"/>
            </a:ln>
          </p:spPr>
        </p:sp>
        <p:pic>
          <p:nvPicPr>
            <p:cNvPr id="8" name="wh_icon" descr="/Users/chukanwobodo/Desktop/lesson-toolkit/assets/icons/whale_topsoil_accentInk.png">    </p:cNvPr>
            <p:cNvPicPr>
              <a:picLocks noChangeAspect="1"/>
            </p:cNvPicPr>
            <p:nvPr/>
          </p:nvPicPr>
          <p:blipFill>
            <a:blip r:embed="rId4"/>
            <a:stretch>
              <a:fillRect/>
            </a:stretch>
          </p:blipFill>
          <p:spPr>
            <a:xfrm>
              <a:off x="5702656" y="3200400"/>
              <a:ext cx="384048" cy="384048"/>
            </a:xfrm>
            <a:prstGeom prst="rect">
              <a:avLst/>
            </a:prstGeom>
          </p:spPr>
        </p:pic>
        <p:sp>
          <p:nvSpPr>
            <p:cNvPr id="9" name="wh_h"/>
            <p:cNvSpPr txBox="1"/>
            <p:nvPr/>
          </p:nvSpPr>
          <p:spPr>
            <a:xfrm>
              <a:off x="1389888" y="3200400"/>
              <a:ext cx="4276192" cy="310896"/>
            </a:xfrm>
            <a:prstGeom prst="rect">
              <a:avLst/>
            </a:prstGeom>
            <a:noFill/>
            <a:ln/>
          </p:spPr>
          <p:txBody>
            <a:bodyPr wrap="square" lIns="0" tIns="0" rIns="0" bIns="0" rtlCol="0" anchor="ctr"/>
            <a:lstStyle/>
            <a:p>
              <a:pPr indent="0" marL="0">
                <a:buNone/>
              </a:pPr>
              <a:r>
                <a:rPr lang="en-US" sz="1300" b="1" spc="100" kern="0" dirty="0">
                  <a:solidFill>
                    <a:srgbClr val="3D2B1F"/>
                  </a:solidFill>
                  <a:latin typeface="Georgia" pitchFamily="34" charset="0"/>
                  <a:ea typeface="Georgia" pitchFamily="34" charset="-122"/>
                  <a:cs typeface="Georgia" pitchFamily="34" charset="-120"/>
                </a:rPr>
                <a:t>WHAT WORKED FOR THE WHALES</a:t>
              </a:r>
              <a:endParaRPr lang="en-US" sz="1300" dirty="0"/>
            </a:p>
          </p:txBody>
        </p:sp>
        <p:sp>
          <p:nvSpPr>
            <p:cNvPr id="10" name="wh_t"/>
            <p:cNvSpPr txBox="1"/>
            <p:nvPr/>
          </p:nvSpPr>
          <p:spPr>
            <a:xfrm>
              <a:off x="1389888" y="3566160"/>
              <a:ext cx="4660240" cy="1005840"/>
            </a:xfrm>
            <a:prstGeom prst="rect">
              <a:avLst/>
            </a:prstGeom>
            <a:noFill/>
            <a:ln/>
          </p:spPr>
          <p:txBody>
            <a:bodyPr wrap="square" lIns="0" tIns="0" rIns="0" bIns="0" rtlCol="0" anchor="t"/>
            <a:lstStyle/>
            <a:p>
              <a:pPr indent="0" marL="0">
                <a:lnSpc>
                  <a:spcPts val="1700"/>
                </a:lnSpc>
                <a:buNone/>
              </a:pPr>
              <a:r>
                <a:rPr lang="en-US" sz="1300" dirty="0">
                  <a:solidFill>
                    <a:srgbClr val="2A1D14"/>
                  </a:solidFill>
                  <a:latin typeface="Arial" pitchFamily="34" charset="0"/>
                  <a:ea typeface="Arial" pitchFamily="34" charset="-122"/>
                  <a:cs typeface="Arial" pitchFamily="34" charset="-120"/>
                </a:rPr>
                <a:t>Hunting was banned, internationally, before the population hit zero. With nothing taking whales out, the population could grow back on its own.</a:t>
              </a:r>
              <a:endParaRPr lang="en-US" sz="1300" dirty="0"/>
            </a:p>
          </p:txBody>
        </p:sp>
      </p:grpSp>
      <p:grpSp>
        <p:nvGrpSpPr>
          <p:cNvPr id="17" name="cog"/>
          <p:cNvGrpSpPr/>
          <p:nvPr/>
        </p:nvGrpSpPr>
        <p:grpSpPr>
          <a:xfrm>
            <a:off x="6543904" y="3054096"/>
            <a:ext cx="5099152" cy="1645920"/>
            <a:chOff x="6543904" y="3054096"/>
            <a:chExt cx="5099152" cy="1645920"/>
          </a:xfrm>
        </p:grpSpPr>
        <p:sp>
          <p:nvSpPr>
            <p:cNvPr id="11" name="co_bg"/>
            <p:cNvSpPr/>
            <p:nvPr/>
          </p:nvSpPr>
          <p:spPr>
            <a:xfrm>
              <a:off x="6543904" y="3054096"/>
              <a:ext cx="5099152" cy="1645920"/>
            </a:xfrm>
            <a:prstGeom prst="roundRect">
              <a:avLst>
                <a:gd name="adj" fmla="val 5556"/>
              </a:avLst>
            </a:prstGeom>
            <a:solidFill>
              <a:srgbClr val="FFFFFF"/>
            </a:solidFill>
            <a:ln w="16510">
              <a:solidFill>
                <a:srgbClr val="D9C9A8"/>
              </a:solidFill>
              <a:prstDash val="solid"/>
            </a:ln>
          </p:spPr>
        </p:sp>
        <p:pic>
          <p:nvPicPr>
            <p:cNvPr id="12" name="co_icon" descr="/Users/chukanwobodo/Desktop/lesson-toolkit/assets/icons/fish_topsoil_accentInk.png">    </p:cNvPr>
            <p:cNvPicPr>
              <a:picLocks noChangeAspect="1"/>
            </p:cNvPicPr>
            <p:nvPr/>
          </p:nvPicPr>
          <p:blipFill>
            <a:blip r:embed="rId5"/>
            <a:stretch>
              <a:fillRect/>
            </a:stretch>
          </p:blipFill>
          <p:spPr>
            <a:xfrm>
              <a:off x="11076127" y="3200400"/>
              <a:ext cx="384048" cy="384048"/>
            </a:xfrm>
            <a:prstGeom prst="rect">
              <a:avLst/>
            </a:prstGeom>
          </p:spPr>
        </p:pic>
        <p:sp>
          <p:nvSpPr>
            <p:cNvPr id="13" name="co_h"/>
            <p:cNvSpPr txBox="1"/>
            <p:nvPr/>
          </p:nvSpPr>
          <p:spPr>
            <a:xfrm>
              <a:off x="6763360" y="3200400"/>
              <a:ext cx="4276192" cy="310896"/>
            </a:xfrm>
            <a:prstGeom prst="rect">
              <a:avLst/>
            </a:prstGeom>
            <a:noFill/>
            <a:ln/>
          </p:spPr>
          <p:txBody>
            <a:bodyPr wrap="square" lIns="0" tIns="0" rIns="0" bIns="0" rtlCol="0" anchor="ctr"/>
            <a:lstStyle/>
            <a:p>
              <a:pPr indent="0" marL="0">
                <a:buNone/>
              </a:pPr>
              <a:r>
                <a:rPr lang="en-US" sz="1300" b="1" spc="100" kern="0" dirty="0">
                  <a:solidFill>
                    <a:srgbClr val="3D2B1F"/>
                  </a:solidFill>
                  <a:latin typeface="Georgia" pitchFamily="34" charset="0"/>
                  <a:ea typeface="Georgia" pitchFamily="34" charset="-122"/>
                  <a:cs typeface="Georgia" pitchFamily="34" charset="-120"/>
                </a:rPr>
                <a:t>WHAT DID NOT HAPPEN FOR COD</a:t>
              </a:r>
              <a:endParaRPr lang="en-US" sz="1300" dirty="0"/>
            </a:p>
          </p:txBody>
        </p:sp>
        <p:sp>
          <p:nvSpPr>
            <p:cNvPr id="14" name="co_t"/>
            <p:cNvSpPr txBox="1"/>
            <p:nvPr/>
          </p:nvSpPr>
          <p:spPr>
            <a:xfrm>
              <a:off x="6763360" y="3566160"/>
              <a:ext cx="4660240" cy="1005840"/>
            </a:xfrm>
            <a:prstGeom prst="rect">
              <a:avLst/>
            </a:prstGeom>
            <a:noFill/>
            <a:ln/>
          </p:spPr>
          <p:txBody>
            <a:bodyPr wrap="square" lIns="0" tIns="0" rIns="0" bIns="0" rtlCol="0" anchor="t"/>
            <a:lstStyle/>
            <a:p>
              <a:pPr indent="0" marL="0">
                <a:lnSpc>
                  <a:spcPts val="1700"/>
                </a:lnSpc>
                <a:buNone/>
              </a:pPr>
              <a:r>
                <a:rPr lang="en-US" sz="1300" dirty="0">
                  <a:solidFill>
                    <a:srgbClr val="2A1D14"/>
                  </a:solidFill>
                  <a:latin typeface="Arial" pitchFamily="34" charset="0"/>
                  <a:ea typeface="Arial" pitchFamily="34" charset="-122"/>
                  <a:cs typeface="Arial" pitchFamily="34" charset="-120"/>
                </a:rPr>
                <a:t>Fishing was not limited early enough. By the time it stopped completely, in 1992, there was very little stock left to regrow from.</a:t>
              </a:r>
              <a:endParaRPr lang="en-US" sz="13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4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8" fill="hold" display="0">
                  <p:stCondLst>
                    <p:cond delay="0"/>
                  </p:stCondLst>
                  <p:endCondLst>
                    <p:cond evt="onStopAudio" delay="0">
                      <p:tgtEl>
                        <p:sldTgt/>
                      </p:tgtEl>
                    </p:cond>
                  </p:end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I DO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Taking a sustainable amount</a:t>
            </a:r>
            <a:endParaRPr lang="en-US" sz="3000" dirty="0"/>
          </a:p>
        </p:txBody>
      </p:sp>
      <p:grpSp>
        <p:nvGrpSpPr>
          <p:cNvPr id="10" name="sdef"/>
          <p:cNvGrpSpPr/>
          <p:nvPr/>
        </p:nvGrpSpPr>
        <p:grpSpPr>
          <a:xfrm>
            <a:off x="1170432" y="1920240"/>
            <a:ext cx="10472623" cy="914400"/>
            <a:chOff x="1170432" y="1920240"/>
            <a:chExt cx="10472623" cy="914400"/>
          </a:xfrm>
        </p:grpSpPr>
        <p:sp>
          <p:nvSpPr>
            <p:cNvPr id="5" name="sdef_bg"/>
            <p:cNvSpPr/>
            <p:nvPr/>
          </p:nvSpPr>
          <p:spPr>
            <a:xfrm>
              <a:off x="1170432" y="1920240"/>
              <a:ext cx="10472623" cy="914400"/>
            </a:xfrm>
            <a:prstGeom prst="roundRect">
              <a:avLst>
                <a:gd name="adj" fmla="val 10000"/>
              </a:avLst>
            </a:prstGeom>
            <a:solidFill>
              <a:srgbClr val="FFFFFF"/>
            </a:solidFill>
            <a:ln w="16510">
              <a:solidFill>
                <a:srgbClr val="D9C9A8"/>
              </a:solidFill>
              <a:prstDash val="solid"/>
            </a:ln>
          </p:spPr>
        </p:sp>
        <p:sp>
          <p:nvSpPr>
            <p:cNvPr id="6" name="sdef_t"/>
            <p:cNvSpPr txBox="1"/>
            <p:nvPr/>
          </p:nvSpPr>
          <p:spPr>
            <a:xfrm>
              <a:off x="1444752" y="1920240"/>
              <a:ext cx="9923983" cy="91440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A sustainable amount is </a:t>
              </a:r>
              <a:pPr indent="0" marL="0">
                <a:lnSpc>
                  <a:spcPts val="2000"/>
                </a:lnSpc>
                <a:buNone/>
              </a:pPr>
              <a:r>
                <a:rPr lang="en-US" sz="1600" b="1" dirty="0">
                  <a:solidFill>
                    <a:srgbClr val="8F6D2A"/>
                  </a:solidFill>
                  <a:latin typeface="Arial" pitchFamily="34" charset="0"/>
                  <a:ea typeface="Arial" pitchFamily="34" charset="-122"/>
                  <a:cs typeface="Arial" pitchFamily="34" charset="-120"/>
                </a:rPr>
                <a:t>no more than the resource can naturally replace</a:t>
              </a:r>
              <a:pPr indent="0" marL="0">
                <a:lnSpc>
                  <a:spcPts val="2000"/>
                </a:lnSpc>
                <a:buNone/>
              </a:pPr>
              <a:r>
                <a:rPr lang="en-US" sz="1600" dirty="0">
                  <a:solidFill>
                    <a:srgbClr val="2A1D14"/>
                  </a:solidFill>
                  <a:latin typeface="Arial" pitchFamily="34" charset="0"/>
                  <a:ea typeface="Arial" pitchFamily="34" charset="-122"/>
                  <a:cs typeface="Arial" pitchFamily="34" charset="-120"/>
                </a:rPr>
                <a:t>. The stock does not shrink.</a:t>
              </a:r>
              <a:endParaRPr lang="en-US" sz="1600" dirty="0"/>
            </a:p>
          </p:txBody>
        </p:sp>
      </p:grpSp>
      <p:grpSp>
        <p:nvGrpSpPr>
          <p:cNvPr id="11" name="calcg"/>
          <p:cNvGrpSpPr/>
          <p:nvPr/>
        </p:nvGrpSpPr>
        <p:grpSpPr>
          <a:xfrm>
            <a:off x="1170432" y="3054096"/>
            <a:ext cx="10472623" cy="1645920"/>
            <a:chOff x="1170432" y="3054096"/>
            <a:chExt cx="10472623" cy="1645920"/>
          </a:xfrm>
        </p:grpSpPr>
        <p:sp>
          <p:nvSpPr>
            <p:cNvPr id="7" name="calc_bg"/>
            <p:cNvSpPr/>
            <p:nvPr/>
          </p:nvSpPr>
          <p:spPr>
            <a:xfrm>
              <a:off x="1170432" y="3054096"/>
              <a:ext cx="10472623" cy="1645920"/>
            </a:xfrm>
            <a:prstGeom prst="roundRect">
              <a:avLst>
                <a:gd name="adj" fmla="val 5556"/>
              </a:avLst>
            </a:prstGeom>
            <a:solidFill>
              <a:srgbClr val="FFFFFF"/>
            </a:solidFill>
            <a:ln w="16510">
              <a:solidFill>
                <a:srgbClr val="D9C9A8"/>
              </a:solidFill>
              <a:prstDash val="solid"/>
            </a:ln>
          </p:spPr>
        </p:sp>
        <p:sp>
          <p:nvSpPr>
            <p:cNvPr id="8" name="calc_h"/>
            <p:cNvSpPr txBox="1"/>
            <p:nvPr/>
          </p:nvSpPr>
          <p:spPr>
            <a:xfrm>
              <a:off x="1408176" y="3200400"/>
              <a:ext cx="9997135" cy="310896"/>
            </a:xfrm>
            <a:prstGeom prst="rect">
              <a:avLst/>
            </a:prstGeom>
            <a:noFill/>
            <a:ln/>
          </p:spPr>
          <p:txBody>
            <a:bodyPr wrap="square" lIns="0" tIns="0" rIns="0" bIns="0" rtlCol="0" anchor="ctr"/>
            <a:lstStyle/>
            <a:p>
              <a:pPr indent="0" marL="0">
                <a:buNone/>
              </a:pPr>
              <a:r>
                <a:rPr lang="en-US" sz="1300" b="1" spc="100" kern="0" dirty="0">
                  <a:solidFill>
                    <a:srgbClr val="3D2B1F"/>
                  </a:solidFill>
                  <a:latin typeface="Georgia" pitchFamily="34" charset="0"/>
                  <a:ea typeface="Georgia" pitchFamily="34" charset="-122"/>
                  <a:cs typeface="Georgia" pitchFamily="34" charset="-120"/>
                </a:rPr>
                <a:t>A WORKED EXAMPLE</a:t>
              </a:r>
              <a:endParaRPr lang="en-US" sz="1300" dirty="0"/>
            </a:p>
          </p:txBody>
        </p:sp>
        <p:sp>
          <p:nvSpPr>
            <p:cNvPr id="9" name="calc_t"/>
            <p:cNvSpPr txBox="1"/>
            <p:nvPr/>
          </p:nvSpPr>
          <p:spPr>
            <a:xfrm>
              <a:off x="1408176" y="3566160"/>
              <a:ext cx="9997135" cy="105156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50" dirty="0">
                  <a:solidFill>
                    <a:srgbClr val="2A1D14"/>
                  </a:solidFill>
                  <a:latin typeface="Arial" pitchFamily="34" charset="0"/>
                  <a:ea typeface="Arial" pitchFamily="34" charset="-122"/>
                  <a:cs typeface="Arial" pitchFamily="34" charset="-120"/>
                </a:rPr>
                <a:t>A fish stock of 200,000 tonnes grows by 10% a year.</a:t>
              </a:r>
              <a:endParaRPr lang="en-US" sz="1350" dirty="0"/>
            </a:p>
            <a:p>
              <a:pPr marL="342900" indent="-342900">
                <a:lnSpc>
                  <a:spcPts val="1700"/>
                </a:lnSpc>
                <a:spcAft>
                  <a:spcPts val="600"/>
                </a:spcAft>
                <a:buSzPct val="100000"/>
                <a:buChar char="•"/>
              </a:pPr>
              <a:r>
                <a:rPr lang="en-US" sz="1350" b="1" dirty="0">
                  <a:solidFill>
                    <a:srgbClr val="2A1D14"/>
                  </a:solidFill>
                  <a:latin typeface="Arial" pitchFamily="34" charset="0"/>
                  <a:ea typeface="Arial" pitchFamily="34" charset="-122"/>
                  <a:cs typeface="Arial" pitchFamily="34" charset="-120"/>
                </a:rPr>
                <a:t>Maximum sustainable catch: 200,000 × 10 ÷ 100 = 20,000 tonnes a year.</a:t>
              </a:r>
              <a:endParaRPr lang="en-US" sz="1350" dirty="0"/>
            </a:p>
            <a:p>
              <a:pPr marL="342900" indent="-342900">
                <a:lnSpc>
                  <a:spcPts val="1700"/>
                </a:lnSpc>
                <a:buSzPct val="100000"/>
                <a:buChar char="•"/>
              </a:pPr>
              <a:r>
                <a:rPr lang="en-US" sz="1350" dirty="0">
                  <a:solidFill>
                    <a:srgbClr val="2A1D14"/>
                  </a:solidFill>
                  <a:latin typeface="Arial" pitchFamily="34" charset="0"/>
                  <a:ea typeface="Arial" pitchFamily="34" charset="-122"/>
                  <a:cs typeface="Arial" pitchFamily="34" charset="-120"/>
                </a:rPr>
                <a:t>Catch exactly that much, and the stock stays 200,000 tonnes, year after year.</a:t>
              </a:r>
              <a:endParaRPr lang="en-US" sz="13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3" fill="hold" display="0">
                  <p:stCondLst>
                    <p:cond delay="0"/>
                  </p:stCondLst>
                  <p:endCondLst>
                    <p:cond evt="onStopAudio" delay="0">
                      <p:tgtEl>
                        <p:sldTgt/>
                      </p:tgtEl>
                    </p:cond>
                  </p:end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713586"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WE DO · 5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What should be the correct answer?</a:t>
            </a:r>
            <a:endParaRPr lang="en-US" sz="3000" dirty="0"/>
          </a:p>
        </p:txBody>
      </p:sp>
      <p:sp>
        <p:nvSpPr>
          <p:cNvPr id="5" name="slide_sub"/>
          <p:cNvSpPr txBox="1"/>
          <p:nvPr/>
        </p:nvSpPr>
        <p:spPr>
          <a:xfrm>
            <a:off x="1170432" y="1572768"/>
            <a:ext cx="10472623" cy="365760"/>
          </a:xfrm>
          <a:prstGeom prst="rect">
            <a:avLst/>
          </a:prstGeom>
          <a:noFill/>
          <a:ln/>
        </p:spPr>
        <p:txBody>
          <a:bodyPr wrap="square" lIns="0" tIns="0" rIns="0" bIns="0" rtlCol="0" anchor="ctr"/>
          <a:lstStyle/>
          <a:p>
            <a:pPr indent="0" marL="0">
              <a:buNone/>
            </a:pPr>
            <a:r>
              <a:rPr lang="en-US" sz="1600" dirty="0">
                <a:solidFill>
                  <a:srgbClr val="6B5A48"/>
                </a:solidFill>
                <a:latin typeface="Arial" pitchFamily="34" charset="0"/>
                <a:ea typeface="Arial" pitchFamily="34" charset="-122"/>
                <a:cs typeface="Arial" pitchFamily="34" charset="-120"/>
              </a:rPr>
              <a:t>Spot the mistake.</a:t>
            </a:r>
            <a:endParaRPr lang="en-US" sz="1600" dirty="0"/>
          </a:p>
        </p:txBody>
      </p:sp>
      <p:sp>
        <p:nvSpPr>
          <p:cNvPr id="6" name="wd0_bg"/>
          <p:cNvSpPr/>
          <p:nvPr/>
        </p:nvSpPr>
        <p:spPr>
          <a:xfrm>
            <a:off x="1170432" y="2322576"/>
            <a:ext cx="10472623" cy="841248"/>
          </a:xfrm>
          <a:prstGeom prst="roundRect">
            <a:avLst>
              <a:gd name="adj" fmla="val 10870"/>
            </a:avLst>
          </a:prstGeom>
          <a:solidFill>
            <a:srgbClr val="FFFFFF"/>
          </a:solidFill>
          <a:ln w="16510">
            <a:solidFill>
              <a:srgbClr val="D9C9A8"/>
            </a:solidFill>
            <a:prstDash val="solid"/>
          </a:ln>
        </p:spPr>
      </p:sp>
      <p:sp>
        <p:nvSpPr>
          <p:cNvPr id="7" name="wd0_q"/>
          <p:cNvSpPr txBox="1"/>
          <p:nvPr/>
        </p:nvSpPr>
        <p:spPr>
          <a:xfrm>
            <a:off x="1426464" y="2322576"/>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"Conservation means never using a resource at all."</a:t>
            </a:r>
            <a:endParaRPr lang="en-US" sz="1500" dirty="0"/>
          </a:p>
        </p:txBody>
      </p:sp>
      <p:sp>
        <p:nvSpPr>
          <p:cNvPr id="8" name="wd0_a"/>
          <p:cNvSpPr/>
          <p:nvPr/>
        </p:nvSpPr>
        <p:spPr>
          <a:xfrm>
            <a:off x="6748272" y="2404872"/>
            <a:ext cx="4803343" cy="676656"/>
          </a:xfrm>
          <a:prstGeom prst="roundRect">
            <a:avLst>
              <a:gd name="adj" fmla="val 13514"/>
            </a:avLst>
          </a:prstGeom>
          <a:solidFill>
            <a:srgbClr val="ECE1CB"/>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Conservation means using it carefully, so it lasts, not avoiding it completely.</a:t>
            </a:r>
            <a:endParaRPr lang="en-US" sz="1250" dirty="0"/>
          </a:p>
        </p:txBody>
      </p:sp>
      <p:sp>
        <p:nvSpPr>
          <p:cNvPr id="9" name="wd1_bg"/>
          <p:cNvSpPr/>
          <p:nvPr/>
        </p:nvSpPr>
        <p:spPr>
          <a:xfrm>
            <a:off x="1170432" y="3346704"/>
            <a:ext cx="10472623" cy="841248"/>
          </a:xfrm>
          <a:prstGeom prst="roundRect">
            <a:avLst>
              <a:gd name="adj" fmla="val 10870"/>
            </a:avLst>
          </a:prstGeom>
          <a:solidFill>
            <a:srgbClr val="FFFFFF"/>
          </a:solidFill>
          <a:ln w="16510">
            <a:solidFill>
              <a:srgbClr val="D9C9A8"/>
            </a:solidFill>
            <a:prstDash val="solid"/>
          </a:ln>
        </p:spPr>
      </p:sp>
      <p:sp>
        <p:nvSpPr>
          <p:cNvPr id="10" name="wd1_q"/>
          <p:cNvSpPr txBox="1"/>
          <p:nvPr/>
        </p:nvSpPr>
        <p:spPr>
          <a:xfrm>
            <a:off x="1426464" y="3346704"/>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forest cut at exactly its regrowth rate is not sustainable, because trees are still being cut down."</a:t>
            </a:r>
            <a:endParaRPr lang="en-US" sz="1500" dirty="0"/>
          </a:p>
        </p:txBody>
      </p:sp>
      <p:sp>
        <p:nvSpPr>
          <p:cNvPr id="11" name="wd1_a"/>
          <p:cNvSpPr/>
          <p:nvPr/>
        </p:nvSpPr>
        <p:spPr>
          <a:xfrm>
            <a:off x="6748272" y="3429000"/>
            <a:ext cx="4803343" cy="676656"/>
          </a:xfrm>
          <a:prstGeom prst="roundRect">
            <a:avLst>
              <a:gd name="adj" fmla="val 13514"/>
            </a:avLst>
          </a:prstGeom>
          <a:solidFill>
            <a:srgbClr val="ECE1CB"/>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It is sustainable. The forest stays the same size, year after year.</a:t>
            </a:r>
            <a:endParaRPr lang="en-US" sz="1250" dirty="0"/>
          </a:p>
        </p:txBody>
      </p:sp>
      <p:sp>
        <p:nvSpPr>
          <p:cNvPr id="12" name="wd2_bg"/>
          <p:cNvSpPr/>
          <p:nvPr/>
        </p:nvSpPr>
        <p:spPr>
          <a:xfrm>
            <a:off x="1170432" y="4370832"/>
            <a:ext cx="10472623" cy="841248"/>
          </a:xfrm>
          <a:prstGeom prst="roundRect">
            <a:avLst>
              <a:gd name="adj" fmla="val 10870"/>
            </a:avLst>
          </a:prstGeom>
          <a:solidFill>
            <a:srgbClr val="FFFFFF"/>
          </a:solidFill>
          <a:ln w="16510">
            <a:solidFill>
              <a:srgbClr val="D9C9A8"/>
            </a:solidFill>
            <a:prstDash val="solid"/>
          </a:ln>
        </p:spPr>
      </p:sp>
      <p:sp>
        <p:nvSpPr>
          <p:cNvPr id="13" name="wd2_q"/>
          <p:cNvSpPr txBox="1"/>
          <p:nvPr/>
        </p:nvSpPr>
        <p:spPr>
          <a:xfrm>
            <a:off x="1426464" y="4370832"/>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"Recycling is not resource management, because it does not stop a resource running out."</a:t>
            </a:r>
            <a:endParaRPr lang="en-US" sz="1500" dirty="0"/>
          </a:p>
        </p:txBody>
      </p:sp>
      <p:sp>
        <p:nvSpPr>
          <p:cNvPr id="14" name="wd2_a"/>
          <p:cNvSpPr/>
          <p:nvPr/>
        </p:nvSpPr>
        <p:spPr>
          <a:xfrm>
            <a:off x="6748272" y="4453128"/>
            <a:ext cx="4803343" cy="676656"/>
          </a:xfrm>
          <a:prstGeom prst="roundRect">
            <a:avLst>
              <a:gd name="adj" fmla="val 13514"/>
            </a:avLst>
          </a:prstGeom>
          <a:solidFill>
            <a:srgbClr val="ECE1CB"/>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Recycling IS management. It cuts how much new, often non-renewable, material is needed.</a:t>
            </a:r>
            <a:endParaRPr lang="en-US" sz="1250" dirty="0"/>
          </a:p>
        </p:txBody>
      </p:sp>
      <p:sp>
        <p:nvSpPr>
          <p:cNvPr id="15" name="wd3_bg"/>
          <p:cNvSpPr/>
          <p:nvPr/>
        </p:nvSpPr>
        <p:spPr>
          <a:xfrm>
            <a:off x="1170432" y="5394960"/>
            <a:ext cx="10472623" cy="841248"/>
          </a:xfrm>
          <a:prstGeom prst="roundRect">
            <a:avLst>
              <a:gd name="adj" fmla="val 10870"/>
            </a:avLst>
          </a:prstGeom>
          <a:solidFill>
            <a:srgbClr val="FFFFFF"/>
          </a:solidFill>
          <a:ln w="16510">
            <a:solidFill>
              <a:srgbClr val="D9C9A8"/>
            </a:solidFill>
            <a:prstDash val="solid"/>
          </a:ln>
        </p:spPr>
      </p:sp>
      <p:sp>
        <p:nvSpPr>
          <p:cNvPr id="16" name="wd3_q"/>
          <p:cNvSpPr txBox="1"/>
          <p:nvPr/>
        </p:nvSpPr>
        <p:spPr>
          <a:xfrm>
            <a:off x="1426464" y="5394960"/>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"Once a resource has collapsed, like cod, conservation can never help."</a:t>
            </a:r>
            <a:endParaRPr lang="en-US" sz="1500" dirty="0"/>
          </a:p>
        </p:txBody>
      </p:sp>
      <p:sp>
        <p:nvSpPr>
          <p:cNvPr id="17" name="wd3_a"/>
          <p:cNvSpPr/>
          <p:nvPr/>
        </p:nvSpPr>
        <p:spPr>
          <a:xfrm>
            <a:off x="6748272" y="5477256"/>
            <a:ext cx="4803343" cy="676656"/>
          </a:xfrm>
          <a:prstGeom prst="roundRect">
            <a:avLst>
              <a:gd name="adj" fmla="val 13514"/>
            </a:avLst>
          </a:prstGeom>
          <a:solidFill>
            <a:srgbClr val="ECE1CB"/>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Conservation can allow recovery, as whale numbers show. It can just take decades.</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animScale>
                                      <p:cBhvr>
                                        <p:cTn id="5" dur="400" fill="hold"/>
                                        <p:tgtEl>
                                          <p:spTgt spid="8"/>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animScale>
                                      <p:cBhvr>
                                        <p:cTn id="11" dur="400" fill="hold"/>
                                        <p:tgtEl>
                                          <p:spTgt spid="11"/>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animScale>
                                      <p:cBhvr>
                                        <p:cTn id="17" dur="400" fill="hold"/>
                                        <p:tgtEl>
                                          <p:spTgt spid="14"/>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animScale>
                                      <p:cBhvr>
                                        <p:cTn id="23"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7" fill="hold" display="0">
                  <p:stCondLst>
                    <p:cond delay="0"/>
                  </p:stCondLst>
                  <p:endCondLst>
                    <p:cond evt="onStopAudio" delay="0">
                      <p:tgtEl>
                        <p:sldTgt/>
                      </p:tgtEl>
                    </p:cond>
                  </p:end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2072030"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COLD CALL · 6 MIN</a:t>
            </a:r>
            <a:endParaRPr lang="en-US" sz="1100" dirty="0"/>
          </a:p>
        </p:txBody>
      </p:sp>
      <p:sp>
        <p:nvSpPr>
          <p:cNvPr id="4" name="c0_bg"/>
          <p:cNvSpPr/>
          <p:nvPr/>
        </p:nvSpPr>
        <p:spPr>
          <a:xfrm>
            <a:off x="1170432" y="960120"/>
            <a:ext cx="5099152" cy="1572768"/>
          </a:xfrm>
          <a:prstGeom prst="roundRect">
            <a:avLst>
              <a:gd name="adj" fmla="val 5814"/>
            </a:avLst>
          </a:prstGeom>
          <a:solidFill>
            <a:srgbClr val="FFFFFF"/>
          </a:solidFill>
          <a:ln w="16510">
            <a:solidFill>
              <a:srgbClr val="D9C9A8"/>
            </a:solidFill>
            <a:prstDash val="solid"/>
          </a:ln>
        </p:spPr>
      </p:sp>
      <p:sp>
        <p:nvSpPr>
          <p:cNvPr id="5" name="c0_badge"/>
          <p:cNvSpPr/>
          <p:nvPr/>
        </p:nvSpPr>
        <p:spPr>
          <a:xfrm>
            <a:off x="1371600" y="1307592"/>
            <a:ext cx="384048" cy="384048"/>
          </a:xfrm>
          <a:prstGeom prst="ellipse">
            <a:avLst/>
          </a:prstGeom>
          <a:solidFill>
            <a:srgbClr val="C99A3D"/>
          </a:solidFill>
          <a:ln w="12700">
            <a:solidFill>
              <a:srgbClr val="C99A3D"/>
            </a:solidFill>
            <a:prstDash val="solid"/>
          </a:ln>
        </p:spPr>
      </p:sp>
      <p:sp>
        <p:nvSpPr>
          <p:cNvPr id="6" name="c0_num"/>
          <p:cNvSpPr txBox="1"/>
          <p:nvPr/>
        </p:nvSpPr>
        <p:spPr>
          <a:xfrm>
            <a:off x="1371600" y="130759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1</a:t>
            </a:r>
            <a:endParaRPr lang="en-US" sz="1400" dirty="0"/>
          </a:p>
        </p:txBody>
      </p:sp>
      <p:sp>
        <p:nvSpPr>
          <p:cNvPr id="7" name="c0_q"/>
          <p:cNvSpPr txBox="1"/>
          <p:nvPr/>
        </p:nvSpPr>
        <p:spPr>
          <a:xfrm>
            <a:off x="1901952" y="1088136"/>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State what conservation means.</a:t>
            </a:r>
            <a:endParaRPr lang="en-US" sz="1600" dirty="0"/>
          </a:p>
        </p:txBody>
      </p:sp>
      <p:sp>
        <p:nvSpPr>
          <p:cNvPr id="8" name="c0_a"/>
          <p:cNvSpPr/>
          <p:nvPr/>
        </p:nvSpPr>
        <p:spPr>
          <a:xfrm>
            <a:off x="1371600" y="1965960"/>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Protecting and managing a resource carefully, so it is still available in future.</a:t>
            </a:r>
            <a:endParaRPr lang="en-US" sz="1350" dirty="0"/>
          </a:p>
        </p:txBody>
      </p:sp>
      <p:sp>
        <p:nvSpPr>
          <p:cNvPr id="9" name="c1_bg"/>
          <p:cNvSpPr/>
          <p:nvPr/>
        </p:nvSpPr>
        <p:spPr>
          <a:xfrm>
            <a:off x="6543904" y="960120"/>
            <a:ext cx="5099152" cy="1572768"/>
          </a:xfrm>
          <a:prstGeom prst="roundRect">
            <a:avLst>
              <a:gd name="adj" fmla="val 5814"/>
            </a:avLst>
          </a:prstGeom>
          <a:solidFill>
            <a:srgbClr val="FFFFFF"/>
          </a:solidFill>
          <a:ln w="16510">
            <a:solidFill>
              <a:srgbClr val="D9C9A8"/>
            </a:solidFill>
            <a:prstDash val="solid"/>
          </a:ln>
        </p:spPr>
      </p:sp>
      <p:sp>
        <p:nvSpPr>
          <p:cNvPr id="10" name="c1_badge"/>
          <p:cNvSpPr/>
          <p:nvPr/>
        </p:nvSpPr>
        <p:spPr>
          <a:xfrm>
            <a:off x="6745072" y="1307592"/>
            <a:ext cx="384048" cy="384048"/>
          </a:xfrm>
          <a:prstGeom prst="ellipse">
            <a:avLst/>
          </a:prstGeom>
          <a:solidFill>
            <a:srgbClr val="C99A3D"/>
          </a:solidFill>
          <a:ln w="12700">
            <a:solidFill>
              <a:srgbClr val="C99A3D"/>
            </a:solidFill>
            <a:prstDash val="solid"/>
          </a:ln>
        </p:spPr>
      </p:sp>
      <p:sp>
        <p:nvSpPr>
          <p:cNvPr id="11" name="c1_num"/>
          <p:cNvSpPr txBox="1"/>
          <p:nvPr/>
        </p:nvSpPr>
        <p:spPr>
          <a:xfrm>
            <a:off x="6745072" y="130759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2</a:t>
            </a:r>
            <a:endParaRPr lang="en-US" sz="1400" dirty="0"/>
          </a:p>
        </p:txBody>
      </p:sp>
      <p:sp>
        <p:nvSpPr>
          <p:cNvPr id="12" name="c1_q"/>
          <p:cNvSpPr txBox="1"/>
          <p:nvPr/>
        </p:nvSpPr>
        <p:spPr>
          <a:xfrm>
            <a:off x="7275424" y="1088136"/>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State what it means to take a sustainable amount of a resource.</a:t>
            </a:r>
            <a:endParaRPr lang="en-US" sz="1600" dirty="0"/>
          </a:p>
        </p:txBody>
      </p:sp>
      <p:sp>
        <p:nvSpPr>
          <p:cNvPr id="13" name="c1_a"/>
          <p:cNvSpPr/>
          <p:nvPr/>
        </p:nvSpPr>
        <p:spPr>
          <a:xfrm>
            <a:off x="6745072" y="1965960"/>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No more than the resource can naturally replace.</a:t>
            </a:r>
            <a:endParaRPr lang="en-US" sz="1350" dirty="0"/>
          </a:p>
        </p:txBody>
      </p:sp>
      <p:sp>
        <p:nvSpPr>
          <p:cNvPr id="14" name="c2_bg"/>
          <p:cNvSpPr/>
          <p:nvPr/>
        </p:nvSpPr>
        <p:spPr>
          <a:xfrm>
            <a:off x="1170432" y="2679192"/>
            <a:ext cx="5099152" cy="1572768"/>
          </a:xfrm>
          <a:prstGeom prst="roundRect">
            <a:avLst>
              <a:gd name="adj" fmla="val 5814"/>
            </a:avLst>
          </a:prstGeom>
          <a:solidFill>
            <a:srgbClr val="FFFFFF"/>
          </a:solidFill>
          <a:ln w="16510">
            <a:solidFill>
              <a:srgbClr val="D9C9A8"/>
            </a:solidFill>
            <a:prstDash val="solid"/>
          </a:ln>
        </p:spPr>
      </p:sp>
      <p:sp>
        <p:nvSpPr>
          <p:cNvPr id="15" name="c2_badge"/>
          <p:cNvSpPr/>
          <p:nvPr/>
        </p:nvSpPr>
        <p:spPr>
          <a:xfrm>
            <a:off x="1371600" y="3026664"/>
            <a:ext cx="384048" cy="384048"/>
          </a:xfrm>
          <a:prstGeom prst="ellipse">
            <a:avLst/>
          </a:prstGeom>
          <a:solidFill>
            <a:srgbClr val="C99A3D"/>
          </a:solidFill>
          <a:ln w="12700">
            <a:solidFill>
              <a:srgbClr val="C99A3D"/>
            </a:solidFill>
            <a:prstDash val="solid"/>
          </a:ln>
        </p:spPr>
      </p:sp>
      <p:sp>
        <p:nvSpPr>
          <p:cNvPr id="16" name="c2_num"/>
          <p:cNvSpPr txBox="1"/>
          <p:nvPr/>
        </p:nvSpPr>
        <p:spPr>
          <a:xfrm>
            <a:off x="1371600" y="30266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3</a:t>
            </a:r>
            <a:endParaRPr lang="en-US" sz="1400" dirty="0"/>
          </a:p>
        </p:txBody>
      </p:sp>
      <p:sp>
        <p:nvSpPr>
          <p:cNvPr id="17" name="c2_q"/>
          <p:cNvSpPr txBox="1"/>
          <p:nvPr/>
        </p:nvSpPr>
        <p:spPr>
          <a:xfrm>
            <a:off x="1901952" y="2807208"/>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A fish stock of 300,000 tonnes grows by 8% a year. Calculate the maximum sustainable catch.</a:t>
            </a:r>
            <a:endParaRPr lang="en-US" sz="1600" dirty="0"/>
          </a:p>
        </p:txBody>
      </p:sp>
      <p:sp>
        <p:nvSpPr>
          <p:cNvPr id="18" name="c2_a"/>
          <p:cNvSpPr/>
          <p:nvPr/>
        </p:nvSpPr>
        <p:spPr>
          <a:xfrm>
            <a:off x="1371600" y="3685032"/>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24,000 tonnes. 300,000 × 8 ÷ 100.</a:t>
            </a:r>
            <a:endParaRPr lang="en-US" sz="1350" dirty="0"/>
          </a:p>
        </p:txBody>
      </p:sp>
      <p:sp>
        <p:nvSpPr>
          <p:cNvPr id="19" name="c3_bg"/>
          <p:cNvSpPr/>
          <p:nvPr/>
        </p:nvSpPr>
        <p:spPr>
          <a:xfrm>
            <a:off x="6543904" y="2679192"/>
            <a:ext cx="5099152" cy="1572768"/>
          </a:xfrm>
          <a:prstGeom prst="roundRect">
            <a:avLst>
              <a:gd name="adj" fmla="val 5814"/>
            </a:avLst>
          </a:prstGeom>
          <a:solidFill>
            <a:srgbClr val="FFFFFF"/>
          </a:solidFill>
          <a:ln w="16510">
            <a:solidFill>
              <a:srgbClr val="D9C9A8"/>
            </a:solidFill>
            <a:prstDash val="solid"/>
          </a:ln>
        </p:spPr>
      </p:sp>
      <p:sp>
        <p:nvSpPr>
          <p:cNvPr id="20" name="c3_badge"/>
          <p:cNvSpPr/>
          <p:nvPr/>
        </p:nvSpPr>
        <p:spPr>
          <a:xfrm>
            <a:off x="6745072" y="3026664"/>
            <a:ext cx="384048" cy="384048"/>
          </a:xfrm>
          <a:prstGeom prst="ellipse">
            <a:avLst/>
          </a:prstGeom>
          <a:solidFill>
            <a:srgbClr val="C99A3D"/>
          </a:solidFill>
          <a:ln w="12700">
            <a:solidFill>
              <a:srgbClr val="C99A3D"/>
            </a:solidFill>
            <a:prstDash val="solid"/>
          </a:ln>
        </p:spPr>
      </p:sp>
      <p:sp>
        <p:nvSpPr>
          <p:cNvPr id="21" name="c3_num"/>
          <p:cNvSpPr txBox="1"/>
          <p:nvPr/>
        </p:nvSpPr>
        <p:spPr>
          <a:xfrm>
            <a:off x="6745072" y="30266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4</a:t>
            </a:r>
            <a:endParaRPr lang="en-US" sz="1400" dirty="0"/>
          </a:p>
        </p:txBody>
      </p:sp>
      <p:sp>
        <p:nvSpPr>
          <p:cNvPr id="22" name="c3_q"/>
          <p:cNvSpPr txBox="1"/>
          <p:nvPr/>
        </p:nvSpPr>
        <p:spPr>
          <a:xfrm>
            <a:off x="7275424" y="2807208"/>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Name two ways a resource can be managed in practice.</a:t>
            </a:r>
            <a:endParaRPr lang="en-US" sz="1600" dirty="0"/>
          </a:p>
        </p:txBody>
      </p:sp>
      <p:sp>
        <p:nvSpPr>
          <p:cNvPr id="23" name="c3_a"/>
          <p:cNvSpPr/>
          <p:nvPr/>
        </p:nvSpPr>
        <p:spPr>
          <a:xfrm>
            <a:off x="6745072" y="3685032"/>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Any two: limits or bans on how much is taken, replanting, recycling.</a:t>
            </a:r>
            <a:endParaRPr lang="en-US" sz="1350" dirty="0"/>
          </a:p>
        </p:txBody>
      </p:sp>
      <p:sp>
        <p:nvSpPr>
          <p:cNvPr id="24" name="c4_bg"/>
          <p:cNvSpPr/>
          <p:nvPr/>
        </p:nvSpPr>
        <p:spPr>
          <a:xfrm>
            <a:off x="1170432" y="4398264"/>
            <a:ext cx="5099152" cy="1572768"/>
          </a:xfrm>
          <a:prstGeom prst="roundRect">
            <a:avLst>
              <a:gd name="adj" fmla="val 5814"/>
            </a:avLst>
          </a:prstGeom>
          <a:solidFill>
            <a:srgbClr val="FFFFFF"/>
          </a:solidFill>
          <a:ln w="16510">
            <a:solidFill>
              <a:srgbClr val="D9C9A8"/>
            </a:solidFill>
            <a:prstDash val="solid"/>
          </a:ln>
        </p:spPr>
      </p:sp>
      <p:sp>
        <p:nvSpPr>
          <p:cNvPr id="25" name="c4_badge"/>
          <p:cNvSpPr/>
          <p:nvPr/>
        </p:nvSpPr>
        <p:spPr>
          <a:xfrm>
            <a:off x="1371600" y="4745736"/>
            <a:ext cx="384048" cy="384048"/>
          </a:xfrm>
          <a:prstGeom prst="ellipse">
            <a:avLst/>
          </a:prstGeom>
          <a:solidFill>
            <a:srgbClr val="C99A3D"/>
          </a:solidFill>
          <a:ln w="12700">
            <a:solidFill>
              <a:srgbClr val="C99A3D"/>
            </a:solidFill>
            <a:prstDash val="solid"/>
          </a:ln>
        </p:spPr>
      </p:sp>
      <p:sp>
        <p:nvSpPr>
          <p:cNvPr id="26" name="c4_num"/>
          <p:cNvSpPr txBox="1"/>
          <p:nvPr/>
        </p:nvSpPr>
        <p:spPr>
          <a:xfrm>
            <a:off x="1371600" y="4745736"/>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5</a:t>
            </a:r>
            <a:endParaRPr lang="en-US" sz="1400" dirty="0"/>
          </a:p>
        </p:txBody>
      </p:sp>
      <p:sp>
        <p:nvSpPr>
          <p:cNvPr id="27" name="c4_q"/>
          <p:cNvSpPr txBox="1"/>
          <p:nvPr/>
        </p:nvSpPr>
        <p:spPr>
          <a:xfrm>
            <a:off x="1901952" y="4526280"/>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Explain why cutting a forest at exactly its regrowth rate counts as sustainable.</a:t>
            </a:r>
            <a:endParaRPr lang="en-US" sz="1600" dirty="0"/>
          </a:p>
        </p:txBody>
      </p:sp>
      <p:sp>
        <p:nvSpPr>
          <p:cNvPr id="28" name="c4_a"/>
          <p:cNvSpPr/>
          <p:nvPr/>
        </p:nvSpPr>
        <p:spPr>
          <a:xfrm>
            <a:off x="1371600" y="5404104"/>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The amount of forest stays the same. Nothing is lost overall.</a:t>
            </a:r>
            <a:endParaRPr lang="en-US" sz="1350" dirty="0"/>
          </a:p>
        </p:txBody>
      </p:sp>
      <p:sp>
        <p:nvSpPr>
          <p:cNvPr id="29" name="c5_bg"/>
          <p:cNvSpPr/>
          <p:nvPr/>
        </p:nvSpPr>
        <p:spPr>
          <a:xfrm>
            <a:off x="6543904" y="4398264"/>
            <a:ext cx="5099152" cy="1572768"/>
          </a:xfrm>
          <a:prstGeom prst="roundRect">
            <a:avLst>
              <a:gd name="adj" fmla="val 5814"/>
            </a:avLst>
          </a:prstGeom>
          <a:solidFill>
            <a:srgbClr val="FFFFFF"/>
          </a:solidFill>
          <a:ln w="16510">
            <a:solidFill>
              <a:srgbClr val="D9C9A8"/>
            </a:solidFill>
            <a:prstDash val="solid"/>
          </a:ln>
        </p:spPr>
      </p:sp>
      <p:sp>
        <p:nvSpPr>
          <p:cNvPr id="30" name="c5_badge"/>
          <p:cNvSpPr/>
          <p:nvPr/>
        </p:nvSpPr>
        <p:spPr>
          <a:xfrm>
            <a:off x="6745072" y="4745736"/>
            <a:ext cx="384048" cy="384048"/>
          </a:xfrm>
          <a:prstGeom prst="ellipse">
            <a:avLst/>
          </a:prstGeom>
          <a:solidFill>
            <a:srgbClr val="C99A3D"/>
          </a:solidFill>
          <a:ln w="12700">
            <a:solidFill>
              <a:srgbClr val="C99A3D"/>
            </a:solidFill>
            <a:prstDash val="solid"/>
          </a:ln>
        </p:spPr>
      </p:sp>
      <p:sp>
        <p:nvSpPr>
          <p:cNvPr id="31" name="c5_num"/>
          <p:cNvSpPr txBox="1"/>
          <p:nvPr/>
        </p:nvSpPr>
        <p:spPr>
          <a:xfrm>
            <a:off x="6745072" y="4745736"/>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6</a:t>
            </a:r>
            <a:endParaRPr lang="en-US" sz="1400" dirty="0"/>
          </a:p>
        </p:txBody>
      </p:sp>
      <p:sp>
        <p:nvSpPr>
          <p:cNvPr id="32" name="c5_q"/>
          <p:cNvSpPr txBox="1"/>
          <p:nvPr/>
        </p:nvSpPr>
        <p:spPr>
          <a:xfrm>
            <a:off x="7275424" y="4526280"/>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The humpback whale population recovered after hunting was banned in 1986. State what this shows about conservation.</a:t>
            </a:r>
            <a:endParaRPr lang="en-US" sz="1600" dirty="0"/>
          </a:p>
        </p:txBody>
      </p:sp>
      <p:sp>
        <p:nvSpPr>
          <p:cNvPr id="33" name="c5_a"/>
          <p:cNvSpPr/>
          <p:nvPr/>
        </p:nvSpPr>
        <p:spPr>
          <a:xfrm>
            <a:off x="6745072" y="5404104"/>
            <a:ext cx="4696816" cy="438912"/>
          </a:xfrm>
          <a:prstGeom prst="roundRect">
            <a:avLst>
              <a:gd name="adj" fmla="val 20833"/>
            </a:avLst>
          </a:prstGeom>
          <a:solidFill>
            <a:srgbClr val="ECE1CB"/>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Protecting a resource early enough can let it recover, even after a severe collapse.</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wipe(right)">
                                      <p:cBhvr>
                                        <p:cTn id="9" dur="4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right)">
                                      <p:cBhvr>
                                        <p:cTn id="14" dur="4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right)">
                                      <p:cBhvr>
                                        <p:cTn id="19" dur="4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right)">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right)">
                                      <p:cBhvr>
                                        <p:cTn id="29"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YOU DO · 17 MIN</a:t>
            </a:r>
            <a:endParaRPr lang="en-US" sz="1100" dirty="0"/>
          </a:p>
        </p:txBody>
      </p:sp>
      <p:pic>
        <p:nvPicPr>
          <p:cNvPr id="4" name="gc_logo" descr="/Users/chukanwobodo/Desktop/lesson-toolkit/assets/classroom.png">    </p:cNvPr>
          <p:cNvPicPr>
            <a:picLocks noChangeAspect="1"/>
          </p:cNvPicPr>
          <p:nvPr/>
        </p:nvPicPr>
        <p:blipFill>
          <a:blip r:embed="rId4">
            <a:alphaModFix amt="38000"/>
          </a:blip>
          <a:stretch>
            <a:fillRect/>
          </a:stretch>
        </p:blipFill>
        <p:spPr>
          <a:xfrm>
            <a:off x="10088575" y="786384"/>
            <a:ext cx="1554480" cy="1344168"/>
          </a:xfrm>
          <a:prstGeom prst="rect">
            <a:avLst/>
          </a:prstGeom>
        </p:spPr>
      </p:pic>
      <p:sp>
        <p:nvSpPr>
          <p:cNvPr id="5" name="slide_title"/>
          <p:cNvSpPr txBox="1"/>
          <p:nvPr/>
        </p:nvSpPr>
        <p:spPr>
          <a:xfrm>
            <a:off x="1170432" y="786384"/>
            <a:ext cx="8643823" cy="1042416"/>
          </a:xfrm>
          <a:prstGeom prst="rect">
            <a:avLst/>
          </a:prstGeom>
          <a:noFill/>
          <a:ln/>
        </p:spPr>
        <p:txBody>
          <a:bodyPr wrap="square" lIns="0" tIns="0" rIns="0" bIns="0" rtlCol="0" anchor="ctr"/>
          <a:lstStyle/>
          <a:p>
            <a:pPr indent="0" marL="0">
              <a:lnSpc>
                <a:spcPts val="3000"/>
              </a:lnSpc>
              <a:buNone/>
            </a:pPr>
            <a:r>
              <a:rPr lang="en-US" sz="2500" b="1" dirty="0">
                <a:solidFill>
                  <a:srgbClr val="3D2B1F"/>
                </a:solidFill>
                <a:latin typeface="Georgia" pitchFamily="34" charset="0"/>
                <a:ea typeface="Georgia" pitchFamily="34" charset="-122"/>
                <a:cs typeface="Georgia" pitchFamily="34" charset="-120"/>
              </a:rPr>
              <a:t>Making It Last game</a:t>
            </a:r>
            <a:endParaRPr lang="en-US" sz="2500" dirty="0"/>
          </a:p>
        </p:txBody>
      </p:sp>
      <p:sp>
        <p:nvSpPr>
          <p:cNvPr id="6" name="slide_sub"/>
          <p:cNvSpPr txBox="1"/>
          <p:nvPr/>
        </p:nvSpPr>
        <p:spPr>
          <a:xfrm>
            <a:off x="1170432" y="1865376"/>
            <a:ext cx="8643823" cy="365760"/>
          </a:xfrm>
          <a:prstGeom prst="rect">
            <a:avLst/>
          </a:prstGeom>
          <a:noFill/>
          <a:ln/>
        </p:spPr>
        <p:txBody>
          <a:bodyPr wrap="square" lIns="0" tIns="0" rIns="0" bIns="0" rtlCol="0" anchor="ctr"/>
          <a:lstStyle/>
          <a:p>
            <a:pPr indent="0" marL="0">
              <a:buNone/>
            </a:pPr>
            <a:r>
              <a:rPr lang="en-US" sz="1700" b="1" dirty="0">
                <a:solidFill>
                  <a:srgbClr val="B5482E"/>
                </a:solidFill>
                <a:latin typeface="Arial" pitchFamily="34" charset="0"/>
                <a:ea typeface="Arial" pitchFamily="34" charset="-122"/>
                <a:cs typeface="Arial" pitchFamily="34" charset="-120"/>
              </a:rPr>
              <a:t>Open Google Classroom now.</a:t>
            </a:r>
            <a:endParaRPr lang="en-US" sz="1700" dirty="0"/>
          </a:p>
        </p:txBody>
      </p:sp>
      <p:grpSp>
        <p:nvGrpSpPr>
          <p:cNvPr id="20" name="t0"/>
          <p:cNvGrpSpPr/>
          <p:nvPr/>
        </p:nvGrpSpPr>
        <p:grpSpPr>
          <a:xfrm>
            <a:off x="1170432" y="2322576"/>
            <a:ext cx="3307994" cy="1920240"/>
            <a:chOff x="1170432" y="2322576"/>
            <a:chExt cx="3307994" cy="1920240"/>
          </a:xfrm>
        </p:grpSpPr>
        <p:sp>
          <p:nvSpPr>
            <p:cNvPr id="7" name="t0_bg"/>
            <p:cNvSpPr/>
            <p:nvPr/>
          </p:nvSpPr>
          <p:spPr>
            <a:xfrm>
              <a:off x="1170432" y="2322576"/>
              <a:ext cx="3307994" cy="1920240"/>
            </a:xfrm>
            <a:prstGeom prst="roundRect">
              <a:avLst>
                <a:gd name="adj" fmla="val 4762"/>
              </a:avLst>
            </a:prstGeom>
            <a:solidFill>
              <a:srgbClr val="F3E0DB"/>
            </a:solidFill>
            <a:ln w="20320">
              <a:solidFill>
                <a:srgbClr val="B5482E"/>
              </a:solidFill>
              <a:prstDash val="solid"/>
            </a:ln>
          </p:spPr>
        </p:sp>
        <p:sp>
          <p:nvSpPr>
            <p:cNvPr id="8" name="t0_h"/>
            <p:cNvSpPr txBox="1"/>
            <p:nvPr/>
          </p:nvSpPr>
          <p:spPr>
            <a:xfrm>
              <a:off x="1408176" y="2487168"/>
              <a:ext cx="2832506" cy="365760"/>
            </a:xfrm>
            <a:prstGeom prst="rect">
              <a:avLst/>
            </a:prstGeom>
            <a:noFill/>
            <a:ln/>
          </p:spPr>
          <p:txBody>
            <a:bodyPr wrap="square" lIns="0" tIns="0" rIns="0" bIns="0" rtlCol="0" anchor="ctr"/>
            <a:lstStyle/>
            <a:p>
              <a:pPr indent="0" marL="0">
                <a:buNone/>
              </a:pPr>
              <a:r>
                <a:rPr lang="en-US" sz="1500" b="1" spc="120" kern="0" dirty="0">
                  <a:solidFill>
                    <a:srgbClr val="B5482E"/>
                  </a:solidFill>
                  <a:latin typeface="Arial" pitchFamily="34" charset="0"/>
                  <a:ea typeface="Arial" pitchFamily="34" charset="-122"/>
                  <a:cs typeface="Arial" pitchFamily="34" charset="-120"/>
                </a:rPr>
                <a:t>ROUND 1</a:t>
              </a:r>
              <a:endParaRPr lang="en-US" sz="1500" dirty="0"/>
            </a:p>
          </p:txBody>
        </p:sp>
        <p:sp>
          <p:nvSpPr>
            <p:cNvPr id="9" name="t0_s"/>
            <p:cNvSpPr txBox="1"/>
            <p:nvPr/>
          </p:nvSpPr>
          <p:spPr>
            <a:xfrm>
              <a:off x="1408176" y="2852928"/>
              <a:ext cx="2832506" cy="329184"/>
            </a:xfrm>
            <a:prstGeom prst="rect">
              <a:avLst/>
            </a:prstGeom>
            <a:noFill/>
            <a:ln/>
          </p:spPr>
          <p:txBody>
            <a:bodyPr wrap="square" lIns="0" tIns="0" rIns="0" bIns="0" rtlCol="0" anchor="ctr"/>
            <a:lstStyle/>
            <a:p>
              <a:pPr indent="0" marL="0">
                <a:buNone/>
              </a:pPr>
              <a:r>
                <a:rPr lang="en-US" sz="1600" b="1" dirty="0">
                  <a:solidFill>
                    <a:srgbClr val="3D2B1F"/>
                  </a:solidFill>
                  <a:latin typeface="Arial" pitchFamily="34" charset="0"/>
                  <a:ea typeface="Arial" pitchFamily="34" charset="-122"/>
                  <a:cs typeface="Arial" pitchFamily="34" charset="-120"/>
                </a:rPr>
                <a:t>Find the sustainable amount</a:t>
              </a:r>
              <a:endParaRPr lang="en-US" sz="1600" dirty="0"/>
            </a:p>
          </p:txBody>
        </p:sp>
        <p:sp>
          <p:nvSpPr>
            <p:cNvPr id="10" name="t0_b"/>
            <p:cNvSpPr txBox="1"/>
            <p:nvPr/>
          </p:nvSpPr>
          <p:spPr>
            <a:xfrm>
              <a:off x="1408176" y="3200400"/>
              <a:ext cx="2832506" cy="914400"/>
            </a:xfrm>
            <a:prstGeom prst="rect">
              <a:avLst/>
            </a:prstGeom>
            <a:noFill/>
            <a:ln/>
          </p:spPr>
          <p:txBody>
            <a:bodyPr wrap="square" lIns="0" tIns="0" rIns="0" bIns="0" rtlCol="0" anchor="t"/>
            <a:lstStyle/>
            <a:p>
              <a:pPr indent="0" marL="0">
                <a:lnSpc>
                  <a:spcPts val="1700"/>
                </a:lnSpc>
                <a:buNone/>
              </a:pPr>
              <a:r>
                <a:rPr lang="en-US" sz="1350" dirty="0">
                  <a:solidFill>
                    <a:srgbClr val="6B5A48"/>
                  </a:solidFill>
                  <a:latin typeface="Arial" pitchFamily="34" charset="0"/>
                  <a:ea typeface="Arial" pitchFamily="34" charset="-122"/>
                  <a:cs typeface="Arial" pitchFamily="34" charset="-120"/>
                </a:rPr>
                <a:t>Stock size and growth rate. Calculate the maximum that can be taken.</a:t>
              </a:r>
              <a:endParaRPr lang="en-US" sz="1350" dirty="0"/>
            </a:p>
          </p:txBody>
        </p:sp>
      </p:grpSp>
      <p:grpSp>
        <p:nvGrpSpPr>
          <p:cNvPr id="21" name="t1"/>
          <p:cNvGrpSpPr/>
          <p:nvPr/>
        </p:nvGrpSpPr>
        <p:grpSpPr>
          <a:xfrm>
            <a:off x="4752746" y="2322576"/>
            <a:ext cx="3307994" cy="1920240"/>
            <a:chOff x="4752746" y="2322576"/>
            <a:chExt cx="3307994" cy="1920240"/>
          </a:xfrm>
        </p:grpSpPr>
        <p:sp>
          <p:nvSpPr>
            <p:cNvPr id="11" name="t1_bg"/>
            <p:cNvSpPr/>
            <p:nvPr/>
          </p:nvSpPr>
          <p:spPr>
            <a:xfrm>
              <a:off x="4752746" y="2322576"/>
              <a:ext cx="3307994" cy="1920240"/>
            </a:xfrm>
            <a:prstGeom prst="roundRect">
              <a:avLst>
                <a:gd name="adj" fmla="val 4762"/>
              </a:avLst>
            </a:prstGeom>
            <a:solidFill>
              <a:srgbClr val="E2EEE8"/>
            </a:solidFill>
            <a:ln w="20320">
              <a:solidFill>
                <a:srgbClr val="6A8C9A"/>
              </a:solidFill>
              <a:prstDash val="solid"/>
            </a:ln>
          </p:spPr>
        </p:sp>
        <p:sp>
          <p:nvSpPr>
            <p:cNvPr id="12" name="t1_h"/>
            <p:cNvSpPr txBox="1"/>
            <p:nvPr/>
          </p:nvSpPr>
          <p:spPr>
            <a:xfrm>
              <a:off x="4990490" y="2487168"/>
              <a:ext cx="2832506" cy="365760"/>
            </a:xfrm>
            <a:prstGeom prst="rect">
              <a:avLst/>
            </a:prstGeom>
            <a:noFill/>
            <a:ln/>
          </p:spPr>
          <p:txBody>
            <a:bodyPr wrap="square" lIns="0" tIns="0" rIns="0" bIns="0" rtlCol="0" anchor="ctr"/>
            <a:lstStyle/>
            <a:p>
              <a:pPr indent="0" marL="0">
                <a:buNone/>
              </a:pPr>
              <a:r>
                <a:rPr lang="en-US" sz="1500" b="1" spc="120" kern="0" dirty="0">
                  <a:solidFill>
                    <a:srgbClr val="6A8C9A"/>
                  </a:solidFill>
                  <a:latin typeface="Arial" pitchFamily="34" charset="0"/>
                  <a:ea typeface="Arial" pitchFamily="34" charset="-122"/>
                  <a:cs typeface="Arial" pitchFamily="34" charset="-120"/>
                </a:rPr>
                <a:t>ROUND 2</a:t>
              </a:r>
              <a:endParaRPr lang="en-US" sz="1500" dirty="0"/>
            </a:p>
          </p:txBody>
        </p:sp>
        <p:sp>
          <p:nvSpPr>
            <p:cNvPr id="13" name="t1_s"/>
            <p:cNvSpPr txBox="1"/>
            <p:nvPr/>
          </p:nvSpPr>
          <p:spPr>
            <a:xfrm>
              <a:off x="4990490" y="2852928"/>
              <a:ext cx="2832506" cy="329184"/>
            </a:xfrm>
            <a:prstGeom prst="rect">
              <a:avLst/>
            </a:prstGeom>
            <a:noFill/>
            <a:ln/>
          </p:spPr>
          <p:txBody>
            <a:bodyPr wrap="square" lIns="0" tIns="0" rIns="0" bIns="0" rtlCol="0" anchor="ctr"/>
            <a:lstStyle/>
            <a:p>
              <a:pPr indent="0" marL="0">
                <a:buNone/>
              </a:pPr>
              <a:r>
                <a:rPr lang="en-US" sz="1600" b="1" dirty="0">
                  <a:solidFill>
                    <a:srgbClr val="3D2B1F"/>
                  </a:solidFill>
                  <a:latin typeface="Arial" pitchFamily="34" charset="0"/>
                  <a:ea typeface="Arial" pitchFamily="34" charset="-122"/>
                  <a:cs typeface="Arial" pitchFamily="34" charset="-120"/>
                </a:rPr>
                <a:t>Grows, shrinks, or stays the same?</a:t>
              </a:r>
              <a:endParaRPr lang="en-US" sz="1600" dirty="0"/>
            </a:p>
          </p:txBody>
        </p:sp>
        <p:sp>
          <p:nvSpPr>
            <p:cNvPr id="14" name="t1_b"/>
            <p:cNvSpPr txBox="1"/>
            <p:nvPr/>
          </p:nvSpPr>
          <p:spPr>
            <a:xfrm>
              <a:off x="4990490" y="3200400"/>
              <a:ext cx="2832506" cy="914400"/>
            </a:xfrm>
            <a:prstGeom prst="rect">
              <a:avLst/>
            </a:prstGeom>
            <a:noFill/>
            <a:ln/>
          </p:spPr>
          <p:txBody>
            <a:bodyPr wrap="square" lIns="0" tIns="0" rIns="0" bIns="0" rtlCol="0" anchor="t"/>
            <a:lstStyle/>
            <a:p>
              <a:pPr indent="0" marL="0">
                <a:lnSpc>
                  <a:spcPts val="1700"/>
                </a:lnSpc>
                <a:buNone/>
              </a:pPr>
              <a:r>
                <a:rPr lang="en-US" sz="1350" dirty="0">
                  <a:solidFill>
                    <a:srgbClr val="6B5A48"/>
                  </a:solidFill>
                  <a:latin typeface="Arial" pitchFamily="34" charset="0"/>
                  <a:ea typeface="Arial" pitchFamily="34" charset="-122"/>
                  <a:cs typeface="Arial" pitchFamily="34" charset="-120"/>
                </a:rPr>
                <a:t>Stock, growth rate, and what was actually taken. Work out what happens next.</a:t>
              </a:r>
              <a:endParaRPr lang="en-US" sz="1350" dirty="0"/>
            </a:p>
          </p:txBody>
        </p:sp>
      </p:grpSp>
      <p:grpSp>
        <p:nvGrpSpPr>
          <p:cNvPr id="22" name="t2"/>
          <p:cNvGrpSpPr/>
          <p:nvPr/>
        </p:nvGrpSpPr>
        <p:grpSpPr>
          <a:xfrm>
            <a:off x="8335061" y="2322576"/>
            <a:ext cx="3307994" cy="1920240"/>
            <a:chOff x="8335061" y="2322576"/>
            <a:chExt cx="3307994" cy="1920240"/>
          </a:xfrm>
        </p:grpSpPr>
        <p:sp>
          <p:nvSpPr>
            <p:cNvPr id="15" name="t2_bg"/>
            <p:cNvSpPr/>
            <p:nvPr/>
          </p:nvSpPr>
          <p:spPr>
            <a:xfrm>
              <a:off x="8335061" y="2322576"/>
              <a:ext cx="3307994" cy="1920240"/>
            </a:xfrm>
            <a:prstGeom prst="roundRect">
              <a:avLst>
                <a:gd name="adj" fmla="val 4762"/>
              </a:avLst>
            </a:prstGeom>
            <a:solidFill>
              <a:srgbClr val="ECE1CB"/>
            </a:solidFill>
            <a:ln w="20320">
              <a:solidFill>
                <a:srgbClr val="8F6D2A"/>
              </a:solidFill>
              <a:prstDash val="solid"/>
            </a:ln>
          </p:spPr>
        </p:sp>
        <p:sp>
          <p:nvSpPr>
            <p:cNvPr id="16" name="t2_h"/>
            <p:cNvSpPr txBox="1"/>
            <p:nvPr/>
          </p:nvSpPr>
          <p:spPr>
            <a:xfrm>
              <a:off x="8572805" y="2487168"/>
              <a:ext cx="2832506" cy="365760"/>
            </a:xfrm>
            <a:prstGeom prst="rect">
              <a:avLst/>
            </a:prstGeom>
            <a:noFill/>
            <a:ln/>
          </p:spPr>
          <p:txBody>
            <a:bodyPr wrap="square" lIns="0" tIns="0" rIns="0" bIns="0" rtlCol="0" anchor="ctr"/>
            <a:lstStyle/>
            <a:p>
              <a:pPr indent="0" marL="0">
                <a:buNone/>
              </a:pPr>
              <a:r>
                <a:rPr lang="en-US" sz="1500" b="1" spc="120" kern="0" dirty="0">
                  <a:solidFill>
                    <a:srgbClr val="8F6D2A"/>
                  </a:solidFill>
                  <a:latin typeface="Arial" pitchFamily="34" charset="0"/>
                  <a:ea typeface="Arial" pitchFamily="34" charset="-122"/>
                  <a:cs typeface="Arial" pitchFamily="34" charset="-120"/>
                </a:rPr>
                <a:t>ROUND 3</a:t>
              </a:r>
              <a:endParaRPr lang="en-US" sz="1500" dirty="0"/>
            </a:p>
          </p:txBody>
        </p:sp>
        <p:sp>
          <p:nvSpPr>
            <p:cNvPr id="17" name="t2_s"/>
            <p:cNvSpPr txBox="1"/>
            <p:nvPr/>
          </p:nvSpPr>
          <p:spPr>
            <a:xfrm>
              <a:off x="8572805" y="2852928"/>
              <a:ext cx="2832506" cy="329184"/>
            </a:xfrm>
            <a:prstGeom prst="rect">
              <a:avLst/>
            </a:prstGeom>
            <a:noFill/>
            <a:ln/>
          </p:spPr>
          <p:txBody>
            <a:bodyPr wrap="square" lIns="0" tIns="0" rIns="0" bIns="0" rtlCol="0" anchor="ctr"/>
            <a:lstStyle/>
            <a:p>
              <a:pPr indent="0" marL="0">
                <a:buNone/>
              </a:pPr>
              <a:r>
                <a:rPr lang="en-US" sz="1600" b="1" dirty="0">
                  <a:solidFill>
                    <a:srgbClr val="3D2B1F"/>
                  </a:solidFill>
                  <a:latin typeface="Arial" pitchFamily="34" charset="0"/>
                  <a:ea typeface="Arial" pitchFamily="34" charset="-122"/>
                  <a:cs typeface="Arial" pitchFamily="34" charset="-120"/>
                </a:rPr>
                <a:t>Harder management</a:t>
              </a:r>
              <a:endParaRPr lang="en-US" sz="1600" dirty="0"/>
            </a:p>
          </p:txBody>
        </p:sp>
        <p:sp>
          <p:nvSpPr>
            <p:cNvPr id="18" name="t2_b"/>
            <p:cNvSpPr txBox="1"/>
            <p:nvPr/>
          </p:nvSpPr>
          <p:spPr>
            <a:xfrm>
              <a:off x="8572805" y="3200400"/>
              <a:ext cx="2832506" cy="914400"/>
            </a:xfrm>
            <a:prstGeom prst="rect">
              <a:avLst/>
            </a:prstGeom>
            <a:noFill/>
            <a:ln/>
          </p:spPr>
          <p:txBody>
            <a:bodyPr wrap="square" lIns="0" tIns="0" rIns="0" bIns="0" rtlCol="0" anchor="t"/>
            <a:lstStyle/>
            <a:p>
              <a:pPr indent="0" marL="0">
                <a:lnSpc>
                  <a:spcPts val="1700"/>
                </a:lnSpc>
                <a:buNone/>
              </a:pPr>
              <a:r>
                <a:rPr lang="en-US" sz="1350" dirty="0">
                  <a:solidFill>
                    <a:srgbClr val="6B5A48"/>
                  </a:solidFill>
                  <a:latin typeface="Arial" pitchFamily="34" charset="0"/>
                  <a:ea typeface="Arial" pitchFamily="34" charset="-122"/>
                  <a:cs typeface="Arial" pitchFamily="34" charset="-120"/>
                </a:rPr>
                <a:t>Very hard. The last two questions are meant to be almost impossible.</a:t>
              </a:r>
              <a:endParaRPr lang="en-US" sz="1350" dirty="0"/>
            </a:p>
          </p:txBody>
        </p:sp>
      </p:grpSp>
      <p:sp>
        <p:nvSpPr>
          <p:cNvPr id="19" name="yd_note"/>
          <p:cNvSpPr txBox="1"/>
          <p:nvPr/>
        </p:nvSpPr>
        <p:spPr>
          <a:xfrm>
            <a:off x="1170432" y="4535424"/>
            <a:ext cx="10472623" cy="731520"/>
          </a:xfrm>
          <a:prstGeom prst="rect">
            <a:avLst/>
          </a:prstGeom>
          <a:noFill/>
          <a:ln/>
        </p:spPr>
        <p:txBody>
          <a:bodyPr wrap="square" lIns="0" tIns="0" rIns="0" bIns="0" rtlCol="0" anchor="t"/>
          <a:lstStyle/>
          <a:p>
            <a:pPr indent="0" marL="0">
              <a:lnSpc>
                <a:spcPts val="2100"/>
              </a:lnSpc>
              <a:buNone/>
            </a:pPr>
            <a:r>
              <a:rPr lang="en-US" sz="1600" b="1" dirty="0">
                <a:solidFill>
                  <a:srgbClr val="3D2B1F"/>
                </a:solidFill>
                <a:latin typeface="Arial" pitchFamily="34" charset="0"/>
                <a:ea typeface="Arial" pitchFamily="34" charset="-122"/>
                <a:cs typeface="Arial" pitchFamily="34" charset="-120"/>
              </a:rPr>
              <a:t>No timer on the questions. Read the feedback. Stop and see your results any time. Finished? The worksheet is there too.</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D2B1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C99A3D"/>
          </a:solidFill>
          <a:ln/>
        </p:spPr>
        <p:txBody>
          <a:bodyPr wrap="square" lIns="0" tIns="0" rIns="0" bIns="0" rtlCol="0" anchor="ctr"/>
          <a:lstStyle/>
          <a:p>
            <a:pPr algn="ctr" indent="0" marL="0">
              <a:buNone/>
            </a:pPr>
            <a:r>
              <a:rPr lang="en-US" sz="1100" b="1" spc="120" kern="0" dirty="0">
                <a:solidFill>
                  <a:srgbClr val="3D2B1F"/>
                </a:solidFill>
                <a:latin typeface="Arial" pitchFamily="34" charset="0"/>
                <a:ea typeface="Arial" pitchFamily="34" charset="-122"/>
                <a:cs typeface="Arial" pitchFamily="34" charset="-120"/>
              </a:rPr>
              <a:t>PLENARY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F2EBDD"/>
                </a:solidFill>
                <a:latin typeface="Georgia" pitchFamily="34" charset="0"/>
                <a:ea typeface="Georgia" pitchFamily="34" charset="-122"/>
                <a:cs typeface="Georgia" pitchFamily="34" charset="-120"/>
              </a:rPr>
              <a:t>True or false?</a:t>
            </a:r>
            <a:endParaRPr lang="en-US" sz="3000" dirty="0"/>
          </a:p>
        </p:txBody>
      </p:sp>
      <p:grpSp>
        <p:nvGrpSpPr>
          <p:cNvPr id="21" name="p0_stmt"/>
          <p:cNvGrpSpPr/>
          <p:nvPr/>
        </p:nvGrpSpPr>
        <p:grpSpPr>
          <a:xfrm>
            <a:off x="1170432" y="2194560"/>
            <a:ext cx="8552383" cy="640080"/>
            <a:chOff x="1170432" y="2194560"/>
            <a:chExt cx="8552383" cy="640080"/>
          </a:xfrm>
        </p:grpSpPr>
        <p:sp>
          <p:nvSpPr>
            <p:cNvPr id="5" name="p0_bg"/>
            <p:cNvSpPr/>
            <p:nvPr/>
          </p:nvSpPr>
          <p:spPr>
            <a:xfrm>
              <a:off x="1170432" y="2194560"/>
              <a:ext cx="8552383" cy="640080"/>
            </a:xfrm>
            <a:prstGeom prst="roundRect">
              <a:avLst>
                <a:gd name="adj" fmla="val 14286"/>
              </a:avLst>
            </a:prstGeom>
            <a:solidFill>
              <a:srgbClr val="5C4530"/>
            </a:solidFill>
            <a:ln w="12700">
              <a:solidFill>
                <a:srgbClr val="5C4530"/>
              </a:solidFill>
              <a:prstDash val="solid"/>
            </a:ln>
          </p:spPr>
        </p:sp>
        <p:sp>
          <p:nvSpPr>
            <p:cNvPr id="6" name="p0_q"/>
            <p:cNvSpPr txBox="1"/>
            <p:nvPr/>
          </p:nvSpPr>
          <p:spPr>
            <a:xfrm>
              <a:off x="1426464" y="2194560"/>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Conservation means never using a resource.</a:t>
              </a:r>
              <a:endParaRPr lang="en-US" sz="1500" dirty="0"/>
            </a:p>
          </p:txBody>
        </p:sp>
      </p:grpSp>
      <p:sp>
        <p:nvSpPr>
          <p:cNvPr id="7" name="p0_v"/>
          <p:cNvSpPr txBox="1"/>
          <p:nvPr/>
        </p:nvSpPr>
        <p:spPr>
          <a:xfrm>
            <a:off x="9905695" y="2194560"/>
            <a:ext cx="1737360" cy="640080"/>
          </a:xfrm>
          <a:prstGeom prst="rect">
            <a:avLst/>
          </a:prstGeom>
          <a:noFill/>
          <a:ln/>
        </p:spPr>
        <p:txBody>
          <a:bodyPr wrap="square" lIns="0" tIns="0" rIns="0" bIns="0" rtlCol="0" anchor="ctr"/>
          <a:lstStyle/>
          <a:p>
            <a:pPr indent="0" marL="0">
              <a:buNone/>
            </a:pPr>
            <a:r>
              <a:rPr lang="en-US" sz="1700" b="1" spc="100" kern="0" dirty="0">
                <a:solidFill>
                  <a:srgbClr val="C99A3D"/>
                </a:solidFill>
                <a:latin typeface="Arial" pitchFamily="34" charset="0"/>
                <a:ea typeface="Arial" pitchFamily="34" charset="-122"/>
                <a:cs typeface="Arial" pitchFamily="34" charset="-120"/>
              </a:rPr>
              <a:t>FALSE</a:t>
            </a:r>
            <a:endParaRPr lang="en-US" sz="1700" dirty="0"/>
          </a:p>
        </p:txBody>
      </p:sp>
      <p:grpSp>
        <p:nvGrpSpPr>
          <p:cNvPr id="22" name="p1_stmt"/>
          <p:cNvGrpSpPr/>
          <p:nvPr/>
        </p:nvGrpSpPr>
        <p:grpSpPr>
          <a:xfrm>
            <a:off x="1170432" y="2999232"/>
            <a:ext cx="8552383" cy="640080"/>
            <a:chOff x="1170432" y="2999232"/>
            <a:chExt cx="8552383" cy="640080"/>
          </a:xfrm>
        </p:grpSpPr>
        <p:sp>
          <p:nvSpPr>
            <p:cNvPr id="8" name="p1_bg"/>
            <p:cNvSpPr/>
            <p:nvPr/>
          </p:nvSpPr>
          <p:spPr>
            <a:xfrm>
              <a:off x="1170432" y="2999232"/>
              <a:ext cx="8552383" cy="640080"/>
            </a:xfrm>
            <a:prstGeom prst="roundRect">
              <a:avLst>
                <a:gd name="adj" fmla="val 14286"/>
              </a:avLst>
            </a:prstGeom>
            <a:solidFill>
              <a:srgbClr val="5C4530"/>
            </a:solidFill>
            <a:ln w="12700">
              <a:solidFill>
                <a:srgbClr val="5C4530"/>
              </a:solidFill>
              <a:prstDash val="solid"/>
            </a:ln>
          </p:spPr>
        </p:sp>
        <p:sp>
          <p:nvSpPr>
            <p:cNvPr id="9" name="p1_q"/>
            <p:cNvSpPr txBox="1"/>
            <p:nvPr/>
          </p:nvSpPr>
          <p:spPr>
            <a:xfrm>
              <a:off x="1426464" y="2999232"/>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Taking a sustainable amount means taking no more than the resource can replace.</a:t>
              </a:r>
              <a:endParaRPr lang="en-US" sz="1500" dirty="0"/>
            </a:p>
          </p:txBody>
        </p:sp>
      </p:grpSp>
      <p:sp>
        <p:nvSpPr>
          <p:cNvPr id="10" name="p1_v"/>
          <p:cNvSpPr txBox="1"/>
          <p:nvPr/>
        </p:nvSpPr>
        <p:spPr>
          <a:xfrm>
            <a:off x="9905695" y="2999232"/>
            <a:ext cx="1737360" cy="640080"/>
          </a:xfrm>
          <a:prstGeom prst="rect">
            <a:avLst/>
          </a:prstGeom>
          <a:noFill/>
          <a:ln/>
        </p:spPr>
        <p:txBody>
          <a:bodyPr wrap="square" lIns="0" tIns="0" rIns="0" bIns="0" rtlCol="0" anchor="ctr"/>
          <a:lstStyle/>
          <a:p>
            <a:pPr indent="0" marL="0">
              <a:buNone/>
            </a:pPr>
            <a:r>
              <a:rPr lang="en-US" sz="1700" b="1" spc="100" kern="0" dirty="0">
                <a:solidFill>
                  <a:srgbClr val="6A8C9A"/>
                </a:solidFill>
                <a:latin typeface="Arial" pitchFamily="34" charset="0"/>
                <a:ea typeface="Arial" pitchFamily="34" charset="-122"/>
                <a:cs typeface="Arial" pitchFamily="34" charset="-120"/>
              </a:rPr>
              <a:t>TRUE</a:t>
            </a:r>
            <a:endParaRPr lang="en-US" sz="1700" dirty="0"/>
          </a:p>
        </p:txBody>
      </p:sp>
      <p:grpSp>
        <p:nvGrpSpPr>
          <p:cNvPr id="23" name="p2_stmt"/>
          <p:cNvGrpSpPr/>
          <p:nvPr/>
        </p:nvGrpSpPr>
        <p:grpSpPr>
          <a:xfrm>
            <a:off x="1170432" y="3803904"/>
            <a:ext cx="8552383" cy="640080"/>
            <a:chOff x="1170432" y="3803904"/>
            <a:chExt cx="8552383" cy="640080"/>
          </a:xfrm>
        </p:grpSpPr>
        <p:sp>
          <p:nvSpPr>
            <p:cNvPr id="11" name="p2_bg"/>
            <p:cNvSpPr/>
            <p:nvPr/>
          </p:nvSpPr>
          <p:spPr>
            <a:xfrm>
              <a:off x="1170432" y="3803904"/>
              <a:ext cx="8552383" cy="640080"/>
            </a:xfrm>
            <a:prstGeom prst="roundRect">
              <a:avLst>
                <a:gd name="adj" fmla="val 14286"/>
              </a:avLst>
            </a:prstGeom>
            <a:solidFill>
              <a:srgbClr val="5C4530"/>
            </a:solidFill>
            <a:ln w="12700">
              <a:solidFill>
                <a:srgbClr val="5C4530"/>
              </a:solidFill>
              <a:prstDash val="solid"/>
            </a:ln>
          </p:spPr>
        </p:sp>
        <p:sp>
          <p:nvSpPr>
            <p:cNvPr id="12" name="p2_q"/>
            <p:cNvSpPr txBox="1"/>
            <p:nvPr/>
          </p:nvSpPr>
          <p:spPr>
            <a:xfrm>
              <a:off x="1426464" y="3803904"/>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Recycling is a form of resource management.</a:t>
              </a:r>
              <a:endParaRPr lang="en-US" sz="1500" dirty="0"/>
            </a:p>
          </p:txBody>
        </p:sp>
      </p:grpSp>
      <p:sp>
        <p:nvSpPr>
          <p:cNvPr id="13" name="p2_v"/>
          <p:cNvSpPr txBox="1"/>
          <p:nvPr/>
        </p:nvSpPr>
        <p:spPr>
          <a:xfrm>
            <a:off x="9905695" y="3803904"/>
            <a:ext cx="1737360" cy="640080"/>
          </a:xfrm>
          <a:prstGeom prst="rect">
            <a:avLst/>
          </a:prstGeom>
          <a:noFill/>
          <a:ln/>
        </p:spPr>
        <p:txBody>
          <a:bodyPr wrap="square" lIns="0" tIns="0" rIns="0" bIns="0" rtlCol="0" anchor="ctr"/>
          <a:lstStyle/>
          <a:p>
            <a:pPr indent="0" marL="0">
              <a:buNone/>
            </a:pPr>
            <a:r>
              <a:rPr lang="en-US" sz="1700" b="1" spc="100" kern="0" dirty="0">
                <a:solidFill>
                  <a:srgbClr val="6A8C9A"/>
                </a:solidFill>
                <a:latin typeface="Arial" pitchFamily="34" charset="0"/>
                <a:ea typeface="Arial" pitchFamily="34" charset="-122"/>
                <a:cs typeface="Arial" pitchFamily="34" charset="-120"/>
              </a:rPr>
              <a:t>TRUE</a:t>
            </a:r>
            <a:endParaRPr lang="en-US" sz="1700" dirty="0"/>
          </a:p>
        </p:txBody>
      </p:sp>
      <p:grpSp>
        <p:nvGrpSpPr>
          <p:cNvPr id="24" name="p3_stmt"/>
          <p:cNvGrpSpPr/>
          <p:nvPr/>
        </p:nvGrpSpPr>
        <p:grpSpPr>
          <a:xfrm>
            <a:off x="1170432" y="4608576"/>
            <a:ext cx="8552383" cy="640080"/>
            <a:chOff x="1170432" y="4608576"/>
            <a:chExt cx="8552383" cy="640080"/>
          </a:xfrm>
        </p:grpSpPr>
        <p:sp>
          <p:nvSpPr>
            <p:cNvPr id="14" name="p3_bg"/>
            <p:cNvSpPr/>
            <p:nvPr/>
          </p:nvSpPr>
          <p:spPr>
            <a:xfrm>
              <a:off x="1170432" y="4608576"/>
              <a:ext cx="8552383" cy="640080"/>
            </a:xfrm>
            <a:prstGeom prst="roundRect">
              <a:avLst>
                <a:gd name="adj" fmla="val 14286"/>
              </a:avLst>
            </a:prstGeom>
            <a:solidFill>
              <a:srgbClr val="5C4530"/>
            </a:solidFill>
            <a:ln w="12700">
              <a:solidFill>
                <a:srgbClr val="5C4530"/>
              </a:solidFill>
              <a:prstDash val="solid"/>
            </a:ln>
          </p:spPr>
        </p:sp>
        <p:sp>
          <p:nvSpPr>
            <p:cNvPr id="15" name="p3_q"/>
            <p:cNvSpPr txBox="1"/>
            <p:nvPr/>
          </p:nvSpPr>
          <p:spPr>
            <a:xfrm>
              <a:off x="1426464" y="4608576"/>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A forest cut at exactly its regrowth rate is not sustainable.</a:t>
              </a:r>
              <a:endParaRPr lang="en-US" sz="1500" dirty="0"/>
            </a:p>
          </p:txBody>
        </p:sp>
      </p:grpSp>
      <p:sp>
        <p:nvSpPr>
          <p:cNvPr id="16" name="p3_v"/>
          <p:cNvSpPr txBox="1"/>
          <p:nvPr/>
        </p:nvSpPr>
        <p:spPr>
          <a:xfrm>
            <a:off x="9905695" y="4608576"/>
            <a:ext cx="1737360" cy="640080"/>
          </a:xfrm>
          <a:prstGeom prst="rect">
            <a:avLst/>
          </a:prstGeom>
          <a:noFill/>
          <a:ln/>
        </p:spPr>
        <p:txBody>
          <a:bodyPr wrap="square" lIns="0" tIns="0" rIns="0" bIns="0" rtlCol="0" anchor="ctr"/>
          <a:lstStyle/>
          <a:p>
            <a:pPr indent="0" marL="0">
              <a:buNone/>
            </a:pPr>
            <a:r>
              <a:rPr lang="en-US" sz="1700" b="1" spc="100" kern="0" dirty="0">
                <a:solidFill>
                  <a:srgbClr val="C99A3D"/>
                </a:solidFill>
                <a:latin typeface="Arial" pitchFamily="34" charset="0"/>
                <a:ea typeface="Arial" pitchFamily="34" charset="-122"/>
                <a:cs typeface="Arial" pitchFamily="34" charset="-120"/>
              </a:rPr>
              <a:t>FALSE</a:t>
            </a:r>
            <a:endParaRPr lang="en-US" sz="1700" dirty="0"/>
          </a:p>
        </p:txBody>
      </p:sp>
      <p:grpSp>
        <p:nvGrpSpPr>
          <p:cNvPr id="25" name="p4_stmt"/>
          <p:cNvGrpSpPr/>
          <p:nvPr/>
        </p:nvGrpSpPr>
        <p:grpSpPr>
          <a:xfrm>
            <a:off x="1170432" y="5413248"/>
            <a:ext cx="8552383" cy="640080"/>
            <a:chOff x="1170432" y="5413248"/>
            <a:chExt cx="8552383" cy="640080"/>
          </a:xfrm>
        </p:grpSpPr>
        <p:sp>
          <p:nvSpPr>
            <p:cNvPr id="17" name="p4_bg"/>
            <p:cNvSpPr/>
            <p:nvPr/>
          </p:nvSpPr>
          <p:spPr>
            <a:xfrm>
              <a:off x="1170432" y="5413248"/>
              <a:ext cx="8552383" cy="640080"/>
            </a:xfrm>
            <a:prstGeom prst="roundRect">
              <a:avLst>
                <a:gd name="adj" fmla="val 14286"/>
              </a:avLst>
            </a:prstGeom>
            <a:solidFill>
              <a:srgbClr val="5C4530"/>
            </a:solidFill>
            <a:ln w="12700">
              <a:solidFill>
                <a:srgbClr val="5C4530"/>
              </a:solidFill>
              <a:prstDash val="solid"/>
            </a:ln>
          </p:spPr>
        </p:sp>
        <p:sp>
          <p:nvSpPr>
            <p:cNvPr id="18" name="p4_q"/>
            <p:cNvSpPr txBox="1"/>
            <p:nvPr/>
          </p:nvSpPr>
          <p:spPr>
            <a:xfrm>
              <a:off x="1426464" y="5413248"/>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Once a resource has collapsed, conservation can never help it recover.</a:t>
              </a:r>
              <a:endParaRPr lang="en-US" sz="1500" dirty="0"/>
            </a:p>
          </p:txBody>
        </p:sp>
      </p:grpSp>
      <p:sp>
        <p:nvSpPr>
          <p:cNvPr id="19" name="p4_v"/>
          <p:cNvSpPr txBox="1"/>
          <p:nvPr/>
        </p:nvSpPr>
        <p:spPr>
          <a:xfrm>
            <a:off x="9905695" y="5413248"/>
            <a:ext cx="1737360" cy="640080"/>
          </a:xfrm>
          <a:prstGeom prst="rect">
            <a:avLst/>
          </a:prstGeom>
          <a:noFill/>
          <a:ln/>
        </p:spPr>
        <p:txBody>
          <a:bodyPr wrap="square" lIns="0" tIns="0" rIns="0" bIns="0" rtlCol="0" anchor="ctr"/>
          <a:lstStyle/>
          <a:p>
            <a:pPr indent="0" marL="0">
              <a:buNone/>
            </a:pPr>
            <a:r>
              <a:rPr lang="en-US" sz="1700" b="1" spc="100" kern="0" dirty="0">
                <a:solidFill>
                  <a:srgbClr val="C99A3D"/>
                </a:solidFill>
                <a:latin typeface="Arial" pitchFamily="34" charset="0"/>
                <a:ea typeface="Arial" pitchFamily="34" charset="-122"/>
                <a:cs typeface="Arial" pitchFamily="34" charset="-120"/>
              </a:rPr>
              <a:t>FALSE</a:t>
            </a:r>
            <a:endParaRPr lang="en-US" sz="1700" dirty="0"/>
          </a:p>
        </p:txBody>
      </p:sp>
      <p:sp>
        <p:nvSpPr>
          <p:cNvPr id="20" name="pl_next"/>
          <p:cNvSpPr txBox="1"/>
          <p:nvPr/>
        </p:nvSpPr>
        <p:spPr>
          <a:xfrm>
            <a:off x="1170432" y="6071616"/>
            <a:ext cx="10472623" cy="457200"/>
          </a:xfrm>
          <a:prstGeom prst="rect">
            <a:avLst/>
          </a:prstGeom>
          <a:noFill/>
          <a:ln/>
        </p:spPr>
        <p:txBody>
          <a:bodyPr wrap="square" lIns="0" tIns="0" rIns="0" bIns="0" rtlCol="0" anchor="ctr"/>
          <a:lstStyle/>
          <a:p>
            <a:pPr indent="0" marL="0">
              <a:buNone/>
            </a:pPr>
            <a:r>
              <a:rPr lang="en-US" sz="1500" b="1" i="1" dirty="0">
                <a:solidFill>
                  <a:srgbClr val="C99A3D"/>
                </a:solidFill>
                <a:latin typeface="Arial" pitchFamily="34" charset="0"/>
                <a:ea typeface="Arial" pitchFamily="34" charset="-122"/>
                <a:cs typeface="Arial" pitchFamily="34" charset="-120"/>
              </a:rPr>
              <a:t>Making it last means taking no more than a resource can replace.</a:t>
            </a:r>
            <a:endParaRPr lang="en-US" sz="15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00"/>
                                        <p:tgtEl>
                                          <p:spTgt spid="7"/>
                                        </p:tgtEl>
                                      </p:cBhvr>
                                    </p:animEffect>
                                    <p:animScale>
                                      <p:cBhvr>
                                        <p:cTn id="10" dur="400" fill="hold"/>
                                        <p:tgtEl>
                                          <p:spTgt spid="7"/>
                                        </p:tgtEl>
                                      </p:cBhvr>
                                      <p:from x="0" y="0"/>
                                      <p:to x="100000" y="100000"/>
                                    </p:animScale>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2" presetID="23" presetClass="entr" presetSubtype="16"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animScale>
                                      <p:cBhvr>
                                        <p:cTn id="21" dur="400" fill="hold"/>
                                        <p:tgtEl>
                                          <p:spTgt spid="10"/>
                                        </p:tgtEl>
                                      </p:cBhvr>
                                      <p:from x="0" y="0"/>
                                      <p:to x="100000" y="100000"/>
                                    </p:animScale>
                                  </p:childTnLst>
                                </p:cTn>
                              </p:par>
                            </p:childTnLst>
                          </p:cTn>
                        </p:par>
                      </p:childTnLst>
                    </p:cTn>
                  </p:par>
                  <p:par>
                    <p:cTn id="28" fill="hold">
                      <p:stCondLst>
                        <p:cond delay="indefinite"/>
                      </p:stCondLst>
                      <p:childTnLst>
                        <p:par>
                          <p:cTn id="29"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3" presetID="2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animScale>
                                      <p:cBhvr>
                                        <p:cTn id="32" dur="400" fill="hold"/>
                                        <p:tgtEl>
                                          <p:spTgt spid="13"/>
                                        </p:tgtEl>
                                      </p:cBhvr>
                                      <p:from x="0" y="0"/>
                                      <p:to x="100000" y="100000"/>
                                    </p:animScale>
                                  </p:childTnLst>
                                </p:cTn>
                              </p:par>
                            </p:childTnLst>
                          </p:cTn>
                        </p:par>
                      </p:childTnLst>
                    </p:cTn>
                  </p:par>
                  <p:par>
                    <p:cTn id="39" fill="hold">
                      <p:stCondLst>
                        <p:cond delay="indefinite"/>
                      </p:stCondLst>
                      <p:childTnLst>
                        <p:par>
                          <p:cTn id="40"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4" presetID="23" presetClass="entr" presetSubtype="16"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Scale>
                                      <p:cBhvr>
                                        <p:cTn id="43" dur="400" fill="hold"/>
                                        <p:tgtEl>
                                          <p:spTgt spid="16"/>
                                        </p:tgtEl>
                                      </p:cBhvr>
                                      <p:from x="0" y="0"/>
                                      <p:to x="100000" y="100000"/>
                                    </p:animScale>
                                  </p:childTnLst>
                                </p:cTn>
                              </p:par>
                            </p:childTnLst>
                          </p:cTn>
                        </p:par>
                      </p:childTnLst>
                    </p:cTn>
                  </p:par>
                  <p:par>
                    <p:cTn id="50" fill="hold">
                      <p:stCondLst>
                        <p:cond delay="indefinite"/>
                      </p:stCondLst>
                      <p:childTnLst>
                        <p:par>
                          <p:cTn id="51"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5" presetID="23" presetClass="entr" presetSubtype="16"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animScale>
                                      <p:cBhvr>
                                        <p:cTn id="54" dur="400" fill="hold"/>
                                        <p:tgtEl>
                                          <p:spTgt spid="19"/>
                                        </p:tgtEl>
                                      </p:cBhvr>
                                      <p:from x="0" y="0"/>
                                      <p:to x="100000" y="100000"/>
                                    </p:animScale>
                                  </p:childTnLst>
                                </p:cTn>
                              </p:par>
                            </p:childTnLst>
                          </p:cTn>
                        </p:par>
                      </p:childTnLst>
                    </p:cTn>
                  </p:par>
                  <p:par>
                    <p:cTn id="61" fill="hold">
                      <p:stCondLst>
                        <p:cond delay="indefinite"/>
                      </p:stCondLst>
                      <p:childTnLst>
                        <p:par>
                          <p:cTn id="62" fill="hold">
                            <p:stCondLst>
                              <p:cond delay="0"/>
                            </p:stCondLst>
                            <p:childTnLst>
                              <p:par>
                                <p:cTn id="60"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63" fill="hold" display="0">
                  <p:stCondLst>
                    <p:cond delay="0"/>
                  </p:stCondLst>
                  <p:endCondLst>
                    <p:cond evt="onStopAudio" delay="0">
                      <p:tgtEl>
                        <p:sldTgt/>
                      </p:tgtEl>
                    </p:cond>
                  </p:end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It Last</dc:title>
  <dc:subject>Y9 Science · 9G and 9I</dc:subject>
  <dc:creator>Chuka</dc:creator>
  <cp:lastModifiedBy>Chuka</cp:lastModifiedBy>
  <cp:revision>1</cp:revision>
  <dcterms:created xsi:type="dcterms:W3CDTF">2026-10-02T22:39:34Z</dcterms:created>
  <dcterms:modified xsi:type="dcterms:W3CDTF">2026-10-02T22:39:34Z</dcterms:modified>
</cp:coreProperties>
</file>