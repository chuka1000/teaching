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g"/>
  <Default Extension="png" ContentType="image/png"/>
  <Default Extension="bmp" ContentType="image/bmp"/>
  <Default Extension="gif" ContentType="image/gif"/>
  <Default Extension="tif" ContentType="image/tif"/>
  <Default Extension="pdf" ContentType="application/pdf"/>
  <Default Extension="mov" ContentType="application/movie"/>
  <Default Extension="vml" ContentType="application/vnd.openxmlformats-officedocument.vmlDrawing"/>
  <Default Extension="xlsx" ContentType="application/vnd.openxmlformats-officedocument.spreadsheetml.sheet"/>
  <Override PartName="/docProps/core.xml" ContentType="application/vnd.openxmlformats-package.core-properties+xml"/>
  <Override PartName="/docProps/app.xml" ContentType="application/vnd.openxmlformats-officedocument.extended-properties+xml"/>
  <Override PartName="/ppt/presentation.xml" ContentType="application/vnd.openxmlformats-officedocument.presentationml.presentation.main+xml"/>
  <Override PartName="/ppt/presProps.xml" ContentType="application/vnd.openxmlformats-officedocument.presentationml.presProps+xml"/>
  <Override PartName="/ppt/viewProps.xml" ContentType="application/vnd.openxmlformats-officedocument.presentationml.viewProps+xml"/>
  <Override PartName="/ppt/commentAuthors.xml" ContentType="application/vnd.openxmlformats-officedocument.presentationml.commentAuthors+xml"/>
  <Override PartName="/ppt/tableStyles.xml" ContentType="application/vnd.openxmlformats-officedocument.presentationml.tableStyles+xml"/>
  <Override PartName="/ppt/slideMasters/slideMaster1.xml" ContentType="application/vnd.openxmlformats-officedocument.presentationml.slideMaster+xml"/>
  <Override PartName="/ppt/theme/theme1.xml" ContentType="application/vnd.openxmlformats-officedocument.theme+xml"/>
  <Override PartName="/ppt/notesMasters/notesMaster1.xml" ContentType="application/vnd.openxmlformats-officedocument.presentationml.notes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media/media1.mp4" ContentType="video/unknown"/>
  <Override PartName="/ppt/notesSlides/notesSlide2.xml" ContentType="application/vnd.openxmlformats-officedocument.presentationml.notesSlide+xml"/>
  <Override PartName="/ppt/media/media2.mp4" ContentType="video/unknown"/>
  <Override PartName="/ppt/notesSlides/notesSlide3.xml" ContentType="application/vnd.openxmlformats-officedocument.presentationml.notesSlide+xml"/>
  <Override PartName="/ppt/media/media3.mp4" ContentType="video/unknown"/>
  <Override PartName="/ppt/notesSlides/notesSlide4.xml" ContentType="application/vnd.openxmlformats-officedocument.presentationml.notesSlide+xml"/>
  <Override PartName="/ppt/media/media4.mp4" ContentType="video/unknown"/>
  <Override PartName="/ppt/notesSlides/notesSlide5.xml" ContentType="application/vnd.openxmlformats-officedocument.presentationml.notesSlide+xml"/>
  <Override PartName="/ppt/notesSlides/notesSlide6.xml" ContentType="application/vnd.openxmlformats-officedocument.presentationml.notesSlide+xml"/>
  <Override PartName="/ppt/media/media5.mp4" ContentType="video/unknown"/>
  <Override PartName="/ppt/notesSlides/notesSlide7.xml" ContentType="application/vnd.openxmlformats-officedocument.presentationml.notesSlide+xml"/>
  <Override PartName="/ppt/media/media6.mp4" ContentType="video/unknown"/>
  <Override PartName="/ppt/notesSlides/notesSlide8.xml" ContentType="application/vnd.openxmlformats-officedocument.presentationml.notesSlide+xml"/>
  <Override PartName="/ppt/media/media7.mp4" ContentType="video/unknown"/>
  <Override PartName="/ppt/notesSlides/notesSlide9.xml" ContentType="application/vnd.openxmlformats-officedocument.presentationml.notesSlide+xml"/>
  <Override PartName="/ppt/media/media8.mp4" ContentType="video/unknown"/>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ldMasterIdLst>
    <p:sldMasterId id="2147483648" r:id="rId5"/>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Lst>
  <p:sldSz cx="12179300" cy="6858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Calibri"/>
      </a:defRPr>
    </a:lvl1pPr>
    <a:lvl2pPr marL="0" marR="0" indent="4572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Calibri"/>
      </a:defRPr>
    </a:lvl2pPr>
    <a:lvl3pPr marL="0" marR="0" indent="9144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Calibri"/>
      </a:defRPr>
    </a:lvl3pPr>
    <a:lvl4pPr marL="0" marR="0" indent="13716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Calibri"/>
      </a:defRPr>
    </a:lvl4pPr>
    <a:lvl5pPr marL="0" marR="0" indent="18288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Calibri"/>
      </a:defRPr>
    </a:lvl5pPr>
    <a:lvl6pPr marL="0" marR="0" indent="22860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Calibri"/>
      </a:defRPr>
    </a:lvl6pPr>
    <a:lvl7pPr marL="0" marR="0" indent="27432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Calibri"/>
      </a:defRPr>
    </a:lvl7pPr>
    <a:lvl8pPr marL="0" marR="0" indent="32004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Calibri"/>
      </a:defRPr>
    </a:lvl8pPr>
    <a:lvl9pPr marL="0" marR="0" indent="36576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Calibri"/>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file>

<file path=ppt/presProps.xml><?xml version="1.0" encoding="utf-8"?>
<p:presentation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howPr loop="0"/>
</p:presentationPr>
</file>

<file path=ppt/tableStyles.xml><?xml version="1.0" encoding="utf-8"?>
<a:tblStyleLst xmlns:a="http://schemas.openxmlformats.org/drawingml/2006/main" xmlns:r="http://schemas.openxmlformats.org/officeDocument/2006/relationships" def="{5940675A-B579-460E-94D1-54222C63F5DA}">
  <a:tblStyle styleId="{4C3C2611-4C71-4FC5-86AE-919BDF0F9419}"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DD4EA"/>
          </a:solidFill>
        </a:fill>
      </a:tcStyle>
    </a:wholeTbl>
    <a:band2H>
      <a:tcTxStyle b="def" i="def"/>
      <a:tcStyle>
        <a:tcBdr/>
        <a:fill>
          <a:solidFill>
            <a:srgbClr val="E8EBF5"/>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Row>
  </a:tblStyle>
  <a:tblStyle styleId="{C7B018BB-80A7-4F77-B60F-C8B233D01FF8}"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E0E0E0"/>
          </a:solidFill>
        </a:fill>
      </a:tcStyle>
    </a:wholeTbl>
    <a:band2H>
      <a:tcTxStyle b="def" i="def"/>
      <a:tcStyle>
        <a:tcBdr/>
        <a:fill>
          <a:solidFill>
            <a:srgbClr val="F0F0F0"/>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Row>
  </a:tblStyle>
  <a:tblStyle styleId="{EEE7283C-3CF3-47DC-8721-378D4A62B228}"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D4E2CE"/>
          </a:solidFill>
        </a:fill>
      </a:tcStyle>
    </a:wholeTbl>
    <a:band2H>
      <a:tcTxStyle b="def" i="def"/>
      <a:tcStyle>
        <a:tcBdr/>
        <a:fill>
          <a:solidFill>
            <a:srgbClr val="EBF1E8"/>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Row>
  </a:tblStyle>
  <a:tblStyle styleId="{CF821DB8-F4EB-4A41-A1BA-3FCAFE7338EE}" styleName="">
    <a:tblBg/>
    <a:wholeTbl>
      <a:tcTxStyle b="off" i="off">
        <a:fontRef idx="minor">
          <a:srgbClr val="000000"/>
        </a:fontRef>
        <a:srgbClr val="000000"/>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E6E6E6"/>
          </a:solidFill>
        </a:fill>
      </a:tcStyle>
    </a:wholeTbl>
    <a:band2H>
      <a:tcTxStyle b="def" i="def"/>
      <a:tcStyle>
        <a:tcBdr/>
        <a:fill>
          <a:solidFill>
            <a:srgbClr val="FFFFFF"/>
          </a:solidFill>
        </a:fill>
      </a:tcStyle>
    </a:band2H>
    <a:firstCol>
      <a:tcTxStyle b="on" i="off">
        <a:fontRef idx="minor">
          <a:srgbClr val="FFFFFF"/>
        </a:fontRef>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Col>
    <a:lastRow>
      <a:tcTxStyle b="on" i="off">
        <a:fontRef idx="minor">
          <a:srgbClr val="000000"/>
        </a:fontRef>
        <a:srgbClr val="000000"/>
      </a:tcTxStyle>
      <a:tcStyle>
        <a:tcBdr>
          <a:left>
            <a:ln w="12700" cap="flat">
              <a:noFill/>
              <a:miter lim="400000"/>
            </a:ln>
          </a:left>
          <a:right>
            <a:ln w="12700" cap="flat">
              <a:noFill/>
              <a:miter lim="400000"/>
            </a:ln>
          </a:right>
          <a:top>
            <a:ln w="508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rgbClr val="FFFFFF"/>
          </a:solidFill>
        </a:fill>
      </a:tcStyle>
    </a:lastRow>
    <a:firstRow>
      <a:tcTxStyle b="on" i="off">
        <a:fontRef idx="minor">
          <a:srgbClr val="FFFFFF"/>
        </a:fontRef>
        <a:srgbClr val="FFFFFF"/>
      </a:tcTxStyle>
      <a:tcStyle>
        <a:tcBdr>
          <a:left>
            <a:ln w="12700" cap="flat">
              <a:noFill/>
              <a:miter lim="400000"/>
            </a:ln>
          </a:left>
          <a:right>
            <a:ln w="12700" cap="flat">
              <a:noFill/>
              <a:miter lim="400000"/>
            </a:ln>
          </a:right>
          <a:top>
            <a:ln w="254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chemeClr val="accent1"/>
          </a:solidFill>
        </a:fill>
      </a:tcStyle>
    </a:firstRow>
  </a:tblStyle>
  <a:tblStyle styleId="{33BA23B1-9221-436E-865A-0063620EA4FD}"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ACACA"/>
          </a:solidFill>
        </a:fill>
      </a:tcStyle>
    </a:wholeTbl>
    <a:band2H>
      <a:tcTxStyle b="def" i="def"/>
      <a:tcStyle>
        <a:tcBdr/>
        <a:fill>
          <a:solidFill>
            <a:srgbClr val="E6E6E6"/>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Row>
  </a:tblStyle>
  <a:tblStyle styleId="{2708684C-4D16-4618-839F-0558EEFCDFE6}" styleName="">
    <a:tblBg/>
    <a:wholeTbl>
      <a:tcTxStyle b="off"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wholeTbl>
    <a:band2H>
      <a:tcTxStyle b="def" i="def"/>
      <a:tcStyle>
        <a:tcBdr/>
        <a:fill>
          <a:solidFill>
            <a:srgbClr val="FFFFFF"/>
          </a:solidFill>
        </a:fill>
      </a:tcStyle>
    </a:band2H>
    <a:firstCol>
      <a:tcTxStyle b="on"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firstCol>
    <a:lastRow>
      <a:tcTxStyle b="on"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508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lastRow>
    <a:firstRow>
      <a:tcTxStyle b="on"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254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Comments="1"/>
</file>

<file path=ppt/_rels/presentation.xml.rels><?xml version="1.0" encoding="UTF-8"?>
<Relationships xmlns="http://schemas.openxmlformats.org/package/2006/relationships"><Relationship Id="rId1" Type="http://schemas.openxmlformats.org/officeDocument/2006/relationships/presProps" Target="presProps.xml"/><Relationship Id="rId2" Type="http://schemas.openxmlformats.org/officeDocument/2006/relationships/viewProps" Target="viewProps.xml"/><Relationship Id="rId3" Type="http://schemas.openxmlformats.org/officeDocument/2006/relationships/commentAuthors" Target="commentAuthor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theme" Target="theme/theme1.xml"/><Relationship Id="rId7" Type="http://schemas.openxmlformats.org/officeDocument/2006/relationships/notesMaster" Target="notesMasters/notes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spTree>
      <p:nvGrpSpPr>
        <p:cNvPr id="1" name=""/>
        <p:cNvGrpSpPr/>
        <p:nvPr/>
      </p:nvGrpSpPr>
      <p:grpSpPr>
        <a:xfrm>
          <a:off x="0" y="0"/>
          <a:ext cx="0" cy="0"/>
          <a:chOff x="0" y="0"/>
          <a:chExt cx="0" cy="0"/>
        </a:xfrm>
      </p:grpSpPr>
      <p:sp>
        <p:nvSpPr>
          <p:cNvPr id="17" name="Shape 17"/>
          <p:cNvSpPr/>
          <p:nvPr>
            <p:ph type="sldImg"/>
          </p:nvPr>
        </p:nvSpPr>
        <p:spPr>
          <a:xfrm>
            <a:off x="1143000" y="685800"/>
            <a:ext cx="4572000" cy="3429000"/>
          </a:xfrm>
          <a:prstGeom prst="rect">
            <a:avLst/>
          </a:prstGeom>
        </p:spPr>
        <p:txBody>
          <a:bodyPr/>
          <a:lstStyle/>
          <a:p>
            <a:pPr/>
          </a:p>
        </p:txBody>
      </p:sp>
      <p:sp>
        <p:nvSpPr>
          <p:cNvPr id="18" name="Shape 18"/>
          <p:cNvSpPr/>
          <p:nvPr>
            <p:ph type="body" sz="quarter" idx="1"/>
          </p:nvPr>
        </p:nvSpPr>
        <p:spPr>
          <a:xfrm>
            <a:off x="914400" y="4343400"/>
            <a:ext cx="5029200" cy="4114800"/>
          </a:xfrm>
          <a:prstGeom prst="rect">
            <a:avLst/>
          </a:prstGeom>
        </p:spPr>
        <p:txBody>
          <a:bodyPr/>
          <a:lstStyle/>
          <a:p>
            <a:pPr/>
          </a:p>
        </p:txBody>
      </p:sp>
    </p:spTree>
  </p:cSld>
  <p:clrMap bg1="lt1" tx1="dk1" bg2="lt2" tx2="dk2" accent1="accent1" accent2="accent2" accent3="accent3" accent4="accent4" accent5="accent5" accent6="accent6" hlink="hlink" folHlink="folHlink"/>
  <p:notesStyle>
    <a:lvl1pPr latinLnBrk="0">
      <a:defRPr sz="1200">
        <a:latin typeface="+mn-lt"/>
        <a:ea typeface="+mn-ea"/>
        <a:cs typeface="+mn-cs"/>
        <a:sym typeface="Calibri"/>
      </a:defRPr>
    </a:lvl1pPr>
    <a:lvl2pPr indent="228600" latinLnBrk="0">
      <a:defRPr sz="1200">
        <a:latin typeface="+mn-lt"/>
        <a:ea typeface="+mn-ea"/>
        <a:cs typeface="+mn-cs"/>
        <a:sym typeface="Calibri"/>
      </a:defRPr>
    </a:lvl2pPr>
    <a:lvl3pPr indent="457200" latinLnBrk="0">
      <a:defRPr sz="1200">
        <a:latin typeface="+mn-lt"/>
        <a:ea typeface="+mn-ea"/>
        <a:cs typeface="+mn-cs"/>
        <a:sym typeface="Calibri"/>
      </a:defRPr>
    </a:lvl3pPr>
    <a:lvl4pPr indent="685800" latinLnBrk="0">
      <a:defRPr sz="1200">
        <a:latin typeface="+mn-lt"/>
        <a:ea typeface="+mn-ea"/>
        <a:cs typeface="+mn-cs"/>
        <a:sym typeface="Calibri"/>
      </a:defRPr>
    </a:lvl4pPr>
    <a:lvl5pPr indent="914400" latinLnBrk="0">
      <a:defRPr sz="1200">
        <a:latin typeface="+mn-lt"/>
        <a:ea typeface="+mn-ea"/>
        <a:cs typeface="+mn-cs"/>
        <a:sym typeface="Calibri"/>
      </a:defRPr>
    </a:lvl5pPr>
    <a:lvl6pPr indent="1143000" latinLnBrk="0">
      <a:defRPr sz="1200">
        <a:latin typeface="+mn-lt"/>
        <a:ea typeface="+mn-ea"/>
        <a:cs typeface="+mn-cs"/>
        <a:sym typeface="Calibri"/>
      </a:defRPr>
    </a:lvl6pPr>
    <a:lvl7pPr indent="1371600" latinLnBrk="0">
      <a:defRPr sz="1200">
        <a:latin typeface="+mn-lt"/>
        <a:ea typeface="+mn-ea"/>
        <a:cs typeface="+mn-cs"/>
        <a:sym typeface="Calibri"/>
      </a:defRPr>
    </a:lvl7pPr>
    <a:lvl8pPr indent="1600200" latinLnBrk="0">
      <a:defRPr sz="1200">
        <a:latin typeface="+mn-lt"/>
        <a:ea typeface="+mn-ea"/>
        <a:cs typeface="+mn-cs"/>
        <a:sym typeface="Calibri"/>
      </a:defRPr>
    </a:lvl8pPr>
    <a:lvl9pPr indent="1828800" latinLnBrk="0">
      <a:defRPr sz="1200">
        <a:latin typeface="+mn-lt"/>
        <a:ea typeface="+mn-ea"/>
        <a:cs typeface="+mn-cs"/>
        <a:sym typeface="Calibri"/>
      </a:defRPr>
    </a:lvl9pPr>
  </p:notesStyle>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69" name="Shape 69"/>
          <p:cNvSpPr/>
          <p:nvPr>
            <p:ph type="sldImg"/>
          </p:nvPr>
        </p:nvSpPr>
        <p:spPr>
          <a:prstGeom prst="rect">
            <a:avLst/>
          </a:prstGeom>
        </p:spPr>
        <p:txBody>
          <a:bodyPr/>
          <a:lstStyle/>
          <a:p>
            <a:pPr/>
          </a:p>
        </p:txBody>
      </p:sp>
      <p:sp>
        <p:nvSpPr>
          <p:cNvPr id="70" name="Shape 70"/>
          <p:cNvSpPr/>
          <p:nvPr>
            <p:ph type="body" sz="quarter" idx="1"/>
          </p:nvPr>
        </p:nvSpPr>
        <p:spPr>
          <a:prstGeom prst="rect">
            <a:avLst/>
          </a:prstGeom>
        </p:spPr>
        <p:txBody>
          <a:bodyPr/>
          <a:lstStyle/>
          <a:p>
            <a:pPr/>
            <a:r>
              <a:t>DO NOW. 10 minutes, the standard length. Six clicks.</a:t>
            </a:r>
          </a:p>
          <a:p>
            <a:pPr/>
          </a:p>
          <a:p>
            <a:pPr/>
            <a:r>
              <a:t>I READ reference/What The Earth Gives Us.pptx (the stated PREVIOUS lesson). Q1, Q2 and Q4 retrieve it directly; Q2 reuses the cod figure as plain retrieval, which is fine two lessons on, it is a dramatic fact worth keeping live.</a:t>
            </a:r>
          </a:p>
          <a:p>
            <a:pPr/>
          </a:p>
          <a:p>
            <a:pPr/>
            <a:r>
              <a:t>Q3 IS THE ONE CALCULATION, fresh numbers, not the previous lesson's own worksheet figures. Watch for 10% (dividing the wrong way).</a:t>
            </a:r>
          </a:p>
          <a:p>
            <a:pPr/>
          </a:p>
          <a:p>
            <a:pPr/>
            <a:r>
              <a:t>Q5 AND Q6 ARE INTUITIVE, NOT TAUGHT YET. Accept any reasonable answer. Q5 primes conservation from the student's own experience. Q6 primes the whole of objective 2 in a sentence, before the term "sustainable" is used.</a:t>
            </a:r>
          </a:p>
          <a:p>
            <a:pPr/>
          </a:p>
          <a:p>
            <a:pPr/>
            <a:r>
              <a:t>THEY FOUND HARD: not stated in the brief. Nothing guessed.</a:t>
            </a:r>
          </a:p>
          <a:p>
            <a:pPr/>
          </a:p>
          <a:p>
            <a:pPr/>
            <a:r>
              <a:t>CHANGE THE DATE before you teach, if the actual lesson falls on a different day.</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95" name="Shape 95"/>
          <p:cNvSpPr/>
          <p:nvPr>
            <p:ph type="sldImg"/>
          </p:nvPr>
        </p:nvSpPr>
        <p:spPr>
          <a:prstGeom prst="rect">
            <a:avLst/>
          </a:prstGeom>
        </p:spPr>
        <p:txBody>
          <a:bodyPr/>
          <a:lstStyle/>
          <a:p>
            <a:pPr/>
          </a:p>
        </p:txBody>
      </p:sp>
      <p:sp>
        <p:nvSpPr>
          <p:cNvPr id="96" name="Shape 96"/>
          <p:cNvSpPr/>
          <p:nvPr>
            <p:ph type="body" sz="quarter" idx="1"/>
          </p:nvPr>
        </p:nvSpPr>
        <p:spPr>
          <a:prstGeom prst="rect">
            <a:avLst/>
          </a:prstGeom>
        </p:spPr>
        <p:txBody>
          <a:bodyPr/>
          <a:lstStyle/>
          <a:p>
            <a:pPr/>
            <a:r>
              <a:t>OBJECTIVES. 1 minute. Four clicks.</a:t>
            </a:r>
          </a:p>
          <a:p>
            <a:pPr/>
          </a:p>
          <a:p>
            <a:pPr/>
            <a:r>
              <a:t>WHERE THIS SITS. The last lesson ended on "renewable or not is about the rate". Today is the other half: now you can tell whether a resource is being used too fast, what do people actually DO about it? Say "last lesson told you how to spot the problem. Today is the fix."</a:t>
            </a:r>
          </a:p>
          <a:p>
            <a:pPr/>
          </a:p>
          <a:p>
            <a:pPr/>
            <a:r>
              <a:t>OBJECTIVE 2 IS WHY THIS LESSON EXISTS. Objective 1 gives the general idea (conservation); objective 3 gives real examples (management in practice); objective 2, the sustainable amount, is the number underneath both of them.</a:t>
            </a:r>
          </a:p>
          <a:p>
            <a:pPr/>
          </a:p>
          <a:p>
            <a:pPr/>
            <a:r>
              <a:t>THE BANNER IS OBJECTIVE 2, SAID PLAINLY, and it is also the previous lesson's rate idea turned into an instruction rather than a description.</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16" name="Shape 116"/>
          <p:cNvSpPr/>
          <p:nvPr>
            <p:ph type="sldImg"/>
          </p:nvPr>
        </p:nvSpPr>
        <p:spPr>
          <a:prstGeom prst="rect">
            <a:avLst/>
          </a:prstGeom>
        </p:spPr>
        <p:txBody>
          <a:bodyPr/>
          <a:lstStyle/>
          <a:p>
            <a:pPr/>
          </a:p>
        </p:txBody>
      </p:sp>
      <p:sp>
        <p:nvSpPr>
          <p:cNvPr id="117" name="Shape 117"/>
          <p:cNvSpPr/>
          <p:nvPr>
            <p:ph type="body" sz="quarter" idx="1"/>
          </p:nvPr>
        </p:nvSpPr>
        <p:spPr>
          <a:prstGeom prst="rect">
            <a:avLst/>
          </a:prstGeom>
        </p:spPr>
        <p:txBody>
          <a:bodyPr/>
          <a:lstStyle/>
          <a:p>
            <a:pPr/>
            <a:r>
              <a:t>HOOK. 2 minutes. Three cards on one click.</a:t>
            </a:r>
          </a:p>
          <a:p>
            <a:pPr/>
          </a:p>
          <a:p>
            <a:pPr/>
            <a:r>
              <a:t>Show of hands for each, and tally on the board. Do not settle it: I Do 1 does.</a:t>
            </a:r>
          </a:p>
          <a:p>
            <a:pPr/>
          </a:p>
          <a:p>
            <a:pPr/>
            <a:r>
              <a:t>ANSWER, FOR YOU: B. About 25,000, roughly 93% of the population's size before whaling began. Ten of the fourteen known humpback populations worldwide have recovered since the 1986 international ban on commercial whaling. Expect A to attract a lot of votes: after a 93% collapse, most students will assume a species stays rare.</a:t>
            </a:r>
          </a:p>
          <a:p>
            <a:pPr/>
          </a:p>
          <a:p>
            <a:pPr/>
            <a:r>
              <a:t>THE DELIBERATE CONTRAST: last lesson's cod fell by about 93% and, thirty years on, still have not recovered. This whale population also fell hard, and then recovered, because hunting was banned in time and the stock was given the chance to regrow. Say that contrast directly: same size of collapse, different outcome.</a:t>
            </a:r>
          </a:p>
          <a:p>
            <a:pPr/>
          </a:p>
          <a:p>
            <a:pPr/>
            <a:r>
              <a:t>DO NOT EXPLAIN WHY YET. Say "something was done differently here. That is today's lesson" and move to I Do.</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37" name="Shape 137"/>
          <p:cNvSpPr/>
          <p:nvPr>
            <p:ph type="sldImg"/>
          </p:nvPr>
        </p:nvSpPr>
        <p:spPr>
          <a:prstGeom prst="rect">
            <a:avLst/>
          </a:prstGeom>
        </p:spPr>
        <p:txBody>
          <a:bodyPr/>
          <a:lstStyle/>
          <a:p>
            <a:pPr/>
          </a:p>
        </p:txBody>
      </p:sp>
      <p:sp>
        <p:nvSpPr>
          <p:cNvPr id="138" name="Shape 138"/>
          <p:cNvSpPr/>
          <p:nvPr>
            <p:ph type="body" sz="quarter" idx="1"/>
          </p:nvPr>
        </p:nvSpPr>
        <p:spPr>
          <a:prstGeom prst="rect">
            <a:avLst/>
          </a:prstGeom>
        </p:spPr>
        <p:txBody>
          <a:bodyPr/>
          <a:lstStyle/>
          <a:p>
            <a:pPr/>
            <a:r>
              <a:t>I DO. 3 minutes. Three clicks: the definition, the whale card, the cod card.</a:t>
            </a:r>
          </a:p>
          <a:p>
            <a:pPr/>
          </a:p>
          <a:p>
            <a:pPr/>
            <a:r>
              <a:t>OBJECTIVE 1, SETTLED WITH THE HOOK. Conservation is not one single action; it is the general idea of managing use so a resource survives. A hunting ban is one form of it.</a:t>
            </a:r>
          </a:p>
          <a:p>
            <a:pPr/>
          </a:p>
          <a:p>
            <a:pPr/>
            <a:r>
              <a:t>THE CONTRAST CARDS ARE THE POINT OF THE SLIDE. Same starting problem (a population crashing from overuse), different timing of the response. Say it plainly: conservation works when it happens before the stock is gone, not after.</a:t>
            </a:r>
          </a:p>
          <a:p>
            <a:pPr/>
          </a:p>
          <a:p>
            <a:pPr/>
            <a:r>
              <a:t>IF ASKED WHY COD STILL HAS NOT RECOVERED EVEN WITH NO FISHING SINCE 1992: a population that has fallen this far recovers slowly even once protected, because there are so few breeding adults left. This is worth a sentence, not a detour.</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52" name="Shape 152"/>
          <p:cNvSpPr/>
          <p:nvPr>
            <p:ph type="sldImg"/>
          </p:nvPr>
        </p:nvSpPr>
        <p:spPr>
          <a:prstGeom prst="rect">
            <a:avLst/>
          </a:prstGeom>
        </p:spPr>
        <p:txBody>
          <a:bodyPr/>
          <a:lstStyle/>
          <a:p>
            <a:pPr/>
          </a:p>
        </p:txBody>
      </p:sp>
      <p:sp>
        <p:nvSpPr>
          <p:cNvPr id="153" name="Shape 153"/>
          <p:cNvSpPr/>
          <p:nvPr>
            <p:ph type="body" sz="quarter" idx="1"/>
          </p:nvPr>
        </p:nvSpPr>
        <p:spPr>
          <a:prstGeom prst="rect">
            <a:avLst/>
          </a:prstGeom>
        </p:spPr>
        <p:txBody>
          <a:bodyPr/>
          <a:lstStyle/>
          <a:p>
            <a:pPr/>
            <a:r>
              <a:t>I DO. 3 minutes. Two clicks: the definition, then the worked example.</a:t>
            </a:r>
          </a:p>
          <a:p>
            <a:pPr/>
          </a:p>
          <a:p>
            <a:pPr/>
            <a:r>
              <a:t>OBJECTIVE 2, THE NUMBER UNDER EVERYTHING TODAY. This is the previous lesson's "cut no faster than it regrows" forest example, turned into an actual calculation.</a:t>
            </a:r>
          </a:p>
          <a:p>
            <a:pPr/>
          </a:p>
          <a:p>
            <a:pPr/>
            <a:r>
              <a:t>THE CALCULATION IS STOCK × GROWTH RATE. It is the same method as a function-machine rule and a density calculation: identify the two numbers, multiply, done. Say it slowly once: "ten per cent of two hundred thousand is twenty thousand".</a:t>
            </a:r>
          </a:p>
          <a:p>
            <a:pPr/>
          </a:p>
          <a:p>
            <a:pPr/>
            <a:r>
              <a:t>THE LAST LINE IS THE KEY IDEA: catch exactly the sustainable amount, and the stock does not shrink OR grow, it stays the same, indefinitely. Catch less, and it grows (this lesson's Do Now Q6). Catch more, and it shrinks (last lesson's whole point).</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81" name="Shape 181"/>
          <p:cNvSpPr/>
          <p:nvPr>
            <p:ph type="sldImg"/>
          </p:nvPr>
        </p:nvSpPr>
        <p:spPr>
          <a:prstGeom prst="rect">
            <a:avLst/>
          </a:prstGeom>
        </p:spPr>
        <p:txBody>
          <a:bodyPr/>
          <a:lstStyle/>
          <a:p>
            <a:pPr/>
          </a:p>
        </p:txBody>
      </p:sp>
      <p:sp>
        <p:nvSpPr>
          <p:cNvPr id="182" name="Shape 182"/>
          <p:cNvSpPr/>
          <p:nvPr>
            <p:ph type="body" sz="quarter" idx="1"/>
          </p:nvPr>
        </p:nvSpPr>
        <p:spPr>
          <a:prstGeom prst="rect">
            <a:avLst/>
          </a:prstGeom>
        </p:spPr>
        <p:txBody>
          <a:bodyPr/>
          <a:lstStyle/>
          <a:p>
            <a:pPr/>
            <a:r>
              <a:t>WE DO. 5 minutes. Four clicks. Take answers from the room first, then click.</a:t>
            </a:r>
          </a:p>
          <a:p>
            <a:pPr/>
          </a:p>
          <a:p>
            <a:pPr/>
            <a:r>
              <a:t>ROW 1 IS OBJECTIVE 1, THE COMMONEST MISREADING OF THE WORD. Conservation is about rate, exactly like last lesson: using something AT a sustainable rate, not refusing to use it.</a:t>
            </a:r>
          </a:p>
          <a:p>
            <a:pPr/>
          </a:p>
          <a:p>
            <a:pPr/>
            <a:r>
              <a:t>ROW 2 IS OBJECTIVE 2, THE EXACT EXAMPLE FROM I DO 2, restated as a misconception. Push on this one: "sustainable" does not mean "nothing happens", it means "the stock does not shrink".</a:t>
            </a:r>
          </a:p>
          <a:p>
            <a:pPr/>
          </a:p>
          <a:p>
            <a:pPr/>
            <a:r>
              <a:t>ROW 3 IS OBJECTIVE 3, recycling named as a real management method, directly setting up Cold Call Q4.</a:t>
            </a:r>
          </a:p>
          <a:p>
            <a:pPr/>
          </a:p>
          <a:p>
            <a:pPr/>
            <a:r>
              <a:t>ROW 4 IS THE HOOK, THE WHOLE LESSON'S MESSAGE. Be honest about the "decades" part: this is not a quick fix, which is exactly why acting early (objective 1) matters so much.</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30" name="Shape 230"/>
          <p:cNvSpPr/>
          <p:nvPr>
            <p:ph type="sldImg"/>
          </p:nvPr>
        </p:nvSpPr>
        <p:spPr>
          <a:prstGeom prst="rect">
            <a:avLst/>
          </a:prstGeom>
        </p:spPr>
        <p:txBody>
          <a:bodyPr/>
          <a:lstStyle/>
          <a:p>
            <a:pPr/>
          </a:p>
        </p:txBody>
      </p:sp>
      <p:sp>
        <p:nvSpPr>
          <p:cNvPr id="231" name="Shape 231"/>
          <p:cNvSpPr/>
          <p:nvPr>
            <p:ph type="body" sz="quarter" idx="1"/>
          </p:nvPr>
        </p:nvSpPr>
        <p:spPr>
          <a:prstGeom prst="rect">
            <a:avLst/>
          </a:prstGeom>
        </p:spPr>
        <p:txBody>
          <a:bodyPr/>
          <a:lstStyle/>
          <a:p>
            <a:pPr/>
            <a:r>
              <a:t>COLD CALL. 6 minutes. Six clicks. Name a student, then ask. Students have no mini whiteboards, so answers are spoken.</a:t>
            </a:r>
          </a:p>
          <a:p>
            <a:pPr/>
          </a:p>
          <a:p>
            <a:pPr/>
            <a:r>
              <a:t>Q1 AND Q2 ARE OBJECTIVES 1 AND 2, COLD. Both need the reasoning, not just the word repeated.</a:t>
            </a:r>
          </a:p>
          <a:p>
            <a:pPr/>
          </a:p>
          <a:p>
            <a:pPr/>
            <a:r>
              <a:t>Q3 IS THE CALCULATION, FRESH NUMBERS. Watch for the formula flip (dividing instead of multiplying), the same slip this class met in Density.</a:t>
            </a:r>
          </a:p>
          <a:p>
            <a:pPr/>
          </a:p>
          <a:p>
            <a:pPr/>
            <a:r>
              <a:t>Q4 IS OBJECTIVE 3 DIRECTLY. There are several right answers; take two or three if time allows.</a:t>
            </a:r>
          </a:p>
          <a:p>
            <a:pPr/>
          </a:p>
          <a:p>
            <a:pPr/>
            <a:r>
              <a:t>Q5 AND Q6 CLOSE THE LOOP on I Do 2 and the Hook. If most of the room is right by Q4, spend longer here. IF SHORT OF TIME, cut Q1.</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56" name="Shape 256"/>
          <p:cNvSpPr/>
          <p:nvPr>
            <p:ph type="sldImg"/>
          </p:nvPr>
        </p:nvSpPr>
        <p:spPr>
          <a:prstGeom prst="rect">
            <a:avLst/>
          </a:prstGeom>
        </p:spPr>
        <p:txBody>
          <a:bodyPr/>
          <a:lstStyle/>
          <a:p>
            <a:pPr/>
          </a:p>
        </p:txBody>
      </p:sp>
      <p:sp>
        <p:nvSpPr>
          <p:cNvPr id="257" name="Shape 257"/>
          <p:cNvSpPr/>
          <p:nvPr>
            <p:ph type="body" sz="quarter" idx="1"/>
          </p:nvPr>
        </p:nvSpPr>
        <p:spPr>
          <a:prstGeom prst="rect">
            <a:avLst/>
          </a:prstGeom>
        </p:spPr>
        <p:txBody>
          <a:bodyPr/>
          <a:lstStyle/>
          <a:p>
            <a:pPr/>
            <a:r>
              <a:t>YOU DO. 17 minutes: the standard 14 and the 3 that used to be the Answers slide. Four clicks. THE GAME IS SUSTAINABLE YIELD ("your call"), and the worksheet is the fallback, built every time.</a:t>
            </a:r>
          </a:p>
          <a:p>
            <a:pPr/>
          </a:p>
          <a:p>
            <a:pPr/>
            <a:r>
              <a:t>WHAT THEY DO. Open the file "Making It Last game" from Google Classroom. Three rounds of six questions, each on their own device, all multiple choice. EVERY STUDENT GETS A DIFFERENT GAME: different stocks, growth rates and catches, in a different order. The skills and their order are the same for everyone. Each game has a six-character code, shown on the start and end screens; add #CODE to the file's address to see exactly what a student saw.</a:t>
            </a:r>
          </a:p>
          <a:p>
            <a:pPr/>
          </a:p>
          <a:p>
            <a:pPr/>
            <a:r>
              <a:t>THE DIFFICULTY RAMPS ON PURPOSE. Round 1 is the calculation from I Do 2: stock times growth rate. Round 2 adds what was actually taken, and asks whether the stock grows, shrinks, or stays the same, a direct extension of objective 2. Round 3 is harder numbers and management-method reasoning, and the last two questions (17 and 18) are drawn from a small pool: a multi-year "years until the stock is gone" calculation, and a scenario that needs the right MANAGEMENT METHOD chosen, not a number at all. Expect most students to fail those two. That is the design; tell them before they start.</a:t>
            </a:r>
          </a:p>
          <a:p>
            <a:pPr/>
          </a:p>
          <a:p>
            <a:pPr/>
            <a:r>
              <a:t>AT THE END OF EACH ROUND, and again on the last screen, there is a drop-down for every round with how long each question took and, for a wrong one, what the student wrote and how to get to the answer. There is a "Stop and see my results" button on every question.</a:t>
            </a:r>
          </a:p>
          <a:p>
            <a:pPr/>
          </a:p>
          <a:p>
            <a:pPr/>
            <a:r>
              <a:t>ON AN iPAD, an HTML file attached in Google Classroom can be awkward to open. Check before relying on it. If a student cannot open it, finishes early or is absent, the worksheet is the fallback: ten questions in Bronze, Silver and Gold, with the answers printed UPSIDE DOWN on its last page.</a:t>
            </a:r>
          </a:p>
          <a:p>
            <a:pPr/>
          </a:p>
          <a:p>
            <a:pPr/>
            <a:r>
              <a:t>CIRCULATE WITH ONE QUESTION: "is more being taken than the stock can replace?" AT 3 MINUTES REMAINING, stop them. There is no Answers slide.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85" name="Shape 285"/>
          <p:cNvSpPr/>
          <p:nvPr>
            <p:ph type="sldImg"/>
          </p:nvPr>
        </p:nvSpPr>
        <p:spPr>
          <a:prstGeom prst="rect">
            <a:avLst/>
          </a:prstGeom>
        </p:spPr>
        <p:txBody>
          <a:bodyPr/>
          <a:lstStyle/>
          <a:p>
            <a:pPr/>
          </a:p>
        </p:txBody>
      </p:sp>
      <p:sp>
        <p:nvSpPr>
          <p:cNvPr id="286" name="Shape 286"/>
          <p:cNvSpPr/>
          <p:nvPr>
            <p:ph type="body" sz="quarter" idx="1"/>
          </p:nvPr>
        </p:nvSpPr>
        <p:spPr>
          <a:prstGeom prst="rect">
            <a:avLst/>
          </a:prstGeom>
        </p:spPr>
        <p:txBody>
          <a:bodyPr/>
          <a:lstStyle/>
          <a:p>
            <a:pPr/>
            <a:r>
              <a:t>PLENARY. 3 minutes. Eleven clicks: each statement, then its answer, then the closing line.</a:t>
            </a:r>
          </a:p>
          <a:p>
            <a:pPr/>
          </a:p>
          <a:p>
            <a:pPr/>
            <a:r>
              <a:t>Q1 IS THE MISCONCEPTION AND OBJECTIVE 1 DIRECTLY. Q2 IS OBJECTIVE 2, PLAINLY TRUE.</a:t>
            </a:r>
          </a:p>
          <a:p>
            <a:pPr/>
          </a:p>
          <a:p>
            <a:pPr/>
            <a:r>
              <a:t>Q3 IS OBJECTIVE 3, ONE NAMED METHOD CONFIRMED. Q4 SETTLES I DO 2 ONE LAST TIME: cutting at the regrowth rate IS sustainable.</a:t>
            </a:r>
          </a:p>
          <a:p>
            <a:pPr/>
          </a:p>
          <a:p>
            <a:pPr/>
            <a:r>
              <a:t>Q5 IS THE HOOK, SETTLED. If this splits the room, that is the first five minutes of next lesson, not a footnote.</a:t>
            </a:r>
          </a:p>
          <a:p>
            <a:pPr/>
          </a:p>
          <a:p>
            <a:pPr/>
            <a:r>
              <a:t>THE CLOSING LINE REPEATS THE OBJECTIVES BANNER, on purpose. THIS LESSON MAKES NO PROMISE FOR THE NEXT ONE.</a:t>
            </a:r>
          </a:p>
        </p:txBody>
      </p:sp>
    </p:spTree>
  </p:cSld>
  <p:clrMapOvr>
    <a:masterClrMapping/>
  </p:clrMapOvr>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DEFAULT">
    <p:spTree>
      <p:nvGrpSpPr>
        <p:cNvPr id="1" name=""/>
        <p:cNvGrpSpPr/>
        <p:nvPr/>
      </p:nvGrpSpPr>
      <p:grpSpPr>
        <a:xfrm>
          <a:off x="0" y="0"/>
          <a:ext cx="0" cy="0"/>
          <a:chOff x="0" y="0"/>
          <a:chExt cx="0" cy="0"/>
        </a:xfrm>
      </p:grpSpPr>
      <p:sp>
        <p:nvSpPr>
          <p:cNvPr id="11"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bg>
      <p:bgPr>
        <a:solidFill>
          <a:srgbClr val="FFFFFF"/>
        </a:solidFill>
      </p:bgPr>
    </p:bg>
    <p:spTree>
      <p:nvGrpSpPr>
        <p:cNvPr id="1" name=""/>
        <p:cNvGrpSpPr/>
        <p:nvPr/>
      </p:nvGrpSpPr>
      <p:grpSpPr>
        <a:xfrm>
          <a:off x="0" y="0"/>
          <a:ext cx="0" cy="0"/>
          <a:chOff x="0" y="0"/>
          <a:chExt cx="0" cy="0"/>
        </a:xfrm>
      </p:grpSpPr>
      <p:sp>
        <p:nvSpPr>
          <p:cNvPr id="2" name="Title Text"/>
          <p:cNvSpPr txBox="1"/>
          <p:nvPr>
            <p:ph type="title"/>
          </p:nvPr>
        </p:nvSpPr>
        <p:spPr>
          <a:xfrm>
            <a:off x="608965" y="92074"/>
            <a:ext cx="10961370" cy="1508127"/>
          </a:xfrm>
          <a:prstGeom prst="rect">
            <a:avLst/>
          </a:prstGeom>
          <a:ln w="12700">
            <a:miter lim="400000"/>
          </a:ln>
          <a:extLst>
            <a:ext uri="{C572A759-6A51-4108-AA02-DFA0A04FC94B}">
              <ma14:wrappingTextBoxFlag xmlns:ma14="http://schemas.microsoft.com/office/mac/drawingml/2011/main" val="1"/>
            </a:ext>
          </a:extLst>
        </p:spPr>
        <p:txBody>
          <a:bodyPr lIns="45719" rIns="45719" anchor="ctr"/>
          <a:lstStyle/>
          <a:p>
            <a:pPr/>
            <a:r>
              <a:t>Title Text</a:t>
            </a:r>
          </a:p>
        </p:txBody>
      </p:sp>
      <p:sp>
        <p:nvSpPr>
          <p:cNvPr id="3" name="Body Level One…"/>
          <p:cNvSpPr txBox="1"/>
          <p:nvPr>
            <p:ph type="body" idx="1"/>
          </p:nvPr>
        </p:nvSpPr>
        <p:spPr>
          <a:xfrm>
            <a:off x="608965" y="1600200"/>
            <a:ext cx="10961370" cy="5257800"/>
          </a:xfrm>
          <a:prstGeom prst="rect">
            <a:avLst/>
          </a:prstGeom>
          <a:ln w="12700">
            <a:miter lim="400000"/>
          </a:ln>
          <a:extLst>
            <a:ext uri="{C572A759-6A51-4108-AA02-DFA0A04FC94B}">
              <ma14:wrappingTextBoxFlag xmlns:ma14="http://schemas.microsoft.com/office/mac/drawingml/2011/main" val="1"/>
            </a:ext>
          </a:extLst>
        </p:spPr>
        <p:txBody>
          <a:bodyPr lIns="45719" rIns="45719"/>
          <a:lstStyle/>
          <a:p>
            <a:pPr/>
            <a:r>
              <a:t>Body Level One</a:t>
            </a:r>
          </a:p>
          <a:p>
            <a:pPr lvl="1"/>
            <a:r>
              <a:t>Body Level Two</a:t>
            </a:r>
          </a:p>
          <a:p>
            <a:pPr lvl="2"/>
            <a:r>
              <a:t>Body Level Three</a:t>
            </a:r>
          </a:p>
          <a:p>
            <a:pPr lvl="3"/>
            <a:r>
              <a:t>Body Level Four</a:t>
            </a:r>
          </a:p>
          <a:p>
            <a:pPr lvl="4"/>
            <a:r>
              <a:t>Body Level Five</a:t>
            </a:r>
          </a:p>
        </p:txBody>
      </p:sp>
      <p:sp>
        <p:nvSpPr>
          <p:cNvPr id="4" name="Slide Number"/>
          <p:cNvSpPr txBox="1"/>
          <p:nvPr>
            <p:ph type="sldNum" sz="quarter" idx="2"/>
          </p:nvPr>
        </p:nvSpPr>
        <p:spPr>
          <a:xfrm>
            <a:off x="5886661" y="6172200"/>
            <a:ext cx="2841838" cy="368301"/>
          </a:xfrm>
          <a:prstGeom prst="rect">
            <a:avLst/>
          </a:prstGeom>
          <a:ln w="12700">
            <a:miter lim="400000"/>
          </a:ln>
        </p:spPr>
        <p:txBody>
          <a:bodyPr wrap="none" lIns="45719" rIns="45719" anchor="ctr">
            <a:spAutoFit/>
          </a:bodyPr>
          <a:lstStyle>
            <a:lvl1pPr algn="r">
              <a:defRPr sz="1200"/>
            </a:lvl1pPr>
          </a:lstStyle>
          <a:p>
            <a:pPr/>
            <a:fld id="{86CB4B4D-7CA3-9044-876B-883B54F8677D}" type="slidenum"/>
          </a:p>
        </p:txBody>
      </p:sp>
    </p:spTree>
  </p:cSld>
  <p:clrMap bg1="lt1" tx1="dk1" bg2="lt2" tx2="dk2" accent1="accent1" accent2="accent2" accent3="accent3" accent4="accent4" accent5="accent5" accent6="accent6" hlink="hlink" folHlink="folHlink"/>
  <p:sldLayoutIdLst>
    <p:sldLayoutId id="2147483649" r:id="rId2"/>
  </p:sldLayoutIdLst>
  <p:transition xmlns:p14="http://schemas.microsoft.com/office/powerpoint/2010/main" spd="med" advClick="1"/>
  <p:txStyles>
    <p:titleStyle>
      <a:lvl1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1pPr>
      <a:lvl2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2pPr>
      <a:lvl3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3pPr>
      <a:lvl4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4pPr>
      <a:lvl5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5pPr>
      <a:lvl6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6pPr>
      <a:lvl7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7pPr>
      <a:lvl8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8pPr>
      <a:lvl9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9pPr>
    </p:titleStyle>
    <p:bodyStyle>
      <a:lvl1pPr marL="342900" marR="0" indent="-34290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n-lt"/>
          <a:ea typeface="+mn-ea"/>
          <a:cs typeface="+mn-cs"/>
          <a:sym typeface="Calibri"/>
        </a:defRPr>
      </a:lvl1pPr>
      <a:lvl2pPr marL="783771" marR="0" indent="-326571"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n-lt"/>
          <a:ea typeface="+mn-ea"/>
          <a:cs typeface="+mn-cs"/>
          <a:sym typeface="Calibri"/>
        </a:defRPr>
      </a:lvl2pPr>
      <a:lvl3pPr marL="1219200" marR="0" indent="-30480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n-lt"/>
          <a:ea typeface="+mn-ea"/>
          <a:cs typeface="+mn-cs"/>
          <a:sym typeface="Calibri"/>
        </a:defRPr>
      </a:lvl3pPr>
      <a:lvl4pPr marL="1737360" marR="0" indent="-36576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n-lt"/>
          <a:ea typeface="+mn-ea"/>
          <a:cs typeface="+mn-cs"/>
          <a:sym typeface="Calibri"/>
        </a:defRPr>
      </a:lvl4pPr>
      <a:lvl5pPr marL="2194560" marR="0" indent="-36576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n-lt"/>
          <a:ea typeface="+mn-ea"/>
          <a:cs typeface="+mn-cs"/>
          <a:sym typeface="Calibri"/>
        </a:defRPr>
      </a:lvl5pPr>
      <a:lvl6pPr marL="2651760" marR="0" indent="-36576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n-lt"/>
          <a:ea typeface="+mn-ea"/>
          <a:cs typeface="+mn-cs"/>
          <a:sym typeface="Calibri"/>
        </a:defRPr>
      </a:lvl6pPr>
      <a:lvl7pPr marL="3108960" marR="0" indent="-36576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n-lt"/>
          <a:ea typeface="+mn-ea"/>
          <a:cs typeface="+mn-cs"/>
          <a:sym typeface="Calibri"/>
        </a:defRPr>
      </a:lvl7pPr>
      <a:lvl8pPr marL="3566159" marR="0" indent="-365759"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n-lt"/>
          <a:ea typeface="+mn-ea"/>
          <a:cs typeface="+mn-cs"/>
          <a:sym typeface="Calibri"/>
        </a:defRPr>
      </a:lvl8pPr>
      <a:lvl9pPr marL="4023359" marR="0" indent="-365759"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n-lt"/>
          <a:ea typeface="+mn-ea"/>
          <a:cs typeface="+mn-cs"/>
          <a:sym typeface="Calibri"/>
        </a:defRPr>
      </a:lvl9pPr>
    </p:bodyStyle>
    <p:otherStyle>
      <a:lvl1pPr marL="0" marR="0" indent="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1pPr>
      <a:lvl2pPr marL="0" marR="0" indent="45720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2pPr>
      <a:lvl3pPr marL="0" marR="0" indent="91440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3pPr>
      <a:lvl4pPr marL="0" marR="0" indent="137160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4pPr>
      <a:lvl5pPr marL="0" marR="0" indent="182880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5pPr>
      <a:lvl6pPr marL="0" marR="0" indent="228600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6pPr>
      <a:lvl7pPr marL="0" marR="0" indent="274320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7pPr>
      <a:lvl8pPr marL="0" marR="0" indent="320040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8pPr>
      <a:lvl9pPr marL="0" marR="0" indent="365760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9pPr>
    </p:otherStyle>
  </p:txStyles>
</p:sldMaster>
</file>

<file path=ppt/slides/_rels/slide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video" Target="../media/media1.mp4"/><Relationship Id="rId4" Type="http://schemas.microsoft.com/office/2007/relationships/media" Target="../media/media1.mp4"/><Relationship Id="rId5" Type="http://schemas.openxmlformats.org/officeDocument/2006/relationships/image" Target="../media/image1.png"/></Relationships>

</file>

<file path=ppt/slides/_rels/slide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video" Target="../media/media2.mp4"/><Relationship Id="rId4" Type="http://schemas.microsoft.com/office/2007/relationships/media" Target="../media/media2.mp4"/><Relationship Id="rId5" Type="http://schemas.openxmlformats.org/officeDocument/2006/relationships/image" Target="../media/image1.png"/></Relationships>

</file>

<file path=ppt/slides/_rels/slide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video" Target="../media/media3.mp4"/><Relationship Id="rId4" Type="http://schemas.microsoft.com/office/2007/relationships/media" Target="../media/media3.mp4"/><Relationship Id="rId5" Type="http://schemas.openxmlformats.org/officeDocument/2006/relationships/image" Target="../media/image1.png"/><Relationship Id="rId6" Type="http://schemas.openxmlformats.org/officeDocument/2006/relationships/image" Target="../media/image2.png"/></Relationships>

</file>

<file path=ppt/slides/_rels/slide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video" Target="../media/media4.mp4"/><Relationship Id="rId4" Type="http://schemas.microsoft.com/office/2007/relationships/media" Target="../media/media4.mp4"/><Relationship Id="rId5" Type="http://schemas.openxmlformats.org/officeDocument/2006/relationships/image" Target="../media/image1.png"/><Relationship Id="rId6" Type="http://schemas.openxmlformats.org/officeDocument/2006/relationships/image" Target="../media/image2.png"/><Relationship Id="rId7" Type="http://schemas.openxmlformats.org/officeDocument/2006/relationships/image" Target="../media/image3.png"/></Relationships>

</file>

<file path=ppt/slides/_rels/slide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video" Target="../media/media4.mp4"/><Relationship Id="rId4" Type="http://schemas.microsoft.com/office/2007/relationships/media" Target="../media/media4.mp4"/><Relationship Id="rId5" Type="http://schemas.openxmlformats.org/officeDocument/2006/relationships/image" Target="../media/image1.png"/></Relationships>

</file>

<file path=ppt/slides/_rels/slide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video" Target="../media/media5.mp4"/><Relationship Id="rId4" Type="http://schemas.microsoft.com/office/2007/relationships/media" Target="../media/media5.mp4"/><Relationship Id="rId5" Type="http://schemas.openxmlformats.org/officeDocument/2006/relationships/image" Target="../media/image1.png"/></Relationships>

</file>

<file path=ppt/slides/_rels/slide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video" Target="../media/media6.mp4"/><Relationship Id="rId4" Type="http://schemas.microsoft.com/office/2007/relationships/media" Target="../media/media6.mp4"/><Relationship Id="rId5" Type="http://schemas.openxmlformats.org/officeDocument/2006/relationships/image" Target="../media/image1.png"/></Relationships>

</file>

<file path=ppt/slides/_rels/slide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video" Target="../media/media7.mp4"/><Relationship Id="rId4" Type="http://schemas.microsoft.com/office/2007/relationships/media" Target="../media/media7.mp4"/><Relationship Id="rId5" Type="http://schemas.openxmlformats.org/officeDocument/2006/relationships/image" Target="../media/image1.png"/><Relationship Id="rId6" Type="http://schemas.openxmlformats.org/officeDocument/2006/relationships/image" Target="../media/image4.png"/></Relationships>

</file>

<file path=ppt/slides/_rels/slide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video" Target="../media/media8.mp4"/><Relationship Id="rId4" Type="http://schemas.microsoft.com/office/2007/relationships/media" Target="../media/media8.mp4"/><Relationship Id="rId5"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2EBDD"/>
        </a:solidFill>
      </p:bgPr>
    </p:bg>
    <p:spTree>
      <p:nvGrpSpPr>
        <p:cNvPr id="1" name=""/>
        <p:cNvGrpSpPr/>
        <p:nvPr/>
      </p:nvGrpSpPr>
      <p:grpSpPr>
        <a:xfrm>
          <a:off x="0" y="0"/>
          <a:ext cx="0" cy="0"/>
          <a:chOff x="0" y="0"/>
          <a:chExt cx="0" cy="0"/>
        </a:xfrm>
      </p:grpSpPr>
      <p:pic>
        <p:nvPicPr>
          <p:cNvPr id="20" name="timer_video" descr="timer_video"/>
          <p:cNvPicPr>
            <a:picLocks noChangeAspect="0"/>
          </p:cNvPicPr>
          <p:nvPr>
            <a:videoFile r:link="rId3"/>
            <p:extLst>
              <p:ext uri="{DAA4B4D4-6D71-4841-9C94-3DE7FCFB9230}">
                <p14:media xmlns:p14="http://schemas.microsoft.com/office/powerpoint/2010/main" r:embed="rId4"/>
              </p:ext>
            </p:extLst>
          </p:nvPr>
        </p:nvPicPr>
        <p:blipFill>
          <a:blip r:embed="rId5">
            <a:extLst/>
          </a:blip>
          <a:stretch>
            <a:fillRect/>
          </a:stretch>
        </p:blipFill>
        <p:spPr>
          <a:xfrm>
            <a:off x="310895" y="310895"/>
            <a:ext cx="457201" cy="6236210"/>
          </a:xfrm>
          <a:prstGeom prst="rect">
            <a:avLst/>
          </a:prstGeom>
          <a:ln w="12700">
            <a:miter lim="400000"/>
          </a:ln>
        </p:spPr>
      </p:pic>
      <p:grpSp>
        <p:nvGrpSpPr>
          <p:cNvPr id="23" name="phase_pill"/>
          <p:cNvGrpSpPr/>
          <p:nvPr/>
        </p:nvGrpSpPr>
        <p:grpSpPr>
          <a:xfrm>
            <a:off x="1170432" y="310895"/>
            <a:ext cx="1892808" cy="329185"/>
            <a:chOff x="0" y="0"/>
            <a:chExt cx="1892807" cy="329184"/>
          </a:xfrm>
        </p:grpSpPr>
        <p:sp>
          <p:nvSpPr>
            <p:cNvPr id="21" name="Rounded Rectangle"/>
            <p:cNvSpPr/>
            <p:nvPr/>
          </p:nvSpPr>
          <p:spPr>
            <a:xfrm>
              <a:off x="0" y="0"/>
              <a:ext cx="1892808" cy="329185"/>
            </a:xfrm>
            <a:prstGeom prst="roundRect">
              <a:avLst>
                <a:gd name="adj" fmla="val 44444"/>
              </a:avLst>
            </a:prstGeom>
            <a:solidFill>
              <a:srgbClr val="3D2B1F"/>
            </a:solidFill>
            <a:ln w="12700" cap="flat">
              <a:noFill/>
              <a:miter lim="400000"/>
            </a:ln>
            <a:effectLst/>
          </p:spPr>
          <p:txBody>
            <a:bodyPr wrap="square" lIns="45719" tIns="45719" rIns="45719" bIns="45719" numCol="1" anchor="ctr">
              <a:noAutofit/>
            </a:bodyPr>
            <a:lstStyle/>
            <a:p>
              <a:pPr algn="ctr">
                <a:defRPr sz="1100"/>
              </a:pPr>
            </a:p>
          </p:txBody>
        </p:sp>
        <p:sp>
          <p:nvSpPr>
            <p:cNvPr id="22" name="DO NOW · 10 MIN"/>
            <p:cNvSpPr txBox="1"/>
            <p:nvPr/>
          </p:nvSpPr>
          <p:spPr>
            <a:xfrm>
              <a:off x="42850" y="90677"/>
              <a:ext cx="1807107" cy="147830"/>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lgn="ctr">
                <a:defRPr b="1" spc="120" sz="1100">
                  <a:solidFill>
                    <a:srgbClr val="FFFFFF"/>
                  </a:solidFill>
                  <a:latin typeface="Arial"/>
                  <a:ea typeface="Arial"/>
                  <a:cs typeface="Arial"/>
                  <a:sym typeface="Arial"/>
                </a:defRPr>
              </a:lvl1pPr>
            </a:lstStyle>
            <a:p>
              <a:pPr/>
              <a:r>
                <a:t>DO NOW · 10 MIN</a:t>
              </a:r>
            </a:p>
          </p:txBody>
        </p:sp>
      </p:grpSp>
      <p:sp>
        <p:nvSpPr>
          <p:cNvPr id="24" name="lesson_title"/>
          <p:cNvSpPr txBox="1"/>
          <p:nvPr/>
        </p:nvSpPr>
        <p:spPr>
          <a:xfrm>
            <a:off x="2651760" y="344170"/>
            <a:ext cx="6858001" cy="3175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2200">
                <a:solidFill>
                  <a:srgbClr val="3D2B1F"/>
                </a:solidFill>
                <a:latin typeface="Georgia"/>
                <a:ea typeface="Georgia"/>
                <a:cs typeface="Georgia"/>
                <a:sym typeface="Georgia"/>
              </a:defRPr>
            </a:lvl1pPr>
          </a:lstStyle>
          <a:p>
            <a:pPr/>
            <a:r>
              <a:t>Making It Last</a:t>
            </a:r>
          </a:p>
        </p:txBody>
      </p:sp>
      <p:sp>
        <p:nvSpPr>
          <p:cNvPr id="25" name="lesson_date"/>
          <p:cNvSpPr txBox="1"/>
          <p:nvPr/>
        </p:nvSpPr>
        <p:spPr>
          <a:xfrm>
            <a:off x="8534095" y="382938"/>
            <a:ext cx="3108961" cy="18510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r">
              <a:defRPr sz="1300">
                <a:solidFill>
                  <a:srgbClr val="6B5A48"/>
                </a:solidFill>
                <a:latin typeface="Arial"/>
                <a:ea typeface="Arial"/>
                <a:cs typeface="Arial"/>
                <a:sym typeface="Arial"/>
              </a:defRPr>
            </a:lvl1pPr>
          </a:lstStyle>
          <a:p>
            <a:pPr/>
            <a:r>
              <a:t>Saturday 3 October 2026</a:t>
            </a:r>
          </a:p>
        </p:txBody>
      </p:sp>
      <p:sp>
        <p:nvSpPr>
          <p:cNvPr id="26" name="rule"/>
          <p:cNvSpPr/>
          <p:nvPr/>
        </p:nvSpPr>
        <p:spPr>
          <a:xfrm>
            <a:off x="1170432" y="896111"/>
            <a:ext cx="10472623" cy="36577"/>
          </a:xfrm>
          <a:prstGeom prst="rect">
            <a:avLst/>
          </a:prstGeom>
          <a:solidFill>
            <a:srgbClr val="C99A3D"/>
          </a:solidFill>
          <a:ln w="12700">
            <a:solidFill>
              <a:srgbClr val="C99A3D"/>
            </a:solidFill>
          </a:ln>
        </p:spPr>
        <p:txBody>
          <a:bodyPr lIns="45719" rIns="45719"/>
          <a:lstStyle/>
          <a:p>
            <a:pPr/>
          </a:p>
        </p:txBody>
      </p:sp>
      <p:sp>
        <p:nvSpPr>
          <p:cNvPr id="27" name="d0_bg"/>
          <p:cNvSpPr/>
          <p:nvPr/>
        </p:nvSpPr>
        <p:spPr>
          <a:xfrm>
            <a:off x="1170432" y="1133855"/>
            <a:ext cx="5099152" cy="1481329"/>
          </a:xfrm>
          <a:prstGeom prst="roundRect">
            <a:avLst>
              <a:gd name="adj" fmla="val 6173"/>
            </a:avLst>
          </a:prstGeom>
          <a:solidFill>
            <a:srgbClr val="FFFFFF"/>
          </a:solidFill>
          <a:ln w="16510">
            <a:solidFill>
              <a:srgbClr val="D9C9A8"/>
            </a:solidFill>
          </a:ln>
        </p:spPr>
        <p:txBody>
          <a:bodyPr lIns="45719" rIns="45719"/>
          <a:lstStyle/>
          <a:p>
            <a:pPr/>
          </a:p>
        </p:txBody>
      </p:sp>
      <p:sp>
        <p:nvSpPr>
          <p:cNvPr id="28" name="d0_badge"/>
          <p:cNvSpPr/>
          <p:nvPr/>
        </p:nvSpPr>
        <p:spPr>
          <a:xfrm>
            <a:off x="1371600" y="1426463"/>
            <a:ext cx="384048" cy="384049"/>
          </a:xfrm>
          <a:prstGeom prst="ellipse">
            <a:avLst/>
          </a:prstGeom>
          <a:solidFill>
            <a:srgbClr val="C99A3D"/>
          </a:solidFill>
          <a:ln w="12700">
            <a:solidFill>
              <a:srgbClr val="C99A3D"/>
            </a:solidFill>
          </a:ln>
        </p:spPr>
        <p:txBody>
          <a:bodyPr lIns="45719" rIns="45719"/>
          <a:lstStyle/>
          <a:p>
            <a:pPr/>
          </a:p>
        </p:txBody>
      </p:sp>
      <p:sp>
        <p:nvSpPr>
          <p:cNvPr id="29" name="d0_num"/>
          <p:cNvSpPr txBox="1"/>
          <p:nvPr/>
        </p:nvSpPr>
        <p:spPr>
          <a:xfrm>
            <a:off x="1371600" y="1516887"/>
            <a:ext cx="384048"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400">
                <a:solidFill>
                  <a:srgbClr val="3D2B1F"/>
                </a:solidFill>
                <a:latin typeface="Georgia"/>
                <a:ea typeface="Georgia"/>
                <a:cs typeface="Georgia"/>
                <a:sym typeface="Georgia"/>
              </a:defRPr>
            </a:lvl1pPr>
          </a:lstStyle>
          <a:p>
            <a:pPr/>
            <a:r>
              <a:t>1</a:t>
            </a:r>
          </a:p>
        </p:txBody>
      </p:sp>
      <p:sp>
        <p:nvSpPr>
          <p:cNvPr id="30" name="d0_q"/>
          <p:cNvSpPr txBox="1"/>
          <p:nvPr/>
        </p:nvSpPr>
        <p:spPr>
          <a:xfrm>
            <a:off x="1901951" y="1381133"/>
            <a:ext cx="4166465" cy="47471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nSpc>
                <a:spcPts val="1900"/>
              </a:lnSpc>
              <a:defRPr sz="1500">
                <a:solidFill>
                  <a:srgbClr val="2A1D14"/>
                </a:solidFill>
                <a:latin typeface="Arial"/>
                <a:ea typeface="Arial"/>
                <a:cs typeface="Arial"/>
                <a:sym typeface="Arial"/>
              </a:defRPr>
            </a:lvl1pPr>
          </a:lstStyle>
          <a:p>
            <a:pPr/>
            <a:r>
              <a:t>A forest is cut down no faster than it regrows. State whether it is renewable.</a:t>
            </a:r>
          </a:p>
        </p:txBody>
      </p:sp>
      <p:grpSp>
        <p:nvGrpSpPr>
          <p:cNvPr id="33" name="d0_a"/>
          <p:cNvGrpSpPr/>
          <p:nvPr/>
        </p:nvGrpSpPr>
        <p:grpSpPr>
          <a:xfrm>
            <a:off x="1371600" y="2048255"/>
            <a:ext cx="4696817" cy="438914"/>
            <a:chOff x="0" y="0"/>
            <a:chExt cx="4696816" cy="438912"/>
          </a:xfrm>
        </p:grpSpPr>
        <p:sp>
          <p:nvSpPr>
            <p:cNvPr id="31" name="Rounded Rectangle"/>
            <p:cNvSpPr/>
            <p:nvPr/>
          </p:nvSpPr>
          <p:spPr>
            <a:xfrm>
              <a:off x="0" y="0"/>
              <a:ext cx="4696817" cy="438913"/>
            </a:xfrm>
            <a:prstGeom prst="roundRect">
              <a:avLst>
                <a:gd name="adj" fmla="val 20833"/>
              </a:avLst>
            </a:prstGeom>
            <a:solidFill>
              <a:srgbClr val="ECE1CB"/>
            </a:solidFill>
            <a:ln w="16510" cap="flat">
              <a:solidFill>
                <a:srgbClr val="C99A3D"/>
              </a:solidFill>
              <a:prstDash val="solid"/>
              <a:round/>
            </a:ln>
            <a:effectLst/>
          </p:spPr>
          <p:txBody>
            <a:bodyPr wrap="square" lIns="45719" tIns="45719" rIns="45719" bIns="45719" numCol="1" anchor="ctr">
              <a:noAutofit/>
            </a:bodyPr>
            <a:lstStyle/>
            <a:p>
              <a:pPr>
                <a:defRPr sz="1300"/>
              </a:pPr>
            </a:p>
          </p:txBody>
        </p:sp>
        <p:sp>
          <p:nvSpPr>
            <p:cNvPr id="32" name="Yes. Renewable, because it is not used faster than it replaces itself."/>
            <p:cNvSpPr txBox="1"/>
            <p:nvPr/>
          </p:nvSpPr>
          <p:spPr>
            <a:xfrm>
              <a:off x="35035" y="30640"/>
              <a:ext cx="4626746" cy="377632"/>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1015" tIns="1015" rIns="1015" bIns="1015" numCol="1" anchor="ctr">
              <a:spAutoFit/>
            </a:bodyPr>
            <a:lstStyle>
              <a:lvl1pPr>
                <a:defRPr b="1" sz="1300">
                  <a:solidFill>
                    <a:srgbClr val="3D2B1F"/>
                  </a:solidFill>
                  <a:latin typeface="Arial"/>
                  <a:ea typeface="Arial"/>
                  <a:cs typeface="Arial"/>
                  <a:sym typeface="Arial"/>
                </a:defRPr>
              </a:lvl1pPr>
            </a:lstStyle>
            <a:p>
              <a:pPr/>
              <a:r>
                <a:t>Yes. Renewable, because it is not used faster than it replaces itself.</a:t>
              </a:r>
            </a:p>
          </p:txBody>
        </p:sp>
      </p:grpSp>
      <p:sp>
        <p:nvSpPr>
          <p:cNvPr id="34" name="d1_bg"/>
          <p:cNvSpPr/>
          <p:nvPr/>
        </p:nvSpPr>
        <p:spPr>
          <a:xfrm>
            <a:off x="6543903" y="1133855"/>
            <a:ext cx="5099153" cy="1481329"/>
          </a:xfrm>
          <a:prstGeom prst="roundRect">
            <a:avLst>
              <a:gd name="adj" fmla="val 6173"/>
            </a:avLst>
          </a:prstGeom>
          <a:solidFill>
            <a:srgbClr val="FFFFFF"/>
          </a:solidFill>
          <a:ln w="16510">
            <a:solidFill>
              <a:srgbClr val="D9C9A8"/>
            </a:solidFill>
          </a:ln>
        </p:spPr>
        <p:txBody>
          <a:bodyPr lIns="45719" rIns="45719"/>
          <a:lstStyle/>
          <a:p>
            <a:pPr/>
          </a:p>
        </p:txBody>
      </p:sp>
      <p:sp>
        <p:nvSpPr>
          <p:cNvPr id="35" name="d1_badge"/>
          <p:cNvSpPr/>
          <p:nvPr/>
        </p:nvSpPr>
        <p:spPr>
          <a:xfrm>
            <a:off x="6745072" y="1426463"/>
            <a:ext cx="384049" cy="384049"/>
          </a:xfrm>
          <a:prstGeom prst="ellipse">
            <a:avLst/>
          </a:prstGeom>
          <a:solidFill>
            <a:srgbClr val="C99A3D"/>
          </a:solidFill>
          <a:ln w="12700">
            <a:solidFill>
              <a:srgbClr val="C99A3D"/>
            </a:solidFill>
          </a:ln>
        </p:spPr>
        <p:txBody>
          <a:bodyPr lIns="45719" rIns="45719"/>
          <a:lstStyle/>
          <a:p>
            <a:pPr/>
          </a:p>
        </p:txBody>
      </p:sp>
      <p:sp>
        <p:nvSpPr>
          <p:cNvPr id="36" name="d1_num"/>
          <p:cNvSpPr txBox="1"/>
          <p:nvPr/>
        </p:nvSpPr>
        <p:spPr>
          <a:xfrm>
            <a:off x="6745072" y="1516887"/>
            <a:ext cx="384049"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400">
                <a:solidFill>
                  <a:srgbClr val="3D2B1F"/>
                </a:solidFill>
                <a:latin typeface="Georgia"/>
                <a:ea typeface="Georgia"/>
                <a:cs typeface="Georgia"/>
                <a:sym typeface="Georgia"/>
              </a:defRPr>
            </a:lvl1pPr>
          </a:lstStyle>
          <a:p>
            <a:pPr/>
            <a:r>
              <a:t>2</a:t>
            </a:r>
          </a:p>
        </p:txBody>
      </p:sp>
      <p:sp>
        <p:nvSpPr>
          <p:cNvPr id="37" name="d1_q"/>
          <p:cNvSpPr txBox="1"/>
          <p:nvPr/>
        </p:nvSpPr>
        <p:spPr>
          <a:xfrm>
            <a:off x="7275424" y="1381133"/>
            <a:ext cx="4166465" cy="47471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nSpc>
                <a:spcPts val="1900"/>
              </a:lnSpc>
              <a:defRPr sz="1500">
                <a:solidFill>
                  <a:srgbClr val="2A1D14"/>
                </a:solidFill>
                <a:latin typeface="Arial"/>
                <a:ea typeface="Arial"/>
                <a:cs typeface="Arial"/>
                <a:sym typeface="Arial"/>
              </a:defRPr>
            </a:lvl1pPr>
          </a:lstStyle>
          <a:p>
            <a:pPr/>
            <a:r>
              <a:t>State roughly what happened to the number of cod off Newfoundland between 1962 and 1992.</a:t>
            </a:r>
          </a:p>
        </p:txBody>
      </p:sp>
      <p:grpSp>
        <p:nvGrpSpPr>
          <p:cNvPr id="40" name="d1_a"/>
          <p:cNvGrpSpPr/>
          <p:nvPr/>
        </p:nvGrpSpPr>
        <p:grpSpPr>
          <a:xfrm>
            <a:off x="6745072" y="2048255"/>
            <a:ext cx="4696817" cy="438914"/>
            <a:chOff x="0" y="0"/>
            <a:chExt cx="4696816" cy="438912"/>
          </a:xfrm>
        </p:grpSpPr>
        <p:sp>
          <p:nvSpPr>
            <p:cNvPr id="38" name="Rounded Rectangle"/>
            <p:cNvSpPr/>
            <p:nvPr/>
          </p:nvSpPr>
          <p:spPr>
            <a:xfrm>
              <a:off x="0" y="0"/>
              <a:ext cx="4696817" cy="438913"/>
            </a:xfrm>
            <a:prstGeom prst="roundRect">
              <a:avLst>
                <a:gd name="adj" fmla="val 20833"/>
              </a:avLst>
            </a:prstGeom>
            <a:solidFill>
              <a:srgbClr val="ECE1CB"/>
            </a:solidFill>
            <a:ln w="16510" cap="flat">
              <a:solidFill>
                <a:srgbClr val="C99A3D"/>
              </a:solidFill>
              <a:prstDash val="solid"/>
              <a:round/>
            </a:ln>
            <a:effectLst/>
          </p:spPr>
          <p:txBody>
            <a:bodyPr wrap="square" lIns="45719" tIns="45719" rIns="45719" bIns="45719" numCol="1" anchor="ctr">
              <a:noAutofit/>
            </a:bodyPr>
            <a:lstStyle/>
            <a:p>
              <a:pPr>
                <a:defRPr sz="1300"/>
              </a:pPr>
            </a:p>
          </p:txBody>
        </p:sp>
        <p:sp>
          <p:nvSpPr>
            <p:cNvPr id="39" name="It collapsed, falling by about 93%."/>
            <p:cNvSpPr txBox="1"/>
            <p:nvPr/>
          </p:nvSpPr>
          <p:spPr>
            <a:xfrm>
              <a:off x="35035" y="125890"/>
              <a:ext cx="4626746" cy="187132"/>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1015" tIns="1015" rIns="1015" bIns="1015" numCol="1" anchor="ctr">
              <a:spAutoFit/>
            </a:bodyPr>
            <a:lstStyle>
              <a:lvl1pPr>
                <a:defRPr b="1" sz="1300">
                  <a:solidFill>
                    <a:srgbClr val="3D2B1F"/>
                  </a:solidFill>
                  <a:latin typeface="Arial"/>
                  <a:ea typeface="Arial"/>
                  <a:cs typeface="Arial"/>
                  <a:sym typeface="Arial"/>
                </a:defRPr>
              </a:lvl1pPr>
            </a:lstStyle>
            <a:p>
              <a:pPr/>
              <a:r>
                <a:t>It collapsed, falling by about 93%.</a:t>
              </a:r>
            </a:p>
          </p:txBody>
        </p:sp>
      </p:grpSp>
      <p:sp>
        <p:nvSpPr>
          <p:cNvPr id="41" name="d2_bg"/>
          <p:cNvSpPr/>
          <p:nvPr/>
        </p:nvSpPr>
        <p:spPr>
          <a:xfrm>
            <a:off x="1170432" y="2798064"/>
            <a:ext cx="5099152" cy="1481329"/>
          </a:xfrm>
          <a:prstGeom prst="roundRect">
            <a:avLst>
              <a:gd name="adj" fmla="val 6173"/>
            </a:avLst>
          </a:prstGeom>
          <a:solidFill>
            <a:srgbClr val="FFFFFF"/>
          </a:solidFill>
          <a:ln w="16510">
            <a:solidFill>
              <a:srgbClr val="D9C9A8"/>
            </a:solidFill>
          </a:ln>
        </p:spPr>
        <p:txBody>
          <a:bodyPr lIns="45719" rIns="45719"/>
          <a:lstStyle/>
          <a:p>
            <a:pPr/>
          </a:p>
        </p:txBody>
      </p:sp>
      <p:sp>
        <p:nvSpPr>
          <p:cNvPr id="42" name="d2_badge"/>
          <p:cNvSpPr/>
          <p:nvPr/>
        </p:nvSpPr>
        <p:spPr>
          <a:xfrm>
            <a:off x="1371600" y="3090672"/>
            <a:ext cx="384048" cy="384049"/>
          </a:xfrm>
          <a:prstGeom prst="ellipse">
            <a:avLst/>
          </a:prstGeom>
          <a:solidFill>
            <a:srgbClr val="C99A3D"/>
          </a:solidFill>
          <a:ln w="12700">
            <a:solidFill>
              <a:srgbClr val="C99A3D"/>
            </a:solidFill>
          </a:ln>
        </p:spPr>
        <p:txBody>
          <a:bodyPr lIns="45719" rIns="45719"/>
          <a:lstStyle/>
          <a:p>
            <a:pPr/>
          </a:p>
        </p:txBody>
      </p:sp>
      <p:sp>
        <p:nvSpPr>
          <p:cNvPr id="43" name="d2_num"/>
          <p:cNvSpPr txBox="1"/>
          <p:nvPr/>
        </p:nvSpPr>
        <p:spPr>
          <a:xfrm>
            <a:off x="1371600" y="3181096"/>
            <a:ext cx="384048"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400">
                <a:solidFill>
                  <a:srgbClr val="3D2B1F"/>
                </a:solidFill>
                <a:latin typeface="Georgia"/>
                <a:ea typeface="Georgia"/>
                <a:cs typeface="Georgia"/>
                <a:sym typeface="Georgia"/>
              </a:defRPr>
            </a:lvl1pPr>
          </a:lstStyle>
          <a:p>
            <a:pPr/>
            <a:r>
              <a:t>3</a:t>
            </a:r>
          </a:p>
        </p:txBody>
      </p:sp>
      <p:sp>
        <p:nvSpPr>
          <p:cNvPr id="44" name="d2_q"/>
          <p:cNvSpPr txBox="1"/>
          <p:nvPr/>
        </p:nvSpPr>
        <p:spPr>
          <a:xfrm>
            <a:off x="1901951" y="3045341"/>
            <a:ext cx="4166465" cy="47471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nSpc>
                <a:spcPts val="1900"/>
              </a:lnSpc>
              <a:defRPr sz="1500">
                <a:solidFill>
                  <a:srgbClr val="2A1D14"/>
                </a:solidFill>
                <a:latin typeface="Arial"/>
                <a:ea typeface="Arial"/>
                <a:cs typeface="Arial"/>
                <a:sym typeface="Arial"/>
              </a:defRPr>
            </a:lvl1pPr>
          </a:lstStyle>
          <a:p>
            <a:pPr/>
            <a:r>
              <a:t>A fish stock of 500,000 tonnes falls to 50,000 tonnes. Calculate the percentage decrease.</a:t>
            </a:r>
          </a:p>
        </p:txBody>
      </p:sp>
      <p:grpSp>
        <p:nvGrpSpPr>
          <p:cNvPr id="47" name="d2_a"/>
          <p:cNvGrpSpPr/>
          <p:nvPr/>
        </p:nvGrpSpPr>
        <p:grpSpPr>
          <a:xfrm>
            <a:off x="1371600" y="3712464"/>
            <a:ext cx="4696817" cy="438913"/>
            <a:chOff x="0" y="0"/>
            <a:chExt cx="4696816" cy="438912"/>
          </a:xfrm>
        </p:grpSpPr>
        <p:sp>
          <p:nvSpPr>
            <p:cNvPr id="45" name="Rounded Rectangle"/>
            <p:cNvSpPr/>
            <p:nvPr/>
          </p:nvSpPr>
          <p:spPr>
            <a:xfrm>
              <a:off x="0" y="0"/>
              <a:ext cx="4696817" cy="438913"/>
            </a:xfrm>
            <a:prstGeom prst="roundRect">
              <a:avLst>
                <a:gd name="adj" fmla="val 20833"/>
              </a:avLst>
            </a:prstGeom>
            <a:solidFill>
              <a:srgbClr val="ECE1CB"/>
            </a:solidFill>
            <a:ln w="16510" cap="flat">
              <a:solidFill>
                <a:srgbClr val="C99A3D"/>
              </a:solidFill>
              <a:prstDash val="solid"/>
              <a:round/>
            </a:ln>
            <a:effectLst/>
          </p:spPr>
          <p:txBody>
            <a:bodyPr wrap="square" lIns="45719" tIns="45719" rIns="45719" bIns="45719" numCol="1" anchor="ctr">
              <a:noAutofit/>
            </a:bodyPr>
            <a:lstStyle/>
            <a:p>
              <a:pPr>
                <a:defRPr sz="1300"/>
              </a:pPr>
            </a:p>
          </p:txBody>
        </p:sp>
        <p:sp>
          <p:nvSpPr>
            <p:cNvPr id="46" name="90%. (500,000 − 50,000) ÷ 500,000 × 100."/>
            <p:cNvSpPr txBox="1"/>
            <p:nvPr/>
          </p:nvSpPr>
          <p:spPr>
            <a:xfrm>
              <a:off x="35035" y="125890"/>
              <a:ext cx="4626746" cy="187132"/>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1015" tIns="1015" rIns="1015" bIns="1015" numCol="1" anchor="ctr">
              <a:spAutoFit/>
            </a:bodyPr>
            <a:lstStyle>
              <a:lvl1pPr>
                <a:defRPr b="1" sz="1300">
                  <a:solidFill>
                    <a:srgbClr val="3D2B1F"/>
                  </a:solidFill>
                  <a:latin typeface="Arial"/>
                  <a:ea typeface="Arial"/>
                  <a:cs typeface="Arial"/>
                  <a:sym typeface="Arial"/>
                </a:defRPr>
              </a:lvl1pPr>
            </a:lstStyle>
            <a:p>
              <a:pPr/>
              <a:r>
                <a:t>90%. (500,000 − 50,000) ÷ 500,000 × 100.</a:t>
              </a:r>
            </a:p>
          </p:txBody>
        </p:sp>
      </p:grpSp>
      <p:sp>
        <p:nvSpPr>
          <p:cNvPr id="48" name="d3_bg"/>
          <p:cNvSpPr/>
          <p:nvPr/>
        </p:nvSpPr>
        <p:spPr>
          <a:xfrm>
            <a:off x="6543903" y="2798064"/>
            <a:ext cx="5099153" cy="1481329"/>
          </a:xfrm>
          <a:prstGeom prst="roundRect">
            <a:avLst>
              <a:gd name="adj" fmla="val 6173"/>
            </a:avLst>
          </a:prstGeom>
          <a:solidFill>
            <a:srgbClr val="FFFFFF"/>
          </a:solidFill>
          <a:ln w="16510">
            <a:solidFill>
              <a:srgbClr val="D9C9A8"/>
            </a:solidFill>
          </a:ln>
        </p:spPr>
        <p:txBody>
          <a:bodyPr lIns="45719" rIns="45719"/>
          <a:lstStyle/>
          <a:p>
            <a:pPr/>
          </a:p>
        </p:txBody>
      </p:sp>
      <p:sp>
        <p:nvSpPr>
          <p:cNvPr id="49" name="d3_badge"/>
          <p:cNvSpPr/>
          <p:nvPr/>
        </p:nvSpPr>
        <p:spPr>
          <a:xfrm>
            <a:off x="6745072" y="3090672"/>
            <a:ext cx="384049" cy="384049"/>
          </a:xfrm>
          <a:prstGeom prst="ellipse">
            <a:avLst/>
          </a:prstGeom>
          <a:solidFill>
            <a:srgbClr val="C99A3D"/>
          </a:solidFill>
          <a:ln w="12700">
            <a:solidFill>
              <a:srgbClr val="C99A3D"/>
            </a:solidFill>
          </a:ln>
        </p:spPr>
        <p:txBody>
          <a:bodyPr lIns="45719" rIns="45719"/>
          <a:lstStyle/>
          <a:p>
            <a:pPr/>
          </a:p>
        </p:txBody>
      </p:sp>
      <p:sp>
        <p:nvSpPr>
          <p:cNvPr id="50" name="d3_num"/>
          <p:cNvSpPr txBox="1"/>
          <p:nvPr/>
        </p:nvSpPr>
        <p:spPr>
          <a:xfrm>
            <a:off x="6745072" y="3181096"/>
            <a:ext cx="384049"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400">
                <a:solidFill>
                  <a:srgbClr val="3D2B1F"/>
                </a:solidFill>
                <a:latin typeface="Georgia"/>
                <a:ea typeface="Georgia"/>
                <a:cs typeface="Georgia"/>
                <a:sym typeface="Georgia"/>
              </a:defRPr>
            </a:lvl1pPr>
          </a:lstStyle>
          <a:p>
            <a:pPr/>
            <a:r>
              <a:t>4</a:t>
            </a:r>
          </a:p>
        </p:txBody>
      </p:sp>
      <p:sp>
        <p:nvSpPr>
          <p:cNvPr id="51" name="d3_q"/>
          <p:cNvSpPr txBox="1"/>
          <p:nvPr/>
        </p:nvSpPr>
        <p:spPr>
          <a:xfrm>
            <a:off x="7275424" y="3045341"/>
            <a:ext cx="4166465" cy="47471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nSpc>
                <a:spcPts val="1900"/>
              </a:lnSpc>
              <a:defRPr sz="1500">
                <a:solidFill>
                  <a:srgbClr val="2A1D14"/>
                </a:solidFill>
                <a:latin typeface="Arial"/>
                <a:ea typeface="Arial"/>
                <a:cs typeface="Arial"/>
                <a:sym typeface="Arial"/>
              </a:defRPr>
            </a:lvl1pPr>
          </a:lstStyle>
          <a:p>
            <a:pPr/>
            <a:r>
              <a:t>State why soil counts as non-renewable, even though new soil can form.</a:t>
            </a:r>
          </a:p>
        </p:txBody>
      </p:sp>
      <p:grpSp>
        <p:nvGrpSpPr>
          <p:cNvPr id="54" name="d3_a"/>
          <p:cNvGrpSpPr/>
          <p:nvPr/>
        </p:nvGrpSpPr>
        <p:grpSpPr>
          <a:xfrm>
            <a:off x="6745072" y="3712464"/>
            <a:ext cx="4696817" cy="438913"/>
            <a:chOff x="0" y="0"/>
            <a:chExt cx="4696816" cy="438912"/>
          </a:xfrm>
        </p:grpSpPr>
        <p:sp>
          <p:nvSpPr>
            <p:cNvPr id="52" name="Rounded Rectangle"/>
            <p:cNvSpPr/>
            <p:nvPr/>
          </p:nvSpPr>
          <p:spPr>
            <a:xfrm>
              <a:off x="0" y="0"/>
              <a:ext cx="4696817" cy="438913"/>
            </a:xfrm>
            <a:prstGeom prst="roundRect">
              <a:avLst>
                <a:gd name="adj" fmla="val 20833"/>
              </a:avLst>
            </a:prstGeom>
            <a:solidFill>
              <a:srgbClr val="ECE1CB"/>
            </a:solidFill>
            <a:ln w="16510" cap="flat">
              <a:solidFill>
                <a:srgbClr val="C99A3D"/>
              </a:solidFill>
              <a:prstDash val="solid"/>
              <a:round/>
            </a:ln>
            <a:effectLst/>
          </p:spPr>
          <p:txBody>
            <a:bodyPr wrap="square" lIns="45719" tIns="45719" rIns="45719" bIns="45719" numCol="1" anchor="ctr">
              <a:noAutofit/>
            </a:bodyPr>
            <a:lstStyle/>
            <a:p>
              <a:pPr>
                <a:defRPr sz="1300"/>
              </a:pPr>
            </a:p>
          </p:txBody>
        </p:sp>
        <p:sp>
          <p:nvSpPr>
            <p:cNvPr id="53" name="It forms far slower than it is used or lost."/>
            <p:cNvSpPr txBox="1"/>
            <p:nvPr/>
          </p:nvSpPr>
          <p:spPr>
            <a:xfrm>
              <a:off x="35035" y="125890"/>
              <a:ext cx="4626746" cy="187132"/>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1015" tIns="1015" rIns="1015" bIns="1015" numCol="1" anchor="ctr">
              <a:spAutoFit/>
            </a:bodyPr>
            <a:lstStyle>
              <a:lvl1pPr>
                <a:defRPr b="1" sz="1300">
                  <a:solidFill>
                    <a:srgbClr val="3D2B1F"/>
                  </a:solidFill>
                  <a:latin typeface="Arial"/>
                  <a:ea typeface="Arial"/>
                  <a:cs typeface="Arial"/>
                  <a:sym typeface="Arial"/>
                </a:defRPr>
              </a:lvl1pPr>
            </a:lstStyle>
            <a:p>
              <a:pPr/>
              <a:r>
                <a:t>It forms far slower than it is used or lost.</a:t>
              </a:r>
            </a:p>
          </p:txBody>
        </p:sp>
      </p:grpSp>
      <p:sp>
        <p:nvSpPr>
          <p:cNvPr id="55" name="d4_bg"/>
          <p:cNvSpPr/>
          <p:nvPr/>
        </p:nvSpPr>
        <p:spPr>
          <a:xfrm>
            <a:off x="1170432" y="4462271"/>
            <a:ext cx="5099152" cy="1481329"/>
          </a:xfrm>
          <a:prstGeom prst="roundRect">
            <a:avLst>
              <a:gd name="adj" fmla="val 6173"/>
            </a:avLst>
          </a:prstGeom>
          <a:solidFill>
            <a:srgbClr val="FFFFFF"/>
          </a:solidFill>
          <a:ln w="16510">
            <a:solidFill>
              <a:srgbClr val="D9C9A8"/>
            </a:solidFill>
          </a:ln>
        </p:spPr>
        <p:txBody>
          <a:bodyPr lIns="45719" rIns="45719"/>
          <a:lstStyle/>
          <a:p>
            <a:pPr/>
          </a:p>
        </p:txBody>
      </p:sp>
      <p:sp>
        <p:nvSpPr>
          <p:cNvPr id="56" name="d4_badge"/>
          <p:cNvSpPr/>
          <p:nvPr/>
        </p:nvSpPr>
        <p:spPr>
          <a:xfrm>
            <a:off x="1371600" y="4754879"/>
            <a:ext cx="384048" cy="384049"/>
          </a:xfrm>
          <a:prstGeom prst="ellipse">
            <a:avLst/>
          </a:prstGeom>
          <a:solidFill>
            <a:srgbClr val="C99A3D"/>
          </a:solidFill>
          <a:ln w="12700">
            <a:solidFill>
              <a:srgbClr val="C99A3D"/>
            </a:solidFill>
          </a:ln>
        </p:spPr>
        <p:txBody>
          <a:bodyPr lIns="45719" rIns="45719"/>
          <a:lstStyle/>
          <a:p>
            <a:pPr/>
          </a:p>
        </p:txBody>
      </p:sp>
      <p:sp>
        <p:nvSpPr>
          <p:cNvPr id="57" name="d4_num"/>
          <p:cNvSpPr txBox="1"/>
          <p:nvPr/>
        </p:nvSpPr>
        <p:spPr>
          <a:xfrm>
            <a:off x="1371600" y="4845303"/>
            <a:ext cx="384048"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400">
                <a:solidFill>
                  <a:srgbClr val="3D2B1F"/>
                </a:solidFill>
                <a:latin typeface="Georgia"/>
                <a:ea typeface="Georgia"/>
                <a:cs typeface="Georgia"/>
                <a:sym typeface="Georgia"/>
              </a:defRPr>
            </a:lvl1pPr>
          </a:lstStyle>
          <a:p>
            <a:pPr/>
            <a:r>
              <a:t>5</a:t>
            </a:r>
          </a:p>
        </p:txBody>
      </p:sp>
      <p:sp>
        <p:nvSpPr>
          <p:cNvPr id="58" name="d4_q"/>
          <p:cNvSpPr txBox="1"/>
          <p:nvPr/>
        </p:nvSpPr>
        <p:spPr>
          <a:xfrm>
            <a:off x="1901951" y="4709549"/>
            <a:ext cx="4166465" cy="47471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nSpc>
                <a:spcPts val="1900"/>
              </a:lnSpc>
              <a:defRPr sz="1500">
                <a:solidFill>
                  <a:srgbClr val="2A1D14"/>
                </a:solidFill>
                <a:latin typeface="Arial"/>
                <a:ea typeface="Arial"/>
                <a:cs typeface="Arial"/>
                <a:sym typeface="Arial"/>
              </a:defRPr>
            </a:lvl1pPr>
          </a:lstStyle>
          <a:p>
            <a:pPr/>
            <a:r>
              <a:t>Name one thing you, or your family, do to make a resource last longer.</a:t>
            </a:r>
          </a:p>
        </p:txBody>
      </p:sp>
      <p:grpSp>
        <p:nvGrpSpPr>
          <p:cNvPr id="61" name="d4_a"/>
          <p:cNvGrpSpPr/>
          <p:nvPr/>
        </p:nvGrpSpPr>
        <p:grpSpPr>
          <a:xfrm>
            <a:off x="1371600" y="5376671"/>
            <a:ext cx="4696817" cy="438913"/>
            <a:chOff x="0" y="0"/>
            <a:chExt cx="4696816" cy="438912"/>
          </a:xfrm>
        </p:grpSpPr>
        <p:sp>
          <p:nvSpPr>
            <p:cNvPr id="59" name="Rounded Rectangle"/>
            <p:cNvSpPr/>
            <p:nvPr/>
          </p:nvSpPr>
          <p:spPr>
            <a:xfrm>
              <a:off x="0" y="0"/>
              <a:ext cx="4696817" cy="438913"/>
            </a:xfrm>
            <a:prstGeom prst="roundRect">
              <a:avLst>
                <a:gd name="adj" fmla="val 20833"/>
              </a:avLst>
            </a:prstGeom>
            <a:solidFill>
              <a:srgbClr val="ECE1CB"/>
            </a:solidFill>
            <a:ln w="16510" cap="flat">
              <a:solidFill>
                <a:srgbClr val="C99A3D"/>
              </a:solidFill>
              <a:prstDash val="solid"/>
              <a:round/>
            </a:ln>
            <a:effectLst/>
          </p:spPr>
          <p:txBody>
            <a:bodyPr wrap="square" lIns="45719" tIns="45719" rIns="45719" bIns="45719" numCol="1" anchor="ctr">
              <a:noAutofit/>
            </a:bodyPr>
            <a:lstStyle/>
            <a:p>
              <a:pPr>
                <a:defRPr sz="1300"/>
              </a:pPr>
            </a:p>
          </p:txBody>
        </p:sp>
        <p:sp>
          <p:nvSpPr>
            <p:cNvPr id="60" name="Any reasonable answer: recycling, turning off taps, using less."/>
            <p:cNvSpPr txBox="1"/>
            <p:nvPr/>
          </p:nvSpPr>
          <p:spPr>
            <a:xfrm>
              <a:off x="35035" y="30640"/>
              <a:ext cx="4626746" cy="377632"/>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1015" tIns="1015" rIns="1015" bIns="1015" numCol="1" anchor="ctr">
              <a:spAutoFit/>
            </a:bodyPr>
            <a:lstStyle>
              <a:lvl1pPr>
                <a:defRPr b="1" sz="1300">
                  <a:solidFill>
                    <a:srgbClr val="3D2B1F"/>
                  </a:solidFill>
                  <a:latin typeface="Arial"/>
                  <a:ea typeface="Arial"/>
                  <a:cs typeface="Arial"/>
                  <a:sym typeface="Arial"/>
                </a:defRPr>
              </a:lvl1pPr>
            </a:lstStyle>
            <a:p>
              <a:pPr/>
              <a:r>
                <a:t>Any reasonable answer: recycling, turning off taps, using less.</a:t>
              </a:r>
            </a:p>
          </p:txBody>
        </p:sp>
      </p:grpSp>
      <p:sp>
        <p:nvSpPr>
          <p:cNvPr id="62" name="d5_bg"/>
          <p:cNvSpPr/>
          <p:nvPr/>
        </p:nvSpPr>
        <p:spPr>
          <a:xfrm>
            <a:off x="6543903" y="4462271"/>
            <a:ext cx="5099153" cy="1481329"/>
          </a:xfrm>
          <a:prstGeom prst="roundRect">
            <a:avLst>
              <a:gd name="adj" fmla="val 6173"/>
            </a:avLst>
          </a:prstGeom>
          <a:solidFill>
            <a:srgbClr val="FFFFFF"/>
          </a:solidFill>
          <a:ln w="16510">
            <a:solidFill>
              <a:srgbClr val="D9C9A8"/>
            </a:solidFill>
          </a:ln>
        </p:spPr>
        <p:txBody>
          <a:bodyPr lIns="45719" rIns="45719"/>
          <a:lstStyle/>
          <a:p>
            <a:pPr/>
          </a:p>
        </p:txBody>
      </p:sp>
      <p:sp>
        <p:nvSpPr>
          <p:cNvPr id="63" name="d5_badge"/>
          <p:cNvSpPr/>
          <p:nvPr/>
        </p:nvSpPr>
        <p:spPr>
          <a:xfrm>
            <a:off x="6745072" y="4754879"/>
            <a:ext cx="384049" cy="384049"/>
          </a:xfrm>
          <a:prstGeom prst="ellipse">
            <a:avLst/>
          </a:prstGeom>
          <a:solidFill>
            <a:srgbClr val="C99A3D"/>
          </a:solidFill>
          <a:ln w="12700">
            <a:solidFill>
              <a:srgbClr val="C99A3D"/>
            </a:solidFill>
          </a:ln>
        </p:spPr>
        <p:txBody>
          <a:bodyPr lIns="45719" rIns="45719"/>
          <a:lstStyle/>
          <a:p>
            <a:pPr/>
          </a:p>
        </p:txBody>
      </p:sp>
      <p:sp>
        <p:nvSpPr>
          <p:cNvPr id="64" name="d5_num"/>
          <p:cNvSpPr txBox="1"/>
          <p:nvPr/>
        </p:nvSpPr>
        <p:spPr>
          <a:xfrm>
            <a:off x="6745072" y="4845303"/>
            <a:ext cx="384049"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400">
                <a:solidFill>
                  <a:srgbClr val="3D2B1F"/>
                </a:solidFill>
                <a:latin typeface="Georgia"/>
                <a:ea typeface="Georgia"/>
                <a:cs typeface="Georgia"/>
                <a:sym typeface="Georgia"/>
              </a:defRPr>
            </a:lvl1pPr>
          </a:lstStyle>
          <a:p>
            <a:pPr/>
            <a:r>
              <a:t>6</a:t>
            </a:r>
          </a:p>
        </p:txBody>
      </p:sp>
      <p:sp>
        <p:nvSpPr>
          <p:cNvPr id="65" name="d5_q"/>
          <p:cNvSpPr txBox="1"/>
          <p:nvPr/>
        </p:nvSpPr>
        <p:spPr>
          <a:xfrm>
            <a:off x="7275424" y="4588899"/>
            <a:ext cx="4166465" cy="71601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nSpc>
                <a:spcPts val="1900"/>
              </a:lnSpc>
              <a:defRPr sz="1500">
                <a:solidFill>
                  <a:srgbClr val="2A1D14"/>
                </a:solidFill>
                <a:latin typeface="Arial"/>
                <a:ea typeface="Arial"/>
                <a:cs typeface="Arial"/>
                <a:sym typeface="Arial"/>
              </a:defRPr>
            </a:lvl1pPr>
          </a:lstStyle>
          <a:p>
            <a:pPr/>
            <a:r>
              <a:t>A fishing boat catches fewer fish each year than the stock can replace. Predict what happens to the fish stock over time.</a:t>
            </a:r>
          </a:p>
        </p:txBody>
      </p:sp>
      <p:grpSp>
        <p:nvGrpSpPr>
          <p:cNvPr id="68" name="d5_a"/>
          <p:cNvGrpSpPr/>
          <p:nvPr/>
        </p:nvGrpSpPr>
        <p:grpSpPr>
          <a:xfrm>
            <a:off x="6745072" y="5376671"/>
            <a:ext cx="4696817" cy="438913"/>
            <a:chOff x="0" y="0"/>
            <a:chExt cx="4696816" cy="438912"/>
          </a:xfrm>
        </p:grpSpPr>
        <p:sp>
          <p:nvSpPr>
            <p:cNvPr id="66" name="Rounded Rectangle"/>
            <p:cNvSpPr/>
            <p:nvPr/>
          </p:nvSpPr>
          <p:spPr>
            <a:xfrm>
              <a:off x="0" y="0"/>
              <a:ext cx="4696817" cy="438913"/>
            </a:xfrm>
            <a:prstGeom prst="roundRect">
              <a:avLst>
                <a:gd name="adj" fmla="val 20833"/>
              </a:avLst>
            </a:prstGeom>
            <a:solidFill>
              <a:srgbClr val="ECE1CB"/>
            </a:solidFill>
            <a:ln w="16510" cap="flat">
              <a:solidFill>
                <a:srgbClr val="C99A3D"/>
              </a:solidFill>
              <a:prstDash val="solid"/>
              <a:round/>
            </a:ln>
            <a:effectLst/>
          </p:spPr>
          <p:txBody>
            <a:bodyPr wrap="square" lIns="45719" tIns="45719" rIns="45719" bIns="45719" numCol="1" anchor="ctr">
              <a:noAutofit/>
            </a:bodyPr>
            <a:lstStyle/>
            <a:p>
              <a:pPr>
                <a:defRPr sz="1300"/>
              </a:pPr>
            </a:p>
          </p:txBody>
        </p:sp>
        <p:sp>
          <p:nvSpPr>
            <p:cNvPr id="67" name="It stays the same size, or grows."/>
            <p:cNvSpPr txBox="1"/>
            <p:nvPr/>
          </p:nvSpPr>
          <p:spPr>
            <a:xfrm>
              <a:off x="35035" y="125890"/>
              <a:ext cx="4626746" cy="187132"/>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1015" tIns="1015" rIns="1015" bIns="1015" numCol="1" anchor="ctr">
              <a:spAutoFit/>
            </a:bodyPr>
            <a:lstStyle>
              <a:lvl1pPr>
                <a:defRPr b="1" sz="1300">
                  <a:solidFill>
                    <a:srgbClr val="3D2B1F"/>
                  </a:solidFill>
                  <a:latin typeface="Arial"/>
                  <a:ea typeface="Arial"/>
                  <a:cs typeface="Arial"/>
                  <a:sym typeface="Arial"/>
                </a:defRPr>
              </a:lvl1pPr>
            </a:lstStyle>
            <a:p>
              <a:pPr/>
              <a:r>
                <a:t>It stays the same size, or grows.</a:t>
              </a:r>
            </a:p>
          </p:txBody>
        </p:sp>
      </p:grpSp>
    </p:spTree>
  </p:cSld>
  <p:clrMapOvr>
    <a:masterClrMapping/>
  </p:clrMapOvr>
  <p:transition xmlns:p14="http://schemas.microsoft.com/office/powerpoint/2010/main" spd="med" advClick="1"/>
  <p:timing>
    <p:tnLst>
      <p:par>
        <p:cTn id="1" nodeType="tmRoot" restart="never" dur="indefinite" fill="hold">
          <p:childTnLst>
            <p:seq concurrent="1" prevAc="none" nextAc="seek">
              <p:cTn id="2" nodeType="mainSeq" dur="indefinite" fill="hold">
                <p:childTnLst>
                  <p:par>
                    <p:cTn id="3" fill="hold">
                      <p:stCondLst>
                        <p:cond delay="indefinite"/>
                        <p:cond evt="onBegin">
                          <p:tn val="2"/>
                        </p:cond>
                      </p:stCondLst>
                      <p:childTnLst>
                        <p:par>
                          <p:cTn id="4" fill="hold">
                            <p:stCondLst>
                              <p:cond delay="0"/>
                            </p:stCondLst>
                            <p:childTnLst>
                              <p:par>
                                <p:cTn id="5" presetClass="mediacall" nodeType="afterEffect" presetSubtype="0" presetID="1" grpId="1" fill="hold">
                                  <p:stCondLst>
                                    <p:cond delay="0"/>
                                  </p:stCondLst>
                                  <p:childTnLst>
                                    <p:cmd type="call" cmd="playFrom(0.0)">
                                      <p:cBhvr>
                                        <p:cTn id="6" dur="600000" fill="hold"/>
                                        <p:tgtEl>
                                          <p:spTgt spid="20"/>
                                        </p:tgtEl>
                                      </p:cBhvr>
                                    </p:cmd>
                                  </p:childTnLst>
                                </p:cTn>
                              </p:par>
                            </p:childTnLst>
                          </p:cTn>
                        </p:par>
                      </p:childTnLst>
                    </p:cTn>
                  </p:par>
                  <p:par>
                    <p:cTn id="7" fill="hold">
                      <p:stCondLst>
                        <p:cond delay="indefinite"/>
                      </p:stCondLst>
                      <p:childTnLst>
                        <p:par>
                          <p:cTn id="8" fill="hold">
                            <p:stCondLst>
                              <p:cond delay="0"/>
                            </p:stCondLst>
                            <p:childTnLst>
                              <p:par>
                                <p:cTn id="9" presetClass="entr" nodeType="clickEffect" presetSubtype="8" presetID="22" grpId="2" fill="hold">
                                  <p:stCondLst>
                                    <p:cond delay="0"/>
                                  </p:stCondLst>
                                  <p:iterate type="el" backwards="0">
                                    <p:tmAbs val="0"/>
                                  </p:iterate>
                                  <p:childTnLst>
                                    <p:set>
                                      <p:cBhvr>
                                        <p:cTn id="10" fill="hold"/>
                                        <p:tgtEl>
                                          <p:spTgt spid="33"/>
                                        </p:tgtEl>
                                        <p:attrNameLst>
                                          <p:attrName>style.visibility</p:attrName>
                                        </p:attrNameLst>
                                      </p:cBhvr>
                                      <p:to>
                                        <p:strVal val="visible"/>
                                      </p:to>
                                    </p:set>
                                    <p:animEffect filter="wipe(left)" transition="in">
                                      <p:cBhvr>
                                        <p:cTn id="11" dur="400"/>
                                        <p:tgtEl>
                                          <p:spTgt spid="33"/>
                                        </p:tgtEl>
                                      </p:cBhvr>
                                    </p:animEffect>
                                  </p:childTnLst>
                                </p:cTn>
                              </p:par>
                            </p:childTnLst>
                          </p:cTn>
                        </p:par>
                      </p:childTnLst>
                    </p:cTn>
                  </p:par>
                  <p:par>
                    <p:cTn id="12" fill="hold">
                      <p:stCondLst>
                        <p:cond delay="indefinite"/>
                      </p:stCondLst>
                      <p:childTnLst>
                        <p:par>
                          <p:cTn id="13" fill="hold">
                            <p:stCondLst>
                              <p:cond delay="0"/>
                            </p:stCondLst>
                            <p:childTnLst>
                              <p:par>
                                <p:cTn id="14" presetClass="entr" nodeType="clickEffect" presetSubtype="8" presetID="22" grpId="3" fill="hold">
                                  <p:stCondLst>
                                    <p:cond delay="0"/>
                                  </p:stCondLst>
                                  <p:iterate type="el" backwards="0">
                                    <p:tmAbs val="0"/>
                                  </p:iterate>
                                  <p:childTnLst>
                                    <p:set>
                                      <p:cBhvr>
                                        <p:cTn id="15" fill="hold"/>
                                        <p:tgtEl>
                                          <p:spTgt spid="40"/>
                                        </p:tgtEl>
                                        <p:attrNameLst>
                                          <p:attrName>style.visibility</p:attrName>
                                        </p:attrNameLst>
                                      </p:cBhvr>
                                      <p:to>
                                        <p:strVal val="visible"/>
                                      </p:to>
                                    </p:set>
                                    <p:animEffect filter="wipe(left)" transition="in">
                                      <p:cBhvr>
                                        <p:cTn id="16" dur="400"/>
                                        <p:tgtEl>
                                          <p:spTgt spid="40"/>
                                        </p:tgtEl>
                                      </p:cBhvr>
                                    </p:animEffect>
                                  </p:childTnLst>
                                </p:cTn>
                              </p:par>
                            </p:childTnLst>
                          </p:cTn>
                        </p:par>
                      </p:childTnLst>
                    </p:cTn>
                  </p:par>
                  <p:par>
                    <p:cTn id="17" fill="hold">
                      <p:stCondLst>
                        <p:cond delay="indefinite"/>
                      </p:stCondLst>
                      <p:childTnLst>
                        <p:par>
                          <p:cTn id="18" fill="hold">
                            <p:stCondLst>
                              <p:cond delay="0"/>
                            </p:stCondLst>
                            <p:childTnLst>
                              <p:par>
                                <p:cTn id="19" presetClass="entr" nodeType="clickEffect" presetSubtype="8" presetID="22" grpId="4" fill="hold">
                                  <p:stCondLst>
                                    <p:cond delay="0"/>
                                  </p:stCondLst>
                                  <p:iterate type="el" backwards="0">
                                    <p:tmAbs val="0"/>
                                  </p:iterate>
                                  <p:childTnLst>
                                    <p:set>
                                      <p:cBhvr>
                                        <p:cTn id="20" fill="hold"/>
                                        <p:tgtEl>
                                          <p:spTgt spid="47"/>
                                        </p:tgtEl>
                                        <p:attrNameLst>
                                          <p:attrName>style.visibility</p:attrName>
                                        </p:attrNameLst>
                                      </p:cBhvr>
                                      <p:to>
                                        <p:strVal val="visible"/>
                                      </p:to>
                                    </p:set>
                                    <p:animEffect filter="wipe(left)" transition="in">
                                      <p:cBhvr>
                                        <p:cTn id="21" dur="400"/>
                                        <p:tgtEl>
                                          <p:spTgt spid="47"/>
                                        </p:tgtEl>
                                      </p:cBhvr>
                                    </p:animEffect>
                                  </p:childTnLst>
                                </p:cTn>
                              </p:par>
                            </p:childTnLst>
                          </p:cTn>
                        </p:par>
                      </p:childTnLst>
                    </p:cTn>
                  </p:par>
                  <p:par>
                    <p:cTn id="22" fill="hold">
                      <p:stCondLst>
                        <p:cond delay="indefinite"/>
                      </p:stCondLst>
                      <p:childTnLst>
                        <p:par>
                          <p:cTn id="23" fill="hold">
                            <p:stCondLst>
                              <p:cond delay="0"/>
                            </p:stCondLst>
                            <p:childTnLst>
                              <p:par>
                                <p:cTn id="24" presetClass="entr" nodeType="clickEffect" presetSubtype="8" presetID="22" grpId="5" fill="hold">
                                  <p:stCondLst>
                                    <p:cond delay="0"/>
                                  </p:stCondLst>
                                  <p:iterate type="el" backwards="0">
                                    <p:tmAbs val="0"/>
                                  </p:iterate>
                                  <p:childTnLst>
                                    <p:set>
                                      <p:cBhvr>
                                        <p:cTn id="25" fill="hold"/>
                                        <p:tgtEl>
                                          <p:spTgt spid="54"/>
                                        </p:tgtEl>
                                        <p:attrNameLst>
                                          <p:attrName>style.visibility</p:attrName>
                                        </p:attrNameLst>
                                      </p:cBhvr>
                                      <p:to>
                                        <p:strVal val="visible"/>
                                      </p:to>
                                    </p:set>
                                    <p:animEffect filter="wipe(left)" transition="in">
                                      <p:cBhvr>
                                        <p:cTn id="26" dur="400"/>
                                        <p:tgtEl>
                                          <p:spTgt spid="54"/>
                                        </p:tgtEl>
                                      </p:cBhvr>
                                    </p:animEffect>
                                  </p:childTnLst>
                                </p:cTn>
                              </p:par>
                            </p:childTnLst>
                          </p:cTn>
                        </p:par>
                      </p:childTnLst>
                    </p:cTn>
                  </p:par>
                  <p:par>
                    <p:cTn id="27" fill="hold">
                      <p:stCondLst>
                        <p:cond delay="indefinite"/>
                      </p:stCondLst>
                      <p:childTnLst>
                        <p:par>
                          <p:cTn id="28" fill="hold">
                            <p:stCondLst>
                              <p:cond delay="0"/>
                            </p:stCondLst>
                            <p:childTnLst>
                              <p:par>
                                <p:cTn id="29" presetClass="entr" nodeType="clickEffect" presetSubtype="8" presetID="22" grpId="6" fill="hold">
                                  <p:stCondLst>
                                    <p:cond delay="0"/>
                                  </p:stCondLst>
                                  <p:iterate type="el" backwards="0">
                                    <p:tmAbs val="0"/>
                                  </p:iterate>
                                  <p:childTnLst>
                                    <p:set>
                                      <p:cBhvr>
                                        <p:cTn id="30" fill="hold"/>
                                        <p:tgtEl>
                                          <p:spTgt spid="61"/>
                                        </p:tgtEl>
                                        <p:attrNameLst>
                                          <p:attrName>style.visibility</p:attrName>
                                        </p:attrNameLst>
                                      </p:cBhvr>
                                      <p:to>
                                        <p:strVal val="visible"/>
                                      </p:to>
                                    </p:set>
                                    <p:animEffect filter="wipe(left)" transition="in">
                                      <p:cBhvr>
                                        <p:cTn id="31" dur="400"/>
                                        <p:tgtEl>
                                          <p:spTgt spid="61"/>
                                        </p:tgtEl>
                                      </p:cBhvr>
                                    </p:animEffect>
                                  </p:childTnLst>
                                </p:cTn>
                              </p:par>
                            </p:childTnLst>
                          </p:cTn>
                        </p:par>
                      </p:childTnLst>
                    </p:cTn>
                  </p:par>
                  <p:par>
                    <p:cTn id="32" fill="hold">
                      <p:stCondLst>
                        <p:cond delay="indefinite"/>
                      </p:stCondLst>
                      <p:childTnLst>
                        <p:par>
                          <p:cTn id="33" fill="hold">
                            <p:stCondLst>
                              <p:cond delay="0"/>
                            </p:stCondLst>
                            <p:childTnLst>
                              <p:par>
                                <p:cTn id="34" presetClass="entr" nodeType="clickEffect" presetSubtype="8" presetID="22" grpId="7" fill="hold">
                                  <p:stCondLst>
                                    <p:cond delay="0"/>
                                  </p:stCondLst>
                                  <p:iterate type="el" backwards="0">
                                    <p:tmAbs val="0"/>
                                  </p:iterate>
                                  <p:childTnLst>
                                    <p:set>
                                      <p:cBhvr>
                                        <p:cTn id="35" fill="hold"/>
                                        <p:tgtEl>
                                          <p:spTgt spid="68"/>
                                        </p:tgtEl>
                                        <p:attrNameLst>
                                          <p:attrName>style.visibility</p:attrName>
                                        </p:attrNameLst>
                                      </p:cBhvr>
                                      <p:to>
                                        <p:strVal val="visible"/>
                                      </p:to>
                                    </p:set>
                                    <p:animEffect filter="wipe(left)" transition="in">
                                      <p:cBhvr>
                                        <p:cTn id="36" dur="400"/>
                                        <p:tgtEl>
                                          <p:spTgt spid="68"/>
                                        </p:tgtEl>
                                      </p:cBhvr>
                                    </p:animEffect>
                                  </p:childTnLst>
                                </p:cTn>
                              </p:par>
                            </p:childTnLst>
                          </p:cTn>
                        </p:par>
                      </p:childTnLst>
                    </p:cTn>
                  </p:par>
                </p:childTnLst>
              </p:cTn>
              <p:prevCondLst>
                <p:cond evt="onPrev">
                  <p:tgtEl>
                    <p:sldTgt/>
                  </p:tgtEl>
                </p:cond>
              </p:prevCondLst>
              <p:nextCondLst>
                <p:cond evt="onNext">
                  <p:tgtEl>
                    <p:sldTgt/>
                  </p:tgtEl>
                </p:cond>
              </p:nextCondLst>
            </p:seq>
            <p:video fullScrn="0">
              <p:cMediaNode mute="0" showWhenStopped="1" numSld="1" vol="0">
                <p:cTn id="37" fill="hold" display="0">
                  <p:stCondLst>
                    <p:cond delay="indefinite"/>
                  </p:stCondLst>
                </p:cTn>
                <p:tgtEl>
                  <p:spTgt spid="20"/>
                </p:tgtEl>
              </p:cMediaNode>
            </p:video>
            <p:seq concurrent="1" prevAc="none" nextAc="seek">
              <p:cTn id="38" evtFilter="cancelBubble" nodeType="interactiveSeq" restart="whenNotActive" fill="hold">
                <p:stCondLst>
                  <p:cond delay="0" evt="onClick">
                    <p:tgtEl>
                      <p:spTgt spid="20"/>
                    </p:tgtEl>
                  </p:cond>
                </p:stCondLst>
                <p:endSync delay="0" evt="end">
                  <p:rtn val="all"/>
                </p:endSync>
                <p:childTnLst>
                  <p:par>
                    <p:cTn id="39" fill="hold">
                      <p:stCondLst>
                        <p:cond delay="0"/>
                      </p:stCondLst>
                      <p:childTnLst>
                        <p:par>
                          <p:cTn id="40" fill="hold">
                            <p:stCondLst>
                              <p:cond delay="0"/>
                            </p:stCondLst>
                            <p:childTnLst>
                              <p:par>
                                <p:cTn id="41" presetClass="mediacall" nodeType="clickEffect" presetSubtype="0" presetID="2" fill="hold">
                                  <p:stCondLst>
                                    <p:cond delay="0"/>
                                  </p:stCondLst>
                                  <p:childTnLst>
                                    <p:cmd type="call" cmd="togglePause">
                                      <p:cBhvr>
                                        <p:cTn id="42" dur="1" fill="hold"/>
                                        <p:tgtEl>
                                          <p:spTgt spid="20"/>
                                        </p:tgtEl>
                                      </p:cBhvr>
                                    </p:cmd>
                                  </p:childTnLst>
                                </p:cTn>
                              </p:par>
                            </p:childTnLst>
                          </p:cTn>
                        </p:par>
                      </p:childTnLst>
                    </p:cTn>
                  </p:par>
                </p:childTnLst>
              </p:cTn>
              <p:nextCondLst>
                <p:cond delay="0" evt="onClick">
                  <p:tgtEl>
                    <p:spTgt spid="20"/>
                  </p:tgtEl>
                </p:cond>
              </p:nextCondLst>
            </p:seq>
          </p:childTnLst>
        </p:cTn>
      </p:par>
    </p:tnLst>
    <p:bldLst>
      <p:bldP build="whole" bldLvl="1" animBg="1" rev="0" advAuto="0" spid="33" grpId="2"/>
      <p:bldP build="whole" bldLvl="1" animBg="1" rev="0" advAuto="0" spid="54" grpId="5"/>
      <p:bldP build="whole" bldLvl="1" animBg="1" rev="0" advAuto="0" spid="40" grpId="3"/>
      <p:bldP build="whole" bldLvl="1" animBg="1" rev="0" advAuto="0" spid="61" grpId="6"/>
      <p:bldP build="whole" bldLvl="1" animBg="1" rev="0" advAuto="0" spid="68" grpId="7"/>
      <p:bldP build="whole" bldLvl="1" animBg="1" rev="0" advAuto="0" spid="47" grpId="4"/>
    </p:bldLst>
  </p:timing>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2EBDD"/>
        </a:solidFill>
      </p:bgPr>
    </p:bg>
    <p:spTree>
      <p:nvGrpSpPr>
        <p:cNvPr id="1" name=""/>
        <p:cNvGrpSpPr/>
        <p:nvPr/>
      </p:nvGrpSpPr>
      <p:grpSpPr>
        <a:xfrm>
          <a:off x="0" y="0"/>
          <a:ext cx="0" cy="0"/>
          <a:chOff x="0" y="0"/>
          <a:chExt cx="0" cy="0"/>
        </a:xfrm>
      </p:grpSpPr>
      <p:pic>
        <p:nvPicPr>
          <p:cNvPr id="72" name="timer_video" descr="timer_video"/>
          <p:cNvPicPr>
            <a:picLocks noChangeAspect="0"/>
          </p:cNvPicPr>
          <p:nvPr>
            <a:videoFile r:link="rId3"/>
            <p:extLst>
              <p:ext uri="{DAA4B4D4-6D71-4841-9C94-3DE7FCFB9230}">
                <p14:media xmlns:p14="http://schemas.microsoft.com/office/powerpoint/2010/main" r:embed="rId4"/>
              </p:ext>
            </p:extLst>
          </p:nvPr>
        </p:nvPicPr>
        <p:blipFill>
          <a:blip r:embed="rId5">
            <a:extLst/>
          </a:blip>
          <a:stretch>
            <a:fillRect/>
          </a:stretch>
        </p:blipFill>
        <p:spPr>
          <a:xfrm>
            <a:off x="310895" y="310895"/>
            <a:ext cx="457201" cy="6236210"/>
          </a:xfrm>
          <a:prstGeom prst="rect">
            <a:avLst/>
          </a:prstGeom>
          <a:ln w="12700">
            <a:miter lim="400000"/>
          </a:ln>
        </p:spPr>
      </p:pic>
      <p:grpSp>
        <p:nvGrpSpPr>
          <p:cNvPr id="75" name="phase_pill"/>
          <p:cNvGrpSpPr/>
          <p:nvPr/>
        </p:nvGrpSpPr>
        <p:grpSpPr>
          <a:xfrm>
            <a:off x="1170432" y="310895"/>
            <a:ext cx="1713586" cy="329185"/>
            <a:chOff x="0" y="0"/>
            <a:chExt cx="1713585" cy="329184"/>
          </a:xfrm>
        </p:grpSpPr>
        <p:sp>
          <p:nvSpPr>
            <p:cNvPr id="73" name="Rounded Rectangle"/>
            <p:cNvSpPr/>
            <p:nvPr/>
          </p:nvSpPr>
          <p:spPr>
            <a:xfrm>
              <a:off x="0" y="0"/>
              <a:ext cx="1713586" cy="329185"/>
            </a:xfrm>
            <a:prstGeom prst="roundRect">
              <a:avLst>
                <a:gd name="adj" fmla="val 44444"/>
              </a:avLst>
            </a:prstGeom>
            <a:solidFill>
              <a:srgbClr val="3D2B1F"/>
            </a:solidFill>
            <a:ln w="12700" cap="flat">
              <a:noFill/>
              <a:miter lim="400000"/>
            </a:ln>
            <a:effectLst/>
          </p:spPr>
          <p:txBody>
            <a:bodyPr wrap="square" lIns="45719" tIns="45719" rIns="45719" bIns="45719" numCol="1" anchor="ctr">
              <a:noAutofit/>
            </a:bodyPr>
            <a:lstStyle/>
            <a:p>
              <a:pPr algn="ctr">
                <a:defRPr sz="1100"/>
              </a:pPr>
            </a:p>
          </p:txBody>
        </p:sp>
        <p:sp>
          <p:nvSpPr>
            <p:cNvPr id="74" name="TODAY · 1 MIN"/>
            <p:cNvSpPr txBox="1"/>
            <p:nvPr/>
          </p:nvSpPr>
          <p:spPr>
            <a:xfrm>
              <a:off x="42850" y="90677"/>
              <a:ext cx="1627885" cy="147830"/>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lgn="ctr">
                <a:defRPr b="1" spc="120" sz="1100">
                  <a:solidFill>
                    <a:srgbClr val="FFFFFF"/>
                  </a:solidFill>
                  <a:latin typeface="Arial"/>
                  <a:ea typeface="Arial"/>
                  <a:cs typeface="Arial"/>
                  <a:sym typeface="Arial"/>
                </a:defRPr>
              </a:lvl1pPr>
            </a:lstStyle>
            <a:p>
              <a:pPr/>
              <a:r>
                <a:t>TODAY · 1 MIN</a:t>
              </a:r>
            </a:p>
          </p:txBody>
        </p:sp>
      </p:grpSp>
      <p:sp>
        <p:nvSpPr>
          <p:cNvPr id="76" name="slide_title"/>
          <p:cNvSpPr txBox="1"/>
          <p:nvPr/>
        </p:nvSpPr>
        <p:spPr>
          <a:xfrm>
            <a:off x="1170432" y="984757"/>
            <a:ext cx="10472623" cy="4445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3000">
                <a:solidFill>
                  <a:srgbClr val="3D2B1F"/>
                </a:solidFill>
                <a:latin typeface="Georgia"/>
                <a:ea typeface="Georgia"/>
                <a:cs typeface="Georgia"/>
                <a:sym typeface="Georgia"/>
              </a:defRPr>
            </a:lvl1pPr>
          </a:lstStyle>
          <a:p>
            <a:pPr/>
            <a:r>
              <a:t>Objectives</a:t>
            </a:r>
          </a:p>
        </p:txBody>
      </p:sp>
      <p:grpSp>
        <p:nvGrpSpPr>
          <p:cNvPr id="81" name="o0"/>
          <p:cNvGrpSpPr/>
          <p:nvPr/>
        </p:nvGrpSpPr>
        <p:grpSpPr>
          <a:xfrm>
            <a:off x="1170432" y="2194560"/>
            <a:ext cx="3307994" cy="1792224"/>
            <a:chOff x="0" y="0"/>
            <a:chExt cx="3307993" cy="1792223"/>
          </a:xfrm>
        </p:grpSpPr>
        <p:sp>
          <p:nvSpPr>
            <p:cNvPr id="77" name="o0_bg"/>
            <p:cNvSpPr/>
            <p:nvPr/>
          </p:nvSpPr>
          <p:spPr>
            <a:xfrm>
              <a:off x="0" y="0"/>
              <a:ext cx="3307994" cy="1792224"/>
            </a:xfrm>
            <a:prstGeom prst="roundRect">
              <a:avLst>
                <a:gd name="adj" fmla="val 5102"/>
              </a:avLst>
            </a:prstGeom>
            <a:solidFill>
              <a:srgbClr val="FFFFFF"/>
            </a:solidFill>
            <a:ln w="16510" cap="flat">
              <a:solidFill>
                <a:srgbClr val="D9C9A8"/>
              </a:solidFill>
              <a:prstDash val="solid"/>
              <a:round/>
            </a:ln>
            <a:effectLst/>
          </p:spPr>
          <p:txBody>
            <a:bodyPr wrap="square" lIns="45719" tIns="45719" rIns="45719" bIns="45719" numCol="1" anchor="t">
              <a:noAutofit/>
            </a:bodyPr>
            <a:lstStyle/>
            <a:p>
              <a:pPr/>
            </a:p>
          </p:txBody>
        </p:sp>
        <p:sp>
          <p:nvSpPr>
            <p:cNvPr id="78" name="o0_badge"/>
            <p:cNvSpPr/>
            <p:nvPr/>
          </p:nvSpPr>
          <p:spPr>
            <a:xfrm>
              <a:off x="237744" y="201168"/>
              <a:ext cx="384049" cy="384049"/>
            </a:xfrm>
            <a:prstGeom prst="ellipse">
              <a:avLst/>
            </a:prstGeom>
            <a:solidFill>
              <a:srgbClr val="C99A3D"/>
            </a:solidFill>
            <a:ln w="12700" cap="flat">
              <a:solidFill>
                <a:srgbClr val="C99A3D"/>
              </a:solidFill>
              <a:prstDash val="solid"/>
              <a:round/>
            </a:ln>
            <a:effectLst/>
          </p:spPr>
          <p:txBody>
            <a:bodyPr wrap="square" lIns="45719" tIns="45719" rIns="45719" bIns="45719" numCol="1" anchor="t">
              <a:noAutofit/>
            </a:bodyPr>
            <a:lstStyle/>
            <a:p>
              <a:pPr/>
            </a:p>
          </p:txBody>
        </p:sp>
        <p:sp>
          <p:nvSpPr>
            <p:cNvPr id="79" name="o0_num"/>
            <p:cNvSpPr txBox="1"/>
            <p:nvPr/>
          </p:nvSpPr>
          <p:spPr>
            <a:xfrm>
              <a:off x="237744" y="291591"/>
              <a:ext cx="384048" cy="2032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lgn="ctr">
                <a:defRPr b="1" sz="1400">
                  <a:solidFill>
                    <a:srgbClr val="3D2B1F"/>
                  </a:solidFill>
                  <a:latin typeface="Georgia"/>
                  <a:ea typeface="Georgia"/>
                  <a:cs typeface="Georgia"/>
                  <a:sym typeface="Georgia"/>
                </a:defRPr>
              </a:lvl1pPr>
            </a:lstStyle>
            <a:p>
              <a:pPr/>
              <a:r>
                <a:t>1</a:t>
              </a:r>
            </a:p>
          </p:txBody>
        </p:sp>
        <p:sp>
          <p:nvSpPr>
            <p:cNvPr id="80" name="o0_t"/>
            <p:cNvSpPr txBox="1"/>
            <p:nvPr/>
          </p:nvSpPr>
          <p:spPr>
            <a:xfrm>
              <a:off x="237744" y="713231"/>
              <a:ext cx="2832506" cy="49757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t">
              <a:spAutoFit/>
            </a:bodyPr>
            <a:lstStyle>
              <a:lvl1pPr>
                <a:lnSpc>
                  <a:spcPts val="2000"/>
                </a:lnSpc>
                <a:defRPr b="1" sz="1500">
                  <a:solidFill>
                    <a:srgbClr val="2A1D14"/>
                  </a:solidFill>
                  <a:latin typeface="Arial"/>
                  <a:ea typeface="Arial"/>
                  <a:cs typeface="Arial"/>
                  <a:sym typeface="Arial"/>
                </a:defRPr>
              </a:lvl1pPr>
            </a:lstStyle>
            <a:p>
              <a:pPr/>
              <a:r>
                <a:t>Explain what conservation means.</a:t>
              </a:r>
            </a:p>
          </p:txBody>
        </p:sp>
      </p:grpSp>
      <p:grpSp>
        <p:nvGrpSpPr>
          <p:cNvPr id="86" name="o1"/>
          <p:cNvGrpSpPr/>
          <p:nvPr/>
        </p:nvGrpSpPr>
        <p:grpSpPr>
          <a:xfrm>
            <a:off x="4752745" y="2194560"/>
            <a:ext cx="3307995" cy="1792224"/>
            <a:chOff x="0" y="0"/>
            <a:chExt cx="3307993" cy="1792223"/>
          </a:xfrm>
        </p:grpSpPr>
        <p:sp>
          <p:nvSpPr>
            <p:cNvPr id="82" name="o1_bg"/>
            <p:cNvSpPr/>
            <p:nvPr/>
          </p:nvSpPr>
          <p:spPr>
            <a:xfrm>
              <a:off x="0" y="0"/>
              <a:ext cx="3307994" cy="1792224"/>
            </a:xfrm>
            <a:prstGeom prst="roundRect">
              <a:avLst>
                <a:gd name="adj" fmla="val 5102"/>
              </a:avLst>
            </a:prstGeom>
            <a:solidFill>
              <a:srgbClr val="FFFFFF"/>
            </a:solidFill>
            <a:ln w="16510" cap="flat">
              <a:solidFill>
                <a:srgbClr val="D9C9A8"/>
              </a:solidFill>
              <a:prstDash val="solid"/>
              <a:round/>
            </a:ln>
            <a:effectLst/>
          </p:spPr>
          <p:txBody>
            <a:bodyPr wrap="square" lIns="45719" tIns="45719" rIns="45719" bIns="45719" numCol="1" anchor="t">
              <a:noAutofit/>
            </a:bodyPr>
            <a:lstStyle/>
            <a:p>
              <a:pPr/>
            </a:p>
          </p:txBody>
        </p:sp>
        <p:sp>
          <p:nvSpPr>
            <p:cNvPr id="83" name="o1_badge"/>
            <p:cNvSpPr/>
            <p:nvPr/>
          </p:nvSpPr>
          <p:spPr>
            <a:xfrm>
              <a:off x="237744" y="201168"/>
              <a:ext cx="384049" cy="384049"/>
            </a:xfrm>
            <a:prstGeom prst="ellipse">
              <a:avLst/>
            </a:prstGeom>
            <a:solidFill>
              <a:srgbClr val="C99A3D"/>
            </a:solidFill>
            <a:ln w="12700" cap="flat">
              <a:solidFill>
                <a:srgbClr val="C99A3D"/>
              </a:solidFill>
              <a:prstDash val="solid"/>
              <a:round/>
            </a:ln>
            <a:effectLst/>
          </p:spPr>
          <p:txBody>
            <a:bodyPr wrap="square" lIns="45719" tIns="45719" rIns="45719" bIns="45719" numCol="1" anchor="t">
              <a:noAutofit/>
            </a:bodyPr>
            <a:lstStyle/>
            <a:p>
              <a:pPr/>
            </a:p>
          </p:txBody>
        </p:sp>
        <p:sp>
          <p:nvSpPr>
            <p:cNvPr id="84" name="o1_num"/>
            <p:cNvSpPr txBox="1"/>
            <p:nvPr/>
          </p:nvSpPr>
          <p:spPr>
            <a:xfrm>
              <a:off x="237744" y="291591"/>
              <a:ext cx="384048" cy="2032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lgn="ctr">
                <a:defRPr b="1" sz="1400">
                  <a:solidFill>
                    <a:srgbClr val="3D2B1F"/>
                  </a:solidFill>
                  <a:latin typeface="Georgia"/>
                  <a:ea typeface="Georgia"/>
                  <a:cs typeface="Georgia"/>
                  <a:sym typeface="Georgia"/>
                </a:defRPr>
              </a:lvl1pPr>
            </a:lstStyle>
            <a:p>
              <a:pPr/>
              <a:r>
                <a:t>2</a:t>
              </a:r>
            </a:p>
          </p:txBody>
        </p:sp>
        <p:sp>
          <p:nvSpPr>
            <p:cNvPr id="85" name="o1_t"/>
            <p:cNvSpPr txBox="1"/>
            <p:nvPr/>
          </p:nvSpPr>
          <p:spPr>
            <a:xfrm>
              <a:off x="237744" y="713231"/>
              <a:ext cx="2832506" cy="49757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t">
              <a:spAutoFit/>
            </a:bodyPr>
            <a:lstStyle>
              <a:lvl1pPr>
                <a:lnSpc>
                  <a:spcPts val="2000"/>
                </a:lnSpc>
                <a:defRPr b="1" sz="1500">
                  <a:solidFill>
                    <a:srgbClr val="2A1D14"/>
                  </a:solidFill>
                  <a:latin typeface="Arial"/>
                  <a:ea typeface="Arial"/>
                  <a:cs typeface="Arial"/>
                  <a:sym typeface="Arial"/>
                </a:defRPr>
              </a:lvl1pPr>
            </a:lstStyle>
            <a:p>
              <a:pPr/>
              <a:r>
                <a:t>Explain what taking a sustainable amount means.</a:t>
              </a:r>
            </a:p>
          </p:txBody>
        </p:sp>
      </p:grpSp>
      <p:grpSp>
        <p:nvGrpSpPr>
          <p:cNvPr id="91" name="o2"/>
          <p:cNvGrpSpPr/>
          <p:nvPr/>
        </p:nvGrpSpPr>
        <p:grpSpPr>
          <a:xfrm>
            <a:off x="8335061" y="2194560"/>
            <a:ext cx="3307994" cy="1792224"/>
            <a:chOff x="0" y="0"/>
            <a:chExt cx="3307993" cy="1792223"/>
          </a:xfrm>
        </p:grpSpPr>
        <p:sp>
          <p:nvSpPr>
            <p:cNvPr id="87" name="o2_bg"/>
            <p:cNvSpPr/>
            <p:nvPr/>
          </p:nvSpPr>
          <p:spPr>
            <a:xfrm>
              <a:off x="0" y="0"/>
              <a:ext cx="3307994" cy="1792224"/>
            </a:xfrm>
            <a:prstGeom prst="roundRect">
              <a:avLst>
                <a:gd name="adj" fmla="val 5102"/>
              </a:avLst>
            </a:prstGeom>
            <a:solidFill>
              <a:srgbClr val="FFFFFF"/>
            </a:solidFill>
            <a:ln w="16510" cap="flat">
              <a:solidFill>
                <a:srgbClr val="D9C9A8"/>
              </a:solidFill>
              <a:prstDash val="solid"/>
              <a:round/>
            </a:ln>
            <a:effectLst/>
          </p:spPr>
          <p:txBody>
            <a:bodyPr wrap="square" lIns="45719" tIns="45719" rIns="45719" bIns="45719" numCol="1" anchor="t">
              <a:noAutofit/>
            </a:bodyPr>
            <a:lstStyle/>
            <a:p>
              <a:pPr/>
            </a:p>
          </p:txBody>
        </p:sp>
        <p:sp>
          <p:nvSpPr>
            <p:cNvPr id="88" name="o2_badge"/>
            <p:cNvSpPr/>
            <p:nvPr/>
          </p:nvSpPr>
          <p:spPr>
            <a:xfrm>
              <a:off x="237744" y="201168"/>
              <a:ext cx="384049" cy="384049"/>
            </a:xfrm>
            <a:prstGeom prst="ellipse">
              <a:avLst/>
            </a:prstGeom>
            <a:solidFill>
              <a:srgbClr val="C99A3D"/>
            </a:solidFill>
            <a:ln w="12700" cap="flat">
              <a:solidFill>
                <a:srgbClr val="C99A3D"/>
              </a:solidFill>
              <a:prstDash val="solid"/>
              <a:round/>
            </a:ln>
            <a:effectLst/>
          </p:spPr>
          <p:txBody>
            <a:bodyPr wrap="square" lIns="45719" tIns="45719" rIns="45719" bIns="45719" numCol="1" anchor="t">
              <a:noAutofit/>
            </a:bodyPr>
            <a:lstStyle/>
            <a:p>
              <a:pPr/>
            </a:p>
          </p:txBody>
        </p:sp>
        <p:sp>
          <p:nvSpPr>
            <p:cNvPr id="89" name="o2_num"/>
            <p:cNvSpPr txBox="1"/>
            <p:nvPr/>
          </p:nvSpPr>
          <p:spPr>
            <a:xfrm>
              <a:off x="237744" y="291591"/>
              <a:ext cx="384048" cy="2032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lgn="ctr">
                <a:defRPr b="1" sz="1400">
                  <a:solidFill>
                    <a:srgbClr val="3D2B1F"/>
                  </a:solidFill>
                  <a:latin typeface="Georgia"/>
                  <a:ea typeface="Georgia"/>
                  <a:cs typeface="Georgia"/>
                  <a:sym typeface="Georgia"/>
                </a:defRPr>
              </a:lvl1pPr>
            </a:lstStyle>
            <a:p>
              <a:pPr/>
              <a:r>
                <a:t>3</a:t>
              </a:r>
            </a:p>
          </p:txBody>
        </p:sp>
        <p:sp>
          <p:nvSpPr>
            <p:cNvPr id="90" name="o2_t"/>
            <p:cNvSpPr txBox="1"/>
            <p:nvPr/>
          </p:nvSpPr>
          <p:spPr>
            <a:xfrm>
              <a:off x="237744" y="713231"/>
              <a:ext cx="2832506" cy="49757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t">
              <a:spAutoFit/>
            </a:bodyPr>
            <a:lstStyle>
              <a:lvl1pPr>
                <a:lnSpc>
                  <a:spcPts val="2000"/>
                </a:lnSpc>
                <a:defRPr b="1" sz="1500">
                  <a:solidFill>
                    <a:srgbClr val="2A1D14"/>
                  </a:solidFill>
                  <a:latin typeface="Arial"/>
                  <a:ea typeface="Arial"/>
                  <a:cs typeface="Arial"/>
                  <a:sym typeface="Arial"/>
                </a:defRPr>
              </a:lvl1pPr>
            </a:lstStyle>
            <a:p>
              <a:pPr/>
              <a:r>
                <a:t>Describe two ways a resource is managed in practice.</a:t>
              </a:r>
            </a:p>
          </p:txBody>
        </p:sp>
      </p:grpSp>
      <p:grpSp>
        <p:nvGrpSpPr>
          <p:cNvPr id="94" name="obj_banner"/>
          <p:cNvGrpSpPr/>
          <p:nvPr/>
        </p:nvGrpSpPr>
        <p:grpSpPr>
          <a:xfrm>
            <a:off x="1170432" y="4279391"/>
            <a:ext cx="10472623" cy="640081"/>
            <a:chOff x="0" y="0"/>
            <a:chExt cx="10472622" cy="640080"/>
          </a:xfrm>
        </p:grpSpPr>
        <p:sp>
          <p:nvSpPr>
            <p:cNvPr id="92" name="Rounded Rectangle"/>
            <p:cNvSpPr/>
            <p:nvPr/>
          </p:nvSpPr>
          <p:spPr>
            <a:xfrm>
              <a:off x="0" y="0"/>
              <a:ext cx="10472623" cy="640081"/>
            </a:xfrm>
            <a:prstGeom prst="roundRect">
              <a:avLst>
                <a:gd name="adj" fmla="val 17143"/>
              </a:avLst>
            </a:prstGeom>
            <a:solidFill>
              <a:srgbClr val="3D2B1F"/>
            </a:solidFill>
            <a:ln w="9525" cap="flat">
              <a:solidFill>
                <a:srgbClr val="3D2B1F"/>
              </a:solidFill>
              <a:prstDash val="solid"/>
              <a:round/>
            </a:ln>
            <a:effectLst/>
          </p:spPr>
          <p:txBody>
            <a:bodyPr wrap="square" lIns="45719" tIns="45719" rIns="45719" bIns="45719" numCol="1" anchor="ctr">
              <a:noAutofit/>
            </a:bodyPr>
            <a:lstStyle/>
            <a:p>
              <a:pPr algn="ctr">
                <a:lnSpc>
                  <a:spcPts val="2200"/>
                </a:lnSpc>
                <a:defRPr sz="1700"/>
              </a:pPr>
            </a:p>
          </p:txBody>
        </p:sp>
        <p:sp>
          <p:nvSpPr>
            <p:cNvPr id="93" name="Making a resource last means taking no more than it can replace."/>
            <p:cNvSpPr txBox="1"/>
            <p:nvPr/>
          </p:nvSpPr>
          <p:spPr>
            <a:xfrm>
              <a:off x="36901" y="183879"/>
              <a:ext cx="10398821" cy="272322"/>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1523" tIns="1523" rIns="1523" bIns="1523" numCol="1" anchor="ctr">
              <a:spAutoFit/>
            </a:bodyPr>
            <a:lstStyle/>
            <a:p>
              <a:pPr algn="ctr">
                <a:lnSpc>
                  <a:spcPts val="2200"/>
                </a:lnSpc>
                <a:defRPr b="1" sz="1700">
                  <a:solidFill>
                    <a:srgbClr val="C99A3D"/>
                  </a:solidFill>
                  <a:latin typeface="Arial"/>
                  <a:ea typeface="Arial"/>
                  <a:cs typeface="Arial"/>
                  <a:sym typeface="Arial"/>
                </a:defRPr>
              </a:pPr>
              <a:r>
                <a:t>Making a resource last means taking </a:t>
              </a:r>
              <a:r>
                <a:rPr u="sng"/>
                <a:t>no more than it can replace</a:t>
              </a:r>
              <a:r>
                <a:t>.</a:t>
              </a:r>
            </a:p>
          </p:txBody>
        </p:sp>
      </p:grpSp>
    </p:spTree>
  </p:cSld>
  <p:clrMapOvr>
    <a:masterClrMapping/>
  </p:clrMapOvr>
  <mc:AlternateContent xmlns:mc="http://schemas.openxmlformats.org/markup-compatibility/2006">
    <mc:Choice xmlns:p14="http://schemas.microsoft.com/office/powerpoint/2010/main" Requires="p14">
      <p:transition spd="med" advClick="1" p14:dur="1000">
        <p:fade/>
      </p:transition>
    </mc:Choice>
    <mc:Fallback>
      <p:transition spd="med">
        <p:fade/>
      </p:transition>
    </mc:Fallback>
  </mc:AlternateContent>
  <p:timing>
    <p:tnLst>
      <p:par>
        <p:cTn id="1" nodeType="tmRoot" restart="never" dur="indefinite" fill="hold">
          <p:childTnLst>
            <p:seq concurrent="1" prevAc="none" nextAc="seek">
              <p:cTn id="2" nodeType="mainSeq" dur="indefinite" fill="hold">
                <p:childTnLst>
                  <p:par>
                    <p:cTn id="3" fill="hold">
                      <p:stCondLst>
                        <p:cond delay="indefinite"/>
                        <p:cond evt="onBegin">
                          <p:tn val="2"/>
                        </p:cond>
                      </p:stCondLst>
                      <p:childTnLst>
                        <p:par>
                          <p:cTn id="4" fill="hold">
                            <p:stCondLst>
                              <p:cond delay="0"/>
                            </p:stCondLst>
                            <p:childTnLst>
                              <p:par>
                                <p:cTn id="5" presetClass="mediacall" nodeType="afterEffect" presetSubtype="0" presetID="1" grpId="1" fill="hold">
                                  <p:stCondLst>
                                    <p:cond delay="0"/>
                                  </p:stCondLst>
                                  <p:childTnLst>
                                    <p:cmd type="call" cmd="playFrom(0.0)">
                                      <p:cBhvr>
                                        <p:cTn id="6" dur="60000" fill="hold"/>
                                        <p:tgtEl>
                                          <p:spTgt spid="72"/>
                                        </p:tgtEl>
                                      </p:cBhvr>
                                    </p:cmd>
                                  </p:childTnLst>
                                </p:cTn>
                              </p:par>
                            </p:childTnLst>
                          </p:cTn>
                        </p:par>
                      </p:childTnLst>
                    </p:cTn>
                  </p:par>
                  <p:par>
                    <p:cTn id="7" fill="hold">
                      <p:stCondLst>
                        <p:cond delay="indefinite"/>
                      </p:stCondLst>
                      <p:childTnLst>
                        <p:par>
                          <p:cTn id="8" fill="hold">
                            <p:stCondLst>
                              <p:cond delay="0"/>
                            </p:stCondLst>
                            <p:childTnLst>
                              <p:par>
                                <p:cTn id="9" presetClass="entr" nodeType="clickEffect" presetID="10" grpId="2" fill="hold">
                                  <p:stCondLst>
                                    <p:cond delay="0"/>
                                  </p:stCondLst>
                                  <p:iterate type="el" backwards="0">
                                    <p:tmAbs val="0"/>
                                  </p:iterate>
                                  <p:childTnLst>
                                    <p:set>
                                      <p:cBhvr>
                                        <p:cTn id="10" fill="hold"/>
                                        <p:tgtEl>
                                          <p:spTgt spid="81"/>
                                        </p:tgtEl>
                                        <p:attrNameLst>
                                          <p:attrName>style.visibility</p:attrName>
                                        </p:attrNameLst>
                                      </p:cBhvr>
                                      <p:to>
                                        <p:strVal val="visible"/>
                                      </p:to>
                                    </p:set>
                                    <p:animEffect filter="fade" transition="in">
                                      <p:cBhvr>
                                        <p:cTn id="11" dur="400"/>
                                        <p:tgtEl>
                                          <p:spTgt spid="81"/>
                                        </p:tgtEl>
                                      </p:cBhvr>
                                    </p:animEffect>
                                  </p:childTnLst>
                                </p:cTn>
                              </p:par>
                            </p:childTnLst>
                          </p:cTn>
                        </p:par>
                      </p:childTnLst>
                    </p:cTn>
                  </p:par>
                  <p:par>
                    <p:cTn id="12" fill="hold">
                      <p:stCondLst>
                        <p:cond delay="indefinite"/>
                      </p:stCondLst>
                      <p:childTnLst>
                        <p:par>
                          <p:cTn id="13" fill="hold">
                            <p:stCondLst>
                              <p:cond delay="0"/>
                            </p:stCondLst>
                            <p:childTnLst>
                              <p:par>
                                <p:cTn id="14" presetClass="entr" nodeType="clickEffect" presetID="10" grpId="3" fill="hold">
                                  <p:stCondLst>
                                    <p:cond delay="0"/>
                                  </p:stCondLst>
                                  <p:iterate type="el" backwards="0">
                                    <p:tmAbs val="0"/>
                                  </p:iterate>
                                  <p:childTnLst>
                                    <p:set>
                                      <p:cBhvr>
                                        <p:cTn id="15" fill="hold"/>
                                        <p:tgtEl>
                                          <p:spTgt spid="86"/>
                                        </p:tgtEl>
                                        <p:attrNameLst>
                                          <p:attrName>style.visibility</p:attrName>
                                        </p:attrNameLst>
                                      </p:cBhvr>
                                      <p:to>
                                        <p:strVal val="visible"/>
                                      </p:to>
                                    </p:set>
                                    <p:animEffect filter="fade" transition="in">
                                      <p:cBhvr>
                                        <p:cTn id="16" dur="400"/>
                                        <p:tgtEl>
                                          <p:spTgt spid="86"/>
                                        </p:tgtEl>
                                      </p:cBhvr>
                                    </p:animEffect>
                                  </p:childTnLst>
                                </p:cTn>
                              </p:par>
                            </p:childTnLst>
                          </p:cTn>
                        </p:par>
                      </p:childTnLst>
                    </p:cTn>
                  </p:par>
                  <p:par>
                    <p:cTn id="17" fill="hold">
                      <p:stCondLst>
                        <p:cond delay="indefinite"/>
                      </p:stCondLst>
                      <p:childTnLst>
                        <p:par>
                          <p:cTn id="18" fill="hold">
                            <p:stCondLst>
                              <p:cond delay="0"/>
                            </p:stCondLst>
                            <p:childTnLst>
                              <p:par>
                                <p:cTn id="19" presetClass="entr" nodeType="clickEffect" presetID="10" grpId="4" fill="hold">
                                  <p:stCondLst>
                                    <p:cond delay="0"/>
                                  </p:stCondLst>
                                  <p:iterate type="el" backwards="0">
                                    <p:tmAbs val="0"/>
                                  </p:iterate>
                                  <p:childTnLst>
                                    <p:set>
                                      <p:cBhvr>
                                        <p:cTn id="20" fill="hold"/>
                                        <p:tgtEl>
                                          <p:spTgt spid="91"/>
                                        </p:tgtEl>
                                        <p:attrNameLst>
                                          <p:attrName>style.visibility</p:attrName>
                                        </p:attrNameLst>
                                      </p:cBhvr>
                                      <p:to>
                                        <p:strVal val="visible"/>
                                      </p:to>
                                    </p:set>
                                    <p:animEffect filter="fade" transition="in">
                                      <p:cBhvr>
                                        <p:cTn id="21" dur="400"/>
                                        <p:tgtEl>
                                          <p:spTgt spid="91"/>
                                        </p:tgtEl>
                                      </p:cBhvr>
                                    </p:animEffect>
                                  </p:childTnLst>
                                </p:cTn>
                              </p:par>
                            </p:childTnLst>
                          </p:cTn>
                        </p:par>
                      </p:childTnLst>
                    </p:cTn>
                  </p:par>
                  <p:par>
                    <p:cTn id="22" fill="hold">
                      <p:stCondLst>
                        <p:cond delay="indefinite"/>
                      </p:stCondLst>
                      <p:childTnLst>
                        <p:par>
                          <p:cTn id="23" fill="hold">
                            <p:stCondLst>
                              <p:cond delay="0"/>
                            </p:stCondLst>
                            <p:childTnLst>
                              <p:par>
                                <p:cTn id="24" presetClass="entr" nodeType="clickEffect" presetSubtype="16" presetID="23" grpId="5" fill="hold">
                                  <p:stCondLst>
                                    <p:cond delay="0"/>
                                  </p:stCondLst>
                                  <p:iterate type="el" backwards="0">
                                    <p:tmAbs val="0"/>
                                  </p:iterate>
                                  <p:childTnLst>
                                    <p:set>
                                      <p:cBhvr>
                                        <p:cTn id="25" fill="hold"/>
                                        <p:tgtEl>
                                          <p:spTgt spid="94"/>
                                        </p:tgtEl>
                                        <p:attrNameLst>
                                          <p:attrName>style.visibility</p:attrName>
                                        </p:attrNameLst>
                                      </p:cBhvr>
                                      <p:to>
                                        <p:strVal val="visible"/>
                                      </p:to>
                                    </p:set>
                                    <p:anim calcmode="lin" valueType="num">
                                      <p:cBhvr>
                                        <p:cTn id="26" dur="400" fill="hold"/>
                                        <p:tgtEl>
                                          <p:spTgt spid="94"/>
                                        </p:tgtEl>
                                        <p:attrNameLst>
                                          <p:attrName>ppt_w</p:attrName>
                                        </p:attrNameLst>
                                      </p:cBhvr>
                                      <p:tavLst>
                                        <p:tav tm="0">
                                          <p:val>
                                            <p:fltVal val="0"/>
                                          </p:val>
                                        </p:tav>
                                        <p:tav tm="100000">
                                          <p:val>
                                            <p:strVal val="#ppt_w"/>
                                          </p:val>
                                        </p:tav>
                                      </p:tavLst>
                                    </p:anim>
                                    <p:anim calcmode="lin" valueType="num">
                                      <p:cBhvr>
                                        <p:cTn id="27" dur="400" fill="hold"/>
                                        <p:tgtEl>
                                          <p:spTgt spid="94"/>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p:tgtEl>
                    <p:sldTgt/>
                  </p:tgtEl>
                </p:cond>
              </p:prevCondLst>
              <p:nextCondLst>
                <p:cond evt="onNext">
                  <p:tgtEl>
                    <p:sldTgt/>
                  </p:tgtEl>
                </p:cond>
              </p:nextCondLst>
            </p:seq>
            <p:video fullScrn="0">
              <p:cMediaNode mute="0" showWhenStopped="1" numSld="1" vol="0">
                <p:cTn id="28" fill="hold" display="0">
                  <p:stCondLst>
                    <p:cond delay="indefinite"/>
                  </p:stCondLst>
                </p:cTn>
                <p:tgtEl>
                  <p:spTgt spid="72"/>
                </p:tgtEl>
              </p:cMediaNode>
            </p:video>
            <p:seq concurrent="1" prevAc="none" nextAc="seek">
              <p:cTn id="29" evtFilter="cancelBubble" nodeType="interactiveSeq" restart="whenNotActive" fill="hold">
                <p:stCondLst>
                  <p:cond delay="0" evt="onClick">
                    <p:tgtEl>
                      <p:spTgt spid="72"/>
                    </p:tgtEl>
                  </p:cond>
                </p:stCondLst>
                <p:endSync delay="0" evt="end">
                  <p:rtn val="all"/>
                </p:endSync>
                <p:childTnLst>
                  <p:par>
                    <p:cTn id="30" fill="hold">
                      <p:stCondLst>
                        <p:cond delay="0"/>
                      </p:stCondLst>
                      <p:childTnLst>
                        <p:par>
                          <p:cTn id="31" fill="hold">
                            <p:stCondLst>
                              <p:cond delay="0"/>
                            </p:stCondLst>
                            <p:childTnLst>
                              <p:par>
                                <p:cTn id="32" presetClass="mediacall" nodeType="clickEffect" presetSubtype="0" presetID="2" fill="hold">
                                  <p:stCondLst>
                                    <p:cond delay="0"/>
                                  </p:stCondLst>
                                  <p:childTnLst>
                                    <p:cmd type="call" cmd="togglePause">
                                      <p:cBhvr>
                                        <p:cTn id="33" dur="1" fill="hold"/>
                                        <p:tgtEl>
                                          <p:spTgt spid="72"/>
                                        </p:tgtEl>
                                      </p:cBhvr>
                                    </p:cmd>
                                  </p:childTnLst>
                                </p:cTn>
                              </p:par>
                            </p:childTnLst>
                          </p:cTn>
                        </p:par>
                      </p:childTnLst>
                    </p:cTn>
                  </p:par>
                </p:childTnLst>
              </p:cTn>
              <p:nextCondLst>
                <p:cond delay="0" evt="onClick">
                  <p:tgtEl>
                    <p:spTgt spid="72"/>
                  </p:tgtEl>
                </p:cond>
              </p:nextCondLst>
            </p:seq>
          </p:childTnLst>
        </p:cTn>
      </p:par>
    </p:tnLst>
    <p:bldLst>
      <p:bldP build="whole" bldLvl="1" animBg="1" rev="0" advAuto="0" spid="94" grpId="5"/>
      <p:bldP build="whole" bldLvl="1" animBg="1" rev="0" advAuto="0" spid="86" grpId="3"/>
      <p:bldP build="whole" bldLvl="1" animBg="1" rev="0" advAuto="0" spid="81" grpId="2"/>
      <p:bldP build="whole" bldLvl="1" animBg="1" rev="0" advAuto="0" spid="91" grpId="4"/>
    </p:bldLst>
  </p:timing>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2EBDD"/>
        </a:solidFill>
      </p:bgPr>
    </p:bg>
    <p:spTree>
      <p:nvGrpSpPr>
        <p:cNvPr id="1" name=""/>
        <p:cNvGrpSpPr/>
        <p:nvPr/>
      </p:nvGrpSpPr>
      <p:grpSpPr>
        <a:xfrm>
          <a:off x="0" y="0"/>
          <a:ext cx="0" cy="0"/>
          <a:chOff x="0" y="0"/>
          <a:chExt cx="0" cy="0"/>
        </a:xfrm>
      </p:grpSpPr>
      <p:pic>
        <p:nvPicPr>
          <p:cNvPr id="98" name="timer_video" descr="timer_video"/>
          <p:cNvPicPr>
            <a:picLocks noChangeAspect="0"/>
          </p:cNvPicPr>
          <p:nvPr>
            <a:videoFile r:link="rId3"/>
            <p:extLst>
              <p:ext uri="{DAA4B4D4-6D71-4841-9C94-3DE7FCFB9230}">
                <p14:media xmlns:p14="http://schemas.microsoft.com/office/powerpoint/2010/main" r:embed="rId4"/>
              </p:ext>
            </p:extLst>
          </p:nvPr>
        </p:nvPicPr>
        <p:blipFill>
          <a:blip r:embed="rId5">
            <a:extLst/>
          </a:blip>
          <a:stretch>
            <a:fillRect/>
          </a:stretch>
        </p:blipFill>
        <p:spPr>
          <a:xfrm>
            <a:off x="310895" y="310895"/>
            <a:ext cx="457201" cy="6236210"/>
          </a:xfrm>
          <a:prstGeom prst="rect">
            <a:avLst/>
          </a:prstGeom>
          <a:ln w="12700">
            <a:miter lim="400000"/>
          </a:ln>
        </p:spPr>
      </p:pic>
      <p:grpSp>
        <p:nvGrpSpPr>
          <p:cNvPr id="101" name="phase_pill"/>
          <p:cNvGrpSpPr/>
          <p:nvPr/>
        </p:nvGrpSpPr>
        <p:grpSpPr>
          <a:xfrm>
            <a:off x="1170432" y="310895"/>
            <a:ext cx="1623975" cy="329185"/>
            <a:chOff x="0" y="0"/>
            <a:chExt cx="1623974" cy="329184"/>
          </a:xfrm>
        </p:grpSpPr>
        <p:sp>
          <p:nvSpPr>
            <p:cNvPr id="99" name="Rounded Rectangle"/>
            <p:cNvSpPr/>
            <p:nvPr/>
          </p:nvSpPr>
          <p:spPr>
            <a:xfrm>
              <a:off x="0" y="0"/>
              <a:ext cx="1623975" cy="329185"/>
            </a:xfrm>
            <a:prstGeom prst="roundRect">
              <a:avLst>
                <a:gd name="adj" fmla="val 44444"/>
              </a:avLst>
            </a:prstGeom>
            <a:solidFill>
              <a:srgbClr val="3D2B1F"/>
            </a:solidFill>
            <a:ln w="12700" cap="flat">
              <a:noFill/>
              <a:miter lim="400000"/>
            </a:ln>
            <a:effectLst/>
          </p:spPr>
          <p:txBody>
            <a:bodyPr wrap="square" lIns="45719" tIns="45719" rIns="45719" bIns="45719" numCol="1" anchor="ctr">
              <a:noAutofit/>
            </a:bodyPr>
            <a:lstStyle/>
            <a:p>
              <a:pPr algn="ctr">
                <a:defRPr sz="1100"/>
              </a:pPr>
            </a:p>
          </p:txBody>
        </p:sp>
        <p:sp>
          <p:nvSpPr>
            <p:cNvPr id="100" name="HOOK · 2 MIN"/>
            <p:cNvSpPr txBox="1"/>
            <p:nvPr/>
          </p:nvSpPr>
          <p:spPr>
            <a:xfrm>
              <a:off x="42851" y="90677"/>
              <a:ext cx="1538272" cy="147830"/>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lgn="ctr">
                <a:defRPr b="1" spc="120" sz="1100">
                  <a:solidFill>
                    <a:srgbClr val="FFFFFF"/>
                  </a:solidFill>
                  <a:latin typeface="Arial"/>
                  <a:ea typeface="Arial"/>
                  <a:cs typeface="Arial"/>
                  <a:sym typeface="Arial"/>
                </a:defRPr>
              </a:lvl1pPr>
            </a:lstStyle>
            <a:p>
              <a:pPr/>
              <a:r>
                <a:t>HOOK · 2 MIN</a:t>
              </a:r>
            </a:p>
          </p:txBody>
        </p:sp>
      </p:grpSp>
      <p:sp>
        <p:nvSpPr>
          <p:cNvPr id="102" name="slide_title"/>
          <p:cNvSpPr txBox="1"/>
          <p:nvPr/>
        </p:nvSpPr>
        <p:spPr>
          <a:xfrm>
            <a:off x="1170432" y="889228"/>
            <a:ext cx="9055304" cy="98303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nSpc>
                <a:spcPts val="2600"/>
              </a:lnSpc>
              <a:defRPr b="1" sz="2100">
                <a:solidFill>
                  <a:srgbClr val="3D2B1F"/>
                </a:solidFill>
                <a:latin typeface="Georgia"/>
                <a:ea typeface="Georgia"/>
                <a:cs typeface="Georgia"/>
                <a:sym typeface="Georgia"/>
              </a:defRPr>
            </a:lvl1pPr>
          </a:lstStyle>
          <a:p>
            <a:pPr/>
            <a:r>
              <a:t>By the 1950s, about 450 humpback whales were left off the coast of Brazil. Hunting them was banned in 1986. About how many are there today?</a:t>
            </a:r>
          </a:p>
        </p:txBody>
      </p:sp>
      <p:pic>
        <p:nvPicPr>
          <p:cNvPr id="103" name="hook_whale" descr="hook_whale"/>
          <p:cNvPicPr>
            <a:picLocks noChangeAspect="1"/>
          </p:cNvPicPr>
          <p:nvPr/>
        </p:nvPicPr>
        <p:blipFill>
          <a:blip r:embed="rId6">
            <a:extLst/>
          </a:blip>
          <a:stretch>
            <a:fillRect/>
          </a:stretch>
        </p:blipFill>
        <p:spPr>
          <a:xfrm>
            <a:off x="10362895" y="822960"/>
            <a:ext cx="1188721" cy="1188721"/>
          </a:xfrm>
          <a:prstGeom prst="rect">
            <a:avLst/>
          </a:prstGeom>
          <a:ln w="12700">
            <a:miter lim="400000"/>
          </a:ln>
        </p:spPr>
      </p:pic>
      <p:grpSp>
        <p:nvGrpSpPr>
          <p:cNvPr id="107" name="h0"/>
          <p:cNvGrpSpPr/>
          <p:nvPr/>
        </p:nvGrpSpPr>
        <p:grpSpPr>
          <a:xfrm>
            <a:off x="1170432" y="2487167"/>
            <a:ext cx="3307994" cy="1828801"/>
            <a:chOff x="0" y="0"/>
            <a:chExt cx="3307993" cy="1828800"/>
          </a:xfrm>
        </p:grpSpPr>
        <p:sp>
          <p:nvSpPr>
            <p:cNvPr id="104" name="h0_bg"/>
            <p:cNvSpPr/>
            <p:nvPr/>
          </p:nvSpPr>
          <p:spPr>
            <a:xfrm>
              <a:off x="0" y="0"/>
              <a:ext cx="3307994" cy="1828800"/>
            </a:xfrm>
            <a:prstGeom prst="roundRect">
              <a:avLst>
                <a:gd name="adj" fmla="val 5000"/>
              </a:avLst>
            </a:prstGeom>
            <a:solidFill>
              <a:srgbClr val="FFFFFF"/>
            </a:solidFill>
            <a:ln w="16510" cap="flat">
              <a:solidFill>
                <a:srgbClr val="D9C9A8"/>
              </a:solidFill>
              <a:prstDash val="solid"/>
              <a:round/>
            </a:ln>
            <a:effectLst/>
          </p:spPr>
          <p:txBody>
            <a:bodyPr wrap="square" lIns="45719" tIns="45719" rIns="45719" bIns="45719" numCol="1" anchor="t">
              <a:noAutofit/>
            </a:bodyPr>
            <a:lstStyle/>
            <a:p>
              <a:pPr/>
            </a:p>
          </p:txBody>
        </p:sp>
        <p:sp>
          <p:nvSpPr>
            <p:cNvPr id="105" name="h0_k"/>
            <p:cNvSpPr txBox="1"/>
            <p:nvPr/>
          </p:nvSpPr>
          <p:spPr>
            <a:xfrm>
              <a:off x="256032" y="239267"/>
              <a:ext cx="548640" cy="3810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defRPr b="1" sz="2600">
                  <a:solidFill>
                    <a:srgbClr val="B5482E"/>
                  </a:solidFill>
                  <a:latin typeface="Georgia"/>
                  <a:ea typeface="Georgia"/>
                  <a:cs typeface="Georgia"/>
                  <a:sym typeface="Georgia"/>
                </a:defRPr>
              </a:lvl1pPr>
            </a:lstStyle>
            <a:p>
              <a:pPr/>
              <a:r>
                <a:t>A</a:t>
              </a:r>
            </a:p>
          </p:txBody>
        </p:sp>
        <p:sp>
          <p:nvSpPr>
            <p:cNvPr id="106" name="h0_t"/>
            <p:cNvSpPr txBox="1"/>
            <p:nvPr/>
          </p:nvSpPr>
          <p:spPr>
            <a:xfrm>
              <a:off x="256032" y="676655"/>
              <a:ext cx="2795930" cy="283799"/>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t">
              <a:spAutoFit/>
            </a:bodyPr>
            <a:lstStyle>
              <a:lvl1pPr>
                <a:lnSpc>
                  <a:spcPts val="2300"/>
                </a:lnSpc>
                <a:defRPr b="1">
                  <a:solidFill>
                    <a:srgbClr val="3D2B1F"/>
                  </a:solidFill>
                  <a:latin typeface="Georgia"/>
                  <a:ea typeface="Georgia"/>
                  <a:cs typeface="Georgia"/>
                  <a:sym typeface="Georgia"/>
                </a:defRPr>
              </a:lvl1pPr>
            </a:lstStyle>
            <a:p>
              <a:pPr/>
              <a:r>
                <a:t>About 2,000</a:t>
              </a:r>
            </a:p>
          </p:txBody>
        </p:sp>
      </p:grpSp>
      <p:grpSp>
        <p:nvGrpSpPr>
          <p:cNvPr id="111" name="h1"/>
          <p:cNvGrpSpPr/>
          <p:nvPr/>
        </p:nvGrpSpPr>
        <p:grpSpPr>
          <a:xfrm>
            <a:off x="4752745" y="2487167"/>
            <a:ext cx="3307995" cy="1828801"/>
            <a:chOff x="0" y="0"/>
            <a:chExt cx="3307993" cy="1828800"/>
          </a:xfrm>
        </p:grpSpPr>
        <p:sp>
          <p:nvSpPr>
            <p:cNvPr id="108" name="h1_bg"/>
            <p:cNvSpPr/>
            <p:nvPr/>
          </p:nvSpPr>
          <p:spPr>
            <a:xfrm>
              <a:off x="0" y="0"/>
              <a:ext cx="3307994" cy="1828800"/>
            </a:xfrm>
            <a:prstGeom prst="roundRect">
              <a:avLst>
                <a:gd name="adj" fmla="val 5000"/>
              </a:avLst>
            </a:prstGeom>
            <a:solidFill>
              <a:srgbClr val="FFFFFF"/>
            </a:solidFill>
            <a:ln w="16510" cap="flat">
              <a:solidFill>
                <a:srgbClr val="D9C9A8"/>
              </a:solidFill>
              <a:prstDash val="solid"/>
              <a:round/>
            </a:ln>
            <a:effectLst/>
          </p:spPr>
          <p:txBody>
            <a:bodyPr wrap="square" lIns="45719" tIns="45719" rIns="45719" bIns="45719" numCol="1" anchor="t">
              <a:noAutofit/>
            </a:bodyPr>
            <a:lstStyle/>
            <a:p>
              <a:pPr/>
            </a:p>
          </p:txBody>
        </p:sp>
        <p:sp>
          <p:nvSpPr>
            <p:cNvPr id="109" name="h1_k"/>
            <p:cNvSpPr txBox="1"/>
            <p:nvPr/>
          </p:nvSpPr>
          <p:spPr>
            <a:xfrm>
              <a:off x="256032" y="239267"/>
              <a:ext cx="548640" cy="3810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defRPr b="1" sz="2600">
                  <a:solidFill>
                    <a:srgbClr val="B5482E"/>
                  </a:solidFill>
                  <a:latin typeface="Georgia"/>
                  <a:ea typeface="Georgia"/>
                  <a:cs typeface="Georgia"/>
                  <a:sym typeface="Georgia"/>
                </a:defRPr>
              </a:lvl1pPr>
            </a:lstStyle>
            <a:p>
              <a:pPr/>
              <a:r>
                <a:t>B</a:t>
              </a:r>
            </a:p>
          </p:txBody>
        </p:sp>
        <p:sp>
          <p:nvSpPr>
            <p:cNvPr id="110" name="h1_t"/>
            <p:cNvSpPr txBox="1"/>
            <p:nvPr/>
          </p:nvSpPr>
          <p:spPr>
            <a:xfrm>
              <a:off x="256032" y="676655"/>
              <a:ext cx="2795930" cy="283799"/>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t">
              <a:spAutoFit/>
            </a:bodyPr>
            <a:lstStyle>
              <a:lvl1pPr>
                <a:lnSpc>
                  <a:spcPts val="2300"/>
                </a:lnSpc>
                <a:defRPr b="1">
                  <a:solidFill>
                    <a:srgbClr val="3D2B1F"/>
                  </a:solidFill>
                  <a:latin typeface="Georgia"/>
                  <a:ea typeface="Georgia"/>
                  <a:cs typeface="Georgia"/>
                  <a:sym typeface="Georgia"/>
                </a:defRPr>
              </a:lvl1pPr>
            </a:lstStyle>
            <a:p>
              <a:pPr/>
              <a:r>
                <a:t>About 25,000</a:t>
              </a:r>
            </a:p>
          </p:txBody>
        </p:sp>
      </p:grpSp>
      <p:grpSp>
        <p:nvGrpSpPr>
          <p:cNvPr id="115" name="h2"/>
          <p:cNvGrpSpPr/>
          <p:nvPr/>
        </p:nvGrpSpPr>
        <p:grpSpPr>
          <a:xfrm>
            <a:off x="8335061" y="2487167"/>
            <a:ext cx="3307994" cy="1828801"/>
            <a:chOff x="0" y="0"/>
            <a:chExt cx="3307993" cy="1828800"/>
          </a:xfrm>
        </p:grpSpPr>
        <p:sp>
          <p:nvSpPr>
            <p:cNvPr id="112" name="h2_bg"/>
            <p:cNvSpPr/>
            <p:nvPr/>
          </p:nvSpPr>
          <p:spPr>
            <a:xfrm>
              <a:off x="0" y="0"/>
              <a:ext cx="3307994" cy="1828800"/>
            </a:xfrm>
            <a:prstGeom prst="roundRect">
              <a:avLst>
                <a:gd name="adj" fmla="val 5000"/>
              </a:avLst>
            </a:prstGeom>
            <a:solidFill>
              <a:srgbClr val="FFFFFF"/>
            </a:solidFill>
            <a:ln w="16510" cap="flat">
              <a:solidFill>
                <a:srgbClr val="D9C9A8"/>
              </a:solidFill>
              <a:prstDash val="solid"/>
              <a:round/>
            </a:ln>
            <a:effectLst/>
          </p:spPr>
          <p:txBody>
            <a:bodyPr wrap="square" lIns="45719" tIns="45719" rIns="45719" bIns="45719" numCol="1" anchor="t">
              <a:noAutofit/>
            </a:bodyPr>
            <a:lstStyle/>
            <a:p>
              <a:pPr/>
            </a:p>
          </p:txBody>
        </p:sp>
        <p:sp>
          <p:nvSpPr>
            <p:cNvPr id="113" name="h2_k"/>
            <p:cNvSpPr txBox="1"/>
            <p:nvPr/>
          </p:nvSpPr>
          <p:spPr>
            <a:xfrm>
              <a:off x="256032" y="239267"/>
              <a:ext cx="548640" cy="3810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defRPr b="1" sz="2600">
                  <a:solidFill>
                    <a:srgbClr val="B5482E"/>
                  </a:solidFill>
                  <a:latin typeface="Georgia"/>
                  <a:ea typeface="Georgia"/>
                  <a:cs typeface="Georgia"/>
                  <a:sym typeface="Georgia"/>
                </a:defRPr>
              </a:lvl1pPr>
            </a:lstStyle>
            <a:p>
              <a:pPr/>
              <a:r>
                <a:t>C</a:t>
              </a:r>
            </a:p>
          </p:txBody>
        </p:sp>
        <p:sp>
          <p:nvSpPr>
            <p:cNvPr id="114" name="h2_t"/>
            <p:cNvSpPr txBox="1"/>
            <p:nvPr/>
          </p:nvSpPr>
          <p:spPr>
            <a:xfrm>
              <a:off x="256032" y="676655"/>
              <a:ext cx="2795930" cy="283799"/>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t">
              <a:spAutoFit/>
            </a:bodyPr>
            <a:lstStyle>
              <a:lvl1pPr>
                <a:lnSpc>
                  <a:spcPts val="2300"/>
                </a:lnSpc>
                <a:defRPr b="1">
                  <a:solidFill>
                    <a:srgbClr val="3D2B1F"/>
                  </a:solidFill>
                  <a:latin typeface="Georgia"/>
                  <a:ea typeface="Georgia"/>
                  <a:cs typeface="Georgia"/>
                  <a:sym typeface="Georgia"/>
                </a:defRPr>
              </a:lvl1pPr>
            </a:lstStyle>
            <a:p>
              <a:pPr/>
              <a:r>
                <a:t>About 100,000</a:t>
              </a:r>
            </a:p>
          </p:txBody>
        </p:sp>
      </p:grpSp>
    </p:spTree>
  </p:cSld>
  <p:clrMapOvr>
    <a:masterClrMapping/>
  </p:clrMapOvr>
  <mc:AlternateContent xmlns:mc="http://schemas.openxmlformats.org/markup-compatibility/2006">
    <mc:Choice xmlns:p14="http://schemas.microsoft.com/office/powerpoint/2010/main" Requires="p14">
      <p:transition spd="med" advClick="1" p14:dur="1000">
        <p:fade/>
      </p:transition>
    </mc:Choice>
    <mc:Fallback>
      <p:transition spd="med">
        <p:fade/>
      </p:transition>
    </mc:Fallback>
  </mc:AlternateContent>
  <p:timing>
    <p:tnLst>
      <p:par>
        <p:cTn id="1" nodeType="tmRoot" restart="never" dur="indefinite" fill="hold">
          <p:childTnLst>
            <p:seq concurrent="1" prevAc="none" nextAc="seek">
              <p:cTn id="2" nodeType="mainSeq" dur="indefinite" fill="hold">
                <p:childTnLst>
                  <p:par>
                    <p:cTn id="3" fill="hold">
                      <p:stCondLst>
                        <p:cond delay="indefinite"/>
                        <p:cond evt="onBegin">
                          <p:tn val="2"/>
                        </p:cond>
                      </p:stCondLst>
                      <p:childTnLst>
                        <p:par>
                          <p:cTn id="4" fill="hold">
                            <p:stCondLst>
                              <p:cond delay="0"/>
                            </p:stCondLst>
                            <p:childTnLst>
                              <p:par>
                                <p:cTn id="5" presetClass="mediacall" nodeType="afterEffect" presetSubtype="0" presetID="1" grpId="1" fill="hold">
                                  <p:stCondLst>
                                    <p:cond delay="0"/>
                                  </p:stCondLst>
                                  <p:childTnLst>
                                    <p:cmd type="call" cmd="playFrom(0.0)">
                                      <p:cBhvr>
                                        <p:cTn id="6" dur="120000" fill="hold"/>
                                        <p:tgtEl>
                                          <p:spTgt spid="98"/>
                                        </p:tgtEl>
                                      </p:cBhvr>
                                    </p:cmd>
                                  </p:childTnLst>
                                </p:cTn>
                              </p:par>
                            </p:childTnLst>
                          </p:cTn>
                        </p:par>
                      </p:childTnLst>
                    </p:cTn>
                  </p:par>
                  <p:par>
                    <p:cTn id="7" fill="hold">
                      <p:stCondLst>
                        <p:cond delay="indefinite"/>
                      </p:stCondLst>
                      <p:childTnLst>
                        <p:par>
                          <p:cTn id="8" fill="hold">
                            <p:stCondLst>
                              <p:cond delay="0"/>
                            </p:stCondLst>
                            <p:childTnLst>
                              <p:par>
                                <p:cTn id="9" presetClass="entr" nodeType="clickEffect" presetID="10" grpId="2" fill="hold">
                                  <p:stCondLst>
                                    <p:cond delay="0"/>
                                  </p:stCondLst>
                                  <p:iterate type="el" backwards="0">
                                    <p:tmAbs val="0"/>
                                  </p:iterate>
                                  <p:childTnLst>
                                    <p:set>
                                      <p:cBhvr>
                                        <p:cTn id="10" fill="hold"/>
                                        <p:tgtEl>
                                          <p:spTgt spid="107"/>
                                        </p:tgtEl>
                                        <p:attrNameLst>
                                          <p:attrName>style.visibility</p:attrName>
                                        </p:attrNameLst>
                                      </p:cBhvr>
                                      <p:to>
                                        <p:strVal val="visible"/>
                                      </p:to>
                                    </p:set>
                                    <p:animEffect filter="fade" transition="in">
                                      <p:cBhvr>
                                        <p:cTn id="11" dur="400"/>
                                        <p:tgtEl>
                                          <p:spTgt spid="107"/>
                                        </p:tgtEl>
                                      </p:cBhvr>
                                    </p:animEffect>
                                  </p:childTnLst>
                                </p:cTn>
                              </p:par>
                            </p:childTnLst>
                          </p:cTn>
                        </p:par>
                        <p:par>
                          <p:cTn id="12" fill="hold">
                            <p:stCondLst>
                              <p:cond delay="400"/>
                            </p:stCondLst>
                            <p:childTnLst>
                              <p:par>
                                <p:cTn id="13" presetClass="entr" nodeType="afterEffect" presetID="10" grpId="3" fill="hold">
                                  <p:stCondLst>
                                    <p:cond delay="150"/>
                                  </p:stCondLst>
                                  <p:iterate type="el" backwards="0">
                                    <p:tmAbs val="0"/>
                                  </p:iterate>
                                  <p:childTnLst>
                                    <p:set>
                                      <p:cBhvr>
                                        <p:cTn id="14" fill="hold"/>
                                        <p:tgtEl>
                                          <p:spTgt spid="111"/>
                                        </p:tgtEl>
                                        <p:attrNameLst>
                                          <p:attrName>style.visibility</p:attrName>
                                        </p:attrNameLst>
                                      </p:cBhvr>
                                      <p:to>
                                        <p:strVal val="visible"/>
                                      </p:to>
                                    </p:set>
                                    <p:animEffect filter="fade" transition="in">
                                      <p:cBhvr>
                                        <p:cTn id="15" dur="400"/>
                                        <p:tgtEl>
                                          <p:spTgt spid="111"/>
                                        </p:tgtEl>
                                      </p:cBhvr>
                                    </p:animEffect>
                                  </p:childTnLst>
                                </p:cTn>
                              </p:par>
                            </p:childTnLst>
                          </p:cTn>
                        </p:par>
                        <p:par>
                          <p:cTn id="16" fill="hold">
                            <p:stCondLst>
                              <p:cond delay="950"/>
                            </p:stCondLst>
                            <p:childTnLst>
                              <p:par>
                                <p:cTn id="17" presetClass="entr" nodeType="afterEffect" presetID="10" grpId="4" fill="hold">
                                  <p:stCondLst>
                                    <p:cond delay="300"/>
                                  </p:stCondLst>
                                  <p:iterate type="el" backwards="0">
                                    <p:tmAbs val="0"/>
                                  </p:iterate>
                                  <p:childTnLst>
                                    <p:set>
                                      <p:cBhvr>
                                        <p:cTn id="18" fill="hold"/>
                                        <p:tgtEl>
                                          <p:spTgt spid="115"/>
                                        </p:tgtEl>
                                        <p:attrNameLst>
                                          <p:attrName>style.visibility</p:attrName>
                                        </p:attrNameLst>
                                      </p:cBhvr>
                                      <p:to>
                                        <p:strVal val="visible"/>
                                      </p:to>
                                    </p:set>
                                    <p:animEffect filter="fade" transition="in">
                                      <p:cBhvr>
                                        <p:cTn id="19" dur="400"/>
                                        <p:tgtEl>
                                          <p:spTgt spid="115"/>
                                        </p:tgtEl>
                                      </p:cBhvr>
                                    </p:animEffect>
                                  </p:childTnLst>
                                </p:cTn>
                              </p:par>
                            </p:childTnLst>
                          </p:cTn>
                        </p:par>
                      </p:childTnLst>
                    </p:cTn>
                  </p:par>
                </p:childTnLst>
              </p:cTn>
              <p:prevCondLst>
                <p:cond evt="onPrev">
                  <p:tgtEl>
                    <p:sldTgt/>
                  </p:tgtEl>
                </p:cond>
              </p:prevCondLst>
              <p:nextCondLst>
                <p:cond evt="onNext">
                  <p:tgtEl>
                    <p:sldTgt/>
                  </p:tgtEl>
                </p:cond>
              </p:nextCondLst>
            </p:seq>
            <p:video fullScrn="0">
              <p:cMediaNode mute="0" showWhenStopped="1" numSld="1" vol="0">
                <p:cTn id="20" fill="hold" display="0">
                  <p:stCondLst>
                    <p:cond delay="indefinite"/>
                  </p:stCondLst>
                </p:cTn>
                <p:tgtEl>
                  <p:spTgt spid="98"/>
                </p:tgtEl>
              </p:cMediaNode>
            </p:video>
            <p:seq concurrent="1" prevAc="none" nextAc="seek">
              <p:cTn id="21" evtFilter="cancelBubble" nodeType="interactiveSeq" restart="whenNotActive" fill="hold">
                <p:stCondLst>
                  <p:cond delay="0" evt="onClick">
                    <p:tgtEl>
                      <p:spTgt spid="98"/>
                    </p:tgtEl>
                  </p:cond>
                </p:stCondLst>
                <p:endSync delay="0" evt="end">
                  <p:rtn val="all"/>
                </p:endSync>
                <p:childTnLst>
                  <p:par>
                    <p:cTn id="22" fill="hold">
                      <p:stCondLst>
                        <p:cond delay="0"/>
                      </p:stCondLst>
                      <p:childTnLst>
                        <p:par>
                          <p:cTn id="23" fill="hold">
                            <p:stCondLst>
                              <p:cond delay="0"/>
                            </p:stCondLst>
                            <p:childTnLst>
                              <p:par>
                                <p:cTn id="24" presetClass="mediacall" nodeType="clickEffect" presetSubtype="0" presetID="2" fill="hold">
                                  <p:stCondLst>
                                    <p:cond delay="0"/>
                                  </p:stCondLst>
                                  <p:childTnLst>
                                    <p:cmd type="call" cmd="togglePause">
                                      <p:cBhvr>
                                        <p:cTn id="25" dur="1" fill="hold"/>
                                        <p:tgtEl>
                                          <p:spTgt spid="98"/>
                                        </p:tgtEl>
                                      </p:cBhvr>
                                    </p:cmd>
                                  </p:childTnLst>
                                </p:cTn>
                              </p:par>
                            </p:childTnLst>
                          </p:cTn>
                        </p:par>
                      </p:childTnLst>
                    </p:cTn>
                  </p:par>
                </p:childTnLst>
              </p:cTn>
              <p:nextCondLst>
                <p:cond delay="0" evt="onClick">
                  <p:tgtEl>
                    <p:spTgt spid="98"/>
                  </p:tgtEl>
                </p:cond>
              </p:nextCondLst>
            </p:seq>
          </p:childTnLst>
        </p:cTn>
      </p:par>
    </p:tnLst>
    <p:bldLst>
      <p:bldP build="whole" bldLvl="1" animBg="1" rev="0" advAuto="0" spid="111" grpId="3"/>
      <p:bldP build="whole" bldLvl="1" animBg="1" rev="0" advAuto="0" spid="115" grpId="4"/>
      <p:bldP build="whole" bldLvl="1" animBg="1" rev="0" advAuto="0" spid="107" grpId="2"/>
    </p:bldLst>
  </p:timing>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2EBDD"/>
        </a:solidFill>
      </p:bgPr>
    </p:bg>
    <p:spTree>
      <p:nvGrpSpPr>
        <p:cNvPr id="1" name=""/>
        <p:cNvGrpSpPr/>
        <p:nvPr/>
      </p:nvGrpSpPr>
      <p:grpSpPr>
        <a:xfrm>
          <a:off x="0" y="0"/>
          <a:ext cx="0" cy="0"/>
          <a:chOff x="0" y="0"/>
          <a:chExt cx="0" cy="0"/>
        </a:xfrm>
      </p:grpSpPr>
      <p:pic>
        <p:nvPicPr>
          <p:cNvPr id="119" name="timer_video" descr="timer_video"/>
          <p:cNvPicPr>
            <a:picLocks noChangeAspect="0"/>
          </p:cNvPicPr>
          <p:nvPr>
            <a:videoFile r:link="rId3"/>
            <p:extLst>
              <p:ext uri="{DAA4B4D4-6D71-4841-9C94-3DE7FCFB9230}">
                <p14:media xmlns:p14="http://schemas.microsoft.com/office/powerpoint/2010/main" r:embed="rId4"/>
              </p:ext>
            </p:extLst>
          </p:nvPr>
        </p:nvPicPr>
        <p:blipFill>
          <a:blip r:embed="rId5">
            <a:extLst/>
          </a:blip>
          <a:stretch>
            <a:fillRect/>
          </a:stretch>
        </p:blipFill>
        <p:spPr>
          <a:xfrm>
            <a:off x="310895" y="310895"/>
            <a:ext cx="457201" cy="6236210"/>
          </a:xfrm>
          <a:prstGeom prst="rect">
            <a:avLst/>
          </a:prstGeom>
          <a:ln w="12700">
            <a:miter lim="400000"/>
          </a:ln>
        </p:spPr>
      </p:pic>
      <p:grpSp>
        <p:nvGrpSpPr>
          <p:cNvPr id="122" name="phase_pill"/>
          <p:cNvGrpSpPr/>
          <p:nvPr/>
        </p:nvGrpSpPr>
        <p:grpSpPr>
          <a:xfrm>
            <a:off x="1170432" y="310895"/>
            <a:ext cx="1623975" cy="329185"/>
            <a:chOff x="0" y="0"/>
            <a:chExt cx="1623974" cy="329184"/>
          </a:xfrm>
        </p:grpSpPr>
        <p:sp>
          <p:nvSpPr>
            <p:cNvPr id="120" name="Rounded Rectangle"/>
            <p:cNvSpPr/>
            <p:nvPr/>
          </p:nvSpPr>
          <p:spPr>
            <a:xfrm>
              <a:off x="0" y="0"/>
              <a:ext cx="1623975" cy="329185"/>
            </a:xfrm>
            <a:prstGeom prst="roundRect">
              <a:avLst>
                <a:gd name="adj" fmla="val 44444"/>
              </a:avLst>
            </a:prstGeom>
            <a:solidFill>
              <a:srgbClr val="3D2B1F"/>
            </a:solidFill>
            <a:ln w="12700" cap="flat">
              <a:noFill/>
              <a:miter lim="400000"/>
            </a:ln>
            <a:effectLst/>
          </p:spPr>
          <p:txBody>
            <a:bodyPr wrap="square" lIns="45719" tIns="45719" rIns="45719" bIns="45719" numCol="1" anchor="ctr">
              <a:noAutofit/>
            </a:bodyPr>
            <a:lstStyle/>
            <a:p>
              <a:pPr algn="ctr">
                <a:defRPr sz="1100"/>
              </a:pPr>
            </a:p>
          </p:txBody>
        </p:sp>
        <p:sp>
          <p:nvSpPr>
            <p:cNvPr id="121" name="I DO · 3 MIN"/>
            <p:cNvSpPr txBox="1"/>
            <p:nvPr/>
          </p:nvSpPr>
          <p:spPr>
            <a:xfrm>
              <a:off x="42851" y="90677"/>
              <a:ext cx="1538272" cy="147830"/>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lgn="ctr">
                <a:defRPr b="1" spc="120" sz="1100">
                  <a:solidFill>
                    <a:srgbClr val="FFFFFF"/>
                  </a:solidFill>
                  <a:latin typeface="Arial"/>
                  <a:ea typeface="Arial"/>
                  <a:cs typeface="Arial"/>
                  <a:sym typeface="Arial"/>
                </a:defRPr>
              </a:lvl1pPr>
            </a:lstStyle>
            <a:p>
              <a:pPr/>
              <a:r>
                <a:t>I DO · 3 MIN</a:t>
              </a:r>
            </a:p>
          </p:txBody>
        </p:sp>
      </p:grpSp>
      <p:sp>
        <p:nvSpPr>
          <p:cNvPr id="123" name="slide_title"/>
          <p:cNvSpPr txBox="1"/>
          <p:nvPr/>
        </p:nvSpPr>
        <p:spPr>
          <a:xfrm>
            <a:off x="1170432" y="984757"/>
            <a:ext cx="10472623" cy="4445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3000">
                <a:solidFill>
                  <a:srgbClr val="3D2B1F"/>
                </a:solidFill>
                <a:latin typeface="Georgia"/>
                <a:ea typeface="Georgia"/>
                <a:cs typeface="Georgia"/>
                <a:sym typeface="Georgia"/>
              </a:defRPr>
            </a:lvl1pPr>
          </a:lstStyle>
          <a:p>
            <a:pPr/>
            <a:r>
              <a:t>Conservation</a:t>
            </a:r>
          </a:p>
        </p:txBody>
      </p:sp>
      <p:grpSp>
        <p:nvGrpSpPr>
          <p:cNvPr id="126" name="def"/>
          <p:cNvGrpSpPr/>
          <p:nvPr/>
        </p:nvGrpSpPr>
        <p:grpSpPr>
          <a:xfrm>
            <a:off x="1170432" y="1920239"/>
            <a:ext cx="10472623" cy="914401"/>
            <a:chOff x="0" y="0"/>
            <a:chExt cx="10472622" cy="914400"/>
          </a:xfrm>
        </p:grpSpPr>
        <p:sp>
          <p:nvSpPr>
            <p:cNvPr id="124" name="def_bg"/>
            <p:cNvSpPr/>
            <p:nvPr/>
          </p:nvSpPr>
          <p:spPr>
            <a:xfrm>
              <a:off x="0" y="0"/>
              <a:ext cx="10472623" cy="914400"/>
            </a:xfrm>
            <a:prstGeom prst="roundRect">
              <a:avLst>
                <a:gd name="adj" fmla="val 10000"/>
              </a:avLst>
            </a:prstGeom>
            <a:solidFill>
              <a:srgbClr val="FFFFFF"/>
            </a:solidFill>
            <a:ln w="16510" cap="flat">
              <a:solidFill>
                <a:srgbClr val="D9C9A8"/>
              </a:solidFill>
              <a:prstDash val="solid"/>
              <a:round/>
            </a:ln>
            <a:effectLst/>
          </p:spPr>
          <p:txBody>
            <a:bodyPr wrap="square" lIns="45719" tIns="45719" rIns="45719" bIns="45719" numCol="1" anchor="t">
              <a:noAutofit/>
            </a:bodyPr>
            <a:lstStyle/>
            <a:p>
              <a:pPr/>
            </a:p>
          </p:txBody>
        </p:sp>
        <p:sp>
          <p:nvSpPr>
            <p:cNvPr id="125" name="def_t"/>
            <p:cNvSpPr txBox="1"/>
            <p:nvPr/>
          </p:nvSpPr>
          <p:spPr>
            <a:xfrm>
              <a:off x="274319" y="328989"/>
              <a:ext cx="9923984" cy="256422"/>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p>
              <a:pPr>
                <a:lnSpc>
                  <a:spcPts val="2100"/>
                </a:lnSpc>
                <a:defRPr sz="1600">
                  <a:solidFill>
                    <a:srgbClr val="2A1D14"/>
                  </a:solidFill>
                  <a:latin typeface="Arial"/>
                  <a:ea typeface="Arial"/>
                  <a:cs typeface="Arial"/>
                  <a:sym typeface="Arial"/>
                </a:defRPr>
              </a:pPr>
              <a:r>
                <a:t>Conservation means protecting and managing a resource carefully, so it is </a:t>
              </a:r>
              <a:r>
                <a:rPr b="1">
                  <a:solidFill>
                    <a:srgbClr val="8F6D2A"/>
                  </a:solidFill>
                </a:rPr>
                <a:t>still available in the future</a:t>
              </a:r>
              <a:r>
                <a:t>.</a:t>
              </a:r>
            </a:p>
          </p:txBody>
        </p:sp>
      </p:grpSp>
      <p:grpSp>
        <p:nvGrpSpPr>
          <p:cNvPr id="131" name="whg"/>
          <p:cNvGrpSpPr/>
          <p:nvPr/>
        </p:nvGrpSpPr>
        <p:grpSpPr>
          <a:xfrm>
            <a:off x="1170432" y="3054095"/>
            <a:ext cx="5099152" cy="1645922"/>
            <a:chOff x="0" y="0"/>
            <a:chExt cx="5099151" cy="1645920"/>
          </a:xfrm>
        </p:grpSpPr>
        <p:sp>
          <p:nvSpPr>
            <p:cNvPr id="127" name="wh_bg"/>
            <p:cNvSpPr/>
            <p:nvPr/>
          </p:nvSpPr>
          <p:spPr>
            <a:xfrm>
              <a:off x="0" y="0"/>
              <a:ext cx="5099152" cy="1645921"/>
            </a:xfrm>
            <a:prstGeom prst="roundRect">
              <a:avLst>
                <a:gd name="adj" fmla="val 5556"/>
              </a:avLst>
            </a:prstGeom>
            <a:solidFill>
              <a:srgbClr val="FFFFFF"/>
            </a:solidFill>
            <a:ln w="16510" cap="flat">
              <a:solidFill>
                <a:srgbClr val="D9C9A8"/>
              </a:solidFill>
              <a:prstDash val="solid"/>
              <a:round/>
            </a:ln>
            <a:effectLst/>
          </p:spPr>
          <p:txBody>
            <a:bodyPr wrap="square" lIns="45719" tIns="45719" rIns="45719" bIns="45719" numCol="1" anchor="t">
              <a:noAutofit/>
            </a:bodyPr>
            <a:lstStyle/>
            <a:p>
              <a:pPr/>
            </a:p>
          </p:txBody>
        </p:sp>
        <p:pic>
          <p:nvPicPr>
            <p:cNvPr id="128" name="wh_icon" descr="wh_icon"/>
            <p:cNvPicPr>
              <a:picLocks noChangeAspect="1"/>
            </p:cNvPicPr>
            <p:nvPr/>
          </p:nvPicPr>
          <p:blipFill>
            <a:blip r:embed="rId6">
              <a:extLst/>
            </a:blip>
            <a:stretch>
              <a:fillRect/>
            </a:stretch>
          </p:blipFill>
          <p:spPr>
            <a:xfrm>
              <a:off x="4532223" y="146304"/>
              <a:ext cx="384049" cy="384049"/>
            </a:xfrm>
            <a:prstGeom prst="rect">
              <a:avLst/>
            </a:prstGeom>
            <a:ln w="12700" cap="flat">
              <a:noFill/>
              <a:miter lim="400000"/>
            </a:ln>
            <a:effectLst/>
          </p:spPr>
        </p:pic>
        <p:sp>
          <p:nvSpPr>
            <p:cNvPr id="129" name="wh_h"/>
            <p:cNvSpPr txBox="1"/>
            <p:nvPr/>
          </p:nvSpPr>
          <p:spPr>
            <a:xfrm>
              <a:off x="219455" y="206502"/>
              <a:ext cx="4276193" cy="1905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defRPr b="1" spc="100" sz="1300">
                  <a:solidFill>
                    <a:srgbClr val="3D2B1F"/>
                  </a:solidFill>
                  <a:latin typeface="Georgia"/>
                  <a:ea typeface="Georgia"/>
                  <a:cs typeface="Georgia"/>
                  <a:sym typeface="Georgia"/>
                </a:defRPr>
              </a:lvl1pPr>
            </a:lstStyle>
            <a:p>
              <a:pPr/>
              <a:r>
                <a:t>WHAT WORKED FOR THE WHALES</a:t>
              </a:r>
            </a:p>
          </p:txBody>
        </p:sp>
        <p:sp>
          <p:nvSpPr>
            <p:cNvPr id="130" name="wh_t"/>
            <p:cNvSpPr txBox="1"/>
            <p:nvPr/>
          </p:nvSpPr>
          <p:spPr>
            <a:xfrm>
              <a:off x="219456" y="512063"/>
              <a:ext cx="4660240" cy="639508"/>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t">
              <a:spAutoFit/>
            </a:bodyPr>
            <a:lstStyle>
              <a:lvl1pPr>
                <a:lnSpc>
                  <a:spcPts val="1700"/>
                </a:lnSpc>
                <a:defRPr sz="1300">
                  <a:solidFill>
                    <a:srgbClr val="2A1D14"/>
                  </a:solidFill>
                  <a:latin typeface="Arial"/>
                  <a:ea typeface="Arial"/>
                  <a:cs typeface="Arial"/>
                  <a:sym typeface="Arial"/>
                </a:defRPr>
              </a:lvl1pPr>
            </a:lstStyle>
            <a:p>
              <a:pPr/>
              <a:r>
                <a:t>Hunting was banned, internationally, before the population hit zero. With nothing taking whales out, the population could grow back on its own.</a:t>
              </a:r>
            </a:p>
          </p:txBody>
        </p:sp>
      </p:grpSp>
      <p:grpSp>
        <p:nvGrpSpPr>
          <p:cNvPr id="136" name="cog"/>
          <p:cNvGrpSpPr/>
          <p:nvPr/>
        </p:nvGrpSpPr>
        <p:grpSpPr>
          <a:xfrm>
            <a:off x="6543903" y="3054095"/>
            <a:ext cx="5099153" cy="1645922"/>
            <a:chOff x="0" y="0"/>
            <a:chExt cx="5099151" cy="1645920"/>
          </a:xfrm>
        </p:grpSpPr>
        <p:sp>
          <p:nvSpPr>
            <p:cNvPr id="132" name="co_bg"/>
            <p:cNvSpPr/>
            <p:nvPr/>
          </p:nvSpPr>
          <p:spPr>
            <a:xfrm>
              <a:off x="0" y="0"/>
              <a:ext cx="5099152" cy="1645921"/>
            </a:xfrm>
            <a:prstGeom prst="roundRect">
              <a:avLst>
                <a:gd name="adj" fmla="val 5556"/>
              </a:avLst>
            </a:prstGeom>
            <a:solidFill>
              <a:srgbClr val="FFFFFF"/>
            </a:solidFill>
            <a:ln w="16510" cap="flat">
              <a:solidFill>
                <a:srgbClr val="D9C9A8"/>
              </a:solidFill>
              <a:prstDash val="solid"/>
              <a:round/>
            </a:ln>
            <a:effectLst/>
          </p:spPr>
          <p:txBody>
            <a:bodyPr wrap="square" lIns="45719" tIns="45719" rIns="45719" bIns="45719" numCol="1" anchor="t">
              <a:noAutofit/>
            </a:bodyPr>
            <a:lstStyle/>
            <a:p>
              <a:pPr/>
            </a:p>
          </p:txBody>
        </p:sp>
        <p:pic>
          <p:nvPicPr>
            <p:cNvPr id="133" name="co_icon" descr="co_icon"/>
            <p:cNvPicPr>
              <a:picLocks noChangeAspect="1"/>
            </p:cNvPicPr>
            <p:nvPr/>
          </p:nvPicPr>
          <p:blipFill>
            <a:blip r:embed="rId7">
              <a:extLst/>
            </a:blip>
            <a:stretch>
              <a:fillRect/>
            </a:stretch>
          </p:blipFill>
          <p:spPr>
            <a:xfrm>
              <a:off x="4532222" y="146304"/>
              <a:ext cx="384049" cy="384049"/>
            </a:xfrm>
            <a:prstGeom prst="rect">
              <a:avLst/>
            </a:prstGeom>
            <a:ln w="12700" cap="flat">
              <a:noFill/>
              <a:miter lim="400000"/>
            </a:ln>
            <a:effectLst/>
          </p:spPr>
        </p:pic>
        <p:sp>
          <p:nvSpPr>
            <p:cNvPr id="134" name="co_h"/>
            <p:cNvSpPr txBox="1"/>
            <p:nvPr/>
          </p:nvSpPr>
          <p:spPr>
            <a:xfrm>
              <a:off x="219455" y="206502"/>
              <a:ext cx="4276193" cy="1905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defRPr b="1" spc="100" sz="1300">
                  <a:solidFill>
                    <a:srgbClr val="3D2B1F"/>
                  </a:solidFill>
                  <a:latin typeface="Georgia"/>
                  <a:ea typeface="Georgia"/>
                  <a:cs typeface="Georgia"/>
                  <a:sym typeface="Georgia"/>
                </a:defRPr>
              </a:lvl1pPr>
            </a:lstStyle>
            <a:p>
              <a:pPr/>
              <a:r>
                <a:t>WHAT DID NOT HAPPEN FOR COD</a:t>
              </a:r>
            </a:p>
          </p:txBody>
        </p:sp>
        <p:sp>
          <p:nvSpPr>
            <p:cNvPr id="135" name="co_t"/>
            <p:cNvSpPr txBox="1"/>
            <p:nvPr/>
          </p:nvSpPr>
          <p:spPr>
            <a:xfrm>
              <a:off x="219456" y="512063"/>
              <a:ext cx="4660240" cy="639508"/>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t">
              <a:spAutoFit/>
            </a:bodyPr>
            <a:lstStyle>
              <a:lvl1pPr>
                <a:lnSpc>
                  <a:spcPts val="1700"/>
                </a:lnSpc>
                <a:defRPr sz="1300">
                  <a:solidFill>
                    <a:srgbClr val="2A1D14"/>
                  </a:solidFill>
                  <a:latin typeface="Arial"/>
                  <a:ea typeface="Arial"/>
                  <a:cs typeface="Arial"/>
                  <a:sym typeface="Arial"/>
                </a:defRPr>
              </a:lvl1pPr>
            </a:lstStyle>
            <a:p>
              <a:pPr/>
              <a:r>
                <a:t>Fishing was not limited early enough. By the time it stopped completely, in 1992, there was very little stock left to regrow from.</a:t>
              </a:r>
            </a:p>
          </p:txBody>
        </p:sp>
      </p:grpSp>
    </p:spTree>
  </p:cSld>
  <p:clrMapOvr>
    <a:masterClrMapping/>
  </p:clrMapOvr>
  <mc:AlternateContent xmlns:mc="http://schemas.openxmlformats.org/markup-compatibility/2006">
    <mc:Choice xmlns:p14="http://schemas.microsoft.com/office/powerpoint/2010/main" Requires="p14">
      <p:transition spd="med" advClick="1" p14:dur="1000">
        <p:fade/>
      </p:transition>
    </mc:Choice>
    <mc:Fallback>
      <p:transition spd="med">
        <p:fade/>
      </p:transition>
    </mc:Fallback>
  </mc:AlternateContent>
  <p:timing>
    <p:tnLst>
      <p:par>
        <p:cTn id="1" nodeType="tmRoot" restart="never" dur="indefinite" fill="hold">
          <p:childTnLst>
            <p:seq concurrent="1" prevAc="none" nextAc="seek">
              <p:cTn id="2" nodeType="mainSeq" dur="indefinite" fill="hold">
                <p:childTnLst>
                  <p:par>
                    <p:cTn id="3" fill="hold">
                      <p:stCondLst>
                        <p:cond delay="indefinite"/>
                        <p:cond evt="onBegin">
                          <p:tn val="2"/>
                        </p:cond>
                      </p:stCondLst>
                      <p:childTnLst>
                        <p:par>
                          <p:cTn id="4" fill="hold">
                            <p:stCondLst>
                              <p:cond delay="0"/>
                            </p:stCondLst>
                            <p:childTnLst>
                              <p:par>
                                <p:cTn id="5" presetClass="mediacall" nodeType="afterEffect" presetSubtype="0" presetID="1" grpId="1" fill="hold">
                                  <p:stCondLst>
                                    <p:cond delay="0"/>
                                  </p:stCondLst>
                                  <p:childTnLst>
                                    <p:cmd type="call" cmd="playFrom(0.0)">
                                      <p:cBhvr>
                                        <p:cTn id="6" dur="180000" fill="hold"/>
                                        <p:tgtEl>
                                          <p:spTgt spid="119"/>
                                        </p:tgtEl>
                                      </p:cBhvr>
                                    </p:cmd>
                                  </p:childTnLst>
                                </p:cTn>
                              </p:par>
                            </p:childTnLst>
                          </p:cTn>
                        </p:par>
                      </p:childTnLst>
                    </p:cTn>
                  </p:par>
                  <p:par>
                    <p:cTn id="7" fill="hold">
                      <p:stCondLst>
                        <p:cond delay="indefinite"/>
                      </p:stCondLst>
                      <p:childTnLst>
                        <p:par>
                          <p:cTn id="8" fill="hold">
                            <p:stCondLst>
                              <p:cond delay="0"/>
                            </p:stCondLst>
                            <p:childTnLst>
                              <p:par>
                                <p:cTn id="9" presetClass="entr" nodeType="clickEffect" presetID="10" grpId="2" fill="hold">
                                  <p:stCondLst>
                                    <p:cond delay="0"/>
                                  </p:stCondLst>
                                  <p:iterate type="el" backwards="0">
                                    <p:tmAbs val="0"/>
                                  </p:iterate>
                                  <p:childTnLst>
                                    <p:set>
                                      <p:cBhvr>
                                        <p:cTn id="10" fill="hold"/>
                                        <p:tgtEl>
                                          <p:spTgt spid="126"/>
                                        </p:tgtEl>
                                        <p:attrNameLst>
                                          <p:attrName>style.visibility</p:attrName>
                                        </p:attrNameLst>
                                      </p:cBhvr>
                                      <p:to>
                                        <p:strVal val="visible"/>
                                      </p:to>
                                    </p:set>
                                    <p:animEffect filter="fade" transition="in">
                                      <p:cBhvr>
                                        <p:cTn id="11" dur="400"/>
                                        <p:tgtEl>
                                          <p:spTgt spid="126"/>
                                        </p:tgtEl>
                                      </p:cBhvr>
                                    </p:animEffect>
                                  </p:childTnLst>
                                </p:cTn>
                              </p:par>
                            </p:childTnLst>
                          </p:cTn>
                        </p:par>
                      </p:childTnLst>
                    </p:cTn>
                  </p:par>
                  <p:par>
                    <p:cTn id="12" fill="hold">
                      <p:stCondLst>
                        <p:cond delay="indefinite"/>
                      </p:stCondLst>
                      <p:childTnLst>
                        <p:par>
                          <p:cTn id="13" fill="hold">
                            <p:stCondLst>
                              <p:cond delay="0"/>
                            </p:stCondLst>
                            <p:childTnLst>
                              <p:par>
                                <p:cTn id="14" presetClass="entr" nodeType="clickEffect" presetID="10" grpId="3" fill="hold">
                                  <p:stCondLst>
                                    <p:cond delay="0"/>
                                  </p:stCondLst>
                                  <p:iterate type="el" backwards="0">
                                    <p:tmAbs val="0"/>
                                  </p:iterate>
                                  <p:childTnLst>
                                    <p:set>
                                      <p:cBhvr>
                                        <p:cTn id="15" fill="hold"/>
                                        <p:tgtEl>
                                          <p:spTgt spid="131"/>
                                        </p:tgtEl>
                                        <p:attrNameLst>
                                          <p:attrName>style.visibility</p:attrName>
                                        </p:attrNameLst>
                                      </p:cBhvr>
                                      <p:to>
                                        <p:strVal val="visible"/>
                                      </p:to>
                                    </p:set>
                                    <p:animEffect filter="fade" transition="in">
                                      <p:cBhvr>
                                        <p:cTn id="16" dur="400"/>
                                        <p:tgtEl>
                                          <p:spTgt spid="131"/>
                                        </p:tgtEl>
                                      </p:cBhvr>
                                    </p:animEffect>
                                  </p:childTnLst>
                                </p:cTn>
                              </p:par>
                            </p:childTnLst>
                          </p:cTn>
                        </p:par>
                      </p:childTnLst>
                    </p:cTn>
                  </p:par>
                  <p:par>
                    <p:cTn id="17" fill="hold">
                      <p:stCondLst>
                        <p:cond delay="indefinite"/>
                      </p:stCondLst>
                      <p:childTnLst>
                        <p:par>
                          <p:cTn id="18" fill="hold">
                            <p:stCondLst>
                              <p:cond delay="0"/>
                            </p:stCondLst>
                            <p:childTnLst>
                              <p:par>
                                <p:cTn id="19" presetClass="entr" nodeType="clickEffect" presetID="10" grpId="4" fill="hold">
                                  <p:stCondLst>
                                    <p:cond delay="0"/>
                                  </p:stCondLst>
                                  <p:iterate type="el" backwards="0">
                                    <p:tmAbs val="0"/>
                                  </p:iterate>
                                  <p:childTnLst>
                                    <p:set>
                                      <p:cBhvr>
                                        <p:cTn id="20" fill="hold"/>
                                        <p:tgtEl>
                                          <p:spTgt spid="136"/>
                                        </p:tgtEl>
                                        <p:attrNameLst>
                                          <p:attrName>style.visibility</p:attrName>
                                        </p:attrNameLst>
                                      </p:cBhvr>
                                      <p:to>
                                        <p:strVal val="visible"/>
                                      </p:to>
                                    </p:set>
                                    <p:animEffect filter="fade" transition="in">
                                      <p:cBhvr>
                                        <p:cTn id="21" dur="400"/>
                                        <p:tgtEl>
                                          <p:spTgt spid="136"/>
                                        </p:tgtEl>
                                      </p:cBhvr>
                                    </p:animEffect>
                                  </p:childTnLst>
                                </p:cTn>
                              </p:par>
                            </p:childTnLst>
                          </p:cTn>
                        </p:par>
                      </p:childTnLst>
                    </p:cTn>
                  </p:par>
                </p:childTnLst>
              </p:cTn>
              <p:prevCondLst>
                <p:cond evt="onPrev">
                  <p:tgtEl>
                    <p:sldTgt/>
                  </p:tgtEl>
                </p:cond>
              </p:prevCondLst>
              <p:nextCondLst>
                <p:cond evt="onNext">
                  <p:tgtEl>
                    <p:sldTgt/>
                  </p:tgtEl>
                </p:cond>
              </p:nextCondLst>
            </p:seq>
            <p:video fullScrn="0">
              <p:cMediaNode mute="0" showWhenStopped="1" numSld="1" vol="0">
                <p:cTn id="22" fill="hold" display="0">
                  <p:stCondLst>
                    <p:cond delay="indefinite"/>
                  </p:stCondLst>
                </p:cTn>
                <p:tgtEl>
                  <p:spTgt spid="119"/>
                </p:tgtEl>
              </p:cMediaNode>
            </p:video>
            <p:seq concurrent="1" prevAc="none" nextAc="seek">
              <p:cTn id="23" evtFilter="cancelBubble" nodeType="interactiveSeq" restart="whenNotActive" fill="hold">
                <p:stCondLst>
                  <p:cond delay="0" evt="onClick">
                    <p:tgtEl>
                      <p:spTgt spid="119"/>
                    </p:tgtEl>
                  </p:cond>
                </p:stCondLst>
                <p:endSync delay="0" evt="end">
                  <p:rtn val="all"/>
                </p:endSync>
                <p:childTnLst>
                  <p:par>
                    <p:cTn id="24" fill="hold">
                      <p:stCondLst>
                        <p:cond delay="0"/>
                      </p:stCondLst>
                      <p:childTnLst>
                        <p:par>
                          <p:cTn id="25" fill="hold">
                            <p:stCondLst>
                              <p:cond delay="0"/>
                            </p:stCondLst>
                            <p:childTnLst>
                              <p:par>
                                <p:cTn id="26" presetClass="mediacall" nodeType="clickEffect" presetSubtype="0" presetID="2" fill="hold">
                                  <p:stCondLst>
                                    <p:cond delay="0"/>
                                  </p:stCondLst>
                                  <p:childTnLst>
                                    <p:cmd type="call" cmd="togglePause">
                                      <p:cBhvr>
                                        <p:cTn id="27" dur="1" fill="hold"/>
                                        <p:tgtEl>
                                          <p:spTgt spid="119"/>
                                        </p:tgtEl>
                                      </p:cBhvr>
                                    </p:cmd>
                                  </p:childTnLst>
                                </p:cTn>
                              </p:par>
                            </p:childTnLst>
                          </p:cTn>
                        </p:par>
                      </p:childTnLst>
                    </p:cTn>
                  </p:par>
                </p:childTnLst>
              </p:cTn>
              <p:nextCondLst>
                <p:cond delay="0" evt="onClick">
                  <p:tgtEl>
                    <p:spTgt spid="119"/>
                  </p:tgtEl>
                </p:cond>
              </p:nextCondLst>
            </p:seq>
          </p:childTnLst>
        </p:cTn>
      </p:par>
    </p:tnLst>
    <p:bldLst>
      <p:bldP build="whole" bldLvl="1" animBg="1" rev="0" advAuto="0" spid="131" grpId="3"/>
      <p:bldP build="whole" bldLvl="1" animBg="1" rev="0" advAuto="0" spid="136" grpId="4"/>
      <p:bldP build="whole" bldLvl="1" animBg="1" rev="0" advAuto="0" spid="126" grpId="2"/>
    </p:bldLst>
  </p:timing>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2EBDD"/>
        </a:solidFill>
      </p:bgPr>
    </p:bg>
    <p:spTree>
      <p:nvGrpSpPr>
        <p:cNvPr id="1" name=""/>
        <p:cNvGrpSpPr/>
        <p:nvPr/>
      </p:nvGrpSpPr>
      <p:grpSpPr>
        <a:xfrm>
          <a:off x="0" y="0"/>
          <a:ext cx="0" cy="0"/>
          <a:chOff x="0" y="0"/>
          <a:chExt cx="0" cy="0"/>
        </a:xfrm>
      </p:grpSpPr>
      <p:pic>
        <p:nvPicPr>
          <p:cNvPr id="140" name="timer_video" descr="timer_video"/>
          <p:cNvPicPr>
            <a:picLocks noChangeAspect="0"/>
          </p:cNvPicPr>
          <p:nvPr>
            <a:videoFile r:link="rId3"/>
            <p:extLst>
              <p:ext uri="{DAA4B4D4-6D71-4841-9C94-3DE7FCFB9230}">
                <p14:media xmlns:p14="http://schemas.microsoft.com/office/powerpoint/2010/main" r:embed="rId4"/>
              </p:ext>
            </p:extLst>
          </p:nvPr>
        </p:nvPicPr>
        <p:blipFill>
          <a:blip r:embed="rId5">
            <a:extLst/>
          </a:blip>
          <a:stretch>
            <a:fillRect/>
          </a:stretch>
        </p:blipFill>
        <p:spPr>
          <a:xfrm>
            <a:off x="310895" y="310895"/>
            <a:ext cx="457201" cy="6236210"/>
          </a:xfrm>
          <a:prstGeom prst="rect">
            <a:avLst/>
          </a:prstGeom>
          <a:ln w="12700">
            <a:miter lim="400000"/>
          </a:ln>
        </p:spPr>
      </p:pic>
      <p:grpSp>
        <p:nvGrpSpPr>
          <p:cNvPr id="143" name="phase_pill"/>
          <p:cNvGrpSpPr/>
          <p:nvPr/>
        </p:nvGrpSpPr>
        <p:grpSpPr>
          <a:xfrm>
            <a:off x="1170432" y="310895"/>
            <a:ext cx="1623975" cy="329185"/>
            <a:chOff x="0" y="0"/>
            <a:chExt cx="1623974" cy="329184"/>
          </a:xfrm>
        </p:grpSpPr>
        <p:sp>
          <p:nvSpPr>
            <p:cNvPr id="141" name="Rounded Rectangle"/>
            <p:cNvSpPr/>
            <p:nvPr/>
          </p:nvSpPr>
          <p:spPr>
            <a:xfrm>
              <a:off x="0" y="0"/>
              <a:ext cx="1623975" cy="329185"/>
            </a:xfrm>
            <a:prstGeom prst="roundRect">
              <a:avLst>
                <a:gd name="adj" fmla="val 44444"/>
              </a:avLst>
            </a:prstGeom>
            <a:solidFill>
              <a:srgbClr val="3D2B1F"/>
            </a:solidFill>
            <a:ln w="12700" cap="flat">
              <a:noFill/>
              <a:miter lim="400000"/>
            </a:ln>
            <a:effectLst/>
          </p:spPr>
          <p:txBody>
            <a:bodyPr wrap="square" lIns="45719" tIns="45719" rIns="45719" bIns="45719" numCol="1" anchor="ctr">
              <a:noAutofit/>
            </a:bodyPr>
            <a:lstStyle/>
            <a:p>
              <a:pPr algn="ctr">
                <a:defRPr sz="1100"/>
              </a:pPr>
            </a:p>
          </p:txBody>
        </p:sp>
        <p:sp>
          <p:nvSpPr>
            <p:cNvPr id="142" name="I DO · 3 MIN"/>
            <p:cNvSpPr txBox="1"/>
            <p:nvPr/>
          </p:nvSpPr>
          <p:spPr>
            <a:xfrm>
              <a:off x="42851" y="90677"/>
              <a:ext cx="1538272" cy="147830"/>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lgn="ctr">
                <a:defRPr b="1" spc="120" sz="1100">
                  <a:solidFill>
                    <a:srgbClr val="FFFFFF"/>
                  </a:solidFill>
                  <a:latin typeface="Arial"/>
                  <a:ea typeface="Arial"/>
                  <a:cs typeface="Arial"/>
                  <a:sym typeface="Arial"/>
                </a:defRPr>
              </a:lvl1pPr>
            </a:lstStyle>
            <a:p>
              <a:pPr/>
              <a:r>
                <a:t>I DO · 3 MIN</a:t>
              </a:r>
            </a:p>
          </p:txBody>
        </p:sp>
      </p:grpSp>
      <p:sp>
        <p:nvSpPr>
          <p:cNvPr id="144" name="slide_title"/>
          <p:cNvSpPr txBox="1"/>
          <p:nvPr/>
        </p:nvSpPr>
        <p:spPr>
          <a:xfrm>
            <a:off x="1170432" y="984757"/>
            <a:ext cx="10472623" cy="4445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3000">
                <a:solidFill>
                  <a:srgbClr val="3D2B1F"/>
                </a:solidFill>
                <a:latin typeface="Georgia"/>
                <a:ea typeface="Georgia"/>
                <a:cs typeface="Georgia"/>
                <a:sym typeface="Georgia"/>
              </a:defRPr>
            </a:lvl1pPr>
          </a:lstStyle>
          <a:p>
            <a:pPr/>
            <a:r>
              <a:t>Taking a sustainable amount</a:t>
            </a:r>
          </a:p>
        </p:txBody>
      </p:sp>
      <p:grpSp>
        <p:nvGrpSpPr>
          <p:cNvPr id="147" name="sdef"/>
          <p:cNvGrpSpPr/>
          <p:nvPr/>
        </p:nvGrpSpPr>
        <p:grpSpPr>
          <a:xfrm>
            <a:off x="1170432" y="1920239"/>
            <a:ext cx="10472623" cy="914401"/>
            <a:chOff x="0" y="0"/>
            <a:chExt cx="10472622" cy="914400"/>
          </a:xfrm>
        </p:grpSpPr>
        <p:sp>
          <p:nvSpPr>
            <p:cNvPr id="145" name="sdef_bg"/>
            <p:cNvSpPr/>
            <p:nvPr/>
          </p:nvSpPr>
          <p:spPr>
            <a:xfrm>
              <a:off x="0" y="0"/>
              <a:ext cx="10472623" cy="914400"/>
            </a:xfrm>
            <a:prstGeom prst="roundRect">
              <a:avLst>
                <a:gd name="adj" fmla="val 10000"/>
              </a:avLst>
            </a:prstGeom>
            <a:solidFill>
              <a:srgbClr val="FFFFFF"/>
            </a:solidFill>
            <a:ln w="16510" cap="flat">
              <a:solidFill>
                <a:srgbClr val="D9C9A8"/>
              </a:solidFill>
              <a:prstDash val="solid"/>
              <a:round/>
            </a:ln>
            <a:effectLst/>
          </p:spPr>
          <p:txBody>
            <a:bodyPr wrap="square" lIns="45719" tIns="45719" rIns="45719" bIns="45719" numCol="1" anchor="t">
              <a:noAutofit/>
            </a:bodyPr>
            <a:lstStyle/>
            <a:p>
              <a:pPr/>
            </a:p>
          </p:txBody>
        </p:sp>
        <p:sp>
          <p:nvSpPr>
            <p:cNvPr id="146" name="sdef_t"/>
            <p:cNvSpPr txBox="1"/>
            <p:nvPr/>
          </p:nvSpPr>
          <p:spPr>
            <a:xfrm>
              <a:off x="274319" y="334069"/>
              <a:ext cx="9923984" cy="246262"/>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p>
              <a:pPr>
                <a:lnSpc>
                  <a:spcPts val="2000"/>
                </a:lnSpc>
                <a:defRPr sz="1600">
                  <a:solidFill>
                    <a:srgbClr val="2A1D14"/>
                  </a:solidFill>
                  <a:latin typeface="Arial"/>
                  <a:ea typeface="Arial"/>
                  <a:cs typeface="Arial"/>
                  <a:sym typeface="Arial"/>
                </a:defRPr>
              </a:pPr>
              <a:r>
                <a:t>A sustainable amount is </a:t>
              </a:r>
              <a:r>
                <a:rPr b="1">
                  <a:solidFill>
                    <a:srgbClr val="8F6D2A"/>
                  </a:solidFill>
                </a:rPr>
                <a:t>no more than the resource can naturally replace</a:t>
              </a:r>
              <a:r>
                <a:t>, so the stock does not shrink.</a:t>
              </a:r>
            </a:p>
          </p:txBody>
        </p:sp>
      </p:grpSp>
      <p:grpSp>
        <p:nvGrpSpPr>
          <p:cNvPr id="151" name="calcg"/>
          <p:cNvGrpSpPr/>
          <p:nvPr/>
        </p:nvGrpSpPr>
        <p:grpSpPr>
          <a:xfrm>
            <a:off x="1170432" y="3054095"/>
            <a:ext cx="10472623" cy="1645922"/>
            <a:chOff x="0" y="0"/>
            <a:chExt cx="10472622" cy="1645920"/>
          </a:xfrm>
        </p:grpSpPr>
        <p:sp>
          <p:nvSpPr>
            <p:cNvPr id="148" name="calc_bg"/>
            <p:cNvSpPr/>
            <p:nvPr/>
          </p:nvSpPr>
          <p:spPr>
            <a:xfrm>
              <a:off x="0" y="0"/>
              <a:ext cx="10472623" cy="1645921"/>
            </a:xfrm>
            <a:prstGeom prst="roundRect">
              <a:avLst>
                <a:gd name="adj" fmla="val 5556"/>
              </a:avLst>
            </a:prstGeom>
            <a:solidFill>
              <a:srgbClr val="FFFFFF"/>
            </a:solidFill>
            <a:ln w="16510" cap="flat">
              <a:solidFill>
                <a:srgbClr val="D9C9A8"/>
              </a:solidFill>
              <a:prstDash val="solid"/>
              <a:round/>
            </a:ln>
            <a:effectLst/>
          </p:spPr>
          <p:txBody>
            <a:bodyPr wrap="square" lIns="45719" tIns="45719" rIns="45719" bIns="45719" numCol="1" anchor="t">
              <a:noAutofit/>
            </a:bodyPr>
            <a:lstStyle/>
            <a:p>
              <a:pPr/>
            </a:p>
          </p:txBody>
        </p:sp>
        <p:sp>
          <p:nvSpPr>
            <p:cNvPr id="149" name="calc_h"/>
            <p:cNvSpPr txBox="1"/>
            <p:nvPr/>
          </p:nvSpPr>
          <p:spPr>
            <a:xfrm>
              <a:off x="237743" y="206502"/>
              <a:ext cx="9997137" cy="1905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defRPr b="1" spc="100" sz="1300">
                  <a:solidFill>
                    <a:srgbClr val="3D2B1F"/>
                  </a:solidFill>
                  <a:latin typeface="Georgia"/>
                  <a:ea typeface="Georgia"/>
                  <a:cs typeface="Georgia"/>
                  <a:sym typeface="Georgia"/>
                </a:defRPr>
              </a:lvl1pPr>
            </a:lstStyle>
            <a:p>
              <a:pPr/>
              <a:r>
                <a:t>A WORKED EXAMPLE</a:t>
              </a:r>
            </a:p>
          </p:txBody>
        </p:sp>
        <p:sp>
          <p:nvSpPr>
            <p:cNvPr id="150" name="calc_t"/>
            <p:cNvSpPr txBox="1"/>
            <p:nvPr/>
          </p:nvSpPr>
          <p:spPr>
            <a:xfrm>
              <a:off x="237743" y="512064"/>
              <a:ext cx="9997137" cy="791908"/>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t">
              <a:spAutoFit/>
            </a:bodyPr>
            <a:lstStyle/>
            <a:p>
              <a:pPr marL="342900" indent="-342900">
                <a:lnSpc>
                  <a:spcPts val="1700"/>
                </a:lnSpc>
                <a:spcBef>
                  <a:spcPts val="600"/>
                </a:spcBef>
                <a:buSzPct val="100000"/>
                <a:buChar char="•"/>
                <a:defRPr sz="1300">
                  <a:solidFill>
                    <a:srgbClr val="2A1D14"/>
                  </a:solidFill>
                  <a:latin typeface="Arial"/>
                  <a:ea typeface="Arial"/>
                  <a:cs typeface="Arial"/>
                  <a:sym typeface="Arial"/>
                </a:defRPr>
              </a:pPr>
              <a:r>
                <a:t>A fish stock of 200,000 tonnes grows by 10% a year.</a:t>
              </a:r>
            </a:p>
            <a:p>
              <a:pPr marL="342900" indent="-342900">
                <a:lnSpc>
                  <a:spcPts val="1700"/>
                </a:lnSpc>
                <a:spcBef>
                  <a:spcPts val="600"/>
                </a:spcBef>
                <a:buSzPct val="100000"/>
                <a:buChar char="•"/>
                <a:defRPr b="1" sz="1300">
                  <a:solidFill>
                    <a:srgbClr val="2A1D14"/>
                  </a:solidFill>
                  <a:latin typeface="Arial"/>
                  <a:ea typeface="Arial"/>
                  <a:cs typeface="Arial"/>
                  <a:sym typeface="Arial"/>
                </a:defRPr>
              </a:pPr>
              <a:r>
                <a:t>Maximum sustainable catch: 200,000 × 10 ÷ 100 = 20,000 tonnes a year.</a:t>
              </a:r>
            </a:p>
            <a:p>
              <a:pPr marL="342900" indent="-342900">
                <a:lnSpc>
                  <a:spcPts val="1700"/>
                </a:lnSpc>
                <a:buSzPct val="100000"/>
                <a:buChar char="•"/>
                <a:defRPr sz="1300">
                  <a:solidFill>
                    <a:srgbClr val="2A1D14"/>
                  </a:solidFill>
                  <a:latin typeface="Arial"/>
                  <a:ea typeface="Arial"/>
                  <a:cs typeface="Arial"/>
                  <a:sym typeface="Arial"/>
                </a:defRPr>
              </a:pPr>
              <a:r>
                <a:t>Catch exactly that much, and the stock stays 200,000 tonnes, year after year.</a:t>
              </a:r>
            </a:p>
          </p:txBody>
        </p:sp>
      </p:grpSp>
    </p:spTree>
  </p:cSld>
  <p:clrMapOvr>
    <a:masterClrMapping/>
  </p:clrMapOvr>
  <mc:AlternateContent xmlns:mc="http://schemas.openxmlformats.org/markup-compatibility/2006">
    <mc:Choice xmlns:p14="http://schemas.microsoft.com/office/powerpoint/2010/main" Requires="p14">
      <p:transition spd="med" advClick="1" p14:dur="1000">
        <p:fade/>
      </p:transition>
    </mc:Choice>
    <mc:Fallback>
      <p:transition spd="med">
        <p:fade/>
      </p:transition>
    </mc:Fallback>
  </mc:AlternateContent>
  <p:timing>
    <p:tnLst>
      <p:par>
        <p:cTn id="1" nodeType="tmRoot" restart="never" dur="indefinite" fill="hold">
          <p:childTnLst>
            <p:seq concurrent="1" prevAc="none" nextAc="seek">
              <p:cTn id="2" nodeType="mainSeq" dur="indefinite" fill="hold">
                <p:childTnLst>
                  <p:par>
                    <p:cTn id="3" fill="hold">
                      <p:stCondLst>
                        <p:cond delay="indefinite"/>
                        <p:cond evt="onBegin">
                          <p:tn val="2"/>
                        </p:cond>
                      </p:stCondLst>
                      <p:childTnLst>
                        <p:par>
                          <p:cTn id="4" fill="hold">
                            <p:stCondLst>
                              <p:cond delay="0"/>
                            </p:stCondLst>
                            <p:childTnLst>
                              <p:par>
                                <p:cTn id="5" presetClass="mediacall" nodeType="afterEffect" presetSubtype="0" presetID="1" grpId="1" fill="hold">
                                  <p:stCondLst>
                                    <p:cond delay="0"/>
                                  </p:stCondLst>
                                  <p:childTnLst>
                                    <p:cmd type="call" cmd="playFrom(0.0)">
                                      <p:cBhvr>
                                        <p:cTn id="6" dur="180000" fill="hold"/>
                                        <p:tgtEl>
                                          <p:spTgt spid="140"/>
                                        </p:tgtEl>
                                      </p:cBhvr>
                                    </p:cmd>
                                  </p:childTnLst>
                                </p:cTn>
                              </p:par>
                            </p:childTnLst>
                          </p:cTn>
                        </p:par>
                      </p:childTnLst>
                    </p:cTn>
                  </p:par>
                  <p:par>
                    <p:cTn id="7" fill="hold">
                      <p:stCondLst>
                        <p:cond delay="indefinite"/>
                      </p:stCondLst>
                      <p:childTnLst>
                        <p:par>
                          <p:cTn id="8" fill="hold">
                            <p:stCondLst>
                              <p:cond delay="0"/>
                            </p:stCondLst>
                            <p:childTnLst>
                              <p:par>
                                <p:cTn id="9" presetClass="entr" nodeType="clickEffect" presetID="10" grpId="2" fill="hold">
                                  <p:stCondLst>
                                    <p:cond delay="0"/>
                                  </p:stCondLst>
                                  <p:iterate type="el" backwards="0">
                                    <p:tmAbs val="0"/>
                                  </p:iterate>
                                  <p:childTnLst>
                                    <p:set>
                                      <p:cBhvr>
                                        <p:cTn id="10" fill="hold"/>
                                        <p:tgtEl>
                                          <p:spTgt spid="147"/>
                                        </p:tgtEl>
                                        <p:attrNameLst>
                                          <p:attrName>style.visibility</p:attrName>
                                        </p:attrNameLst>
                                      </p:cBhvr>
                                      <p:to>
                                        <p:strVal val="visible"/>
                                      </p:to>
                                    </p:set>
                                    <p:animEffect filter="fade" transition="in">
                                      <p:cBhvr>
                                        <p:cTn id="11" dur="400"/>
                                        <p:tgtEl>
                                          <p:spTgt spid="147"/>
                                        </p:tgtEl>
                                      </p:cBhvr>
                                    </p:animEffect>
                                  </p:childTnLst>
                                </p:cTn>
                              </p:par>
                            </p:childTnLst>
                          </p:cTn>
                        </p:par>
                      </p:childTnLst>
                    </p:cTn>
                  </p:par>
                  <p:par>
                    <p:cTn id="12" fill="hold">
                      <p:stCondLst>
                        <p:cond delay="indefinite"/>
                      </p:stCondLst>
                      <p:childTnLst>
                        <p:par>
                          <p:cTn id="13" fill="hold">
                            <p:stCondLst>
                              <p:cond delay="0"/>
                            </p:stCondLst>
                            <p:childTnLst>
                              <p:par>
                                <p:cTn id="14" presetClass="entr" nodeType="clickEffect" presetID="10" grpId="3" fill="hold">
                                  <p:stCondLst>
                                    <p:cond delay="0"/>
                                  </p:stCondLst>
                                  <p:iterate type="el" backwards="0">
                                    <p:tmAbs val="0"/>
                                  </p:iterate>
                                  <p:childTnLst>
                                    <p:set>
                                      <p:cBhvr>
                                        <p:cTn id="15" fill="hold"/>
                                        <p:tgtEl>
                                          <p:spTgt spid="151"/>
                                        </p:tgtEl>
                                        <p:attrNameLst>
                                          <p:attrName>style.visibility</p:attrName>
                                        </p:attrNameLst>
                                      </p:cBhvr>
                                      <p:to>
                                        <p:strVal val="visible"/>
                                      </p:to>
                                    </p:set>
                                    <p:animEffect filter="fade" transition="in">
                                      <p:cBhvr>
                                        <p:cTn id="16" dur="400"/>
                                        <p:tgtEl>
                                          <p:spTgt spid="151"/>
                                        </p:tgtEl>
                                      </p:cBhvr>
                                    </p:animEffect>
                                  </p:childTnLst>
                                </p:cTn>
                              </p:par>
                            </p:childTnLst>
                          </p:cTn>
                        </p:par>
                      </p:childTnLst>
                    </p:cTn>
                  </p:par>
                </p:childTnLst>
              </p:cTn>
              <p:prevCondLst>
                <p:cond evt="onPrev">
                  <p:tgtEl>
                    <p:sldTgt/>
                  </p:tgtEl>
                </p:cond>
              </p:prevCondLst>
              <p:nextCondLst>
                <p:cond evt="onNext">
                  <p:tgtEl>
                    <p:sldTgt/>
                  </p:tgtEl>
                </p:cond>
              </p:nextCondLst>
            </p:seq>
            <p:video fullScrn="0">
              <p:cMediaNode mute="0" showWhenStopped="1" numSld="1" vol="0">
                <p:cTn id="17" fill="hold" display="0">
                  <p:stCondLst>
                    <p:cond delay="indefinite"/>
                  </p:stCondLst>
                </p:cTn>
                <p:tgtEl>
                  <p:spTgt spid="140"/>
                </p:tgtEl>
              </p:cMediaNode>
            </p:video>
            <p:seq concurrent="1" prevAc="none" nextAc="seek">
              <p:cTn id="18" evtFilter="cancelBubble" nodeType="interactiveSeq" restart="whenNotActive" fill="hold">
                <p:stCondLst>
                  <p:cond delay="0" evt="onClick">
                    <p:tgtEl>
                      <p:spTgt spid="140"/>
                    </p:tgtEl>
                  </p:cond>
                </p:stCondLst>
                <p:endSync delay="0" evt="end">
                  <p:rtn val="all"/>
                </p:endSync>
                <p:childTnLst>
                  <p:par>
                    <p:cTn id="19" fill="hold">
                      <p:stCondLst>
                        <p:cond delay="0"/>
                      </p:stCondLst>
                      <p:childTnLst>
                        <p:par>
                          <p:cTn id="20" fill="hold">
                            <p:stCondLst>
                              <p:cond delay="0"/>
                            </p:stCondLst>
                            <p:childTnLst>
                              <p:par>
                                <p:cTn id="21" presetClass="mediacall" nodeType="clickEffect" presetSubtype="0" presetID="2" fill="hold">
                                  <p:stCondLst>
                                    <p:cond delay="0"/>
                                  </p:stCondLst>
                                  <p:childTnLst>
                                    <p:cmd type="call" cmd="togglePause">
                                      <p:cBhvr>
                                        <p:cTn id="22" dur="1" fill="hold"/>
                                        <p:tgtEl>
                                          <p:spTgt spid="140"/>
                                        </p:tgtEl>
                                      </p:cBhvr>
                                    </p:cmd>
                                  </p:childTnLst>
                                </p:cTn>
                              </p:par>
                            </p:childTnLst>
                          </p:cTn>
                        </p:par>
                      </p:childTnLst>
                    </p:cTn>
                  </p:par>
                </p:childTnLst>
              </p:cTn>
              <p:nextCondLst>
                <p:cond delay="0" evt="onClick">
                  <p:tgtEl>
                    <p:spTgt spid="140"/>
                  </p:tgtEl>
                </p:cond>
              </p:nextCondLst>
            </p:seq>
          </p:childTnLst>
        </p:cTn>
      </p:par>
    </p:tnLst>
    <p:bldLst>
      <p:bldP build="whole" bldLvl="1" animBg="1" rev="0" advAuto="0" spid="147" grpId="2"/>
      <p:bldP build="whole" bldLvl="1" animBg="1" rev="0" advAuto="0" spid="151" grpId="3"/>
    </p:bldLst>
  </p:timing>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0" showMasterSp="1" showMasterPhAnim="1">
  <p:cSld>
    <p:bg>
      <p:bgPr>
        <a:solidFill>
          <a:srgbClr val="F2EBDD"/>
        </a:solidFill>
      </p:bgPr>
    </p:bg>
    <p:spTree>
      <p:nvGrpSpPr>
        <p:cNvPr id="1" name=""/>
        <p:cNvGrpSpPr/>
        <p:nvPr/>
      </p:nvGrpSpPr>
      <p:grpSpPr>
        <a:xfrm>
          <a:off x="0" y="0"/>
          <a:ext cx="0" cy="0"/>
          <a:chOff x="0" y="0"/>
          <a:chExt cx="0" cy="0"/>
        </a:xfrm>
      </p:grpSpPr>
      <p:pic>
        <p:nvPicPr>
          <p:cNvPr id="155" name="timer_video" descr="timer_video"/>
          <p:cNvPicPr>
            <a:picLocks noChangeAspect="0"/>
          </p:cNvPicPr>
          <p:nvPr>
            <a:videoFile r:link="rId3"/>
            <p:extLst>
              <p:ext uri="{DAA4B4D4-6D71-4841-9C94-3DE7FCFB9230}">
                <p14:media xmlns:p14="http://schemas.microsoft.com/office/powerpoint/2010/main" r:embed="rId4"/>
              </p:ext>
            </p:extLst>
          </p:nvPr>
        </p:nvPicPr>
        <p:blipFill>
          <a:blip r:embed="rId5">
            <a:extLst/>
          </a:blip>
          <a:stretch>
            <a:fillRect/>
          </a:stretch>
        </p:blipFill>
        <p:spPr>
          <a:xfrm>
            <a:off x="310895" y="310895"/>
            <a:ext cx="457201" cy="6236210"/>
          </a:xfrm>
          <a:prstGeom prst="rect">
            <a:avLst/>
          </a:prstGeom>
          <a:ln w="12700">
            <a:miter lim="400000"/>
          </a:ln>
        </p:spPr>
      </p:pic>
      <p:grpSp>
        <p:nvGrpSpPr>
          <p:cNvPr id="158" name="phase_pill"/>
          <p:cNvGrpSpPr/>
          <p:nvPr/>
        </p:nvGrpSpPr>
        <p:grpSpPr>
          <a:xfrm>
            <a:off x="1170432" y="310895"/>
            <a:ext cx="1713586" cy="329185"/>
            <a:chOff x="0" y="0"/>
            <a:chExt cx="1713585" cy="329184"/>
          </a:xfrm>
        </p:grpSpPr>
        <p:sp>
          <p:nvSpPr>
            <p:cNvPr id="156" name="Rounded Rectangle"/>
            <p:cNvSpPr/>
            <p:nvPr/>
          </p:nvSpPr>
          <p:spPr>
            <a:xfrm>
              <a:off x="0" y="0"/>
              <a:ext cx="1713586" cy="329185"/>
            </a:xfrm>
            <a:prstGeom prst="roundRect">
              <a:avLst>
                <a:gd name="adj" fmla="val 44444"/>
              </a:avLst>
            </a:prstGeom>
            <a:solidFill>
              <a:srgbClr val="3D2B1F"/>
            </a:solidFill>
            <a:ln w="12700" cap="flat">
              <a:noFill/>
              <a:miter lim="400000"/>
            </a:ln>
            <a:effectLst/>
          </p:spPr>
          <p:txBody>
            <a:bodyPr wrap="square" lIns="45719" tIns="45719" rIns="45719" bIns="45719" numCol="1" anchor="ctr">
              <a:noAutofit/>
            </a:bodyPr>
            <a:lstStyle/>
            <a:p>
              <a:pPr algn="ctr">
                <a:defRPr sz="1100"/>
              </a:pPr>
            </a:p>
          </p:txBody>
        </p:sp>
        <p:sp>
          <p:nvSpPr>
            <p:cNvPr id="157" name="WE DO · 5 MIN"/>
            <p:cNvSpPr txBox="1"/>
            <p:nvPr/>
          </p:nvSpPr>
          <p:spPr>
            <a:xfrm>
              <a:off x="42850" y="90677"/>
              <a:ext cx="1627885" cy="147830"/>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lgn="ctr">
                <a:defRPr b="1" spc="120" sz="1100">
                  <a:solidFill>
                    <a:srgbClr val="FFFFFF"/>
                  </a:solidFill>
                  <a:latin typeface="Arial"/>
                  <a:ea typeface="Arial"/>
                  <a:cs typeface="Arial"/>
                  <a:sym typeface="Arial"/>
                </a:defRPr>
              </a:lvl1pPr>
            </a:lstStyle>
            <a:p>
              <a:pPr/>
              <a:r>
                <a:t>WE DO · 5 MIN</a:t>
              </a:r>
            </a:p>
          </p:txBody>
        </p:sp>
      </p:grpSp>
      <p:sp>
        <p:nvSpPr>
          <p:cNvPr id="159" name="slide_title"/>
          <p:cNvSpPr txBox="1"/>
          <p:nvPr/>
        </p:nvSpPr>
        <p:spPr>
          <a:xfrm>
            <a:off x="1170432" y="984757"/>
            <a:ext cx="10472623" cy="4445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3000">
                <a:solidFill>
                  <a:srgbClr val="3D2B1F"/>
                </a:solidFill>
                <a:latin typeface="Georgia"/>
                <a:ea typeface="Georgia"/>
                <a:cs typeface="Georgia"/>
                <a:sym typeface="Georgia"/>
              </a:defRPr>
            </a:lvl1pPr>
          </a:lstStyle>
          <a:p>
            <a:pPr/>
            <a:r>
              <a:t>What should be the correct answer?</a:t>
            </a:r>
          </a:p>
        </p:txBody>
      </p:sp>
      <p:sp>
        <p:nvSpPr>
          <p:cNvPr id="160" name="slide_sub"/>
          <p:cNvSpPr txBox="1"/>
          <p:nvPr/>
        </p:nvSpPr>
        <p:spPr>
          <a:xfrm>
            <a:off x="1170432" y="1644671"/>
            <a:ext cx="10472623" cy="22195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600">
                <a:solidFill>
                  <a:srgbClr val="6B5A48"/>
                </a:solidFill>
                <a:latin typeface="Arial"/>
                <a:ea typeface="Arial"/>
                <a:cs typeface="Arial"/>
                <a:sym typeface="Arial"/>
              </a:defRPr>
            </a:lvl1pPr>
          </a:lstStyle>
          <a:p>
            <a:pPr/>
            <a:r>
              <a:t>Spot the mistake.</a:t>
            </a:r>
          </a:p>
        </p:txBody>
      </p:sp>
      <p:sp>
        <p:nvSpPr>
          <p:cNvPr id="161" name="wd0_bg"/>
          <p:cNvSpPr/>
          <p:nvPr/>
        </p:nvSpPr>
        <p:spPr>
          <a:xfrm>
            <a:off x="1170432" y="2322576"/>
            <a:ext cx="10472623" cy="841249"/>
          </a:xfrm>
          <a:prstGeom prst="roundRect">
            <a:avLst>
              <a:gd name="adj" fmla="val 10870"/>
            </a:avLst>
          </a:prstGeom>
          <a:solidFill>
            <a:srgbClr val="FFFFFF"/>
          </a:solidFill>
          <a:ln w="16510">
            <a:solidFill>
              <a:srgbClr val="D9C9A8"/>
            </a:solidFill>
          </a:ln>
        </p:spPr>
        <p:txBody>
          <a:bodyPr lIns="45719" rIns="45719"/>
          <a:lstStyle/>
          <a:p>
            <a:pPr/>
          </a:p>
        </p:txBody>
      </p:sp>
      <p:sp>
        <p:nvSpPr>
          <p:cNvPr id="162" name="wd0_q"/>
          <p:cNvSpPr txBox="1"/>
          <p:nvPr/>
        </p:nvSpPr>
        <p:spPr>
          <a:xfrm>
            <a:off x="1426463" y="2626495"/>
            <a:ext cx="5120642" cy="23341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nSpc>
                <a:spcPts val="1900"/>
              </a:lnSpc>
              <a:defRPr sz="1500">
                <a:solidFill>
                  <a:srgbClr val="2A1D14"/>
                </a:solidFill>
                <a:latin typeface="Arial"/>
                <a:ea typeface="Arial"/>
                <a:cs typeface="Arial"/>
                <a:sym typeface="Arial"/>
              </a:defRPr>
            </a:lvl1pPr>
          </a:lstStyle>
          <a:p>
            <a:pPr/>
            <a:r>
              <a:t>"Conservation means never using a resource at all."</a:t>
            </a:r>
          </a:p>
        </p:txBody>
      </p:sp>
      <p:grpSp>
        <p:nvGrpSpPr>
          <p:cNvPr id="165" name="wd0_a"/>
          <p:cNvGrpSpPr/>
          <p:nvPr/>
        </p:nvGrpSpPr>
        <p:grpSpPr>
          <a:xfrm>
            <a:off x="6748271" y="2404872"/>
            <a:ext cx="4803344" cy="676656"/>
            <a:chOff x="0" y="0"/>
            <a:chExt cx="4803342" cy="676655"/>
          </a:xfrm>
        </p:grpSpPr>
        <p:sp>
          <p:nvSpPr>
            <p:cNvPr id="163" name="Rounded Rectangle"/>
            <p:cNvSpPr/>
            <p:nvPr/>
          </p:nvSpPr>
          <p:spPr>
            <a:xfrm>
              <a:off x="0" y="0"/>
              <a:ext cx="4803343" cy="676656"/>
            </a:xfrm>
            <a:prstGeom prst="roundRect">
              <a:avLst>
                <a:gd name="adj" fmla="val 13514"/>
              </a:avLst>
            </a:prstGeom>
            <a:solidFill>
              <a:srgbClr val="ECE1CB"/>
            </a:solidFill>
            <a:ln w="19050" cap="flat">
              <a:solidFill>
                <a:srgbClr val="B5482E"/>
              </a:solidFill>
              <a:prstDash val="solid"/>
              <a:round/>
            </a:ln>
            <a:effectLst/>
          </p:spPr>
          <p:txBody>
            <a:bodyPr wrap="square" lIns="45719" tIns="45719" rIns="45719" bIns="45719" numCol="1" anchor="ctr">
              <a:noAutofit/>
            </a:bodyPr>
            <a:lstStyle/>
            <a:p>
              <a:pPr algn="ctr">
                <a:defRPr sz="1200"/>
              </a:pPr>
            </a:p>
          </p:txBody>
        </p:sp>
        <p:sp>
          <p:nvSpPr>
            <p:cNvPr id="164" name="Conservation means using it carefully, so it lasts, not avoiding it completely."/>
            <p:cNvSpPr txBox="1"/>
            <p:nvPr/>
          </p:nvSpPr>
          <p:spPr>
            <a:xfrm>
              <a:off x="36307" y="162258"/>
              <a:ext cx="4730729" cy="352140"/>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761" tIns="761" rIns="761" bIns="761" numCol="1" anchor="ctr">
              <a:spAutoFit/>
            </a:bodyPr>
            <a:lstStyle>
              <a:lvl1pPr algn="ctr">
                <a:defRPr b="1" sz="1200">
                  <a:solidFill>
                    <a:srgbClr val="3D2B1F"/>
                  </a:solidFill>
                  <a:latin typeface="Arial"/>
                  <a:ea typeface="Arial"/>
                  <a:cs typeface="Arial"/>
                  <a:sym typeface="Arial"/>
                </a:defRPr>
              </a:lvl1pPr>
            </a:lstStyle>
            <a:p>
              <a:pPr/>
              <a:r>
                <a:t>Conservation means using it carefully, so it lasts, not avoiding it completely.</a:t>
              </a:r>
            </a:p>
          </p:txBody>
        </p:sp>
      </p:grpSp>
      <p:sp>
        <p:nvSpPr>
          <p:cNvPr id="166" name="wd1_bg"/>
          <p:cNvSpPr/>
          <p:nvPr/>
        </p:nvSpPr>
        <p:spPr>
          <a:xfrm>
            <a:off x="1170432" y="3346703"/>
            <a:ext cx="10472623" cy="841249"/>
          </a:xfrm>
          <a:prstGeom prst="roundRect">
            <a:avLst>
              <a:gd name="adj" fmla="val 10870"/>
            </a:avLst>
          </a:prstGeom>
          <a:solidFill>
            <a:srgbClr val="FFFFFF"/>
          </a:solidFill>
          <a:ln w="16510">
            <a:solidFill>
              <a:srgbClr val="D9C9A8"/>
            </a:solidFill>
          </a:ln>
        </p:spPr>
        <p:txBody>
          <a:bodyPr lIns="45719" rIns="45719"/>
          <a:lstStyle/>
          <a:p>
            <a:pPr/>
          </a:p>
        </p:txBody>
      </p:sp>
      <p:sp>
        <p:nvSpPr>
          <p:cNvPr id="167" name="wd1_q"/>
          <p:cNvSpPr txBox="1"/>
          <p:nvPr/>
        </p:nvSpPr>
        <p:spPr>
          <a:xfrm>
            <a:off x="1426463" y="3529973"/>
            <a:ext cx="5120642" cy="47471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nSpc>
                <a:spcPts val="1900"/>
              </a:lnSpc>
              <a:defRPr sz="1500">
                <a:solidFill>
                  <a:srgbClr val="2A1D14"/>
                </a:solidFill>
                <a:latin typeface="Arial"/>
                <a:ea typeface="Arial"/>
                <a:cs typeface="Arial"/>
                <a:sym typeface="Arial"/>
              </a:defRPr>
            </a:lvl1pPr>
          </a:lstStyle>
          <a:p>
            <a:pPr/>
            <a:r>
              <a:t>"A forest cut at exactly its regrowth rate is not sustainable, because trees are still being cut down."</a:t>
            </a:r>
          </a:p>
        </p:txBody>
      </p:sp>
      <p:grpSp>
        <p:nvGrpSpPr>
          <p:cNvPr id="170" name="wd1_a"/>
          <p:cNvGrpSpPr/>
          <p:nvPr/>
        </p:nvGrpSpPr>
        <p:grpSpPr>
          <a:xfrm>
            <a:off x="6748271" y="3429000"/>
            <a:ext cx="4803344" cy="676656"/>
            <a:chOff x="0" y="0"/>
            <a:chExt cx="4803342" cy="676655"/>
          </a:xfrm>
        </p:grpSpPr>
        <p:sp>
          <p:nvSpPr>
            <p:cNvPr id="168" name="Rounded Rectangle"/>
            <p:cNvSpPr/>
            <p:nvPr/>
          </p:nvSpPr>
          <p:spPr>
            <a:xfrm>
              <a:off x="0" y="0"/>
              <a:ext cx="4803343" cy="676656"/>
            </a:xfrm>
            <a:prstGeom prst="roundRect">
              <a:avLst>
                <a:gd name="adj" fmla="val 13514"/>
              </a:avLst>
            </a:prstGeom>
            <a:solidFill>
              <a:srgbClr val="ECE1CB"/>
            </a:solidFill>
            <a:ln w="19050" cap="flat">
              <a:solidFill>
                <a:srgbClr val="B5482E"/>
              </a:solidFill>
              <a:prstDash val="solid"/>
              <a:round/>
            </a:ln>
            <a:effectLst/>
          </p:spPr>
          <p:txBody>
            <a:bodyPr wrap="square" lIns="45719" tIns="45719" rIns="45719" bIns="45719" numCol="1" anchor="ctr">
              <a:noAutofit/>
            </a:bodyPr>
            <a:lstStyle/>
            <a:p>
              <a:pPr algn="ctr">
                <a:defRPr sz="1200"/>
              </a:pPr>
            </a:p>
          </p:txBody>
        </p:sp>
        <p:sp>
          <p:nvSpPr>
            <p:cNvPr id="169" name="It is sustainable. The forest stays the same size, year after year."/>
            <p:cNvSpPr txBox="1"/>
            <p:nvPr/>
          </p:nvSpPr>
          <p:spPr>
            <a:xfrm>
              <a:off x="36307" y="251158"/>
              <a:ext cx="4730729" cy="174340"/>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761" tIns="761" rIns="761" bIns="761" numCol="1" anchor="ctr">
              <a:spAutoFit/>
            </a:bodyPr>
            <a:lstStyle>
              <a:lvl1pPr algn="ctr">
                <a:defRPr b="1" sz="1200">
                  <a:solidFill>
                    <a:srgbClr val="3D2B1F"/>
                  </a:solidFill>
                  <a:latin typeface="Arial"/>
                  <a:ea typeface="Arial"/>
                  <a:cs typeface="Arial"/>
                  <a:sym typeface="Arial"/>
                </a:defRPr>
              </a:lvl1pPr>
            </a:lstStyle>
            <a:p>
              <a:pPr/>
              <a:r>
                <a:t>It is sustainable. The forest stays the same size, year after year.</a:t>
              </a:r>
            </a:p>
          </p:txBody>
        </p:sp>
      </p:grpSp>
      <p:sp>
        <p:nvSpPr>
          <p:cNvPr id="171" name="wd2_bg"/>
          <p:cNvSpPr/>
          <p:nvPr/>
        </p:nvSpPr>
        <p:spPr>
          <a:xfrm>
            <a:off x="1170432" y="4370832"/>
            <a:ext cx="10472623" cy="841249"/>
          </a:xfrm>
          <a:prstGeom prst="roundRect">
            <a:avLst>
              <a:gd name="adj" fmla="val 10870"/>
            </a:avLst>
          </a:prstGeom>
          <a:solidFill>
            <a:srgbClr val="FFFFFF"/>
          </a:solidFill>
          <a:ln w="16510">
            <a:solidFill>
              <a:srgbClr val="D9C9A8"/>
            </a:solidFill>
          </a:ln>
        </p:spPr>
        <p:txBody>
          <a:bodyPr lIns="45719" rIns="45719"/>
          <a:lstStyle/>
          <a:p>
            <a:pPr/>
          </a:p>
        </p:txBody>
      </p:sp>
      <p:sp>
        <p:nvSpPr>
          <p:cNvPr id="172" name="wd2_q"/>
          <p:cNvSpPr txBox="1"/>
          <p:nvPr/>
        </p:nvSpPr>
        <p:spPr>
          <a:xfrm>
            <a:off x="1426463" y="4554101"/>
            <a:ext cx="5120642" cy="47471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nSpc>
                <a:spcPts val="1900"/>
              </a:lnSpc>
              <a:defRPr sz="1500">
                <a:solidFill>
                  <a:srgbClr val="2A1D14"/>
                </a:solidFill>
                <a:latin typeface="Arial"/>
                <a:ea typeface="Arial"/>
                <a:cs typeface="Arial"/>
                <a:sym typeface="Arial"/>
              </a:defRPr>
            </a:lvl1pPr>
          </a:lstStyle>
          <a:p>
            <a:pPr/>
            <a:r>
              <a:t>"Recycling is not resource management, because it does not stop a resource running out."</a:t>
            </a:r>
          </a:p>
        </p:txBody>
      </p:sp>
      <p:grpSp>
        <p:nvGrpSpPr>
          <p:cNvPr id="175" name="wd2_a"/>
          <p:cNvGrpSpPr/>
          <p:nvPr/>
        </p:nvGrpSpPr>
        <p:grpSpPr>
          <a:xfrm>
            <a:off x="6748271" y="4453128"/>
            <a:ext cx="4803344" cy="676657"/>
            <a:chOff x="0" y="0"/>
            <a:chExt cx="4803342" cy="676655"/>
          </a:xfrm>
        </p:grpSpPr>
        <p:sp>
          <p:nvSpPr>
            <p:cNvPr id="173" name="Rounded Rectangle"/>
            <p:cNvSpPr/>
            <p:nvPr/>
          </p:nvSpPr>
          <p:spPr>
            <a:xfrm>
              <a:off x="0" y="0"/>
              <a:ext cx="4803343" cy="676656"/>
            </a:xfrm>
            <a:prstGeom prst="roundRect">
              <a:avLst>
                <a:gd name="adj" fmla="val 13514"/>
              </a:avLst>
            </a:prstGeom>
            <a:solidFill>
              <a:srgbClr val="ECE1CB"/>
            </a:solidFill>
            <a:ln w="19050" cap="flat">
              <a:solidFill>
                <a:srgbClr val="B5482E"/>
              </a:solidFill>
              <a:prstDash val="solid"/>
              <a:round/>
            </a:ln>
            <a:effectLst/>
          </p:spPr>
          <p:txBody>
            <a:bodyPr wrap="square" lIns="45719" tIns="45719" rIns="45719" bIns="45719" numCol="1" anchor="ctr">
              <a:noAutofit/>
            </a:bodyPr>
            <a:lstStyle/>
            <a:p>
              <a:pPr algn="ctr">
                <a:defRPr sz="1200"/>
              </a:pPr>
            </a:p>
          </p:txBody>
        </p:sp>
        <p:sp>
          <p:nvSpPr>
            <p:cNvPr id="174" name="Recycling IS management. It cuts how much new, often non-renewable, material is needed."/>
            <p:cNvSpPr txBox="1"/>
            <p:nvPr/>
          </p:nvSpPr>
          <p:spPr>
            <a:xfrm>
              <a:off x="36307" y="162258"/>
              <a:ext cx="4730729" cy="352140"/>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761" tIns="761" rIns="761" bIns="761" numCol="1" anchor="ctr">
              <a:spAutoFit/>
            </a:bodyPr>
            <a:lstStyle>
              <a:lvl1pPr algn="ctr">
                <a:defRPr b="1" sz="1200">
                  <a:solidFill>
                    <a:srgbClr val="3D2B1F"/>
                  </a:solidFill>
                  <a:latin typeface="Arial"/>
                  <a:ea typeface="Arial"/>
                  <a:cs typeface="Arial"/>
                  <a:sym typeface="Arial"/>
                </a:defRPr>
              </a:lvl1pPr>
            </a:lstStyle>
            <a:p>
              <a:pPr/>
              <a:r>
                <a:t>Recycling IS management. It cuts how much new, often non-renewable, material is needed.</a:t>
              </a:r>
            </a:p>
          </p:txBody>
        </p:sp>
      </p:grpSp>
      <p:sp>
        <p:nvSpPr>
          <p:cNvPr id="176" name="wd3_bg"/>
          <p:cNvSpPr/>
          <p:nvPr/>
        </p:nvSpPr>
        <p:spPr>
          <a:xfrm>
            <a:off x="1170432" y="5394959"/>
            <a:ext cx="10472623" cy="841249"/>
          </a:xfrm>
          <a:prstGeom prst="roundRect">
            <a:avLst>
              <a:gd name="adj" fmla="val 10870"/>
            </a:avLst>
          </a:prstGeom>
          <a:solidFill>
            <a:srgbClr val="FFFFFF"/>
          </a:solidFill>
          <a:ln w="16510">
            <a:solidFill>
              <a:srgbClr val="D9C9A8"/>
            </a:solidFill>
          </a:ln>
        </p:spPr>
        <p:txBody>
          <a:bodyPr lIns="45719" rIns="45719"/>
          <a:lstStyle/>
          <a:p>
            <a:pPr/>
          </a:p>
        </p:txBody>
      </p:sp>
      <p:sp>
        <p:nvSpPr>
          <p:cNvPr id="177" name="wd3_q"/>
          <p:cNvSpPr txBox="1"/>
          <p:nvPr/>
        </p:nvSpPr>
        <p:spPr>
          <a:xfrm>
            <a:off x="1426463" y="5578229"/>
            <a:ext cx="5120642" cy="47471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nSpc>
                <a:spcPts val="1900"/>
              </a:lnSpc>
              <a:defRPr sz="1500">
                <a:solidFill>
                  <a:srgbClr val="2A1D14"/>
                </a:solidFill>
                <a:latin typeface="Arial"/>
                <a:ea typeface="Arial"/>
                <a:cs typeface="Arial"/>
                <a:sym typeface="Arial"/>
              </a:defRPr>
            </a:lvl1pPr>
          </a:lstStyle>
          <a:p>
            <a:pPr/>
            <a:r>
              <a:t>"Once a resource has collapsed, like cod, conservation can never help."</a:t>
            </a:r>
          </a:p>
        </p:txBody>
      </p:sp>
      <p:grpSp>
        <p:nvGrpSpPr>
          <p:cNvPr id="180" name="wd3_a"/>
          <p:cNvGrpSpPr/>
          <p:nvPr/>
        </p:nvGrpSpPr>
        <p:grpSpPr>
          <a:xfrm>
            <a:off x="6748271" y="5477255"/>
            <a:ext cx="4803344" cy="676657"/>
            <a:chOff x="0" y="0"/>
            <a:chExt cx="4803342" cy="676655"/>
          </a:xfrm>
        </p:grpSpPr>
        <p:sp>
          <p:nvSpPr>
            <p:cNvPr id="178" name="Rounded Rectangle"/>
            <p:cNvSpPr/>
            <p:nvPr/>
          </p:nvSpPr>
          <p:spPr>
            <a:xfrm>
              <a:off x="0" y="0"/>
              <a:ext cx="4803343" cy="676656"/>
            </a:xfrm>
            <a:prstGeom prst="roundRect">
              <a:avLst>
                <a:gd name="adj" fmla="val 13514"/>
              </a:avLst>
            </a:prstGeom>
            <a:solidFill>
              <a:srgbClr val="ECE1CB"/>
            </a:solidFill>
            <a:ln w="19050" cap="flat">
              <a:solidFill>
                <a:srgbClr val="B5482E"/>
              </a:solidFill>
              <a:prstDash val="solid"/>
              <a:round/>
            </a:ln>
            <a:effectLst/>
          </p:spPr>
          <p:txBody>
            <a:bodyPr wrap="square" lIns="45719" tIns="45719" rIns="45719" bIns="45719" numCol="1" anchor="ctr">
              <a:noAutofit/>
            </a:bodyPr>
            <a:lstStyle/>
            <a:p>
              <a:pPr algn="ctr">
                <a:defRPr sz="1200"/>
              </a:pPr>
            </a:p>
          </p:txBody>
        </p:sp>
        <p:sp>
          <p:nvSpPr>
            <p:cNvPr id="179" name="Conservation can allow recovery, as whale numbers show. It can just take decades."/>
            <p:cNvSpPr txBox="1"/>
            <p:nvPr/>
          </p:nvSpPr>
          <p:spPr>
            <a:xfrm>
              <a:off x="36307" y="162258"/>
              <a:ext cx="4730729" cy="352140"/>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761" tIns="761" rIns="761" bIns="761" numCol="1" anchor="ctr">
              <a:spAutoFit/>
            </a:bodyPr>
            <a:lstStyle>
              <a:lvl1pPr algn="ctr">
                <a:defRPr b="1" sz="1200">
                  <a:solidFill>
                    <a:srgbClr val="3D2B1F"/>
                  </a:solidFill>
                  <a:latin typeface="Arial"/>
                  <a:ea typeface="Arial"/>
                  <a:cs typeface="Arial"/>
                  <a:sym typeface="Arial"/>
                </a:defRPr>
              </a:lvl1pPr>
            </a:lstStyle>
            <a:p>
              <a:pPr/>
              <a:r>
                <a:t>Conservation can allow recovery, as whale numbers show. It can just take decades.</a:t>
              </a:r>
            </a:p>
          </p:txBody>
        </p:sp>
      </p:grpSp>
    </p:spTree>
  </p:cSld>
  <p:clrMapOvr>
    <a:masterClrMapping/>
  </p:clrMapOvr>
  <mc:AlternateContent xmlns:mc="http://schemas.openxmlformats.org/markup-compatibility/2006">
    <mc:Choice xmlns:p14="http://schemas.microsoft.com/office/powerpoint/2010/main" Requires="p14">
      <p:transition spd="med" advClick="1" p14:dur="1000">
        <p:fade/>
      </p:transition>
    </mc:Choice>
    <mc:Fallback>
      <p:transition spd="med">
        <p:fade/>
      </p:transition>
    </mc:Fallback>
  </mc:AlternateContent>
  <p:timing>
    <p:tnLst>
      <p:par>
        <p:cTn id="1" nodeType="tmRoot" restart="never" dur="indefinite" fill="hold">
          <p:childTnLst>
            <p:seq concurrent="1" prevAc="none" nextAc="seek">
              <p:cTn id="2" nodeType="mainSeq" dur="indefinite" fill="hold">
                <p:childTnLst>
                  <p:par>
                    <p:cTn id="3" fill="hold">
                      <p:stCondLst>
                        <p:cond delay="indefinite"/>
                        <p:cond evt="onBegin">
                          <p:tn val="2"/>
                        </p:cond>
                      </p:stCondLst>
                      <p:childTnLst>
                        <p:par>
                          <p:cTn id="4" fill="hold">
                            <p:stCondLst>
                              <p:cond delay="0"/>
                            </p:stCondLst>
                            <p:childTnLst>
                              <p:par>
                                <p:cTn id="5" presetClass="mediacall" nodeType="afterEffect" presetSubtype="0" presetID="1" grpId="1" fill="hold">
                                  <p:stCondLst>
                                    <p:cond delay="0"/>
                                  </p:stCondLst>
                                  <p:childTnLst>
                                    <p:cmd type="call" cmd="playFrom(0.0)">
                                      <p:cBhvr>
                                        <p:cTn id="6" dur="300000" fill="hold"/>
                                        <p:tgtEl>
                                          <p:spTgt spid="155"/>
                                        </p:tgtEl>
                                      </p:cBhvr>
                                    </p:cmd>
                                  </p:childTnLst>
                                </p:cTn>
                              </p:par>
                            </p:childTnLst>
                          </p:cTn>
                        </p:par>
                      </p:childTnLst>
                    </p:cTn>
                  </p:par>
                  <p:par>
                    <p:cTn id="7" fill="hold">
                      <p:stCondLst>
                        <p:cond delay="indefinite"/>
                      </p:stCondLst>
                      <p:childTnLst>
                        <p:par>
                          <p:cTn id="8" fill="hold">
                            <p:stCondLst>
                              <p:cond delay="0"/>
                            </p:stCondLst>
                            <p:childTnLst>
                              <p:par>
                                <p:cTn id="9" presetClass="entr" nodeType="clickEffect" presetSubtype="16" presetID="23" grpId="2" fill="hold">
                                  <p:stCondLst>
                                    <p:cond delay="0"/>
                                  </p:stCondLst>
                                  <p:iterate type="el" backwards="0">
                                    <p:tmAbs val="0"/>
                                  </p:iterate>
                                  <p:childTnLst>
                                    <p:set>
                                      <p:cBhvr>
                                        <p:cTn id="10" fill="hold"/>
                                        <p:tgtEl>
                                          <p:spTgt spid="165"/>
                                        </p:tgtEl>
                                        <p:attrNameLst>
                                          <p:attrName>style.visibility</p:attrName>
                                        </p:attrNameLst>
                                      </p:cBhvr>
                                      <p:to>
                                        <p:strVal val="visible"/>
                                      </p:to>
                                    </p:set>
                                    <p:anim calcmode="lin" valueType="num">
                                      <p:cBhvr>
                                        <p:cTn id="11" dur="400" fill="hold"/>
                                        <p:tgtEl>
                                          <p:spTgt spid="165"/>
                                        </p:tgtEl>
                                        <p:attrNameLst>
                                          <p:attrName>ppt_w</p:attrName>
                                        </p:attrNameLst>
                                      </p:cBhvr>
                                      <p:tavLst>
                                        <p:tav tm="0">
                                          <p:val>
                                            <p:fltVal val="0"/>
                                          </p:val>
                                        </p:tav>
                                        <p:tav tm="100000">
                                          <p:val>
                                            <p:strVal val="#ppt_w"/>
                                          </p:val>
                                        </p:tav>
                                      </p:tavLst>
                                    </p:anim>
                                    <p:anim calcmode="lin" valueType="num">
                                      <p:cBhvr>
                                        <p:cTn id="12" dur="400" fill="hold"/>
                                        <p:tgtEl>
                                          <p:spTgt spid="165"/>
                                        </p:tgtEl>
                                        <p:attrNameLst>
                                          <p:attrName>ppt_h</p:attrName>
                                        </p:attrNameLst>
                                      </p:cBhvr>
                                      <p:tavLst>
                                        <p:tav tm="0">
                                          <p:val>
                                            <p:fltVal val="0"/>
                                          </p:val>
                                        </p:tav>
                                        <p:tav tm="100000">
                                          <p:val>
                                            <p:strVal val="#ppt_h"/>
                                          </p:val>
                                        </p:tav>
                                      </p:tavLst>
                                    </p:anim>
                                  </p:childTnLst>
                                </p:cTn>
                              </p:par>
                            </p:childTnLst>
                          </p:cTn>
                        </p:par>
                      </p:childTnLst>
                    </p:cTn>
                  </p:par>
                  <p:par>
                    <p:cTn id="13" fill="hold">
                      <p:stCondLst>
                        <p:cond delay="indefinite"/>
                      </p:stCondLst>
                      <p:childTnLst>
                        <p:par>
                          <p:cTn id="14" fill="hold">
                            <p:stCondLst>
                              <p:cond delay="0"/>
                            </p:stCondLst>
                            <p:childTnLst>
                              <p:par>
                                <p:cTn id="15" presetClass="entr" nodeType="clickEffect" presetSubtype="16" presetID="23" grpId="3" fill="hold">
                                  <p:stCondLst>
                                    <p:cond delay="0"/>
                                  </p:stCondLst>
                                  <p:iterate type="el" backwards="0">
                                    <p:tmAbs val="0"/>
                                  </p:iterate>
                                  <p:childTnLst>
                                    <p:set>
                                      <p:cBhvr>
                                        <p:cTn id="16" fill="hold"/>
                                        <p:tgtEl>
                                          <p:spTgt spid="170"/>
                                        </p:tgtEl>
                                        <p:attrNameLst>
                                          <p:attrName>style.visibility</p:attrName>
                                        </p:attrNameLst>
                                      </p:cBhvr>
                                      <p:to>
                                        <p:strVal val="visible"/>
                                      </p:to>
                                    </p:set>
                                    <p:anim calcmode="lin" valueType="num">
                                      <p:cBhvr>
                                        <p:cTn id="17" dur="400" fill="hold"/>
                                        <p:tgtEl>
                                          <p:spTgt spid="170"/>
                                        </p:tgtEl>
                                        <p:attrNameLst>
                                          <p:attrName>ppt_w</p:attrName>
                                        </p:attrNameLst>
                                      </p:cBhvr>
                                      <p:tavLst>
                                        <p:tav tm="0">
                                          <p:val>
                                            <p:fltVal val="0"/>
                                          </p:val>
                                        </p:tav>
                                        <p:tav tm="100000">
                                          <p:val>
                                            <p:strVal val="#ppt_w"/>
                                          </p:val>
                                        </p:tav>
                                      </p:tavLst>
                                    </p:anim>
                                    <p:anim calcmode="lin" valueType="num">
                                      <p:cBhvr>
                                        <p:cTn id="18" dur="400" fill="hold"/>
                                        <p:tgtEl>
                                          <p:spTgt spid="170"/>
                                        </p:tgtEl>
                                        <p:attrNameLst>
                                          <p:attrName>ppt_h</p:attrName>
                                        </p:attrNameLst>
                                      </p:cBhvr>
                                      <p:tavLst>
                                        <p:tav tm="0">
                                          <p:val>
                                            <p:fltVal val="0"/>
                                          </p:val>
                                        </p:tav>
                                        <p:tav tm="100000">
                                          <p:val>
                                            <p:strVal val="#ppt_h"/>
                                          </p:val>
                                        </p:tav>
                                      </p:tavLst>
                                    </p:anim>
                                  </p:childTnLst>
                                </p:cTn>
                              </p:par>
                            </p:childTnLst>
                          </p:cTn>
                        </p:par>
                      </p:childTnLst>
                    </p:cTn>
                  </p:par>
                  <p:par>
                    <p:cTn id="19" fill="hold">
                      <p:stCondLst>
                        <p:cond delay="indefinite"/>
                      </p:stCondLst>
                      <p:childTnLst>
                        <p:par>
                          <p:cTn id="20" fill="hold">
                            <p:stCondLst>
                              <p:cond delay="0"/>
                            </p:stCondLst>
                            <p:childTnLst>
                              <p:par>
                                <p:cTn id="21" presetClass="entr" nodeType="clickEffect" presetSubtype="16" presetID="23" grpId="4" fill="hold">
                                  <p:stCondLst>
                                    <p:cond delay="0"/>
                                  </p:stCondLst>
                                  <p:iterate type="el" backwards="0">
                                    <p:tmAbs val="0"/>
                                  </p:iterate>
                                  <p:childTnLst>
                                    <p:set>
                                      <p:cBhvr>
                                        <p:cTn id="22" fill="hold"/>
                                        <p:tgtEl>
                                          <p:spTgt spid="175"/>
                                        </p:tgtEl>
                                        <p:attrNameLst>
                                          <p:attrName>style.visibility</p:attrName>
                                        </p:attrNameLst>
                                      </p:cBhvr>
                                      <p:to>
                                        <p:strVal val="visible"/>
                                      </p:to>
                                    </p:set>
                                    <p:anim calcmode="lin" valueType="num">
                                      <p:cBhvr>
                                        <p:cTn id="23" dur="400" fill="hold"/>
                                        <p:tgtEl>
                                          <p:spTgt spid="175"/>
                                        </p:tgtEl>
                                        <p:attrNameLst>
                                          <p:attrName>ppt_w</p:attrName>
                                        </p:attrNameLst>
                                      </p:cBhvr>
                                      <p:tavLst>
                                        <p:tav tm="0">
                                          <p:val>
                                            <p:fltVal val="0"/>
                                          </p:val>
                                        </p:tav>
                                        <p:tav tm="100000">
                                          <p:val>
                                            <p:strVal val="#ppt_w"/>
                                          </p:val>
                                        </p:tav>
                                      </p:tavLst>
                                    </p:anim>
                                    <p:anim calcmode="lin" valueType="num">
                                      <p:cBhvr>
                                        <p:cTn id="24" dur="400" fill="hold"/>
                                        <p:tgtEl>
                                          <p:spTgt spid="175"/>
                                        </p:tgtEl>
                                        <p:attrNameLst>
                                          <p:attrName>ppt_h</p:attrName>
                                        </p:attrNameLst>
                                      </p:cBhvr>
                                      <p:tavLst>
                                        <p:tav tm="0">
                                          <p:val>
                                            <p:fltVal val="0"/>
                                          </p:val>
                                        </p:tav>
                                        <p:tav tm="100000">
                                          <p:val>
                                            <p:strVal val="#ppt_h"/>
                                          </p:val>
                                        </p:tav>
                                      </p:tavLst>
                                    </p:anim>
                                  </p:childTnLst>
                                </p:cTn>
                              </p:par>
                            </p:childTnLst>
                          </p:cTn>
                        </p:par>
                      </p:childTnLst>
                    </p:cTn>
                  </p:par>
                  <p:par>
                    <p:cTn id="25" fill="hold">
                      <p:stCondLst>
                        <p:cond delay="indefinite"/>
                      </p:stCondLst>
                      <p:childTnLst>
                        <p:par>
                          <p:cTn id="26" fill="hold">
                            <p:stCondLst>
                              <p:cond delay="0"/>
                            </p:stCondLst>
                            <p:childTnLst>
                              <p:par>
                                <p:cTn id="27" presetClass="entr" nodeType="clickEffect" presetSubtype="16" presetID="23" grpId="5" fill="hold">
                                  <p:stCondLst>
                                    <p:cond delay="0"/>
                                  </p:stCondLst>
                                  <p:iterate type="el" backwards="0">
                                    <p:tmAbs val="0"/>
                                  </p:iterate>
                                  <p:childTnLst>
                                    <p:set>
                                      <p:cBhvr>
                                        <p:cTn id="28" fill="hold"/>
                                        <p:tgtEl>
                                          <p:spTgt spid="180"/>
                                        </p:tgtEl>
                                        <p:attrNameLst>
                                          <p:attrName>style.visibility</p:attrName>
                                        </p:attrNameLst>
                                      </p:cBhvr>
                                      <p:to>
                                        <p:strVal val="visible"/>
                                      </p:to>
                                    </p:set>
                                    <p:anim calcmode="lin" valueType="num">
                                      <p:cBhvr>
                                        <p:cTn id="29" dur="400" fill="hold"/>
                                        <p:tgtEl>
                                          <p:spTgt spid="180"/>
                                        </p:tgtEl>
                                        <p:attrNameLst>
                                          <p:attrName>ppt_w</p:attrName>
                                        </p:attrNameLst>
                                      </p:cBhvr>
                                      <p:tavLst>
                                        <p:tav tm="0">
                                          <p:val>
                                            <p:fltVal val="0"/>
                                          </p:val>
                                        </p:tav>
                                        <p:tav tm="100000">
                                          <p:val>
                                            <p:strVal val="#ppt_w"/>
                                          </p:val>
                                        </p:tav>
                                      </p:tavLst>
                                    </p:anim>
                                    <p:anim calcmode="lin" valueType="num">
                                      <p:cBhvr>
                                        <p:cTn id="30" dur="400" fill="hold"/>
                                        <p:tgtEl>
                                          <p:spTgt spid="180"/>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p:tgtEl>
                    <p:sldTgt/>
                  </p:tgtEl>
                </p:cond>
              </p:prevCondLst>
              <p:nextCondLst>
                <p:cond evt="onNext">
                  <p:tgtEl>
                    <p:sldTgt/>
                  </p:tgtEl>
                </p:cond>
              </p:nextCondLst>
            </p:seq>
            <p:video fullScrn="0">
              <p:cMediaNode mute="0" showWhenStopped="1" numSld="1" vol="0">
                <p:cTn id="31" fill="hold" display="0">
                  <p:stCondLst>
                    <p:cond delay="indefinite"/>
                  </p:stCondLst>
                </p:cTn>
                <p:tgtEl>
                  <p:spTgt spid="155"/>
                </p:tgtEl>
              </p:cMediaNode>
            </p:video>
            <p:seq concurrent="1" prevAc="none" nextAc="seek">
              <p:cTn id="32" evtFilter="cancelBubble" nodeType="interactiveSeq" restart="whenNotActive" fill="hold">
                <p:stCondLst>
                  <p:cond delay="0" evt="onClick">
                    <p:tgtEl>
                      <p:spTgt spid="155"/>
                    </p:tgtEl>
                  </p:cond>
                </p:stCondLst>
                <p:endSync delay="0" evt="end">
                  <p:rtn val="all"/>
                </p:endSync>
                <p:childTnLst>
                  <p:par>
                    <p:cTn id="33" fill="hold">
                      <p:stCondLst>
                        <p:cond delay="0"/>
                      </p:stCondLst>
                      <p:childTnLst>
                        <p:par>
                          <p:cTn id="34" fill="hold">
                            <p:stCondLst>
                              <p:cond delay="0"/>
                            </p:stCondLst>
                            <p:childTnLst>
                              <p:par>
                                <p:cTn id="35" presetClass="mediacall" nodeType="clickEffect" presetSubtype="0" presetID="2" fill="hold">
                                  <p:stCondLst>
                                    <p:cond delay="0"/>
                                  </p:stCondLst>
                                  <p:childTnLst>
                                    <p:cmd type="call" cmd="togglePause">
                                      <p:cBhvr>
                                        <p:cTn id="36" dur="1" fill="hold"/>
                                        <p:tgtEl>
                                          <p:spTgt spid="155"/>
                                        </p:tgtEl>
                                      </p:cBhvr>
                                    </p:cmd>
                                  </p:childTnLst>
                                </p:cTn>
                              </p:par>
                            </p:childTnLst>
                          </p:cTn>
                        </p:par>
                      </p:childTnLst>
                    </p:cTn>
                  </p:par>
                </p:childTnLst>
              </p:cTn>
              <p:nextCondLst>
                <p:cond delay="0" evt="onClick">
                  <p:tgtEl>
                    <p:spTgt spid="155"/>
                  </p:tgtEl>
                </p:cond>
              </p:nextCondLst>
            </p:seq>
          </p:childTnLst>
        </p:cTn>
      </p:par>
    </p:tnLst>
    <p:bldLst>
      <p:bldP build="whole" bldLvl="1" animBg="1" rev="0" advAuto="0" spid="175" grpId="4"/>
      <p:bldP build="whole" bldLvl="1" animBg="1" rev="0" advAuto="0" spid="170" grpId="3"/>
      <p:bldP build="whole" bldLvl="1" animBg="1" rev="0" advAuto="0" spid="180" grpId="5"/>
      <p:bldP build="whole" bldLvl="1" animBg="1" rev="0" advAuto="0" spid="165" grpId="2"/>
    </p:bldLst>
  </p:timing>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2EBDD"/>
        </a:solidFill>
      </p:bgPr>
    </p:bg>
    <p:spTree>
      <p:nvGrpSpPr>
        <p:cNvPr id="1" name=""/>
        <p:cNvGrpSpPr/>
        <p:nvPr/>
      </p:nvGrpSpPr>
      <p:grpSpPr>
        <a:xfrm>
          <a:off x="0" y="0"/>
          <a:ext cx="0" cy="0"/>
          <a:chOff x="0" y="0"/>
          <a:chExt cx="0" cy="0"/>
        </a:xfrm>
      </p:grpSpPr>
      <p:pic>
        <p:nvPicPr>
          <p:cNvPr id="184" name="timer_video" descr="timer_video"/>
          <p:cNvPicPr>
            <a:picLocks noChangeAspect="0"/>
          </p:cNvPicPr>
          <p:nvPr>
            <a:videoFile r:link="rId3"/>
            <p:extLst>
              <p:ext uri="{DAA4B4D4-6D71-4841-9C94-3DE7FCFB9230}">
                <p14:media xmlns:p14="http://schemas.microsoft.com/office/powerpoint/2010/main" r:embed="rId4"/>
              </p:ext>
            </p:extLst>
          </p:nvPr>
        </p:nvPicPr>
        <p:blipFill>
          <a:blip r:embed="rId5">
            <a:extLst/>
          </a:blip>
          <a:stretch>
            <a:fillRect/>
          </a:stretch>
        </p:blipFill>
        <p:spPr>
          <a:xfrm>
            <a:off x="310895" y="310895"/>
            <a:ext cx="457201" cy="6236210"/>
          </a:xfrm>
          <a:prstGeom prst="rect">
            <a:avLst/>
          </a:prstGeom>
          <a:ln w="12700">
            <a:miter lim="400000"/>
          </a:ln>
        </p:spPr>
      </p:pic>
      <p:grpSp>
        <p:nvGrpSpPr>
          <p:cNvPr id="187" name="phase_pill"/>
          <p:cNvGrpSpPr/>
          <p:nvPr/>
        </p:nvGrpSpPr>
        <p:grpSpPr>
          <a:xfrm>
            <a:off x="1170432" y="310895"/>
            <a:ext cx="2072030" cy="329185"/>
            <a:chOff x="0" y="0"/>
            <a:chExt cx="2072029" cy="329184"/>
          </a:xfrm>
        </p:grpSpPr>
        <p:sp>
          <p:nvSpPr>
            <p:cNvPr id="185" name="Rounded Rectangle"/>
            <p:cNvSpPr/>
            <p:nvPr/>
          </p:nvSpPr>
          <p:spPr>
            <a:xfrm>
              <a:off x="0" y="0"/>
              <a:ext cx="2072030" cy="329185"/>
            </a:xfrm>
            <a:prstGeom prst="roundRect">
              <a:avLst>
                <a:gd name="adj" fmla="val 44444"/>
              </a:avLst>
            </a:prstGeom>
            <a:solidFill>
              <a:srgbClr val="3D2B1F"/>
            </a:solidFill>
            <a:ln w="12700" cap="flat">
              <a:noFill/>
              <a:miter lim="400000"/>
            </a:ln>
            <a:effectLst/>
          </p:spPr>
          <p:txBody>
            <a:bodyPr wrap="square" lIns="45719" tIns="45719" rIns="45719" bIns="45719" numCol="1" anchor="ctr">
              <a:noAutofit/>
            </a:bodyPr>
            <a:lstStyle/>
            <a:p>
              <a:pPr algn="ctr">
                <a:defRPr sz="1100"/>
              </a:pPr>
            </a:p>
          </p:txBody>
        </p:sp>
        <p:sp>
          <p:nvSpPr>
            <p:cNvPr id="186" name="COLD CALL · 6 MIN"/>
            <p:cNvSpPr txBox="1"/>
            <p:nvPr/>
          </p:nvSpPr>
          <p:spPr>
            <a:xfrm>
              <a:off x="42850" y="90677"/>
              <a:ext cx="1986329" cy="147830"/>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lgn="ctr">
                <a:defRPr b="1" spc="120" sz="1100">
                  <a:solidFill>
                    <a:srgbClr val="FFFFFF"/>
                  </a:solidFill>
                  <a:latin typeface="Arial"/>
                  <a:ea typeface="Arial"/>
                  <a:cs typeface="Arial"/>
                  <a:sym typeface="Arial"/>
                </a:defRPr>
              </a:lvl1pPr>
            </a:lstStyle>
            <a:p>
              <a:pPr/>
              <a:r>
                <a:t>COLD CALL · 6 MIN</a:t>
              </a:r>
            </a:p>
          </p:txBody>
        </p:sp>
      </p:grpSp>
      <p:sp>
        <p:nvSpPr>
          <p:cNvPr id="188" name="c0_bg"/>
          <p:cNvSpPr/>
          <p:nvPr/>
        </p:nvSpPr>
        <p:spPr>
          <a:xfrm>
            <a:off x="1170432" y="960119"/>
            <a:ext cx="5099152" cy="1572769"/>
          </a:xfrm>
          <a:prstGeom prst="roundRect">
            <a:avLst>
              <a:gd name="adj" fmla="val 5814"/>
            </a:avLst>
          </a:prstGeom>
          <a:solidFill>
            <a:srgbClr val="FFFFFF"/>
          </a:solidFill>
          <a:ln w="16510">
            <a:solidFill>
              <a:srgbClr val="D9C9A8"/>
            </a:solidFill>
          </a:ln>
        </p:spPr>
        <p:txBody>
          <a:bodyPr lIns="45719" rIns="45719"/>
          <a:lstStyle/>
          <a:p>
            <a:pPr/>
          </a:p>
        </p:txBody>
      </p:sp>
      <p:sp>
        <p:nvSpPr>
          <p:cNvPr id="189" name="c0_badge"/>
          <p:cNvSpPr/>
          <p:nvPr/>
        </p:nvSpPr>
        <p:spPr>
          <a:xfrm>
            <a:off x="1371600" y="1307591"/>
            <a:ext cx="384048" cy="384049"/>
          </a:xfrm>
          <a:prstGeom prst="ellipse">
            <a:avLst/>
          </a:prstGeom>
          <a:solidFill>
            <a:srgbClr val="C99A3D"/>
          </a:solidFill>
          <a:ln w="12700">
            <a:solidFill>
              <a:srgbClr val="C99A3D"/>
            </a:solidFill>
          </a:ln>
        </p:spPr>
        <p:txBody>
          <a:bodyPr lIns="45719" rIns="45719"/>
          <a:lstStyle/>
          <a:p>
            <a:pPr/>
          </a:p>
        </p:txBody>
      </p:sp>
      <p:sp>
        <p:nvSpPr>
          <p:cNvPr id="190" name="c0_num"/>
          <p:cNvSpPr txBox="1"/>
          <p:nvPr/>
        </p:nvSpPr>
        <p:spPr>
          <a:xfrm>
            <a:off x="1371600" y="1398015"/>
            <a:ext cx="384048"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400">
                <a:solidFill>
                  <a:srgbClr val="3D2B1F"/>
                </a:solidFill>
                <a:latin typeface="Georgia"/>
                <a:ea typeface="Georgia"/>
                <a:cs typeface="Georgia"/>
                <a:sym typeface="Georgia"/>
              </a:defRPr>
            </a:lvl1pPr>
          </a:lstStyle>
          <a:p>
            <a:pPr/>
            <a:r>
              <a:t>1</a:t>
            </a:r>
          </a:p>
        </p:txBody>
      </p:sp>
      <p:sp>
        <p:nvSpPr>
          <p:cNvPr id="191" name="c0_q"/>
          <p:cNvSpPr txBox="1"/>
          <p:nvPr/>
        </p:nvSpPr>
        <p:spPr>
          <a:xfrm>
            <a:off x="1901951" y="1376485"/>
            <a:ext cx="4166465" cy="24626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nSpc>
                <a:spcPts val="2000"/>
              </a:lnSpc>
              <a:defRPr sz="1600">
                <a:solidFill>
                  <a:srgbClr val="2A1D14"/>
                </a:solidFill>
                <a:latin typeface="Arial"/>
                <a:ea typeface="Arial"/>
                <a:cs typeface="Arial"/>
                <a:sym typeface="Arial"/>
              </a:defRPr>
            </a:lvl1pPr>
          </a:lstStyle>
          <a:p>
            <a:pPr/>
            <a:r>
              <a:t>State what conservation means.</a:t>
            </a:r>
          </a:p>
        </p:txBody>
      </p:sp>
      <p:grpSp>
        <p:nvGrpSpPr>
          <p:cNvPr id="194" name="c0_a"/>
          <p:cNvGrpSpPr/>
          <p:nvPr/>
        </p:nvGrpSpPr>
        <p:grpSpPr>
          <a:xfrm>
            <a:off x="1371600" y="1965960"/>
            <a:ext cx="4696817" cy="438913"/>
            <a:chOff x="0" y="0"/>
            <a:chExt cx="4696816" cy="438912"/>
          </a:xfrm>
        </p:grpSpPr>
        <p:sp>
          <p:nvSpPr>
            <p:cNvPr id="192" name="Rounded Rectangle"/>
            <p:cNvSpPr/>
            <p:nvPr/>
          </p:nvSpPr>
          <p:spPr>
            <a:xfrm>
              <a:off x="0" y="0"/>
              <a:ext cx="4696817" cy="438913"/>
            </a:xfrm>
            <a:prstGeom prst="roundRect">
              <a:avLst>
                <a:gd name="adj" fmla="val 20833"/>
              </a:avLst>
            </a:prstGeom>
            <a:solidFill>
              <a:srgbClr val="ECE1CB"/>
            </a:solidFill>
            <a:ln w="16510" cap="flat">
              <a:solidFill>
                <a:srgbClr val="C99A3D"/>
              </a:solidFill>
              <a:prstDash val="solid"/>
              <a:round/>
            </a:ln>
            <a:effectLst/>
          </p:spPr>
          <p:txBody>
            <a:bodyPr wrap="square" lIns="45719" tIns="45719" rIns="45719" bIns="45719" numCol="1" anchor="ctr">
              <a:noAutofit/>
            </a:bodyPr>
            <a:lstStyle/>
            <a:p>
              <a:pPr>
                <a:defRPr sz="1300"/>
              </a:pPr>
            </a:p>
          </p:txBody>
        </p:sp>
        <p:sp>
          <p:nvSpPr>
            <p:cNvPr id="193" name="Protecting and managing a resource carefully, so it is still available in future."/>
            <p:cNvSpPr txBox="1"/>
            <p:nvPr/>
          </p:nvSpPr>
          <p:spPr>
            <a:xfrm>
              <a:off x="35035" y="30640"/>
              <a:ext cx="4626746" cy="377632"/>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1015" tIns="1015" rIns="1015" bIns="1015" numCol="1" anchor="ctr">
              <a:spAutoFit/>
            </a:bodyPr>
            <a:lstStyle>
              <a:lvl1pPr>
                <a:defRPr b="1" sz="1300">
                  <a:solidFill>
                    <a:srgbClr val="3D2B1F"/>
                  </a:solidFill>
                  <a:latin typeface="Arial"/>
                  <a:ea typeface="Arial"/>
                  <a:cs typeface="Arial"/>
                  <a:sym typeface="Arial"/>
                </a:defRPr>
              </a:lvl1pPr>
            </a:lstStyle>
            <a:p>
              <a:pPr/>
              <a:r>
                <a:t>Protecting and managing a resource carefully, so it is still available in future.</a:t>
              </a:r>
            </a:p>
          </p:txBody>
        </p:sp>
      </p:grpSp>
      <p:sp>
        <p:nvSpPr>
          <p:cNvPr id="195" name="c1_bg"/>
          <p:cNvSpPr/>
          <p:nvPr/>
        </p:nvSpPr>
        <p:spPr>
          <a:xfrm>
            <a:off x="6543903" y="960119"/>
            <a:ext cx="5099153" cy="1572769"/>
          </a:xfrm>
          <a:prstGeom prst="roundRect">
            <a:avLst>
              <a:gd name="adj" fmla="val 5814"/>
            </a:avLst>
          </a:prstGeom>
          <a:solidFill>
            <a:srgbClr val="FFFFFF"/>
          </a:solidFill>
          <a:ln w="16510">
            <a:solidFill>
              <a:srgbClr val="D9C9A8"/>
            </a:solidFill>
          </a:ln>
        </p:spPr>
        <p:txBody>
          <a:bodyPr lIns="45719" rIns="45719"/>
          <a:lstStyle/>
          <a:p>
            <a:pPr/>
          </a:p>
        </p:txBody>
      </p:sp>
      <p:sp>
        <p:nvSpPr>
          <p:cNvPr id="196" name="c1_badge"/>
          <p:cNvSpPr/>
          <p:nvPr/>
        </p:nvSpPr>
        <p:spPr>
          <a:xfrm>
            <a:off x="6745072" y="1307591"/>
            <a:ext cx="384049" cy="384049"/>
          </a:xfrm>
          <a:prstGeom prst="ellipse">
            <a:avLst/>
          </a:prstGeom>
          <a:solidFill>
            <a:srgbClr val="C99A3D"/>
          </a:solidFill>
          <a:ln w="12700">
            <a:solidFill>
              <a:srgbClr val="C99A3D"/>
            </a:solidFill>
          </a:ln>
        </p:spPr>
        <p:txBody>
          <a:bodyPr lIns="45719" rIns="45719"/>
          <a:lstStyle/>
          <a:p>
            <a:pPr/>
          </a:p>
        </p:txBody>
      </p:sp>
      <p:sp>
        <p:nvSpPr>
          <p:cNvPr id="197" name="c1_num"/>
          <p:cNvSpPr txBox="1"/>
          <p:nvPr/>
        </p:nvSpPr>
        <p:spPr>
          <a:xfrm>
            <a:off x="6745072" y="1398015"/>
            <a:ext cx="384049"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400">
                <a:solidFill>
                  <a:srgbClr val="3D2B1F"/>
                </a:solidFill>
                <a:latin typeface="Georgia"/>
                <a:ea typeface="Georgia"/>
                <a:cs typeface="Georgia"/>
                <a:sym typeface="Georgia"/>
              </a:defRPr>
            </a:lvl1pPr>
          </a:lstStyle>
          <a:p>
            <a:pPr/>
            <a:r>
              <a:t>2</a:t>
            </a:r>
          </a:p>
        </p:txBody>
      </p:sp>
      <p:sp>
        <p:nvSpPr>
          <p:cNvPr id="198" name="c1_q"/>
          <p:cNvSpPr txBox="1"/>
          <p:nvPr/>
        </p:nvSpPr>
        <p:spPr>
          <a:xfrm>
            <a:off x="7275424" y="1249485"/>
            <a:ext cx="4166465" cy="50026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nSpc>
                <a:spcPts val="2000"/>
              </a:lnSpc>
              <a:defRPr sz="1600">
                <a:solidFill>
                  <a:srgbClr val="2A1D14"/>
                </a:solidFill>
                <a:latin typeface="Arial"/>
                <a:ea typeface="Arial"/>
                <a:cs typeface="Arial"/>
                <a:sym typeface="Arial"/>
              </a:defRPr>
            </a:lvl1pPr>
          </a:lstStyle>
          <a:p>
            <a:pPr/>
            <a:r>
              <a:t>State what it means to take a sustainable amount of a resource.</a:t>
            </a:r>
          </a:p>
        </p:txBody>
      </p:sp>
      <p:grpSp>
        <p:nvGrpSpPr>
          <p:cNvPr id="201" name="c1_a"/>
          <p:cNvGrpSpPr/>
          <p:nvPr/>
        </p:nvGrpSpPr>
        <p:grpSpPr>
          <a:xfrm>
            <a:off x="6745072" y="1965960"/>
            <a:ext cx="4696817" cy="438913"/>
            <a:chOff x="0" y="0"/>
            <a:chExt cx="4696816" cy="438912"/>
          </a:xfrm>
        </p:grpSpPr>
        <p:sp>
          <p:nvSpPr>
            <p:cNvPr id="199" name="Rounded Rectangle"/>
            <p:cNvSpPr/>
            <p:nvPr/>
          </p:nvSpPr>
          <p:spPr>
            <a:xfrm>
              <a:off x="0" y="0"/>
              <a:ext cx="4696817" cy="438913"/>
            </a:xfrm>
            <a:prstGeom prst="roundRect">
              <a:avLst>
                <a:gd name="adj" fmla="val 20833"/>
              </a:avLst>
            </a:prstGeom>
            <a:solidFill>
              <a:srgbClr val="ECE1CB"/>
            </a:solidFill>
            <a:ln w="16510" cap="flat">
              <a:solidFill>
                <a:srgbClr val="C99A3D"/>
              </a:solidFill>
              <a:prstDash val="solid"/>
              <a:round/>
            </a:ln>
            <a:effectLst/>
          </p:spPr>
          <p:txBody>
            <a:bodyPr wrap="square" lIns="45719" tIns="45719" rIns="45719" bIns="45719" numCol="1" anchor="ctr">
              <a:noAutofit/>
            </a:bodyPr>
            <a:lstStyle/>
            <a:p>
              <a:pPr>
                <a:defRPr sz="1300"/>
              </a:pPr>
            </a:p>
          </p:txBody>
        </p:sp>
        <p:sp>
          <p:nvSpPr>
            <p:cNvPr id="200" name="No more than the resource can naturally replace."/>
            <p:cNvSpPr txBox="1"/>
            <p:nvPr/>
          </p:nvSpPr>
          <p:spPr>
            <a:xfrm>
              <a:off x="35035" y="125890"/>
              <a:ext cx="4626746" cy="187132"/>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1015" tIns="1015" rIns="1015" bIns="1015" numCol="1" anchor="ctr">
              <a:spAutoFit/>
            </a:bodyPr>
            <a:lstStyle>
              <a:lvl1pPr>
                <a:defRPr b="1" sz="1300">
                  <a:solidFill>
                    <a:srgbClr val="3D2B1F"/>
                  </a:solidFill>
                  <a:latin typeface="Arial"/>
                  <a:ea typeface="Arial"/>
                  <a:cs typeface="Arial"/>
                  <a:sym typeface="Arial"/>
                </a:defRPr>
              </a:lvl1pPr>
            </a:lstStyle>
            <a:p>
              <a:pPr/>
              <a:r>
                <a:t>No more than the resource can naturally replace.</a:t>
              </a:r>
            </a:p>
          </p:txBody>
        </p:sp>
      </p:grpSp>
      <p:sp>
        <p:nvSpPr>
          <p:cNvPr id="202" name="c2_bg"/>
          <p:cNvSpPr/>
          <p:nvPr/>
        </p:nvSpPr>
        <p:spPr>
          <a:xfrm>
            <a:off x="1170432" y="2679192"/>
            <a:ext cx="5099152" cy="1572769"/>
          </a:xfrm>
          <a:prstGeom prst="roundRect">
            <a:avLst>
              <a:gd name="adj" fmla="val 5814"/>
            </a:avLst>
          </a:prstGeom>
          <a:solidFill>
            <a:srgbClr val="FFFFFF"/>
          </a:solidFill>
          <a:ln w="16510">
            <a:solidFill>
              <a:srgbClr val="D9C9A8"/>
            </a:solidFill>
          </a:ln>
        </p:spPr>
        <p:txBody>
          <a:bodyPr lIns="45719" rIns="45719"/>
          <a:lstStyle/>
          <a:p>
            <a:pPr/>
          </a:p>
        </p:txBody>
      </p:sp>
      <p:sp>
        <p:nvSpPr>
          <p:cNvPr id="203" name="c2_badge"/>
          <p:cNvSpPr/>
          <p:nvPr/>
        </p:nvSpPr>
        <p:spPr>
          <a:xfrm>
            <a:off x="1371600" y="3026664"/>
            <a:ext cx="384048" cy="384049"/>
          </a:xfrm>
          <a:prstGeom prst="ellipse">
            <a:avLst/>
          </a:prstGeom>
          <a:solidFill>
            <a:srgbClr val="C99A3D"/>
          </a:solidFill>
          <a:ln w="12700">
            <a:solidFill>
              <a:srgbClr val="C99A3D"/>
            </a:solidFill>
          </a:ln>
        </p:spPr>
        <p:txBody>
          <a:bodyPr lIns="45719" rIns="45719"/>
          <a:lstStyle/>
          <a:p>
            <a:pPr/>
          </a:p>
        </p:txBody>
      </p:sp>
      <p:sp>
        <p:nvSpPr>
          <p:cNvPr id="204" name="c2_num"/>
          <p:cNvSpPr txBox="1"/>
          <p:nvPr/>
        </p:nvSpPr>
        <p:spPr>
          <a:xfrm>
            <a:off x="1371600" y="3117088"/>
            <a:ext cx="384048"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400">
                <a:solidFill>
                  <a:srgbClr val="3D2B1F"/>
                </a:solidFill>
                <a:latin typeface="Georgia"/>
                <a:ea typeface="Georgia"/>
                <a:cs typeface="Georgia"/>
                <a:sym typeface="Georgia"/>
              </a:defRPr>
            </a:lvl1pPr>
          </a:lstStyle>
          <a:p>
            <a:pPr/>
            <a:r>
              <a:t>3</a:t>
            </a:r>
          </a:p>
        </p:txBody>
      </p:sp>
      <p:sp>
        <p:nvSpPr>
          <p:cNvPr id="205" name="c2_q"/>
          <p:cNvSpPr txBox="1"/>
          <p:nvPr/>
        </p:nvSpPr>
        <p:spPr>
          <a:xfrm>
            <a:off x="1901951" y="2841557"/>
            <a:ext cx="4166465" cy="75426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nSpc>
                <a:spcPts val="2000"/>
              </a:lnSpc>
              <a:defRPr sz="1600">
                <a:solidFill>
                  <a:srgbClr val="2A1D14"/>
                </a:solidFill>
                <a:latin typeface="Arial"/>
                <a:ea typeface="Arial"/>
                <a:cs typeface="Arial"/>
                <a:sym typeface="Arial"/>
              </a:defRPr>
            </a:lvl1pPr>
          </a:lstStyle>
          <a:p>
            <a:pPr/>
            <a:r>
              <a:t>A fish stock of 300,000 tonnes grows by 8% a year. Calculate the maximum sustainable catch.</a:t>
            </a:r>
          </a:p>
        </p:txBody>
      </p:sp>
      <p:grpSp>
        <p:nvGrpSpPr>
          <p:cNvPr id="208" name="c2_a"/>
          <p:cNvGrpSpPr/>
          <p:nvPr/>
        </p:nvGrpSpPr>
        <p:grpSpPr>
          <a:xfrm>
            <a:off x="1371600" y="3685032"/>
            <a:ext cx="4696817" cy="438913"/>
            <a:chOff x="0" y="0"/>
            <a:chExt cx="4696816" cy="438912"/>
          </a:xfrm>
        </p:grpSpPr>
        <p:sp>
          <p:nvSpPr>
            <p:cNvPr id="206" name="Rounded Rectangle"/>
            <p:cNvSpPr/>
            <p:nvPr/>
          </p:nvSpPr>
          <p:spPr>
            <a:xfrm>
              <a:off x="0" y="0"/>
              <a:ext cx="4696817" cy="438913"/>
            </a:xfrm>
            <a:prstGeom prst="roundRect">
              <a:avLst>
                <a:gd name="adj" fmla="val 20833"/>
              </a:avLst>
            </a:prstGeom>
            <a:solidFill>
              <a:srgbClr val="ECE1CB"/>
            </a:solidFill>
            <a:ln w="16510" cap="flat">
              <a:solidFill>
                <a:srgbClr val="C99A3D"/>
              </a:solidFill>
              <a:prstDash val="solid"/>
              <a:round/>
            </a:ln>
            <a:effectLst/>
          </p:spPr>
          <p:txBody>
            <a:bodyPr wrap="square" lIns="45719" tIns="45719" rIns="45719" bIns="45719" numCol="1" anchor="ctr">
              <a:noAutofit/>
            </a:bodyPr>
            <a:lstStyle/>
            <a:p>
              <a:pPr>
                <a:defRPr sz="1300"/>
              </a:pPr>
            </a:p>
          </p:txBody>
        </p:sp>
        <p:sp>
          <p:nvSpPr>
            <p:cNvPr id="207" name="24,000 tonnes. 300,000 × 8 ÷ 100."/>
            <p:cNvSpPr txBox="1"/>
            <p:nvPr/>
          </p:nvSpPr>
          <p:spPr>
            <a:xfrm>
              <a:off x="35035" y="125890"/>
              <a:ext cx="4626746" cy="187132"/>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1015" tIns="1015" rIns="1015" bIns="1015" numCol="1" anchor="ctr">
              <a:spAutoFit/>
            </a:bodyPr>
            <a:lstStyle>
              <a:lvl1pPr>
                <a:defRPr b="1" sz="1300">
                  <a:solidFill>
                    <a:srgbClr val="3D2B1F"/>
                  </a:solidFill>
                  <a:latin typeface="Arial"/>
                  <a:ea typeface="Arial"/>
                  <a:cs typeface="Arial"/>
                  <a:sym typeface="Arial"/>
                </a:defRPr>
              </a:lvl1pPr>
            </a:lstStyle>
            <a:p>
              <a:pPr/>
              <a:r>
                <a:t>24,000 tonnes. 300,000 × 8 ÷ 100.</a:t>
              </a:r>
            </a:p>
          </p:txBody>
        </p:sp>
      </p:grpSp>
      <p:sp>
        <p:nvSpPr>
          <p:cNvPr id="209" name="c3_bg"/>
          <p:cNvSpPr/>
          <p:nvPr/>
        </p:nvSpPr>
        <p:spPr>
          <a:xfrm>
            <a:off x="6543903" y="2679192"/>
            <a:ext cx="5099153" cy="1572769"/>
          </a:xfrm>
          <a:prstGeom prst="roundRect">
            <a:avLst>
              <a:gd name="adj" fmla="val 5814"/>
            </a:avLst>
          </a:prstGeom>
          <a:solidFill>
            <a:srgbClr val="FFFFFF"/>
          </a:solidFill>
          <a:ln w="16510">
            <a:solidFill>
              <a:srgbClr val="D9C9A8"/>
            </a:solidFill>
          </a:ln>
        </p:spPr>
        <p:txBody>
          <a:bodyPr lIns="45719" rIns="45719"/>
          <a:lstStyle/>
          <a:p>
            <a:pPr/>
          </a:p>
        </p:txBody>
      </p:sp>
      <p:sp>
        <p:nvSpPr>
          <p:cNvPr id="210" name="c3_badge"/>
          <p:cNvSpPr/>
          <p:nvPr/>
        </p:nvSpPr>
        <p:spPr>
          <a:xfrm>
            <a:off x="6745072" y="3026664"/>
            <a:ext cx="384049" cy="384049"/>
          </a:xfrm>
          <a:prstGeom prst="ellipse">
            <a:avLst/>
          </a:prstGeom>
          <a:solidFill>
            <a:srgbClr val="C99A3D"/>
          </a:solidFill>
          <a:ln w="12700">
            <a:solidFill>
              <a:srgbClr val="C99A3D"/>
            </a:solidFill>
          </a:ln>
        </p:spPr>
        <p:txBody>
          <a:bodyPr lIns="45719" rIns="45719"/>
          <a:lstStyle/>
          <a:p>
            <a:pPr/>
          </a:p>
        </p:txBody>
      </p:sp>
      <p:sp>
        <p:nvSpPr>
          <p:cNvPr id="211" name="c3_num"/>
          <p:cNvSpPr txBox="1"/>
          <p:nvPr/>
        </p:nvSpPr>
        <p:spPr>
          <a:xfrm>
            <a:off x="6745072" y="3117088"/>
            <a:ext cx="384049"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400">
                <a:solidFill>
                  <a:srgbClr val="3D2B1F"/>
                </a:solidFill>
                <a:latin typeface="Georgia"/>
                <a:ea typeface="Georgia"/>
                <a:cs typeface="Georgia"/>
                <a:sym typeface="Georgia"/>
              </a:defRPr>
            </a:lvl1pPr>
          </a:lstStyle>
          <a:p>
            <a:pPr/>
            <a:r>
              <a:t>4</a:t>
            </a:r>
          </a:p>
        </p:txBody>
      </p:sp>
      <p:sp>
        <p:nvSpPr>
          <p:cNvPr id="212" name="c3_q"/>
          <p:cNvSpPr txBox="1"/>
          <p:nvPr/>
        </p:nvSpPr>
        <p:spPr>
          <a:xfrm>
            <a:off x="7275424" y="2968557"/>
            <a:ext cx="4166465" cy="50026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nSpc>
                <a:spcPts val="2000"/>
              </a:lnSpc>
              <a:defRPr sz="1600">
                <a:solidFill>
                  <a:srgbClr val="2A1D14"/>
                </a:solidFill>
                <a:latin typeface="Arial"/>
                <a:ea typeface="Arial"/>
                <a:cs typeface="Arial"/>
                <a:sym typeface="Arial"/>
              </a:defRPr>
            </a:lvl1pPr>
          </a:lstStyle>
          <a:p>
            <a:pPr/>
            <a:r>
              <a:t>Name two ways a resource can be managed in practice.</a:t>
            </a:r>
          </a:p>
        </p:txBody>
      </p:sp>
      <p:grpSp>
        <p:nvGrpSpPr>
          <p:cNvPr id="215" name="c3_a"/>
          <p:cNvGrpSpPr/>
          <p:nvPr/>
        </p:nvGrpSpPr>
        <p:grpSpPr>
          <a:xfrm>
            <a:off x="6745072" y="3685032"/>
            <a:ext cx="4696817" cy="438913"/>
            <a:chOff x="0" y="0"/>
            <a:chExt cx="4696816" cy="438912"/>
          </a:xfrm>
        </p:grpSpPr>
        <p:sp>
          <p:nvSpPr>
            <p:cNvPr id="213" name="Rounded Rectangle"/>
            <p:cNvSpPr/>
            <p:nvPr/>
          </p:nvSpPr>
          <p:spPr>
            <a:xfrm>
              <a:off x="0" y="0"/>
              <a:ext cx="4696817" cy="438913"/>
            </a:xfrm>
            <a:prstGeom prst="roundRect">
              <a:avLst>
                <a:gd name="adj" fmla="val 20833"/>
              </a:avLst>
            </a:prstGeom>
            <a:solidFill>
              <a:srgbClr val="ECE1CB"/>
            </a:solidFill>
            <a:ln w="16510" cap="flat">
              <a:solidFill>
                <a:srgbClr val="C99A3D"/>
              </a:solidFill>
              <a:prstDash val="solid"/>
              <a:round/>
            </a:ln>
            <a:effectLst/>
          </p:spPr>
          <p:txBody>
            <a:bodyPr wrap="square" lIns="45719" tIns="45719" rIns="45719" bIns="45719" numCol="1" anchor="ctr">
              <a:noAutofit/>
            </a:bodyPr>
            <a:lstStyle/>
            <a:p>
              <a:pPr>
                <a:defRPr sz="1300"/>
              </a:pPr>
            </a:p>
          </p:txBody>
        </p:sp>
        <p:sp>
          <p:nvSpPr>
            <p:cNvPr id="214" name="Any two: limits or bans on how much is taken, replanting, recycling."/>
            <p:cNvSpPr txBox="1"/>
            <p:nvPr/>
          </p:nvSpPr>
          <p:spPr>
            <a:xfrm>
              <a:off x="35035" y="30640"/>
              <a:ext cx="4626746" cy="377632"/>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1015" tIns="1015" rIns="1015" bIns="1015" numCol="1" anchor="ctr">
              <a:spAutoFit/>
            </a:bodyPr>
            <a:lstStyle>
              <a:lvl1pPr>
                <a:defRPr b="1" sz="1300">
                  <a:solidFill>
                    <a:srgbClr val="3D2B1F"/>
                  </a:solidFill>
                  <a:latin typeface="Arial"/>
                  <a:ea typeface="Arial"/>
                  <a:cs typeface="Arial"/>
                  <a:sym typeface="Arial"/>
                </a:defRPr>
              </a:lvl1pPr>
            </a:lstStyle>
            <a:p>
              <a:pPr/>
              <a:r>
                <a:t>Any two: limits or bans on how much is taken, replanting, recycling.</a:t>
              </a:r>
            </a:p>
          </p:txBody>
        </p:sp>
      </p:grpSp>
      <p:sp>
        <p:nvSpPr>
          <p:cNvPr id="216" name="c4_bg"/>
          <p:cNvSpPr/>
          <p:nvPr/>
        </p:nvSpPr>
        <p:spPr>
          <a:xfrm>
            <a:off x="1170432" y="4398264"/>
            <a:ext cx="5099152" cy="1572769"/>
          </a:xfrm>
          <a:prstGeom prst="roundRect">
            <a:avLst>
              <a:gd name="adj" fmla="val 5814"/>
            </a:avLst>
          </a:prstGeom>
          <a:solidFill>
            <a:srgbClr val="FFFFFF"/>
          </a:solidFill>
          <a:ln w="16510">
            <a:solidFill>
              <a:srgbClr val="D9C9A8"/>
            </a:solidFill>
          </a:ln>
        </p:spPr>
        <p:txBody>
          <a:bodyPr lIns="45719" rIns="45719"/>
          <a:lstStyle/>
          <a:p>
            <a:pPr/>
          </a:p>
        </p:txBody>
      </p:sp>
      <p:sp>
        <p:nvSpPr>
          <p:cNvPr id="217" name="c4_badge"/>
          <p:cNvSpPr/>
          <p:nvPr/>
        </p:nvSpPr>
        <p:spPr>
          <a:xfrm>
            <a:off x="1371600" y="4745735"/>
            <a:ext cx="384048" cy="384049"/>
          </a:xfrm>
          <a:prstGeom prst="ellipse">
            <a:avLst/>
          </a:prstGeom>
          <a:solidFill>
            <a:srgbClr val="C99A3D"/>
          </a:solidFill>
          <a:ln w="12700">
            <a:solidFill>
              <a:srgbClr val="C99A3D"/>
            </a:solidFill>
          </a:ln>
        </p:spPr>
        <p:txBody>
          <a:bodyPr lIns="45719" rIns="45719"/>
          <a:lstStyle/>
          <a:p>
            <a:pPr/>
          </a:p>
        </p:txBody>
      </p:sp>
      <p:sp>
        <p:nvSpPr>
          <p:cNvPr id="218" name="c4_num"/>
          <p:cNvSpPr txBox="1"/>
          <p:nvPr/>
        </p:nvSpPr>
        <p:spPr>
          <a:xfrm>
            <a:off x="1371600" y="4836159"/>
            <a:ext cx="384048"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400">
                <a:solidFill>
                  <a:srgbClr val="3D2B1F"/>
                </a:solidFill>
                <a:latin typeface="Georgia"/>
                <a:ea typeface="Georgia"/>
                <a:cs typeface="Georgia"/>
                <a:sym typeface="Georgia"/>
              </a:defRPr>
            </a:lvl1pPr>
          </a:lstStyle>
          <a:p>
            <a:pPr/>
            <a:r>
              <a:t>5</a:t>
            </a:r>
          </a:p>
        </p:txBody>
      </p:sp>
      <p:sp>
        <p:nvSpPr>
          <p:cNvPr id="219" name="c4_q"/>
          <p:cNvSpPr txBox="1"/>
          <p:nvPr/>
        </p:nvSpPr>
        <p:spPr>
          <a:xfrm>
            <a:off x="1901951" y="4687629"/>
            <a:ext cx="4166465" cy="50026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nSpc>
                <a:spcPts val="2000"/>
              </a:lnSpc>
              <a:defRPr sz="1600">
                <a:solidFill>
                  <a:srgbClr val="2A1D14"/>
                </a:solidFill>
                <a:latin typeface="Arial"/>
                <a:ea typeface="Arial"/>
                <a:cs typeface="Arial"/>
                <a:sym typeface="Arial"/>
              </a:defRPr>
            </a:lvl1pPr>
          </a:lstStyle>
          <a:p>
            <a:pPr/>
            <a:r>
              <a:t>Explain why cutting a forest at exactly its regrowth rate counts as sustainable.</a:t>
            </a:r>
          </a:p>
        </p:txBody>
      </p:sp>
      <p:grpSp>
        <p:nvGrpSpPr>
          <p:cNvPr id="222" name="c4_a"/>
          <p:cNvGrpSpPr/>
          <p:nvPr/>
        </p:nvGrpSpPr>
        <p:grpSpPr>
          <a:xfrm>
            <a:off x="1371600" y="5404103"/>
            <a:ext cx="4696817" cy="438913"/>
            <a:chOff x="0" y="0"/>
            <a:chExt cx="4696816" cy="438912"/>
          </a:xfrm>
        </p:grpSpPr>
        <p:sp>
          <p:nvSpPr>
            <p:cNvPr id="220" name="Rounded Rectangle"/>
            <p:cNvSpPr/>
            <p:nvPr/>
          </p:nvSpPr>
          <p:spPr>
            <a:xfrm>
              <a:off x="0" y="0"/>
              <a:ext cx="4696817" cy="438913"/>
            </a:xfrm>
            <a:prstGeom prst="roundRect">
              <a:avLst>
                <a:gd name="adj" fmla="val 20833"/>
              </a:avLst>
            </a:prstGeom>
            <a:solidFill>
              <a:srgbClr val="ECE1CB"/>
            </a:solidFill>
            <a:ln w="16510" cap="flat">
              <a:solidFill>
                <a:srgbClr val="C99A3D"/>
              </a:solidFill>
              <a:prstDash val="solid"/>
              <a:round/>
            </a:ln>
            <a:effectLst/>
          </p:spPr>
          <p:txBody>
            <a:bodyPr wrap="square" lIns="45719" tIns="45719" rIns="45719" bIns="45719" numCol="1" anchor="ctr">
              <a:noAutofit/>
            </a:bodyPr>
            <a:lstStyle/>
            <a:p>
              <a:pPr>
                <a:defRPr sz="1300"/>
              </a:pPr>
            </a:p>
          </p:txBody>
        </p:sp>
        <p:sp>
          <p:nvSpPr>
            <p:cNvPr id="221" name="The amount of forest stays the same. Nothing is lost overall."/>
            <p:cNvSpPr txBox="1"/>
            <p:nvPr/>
          </p:nvSpPr>
          <p:spPr>
            <a:xfrm>
              <a:off x="35035" y="30640"/>
              <a:ext cx="4626746" cy="377632"/>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1015" tIns="1015" rIns="1015" bIns="1015" numCol="1" anchor="ctr">
              <a:spAutoFit/>
            </a:bodyPr>
            <a:lstStyle>
              <a:lvl1pPr>
                <a:defRPr b="1" sz="1300">
                  <a:solidFill>
                    <a:srgbClr val="3D2B1F"/>
                  </a:solidFill>
                  <a:latin typeface="Arial"/>
                  <a:ea typeface="Arial"/>
                  <a:cs typeface="Arial"/>
                  <a:sym typeface="Arial"/>
                </a:defRPr>
              </a:lvl1pPr>
            </a:lstStyle>
            <a:p>
              <a:pPr/>
              <a:r>
                <a:t>The amount of forest stays the same. Nothing is lost overall.</a:t>
              </a:r>
            </a:p>
          </p:txBody>
        </p:sp>
      </p:grpSp>
      <p:sp>
        <p:nvSpPr>
          <p:cNvPr id="223" name="c5_bg"/>
          <p:cNvSpPr/>
          <p:nvPr/>
        </p:nvSpPr>
        <p:spPr>
          <a:xfrm>
            <a:off x="6543903" y="4398264"/>
            <a:ext cx="5099153" cy="1572769"/>
          </a:xfrm>
          <a:prstGeom prst="roundRect">
            <a:avLst>
              <a:gd name="adj" fmla="val 5814"/>
            </a:avLst>
          </a:prstGeom>
          <a:solidFill>
            <a:srgbClr val="FFFFFF"/>
          </a:solidFill>
          <a:ln w="16510">
            <a:solidFill>
              <a:srgbClr val="D9C9A8"/>
            </a:solidFill>
          </a:ln>
        </p:spPr>
        <p:txBody>
          <a:bodyPr lIns="45719" rIns="45719"/>
          <a:lstStyle/>
          <a:p>
            <a:pPr/>
          </a:p>
        </p:txBody>
      </p:sp>
      <p:sp>
        <p:nvSpPr>
          <p:cNvPr id="224" name="c5_badge"/>
          <p:cNvSpPr/>
          <p:nvPr/>
        </p:nvSpPr>
        <p:spPr>
          <a:xfrm>
            <a:off x="6745072" y="4745735"/>
            <a:ext cx="384049" cy="384049"/>
          </a:xfrm>
          <a:prstGeom prst="ellipse">
            <a:avLst/>
          </a:prstGeom>
          <a:solidFill>
            <a:srgbClr val="C99A3D"/>
          </a:solidFill>
          <a:ln w="12700">
            <a:solidFill>
              <a:srgbClr val="C99A3D"/>
            </a:solidFill>
          </a:ln>
        </p:spPr>
        <p:txBody>
          <a:bodyPr lIns="45719" rIns="45719"/>
          <a:lstStyle/>
          <a:p>
            <a:pPr/>
          </a:p>
        </p:txBody>
      </p:sp>
      <p:sp>
        <p:nvSpPr>
          <p:cNvPr id="225" name="c5_num"/>
          <p:cNvSpPr txBox="1"/>
          <p:nvPr/>
        </p:nvSpPr>
        <p:spPr>
          <a:xfrm>
            <a:off x="6745072" y="4836159"/>
            <a:ext cx="384049"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400">
                <a:solidFill>
                  <a:srgbClr val="3D2B1F"/>
                </a:solidFill>
                <a:latin typeface="Georgia"/>
                <a:ea typeface="Georgia"/>
                <a:cs typeface="Georgia"/>
                <a:sym typeface="Georgia"/>
              </a:defRPr>
            </a:lvl1pPr>
          </a:lstStyle>
          <a:p>
            <a:pPr/>
            <a:r>
              <a:t>6</a:t>
            </a:r>
          </a:p>
        </p:txBody>
      </p:sp>
      <p:sp>
        <p:nvSpPr>
          <p:cNvPr id="226" name="c5_q"/>
          <p:cNvSpPr txBox="1"/>
          <p:nvPr/>
        </p:nvSpPr>
        <p:spPr>
          <a:xfrm>
            <a:off x="7275424" y="4560629"/>
            <a:ext cx="4166465" cy="75426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nSpc>
                <a:spcPts val="2000"/>
              </a:lnSpc>
              <a:defRPr sz="1600">
                <a:solidFill>
                  <a:srgbClr val="2A1D14"/>
                </a:solidFill>
                <a:latin typeface="Arial"/>
                <a:ea typeface="Arial"/>
                <a:cs typeface="Arial"/>
                <a:sym typeface="Arial"/>
              </a:defRPr>
            </a:lvl1pPr>
          </a:lstStyle>
          <a:p>
            <a:pPr/>
            <a:r>
              <a:t>The humpback whale population recovered after hunting was banned in 1986. State what this shows about conservation.</a:t>
            </a:r>
          </a:p>
        </p:txBody>
      </p:sp>
      <p:grpSp>
        <p:nvGrpSpPr>
          <p:cNvPr id="229" name="c5_a"/>
          <p:cNvGrpSpPr/>
          <p:nvPr/>
        </p:nvGrpSpPr>
        <p:grpSpPr>
          <a:xfrm>
            <a:off x="6745072" y="5404103"/>
            <a:ext cx="4696817" cy="438913"/>
            <a:chOff x="0" y="0"/>
            <a:chExt cx="4696816" cy="438912"/>
          </a:xfrm>
        </p:grpSpPr>
        <p:sp>
          <p:nvSpPr>
            <p:cNvPr id="227" name="Rounded Rectangle"/>
            <p:cNvSpPr/>
            <p:nvPr/>
          </p:nvSpPr>
          <p:spPr>
            <a:xfrm>
              <a:off x="0" y="0"/>
              <a:ext cx="4696817" cy="438913"/>
            </a:xfrm>
            <a:prstGeom prst="roundRect">
              <a:avLst>
                <a:gd name="adj" fmla="val 20833"/>
              </a:avLst>
            </a:prstGeom>
            <a:solidFill>
              <a:srgbClr val="ECE1CB"/>
            </a:solidFill>
            <a:ln w="16510" cap="flat">
              <a:solidFill>
                <a:srgbClr val="C99A3D"/>
              </a:solidFill>
              <a:prstDash val="solid"/>
              <a:round/>
            </a:ln>
            <a:effectLst/>
          </p:spPr>
          <p:txBody>
            <a:bodyPr wrap="square" lIns="45719" tIns="45719" rIns="45719" bIns="45719" numCol="1" anchor="ctr">
              <a:noAutofit/>
            </a:bodyPr>
            <a:lstStyle/>
            <a:p>
              <a:pPr>
                <a:defRPr sz="1300"/>
              </a:pPr>
            </a:p>
          </p:txBody>
        </p:sp>
        <p:sp>
          <p:nvSpPr>
            <p:cNvPr id="228" name="Protecting a resource early enough can let it recover, even after a severe collapse."/>
            <p:cNvSpPr txBox="1"/>
            <p:nvPr/>
          </p:nvSpPr>
          <p:spPr>
            <a:xfrm>
              <a:off x="35035" y="30640"/>
              <a:ext cx="4626746" cy="377632"/>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1015" tIns="1015" rIns="1015" bIns="1015" numCol="1" anchor="ctr">
              <a:spAutoFit/>
            </a:bodyPr>
            <a:lstStyle>
              <a:lvl1pPr>
                <a:defRPr b="1" sz="1300">
                  <a:solidFill>
                    <a:srgbClr val="3D2B1F"/>
                  </a:solidFill>
                  <a:latin typeface="Arial"/>
                  <a:ea typeface="Arial"/>
                  <a:cs typeface="Arial"/>
                  <a:sym typeface="Arial"/>
                </a:defRPr>
              </a:lvl1pPr>
            </a:lstStyle>
            <a:p>
              <a:pPr/>
              <a:r>
                <a:t>Protecting a resource early enough can let it recover, even after a severe collapse.</a:t>
              </a:r>
            </a:p>
          </p:txBody>
        </p:sp>
      </p:grpSp>
    </p:spTree>
  </p:cSld>
  <p:clrMapOvr>
    <a:masterClrMapping/>
  </p:clrMapOvr>
  <mc:AlternateContent xmlns:mc="http://schemas.openxmlformats.org/markup-compatibility/2006">
    <mc:Choice xmlns:p14="http://schemas.microsoft.com/office/powerpoint/2010/main" Requires="p14">
      <p:transition spd="med" advClick="1" p14:dur="1000">
        <p:fade/>
      </p:transition>
    </mc:Choice>
    <mc:Fallback>
      <p:transition spd="med">
        <p:fade/>
      </p:transition>
    </mc:Fallback>
  </mc:AlternateContent>
  <p:timing>
    <p:tnLst>
      <p:par>
        <p:cTn id="1" nodeType="tmRoot" restart="never" dur="indefinite" fill="hold">
          <p:childTnLst>
            <p:seq concurrent="1" prevAc="none" nextAc="seek">
              <p:cTn id="2" nodeType="mainSeq" dur="indefinite" fill="hold">
                <p:childTnLst>
                  <p:par>
                    <p:cTn id="3" fill="hold">
                      <p:stCondLst>
                        <p:cond delay="indefinite"/>
                        <p:cond evt="onBegin">
                          <p:tn val="2"/>
                        </p:cond>
                      </p:stCondLst>
                      <p:childTnLst>
                        <p:par>
                          <p:cTn id="4" fill="hold">
                            <p:stCondLst>
                              <p:cond delay="0"/>
                            </p:stCondLst>
                            <p:childTnLst>
                              <p:par>
                                <p:cTn id="5" presetClass="mediacall" nodeType="afterEffect" presetSubtype="0" presetID="1" grpId="1" fill="hold">
                                  <p:stCondLst>
                                    <p:cond delay="0"/>
                                  </p:stCondLst>
                                  <p:childTnLst>
                                    <p:cmd type="call" cmd="playFrom(0.0)">
                                      <p:cBhvr>
                                        <p:cTn id="6" dur="360000" fill="hold"/>
                                        <p:tgtEl>
                                          <p:spTgt spid="184"/>
                                        </p:tgtEl>
                                      </p:cBhvr>
                                    </p:cmd>
                                  </p:childTnLst>
                                </p:cTn>
                              </p:par>
                            </p:childTnLst>
                          </p:cTn>
                        </p:par>
                      </p:childTnLst>
                    </p:cTn>
                  </p:par>
                  <p:par>
                    <p:cTn id="7" fill="hold">
                      <p:stCondLst>
                        <p:cond delay="indefinite"/>
                      </p:stCondLst>
                      <p:childTnLst>
                        <p:par>
                          <p:cTn id="8" fill="hold">
                            <p:stCondLst>
                              <p:cond delay="0"/>
                            </p:stCondLst>
                            <p:childTnLst>
                              <p:par>
                                <p:cTn id="9" presetClass="entr" nodeType="clickEffect" presetSubtype="8" presetID="22" grpId="2" fill="hold">
                                  <p:stCondLst>
                                    <p:cond delay="0"/>
                                  </p:stCondLst>
                                  <p:iterate type="el" backwards="0">
                                    <p:tmAbs val="0"/>
                                  </p:iterate>
                                  <p:childTnLst>
                                    <p:set>
                                      <p:cBhvr>
                                        <p:cTn id="10" fill="hold"/>
                                        <p:tgtEl>
                                          <p:spTgt spid="194"/>
                                        </p:tgtEl>
                                        <p:attrNameLst>
                                          <p:attrName>style.visibility</p:attrName>
                                        </p:attrNameLst>
                                      </p:cBhvr>
                                      <p:to>
                                        <p:strVal val="visible"/>
                                      </p:to>
                                    </p:set>
                                    <p:animEffect filter="wipe(left)" transition="in">
                                      <p:cBhvr>
                                        <p:cTn id="11" dur="400"/>
                                        <p:tgtEl>
                                          <p:spTgt spid="194"/>
                                        </p:tgtEl>
                                      </p:cBhvr>
                                    </p:animEffect>
                                  </p:childTnLst>
                                </p:cTn>
                              </p:par>
                            </p:childTnLst>
                          </p:cTn>
                        </p:par>
                      </p:childTnLst>
                    </p:cTn>
                  </p:par>
                  <p:par>
                    <p:cTn id="12" fill="hold">
                      <p:stCondLst>
                        <p:cond delay="indefinite"/>
                      </p:stCondLst>
                      <p:childTnLst>
                        <p:par>
                          <p:cTn id="13" fill="hold">
                            <p:stCondLst>
                              <p:cond delay="0"/>
                            </p:stCondLst>
                            <p:childTnLst>
                              <p:par>
                                <p:cTn id="14" presetClass="entr" nodeType="clickEffect" presetSubtype="8" presetID="22" grpId="3" fill="hold">
                                  <p:stCondLst>
                                    <p:cond delay="0"/>
                                  </p:stCondLst>
                                  <p:iterate type="el" backwards="0">
                                    <p:tmAbs val="0"/>
                                  </p:iterate>
                                  <p:childTnLst>
                                    <p:set>
                                      <p:cBhvr>
                                        <p:cTn id="15" fill="hold"/>
                                        <p:tgtEl>
                                          <p:spTgt spid="201"/>
                                        </p:tgtEl>
                                        <p:attrNameLst>
                                          <p:attrName>style.visibility</p:attrName>
                                        </p:attrNameLst>
                                      </p:cBhvr>
                                      <p:to>
                                        <p:strVal val="visible"/>
                                      </p:to>
                                    </p:set>
                                    <p:animEffect filter="wipe(left)" transition="in">
                                      <p:cBhvr>
                                        <p:cTn id="16" dur="400"/>
                                        <p:tgtEl>
                                          <p:spTgt spid="201"/>
                                        </p:tgtEl>
                                      </p:cBhvr>
                                    </p:animEffect>
                                  </p:childTnLst>
                                </p:cTn>
                              </p:par>
                            </p:childTnLst>
                          </p:cTn>
                        </p:par>
                      </p:childTnLst>
                    </p:cTn>
                  </p:par>
                  <p:par>
                    <p:cTn id="17" fill="hold">
                      <p:stCondLst>
                        <p:cond delay="indefinite"/>
                      </p:stCondLst>
                      <p:childTnLst>
                        <p:par>
                          <p:cTn id="18" fill="hold">
                            <p:stCondLst>
                              <p:cond delay="0"/>
                            </p:stCondLst>
                            <p:childTnLst>
                              <p:par>
                                <p:cTn id="19" presetClass="entr" nodeType="clickEffect" presetSubtype="8" presetID="22" grpId="4" fill="hold">
                                  <p:stCondLst>
                                    <p:cond delay="0"/>
                                  </p:stCondLst>
                                  <p:iterate type="el" backwards="0">
                                    <p:tmAbs val="0"/>
                                  </p:iterate>
                                  <p:childTnLst>
                                    <p:set>
                                      <p:cBhvr>
                                        <p:cTn id="20" fill="hold"/>
                                        <p:tgtEl>
                                          <p:spTgt spid="208"/>
                                        </p:tgtEl>
                                        <p:attrNameLst>
                                          <p:attrName>style.visibility</p:attrName>
                                        </p:attrNameLst>
                                      </p:cBhvr>
                                      <p:to>
                                        <p:strVal val="visible"/>
                                      </p:to>
                                    </p:set>
                                    <p:animEffect filter="wipe(left)" transition="in">
                                      <p:cBhvr>
                                        <p:cTn id="21" dur="400"/>
                                        <p:tgtEl>
                                          <p:spTgt spid="208"/>
                                        </p:tgtEl>
                                      </p:cBhvr>
                                    </p:animEffect>
                                  </p:childTnLst>
                                </p:cTn>
                              </p:par>
                            </p:childTnLst>
                          </p:cTn>
                        </p:par>
                      </p:childTnLst>
                    </p:cTn>
                  </p:par>
                  <p:par>
                    <p:cTn id="22" fill="hold">
                      <p:stCondLst>
                        <p:cond delay="indefinite"/>
                      </p:stCondLst>
                      <p:childTnLst>
                        <p:par>
                          <p:cTn id="23" fill="hold">
                            <p:stCondLst>
                              <p:cond delay="0"/>
                            </p:stCondLst>
                            <p:childTnLst>
                              <p:par>
                                <p:cTn id="24" presetClass="entr" nodeType="clickEffect" presetSubtype="8" presetID="22" grpId="5" fill="hold">
                                  <p:stCondLst>
                                    <p:cond delay="0"/>
                                  </p:stCondLst>
                                  <p:iterate type="el" backwards="0">
                                    <p:tmAbs val="0"/>
                                  </p:iterate>
                                  <p:childTnLst>
                                    <p:set>
                                      <p:cBhvr>
                                        <p:cTn id="25" fill="hold"/>
                                        <p:tgtEl>
                                          <p:spTgt spid="215"/>
                                        </p:tgtEl>
                                        <p:attrNameLst>
                                          <p:attrName>style.visibility</p:attrName>
                                        </p:attrNameLst>
                                      </p:cBhvr>
                                      <p:to>
                                        <p:strVal val="visible"/>
                                      </p:to>
                                    </p:set>
                                    <p:animEffect filter="wipe(left)" transition="in">
                                      <p:cBhvr>
                                        <p:cTn id="26" dur="400"/>
                                        <p:tgtEl>
                                          <p:spTgt spid="215"/>
                                        </p:tgtEl>
                                      </p:cBhvr>
                                    </p:animEffect>
                                  </p:childTnLst>
                                </p:cTn>
                              </p:par>
                            </p:childTnLst>
                          </p:cTn>
                        </p:par>
                      </p:childTnLst>
                    </p:cTn>
                  </p:par>
                  <p:par>
                    <p:cTn id="27" fill="hold">
                      <p:stCondLst>
                        <p:cond delay="indefinite"/>
                      </p:stCondLst>
                      <p:childTnLst>
                        <p:par>
                          <p:cTn id="28" fill="hold">
                            <p:stCondLst>
                              <p:cond delay="0"/>
                            </p:stCondLst>
                            <p:childTnLst>
                              <p:par>
                                <p:cTn id="29" presetClass="entr" nodeType="clickEffect" presetSubtype="8" presetID="22" grpId="6" fill="hold">
                                  <p:stCondLst>
                                    <p:cond delay="0"/>
                                  </p:stCondLst>
                                  <p:iterate type="el" backwards="0">
                                    <p:tmAbs val="0"/>
                                  </p:iterate>
                                  <p:childTnLst>
                                    <p:set>
                                      <p:cBhvr>
                                        <p:cTn id="30" fill="hold"/>
                                        <p:tgtEl>
                                          <p:spTgt spid="222"/>
                                        </p:tgtEl>
                                        <p:attrNameLst>
                                          <p:attrName>style.visibility</p:attrName>
                                        </p:attrNameLst>
                                      </p:cBhvr>
                                      <p:to>
                                        <p:strVal val="visible"/>
                                      </p:to>
                                    </p:set>
                                    <p:animEffect filter="wipe(left)" transition="in">
                                      <p:cBhvr>
                                        <p:cTn id="31" dur="400"/>
                                        <p:tgtEl>
                                          <p:spTgt spid="222"/>
                                        </p:tgtEl>
                                      </p:cBhvr>
                                    </p:animEffect>
                                  </p:childTnLst>
                                </p:cTn>
                              </p:par>
                            </p:childTnLst>
                          </p:cTn>
                        </p:par>
                      </p:childTnLst>
                    </p:cTn>
                  </p:par>
                  <p:par>
                    <p:cTn id="32" fill="hold">
                      <p:stCondLst>
                        <p:cond delay="indefinite"/>
                      </p:stCondLst>
                      <p:childTnLst>
                        <p:par>
                          <p:cTn id="33" fill="hold">
                            <p:stCondLst>
                              <p:cond delay="0"/>
                            </p:stCondLst>
                            <p:childTnLst>
                              <p:par>
                                <p:cTn id="34" presetClass="entr" nodeType="clickEffect" presetSubtype="8" presetID="22" grpId="7" fill="hold">
                                  <p:stCondLst>
                                    <p:cond delay="0"/>
                                  </p:stCondLst>
                                  <p:iterate type="el" backwards="0">
                                    <p:tmAbs val="0"/>
                                  </p:iterate>
                                  <p:childTnLst>
                                    <p:set>
                                      <p:cBhvr>
                                        <p:cTn id="35" fill="hold"/>
                                        <p:tgtEl>
                                          <p:spTgt spid="229"/>
                                        </p:tgtEl>
                                        <p:attrNameLst>
                                          <p:attrName>style.visibility</p:attrName>
                                        </p:attrNameLst>
                                      </p:cBhvr>
                                      <p:to>
                                        <p:strVal val="visible"/>
                                      </p:to>
                                    </p:set>
                                    <p:animEffect filter="wipe(left)" transition="in">
                                      <p:cBhvr>
                                        <p:cTn id="36" dur="400"/>
                                        <p:tgtEl>
                                          <p:spTgt spid="229"/>
                                        </p:tgtEl>
                                      </p:cBhvr>
                                    </p:animEffect>
                                  </p:childTnLst>
                                </p:cTn>
                              </p:par>
                            </p:childTnLst>
                          </p:cTn>
                        </p:par>
                      </p:childTnLst>
                    </p:cTn>
                  </p:par>
                </p:childTnLst>
              </p:cTn>
              <p:prevCondLst>
                <p:cond evt="onPrev">
                  <p:tgtEl>
                    <p:sldTgt/>
                  </p:tgtEl>
                </p:cond>
              </p:prevCondLst>
              <p:nextCondLst>
                <p:cond evt="onNext">
                  <p:tgtEl>
                    <p:sldTgt/>
                  </p:tgtEl>
                </p:cond>
              </p:nextCondLst>
            </p:seq>
            <p:video fullScrn="0">
              <p:cMediaNode mute="0" showWhenStopped="1" numSld="1" vol="0">
                <p:cTn id="37" fill="hold" display="0">
                  <p:stCondLst>
                    <p:cond delay="indefinite"/>
                  </p:stCondLst>
                </p:cTn>
                <p:tgtEl>
                  <p:spTgt spid="184"/>
                </p:tgtEl>
              </p:cMediaNode>
            </p:video>
            <p:seq concurrent="1" prevAc="none" nextAc="seek">
              <p:cTn id="38" evtFilter="cancelBubble" nodeType="interactiveSeq" restart="whenNotActive" fill="hold">
                <p:stCondLst>
                  <p:cond delay="0" evt="onClick">
                    <p:tgtEl>
                      <p:spTgt spid="184"/>
                    </p:tgtEl>
                  </p:cond>
                </p:stCondLst>
                <p:endSync delay="0" evt="end">
                  <p:rtn val="all"/>
                </p:endSync>
                <p:childTnLst>
                  <p:par>
                    <p:cTn id="39" fill="hold">
                      <p:stCondLst>
                        <p:cond delay="0"/>
                      </p:stCondLst>
                      <p:childTnLst>
                        <p:par>
                          <p:cTn id="40" fill="hold">
                            <p:stCondLst>
                              <p:cond delay="0"/>
                            </p:stCondLst>
                            <p:childTnLst>
                              <p:par>
                                <p:cTn id="41" presetClass="mediacall" nodeType="clickEffect" presetSubtype="0" presetID="2" fill="hold">
                                  <p:stCondLst>
                                    <p:cond delay="0"/>
                                  </p:stCondLst>
                                  <p:childTnLst>
                                    <p:cmd type="call" cmd="togglePause">
                                      <p:cBhvr>
                                        <p:cTn id="42" dur="1" fill="hold"/>
                                        <p:tgtEl>
                                          <p:spTgt spid="184"/>
                                        </p:tgtEl>
                                      </p:cBhvr>
                                    </p:cmd>
                                  </p:childTnLst>
                                </p:cTn>
                              </p:par>
                            </p:childTnLst>
                          </p:cTn>
                        </p:par>
                      </p:childTnLst>
                    </p:cTn>
                  </p:par>
                </p:childTnLst>
              </p:cTn>
              <p:nextCondLst>
                <p:cond delay="0" evt="onClick">
                  <p:tgtEl>
                    <p:spTgt spid="184"/>
                  </p:tgtEl>
                </p:cond>
              </p:nextCondLst>
            </p:seq>
          </p:childTnLst>
        </p:cTn>
      </p:par>
    </p:tnLst>
    <p:bldLst>
      <p:bldP build="whole" bldLvl="1" animBg="1" rev="0" advAuto="0" spid="229" grpId="7"/>
      <p:bldP build="whole" bldLvl="1" animBg="1" rev="0" advAuto="0" spid="215" grpId="5"/>
      <p:bldP build="whole" bldLvl="1" animBg="1" rev="0" advAuto="0" spid="201" grpId="3"/>
      <p:bldP build="whole" bldLvl="1" animBg="1" rev="0" advAuto="0" spid="222" grpId="6"/>
      <p:bldP build="whole" bldLvl="1" animBg="1" rev="0" advAuto="0" spid="208" grpId="4"/>
      <p:bldP build="whole" bldLvl="1" animBg="1" rev="0" advAuto="0" spid="194" grpId="2"/>
    </p:bldLst>
  </p:timing>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2EBDD"/>
        </a:solidFill>
      </p:bgPr>
    </p:bg>
    <p:spTree>
      <p:nvGrpSpPr>
        <p:cNvPr id="1" name=""/>
        <p:cNvGrpSpPr/>
        <p:nvPr/>
      </p:nvGrpSpPr>
      <p:grpSpPr>
        <a:xfrm>
          <a:off x="0" y="0"/>
          <a:ext cx="0" cy="0"/>
          <a:chOff x="0" y="0"/>
          <a:chExt cx="0" cy="0"/>
        </a:xfrm>
      </p:grpSpPr>
      <p:pic>
        <p:nvPicPr>
          <p:cNvPr id="233" name="timer_video" descr="timer_video"/>
          <p:cNvPicPr>
            <a:picLocks noChangeAspect="0"/>
          </p:cNvPicPr>
          <p:nvPr>
            <a:videoFile r:link="rId3"/>
            <p:extLst>
              <p:ext uri="{DAA4B4D4-6D71-4841-9C94-3DE7FCFB9230}">
                <p14:media xmlns:p14="http://schemas.microsoft.com/office/powerpoint/2010/main" r:embed="rId4"/>
              </p:ext>
            </p:extLst>
          </p:nvPr>
        </p:nvPicPr>
        <p:blipFill>
          <a:blip r:embed="rId5">
            <a:extLst/>
          </a:blip>
          <a:stretch>
            <a:fillRect/>
          </a:stretch>
        </p:blipFill>
        <p:spPr>
          <a:xfrm>
            <a:off x="310895" y="310895"/>
            <a:ext cx="457201" cy="6236210"/>
          </a:xfrm>
          <a:prstGeom prst="rect">
            <a:avLst/>
          </a:prstGeom>
          <a:ln w="12700">
            <a:miter lim="400000"/>
          </a:ln>
        </p:spPr>
      </p:pic>
      <p:grpSp>
        <p:nvGrpSpPr>
          <p:cNvPr id="236" name="phase_pill"/>
          <p:cNvGrpSpPr/>
          <p:nvPr/>
        </p:nvGrpSpPr>
        <p:grpSpPr>
          <a:xfrm>
            <a:off x="1170432" y="310895"/>
            <a:ext cx="1892808" cy="329185"/>
            <a:chOff x="0" y="0"/>
            <a:chExt cx="1892807" cy="329184"/>
          </a:xfrm>
        </p:grpSpPr>
        <p:sp>
          <p:nvSpPr>
            <p:cNvPr id="234" name="Rounded Rectangle"/>
            <p:cNvSpPr/>
            <p:nvPr/>
          </p:nvSpPr>
          <p:spPr>
            <a:xfrm>
              <a:off x="0" y="0"/>
              <a:ext cx="1892808" cy="329185"/>
            </a:xfrm>
            <a:prstGeom prst="roundRect">
              <a:avLst>
                <a:gd name="adj" fmla="val 44444"/>
              </a:avLst>
            </a:prstGeom>
            <a:solidFill>
              <a:srgbClr val="3D2B1F"/>
            </a:solidFill>
            <a:ln w="12700" cap="flat">
              <a:noFill/>
              <a:miter lim="400000"/>
            </a:ln>
            <a:effectLst/>
          </p:spPr>
          <p:txBody>
            <a:bodyPr wrap="square" lIns="45719" tIns="45719" rIns="45719" bIns="45719" numCol="1" anchor="ctr">
              <a:noAutofit/>
            </a:bodyPr>
            <a:lstStyle/>
            <a:p>
              <a:pPr algn="ctr">
                <a:defRPr sz="1100"/>
              </a:pPr>
            </a:p>
          </p:txBody>
        </p:sp>
        <p:sp>
          <p:nvSpPr>
            <p:cNvPr id="235" name="YOU DO · 17 MIN"/>
            <p:cNvSpPr txBox="1"/>
            <p:nvPr/>
          </p:nvSpPr>
          <p:spPr>
            <a:xfrm>
              <a:off x="42850" y="90677"/>
              <a:ext cx="1807107" cy="147830"/>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lgn="ctr">
                <a:defRPr b="1" spc="120" sz="1100">
                  <a:solidFill>
                    <a:srgbClr val="FFFFFF"/>
                  </a:solidFill>
                  <a:latin typeface="Arial"/>
                  <a:ea typeface="Arial"/>
                  <a:cs typeface="Arial"/>
                  <a:sym typeface="Arial"/>
                </a:defRPr>
              </a:lvl1pPr>
            </a:lstStyle>
            <a:p>
              <a:pPr/>
              <a:r>
                <a:t>YOU DO · 17 MIN</a:t>
              </a:r>
            </a:p>
          </p:txBody>
        </p:sp>
      </p:grpSp>
      <p:pic>
        <p:nvPicPr>
          <p:cNvPr id="237" name="gc_logo" descr="gc_logo"/>
          <p:cNvPicPr>
            <a:picLocks noChangeAspect="1"/>
          </p:cNvPicPr>
          <p:nvPr/>
        </p:nvPicPr>
        <p:blipFill>
          <a:blip r:embed="rId6">
            <a:alphaModFix amt="38000"/>
            <a:extLst/>
          </a:blip>
          <a:stretch>
            <a:fillRect/>
          </a:stretch>
        </p:blipFill>
        <p:spPr>
          <a:xfrm>
            <a:off x="10088574" y="786383"/>
            <a:ext cx="1554481" cy="1344169"/>
          </a:xfrm>
          <a:prstGeom prst="rect">
            <a:avLst/>
          </a:prstGeom>
          <a:ln w="12700">
            <a:miter lim="400000"/>
          </a:ln>
        </p:spPr>
      </p:pic>
      <p:sp>
        <p:nvSpPr>
          <p:cNvPr id="238" name="slide_title"/>
          <p:cNvSpPr txBox="1"/>
          <p:nvPr/>
        </p:nvSpPr>
        <p:spPr>
          <a:xfrm>
            <a:off x="1170432" y="1120387"/>
            <a:ext cx="8643823" cy="37441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nSpc>
                <a:spcPts val="3000"/>
              </a:lnSpc>
              <a:defRPr b="1" sz="2500">
                <a:solidFill>
                  <a:srgbClr val="3D2B1F"/>
                </a:solidFill>
                <a:latin typeface="Georgia"/>
                <a:ea typeface="Georgia"/>
                <a:cs typeface="Georgia"/>
                <a:sym typeface="Georgia"/>
              </a:defRPr>
            </a:lvl1pPr>
          </a:lstStyle>
          <a:p>
            <a:pPr/>
            <a:r>
              <a:t>Making It Last game</a:t>
            </a:r>
          </a:p>
        </p:txBody>
      </p:sp>
      <p:sp>
        <p:nvSpPr>
          <p:cNvPr id="239" name="slide_sub"/>
          <p:cNvSpPr txBox="1"/>
          <p:nvPr/>
        </p:nvSpPr>
        <p:spPr>
          <a:xfrm>
            <a:off x="1170432" y="1924787"/>
            <a:ext cx="8643823" cy="24693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700">
                <a:solidFill>
                  <a:srgbClr val="B5482E"/>
                </a:solidFill>
                <a:latin typeface="Arial"/>
                <a:ea typeface="Arial"/>
                <a:cs typeface="Arial"/>
                <a:sym typeface="Arial"/>
              </a:defRPr>
            </a:lvl1pPr>
          </a:lstStyle>
          <a:p>
            <a:pPr/>
            <a:r>
              <a:t>Open Google Classroom now.</a:t>
            </a:r>
          </a:p>
        </p:txBody>
      </p:sp>
      <p:grpSp>
        <p:nvGrpSpPr>
          <p:cNvPr id="244" name="t0"/>
          <p:cNvGrpSpPr/>
          <p:nvPr/>
        </p:nvGrpSpPr>
        <p:grpSpPr>
          <a:xfrm>
            <a:off x="1170432" y="2322576"/>
            <a:ext cx="3307994" cy="1920241"/>
            <a:chOff x="0" y="0"/>
            <a:chExt cx="3307993" cy="1920239"/>
          </a:xfrm>
        </p:grpSpPr>
        <p:sp>
          <p:nvSpPr>
            <p:cNvPr id="240" name="t0_bg"/>
            <p:cNvSpPr/>
            <p:nvPr/>
          </p:nvSpPr>
          <p:spPr>
            <a:xfrm>
              <a:off x="0" y="0"/>
              <a:ext cx="3307994" cy="1920240"/>
            </a:xfrm>
            <a:prstGeom prst="roundRect">
              <a:avLst>
                <a:gd name="adj" fmla="val 4762"/>
              </a:avLst>
            </a:prstGeom>
            <a:solidFill>
              <a:srgbClr val="F3E0DB"/>
            </a:solidFill>
            <a:ln w="20320" cap="flat">
              <a:solidFill>
                <a:srgbClr val="B5482E"/>
              </a:solidFill>
              <a:prstDash val="solid"/>
              <a:round/>
            </a:ln>
            <a:effectLst/>
          </p:spPr>
          <p:txBody>
            <a:bodyPr wrap="square" lIns="45719" tIns="45719" rIns="45719" bIns="45719" numCol="1" anchor="t">
              <a:noAutofit/>
            </a:bodyPr>
            <a:lstStyle/>
            <a:p>
              <a:pPr/>
            </a:p>
          </p:txBody>
        </p:sp>
        <p:sp>
          <p:nvSpPr>
            <p:cNvPr id="241" name="t0_h"/>
            <p:cNvSpPr txBox="1"/>
            <p:nvPr/>
          </p:nvSpPr>
          <p:spPr>
            <a:xfrm>
              <a:off x="237744" y="242638"/>
              <a:ext cx="2832506" cy="209668"/>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defRPr b="1" spc="120" sz="1500">
                  <a:solidFill>
                    <a:srgbClr val="B5482E"/>
                  </a:solidFill>
                  <a:latin typeface="Arial"/>
                  <a:ea typeface="Arial"/>
                  <a:cs typeface="Arial"/>
                  <a:sym typeface="Arial"/>
                </a:defRPr>
              </a:lvl1pPr>
            </a:lstStyle>
            <a:p>
              <a:pPr/>
              <a:r>
                <a:t>ROUND 1</a:t>
              </a:r>
            </a:p>
          </p:txBody>
        </p:sp>
        <p:sp>
          <p:nvSpPr>
            <p:cNvPr id="242" name="t0_s"/>
            <p:cNvSpPr txBox="1"/>
            <p:nvPr/>
          </p:nvSpPr>
          <p:spPr>
            <a:xfrm>
              <a:off x="237744" y="583967"/>
              <a:ext cx="2832506" cy="221954"/>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defRPr b="1" sz="1600">
                  <a:solidFill>
                    <a:srgbClr val="3D2B1F"/>
                  </a:solidFill>
                  <a:latin typeface="Arial"/>
                  <a:ea typeface="Arial"/>
                  <a:cs typeface="Arial"/>
                  <a:sym typeface="Arial"/>
                </a:defRPr>
              </a:lvl1pPr>
            </a:lstStyle>
            <a:p>
              <a:pPr/>
              <a:r>
                <a:t>Find the sustainable amount</a:t>
              </a:r>
            </a:p>
          </p:txBody>
        </p:sp>
        <p:sp>
          <p:nvSpPr>
            <p:cNvPr id="243" name="t0_b"/>
            <p:cNvSpPr txBox="1"/>
            <p:nvPr/>
          </p:nvSpPr>
          <p:spPr>
            <a:xfrm>
              <a:off x="237744" y="877823"/>
              <a:ext cx="2832506" cy="423609"/>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t">
              <a:spAutoFit/>
            </a:bodyPr>
            <a:lstStyle>
              <a:lvl1pPr>
                <a:lnSpc>
                  <a:spcPts val="1700"/>
                </a:lnSpc>
                <a:defRPr sz="1300">
                  <a:solidFill>
                    <a:srgbClr val="6B5A48"/>
                  </a:solidFill>
                  <a:latin typeface="Arial"/>
                  <a:ea typeface="Arial"/>
                  <a:cs typeface="Arial"/>
                  <a:sym typeface="Arial"/>
                </a:defRPr>
              </a:lvl1pPr>
            </a:lstStyle>
            <a:p>
              <a:pPr/>
              <a:r>
                <a:t>Stock size and growth rate. Calculate the maximum that can be taken.</a:t>
              </a:r>
            </a:p>
          </p:txBody>
        </p:sp>
      </p:grpSp>
      <p:grpSp>
        <p:nvGrpSpPr>
          <p:cNvPr id="249" name="t1"/>
          <p:cNvGrpSpPr/>
          <p:nvPr/>
        </p:nvGrpSpPr>
        <p:grpSpPr>
          <a:xfrm>
            <a:off x="4752745" y="2322576"/>
            <a:ext cx="3307995" cy="1920241"/>
            <a:chOff x="0" y="0"/>
            <a:chExt cx="3307993" cy="1920239"/>
          </a:xfrm>
        </p:grpSpPr>
        <p:sp>
          <p:nvSpPr>
            <p:cNvPr id="245" name="t1_bg"/>
            <p:cNvSpPr/>
            <p:nvPr/>
          </p:nvSpPr>
          <p:spPr>
            <a:xfrm>
              <a:off x="0" y="0"/>
              <a:ext cx="3307994" cy="1920240"/>
            </a:xfrm>
            <a:prstGeom prst="roundRect">
              <a:avLst>
                <a:gd name="adj" fmla="val 4762"/>
              </a:avLst>
            </a:prstGeom>
            <a:solidFill>
              <a:srgbClr val="E2EEE8"/>
            </a:solidFill>
            <a:ln w="20320" cap="flat">
              <a:solidFill>
                <a:srgbClr val="6A8C9A"/>
              </a:solidFill>
              <a:prstDash val="solid"/>
              <a:round/>
            </a:ln>
            <a:effectLst/>
          </p:spPr>
          <p:txBody>
            <a:bodyPr wrap="square" lIns="45719" tIns="45719" rIns="45719" bIns="45719" numCol="1" anchor="t">
              <a:noAutofit/>
            </a:bodyPr>
            <a:lstStyle/>
            <a:p>
              <a:pPr/>
            </a:p>
          </p:txBody>
        </p:sp>
        <p:sp>
          <p:nvSpPr>
            <p:cNvPr id="246" name="t1_h"/>
            <p:cNvSpPr txBox="1"/>
            <p:nvPr/>
          </p:nvSpPr>
          <p:spPr>
            <a:xfrm>
              <a:off x="237744" y="242638"/>
              <a:ext cx="2832506" cy="209668"/>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defRPr b="1" spc="120" sz="1500">
                  <a:solidFill>
                    <a:srgbClr val="6A8C9A"/>
                  </a:solidFill>
                  <a:latin typeface="Arial"/>
                  <a:ea typeface="Arial"/>
                  <a:cs typeface="Arial"/>
                  <a:sym typeface="Arial"/>
                </a:defRPr>
              </a:lvl1pPr>
            </a:lstStyle>
            <a:p>
              <a:pPr/>
              <a:r>
                <a:t>ROUND 2</a:t>
              </a:r>
            </a:p>
          </p:txBody>
        </p:sp>
        <p:sp>
          <p:nvSpPr>
            <p:cNvPr id="247" name="t1_s"/>
            <p:cNvSpPr txBox="1"/>
            <p:nvPr/>
          </p:nvSpPr>
          <p:spPr>
            <a:xfrm>
              <a:off x="237744" y="469667"/>
              <a:ext cx="2832506" cy="450554"/>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defRPr b="1" sz="1600">
                  <a:solidFill>
                    <a:srgbClr val="3D2B1F"/>
                  </a:solidFill>
                  <a:latin typeface="Arial"/>
                  <a:ea typeface="Arial"/>
                  <a:cs typeface="Arial"/>
                  <a:sym typeface="Arial"/>
                </a:defRPr>
              </a:lvl1pPr>
            </a:lstStyle>
            <a:p>
              <a:pPr/>
              <a:r>
                <a:t>Grows, shrinks, or stays the same?</a:t>
              </a:r>
            </a:p>
          </p:txBody>
        </p:sp>
        <p:sp>
          <p:nvSpPr>
            <p:cNvPr id="248" name="t1_b"/>
            <p:cNvSpPr txBox="1"/>
            <p:nvPr/>
          </p:nvSpPr>
          <p:spPr>
            <a:xfrm>
              <a:off x="237744" y="877823"/>
              <a:ext cx="2832506" cy="639509"/>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t">
              <a:spAutoFit/>
            </a:bodyPr>
            <a:lstStyle>
              <a:lvl1pPr>
                <a:lnSpc>
                  <a:spcPts val="1700"/>
                </a:lnSpc>
                <a:defRPr sz="1300">
                  <a:solidFill>
                    <a:srgbClr val="6B5A48"/>
                  </a:solidFill>
                  <a:latin typeface="Arial"/>
                  <a:ea typeface="Arial"/>
                  <a:cs typeface="Arial"/>
                  <a:sym typeface="Arial"/>
                </a:defRPr>
              </a:lvl1pPr>
            </a:lstStyle>
            <a:p>
              <a:pPr/>
              <a:r>
                <a:t>Stock, growth rate, and what was actually taken. Work out what happens next.</a:t>
              </a:r>
            </a:p>
          </p:txBody>
        </p:sp>
      </p:grpSp>
      <p:grpSp>
        <p:nvGrpSpPr>
          <p:cNvPr id="254" name="t2"/>
          <p:cNvGrpSpPr/>
          <p:nvPr/>
        </p:nvGrpSpPr>
        <p:grpSpPr>
          <a:xfrm>
            <a:off x="8335061" y="2322576"/>
            <a:ext cx="3307994" cy="1920241"/>
            <a:chOff x="0" y="0"/>
            <a:chExt cx="3307993" cy="1920239"/>
          </a:xfrm>
        </p:grpSpPr>
        <p:sp>
          <p:nvSpPr>
            <p:cNvPr id="250" name="t2_bg"/>
            <p:cNvSpPr/>
            <p:nvPr/>
          </p:nvSpPr>
          <p:spPr>
            <a:xfrm>
              <a:off x="0" y="0"/>
              <a:ext cx="3307994" cy="1920240"/>
            </a:xfrm>
            <a:prstGeom prst="roundRect">
              <a:avLst>
                <a:gd name="adj" fmla="val 4762"/>
              </a:avLst>
            </a:prstGeom>
            <a:solidFill>
              <a:srgbClr val="ECE1CB"/>
            </a:solidFill>
            <a:ln w="20320" cap="flat">
              <a:solidFill>
                <a:srgbClr val="8F6D2A"/>
              </a:solidFill>
              <a:prstDash val="solid"/>
              <a:round/>
            </a:ln>
            <a:effectLst/>
          </p:spPr>
          <p:txBody>
            <a:bodyPr wrap="square" lIns="45719" tIns="45719" rIns="45719" bIns="45719" numCol="1" anchor="t">
              <a:noAutofit/>
            </a:bodyPr>
            <a:lstStyle/>
            <a:p>
              <a:pPr/>
            </a:p>
          </p:txBody>
        </p:sp>
        <p:sp>
          <p:nvSpPr>
            <p:cNvPr id="251" name="t2_h"/>
            <p:cNvSpPr txBox="1"/>
            <p:nvPr/>
          </p:nvSpPr>
          <p:spPr>
            <a:xfrm>
              <a:off x="237744" y="242638"/>
              <a:ext cx="2832506" cy="209668"/>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defRPr b="1" spc="120" sz="1500">
                  <a:solidFill>
                    <a:srgbClr val="8F6D2A"/>
                  </a:solidFill>
                  <a:latin typeface="Arial"/>
                  <a:ea typeface="Arial"/>
                  <a:cs typeface="Arial"/>
                  <a:sym typeface="Arial"/>
                </a:defRPr>
              </a:lvl1pPr>
            </a:lstStyle>
            <a:p>
              <a:pPr/>
              <a:r>
                <a:t>ROUND 3</a:t>
              </a:r>
            </a:p>
          </p:txBody>
        </p:sp>
        <p:sp>
          <p:nvSpPr>
            <p:cNvPr id="252" name="t2_s"/>
            <p:cNvSpPr txBox="1"/>
            <p:nvPr/>
          </p:nvSpPr>
          <p:spPr>
            <a:xfrm>
              <a:off x="237744" y="583967"/>
              <a:ext cx="2832506" cy="221954"/>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defRPr b="1" sz="1600">
                  <a:solidFill>
                    <a:srgbClr val="3D2B1F"/>
                  </a:solidFill>
                  <a:latin typeface="Arial"/>
                  <a:ea typeface="Arial"/>
                  <a:cs typeface="Arial"/>
                  <a:sym typeface="Arial"/>
                </a:defRPr>
              </a:lvl1pPr>
            </a:lstStyle>
            <a:p>
              <a:pPr/>
              <a:r>
                <a:t>Harder management</a:t>
              </a:r>
            </a:p>
          </p:txBody>
        </p:sp>
        <p:sp>
          <p:nvSpPr>
            <p:cNvPr id="253" name="t2_b"/>
            <p:cNvSpPr txBox="1"/>
            <p:nvPr/>
          </p:nvSpPr>
          <p:spPr>
            <a:xfrm>
              <a:off x="237744" y="877823"/>
              <a:ext cx="2832506" cy="423609"/>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t">
              <a:spAutoFit/>
            </a:bodyPr>
            <a:lstStyle>
              <a:lvl1pPr>
                <a:lnSpc>
                  <a:spcPts val="1700"/>
                </a:lnSpc>
                <a:defRPr sz="1300">
                  <a:solidFill>
                    <a:srgbClr val="6B5A48"/>
                  </a:solidFill>
                  <a:latin typeface="Arial"/>
                  <a:ea typeface="Arial"/>
                  <a:cs typeface="Arial"/>
                  <a:sym typeface="Arial"/>
                </a:defRPr>
              </a:lvl1pPr>
            </a:lstStyle>
            <a:p>
              <a:pPr/>
              <a:r>
                <a:t>Very hard. The last two questions are meant to be almost impossible.</a:t>
              </a:r>
            </a:p>
          </p:txBody>
        </p:sp>
      </p:grpSp>
      <p:sp>
        <p:nvSpPr>
          <p:cNvPr id="255" name="yd_note"/>
          <p:cNvSpPr txBox="1"/>
          <p:nvPr/>
        </p:nvSpPr>
        <p:spPr>
          <a:xfrm>
            <a:off x="1170432" y="4535423"/>
            <a:ext cx="10472623" cy="52312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ts val="2100"/>
              </a:lnSpc>
              <a:defRPr b="1" sz="1600">
                <a:solidFill>
                  <a:srgbClr val="3D2B1F"/>
                </a:solidFill>
                <a:latin typeface="Arial"/>
                <a:ea typeface="Arial"/>
                <a:cs typeface="Arial"/>
                <a:sym typeface="Arial"/>
              </a:defRPr>
            </a:lvl1pPr>
          </a:lstStyle>
          <a:p>
            <a:pPr/>
            <a:r>
              <a:t>No timer on the questions. Read the feedback. Stop and see your results any time. Finished? The worksheet is there too.</a:t>
            </a:r>
          </a:p>
        </p:txBody>
      </p:sp>
    </p:spTree>
  </p:cSld>
  <p:clrMapOvr>
    <a:masterClrMapping/>
  </p:clrMapOvr>
  <mc:AlternateContent xmlns:mc="http://schemas.openxmlformats.org/markup-compatibility/2006">
    <mc:Choice xmlns:p14="http://schemas.microsoft.com/office/powerpoint/2010/main" Requires="p14">
      <p:transition spd="med" advClick="1" p14:dur="1000">
        <p:fade/>
      </p:transition>
    </mc:Choice>
    <mc:Fallback>
      <p:transition spd="med">
        <p:fade/>
      </p:transition>
    </mc:Fallback>
  </mc:AlternateContent>
  <p:timing>
    <p:tnLst>
      <p:par>
        <p:cTn id="1" nodeType="tmRoot" restart="never" dur="indefinite" fill="hold">
          <p:childTnLst>
            <p:seq concurrent="1" prevAc="none" nextAc="seek">
              <p:cTn id="2" nodeType="mainSeq" dur="indefinite" fill="hold">
                <p:childTnLst>
                  <p:par>
                    <p:cTn id="3" fill="hold">
                      <p:stCondLst>
                        <p:cond delay="indefinite"/>
                        <p:cond evt="onBegin">
                          <p:tn val="2"/>
                        </p:cond>
                      </p:stCondLst>
                      <p:childTnLst>
                        <p:par>
                          <p:cTn id="4" fill="hold">
                            <p:stCondLst>
                              <p:cond delay="0"/>
                            </p:stCondLst>
                            <p:childTnLst>
                              <p:par>
                                <p:cTn id="5" presetClass="mediacall" nodeType="afterEffect" presetSubtype="0" presetID="1" grpId="1" fill="hold">
                                  <p:stCondLst>
                                    <p:cond delay="0"/>
                                  </p:stCondLst>
                                  <p:childTnLst>
                                    <p:cmd type="call" cmd="playFrom(0.0)">
                                      <p:cBhvr>
                                        <p:cTn id="6" dur="1020000" fill="hold"/>
                                        <p:tgtEl>
                                          <p:spTgt spid="233"/>
                                        </p:tgtEl>
                                      </p:cBhvr>
                                    </p:cmd>
                                  </p:childTnLst>
                                </p:cTn>
                              </p:par>
                            </p:childTnLst>
                          </p:cTn>
                        </p:par>
                      </p:childTnLst>
                    </p:cTn>
                  </p:par>
                  <p:par>
                    <p:cTn id="7" fill="hold">
                      <p:stCondLst>
                        <p:cond delay="indefinite"/>
                      </p:stCondLst>
                      <p:childTnLst>
                        <p:par>
                          <p:cTn id="8" fill="hold">
                            <p:stCondLst>
                              <p:cond delay="0"/>
                            </p:stCondLst>
                            <p:childTnLst>
                              <p:par>
                                <p:cTn id="9" presetClass="entr" nodeType="clickEffect" presetID="10" grpId="2" fill="hold">
                                  <p:stCondLst>
                                    <p:cond delay="0"/>
                                  </p:stCondLst>
                                  <p:iterate type="el" backwards="0">
                                    <p:tmAbs val="0"/>
                                  </p:iterate>
                                  <p:childTnLst>
                                    <p:set>
                                      <p:cBhvr>
                                        <p:cTn id="10" fill="hold"/>
                                        <p:tgtEl>
                                          <p:spTgt spid="244"/>
                                        </p:tgtEl>
                                        <p:attrNameLst>
                                          <p:attrName>style.visibility</p:attrName>
                                        </p:attrNameLst>
                                      </p:cBhvr>
                                      <p:to>
                                        <p:strVal val="visible"/>
                                      </p:to>
                                    </p:set>
                                    <p:animEffect filter="fade" transition="in">
                                      <p:cBhvr>
                                        <p:cTn id="11" dur="400"/>
                                        <p:tgtEl>
                                          <p:spTgt spid="244"/>
                                        </p:tgtEl>
                                      </p:cBhvr>
                                    </p:animEffect>
                                  </p:childTnLst>
                                </p:cTn>
                              </p:par>
                            </p:childTnLst>
                          </p:cTn>
                        </p:par>
                      </p:childTnLst>
                    </p:cTn>
                  </p:par>
                  <p:par>
                    <p:cTn id="12" fill="hold">
                      <p:stCondLst>
                        <p:cond delay="indefinite"/>
                      </p:stCondLst>
                      <p:childTnLst>
                        <p:par>
                          <p:cTn id="13" fill="hold">
                            <p:stCondLst>
                              <p:cond delay="0"/>
                            </p:stCondLst>
                            <p:childTnLst>
                              <p:par>
                                <p:cTn id="14" presetClass="entr" nodeType="clickEffect" presetID="10" grpId="3" fill="hold">
                                  <p:stCondLst>
                                    <p:cond delay="0"/>
                                  </p:stCondLst>
                                  <p:iterate type="el" backwards="0">
                                    <p:tmAbs val="0"/>
                                  </p:iterate>
                                  <p:childTnLst>
                                    <p:set>
                                      <p:cBhvr>
                                        <p:cTn id="15" fill="hold"/>
                                        <p:tgtEl>
                                          <p:spTgt spid="249"/>
                                        </p:tgtEl>
                                        <p:attrNameLst>
                                          <p:attrName>style.visibility</p:attrName>
                                        </p:attrNameLst>
                                      </p:cBhvr>
                                      <p:to>
                                        <p:strVal val="visible"/>
                                      </p:to>
                                    </p:set>
                                    <p:animEffect filter="fade" transition="in">
                                      <p:cBhvr>
                                        <p:cTn id="16" dur="400"/>
                                        <p:tgtEl>
                                          <p:spTgt spid="249"/>
                                        </p:tgtEl>
                                      </p:cBhvr>
                                    </p:animEffect>
                                  </p:childTnLst>
                                </p:cTn>
                              </p:par>
                            </p:childTnLst>
                          </p:cTn>
                        </p:par>
                      </p:childTnLst>
                    </p:cTn>
                  </p:par>
                  <p:par>
                    <p:cTn id="17" fill="hold">
                      <p:stCondLst>
                        <p:cond delay="indefinite"/>
                      </p:stCondLst>
                      <p:childTnLst>
                        <p:par>
                          <p:cTn id="18" fill="hold">
                            <p:stCondLst>
                              <p:cond delay="0"/>
                            </p:stCondLst>
                            <p:childTnLst>
                              <p:par>
                                <p:cTn id="19" presetClass="entr" nodeType="clickEffect" presetID="10" grpId="4" fill="hold">
                                  <p:stCondLst>
                                    <p:cond delay="0"/>
                                  </p:stCondLst>
                                  <p:iterate type="el" backwards="0">
                                    <p:tmAbs val="0"/>
                                  </p:iterate>
                                  <p:childTnLst>
                                    <p:set>
                                      <p:cBhvr>
                                        <p:cTn id="20" fill="hold"/>
                                        <p:tgtEl>
                                          <p:spTgt spid="254"/>
                                        </p:tgtEl>
                                        <p:attrNameLst>
                                          <p:attrName>style.visibility</p:attrName>
                                        </p:attrNameLst>
                                      </p:cBhvr>
                                      <p:to>
                                        <p:strVal val="visible"/>
                                      </p:to>
                                    </p:set>
                                    <p:animEffect filter="fade" transition="in">
                                      <p:cBhvr>
                                        <p:cTn id="21" dur="400"/>
                                        <p:tgtEl>
                                          <p:spTgt spid="254"/>
                                        </p:tgtEl>
                                      </p:cBhvr>
                                    </p:animEffect>
                                  </p:childTnLst>
                                </p:cTn>
                              </p:par>
                            </p:childTnLst>
                          </p:cTn>
                        </p:par>
                      </p:childTnLst>
                    </p:cTn>
                  </p:par>
                  <p:par>
                    <p:cTn id="22" fill="hold">
                      <p:stCondLst>
                        <p:cond delay="indefinite"/>
                      </p:stCondLst>
                      <p:childTnLst>
                        <p:par>
                          <p:cTn id="23" fill="hold">
                            <p:stCondLst>
                              <p:cond delay="0"/>
                            </p:stCondLst>
                            <p:childTnLst>
                              <p:par>
                                <p:cTn id="24" presetClass="entr" nodeType="clickEffect" presetID="10" grpId="5" fill="hold">
                                  <p:stCondLst>
                                    <p:cond delay="0"/>
                                  </p:stCondLst>
                                  <p:iterate type="el" backwards="0">
                                    <p:tmAbs val="0"/>
                                  </p:iterate>
                                  <p:childTnLst>
                                    <p:set>
                                      <p:cBhvr>
                                        <p:cTn id="25" fill="hold"/>
                                        <p:tgtEl>
                                          <p:spTgt spid="255"/>
                                        </p:tgtEl>
                                        <p:attrNameLst>
                                          <p:attrName>style.visibility</p:attrName>
                                        </p:attrNameLst>
                                      </p:cBhvr>
                                      <p:to>
                                        <p:strVal val="visible"/>
                                      </p:to>
                                    </p:set>
                                    <p:animEffect filter="fade" transition="in">
                                      <p:cBhvr>
                                        <p:cTn id="26" dur="400"/>
                                        <p:tgtEl>
                                          <p:spTgt spid="255"/>
                                        </p:tgtEl>
                                      </p:cBhvr>
                                    </p:animEffect>
                                  </p:childTnLst>
                                </p:cTn>
                              </p:par>
                            </p:childTnLst>
                          </p:cTn>
                        </p:par>
                      </p:childTnLst>
                    </p:cTn>
                  </p:par>
                </p:childTnLst>
              </p:cTn>
              <p:prevCondLst>
                <p:cond evt="onPrev">
                  <p:tgtEl>
                    <p:sldTgt/>
                  </p:tgtEl>
                </p:cond>
              </p:prevCondLst>
              <p:nextCondLst>
                <p:cond evt="onNext">
                  <p:tgtEl>
                    <p:sldTgt/>
                  </p:tgtEl>
                </p:cond>
              </p:nextCondLst>
            </p:seq>
            <p:video fullScrn="0">
              <p:cMediaNode mute="0" showWhenStopped="1" numSld="1" vol="0">
                <p:cTn id="27" fill="hold" display="0">
                  <p:stCondLst>
                    <p:cond delay="indefinite"/>
                  </p:stCondLst>
                </p:cTn>
                <p:tgtEl>
                  <p:spTgt spid="233"/>
                </p:tgtEl>
              </p:cMediaNode>
            </p:video>
            <p:seq concurrent="1" prevAc="none" nextAc="seek">
              <p:cTn id="28" evtFilter="cancelBubble" nodeType="interactiveSeq" restart="whenNotActive" fill="hold">
                <p:stCondLst>
                  <p:cond delay="0" evt="onClick">
                    <p:tgtEl>
                      <p:spTgt spid="233"/>
                    </p:tgtEl>
                  </p:cond>
                </p:stCondLst>
                <p:endSync delay="0" evt="end">
                  <p:rtn val="all"/>
                </p:endSync>
                <p:childTnLst>
                  <p:par>
                    <p:cTn id="29" fill="hold">
                      <p:stCondLst>
                        <p:cond delay="0"/>
                      </p:stCondLst>
                      <p:childTnLst>
                        <p:par>
                          <p:cTn id="30" fill="hold">
                            <p:stCondLst>
                              <p:cond delay="0"/>
                            </p:stCondLst>
                            <p:childTnLst>
                              <p:par>
                                <p:cTn id="31" presetClass="mediacall" nodeType="clickEffect" presetSubtype="0" presetID="2" fill="hold">
                                  <p:stCondLst>
                                    <p:cond delay="0"/>
                                  </p:stCondLst>
                                  <p:childTnLst>
                                    <p:cmd type="call" cmd="togglePause">
                                      <p:cBhvr>
                                        <p:cTn id="32" dur="1" fill="hold"/>
                                        <p:tgtEl>
                                          <p:spTgt spid="233"/>
                                        </p:tgtEl>
                                      </p:cBhvr>
                                    </p:cmd>
                                  </p:childTnLst>
                                </p:cTn>
                              </p:par>
                            </p:childTnLst>
                          </p:cTn>
                        </p:par>
                      </p:childTnLst>
                    </p:cTn>
                  </p:par>
                </p:childTnLst>
              </p:cTn>
              <p:nextCondLst>
                <p:cond delay="0" evt="onClick">
                  <p:tgtEl>
                    <p:spTgt spid="233"/>
                  </p:tgtEl>
                </p:cond>
              </p:nextCondLst>
            </p:seq>
          </p:childTnLst>
        </p:cTn>
      </p:par>
    </p:tnLst>
    <p:bldLst>
      <p:bldP build="whole" bldLvl="1" animBg="1" rev="0" advAuto="0" spid="255" grpId="5"/>
      <p:bldP build="whole" bldLvl="1" animBg="1" rev="0" advAuto="0" spid="249" grpId="3"/>
      <p:bldP build="whole" bldLvl="1" animBg="1" rev="0" advAuto="0" spid="244" grpId="2"/>
      <p:bldP build="whole" bldLvl="1" animBg="1" rev="0" advAuto="0" spid="254" grpId="4"/>
    </p:bldLst>
  </p:timing>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3D2B1F"/>
        </a:solidFill>
      </p:bgPr>
    </p:bg>
    <p:spTree>
      <p:nvGrpSpPr>
        <p:cNvPr id="1" name=""/>
        <p:cNvGrpSpPr/>
        <p:nvPr/>
      </p:nvGrpSpPr>
      <p:grpSpPr>
        <a:xfrm>
          <a:off x="0" y="0"/>
          <a:ext cx="0" cy="0"/>
          <a:chOff x="0" y="0"/>
          <a:chExt cx="0" cy="0"/>
        </a:xfrm>
      </p:grpSpPr>
      <p:pic>
        <p:nvPicPr>
          <p:cNvPr id="259" name="timer_video" descr="timer_video"/>
          <p:cNvPicPr>
            <a:picLocks noChangeAspect="0"/>
          </p:cNvPicPr>
          <p:nvPr>
            <a:videoFile r:link="rId3"/>
            <p:extLst>
              <p:ext uri="{DAA4B4D4-6D71-4841-9C94-3DE7FCFB9230}">
                <p14:media xmlns:p14="http://schemas.microsoft.com/office/powerpoint/2010/main" r:embed="rId4"/>
              </p:ext>
            </p:extLst>
          </p:nvPr>
        </p:nvPicPr>
        <p:blipFill>
          <a:blip r:embed="rId5">
            <a:extLst/>
          </a:blip>
          <a:stretch>
            <a:fillRect/>
          </a:stretch>
        </p:blipFill>
        <p:spPr>
          <a:xfrm>
            <a:off x="310895" y="310895"/>
            <a:ext cx="457201" cy="6236210"/>
          </a:xfrm>
          <a:prstGeom prst="rect">
            <a:avLst/>
          </a:prstGeom>
          <a:ln w="12700">
            <a:miter lim="400000"/>
          </a:ln>
        </p:spPr>
      </p:pic>
      <p:grpSp>
        <p:nvGrpSpPr>
          <p:cNvPr id="262" name="phase_pill"/>
          <p:cNvGrpSpPr/>
          <p:nvPr/>
        </p:nvGrpSpPr>
        <p:grpSpPr>
          <a:xfrm>
            <a:off x="1170432" y="310895"/>
            <a:ext cx="1892808" cy="329185"/>
            <a:chOff x="0" y="0"/>
            <a:chExt cx="1892807" cy="329184"/>
          </a:xfrm>
        </p:grpSpPr>
        <p:sp>
          <p:nvSpPr>
            <p:cNvPr id="260" name="Rounded Rectangle"/>
            <p:cNvSpPr/>
            <p:nvPr/>
          </p:nvSpPr>
          <p:spPr>
            <a:xfrm>
              <a:off x="0" y="0"/>
              <a:ext cx="1892808" cy="329185"/>
            </a:xfrm>
            <a:prstGeom prst="roundRect">
              <a:avLst>
                <a:gd name="adj" fmla="val 44444"/>
              </a:avLst>
            </a:prstGeom>
            <a:solidFill>
              <a:srgbClr val="C99A3D"/>
            </a:solidFill>
            <a:ln w="12700" cap="flat">
              <a:noFill/>
              <a:miter lim="400000"/>
            </a:ln>
            <a:effectLst/>
          </p:spPr>
          <p:txBody>
            <a:bodyPr wrap="square" lIns="45719" tIns="45719" rIns="45719" bIns="45719" numCol="1" anchor="ctr">
              <a:noAutofit/>
            </a:bodyPr>
            <a:lstStyle/>
            <a:p>
              <a:pPr algn="ctr">
                <a:defRPr sz="1100"/>
              </a:pPr>
            </a:p>
          </p:txBody>
        </p:sp>
        <p:sp>
          <p:nvSpPr>
            <p:cNvPr id="261" name="PLENARY · 3 MIN"/>
            <p:cNvSpPr txBox="1"/>
            <p:nvPr/>
          </p:nvSpPr>
          <p:spPr>
            <a:xfrm>
              <a:off x="42850" y="90677"/>
              <a:ext cx="1807107" cy="147830"/>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lgn="ctr">
                <a:defRPr b="1" spc="120" sz="1100">
                  <a:solidFill>
                    <a:srgbClr val="3D2B1F"/>
                  </a:solidFill>
                  <a:latin typeface="Arial"/>
                  <a:ea typeface="Arial"/>
                  <a:cs typeface="Arial"/>
                  <a:sym typeface="Arial"/>
                </a:defRPr>
              </a:lvl1pPr>
            </a:lstStyle>
            <a:p>
              <a:pPr/>
              <a:r>
                <a:t>PLENARY · 3 MIN</a:t>
              </a:r>
            </a:p>
          </p:txBody>
        </p:sp>
      </p:grpSp>
      <p:sp>
        <p:nvSpPr>
          <p:cNvPr id="263" name="slide_title"/>
          <p:cNvSpPr txBox="1"/>
          <p:nvPr/>
        </p:nvSpPr>
        <p:spPr>
          <a:xfrm>
            <a:off x="1170432" y="984757"/>
            <a:ext cx="10472623" cy="4445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3000">
                <a:solidFill>
                  <a:srgbClr val="F2EBDD"/>
                </a:solidFill>
                <a:latin typeface="Georgia"/>
                <a:ea typeface="Georgia"/>
                <a:cs typeface="Georgia"/>
                <a:sym typeface="Georgia"/>
              </a:defRPr>
            </a:lvl1pPr>
          </a:lstStyle>
          <a:p>
            <a:pPr/>
            <a:r>
              <a:t>True or false?</a:t>
            </a:r>
          </a:p>
        </p:txBody>
      </p:sp>
      <p:grpSp>
        <p:nvGrpSpPr>
          <p:cNvPr id="266" name="p0_stmt"/>
          <p:cNvGrpSpPr/>
          <p:nvPr/>
        </p:nvGrpSpPr>
        <p:grpSpPr>
          <a:xfrm>
            <a:off x="1170432" y="2194560"/>
            <a:ext cx="8552383" cy="640081"/>
            <a:chOff x="0" y="0"/>
            <a:chExt cx="8552382" cy="640080"/>
          </a:xfrm>
        </p:grpSpPr>
        <p:sp>
          <p:nvSpPr>
            <p:cNvPr id="264" name="p0_bg"/>
            <p:cNvSpPr/>
            <p:nvPr/>
          </p:nvSpPr>
          <p:spPr>
            <a:xfrm>
              <a:off x="0" y="0"/>
              <a:ext cx="8552383" cy="640081"/>
            </a:xfrm>
            <a:prstGeom prst="roundRect">
              <a:avLst>
                <a:gd name="adj" fmla="val 14286"/>
              </a:avLst>
            </a:prstGeom>
            <a:solidFill>
              <a:srgbClr val="5C4530"/>
            </a:solidFill>
            <a:ln w="12700" cap="flat">
              <a:solidFill>
                <a:srgbClr val="5C4530"/>
              </a:solidFill>
              <a:prstDash val="solid"/>
              <a:round/>
            </a:ln>
            <a:effectLst/>
          </p:spPr>
          <p:txBody>
            <a:bodyPr wrap="square" lIns="45719" tIns="45719" rIns="45719" bIns="45719" numCol="1" anchor="t">
              <a:noAutofit/>
            </a:bodyPr>
            <a:lstStyle/>
            <a:p>
              <a:pPr/>
            </a:p>
          </p:txBody>
        </p:sp>
        <p:sp>
          <p:nvSpPr>
            <p:cNvPr id="265" name="p0_q"/>
            <p:cNvSpPr txBox="1"/>
            <p:nvPr/>
          </p:nvSpPr>
          <p:spPr>
            <a:xfrm>
              <a:off x="256032" y="215206"/>
              <a:ext cx="8186623" cy="209668"/>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defRPr sz="1500">
                  <a:solidFill>
                    <a:srgbClr val="F2EBDD"/>
                  </a:solidFill>
                  <a:latin typeface="Arial"/>
                  <a:ea typeface="Arial"/>
                  <a:cs typeface="Arial"/>
                  <a:sym typeface="Arial"/>
                </a:defRPr>
              </a:lvl1pPr>
            </a:lstStyle>
            <a:p>
              <a:pPr/>
              <a:r>
                <a:t>Conservation means never using a resource.</a:t>
              </a:r>
            </a:p>
          </p:txBody>
        </p:sp>
      </p:grpSp>
      <p:sp>
        <p:nvSpPr>
          <p:cNvPr id="267" name="p0_v"/>
          <p:cNvSpPr txBox="1"/>
          <p:nvPr/>
        </p:nvSpPr>
        <p:spPr>
          <a:xfrm>
            <a:off x="9905695" y="2391131"/>
            <a:ext cx="1737361" cy="24693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pc="100" sz="1700">
                <a:solidFill>
                  <a:srgbClr val="C99A3D"/>
                </a:solidFill>
                <a:latin typeface="Arial"/>
                <a:ea typeface="Arial"/>
                <a:cs typeface="Arial"/>
                <a:sym typeface="Arial"/>
              </a:defRPr>
            </a:lvl1pPr>
          </a:lstStyle>
          <a:p>
            <a:pPr/>
            <a:r>
              <a:t>FALSE</a:t>
            </a:r>
          </a:p>
        </p:txBody>
      </p:sp>
      <p:grpSp>
        <p:nvGrpSpPr>
          <p:cNvPr id="270" name="p1_stmt"/>
          <p:cNvGrpSpPr/>
          <p:nvPr/>
        </p:nvGrpSpPr>
        <p:grpSpPr>
          <a:xfrm>
            <a:off x="1170432" y="2999232"/>
            <a:ext cx="8552383" cy="640081"/>
            <a:chOff x="0" y="0"/>
            <a:chExt cx="8552382" cy="640080"/>
          </a:xfrm>
        </p:grpSpPr>
        <p:sp>
          <p:nvSpPr>
            <p:cNvPr id="268" name="p1_bg"/>
            <p:cNvSpPr/>
            <p:nvPr/>
          </p:nvSpPr>
          <p:spPr>
            <a:xfrm>
              <a:off x="0" y="0"/>
              <a:ext cx="8552383" cy="640081"/>
            </a:xfrm>
            <a:prstGeom prst="roundRect">
              <a:avLst>
                <a:gd name="adj" fmla="val 14286"/>
              </a:avLst>
            </a:prstGeom>
            <a:solidFill>
              <a:srgbClr val="5C4530"/>
            </a:solidFill>
            <a:ln w="12700" cap="flat">
              <a:solidFill>
                <a:srgbClr val="5C4530"/>
              </a:solidFill>
              <a:prstDash val="solid"/>
              <a:round/>
            </a:ln>
            <a:effectLst/>
          </p:spPr>
          <p:txBody>
            <a:bodyPr wrap="square" lIns="45719" tIns="45719" rIns="45719" bIns="45719" numCol="1" anchor="t">
              <a:noAutofit/>
            </a:bodyPr>
            <a:lstStyle/>
            <a:p>
              <a:pPr/>
            </a:p>
          </p:txBody>
        </p:sp>
        <p:sp>
          <p:nvSpPr>
            <p:cNvPr id="269" name="p1_q"/>
            <p:cNvSpPr txBox="1"/>
            <p:nvPr/>
          </p:nvSpPr>
          <p:spPr>
            <a:xfrm>
              <a:off x="256032" y="215206"/>
              <a:ext cx="8186623" cy="209668"/>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defRPr sz="1500">
                  <a:solidFill>
                    <a:srgbClr val="F2EBDD"/>
                  </a:solidFill>
                  <a:latin typeface="Arial"/>
                  <a:ea typeface="Arial"/>
                  <a:cs typeface="Arial"/>
                  <a:sym typeface="Arial"/>
                </a:defRPr>
              </a:lvl1pPr>
            </a:lstStyle>
            <a:p>
              <a:pPr/>
              <a:r>
                <a:t>Taking a sustainable amount means taking no more than the resource can replace.</a:t>
              </a:r>
            </a:p>
          </p:txBody>
        </p:sp>
      </p:grpSp>
      <p:sp>
        <p:nvSpPr>
          <p:cNvPr id="271" name="p1_v"/>
          <p:cNvSpPr txBox="1"/>
          <p:nvPr/>
        </p:nvSpPr>
        <p:spPr>
          <a:xfrm>
            <a:off x="9905695" y="3195803"/>
            <a:ext cx="1737361" cy="24693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pc="100" sz="1700">
                <a:solidFill>
                  <a:srgbClr val="6A8C9A"/>
                </a:solidFill>
                <a:latin typeface="Arial"/>
                <a:ea typeface="Arial"/>
                <a:cs typeface="Arial"/>
                <a:sym typeface="Arial"/>
              </a:defRPr>
            </a:lvl1pPr>
          </a:lstStyle>
          <a:p>
            <a:pPr/>
            <a:r>
              <a:t>TRUE</a:t>
            </a:r>
          </a:p>
        </p:txBody>
      </p:sp>
      <p:grpSp>
        <p:nvGrpSpPr>
          <p:cNvPr id="274" name="p2_stmt"/>
          <p:cNvGrpSpPr/>
          <p:nvPr/>
        </p:nvGrpSpPr>
        <p:grpSpPr>
          <a:xfrm>
            <a:off x="1170432" y="3803903"/>
            <a:ext cx="8552383" cy="640081"/>
            <a:chOff x="0" y="0"/>
            <a:chExt cx="8552382" cy="640080"/>
          </a:xfrm>
        </p:grpSpPr>
        <p:sp>
          <p:nvSpPr>
            <p:cNvPr id="272" name="p2_bg"/>
            <p:cNvSpPr/>
            <p:nvPr/>
          </p:nvSpPr>
          <p:spPr>
            <a:xfrm>
              <a:off x="0" y="0"/>
              <a:ext cx="8552383" cy="640081"/>
            </a:xfrm>
            <a:prstGeom prst="roundRect">
              <a:avLst>
                <a:gd name="adj" fmla="val 14286"/>
              </a:avLst>
            </a:prstGeom>
            <a:solidFill>
              <a:srgbClr val="5C4530"/>
            </a:solidFill>
            <a:ln w="12700" cap="flat">
              <a:solidFill>
                <a:srgbClr val="5C4530"/>
              </a:solidFill>
              <a:prstDash val="solid"/>
              <a:round/>
            </a:ln>
            <a:effectLst/>
          </p:spPr>
          <p:txBody>
            <a:bodyPr wrap="square" lIns="45719" tIns="45719" rIns="45719" bIns="45719" numCol="1" anchor="t">
              <a:noAutofit/>
            </a:bodyPr>
            <a:lstStyle/>
            <a:p>
              <a:pPr/>
            </a:p>
          </p:txBody>
        </p:sp>
        <p:sp>
          <p:nvSpPr>
            <p:cNvPr id="273" name="p2_q"/>
            <p:cNvSpPr txBox="1"/>
            <p:nvPr/>
          </p:nvSpPr>
          <p:spPr>
            <a:xfrm>
              <a:off x="256032" y="215206"/>
              <a:ext cx="8186623" cy="209668"/>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defRPr sz="1500">
                  <a:solidFill>
                    <a:srgbClr val="F2EBDD"/>
                  </a:solidFill>
                  <a:latin typeface="Arial"/>
                  <a:ea typeface="Arial"/>
                  <a:cs typeface="Arial"/>
                  <a:sym typeface="Arial"/>
                </a:defRPr>
              </a:lvl1pPr>
            </a:lstStyle>
            <a:p>
              <a:pPr/>
              <a:r>
                <a:t>Recycling is a form of resource management.</a:t>
              </a:r>
            </a:p>
          </p:txBody>
        </p:sp>
      </p:grpSp>
      <p:sp>
        <p:nvSpPr>
          <p:cNvPr id="275" name="p2_v"/>
          <p:cNvSpPr txBox="1"/>
          <p:nvPr/>
        </p:nvSpPr>
        <p:spPr>
          <a:xfrm>
            <a:off x="9905695" y="4000475"/>
            <a:ext cx="1737361" cy="24693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pc="100" sz="1700">
                <a:solidFill>
                  <a:srgbClr val="6A8C9A"/>
                </a:solidFill>
                <a:latin typeface="Arial"/>
                <a:ea typeface="Arial"/>
                <a:cs typeface="Arial"/>
                <a:sym typeface="Arial"/>
              </a:defRPr>
            </a:lvl1pPr>
          </a:lstStyle>
          <a:p>
            <a:pPr/>
            <a:r>
              <a:t>TRUE</a:t>
            </a:r>
          </a:p>
        </p:txBody>
      </p:sp>
      <p:grpSp>
        <p:nvGrpSpPr>
          <p:cNvPr id="278" name="p3_stmt"/>
          <p:cNvGrpSpPr/>
          <p:nvPr/>
        </p:nvGrpSpPr>
        <p:grpSpPr>
          <a:xfrm>
            <a:off x="1170432" y="4608576"/>
            <a:ext cx="8552383" cy="640081"/>
            <a:chOff x="0" y="0"/>
            <a:chExt cx="8552382" cy="640080"/>
          </a:xfrm>
        </p:grpSpPr>
        <p:sp>
          <p:nvSpPr>
            <p:cNvPr id="276" name="p3_bg"/>
            <p:cNvSpPr/>
            <p:nvPr/>
          </p:nvSpPr>
          <p:spPr>
            <a:xfrm>
              <a:off x="0" y="0"/>
              <a:ext cx="8552383" cy="640081"/>
            </a:xfrm>
            <a:prstGeom prst="roundRect">
              <a:avLst>
                <a:gd name="adj" fmla="val 14286"/>
              </a:avLst>
            </a:prstGeom>
            <a:solidFill>
              <a:srgbClr val="5C4530"/>
            </a:solidFill>
            <a:ln w="12700" cap="flat">
              <a:solidFill>
                <a:srgbClr val="5C4530"/>
              </a:solidFill>
              <a:prstDash val="solid"/>
              <a:round/>
            </a:ln>
            <a:effectLst/>
          </p:spPr>
          <p:txBody>
            <a:bodyPr wrap="square" lIns="45719" tIns="45719" rIns="45719" bIns="45719" numCol="1" anchor="t">
              <a:noAutofit/>
            </a:bodyPr>
            <a:lstStyle/>
            <a:p>
              <a:pPr/>
            </a:p>
          </p:txBody>
        </p:sp>
        <p:sp>
          <p:nvSpPr>
            <p:cNvPr id="277" name="p3_q"/>
            <p:cNvSpPr txBox="1"/>
            <p:nvPr/>
          </p:nvSpPr>
          <p:spPr>
            <a:xfrm>
              <a:off x="256032" y="215206"/>
              <a:ext cx="8186623" cy="209668"/>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defRPr sz="1500">
                  <a:solidFill>
                    <a:srgbClr val="F2EBDD"/>
                  </a:solidFill>
                  <a:latin typeface="Arial"/>
                  <a:ea typeface="Arial"/>
                  <a:cs typeface="Arial"/>
                  <a:sym typeface="Arial"/>
                </a:defRPr>
              </a:lvl1pPr>
            </a:lstStyle>
            <a:p>
              <a:pPr/>
              <a:r>
                <a:t>A forest cut at exactly its regrowth rate is not sustainable.</a:t>
              </a:r>
            </a:p>
          </p:txBody>
        </p:sp>
      </p:grpSp>
      <p:sp>
        <p:nvSpPr>
          <p:cNvPr id="279" name="p3_v"/>
          <p:cNvSpPr txBox="1"/>
          <p:nvPr/>
        </p:nvSpPr>
        <p:spPr>
          <a:xfrm>
            <a:off x="9905695" y="4805147"/>
            <a:ext cx="1737361" cy="24693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pc="100" sz="1700">
                <a:solidFill>
                  <a:srgbClr val="C99A3D"/>
                </a:solidFill>
                <a:latin typeface="Arial"/>
                <a:ea typeface="Arial"/>
                <a:cs typeface="Arial"/>
                <a:sym typeface="Arial"/>
              </a:defRPr>
            </a:lvl1pPr>
          </a:lstStyle>
          <a:p>
            <a:pPr/>
            <a:r>
              <a:t>FALSE</a:t>
            </a:r>
          </a:p>
        </p:txBody>
      </p:sp>
      <p:grpSp>
        <p:nvGrpSpPr>
          <p:cNvPr id="282" name="p4_stmt"/>
          <p:cNvGrpSpPr/>
          <p:nvPr/>
        </p:nvGrpSpPr>
        <p:grpSpPr>
          <a:xfrm>
            <a:off x="1170432" y="5413247"/>
            <a:ext cx="8552383" cy="640081"/>
            <a:chOff x="0" y="0"/>
            <a:chExt cx="8552382" cy="640080"/>
          </a:xfrm>
        </p:grpSpPr>
        <p:sp>
          <p:nvSpPr>
            <p:cNvPr id="280" name="p4_bg"/>
            <p:cNvSpPr/>
            <p:nvPr/>
          </p:nvSpPr>
          <p:spPr>
            <a:xfrm>
              <a:off x="0" y="0"/>
              <a:ext cx="8552383" cy="640081"/>
            </a:xfrm>
            <a:prstGeom prst="roundRect">
              <a:avLst>
                <a:gd name="adj" fmla="val 14286"/>
              </a:avLst>
            </a:prstGeom>
            <a:solidFill>
              <a:srgbClr val="5C4530"/>
            </a:solidFill>
            <a:ln w="12700" cap="flat">
              <a:solidFill>
                <a:srgbClr val="5C4530"/>
              </a:solidFill>
              <a:prstDash val="solid"/>
              <a:round/>
            </a:ln>
            <a:effectLst/>
          </p:spPr>
          <p:txBody>
            <a:bodyPr wrap="square" lIns="45719" tIns="45719" rIns="45719" bIns="45719" numCol="1" anchor="t">
              <a:noAutofit/>
            </a:bodyPr>
            <a:lstStyle/>
            <a:p>
              <a:pPr/>
            </a:p>
          </p:txBody>
        </p:sp>
        <p:sp>
          <p:nvSpPr>
            <p:cNvPr id="281" name="p4_q"/>
            <p:cNvSpPr txBox="1"/>
            <p:nvPr/>
          </p:nvSpPr>
          <p:spPr>
            <a:xfrm>
              <a:off x="256032" y="215206"/>
              <a:ext cx="8186623" cy="209668"/>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defRPr sz="1500">
                  <a:solidFill>
                    <a:srgbClr val="F2EBDD"/>
                  </a:solidFill>
                  <a:latin typeface="Arial"/>
                  <a:ea typeface="Arial"/>
                  <a:cs typeface="Arial"/>
                  <a:sym typeface="Arial"/>
                </a:defRPr>
              </a:lvl1pPr>
            </a:lstStyle>
            <a:p>
              <a:pPr/>
              <a:r>
                <a:t>Once a resource has collapsed, conservation can never help it recover.</a:t>
              </a:r>
            </a:p>
          </p:txBody>
        </p:sp>
      </p:grpSp>
      <p:sp>
        <p:nvSpPr>
          <p:cNvPr id="283" name="p4_v"/>
          <p:cNvSpPr txBox="1"/>
          <p:nvPr/>
        </p:nvSpPr>
        <p:spPr>
          <a:xfrm>
            <a:off x="9905695" y="5609819"/>
            <a:ext cx="1737361" cy="24693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pc="100" sz="1700">
                <a:solidFill>
                  <a:srgbClr val="C99A3D"/>
                </a:solidFill>
                <a:latin typeface="Arial"/>
                <a:ea typeface="Arial"/>
                <a:cs typeface="Arial"/>
                <a:sym typeface="Arial"/>
              </a:defRPr>
            </a:lvl1pPr>
          </a:lstStyle>
          <a:p>
            <a:pPr/>
            <a:r>
              <a:t>FALSE</a:t>
            </a:r>
          </a:p>
        </p:txBody>
      </p:sp>
      <p:sp>
        <p:nvSpPr>
          <p:cNvPr id="284" name="pl_next"/>
          <p:cNvSpPr txBox="1"/>
          <p:nvPr/>
        </p:nvSpPr>
        <p:spPr>
          <a:xfrm>
            <a:off x="1170432" y="6195381"/>
            <a:ext cx="10472623" cy="209669"/>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i="1" sz="1500">
                <a:solidFill>
                  <a:srgbClr val="C99A3D"/>
                </a:solidFill>
                <a:latin typeface="Arial"/>
                <a:ea typeface="Arial"/>
                <a:cs typeface="Arial"/>
                <a:sym typeface="Arial"/>
              </a:defRPr>
            </a:lvl1pPr>
          </a:lstStyle>
          <a:p>
            <a:pPr/>
            <a:r>
              <a:t>Making it last means taking no more than a resource can replace.</a:t>
            </a:r>
          </a:p>
        </p:txBody>
      </p:sp>
    </p:spTree>
  </p:cSld>
  <p:clrMapOvr>
    <a:masterClrMapping/>
  </p:clrMapOvr>
  <mc:AlternateContent xmlns:mc="http://schemas.openxmlformats.org/markup-compatibility/2006">
    <mc:Choice xmlns:p14="http://schemas.microsoft.com/office/powerpoint/2010/main" Requires="p14">
      <p:transition spd="med" advClick="1" p14:dur="1000">
        <p:push dir="u"/>
      </p:transition>
    </mc:Choice>
    <mc:Fallback>
      <p:transition spd="med">
        <p:fade/>
      </p:transition>
    </mc:Fallback>
  </mc:AlternateContent>
  <p:timing>
    <p:tnLst>
      <p:par>
        <p:cTn id="1" nodeType="tmRoot" restart="never" dur="indefinite" fill="hold">
          <p:childTnLst>
            <p:seq concurrent="1" prevAc="none" nextAc="seek">
              <p:cTn id="2" nodeType="mainSeq" dur="indefinite" fill="hold">
                <p:childTnLst>
                  <p:par>
                    <p:cTn id="3" fill="hold">
                      <p:stCondLst>
                        <p:cond delay="indefinite"/>
                        <p:cond evt="onBegin">
                          <p:tn val="2"/>
                        </p:cond>
                      </p:stCondLst>
                      <p:childTnLst>
                        <p:par>
                          <p:cTn id="4" fill="hold">
                            <p:stCondLst>
                              <p:cond delay="0"/>
                            </p:stCondLst>
                            <p:childTnLst>
                              <p:par>
                                <p:cTn id="5" presetClass="mediacall" nodeType="afterEffect" presetSubtype="0" presetID="1" grpId="1" fill="hold">
                                  <p:stCondLst>
                                    <p:cond delay="0"/>
                                  </p:stCondLst>
                                  <p:childTnLst>
                                    <p:cmd type="call" cmd="playFrom(0.0)">
                                      <p:cBhvr>
                                        <p:cTn id="6" dur="180000" fill="hold"/>
                                        <p:tgtEl>
                                          <p:spTgt spid="259"/>
                                        </p:tgtEl>
                                      </p:cBhvr>
                                    </p:cmd>
                                  </p:childTnLst>
                                </p:cTn>
                              </p:par>
                            </p:childTnLst>
                          </p:cTn>
                        </p:par>
                      </p:childTnLst>
                    </p:cTn>
                  </p:par>
                  <p:par>
                    <p:cTn id="7" fill="hold">
                      <p:stCondLst>
                        <p:cond delay="indefinite"/>
                      </p:stCondLst>
                      <p:childTnLst>
                        <p:par>
                          <p:cTn id="8" fill="hold">
                            <p:stCondLst>
                              <p:cond delay="0"/>
                            </p:stCondLst>
                            <p:childTnLst>
                              <p:par>
                                <p:cTn id="9" presetClass="entr" nodeType="clickEffect" presetID="10" grpId="2" fill="hold">
                                  <p:stCondLst>
                                    <p:cond delay="0"/>
                                  </p:stCondLst>
                                  <p:iterate type="el" backwards="0">
                                    <p:tmAbs val="0"/>
                                  </p:iterate>
                                  <p:childTnLst>
                                    <p:set>
                                      <p:cBhvr>
                                        <p:cTn id="10" fill="hold"/>
                                        <p:tgtEl>
                                          <p:spTgt spid="266"/>
                                        </p:tgtEl>
                                        <p:attrNameLst>
                                          <p:attrName>style.visibility</p:attrName>
                                        </p:attrNameLst>
                                      </p:cBhvr>
                                      <p:to>
                                        <p:strVal val="visible"/>
                                      </p:to>
                                    </p:set>
                                    <p:animEffect filter="fade" transition="in">
                                      <p:cBhvr>
                                        <p:cTn id="11" dur="400"/>
                                        <p:tgtEl>
                                          <p:spTgt spid="266"/>
                                        </p:tgtEl>
                                      </p:cBhvr>
                                    </p:animEffect>
                                  </p:childTnLst>
                                </p:cTn>
                              </p:par>
                            </p:childTnLst>
                          </p:cTn>
                        </p:par>
                      </p:childTnLst>
                    </p:cTn>
                  </p:par>
                  <p:par>
                    <p:cTn id="12" fill="hold">
                      <p:stCondLst>
                        <p:cond delay="indefinite"/>
                      </p:stCondLst>
                      <p:childTnLst>
                        <p:par>
                          <p:cTn id="13" fill="hold">
                            <p:stCondLst>
                              <p:cond delay="0"/>
                            </p:stCondLst>
                            <p:childTnLst>
                              <p:par>
                                <p:cTn id="14" presetClass="entr" nodeType="clickEffect" presetSubtype="16" presetID="23" grpId="3" fill="hold">
                                  <p:stCondLst>
                                    <p:cond delay="0"/>
                                  </p:stCondLst>
                                  <p:iterate type="el" backwards="0">
                                    <p:tmAbs val="0"/>
                                  </p:iterate>
                                  <p:childTnLst>
                                    <p:set>
                                      <p:cBhvr>
                                        <p:cTn id="15" fill="hold"/>
                                        <p:tgtEl>
                                          <p:spTgt spid="267"/>
                                        </p:tgtEl>
                                        <p:attrNameLst>
                                          <p:attrName>style.visibility</p:attrName>
                                        </p:attrNameLst>
                                      </p:cBhvr>
                                      <p:to>
                                        <p:strVal val="visible"/>
                                      </p:to>
                                    </p:set>
                                    <p:anim calcmode="lin" valueType="num">
                                      <p:cBhvr>
                                        <p:cTn id="16" dur="400" fill="hold"/>
                                        <p:tgtEl>
                                          <p:spTgt spid="267"/>
                                        </p:tgtEl>
                                        <p:attrNameLst>
                                          <p:attrName>ppt_w</p:attrName>
                                        </p:attrNameLst>
                                      </p:cBhvr>
                                      <p:tavLst>
                                        <p:tav tm="0">
                                          <p:val>
                                            <p:fltVal val="0"/>
                                          </p:val>
                                        </p:tav>
                                        <p:tav tm="100000">
                                          <p:val>
                                            <p:strVal val="#ppt_w"/>
                                          </p:val>
                                        </p:tav>
                                      </p:tavLst>
                                    </p:anim>
                                    <p:anim calcmode="lin" valueType="num">
                                      <p:cBhvr>
                                        <p:cTn id="17" dur="400" fill="hold"/>
                                        <p:tgtEl>
                                          <p:spTgt spid="267"/>
                                        </p:tgtEl>
                                        <p:attrNameLst>
                                          <p:attrName>ppt_h</p:attrName>
                                        </p:attrNameLst>
                                      </p:cBhvr>
                                      <p:tavLst>
                                        <p:tav tm="0">
                                          <p:val>
                                            <p:fltVal val="0"/>
                                          </p:val>
                                        </p:tav>
                                        <p:tav tm="100000">
                                          <p:val>
                                            <p:strVal val="#ppt_h"/>
                                          </p:val>
                                        </p:tav>
                                      </p:tavLst>
                                    </p:anim>
                                  </p:childTnLst>
                                </p:cTn>
                              </p:par>
                            </p:childTnLst>
                          </p:cTn>
                        </p:par>
                      </p:childTnLst>
                    </p:cTn>
                  </p:par>
                  <p:par>
                    <p:cTn id="18" fill="hold">
                      <p:stCondLst>
                        <p:cond delay="indefinite"/>
                      </p:stCondLst>
                      <p:childTnLst>
                        <p:par>
                          <p:cTn id="19" fill="hold">
                            <p:stCondLst>
                              <p:cond delay="0"/>
                            </p:stCondLst>
                            <p:childTnLst>
                              <p:par>
                                <p:cTn id="20" presetClass="entr" nodeType="clickEffect" presetID="10" grpId="4" fill="hold">
                                  <p:stCondLst>
                                    <p:cond delay="0"/>
                                  </p:stCondLst>
                                  <p:iterate type="el" backwards="0">
                                    <p:tmAbs val="0"/>
                                  </p:iterate>
                                  <p:childTnLst>
                                    <p:set>
                                      <p:cBhvr>
                                        <p:cTn id="21" fill="hold"/>
                                        <p:tgtEl>
                                          <p:spTgt spid="270"/>
                                        </p:tgtEl>
                                        <p:attrNameLst>
                                          <p:attrName>style.visibility</p:attrName>
                                        </p:attrNameLst>
                                      </p:cBhvr>
                                      <p:to>
                                        <p:strVal val="visible"/>
                                      </p:to>
                                    </p:set>
                                    <p:animEffect filter="fade" transition="in">
                                      <p:cBhvr>
                                        <p:cTn id="22" dur="400"/>
                                        <p:tgtEl>
                                          <p:spTgt spid="270"/>
                                        </p:tgtEl>
                                      </p:cBhvr>
                                    </p:animEffect>
                                  </p:childTnLst>
                                </p:cTn>
                              </p:par>
                            </p:childTnLst>
                          </p:cTn>
                        </p:par>
                      </p:childTnLst>
                    </p:cTn>
                  </p:par>
                  <p:par>
                    <p:cTn id="23" fill="hold">
                      <p:stCondLst>
                        <p:cond delay="indefinite"/>
                      </p:stCondLst>
                      <p:childTnLst>
                        <p:par>
                          <p:cTn id="24" fill="hold">
                            <p:stCondLst>
                              <p:cond delay="0"/>
                            </p:stCondLst>
                            <p:childTnLst>
                              <p:par>
                                <p:cTn id="25" presetClass="entr" nodeType="clickEffect" presetSubtype="16" presetID="23" grpId="5" fill="hold">
                                  <p:stCondLst>
                                    <p:cond delay="0"/>
                                  </p:stCondLst>
                                  <p:iterate type="el" backwards="0">
                                    <p:tmAbs val="0"/>
                                  </p:iterate>
                                  <p:childTnLst>
                                    <p:set>
                                      <p:cBhvr>
                                        <p:cTn id="26" fill="hold"/>
                                        <p:tgtEl>
                                          <p:spTgt spid="271"/>
                                        </p:tgtEl>
                                        <p:attrNameLst>
                                          <p:attrName>style.visibility</p:attrName>
                                        </p:attrNameLst>
                                      </p:cBhvr>
                                      <p:to>
                                        <p:strVal val="visible"/>
                                      </p:to>
                                    </p:set>
                                    <p:anim calcmode="lin" valueType="num">
                                      <p:cBhvr>
                                        <p:cTn id="27" dur="400" fill="hold"/>
                                        <p:tgtEl>
                                          <p:spTgt spid="271"/>
                                        </p:tgtEl>
                                        <p:attrNameLst>
                                          <p:attrName>ppt_w</p:attrName>
                                        </p:attrNameLst>
                                      </p:cBhvr>
                                      <p:tavLst>
                                        <p:tav tm="0">
                                          <p:val>
                                            <p:fltVal val="0"/>
                                          </p:val>
                                        </p:tav>
                                        <p:tav tm="100000">
                                          <p:val>
                                            <p:strVal val="#ppt_w"/>
                                          </p:val>
                                        </p:tav>
                                      </p:tavLst>
                                    </p:anim>
                                    <p:anim calcmode="lin" valueType="num">
                                      <p:cBhvr>
                                        <p:cTn id="28" dur="400" fill="hold"/>
                                        <p:tgtEl>
                                          <p:spTgt spid="271"/>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31" presetClass="entr" nodeType="clickEffect" presetID="10" grpId="6" fill="hold">
                                  <p:stCondLst>
                                    <p:cond delay="0"/>
                                  </p:stCondLst>
                                  <p:iterate type="el" backwards="0">
                                    <p:tmAbs val="0"/>
                                  </p:iterate>
                                  <p:childTnLst>
                                    <p:set>
                                      <p:cBhvr>
                                        <p:cTn id="32" fill="hold"/>
                                        <p:tgtEl>
                                          <p:spTgt spid="274"/>
                                        </p:tgtEl>
                                        <p:attrNameLst>
                                          <p:attrName>style.visibility</p:attrName>
                                        </p:attrNameLst>
                                      </p:cBhvr>
                                      <p:to>
                                        <p:strVal val="visible"/>
                                      </p:to>
                                    </p:set>
                                    <p:animEffect filter="fade" transition="in">
                                      <p:cBhvr>
                                        <p:cTn id="33" dur="400"/>
                                        <p:tgtEl>
                                          <p:spTgt spid="274"/>
                                        </p:tgtEl>
                                      </p:cBhvr>
                                    </p:animEffect>
                                  </p:childTnLst>
                                </p:cTn>
                              </p:par>
                            </p:childTnLst>
                          </p:cTn>
                        </p:par>
                      </p:childTnLst>
                    </p:cTn>
                  </p:par>
                  <p:par>
                    <p:cTn id="34" fill="hold">
                      <p:stCondLst>
                        <p:cond delay="indefinite"/>
                      </p:stCondLst>
                      <p:childTnLst>
                        <p:par>
                          <p:cTn id="35" fill="hold">
                            <p:stCondLst>
                              <p:cond delay="0"/>
                            </p:stCondLst>
                            <p:childTnLst>
                              <p:par>
                                <p:cTn id="36" presetClass="entr" nodeType="clickEffect" presetSubtype="16" presetID="23" grpId="7" fill="hold">
                                  <p:stCondLst>
                                    <p:cond delay="0"/>
                                  </p:stCondLst>
                                  <p:iterate type="el" backwards="0">
                                    <p:tmAbs val="0"/>
                                  </p:iterate>
                                  <p:childTnLst>
                                    <p:set>
                                      <p:cBhvr>
                                        <p:cTn id="37" fill="hold"/>
                                        <p:tgtEl>
                                          <p:spTgt spid="275"/>
                                        </p:tgtEl>
                                        <p:attrNameLst>
                                          <p:attrName>style.visibility</p:attrName>
                                        </p:attrNameLst>
                                      </p:cBhvr>
                                      <p:to>
                                        <p:strVal val="visible"/>
                                      </p:to>
                                    </p:set>
                                    <p:anim calcmode="lin" valueType="num">
                                      <p:cBhvr>
                                        <p:cTn id="38" dur="400" fill="hold"/>
                                        <p:tgtEl>
                                          <p:spTgt spid="275"/>
                                        </p:tgtEl>
                                        <p:attrNameLst>
                                          <p:attrName>ppt_w</p:attrName>
                                        </p:attrNameLst>
                                      </p:cBhvr>
                                      <p:tavLst>
                                        <p:tav tm="0">
                                          <p:val>
                                            <p:fltVal val="0"/>
                                          </p:val>
                                        </p:tav>
                                        <p:tav tm="100000">
                                          <p:val>
                                            <p:strVal val="#ppt_w"/>
                                          </p:val>
                                        </p:tav>
                                      </p:tavLst>
                                    </p:anim>
                                    <p:anim calcmode="lin" valueType="num">
                                      <p:cBhvr>
                                        <p:cTn id="39" dur="400" fill="hold"/>
                                        <p:tgtEl>
                                          <p:spTgt spid="275"/>
                                        </p:tgtEl>
                                        <p:attrNameLst>
                                          <p:attrName>ppt_h</p:attrName>
                                        </p:attrNameLst>
                                      </p:cBhvr>
                                      <p:tavLst>
                                        <p:tav tm="0">
                                          <p:val>
                                            <p:fltVal val="0"/>
                                          </p:val>
                                        </p:tav>
                                        <p:tav tm="100000">
                                          <p:val>
                                            <p:strVal val="#ppt_h"/>
                                          </p:val>
                                        </p:tav>
                                      </p:tavLst>
                                    </p:anim>
                                  </p:childTnLst>
                                </p:cTn>
                              </p:par>
                            </p:childTnLst>
                          </p:cTn>
                        </p:par>
                      </p:childTnLst>
                    </p:cTn>
                  </p:par>
                  <p:par>
                    <p:cTn id="40" fill="hold">
                      <p:stCondLst>
                        <p:cond delay="indefinite"/>
                      </p:stCondLst>
                      <p:childTnLst>
                        <p:par>
                          <p:cTn id="41" fill="hold">
                            <p:stCondLst>
                              <p:cond delay="0"/>
                            </p:stCondLst>
                            <p:childTnLst>
                              <p:par>
                                <p:cTn id="42" presetClass="entr" nodeType="clickEffect" presetID="10" grpId="8" fill="hold">
                                  <p:stCondLst>
                                    <p:cond delay="0"/>
                                  </p:stCondLst>
                                  <p:iterate type="el" backwards="0">
                                    <p:tmAbs val="0"/>
                                  </p:iterate>
                                  <p:childTnLst>
                                    <p:set>
                                      <p:cBhvr>
                                        <p:cTn id="43" fill="hold"/>
                                        <p:tgtEl>
                                          <p:spTgt spid="278"/>
                                        </p:tgtEl>
                                        <p:attrNameLst>
                                          <p:attrName>style.visibility</p:attrName>
                                        </p:attrNameLst>
                                      </p:cBhvr>
                                      <p:to>
                                        <p:strVal val="visible"/>
                                      </p:to>
                                    </p:set>
                                    <p:animEffect filter="fade" transition="in">
                                      <p:cBhvr>
                                        <p:cTn id="44" dur="400"/>
                                        <p:tgtEl>
                                          <p:spTgt spid="278"/>
                                        </p:tgtEl>
                                      </p:cBhvr>
                                    </p:animEffect>
                                  </p:childTnLst>
                                </p:cTn>
                              </p:par>
                            </p:childTnLst>
                          </p:cTn>
                        </p:par>
                      </p:childTnLst>
                    </p:cTn>
                  </p:par>
                  <p:par>
                    <p:cTn id="45" fill="hold">
                      <p:stCondLst>
                        <p:cond delay="indefinite"/>
                      </p:stCondLst>
                      <p:childTnLst>
                        <p:par>
                          <p:cTn id="46" fill="hold">
                            <p:stCondLst>
                              <p:cond delay="0"/>
                            </p:stCondLst>
                            <p:childTnLst>
                              <p:par>
                                <p:cTn id="47" presetClass="entr" nodeType="clickEffect" presetSubtype="16" presetID="23" grpId="9" fill="hold">
                                  <p:stCondLst>
                                    <p:cond delay="0"/>
                                  </p:stCondLst>
                                  <p:iterate type="el" backwards="0">
                                    <p:tmAbs val="0"/>
                                  </p:iterate>
                                  <p:childTnLst>
                                    <p:set>
                                      <p:cBhvr>
                                        <p:cTn id="48" fill="hold"/>
                                        <p:tgtEl>
                                          <p:spTgt spid="279"/>
                                        </p:tgtEl>
                                        <p:attrNameLst>
                                          <p:attrName>style.visibility</p:attrName>
                                        </p:attrNameLst>
                                      </p:cBhvr>
                                      <p:to>
                                        <p:strVal val="visible"/>
                                      </p:to>
                                    </p:set>
                                    <p:anim calcmode="lin" valueType="num">
                                      <p:cBhvr>
                                        <p:cTn id="49" dur="400" fill="hold"/>
                                        <p:tgtEl>
                                          <p:spTgt spid="279"/>
                                        </p:tgtEl>
                                        <p:attrNameLst>
                                          <p:attrName>ppt_w</p:attrName>
                                        </p:attrNameLst>
                                      </p:cBhvr>
                                      <p:tavLst>
                                        <p:tav tm="0">
                                          <p:val>
                                            <p:fltVal val="0"/>
                                          </p:val>
                                        </p:tav>
                                        <p:tav tm="100000">
                                          <p:val>
                                            <p:strVal val="#ppt_w"/>
                                          </p:val>
                                        </p:tav>
                                      </p:tavLst>
                                    </p:anim>
                                    <p:anim calcmode="lin" valueType="num">
                                      <p:cBhvr>
                                        <p:cTn id="50" dur="400" fill="hold"/>
                                        <p:tgtEl>
                                          <p:spTgt spid="279"/>
                                        </p:tgtEl>
                                        <p:attrNameLst>
                                          <p:attrName>ppt_h</p:attrName>
                                        </p:attrNameLst>
                                      </p:cBhvr>
                                      <p:tavLst>
                                        <p:tav tm="0">
                                          <p:val>
                                            <p:fltVal val="0"/>
                                          </p:val>
                                        </p:tav>
                                        <p:tav tm="100000">
                                          <p:val>
                                            <p:strVal val="#ppt_h"/>
                                          </p:val>
                                        </p:tav>
                                      </p:tavLst>
                                    </p:anim>
                                  </p:childTnLst>
                                </p:cTn>
                              </p:par>
                            </p:childTnLst>
                          </p:cTn>
                        </p:par>
                      </p:childTnLst>
                    </p:cTn>
                  </p:par>
                  <p:par>
                    <p:cTn id="51" fill="hold">
                      <p:stCondLst>
                        <p:cond delay="indefinite"/>
                      </p:stCondLst>
                      <p:childTnLst>
                        <p:par>
                          <p:cTn id="52" fill="hold">
                            <p:stCondLst>
                              <p:cond delay="0"/>
                            </p:stCondLst>
                            <p:childTnLst>
                              <p:par>
                                <p:cTn id="53" presetClass="entr" nodeType="clickEffect" presetID="10" grpId="10" fill="hold">
                                  <p:stCondLst>
                                    <p:cond delay="0"/>
                                  </p:stCondLst>
                                  <p:iterate type="el" backwards="0">
                                    <p:tmAbs val="0"/>
                                  </p:iterate>
                                  <p:childTnLst>
                                    <p:set>
                                      <p:cBhvr>
                                        <p:cTn id="54" fill="hold"/>
                                        <p:tgtEl>
                                          <p:spTgt spid="282"/>
                                        </p:tgtEl>
                                        <p:attrNameLst>
                                          <p:attrName>style.visibility</p:attrName>
                                        </p:attrNameLst>
                                      </p:cBhvr>
                                      <p:to>
                                        <p:strVal val="visible"/>
                                      </p:to>
                                    </p:set>
                                    <p:animEffect filter="fade" transition="in">
                                      <p:cBhvr>
                                        <p:cTn id="55" dur="400"/>
                                        <p:tgtEl>
                                          <p:spTgt spid="282"/>
                                        </p:tgtEl>
                                      </p:cBhvr>
                                    </p:animEffect>
                                  </p:childTnLst>
                                </p:cTn>
                              </p:par>
                            </p:childTnLst>
                          </p:cTn>
                        </p:par>
                      </p:childTnLst>
                    </p:cTn>
                  </p:par>
                  <p:par>
                    <p:cTn id="56" fill="hold">
                      <p:stCondLst>
                        <p:cond delay="indefinite"/>
                      </p:stCondLst>
                      <p:childTnLst>
                        <p:par>
                          <p:cTn id="57" fill="hold">
                            <p:stCondLst>
                              <p:cond delay="0"/>
                            </p:stCondLst>
                            <p:childTnLst>
                              <p:par>
                                <p:cTn id="58" presetClass="entr" nodeType="clickEffect" presetSubtype="16" presetID="23" grpId="11" fill="hold">
                                  <p:stCondLst>
                                    <p:cond delay="0"/>
                                  </p:stCondLst>
                                  <p:iterate type="el" backwards="0">
                                    <p:tmAbs val="0"/>
                                  </p:iterate>
                                  <p:childTnLst>
                                    <p:set>
                                      <p:cBhvr>
                                        <p:cTn id="59" fill="hold"/>
                                        <p:tgtEl>
                                          <p:spTgt spid="283"/>
                                        </p:tgtEl>
                                        <p:attrNameLst>
                                          <p:attrName>style.visibility</p:attrName>
                                        </p:attrNameLst>
                                      </p:cBhvr>
                                      <p:to>
                                        <p:strVal val="visible"/>
                                      </p:to>
                                    </p:set>
                                    <p:anim calcmode="lin" valueType="num">
                                      <p:cBhvr>
                                        <p:cTn id="60" dur="400" fill="hold"/>
                                        <p:tgtEl>
                                          <p:spTgt spid="283"/>
                                        </p:tgtEl>
                                        <p:attrNameLst>
                                          <p:attrName>ppt_w</p:attrName>
                                        </p:attrNameLst>
                                      </p:cBhvr>
                                      <p:tavLst>
                                        <p:tav tm="0">
                                          <p:val>
                                            <p:fltVal val="0"/>
                                          </p:val>
                                        </p:tav>
                                        <p:tav tm="100000">
                                          <p:val>
                                            <p:strVal val="#ppt_w"/>
                                          </p:val>
                                        </p:tav>
                                      </p:tavLst>
                                    </p:anim>
                                    <p:anim calcmode="lin" valueType="num">
                                      <p:cBhvr>
                                        <p:cTn id="61" dur="400" fill="hold"/>
                                        <p:tgtEl>
                                          <p:spTgt spid="283"/>
                                        </p:tgtEl>
                                        <p:attrNameLst>
                                          <p:attrName>ppt_h</p:attrName>
                                        </p:attrNameLst>
                                      </p:cBhvr>
                                      <p:tavLst>
                                        <p:tav tm="0">
                                          <p:val>
                                            <p:fltVal val="0"/>
                                          </p:val>
                                        </p:tav>
                                        <p:tav tm="100000">
                                          <p:val>
                                            <p:strVal val="#ppt_h"/>
                                          </p:val>
                                        </p:tav>
                                      </p:tavLst>
                                    </p:anim>
                                  </p:childTnLst>
                                </p:cTn>
                              </p:par>
                            </p:childTnLst>
                          </p:cTn>
                        </p:par>
                      </p:childTnLst>
                    </p:cTn>
                  </p:par>
                  <p:par>
                    <p:cTn id="62" fill="hold">
                      <p:stCondLst>
                        <p:cond delay="indefinite"/>
                      </p:stCondLst>
                      <p:childTnLst>
                        <p:par>
                          <p:cTn id="63" fill="hold">
                            <p:stCondLst>
                              <p:cond delay="0"/>
                            </p:stCondLst>
                            <p:childTnLst>
                              <p:par>
                                <p:cTn id="64" presetClass="entr" nodeType="clickEffect" presetID="10" grpId="12" fill="hold">
                                  <p:stCondLst>
                                    <p:cond delay="0"/>
                                  </p:stCondLst>
                                  <p:iterate type="el" backwards="0">
                                    <p:tmAbs val="0"/>
                                  </p:iterate>
                                  <p:childTnLst>
                                    <p:set>
                                      <p:cBhvr>
                                        <p:cTn id="65" fill="hold"/>
                                        <p:tgtEl>
                                          <p:spTgt spid="284"/>
                                        </p:tgtEl>
                                        <p:attrNameLst>
                                          <p:attrName>style.visibility</p:attrName>
                                        </p:attrNameLst>
                                      </p:cBhvr>
                                      <p:to>
                                        <p:strVal val="visible"/>
                                      </p:to>
                                    </p:set>
                                    <p:animEffect filter="fade" transition="in">
                                      <p:cBhvr>
                                        <p:cTn id="66" dur="400"/>
                                        <p:tgtEl>
                                          <p:spTgt spid="284"/>
                                        </p:tgtEl>
                                      </p:cBhvr>
                                    </p:animEffect>
                                  </p:childTnLst>
                                </p:cTn>
                              </p:par>
                            </p:childTnLst>
                          </p:cTn>
                        </p:par>
                      </p:childTnLst>
                    </p:cTn>
                  </p:par>
                </p:childTnLst>
              </p:cTn>
              <p:prevCondLst>
                <p:cond evt="onPrev">
                  <p:tgtEl>
                    <p:sldTgt/>
                  </p:tgtEl>
                </p:cond>
              </p:prevCondLst>
              <p:nextCondLst>
                <p:cond evt="onNext">
                  <p:tgtEl>
                    <p:sldTgt/>
                  </p:tgtEl>
                </p:cond>
              </p:nextCondLst>
            </p:seq>
            <p:video fullScrn="0">
              <p:cMediaNode mute="0" showWhenStopped="1" numSld="1" vol="0">
                <p:cTn id="67" fill="hold" display="0">
                  <p:stCondLst>
                    <p:cond delay="indefinite"/>
                  </p:stCondLst>
                </p:cTn>
                <p:tgtEl>
                  <p:spTgt spid="259"/>
                </p:tgtEl>
              </p:cMediaNode>
            </p:video>
            <p:seq concurrent="1" prevAc="none" nextAc="seek">
              <p:cTn id="68" evtFilter="cancelBubble" nodeType="interactiveSeq" restart="whenNotActive" fill="hold">
                <p:stCondLst>
                  <p:cond delay="0" evt="onClick">
                    <p:tgtEl>
                      <p:spTgt spid="259"/>
                    </p:tgtEl>
                  </p:cond>
                </p:stCondLst>
                <p:endSync delay="0" evt="end">
                  <p:rtn val="all"/>
                </p:endSync>
                <p:childTnLst>
                  <p:par>
                    <p:cTn id="69" fill="hold">
                      <p:stCondLst>
                        <p:cond delay="0"/>
                      </p:stCondLst>
                      <p:childTnLst>
                        <p:par>
                          <p:cTn id="70" fill="hold">
                            <p:stCondLst>
                              <p:cond delay="0"/>
                            </p:stCondLst>
                            <p:childTnLst>
                              <p:par>
                                <p:cTn id="71" presetClass="mediacall" nodeType="clickEffect" presetSubtype="0" presetID="2" fill="hold">
                                  <p:stCondLst>
                                    <p:cond delay="0"/>
                                  </p:stCondLst>
                                  <p:childTnLst>
                                    <p:cmd type="call" cmd="togglePause">
                                      <p:cBhvr>
                                        <p:cTn id="72" dur="1" fill="hold"/>
                                        <p:tgtEl>
                                          <p:spTgt spid="259"/>
                                        </p:tgtEl>
                                      </p:cBhvr>
                                    </p:cmd>
                                  </p:childTnLst>
                                </p:cTn>
                              </p:par>
                            </p:childTnLst>
                          </p:cTn>
                        </p:par>
                      </p:childTnLst>
                    </p:cTn>
                  </p:par>
                </p:childTnLst>
              </p:cTn>
              <p:nextCondLst>
                <p:cond delay="0" evt="onClick">
                  <p:tgtEl>
                    <p:spTgt spid="259"/>
                  </p:tgtEl>
                </p:cond>
              </p:nextCondLst>
            </p:seq>
          </p:childTnLst>
        </p:cTn>
      </p:par>
    </p:tnLst>
    <p:bldLst>
      <p:bldP build="whole" bldLvl="1" animBg="1" rev="0" advAuto="0" spid="267" grpId="3"/>
      <p:bldP build="whole" bldLvl="1" animBg="1" rev="0" advAuto="0" spid="283" grpId="11"/>
      <p:bldP build="whole" bldLvl="1" animBg="1" rev="0" advAuto="0" spid="279" grpId="9"/>
      <p:bldP build="whole" bldLvl="1" animBg="1" rev="0" advAuto="0" spid="275" grpId="7"/>
      <p:bldP build="whole" bldLvl="1" animBg="1" rev="0" advAuto="0" spid="270" grpId="4"/>
      <p:bldP build="whole" bldLvl="1" animBg="1" rev="0" advAuto="0" spid="271" grpId="5"/>
      <p:bldP build="whole" bldLvl="1" animBg="1" rev="0" advAuto="0" spid="282" grpId="10"/>
      <p:bldP build="whole" bldLvl="1" animBg="1" rev="0" advAuto="0" spid="278" grpId="8"/>
      <p:bldP build="whole" bldLvl="1" animBg="1" rev="0" advAuto="0" spid="284" grpId="12"/>
      <p:bldP build="whole" bldLvl="1" animBg="1" rev="0" advAuto="0" spid="274" grpId="6"/>
      <p:bldP build="whole" bldLvl="1" animBg="1" rev="0" advAuto="0" spid="266" grpId="2"/>
    </p:bldLst>
  </p:timing>
</p:sld>
</file>

<file path=ppt/theme/theme1.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A7A7A7"/>
      </a:dk2>
      <a:lt2>
        <a:srgbClr val="535353"/>
      </a:lt2>
      <a:accent1>
        <a:srgbClr val="4472C4"/>
      </a:accent1>
      <a:accent2>
        <a:srgbClr val="ED7D31"/>
      </a:accent2>
      <a:accent3>
        <a:srgbClr val="A5A5A5"/>
      </a:accent3>
      <a:accent4>
        <a:srgbClr val="FFC000"/>
      </a:accent4>
      <a:accent5>
        <a:srgbClr val="5B9BD5"/>
      </a:accent5>
      <a:accent6>
        <a:srgbClr val="70AD47"/>
      </a:accent6>
      <a:hlink>
        <a:srgbClr val="0000FF"/>
      </a:hlink>
      <a:folHlink>
        <a:srgbClr val="FF00FF"/>
      </a:folHlink>
    </a:clrScheme>
    <a:fontScheme name="Office Theme">
      <a:majorFont>
        <a:latin typeface="Helvetica"/>
        <a:ea typeface="Helvetica"/>
        <a:cs typeface="Helvetica"/>
      </a:majorFont>
      <a:minorFont>
        <a:latin typeface="Calibri"/>
        <a:ea typeface="Calibri"/>
        <a:cs typeface="Calibri"/>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12700" cap="flat">
          <a:solidFill>
            <a:schemeClr val="accent1"/>
          </a:solidFill>
          <a:prstDash val="solid"/>
          <a:miter lim="800000"/>
        </a:ln>
        <a:effectLst/>
        <a:sp3d/>
      </a:spPr>
      <a:bodyPr rot="0" spcFirstLastPara="1" vertOverflow="overflow" horzOverflow="overflow" vert="horz" wrap="square" lIns="45719" tIns="45719" rIns="45719" bIns="45719" numCol="1" spcCol="38100" rtlCol="0" anchor="ctr"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Calibri"/>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12700" cap="flat">
          <a:solidFill>
            <a:schemeClr val="accent1"/>
          </a:solidFill>
          <a:prstDash val="solid"/>
          <a:miter lim="800000"/>
        </a:ln>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Calibri"/>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ppt/theme/theme2.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A7A7A7"/>
      </a:dk2>
      <a:lt2>
        <a:srgbClr val="535353"/>
      </a:lt2>
      <a:accent1>
        <a:srgbClr val="4472C4"/>
      </a:accent1>
      <a:accent2>
        <a:srgbClr val="ED7D31"/>
      </a:accent2>
      <a:accent3>
        <a:srgbClr val="A5A5A5"/>
      </a:accent3>
      <a:accent4>
        <a:srgbClr val="FFC000"/>
      </a:accent4>
      <a:accent5>
        <a:srgbClr val="5B9BD5"/>
      </a:accent5>
      <a:accent6>
        <a:srgbClr val="70AD47"/>
      </a:accent6>
      <a:hlink>
        <a:srgbClr val="0000FF"/>
      </a:hlink>
      <a:folHlink>
        <a:srgbClr val="FF00FF"/>
      </a:folHlink>
    </a:clrScheme>
    <a:fontScheme name="Office Theme">
      <a:majorFont>
        <a:latin typeface="Helvetica"/>
        <a:ea typeface="Helvetica"/>
        <a:cs typeface="Helvetica"/>
      </a:majorFont>
      <a:minorFont>
        <a:latin typeface="Calibri"/>
        <a:ea typeface="Calibri"/>
        <a:cs typeface="Calibri"/>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12700" cap="flat">
          <a:solidFill>
            <a:schemeClr val="accent1"/>
          </a:solidFill>
          <a:prstDash val="solid"/>
          <a:miter lim="800000"/>
        </a:ln>
        <a:effectLst/>
        <a:sp3d/>
      </a:spPr>
      <a:bodyPr rot="0" spcFirstLastPara="1" vertOverflow="overflow" horzOverflow="overflow" vert="horz" wrap="square" lIns="45719" tIns="45719" rIns="45719" bIns="45719" numCol="1" spcCol="38100" rtlCol="0" anchor="ctr"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Calibri"/>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12700" cap="flat">
          <a:solidFill>
            <a:schemeClr val="accent1"/>
          </a:solidFill>
          <a:prstDash val="solid"/>
          <a:miter lim="800000"/>
        </a:ln>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Calibri"/>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docProps/app.xml><?xml version="1.0" encoding="utf-8"?>
<Properties xmlns="http://schemas.openxmlformats.org/officeDocument/2006/extended-properties" xmlns:vt="http://schemas.openxmlformats.org/officeDocument/2006/docPropsVTypes"/>
</file>

<file path=docProps/core.xml><?xml version="1.0" encoding="utf-8"?>
<cp:coreProperties xmlns:cp="http://schemas.openxmlformats.org/package/2006/metadata/core-properties" xmlns:dc="http://purl.org/dc/elements/1.1/" xmlns:dcterms="http://purl.org/dc/terms/" xmlns:xsi="http://www.w3.org/2001/XMLSchema-instance"/>
</file>