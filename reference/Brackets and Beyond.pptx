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8 minutes, as chosen for a double (not the usual 10). Six clicks, one answer each.
I READ out/From A Table To A Rule/From A Table To A Rule.pptx (the stated PREVIOUS lesson; it is not in reference/, only in out/), reference/Expand and Simplify.pptx and reference/Function Machines.pptx, and checked every question against the last three Do Nows in the class (From A Table To A Rule, Function Machines, Putting Numbers In). Nothing repeats: a new table, a new backwards machine, a new bracket rule, a new simplify and new negative arithmetic.
THE MIX FOLLOWS TEMPLATE.md. Q1 and Q2 are last lesson (the rule from a table; working backwards through a machine). Q3 and Q4 are earlier in the unit (a bracket as a machine, then expanding it; collecting like terms). Q5 is from last term and is the negative-number arithmetic they found hard after their exam. Q6 previews today and is not taught yet: its card is SHADED, and its answer box says the answer outright. Say "suggest". Accept any attempt; the I Do 3 in the second half settles it, and uses this very question.
Q1: y goes up by 3, 3 × 1 = 3, and 7 − 3 = 4, so y = 3x + 4. Check x = 4: 3 × 4 + 4 = 16. Q2: undo the last step first: 25 + 3 = 28, then 28 ÷ 4 = 7. Check: 4 × 7 − 3 = 25. Q3 IS THE ONE THEY FOUND HARD, hidden inside a machine: "increased by 7, then multiplied by 3" has the adding first, so the brackets, 3(x + 7), and the 3 must multiply BOTH terms: 3x + 21. Expect 3x + 7. Do not fix it by telling them: say "does the 3 reach the 7?".
Q4: 9m + 3 − 4m − 8: the m terms are 9m − 4m = 5m, the numbers are 3 − 8 = −5, so 5m − 5. Watch for 5m + 5 (3 − 8 taken as 5): that is the same slip as the negative-number trouble. Q5: −4 × (−3) = +12, then 12 − 5 = 7. Expect −17 or 17 from a lost sign. Q6, THE PREVIEW: 4 − 6 = −2, so 9 − (−2) = 9 + 2 = 11. The tempting wrong answer is 7 (9 − 4 + 6 done as 9 − 4 − 6 = −1, or 9 − 2 = 7). Collect answers on the board and leave them there.
THEY FOUND HARD: multiplying every term inside (Q3), and negative numbers in order-of-operations sums, after their exam (Q5, Q6). Both come back all lesson.
THE DATE IS THE LESSON DATE IN THE BRIEF (Monday 19 October 2026). CHANGE IT if the lesson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minute. Four clicks.
THE THREE OBJECTIVES ARE YOUR WORDING, word for word. Objectives 1 and 2 are the first half; objective 3 is the second half, after the break. Say so: "before the break you expand; after it, you take a bracket away".
THIS IS A PRACTICE LESSON, NOT A TEACHING ONE (your note). They have met all of it in Expanding Brackets and Expand and Simplify. Say "you have done this; today you get it right every time". The three I Dos are three minutes each and the rest of the time is practice.
THE BANNER REUSES THE WORDING FROM EXPAND AND SIMPLIFY: "Expand first. Collect second." and adds the idea both hard things need, every sign goes with its term. Say it twice, it is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minutes. Three clicks: the question, the rectangle, then the three options together.
THE HOOK IS THE AREA MODEL FROM reference/Expanding Brackets OLD.pptx (its slide 11), as you asked: a rectangle 3 high and x + 2 wide. It shows WHY the 3 hits both terms, which is better than repeating the rule. Take a show of hands for each option and WRITE THE TALLY ON THE BOARD. Do not settle it: I Do 1 settles it, with the rectangle split, pointing at the tally.
ANSWER, FOR YOU: B, 3x + 6. The area of a rectangle is the height times the width: 3 × (x + 2) = 3(x + 2). Split the width into x and 2 and the rectangle splits into two: 3 × x = 3x and 3 × 2 = 6, so 3x + 6. A (3x + 2) is the error they found hard: the 3 multiplied the x and "forgot" the 2, which would be an area of 3x plus a strip only 1 high. Expect it to get a lot of votes. C (6x) comes from "3 times 2, and 3 times x, both give 6x" and from adding the x and the 2 as if x + 2 were one term. Say nothing; ask "what did you do?" and let them say "I multiplied the 3 by the x". That is the lesson said by a student.
A COMMITMENT THAT IS WRONG IS CORRECTED MORE STRONGLY (PEDAGOGY.md), so do not tell them. Do not draw the cut yet: it is the next slide.
THEY FOUND HARD: 5(x + 3) written as 5x + 3. This is the same slip in a picture: A is 3x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minutes. Five clicks: the area model split, the three lines, the negative example (two lines), its answer and note, then the banner. Keep it short: this is practice (your note).
OBJECTIVE 1. LEFT CARD IS THE HOOK, SETTLED, POINTING AT THE TALLY. Draw the cut: the rectangle splits into a 3 by x piece (area 3x) and a 3 by 2 piece (area 6), so 3(x + 2) = 3x + 6, which is B. Say "the 3 hits both pieces, because both pieces are 3 high". That is why every term gets multiplied. If A got votes: A was a 3 by x piece and a strip only 1 high, which is not the rectangle.
THE RIGHT CARD IS A NEGATIVE OUTSIDE, which the area model cannot draw (an area is never negative), so say so and use the sign rule: −2 × x = −2x and −2 × (−5) = +10, so −2(x − 5) = −2x + 10. THE SIGN GOES WITH THE TERM: the −5 is a negative five, and the −2 times it is positive. Expect −2x − 10 (the negatives "kept"). If it is shaky, check with x = 3: −2 × (3 − 5) = −2 × (−2) = 4 and −2 × 3 + 10 = 4. They match; −2x − 10 gives −16.
THE BANNER IS THE HARD THING THEY FLAGGED, 5(x + 3) written as 5x + 3: the number outside multiplies EVERY term inside. Do one more on the board if there is time: 5(x + 3), with arrows to both terms.
POINT FORWARD: the next slide adds a second bracket and a collecting step ("Expand first. Collect second."), and after the break the minus in front of a bracket.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minutes. Six clicks: the four lines of working one at a time, the check, then the banner. THE BANNER IS THE WORDING OF EXPAND AND SIMPLIFY, as you asked: "Expand first. Collect second."
OBJECTIVE 2. THE EXAMPLE IS 3(x + 2) + 2(x − 4). EXPAND FIRST: 3x + 6 and 2x − 8, so 3x + 6 + 2x − 8. COLLECT SECOND: the x terms 3x + 2x = 5x, the numbers 6 − 8 = −2. Answer 5x − 2. You cannot collect while the brackets are still there. THE −8 IS THE POINT: 2 × (−4) = −8, and 6 + (−8) = −2. A negative number arrives from the multiplying and then again in the collecting: it is exactly the negative-number arithmetic they found hard after their exam, so slow down on "6 − 8 = −2". Expect 5x + 2 (the 8 treated as +8, or 8 − 6).
THE CHECK IS THE HABIT FROM EXPAND AND SIMPLIFY, and it makes them independent of you: put x = 2 into the question (3 × 4 + 2 × (−2) = 12 − 4 = 8) and into the answer (5 × 2 − 2 = 8). If the two disagree, the answer is wrong. One matching value is a check, not a proof.
THE MISTAKE TO NAME OUT LOUD: collecting before expanding (3(x + 2) + 2(x − 4) is NOT 3(3x − 2)). The brackets have to go first.
POINT FORWARD: "after the break the minus goes in front of a bracket, and that is where the signs go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5 minutes. Four clicks, one correction each. THE MODE IS SPOT THE MISTAKE (TEMPLATE.md). The last lesson in the unit (From A Table To A Rule) used Finish It Off, so this is not that; the second half uses Rank And Conquer. One of the four is already correct (row 3), so the task is "check this", and a student who says "this one is fine" has done better work than one who invents a flaw.
THEY COMMIT BEFORE EACH REVEAL: thumbs up for right, thumbs down for wrong, then "what did the student do?". "It is wrong" earns nothing. Naming the error is what stops them repeating it. They have no mini whiteboards, so it is all spoken.
ROW 1 IS THE ONE THEY FOUND HARD: 5(x + 3) = 5x + 3. The 5 multiplied the first term only. Check with x = 2: 5 × 5 = 25 against 5 × 2 + 3 = 13. ROW 2 IS THE SIGN: −3(x − 4) = −3x − 12. They multiplied −3 by x and then forgot that −4 is a negative: −3 × (−4) = +12. Check with x = 2: −3 × (−2) = 6 and −3 × 2 + 12 = 6; the wrong answer gives −18. ROW 3 IS CORRECT: 2x + 10 + 3x − 3 = 5x + 7. ROW 4: 4(x + 1) + 3(x + 2) = 7x + 6. The 3 multiplied the x and not the 2, which is row 1 hiding inside two brackets: 4x + 4 + 3x + 6 = 7x + 10.
IF THEY ARE QUICK, ask them to write a wrong answer for a partner to diagnose. IF SHORT OF TIME, do rows 1, 2 and 4 and skip the correct one.
THEY FOUND HARD: rows 1 and 4 are the 5(x + 3) → 5x + 3 slip; row 2 is the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CALL. 6 minutes. Six clicks. Name a student, then ask. Give thinking time, then ask for the working out loud: "which step do you do first, and why?" Students have no mini whiteboards, so the working is spoken.
TWO OF THE SIX ARE FROM EARLIER LESSONS (TEMPLATE.md): Q1 (putting a number in, from Putting Numbers In: the bracket first, 5 + 4 = 9, then × 3) and Q2 (the multiplier from a table, from last lesson: the gap in y divided by the gap in x). Q3 to Q6 are today: a negative outside, a negative outside with a negative inside, two brackets added, two brackets with a negative inside.
Q3: −3 × x = −3x and −3 × 7 = −21, so −3x − 21 (expect −3x + 21: the sign of the 7 was changed twice). Q4: −4 × (−2) = +8, so −4x + 8 (expect −4x − 8). Ask "what is a negative times a negative?". Q5: 3x + 6 + 2x + 10 = 5x + 16. Q6 IS THE HARDEST: 2x + 8 + 5x − 15 = 7x − 7, with a 5 × (−3) = −15 and 8 − 15 = −7 at the end. Expect 7x + 7 (the 15 taken as positive) and 7x − 23. Give it the longest wait and check with x = 2: 2 × 6 + 5 × (−1) = 7 and 7 × 2 − 7 = 7.
THE COMMON MISTAKE ON Q3 TO Q6 IS THE ONE THEY FLAGGED, the outside number reaching only the first term: ask "what did the 3 multiply?" and take "everything inside".
IF MOST OF THE ROOM IS RIGHT BY Q4, spend longer on Q5 and Q6. IF SHORT OF TIME, cut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16 minutes (a double has the longer stretch: this is part 1 of the worksheet), then 3 to mark. Four clicks: the three tiers, then the note. THE WORKSHEET IS THE TASK IN THE FIRST HALF; the game is in the second.
THREE TIERS, THEY CHOOSE (TEMPLATE.md), and they keep the same tier for part 2. Each tier opens with a fully worked example, then a half-worked one, then blanks. BRONZE (Q1 to Q7): one bracket with a positive then a negative inside, a negative outside, a bracket and a loose term, and a student's mistake to explain (Q7, the 5(x + 4) = 5x + 4 slip). SILVER (Q14 to Q19): a negative outside with a coefficient on the x, two brackets, "why does that step work?" (Q17, why the 5 multiplies the 3), a reverse (Q18, fill the gap) and a two-bracket question. GOLD (Q27 to Q32): THE LETTER OUTSIDE THE BRACKET, x(x + 4) = x² + 4x, which is Gold ONLY (your note: they met x × x = x² in Expand and Simplify), then a letter outside with a loose bracket, and "where would you meet this outside the lesson?" (Q32, the area of a garden). AIM FOR ABOUT FOUR RIGHT OUT OF FIVE on Bronze: if Bronze is producing lots of errors, the problem is the I Do, not the student.
THE QUESTIONS ARE MIXED ON PURPOSE (interleaved) so each needs a decision. The sheet says so. THE WORKSHEET HAS A RAG GRID at the top (start column now, end column at the end of part 2). The PART 1 ANSWERS are printed UPSIDE DOWN at the end of part 1; part 2 starts on a new page.
CIRCULATE WITH ONE QUESTION: "what did the number outside multiply?" AT THE END OF 16 MINUTES, stop them and go straight to the Mark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3 minutes. One click: the checklist. THE INSTRUCTION ON THE SLIDE IS "Turn to the back. Mark your own in a different colour." (TEMPLATE.md). This phase is not optional and is not absorbed into the You Do: marking straight after doing is a retrieval event and a feedback event at once.
THE PART 1 ANSWERS ARE PRINTED UPSIDE DOWN at the end of part 1 of the worksheet (part 2 starts on a new page, so they do not see its answers yet). Most are exact; the "why does that step work?" (Silver Q17), the explanation (Bronze Q7) and the "where would you meet this" (Gold Q32) say what a good answer contains.
WALK ROUND reading for the two slips they flagged: the outside number reaching only the first term (Bronze Q2, Q7; Silver Q16), and a lost sign when the outside number is negative (Bronze Q4, Q5; Silver Q15). If someone has made one, ask "which term did the number outside multiply?" and let them find it themselves.
THEN THE BREAK. The next slide is the 5-minute break slide. After it, the first slide is a four-minute retrieval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5 minutes. No clicks. The timer on this slide is the five minutes, and the bar drains so the room can see how long is left.
A DOUBLE IS NOT TWO DECKS (TIMETABLE.md): this is the same file, so there is nothing to open when they come back. The break sits BETWEEN the halves, not inside either. Half 1 ended on the Mark; the first slide after this is a four-minute retrieval warm-up that pulls the half-one skills back (expanding, two brackets) before the new idea.
IF THEY ARE LATE BACK, start the warm-up with whoever is there; it is retrieval, not new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4 minutes. Four clicks, one answer each. This is the second half's opener, a short retrieval, not a second Do Now: nothing is previewed (Do Now Q6 already previewed today's new idea, and the next slide settles it).
Q1 AND Q2 ARE HALF ONE, an hour ago: a negative outside, then two brackets. Q3 IS NEGATIVE ARITHMETIC IN ORDER, the exam trouble: −6 × (−2) = +12 first, then 12 − 7 = 5. Expect −19 and 19. Q4 IS FROM LAST LESSON, a different table, so the earlier lessons do not fade: the rule of a table (y goes up by 4, so × 4; 4 × 1 = 4 and y is 2, so subtract 2).
Q1: −5 × x = −5x and −5 × (−2) = +10, so −5x + 10. Q2: 4x + 12 + 2x − 2 = 6x + 10 (the 2 × (−1) = −2 and 12 − 2 = 10). If more than a few miss Q2, spend a minute on it before the new idea; it is the base of what comes next.
THE FOUR OF THEM TOGETHER ARE THE SKILLS TODAY'S SECOND IDEA RUNS ON: a negative times a negative, the order of operations, collecting with negatives. Say "after the break the same skills, with a minus in front of a bracket".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minutes. Five clicks: the first two lines of the number example, the last two, the letter example (three lines), the animation (ON CLICK, so say the idea first), then the banner.
OBJECTIVE 3, THE NEW IDEA OF THE SECOND HALF AND THE ONE THEY FOUND HARD AFTER THEIR EXAM: negative numbers in order-of-operations sums, x − (2x − 5). THE METHOD IS NUMBERS FIRST, then the same thing with a letter, so the sign rule is seen with no letters to hide behind. SETTLE DO NOW Q6, POINTING AT THE BOARD: 9 − (4 − 6). Brackets first: 4 − 6 = −2, then 9 − (−2) = 9 + 2 = 11. Now do it the other way, taking the bracket away: 9 − 4 + 6 = 11. The SAME answer, which is why it works: subtracting a bracket means subtracting each thing inside, so the −6 becomes +6. Expect 7 from the room (9 − 4 − 6 = −1, or 9 − 2), and ask "does the −6 stay a −6?".
THE LETTER VERSION IS THE ONE THEY FLAGGED: x − (2x − 5). THE MINUS BELONGS TO THE WHOLE BRACKET, as if it were −1 multiplying it: −1 × 2x = −2x, and −1 × (−5) = +5. So x − 2x + 5, and collecting gives −x + 5. THE ERROR TO EXPECT is x − 2x − 5: the minus changed the first sign and forgot the second. THE CHECK CATCHES IT: x = 3 gives 3 − (6 − 5) = 2, and −3 + 5 = 2, but the slip gives 3 − 6 − 5 = −8.
THE ANIMATION (about 30 seconds) does exactly that slowly and PAUSES at every step: the minus is picked out as belonging to the whole bracket, "x + (−1) × (2x − 5)" is written, then −1 × 2x = −2x, then −1 × (−5) = +5, then the brackets go and the like terms are collected, then the check with x = 3 (both give 2), then the slip (−8, not 2). Talk over the pauses. You can click it to play it again.
DO NOT USE "TWO NEGATIVES MAKE A POSITIVE" ON ITS OWN: say "subtracting a negative is adding". x − (2x − 5): the −5 is subtracted, so it becomes +5.
IF THEY ARE QUICK, ask for 7x − (3x + 2) and 6 − (x − 4). POINT FORWARD: the We Do ranks four student answers to one question of this kind, and the game, round 3, is full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5 minutes. Five clicks: card C, card D, card A, card B (best first), then the upgrade. THE MODE IS RANK AND CONQUER (TEMPLATE.md). The first half used Spot The Mistake and the last lesson in the unit Finish It Off, so this is neither. It practises objective 3 (the minus before a bracket) with the two slips they flagged.
THE QUESTION IS 5(x + 2) − (2x − 3) (4 marks): expanded 5(x + 2) correctly to 5x + 10 (1); the bracket taken away with BOTH signs changed, −2x + 3 (1); the x terms collected, 3x (1); the numbers collected, 13 (1). THE RANKING COMES FROM THAT MARK SCHEME, NOT TASTE. Count what each answer has: C has all four (4 marks). D has the first three and then 10 + 3 written as 10, a missing step (3 marks). A has the first two and stops, nothing collected (2 marks). B has the 5 multiplying only the x (5x + 2) and the minus changing only the first sign (−2x − 3), so it has none of the first two marks and only the x terms collected correctly from its own lines (1 mark). The order is C, D, A, B.
RANK. BEFORE THE FIRST CLICK the class commits, by a show of hands, to the WEAKEST and the STRONGEST. Expect many to name D as the weakest ("the answer is wrong") and B as the best ("it has an answer"). Then click the ranking one card at a time, each with one reason: C 4 marks, D 3, A 2, B 1. Ask what each student did, not what the right answer is.
CONQUER. B HOLDS THE LESSON'S MAIN MISCONCEPTIONS, so upgrade it together until it would rank first: the 5 reaches the 2 (5x + 10), the minus reaches the 3 (−2x + 3), and 5x − 2x + 10 + 3 = 3x + 13. The upgraded answer is the LAST click. Check with x = 2: the question gives 5 × 4 − (4 − 3) = 19 and 3 × 2 + 13 = 19, but B gives 3 × 2 − 1 = 5.
THE SAME MISTAKES AS THEIR EXAM TROUBLE: B's "−3" is x − (2x − 5) again. IF YOU HAVE TIME, two cold-call questions (your layout has no Cold Call in this half): "what is −(x − 4)?" (−x + 4) and "what is 8 − (3 − 5)?"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15 minutes. Four clicks: the three rounds, then the note. THE GAME IS SPOT THE ERROR (the brief), and the worksheet is the fallback and the next You Do.
WHAT THEY DO. Open the file "Brackets and Beyond game" from Google Classroom. Three rounds of six questions, each on their own device. Each question shows a worked solution of a few lines with ONE place where it can go wrong, and they TAP THE LINE WHERE IT GOES WRONG, or tap "There is no mistake". A wrong answer says what the mistake probably was, in the same words as this deck (the number outside only multiplied the first term; the sign was not changed; the minus did not change every sign), and shows the line done correctly. EVERY STUDENT GETS A DIFFERENT GAME: different numbers, a different line wrong, and a different mistake, in a different order. The skills and their order are the same for everyone. Each game has a six-character code, shown on the start and end screens; add #CODE to the file's address to see exactly what a student saw.
THE DIFFICULTY RAMPS ON PURPOSE. ROUND 1 is the lesson: single brackets, a negative outside, about a third with no mistake. ROUND 2 is two brackets and collecting, with the arithmetic slips (6 − 8 taken as 2). ROUND 3 goes far past the lesson: a bracket taken away, a minus in front of a coefficient (5 − 2(x − 3)), and a LETTER OUTSIDE THE BRACKET, x(x + 4), which the lesson itself leaves to Gold. The last two questions (17 and 18) are meant to be almost impossible, drawn from a small pool of equally hard ones (a minus before a bracket with a letter outside, and an expression with three parts). Expect most students to fail those two. That is the design; tell them before they start.
AT THE END OF EACH ROUND, and again on the last screen, there is a drop-down for every round with how long each question took and, for a wrong one, what the student tapped and the correct working. The "Your mistakes" summary groups by the kind of mistake. There is a "Stop and see my results" button on every question.
ON AN iPAD, an HTML file attached in Google Classroom can be awkward to open. Check before relying on it. If a student cannot open it, finishes early or is absent, the worksheet (part 2) is the fallback.
CIRCULATE WITH ONE QUESTION: "which line is the first one that is wrong, and how do you know?" AT THE END OF 15 MINUTES, stop them and go to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15 minutes, then 3 to mark. Four clicks: the three tiers, then the note. THIS IS THE EXTENDED WORKSHEET STRETCH (TIMETABLE.md: a full lesson, then an extended worksheet stretch). Part 2 is on its own page of the SAME worksheet file.
SAME THREE TIERS, SAME CHOICE. BRONZE (Q8 to Q13): a half-worked one (a bracket taken away), numbers first (12 − (5 − 8) = 15, the order-of-operations sum they found hard), a bracket taken away, two brackets, a student who lost a sign (5x − (2x − 1) = 3x − 1, to check with x = 2) and a minus in front of a bracket with a letter. SILVER (Q20 to Q26): a half-worked two-bracket question with a minus between them, x terms taken from a minus in front (3x − (5x − 4)), a lost sign to find (Q24), a number check (Q25) and 15 − 3(2 − 5) = 24 (Q26), the negative arithmetic with a multiplier. GOLD (Q33 to Q39): 5x − 3(x − 2), a letter outside with a minus between two brackets (x(x + 4) − x(x − 3) = 7x), "why does that step work?" about the sign change (Q36), "show that 3(x + 2) − 3(x − 1) is always 9" (Q37), a rectangles problem (Q38) and a three-part expression (Q39).
WHERE THEY WILL STALL: Silver Q24 (finding a lost sign) and Gold Q37 (showing it is always 9, with no x left). The substitution check from Expand and Simplify makes them independent of you: "put x = 2 in, do they match?"
THE PART 2 ANSWERS are printed UPSIDE DOWN at the foot of the last page. Q36 (why the sign changes), Q32 in part 1 (where would you meet this) and Q17 (why the 5 multiplies the 3) say what a good answer contains.
CIRCULATE WITH ONE QUESTION: "did the minus change every sign inside?" AT THE END OF 15 MINUTES, stop them and go straight to the Mark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3 minutes. One click: the checklist. THE INSTRUCTION ON THE SLIDE IS "Turn to the back. Mark your own in a different colour." (TEMPLATE.md). This phase is not optional and is not absorbed into the You Do.
THE PART 2 ANSWERS ARE PRINTED UPSIDE DOWN at the foot of the last page of the worksheet. Most are exact; the "why does that step work?" (Gold Q36) and the lost-sign questions (Bronze Q12, Silver Q24) say what a good answer contains.
WALK ROUND reading for the commonest mistake, the one they flagged after their exam: a minus in front of a bracket that changes only the first sign (Bronze Q12, Silver Q21, Q24). If someone has made it, ask them to put x = 2 in both sides and see the two numbers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PLENARY. 3 minutes. Eleven clicks: each statement, then its answer, then the closing line. THE ONE PLENARY OF THE DOUBLE: it settles BOTH halves (the first half ended on the Mark).
EVERY FALSE IS A MISCONCEPTION FROM TODAY. Q1: 7(x + 2) = 7x + 14, not 7x + 2: the number outside reaches only the first term, the one they flagged. Q3: x − (2x − 5) = −x + 5, not x − 2x − 5: the minus changed only the first sign, the one they flagged after their exam. Q5: 3(x + 2) − 2(x + 1) = x + 4, not x + 8: −2 × 1 = −2, so the 2 is taken away, not added (the minus in front of a coefficient).
THE TWO TRUES: Q2, −3(x − 4) = −3x + 12 (a negative times a negative is positive); Q4, 6 − (x − 1) = −x + 7, written 7 − x (the minus changes the −1 to +1). THESE ARE THE APPLIED ITEMS (TEMPLATE.md asks for at least one): each needs a sign worked out, not recalled. Check Q4 with x = 1: 6 − 0 = 6 and 7 − 1 = 6; and Q5 with x = 2: 3 × 4 − 2 × 3 = 6, x + 4 = 6, but x + 8 = 10. Ask them to say the check out loud.
THE HOOK WAS SETTLED IN THE FIRST I DO (the area of the rectangle, B). IF THE ROOM SPLITS on Q3 or Q5, that is the first thing to reteach next lesson.
THE CLOSING LINE REPEATS THE WORDING OF EXPAND AND SIMPLIFY and adds the sign. TEMPLATE.md asks for what the NEXT lesson does, and the next lesson is not known, so it is not guessed: CHANGE THIS LINE once you have decided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video" Target="../media/media-12-4.mp4"/><Relationship Id="rId5" Type="http://schemas.microsoft.com/office/2007/relationships/media" Target="../media/media-12-4.mp4"/><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3-1.mp4"/><Relationship Id="rId2" Type="http://schemas.microsoft.com/office/2007/relationships/media" Target="../media/media-13-1.mp4"/><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video" Target="../media/media-17-1.mp4"/><Relationship Id="rId2" Type="http://schemas.microsoft.com/office/2007/relationships/media" Target="../media/media-17-1.mp4"/><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602029"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DO NOW · 8 MIN</a:t>
            </a:r>
            <a:endParaRPr lang="en-US" sz="900" dirty="0"/>
          </a:p>
        </p:txBody>
      </p:sp>
      <p:sp>
        <p:nvSpPr>
          <p:cNvPr id="4" name="lesson_title"/>
          <p:cNvSpPr txBox="1"/>
          <p:nvPr/>
        </p:nvSpPr>
        <p:spPr>
          <a:xfrm>
            <a:off x="2331720" y="146304"/>
            <a:ext cx="4480560" cy="566928"/>
          </a:xfrm>
          <a:prstGeom prst="rect">
            <a:avLst/>
          </a:prstGeom>
          <a:noFill/>
          <a:ln/>
        </p:spPr>
        <p:txBody>
          <a:bodyPr wrap="square" lIns="0" tIns="0" rIns="0" bIns="0" rtlCol="0" anchor="ctr"/>
          <a:lstStyle/>
          <a:p>
            <a:pPr algn="ctr" indent="0" marL="0">
              <a:buNone/>
            </a:pPr>
            <a:r>
              <a:rPr lang="en-US" sz="2600" b="1" dirty="0">
                <a:solidFill>
                  <a:srgbClr val="2B2350"/>
                </a:solidFill>
                <a:latin typeface="Georgia" pitchFamily="34" charset="0"/>
                <a:ea typeface="Georgia" pitchFamily="34" charset="-122"/>
                <a:cs typeface="Georgia" pitchFamily="34" charset="-120"/>
              </a:rPr>
              <a:t>Brackets and Beyond</a:t>
            </a:r>
            <a:endParaRPr lang="en-US" sz="2600" dirty="0"/>
          </a:p>
        </p:txBody>
      </p:sp>
      <p:sp>
        <p:nvSpPr>
          <p:cNvPr id="5" name="lesson_date"/>
          <p:cNvSpPr txBox="1"/>
          <p:nvPr/>
        </p:nvSpPr>
        <p:spPr>
          <a:xfrm>
            <a:off x="6629400" y="274320"/>
            <a:ext cx="2103120" cy="292608"/>
          </a:xfrm>
          <a:prstGeom prst="rect">
            <a:avLst/>
          </a:prstGeom>
          <a:noFill/>
          <a:ln/>
        </p:spPr>
        <p:txBody>
          <a:bodyPr wrap="square" lIns="0" tIns="0" rIns="0" bIns="0" rtlCol="0" anchor="ctr"/>
          <a:lstStyle/>
          <a:p>
            <a:pPr algn="r" indent="0" marL="0">
              <a:buNone/>
            </a:pPr>
            <a:r>
              <a:rPr lang="en-US" sz="1100" dirty="0">
                <a:solidFill>
                  <a:srgbClr val="5E5A70"/>
                </a:solidFill>
                <a:latin typeface="Arial" pitchFamily="34" charset="0"/>
                <a:ea typeface="Arial" pitchFamily="34" charset="-122"/>
                <a:cs typeface="Arial" pitchFamily="34" charset="-120"/>
              </a:rPr>
              <a:t>Monday 19 October 2026</a:t>
            </a:r>
            <a:endParaRPr lang="en-US" sz="1100" dirty="0"/>
          </a:p>
        </p:txBody>
      </p:sp>
      <p:sp>
        <p:nvSpPr>
          <p:cNvPr id="6" name="rule"/>
          <p:cNvSpPr/>
          <p:nvPr/>
        </p:nvSpPr>
        <p:spPr>
          <a:xfrm>
            <a:off x="777240" y="786384"/>
            <a:ext cx="7955280" cy="32004"/>
          </a:xfrm>
          <a:prstGeom prst="rect">
            <a:avLst/>
          </a:prstGeom>
          <a:solidFill>
            <a:srgbClr val="EC6B58"/>
          </a:solidFill>
          <a:ln w="12700">
            <a:solidFill>
              <a:srgbClr val="EC6B58"/>
            </a:solidFill>
            <a:prstDash val="solid"/>
          </a:ln>
        </p:spPr>
      </p:sp>
      <p:sp>
        <p:nvSpPr>
          <p:cNvPr id="7" name="d0_bg"/>
          <p:cNvSpPr/>
          <p:nvPr/>
        </p:nvSpPr>
        <p:spPr>
          <a:xfrm>
            <a:off x="777240" y="932688"/>
            <a:ext cx="3867912" cy="1261872"/>
          </a:xfrm>
          <a:prstGeom prst="roundRect">
            <a:avLst>
              <a:gd name="adj" fmla="val 4348"/>
            </a:avLst>
          </a:prstGeom>
          <a:solidFill>
            <a:srgbClr val="F2F0F8"/>
          </a:solidFill>
          <a:ln w="12700">
            <a:solidFill>
              <a:srgbClr val="F2F0F8"/>
            </a:solidFill>
            <a:prstDash val="solid"/>
          </a:ln>
        </p:spPr>
      </p:sp>
      <p:sp>
        <p:nvSpPr>
          <p:cNvPr id="8" name="d0_n"/>
          <p:cNvSpPr txBox="1"/>
          <p:nvPr/>
        </p:nvSpPr>
        <p:spPr>
          <a:xfrm>
            <a:off x="941832" y="114300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1</a:t>
            </a:r>
            <a:endParaRPr lang="en-US" sz="2000" dirty="0"/>
          </a:p>
        </p:txBody>
      </p:sp>
      <p:sp>
        <p:nvSpPr>
          <p:cNvPr id="9" name="d0_q"/>
          <p:cNvSpPr txBox="1"/>
          <p:nvPr/>
        </p:nvSpPr>
        <p:spPr>
          <a:xfrm>
            <a:off x="1380744" y="1005840"/>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A table has x = 1, 2, 3, 4 and y = 7, 10, 13, 16. Find the rule.</a:t>
            </a:r>
            <a:endParaRPr lang="en-US" sz="1300" dirty="0"/>
          </a:p>
        </p:txBody>
      </p:sp>
      <p:sp>
        <p:nvSpPr>
          <p:cNvPr id="10" name="d0_a"/>
          <p:cNvSpPr/>
          <p:nvPr/>
        </p:nvSpPr>
        <p:spPr>
          <a:xfrm>
            <a:off x="941832" y="1719072"/>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y = 3x + 4</a:t>
            </a:r>
            <a:endParaRPr lang="en-US" sz="1150" dirty="0"/>
          </a:p>
        </p:txBody>
      </p:sp>
      <p:sp>
        <p:nvSpPr>
          <p:cNvPr id="11" name="d1_bg"/>
          <p:cNvSpPr/>
          <p:nvPr/>
        </p:nvSpPr>
        <p:spPr>
          <a:xfrm>
            <a:off x="4864608" y="932688"/>
            <a:ext cx="3867912" cy="1261872"/>
          </a:xfrm>
          <a:prstGeom prst="roundRect">
            <a:avLst>
              <a:gd name="adj" fmla="val 4348"/>
            </a:avLst>
          </a:prstGeom>
          <a:solidFill>
            <a:srgbClr val="F2F0F8"/>
          </a:solidFill>
          <a:ln w="12700">
            <a:solidFill>
              <a:srgbClr val="F2F0F8"/>
            </a:solidFill>
            <a:prstDash val="solid"/>
          </a:ln>
        </p:spPr>
      </p:sp>
      <p:sp>
        <p:nvSpPr>
          <p:cNvPr id="12" name="d1_n"/>
          <p:cNvSpPr txBox="1"/>
          <p:nvPr/>
        </p:nvSpPr>
        <p:spPr>
          <a:xfrm>
            <a:off x="5029200" y="114300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2</a:t>
            </a:r>
            <a:endParaRPr lang="en-US" sz="2000" dirty="0"/>
          </a:p>
        </p:txBody>
      </p:sp>
      <p:sp>
        <p:nvSpPr>
          <p:cNvPr id="13" name="d1_q"/>
          <p:cNvSpPr txBox="1"/>
          <p:nvPr/>
        </p:nvSpPr>
        <p:spPr>
          <a:xfrm>
            <a:off x="5468112" y="1005840"/>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A machine does × 4, then − 3. It gives 25. Find the input.</a:t>
            </a:r>
            <a:endParaRPr lang="en-US" sz="1300" dirty="0"/>
          </a:p>
        </p:txBody>
      </p:sp>
      <p:sp>
        <p:nvSpPr>
          <p:cNvPr id="14" name="d1_a"/>
          <p:cNvSpPr/>
          <p:nvPr/>
        </p:nvSpPr>
        <p:spPr>
          <a:xfrm>
            <a:off x="5029200" y="1719072"/>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(25 + 3) ÷ 4 = 7</a:t>
            </a:r>
            <a:endParaRPr lang="en-US" sz="1150" dirty="0"/>
          </a:p>
        </p:txBody>
      </p:sp>
      <p:sp>
        <p:nvSpPr>
          <p:cNvPr id="15" name="d2_bg"/>
          <p:cNvSpPr/>
          <p:nvPr/>
        </p:nvSpPr>
        <p:spPr>
          <a:xfrm>
            <a:off x="777240" y="2313432"/>
            <a:ext cx="3867912" cy="1261872"/>
          </a:xfrm>
          <a:prstGeom prst="roundRect">
            <a:avLst>
              <a:gd name="adj" fmla="val 4348"/>
            </a:avLst>
          </a:prstGeom>
          <a:solidFill>
            <a:srgbClr val="F2F0F8"/>
          </a:solidFill>
          <a:ln w="12700">
            <a:solidFill>
              <a:srgbClr val="F2F0F8"/>
            </a:solidFill>
            <a:prstDash val="solid"/>
          </a:ln>
        </p:spPr>
      </p:sp>
      <p:sp>
        <p:nvSpPr>
          <p:cNvPr id="16" name="d2_n"/>
          <p:cNvSpPr txBox="1"/>
          <p:nvPr/>
        </p:nvSpPr>
        <p:spPr>
          <a:xfrm>
            <a:off x="941832" y="2523744"/>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3</a:t>
            </a:r>
            <a:endParaRPr lang="en-US" sz="2000" dirty="0"/>
          </a:p>
        </p:txBody>
      </p:sp>
      <p:sp>
        <p:nvSpPr>
          <p:cNvPr id="17" name="d2_q"/>
          <p:cNvSpPr txBox="1"/>
          <p:nvPr/>
        </p:nvSpPr>
        <p:spPr>
          <a:xfrm>
            <a:off x="1380744" y="2386584"/>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x is increased by 7, then the result is multiplied by 3. Write that as an expression and expand it.</a:t>
            </a:r>
            <a:endParaRPr lang="en-US" sz="1300" dirty="0"/>
          </a:p>
        </p:txBody>
      </p:sp>
      <p:sp>
        <p:nvSpPr>
          <p:cNvPr id="18" name="d2_a"/>
          <p:cNvSpPr/>
          <p:nvPr/>
        </p:nvSpPr>
        <p:spPr>
          <a:xfrm>
            <a:off x="941832" y="3099816"/>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y = 3(x + 7) = 3x + 21</a:t>
            </a:r>
            <a:endParaRPr lang="en-US" sz="1150" dirty="0"/>
          </a:p>
        </p:txBody>
      </p:sp>
      <p:sp>
        <p:nvSpPr>
          <p:cNvPr id="19" name="d3_bg"/>
          <p:cNvSpPr/>
          <p:nvPr/>
        </p:nvSpPr>
        <p:spPr>
          <a:xfrm>
            <a:off x="4864608" y="2313432"/>
            <a:ext cx="3867912" cy="1261872"/>
          </a:xfrm>
          <a:prstGeom prst="roundRect">
            <a:avLst>
              <a:gd name="adj" fmla="val 4348"/>
            </a:avLst>
          </a:prstGeom>
          <a:solidFill>
            <a:srgbClr val="F2F0F8"/>
          </a:solidFill>
          <a:ln w="12700">
            <a:solidFill>
              <a:srgbClr val="F2F0F8"/>
            </a:solidFill>
            <a:prstDash val="solid"/>
          </a:ln>
        </p:spPr>
      </p:sp>
      <p:sp>
        <p:nvSpPr>
          <p:cNvPr id="20" name="d3_n"/>
          <p:cNvSpPr txBox="1"/>
          <p:nvPr/>
        </p:nvSpPr>
        <p:spPr>
          <a:xfrm>
            <a:off x="5029200" y="2523744"/>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4</a:t>
            </a:r>
            <a:endParaRPr lang="en-US" sz="2000" dirty="0"/>
          </a:p>
        </p:txBody>
      </p:sp>
      <p:sp>
        <p:nvSpPr>
          <p:cNvPr id="21" name="d3_q"/>
          <p:cNvSpPr txBox="1"/>
          <p:nvPr/>
        </p:nvSpPr>
        <p:spPr>
          <a:xfrm>
            <a:off x="5468112" y="2386584"/>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Simplify 9m + 3 − 4m − 8.</a:t>
            </a:r>
            <a:endParaRPr lang="en-US" sz="1300" dirty="0"/>
          </a:p>
        </p:txBody>
      </p:sp>
      <p:sp>
        <p:nvSpPr>
          <p:cNvPr id="22" name="d3_a"/>
          <p:cNvSpPr/>
          <p:nvPr/>
        </p:nvSpPr>
        <p:spPr>
          <a:xfrm>
            <a:off x="5029200" y="3099816"/>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9m − 4m + 3 − 8 = 5m − 5</a:t>
            </a:r>
            <a:endParaRPr lang="en-US" sz="1150" dirty="0"/>
          </a:p>
        </p:txBody>
      </p:sp>
      <p:sp>
        <p:nvSpPr>
          <p:cNvPr id="23" name="d4_bg"/>
          <p:cNvSpPr/>
          <p:nvPr/>
        </p:nvSpPr>
        <p:spPr>
          <a:xfrm>
            <a:off x="777240" y="3694176"/>
            <a:ext cx="3867912" cy="1261872"/>
          </a:xfrm>
          <a:prstGeom prst="roundRect">
            <a:avLst>
              <a:gd name="adj" fmla="val 4348"/>
            </a:avLst>
          </a:prstGeom>
          <a:solidFill>
            <a:srgbClr val="F2F0F8"/>
          </a:solidFill>
          <a:ln w="12700">
            <a:solidFill>
              <a:srgbClr val="F2F0F8"/>
            </a:solidFill>
            <a:prstDash val="solid"/>
          </a:ln>
        </p:spPr>
      </p:sp>
      <p:sp>
        <p:nvSpPr>
          <p:cNvPr id="24" name="d4_n"/>
          <p:cNvSpPr txBox="1"/>
          <p:nvPr/>
        </p:nvSpPr>
        <p:spPr>
          <a:xfrm>
            <a:off x="941832" y="3904488"/>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5</a:t>
            </a:r>
            <a:endParaRPr lang="en-US" sz="2000" dirty="0"/>
          </a:p>
        </p:txBody>
      </p:sp>
      <p:sp>
        <p:nvSpPr>
          <p:cNvPr id="25" name="d4_q"/>
          <p:cNvSpPr txBox="1"/>
          <p:nvPr/>
        </p:nvSpPr>
        <p:spPr>
          <a:xfrm>
            <a:off x="1380744" y="3767328"/>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Calculate −4 × (−3) − 5.</a:t>
            </a:r>
            <a:endParaRPr lang="en-US" sz="1300" dirty="0"/>
          </a:p>
        </p:txBody>
      </p:sp>
      <p:sp>
        <p:nvSpPr>
          <p:cNvPr id="26" name="d4_a"/>
          <p:cNvSpPr/>
          <p:nvPr/>
        </p:nvSpPr>
        <p:spPr>
          <a:xfrm>
            <a:off x="941832" y="4480560"/>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−4 × (−3) − 5 = 12 − 5 = 7</a:t>
            </a:r>
            <a:endParaRPr lang="en-US" sz="1150" dirty="0"/>
          </a:p>
        </p:txBody>
      </p:sp>
      <p:sp>
        <p:nvSpPr>
          <p:cNvPr id="27" name="d5_bg"/>
          <p:cNvSpPr/>
          <p:nvPr/>
        </p:nvSpPr>
        <p:spPr>
          <a:xfrm>
            <a:off x="4864608" y="3694176"/>
            <a:ext cx="3867912" cy="1261872"/>
          </a:xfrm>
          <a:prstGeom prst="roundRect">
            <a:avLst>
              <a:gd name="adj" fmla="val 4348"/>
            </a:avLst>
          </a:prstGeom>
          <a:solidFill>
            <a:srgbClr val="FDEEDC"/>
          </a:solidFill>
          <a:ln w="27940">
            <a:solidFill>
              <a:srgbClr val="C0392B"/>
            </a:solidFill>
            <a:prstDash val="solid"/>
          </a:ln>
        </p:spPr>
      </p:sp>
      <p:sp>
        <p:nvSpPr>
          <p:cNvPr id="28" name="d5_n"/>
          <p:cNvSpPr txBox="1"/>
          <p:nvPr/>
        </p:nvSpPr>
        <p:spPr>
          <a:xfrm>
            <a:off x="5029200" y="3904488"/>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6</a:t>
            </a:r>
            <a:endParaRPr lang="en-US" sz="2000" dirty="0"/>
          </a:p>
        </p:txBody>
      </p:sp>
      <p:sp>
        <p:nvSpPr>
          <p:cNvPr id="29" name="d5_q"/>
          <p:cNvSpPr txBox="1"/>
          <p:nvPr/>
        </p:nvSpPr>
        <p:spPr>
          <a:xfrm>
            <a:off x="5468112" y="3767328"/>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Suggest the value of 9 − (4 − 6).</a:t>
            </a:r>
            <a:endParaRPr lang="en-US" sz="1300" dirty="0"/>
          </a:p>
        </p:txBody>
      </p:sp>
      <p:sp>
        <p:nvSpPr>
          <p:cNvPr id="30" name="d5_a"/>
          <p:cNvSpPr/>
          <p:nvPr/>
        </p:nvSpPr>
        <p:spPr>
          <a:xfrm>
            <a:off x="5029200" y="4352544"/>
            <a:ext cx="3538728" cy="512064"/>
          </a:xfrm>
          <a:prstGeom prst="roundRect">
            <a:avLst>
              <a:gd name="adj" fmla="val 16071"/>
            </a:avLst>
          </a:prstGeom>
          <a:solidFill>
            <a:srgbClr val="FFFFFF"/>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9 − (−2) = 11. A minus before a bracket changes every sign inside: 9 − 4 + 6 = 11.</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wipe(right)">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wipe(right)">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right)">
                                      <p:cBhvr>
                                        <p:cTn id="14" dur="4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right)">
                                      <p:cBhvr>
                                        <p:cTn id="19" dur="4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right)">
                                      <p:cBhvr>
                                        <p:cTn id="24" dur="4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right)">
                                      <p:cBhvr>
                                        <p:cTn id="2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33" fill="hold" display="0">
                  <p:stCondLst>
                    <p:cond delay="0"/>
                  </p:stCondLst>
                  <p:endCondLst>
                    <p:cond evt="onStopAudio" delay="0">
                      <p:tgtEl>
                        <p:sldTgt/>
                      </p:tgtEl>
                    </p:cond>
                  </p:endCondLst>
                </p:cTn>
                <p:tgtEl>
                  <p:spTgt spid="3"/>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512418"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TODAY · 1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Objectives</a:t>
            </a:r>
            <a:endParaRPr lang="en-US" sz="2800" dirty="0"/>
          </a:p>
        </p:txBody>
      </p:sp>
      <p:grpSp>
        <p:nvGrpSpPr>
          <p:cNvPr id="18" name="o0"/>
          <p:cNvGrpSpPr/>
          <p:nvPr/>
        </p:nvGrpSpPr>
        <p:grpSpPr>
          <a:xfrm>
            <a:off x="777240" y="1591056"/>
            <a:ext cx="2505456" cy="1463040"/>
            <a:chOff x="777240" y="1591056"/>
            <a:chExt cx="2505456" cy="1463040"/>
          </a:xfrm>
        </p:grpSpPr>
        <p:sp>
          <p:nvSpPr>
            <p:cNvPr id="5" name="o0_bg"/>
            <p:cNvSpPr/>
            <p:nvPr/>
          </p:nvSpPr>
          <p:spPr>
            <a:xfrm>
              <a:off x="777240" y="1591056"/>
              <a:ext cx="2505456" cy="1463040"/>
            </a:xfrm>
            <a:prstGeom prst="roundRect">
              <a:avLst>
                <a:gd name="adj" fmla="val 3750"/>
              </a:avLst>
            </a:prstGeom>
            <a:solidFill>
              <a:srgbClr val="F2F0F8"/>
            </a:solidFill>
            <a:ln w="12700">
              <a:solidFill>
                <a:srgbClr val="F2F0F8"/>
              </a:solidFill>
              <a:prstDash val="solid"/>
            </a:ln>
          </p:spPr>
        </p:sp>
        <p:sp>
          <p:nvSpPr>
            <p:cNvPr id="6" name="o0_badge"/>
            <p:cNvSpPr/>
            <p:nvPr/>
          </p:nvSpPr>
          <p:spPr>
            <a:xfrm>
              <a:off x="941832" y="1755648"/>
              <a:ext cx="347472" cy="347472"/>
            </a:xfrm>
            <a:prstGeom prst="ellipse">
              <a:avLst/>
            </a:prstGeom>
            <a:solidFill>
              <a:srgbClr val="EC6B58"/>
            </a:solidFill>
            <a:ln w="12700">
              <a:solidFill>
                <a:srgbClr val="EC6B58"/>
              </a:solidFill>
              <a:prstDash val="solid"/>
            </a:ln>
          </p:spPr>
        </p:sp>
        <p:sp>
          <p:nvSpPr>
            <p:cNvPr id="7" name="o0_num"/>
            <p:cNvSpPr txBox="1"/>
            <p:nvPr/>
          </p:nvSpPr>
          <p:spPr>
            <a:xfrm>
              <a:off x="941832" y="1755648"/>
              <a:ext cx="347472" cy="347472"/>
            </a:xfrm>
            <a:prstGeom prst="rect">
              <a:avLst/>
            </a:prstGeom>
            <a:noFill/>
            <a:ln/>
          </p:spPr>
          <p:txBody>
            <a:bodyPr wrap="square" lIns="0" tIns="0" rIns="0" bIns="0" rtlCol="0" anchor="ctr"/>
            <a:lstStyle/>
            <a:p>
              <a:pPr algn="ctr" indent="0" marL="0">
                <a:buNone/>
              </a:pPr>
              <a:r>
                <a:rPr lang="en-US" sz="1050" b="1" dirty="0">
                  <a:solidFill>
                    <a:srgbClr val="2B2350"/>
                  </a:solidFill>
                  <a:latin typeface="Arial" pitchFamily="34" charset="0"/>
                  <a:ea typeface="Arial" pitchFamily="34" charset="-122"/>
                  <a:cs typeface="Arial" pitchFamily="34" charset="-120"/>
                </a:rPr>
                <a:t>1</a:t>
              </a:r>
              <a:endParaRPr lang="en-US" sz="1050" dirty="0"/>
            </a:p>
          </p:txBody>
        </p:sp>
        <p:sp>
          <p:nvSpPr>
            <p:cNvPr id="8" name="o0_t"/>
            <p:cNvSpPr txBox="1"/>
            <p:nvPr/>
          </p:nvSpPr>
          <p:spPr>
            <a:xfrm>
              <a:off x="941832" y="2231136"/>
              <a:ext cx="2176272" cy="768096"/>
            </a:xfrm>
            <a:prstGeom prst="rect">
              <a:avLst/>
            </a:prstGeom>
            <a:noFill/>
            <a:ln/>
          </p:spPr>
          <p:txBody>
            <a:bodyPr wrap="square" lIns="0" tIns="0" rIns="0" bIns="0" rtlCol="0" anchor="t"/>
            <a:lstStyle/>
            <a:p>
              <a:pPr indent="0" marL="0">
                <a:lnSpc>
                  <a:spcPts val="1600"/>
                </a:lnSpc>
                <a:buNone/>
              </a:pPr>
              <a:r>
                <a:rPr lang="en-US" sz="1250" b="1" dirty="0">
                  <a:solidFill>
                    <a:srgbClr val="2B2350"/>
                  </a:solidFill>
                  <a:latin typeface="Arial" pitchFamily="34" charset="0"/>
                  <a:ea typeface="Arial" pitchFamily="34" charset="-122"/>
                  <a:cs typeface="Arial" pitchFamily="34" charset="-120"/>
                </a:rPr>
                <a:t>Expand a single bracket, including one with a negative outside.</a:t>
              </a:r>
              <a:endParaRPr lang="en-US" sz="1250" dirty="0"/>
            </a:p>
          </p:txBody>
        </p:sp>
      </p:grpSp>
      <p:grpSp>
        <p:nvGrpSpPr>
          <p:cNvPr id="19" name="o1"/>
          <p:cNvGrpSpPr/>
          <p:nvPr/>
        </p:nvGrpSpPr>
        <p:grpSpPr>
          <a:xfrm>
            <a:off x="3502152" y="1591056"/>
            <a:ext cx="2505456" cy="1463040"/>
            <a:chOff x="3502152" y="1591056"/>
            <a:chExt cx="2505456" cy="1463040"/>
          </a:xfrm>
        </p:grpSpPr>
        <p:sp>
          <p:nvSpPr>
            <p:cNvPr id="9" name="o1_bg"/>
            <p:cNvSpPr/>
            <p:nvPr/>
          </p:nvSpPr>
          <p:spPr>
            <a:xfrm>
              <a:off x="3502152" y="1591056"/>
              <a:ext cx="2505456" cy="1463040"/>
            </a:xfrm>
            <a:prstGeom prst="roundRect">
              <a:avLst>
                <a:gd name="adj" fmla="val 3750"/>
              </a:avLst>
            </a:prstGeom>
            <a:solidFill>
              <a:srgbClr val="F2F0F8"/>
            </a:solidFill>
            <a:ln w="12700">
              <a:solidFill>
                <a:srgbClr val="F2F0F8"/>
              </a:solidFill>
              <a:prstDash val="solid"/>
            </a:ln>
          </p:spPr>
        </p:sp>
        <p:sp>
          <p:nvSpPr>
            <p:cNvPr id="10" name="o1_badge"/>
            <p:cNvSpPr/>
            <p:nvPr/>
          </p:nvSpPr>
          <p:spPr>
            <a:xfrm>
              <a:off x="3666744" y="1755648"/>
              <a:ext cx="347472" cy="347472"/>
            </a:xfrm>
            <a:prstGeom prst="ellipse">
              <a:avLst/>
            </a:prstGeom>
            <a:solidFill>
              <a:srgbClr val="EC6B58"/>
            </a:solidFill>
            <a:ln w="12700">
              <a:solidFill>
                <a:srgbClr val="EC6B58"/>
              </a:solidFill>
              <a:prstDash val="solid"/>
            </a:ln>
          </p:spPr>
        </p:sp>
        <p:sp>
          <p:nvSpPr>
            <p:cNvPr id="11" name="o1_num"/>
            <p:cNvSpPr txBox="1"/>
            <p:nvPr/>
          </p:nvSpPr>
          <p:spPr>
            <a:xfrm>
              <a:off x="3666744" y="1755648"/>
              <a:ext cx="347472" cy="347472"/>
            </a:xfrm>
            <a:prstGeom prst="rect">
              <a:avLst/>
            </a:prstGeom>
            <a:noFill/>
            <a:ln/>
          </p:spPr>
          <p:txBody>
            <a:bodyPr wrap="square" lIns="0" tIns="0" rIns="0" bIns="0" rtlCol="0" anchor="ctr"/>
            <a:lstStyle/>
            <a:p>
              <a:pPr algn="ctr" indent="0" marL="0">
                <a:buNone/>
              </a:pPr>
              <a:r>
                <a:rPr lang="en-US" sz="1050" b="1" dirty="0">
                  <a:solidFill>
                    <a:srgbClr val="2B2350"/>
                  </a:solidFill>
                  <a:latin typeface="Arial" pitchFamily="34" charset="0"/>
                  <a:ea typeface="Arial" pitchFamily="34" charset="-122"/>
                  <a:cs typeface="Arial" pitchFamily="34" charset="-120"/>
                </a:rPr>
                <a:t>2</a:t>
              </a:r>
              <a:endParaRPr lang="en-US" sz="1050" dirty="0"/>
            </a:p>
          </p:txBody>
        </p:sp>
        <p:sp>
          <p:nvSpPr>
            <p:cNvPr id="12" name="o1_t"/>
            <p:cNvSpPr txBox="1"/>
            <p:nvPr/>
          </p:nvSpPr>
          <p:spPr>
            <a:xfrm>
              <a:off x="3666744" y="2231136"/>
              <a:ext cx="2176272" cy="768096"/>
            </a:xfrm>
            <a:prstGeom prst="rect">
              <a:avLst/>
            </a:prstGeom>
            <a:noFill/>
            <a:ln/>
          </p:spPr>
          <p:txBody>
            <a:bodyPr wrap="square" lIns="0" tIns="0" rIns="0" bIns="0" rtlCol="0" anchor="t"/>
            <a:lstStyle/>
            <a:p>
              <a:pPr indent="0" marL="0">
                <a:lnSpc>
                  <a:spcPts val="1600"/>
                </a:lnSpc>
                <a:buNone/>
              </a:pPr>
              <a:r>
                <a:rPr lang="en-US" sz="1250" b="1" dirty="0">
                  <a:solidFill>
                    <a:srgbClr val="2B2350"/>
                  </a:solidFill>
                  <a:latin typeface="Arial" pitchFamily="34" charset="0"/>
                  <a:ea typeface="Arial" pitchFamily="34" charset="-122"/>
                  <a:cs typeface="Arial" pitchFamily="34" charset="-120"/>
                </a:rPr>
                <a:t>Expand and simplify an expression with two brackets.</a:t>
              </a:r>
              <a:endParaRPr lang="en-US" sz="1250" dirty="0"/>
            </a:p>
          </p:txBody>
        </p:sp>
      </p:grpSp>
      <p:grpSp>
        <p:nvGrpSpPr>
          <p:cNvPr id="20" name="o2"/>
          <p:cNvGrpSpPr/>
          <p:nvPr/>
        </p:nvGrpSpPr>
        <p:grpSpPr>
          <a:xfrm>
            <a:off x="6227064" y="1591056"/>
            <a:ext cx="2505456" cy="1463040"/>
            <a:chOff x="6227064" y="1591056"/>
            <a:chExt cx="2505456" cy="1463040"/>
          </a:xfrm>
        </p:grpSpPr>
        <p:sp>
          <p:nvSpPr>
            <p:cNvPr id="13" name="o2_bg"/>
            <p:cNvSpPr/>
            <p:nvPr/>
          </p:nvSpPr>
          <p:spPr>
            <a:xfrm>
              <a:off x="6227064" y="1591056"/>
              <a:ext cx="2505456" cy="1463040"/>
            </a:xfrm>
            <a:prstGeom prst="roundRect">
              <a:avLst>
                <a:gd name="adj" fmla="val 3750"/>
              </a:avLst>
            </a:prstGeom>
            <a:solidFill>
              <a:srgbClr val="F2F0F8"/>
            </a:solidFill>
            <a:ln w="12700">
              <a:solidFill>
                <a:srgbClr val="F2F0F8"/>
              </a:solidFill>
              <a:prstDash val="solid"/>
            </a:ln>
          </p:spPr>
        </p:sp>
        <p:sp>
          <p:nvSpPr>
            <p:cNvPr id="14" name="o2_badge"/>
            <p:cNvSpPr/>
            <p:nvPr/>
          </p:nvSpPr>
          <p:spPr>
            <a:xfrm>
              <a:off x="6391656" y="1755648"/>
              <a:ext cx="347472" cy="347472"/>
            </a:xfrm>
            <a:prstGeom prst="ellipse">
              <a:avLst/>
            </a:prstGeom>
            <a:solidFill>
              <a:srgbClr val="EC6B58"/>
            </a:solidFill>
            <a:ln w="12700">
              <a:solidFill>
                <a:srgbClr val="EC6B58"/>
              </a:solidFill>
              <a:prstDash val="solid"/>
            </a:ln>
          </p:spPr>
        </p:sp>
        <p:sp>
          <p:nvSpPr>
            <p:cNvPr id="15" name="o2_num"/>
            <p:cNvSpPr txBox="1"/>
            <p:nvPr/>
          </p:nvSpPr>
          <p:spPr>
            <a:xfrm>
              <a:off x="6391656" y="1755648"/>
              <a:ext cx="347472" cy="347472"/>
            </a:xfrm>
            <a:prstGeom prst="rect">
              <a:avLst/>
            </a:prstGeom>
            <a:noFill/>
            <a:ln/>
          </p:spPr>
          <p:txBody>
            <a:bodyPr wrap="square" lIns="0" tIns="0" rIns="0" bIns="0" rtlCol="0" anchor="ctr"/>
            <a:lstStyle/>
            <a:p>
              <a:pPr algn="ctr" indent="0" marL="0">
                <a:buNone/>
              </a:pPr>
              <a:r>
                <a:rPr lang="en-US" sz="1050" b="1" dirty="0">
                  <a:solidFill>
                    <a:srgbClr val="2B2350"/>
                  </a:solidFill>
                  <a:latin typeface="Arial" pitchFamily="34" charset="0"/>
                  <a:ea typeface="Arial" pitchFamily="34" charset="-122"/>
                  <a:cs typeface="Arial" pitchFamily="34" charset="-120"/>
                </a:rPr>
                <a:t>3</a:t>
              </a:r>
              <a:endParaRPr lang="en-US" sz="1050" dirty="0"/>
            </a:p>
          </p:txBody>
        </p:sp>
        <p:sp>
          <p:nvSpPr>
            <p:cNvPr id="16" name="o2_t"/>
            <p:cNvSpPr txBox="1"/>
            <p:nvPr/>
          </p:nvSpPr>
          <p:spPr>
            <a:xfrm>
              <a:off x="6391656" y="2231136"/>
              <a:ext cx="2176272" cy="768096"/>
            </a:xfrm>
            <a:prstGeom prst="rect">
              <a:avLst/>
            </a:prstGeom>
            <a:noFill/>
            <a:ln/>
          </p:spPr>
          <p:txBody>
            <a:bodyPr wrap="square" lIns="0" tIns="0" rIns="0" bIns="0" rtlCol="0" anchor="t"/>
            <a:lstStyle/>
            <a:p>
              <a:pPr indent="0" marL="0">
                <a:lnSpc>
                  <a:spcPts val="1600"/>
                </a:lnSpc>
                <a:buNone/>
              </a:pPr>
              <a:r>
                <a:rPr lang="en-US" sz="1250" b="1" dirty="0">
                  <a:solidFill>
                    <a:srgbClr val="2B2350"/>
                  </a:solidFill>
                  <a:latin typeface="Arial" pitchFamily="34" charset="0"/>
                  <a:ea typeface="Arial" pitchFamily="34" charset="-122"/>
                  <a:cs typeface="Arial" pitchFamily="34" charset="-120"/>
                </a:rPr>
                <a:t>Subtract a bracket without losing a sign.</a:t>
              </a:r>
              <a:endParaRPr lang="en-US" sz="1250" dirty="0"/>
            </a:p>
          </p:txBody>
        </p:sp>
      </p:grpSp>
      <p:sp>
        <p:nvSpPr>
          <p:cNvPr id="17" name="obj_banner"/>
          <p:cNvSpPr/>
          <p:nvPr/>
        </p:nvSpPr>
        <p:spPr>
          <a:xfrm>
            <a:off x="777240" y="3364992"/>
            <a:ext cx="7955280" cy="512064"/>
          </a:xfrm>
          <a:prstGeom prst="roundRect">
            <a:avLst>
              <a:gd name="adj" fmla="val 14286"/>
            </a:avLst>
          </a:prstGeom>
          <a:solidFill>
            <a:srgbClr val="2B2350"/>
          </a:solidFill>
          <a:ln>
            <a:solidFill>
              <a:srgbClr val="2B2350"/>
            </a:solidFill>
          </a:ln>
        </p:spPr>
        <p:txBody>
          <a:bodyPr wrap="square" lIns="1016" tIns="1016" rIns="1016" bIns="1016" rtlCol="0" anchor="ctr"/>
          <a:lstStyle/>
          <a:p>
            <a:pPr algn="ctr" indent="0" marL="0">
              <a:buNone/>
            </a:pPr>
            <a:r>
              <a:rPr lang="en-US" sz="1350" b="1" u="sng" dirty="0">
                <a:solidFill>
                  <a:srgbClr val="FFFFFF"/>
                </a:solidFill>
                <a:latin typeface="Arial" pitchFamily="34" charset="0"/>
                <a:ea typeface="Arial" pitchFamily="34" charset="-122"/>
                <a:cs typeface="Arial" pitchFamily="34" charset="-120"/>
              </a:rPr>
              <a:t>Expand first</a:t>
            </a:r>
            <a:pPr algn="ctr" indent="0" marL="0">
              <a:buNone/>
            </a:pPr>
            <a:r>
              <a:rPr lang="en-US" sz="1350" b="1" dirty="0">
                <a:solidFill>
                  <a:srgbClr val="FFFFFF"/>
                </a:solidFill>
                <a:latin typeface="Arial" pitchFamily="34" charset="0"/>
                <a:ea typeface="Arial" pitchFamily="34" charset="-122"/>
                <a:cs typeface="Arial" pitchFamily="34" charset="-120"/>
              </a:rPr>
              <a:t>, </a:t>
            </a:r>
            <a:pPr algn="ctr" indent="0" marL="0">
              <a:buNone/>
            </a:pPr>
            <a:r>
              <a:rPr lang="en-US" sz="1350" b="1" u="sng" dirty="0">
                <a:solidFill>
                  <a:srgbClr val="FFFFFF"/>
                </a:solidFill>
                <a:latin typeface="Arial" pitchFamily="34" charset="0"/>
                <a:ea typeface="Arial" pitchFamily="34" charset="-122"/>
                <a:cs typeface="Arial" pitchFamily="34" charset="-120"/>
              </a:rPr>
              <a:t>collect second</a:t>
            </a:r>
            <a:pPr algn="ctr" indent="0" marL="0">
              <a:buNone/>
            </a:pPr>
            <a:r>
              <a:rPr lang="en-US" sz="1350" b="1" dirty="0">
                <a:solidFill>
                  <a:srgbClr val="FFFFFF"/>
                </a:solidFill>
                <a:latin typeface="Arial" pitchFamily="34" charset="0"/>
                <a:ea typeface="Arial" pitchFamily="34" charset="-122"/>
                <a:cs typeface="Arial" pitchFamily="34" charset="-120"/>
              </a:rPr>
              <a:t>, and take every </a:t>
            </a:r>
            <a:pPr algn="ctr" indent="0" marL="0">
              <a:buNone/>
            </a:pPr>
            <a:r>
              <a:rPr lang="en-US" sz="1350" b="1" u="sng" dirty="0">
                <a:solidFill>
                  <a:srgbClr val="FFFFFF"/>
                </a:solidFill>
                <a:latin typeface="Arial" pitchFamily="34" charset="0"/>
                <a:ea typeface="Arial" pitchFamily="34" charset="-122"/>
                <a:cs typeface="Arial" pitchFamily="34" charset="-120"/>
              </a:rPr>
              <a:t>sign</a:t>
            </a:r>
            <a:pPr algn="ctr" indent="0" marL="0">
              <a:buNone/>
            </a:pPr>
            <a:r>
              <a:rPr lang="en-US" sz="1350" b="1" dirty="0">
                <a:solidFill>
                  <a:srgbClr val="FFFFFF"/>
                </a:solidFill>
                <a:latin typeface="Arial" pitchFamily="34" charset="0"/>
                <a:ea typeface="Arial" pitchFamily="34" charset="-122"/>
                <a:cs typeface="Arial" pitchFamily="34" charset="-120"/>
              </a:rPr>
              <a:t> with its term.</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fade">
                                      <p:cBhvr>
                                        <p:cTn id="4"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1" presetID="23" presetClass="entr" presetSubtype="16"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animScale>
                                      <p:cBhvr>
                                        <p:cTn id="20" dur="400" fill="hold"/>
                                        <p:tgtEl>
                                          <p:spTgt spid="17"/>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24" fill="hold" display="0">
                  <p:stCondLst>
                    <p:cond delay="0"/>
                  </p:stCondLst>
                  <p:endCondLst>
                    <p:cond evt="onStopAudio" delay="0">
                      <p:tgtEl>
                        <p:sldTgt/>
                      </p:tgtEl>
                    </p:cond>
                  </p:end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422806"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HOOK · 2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Which one is right?</a:t>
            </a:r>
            <a:endParaRPr lang="en-US" sz="2800" dirty="0"/>
          </a:p>
        </p:txBody>
      </p:sp>
      <p:sp>
        <p:nvSpPr>
          <p:cNvPr id="5" name="hook_q"/>
          <p:cNvSpPr txBox="1"/>
          <p:nvPr/>
        </p:nvSpPr>
        <p:spPr>
          <a:xfrm>
            <a:off x="777240" y="1280160"/>
            <a:ext cx="7955280" cy="603504"/>
          </a:xfrm>
          <a:prstGeom prst="rect">
            <a:avLst/>
          </a:prstGeom>
          <a:noFill/>
          <a:ln/>
        </p:spPr>
        <p:txBody>
          <a:bodyPr wrap="square" lIns="0" tIns="0" rIns="0" bIns="0" rtlCol="0" anchor="ctr"/>
          <a:lstStyle/>
          <a:p>
            <a:pPr indent="0" marL="0">
              <a:lnSpc>
                <a:spcPts val="2400"/>
              </a:lnSpc>
              <a:buNone/>
            </a:pPr>
            <a:r>
              <a:rPr lang="en-US" sz="1700" b="1" dirty="0">
                <a:solidFill>
                  <a:srgbClr val="2B2350"/>
                </a:solidFill>
                <a:latin typeface="Arial" pitchFamily="34" charset="0"/>
                <a:ea typeface="Arial" pitchFamily="34" charset="-122"/>
                <a:cs typeface="Arial" pitchFamily="34" charset="-120"/>
              </a:rPr>
              <a:t>A rectangle is 3 high and x + 2 wide. Which expression gives its area?</a:t>
            </a:r>
            <a:endParaRPr lang="en-US" sz="1700" dirty="0"/>
          </a:p>
        </p:txBody>
      </p:sp>
      <p:grpSp>
        <p:nvGrpSpPr>
          <p:cNvPr id="18" name="hook_pic"/>
          <p:cNvGrpSpPr/>
          <p:nvPr/>
        </p:nvGrpSpPr>
        <p:grpSpPr>
          <a:xfrm>
            <a:off x="896112" y="2084832"/>
            <a:ext cx="3401568" cy="2048256"/>
            <a:chOff x="896112" y="2084832"/>
            <a:chExt cx="3401568" cy="2048256"/>
          </a:xfrm>
        </p:grpSpPr>
        <p:sp>
          <p:nvSpPr>
            <p:cNvPr id="6" name="hf_rect"/>
            <p:cNvSpPr/>
            <p:nvPr/>
          </p:nvSpPr>
          <p:spPr>
            <a:xfrm>
              <a:off x="1280160" y="2395728"/>
              <a:ext cx="3017520" cy="1737360"/>
            </a:xfrm>
            <a:prstGeom prst="rect">
              <a:avLst/>
            </a:prstGeom>
            <a:solidFill>
              <a:srgbClr val="F2F0F8"/>
            </a:solidFill>
            <a:ln w="25400">
              <a:solidFill>
                <a:srgbClr val="2B2350"/>
              </a:solidFill>
              <a:prstDash val="solid"/>
            </a:ln>
          </p:spPr>
        </p:sp>
        <p:sp>
          <p:nvSpPr>
            <p:cNvPr id="7" name="hf_top"/>
            <p:cNvSpPr txBox="1"/>
            <p:nvPr/>
          </p:nvSpPr>
          <p:spPr>
            <a:xfrm>
              <a:off x="1280160" y="2084832"/>
              <a:ext cx="3017520" cy="274320"/>
            </a:xfrm>
            <a:prstGeom prst="rect">
              <a:avLst/>
            </a:prstGeom>
            <a:noFill/>
            <a:ln/>
          </p:spPr>
          <p:txBody>
            <a:bodyPr wrap="square" lIns="0" tIns="0" rIns="0" bIns="0" rtlCol="0" anchor="ctr"/>
            <a:lstStyle/>
            <a:p>
              <a:pPr algn="ctr" indent="0" marL="0">
                <a:buNone/>
              </a:pPr>
              <a:r>
                <a:rPr lang="en-US" sz="1500" b="1" dirty="0">
                  <a:solidFill>
                    <a:srgbClr val="1F6FB2"/>
                  </a:solidFill>
                  <a:latin typeface="Arial" pitchFamily="34" charset="0"/>
                  <a:ea typeface="Arial" pitchFamily="34" charset="-122"/>
                  <a:cs typeface="Arial" pitchFamily="34" charset="-120"/>
                </a:rPr>
                <a:t>x + 2</a:t>
              </a:r>
              <a:endParaRPr lang="en-US" sz="1500" dirty="0"/>
            </a:p>
          </p:txBody>
        </p:sp>
        <p:sp>
          <p:nvSpPr>
            <p:cNvPr id="8" name="hf_side"/>
            <p:cNvSpPr txBox="1"/>
            <p:nvPr/>
          </p:nvSpPr>
          <p:spPr>
            <a:xfrm>
              <a:off x="896112" y="2395728"/>
              <a:ext cx="329184" cy="1737360"/>
            </a:xfrm>
            <a:prstGeom prst="rect">
              <a:avLst/>
            </a:prstGeom>
            <a:noFill/>
            <a:ln/>
          </p:spPr>
          <p:txBody>
            <a:bodyPr wrap="square" lIns="0" tIns="0" rIns="0" bIns="0" rtlCol="0" anchor="ctr"/>
            <a:lstStyle/>
            <a:p>
              <a:pPr algn="r" indent="0" marL="0">
                <a:buNone/>
              </a:pPr>
              <a:r>
                <a:rPr lang="en-US" sz="1500" b="1" dirty="0">
                  <a:solidFill>
                    <a:srgbClr val="2B2350"/>
                  </a:solidFill>
                  <a:latin typeface="Arial" pitchFamily="34" charset="0"/>
                  <a:ea typeface="Arial" pitchFamily="34" charset="-122"/>
                  <a:cs typeface="Arial" pitchFamily="34" charset="-120"/>
                </a:rPr>
                <a:t>3</a:t>
              </a:r>
              <a:endParaRPr lang="en-US" sz="1500" dirty="0"/>
            </a:p>
          </p:txBody>
        </p:sp>
      </p:grpSp>
      <p:grpSp>
        <p:nvGrpSpPr>
          <p:cNvPr id="19" name="h0"/>
          <p:cNvGrpSpPr/>
          <p:nvPr/>
        </p:nvGrpSpPr>
        <p:grpSpPr>
          <a:xfrm>
            <a:off x="4800600" y="2121408"/>
            <a:ext cx="3931920" cy="731520"/>
            <a:chOff x="4800600" y="2121408"/>
            <a:chExt cx="3931920" cy="731520"/>
          </a:xfrm>
        </p:grpSpPr>
        <p:sp>
          <p:nvSpPr>
            <p:cNvPr id="9" name="h0_bg"/>
            <p:cNvSpPr/>
            <p:nvPr/>
          </p:nvSpPr>
          <p:spPr>
            <a:xfrm>
              <a:off x="4800600" y="2121408"/>
              <a:ext cx="3931920" cy="731520"/>
            </a:xfrm>
            <a:prstGeom prst="roundRect">
              <a:avLst>
                <a:gd name="adj" fmla="val 7500"/>
              </a:avLst>
            </a:prstGeom>
            <a:solidFill>
              <a:srgbClr val="F2F0F8"/>
            </a:solidFill>
            <a:ln w="12700">
              <a:solidFill>
                <a:srgbClr val="F2F0F8"/>
              </a:solidFill>
              <a:prstDash val="solid"/>
            </a:ln>
          </p:spPr>
        </p:sp>
        <p:sp>
          <p:nvSpPr>
            <p:cNvPr id="10" name="h0_k"/>
            <p:cNvSpPr txBox="1"/>
            <p:nvPr/>
          </p:nvSpPr>
          <p:spPr>
            <a:xfrm>
              <a:off x="5001768" y="2121408"/>
              <a:ext cx="384048" cy="731520"/>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A</a:t>
              </a:r>
              <a:endParaRPr lang="en-US" sz="2000" dirty="0"/>
            </a:p>
          </p:txBody>
        </p:sp>
        <p:sp>
          <p:nvSpPr>
            <p:cNvPr id="11" name="h0_t"/>
            <p:cNvSpPr txBox="1"/>
            <p:nvPr/>
          </p:nvSpPr>
          <p:spPr>
            <a:xfrm>
              <a:off x="5532120" y="2121408"/>
              <a:ext cx="3017520" cy="731520"/>
            </a:xfrm>
            <a:prstGeom prst="rect">
              <a:avLst/>
            </a:prstGeom>
            <a:noFill/>
            <a:ln/>
          </p:spPr>
          <p:txBody>
            <a:bodyPr wrap="square" lIns="0" tIns="0" rIns="0" bIns="0" rtlCol="0" anchor="ctr"/>
            <a:lstStyle/>
            <a:p>
              <a:pPr indent="0" marL="0">
                <a:buNone/>
              </a:pPr>
              <a:r>
                <a:rPr lang="en-US" sz="2400" b="1" dirty="0">
                  <a:solidFill>
                    <a:srgbClr val="2B2350"/>
                  </a:solidFill>
                  <a:latin typeface="Arial" pitchFamily="34" charset="0"/>
                  <a:ea typeface="Arial" pitchFamily="34" charset="-122"/>
                  <a:cs typeface="Arial" pitchFamily="34" charset="-120"/>
                </a:rPr>
                <a:t>3x + 2</a:t>
              </a:r>
              <a:endParaRPr lang="en-US" sz="2400" dirty="0"/>
            </a:p>
          </p:txBody>
        </p:sp>
      </p:grpSp>
      <p:grpSp>
        <p:nvGrpSpPr>
          <p:cNvPr id="20" name="h1"/>
          <p:cNvGrpSpPr/>
          <p:nvPr/>
        </p:nvGrpSpPr>
        <p:grpSpPr>
          <a:xfrm>
            <a:off x="4800600" y="2990088"/>
            <a:ext cx="3931920" cy="731520"/>
            <a:chOff x="4800600" y="2990088"/>
            <a:chExt cx="3931920" cy="731520"/>
          </a:xfrm>
        </p:grpSpPr>
        <p:sp>
          <p:nvSpPr>
            <p:cNvPr id="12" name="h1_bg"/>
            <p:cNvSpPr/>
            <p:nvPr/>
          </p:nvSpPr>
          <p:spPr>
            <a:xfrm>
              <a:off x="4800600" y="2990088"/>
              <a:ext cx="3931920" cy="731520"/>
            </a:xfrm>
            <a:prstGeom prst="roundRect">
              <a:avLst>
                <a:gd name="adj" fmla="val 7500"/>
              </a:avLst>
            </a:prstGeom>
            <a:solidFill>
              <a:srgbClr val="F2F0F8"/>
            </a:solidFill>
            <a:ln w="12700">
              <a:solidFill>
                <a:srgbClr val="F2F0F8"/>
              </a:solidFill>
              <a:prstDash val="solid"/>
            </a:ln>
          </p:spPr>
        </p:sp>
        <p:sp>
          <p:nvSpPr>
            <p:cNvPr id="13" name="h1_k"/>
            <p:cNvSpPr txBox="1"/>
            <p:nvPr/>
          </p:nvSpPr>
          <p:spPr>
            <a:xfrm>
              <a:off x="5001768" y="2990088"/>
              <a:ext cx="384048" cy="731520"/>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B</a:t>
              </a:r>
              <a:endParaRPr lang="en-US" sz="2000" dirty="0"/>
            </a:p>
          </p:txBody>
        </p:sp>
        <p:sp>
          <p:nvSpPr>
            <p:cNvPr id="14" name="h1_t"/>
            <p:cNvSpPr txBox="1"/>
            <p:nvPr/>
          </p:nvSpPr>
          <p:spPr>
            <a:xfrm>
              <a:off x="5532120" y="2990088"/>
              <a:ext cx="3017520" cy="731520"/>
            </a:xfrm>
            <a:prstGeom prst="rect">
              <a:avLst/>
            </a:prstGeom>
            <a:noFill/>
            <a:ln/>
          </p:spPr>
          <p:txBody>
            <a:bodyPr wrap="square" lIns="0" tIns="0" rIns="0" bIns="0" rtlCol="0" anchor="ctr"/>
            <a:lstStyle/>
            <a:p>
              <a:pPr indent="0" marL="0">
                <a:buNone/>
              </a:pPr>
              <a:r>
                <a:rPr lang="en-US" sz="2400" b="1" dirty="0">
                  <a:solidFill>
                    <a:srgbClr val="2B2350"/>
                  </a:solidFill>
                  <a:latin typeface="Arial" pitchFamily="34" charset="0"/>
                  <a:ea typeface="Arial" pitchFamily="34" charset="-122"/>
                  <a:cs typeface="Arial" pitchFamily="34" charset="-120"/>
                </a:rPr>
                <a:t>3x + 6</a:t>
              </a:r>
              <a:endParaRPr lang="en-US" sz="2400" dirty="0"/>
            </a:p>
          </p:txBody>
        </p:sp>
      </p:grpSp>
      <p:grpSp>
        <p:nvGrpSpPr>
          <p:cNvPr id="21" name="h2"/>
          <p:cNvGrpSpPr/>
          <p:nvPr/>
        </p:nvGrpSpPr>
        <p:grpSpPr>
          <a:xfrm>
            <a:off x="4800600" y="3858768"/>
            <a:ext cx="3931920" cy="731520"/>
            <a:chOff x="4800600" y="3858768"/>
            <a:chExt cx="3931920" cy="731520"/>
          </a:xfrm>
        </p:grpSpPr>
        <p:sp>
          <p:nvSpPr>
            <p:cNvPr id="15" name="h2_bg"/>
            <p:cNvSpPr/>
            <p:nvPr/>
          </p:nvSpPr>
          <p:spPr>
            <a:xfrm>
              <a:off x="4800600" y="3858768"/>
              <a:ext cx="3931920" cy="731520"/>
            </a:xfrm>
            <a:prstGeom prst="roundRect">
              <a:avLst>
                <a:gd name="adj" fmla="val 7500"/>
              </a:avLst>
            </a:prstGeom>
            <a:solidFill>
              <a:srgbClr val="F2F0F8"/>
            </a:solidFill>
            <a:ln w="12700">
              <a:solidFill>
                <a:srgbClr val="F2F0F8"/>
              </a:solidFill>
              <a:prstDash val="solid"/>
            </a:ln>
          </p:spPr>
        </p:sp>
        <p:sp>
          <p:nvSpPr>
            <p:cNvPr id="16" name="h2_k"/>
            <p:cNvSpPr txBox="1"/>
            <p:nvPr/>
          </p:nvSpPr>
          <p:spPr>
            <a:xfrm>
              <a:off x="5001768" y="3858768"/>
              <a:ext cx="384048" cy="731520"/>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C</a:t>
              </a:r>
              <a:endParaRPr lang="en-US" sz="2000" dirty="0"/>
            </a:p>
          </p:txBody>
        </p:sp>
        <p:sp>
          <p:nvSpPr>
            <p:cNvPr id="17" name="h2_t"/>
            <p:cNvSpPr txBox="1"/>
            <p:nvPr/>
          </p:nvSpPr>
          <p:spPr>
            <a:xfrm>
              <a:off x="5532120" y="3858768"/>
              <a:ext cx="3017520" cy="731520"/>
            </a:xfrm>
            <a:prstGeom prst="rect">
              <a:avLst/>
            </a:prstGeom>
            <a:noFill/>
            <a:ln/>
          </p:spPr>
          <p:txBody>
            <a:bodyPr wrap="square" lIns="0" tIns="0" rIns="0" bIns="0" rtlCol="0" anchor="ctr"/>
            <a:lstStyle/>
            <a:p>
              <a:pPr indent="0" marL="0">
                <a:buNone/>
              </a:pPr>
              <a:r>
                <a:rPr lang="en-US" sz="2400" b="1" dirty="0">
                  <a:solidFill>
                    <a:srgbClr val="2B2350"/>
                  </a:solidFill>
                  <a:latin typeface="Arial" pitchFamily="34" charset="0"/>
                  <a:ea typeface="Arial" pitchFamily="34" charset="-122"/>
                  <a:cs typeface="Arial" pitchFamily="34" charset="-120"/>
                </a:rPr>
                <a:t>6x</a:t>
              </a:r>
              <a:endParaRPr lang="en-US" sz="24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8"/>
                                        </p:tgtEl>
                                        <p:attrNameLst>
                                          <p:attrName>style.visibility</p:attrName>
                                        </p:attrNameLst>
                                      </p:cBhvr>
                                      <p:to>
                                        <p:strVal val="visible"/>
                                      </p:to>
                                    </p:set>
                                    <p:animEffect transition="in" filter="fade">
                                      <p:cBhvr>
                                        <p:cTn id="9" dur="400"/>
                                        <p:tgtEl>
                                          <p:spTgt spid="18"/>
                                        </p:tgtEl>
                                      </p:cBhvr>
                                    </p:animEffect>
                                  </p:childTnLst>
                                </p:cTn>
                              </p:par>
                            </p:childTnLst>
                          </p:cTn>
                        </p:par>
                      </p:childTnLst>
                    </p:cTn>
                  </p:par>
                  <p:par>
                    <p:cTn id="22" fill="hold">
                      <p:stCondLst>
                        <p:cond delay="indefinite"/>
                      </p:stCondLst>
                      <p:childTnLst>
                        <p:par>
                          <p:cTn id="23"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8" presetID="10" presetClass="entr" presetSubtype="0" fill="hold" grpId="0" nodeType="withEffect">
                                  <p:stCondLst>
                                    <p:cond delay="15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21" presetID="10" presetClass="entr" presetSubtype="0" fill="hold" grpId="0" nodeType="withEffect">
                                  <p:stCondLst>
                                    <p:cond delay="30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4" fill="hold" display="0">
                  <p:stCondLst>
                    <p:cond delay="0"/>
                  </p:stCondLst>
                  <p:endCondLst>
                    <p:cond evt="onStopAudio" delay="0">
                      <p:tgtEl>
                        <p:sldTgt/>
                      </p:tgtEl>
                    </p:cond>
                  </p:endCondLst>
                </p:cTn>
                <p:tgtEl>
                  <p:spTgt spid="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422806"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I DO · 3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Expand a bracket</a:t>
            </a:r>
            <a:endParaRPr lang="en-US" sz="2800" dirty="0"/>
          </a:p>
        </p:txBody>
      </p:sp>
      <p:sp>
        <p:nvSpPr>
          <p:cNvPr id="5" name="slide_sub"/>
          <p:cNvSpPr txBox="1"/>
          <p:nvPr/>
        </p:nvSpPr>
        <p:spPr>
          <a:xfrm>
            <a:off x="777240" y="1243584"/>
            <a:ext cx="7955280" cy="237744"/>
          </a:xfrm>
          <a:prstGeom prst="rect">
            <a:avLst/>
          </a:prstGeom>
          <a:noFill/>
          <a:ln/>
        </p:spPr>
        <p:txBody>
          <a:bodyPr wrap="square" lIns="0" tIns="0" rIns="0" bIns="0" rtlCol="0" anchor="ctr"/>
          <a:lstStyle/>
          <a:p>
            <a:pPr indent="0" marL="0">
              <a:buNone/>
            </a:pPr>
            <a:r>
              <a:rPr lang="en-US" sz="1100" dirty="0">
                <a:solidFill>
                  <a:srgbClr val="5E5A70"/>
                </a:solidFill>
                <a:latin typeface="Arial" pitchFamily="34" charset="0"/>
                <a:ea typeface="Arial" pitchFamily="34" charset="-122"/>
                <a:cs typeface="Arial" pitchFamily="34" charset="-120"/>
              </a:rPr>
              <a:t>The number outside multiplies every term inside.</a:t>
            </a:r>
            <a:endParaRPr lang="en-US" sz="1100" dirty="0"/>
          </a:p>
        </p:txBody>
      </p:sp>
      <p:grpSp>
        <p:nvGrpSpPr>
          <p:cNvPr id="25" name="iafig"/>
          <p:cNvGrpSpPr/>
          <p:nvPr/>
        </p:nvGrpSpPr>
        <p:grpSpPr>
          <a:xfrm>
            <a:off x="777240" y="1591056"/>
            <a:ext cx="3931920" cy="2542032"/>
            <a:chOff x="777240" y="1591056"/>
            <a:chExt cx="3931920" cy="2542032"/>
          </a:xfrm>
        </p:grpSpPr>
        <p:sp>
          <p:nvSpPr>
            <p:cNvPr id="6" name="ia_bg"/>
            <p:cNvSpPr/>
            <p:nvPr/>
          </p:nvSpPr>
          <p:spPr>
            <a:xfrm>
              <a:off x="777240" y="1591056"/>
              <a:ext cx="3931920" cy="2542032"/>
            </a:xfrm>
            <a:prstGeom prst="roundRect">
              <a:avLst>
                <a:gd name="adj" fmla="val 2158"/>
              </a:avLst>
            </a:prstGeom>
            <a:solidFill>
              <a:srgbClr val="F2F0F8"/>
            </a:solidFill>
            <a:ln w="12700">
              <a:solidFill>
                <a:srgbClr val="F2F0F8"/>
              </a:solidFill>
              <a:prstDash val="solid"/>
            </a:ln>
          </p:spPr>
        </p:sp>
        <p:sp>
          <p:nvSpPr>
            <p:cNvPr id="7" name="ia_h"/>
            <p:cNvSpPr txBox="1"/>
            <p:nvPr/>
          </p:nvSpPr>
          <p:spPr>
            <a:xfrm>
              <a:off x="960120" y="1645920"/>
              <a:ext cx="3566160" cy="256032"/>
            </a:xfrm>
            <a:prstGeom prst="rect">
              <a:avLst/>
            </a:prstGeom>
            <a:noFill/>
            <a:ln/>
          </p:spPr>
          <p:txBody>
            <a:bodyPr wrap="square" lIns="0" tIns="0" rIns="0" bIns="0" rtlCol="0" anchor="ctr"/>
            <a:lstStyle/>
            <a:p>
              <a:pPr indent="0" marL="0">
                <a:buNone/>
              </a:pPr>
              <a:r>
                <a:rPr lang="en-US" sz="1150" b="1" dirty="0">
                  <a:solidFill>
                    <a:srgbClr val="5E5A70"/>
                  </a:solidFill>
                  <a:latin typeface="Arial" pitchFamily="34" charset="0"/>
                  <a:ea typeface="Arial" pitchFamily="34" charset="-122"/>
                  <a:cs typeface="Arial" pitchFamily="34" charset="-120"/>
                </a:rPr>
                <a:t>3(x + 2): the Hook</a:t>
              </a:r>
              <a:endParaRPr lang="en-US" sz="1150" dirty="0"/>
            </a:p>
          </p:txBody>
        </p:sp>
        <p:sp>
          <p:nvSpPr>
            <p:cNvPr id="8" name="ia_rect"/>
            <p:cNvSpPr/>
            <p:nvPr/>
          </p:nvSpPr>
          <p:spPr>
            <a:xfrm>
              <a:off x="1508760" y="2212848"/>
              <a:ext cx="2468880" cy="841248"/>
            </a:xfrm>
            <a:prstGeom prst="rect">
              <a:avLst/>
            </a:prstGeom>
            <a:solidFill>
              <a:srgbClr val="FFFFFF"/>
            </a:solidFill>
            <a:ln w="25400">
              <a:solidFill>
                <a:srgbClr val="2B2350"/>
              </a:solidFill>
              <a:prstDash val="solid"/>
            </a:ln>
          </p:spPr>
        </p:sp>
        <p:sp>
          <p:nvSpPr>
            <p:cNvPr id="9" name="ia_cut"/>
            <p:cNvSpPr/>
            <p:nvPr/>
          </p:nvSpPr>
          <p:spPr>
            <a:xfrm>
              <a:off x="3088843" y="2212848"/>
              <a:ext cx="0" cy="841248"/>
            </a:xfrm>
            <a:prstGeom prst="line">
              <a:avLst/>
            </a:prstGeom>
            <a:noFill/>
            <a:ln w="27940">
              <a:solidFill>
                <a:srgbClr val="EC6B58"/>
              </a:solidFill>
              <a:prstDash val="dash"/>
            </a:ln>
          </p:spPr>
        </p:sp>
        <p:sp>
          <p:nvSpPr>
            <p:cNvPr id="10" name="ia_inl"/>
            <p:cNvSpPr txBox="1"/>
            <p:nvPr/>
          </p:nvSpPr>
          <p:spPr>
            <a:xfrm>
              <a:off x="1508760" y="2212848"/>
              <a:ext cx="1580083" cy="841248"/>
            </a:xfrm>
            <a:prstGeom prst="rect">
              <a:avLst/>
            </a:prstGeom>
            <a:noFill/>
            <a:ln/>
          </p:spPr>
          <p:txBody>
            <a:bodyPr wrap="square" lIns="0" tIns="0" rIns="0" bIns="0" rtlCol="0" anchor="ctr"/>
            <a:lstStyle/>
            <a:p>
              <a:pPr algn="ctr" indent="0" marL="0">
                <a:buNone/>
              </a:pPr>
              <a:r>
                <a:rPr lang="en-US" sz="1700" b="1" dirty="0">
                  <a:solidFill>
                    <a:srgbClr val="2B2350"/>
                  </a:solidFill>
                  <a:latin typeface="Arial" pitchFamily="34" charset="0"/>
                  <a:ea typeface="Arial" pitchFamily="34" charset="-122"/>
                  <a:cs typeface="Arial" pitchFamily="34" charset="-120"/>
                </a:rPr>
                <a:t>3x</a:t>
              </a:r>
              <a:endParaRPr lang="en-US" sz="1700" dirty="0"/>
            </a:p>
          </p:txBody>
        </p:sp>
        <p:sp>
          <p:nvSpPr>
            <p:cNvPr id="11" name="ia_inr"/>
            <p:cNvSpPr txBox="1"/>
            <p:nvPr/>
          </p:nvSpPr>
          <p:spPr>
            <a:xfrm>
              <a:off x="3088843" y="2212848"/>
              <a:ext cx="888797" cy="841248"/>
            </a:xfrm>
            <a:prstGeom prst="rect">
              <a:avLst/>
            </a:prstGeom>
            <a:noFill/>
            <a:ln/>
          </p:spPr>
          <p:txBody>
            <a:bodyPr wrap="square" lIns="0" tIns="0" rIns="0" bIns="0" rtlCol="0" anchor="ctr"/>
            <a:lstStyle/>
            <a:p>
              <a:pPr algn="ctr" indent="0" marL="0">
                <a:buNone/>
              </a:pPr>
              <a:r>
                <a:rPr lang="en-US" sz="1700" b="1" dirty="0">
                  <a:solidFill>
                    <a:srgbClr val="2B2350"/>
                  </a:solidFill>
                  <a:latin typeface="Arial" pitchFamily="34" charset="0"/>
                  <a:ea typeface="Arial" pitchFamily="34" charset="-122"/>
                  <a:cs typeface="Arial" pitchFamily="34" charset="-120"/>
                </a:rPr>
                <a:t>6</a:t>
              </a:r>
              <a:endParaRPr lang="en-US" sz="1700" dirty="0"/>
            </a:p>
          </p:txBody>
        </p:sp>
        <p:sp>
          <p:nvSpPr>
            <p:cNvPr id="12" name="ia_tl"/>
            <p:cNvSpPr txBox="1"/>
            <p:nvPr/>
          </p:nvSpPr>
          <p:spPr>
            <a:xfrm>
              <a:off x="1508760" y="1938528"/>
              <a:ext cx="1580083" cy="256032"/>
            </a:xfrm>
            <a:prstGeom prst="rect">
              <a:avLst/>
            </a:prstGeom>
            <a:noFill/>
            <a:ln/>
          </p:spPr>
          <p:txBody>
            <a:bodyPr wrap="square" lIns="0" tIns="0" rIns="0" bIns="0" rtlCol="0" anchor="ctr"/>
            <a:lstStyle/>
            <a:p>
              <a:pPr algn="ctr" indent="0" marL="0">
                <a:buNone/>
              </a:pPr>
              <a:r>
                <a:rPr lang="en-US" sz="1300" b="1" dirty="0">
                  <a:solidFill>
                    <a:srgbClr val="1F6FB2"/>
                  </a:solidFill>
                  <a:latin typeface="Arial" pitchFamily="34" charset="0"/>
                  <a:ea typeface="Arial" pitchFamily="34" charset="-122"/>
                  <a:cs typeface="Arial" pitchFamily="34" charset="-120"/>
                </a:rPr>
                <a:t>x</a:t>
              </a:r>
              <a:endParaRPr lang="en-US" sz="1300" dirty="0"/>
            </a:p>
          </p:txBody>
        </p:sp>
        <p:sp>
          <p:nvSpPr>
            <p:cNvPr id="13" name="ia_tr"/>
            <p:cNvSpPr txBox="1"/>
            <p:nvPr/>
          </p:nvSpPr>
          <p:spPr>
            <a:xfrm>
              <a:off x="3088843" y="1938528"/>
              <a:ext cx="888797" cy="256032"/>
            </a:xfrm>
            <a:prstGeom prst="rect">
              <a:avLst/>
            </a:prstGeom>
            <a:noFill/>
            <a:ln/>
          </p:spPr>
          <p:txBody>
            <a:bodyPr wrap="square" lIns="0" tIns="0" rIns="0" bIns="0" rtlCol="0" anchor="ctr"/>
            <a:lstStyle/>
            <a:p>
              <a:pPr algn="ctr" indent="0" marL="0">
                <a:buNone/>
              </a:pPr>
              <a:r>
                <a:rPr lang="en-US" sz="1300" b="1" dirty="0">
                  <a:solidFill>
                    <a:srgbClr val="2B2350"/>
                  </a:solidFill>
                  <a:latin typeface="Arial" pitchFamily="34" charset="0"/>
                  <a:ea typeface="Arial" pitchFamily="34" charset="-122"/>
                  <a:cs typeface="Arial" pitchFamily="34" charset="-120"/>
                </a:rPr>
                <a:t>2</a:t>
              </a:r>
              <a:endParaRPr lang="en-US" sz="1300" dirty="0"/>
            </a:p>
          </p:txBody>
        </p:sp>
        <p:sp>
          <p:nvSpPr>
            <p:cNvPr id="14" name="ia_side"/>
            <p:cNvSpPr txBox="1"/>
            <p:nvPr/>
          </p:nvSpPr>
          <p:spPr>
            <a:xfrm>
              <a:off x="1124712" y="2212848"/>
              <a:ext cx="329184" cy="841248"/>
            </a:xfrm>
            <a:prstGeom prst="rect">
              <a:avLst/>
            </a:prstGeom>
            <a:noFill/>
            <a:ln/>
          </p:spPr>
          <p:txBody>
            <a:bodyPr wrap="square" lIns="0" tIns="0" rIns="0" bIns="0" rtlCol="0" anchor="ctr"/>
            <a:lstStyle/>
            <a:p>
              <a:pPr algn="r" indent="0" marL="0">
                <a:buNone/>
              </a:pPr>
              <a:r>
                <a:rPr lang="en-US" sz="1500" b="1" dirty="0">
                  <a:solidFill>
                    <a:srgbClr val="2B2350"/>
                  </a:solidFill>
                  <a:latin typeface="Arial" pitchFamily="34" charset="0"/>
                  <a:ea typeface="Arial" pitchFamily="34" charset="-122"/>
                  <a:cs typeface="Arial" pitchFamily="34" charset="-120"/>
                </a:rPr>
                <a:t>3</a:t>
              </a:r>
              <a:endParaRPr lang="en-US" sz="1500" dirty="0"/>
            </a:p>
          </p:txBody>
        </p:sp>
      </p:grpSp>
      <p:sp>
        <p:nvSpPr>
          <p:cNvPr id="15" name="ia_l0"/>
          <p:cNvSpPr txBox="1"/>
          <p:nvPr/>
        </p:nvSpPr>
        <p:spPr>
          <a:xfrm>
            <a:off x="978408" y="3200400"/>
            <a:ext cx="3566160" cy="274320"/>
          </a:xfrm>
          <a:prstGeom prst="rect">
            <a:avLst/>
          </a:prstGeom>
          <a:noFill/>
          <a:ln/>
        </p:spPr>
        <p:txBody>
          <a:bodyPr wrap="square" lIns="0" tIns="0" rIns="0" bIns="0" rtlCol="0" anchor="ctr"/>
          <a:lstStyle/>
          <a:p>
            <a:pPr algn="l" indent="0" marL="0">
              <a:buNone/>
            </a:pPr>
            <a:r>
              <a:rPr lang="en-US" sz="1400" b="1" dirty="0">
                <a:solidFill>
                  <a:srgbClr val="2B2350"/>
                </a:solidFill>
                <a:latin typeface="Arial" pitchFamily="34" charset="0"/>
                <a:ea typeface="Arial" pitchFamily="34" charset="-122"/>
                <a:cs typeface="Arial" pitchFamily="34" charset="-120"/>
              </a:rPr>
              <a:t>3 × </a:t>
            </a:r>
            <a:pPr algn="l" indent="0" marL="0">
              <a:buNone/>
            </a:pPr>
            <a:r>
              <a:rPr lang="en-US" sz="1400" b="1" dirty="0">
                <a:solidFill>
                  <a:srgbClr val="1F6FB2"/>
                </a:solidFill>
                <a:latin typeface="Arial" pitchFamily="34" charset="0"/>
                <a:ea typeface="Arial" pitchFamily="34" charset="-122"/>
                <a:cs typeface="Arial" pitchFamily="34" charset="-120"/>
              </a:rPr>
              <a:t>x</a:t>
            </a:r>
            <a:pPr algn="l" indent="0" marL="0">
              <a:buNone/>
            </a:pPr>
            <a:r>
              <a:rPr lang="en-US" sz="1400" b="1" dirty="0">
                <a:solidFill>
                  <a:srgbClr val="2B2350"/>
                </a:solidFill>
                <a:latin typeface="Arial" pitchFamily="34" charset="0"/>
                <a:ea typeface="Arial" pitchFamily="34" charset="-122"/>
                <a:cs typeface="Arial" pitchFamily="34" charset="-120"/>
              </a:rPr>
              <a:t> = 3</a:t>
            </a:r>
            <a:pPr algn="l" indent="0" marL="0">
              <a:buNone/>
            </a:pPr>
            <a:r>
              <a:rPr lang="en-US" sz="1400" b="1" dirty="0">
                <a:solidFill>
                  <a:srgbClr val="1F6FB2"/>
                </a:solidFill>
                <a:latin typeface="Arial" pitchFamily="34" charset="0"/>
                <a:ea typeface="Arial" pitchFamily="34" charset="-122"/>
                <a:cs typeface="Arial" pitchFamily="34" charset="-120"/>
              </a:rPr>
              <a:t>x</a:t>
            </a:r>
            <a:endParaRPr lang="en-US" sz="1400" dirty="0"/>
          </a:p>
        </p:txBody>
      </p:sp>
      <p:sp>
        <p:nvSpPr>
          <p:cNvPr id="16" name="ia_l1"/>
          <p:cNvSpPr txBox="1"/>
          <p:nvPr/>
        </p:nvSpPr>
        <p:spPr>
          <a:xfrm>
            <a:off x="978408" y="3493008"/>
            <a:ext cx="3566160" cy="274320"/>
          </a:xfrm>
          <a:prstGeom prst="rect">
            <a:avLst/>
          </a:prstGeom>
          <a:noFill/>
          <a:ln/>
        </p:spPr>
        <p:txBody>
          <a:bodyPr wrap="square" lIns="0" tIns="0" rIns="0" bIns="0" rtlCol="0" anchor="ctr"/>
          <a:lstStyle/>
          <a:p>
            <a:pPr algn="l" indent="0" marL="0">
              <a:buNone/>
            </a:pPr>
            <a:r>
              <a:rPr lang="en-US" sz="1400" b="1" dirty="0">
                <a:solidFill>
                  <a:srgbClr val="2B2350"/>
                </a:solidFill>
                <a:latin typeface="Arial" pitchFamily="34" charset="0"/>
                <a:ea typeface="Arial" pitchFamily="34" charset="-122"/>
                <a:cs typeface="Arial" pitchFamily="34" charset="-120"/>
              </a:rPr>
              <a:t>3 × 2 = 6</a:t>
            </a:r>
            <a:endParaRPr lang="en-US" sz="1400" dirty="0"/>
          </a:p>
        </p:txBody>
      </p:sp>
      <p:sp>
        <p:nvSpPr>
          <p:cNvPr id="17" name="ia_l2"/>
          <p:cNvSpPr txBox="1"/>
          <p:nvPr/>
        </p:nvSpPr>
        <p:spPr>
          <a:xfrm>
            <a:off x="978408" y="3785616"/>
            <a:ext cx="3566160" cy="274320"/>
          </a:xfrm>
          <a:prstGeom prst="rect">
            <a:avLst/>
          </a:prstGeom>
          <a:noFill/>
          <a:ln/>
        </p:spPr>
        <p:txBody>
          <a:bodyPr wrap="square" lIns="0" tIns="0" rIns="0" bIns="0" rtlCol="0" anchor="ctr"/>
          <a:lstStyle/>
          <a:p>
            <a:pPr algn="l" indent="0" marL="0">
              <a:buNone/>
            </a:pPr>
            <a:r>
              <a:rPr lang="en-US" sz="1400" b="1" dirty="0">
                <a:solidFill>
                  <a:srgbClr val="C0392B"/>
                </a:solidFill>
                <a:latin typeface="Arial" pitchFamily="34" charset="0"/>
                <a:ea typeface="Arial" pitchFamily="34" charset="-122"/>
                <a:cs typeface="Arial" pitchFamily="34" charset="-120"/>
              </a:rPr>
              <a:t>3(x + 2) = 3x + 6.  Hook: B</a:t>
            </a:r>
            <a:endParaRPr lang="en-US" sz="1400" dirty="0"/>
          </a:p>
        </p:txBody>
      </p:sp>
      <p:grpSp>
        <p:nvGrpSpPr>
          <p:cNvPr id="26" name="ibg"/>
          <p:cNvGrpSpPr/>
          <p:nvPr/>
        </p:nvGrpSpPr>
        <p:grpSpPr>
          <a:xfrm>
            <a:off x="4892040" y="1591056"/>
            <a:ext cx="3840480" cy="2542032"/>
            <a:chOff x="4892040" y="1591056"/>
            <a:chExt cx="3840480" cy="2542032"/>
          </a:xfrm>
        </p:grpSpPr>
        <p:sp>
          <p:nvSpPr>
            <p:cNvPr id="18" name="ib_bg"/>
            <p:cNvSpPr/>
            <p:nvPr/>
          </p:nvSpPr>
          <p:spPr>
            <a:xfrm>
              <a:off x="4892040" y="1591056"/>
              <a:ext cx="3840480" cy="2542032"/>
            </a:xfrm>
            <a:prstGeom prst="roundRect">
              <a:avLst>
                <a:gd name="adj" fmla="val 2158"/>
              </a:avLst>
            </a:prstGeom>
            <a:solidFill>
              <a:srgbClr val="F2F0F8"/>
            </a:solidFill>
            <a:ln w="12700">
              <a:solidFill>
                <a:srgbClr val="F2F0F8"/>
              </a:solidFill>
              <a:prstDash val="solid"/>
            </a:ln>
          </p:spPr>
        </p:sp>
        <p:sp>
          <p:nvSpPr>
            <p:cNvPr id="19" name="ib_h"/>
            <p:cNvSpPr txBox="1"/>
            <p:nvPr/>
          </p:nvSpPr>
          <p:spPr>
            <a:xfrm>
              <a:off x="5074920" y="1645920"/>
              <a:ext cx="3474720" cy="256032"/>
            </a:xfrm>
            <a:prstGeom prst="rect">
              <a:avLst/>
            </a:prstGeom>
            <a:noFill/>
            <a:ln/>
          </p:spPr>
          <p:txBody>
            <a:bodyPr wrap="square" lIns="0" tIns="0" rIns="0" bIns="0" rtlCol="0" anchor="ctr"/>
            <a:lstStyle/>
            <a:p>
              <a:pPr indent="0" marL="0">
                <a:buNone/>
              </a:pPr>
              <a:r>
                <a:rPr lang="en-US" sz="1150" b="1" dirty="0">
                  <a:solidFill>
                    <a:srgbClr val="5E5A70"/>
                  </a:solidFill>
                  <a:latin typeface="Arial" pitchFamily="34" charset="0"/>
                  <a:ea typeface="Arial" pitchFamily="34" charset="-122"/>
                  <a:cs typeface="Arial" pitchFamily="34" charset="-120"/>
                </a:rPr>
                <a:t>A negative outside: −2(x − 5)</a:t>
              </a:r>
              <a:endParaRPr lang="en-US" sz="1150" dirty="0"/>
            </a:p>
          </p:txBody>
        </p:sp>
        <p:sp>
          <p:nvSpPr>
            <p:cNvPr id="20" name="ib_l0"/>
            <p:cNvSpPr txBox="1"/>
            <p:nvPr/>
          </p:nvSpPr>
          <p:spPr>
            <a:xfrm>
              <a:off x="5093208" y="2103120"/>
              <a:ext cx="3474720" cy="310896"/>
            </a:xfrm>
            <a:prstGeom prst="rect">
              <a:avLst/>
            </a:prstGeom>
            <a:noFill/>
            <a:ln/>
          </p:spPr>
          <p:txBody>
            <a:bodyPr wrap="square" lIns="0" tIns="0" rIns="0" bIns="0" rtlCol="0" anchor="ctr"/>
            <a:lstStyle/>
            <a:p>
              <a:pPr algn="l" indent="0" marL="0">
                <a:buNone/>
              </a:pPr>
              <a:r>
                <a:rPr lang="en-US" sz="1600" b="1" dirty="0">
                  <a:solidFill>
                    <a:srgbClr val="2B2350"/>
                  </a:solidFill>
                  <a:latin typeface="Arial" pitchFamily="34" charset="0"/>
                  <a:ea typeface="Arial" pitchFamily="34" charset="-122"/>
                  <a:cs typeface="Arial" pitchFamily="34" charset="-120"/>
                </a:rPr>
                <a:t>−2 × </a:t>
              </a:r>
              <a:pPr algn="l" indent="0" marL="0">
                <a:buNone/>
              </a:pPr>
              <a:r>
                <a:rPr lang="en-US" sz="1600" b="1" dirty="0">
                  <a:solidFill>
                    <a:srgbClr val="1F6FB2"/>
                  </a:solidFill>
                  <a:latin typeface="Arial" pitchFamily="34" charset="0"/>
                  <a:ea typeface="Arial" pitchFamily="34" charset="-122"/>
                  <a:cs typeface="Arial" pitchFamily="34" charset="-120"/>
                </a:rPr>
                <a:t>x</a:t>
              </a:r>
              <a:pPr algn="l" indent="0" marL="0">
                <a:buNone/>
              </a:pPr>
              <a:r>
                <a:rPr lang="en-US" sz="1600" b="1" dirty="0">
                  <a:solidFill>
                    <a:srgbClr val="2B2350"/>
                  </a:solidFill>
                  <a:latin typeface="Arial" pitchFamily="34" charset="0"/>
                  <a:ea typeface="Arial" pitchFamily="34" charset="-122"/>
                  <a:cs typeface="Arial" pitchFamily="34" charset="-120"/>
                </a:rPr>
                <a:t> = −2</a:t>
              </a:r>
              <a:pPr algn="l" indent="0" marL="0">
                <a:buNone/>
              </a:pPr>
              <a:r>
                <a:rPr lang="en-US" sz="1600" b="1" dirty="0">
                  <a:solidFill>
                    <a:srgbClr val="1F6FB2"/>
                  </a:solidFill>
                  <a:latin typeface="Arial" pitchFamily="34" charset="0"/>
                  <a:ea typeface="Arial" pitchFamily="34" charset="-122"/>
                  <a:cs typeface="Arial" pitchFamily="34" charset="-120"/>
                </a:rPr>
                <a:t>x</a:t>
              </a:r>
              <a:endParaRPr lang="en-US" sz="1600" dirty="0"/>
            </a:p>
          </p:txBody>
        </p:sp>
        <p:sp>
          <p:nvSpPr>
            <p:cNvPr id="21" name="ib_l1"/>
            <p:cNvSpPr txBox="1"/>
            <p:nvPr/>
          </p:nvSpPr>
          <p:spPr>
            <a:xfrm>
              <a:off x="5093208" y="2578608"/>
              <a:ext cx="3474720" cy="310896"/>
            </a:xfrm>
            <a:prstGeom prst="rect">
              <a:avLst/>
            </a:prstGeom>
            <a:noFill/>
            <a:ln/>
          </p:spPr>
          <p:txBody>
            <a:bodyPr wrap="square" lIns="0" tIns="0" rIns="0" bIns="0" rtlCol="0" anchor="ctr"/>
            <a:lstStyle/>
            <a:p>
              <a:pPr algn="l" indent="0" marL="0">
                <a:buNone/>
              </a:pPr>
              <a:r>
                <a:rPr lang="en-US" sz="1600" b="1" dirty="0">
                  <a:solidFill>
                    <a:srgbClr val="2B2350"/>
                  </a:solidFill>
                  <a:latin typeface="Arial" pitchFamily="34" charset="0"/>
                  <a:ea typeface="Arial" pitchFamily="34" charset="-122"/>
                  <a:cs typeface="Arial" pitchFamily="34" charset="-120"/>
                </a:rPr>
                <a:t>−2 × (−5) = +10</a:t>
              </a:r>
              <a:endParaRPr lang="en-US" sz="1600" dirty="0"/>
            </a:p>
          </p:txBody>
        </p:sp>
      </p:grpSp>
      <p:grpSp>
        <p:nvGrpSpPr>
          <p:cNvPr id="27" name="ibres"/>
          <p:cNvGrpSpPr/>
          <p:nvPr/>
        </p:nvGrpSpPr>
        <p:grpSpPr>
          <a:xfrm>
            <a:off x="5093208" y="3127248"/>
            <a:ext cx="3474720" cy="896112"/>
            <a:chOff x="5093208" y="3127248"/>
            <a:chExt cx="3474720" cy="896112"/>
          </a:xfrm>
        </p:grpSpPr>
        <p:sp>
          <p:nvSpPr>
            <p:cNvPr id="22" name="ib_l2"/>
            <p:cNvSpPr txBox="1"/>
            <p:nvPr/>
          </p:nvSpPr>
          <p:spPr>
            <a:xfrm>
              <a:off x="5093208" y="3127248"/>
              <a:ext cx="3474720" cy="329184"/>
            </a:xfrm>
            <a:prstGeom prst="rect">
              <a:avLst/>
            </a:prstGeom>
            <a:noFill/>
            <a:ln/>
          </p:spPr>
          <p:txBody>
            <a:bodyPr wrap="square" lIns="0" tIns="0" rIns="0" bIns="0" rtlCol="0" anchor="ctr"/>
            <a:lstStyle/>
            <a:p>
              <a:pPr algn="l" indent="0" marL="0">
                <a:buNone/>
              </a:pPr>
              <a:r>
                <a:rPr lang="en-US" sz="1700" b="1" dirty="0">
                  <a:solidFill>
                    <a:srgbClr val="C0392B"/>
                  </a:solidFill>
                  <a:latin typeface="Arial" pitchFamily="34" charset="0"/>
                  <a:ea typeface="Arial" pitchFamily="34" charset="-122"/>
                  <a:cs typeface="Arial" pitchFamily="34" charset="-120"/>
                </a:rPr>
                <a:t>−2(x − 5) = −2x + 10</a:t>
              </a:r>
              <a:endParaRPr lang="en-US" sz="1700" dirty="0"/>
            </a:p>
          </p:txBody>
        </p:sp>
        <p:sp>
          <p:nvSpPr>
            <p:cNvPr id="23" name="ib_note"/>
            <p:cNvSpPr txBox="1"/>
            <p:nvPr/>
          </p:nvSpPr>
          <p:spPr>
            <a:xfrm>
              <a:off x="5093208" y="3566160"/>
              <a:ext cx="3474720" cy="457200"/>
            </a:xfrm>
            <a:prstGeom prst="rect">
              <a:avLst/>
            </a:prstGeom>
            <a:noFill/>
            <a:ln/>
          </p:spPr>
          <p:txBody>
            <a:bodyPr wrap="square" lIns="0" tIns="0" rIns="0" bIns="0" rtlCol="0" anchor="t"/>
            <a:lstStyle/>
            <a:p>
              <a:pPr indent="0" marL="0">
                <a:buNone/>
              </a:pPr>
              <a:r>
                <a:rPr lang="en-US" sz="1150" b="1" dirty="0">
                  <a:solidFill>
                    <a:srgbClr val="5E5A70"/>
                  </a:solidFill>
                  <a:latin typeface="Arial" pitchFamily="34" charset="0"/>
                  <a:ea typeface="Arial" pitchFamily="34" charset="-122"/>
                  <a:cs typeface="Arial" pitchFamily="34" charset="-120"/>
                </a:rPr>
                <a:t>A negative times a negative is a positive.</a:t>
              </a:r>
              <a:endParaRPr lang="en-US" sz="1150" dirty="0"/>
            </a:p>
          </p:txBody>
        </p:sp>
      </p:grpSp>
      <p:sp>
        <p:nvSpPr>
          <p:cNvPr id="24" name="ea_banner"/>
          <p:cNvSpPr/>
          <p:nvPr/>
        </p:nvSpPr>
        <p:spPr>
          <a:xfrm>
            <a:off x="777240" y="4315968"/>
            <a:ext cx="7955280" cy="512064"/>
          </a:xfrm>
          <a:prstGeom prst="roundRect">
            <a:avLst>
              <a:gd name="adj" fmla="val 14286"/>
            </a:avLst>
          </a:prstGeom>
          <a:solidFill>
            <a:srgbClr val="2B2350"/>
          </a:solidFill>
          <a:ln>
            <a:solidFill>
              <a:srgbClr val="2B2350"/>
            </a:solidFill>
          </a:ln>
        </p:spPr>
        <p:txBody>
          <a:bodyPr wrap="square" lIns="1016" tIns="1016" rIns="1016" bIns="1016"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The number outside multiplies </a:t>
            </a:r>
            <a:pPr algn="ctr" indent="0" marL="0">
              <a:buNone/>
            </a:pPr>
            <a:r>
              <a:rPr lang="en-US" sz="1350" b="1" u="sng" dirty="0">
                <a:solidFill>
                  <a:srgbClr val="FFFFFF"/>
                </a:solidFill>
                <a:latin typeface="Arial" pitchFamily="34" charset="0"/>
                <a:ea typeface="Arial" pitchFamily="34" charset="-122"/>
                <a:cs typeface="Arial" pitchFamily="34" charset="-120"/>
              </a:rPr>
              <a:t>every term</a:t>
            </a:r>
            <a:pPr algn="ctr" indent="0" marL="0">
              <a:buNone/>
            </a:pPr>
            <a:r>
              <a:rPr lang="en-US" sz="1350" b="1" dirty="0">
                <a:solidFill>
                  <a:srgbClr val="FFFFFF"/>
                </a:solidFill>
                <a:latin typeface="Arial" pitchFamily="34" charset="0"/>
                <a:ea typeface="Arial" pitchFamily="34" charset="-122"/>
                <a:cs typeface="Arial" pitchFamily="34" charset="-120"/>
              </a:rPr>
              <a:t> inside, and takes its </a:t>
            </a:r>
            <a:pPr algn="ctr" indent="0" marL="0">
              <a:buNone/>
            </a:pPr>
            <a:r>
              <a:rPr lang="en-US" sz="1350" b="1" u="sng" dirty="0">
                <a:solidFill>
                  <a:srgbClr val="FFFFFF"/>
                </a:solidFill>
                <a:latin typeface="Arial" pitchFamily="34" charset="0"/>
                <a:ea typeface="Arial" pitchFamily="34" charset="-122"/>
                <a:cs typeface="Arial" pitchFamily="34" charset="-120"/>
              </a:rPr>
              <a:t>sign</a:t>
            </a:r>
            <a:pPr algn="ctr" indent="0" marL="0">
              <a:buNone/>
            </a:pPr>
            <a:r>
              <a:rPr lang="en-US" sz="1350" b="1" dirty="0">
                <a:solidFill>
                  <a:srgbClr val="FFFFFF"/>
                </a:solidFill>
                <a:latin typeface="Arial" pitchFamily="34" charset="0"/>
                <a:ea typeface="Arial" pitchFamily="34" charset="-122"/>
                <a:cs typeface="Arial" pitchFamily="34" charset="-120"/>
              </a:rPr>
              <a:t> with it.</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5"/>
                                        </p:tgtEl>
                                        <p:attrNameLst>
                                          <p:attrName>style.visibility</p:attrName>
                                        </p:attrNameLst>
                                      </p:cBhvr>
                                      <p:to>
                                        <p:strVal val="visible"/>
                                      </p:to>
                                    </p:set>
                                    <p:animEffect transition="in" filter="fade">
                                      <p:cBhvr>
                                        <p:cTn id="4" dur="4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5"/>
                                        </p:tgtEl>
                                        <p:attrNameLst>
                                          <p:attrName>style.visibility</p:attrName>
                                        </p:attrNameLst>
                                      </p:cBhvr>
                                      <p:to>
                                        <p:strVal val="visible"/>
                                      </p:to>
                                    </p:set>
                                    <p:animEffect transition="in" filter="fade">
                                      <p:cBhvr>
                                        <p:cTn id="9" dur="400"/>
                                        <p:tgtEl>
                                          <p:spTgt spid="15"/>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6"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2" presetID="23" presetClass="entr" presetSubtype="16"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400"/>
                                        <p:tgtEl>
                                          <p:spTgt spid="24"/>
                                        </p:tgtEl>
                                      </p:cBhvr>
                                    </p:animEffect>
                                    <p:animScale>
                                      <p:cBhvr>
                                        <p:cTn id="31" dur="400" fill="hold"/>
                                        <p:tgtEl>
                                          <p:spTgt spid="24"/>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35" fill="hold" display="0">
                  <p:stCondLst>
                    <p:cond delay="0"/>
                  </p:stCondLst>
                  <p:endCondLst>
                    <p:cond evt="onStopAudio" delay="0">
                      <p:tgtEl>
                        <p:sldTgt/>
                      </p:tgtEl>
                    </p:cond>
                  </p:end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422806"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I DO · 3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Expand and simplify</a:t>
            </a:r>
            <a:endParaRPr lang="en-US" sz="2800" dirty="0"/>
          </a:p>
        </p:txBody>
      </p:sp>
      <p:sp>
        <p:nvSpPr>
          <p:cNvPr id="5" name="slide_sub"/>
          <p:cNvSpPr txBox="1"/>
          <p:nvPr/>
        </p:nvSpPr>
        <p:spPr>
          <a:xfrm>
            <a:off x="777240" y="1243584"/>
            <a:ext cx="7955280" cy="237744"/>
          </a:xfrm>
          <a:prstGeom prst="rect">
            <a:avLst/>
          </a:prstGeom>
          <a:noFill/>
          <a:ln/>
        </p:spPr>
        <p:txBody>
          <a:bodyPr wrap="square" lIns="0" tIns="0" rIns="0" bIns="0" rtlCol="0" anchor="ctr"/>
          <a:lstStyle/>
          <a:p>
            <a:pPr indent="0" marL="0">
              <a:buNone/>
            </a:pPr>
            <a:r>
              <a:rPr lang="en-US" sz="1100" dirty="0">
                <a:solidFill>
                  <a:srgbClr val="5E5A70"/>
                </a:solidFill>
                <a:latin typeface="Arial" pitchFamily="34" charset="0"/>
                <a:ea typeface="Arial" pitchFamily="34" charset="-122"/>
                <a:cs typeface="Arial" pitchFamily="34" charset="-120"/>
              </a:rPr>
              <a:t>Two brackets. Expand first. Collect second.</a:t>
            </a:r>
            <a:endParaRPr lang="en-US" sz="1100" dirty="0"/>
          </a:p>
        </p:txBody>
      </p:sp>
      <p:sp>
        <p:nvSpPr>
          <p:cNvPr id="6" name="ex_bg"/>
          <p:cNvSpPr/>
          <p:nvPr/>
        </p:nvSpPr>
        <p:spPr>
          <a:xfrm>
            <a:off x="777240" y="1591056"/>
            <a:ext cx="4663440" cy="2542032"/>
          </a:xfrm>
          <a:prstGeom prst="roundRect">
            <a:avLst>
              <a:gd name="adj" fmla="val 2158"/>
            </a:avLst>
          </a:prstGeom>
          <a:solidFill>
            <a:srgbClr val="F2F0F8"/>
          </a:solidFill>
          <a:ln w="12700">
            <a:solidFill>
              <a:srgbClr val="F2F0F8"/>
            </a:solidFill>
            <a:prstDash val="solid"/>
          </a:ln>
        </p:spPr>
      </p:sp>
      <p:sp>
        <p:nvSpPr>
          <p:cNvPr id="7" name="ex_h"/>
          <p:cNvSpPr txBox="1"/>
          <p:nvPr/>
        </p:nvSpPr>
        <p:spPr>
          <a:xfrm>
            <a:off x="960120" y="1664208"/>
            <a:ext cx="4297680" cy="274320"/>
          </a:xfrm>
          <a:prstGeom prst="rect">
            <a:avLst/>
          </a:prstGeom>
          <a:noFill/>
          <a:ln/>
        </p:spPr>
        <p:txBody>
          <a:bodyPr wrap="square" lIns="0" tIns="0" rIns="0" bIns="0" rtlCol="0" anchor="ctr"/>
          <a:lstStyle/>
          <a:p>
            <a:pPr indent="0" marL="0">
              <a:buNone/>
            </a:pPr>
            <a:r>
              <a:rPr lang="en-US" sz="1150" b="1" dirty="0">
                <a:solidFill>
                  <a:srgbClr val="5E5A70"/>
                </a:solidFill>
                <a:latin typeface="Arial" pitchFamily="34" charset="0"/>
                <a:ea typeface="Arial" pitchFamily="34" charset="-122"/>
                <a:cs typeface="Arial" pitchFamily="34" charset="-120"/>
              </a:rPr>
              <a:t>3(x + 2) + 2(x − 4)</a:t>
            </a:r>
            <a:endParaRPr lang="en-US" sz="1150" dirty="0"/>
          </a:p>
        </p:txBody>
      </p:sp>
      <p:sp>
        <p:nvSpPr>
          <p:cNvPr id="8" name="ex_l0"/>
          <p:cNvSpPr txBox="1"/>
          <p:nvPr/>
        </p:nvSpPr>
        <p:spPr>
          <a:xfrm>
            <a:off x="978408" y="1993392"/>
            <a:ext cx="4297680" cy="310896"/>
          </a:xfrm>
          <a:prstGeom prst="rect">
            <a:avLst/>
          </a:prstGeom>
          <a:noFill/>
          <a:ln/>
        </p:spPr>
        <p:txBody>
          <a:bodyPr wrap="square" lIns="0" tIns="0" rIns="0" bIns="0" rtlCol="0" anchor="ctr"/>
          <a:lstStyle/>
          <a:p>
            <a:pPr algn="l" indent="0" marL="0">
              <a:buNone/>
            </a:pPr>
            <a:r>
              <a:rPr lang="en-US" sz="1500" b="1" dirty="0">
                <a:solidFill>
                  <a:srgbClr val="5E5A70"/>
                </a:solidFill>
                <a:latin typeface="Arial" pitchFamily="34" charset="0"/>
                <a:ea typeface="Arial" pitchFamily="34" charset="-122"/>
                <a:cs typeface="Arial" pitchFamily="34" charset="-120"/>
              </a:rPr>
              <a:t>Expand first.</a:t>
            </a:r>
            <a:pPr algn="l" indent="0" marL="0">
              <a:buNone/>
            </a:pPr>
            <a:r>
              <a:rPr lang="en-US" sz="1500" b="1" dirty="0">
                <a:solidFill>
                  <a:srgbClr val="2B2350"/>
                </a:solidFill>
                <a:latin typeface="Arial" pitchFamily="34" charset="0"/>
                <a:ea typeface="Arial" pitchFamily="34" charset="-122"/>
                <a:cs typeface="Arial" pitchFamily="34" charset="-120"/>
              </a:rPr>
              <a:t>   3x + 6 + 2x − 8</a:t>
            </a:r>
            <a:endParaRPr lang="en-US" sz="1500" dirty="0"/>
          </a:p>
        </p:txBody>
      </p:sp>
      <p:sp>
        <p:nvSpPr>
          <p:cNvPr id="9" name="ex_l1"/>
          <p:cNvSpPr txBox="1"/>
          <p:nvPr/>
        </p:nvSpPr>
        <p:spPr>
          <a:xfrm>
            <a:off x="978408" y="2450592"/>
            <a:ext cx="4297680" cy="310896"/>
          </a:xfrm>
          <a:prstGeom prst="rect">
            <a:avLst/>
          </a:prstGeom>
          <a:noFill/>
          <a:ln/>
        </p:spPr>
        <p:txBody>
          <a:bodyPr wrap="square" lIns="0" tIns="0" rIns="0" bIns="0" rtlCol="0" anchor="ctr"/>
          <a:lstStyle/>
          <a:p>
            <a:pPr algn="l" indent="0" marL="0">
              <a:buNone/>
            </a:pPr>
            <a:r>
              <a:rPr lang="en-US" sz="1500" b="1" dirty="0">
                <a:solidFill>
                  <a:srgbClr val="5E5A70"/>
                </a:solidFill>
                <a:latin typeface="Arial" pitchFamily="34" charset="0"/>
                <a:ea typeface="Arial" pitchFamily="34" charset="-122"/>
                <a:cs typeface="Arial" pitchFamily="34" charset="-120"/>
              </a:rPr>
              <a:t>Collect second.</a:t>
            </a:r>
            <a:pPr algn="l" indent="0" marL="0">
              <a:buNone/>
            </a:pPr>
            <a:r>
              <a:rPr lang="en-US" sz="1500" b="1" dirty="0">
                <a:solidFill>
                  <a:srgbClr val="2B2350"/>
                </a:solidFill>
                <a:latin typeface="Arial" pitchFamily="34" charset="0"/>
                <a:ea typeface="Arial" pitchFamily="34" charset="-122"/>
                <a:cs typeface="Arial" pitchFamily="34" charset="-120"/>
              </a:rPr>
              <a:t>   3x + 2x + 6 − 8</a:t>
            </a:r>
            <a:endParaRPr lang="en-US" sz="1500" dirty="0"/>
          </a:p>
        </p:txBody>
      </p:sp>
      <p:sp>
        <p:nvSpPr>
          <p:cNvPr id="10" name="ex_l2"/>
          <p:cNvSpPr txBox="1"/>
          <p:nvPr/>
        </p:nvSpPr>
        <p:spPr>
          <a:xfrm>
            <a:off x="978408" y="2907792"/>
            <a:ext cx="4297680" cy="310896"/>
          </a:xfrm>
          <a:prstGeom prst="rect">
            <a:avLst/>
          </a:prstGeom>
          <a:noFill/>
          <a:ln/>
        </p:spPr>
        <p:txBody>
          <a:bodyPr wrap="square" lIns="0" tIns="0" rIns="0" bIns="0" rtlCol="0" anchor="ctr"/>
          <a:lstStyle/>
          <a:p>
            <a:pPr algn="l" indent="0" marL="0">
              <a:buNone/>
            </a:pPr>
            <a:r>
              <a:rPr lang="en-US" sz="1500" b="1" dirty="0">
                <a:solidFill>
                  <a:srgbClr val="2B2350"/>
                </a:solidFill>
                <a:latin typeface="Arial" pitchFamily="34" charset="0"/>
                <a:ea typeface="Arial" pitchFamily="34" charset="-122"/>
                <a:cs typeface="Arial" pitchFamily="34" charset="-120"/>
              </a:rPr>
              <a:t>3x + 2x = 5x</a:t>
            </a:r>
            <a:pPr algn="l" indent="0" marL="0">
              <a:buNone/>
            </a:pPr>
            <a:r>
              <a:rPr lang="en-US" sz="1500" b="1" dirty="0">
                <a:solidFill>
                  <a:srgbClr val="5E5A70"/>
                </a:solidFill>
                <a:latin typeface="Arial" pitchFamily="34" charset="0"/>
                <a:ea typeface="Arial" pitchFamily="34" charset="-122"/>
                <a:cs typeface="Arial" pitchFamily="34" charset="-120"/>
              </a:rPr>
              <a:t>   and   </a:t>
            </a:r>
            <a:pPr algn="l" indent="0" marL="0">
              <a:buNone/>
            </a:pPr>
            <a:r>
              <a:rPr lang="en-US" sz="1500" b="1" dirty="0">
                <a:solidFill>
                  <a:srgbClr val="2B2350"/>
                </a:solidFill>
                <a:latin typeface="Arial" pitchFamily="34" charset="0"/>
                <a:ea typeface="Arial" pitchFamily="34" charset="-122"/>
                <a:cs typeface="Arial" pitchFamily="34" charset="-120"/>
              </a:rPr>
              <a:t>6 − 8 = −2</a:t>
            </a:r>
            <a:endParaRPr lang="en-US" sz="1500" dirty="0"/>
          </a:p>
        </p:txBody>
      </p:sp>
      <p:sp>
        <p:nvSpPr>
          <p:cNvPr id="11" name="ex_l3"/>
          <p:cNvSpPr txBox="1"/>
          <p:nvPr/>
        </p:nvSpPr>
        <p:spPr>
          <a:xfrm>
            <a:off x="978408" y="3364992"/>
            <a:ext cx="4297680" cy="310896"/>
          </a:xfrm>
          <a:prstGeom prst="rect">
            <a:avLst/>
          </a:prstGeom>
          <a:noFill/>
          <a:ln/>
        </p:spPr>
        <p:txBody>
          <a:bodyPr wrap="square" lIns="0" tIns="0" rIns="0" bIns="0" rtlCol="0" anchor="ctr"/>
          <a:lstStyle/>
          <a:p>
            <a:pPr algn="l" indent="0" marL="0">
              <a:buNone/>
            </a:pPr>
            <a:r>
              <a:rPr lang="en-US" sz="1500" b="1" dirty="0">
                <a:solidFill>
                  <a:srgbClr val="5E5A70"/>
                </a:solidFill>
                <a:latin typeface="Arial" pitchFamily="34" charset="0"/>
                <a:ea typeface="Arial" pitchFamily="34" charset="-122"/>
                <a:cs typeface="Arial" pitchFamily="34" charset="-120"/>
              </a:rPr>
              <a:t>Answer</a:t>
            </a:r>
            <a:pPr algn="l" indent="0" marL="0">
              <a:buNone/>
            </a:pPr>
            <a:r>
              <a:rPr lang="en-US" sz="1500" b="1" dirty="0">
                <a:solidFill>
                  <a:srgbClr val="C0392B"/>
                </a:solidFill>
                <a:latin typeface="Arial" pitchFamily="34" charset="0"/>
                <a:ea typeface="Arial" pitchFamily="34" charset="-122"/>
                <a:cs typeface="Arial" pitchFamily="34" charset="-120"/>
              </a:rPr>
              <a:t>   5x − 2</a:t>
            </a:r>
            <a:endParaRPr lang="en-US" sz="1500" dirty="0"/>
          </a:p>
        </p:txBody>
      </p:sp>
      <p:grpSp>
        <p:nvGrpSpPr>
          <p:cNvPr id="19" name="ckg"/>
          <p:cNvGrpSpPr/>
          <p:nvPr/>
        </p:nvGrpSpPr>
        <p:grpSpPr>
          <a:xfrm>
            <a:off x="5623560" y="1591056"/>
            <a:ext cx="3108960" cy="2542032"/>
            <a:chOff x="5623560" y="1591056"/>
            <a:chExt cx="3108960" cy="2542032"/>
          </a:xfrm>
        </p:grpSpPr>
        <p:sp>
          <p:nvSpPr>
            <p:cNvPr id="12" name="ck_bg"/>
            <p:cNvSpPr/>
            <p:nvPr/>
          </p:nvSpPr>
          <p:spPr>
            <a:xfrm>
              <a:off x="5623560" y="1591056"/>
              <a:ext cx="3108960" cy="2542032"/>
            </a:xfrm>
            <a:prstGeom prst="roundRect">
              <a:avLst>
                <a:gd name="adj" fmla="val 2158"/>
              </a:avLst>
            </a:prstGeom>
            <a:solidFill>
              <a:srgbClr val="F2F0F8"/>
            </a:solidFill>
            <a:ln w="12700">
              <a:solidFill>
                <a:srgbClr val="F2F0F8"/>
              </a:solidFill>
              <a:prstDash val="solid"/>
            </a:ln>
          </p:spPr>
        </p:sp>
        <p:sp>
          <p:nvSpPr>
            <p:cNvPr id="13" name="ck_h"/>
            <p:cNvSpPr txBox="1"/>
            <p:nvPr/>
          </p:nvSpPr>
          <p:spPr>
            <a:xfrm>
              <a:off x="5788152" y="1645920"/>
              <a:ext cx="2779776" cy="256032"/>
            </a:xfrm>
            <a:prstGeom prst="rect">
              <a:avLst/>
            </a:prstGeom>
            <a:noFill/>
            <a:ln/>
          </p:spPr>
          <p:txBody>
            <a:bodyPr wrap="square" lIns="0" tIns="0" rIns="0" bIns="0" rtlCol="0" anchor="ctr"/>
            <a:lstStyle/>
            <a:p>
              <a:pPr indent="0" marL="0">
                <a:buNone/>
              </a:pPr>
              <a:r>
                <a:rPr lang="en-US" sz="1150" b="1" dirty="0">
                  <a:solidFill>
                    <a:srgbClr val="5E5A70"/>
                  </a:solidFill>
                  <a:latin typeface="Arial" pitchFamily="34" charset="0"/>
                  <a:ea typeface="Arial" pitchFamily="34" charset="-122"/>
                  <a:cs typeface="Arial" pitchFamily="34" charset="-120"/>
                </a:rPr>
                <a:t>Check it. Put x = 2 in both.</a:t>
              </a:r>
              <a:endParaRPr lang="en-US" sz="1150" dirty="0"/>
            </a:p>
          </p:txBody>
        </p:sp>
        <p:sp>
          <p:nvSpPr>
            <p:cNvPr id="14" name="ck_l0"/>
            <p:cNvSpPr txBox="1"/>
            <p:nvPr/>
          </p:nvSpPr>
          <p:spPr>
            <a:xfrm>
              <a:off x="5806440" y="2103120"/>
              <a:ext cx="2779776" cy="365760"/>
            </a:xfrm>
            <a:prstGeom prst="rect">
              <a:avLst/>
            </a:prstGeom>
            <a:noFill/>
            <a:ln/>
          </p:spPr>
          <p:txBody>
            <a:bodyPr wrap="square" lIns="0" tIns="0" rIns="0" bIns="0" rtlCol="0" anchor="ctr"/>
            <a:lstStyle/>
            <a:p>
              <a:pPr algn="l" indent="0" marL="0">
                <a:buNone/>
              </a:pPr>
              <a:r>
                <a:rPr lang="en-US" sz="1300" b="1" dirty="0">
                  <a:solidFill>
                    <a:srgbClr val="2B2350"/>
                  </a:solidFill>
                  <a:latin typeface="Arial" pitchFamily="34" charset="0"/>
                  <a:ea typeface="Arial" pitchFamily="34" charset="-122"/>
                  <a:cs typeface="Arial" pitchFamily="34" charset="-120"/>
                </a:rPr>
                <a:t>3(2 + 2) + 2(2 − 4)</a:t>
              </a:r>
              <a:endParaRPr lang="en-US" sz="1300" dirty="0"/>
            </a:p>
          </p:txBody>
        </p:sp>
        <p:sp>
          <p:nvSpPr>
            <p:cNvPr id="15" name="ck_l1"/>
            <p:cNvSpPr txBox="1"/>
            <p:nvPr/>
          </p:nvSpPr>
          <p:spPr>
            <a:xfrm>
              <a:off x="5806440" y="2560320"/>
              <a:ext cx="2779776" cy="365760"/>
            </a:xfrm>
            <a:prstGeom prst="rect">
              <a:avLst/>
            </a:prstGeom>
            <a:noFill/>
            <a:ln/>
          </p:spPr>
          <p:txBody>
            <a:bodyPr wrap="square" lIns="0" tIns="0" rIns="0" bIns="0" rtlCol="0" anchor="ctr"/>
            <a:lstStyle/>
            <a:p>
              <a:pPr algn="l" indent="0" marL="0">
                <a:buNone/>
              </a:pPr>
              <a:r>
                <a:rPr lang="en-US" sz="1300" b="1" dirty="0">
                  <a:solidFill>
                    <a:srgbClr val="2B2350"/>
                  </a:solidFill>
                  <a:latin typeface="Arial" pitchFamily="34" charset="0"/>
                  <a:ea typeface="Arial" pitchFamily="34" charset="-122"/>
                  <a:cs typeface="Arial" pitchFamily="34" charset="-120"/>
                </a:rPr>
                <a:t>= 12 − 4 = 8</a:t>
              </a:r>
              <a:endParaRPr lang="en-US" sz="1300" dirty="0"/>
            </a:p>
          </p:txBody>
        </p:sp>
        <p:sp>
          <p:nvSpPr>
            <p:cNvPr id="16" name="ck_l2"/>
            <p:cNvSpPr txBox="1"/>
            <p:nvPr/>
          </p:nvSpPr>
          <p:spPr>
            <a:xfrm>
              <a:off x="5806440" y="3017520"/>
              <a:ext cx="2779776" cy="365760"/>
            </a:xfrm>
            <a:prstGeom prst="rect">
              <a:avLst/>
            </a:prstGeom>
            <a:noFill/>
            <a:ln/>
          </p:spPr>
          <p:txBody>
            <a:bodyPr wrap="square" lIns="0" tIns="0" rIns="0" bIns="0" rtlCol="0" anchor="ctr"/>
            <a:lstStyle/>
            <a:p>
              <a:pPr algn="l" indent="0" marL="0">
                <a:buNone/>
              </a:pPr>
              <a:r>
                <a:rPr lang="en-US" sz="1300" b="1" dirty="0">
                  <a:solidFill>
                    <a:srgbClr val="C0392B"/>
                  </a:solidFill>
                  <a:latin typeface="Arial" pitchFamily="34" charset="0"/>
                  <a:ea typeface="Arial" pitchFamily="34" charset="-122"/>
                  <a:cs typeface="Arial" pitchFamily="34" charset="-120"/>
                </a:rPr>
                <a:t>5 × 2 − 2 = 8</a:t>
              </a:r>
              <a:endParaRPr lang="en-US" sz="1300" dirty="0"/>
            </a:p>
          </p:txBody>
        </p:sp>
        <p:sp>
          <p:nvSpPr>
            <p:cNvPr id="17" name="ck_l3"/>
            <p:cNvSpPr txBox="1"/>
            <p:nvPr/>
          </p:nvSpPr>
          <p:spPr>
            <a:xfrm>
              <a:off x="5806440" y="3566160"/>
              <a:ext cx="2779776" cy="365760"/>
            </a:xfrm>
            <a:prstGeom prst="rect">
              <a:avLst/>
            </a:prstGeom>
            <a:noFill/>
            <a:ln/>
          </p:spPr>
          <p:txBody>
            <a:bodyPr wrap="square" lIns="0" tIns="0" rIns="0" bIns="0" rtlCol="0" anchor="ctr"/>
            <a:lstStyle/>
            <a:p>
              <a:pPr indent="0" marL="0">
                <a:buNone/>
              </a:pPr>
              <a:r>
                <a:rPr lang="en-US" sz="1300" b="1" dirty="0">
                  <a:solidFill>
                    <a:srgbClr val="2E8B57"/>
                  </a:solidFill>
                  <a:latin typeface="Arial" pitchFamily="34" charset="0"/>
                  <a:ea typeface="Arial" pitchFamily="34" charset="-122"/>
                  <a:cs typeface="Arial" pitchFamily="34" charset="-120"/>
                </a:rPr>
                <a:t>They match.</a:t>
              </a:r>
              <a:endParaRPr lang="en-US" sz="1300" dirty="0"/>
            </a:p>
          </p:txBody>
        </p:sp>
      </p:grpSp>
      <p:sp>
        <p:nvSpPr>
          <p:cNvPr id="18" name="ex_banner"/>
          <p:cNvSpPr/>
          <p:nvPr/>
        </p:nvSpPr>
        <p:spPr>
          <a:xfrm>
            <a:off x="777240" y="4315968"/>
            <a:ext cx="7955280" cy="512064"/>
          </a:xfrm>
          <a:prstGeom prst="roundRect">
            <a:avLst>
              <a:gd name="adj" fmla="val 14286"/>
            </a:avLst>
          </a:prstGeom>
          <a:solidFill>
            <a:srgbClr val="2B2350"/>
          </a:solidFill>
          <a:ln>
            <a:solidFill>
              <a:srgbClr val="2B2350"/>
            </a:solidFill>
          </a:ln>
        </p:spPr>
        <p:txBody>
          <a:bodyPr wrap="square" lIns="1016" tIns="1016" rIns="1016" bIns="1016" rtlCol="0" anchor="ctr"/>
          <a:lstStyle/>
          <a:p>
            <a:pPr algn="ctr" indent="0" marL="0">
              <a:buNone/>
            </a:pPr>
            <a:r>
              <a:rPr lang="en-US" sz="1350" b="1" u="sng" dirty="0">
                <a:solidFill>
                  <a:srgbClr val="FFFFFF"/>
                </a:solidFill>
                <a:latin typeface="Arial" pitchFamily="34" charset="0"/>
                <a:ea typeface="Arial" pitchFamily="34" charset="-122"/>
                <a:cs typeface="Arial" pitchFamily="34" charset="-120"/>
              </a:rPr>
              <a:t>Expand first.</a:t>
            </a:r>
            <a:pPr algn="ctr" indent="0" marL="0">
              <a:buNone/>
            </a:pPr>
            <a:r>
              <a:rPr lang="en-US" sz="1350" b="1" dirty="0">
                <a:solidFill>
                  <a:srgbClr val="FFFFFF"/>
                </a:solidFill>
                <a:latin typeface="Arial" pitchFamily="34" charset="0"/>
                <a:ea typeface="Arial" pitchFamily="34" charset="-122"/>
                <a:cs typeface="Arial" pitchFamily="34" charset="-120"/>
              </a:rPr>
              <a:t> </a:t>
            </a:r>
            <a:pPr algn="ctr" indent="0" marL="0">
              <a:buNone/>
            </a:pPr>
            <a:r>
              <a:rPr lang="en-US" sz="1350" b="1" u="sng" dirty="0">
                <a:solidFill>
                  <a:srgbClr val="FFFFFF"/>
                </a:solidFill>
                <a:latin typeface="Arial" pitchFamily="34" charset="0"/>
                <a:ea typeface="Arial" pitchFamily="34" charset="-122"/>
                <a:cs typeface="Arial" pitchFamily="34" charset="-120"/>
              </a:rPr>
              <a:t>Collect second.</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400"/>
                                        <p:tgtEl>
                                          <p:spTgt spid="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1" presetID="23" presetClass="entr" presetSubtype="16"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animScale>
                                      <p:cBhvr>
                                        <p:cTn id="30" dur="400" fill="hold"/>
                                        <p:tgtEl>
                                          <p:spTgt spid="18"/>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34" fill="hold" display="0">
                  <p:stCondLst>
                    <p:cond delay="0"/>
                  </p:stCondLst>
                  <p:endCondLst>
                    <p:cond evt="onStopAudio" delay="0">
                      <p:tgtEl>
                        <p:sldTgt/>
                      </p:tgtEl>
                    </p:cond>
                  </p:end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512418"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WE DO · 5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What should be the correct answer?</a:t>
            </a:r>
            <a:endParaRPr lang="en-US" sz="2800" dirty="0"/>
          </a:p>
        </p:txBody>
      </p:sp>
      <p:sp>
        <p:nvSpPr>
          <p:cNvPr id="5" name="slide_sub"/>
          <p:cNvSpPr txBox="1"/>
          <p:nvPr/>
        </p:nvSpPr>
        <p:spPr>
          <a:xfrm>
            <a:off x="777240" y="1243584"/>
            <a:ext cx="7955280" cy="237744"/>
          </a:xfrm>
          <a:prstGeom prst="rect">
            <a:avLst/>
          </a:prstGeom>
          <a:noFill/>
          <a:ln/>
        </p:spPr>
        <p:txBody>
          <a:bodyPr wrap="square" lIns="0" tIns="0" rIns="0" bIns="0" rtlCol="0" anchor="ctr"/>
          <a:lstStyle/>
          <a:p>
            <a:pPr indent="0" marL="0">
              <a:buNone/>
            </a:pPr>
            <a:r>
              <a:rPr lang="en-US" sz="1100" dirty="0">
                <a:solidFill>
                  <a:srgbClr val="5E5A70"/>
                </a:solidFill>
                <a:latin typeface="Arial" pitchFamily="34" charset="0"/>
                <a:ea typeface="Arial" pitchFamily="34" charset="-122"/>
                <a:cs typeface="Arial" pitchFamily="34" charset="-120"/>
              </a:rPr>
              <a:t>Spot the mistake. One of them is already correct.</a:t>
            </a:r>
            <a:endParaRPr lang="en-US" sz="1100" dirty="0"/>
          </a:p>
        </p:txBody>
      </p:sp>
      <p:sp>
        <p:nvSpPr>
          <p:cNvPr id="6" name="sm0_s"/>
          <p:cNvSpPr/>
          <p:nvPr/>
        </p:nvSpPr>
        <p:spPr>
          <a:xfrm>
            <a:off x="777240" y="1572768"/>
            <a:ext cx="3429000" cy="713232"/>
          </a:xfrm>
          <a:prstGeom prst="roundRect">
            <a:avLst>
              <a:gd name="adj" fmla="val 8974"/>
            </a:avLst>
          </a:prstGeom>
          <a:solidFill>
            <a:srgbClr val="F2F0F8"/>
          </a:solidFill>
          <a:ln>
            <a:solidFill>
              <a:srgbClr val="F2F0F8"/>
            </a:solidFill>
          </a:ln>
        </p:spPr>
        <p:txBody>
          <a:bodyPr wrap="square" lIns="1778" tIns="1778" rIns="1778" bIns="1778" rtlCol="0" anchor="ctr"/>
          <a:lstStyle/>
          <a:p>
            <a:pPr algn="l" indent="0" marL="0">
              <a:buNone/>
            </a:pPr>
            <a:r>
              <a:rPr lang="en-US" sz="1500" b="1" dirty="0">
                <a:solidFill>
                  <a:srgbClr val="2B2350"/>
                </a:solidFill>
                <a:latin typeface="Arial" pitchFamily="34" charset="0"/>
                <a:ea typeface="Arial" pitchFamily="34" charset="-122"/>
                <a:cs typeface="Arial" pitchFamily="34" charset="-120"/>
              </a:rPr>
              <a:t>5(x + 3) = 5x + 3</a:t>
            </a:r>
            <a:endParaRPr lang="en-US" sz="1500" dirty="0"/>
          </a:p>
        </p:txBody>
      </p:sp>
      <p:sp>
        <p:nvSpPr>
          <p:cNvPr id="7" name="sm0_a"/>
          <p:cNvSpPr/>
          <p:nvPr/>
        </p:nvSpPr>
        <p:spPr>
          <a:xfrm>
            <a:off x="4352544" y="1572768"/>
            <a:ext cx="4379976" cy="713232"/>
          </a:xfrm>
          <a:prstGeom prst="roundRect">
            <a:avLst>
              <a:gd name="adj" fmla="val 8974"/>
            </a:avLst>
          </a:prstGeom>
          <a:solidFill>
            <a:srgbClr val="FDEEDC"/>
          </a:solidFill>
          <a:ln w="16510">
            <a:solidFill>
              <a:srgbClr val="EC6B58"/>
            </a:solidFill>
          </a:ln>
        </p:spPr>
        <p:txBody>
          <a:bodyPr wrap="square" lIns="1524" tIns="1524" rIns="1524" bIns="1524" rtlCol="0" anchor="ctr"/>
          <a:lstStyle/>
          <a:p>
            <a:pPr algn="l" indent="0" marL="0">
              <a:lnSpc>
                <a:spcPts val="1500"/>
              </a:lnSpc>
              <a:buNone/>
            </a:pPr>
            <a:r>
              <a:rPr lang="en-US" sz="1200" b="1" dirty="0">
                <a:solidFill>
                  <a:srgbClr val="2B2350"/>
                </a:solidFill>
                <a:latin typeface="Arial" pitchFamily="34" charset="0"/>
                <a:ea typeface="Arial" pitchFamily="34" charset="-122"/>
                <a:cs typeface="Arial" pitchFamily="34" charset="-120"/>
              </a:rPr>
              <a:t>5x + 15. The 5 only multiplied the x. It multiplies every term inside.</a:t>
            </a:r>
            <a:endParaRPr lang="en-US" sz="1200" dirty="0"/>
          </a:p>
        </p:txBody>
      </p:sp>
      <p:sp>
        <p:nvSpPr>
          <p:cNvPr id="8" name="sm1_s"/>
          <p:cNvSpPr/>
          <p:nvPr/>
        </p:nvSpPr>
        <p:spPr>
          <a:xfrm>
            <a:off x="777240" y="2386584"/>
            <a:ext cx="3429000" cy="713232"/>
          </a:xfrm>
          <a:prstGeom prst="roundRect">
            <a:avLst>
              <a:gd name="adj" fmla="val 8974"/>
            </a:avLst>
          </a:prstGeom>
          <a:solidFill>
            <a:srgbClr val="F2F0F8"/>
          </a:solidFill>
          <a:ln>
            <a:solidFill>
              <a:srgbClr val="F2F0F8"/>
            </a:solidFill>
          </a:ln>
        </p:spPr>
        <p:txBody>
          <a:bodyPr wrap="square" lIns="1778" tIns="1778" rIns="1778" bIns="1778" rtlCol="0" anchor="ctr"/>
          <a:lstStyle/>
          <a:p>
            <a:pPr algn="l" indent="0" marL="0">
              <a:buNone/>
            </a:pPr>
            <a:r>
              <a:rPr lang="en-US" sz="1500" b="1" dirty="0">
                <a:solidFill>
                  <a:srgbClr val="2B2350"/>
                </a:solidFill>
                <a:latin typeface="Arial" pitchFamily="34" charset="0"/>
                <a:ea typeface="Arial" pitchFamily="34" charset="-122"/>
                <a:cs typeface="Arial" pitchFamily="34" charset="-120"/>
              </a:rPr>
              <a:t>−3(x − 4) = −3x − 12</a:t>
            </a:r>
            <a:endParaRPr lang="en-US" sz="1500" dirty="0"/>
          </a:p>
        </p:txBody>
      </p:sp>
      <p:sp>
        <p:nvSpPr>
          <p:cNvPr id="9" name="sm1_a"/>
          <p:cNvSpPr/>
          <p:nvPr/>
        </p:nvSpPr>
        <p:spPr>
          <a:xfrm>
            <a:off x="4352544" y="2386584"/>
            <a:ext cx="4379976" cy="713232"/>
          </a:xfrm>
          <a:prstGeom prst="roundRect">
            <a:avLst>
              <a:gd name="adj" fmla="val 8974"/>
            </a:avLst>
          </a:prstGeom>
          <a:solidFill>
            <a:srgbClr val="FDEEDC"/>
          </a:solidFill>
          <a:ln w="16510">
            <a:solidFill>
              <a:srgbClr val="EC6B58"/>
            </a:solidFill>
          </a:ln>
        </p:spPr>
        <p:txBody>
          <a:bodyPr wrap="square" lIns="1524" tIns="1524" rIns="1524" bIns="1524" rtlCol="0" anchor="ctr"/>
          <a:lstStyle/>
          <a:p>
            <a:pPr algn="l" indent="0" marL="0">
              <a:lnSpc>
                <a:spcPts val="1500"/>
              </a:lnSpc>
              <a:buNone/>
            </a:pPr>
            <a:r>
              <a:rPr lang="en-US" sz="1200" b="1" dirty="0">
                <a:solidFill>
                  <a:srgbClr val="2B2350"/>
                </a:solidFill>
                <a:latin typeface="Arial" pitchFamily="34" charset="0"/>
                <a:ea typeface="Arial" pitchFamily="34" charset="-122"/>
                <a:cs typeface="Arial" pitchFamily="34" charset="-120"/>
              </a:rPr>
              <a:t>−3x + 12. −3 × (−4) = +12. A negative times a negative is a positive.</a:t>
            </a:r>
            <a:endParaRPr lang="en-US" sz="1200" dirty="0"/>
          </a:p>
        </p:txBody>
      </p:sp>
      <p:sp>
        <p:nvSpPr>
          <p:cNvPr id="10" name="sm2_s"/>
          <p:cNvSpPr/>
          <p:nvPr/>
        </p:nvSpPr>
        <p:spPr>
          <a:xfrm>
            <a:off x="777240" y="3200400"/>
            <a:ext cx="3429000" cy="713232"/>
          </a:xfrm>
          <a:prstGeom prst="roundRect">
            <a:avLst>
              <a:gd name="adj" fmla="val 8974"/>
            </a:avLst>
          </a:prstGeom>
          <a:solidFill>
            <a:srgbClr val="F2F0F8"/>
          </a:solidFill>
          <a:ln>
            <a:solidFill>
              <a:srgbClr val="F2F0F8"/>
            </a:solidFill>
          </a:ln>
        </p:spPr>
        <p:txBody>
          <a:bodyPr wrap="square" lIns="1778" tIns="1778" rIns="1778" bIns="1778" rtlCol="0" anchor="ctr"/>
          <a:lstStyle/>
          <a:p>
            <a:pPr algn="l" indent="0" marL="0">
              <a:buNone/>
            </a:pPr>
            <a:r>
              <a:rPr lang="en-US" sz="1500" b="1" dirty="0">
                <a:solidFill>
                  <a:srgbClr val="2B2350"/>
                </a:solidFill>
                <a:latin typeface="Arial" pitchFamily="34" charset="0"/>
                <a:ea typeface="Arial" pitchFamily="34" charset="-122"/>
                <a:cs typeface="Arial" pitchFamily="34" charset="-120"/>
              </a:rPr>
              <a:t>2(x + 5) + 3(x − 1) = 5x + 7</a:t>
            </a:r>
            <a:endParaRPr lang="en-US" sz="1500" dirty="0"/>
          </a:p>
        </p:txBody>
      </p:sp>
      <p:sp>
        <p:nvSpPr>
          <p:cNvPr id="11" name="sm2_a"/>
          <p:cNvSpPr/>
          <p:nvPr/>
        </p:nvSpPr>
        <p:spPr>
          <a:xfrm>
            <a:off x="4352544" y="3200400"/>
            <a:ext cx="4379976" cy="713232"/>
          </a:xfrm>
          <a:prstGeom prst="roundRect">
            <a:avLst>
              <a:gd name="adj" fmla="val 8974"/>
            </a:avLst>
          </a:prstGeom>
          <a:solidFill>
            <a:srgbClr val="EAF6EF"/>
          </a:solidFill>
          <a:ln w="16510">
            <a:solidFill>
              <a:srgbClr val="2E8B57"/>
            </a:solidFill>
          </a:ln>
        </p:spPr>
        <p:txBody>
          <a:bodyPr wrap="square" lIns="1524" tIns="1524" rIns="1524" bIns="1524" rtlCol="0" anchor="ctr"/>
          <a:lstStyle/>
          <a:p>
            <a:pPr algn="l" indent="0" marL="0">
              <a:lnSpc>
                <a:spcPts val="1500"/>
              </a:lnSpc>
              <a:buNone/>
            </a:pPr>
            <a:r>
              <a:rPr lang="en-US" sz="1200" b="1" dirty="0">
                <a:solidFill>
                  <a:srgbClr val="2B2350"/>
                </a:solidFill>
                <a:latin typeface="Arial" pitchFamily="34" charset="0"/>
                <a:ea typeface="Arial" pitchFamily="34" charset="-122"/>
                <a:cs typeface="Arial" pitchFamily="34" charset="-120"/>
              </a:rPr>
              <a:t>Correct. 2x + 10 + 3x − 3 = 5x + 7.</a:t>
            </a:r>
            <a:endParaRPr lang="en-US" sz="1200" dirty="0"/>
          </a:p>
        </p:txBody>
      </p:sp>
      <p:sp>
        <p:nvSpPr>
          <p:cNvPr id="12" name="sm3_s"/>
          <p:cNvSpPr/>
          <p:nvPr/>
        </p:nvSpPr>
        <p:spPr>
          <a:xfrm>
            <a:off x="777240" y="4014216"/>
            <a:ext cx="3429000" cy="713232"/>
          </a:xfrm>
          <a:prstGeom prst="roundRect">
            <a:avLst>
              <a:gd name="adj" fmla="val 8974"/>
            </a:avLst>
          </a:prstGeom>
          <a:solidFill>
            <a:srgbClr val="F2F0F8"/>
          </a:solidFill>
          <a:ln>
            <a:solidFill>
              <a:srgbClr val="F2F0F8"/>
            </a:solidFill>
          </a:ln>
        </p:spPr>
        <p:txBody>
          <a:bodyPr wrap="square" lIns="1778" tIns="1778" rIns="1778" bIns="1778" rtlCol="0" anchor="ctr"/>
          <a:lstStyle/>
          <a:p>
            <a:pPr algn="l" indent="0" marL="0">
              <a:buNone/>
            </a:pPr>
            <a:r>
              <a:rPr lang="en-US" sz="1500" b="1" dirty="0">
                <a:solidFill>
                  <a:srgbClr val="2B2350"/>
                </a:solidFill>
                <a:latin typeface="Arial" pitchFamily="34" charset="0"/>
                <a:ea typeface="Arial" pitchFamily="34" charset="-122"/>
                <a:cs typeface="Arial" pitchFamily="34" charset="-120"/>
              </a:rPr>
              <a:t>4(x + 1) + 3(x + 2) = 7x + 6</a:t>
            </a:r>
            <a:endParaRPr lang="en-US" sz="1500" dirty="0"/>
          </a:p>
        </p:txBody>
      </p:sp>
      <p:sp>
        <p:nvSpPr>
          <p:cNvPr id="13" name="sm3_a"/>
          <p:cNvSpPr/>
          <p:nvPr/>
        </p:nvSpPr>
        <p:spPr>
          <a:xfrm>
            <a:off x="4352544" y="4014216"/>
            <a:ext cx="4379976" cy="713232"/>
          </a:xfrm>
          <a:prstGeom prst="roundRect">
            <a:avLst>
              <a:gd name="adj" fmla="val 8974"/>
            </a:avLst>
          </a:prstGeom>
          <a:solidFill>
            <a:srgbClr val="FDEEDC"/>
          </a:solidFill>
          <a:ln w="16510">
            <a:solidFill>
              <a:srgbClr val="EC6B58"/>
            </a:solidFill>
          </a:ln>
        </p:spPr>
        <p:txBody>
          <a:bodyPr wrap="square" lIns="1524" tIns="1524" rIns="1524" bIns="1524" rtlCol="0" anchor="ctr"/>
          <a:lstStyle/>
          <a:p>
            <a:pPr algn="l" indent="0" marL="0">
              <a:lnSpc>
                <a:spcPts val="1500"/>
              </a:lnSpc>
              <a:buNone/>
            </a:pPr>
            <a:r>
              <a:rPr lang="en-US" sz="1200" b="1" dirty="0">
                <a:solidFill>
                  <a:srgbClr val="2B2350"/>
                </a:solidFill>
                <a:latin typeface="Arial" pitchFamily="34" charset="0"/>
                <a:ea typeface="Arial" pitchFamily="34" charset="-122"/>
                <a:cs typeface="Arial" pitchFamily="34" charset="-120"/>
              </a:rPr>
              <a:t>7x + 10. The 3 multiplied the x but not the 2: 3 × 2 = 6, and 4 + 6 = 10.</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wipe(right)">
                                      <p:cBhvr>
                                        <p:cTn id="4"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wipe(right)">
                                      <p:cBhvr>
                                        <p:cTn id="9" dur="400"/>
                                        <p:tgtEl>
                                          <p:spTgt spid="9"/>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right)">
                                      <p:cBhvr>
                                        <p:cTn id="14" dur="4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right)">
                                      <p:cBhvr>
                                        <p:cTn id="19"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870862"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COLD CALL · 6 MIN</a:t>
            </a:r>
            <a:endParaRPr lang="en-US" sz="900" dirty="0"/>
          </a:p>
        </p:txBody>
      </p:sp>
      <p:sp>
        <p:nvSpPr>
          <p:cNvPr id="4" name="c0_bg"/>
          <p:cNvSpPr/>
          <p:nvPr/>
        </p:nvSpPr>
        <p:spPr>
          <a:xfrm>
            <a:off x="777240" y="786384"/>
            <a:ext cx="3867912" cy="1316736"/>
          </a:xfrm>
          <a:prstGeom prst="roundRect">
            <a:avLst>
              <a:gd name="adj" fmla="val 4167"/>
            </a:avLst>
          </a:prstGeom>
          <a:solidFill>
            <a:srgbClr val="F2F0F8"/>
          </a:solidFill>
          <a:ln w="12700">
            <a:solidFill>
              <a:srgbClr val="F2F0F8"/>
            </a:solidFill>
            <a:prstDash val="solid"/>
          </a:ln>
        </p:spPr>
      </p:sp>
      <p:sp>
        <p:nvSpPr>
          <p:cNvPr id="5" name="c0_n"/>
          <p:cNvSpPr txBox="1"/>
          <p:nvPr/>
        </p:nvSpPr>
        <p:spPr>
          <a:xfrm>
            <a:off x="941832" y="105156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1</a:t>
            </a:r>
            <a:endParaRPr lang="en-US" sz="2000" dirty="0"/>
          </a:p>
        </p:txBody>
      </p:sp>
      <p:sp>
        <p:nvSpPr>
          <p:cNvPr id="6" name="c0_q"/>
          <p:cNvSpPr txBox="1"/>
          <p:nvPr/>
        </p:nvSpPr>
        <p:spPr>
          <a:xfrm>
            <a:off x="1380744" y="859536"/>
            <a:ext cx="3081528" cy="768096"/>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Find y when y = 3(x + 4) and x = 5.</a:t>
            </a:r>
            <a:endParaRPr lang="en-US" sz="1300" dirty="0"/>
          </a:p>
        </p:txBody>
      </p:sp>
      <p:sp>
        <p:nvSpPr>
          <p:cNvPr id="7" name="c0_a"/>
          <p:cNvSpPr/>
          <p:nvPr/>
        </p:nvSpPr>
        <p:spPr>
          <a:xfrm>
            <a:off x="941832" y="1627632"/>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3 × (5 + 4) = 27</a:t>
            </a:r>
            <a:endParaRPr lang="en-US" sz="1150" dirty="0"/>
          </a:p>
        </p:txBody>
      </p:sp>
      <p:sp>
        <p:nvSpPr>
          <p:cNvPr id="8" name="c1_bg"/>
          <p:cNvSpPr/>
          <p:nvPr/>
        </p:nvSpPr>
        <p:spPr>
          <a:xfrm>
            <a:off x="4864608" y="786384"/>
            <a:ext cx="3867912" cy="1316736"/>
          </a:xfrm>
          <a:prstGeom prst="roundRect">
            <a:avLst>
              <a:gd name="adj" fmla="val 4167"/>
            </a:avLst>
          </a:prstGeom>
          <a:solidFill>
            <a:srgbClr val="F2F0F8"/>
          </a:solidFill>
          <a:ln w="12700">
            <a:solidFill>
              <a:srgbClr val="F2F0F8"/>
            </a:solidFill>
            <a:prstDash val="solid"/>
          </a:ln>
        </p:spPr>
      </p:sp>
      <p:sp>
        <p:nvSpPr>
          <p:cNvPr id="9" name="c1_n"/>
          <p:cNvSpPr txBox="1"/>
          <p:nvPr/>
        </p:nvSpPr>
        <p:spPr>
          <a:xfrm>
            <a:off x="5029200" y="105156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2</a:t>
            </a:r>
            <a:endParaRPr lang="en-US" sz="2000" dirty="0"/>
          </a:p>
        </p:txBody>
      </p:sp>
      <p:sp>
        <p:nvSpPr>
          <p:cNvPr id="10" name="c1_q"/>
          <p:cNvSpPr txBox="1"/>
          <p:nvPr/>
        </p:nvSpPr>
        <p:spPr>
          <a:xfrm>
            <a:off x="5468112" y="859536"/>
            <a:ext cx="3081528" cy="768096"/>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x goes up by 2 and y goes up by 8. State the multiplier.</a:t>
            </a:r>
            <a:endParaRPr lang="en-US" sz="1300" dirty="0"/>
          </a:p>
        </p:txBody>
      </p:sp>
      <p:sp>
        <p:nvSpPr>
          <p:cNvPr id="11" name="c1_a"/>
          <p:cNvSpPr/>
          <p:nvPr/>
        </p:nvSpPr>
        <p:spPr>
          <a:xfrm>
            <a:off x="5029200" y="1627632"/>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8 ÷ 2 = 4</a:t>
            </a:r>
            <a:endParaRPr lang="en-US" sz="1150" dirty="0"/>
          </a:p>
        </p:txBody>
      </p:sp>
      <p:sp>
        <p:nvSpPr>
          <p:cNvPr id="12" name="c2_bg"/>
          <p:cNvSpPr/>
          <p:nvPr/>
        </p:nvSpPr>
        <p:spPr>
          <a:xfrm>
            <a:off x="777240" y="2194560"/>
            <a:ext cx="3867912" cy="1316736"/>
          </a:xfrm>
          <a:prstGeom prst="roundRect">
            <a:avLst>
              <a:gd name="adj" fmla="val 4167"/>
            </a:avLst>
          </a:prstGeom>
          <a:solidFill>
            <a:srgbClr val="F2F0F8"/>
          </a:solidFill>
          <a:ln w="12700">
            <a:solidFill>
              <a:srgbClr val="F2F0F8"/>
            </a:solidFill>
            <a:prstDash val="solid"/>
          </a:ln>
        </p:spPr>
      </p:sp>
      <p:sp>
        <p:nvSpPr>
          <p:cNvPr id="13" name="c2_n"/>
          <p:cNvSpPr txBox="1"/>
          <p:nvPr/>
        </p:nvSpPr>
        <p:spPr>
          <a:xfrm>
            <a:off x="941832" y="2459736"/>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3</a:t>
            </a:r>
            <a:endParaRPr lang="en-US" sz="2000" dirty="0"/>
          </a:p>
        </p:txBody>
      </p:sp>
      <p:sp>
        <p:nvSpPr>
          <p:cNvPr id="14" name="c2_q"/>
          <p:cNvSpPr txBox="1"/>
          <p:nvPr/>
        </p:nvSpPr>
        <p:spPr>
          <a:xfrm>
            <a:off x="1380744" y="2267712"/>
            <a:ext cx="3081528" cy="768096"/>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Expand −3(x + 7).</a:t>
            </a:r>
            <a:endParaRPr lang="en-US" sz="1300" dirty="0"/>
          </a:p>
        </p:txBody>
      </p:sp>
      <p:sp>
        <p:nvSpPr>
          <p:cNvPr id="15" name="c2_a"/>
          <p:cNvSpPr/>
          <p:nvPr/>
        </p:nvSpPr>
        <p:spPr>
          <a:xfrm>
            <a:off x="941832" y="3035808"/>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−3x − 21</a:t>
            </a:r>
            <a:endParaRPr lang="en-US" sz="1150" dirty="0"/>
          </a:p>
        </p:txBody>
      </p:sp>
      <p:sp>
        <p:nvSpPr>
          <p:cNvPr id="16" name="c3_bg"/>
          <p:cNvSpPr/>
          <p:nvPr/>
        </p:nvSpPr>
        <p:spPr>
          <a:xfrm>
            <a:off x="4864608" y="2194560"/>
            <a:ext cx="3867912" cy="1316736"/>
          </a:xfrm>
          <a:prstGeom prst="roundRect">
            <a:avLst>
              <a:gd name="adj" fmla="val 4167"/>
            </a:avLst>
          </a:prstGeom>
          <a:solidFill>
            <a:srgbClr val="F2F0F8"/>
          </a:solidFill>
          <a:ln w="12700">
            <a:solidFill>
              <a:srgbClr val="F2F0F8"/>
            </a:solidFill>
            <a:prstDash val="solid"/>
          </a:ln>
        </p:spPr>
      </p:sp>
      <p:sp>
        <p:nvSpPr>
          <p:cNvPr id="17" name="c3_n"/>
          <p:cNvSpPr txBox="1"/>
          <p:nvPr/>
        </p:nvSpPr>
        <p:spPr>
          <a:xfrm>
            <a:off x="5029200" y="2459736"/>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4</a:t>
            </a:r>
            <a:endParaRPr lang="en-US" sz="2000" dirty="0"/>
          </a:p>
        </p:txBody>
      </p:sp>
      <p:sp>
        <p:nvSpPr>
          <p:cNvPr id="18" name="c3_q"/>
          <p:cNvSpPr txBox="1"/>
          <p:nvPr/>
        </p:nvSpPr>
        <p:spPr>
          <a:xfrm>
            <a:off x="5468112" y="2267712"/>
            <a:ext cx="3081528" cy="768096"/>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Expand −4(x − 2).</a:t>
            </a:r>
            <a:endParaRPr lang="en-US" sz="1300" dirty="0"/>
          </a:p>
        </p:txBody>
      </p:sp>
      <p:sp>
        <p:nvSpPr>
          <p:cNvPr id="19" name="c3_a"/>
          <p:cNvSpPr/>
          <p:nvPr/>
        </p:nvSpPr>
        <p:spPr>
          <a:xfrm>
            <a:off x="5029200" y="3035808"/>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−4x + 8. −4 × (−2) = +8.</a:t>
            </a:r>
            <a:endParaRPr lang="en-US" sz="1150" dirty="0"/>
          </a:p>
        </p:txBody>
      </p:sp>
      <p:sp>
        <p:nvSpPr>
          <p:cNvPr id="20" name="c4_bg"/>
          <p:cNvSpPr/>
          <p:nvPr/>
        </p:nvSpPr>
        <p:spPr>
          <a:xfrm>
            <a:off x="777240" y="3602736"/>
            <a:ext cx="3867912" cy="1316736"/>
          </a:xfrm>
          <a:prstGeom prst="roundRect">
            <a:avLst>
              <a:gd name="adj" fmla="val 4167"/>
            </a:avLst>
          </a:prstGeom>
          <a:solidFill>
            <a:srgbClr val="F2F0F8"/>
          </a:solidFill>
          <a:ln w="12700">
            <a:solidFill>
              <a:srgbClr val="F2F0F8"/>
            </a:solidFill>
            <a:prstDash val="solid"/>
          </a:ln>
        </p:spPr>
      </p:sp>
      <p:sp>
        <p:nvSpPr>
          <p:cNvPr id="21" name="c4_n"/>
          <p:cNvSpPr txBox="1"/>
          <p:nvPr/>
        </p:nvSpPr>
        <p:spPr>
          <a:xfrm>
            <a:off x="941832" y="3867912"/>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5</a:t>
            </a:r>
            <a:endParaRPr lang="en-US" sz="2000" dirty="0"/>
          </a:p>
        </p:txBody>
      </p:sp>
      <p:sp>
        <p:nvSpPr>
          <p:cNvPr id="22" name="c4_q"/>
          <p:cNvSpPr txBox="1"/>
          <p:nvPr/>
        </p:nvSpPr>
        <p:spPr>
          <a:xfrm>
            <a:off x="1380744" y="3675888"/>
            <a:ext cx="3081528" cy="768096"/>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Expand and simplify 3(x + 2) + 2(x + 5).</a:t>
            </a:r>
            <a:endParaRPr lang="en-US" sz="1300" dirty="0"/>
          </a:p>
        </p:txBody>
      </p:sp>
      <p:sp>
        <p:nvSpPr>
          <p:cNvPr id="23" name="c4_a"/>
          <p:cNvSpPr/>
          <p:nvPr/>
        </p:nvSpPr>
        <p:spPr>
          <a:xfrm>
            <a:off x="941832" y="4443984"/>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3x + 6 + 2x + 10 = 5x + 16</a:t>
            </a:r>
            <a:endParaRPr lang="en-US" sz="1150" dirty="0"/>
          </a:p>
        </p:txBody>
      </p:sp>
      <p:sp>
        <p:nvSpPr>
          <p:cNvPr id="24" name="c5_bg"/>
          <p:cNvSpPr/>
          <p:nvPr/>
        </p:nvSpPr>
        <p:spPr>
          <a:xfrm>
            <a:off x="4864608" y="3602736"/>
            <a:ext cx="3867912" cy="1316736"/>
          </a:xfrm>
          <a:prstGeom prst="roundRect">
            <a:avLst>
              <a:gd name="adj" fmla="val 4167"/>
            </a:avLst>
          </a:prstGeom>
          <a:solidFill>
            <a:srgbClr val="F2F0F8"/>
          </a:solidFill>
          <a:ln w="12700">
            <a:solidFill>
              <a:srgbClr val="F2F0F8"/>
            </a:solidFill>
            <a:prstDash val="solid"/>
          </a:ln>
        </p:spPr>
      </p:sp>
      <p:sp>
        <p:nvSpPr>
          <p:cNvPr id="25" name="c5_n"/>
          <p:cNvSpPr txBox="1"/>
          <p:nvPr/>
        </p:nvSpPr>
        <p:spPr>
          <a:xfrm>
            <a:off x="5029200" y="3867912"/>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6</a:t>
            </a:r>
            <a:endParaRPr lang="en-US" sz="2000" dirty="0"/>
          </a:p>
        </p:txBody>
      </p:sp>
      <p:sp>
        <p:nvSpPr>
          <p:cNvPr id="26" name="c5_q"/>
          <p:cNvSpPr txBox="1"/>
          <p:nvPr/>
        </p:nvSpPr>
        <p:spPr>
          <a:xfrm>
            <a:off x="5468112" y="3675888"/>
            <a:ext cx="3081528" cy="768096"/>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Expand and simplify 2(x + 4) + 5(x − 3).</a:t>
            </a:r>
            <a:endParaRPr lang="en-US" sz="1300" dirty="0"/>
          </a:p>
        </p:txBody>
      </p:sp>
      <p:sp>
        <p:nvSpPr>
          <p:cNvPr id="27" name="c5_a"/>
          <p:cNvSpPr/>
          <p:nvPr/>
        </p:nvSpPr>
        <p:spPr>
          <a:xfrm>
            <a:off x="5029200" y="4443984"/>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150" b="1" dirty="0">
                <a:solidFill>
                  <a:srgbClr val="2B2350"/>
                </a:solidFill>
                <a:latin typeface="Arial" pitchFamily="34" charset="0"/>
                <a:ea typeface="Arial" pitchFamily="34" charset="-122"/>
                <a:cs typeface="Arial" pitchFamily="34" charset="-120"/>
              </a:rPr>
              <a:t>2x + 8 + 5x − 15 = 7x − 7</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wipe(right)">
                                      <p:cBhvr>
                                        <p:cTn id="4"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wipe(right)">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right)">
                                      <p:cBhvr>
                                        <p:cTn id="14" dur="4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right)">
                                      <p:cBhvr>
                                        <p:cTn id="19" dur="4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right)">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right)">
                                      <p:cBhvr>
                                        <p:cTn id="2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33" fill="hold" display="0">
                  <p:stCondLst>
                    <p:cond delay="0"/>
                  </p:stCondLst>
                  <p:endCondLst>
                    <p:cond evt="onStopAudio" delay="0">
                      <p:tgtEl>
                        <p:sldTgt/>
                      </p:tgtEl>
                    </p:cond>
                  </p:end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691640"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YOU DO · 16 MIN</a:t>
            </a:r>
            <a:endParaRPr lang="en-US" sz="900" dirty="0"/>
          </a:p>
        </p:txBody>
      </p:sp>
      <p:pic>
        <p:nvPicPr>
          <p:cNvPr id="4" name="gc_logo" descr="/Users/chukanwobodo/Desktop/lesson-toolkit/assets/classroom.png">    </p:cNvPr>
          <p:cNvPicPr>
            <a:picLocks noChangeAspect="1"/>
          </p:cNvPicPr>
          <p:nvPr/>
        </p:nvPicPr>
        <p:blipFill>
          <a:blip r:embed="rId4">
            <a:alphaModFix amt="38000"/>
          </a:blip>
          <a:stretch>
            <a:fillRect/>
          </a:stretch>
        </p:blipFill>
        <p:spPr>
          <a:xfrm>
            <a:off x="7589520" y="603504"/>
            <a:ext cx="1143000" cy="987552"/>
          </a:xfrm>
          <a:prstGeom prst="rect">
            <a:avLst/>
          </a:prstGeom>
        </p:spPr>
      </p:pic>
      <p:sp>
        <p:nvSpPr>
          <p:cNvPr id="5" name="slide_title"/>
          <p:cNvSpPr txBox="1"/>
          <p:nvPr/>
        </p:nvSpPr>
        <p:spPr>
          <a:xfrm>
            <a:off x="777240" y="658368"/>
            <a:ext cx="6629400" cy="640080"/>
          </a:xfrm>
          <a:prstGeom prst="rect">
            <a:avLst/>
          </a:prstGeom>
          <a:noFill/>
          <a:ln/>
        </p:spPr>
        <p:txBody>
          <a:bodyPr wrap="square" lIns="0" tIns="0" rIns="0" bIns="0" rtlCol="0" anchor="ctr"/>
          <a:lstStyle/>
          <a:p>
            <a:pPr indent="0" marL="0">
              <a:buNone/>
            </a:pPr>
            <a:r>
              <a:rPr lang="en-US" sz="2500" b="1" dirty="0">
                <a:solidFill>
                  <a:srgbClr val="2B2350"/>
                </a:solidFill>
                <a:latin typeface="Georgia" pitchFamily="34" charset="0"/>
                <a:ea typeface="Georgia" pitchFamily="34" charset="-122"/>
                <a:cs typeface="Georgia" pitchFamily="34" charset="-120"/>
              </a:rPr>
              <a:t>Brackets and Beyond worksheet, part 1</a:t>
            </a:r>
            <a:endParaRPr lang="en-US" sz="2500" dirty="0"/>
          </a:p>
        </p:txBody>
      </p:sp>
      <p:sp>
        <p:nvSpPr>
          <p:cNvPr id="6" name="slide_sub"/>
          <p:cNvSpPr txBox="1"/>
          <p:nvPr/>
        </p:nvSpPr>
        <p:spPr>
          <a:xfrm>
            <a:off x="777240" y="1316736"/>
            <a:ext cx="6629400" cy="27432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Open Google Classroom now.</a:t>
            </a:r>
            <a:endParaRPr lang="en-US" sz="1300" dirty="0"/>
          </a:p>
        </p:txBody>
      </p:sp>
      <p:grpSp>
        <p:nvGrpSpPr>
          <p:cNvPr id="20" name="t0"/>
          <p:cNvGrpSpPr/>
          <p:nvPr/>
        </p:nvGrpSpPr>
        <p:grpSpPr>
          <a:xfrm>
            <a:off x="777240" y="1847088"/>
            <a:ext cx="2505456" cy="1700784"/>
            <a:chOff x="777240" y="1847088"/>
            <a:chExt cx="2505456" cy="1700784"/>
          </a:xfrm>
        </p:grpSpPr>
        <p:sp>
          <p:nvSpPr>
            <p:cNvPr id="7" name="t0_bg"/>
            <p:cNvSpPr/>
            <p:nvPr/>
          </p:nvSpPr>
          <p:spPr>
            <a:xfrm>
              <a:off x="777240" y="1847088"/>
              <a:ext cx="2505456" cy="1700784"/>
            </a:xfrm>
            <a:prstGeom prst="roundRect">
              <a:avLst>
                <a:gd name="adj" fmla="val 3226"/>
              </a:avLst>
            </a:prstGeom>
            <a:solidFill>
              <a:srgbClr val="EEEAF8"/>
            </a:solidFill>
            <a:ln w="17780">
              <a:solidFill>
                <a:srgbClr val="EC6B58"/>
              </a:solidFill>
              <a:prstDash val="solid"/>
            </a:ln>
          </p:spPr>
        </p:sp>
        <p:sp>
          <p:nvSpPr>
            <p:cNvPr id="8" name="t0_h"/>
            <p:cNvSpPr txBox="1"/>
            <p:nvPr/>
          </p:nvSpPr>
          <p:spPr>
            <a:xfrm>
              <a:off x="960120"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BRONZE</a:t>
              </a:r>
              <a:endParaRPr lang="en-US" sz="1100" dirty="0"/>
            </a:p>
          </p:txBody>
        </p:sp>
        <p:sp>
          <p:nvSpPr>
            <p:cNvPr id="9" name="t0_s"/>
            <p:cNvSpPr txBox="1"/>
            <p:nvPr/>
          </p:nvSpPr>
          <p:spPr>
            <a:xfrm>
              <a:off x="960120"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Expand it</a:t>
              </a:r>
              <a:endParaRPr lang="en-US" sz="1500" dirty="0"/>
            </a:p>
          </p:txBody>
        </p:sp>
        <p:sp>
          <p:nvSpPr>
            <p:cNvPr id="10" name="t0_b"/>
            <p:cNvSpPr txBox="1"/>
            <p:nvPr/>
          </p:nvSpPr>
          <p:spPr>
            <a:xfrm>
              <a:off x="960120"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One bracket, then two. Signs included. Read the worked example, finish the half-worked one, then do your own.</a:t>
              </a:r>
              <a:endParaRPr lang="en-US" sz="1150" dirty="0"/>
            </a:p>
          </p:txBody>
        </p:sp>
      </p:grpSp>
      <p:grpSp>
        <p:nvGrpSpPr>
          <p:cNvPr id="21" name="t1"/>
          <p:cNvGrpSpPr/>
          <p:nvPr/>
        </p:nvGrpSpPr>
        <p:grpSpPr>
          <a:xfrm>
            <a:off x="3502152" y="1847088"/>
            <a:ext cx="2505456" cy="1700784"/>
            <a:chOff x="3502152" y="1847088"/>
            <a:chExt cx="2505456" cy="1700784"/>
          </a:xfrm>
        </p:grpSpPr>
        <p:sp>
          <p:nvSpPr>
            <p:cNvPr id="11" name="t1_bg"/>
            <p:cNvSpPr/>
            <p:nvPr/>
          </p:nvSpPr>
          <p:spPr>
            <a:xfrm>
              <a:off x="3502152" y="1847088"/>
              <a:ext cx="2505456" cy="1700784"/>
            </a:xfrm>
            <a:prstGeom prst="roundRect">
              <a:avLst>
                <a:gd name="adj" fmla="val 3226"/>
              </a:avLst>
            </a:prstGeom>
            <a:solidFill>
              <a:srgbClr val="FDF0EE"/>
            </a:solidFill>
            <a:ln w="17780">
              <a:solidFill>
                <a:srgbClr val="EC6B58"/>
              </a:solidFill>
              <a:prstDash val="solid"/>
            </a:ln>
          </p:spPr>
        </p:sp>
        <p:sp>
          <p:nvSpPr>
            <p:cNvPr id="12" name="t1_h"/>
            <p:cNvSpPr txBox="1"/>
            <p:nvPr/>
          </p:nvSpPr>
          <p:spPr>
            <a:xfrm>
              <a:off x="3685032"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SILVER</a:t>
              </a:r>
              <a:endParaRPr lang="en-US" sz="1100" dirty="0"/>
            </a:p>
          </p:txBody>
        </p:sp>
        <p:sp>
          <p:nvSpPr>
            <p:cNvPr id="13" name="t1_s"/>
            <p:cNvSpPr txBox="1"/>
            <p:nvPr/>
          </p:nvSpPr>
          <p:spPr>
            <a:xfrm>
              <a:off x="3685032"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Mix it</a:t>
              </a:r>
              <a:endParaRPr lang="en-US" sz="1500" dirty="0"/>
            </a:p>
          </p:txBody>
        </p:sp>
        <p:sp>
          <p:nvSpPr>
            <p:cNvPr id="14" name="t1_b"/>
            <p:cNvSpPr txBox="1"/>
            <p:nvPr/>
          </p:nvSpPr>
          <p:spPr>
            <a:xfrm>
              <a:off x="3685032"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A negative outside, two brackets, and a check by putting a number in. A “why does that step work?” question.</a:t>
              </a:r>
              <a:endParaRPr lang="en-US" sz="1150" dirty="0"/>
            </a:p>
          </p:txBody>
        </p:sp>
      </p:grpSp>
      <p:grpSp>
        <p:nvGrpSpPr>
          <p:cNvPr id="22" name="t2"/>
          <p:cNvGrpSpPr/>
          <p:nvPr/>
        </p:nvGrpSpPr>
        <p:grpSpPr>
          <a:xfrm>
            <a:off x="6227064" y="1847088"/>
            <a:ext cx="2505456" cy="1700784"/>
            <a:chOff x="6227064" y="1847088"/>
            <a:chExt cx="2505456" cy="1700784"/>
          </a:xfrm>
        </p:grpSpPr>
        <p:sp>
          <p:nvSpPr>
            <p:cNvPr id="15" name="t2_bg"/>
            <p:cNvSpPr/>
            <p:nvPr/>
          </p:nvSpPr>
          <p:spPr>
            <a:xfrm>
              <a:off x="6227064" y="1847088"/>
              <a:ext cx="2505456" cy="1700784"/>
            </a:xfrm>
            <a:prstGeom prst="roundRect">
              <a:avLst>
                <a:gd name="adj" fmla="val 3226"/>
              </a:avLst>
            </a:prstGeom>
            <a:solidFill>
              <a:srgbClr val="F6D9D4"/>
            </a:solidFill>
            <a:ln w="17780">
              <a:solidFill>
                <a:srgbClr val="EC6B58"/>
              </a:solidFill>
              <a:prstDash val="solid"/>
            </a:ln>
          </p:spPr>
        </p:sp>
        <p:sp>
          <p:nvSpPr>
            <p:cNvPr id="16" name="t2_h"/>
            <p:cNvSpPr txBox="1"/>
            <p:nvPr/>
          </p:nvSpPr>
          <p:spPr>
            <a:xfrm>
              <a:off x="6409944"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GOLD</a:t>
              </a:r>
              <a:endParaRPr lang="en-US" sz="1100" dirty="0"/>
            </a:p>
          </p:txBody>
        </p:sp>
        <p:sp>
          <p:nvSpPr>
            <p:cNvPr id="17" name="t2_s"/>
            <p:cNvSpPr txBox="1"/>
            <p:nvPr/>
          </p:nvSpPr>
          <p:spPr>
            <a:xfrm>
              <a:off x="6409944"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Stretch it</a:t>
              </a:r>
              <a:endParaRPr lang="en-US" sz="1500" dirty="0"/>
            </a:p>
          </p:txBody>
        </p:sp>
        <p:sp>
          <p:nvSpPr>
            <p:cNvPr id="18" name="t2_b"/>
            <p:cNvSpPr txBox="1"/>
            <p:nvPr/>
          </p:nvSpPr>
          <p:spPr>
            <a:xfrm>
              <a:off x="6409944"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A letter outside the bracket, such as x(x + 4). Then reasoning, and where you would meet this.</a:t>
              </a:r>
              <a:endParaRPr lang="en-US" sz="1150" dirty="0"/>
            </a:p>
          </p:txBody>
        </p:sp>
      </p:grpSp>
      <p:sp>
        <p:nvSpPr>
          <p:cNvPr id="19" name="yd_note"/>
          <p:cNvSpPr txBox="1"/>
          <p:nvPr/>
        </p:nvSpPr>
        <p:spPr>
          <a:xfrm>
            <a:off x="777240" y="3767328"/>
            <a:ext cx="7955280" cy="566928"/>
          </a:xfrm>
          <a:prstGeom prst="rect">
            <a:avLst/>
          </a:prstGeom>
          <a:noFill/>
          <a:ln/>
        </p:spPr>
        <p:txBody>
          <a:bodyPr wrap="square" lIns="0" tIns="0" rIns="0" bIns="0" rtlCol="0" anchor="ctr"/>
          <a:lstStyle/>
          <a:p>
            <a:pPr indent="0" marL="0">
              <a:buNone/>
            </a:pPr>
            <a:r>
              <a:rPr lang="en-US" sz="1250" b="1" dirty="0">
                <a:solidFill>
                  <a:srgbClr val="2B2350"/>
                </a:solidFill>
                <a:latin typeface="Arial" pitchFamily="34" charset="0"/>
                <a:ea typeface="Arial" pitchFamily="34" charset="-122"/>
                <a:cs typeface="Arial" pitchFamily="34" charset="-120"/>
              </a:rPr>
              <a:t>Choose a tier. Part 1 is before the break: stop at the line that says STOP. The questions are mixed on purpose: you have to decide which method each one needs.</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0"/>
                                        </p:tgtEl>
                                        <p:attrNameLst>
                                          <p:attrName>style.visibility</p:attrName>
                                        </p:attrNameLst>
                                      </p:cBhvr>
                                      <p:to>
                                        <p:strVal val="visible"/>
                                      </p:to>
                                    </p:set>
                                    <p:animEffect transition="in" filter="fade">
                                      <p:cBhvr>
                                        <p:cTn id="4"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1"/>
                                        </p:tgtEl>
                                        <p:attrNameLst>
                                          <p:attrName>style.visibility</p:attrName>
                                        </p:attrNameLst>
                                      </p:cBhvr>
                                      <p:to>
                                        <p:strVal val="visible"/>
                                      </p:to>
                                    </p:set>
                                    <p:animEffect transition="in" filter="fade">
                                      <p:cBhvr>
                                        <p:cTn id="9" dur="4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422806"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MARK · 3 MIN</a:t>
            </a:r>
            <a:endParaRPr lang="en-US" sz="900" dirty="0"/>
          </a:p>
        </p:txBody>
      </p:sp>
      <p:sp>
        <p:nvSpPr>
          <p:cNvPr id="4" name="slide_title"/>
          <p:cNvSpPr txBox="1"/>
          <p:nvPr/>
        </p:nvSpPr>
        <p:spPr>
          <a:xfrm>
            <a:off x="777240" y="676656"/>
            <a:ext cx="7955280" cy="877824"/>
          </a:xfrm>
          <a:prstGeom prst="rect">
            <a:avLst/>
          </a:prstGeom>
          <a:noFill/>
          <a:ln/>
        </p:spPr>
        <p:txBody>
          <a:bodyPr wrap="square" lIns="0" tIns="0" rIns="0" bIns="0" rtlCol="0" anchor="ctr"/>
          <a:lstStyle/>
          <a:p>
            <a:pPr indent="0" marL="0">
              <a:lnSpc>
                <a:spcPts val="3200"/>
              </a:lnSpc>
              <a:buNone/>
            </a:pPr>
            <a:r>
              <a:rPr lang="en-US" sz="2600" b="1" dirty="0">
                <a:solidFill>
                  <a:srgbClr val="2B2350"/>
                </a:solidFill>
                <a:latin typeface="Georgia" pitchFamily="34" charset="0"/>
                <a:ea typeface="Georgia" pitchFamily="34" charset="-122"/>
                <a:cs typeface="Georgia" pitchFamily="34" charset="-120"/>
              </a:rPr>
              <a:t>Turn to the back. Mark your own in a different colour.</a:t>
            </a:r>
            <a:endParaRPr lang="en-US" sz="2600" dirty="0"/>
          </a:p>
        </p:txBody>
      </p:sp>
      <p:grpSp>
        <p:nvGrpSpPr>
          <p:cNvPr id="8" name="mkc"/>
          <p:cNvGrpSpPr/>
          <p:nvPr/>
        </p:nvGrpSpPr>
        <p:grpSpPr>
          <a:xfrm>
            <a:off x="777240" y="1700784"/>
            <a:ext cx="7955280" cy="2505456"/>
            <a:chOff x="777240" y="1700784"/>
            <a:chExt cx="7955280" cy="2505456"/>
          </a:xfrm>
        </p:grpSpPr>
        <p:sp>
          <p:nvSpPr>
            <p:cNvPr id="5" name="mk_card_bg"/>
            <p:cNvSpPr/>
            <p:nvPr/>
          </p:nvSpPr>
          <p:spPr>
            <a:xfrm>
              <a:off x="777240" y="1700784"/>
              <a:ext cx="7955280" cy="2505456"/>
            </a:xfrm>
            <a:prstGeom prst="roundRect">
              <a:avLst>
                <a:gd name="adj" fmla="val 2190"/>
              </a:avLst>
            </a:prstGeom>
            <a:solidFill>
              <a:srgbClr val="F2F0F8"/>
            </a:solidFill>
            <a:ln w="12700">
              <a:solidFill>
                <a:srgbClr val="F2F0F8"/>
              </a:solidFill>
              <a:prstDash val="solid"/>
            </a:ln>
          </p:spPr>
        </p:sp>
        <p:sp>
          <p:nvSpPr>
            <p:cNvPr id="6" name="mk_card_h"/>
            <p:cNvSpPr txBox="1"/>
            <p:nvPr/>
          </p:nvSpPr>
          <p:spPr>
            <a:xfrm>
              <a:off x="996696" y="1792224"/>
              <a:ext cx="7516368" cy="274320"/>
            </a:xfrm>
            <a:prstGeom prst="rect">
              <a:avLst/>
            </a:prstGeom>
            <a:noFill/>
            <a:ln/>
          </p:spPr>
          <p:txBody>
            <a:bodyPr wrap="square" lIns="0" tIns="0" rIns="0" bIns="0" rtlCol="0" anchor="ctr"/>
            <a:lstStyle/>
            <a:p>
              <a:pPr indent="0" marL="0">
                <a:buNone/>
              </a:pPr>
              <a:r>
                <a:rPr lang="en-US" sz="1100" b="1" spc="120" kern="0" dirty="0">
                  <a:solidFill>
                    <a:srgbClr val="5E5A70"/>
                  </a:solidFill>
                  <a:latin typeface="Arial" pitchFamily="34" charset="0"/>
                  <a:ea typeface="Arial" pitchFamily="34" charset="-122"/>
                  <a:cs typeface="Arial" pitchFamily="34" charset="-120"/>
                </a:rPr>
                <a:t>CHECK YOUR WORK AGAINST THIS</a:t>
              </a:r>
              <a:endParaRPr lang="en-US" sz="1100" dirty="0"/>
            </a:p>
          </p:txBody>
        </p:sp>
        <p:sp>
          <p:nvSpPr>
            <p:cNvPr id="7" name="mk_card_t"/>
            <p:cNvSpPr txBox="1"/>
            <p:nvPr/>
          </p:nvSpPr>
          <p:spPr>
            <a:xfrm>
              <a:off x="996696" y="2121408"/>
              <a:ext cx="7516368" cy="1975104"/>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400" dirty="0">
                  <a:solidFill>
                    <a:srgbClr val="2B2350"/>
                  </a:solidFill>
                  <a:latin typeface="Arial" pitchFamily="34" charset="0"/>
                  <a:ea typeface="Arial" pitchFamily="34" charset="-122"/>
                  <a:cs typeface="Arial" pitchFamily="34" charset="-120"/>
                </a:rPr>
                <a:t>You multiplied EVERY term inside the bracket, not just the first.</a:t>
              </a:r>
              <a:endParaRPr lang="en-US" sz="1400" dirty="0"/>
            </a:p>
            <a:p>
              <a:pPr marL="342900" indent="-342900">
                <a:lnSpc>
                  <a:spcPts val="1900"/>
                </a:lnSpc>
                <a:spcAft>
                  <a:spcPts val="700"/>
                </a:spcAft>
                <a:buSzPct val="100000"/>
                <a:buChar char="•"/>
              </a:pPr>
              <a:r>
                <a:rPr lang="en-US" sz="1400" dirty="0">
                  <a:solidFill>
                    <a:srgbClr val="2B2350"/>
                  </a:solidFill>
                  <a:latin typeface="Arial" pitchFamily="34" charset="0"/>
                  <a:ea typeface="Arial" pitchFamily="34" charset="-122"/>
                  <a:cs typeface="Arial" pitchFamily="34" charset="-120"/>
                </a:rPr>
                <a:t>You took the sign with the term: −3 × (−4) = +12.</a:t>
              </a:r>
              <a:endParaRPr lang="en-US" sz="1400" dirty="0"/>
            </a:p>
            <a:p>
              <a:pPr marL="342900" indent="-342900">
                <a:lnSpc>
                  <a:spcPts val="1900"/>
                </a:lnSpc>
                <a:spcAft>
                  <a:spcPts val="700"/>
                </a:spcAft>
                <a:buSzPct val="100000"/>
                <a:buChar char="•"/>
              </a:pPr>
              <a:r>
                <a:rPr lang="en-US" sz="1400" dirty="0">
                  <a:solidFill>
                    <a:srgbClr val="2B2350"/>
                  </a:solidFill>
                  <a:latin typeface="Arial" pitchFamily="34" charset="0"/>
                  <a:ea typeface="Arial" pitchFamily="34" charset="-122"/>
                  <a:cs typeface="Arial" pitchFamily="34" charset="-120"/>
                </a:rPr>
                <a:t>You expanded first, then collected the like terms.</a:t>
              </a:r>
              <a:endParaRPr lang="en-US" sz="1400" dirty="0"/>
            </a:p>
            <a:p>
              <a:pPr marL="342900" indent="-342900">
                <a:lnSpc>
                  <a:spcPts val="1900"/>
                </a:lnSpc>
                <a:spcAft>
                  <a:spcPts val="700"/>
                </a:spcAft>
                <a:buSzPct val="100000"/>
                <a:buChar char="•"/>
              </a:pPr>
              <a:r>
                <a:rPr lang="en-US" sz="1400" dirty="0">
                  <a:solidFill>
                    <a:srgbClr val="2B2350"/>
                  </a:solidFill>
                  <a:latin typeface="Arial" pitchFamily="34" charset="0"/>
                  <a:ea typeface="Arial" pitchFamily="34" charset="-122"/>
                  <a:cs typeface="Arial" pitchFamily="34" charset="-120"/>
                </a:rPr>
                <a:t>Write the correct answer next to anything wrong. Do not rub it out.</a:t>
              </a:r>
              <a:endParaRPr lang="en-US" sz="14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8" fill="hold" display="0">
                  <p:stCondLst>
                    <p:cond delay="0"/>
                  </p:stCondLst>
                  <p:endCondLst>
                    <p:cond evt="onStopAudio" delay="0">
                      <p:tgtEl>
                        <p:sldTgt/>
                      </p:tgtEl>
                    </p:cond>
                  </p:endCondLst>
                </p:cTn>
                <p:tgtEl>
                  <p:spTgt spid="3"/>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2350"/>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512418" cy="292608"/>
          </a:xfrm>
          <a:prstGeom prst="roundRect">
            <a:avLst>
              <a:gd name="adj" fmla="val 43750"/>
            </a:avLst>
          </a:prstGeom>
          <a:solidFill>
            <a:srgbClr val="EC6B58"/>
          </a:solidFill>
          <a:ln/>
        </p:spPr>
        <p:txBody>
          <a:bodyPr wrap="square" lIns="0" tIns="0" rIns="0" bIns="0" rtlCol="0" anchor="ctr"/>
          <a:lstStyle/>
          <a:p>
            <a:pPr algn="ctr" indent="0" marL="0">
              <a:buNone/>
            </a:pPr>
            <a:r>
              <a:rPr lang="en-US" sz="900" b="1" spc="120" kern="0" dirty="0">
                <a:solidFill>
                  <a:srgbClr val="2B2350"/>
                </a:solidFill>
                <a:latin typeface="Arial" pitchFamily="34" charset="0"/>
                <a:ea typeface="Arial" pitchFamily="34" charset="-122"/>
                <a:cs typeface="Arial" pitchFamily="34" charset="-120"/>
              </a:rPr>
              <a:t>BREAK · 5 MIN</a:t>
            </a:r>
            <a:endParaRPr lang="en-US" sz="900" dirty="0"/>
          </a:p>
        </p:txBody>
      </p:sp>
      <p:sp>
        <p:nvSpPr>
          <p:cNvPr id="4" name="slide_title"/>
          <p:cNvSpPr txBox="1"/>
          <p:nvPr/>
        </p:nvSpPr>
        <p:spPr>
          <a:xfrm>
            <a:off x="777240" y="1188720"/>
            <a:ext cx="7955280" cy="91440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Break</a:t>
            </a:r>
            <a:endParaRPr lang="en-US" sz="5400" dirty="0"/>
          </a:p>
        </p:txBody>
      </p:sp>
      <p:sp>
        <p:nvSpPr>
          <p:cNvPr id="5" name="brk_t"/>
          <p:cNvSpPr txBox="1"/>
          <p:nvPr/>
        </p:nvSpPr>
        <p:spPr>
          <a:xfrm>
            <a:off x="777240" y="2286000"/>
            <a:ext cx="7955280" cy="45720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Back in five minutes. Pens ready, and the worksheet open at part 2.</a:t>
            </a:r>
            <a:endParaRPr lang="en-US" sz="1800" dirty="0"/>
          </a:p>
        </p:txBody>
      </p:sp>
      <p:sp>
        <p:nvSpPr>
          <p:cNvPr id="6" name="brk_next"/>
          <p:cNvSpPr txBox="1"/>
          <p:nvPr/>
        </p:nvSpPr>
        <p:spPr>
          <a:xfrm>
            <a:off x="777240" y="3108960"/>
            <a:ext cx="7955280" cy="457200"/>
          </a:xfrm>
          <a:prstGeom prst="rect">
            <a:avLst/>
          </a:prstGeom>
          <a:noFill/>
          <a:ln/>
        </p:spPr>
        <p:txBody>
          <a:bodyPr wrap="square" lIns="0" tIns="0" rIns="0" bIns="0" rtlCol="0" anchor="ctr"/>
          <a:lstStyle/>
          <a:p>
            <a:pPr indent="0" marL="0">
              <a:buNone/>
            </a:pPr>
            <a:r>
              <a:rPr lang="en-US" sz="1600" b="1" i="1" dirty="0">
                <a:solidFill>
                  <a:srgbClr val="EC6B58"/>
                </a:solidFill>
                <a:latin typeface="Arial" pitchFamily="34" charset="0"/>
                <a:ea typeface="Arial" pitchFamily="34" charset="-122"/>
                <a:cs typeface="Arial" pitchFamily="34" charset="-120"/>
              </a:rPr>
              <a:t>After the break: subtract a bracket without losing a sign.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cTn>
              <p:prevCondLst>
                <p:cond evt="onPrev" delay="0">
                  <p:tgtEl>
                    <p:sldTgt/>
                  </p:tgtEl>
                </p:cond>
              </p:prevCondLst>
              <p:nextCondLst>
                <p:cond evt="onNext" delay="0">
                  <p:tgtEl>
                    <p:sldTgt/>
                  </p:tgtEl>
                </p:cond>
              </p:nextCondLst>
            </p:seq>
            <p:video>
              <p:cMediaNode vol="0">
                <p:cTn id="3" fill="hold" display="0">
                  <p:stCondLst>
                    <p:cond delay="0"/>
                  </p:stCondLst>
                  <p:endCondLst>
                    <p:cond evt="onStopAudio" delay="0">
                      <p:tgtEl>
                        <p:sldTgt/>
                      </p:tgtEl>
                    </p:cond>
                  </p:endCondLst>
                </p:cTn>
                <p:tgtEl>
                  <p:spTgt spid="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870862"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RETRIEVAL · 4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Warm-up</a:t>
            </a:r>
            <a:endParaRPr lang="en-US" sz="2800" dirty="0"/>
          </a:p>
        </p:txBody>
      </p:sp>
      <p:sp>
        <p:nvSpPr>
          <p:cNvPr id="5" name="rt0_bg"/>
          <p:cNvSpPr/>
          <p:nvPr/>
        </p:nvSpPr>
        <p:spPr>
          <a:xfrm>
            <a:off x="777240" y="1389888"/>
            <a:ext cx="3867912" cy="1481328"/>
          </a:xfrm>
          <a:prstGeom prst="roundRect">
            <a:avLst>
              <a:gd name="adj" fmla="val 3704"/>
            </a:avLst>
          </a:prstGeom>
          <a:solidFill>
            <a:srgbClr val="F2F0F8"/>
          </a:solidFill>
          <a:ln w="12700">
            <a:solidFill>
              <a:srgbClr val="F2F0F8"/>
            </a:solidFill>
            <a:prstDash val="solid"/>
          </a:ln>
        </p:spPr>
      </p:sp>
      <p:sp>
        <p:nvSpPr>
          <p:cNvPr id="6" name="rt0_n"/>
          <p:cNvSpPr txBox="1"/>
          <p:nvPr/>
        </p:nvSpPr>
        <p:spPr>
          <a:xfrm>
            <a:off x="941832" y="164592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1</a:t>
            </a:r>
            <a:endParaRPr lang="en-US" sz="2000" dirty="0"/>
          </a:p>
        </p:txBody>
      </p:sp>
      <p:sp>
        <p:nvSpPr>
          <p:cNvPr id="7" name="rt0_q"/>
          <p:cNvSpPr txBox="1"/>
          <p:nvPr/>
        </p:nvSpPr>
        <p:spPr>
          <a:xfrm>
            <a:off x="1380744" y="1463040"/>
            <a:ext cx="3081528" cy="74980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Expand −5(x − 2).</a:t>
            </a:r>
            <a:endParaRPr lang="en-US" sz="1300" dirty="0"/>
          </a:p>
        </p:txBody>
      </p:sp>
      <p:sp>
        <p:nvSpPr>
          <p:cNvPr id="8" name="rt0_a"/>
          <p:cNvSpPr/>
          <p:nvPr/>
        </p:nvSpPr>
        <p:spPr>
          <a:xfrm>
            <a:off x="941832" y="2395728"/>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00" b="1" dirty="0">
                <a:solidFill>
                  <a:srgbClr val="2B2350"/>
                </a:solidFill>
                <a:latin typeface="Arial" pitchFamily="34" charset="0"/>
                <a:ea typeface="Arial" pitchFamily="34" charset="-122"/>
                <a:cs typeface="Arial" pitchFamily="34" charset="-120"/>
              </a:rPr>
              <a:t>−5x + 10</a:t>
            </a:r>
            <a:endParaRPr lang="en-US" sz="1200" dirty="0"/>
          </a:p>
        </p:txBody>
      </p:sp>
      <p:sp>
        <p:nvSpPr>
          <p:cNvPr id="9" name="rt1_bg"/>
          <p:cNvSpPr/>
          <p:nvPr/>
        </p:nvSpPr>
        <p:spPr>
          <a:xfrm>
            <a:off x="4864608" y="1389888"/>
            <a:ext cx="3867912" cy="1481328"/>
          </a:xfrm>
          <a:prstGeom prst="roundRect">
            <a:avLst>
              <a:gd name="adj" fmla="val 3704"/>
            </a:avLst>
          </a:prstGeom>
          <a:solidFill>
            <a:srgbClr val="F2F0F8"/>
          </a:solidFill>
          <a:ln w="12700">
            <a:solidFill>
              <a:srgbClr val="F2F0F8"/>
            </a:solidFill>
            <a:prstDash val="solid"/>
          </a:ln>
        </p:spPr>
      </p:sp>
      <p:sp>
        <p:nvSpPr>
          <p:cNvPr id="10" name="rt1_n"/>
          <p:cNvSpPr txBox="1"/>
          <p:nvPr/>
        </p:nvSpPr>
        <p:spPr>
          <a:xfrm>
            <a:off x="5029200" y="164592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2</a:t>
            </a:r>
            <a:endParaRPr lang="en-US" sz="2000" dirty="0"/>
          </a:p>
        </p:txBody>
      </p:sp>
      <p:sp>
        <p:nvSpPr>
          <p:cNvPr id="11" name="rt1_q"/>
          <p:cNvSpPr txBox="1"/>
          <p:nvPr/>
        </p:nvSpPr>
        <p:spPr>
          <a:xfrm>
            <a:off x="5468112" y="1463040"/>
            <a:ext cx="3081528" cy="74980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Expand and simplify 4(x + 3) + 2(x − 1).</a:t>
            </a:r>
            <a:endParaRPr lang="en-US" sz="1300" dirty="0"/>
          </a:p>
        </p:txBody>
      </p:sp>
      <p:sp>
        <p:nvSpPr>
          <p:cNvPr id="12" name="rt1_a"/>
          <p:cNvSpPr/>
          <p:nvPr/>
        </p:nvSpPr>
        <p:spPr>
          <a:xfrm>
            <a:off x="5029200" y="2395728"/>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00" b="1" dirty="0">
                <a:solidFill>
                  <a:srgbClr val="2B2350"/>
                </a:solidFill>
                <a:latin typeface="Arial" pitchFamily="34" charset="0"/>
                <a:ea typeface="Arial" pitchFamily="34" charset="-122"/>
                <a:cs typeface="Arial" pitchFamily="34" charset="-120"/>
              </a:rPr>
              <a:t>4x + 12 + 2x − 2 = 6x + 10</a:t>
            </a:r>
            <a:endParaRPr lang="en-US" sz="1200" dirty="0"/>
          </a:p>
        </p:txBody>
      </p:sp>
      <p:sp>
        <p:nvSpPr>
          <p:cNvPr id="13" name="rt2_bg"/>
          <p:cNvSpPr/>
          <p:nvPr/>
        </p:nvSpPr>
        <p:spPr>
          <a:xfrm>
            <a:off x="777240" y="3054096"/>
            <a:ext cx="3867912" cy="1481328"/>
          </a:xfrm>
          <a:prstGeom prst="roundRect">
            <a:avLst>
              <a:gd name="adj" fmla="val 3704"/>
            </a:avLst>
          </a:prstGeom>
          <a:solidFill>
            <a:srgbClr val="F2F0F8"/>
          </a:solidFill>
          <a:ln w="12700">
            <a:solidFill>
              <a:srgbClr val="F2F0F8"/>
            </a:solidFill>
            <a:prstDash val="solid"/>
          </a:ln>
        </p:spPr>
      </p:sp>
      <p:sp>
        <p:nvSpPr>
          <p:cNvPr id="14" name="rt2_n"/>
          <p:cNvSpPr txBox="1"/>
          <p:nvPr/>
        </p:nvSpPr>
        <p:spPr>
          <a:xfrm>
            <a:off x="941832" y="3310128"/>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3</a:t>
            </a:r>
            <a:endParaRPr lang="en-US" sz="2000" dirty="0"/>
          </a:p>
        </p:txBody>
      </p:sp>
      <p:sp>
        <p:nvSpPr>
          <p:cNvPr id="15" name="rt2_q"/>
          <p:cNvSpPr txBox="1"/>
          <p:nvPr/>
        </p:nvSpPr>
        <p:spPr>
          <a:xfrm>
            <a:off x="1380744" y="3127248"/>
            <a:ext cx="3081528" cy="74980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Work out −6 × (−2) − 7.</a:t>
            </a:r>
            <a:endParaRPr lang="en-US" sz="1300" dirty="0"/>
          </a:p>
        </p:txBody>
      </p:sp>
      <p:sp>
        <p:nvSpPr>
          <p:cNvPr id="16" name="rt2_a"/>
          <p:cNvSpPr/>
          <p:nvPr/>
        </p:nvSpPr>
        <p:spPr>
          <a:xfrm>
            <a:off x="941832" y="4059936"/>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00" b="1" dirty="0">
                <a:solidFill>
                  <a:srgbClr val="2B2350"/>
                </a:solidFill>
                <a:latin typeface="Arial" pitchFamily="34" charset="0"/>
                <a:ea typeface="Arial" pitchFamily="34" charset="-122"/>
                <a:cs typeface="Arial" pitchFamily="34" charset="-120"/>
              </a:rPr>
              <a:t>−6 × (−2) − 7 = 12 − 7 = 5</a:t>
            </a:r>
            <a:endParaRPr lang="en-US" sz="1200" dirty="0"/>
          </a:p>
        </p:txBody>
      </p:sp>
      <p:sp>
        <p:nvSpPr>
          <p:cNvPr id="17" name="rt3_bg"/>
          <p:cNvSpPr/>
          <p:nvPr/>
        </p:nvSpPr>
        <p:spPr>
          <a:xfrm>
            <a:off x="4864608" y="3054096"/>
            <a:ext cx="3867912" cy="1481328"/>
          </a:xfrm>
          <a:prstGeom prst="roundRect">
            <a:avLst>
              <a:gd name="adj" fmla="val 3704"/>
            </a:avLst>
          </a:prstGeom>
          <a:solidFill>
            <a:srgbClr val="F2F0F8"/>
          </a:solidFill>
          <a:ln w="12700">
            <a:solidFill>
              <a:srgbClr val="F2F0F8"/>
            </a:solidFill>
            <a:prstDash val="solid"/>
          </a:ln>
        </p:spPr>
      </p:sp>
      <p:sp>
        <p:nvSpPr>
          <p:cNvPr id="18" name="rt3_n"/>
          <p:cNvSpPr txBox="1"/>
          <p:nvPr/>
        </p:nvSpPr>
        <p:spPr>
          <a:xfrm>
            <a:off x="5029200" y="3310128"/>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4</a:t>
            </a:r>
            <a:endParaRPr lang="en-US" sz="2000" dirty="0"/>
          </a:p>
        </p:txBody>
      </p:sp>
      <p:sp>
        <p:nvSpPr>
          <p:cNvPr id="19" name="rt3_q"/>
          <p:cNvSpPr txBox="1"/>
          <p:nvPr/>
        </p:nvSpPr>
        <p:spPr>
          <a:xfrm>
            <a:off x="5468112" y="3127248"/>
            <a:ext cx="3081528" cy="74980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A table has x = 1, 2, 3 and y = 2, 6, 10. Find the rule.</a:t>
            </a:r>
            <a:endParaRPr lang="en-US" sz="1300" dirty="0"/>
          </a:p>
        </p:txBody>
      </p:sp>
      <p:sp>
        <p:nvSpPr>
          <p:cNvPr id="20" name="rt3_a"/>
          <p:cNvSpPr/>
          <p:nvPr/>
        </p:nvSpPr>
        <p:spPr>
          <a:xfrm>
            <a:off x="5029200" y="4059936"/>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00" b="1" dirty="0">
                <a:solidFill>
                  <a:srgbClr val="2B2350"/>
                </a:solidFill>
                <a:latin typeface="Arial" pitchFamily="34" charset="0"/>
                <a:ea typeface="Arial" pitchFamily="34" charset="-122"/>
                <a:cs typeface="Arial" pitchFamily="34" charset="-120"/>
              </a:rPr>
              <a:t>y = 4x − 2. 4 × 1 = 4, and 2 − 4 = −2.</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wipe(right)">
                                      <p:cBhvr>
                                        <p:cTn id="4"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right)">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right)">
                                      <p:cBhvr>
                                        <p:cTn id="14" dur="4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422806"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I DO · 3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Subtract a bracket</a:t>
            </a:r>
            <a:endParaRPr lang="en-US" sz="2800" dirty="0"/>
          </a:p>
        </p:txBody>
      </p:sp>
      <p:sp>
        <p:nvSpPr>
          <p:cNvPr id="5" name="slide_sub"/>
          <p:cNvSpPr txBox="1"/>
          <p:nvPr/>
        </p:nvSpPr>
        <p:spPr>
          <a:xfrm>
            <a:off x="777240" y="1243584"/>
            <a:ext cx="7955280" cy="237744"/>
          </a:xfrm>
          <a:prstGeom prst="rect">
            <a:avLst/>
          </a:prstGeom>
          <a:noFill/>
          <a:ln/>
        </p:spPr>
        <p:txBody>
          <a:bodyPr wrap="square" lIns="0" tIns="0" rIns="0" bIns="0" rtlCol="0" anchor="ctr"/>
          <a:lstStyle/>
          <a:p>
            <a:pPr indent="0" marL="0">
              <a:buNone/>
            </a:pPr>
            <a:r>
              <a:rPr lang="en-US" sz="1100" dirty="0">
                <a:solidFill>
                  <a:srgbClr val="5E5A70"/>
                </a:solidFill>
                <a:latin typeface="Arial" pitchFamily="34" charset="0"/>
                <a:ea typeface="Arial" pitchFamily="34" charset="-122"/>
                <a:cs typeface="Arial" pitchFamily="34" charset="-120"/>
              </a:rPr>
              <a:t>Do Now Q6: 9 − (4 − 6) = 11. Numbers first, then letters.</a:t>
            </a:r>
            <a:endParaRPr lang="en-US" sz="1100" dirty="0"/>
          </a:p>
        </p:txBody>
      </p:sp>
      <p:sp>
        <p:nvSpPr>
          <p:cNvPr id="6" name="n_bg"/>
          <p:cNvSpPr/>
          <p:nvPr/>
        </p:nvSpPr>
        <p:spPr>
          <a:xfrm>
            <a:off x="777240" y="1591056"/>
            <a:ext cx="3931920" cy="1737360"/>
          </a:xfrm>
          <a:prstGeom prst="roundRect">
            <a:avLst>
              <a:gd name="adj" fmla="val 3158"/>
            </a:avLst>
          </a:prstGeom>
          <a:solidFill>
            <a:srgbClr val="F2F0F8"/>
          </a:solidFill>
          <a:ln w="12700">
            <a:solidFill>
              <a:srgbClr val="F2F0F8"/>
            </a:solidFill>
            <a:prstDash val="solid"/>
          </a:ln>
        </p:spPr>
      </p:sp>
      <p:sp>
        <p:nvSpPr>
          <p:cNvPr id="7" name="n_h"/>
          <p:cNvSpPr txBox="1"/>
          <p:nvPr/>
        </p:nvSpPr>
        <p:spPr>
          <a:xfrm>
            <a:off x="960120" y="1664208"/>
            <a:ext cx="3566160" cy="274320"/>
          </a:xfrm>
          <a:prstGeom prst="rect">
            <a:avLst/>
          </a:prstGeom>
          <a:noFill/>
          <a:ln/>
        </p:spPr>
        <p:txBody>
          <a:bodyPr wrap="square" lIns="0" tIns="0" rIns="0" bIns="0" rtlCol="0" anchor="ctr"/>
          <a:lstStyle/>
          <a:p>
            <a:pPr indent="0" marL="0">
              <a:buNone/>
            </a:pPr>
            <a:r>
              <a:rPr lang="en-US" sz="1150" b="1" dirty="0">
                <a:solidFill>
                  <a:srgbClr val="5E5A70"/>
                </a:solidFill>
                <a:latin typeface="Arial" pitchFamily="34" charset="0"/>
                <a:ea typeface="Arial" pitchFamily="34" charset="-122"/>
                <a:cs typeface="Arial" pitchFamily="34" charset="-120"/>
              </a:rPr>
              <a:t>Numbers first (Do Now Q6)</a:t>
            </a:r>
            <a:endParaRPr lang="en-US" sz="1150" dirty="0"/>
          </a:p>
        </p:txBody>
      </p:sp>
      <p:sp>
        <p:nvSpPr>
          <p:cNvPr id="8" name="n_l0"/>
          <p:cNvSpPr txBox="1"/>
          <p:nvPr/>
        </p:nvSpPr>
        <p:spPr>
          <a:xfrm>
            <a:off x="978408" y="1993392"/>
            <a:ext cx="3566160" cy="310896"/>
          </a:xfrm>
          <a:prstGeom prst="rect">
            <a:avLst/>
          </a:prstGeom>
          <a:noFill/>
          <a:ln/>
        </p:spPr>
        <p:txBody>
          <a:bodyPr wrap="square" lIns="0" tIns="0" rIns="0" bIns="0" rtlCol="0" anchor="ctr"/>
          <a:lstStyle/>
          <a:p>
            <a:pPr algn="l" indent="0" marL="0">
              <a:buNone/>
            </a:pPr>
            <a:r>
              <a:rPr lang="en-US" sz="1350" b="1" dirty="0">
                <a:solidFill>
                  <a:srgbClr val="2B2350"/>
                </a:solidFill>
                <a:latin typeface="Arial" pitchFamily="34" charset="0"/>
                <a:ea typeface="Arial" pitchFamily="34" charset="-122"/>
                <a:cs typeface="Arial" pitchFamily="34" charset="-120"/>
              </a:rPr>
              <a:t>9 − (4 − 6)</a:t>
            </a:r>
            <a:endParaRPr lang="en-US" sz="1350" dirty="0"/>
          </a:p>
        </p:txBody>
      </p:sp>
      <p:sp>
        <p:nvSpPr>
          <p:cNvPr id="9" name="n_l1"/>
          <p:cNvSpPr txBox="1"/>
          <p:nvPr/>
        </p:nvSpPr>
        <p:spPr>
          <a:xfrm>
            <a:off x="978408" y="2304288"/>
            <a:ext cx="3566160" cy="310896"/>
          </a:xfrm>
          <a:prstGeom prst="rect">
            <a:avLst/>
          </a:prstGeom>
          <a:noFill/>
          <a:ln/>
        </p:spPr>
        <p:txBody>
          <a:bodyPr wrap="square" lIns="0" tIns="0" rIns="0" bIns="0" rtlCol="0" anchor="ctr"/>
          <a:lstStyle/>
          <a:p>
            <a:pPr algn="l" indent="0" marL="0">
              <a:buNone/>
            </a:pPr>
            <a:r>
              <a:rPr lang="en-US" sz="1350" b="1" dirty="0">
                <a:solidFill>
                  <a:srgbClr val="2B2350"/>
                </a:solidFill>
                <a:latin typeface="Arial" pitchFamily="34" charset="0"/>
                <a:ea typeface="Arial" pitchFamily="34" charset="-122"/>
                <a:cs typeface="Arial" pitchFamily="34" charset="-120"/>
              </a:rPr>
              <a:t>Brackets first: 4 − 6 = −2</a:t>
            </a:r>
            <a:endParaRPr lang="en-US" sz="1350" dirty="0"/>
          </a:p>
        </p:txBody>
      </p:sp>
      <p:sp>
        <p:nvSpPr>
          <p:cNvPr id="10" name="n_l2"/>
          <p:cNvSpPr txBox="1"/>
          <p:nvPr/>
        </p:nvSpPr>
        <p:spPr>
          <a:xfrm>
            <a:off x="978408" y="2615184"/>
            <a:ext cx="3566160" cy="310896"/>
          </a:xfrm>
          <a:prstGeom prst="rect">
            <a:avLst/>
          </a:prstGeom>
          <a:noFill/>
          <a:ln/>
        </p:spPr>
        <p:txBody>
          <a:bodyPr wrap="square" lIns="0" tIns="0" rIns="0" bIns="0" rtlCol="0" anchor="ctr"/>
          <a:lstStyle/>
          <a:p>
            <a:pPr algn="l" indent="0" marL="0">
              <a:buNone/>
            </a:pPr>
            <a:r>
              <a:rPr lang="en-US" sz="1350" b="1" dirty="0">
                <a:solidFill>
                  <a:srgbClr val="2B2350"/>
                </a:solidFill>
                <a:latin typeface="Arial" pitchFamily="34" charset="0"/>
                <a:ea typeface="Arial" pitchFamily="34" charset="-122"/>
                <a:cs typeface="Arial" pitchFamily="34" charset="-120"/>
              </a:rPr>
              <a:t>9 − (−2) = 9 + 2 = </a:t>
            </a:r>
            <a:pPr algn="l" indent="0" marL="0">
              <a:buNone/>
            </a:pPr>
            <a:r>
              <a:rPr lang="en-US" sz="1350" b="1" dirty="0">
                <a:solidFill>
                  <a:srgbClr val="C0392B"/>
                </a:solidFill>
                <a:latin typeface="Arial" pitchFamily="34" charset="0"/>
                <a:ea typeface="Arial" pitchFamily="34" charset="-122"/>
                <a:cs typeface="Arial" pitchFamily="34" charset="-120"/>
              </a:rPr>
              <a:t>11</a:t>
            </a:r>
            <a:endParaRPr lang="en-US" sz="1350" dirty="0"/>
          </a:p>
        </p:txBody>
      </p:sp>
      <p:sp>
        <p:nvSpPr>
          <p:cNvPr id="11" name="n_l3"/>
          <p:cNvSpPr txBox="1"/>
          <p:nvPr/>
        </p:nvSpPr>
        <p:spPr>
          <a:xfrm>
            <a:off x="978408" y="2926080"/>
            <a:ext cx="3566160" cy="310896"/>
          </a:xfrm>
          <a:prstGeom prst="rect">
            <a:avLst/>
          </a:prstGeom>
          <a:noFill/>
          <a:ln/>
        </p:spPr>
        <p:txBody>
          <a:bodyPr wrap="square" lIns="0" tIns="0" rIns="0" bIns="0" rtlCol="0" anchor="ctr"/>
          <a:lstStyle/>
          <a:p>
            <a:pPr algn="l" indent="0" marL="0">
              <a:buNone/>
            </a:pPr>
            <a:r>
              <a:rPr lang="en-US" sz="1350" b="1" dirty="0">
                <a:solidFill>
                  <a:srgbClr val="2B2350"/>
                </a:solidFill>
                <a:latin typeface="Arial" pitchFamily="34" charset="0"/>
                <a:ea typeface="Arial" pitchFamily="34" charset="-122"/>
                <a:cs typeface="Arial" pitchFamily="34" charset="-120"/>
              </a:rPr>
              <a:t>Or take it away: 9 − 4 + 6 = </a:t>
            </a:r>
            <a:pPr algn="l" indent="0" marL="0">
              <a:buNone/>
            </a:pPr>
            <a:r>
              <a:rPr lang="en-US" sz="1350" b="1" dirty="0">
                <a:solidFill>
                  <a:srgbClr val="C0392B"/>
                </a:solidFill>
                <a:latin typeface="Arial" pitchFamily="34" charset="0"/>
                <a:ea typeface="Arial" pitchFamily="34" charset="-122"/>
                <a:cs typeface="Arial" pitchFamily="34" charset="-120"/>
              </a:rPr>
              <a:t>11</a:t>
            </a:r>
            <a:endParaRPr lang="en-US" sz="1350" dirty="0"/>
          </a:p>
        </p:txBody>
      </p:sp>
      <p:grpSp>
        <p:nvGrpSpPr>
          <p:cNvPr id="19" name="alg"/>
          <p:cNvGrpSpPr/>
          <p:nvPr/>
        </p:nvGrpSpPr>
        <p:grpSpPr>
          <a:xfrm>
            <a:off x="777240" y="3419856"/>
            <a:ext cx="3931920" cy="1371600"/>
            <a:chOff x="777240" y="3419856"/>
            <a:chExt cx="3931920" cy="1371600"/>
          </a:xfrm>
        </p:grpSpPr>
        <p:sp>
          <p:nvSpPr>
            <p:cNvPr id="12" name="al_bg"/>
            <p:cNvSpPr/>
            <p:nvPr/>
          </p:nvSpPr>
          <p:spPr>
            <a:xfrm>
              <a:off x="777240" y="3419856"/>
              <a:ext cx="3931920" cy="1371600"/>
            </a:xfrm>
            <a:prstGeom prst="roundRect">
              <a:avLst>
                <a:gd name="adj" fmla="val 4000"/>
              </a:avLst>
            </a:prstGeom>
            <a:solidFill>
              <a:srgbClr val="F2F0F8"/>
            </a:solidFill>
            <a:ln w="12700">
              <a:solidFill>
                <a:srgbClr val="F2F0F8"/>
              </a:solidFill>
              <a:prstDash val="solid"/>
            </a:ln>
          </p:spPr>
        </p:sp>
        <p:sp>
          <p:nvSpPr>
            <p:cNvPr id="13" name="al_h"/>
            <p:cNvSpPr txBox="1"/>
            <p:nvPr/>
          </p:nvSpPr>
          <p:spPr>
            <a:xfrm>
              <a:off x="960120" y="3493008"/>
              <a:ext cx="3566160" cy="274320"/>
            </a:xfrm>
            <a:prstGeom prst="rect">
              <a:avLst/>
            </a:prstGeom>
            <a:noFill/>
            <a:ln/>
          </p:spPr>
          <p:txBody>
            <a:bodyPr wrap="square" lIns="0" tIns="0" rIns="0" bIns="0" rtlCol="0" anchor="ctr"/>
            <a:lstStyle/>
            <a:p>
              <a:pPr indent="0" marL="0">
                <a:buNone/>
              </a:pPr>
              <a:r>
                <a:rPr lang="en-US" sz="1150" b="1" dirty="0">
                  <a:solidFill>
                    <a:srgbClr val="5E5A70"/>
                  </a:solidFill>
                  <a:latin typeface="Arial" pitchFamily="34" charset="0"/>
                  <a:ea typeface="Arial" pitchFamily="34" charset="-122"/>
                  <a:cs typeface="Arial" pitchFamily="34" charset="-120"/>
                </a:rPr>
                <a:t>Now with a letter</a:t>
              </a:r>
              <a:endParaRPr lang="en-US" sz="1150" dirty="0"/>
            </a:p>
          </p:txBody>
        </p:sp>
        <p:sp>
          <p:nvSpPr>
            <p:cNvPr id="14" name="al_l0"/>
            <p:cNvSpPr txBox="1"/>
            <p:nvPr/>
          </p:nvSpPr>
          <p:spPr>
            <a:xfrm>
              <a:off x="978408" y="3822192"/>
              <a:ext cx="3566160" cy="310896"/>
            </a:xfrm>
            <a:prstGeom prst="rect">
              <a:avLst/>
            </a:prstGeom>
            <a:noFill/>
            <a:ln/>
          </p:spPr>
          <p:txBody>
            <a:bodyPr wrap="square" lIns="0" tIns="0" rIns="0" bIns="0" rtlCol="0" anchor="ctr"/>
            <a:lstStyle/>
            <a:p>
              <a:pPr algn="l" indent="0" marL="0">
                <a:buNone/>
              </a:pPr>
              <a:r>
                <a:rPr lang="en-US" sz="1400" b="1" dirty="0">
                  <a:solidFill>
                    <a:srgbClr val="1F6FB2"/>
                  </a:solidFill>
                  <a:latin typeface="Arial" pitchFamily="34" charset="0"/>
                  <a:ea typeface="Arial" pitchFamily="34" charset="-122"/>
                  <a:cs typeface="Arial" pitchFamily="34" charset="-120"/>
                </a:rPr>
                <a:t>x</a:t>
              </a:r>
              <a:pPr algn="l" indent="0" marL="0">
                <a:buNone/>
              </a:pPr>
              <a:r>
                <a:rPr lang="en-US" sz="1400" b="1" dirty="0">
                  <a:solidFill>
                    <a:srgbClr val="2B2350"/>
                  </a:solidFill>
                  <a:latin typeface="Arial" pitchFamily="34" charset="0"/>
                  <a:ea typeface="Arial" pitchFamily="34" charset="-122"/>
                  <a:cs typeface="Arial" pitchFamily="34" charset="-120"/>
                </a:rPr>
                <a:t> − (2</a:t>
              </a:r>
              <a:pPr algn="l" indent="0" marL="0">
                <a:buNone/>
              </a:pPr>
              <a:r>
                <a:rPr lang="en-US" sz="1400" b="1" dirty="0">
                  <a:solidFill>
                    <a:srgbClr val="1F6FB2"/>
                  </a:solidFill>
                  <a:latin typeface="Arial" pitchFamily="34" charset="0"/>
                  <a:ea typeface="Arial" pitchFamily="34" charset="-122"/>
                  <a:cs typeface="Arial" pitchFamily="34" charset="-120"/>
                </a:rPr>
                <a:t>x</a:t>
              </a:r>
              <a:pPr algn="l" indent="0" marL="0">
                <a:buNone/>
              </a:pPr>
              <a:r>
                <a:rPr lang="en-US" sz="1400" b="1" dirty="0">
                  <a:solidFill>
                    <a:srgbClr val="2B2350"/>
                  </a:solidFill>
                  <a:latin typeface="Arial" pitchFamily="34" charset="0"/>
                  <a:ea typeface="Arial" pitchFamily="34" charset="-122"/>
                  <a:cs typeface="Arial" pitchFamily="34" charset="-120"/>
                </a:rPr>
                <a:t> − 5)</a:t>
              </a:r>
              <a:endParaRPr lang="en-US" sz="1400" dirty="0"/>
            </a:p>
          </p:txBody>
        </p:sp>
        <p:sp>
          <p:nvSpPr>
            <p:cNvPr id="15" name="al_l1"/>
            <p:cNvSpPr txBox="1"/>
            <p:nvPr/>
          </p:nvSpPr>
          <p:spPr>
            <a:xfrm>
              <a:off x="978408" y="4151376"/>
              <a:ext cx="3566160" cy="310896"/>
            </a:xfrm>
            <a:prstGeom prst="rect">
              <a:avLst/>
            </a:prstGeom>
            <a:noFill/>
            <a:ln/>
          </p:spPr>
          <p:txBody>
            <a:bodyPr wrap="square" lIns="0" tIns="0" rIns="0" bIns="0" rtlCol="0" anchor="ctr"/>
            <a:lstStyle/>
            <a:p>
              <a:pPr algn="l" indent="0" marL="0">
                <a:buNone/>
              </a:pPr>
              <a:r>
                <a:rPr lang="en-US" sz="1400" b="1" dirty="0">
                  <a:solidFill>
                    <a:srgbClr val="2B2350"/>
                  </a:solidFill>
                  <a:latin typeface="Arial" pitchFamily="34" charset="0"/>
                  <a:ea typeface="Arial" pitchFamily="34" charset="-122"/>
                  <a:cs typeface="Arial" pitchFamily="34" charset="-120"/>
                </a:rPr>
                <a:t>= </a:t>
              </a:r>
              <a:pPr algn="l" indent="0" marL="0">
                <a:buNone/>
              </a:pPr>
              <a:r>
                <a:rPr lang="en-US" sz="1400" b="1" dirty="0">
                  <a:solidFill>
                    <a:srgbClr val="1F6FB2"/>
                  </a:solidFill>
                  <a:latin typeface="Arial" pitchFamily="34" charset="0"/>
                  <a:ea typeface="Arial" pitchFamily="34" charset="-122"/>
                  <a:cs typeface="Arial" pitchFamily="34" charset="-120"/>
                </a:rPr>
                <a:t>x</a:t>
              </a:r>
              <a:pPr algn="l" indent="0" marL="0">
                <a:buNone/>
              </a:pPr>
              <a:r>
                <a:rPr lang="en-US" sz="1400" b="1" dirty="0">
                  <a:solidFill>
                    <a:srgbClr val="2B2350"/>
                  </a:solidFill>
                  <a:latin typeface="Arial" pitchFamily="34" charset="0"/>
                  <a:ea typeface="Arial" pitchFamily="34" charset="-122"/>
                  <a:cs typeface="Arial" pitchFamily="34" charset="-120"/>
                </a:rPr>
                <a:t> − 2</a:t>
              </a:r>
              <a:pPr algn="l" indent="0" marL="0">
                <a:buNone/>
              </a:pPr>
              <a:r>
                <a:rPr lang="en-US" sz="1400" b="1" dirty="0">
                  <a:solidFill>
                    <a:srgbClr val="1F6FB2"/>
                  </a:solidFill>
                  <a:latin typeface="Arial" pitchFamily="34" charset="0"/>
                  <a:ea typeface="Arial" pitchFamily="34" charset="-122"/>
                  <a:cs typeface="Arial" pitchFamily="34" charset="-120"/>
                </a:rPr>
                <a:t>x</a:t>
              </a:r>
              <a:pPr algn="l" indent="0" marL="0">
                <a:buNone/>
              </a:pPr>
              <a:r>
                <a:rPr lang="en-US" sz="1400" b="1" dirty="0">
                  <a:solidFill>
                    <a:srgbClr val="2B2350"/>
                  </a:solidFill>
                  <a:latin typeface="Arial" pitchFamily="34" charset="0"/>
                  <a:ea typeface="Arial" pitchFamily="34" charset="-122"/>
                  <a:cs typeface="Arial" pitchFamily="34" charset="-120"/>
                </a:rPr>
                <a:t> + 5</a:t>
              </a:r>
              <a:endParaRPr lang="en-US" sz="1400" dirty="0"/>
            </a:p>
          </p:txBody>
        </p:sp>
        <p:sp>
          <p:nvSpPr>
            <p:cNvPr id="16" name="al_l2"/>
            <p:cNvSpPr txBox="1"/>
            <p:nvPr/>
          </p:nvSpPr>
          <p:spPr>
            <a:xfrm>
              <a:off x="978408" y="4480560"/>
              <a:ext cx="3566160" cy="310896"/>
            </a:xfrm>
            <a:prstGeom prst="rect">
              <a:avLst/>
            </a:prstGeom>
            <a:noFill/>
            <a:ln/>
          </p:spPr>
          <p:txBody>
            <a:bodyPr wrap="square" lIns="0" tIns="0" rIns="0" bIns="0" rtlCol="0" anchor="ctr"/>
            <a:lstStyle/>
            <a:p>
              <a:pPr algn="l" indent="0" marL="0">
                <a:buNone/>
              </a:pPr>
              <a:r>
                <a:rPr lang="en-US" sz="1400" b="1" dirty="0">
                  <a:solidFill>
                    <a:srgbClr val="2B2350"/>
                  </a:solidFill>
                  <a:latin typeface="Arial" pitchFamily="34" charset="0"/>
                  <a:ea typeface="Arial" pitchFamily="34" charset="-122"/>
                  <a:cs typeface="Arial" pitchFamily="34" charset="-120"/>
                </a:rPr>
                <a:t>= </a:t>
              </a:r>
              <a:pPr algn="l" indent="0" marL="0">
                <a:buNone/>
              </a:pPr>
              <a:r>
                <a:rPr lang="en-US" sz="1400" b="1" dirty="0">
                  <a:solidFill>
                    <a:srgbClr val="C0392B"/>
                  </a:solidFill>
                  <a:latin typeface="Arial" pitchFamily="34" charset="0"/>
                  <a:ea typeface="Arial" pitchFamily="34" charset="-122"/>
                  <a:cs typeface="Arial" pitchFamily="34" charset="-120"/>
                </a:rPr>
                <a:t>−x + 5</a:t>
              </a:r>
              <a:endParaRPr lang="en-US" sz="1400" dirty="0"/>
            </a:p>
          </p:txBody>
        </p:sp>
      </p:grpSp>
      <p:pic>
        <p:nvPicPr>
          <p:cNvPr id="20" name="vid_sub">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4892040" y="1591056"/>
            <a:ext cx="3840480" cy="2160270"/>
          </a:xfrm>
          <a:prstGeom prst="rect">
            <a:avLst/>
          </a:prstGeom>
        </p:spPr>
      </p:pic>
      <p:sp>
        <p:nvSpPr>
          <p:cNvPr id="18" name="sb_banner"/>
          <p:cNvSpPr/>
          <p:nvPr/>
        </p:nvSpPr>
        <p:spPr>
          <a:xfrm>
            <a:off x="4892040" y="3897630"/>
            <a:ext cx="3840480" cy="566928"/>
          </a:xfrm>
          <a:prstGeom prst="roundRect">
            <a:avLst>
              <a:gd name="adj" fmla="val 12903"/>
            </a:avLst>
          </a:prstGeom>
          <a:solidFill>
            <a:srgbClr val="2B2350"/>
          </a:solidFill>
          <a:ln>
            <a:solidFill>
              <a:srgbClr val="2B2350"/>
            </a:solidFill>
          </a:ln>
        </p:spPr>
        <p:txBody>
          <a:bodyPr wrap="square" lIns="1016" tIns="1016" rIns="1016" bIns="1016"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A minus before a bracket changes </a:t>
            </a:r>
            <a:pPr algn="ctr" indent="0" marL="0">
              <a:buNone/>
            </a:pPr>
            <a:r>
              <a:rPr lang="en-US" sz="1250" b="1" u="sng" dirty="0">
                <a:solidFill>
                  <a:srgbClr val="FFFFFF"/>
                </a:solidFill>
                <a:latin typeface="Arial" pitchFamily="34" charset="0"/>
                <a:ea typeface="Arial" pitchFamily="34" charset="-122"/>
                <a:cs typeface="Arial" pitchFamily="34" charset="-120"/>
              </a:rPr>
              <a:t>every sign</a:t>
            </a:r>
            <a:pPr algn="ctr" indent="0" marL="0">
              <a:buNone/>
            </a:pPr>
            <a:r>
              <a:rPr lang="en-US" sz="1250" b="1" dirty="0">
                <a:solidFill>
                  <a:srgbClr val="FFFFFF"/>
                </a:solidFill>
                <a:latin typeface="Arial" pitchFamily="34" charset="0"/>
                <a:ea typeface="Arial" pitchFamily="34" charset="-122"/>
                <a:cs typeface="Arial" pitchFamily="34" charset="-120"/>
              </a:rPr>
              <a:t> inside it.</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400"/>
                                        <p:tgtEl>
                                          <p:spTgt spid="8"/>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3"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00"/>
                                        <p:tgtEl>
                                          <p:spTgt spid="10"/>
                                        </p:tgtEl>
                                      </p:cBhvr>
                                    </p:animEffect>
                                  </p:childTnLst>
                                </p:cTn>
                              </p:par>
                              <p:par>
                                <p:cTn id="16" presetID="10" presetClass="entr" presetSubtype="0" fill="hold" grpId="0" nodeType="withEffect">
                                  <p:stCondLst>
                                    <p:cond delay="15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5" presetID="1" presetClass="mediacall" presetSubtype="0" fill="hold" nodeType="clickEffect">
                                  <p:stCondLst>
                                    <p:cond delay="0"/>
                                  </p:stCondLst>
                                  <p:childTnLst>
                                    <p:cmd type="call" cmd="playFrom(0.0)">
                                      <p:cBhvr>
                                        <p:cTn id="24" dur="1" fill="hold"/>
                                        <p:tgtEl>
                                          <p:spTgt spid="20"/>
                                        </p:tgtEl>
                                      </p:cBhvr>
                                    </p:cmd>
                                  </p:childTnLst>
                                </p:cTn>
                              </p:par>
                            </p:childTnLst>
                          </p:cTn>
                        </p:par>
                      </p:childTnLst>
                    </p:cTn>
                  </p:par>
                  <p:par>
                    <p:cTn id="32" fill="hold">
                      <p:stCondLst>
                        <p:cond delay="indefinite"/>
                      </p:stCondLst>
                      <p:childTnLst>
                        <p:par>
                          <p:cTn id="33" fill="hold">
                            <p:stCondLst>
                              <p:cond delay="0"/>
                            </p:stCondLst>
                            <p:childTnLst>
                              <p:par>
                                <p:cTn id="31" presetID="23" presetClass="entr" presetSubtype="16"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animScale>
                                      <p:cBhvr>
                                        <p:cTn id="30" dur="400" fill="hold"/>
                                        <p:tgtEl>
                                          <p:spTgt spid="18"/>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34" fill="hold" display="0">
                  <p:stCondLst>
                    <p:cond delay="0"/>
                  </p:stCondLst>
                  <p:endCondLst>
                    <p:cond evt="onStopAudio" delay="0">
                      <p:tgtEl>
                        <p:sldTgt/>
                      </p:tgtEl>
                    </p:cond>
                  </p:end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512418"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WE DO · 5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Rank the four answers</a:t>
            </a:r>
            <a:endParaRPr lang="en-US" sz="2800" dirty="0"/>
          </a:p>
        </p:txBody>
      </p:sp>
      <p:sp>
        <p:nvSpPr>
          <p:cNvPr id="5" name="slide_sub"/>
          <p:cNvSpPr txBox="1"/>
          <p:nvPr/>
        </p:nvSpPr>
        <p:spPr>
          <a:xfrm>
            <a:off x="777240" y="1243584"/>
            <a:ext cx="7955280" cy="237744"/>
          </a:xfrm>
          <a:prstGeom prst="rect">
            <a:avLst/>
          </a:prstGeom>
          <a:noFill/>
          <a:ln/>
        </p:spPr>
        <p:txBody>
          <a:bodyPr wrap="square" lIns="0" tIns="0" rIns="0" bIns="0" rtlCol="0" anchor="ctr"/>
          <a:lstStyle/>
          <a:p>
            <a:pPr indent="0" marL="0">
              <a:buNone/>
            </a:pPr>
            <a:r>
              <a:rPr lang="en-US" sz="1100" dirty="0">
                <a:solidFill>
                  <a:srgbClr val="5E5A70"/>
                </a:solidFill>
                <a:latin typeface="Arial" pitchFamily="34" charset="0"/>
                <a:ea typeface="Arial" pitchFamily="34" charset="-122"/>
                <a:cs typeface="Arial" pitchFamily="34" charset="-120"/>
              </a:rPr>
              <a:t>Expand and simplify 5(x + 2) − (2x − 3). Four marks: expanded, both signs changed, x terms, numbers.</a:t>
            </a:r>
            <a:endParaRPr lang="en-US" sz="1100" dirty="0"/>
          </a:p>
        </p:txBody>
      </p:sp>
      <p:sp>
        <p:nvSpPr>
          <p:cNvPr id="6" name="rk0_bg"/>
          <p:cNvSpPr/>
          <p:nvPr/>
        </p:nvSpPr>
        <p:spPr>
          <a:xfrm>
            <a:off x="777240" y="1554480"/>
            <a:ext cx="3886200" cy="1170432"/>
          </a:xfrm>
          <a:prstGeom prst="roundRect">
            <a:avLst>
              <a:gd name="adj" fmla="val 4688"/>
            </a:avLst>
          </a:prstGeom>
          <a:solidFill>
            <a:srgbClr val="F2F0F8"/>
          </a:solidFill>
          <a:ln w="12700">
            <a:solidFill>
              <a:srgbClr val="F2F0F8"/>
            </a:solidFill>
            <a:prstDash val="solid"/>
          </a:ln>
        </p:spPr>
      </p:sp>
      <p:sp>
        <p:nvSpPr>
          <p:cNvPr id="7" name="rk0_k"/>
          <p:cNvSpPr/>
          <p:nvPr/>
        </p:nvSpPr>
        <p:spPr>
          <a:xfrm>
            <a:off x="905256" y="1664208"/>
            <a:ext cx="365760" cy="365760"/>
          </a:xfrm>
          <a:prstGeom prst="ellipse">
            <a:avLst/>
          </a:prstGeom>
          <a:solidFill>
            <a:srgbClr val="EC6B58"/>
          </a:solidFill>
          <a:ln>
            <a:solidFill>
              <a:srgbClr val="EC6B58"/>
            </a:solidFill>
          </a:ln>
        </p:spPr>
        <p:txBody>
          <a:bodyPr wrap="square" lIns="0" tIns="0" rIns="0" bIns="0" rtlCol="0" anchor="ctr"/>
          <a:lstStyle/>
          <a:p>
            <a:pPr algn="ctr" indent="0" marL="0">
              <a:buNone/>
            </a:pPr>
            <a:r>
              <a:rPr lang="en-US" sz="1300" b="1" dirty="0">
                <a:solidFill>
                  <a:srgbClr val="2B2350"/>
                </a:solidFill>
                <a:latin typeface="Arial" pitchFamily="34" charset="0"/>
                <a:ea typeface="Arial" pitchFamily="34" charset="-122"/>
                <a:cs typeface="Arial" pitchFamily="34" charset="-120"/>
              </a:rPr>
              <a:t>A</a:t>
            </a:r>
            <a:endParaRPr lang="en-US" sz="1300" dirty="0"/>
          </a:p>
        </p:txBody>
      </p:sp>
      <p:sp>
        <p:nvSpPr>
          <p:cNvPr id="8" name="rk0_w"/>
          <p:cNvSpPr txBox="1"/>
          <p:nvPr/>
        </p:nvSpPr>
        <p:spPr>
          <a:xfrm>
            <a:off x="1417320" y="1609344"/>
            <a:ext cx="3118104" cy="548640"/>
          </a:xfrm>
          <a:prstGeom prst="rect">
            <a:avLst/>
          </a:prstGeom>
          <a:noFill/>
          <a:ln/>
        </p:spPr>
        <p:txBody>
          <a:bodyPr wrap="square" lIns="0" tIns="0" rIns="0" bIns="0" rtlCol="0" anchor="ctr"/>
          <a:lstStyle/>
          <a:p>
            <a:pPr indent="0" marL="0">
              <a:lnSpc>
                <a:spcPts val="1800"/>
              </a:lnSpc>
              <a:buNone/>
            </a:pPr>
            <a:r>
              <a:rPr lang="en-US" sz="1400" b="1" dirty="0">
                <a:solidFill>
                  <a:srgbClr val="2B2350"/>
                </a:solidFill>
                <a:latin typeface="Arial" pitchFamily="34" charset="0"/>
                <a:ea typeface="Arial" pitchFamily="34" charset="-122"/>
                <a:cs typeface="Arial" pitchFamily="34" charset="-120"/>
              </a:rPr>
              <a:t>5x + 10 − 2x + 3</a:t>
            </a:r>
            <a:endParaRPr lang="en-US" sz="1400" dirty="0"/>
          </a:p>
        </p:txBody>
      </p:sp>
      <p:sp>
        <p:nvSpPr>
          <p:cNvPr id="9" name="rk0_r"/>
          <p:cNvSpPr/>
          <p:nvPr/>
        </p:nvSpPr>
        <p:spPr>
          <a:xfrm>
            <a:off x="868680" y="2194560"/>
            <a:ext cx="3703320" cy="457200"/>
          </a:xfrm>
          <a:prstGeom prst="roundRect">
            <a:avLst>
              <a:gd name="adj" fmla="val 12000"/>
            </a:avLst>
          </a:prstGeom>
          <a:solidFill>
            <a:srgbClr val="FDEEDC"/>
          </a:solidFill>
          <a:ln w="13970">
            <a:solidFill>
              <a:srgbClr val="EC6B58"/>
            </a:solidFill>
          </a:ln>
        </p:spPr>
        <p:txBody>
          <a:bodyPr wrap="square" lIns="1016" tIns="1016" rIns="1016" bIns="1016" rtlCol="0" anchor="ctr"/>
          <a:lstStyle/>
          <a:p>
            <a:pPr algn="l" indent="0" marL="0">
              <a:lnSpc>
                <a:spcPts val="1300"/>
              </a:lnSpc>
              <a:buNone/>
            </a:pPr>
            <a:r>
              <a:rPr lang="en-US" sz="1050" b="1" dirty="0">
                <a:solidFill>
                  <a:srgbClr val="2B2350"/>
                </a:solidFill>
                <a:latin typeface="Arial" pitchFamily="34" charset="0"/>
                <a:ea typeface="Arial" pitchFamily="34" charset="-122"/>
                <a:cs typeface="Arial" pitchFamily="34" charset="-120"/>
              </a:rPr>
              <a:t>2 marks. Expanded correctly, but it stops. Nothing is collected.</a:t>
            </a:r>
            <a:endParaRPr lang="en-US" sz="1050" dirty="0"/>
          </a:p>
        </p:txBody>
      </p:sp>
      <p:sp>
        <p:nvSpPr>
          <p:cNvPr id="10" name="rk1_bg"/>
          <p:cNvSpPr/>
          <p:nvPr/>
        </p:nvSpPr>
        <p:spPr>
          <a:xfrm>
            <a:off x="4846320" y="1554480"/>
            <a:ext cx="3886200" cy="1170432"/>
          </a:xfrm>
          <a:prstGeom prst="roundRect">
            <a:avLst>
              <a:gd name="adj" fmla="val 4688"/>
            </a:avLst>
          </a:prstGeom>
          <a:solidFill>
            <a:srgbClr val="F2F0F8"/>
          </a:solidFill>
          <a:ln w="12700">
            <a:solidFill>
              <a:srgbClr val="F2F0F8"/>
            </a:solidFill>
            <a:prstDash val="solid"/>
          </a:ln>
        </p:spPr>
      </p:sp>
      <p:sp>
        <p:nvSpPr>
          <p:cNvPr id="11" name="rk1_k"/>
          <p:cNvSpPr/>
          <p:nvPr/>
        </p:nvSpPr>
        <p:spPr>
          <a:xfrm>
            <a:off x="4974336" y="1664208"/>
            <a:ext cx="365760" cy="365760"/>
          </a:xfrm>
          <a:prstGeom prst="ellipse">
            <a:avLst/>
          </a:prstGeom>
          <a:solidFill>
            <a:srgbClr val="EC6B58"/>
          </a:solidFill>
          <a:ln>
            <a:solidFill>
              <a:srgbClr val="EC6B58"/>
            </a:solidFill>
          </a:ln>
        </p:spPr>
        <p:txBody>
          <a:bodyPr wrap="square" lIns="0" tIns="0" rIns="0" bIns="0" rtlCol="0" anchor="ctr"/>
          <a:lstStyle/>
          <a:p>
            <a:pPr algn="ctr" indent="0" marL="0">
              <a:buNone/>
            </a:pPr>
            <a:r>
              <a:rPr lang="en-US" sz="1300" b="1" dirty="0">
                <a:solidFill>
                  <a:srgbClr val="2B2350"/>
                </a:solidFill>
                <a:latin typeface="Arial" pitchFamily="34" charset="0"/>
                <a:ea typeface="Arial" pitchFamily="34" charset="-122"/>
                <a:cs typeface="Arial" pitchFamily="34" charset="-120"/>
              </a:rPr>
              <a:t>B</a:t>
            </a:r>
            <a:endParaRPr lang="en-US" sz="1300" dirty="0"/>
          </a:p>
        </p:txBody>
      </p:sp>
      <p:sp>
        <p:nvSpPr>
          <p:cNvPr id="12" name="rk1_w"/>
          <p:cNvSpPr txBox="1"/>
          <p:nvPr/>
        </p:nvSpPr>
        <p:spPr>
          <a:xfrm>
            <a:off x="5486400" y="1609344"/>
            <a:ext cx="3118104" cy="548640"/>
          </a:xfrm>
          <a:prstGeom prst="rect">
            <a:avLst/>
          </a:prstGeom>
          <a:noFill/>
          <a:ln/>
        </p:spPr>
        <p:txBody>
          <a:bodyPr wrap="square" lIns="0" tIns="0" rIns="0" bIns="0" rtlCol="0" anchor="ctr"/>
          <a:lstStyle/>
          <a:p>
            <a:pPr indent="0" marL="0">
              <a:lnSpc>
                <a:spcPts val="1800"/>
              </a:lnSpc>
              <a:buNone/>
            </a:pPr>
            <a:r>
              <a:rPr lang="en-US" sz="1400" b="1" dirty="0">
                <a:solidFill>
                  <a:srgbClr val="2B2350"/>
                </a:solidFill>
                <a:latin typeface="Arial" pitchFamily="34" charset="0"/>
                <a:ea typeface="Arial" pitchFamily="34" charset="-122"/>
                <a:cs typeface="Arial" pitchFamily="34" charset="-120"/>
              </a:rPr>
              <a:t>5x + 2 − 2x − 3</a:t>
            </a:r>
            <a:endParaRPr lang="en-US" sz="1400" dirty="0"/>
          </a:p>
          <a:p>
            <a:pPr indent="0" marL="0">
              <a:lnSpc>
                <a:spcPts val="1800"/>
              </a:lnSpc>
              <a:buNone/>
            </a:pPr>
            <a:r>
              <a:rPr lang="en-US" sz="1400" b="1" dirty="0">
                <a:solidFill>
                  <a:srgbClr val="2B2350"/>
                </a:solidFill>
                <a:latin typeface="Arial" pitchFamily="34" charset="0"/>
                <a:ea typeface="Arial" pitchFamily="34" charset="-122"/>
                <a:cs typeface="Arial" pitchFamily="34" charset="-120"/>
              </a:rPr>
              <a:t>= 3x − 1</a:t>
            </a:r>
            <a:endParaRPr lang="en-US" sz="1400" dirty="0"/>
          </a:p>
        </p:txBody>
      </p:sp>
      <p:sp>
        <p:nvSpPr>
          <p:cNvPr id="13" name="rk1_r"/>
          <p:cNvSpPr/>
          <p:nvPr/>
        </p:nvSpPr>
        <p:spPr>
          <a:xfrm>
            <a:off x="4937760" y="2194560"/>
            <a:ext cx="3703320" cy="457200"/>
          </a:xfrm>
          <a:prstGeom prst="roundRect">
            <a:avLst>
              <a:gd name="adj" fmla="val 12000"/>
            </a:avLst>
          </a:prstGeom>
          <a:solidFill>
            <a:srgbClr val="FDEEDC"/>
          </a:solidFill>
          <a:ln w="13970">
            <a:solidFill>
              <a:srgbClr val="EC6B58"/>
            </a:solidFill>
          </a:ln>
        </p:spPr>
        <p:txBody>
          <a:bodyPr wrap="square" lIns="1016" tIns="1016" rIns="1016" bIns="1016" rtlCol="0" anchor="ctr"/>
          <a:lstStyle/>
          <a:p>
            <a:pPr algn="l" indent="0" marL="0">
              <a:lnSpc>
                <a:spcPts val="1300"/>
              </a:lnSpc>
              <a:buNone/>
            </a:pPr>
            <a:r>
              <a:rPr lang="en-US" sz="1050" b="1" dirty="0">
                <a:solidFill>
                  <a:srgbClr val="2B2350"/>
                </a:solidFill>
                <a:latin typeface="Arial" pitchFamily="34" charset="0"/>
                <a:ea typeface="Arial" pitchFamily="34" charset="-122"/>
                <a:cs typeface="Arial" pitchFamily="34" charset="-120"/>
              </a:rPr>
              <a:t>1 mark. The 5 only multiplied the x, and the minus only changed the first sign.</a:t>
            </a:r>
            <a:endParaRPr lang="en-US" sz="1050" dirty="0"/>
          </a:p>
        </p:txBody>
      </p:sp>
      <p:sp>
        <p:nvSpPr>
          <p:cNvPr id="14" name="rk2_bg"/>
          <p:cNvSpPr/>
          <p:nvPr/>
        </p:nvSpPr>
        <p:spPr>
          <a:xfrm>
            <a:off x="777240" y="2798064"/>
            <a:ext cx="3886200" cy="1170432"/>
          </a:xfrm>
          <a:prstGeom prst="roundRect">
            <a:avLst>
              <a:gd name="adj" fmla="val 4688"/>
            </a:avLst>
          </a:prstGeom>
          <a:solidFill>
            <a:srgbClr val="F2F0F8"/>
          </a:solidFill>
          <a:ln w="12700">
            <a:solidFill>
              <a:srgbClr val="F2F0F8"/>
            </a:solidFill>
            <a:prstDash val="solid"/>
          </a:ln>
        </p:spPr>
      </p:sp>
      <p:sp>
        <p:nvSpPr>
          <p:cNvPr id="15" name="rk2_k"/>
          <p:cNvSpPr/>
          <p:nvPr/>
        </p:nvSpPr>
        <p:spPr>
          <a:xfrm>
            <a:off x="905256" y="2907792"/>
            <a:ext cx="365760" cy="365760"/>
          </a:xfrm>
          <a:prstGeom prst="ellipse">
            <a:avLst/>
          </a:prstGeom>
          <a:solidFill>
            <a:srgbClr val="EC6B58"/>
          </a:solidFill>
          <a:ln>
            <a:solidFill>
              <a:srgbClr val="EC6B58"/>
            </a:solidFill>
          </a:ln>
        </p:spPr>
        <p:txBody>
          <a:bodyPr wrap="square" lIns="0" tIns="0" rIns="0" bIns="0" rtlCol="0" anchor="ctr"/>
          <a:lstStyle/>
          <a:p>
            <a:pPr algn="ctr" indent="0" marL="0">
              <a:buNone/>
            </a:pPr>
            <a:r>
              <a:rPr lang="en-US" sz="1300" b="1" dirty="0">
                <a:solidFill>
                  <a:srgbClr val="2B2350"/>
                </a:solidFill>
                <a:latin typeface="Arial" pitchFamily="34" charset="0"/>
                <a:ea typeface="Arial" pitchFamily="34" charset="-122"/>
                <a:cs typeface="Arial" pitchFamily="34" charset="-120"/>
              </a:rPr>
              <a:t>C</a:t>
            </a:r>
            <a:endParaRPr lang="en-US" sz="1300" dirty="0"/>
          </a:p>
        </p:txBody>
      </p:sp>
      <p:sp>
        <p:nvSpPr>
          <p:cNvPr id="16" name="rk2_w"/>
          <p:cNvSpPr txBox="1"/>
          <p:nvPr/>
        </p:nvSpPr>
        <p:spPr>
          <a:xfrm>
            <a:off x="1417320" y="2852928"/>
            <a:ext cx="3118104" cy="548640"/>
          </a:xfrm>
          <a:prstGeom prst="rect">
            <a:avLst/>
          </a:prstGeom>
          <a:noFill/>
          <a:ln/>
        </p:spPr>
        <p:txBody>
          <a:bodyPr wrap="square" lIns="0" tIns="0" rIns="0" bIns="0" rtlCol="0" anchor="ctr"/>
          <a:lstStyle/>
          <a:p>
            <a:pPr indent="0" marL="0">
              <a:lnSpc>
                <a:spcPts val="1800"/>
              </a:lnSpc>
              <a:buNone/>
            </a:pPr>
            <a:r>
              <a:rPr lang="en-US" sz="1400" b="1" dirty="0">
                <a:solidFill>
                  <a:srgbClr val="2B2350"/>
                </a:solidFill>
                <a:latin typeface="Arial" pitchFamily="34" charset="0"/>
                <a:ea typeface="Arial" pitchFamily="34" charset="-122"/>
                <a:cs typeface="Arial" pitchFamily="34" charset="-120"/>
              </a:rPr>
              <a:t>5x + 10 − 2x + 3</a:t>
            </a:r>
            <a:endParaRPr lang="en-US" sz="1400" dirty="0"/>
          </a:p>
          <a:p>
            <a:pPr indent="0" marL="0">
              <a:lnSpc>
                <a:spcPts val="1800"/>
              </a:lnSpc>
              <a:buNone/>
            </a:pPr>
            <a:r>
              <a:rPr lang="en-US" sz="1400" b="1" dirty="0">
                <a:solidFill>
                  <a:srgbClr val="2B2350"/>
                </a:solidFill>
                <a:latin typeface="Arial" pitchFamily="34" charset="0"/>
                <a:ea typeface="Arial" pitchFamily="34" charset="-122"/>
                <a:cs typeface="Arial" pitchFamily="34" charset="-120"/>
              </a:rPr>
              <a:t>= 3x + 13</a:t>
            </a:r>
            <a:endParaRPr lang="en-US" sz="1400" dirty="0"/>
          </a:p>
        </p:txBody>
      </p:sp>
      <p:sp>
        <p:nvSpPr>
          <p:cNvPr id="17" name="rk2_r"/>
          <p:cNvSpPr/>
          <p:nvPr/>
        </p:nvSpPr>
        <p:spPr>
          <a:xfrm>
            <a:off x="868680" y="3438144"/>
            <a:ext cx="3703320" cy="457200"/>
          </a:xfrm>
          <a:prstGeom prst="roundRect">
            <a:avLst>
              <a:gd name="adj" fmla="val 12000"/>
            </a:avLst>
          </a:prstGeom>
          <a:solidFill>
            <a:srgbClr val="FDEEDC"/>
          </a:solidFill>
          <a:ln w="13970">
            <a:solidFill>
              <a:srgbClr val="EC6B58"/>
            </a:solidFill>
          </a:ln>
        </p:spPr>
        <p:txBody>
          <a:bodyPr wrap="square" lIns="1016" tIns="1016" rIns="1016" bIns="1016" rtlCol="0" anchor="ctr"/>
          <a:lstStyle/>
          <a:p>
            <a:pPr algn="l" indent="0" marL="0">
              <a:lnSpc>
                <a:spcPts val="1300"/>
              </a:lnSpc>
              <a:buNone/>
            </a:pPr>
            <a:r>
              <a:rPr lang="en-US" sz="1050" b="1" dirty="0">
                <a:solidFill>
                  <a:srgbClr val="2B2350"/>
                </a:solidFill>
                <a:latin typeface="Arial" pitchFamily="34" charset="0"/>
                <a:ea typeface="Arial" pitchFamily="34" charset="-122"/>
                <a:cs typeface="Arial" pitchFamily="34" charset="-120"/>
              </a:rPr>
              <a:t>4 marks. Every step is there: expanded, both signs changed, collected.</a:t>
            </a:r>
            <a:endParaRPr lang="en-US" sz="1050" dirty="0"/>
          </a:p>
        </p:txBody>
      </p:sp>
      <p:sp>
        <p:nvSpPr>
          <p:cNvPr id="18" name="rk3_bg"/>
          <p:cNvSpPr/>
          <p:nvPr/>
        </p:nvSpPr>
        <p:spPr>
          <a:xfrm>
            <a:off x="4846320" y="2798064"/>
            <a:ext cx="3886200" cy="1170432"/>
          </a:xfrm>
          <a:prstGeom prst="roundRect">
            <a:avLst>
              <a:gd name="adj" fmla="val 4688"/>
            </a:avLst>
          </a:prstGeom>
          <a:solidFill>
            <a:srgbClr val="F2F0F8"/>
          </a:solidFill>
          <a:ln w="12700">
            <a:solidFill>
              <a:srgbClr val="F2F0F8"/>
            </a:solidFill>
            <a:prstDash val="solid"/>
          </a:ln>
        </p:spPr>
      </p:sp>
      <p:sp>
        <p:nvSpPr>
          <p:cNvPr id="19" name="rk3_k"/>
          <p:cNvSpPr/>
          <p:nvPr/>
        </p:nvSpPr>
        <p:spPr>
          <a:xfrm>
            <a:off x="4974336" y="2907792"/>
            <a:ext cx="365760" cy="365760"/>
          </a:xfrm>
          <a:prstGeom prst="ellipse">
            <a:avLst/>
          </a:prstGeom>
          <a:solidFill>
            <a:srgbClr val="EC6B58"/>
          </a:solidFill>
          <a:ln>
            <a:solidFill>
              <a:srgbClr val="EC6B58"/>
            </a:solidFill>
          </a:ln>
        </p:spPr>
        <p:txBody>
          <a:bodyPr wrap="square" lIns="0" tIns="0" rIns="0" bIns="0" rtlCol="0" anchor="ctr"/>
          <a:lstStyle/>
          <a:p>
            <a:pPr algn="ctr" indent="0" marL="0">
              <a:buNone/>
            </a:pPr>
            <a:r>
              <a:rPr lang="en-US" sz="1300" b="1" dirty="0">
                <a:solidFill>
                  <a:srgbClr val="2B2350"/>
                </a:solidFill>
                <a:latin typeface="Arial" pitchFamily="34" charset="0"/>
                <a:ea typeface="Arial" pitchFamily="34" charset="-122"/>
                <a:cs typeface="Arial" pitchFamily="34" charset="-120"/>
              </a:rPr>
              <a:t>D</a:t>
            </a:r>
            <a:endParaRPr lang="en-US" sz="1300" dirty="0"/>
          </a:p>
        </p:txBody>
      </p:sp>
      <p:sp>
        <p:nvSpPr>
          <p:cNvPr id="20" name="rk3_w"/>
          <p:cNvSpPr txBox="1"/>
          <p:nvPr/>
        </p:nvSpPr>
        <p:spPr>
          <a:xfrm>
            <a:off x="5486400" y="2852928"/>
            <a:ext cx="3118104" cy="548640"/>
          </a:xfrm>
          <a:prstGeom prst="rect">
            <a:avLst/>
          </a:prstGeom>
          <a:noFill/>
          <a:ln/>
        </p:spPr>
        <p:txBody>
          <a:bodyPr wrap="square" lIns="0" tIns="0" rIns="0" bIns="0" rtlCol="0" anchor="ctr"/>
          <a:lstStyle/>
          <a:p>
            <a:pPr indent="0" marL="0">
              <a:lnSpc>
                <a:spcPts val="1800"/>
              </a:lnSpc>
              <a:buNone/>
            </a:pPr>
            <a:r>
              <a:rPr lang="en-US" sz="1400" b="1" dirty="0">
                <a:solidFill>
                  <a:srgbClr val="2B2350"/>
                </a:solidFill>
                <a:latin typeface="Arial" pitchFamily="34" charset="0"/>
                <a:ea typeface="Arial" pitchFamily="34" charset="-122"/>
                <a:cs typeface="Arial" pitchFamily="34" charset="-120"/>
              </a:rPr>
              <a:t>5x + 10 − 2x + 3</a:t>
            </a:r>
            <a:endParaRPr lang="en-US" sz="1400" dirty="0"/>
          </a:p>
          <a:p>
            <a:pPr indent="0" marL="0">
              <a:lnSpc>
                <a:spcPts val="1800"/>
              </a:lnSpc>
              <a:buNone/>
            </a:pPr>
            <a:r>
              <a:rPr lang="en-US" sz="1400" b="1" dirty="0">
                <a:solidFill>
                  <a:srgbClr val="2B2350"/>
                </a:solidFill>
                <a:latin typeface="Arial" pitchFamily="34" charset="0"/>
                <a:ea typeface="Arial" pitchFamily="34" charset="-122"/>
                <a:cs typeface="Arial" pitchFamily="34" charset="-120"/>
              </a:rPr>
              <a:t>= 3x + 10</a:t>
            </a:r>
            <a:endParaRPr lang="en-US" sz="1400" dirty="0"/>
          </a:p>
        </p:txBody>
      </p:sp>
      <p:sp>
        <p:nvSpPr>
          <p:cNvPr id="21" name="rk3_r"/>
          <p:cNvSpPr/>
          <p:nvPr/>
        </p:nvSpPr>
        <p:spPr>
          <a:xfrm>
            <a:off x="4937760" y="3438144"/>
            <a:ext cx="3703320" cy="457200"/>
          </a:xfrm>
          <a:prstGeom prst="roundRect">
            <a:avLst>
              <a:gd name="adj" fmla="val 12000"/>
            </a:avLst>
          </a:prstGeom>
          <a:solidFill>
            <a:srgbClr val="FDEEDC"/>
          </a:solidFill>
          <a:ln w="13970">
            <a:solidFill>
              <a:srgbClr val="EC6B58"/>
            </a:solidFill>
          </a:ln>
        </p:spPr>
        <p:txBody>
          <a:bodyPr wrap="square" lIns="1016" tIns="1016" rIns="1016" bIns="1016" rtlCol="0" anchor="ctr"/>
          <a:lstStyle/>
          <a:p>
            <a:pPr algn="l" indent="0" marL="0">
              <a:lnSpc>
                <a:spcPts val="1300"/>
              </a:lnSpc>
              <a:buNone/>
            </a:pPr>
            <a:r>
              <a:rPr lang="en-US" sz="1050" b="1" dirty="0">
                <a:solidFill>
                  <a:srgbClr val="2B2350"/>
                </a:solidFill>
                <a:latin typeface="Arial" pitchFamily="34" charset="0"/>
                <a:ea typeface="Arial" pitchFamily="34" charset="-122"/>
                <a:cs typeface="Arial" pitchFamily="34" charset="-120"/>
              </a:rPr>
              <a:t>3 marks. The brackets are right, but 10 + 3 is 13, not 10. A step is missing.</a:t>
            </a:r>
            <a:endParaRPr lang="en-US" sz="1050" dirty="0"/>
          </a:p>
        </p:txBody>
      </p:sp>
      <p:grpSp>
        <p:nvGrpSpPr>
          <p:cNvPr id="25" name="upg"/>
          <p:cNvGrpSpPr/>
          <p:nvPr/>
        </p:nvGrpSpPr>
        <p:grpSpPr>
          <a:xfrm>
            <a:off x="777240" y="4096512"/>
            <a:ext cx="7955280" cy="896112"/>
            <a:chOff x="777240" y="4096512"/>
            <a:chExt cx="7955280" cy="896112"/>
          </a:xfrm>
        </p:grpSpPr>
        <p:sp>
          <p:nvSpPr>
            <p:cNvPr id="22" name="up_bg"/>
            <p:cNvSpPr/>
            <p:nvPr/>
          </p:nvSpPr>
          <p:spPr>
            <a:xfrm>
              <a:off x="777240" y="4096512"/>
              <a:ext cx="7955280" cy="896112"/>
            </a:xfrm>
            <a:prstGeom prst="roundRect">
              <a:avLst>
                <a:gd name="adj" fmla="val 6122"/>
              </a:avLst>
            </a:prstGeom>
            <a:solidFill>
              <a:srgbClr val="EAF6EF"/>
            </a:solidFill>
            <a:ln w="17780">
              <a:solidFill>
                <a:srgbClr val="2E8B57"/>
              </a:solidFill>
              <a:prstDash val="solid"/>
            </a:ln>
          </p:spPr>
        </p:sp>
        <p:sp>
          <p:nvSpPr>
            <p:cNvPr id="23" name="up_h"/>
            <p:cNvSpPr txBox="1"/>
            <p:nvPr/>
          </p:nvSpPr>
          <p:spPr>
            <a:xfrm>
              <a:off x="960120" y="4123944"/>
              <a:ext cx="7589520" cy="219456"/>
            </a:xfrm>
            <a:prstGeom prst="rect">
              <a:avLst/>
            </a:prstGeom>
            <a:noFill/>
            <a:ln/>
          </p:spPr>
          <p:txBody>
            <a:bodyPr wrap="square" lIns="0" tIns="0" rIns="0" bIns="0" rtlCol="0" anchor="ctr"/>
            <a:lstStyle/>
            <a:p>
              <a:pPr indent="0" marL="0">
                <a:buNone/>
              </a:pPr>
              <a:r>
                <a:rPr lang="en-US" sz="1000" b="1" spc="100" kern="0" dirty="0">
                  <a:solidFill>
                    <a:srgbClr val="2E8B57"/>
                  </a:solidFill>
                  <a:latin typeface="Arial" pitchFamily="34" charset="0"/>
                  <a:ea typeface="Arial" pitchFamily="34" charset="-122"/>
                  <a:cs typeface="Arial" pitchFamily="34" charset="-120"/>
                </a:rPr>
                <a:t>UPGRADE B, THE ONE WITH THE MISTAKE</a:t>
              </a:r>
              <a:endParaRPr lang="en-US" sz="1000" dirty="0"/>
            </a:p>
          </p:txBody>
        </p:sp>
        <p:sp>
          <p:nvSpPr>
            <p:cNvPr id="24" name="up_t"/>
            <p:cNvSpPr txBox="1"/>
            <p:nvPr/>
          </p:nvSpPr>
          <p:spPr>
            <a:xfrm>
              <a:off x="960120" y="4352544"/>
              <a:ext cx="7589520" cy="603504"/>
            </a:xfrm>
            <a:prstGeom prst="rect">
              <a:avLst/>
            </a:prstGeom>
            <a:noFill/>
            <a:ln/>
          </p:spPr>
          <p:txBody>
            <a:bodyPr wrap="square" lIns="0" tIns="0" rIns="0" bIns="0" rtlCol="0" anchor="t"/>
            <a:lstStyle/>
            <a:p>
              <a:pPr indent="0" marL="0">
                <a:lnSpc>
                  <a:spcPts val="1400"/>
                </a:lnSpc>
                <a:buNone/>
              </a:pPr>
              <a:r>
                <a:rPr lang="en-US" sz="1100" b="1" dirty="0">
                  <a:solidFill>
                    <a:srgbClr val="2B2350"/>
                  </a:solidFill>
                  <a:latin typeface="Arial" pitchFamily="34" charset="0"/>
                  <a:ea typeface="Arial" pitchFamily="34" charset="-122"/>
                  <a:cs typeface="Arial" pitchFamily="34" charset="-120"/>
                </a:rPr>
                <a:t>5(x + 2) = 5x + 10, not 5x + 2.  The 5 multiplies every term.</a:t>
              </a:r>
              <a:endParaRPr lang="en-US" sz="1100" dirty="0"/>
            </a:p>
            <a:p>
              <a:pPr indent="0" marL="0">
                <a:lnSpc>
                  <a:spcPts val="1400"/>
                </a:lnSpc>
                <a:buNone/>
              </a:pPr>
              <a:r>
                <a:rPr lang="en-US" sz="1100" b="1" dirty="0">
                  <a:solidFill>
                    <a:srgbClr val="2B2350"/>
                  </a:solidFill>
                  <a:latin typeface="Arial" pitchFamily="34" charset="0"/>
                  <a:ea typeface="Arial" pitchFamily="34" charset="-122"/>
                  <a:cs typeface="Arial" pitchFamily="34" charset="-120"/>
                </a:rPr>
                <a:t>−(2x − 3) = −2x + 3, not −2x − 3.  The minus changes both signs.</a:t>
              </a:r>
              <a:endParaRPr lang="en-US" sz="1100" dirty="0"/>
            </a:p>
            <a:p>
              <a:pPr indent="0" marL="0">
                <a:lnSpc>
                  <a:spcPts val="1400"/>
                </a:lnSpc>
                <a:buNone/>
              </a:pPr>
              <a:r>
                <a:rPr lang="en-US" sz="1100" b="1" dirty="0">
                  <a:solidFill>
                    <a:srgbClr val="2B2350"/>
                  </a:solidFill>
                  <a:latin typeface="Arial" pitchFamily="34" charset="0"/>
                  <a:ea typeface="Arial" pitchFamily="34" charset="-122"/>
                  <a:cs typeface="Arial" pitchFamily="34" charset="-120"/>
                </a:rPr>
                <a:t>5x + 10 − 2x + 3 = 3x + 13</a:t>
              </a:r>
              <a:endParaRPr lang="en-US" sz="11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animScale>
                                      <p:cBhvr>
                                        <p:cTn id="5" dur="400" fill="hold"/>
                                        <p:tgtEl>
                                          <p:spTgt spid="17"/>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animScale>
                                      <p:cBhvr>
                                        <p:cTn id="11" dur="400" fill="hold"/>
                                        <p:tgtEl>
                                          <p:spTgt spid="21"/>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animScale>
                                      <p:cBhvr>
                                        <p:cTn id="17" dur="400" fill="hold"/>
                                        <p:tgtEl>
                                          <p:spTgt spid="9"/>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animScale>
                                      <p:cBhvr>
                                        <p:cTn id="23" dur="400" fill="hold"/>
                                        <p:tgtEl>
                                          <p:spTgt spid="13"/>
                                        </p:tgtEl>
                                      </p:cBhvr>
                                      <p:from x="0" y="0"/>
                                      <p:to x="100000" y="100000"/>
                                    </p:animScale>
                                  </p:childTnLst>
                                </p:cTn>
                              </p:par>
                            </p:childTnLst>
                          </p:cTn>
                        </p:par>
                      </p:childTnLst>
                    </p:cTn>
                  </p:par>
                  <p:par>
                    <p:cTn id="30" fill="hold">
                      <p:stCondLst>
                        <p:cond delay="indefinite"/>
                      </p:stCondLst>
                      <p:childTnLst>
                        <p:par>
                          <p:cTn id="31" fill="hold">
                            <p:stCondLst>
                              <p:cond delay="0"/>
                            </p:stCondLst>
                            <p:childTnLst>
                              <p:par>
                                <p:cTn id="29" presetID="10" presetClass="entr" presetSubtype="0"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32" fill="hold" display="0">
                  <p:stCondLst>
                    <p:cond delay="0"/>
                  </p:stCondLst>
                  <p:endCondLst>
                    <p:cond evt="onStopAudio" delay="0">
                      <p:tgtEl>
                        <p:sldTgt/>
                      </p:tgtEl>
                    </p:cond>
                  </p:end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691640"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YOU DO · 15 MIN</a:t>
            </a:r>
            <a:endParaRPr lang="en-US" sz="900" dirty="0"/>
          </a:p>
        </p:txBody>
      </p:sp>
      <p:pic>
        <p:nvPicPr>
          <p:cNvPr id="4" name="gc_logo" descr="/Users/chukanwobodo/Desktop/lesson-toolkit/assets/classroom.png">    </p:cNvPr>
          <p:cNvPicPr>
            <a:picLocks noChangeAspect="1"/>
          </p:cNvPicPr>
          <p:nvPr/>
        </p:nvPicPr>
        <p:blipFill>
          <a:blip r:embed="rId4">
            <a:alphaModFix amt="38000"/>
          </a:blip>
          <a:stretch>
            <a:fillRect/>
          </a:stretch>
        </p:blipFill>
        <p:spPr>
          <a:xfrm>
            <a:off x="7589520" y="603504"/>
            <a:ext cx="1143000" cy="987552"/>
          </a:xfrm>
          <a:prstGeom prst="rect">
            <a:avLst/>
          </a:prstGeom>
        </p:spPr>
      </p:pic>
      <p:sp>
        <p:nvSpPr>
          <p:cNvPr id="5" name="slide_title"/>
          <p:cNvSpPr txBox="1"/>
          <p:nvPr/>
        </p:nvSpPr>
        <p:spPr>
          <a:xfrm>
            <a:off x="777240" y="658368"/>
            <a:ext cx="6629400" cy="640080"/>
          </a:xfrm>
          <a:prstGeom prst="rect">
            <a:avLst/>
          </a:prstGeom>
          <a:noFill/>
          <a:ln/>
        </p:spPr>
        <p:txBody>
          <a:bodyPr wrap="square" lIns="0" tIns="0" rIns="0" bIns="0" rtlCol="0" anchor="ctr"/>
          <a:lstStyle/>
          <a:p>
            <a:pPr indent="0" marL="0">
              <a:buNone/>
            </a:pPr>
            <a:r>
              <a:rPr lang="en-US" sz="2500" b="1" dirty="0">
                <a:solidFill>
                  <a:srgbClr val="2B2350"/>
                </a:solidFill>
                <a:latin typeface="Georgia" pitchFamily="34" charset="0"/>
                <a:ea typeface="Georgia" pitchFamily="34" charset="-122"/>
                <a:cs typeface="Georgia" pitchFamily="34" charset="-120"/>
              </a:rPr>
              <a:t>Brackets and Beyond game</a:t>
            </a:r>
            <a:endParaRPr lang="en-US" sz="2500" dirty="0"/>
          </a:p>
        </p:txBody>
      </p:sp>
      <p:sp>
        <p:nvSpPr>
          <p:cNvPr id="6" name="slide_sub"/>
          <p:cNvSpPr txBox="1"/>
          <p:nvPr/>
        </p:nvSpPr>
        <p:spPr>
          <a:xfrm>
            <a:off x="777240" y="1316736"/>
            <a:ext cx="6629400" cy="27432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Open Google Classroom now.</a:t>
            </a:r>
            <a:endParaRPr lang="en-US" sz="1300" dirty="0"/>
          </a:p>
        </p:txBody>
      </p:sp>
      <p:grpSp>
        <p:nvGrpSpPr>
          <p:cNvPr id="20" name="t0"/>
          <p:cNvGrpSpPr/>
          <p:nvPr/>
        </p:nvGrpSpPr>
        <p:grpSpPr>
          <a:xfrm>
            <a:off x="777240" y="1847088"/>
            <a:ext cx="2505456" cy="1700784"/>
            <a:chOff x="777240" y="1847088"/>
            <a:chExt cx="2505456" cy="1700784"/>
          </a:xfrm>
        </p:grpSpPr>
        <p:sp>
          <p:nvSpPr>
            <p:cNvPr id="7" name="t0_bg"/>
            <p:cNvSpPr/>
            <p:nvPr/>
          </p:nvSpPr>
          <p:spPr>
            <a:xfrm>
              <a:off x="777240" y="1847088"/>
              <a:ext cx="2505456" cy="1700784"/>
            </a:xfrm>
            <a:prstGeom prst="roundRect">
              <a:avLst>
                <a:gd name="adj" fmla="val 3226"/>
              </a:avLst>
            </a:prstGeom>
            <a:solidFill>
              <a:srgbClr val="EEEAF8"/>
            </a:solidFill>
            <a:ln w="17780">
              <a:solidFill>
                <a:srgbClr val="EC6B58"/>
              </a:solidFill>
              <a:prstDash val="solid"/>
            </a:ln>
          </p:spPr>
        </p:sp>
        <p:sp>
          <p:nvSpPr>
            <p:cNvPr id="8" name="t0_h"/>
            <p:cNvSpPr txBox="1"/>
            <p:nvPr/>
          </p:nvSpPr>
          <p:spPr>
            <a:xfrm>
              <a:off x="960120"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ROUND 1</a:t>
              </a:r>
              <a:endParaRPr lang="en-US" sz="1100" dirty="0"/>
            </a:p>
          </p:txBody>
        </p:sp>
        <p:sp>
          <p:nvSpPr>
            <p:cNvPr id="9" name="t0_s"/>
            <p:cNvSpPr txBox="1"/>
            <p:nvPr/>
          </p:nvSpPr>
          <p:spPr>
            <a:xfrm>
              <a:off x="960120"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Tap the line</a:t>
              </a:r>
              <a:endParaRPr lang="en-US" sz="1500" dirty="0"/>
            </a:p>
          </p:txBody>
        </p:sp>
        <p:sp>
          <p:nvSpPr>
            <p:cNvPr id="10" name="t0_b"/>
            <p:cNvSpPr txBox="1"/>
            <p:nvPr/>
          </p:nvSpPr>
          <p:spPr>
            <a:xfrm>
              <a:off x="960120"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A worked expansion with a bracket and a negative outside. Tap the line where it goes wrong. Sometimes nothing is wrong.</a:t>
              </a:r>
              <a:endParaRPr lang="en-US" sz="1150" dirty="0"/>
            </a:p>
          </p:txBody>
        </p:sp>
      </p:grpSp>
      <p:grpSp>
        <p:nvGrpSpPr>
          <p:cNvPr id="21" name="t1"/>
          <p:cNvGrpSpPr/>
          <p:nvPr/>
        </p:nvGrpSpPr>
        <p:grpSpPr>
          <a:xfrm>
            <a:off x="3502152" y="1847088"/>
            <a:ext cx="2505456" cy="1700784"/>
            <a:chOff x="3502152" y="1847088"/>
            <a:chExt cx="2505456" cy="1700784"/>
          </a:xfrm>
        </p:grpSpPr>
        <p:sp>
          <p:nvSpPr>
            <p:cNvPr id="11" name="t1_bg"/>
            <p:cNvSpPr/>
            <p:nvPr/>
          </p:nvSpPr>
          <p:spPr>
            <a:xfrm>
              <a:off x="3502152" y="1847088"/>
              <a:ext cx="2505456" cy="1700784"/>
            </a:xfrm>
            <a:prstGeom prst="roundRect">
              <a:avLst>
                <a:gd name="adj" fmla="val 3226"/>
              </a:avLst>
            </a:prstGeom>
            <a:solidFill>
              <a:srgbClr val="FDF0EE"/>
            </a:solidFill>
            <a:ln w="17780">
              <a:solidFill>
                <a:srgbClr val="EC6B58"/>
              </a:solidFill>
              <a:prstDash val="solid"/>
            </a:ln>
          </p:spPr>
        </p:sp>
        <p:sp>
          <p:nvSpPr>
            <p:cNvPr id="12" name="t1_h"/>
            <p:cNvSpPr txBox="1"/>
            <p:nvPr/>
          </p:nvSpPr>
          <p:spPr>
            <a:xfrm>
              <a:off x="3685032"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ROUND 2</a:t>
              </a:r>
              <a:endParaRPr lang="en-US" sz="1100" dirty="0"/>
            </a:p>
          </p:txBody>
        </p:sp>
        <p:sp>
          <p:nvSpPr>
            <p:cNvPr id="13" name="t1_s"/>
            <p:cNvSpPr txBox="1"/>
            <p:nvPr/>
          </p:nvSpPr>
          <p:spPr>
            <a:xfrm>
              <a:off x="3685032"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Two brackets</a:t>
              </a:r>
              <a:endParaRPr lang="en-US" sz="1500" dirty="0"/>
            </a:p>
          </p:txBody>
        </p:sp>
        <p:sp>
          <p:nvSpPr>
            <p:cNvPr id="14" name="t1_b"/>
            <p:cNvSpPr txBox="1"/>
            <p:nvPr/>
          </p:nvSpPr>
          <p:spPr>
            <a:xfrm>
              <a:off x="3685032"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Expand and simplify. Tap the first wrong line, or say there is no mistake.</a:t>
              </a:r>
              <a:endParaRPr lang="en-US" sz="1150" dirty="0"/>
            </a:p>
          </p:txBody>
        </p:sp>
      </p:grpSp>
      <p:grpSp>
        <p:nvGrpSpPr>
          <p:cNvPr id="22" name="t2"/>
          <p:cNvGrpSpPr/>
          <p:nvPr/>
        </p:nvGrpSpPr>
        <p:grpSpPr>
          <a:xfrm>
            <a:off x="6227064" y="1847088"/>
            <a:ext cx="2505456" cy="1700784"/>
            <a:chOff x="6227064" y="1847088"/>
            <a:chExt cx="2505456" cy="1700784"/>
          </a:xfrm>
        </p:grpSpPr>
        <p:sp>
          <p:nvSpPr>
            <p:cNvPr id="15" name="t2_bg"/>
            <p:cNvSpPr/>
            <p:nvPr/>
          </p:nvSpPr>
          <p:spPr>
            <a:xfrm>
              <a:off x="6227064" y="1847088"/>
              <a:ext cx="2505456" cy="1700784"/>
            </a:xfrm>
            <a:prstGeom prst="roundRect">
              <a:avLst>
                <a:gd name="adj" fmla="val 3226"/>
              </a:avLst>
            </a:prstGeom>
            <a:solidFill>
              <a:srgbClr val="F6D9D4"/>
            </a:solidFill>
            <a:ln w="17780">
              <a:solidFill>
                <a:srgbClr val="EC6B58"/>
              </a:solidFill>
              <a:prstDash val="solid"/>
            </a:ln>
          </p:spPr>
        </p:sp>
        <p:sp>
          <p:nvSpPr>
            <p:cNvPr id="16" name="t2_h"/>
            <p:cNvSpPr txBox="1"/>
            <p:nvPr/>
          </p:nvSpPr>
          <p:spPr>
            <a:xfrm>
              <a:off x="6409944"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ROUND 3</a:t>
              </a:r>
              <a:endParaRPr lang="en-US" sz="1100" dirty="0"/>
            </a:p>
          </p:txBody>
        </p:sp>
        <p:sp>
          <p:nvSpPr>
            <p:cNvPr id="17" name="t2_s"/>
            <p:cNvSpPr txBox="1"/>
            <p:nvPr/>
          </p:nvSpPr>
          <p:spPr>
            <a:xfrm>
              <a:off x="6409944"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A minus in front</a:t>
              </a:r>
              <a:endParaRPr lang="en-US" sz="1500" dirty="0"/>
            </a:p>
          </p:txBody>
        </p:sp>
        <p:sp>
          <p:nvSpPr>
            <p:cNvPr id="18" name="t2_b"/>
            <p:cNvSpPr txBox="1"/>
            <p:nvPr/>
          </p:nvSpPr>
          <p:spPr>
            <a:xfrm>
              <a:off x="6409944"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A bracket taken away, and a letter outside. Very hard. The last two are meant to be almost impossible.</a:t>
              </a:r>
              <a:endParaRPr lang="en-US" sz="1150" dirty="0"/>
            </a:p>
          </p:txBody>
        </p:sp>
      </p:grpSp>
      <p:sp>
        <p:nvSpPr>
          <p:cNvPr id="19" name="yd_note"/>
          <p:cNvSpPr txBox="1"/>
          <p:nvPr/>
        </p:nvSpPr>
        <p:spPr>
          <a:xfrm>
            <a:off x="777240" y="3767328"/>
            <a:ext cx="7955280" cy="566928"/>
          </a:xfrm>
          <a:prstGeom prst="rect">
            <a:avLst/>
          </a:prstGeom>
          <a:noFill/>
          <a:ln/>
        </p:spPr>
        <p:txBody>
          <a:bodyPr wrap="square" lIns="0" tIns="0" rIns="0" bIns="0" rtlCol="0" anchor="ctr"/>
          <a:lstStyle/>
          <a:p>
            <a:pPr indent="0" marL="0">
              <a:buNone/>
            </a:pPr>
            <a:r>
              <a:rPr lang="en-US" sz="1250" b="1" dirty="0">
                <a:solidFill>
                  <a:srgbClr val="2B2350"/>
                </a:solidFill>
                <a:latin typeface="Arial" pitchFamily="34" charset="0"/>
                <a:ea typeface="Arial" pitchFamily="34" charset="-122"/>
                <a:cs typeface="Arial" pitchFamily="34" charset="-120"/>
              </a:rPr>
              <a:t>No timer on the questions. Read the feedback. Stop and see your results any time. Finished? The worksheet, part 2, is there too.</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0"/>
                                        </p:tgtEl>
                                        <p:attrNameLst>
                                          <p:attrName>style.visibility</p:attrName>
                                        </p:attrNameLst>
                                      </p:cBhvr>
                                      <p:to>
                                        <p:strVal val="visible"/>
                                      </p:to>
                                    </p:set>
                                    <p:animEffect transition="in" filter="fade">
                                      <p:cBhvr>
                                        <p:cTn id="4"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1"/>
                                        </p:tgtEl>
                                        <p:attrNameLst>
                                          <p:attrName>style.visibility</p:attrName>
                                        </p:attrNameLst>
                                      </p:cBhvr>
                                      <p:to>
                                        <p:strVal val="visible"/>
                                      </p:to>
                                    </p:set>
                                    <p:animEffect transition="in" filter="fade">
                                      <p:cBhvr>
                                        <p:cTn id="9" dur="4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691640"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YOU DO · 15 MIN</a:t>
            </a:r>
            <a:endParaRPr lang="en-US" sz="900" dirty="0"/>
          </a:p>
        </p:txBody>
      </p:sp>
      <p:pic>
        <p:nvPicPr>
          <p:cNvPr id="4" name="gc_logo" descr="/Users/chukanwobodo/Desktop/lesson-toolkit/assets/classroom.png">    </p:cNvPr>
          <p:cNvPicPr>
            <a:picLocks noChangeAspect="1"/>
          </p:cNvPicPr>
          <p:nvPr/>
        </p:nvPicPr>
        <p:blipFill>
          <a:blip r:embed="rId4">
            <a:alphaModFix amt="38000"/>
          </a:blip>
          <a:stretch>
            <a:fillRect/>
          </a:stretch>
        </p:blipFill>
        <p:spPr>
          <a:xfrm>
            <a:off x="7589520" y="603504"/>
            <a:ext cx="1143000" cy="987552"/>
          </a:xfrm>
          <a:prstGeom prst="rect">
            <a:avLst/>
          </a:prstGeom>
        </p:spPr>
      </p:pic>
      <p:sp>
        <p:nvSpPr>
          <p:cNvPr id="5" name="slide_title"/>
          <p:cNvSpPr txBox="1"/>
          <p:nvPr/>
        </p:nvSpPr>
        <p:spPr>
          <a:xfrm>
            <a:off x="777240" y="658368"/>
            <a:ext cx="6629400" cy="640080"/>
          </a:xfrm>
          <a:prstGeom prst="rect">
            <a:avLst/>
          </a:prstGeom>
          <a:noFill/>
          <a:ln/>
        </p:spPr>
        <p:txBody>
          <a:bodyPr wrap="square" lIns="0" tIns="0" rIns="0" bIns="0" rtlCol="0" anchor="ctr"/>
          <a:lstStyle/>
          <a:p>
            <a:pPr indent="0" marL="0">
              <a:buNone/>
            </a:pPr>
            <a:r>
              <a:rPr lang="en-US" sz="2500" b="1" dirty="0">
                <a:solidFill>
                  <a:srgbClr val="2B2350"/>
                </a:solidFill>
                <a:latin typeface="Georgia" pitchFamily="34" charset="0"/>
                <a:ea typeface="Georgia" pitchFamily="34" charset="-122"/>
                <a:cs typeface="Georgia" pitchFamily="34" charset="-120"/>
              </a:rPr>
              <a:t>Brackets and Beyond worksheet, part 2</a:t>
            </a:r>
            <a:endParaRPr lang="en-US" sz="2500" dirty="0"/>
          </a:p>
        </p:txBody>
      </p:sp>
      <p:sp>
        <p:nvSpPr>
          <p:cNvPr id="6" name="slide_sub"/>
          <p:cNvSpPr txBox="1"/>
          <p:nvPr/>
        </p:nvSpPr>
        <p:spPr>
          <a:xfrm>
            <a:off x="777240" y="1316736"/>
            <a:ext cx="6629400" cy="27432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Open Google Classroom now.</a:t>
            </a:r>
            <a:endParaRPr lang="en-US" sz="1300" dirty="0"/>
          </a:p>
        </p:txBody>
      </p:sp>
      <p:grpSp>
        <p:nvGrpSpPr>
          <p:cNvPr id="20" name="t0"/>
          <p:cNvGrpSpPr/>
          <p:nvPr/>
        </p:nvGrpSpPr>
        <p:grpSpPr>
          <a:xfrm>
            <a:off x="777240" y="1847088"/>
            <a:ext cx="2505456" cy="1700784"/>
            <a:chOff x="777240" y="1847088"/>
            <a:chExt cx="2505456" cy="1700784"/>
          </a:xfrm>
        </p:grpSpPr>
        <p:sp>
          <p:nvSpPr>
            <p:cNvPr id="7" name="t0_bg"/>
            <p:cNvSpPr/>
            <p:nvPr/>
          </p:nvSpPr>
          <p:spPr>
            <a:xfrm>
              <a:off x="777240" y="1847088"/>
              <a:ext cx="2505456" cy="1700784"/>
            </a:xfrm>
            <a:prstGeom prst="roundRect">
              <a:avLst>
                <a:gd name="adj" fmla="val 3226"/>
              </a:avLst>
            </a:prstGeom>
            <a:solidFill>
              <a:srgbClr val="EEEAF8"/>
            </a:solidFill>
            <a:ln w="17780">
              <a:solidFill>
                <a:srgbClr val="EC6B58"/>
              </a:solidFill>
              <a:prstDash val="solid"/>
            </a:ln>
          </p:spPr>
        </p:sp>
        <p:sp>
          <p:nvSpPr>
            <p:cNvPr id="8" name="t0_h"/>
            <p:cNvSpPr txBox="1"/>
            <p:nvPr/>
          </p:nvSpPr>
          <p:spPr>
            <a:xfrm>
              <a:off x="960120"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BRONZE</a:t>
              </a:r>
              <a:endParaRPr lang="en-US" sz="1100" dirty="0"/>
            </a:p>
          </p:txBody>
        </p:sp>
        <p:sp>
          <p:nvSpPr>
            <p:cNvPr id="9" name="t0_s"/>
            <p:cNvSpPr txBox="1"/>
            <p:nvPr/>
          </p:nvSpPr>
          <p:spPr>
            <a:xfrm>
              <a:off x="960120"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Take one away</a:t>
              </a:r>
              <a:endParaRPr lang="en-US" sz="1500" dirty="0"/>
            </a:p>
          </p:txBody>
        </p:sp>
        <p:sp>
          <p:nvSpPr>
            <p:cNvPr id="10" name="t0_b"/>
            <p:cNvSpPr txBox="1"/>
            <p:nvPr/>
          </p:nvSpPr>
          <p:spPr>
            <a:xfrm>
              <a:off x="960120"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Numbers first, then a letter. A bracket taken away, and two brackets. Check by putting a number in.</a:t>
              </a:r>
              <a:endParaRPr lang="en-US" sz="1150" dirty="0"/>
            </a:p>
          </p:txBody>
        </p:sp>
      </p:grpSp>
      <p:grpSp>
        <p:nvGrpSpPr>
          <p:cNvPr id="21" name="t1"/>
          <p:cNvGrpSpPr/>
          <p:nvPr/>
        </p:nvGrpSpPr>
        <p:grpSpPr>
          <a:xfrm>
            <a:off x="3502152" y="1847088"/>
            <a:ext cx="2505456" cy="1700784"/>
            <a:chOff x="3502152" y="1847088"/>
            <a:chExt cx="2505456" cy="1700784"/>
          </a:xfrm>
        </p:grpSpPr>
        <p:sp>
          <p:nvSpPr>
            <p:cNvPr id="11" name="t1_bg"/>
            <p:cNvSpPr/>
            <p:nvPr/>
          </p:nvSpPr>
          <p:spPr>
            <a:xfrm>
              <a:off x="3502152" y="1847088"/>
              <a:ext cx="2505456" cy="1700784"/>
            </a:xfrm>
            <a:prstGeom prst="roundRect">
              <a:avLst>
                <a:gd name="adj" fmla="val 3226"/>
              </a:avLst>
            </a:prstGeom>
            <a:solidFill>
              <a:srgbClr val="FDF0EE"/>
            </a:solidFill>
            <a:ln w="17780">
              <a:solidFill>
                <a:srgbClr val="EC6B58"/>
              </a:solidFill>
              <a:prstDash val="solid"/>
            </a:ln>
          </p:spPr>
        </p:sp>
        <p:sp>
          <p:nvSpPr>
            <p:cNvPr id="12" name="t1_h"/>
            <p:cNvSpPr txBox="1"/>
            <p:nvPr/>
          </p:nvSpPr>
          <p:spPr>
            <a:xfrm>
              <a:off x="3685032"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SILVER</a:t>
              </a:r>
              <a:endParaRPr lang="en-US" sz="1100" dirty="0"/>
            </a:p>
          </p:txBody>
        </p:sp>
        <p:sp>
          <p:nvSpPr>
            <p:cNvPr id="13" name="t1_s"/>
            <p:cNvSpPr txBox="1"/>
            <p:nvPr/>
          </p:nvSpPr>
          <p:spPr>
            <a:xfrm>
              <a:off x="3685032"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Expand and take away</a:t>
              </a:r>
              <a:endParaRPr lang="en-US" sz="1500" dirty="0"/>
            </a:p>
          </p:txBody>
        </p:sp>
        <p:sp>
          <p:nvSpPr>
            <p:cNvPr id="14" name="t1_b"/>
            <p:cNvSpPr txBox="1"/>
            <p:nvPr/>
          </p:nvSpPr>
          <p:spPr>
            <a:xfrm>
              <a:off x="3685032"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Two brackets with a minus between them, a lost sign to find, and a number check. Order of operations with negatives.</a:t>
              </a:r>
              <a:endParaRPr lang="en-US" sz="1150" dirty="0"/>
            </a:p>
          </p:txBody>
        </p:sp>
      </p:grpSp>
      <p:grpSp>
        <p:nvGrpSpPr>
          <p:cNvPr id="22" name="t2"/>
          <p:cNvGrpSpPr/>
          <p:nvPr/>
        </p:nvGrpSpPr>
        <p:grpSpPr>
          <a:xfrm>
            <a:off x="6227064" y="1847088"/>
            <a:ext cx="2505456" cy="1700784"/>
            <a:chOff x="6227064" y="1847088"/>
            <a:chExt cx="2505456" cy="1700784"/>
          </a:xfrm>
        </p:grpSpPr>
        <p:sp>
          <p:nvSpPr>
            <p:cNvPr id="15" name="t2_bg"/>
            <p:cNvSpPr/>
            <p:nvPr/>
          </p:nvSpPr>
          <p:spPr>
            <a:xfrm>
              <a:off x="6227064" y="1847088"/>
              <a:ext cx="2505456" cy="1700784"/>
            </a:xfrm>
            <a:prstGeom prst="roundRect">
              <a:avLst>
                <a:gd name="adj" fmla="val 3226"/>
              </a:avLst>
            </a:prstGeom>
            <a:solidFill>
              <a:srgbClr val="F6D9D4"/>
            </a:solidFill>
            <a:ln w="17780">
              <a:solidFill>
                <a:srgbClr val="EC6B58"/>
              </a:solidFill>
              <a:prstDash val="solid"/>
            </a:ln>
          </p:spPr>
        </p:sp>
        <p:sp>
          <p:nvSpPr>
            <p:cNvPr id="16" name="t2_h"/>
            <p:cNvSpPr txBox="1"/>
            <p:nvPr/>
          </p:nvSpPr>
          <p:spPr>
            <a:xfrm>
              <a:off x="6409944"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GOLD</a:t>
              </a:r>
              <a:endParaRPr lang="en-US" sz="1100" dirty="0"/>
            </a:p>
          </p:txBody>
        </p:sp>
        <p:sp>
          <p:nvSpPr>
            <p:cNvPr id="17" name="t2_s"/>
            <p:cNvSpPr txBox="1"/>
            <p:nvPr/>
          </p:nvSpPr>
          <p:spPr>
            <a:xfrm>
              <a:off x="6409944"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Prove it</a:t>
              </a:r>
              <a:endParaRPr lang="en-US" sz="1500" dirty="0"/>
            </a:p>
          </p:txBody>
        </p:sp>
        <p:sp>
          <p:nvSpPr>
            <p:cNvPr id="18" name="t2_b"/>
            <p:cNvSpPr txBox="1"/>
            <p:nvPr/>
          </p:nvSpPr>
          <p:spPr>
            <a:xfrm>
              <a:off x="6409944"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A letter outside, a minus in front, and show that an expression is always 9. Why does the sign change?</a:t>
              </a:r>
              <a:endParaRPr lang="en-US" sz="1150" dirty="0"/>
            </a:p>
          </p:txBody>
        </p:sp>
      </p:grpSp>
      <p:sp>
        <p:nvSpPr>
          <p:cNvPr id="19" name="yd_note"/>
          <p:cNvSpPr txBox="1"/>
          <p:nvPr/>
        </p:nvSpPr>
        <p:spPr>
          <a:xfrm>
            <a:off x="777240" y="3767328"/>
            <a:ext cx="7955280" cy="566928"/>
          </a:xfrm>
          <a:prstGeom prst="rect">
            <a:avLst/>
          </a:prstGeom>
          <a:noFill/>
          <a:ln/>
        </p:spPr>
        <p:txBody>
          <a:bodyPr wrap="square" lIns="0" tIns="0" rIns="0" bIns="0" rtlCol="0" anchor="ctr"/>
          <a:lstStyle/>
          <a:p>
            <a:pPr indent="0" marL="0">
              <a:buNone/>
            </a:pPr>
            <a:r>
              <a:rPr lang="en-US" sz="1250" b="1" dirty="0">
                <a:solidFill>
                  <a:srgbClr val="2B2350"/>
                </a:solidFill>
                <a:latin typeface="Arial" pitchFamily="34" charset="0"/>
                <a:ea typeface="Arial" pitchFamily="34" charset="-122"/>
                <a:cs typeface="Arial" pitchFamily="34" charset="-120"/>
              </a:rPr>
              <a:t>Same tier as before. Part 2 starts on a new page. Finished early? Go back and check part 1 by putting x = 2 in.</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0"/>
                                        </p:tgtEl>
                                        <p:attrNameLst>
                                          <p:attrName>style.visibility</p:attrName>
                                        </p:attrNameLst>
                                      </p:cBhvr>
                                      <p:to>
                                        <p:strVal val="visible"/>
                                      </p:to>
                                    </p:set>
                                    <p:animEffect transition="in" filter="fade">
                                      <p:cBhvr>
                                        <p:cTn id="4"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1"/>
                                        </p:tgtEl>
                                        <p:attrNameLst>
                                          <p:attrName>style.visibility</p:attrName>
                                        </p:attrNameLst>
                                      </p:cBhvr>
                                      <p:to>
                                        <p:strVal val="visible"/>
                                      </p:to>
                                    </p:set>
                                    <p:animEffect transition="in" filter="fade">
                                      <p:cBhvr>
                                        <p:cTn id="9" dur="4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422806"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MARK · 3 MIN</a:t>
            </a:r>
            <a:endParaRPr lang="en-US" sz="900" dirty="0"/>
          </a:p>
        </p:txBody>
      </p:sp>
      <p:sp>
        <p:nvSpPr>
          <p:cNvPr id="4" name="slide_title"/>
          <p:cNvSpPr txBox="1"/>
          <p:nvPr/>
        </p:nvSpPr>
        <p:spPr>
          <a:xfrm>
            <a:off x="777240" y="676656"/>
            <a:ext cx="7955280" cy="877824"/>
          </a:xfrm>
          <a:prstGeom prst="rect">
            <a:avLst/>
          </a:prstGeom>
          <a:noFill/>
          <a:ln/>
        </p:spPr>
        <p:txBody>
          <a:bodyPr wrap="square" lIns="0" tIns="0" rIns="0" bIns="0" rtlCol="0" anchor="ctr"/>
          <a:lstStyle/>
          <a:p>
            <a:pPr indent="0" marL="0">
              <a:lnSpc>
                <a:spcPts val="3200"/>
              </a:lnSpc>
              <a:buNone/>
            </a:pPr>
            <a:r>
              <a:rPr lang="en-US" sz="2600" b="1" dirty="0">
                <a:solidFill>
                  <a:srgbClr val="2B2350"/>
                </a:solidFill>
                <a:latin typeface="Georgia" pitchFamily="34" charset="0"/>
                <a:ea typeface="Georgia" pitchFamily="34" charset="-122"/>
                <a:cs typeface="Georgia" pitchFamily="34" charset="-120"/>
              </a:rPr>
              <a:t>Turn to the back. Mark your own in a different colour.</a:t>
            </a:r>
            <a:endParaRPr lang="en-US" sz="2600" dirty="0"/>
          </a:p>
        </p:txBody>
      </p:sp>
      <p:grpSp>
        <p:nvGrpSpPr>
          <p:cNvPr id="8" name="mkc"/>
          <p:cNvGrpSpPr/>
          <p:nvPr/>
        </p:nvGrpSpPr>
        <p:grpSpPr>
          <a:xfrm>
            <a:off x="777240" y="1700784"/>
            <a:ext cx="7955280" cy="2505456"/>
            <a:chOff x="777240" y="1700784"/>
            <a:chExt cx="7955280" cy="2505456"/>
          </a:xfrm>
        </p:grpSpPr>
        <p:sp>
          <p:nvSpPr>
            <p:cNvPr id="5" name="mk_card_bg"/>
            <p:cNvSpPr/>
            <p:nvPr/>
          </p:nvSpPr>
          <p:spPr>
            <a:xfrm>
              <a:off x="777240" y="1700784"/>
              <a:ext cx="7955280" cy="2505456"/>
            </a:xfrm>
            <a:prstGeom prst="roundRect">
              <a:avLst>
                <a:gd name="adj" fmla="val 2190"/>
              </a:avLst>
            </a:prstGeom>
            <a:solidFill>
              <a:srgbClr val="F2F0F8"/>
            </a:solidFill>
            <a:ln w="12700">
              <a:solidFill>
                <a:srgbClr val="F2F0F8"/>
              </a:solidFill>
              <a:prstDash val="solid"/>
            </a:ln>
          </p:spPr>
        </p:sp>
        <p:sp>
          <p:nvSpPr>
            <p:cNvPr id="6" name="mk_card_h"/>
            <p:cNvSpPr txBox="1"/>
            <p:nvPr/>
          </p:nvSpPr>
          <p:spPr>
            <a:xfrm>
              <a:off x="996696" y="1792224"/>
              <a:ext cx="7516368" cy="274320"/>
            </a:xfrm>
            <a:prstGeom prst="rect">
              <a:avLst/>
            </a:prstGeom>
            <a:noFill/>
            <a:ln/>
          </p:spPr>
          <p:txBody>
            <a:bodyPr wrap="square" lIns="0" tIns="0" rIns="0" bIns="0" rtlCol="0" anchor="ctr"/>
            <a:lstStyle/>
            <a:p>
              <a:pPr indent="0" marL="0">
                <a:buNone/>
              </a:pPr>
              <a:r>
                <a:rPr lang="en-US" sz="1100" b="1" spc="120" kern="0" dirty="0">
                  <a:solidFill>
                    <a:srgbClr val="5E5A70"/>
                  </a:solidFill>
                  <a:latin typeface="Arial" pitchFamily="34" charset="0"/>
                  <a:ea typeface="Arial" pitchFamily="34" charset="-122"/>
                  <a:cs typeface="Arial" pitchFamily="34" charset="-120"/>
                </a:rPr>
                <a:t>CHECK YOUR WORK AGAINST THIS</a:t>
              </a:r>
              <a:endParaRPr lang="en-US" sz="1100" dirty="0"/>
            </a:p>
          </p:txBody>
        </p:sp>
        <p:sp>
          <p:nvSpPr>
            <p:cNvPr id="7" name="mk_card_t"/>
            <p:cNvSpPr txBox="1"/>
            <p:nvPr/>
          </p:nvSpPr>
          <p:spPr>
            <a:xfrm>
              <a:off x="996696" y="2121408"/>
              <a:ext cx="7516368" cy="1975104"/>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400" dirty="0">
                  <a:solidFill>
                    <a:srgbClr val="2B2350"/>
                  </a:solidFill>
                  <a:latin typeface="Arial" pitchFamily="34" charset="0"/>
                  <a:ea typeface="Arial" pitchFamily="34" charset="-122"/>
                  <a:cs typeface="Arial" pitchFamily="34" charset="-120"/>
                </a:rPr>
                <a:t>After a minus, you changed EVERY sign inside the bracket: −(2x − 5) = −2x + 5.</a:t>
              </a:r>
              <a:endParaRPr lang="en-US" sz="1400" dirty="0"/>
            </a:p>
            <a:p>
              <a:pPr marL="342900" indent="-342900">
                <a:lnSpc>
                  <a:spcPts val="1900"/>
                </a:lnSpc>
                <a:spcAft>
                  <a:spcPts val="700"/>
                </a:spcAft>
                <a:buSzPct val="100000"/>
                <a:buChar char="•"/>
              </a:pPr>
              <a:r>
                <a:rPr lang="en-US" sz="1400" dirty="0">
                  <a:solidFill>
                    <a:srgbClr val="2B2350"/>
                  </a:solidFill>
                  <a:latin typeface="Arial" pitchFamily="34" charset="0"/>
                  <a:ea typeface="Arial" pitchFamily="34" charset="-122"/>
                  <a:cs typeface="Arial" pitchFamily="34" charset="-120"/>
                </a:rPr>
                <a:t>You took the minus with the whole bracket, not just the first term.</a:t>
              </a:r>
              <a:endParaRPr lang="en-US" sz="1400" dirty="0"/>
            </a:p>
            <a:p>
              <a:pPr marL="342900" indent="-342900">
                <a:lnSpc>
                  <a:spcPts val="1900"/>
                </a:lnSpc>
                <a:spcAft>
                  <a:spcPts val="700"/>
                </a:spcAft>
                <a:buSzPct val="100000"/>
                <a:buChar char="•"/>
              </a:pPr>
              <a:r>
                <a:rPr lang="en-US" sz="1400" dirty="0">
                  <a:solidFill>
                    <a:srgbClr val="2B2350"/>
                  </a:solidFill>
                  <a:latin typeface="Arial" pitchFamily="34" charset="0"/>
                  <a:ea typeface="Arial" pitchFamily="34" charset="-122"/>
                  <a:cs typeface="Arial" pitchFamily="34" charset="-120"/>
                </a:rPr>
                <a:t>You checked at least one answer by putting a number in.</a:t>
              </a:r>
              <a:endParaRPr lang="en-US" sz="1400" dirty="0"/>
            </a:p>
            <a:p>
              <a:pPr marL="342900" indent="-342900">
                <a:lnSpc>
                  <a:spcPts val="1900"/>
                </a:lnSpc>
                <a:spcAft>
                  <a:spcPts val="700"/>
                </a:spcAft>
                <a:buSzPct val="100000"/>
                <a:buChar char="•"/>
              </a:pPr>
              <a:r>
                <a:rPr lang="en-US" sz="1400" dirty="0">
                  <a:solidFill>
                    <a:srgbClr val="2B2350"/>
                  </a:solidFill>
                  <a:latin typeface="Arial" pitchFamily="34" charset="0"/>
                  <a:ea typeface="Arial" pitchFamily="34" charset="-122"/>
                  <a:cs typeface="Arial" pitchFamily="34" charset="-120"/>
                </a:rPr>
                <a:t>Write the correct answer next to anything wrong. Do not rub it out.</a:t>
              </a:r>
              <a:endParaRPr lang="en-US" sz="14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8" fill="hold" display="0">
                  <p:stCondLst>
                    <p:cond delay="0"/>
                  </p:stCondLst>
                  <p:endCondLst>
                    <p:cond evt="onStopAudio" delay="0">
                      <p:tgtEl>
                        <p:sldTgt/>
                      </p:tgtEl>
                    </p:cond>
                  </p:endCondLst>
                </p:cTn>
                <p:tgtEl>
                  <p:spTgt spid="3"/>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B2350"/>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691640" cy="292608"/>
          </a:xfrm>
          <a:prstGeom prst="roundRect">
            <a:avLst>
              <a:gd name="adj" fmla="val 43750"/>
            </a:avLst>
          </a:prstGeom>
          <a:solidFill>
            <a:srgbClr val="EC6B58"/>
          </a:solidFill>
          <a:ln/>
        </p:spPr>
        <p:txBody>
          <a:bodyPr wrap="square" lIns="0" tIns="0" rIns="0" bIns="0" rtlCol="0" anchor="ctr"/>
          <a:lstStyle/>
          <a:p>
            <a:pPr algn="ctr" indent="0" marL="0">
              <a:buNone/>
            </a:pPr>
            <a:r>
              <a:rPr lang="en-US" sz="900" b="1" spc="120" kern="0" dirty="0">
                <a:solidFill>
                  <a:srgbClr val="2B2350"/>
                </a:solidFill>
                <a:latin typeface="Arial" pitchFamily="34" charset="0"/>
                <a:ea typeface="Arial" pitchFamily="34" charset="-122"/>
                <a:cs typeface="Arial" pitchFamily="34" charset="-120"/>
              </a:rPr>
              <a:t>PLENARY · 3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True or false?</a:t>
            </a:r>
            <a:endParaRPr lang="en-US" sz="2800" dirty="0"/>
          </a:p>
        </p:txBody>
      </p:sp>
      <p:grpSp>
        <p:nvGrpSpPr>
          <p:cNvPr id="21" name="p0_stmt"/>
          <p:cNvGrpSpPr/>
          <p:nvPr/>
        </p:nvGrpSpPr>
        <p:grpSpPr>
          <a:xfrm>
            <a:off x="777240" y="1426464"/>
            <a:ext cx="6720840" cy="512064"/>
            <a:chOff x="777240" y="1426464"/>
            <a:chExt cx="6720840" cy="512064"/>
          </a:xfrm>
        </p:grpSpPr>
        <p:sp>
          <p:nvSpPr>
            <p:cNvPr id="5" name="p0_bg"/>
            <p:cNvSpPr/>
            <p:nvPr/>
          </p:nvSpPr>
          <p:spPr>
            <a:xfrm>
              <a:off x="777240" y="1426464"/>
              <a:ext cx="6720840" cy="512064"/>
            </a:xfrm>
            <a:prstGeom prst="roundRect">
              <a:avLst>
                <a:gd name="adj" fmla="val 12500"/>
              </a:avLst>
            </a:prstGeom>
            <a:solidFill>
              <a:srgbClr val="3D3470"/>
            </a:solidFill>
            <a:ln w="12700">
              <a:solidFill>
                <a:srgbClr val="3D3470"/>
              </a:solidFill>
              <a:prstDash val="solid"/>
            </a:ln>
          </p:spPr>
        </p:sp>
        <p:sp>
          <p:nvSpPr>
            <p:cNvPr id="6" name="p0_q"/>
            <p:cNvSpPr txBox="1"/>
            <p:nvPr/>
          </p:nvSpPr>
          <p:spPr>
            <a:xfrm>
              <a:off x="960120" y="1426464"/>
              <a:ext cx="6400800" cy="51206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7(x + 2) = 7x + 2</a:t>
              </a:r>
              <a:endParaRPr lang="en-US" sz="1400" dirty="0"/>
            </a:p>
          </p:txBody>
        </p:sp>
      </p:grpSp>
      <p:sp>
        <p:nvSpPr>
          <p:cNvPr id="7" name="p0_v"/>
          <p:cNvSpPr txBox="1"/>
          <p:nvPr/>
        </p:nvSpPr>
        <p:spPr>
          <a:xfrm>
            <a:off x="7635240" y="1426464"/>
            <a:ext cx="1097280" cy="512064"/>
          </a:xfrm>
          <a:prstGeom prst="rect">
            <a:avLst/>
          </a:prstGeom>
          <a:noFill/>
          <a:ln/>
        </p:spPr>
        <p:txBody>
          <a:bodyPr wrap="square" lIns="0" tIns="0" rIns="0" bIns="0" rtlCol="0" anchor="ctr"/>
          <a:lstStyle/>
          <a:p>
            <a:pPr indent="0" marL="0">
              <a:buNone/>
            </a:pPr>
            <a:r>
              <a:rPr lang="en-US" sz="1400" b="1" spc="100" kern="0" dirty="0">
                <a:solidFill>
                  <a:srgbClr val="EC6B58"/>
                </a:solidFill>
                <a:latin typeface="Arial" pitchFamily="34" charset="0"/>
                <a:ea typeface="Arial" pitchFamily="34" charset="-122"/>
                <a:cs typeface="Arial" pitchFamily="34" charset="-120"/>
              </a:rPr>
              <a:t>FALSE</a:t>
            </a:r>
            <a:endParaRPr lang="en-US" sz="1400" dirty="0"/>
          </a:p>
        </p:txBody>
      </p:sp>
      <p:grpSp>
        <p:nvGrpSpPr>
          <p:cNvPr id="22" name="p1_stmt"/>
          <p:cNvGrpSpPr/>
          <p:nvPr/>
        </p:nvGrpSpPr>
        <p:grpSpPr>
          <a:xfrm>
            <a:off x="777240" y="2048256"/>
            <a:ext cx="6720840" cy="512064"/>
            <a:chOff x="777240" y="2048256"/>
            <a:chExt cx="6720840" cy="512064"/>
          </a:xfrm>
        </p:grpSpPr>
        <p:sp>
          <p:nvSpPr>
            <p:cNvPr id="8" name="p1_bg"/>
            <p:cNvSpPr/>
            <p:nvPr/>
          </p:nvSpPr>
          <p:spPr>
            <a:xfrm>
              <a:off x="777240" y="2048256"/>
              <a:ext cx="6720840" cy="512064"/>
            </a:xfrm>
            <a:prstGeom prst="roundRect">
              <a:avLst>
                <a:gd name="adj" fmla="val 12500"/>
              </a:avLst>
            </a:prstGeom>
            <a:solidFill>
              <a:srgbClr val="3D3470"/>
            </a:solidFill>
            <a:ln w="12700">
              <a:solidFill>
                <a:srgbClr val="3D3470"/>
              </a:solidFill>
              <a:prstDash val="solid"/>
            </a:ln>
          </p:spPr>
        </p:sp>
        <p:sp>
          <p:nvSpPr>
            <p:cNvPr id="9" name="p1_q"/>
            <p:cNvSpPr txBox="1"/>
            <p:nvPr/>
          </p:nvSpPr>
          <p:spPr>
            <a:xfrm>
              <a:off x="960120" y="2048256"/>
              <a:ext cx="6400800" cy="51206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−3(x − 4) = −3x + 12</a:t>
              </a:r>
              <a:endParaRPr lang="en-US" sz="1400" dirty="0"/>
            </a:p>
          </p:txBody>
        </p:sp>
      </p:grpSp>
      <p:sp>
        <p:nvSpPr>
          <p:cNvPr id="10" name="p1_v"/>
          <p:cNvSpPr txBox="1"/>
          <p:nvPr/>
        </p:nvSpPr>
        <p:spPr>
          <a:xfrm>
            <a:off x="7635240" y="2048256"/>
            <a:ext cx="1097280" cy="512064"/>
          </a:xfrm>
          <a:prstGeom prst="rect">
            <a:avLst/>
          </a:prstGeom>
          <a:noFill/>
          <a:ln/>
        </p:spPr>
        <p:txBody>
          <a:bodyPr wrap="square" lIns="0" tIns="0" rIns="0" bIns="0" rtlCol="0" anchor="ctr"/>
          <a:lstStyle/>
          <a:p>
            <a:pPr indent="0" marL="0">
              <a:buNone/>
            </a:pPr>
            <a:r>
              <a:rPr lang="en-US" sz="1400" b="1" spc="100" kern="0" dirty="0">
                <a:solidFill>
                  <a:srgbClr val="5FCB92"/>
                </a:solidFill>
                <a:latin typeface="Arial" pitchFamily="34" charset="0"/>
                <a:ea typeface="Arial" pitchFamily="34" charset="-122"/>
                <a:cs typeface="Arial" pitchFamily="34" charset="-120"/>
              </a:rPr>
              <a:t>TRUE</a:t>
            </a:r>
            <a:endParaRPr lang="en-US" sz="1400" dirty="0"/>
          </a:p>
        </p:txBody>
      </p:sp>
      <p:grpSp>
        <p:nvGrpSpPr>
          <p:cNvPr id="23" name="p2_stmt"/>
          <p:cNvGrpSpPr/>
          <p:nvPr/>
        </p:nvGrpSpPr>
        <p:grpSpPr>
          <a:xfrm>
            <a:off x="777240" y="2670048"/>
            <a:ext cx="6720840" cy="512064"/>
            <a:chOff x="777240" y="2670048"/>
            <a:chExt cx="6720840" cy="512064"/>
          </a:xfrm>
        </p:grpSpPr>
        <p:sp>
          <p:nvSpPr>
            <p:cNvPr id="11" name="p2_bg"/>
            <p:cNvSpPr/>
            <p:nvPr/>
          </p:nvSpPr>
          <p:spPr>
            <a:xfrm>
              <a:off x="777240" y="2670048"/>
              <a:ext cx="6720840" cy="512064"/>
            </a:xfrm>
            <a:prstGeom prst="roundRect">
              <a:avLst>
                <a:gd name="adj" fmla="val 12500"/>
              </a:avLst>
            </a:prstGeom>
            <a:solidFill>
              <a:srgbClr val="3D3470"/>
            </a:solidFill>
            <a:ln w="12700">
              <a:solidFill>
                <a:srgbClr val="3D3470"/>
              </a:solidFill>
              <a:prstDash val="solid"/>
            </a:ln>
          </p:spPr>
        </p:sp>
        <p:sp>
          <p:nvSpPr>
            <p:cNvPr id="12" name="p2_q"/>
            <p:cNvSpPr txBox="1"/>
            <p:nvPr/>
          </p:nvSpPr>
          <p:spPr>
            <a:xfrm>
              <a:off x="960120" y="2670048"/>
              <a:ext cx="6400800" cy="51206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x − (2x − 5) = x − 2x − 5</a:t>
              </a:r>
              <a:endParaRPr lang="en-US" sz="1400" dirty="0"/>
            </a:p>
          </p:txBody>
        </p:sp>
      </p:grpSp>
      <p:sp>
        <p:nvSpPr>
          <p:cNvPr id="13" name="p2_v"/>
          <p:cNvSpPr txBox="1"/>
          <p:nvPr/>
        </p:nvSpPr>
        <p:spPr>
          <a:xfrm>
            <a:off x="7635240" y="2670048"/>
            <a:ext cx="1097280" cy="512064"/>
          </a:xfrm>
          <a:prstGeom prst="rect">
            <a:avLst/>
          </a:prstGeom>
          <a:noFill/>
          <a:ln/>
        </p:spPr>
        <p:txBody>
          <a:bodyPr wrap="square" lIns="0" tIns="0" rIns="0" bIns="0" rtlCol="0" anchor="ctr"/>
          <a:lstStyle/>
          <a:p>
            <a:pPr indent="0" marL="0">
              <a:buNone/>
            </a:pPr>
            <a:r>
              <a:rPr lang="en-US" sz="1400" b="1" spc="100" kern="0" dirty="0">
                <a:solidFill>
                  <a:srgbClr val="EC6B58"/>
                </a:solidFill>
                <a:latin typeface="Arial" pitchFamily="34" charset="0"/>
                <a:ea typeface="Arial" pitchFamily="34" charset="-122"/>
                <a:cs typeface="Arial" pitchFamily="34" charset="-120"/>
              </a:rPr>
              <a:t>FALSE</a:t>
            </a:r>
            <a:endParaRPr lang="en-US" sz="1400" dirty="0"/>
          </a:p>
        </p:txBody>
      </p:sp>
      <p:grpSp>
        <p:nvGrpSpPr>
          <p:cNvPr id="24" name="p3_stmt"/>
          <p:cNvGrpSpPr/>
          <p:nvPr/>
        </p:nvGrpSpPr>
        <p:grpSpPr>
          <a:xfrm>
            <a:off x="777240" y="3291840"/>
            <a:ext cx="6720840" cy="512064"/>
            <a:chOff x="777240" y="3291840"/>
            <a:chExt cx="6720840" cy="512064"/>
          </a:xfrm>
        </p:grpSpPr>
        <p:sp>
          <p:nvSpPr>
            <p:cNvPr id="14" name="p3_bg"/>
            <p:cNvSpPr/>
            <p:nvPr/>
          </p:nvSpPr>
          <p:spPr>
            <a:xfrm>
              <a:off x="777240" y="3291840"/>
              <a:ext cx="6720840" cy="512064"/>
            </a:xfrm>
            <a:prstGeom prst="roundRect">
              <a:avLst>
                <a:gd name="adj" fmla="val 12500"/>
              </a:avLst>
            </a:prstGeom>
            <a:solidFill>
              <a:srgbClr val="3D3470"/>
            </a:solidFill>
            <a:ln w="12700">
              <a:solidFill>
                <a:srgbClr val="3D3470"/>
              </a:solidFill>
              <a:prstDash val="solid"/>
            </a:ln>
          </p:spPr>
        </p:sp>
        <p:sp>
          <p:nvSpPr>
            <p:cNvPr id="15" name="p3_q"/>
            <p:cNvSpPr txBox="1"/>
            <p:nvPr/>
          </p:nvSpPr>
          <p:spPr>
            <a:xfrm>
              <a:off x="960120" y="3291840"/>
              <a:ext cx="6400800" cy="51206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6 − (x − 1) = 7 − x</a:t>
              </a:r>
              <a:endParaRPr lang="en-US" sz="1400" dirty="0"/>
            </a:p>
          </p:txBody>
        </p:sp>
      </p:grpSp>
      <p:sp>
        <p:nvSpPr>
          <p:cNvPr id="16" name="p3_v"/>
          <p:cNvSpPr txBox="1"/>
          <p:nvPr/>
        </p:nvSpPr>
        <p:spPr>
          <a:xfrm>
            <a:off x="7635240" y="3291840"/>
            <a:ext cx="1097280" cy="512064"/>
          </a:xfrm>
          <a:prstGeom prst="rect">
            <a:avLst/>
          </a:prstGeom>
          <a:noFill/>
          <a:ln/>
        </p:spPr>
        <p:txBody>
          <a:bodyPr wrap="square" lIns="0" tIns="0" rIns="0" bIns="0" rtlCol="0" anchor="ctr"/>
          <a:lstStyle/>
          <a:p>
            <a:pPr indent="0" marL="0">
              <a:buNone/>
            </a:pPr>
            <a:r>
              <a:rPr lang="en-US" sz="1400" b="1" spc="100" kern="0" dirty="0">
                <a:solidFill>
                  <a:srgbClr val="5FCB92"/>
                </a:solidFill>
                <a:latin typeface="Arial" pitchFamily="34" charset="0"/>
                <a:ea typeface="Arial" pitchFamily="34" charset="-122"/>
                <a:cs typeface="Arial" pitchFamily="34" charset="-120"/>
              </a:rPr>
              <a:t>TRUE</a:t>
            </a:r>
            <a:endParaRPr lang="en-US" sz="1400" dirty="0"/>
          </a:p>
        </p:txBody>
      </p:sp>
      <p:grpSp>
        <p:nvGrpSpPr>
          <p:cNvPr id="25" name="p4_stmt"/>
          <p:cNvGrpSpPr/>
          <p:nvPr/>
        </p:nvGrpSpPr>
        <p:grpSpPr>
          <a:xfrm>
            <a:off x="777240" y="3913632"/>
            <a:ext cx="6720840" cy="512064"/>
            <a:chOff x="777240" y="3913632"/>
            <a:chExt cx="6720840" cy="512064"/>
          </a:xfrm>
        </p:grpSpPr>
        <p:sp>
          <p:nvSpPr>
            <p:cNvPr id="17" name="p4_bg"/>
            <p:cNvSpPr/>
            <p:nvPr/>
          </p:nvSpPr>
          <p:spPr>
            <a:xfrm>
              <a:off x="777240" y="3913632"/>
              <a:ext cx="6720840" cy="512064"/>
            </a:xfrm>
            <a:prstGeom prst="roundRect">
              <a:avLst>
                <a:gd name="adj" fmla="val 12500"/>
              </a:avLst>
            </a:prstGeom>
            <a:solidFill>
              <a:srgbClr val="3D3470"/>
            </a:solidFill>
            <a:ln w="12700">
              <a:solidFill>
                <a:srgbClr val="3D3470"/>
              </a:solidFill>
              <a:prstDash val="solid"/>
            </a:ln>
          </p:spPr>
        </p:sp>
        <p:sp>
          <p:nvSpPr>
            <p:cNvPr id="18" name="p4_q"/>
            <p:cNvSpPr txBox="1"/>
            <p:nvPr/>
          </p:nvSpPr>
          <p:spPr>
            <a:xfrm>
              <a:off x="960120" y="3913632"/>
              <a:ext cx="6400800" cy="51206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3(x + 2) − 2(x + 1) = x + 8</a:t>
              </a:r>
              <a:endParaRPr lang="en-US" sz="1400" dirty="0"/>
            </a:p>
          </p:txBody>
        </p:sp>
      </p:grpSp>
      <p:sp>
        <p:nvSpPr>
          <p:cNvPr id="19" name="p4_v"/>
          <p:cNvSpPr txBox="1"/>
          <p:nvPr/>
        </p:nvSpPr>
        <p:spPr>
          <a:xfrm>
            <a:off x="7635240" y="3913632"/>
            <a:ext cx="1097280" cy="512064"/>
          </a:xfrm>
          <a:prstGeom prst="rect">
            <a:avLst/>
          </a:prstGeom>
          <a:noFill/>
          <a:ln/>
        </p:spPr>
        <p:txBody>
          <a:bodyPr wrap="square" lIns="0" tIns="0" rIns="0" bIns="0" rtlCol="0" anchor="ctr"/>
          <a:lstStyle/>
          <a:p>
            <a:pPr indent="0" marL="0">
              <a:buNone/>
            </a:pPr>
            <a:r>
              <a:rPr lang="en-US" sz="1400" b="1" spc="100" kern="0" dirty="0">
                <a:solidFill>
                  <a:srgbClr val="EC6B58"/>
                </a:solidFill>
                <a:latin typeface="Arial" pitchFamily="34" charset="0"/>
                <a:ea typeface="Arial" pitchFamily="34" charset="-122"/>
                <a:cs typeface="Arial" pitchFamily="34" charset="-120"/>
              </a:rPr>
              <a:t>FALSE</a:t>
            </a:r>
            <a:endParaRPr lang="en-US" sz="1400" dirty="0"/>
          </a:p>
        </p:txBody>
      </p:sp>
      <p:sp>
        <p:nvSpPr>
          <p:cNvPr id="20" name="pl_next"/>
          <p:cNvSpPr txBox="1"/>
          <p:nvPr/>
        </p:nvSpPr>
        <p:spPr>
          <a:xfrm>
            <a:off x="777240" y="4539996"/>
            <a:ext cx="7955280" cy="365760"/>
          </a:xfrm>
          <a:prstGeom prst="rect">
            <a:avLst/>
          </a:prstGeom>
          <a:noFill/>
          <a:ln/>
        </p:spPr>
        <p:txBody>
          <a:bodyPr wrap="square" lIns="0" tIns="0" rIns="0" bIns="0" rtlCol="0" anchor="ctr"/>
          <a:lstStyle/>
          <a:p>
            <a:pPr indent="0" marL="0">
              <a:buNone/>
            </a:pPr>
            <a:r>
              <a:rPr lang="en-US" sz="1250" b="1" i="1" dirty="0">
                <a:solidFill>
                  <a:srgbClr val="EC6B58"/>
                </a:solidFill>
                <a:latin typeface="Arial" pitchFamily="34" charset="0"/>
                <a:ea typeface="Arial" pitchFamily="34" charset="-122"/>
                <a:cs typeface="Arial" pitchFamily="34" charset="-120"/>
              </a:rPr>
              <a:t>Expand first. Collect second. Take every sign with it.</a:t>
            </a:r>
            <a:endParaRPr lang="en-US" sz="12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00"/>
                                        <p:tgtEl>
                                          <p:spTgt spid="7"/>
                                        </p:tgtEl>
                                      </p:cBhvr>
                                    </p:animEffect>
                                    <p:animScale>
                                      <p:cBhvr>
                                        <p:cTn id="10" dur="400" fill="hold"/>
                                        <p:tgtEl>
                                          <p:spTgt spid="7"/>
                                        </p:tgtEl>
                                      </p:cBhvr>
                                      <p:from x="0" y="0"/>
                                      <p:to x="100000" y="100000"/>
                                    </p:animScale>
                                  </p:childTnLst>
                                </p:cTn>
                              </p:par>
                            </p:childTnLst>
                          </p:cTn>
                        </p:par>
                      </p:childTnLst>
                    </p:cTn>
                  </p:par>
                  <p:par>
                    <p:cTn id="17" fill="hold">
                      <p:stCondLst>
                        <p:cond delay="indefinite"/>
                      </p:stCondLst>
                      <p:childTnLst>
                        <p:par>
                          <p:cTn id="18" fill="hold">
                            <p:stCondLst>
                              <p:cond delay="0"/>
                            </p:stCondLst>
                            <p:childTnLst>
                              <p:par>
                                <p:cTn id="16"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2" presetID="23" presetClass="entr" presetSubtype="16"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animScale>
                                      <p:cBhvr>
                                        <p:cTn id="21" dur="400" fill="hold"/>
                                        <p:tgtEl>
                                          <p:spTgt spid="10"/>
                                        </p:tgtEl>
                                      </p:cBhvr>
                                      <p:from x="0" y="0"/>
                                      <p:to x="100000" y="100000"/>
                                    </p:animScale>
                                  </p:childTnLst>
                                </p:cTn>
                              </p:par>
                            </p:childTnLst>
                          </p:cTn>
                        </p:par>
                      </p:childTnLst>
                    </p:cTn>
                  </p:par>
                  <p:par>
                    <p:cTn id="28" fill="hold">
                      <p:stCondLst>
                        <p:cond delay="indefinite"/>
                      </p:stCondLst>
                      <p:childTnLst>
                        <p:par>
                          <p:cTn id="29" fill="hold">
                            <p:stCondLst>
                              <p:cond delay="0"/>
                            </p:stCondLst>
                            <p:childTnLst>
                              <p:par>
                                <p:cTn id="27" presetID="10"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3" presetID="23"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animScale>
                                      <p:cBhvr>
                                        <p:cTn id="32" dur="400" fill="hold"/>
                                        <p:tgtEl>
                                          <p:spTgt spid="13"/>
                                        </p:tgtEl>
                                      </p:cBhvr>
                                      <p:from x="0" y="0"/>
                                      <p:to x="100000" y="100000"/>
                                    </p:animScale>
                                  </p:childTnLst>
                                </p:cTn>
                              </p:par>
                            </p:childTnLst>
                          </p:cTn>
                        </p:par>
                      </p:childTnLst>
                    </p:cTn>
                  </p:par>
                  <p:par>
                    <p:cTn id="39" fill="hold">
                      <p:stCondLst>
                        <p:cond delay="indefinite"/>
                      </p:stCondLst>
                      <p:childTnLst>
                        <p:par>
                          <p:cTn id="40" fill="hold">
                            <p:stCondLst>
                              <p:cond delay="0"/>
                            </p:stCondLst>
                            <p:childTnLst>
                              <p:par>
                                <p:cTn id="38"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4" presetID="23" presetClass="entr" presetSubtype="16"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animScale>
                                      <p:cBhvr>
                                        <p:cTn id="43" dur="400" fill="hold"/>
                                        <p:tgtEl>
                                          <p:spTgt spid="16"/>
                                        </p:tgtEl>
                                      </p:cBhvr>
                                      <p:from x="0" y="0"/>
                                      <p:to x="100000" y="100000"/>
                                    </p:animScale>
                                  </p:childTnLst>
                                </p:cTn>
                              </p:par>
                            </p:childTnLst>
                          </p:cTn>
                        </p:par>
                      </p:childTnLst>
                    </p:cTn>
                  </p:par>
                  <p:par>
                    <p:cTn id="50" fill="hold">
                      <p:stCondLst>
                        <p:cond delay="indefinite"/>
                      </p:stCondLst>
                      <p:childTnLst>
                        <p:par>
                          <p:cTn id="51" fill="hold">
                            <p:stCondLst>
                              <p:cond delay="0"/>
                            </p:stCondLst>
                            <p:childTnLst>
                              <p:par>
                                <p:cTn id="49" presetID="10" presetClass="entr" presetSubtype="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5" presetID="23" presetClass="entr" presetSubtype="16"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animScale>
                                      <p:cBhvr>
                                        <p:cTn id="54" dur="400" fill="hold"/>
                                        <p:tgtEl>
                                          <p:spTgt spid="19"/>
                                        </p:tgtEl>
                                      </p:cBhvr>
                                      <p:from x="0" y="0"/>
                                      <p:to x="100000" y="100000"/>
                                    </p:animScale>
                                  </p:childTnLst>
                                </p:cTn>
                              </p:par>
                            </p:childTnLst>
                          </p:cTn>
                        </p:par>
                      </p:childTnLst>
                    </p:cTn>
                  </p:par>
                  <p:par>
                    <p:cTn id="61" fill="hold">
                      <p:stCondLst>
                        <p:cond delay="indefinite"/>
                      </p:stCondLst>
                      <p:childTnLst>
                        <p:par>
                          <p:cTn id="62" fill="hold">
                            <p:stCondLst>
                              <p:cond delay="0"/>
                            </p:stCondLst>
                            <p:childTnLst>
                              <p:par>
                                <p:cTn id="60" presetID="10"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63" fill="hold" display="0">
                  <p:stCondLst>
                    <p:cond delay="0"/>
                  </p:stCondLst>
                  <p:endCondLst>
                    <p:cond evt="onStopAudio" delay="0">
                      <p:tgtEl>
                        <p:sldTgt/>
                      </p:tgtEl>
                    </p:cond>
                  </p:end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Brackets and Beyond</dc:title>
  <dc:subject>Y8 Maths · Algebra · Lesson 7 · 8CN</dc:subject>
  <dc:creator>Chuka</dc:creator>
  <cp:lastModifiedBy>Chuka</cp:lastModifiedBy>
  <cp:revision>1</cp:revision>
  <dcterms:created xsi:type="dcterms:W3CDTF">2026-10-14T14:31:04Z</dcterms:created>
  <dcterms:modified xsi:type="dcterms:W3CDTF">2026-10-14T14:31:04Z</dcterms:modified>
</cp:coreProperties>
</file>