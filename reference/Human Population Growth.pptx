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media1.mp4" ContentType="video/unknown"/>
  <Override PartName="/ppt/notesSlides/notesSlide2.xml" ContentType="application/vnd.openxmlformats-officedocument.presentationml.notesSlide+xml"/>
  <Override PartName="/ppt/media/media2.mp4" ContentType="video/unknown"/>
  <Override PartName="/ppt/notesSlides/notesSlide3.xml" ContentType="application/vnd.openxmlformats-officedocument.presentationml.notesSlide+xml"/>
  <Override PartName="/ppt/media/media3.mp4" ContentType="video/unknown"/>
  <Override PartName="/ppt/notesSlides/notesSlide4.xml" ContentType="application/vnd.openxmlformats-officedocument.presentationml.notesSlide+xml"/>
  <Override PartName="/ppt/media/media4.mp4" ContentType="video/unknown"/>
  <Override PartName="/ppt/notesSlides/notesSlide5.xml" ContentType="application/vnd.openxmlformats-officedocument.presentationml.notesSlid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notesSlides/notesSlide6.xml" ContentType="application/vnd.openxmlformats-officedocument.presentationml.notesSlide+xml"/>
  <Override PartName="/ppt/media/media5.mp4" ContentType="video/unknown"/>
  <Override PartName="/ppt/notesSlides/notesSlide7.xml" ContentType="application/vnd.openxmlformats-officedocument.presentationml.notesSlide+xml"/>
  <Override PartName="/ppt/media/media6.mp4" ContentType="video/unknown"/>
  <Override PartName="/ppt/notesSlides/notesSlide8.xml" ContentType="application/vnd.openxmlformats-officedocument.presentationml.notesSlide+xml"/>
  <Override PartName="/ppt/media/media7.mp4" ContentType="video/unknown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media8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 NOW — 10 minutes. Six clicks, one answer each.</a:t>
            </a:r>
          </a:p>
          <a:p>
            <a:pPr/>
          </a:p>
          <a:p>
            <a:pPr/>
            <a:r>
              <a:t>This is the whole unit in six questions. Q1 to Q5 are Lessons 1 and 2.</a:t>
            </a:r>
          </a:p>
          <a:p>
            <a:pPr/>
          </a:p>
          <a:p>
            <a:pPr/>
            <a:r>
              <a:t>Q6 IS TODAY. 2, 4, 8, 16, 32, 64. Nobody finds it hard, and that is the point — they have just drawn the shape of the entire lesson without noticing.</a:t>
            </a:r>
          </a:p>
          <a:p>
            <a:pPr/>
          </a:p>
          <a:p>
            <a:pPr/>
            <a:r>
              <a:t>Take the answer to Q6 and write it on the board. Come back to it on slide 4.</a:t>
            </a:r>
          </a:p>
          <a:p>
            <a:pPr/>
          </a:p>
          <a:p>
            <a:pPr/>
            <a:r>
              <a:t>CHANGE THE DATE before you teach.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TODAY — 1 minute. Four clicks. Read them and move 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HOOK — 2 minutes. Four clicks: the question, then the three options.</a:t>
            </a:r>
          </a:p>
          <a:p>
            <a:pPr/>
          </a:p>
          <a:p>
            <a:pPr/>
            <a:r>
              <a:t>Hands up for each. Tally on the board.</a:t>
            </a:r>
          </a:p>
          <a:p>
            <a:pPr/>
          </a:p>
          <a:p>
            <a:pPr/>
            <a:r>
              <a:t>ANSWER: B. The UN puts the tripling at 68 years. Reveal it on the next slide, not here.</a:t>
            </a:r>
          </a:p>
          <a:p>
            <a:pPr/>
          </a:p>
          <a:p>
            <a:pPr/>
            <a:r>
              <a:t>MOST CLASSES PICK A OR C, because 5.6 billion extra people sounds like it should take centuries.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Shape 1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Six clicks: the axes, the curve, the three figures, the banner.</a:t>
            </a:r>
          </a:p>
          <a:p>
            <a:pPr/>
          </a:p>
          <a:p>
            <a:pPr/>
            <a:r>
              <a:t>GO BACK TO DO NOW Q6. Their rabbits went 2, 4, 8, 16, 32, 64. Draw that shape in the air. It is this shape.</a:t>
            </a:r>
          </a:p>
          <a:p>
            <a:pPr/>
          </a:p>
          <a:p>
            <a:pPr/>
            <a:r>
              <a:t>THE FLAT PART IS MOST OF HUMAN HISTORY. Thousands of years of very slow change, then a bend within a few lifetimes.</a:t>
            </a:r>
          </a:p>
          <a:p>
            <a:pPr/>
          </a:p>
          <a:p>
            <a:pPr/>
            <a:r>
              <a:t>THE ANSWER TO THE HOOK IS B. Point at the tally.</a:t>
            </a:r>
          </a:p>
          <a:p>
            <a:pPr/>
          </a:p>
          <a:p>
            <a:pPr/>
            <a:r>
              <a:t>SOURCE if asked: UN World Population Prospects.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hape 1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Five clicks: four impacts, then the banner.</a:t>
            </a:r>
          </a:p>
          <a:p>
            <a:pPr/>
          </a:p>
          <a:p>
            <a:pPr/>
            <a:r>
              <a:t>KEEP IT MOVING. One sentence on each. The detail is in the worksheet.</a:t>
            </a:r>
          </a:p>
          <a:p>
            <a:pPr/>
          </a:p>
          <a:p>
            <a:pPr/>
            <a:r>
              <a:t>THE BANNER IS THE UNIT LANDING. Lesson 1 said an ecosystem is living things plus their environment. We are living things. Everything on this slide is us being a consumer in a food chain.</a:t>
            </a:r>
          </a:p>
          <a:p>
            <a:pPr/>
          </a:p>
          <a:p>
            <a:pPr/>
            <a:r>
              <a:t>DO NOT MAKE THIS A DOOM SLIDE. State it plainly and move on — the plenary ends on the population slowing down.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0" name="Shape 2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DO — 5 minutes. Four clicks, one correction each.</a:t>
            </a:r>
          </a:p>
          <a:p>
            <a:pPr/>
          </a:p>
          <a:p>
            <a:pPr/>
            <a:r>
              <a:t>Take answers from the room before each click.</a:t>
            </a:r>
          </a:p>
          <a:p>
            <a:pPr/>
          </a:p>
          <a:p>
            <a:pPr/>
            <a:r>
              <a:t>ROW 1 IS THE BIG ONE. Birth rates have FALLEN. The population grew because the death rate fell faster — clean water, food, vaccines, medicine. More people lived, rather than more people being born.</a:t>
            </a:r>
          </a:p>
          <a:p>
            <a:pPr/>
          </a:p>
          <a:p>
            <a:pPr/>
            <a:r>
              <a:t>ROW 2: the UN expects a peak of about 10.3 billion in the mid-2080s.</a:t>
            </a:r>
          </a:p>
          <a:p>
            <a:pPr/>
          </a:p>
          <a:p>
            <a:pPr/>
            <a:r>
              <a:t>ROW 4: more than half the growth to 2050 is expected in eight countries.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9" name="Shape 2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COLD CALL — 6 minutes. Six clicks.</a:t>
            </a:r>
          </a:p>
          <a:p>
            <a:pPr/>
          </a:p>
          <a:p>
            <a:pPr/>
            <a:r>
              <a:t>Name a student, then ask. No hands up. Give thinking time before you take the answer.</a:t>
            </a:r>
          </a:p>
          <a:p>
            <a:pPr/>
          </a:p>
          <a:p>
            <a:pPr/>
            <a:r>
              <a:t>If a student cannot answer, take an answer from someone else and then come back to the first student and ask them to repeat it. Everyone stays in the game.</a:t>
            </a:r>
          </a:p>
          <a:p>
            <a:pPr/>
          </a:p>
          <a:p>
            <a:pPr/>
            <a:r>
              <a:t>Q3 has several right answers. Take two or three.</a:t>
            </a:r>
          </a:p>
          <a:p>
            <a:pPr/>
          </a:p>
          <a:p>
            <a:pPr/>
            <a:r>
              <a:t>Q5 SURPRISES THEM. Birth rates are falling nearly everywhere, and the population is still going up because people live longer.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5" name="Shape 2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DO — 14 minutes. Four clicks.</a:t>
            </a:r>
          </a:p>
          <a:p>
            <a:pPr/>
          </a:p>
          <a:p>
            <a:pPr/>
            <a:r>
              <a:t>The Google Classroom logo is the cue to get devices open. It is faded so it does not compete with the title.</a:t>
            </a:r>
          </a:p>
          <a:p>
            <a:pPr/>
          </a:p>
          <a:p>
            <a:pPr/>
            <a:r>
              <a:t>CIRCULATE WITH ONE QUESTION: "which part of the ecosystem does that affect?"</a:t>
            </a:r>
          </a:p>
          <a:p>
            <a:pPr/>
          </a:p>
          <a:p>
            <a:pPr/>
            <a:r>
              <a:t>WHERE THEY WILL STALL: the Gold graph question, and the one asking them to judge a claim.</a:t>
            </a:r>
          </a:p>
          <a:p>
            <a:pPr/>
          </a:p>
          <a:p>
            <a:pPr/>
            <a:r>
              <a:t>AT 3 MINUTES REMAINING, stop them. The answers are on the next slide.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3" name="Shape 3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ANSWERS — 3 minutes. Five clicks, two answers at a time.</a:t>
            </a:r>
          </a:p>
          <a:p>
            <a:pPr/>
          </a:p>
          <a:p>
            <a:pPr/>
            <a:r>
              <a:t>They mark their own in a different colour.</a:t>
            </a:r>
          </a:p>
          <a:p>
            <a:pPr/>
          </a:p>
          <a:p>
            <a:pPr/>
            <a:r>
              <a:t>Q5 is the one worth pausing on. Birth rates down, population up — both true at once.</a:t>
            </a:r>
          </a:p>
          <a:p>
            <a:pPr/>
          </a:p>
          <a:p>
            <a:pPr/>
            <a:r>
              <a:t>The Gold written answers are not here. Take two or three out loud instead.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2" name="Shape 3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PLENARY — 3 minutes. Six clicks.</a:t>
            </a:r>
          </a:p>
          <a:p>
            <a:pPr/>
          </a:p>
          <a:p>
            <a:pPr/>
            <a:r>
              <a:t>Hands up, or stand for true. No whiteboards.</a:t>
            </a:r>
          </a:p>
          <a:p>
            <a:pPr/>
          </a:p>
          <a:p>
            <a:pPr/>
            <a:r>
              <a:t>Q1 is the We Do again. If it splits the room, it is the first thing to revisit before the test.</a:t>
            </a:r>
          </a:p>
          <a:p>
            <a:pPr/>
          </a:p>
          <a:p>
            <a:pPr/>
            <a:r>
              <a:t>Q5 is TRUE and it matters that they leave knowing it. The growth is slowing, not stopped.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ideo" Target="../media/media1.mp4"/><Relationship Id="rId4" Type="http://schemas.microsoft.com/office/2007/relationships/media" Target="../media/media1.mp4"/><Relationship Id="rId5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video" Target="../media/media2.mp4"/><Relationship Id="rId4" Type="http://schemas.microsoft.com/office/2007/relationships/media" Target="../media/media2.mp4"/><Relationship Id="rId5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video" Target="../media/media3.mp4"/><Relationship Id="rId4" Type="http://schemas.microsoft.com/office/2007/relationships/media" Target="../media/media3.mp4"/><Relationship Id="rId5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Relationship Id="rId6" Type="http://schemas.openxmlformats.org/officeDocument/2006/relationships/image" Target="../media/image1.jpeg"/><Relationship Id="rId7" Type="http://schemas.openxmlformats.org/officeDocument/2006/relationships/image" Target="../media/image2.jpeg"/><Relationship Id="rId8" Type="http://schemas.openxmlformats.org/officeDocument/2006/relationships/image" Target="../media/image3.jpeg"/><Relationship Id="rId9" Type="http://schemas.openxmlformats.org/officeDocument/2006/relationships/image" Target="../media/image4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video" Target="../media/media5.mp4"/><Relationship Id="rId4" Type="http://schemas.microsoft.com/office/2007/relationships/media" Target="../media/media5.mp4"/><Relationship Id="rId5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video" Target="../media/media6.mp4"/><Relationship Id="rId4" Type="http://schemas.microsoft.com/office/2007/relationships/media" Target="../media/media6.mp4"/><Relationship Id="rId5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video" Target="../media/media7.mp4"/><Relationship Id="rId4" Type="http://schemas.microsoft.com/office/2007/relationships/media" Target="../media/media7.mp4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video" Target="../media/media8.mp4"/><Relationship Id="rId4" Type="http://schemas.microsoft.com/office/2007/relationships/media" Target="../media/media8.mp4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1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0E3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2" name="DO NOW · 10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DO NOW · 10 MIN</a:t>
              </a:r>
            </a:p>
          </p:txBody>
        </p:sp>
      </p:grpSp>
      <p:sp>
        <p:nvSpPr>
          <p:cNvPr id="24" name="lesson_title"/>
          <p:cNvSpPr txBox="1"/>
          <p:nvPr/>
        </p:nvSpPr>
        <p:spPr>
          <a:xfrm>
            <a:off x="3154679" y="312419"/>
            <a:ext cx="585216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6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Human Population Growth</a:t>
            </a:r>
          </a:p>
        </p:txBody>
      </p:sp>
      <p:sp>
        <p:nvSpPr>
          <p:cNvPr id="25" name="lesson_date"/>
          <p:cNvSpPr txBox="1"/>
          <p:nvPr/>
        </p:nvSpPr>
        <p:spPr>
          <a:xfrm>
            <a:off x="8534095" y="382938"/>
            <a:ext cx="310896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300">
                <a:solidFill>
                  <a:srgbClr val="4A616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Friday 18 September 2026</a:t>
            </a:r>
          </a:p>
        </p:txBody>
      </p:sp>
      <p:sp>
        <p:nvSpPr>
          <p:cNvPr id="26" name="rule"/>
          <p:cNvSpPr/>
          <p:nvPr/>
        </p:nvSpPr>
        <p:spPr>
          <a:xfrm>
            <a:off x="1170432" y="896111"/>
            <a:ext cx="10472623" cy="36577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d0_bg"/>
          <p:cNvSpPr/>
          <p:nvPr/>
        </p:nvSpPr>
        <p:spPr>
          <a:xfrm>
            <a:off x="1170432" y="1133855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d0_badge"/>
          <p:cNvSpPr/>
          <p:nvPr/>
        </p:nvSpPr>
        <p:spPr>
          <a:xfrm>
            <a:off x="1371600" y="1298447"/>
            <a:ext cx="384048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d0_num"/>
          <p:cNvSpPr txBox="1"/>
          <p:nvPr/>
        </p:nvSpPr>
        <p:spPr>
          <a:xfrm>
            <a:off x="1371600" y="138887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" name="d0_q"/>
          <p:cNvSpPr txBox="1"/>
          <p:nvPr/>
        </p:nvSpPr>
        <p:spPr>
          <a:xfrm>
            <a:off x="1901951" y="1369551"/>
            <a:ext cx="4166465" cy="269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an ecosystem?</a:t>
            </a:r>
          </a:p>
        </p:txBody>
      </p:sp>
      <p:grpSp>
        <p:nvGrpSpPr>
          <p:cNvPr id="33" name="d0_a"/>
          <p:cNvGrpSpPr/>
          <p:nvPr/>
        </p:nvGrpSpPr>
        <p:grpSpPr>
          <a:xfrm>
            <a:off x="1371600" y="2048255"/>
            <a:ext cx="4696817" cy="438914"/>
            <a:chOff x="0" y="0"/>
            <a:chExt cx="4696816" cy="438912"/>
          </a:xfrm>
        </p:grpSpPr>
        <p:sp>
          <p:nvSpPr>
            <p:cNvPr id="31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32" name="All the living things in an area, plus their environment.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All the living things in an area, plus their environment.</a:t>
              </a:r>
            </a:p>
          </p:txBody>
        </p:sp>
      </p:grpSp>
      <p:sp>
        <p:nvSpPr>
          <p:cNvPr id="34" name="d1_bg"/>
          <p:cNvSpPr/>
          <p:nvPr/>
        </p:nvSpPr>
        <p:spPr>
          <a:xfrm>
            <a:off x="6543903" y="1133855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d1_badge"/>
          <p:cNvSpPr/>
          <p:nvPr/>
        </p:nvSpPr>
        <p:spPr>
          <a:xfrm>
            <a:off x="6745072" y="1298447"/>
            <a:ext cx="384049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d1_num"/>
          <p:cNvSpPr txBox="1"/>
          <p:nvPr/>
        </p:nvSpPr>
        <p:spPr>
          <a:xfrm>
            <a:off x="6745072" y="138887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" name="d1_q"/>
          <p:cNvSpPr txBox="1"/>
          <p:nvPr/>
        </p:nvSpPr>
        <p:spPr>
          <a:xfrm>
            <a:off x="7275424" y="1369551"/>
            <a:ext cx="4166465" cy="269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does a producer do?</a:t>
            </a:r>
          </a:p>
        </p:txBody>
      </p:sp>
      <p:grpSp>
        <p:nvGrpSpPr>
          <p:cNvPr id="40" name="d1_a"/>
          <p:cNvGrpSpPr/>
          <p:nvPr/>
        </p:nvGrpSpPr>
        <p:grpSpPr>
          <a:xfrm>
            <a:off x="6745072" y="2048255"/>
            <a:ext cx="4696817" cy="438914"/>
            <a:chOff x="0" y="0"/>
            <a:chExt cx="4696816" cy="438912"/>
          </a:xfrm>
        </p:grpSpPr>
        <p:sp>
          <p:nvSpPr>
            <p:cNvPr id="38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39" name="Makes its own food using light.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Makes its own food using light.</a:t>
              </a:r>
            </a:p>
          </p:txBody>
        </p:sp>
      </p:grpSp>
      <p:sp>
        <p:nvSpPr>
          <p:cNvPr id="41" name="d2_bg"/>
          <p:cNvSpPr/>
          <p:nvPr/>
        </p:nvSpPr>
        <p:spPr>
          <a:xfrm>
            <a:off x="1170432" y="2798064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d2_badge"/>
          <p:cNvSpPr/>
          <p:nvPr/>
        </p:nvSpPr>
        <p:spPr>
          <a:xfrm>
            <a:off x="1371600" y="2962655"/>
            <a:ext cx="384048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d2_num"/>
          <p:cNvSpPr txBox="1"/>
          <p:nvPr/>
        </p:nvSpPr>
        <p:spPr>
          <a:xfrm>
            <a:off x="1371600" y="30530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" name="d2_q"/>
          <p:cNvSpPr txBox="1"/>
          <p:nvPr/>
        </p:nvSpPr>
        <p:spPr>
          <a:xfrm>
            <a:off x="1901951" y="3033759"/>
            <a:ext cx="4166465" cy="269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does a decomposer do?</a:t>
            </a:r>
          </a:p>
        </p:txBody>
      </p:sp>
      <p:grpSp>
        <p:nvGrpSpPr>
          <p:cNvPr id="47" name="d2_a"/>
          <p:cNvGrpSpPr/>
          <p:nvPr/>
        </p:nvGrpSpPr>
        <p:grpSpPr>
          <a:xfrm>
            <a:off x="1371600" y="3712464"/>
            <a:ext cx="4696817" cy="438913"/>
            <a:chOff x="0" y="0"/>
            <a:chExt cx="4696816" cy="438912"/>
          </a:xfrm>
        </p:grpSpPr>
        <p:sp>
          <p:nvSpPr>
            <p:cNvPr id="45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46" name="Breaks down dead material and releases the nutrients.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Breaks down dead material and releases the nutrients.</a:t>
              </a:r>
            </a:p>
          </p:txBody>
        </p:sp>
      </p:grpSp>
      <p:sp>
        <p:nvSpPr>
          <p:cNvPr id="48" name="d3_bg"/>
          <p:cNvSpPr/>
          <p:nvPr/>
        </p:nvSpPr>
        <p:spPr>
          <a:xfrm>
            <a:off x="6543903" y="2798064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d3_badge"/>
          <p:cNvSpPr/>
          <p:nvPr/>
        </p:nvSpPr>
        <p:spPr>
          <a:xfrm>
            <a:off x="6745072" y="2962655"/>
            <a:ext cx="384049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d3_num"/>
          <p:cNvSpPr txBox="1"/>
          <p:nvPr/>
        </p:nvSpPr>
        <p:spPr>
          <a:xfrm>
            <a:off x="6745072" y="30530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1" name="d3_q"/>
          <p:cNvSpPr txBox="1"/>
          <p:nvPr/>
        </p:nvSpPr>
        <p:spPr>
          <a:xfrm>
            <a:off x="7275424" y="3033759"/>
            <a:ext cx="4166465" cy="269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Write a food chain with three links.</a:t>
            </a:r>
          </a:p>
        </p:txBody>
      </p:sp>
      <p:grpSp>
        <p:nvGrpSpPr>
          <p:cNvPr id="54" name="d3_a"/>
          <p:cNvGrpSpPr/>
          <p:nvPr/>
        </p:nvGrpSpPr>
        <p:grpSpPr>
          <a:xfrm>
            <a:off x="6745072" y="3712464"/>
            <a:ext cx="4696817" cy="438913"/>
            <a:chOff x="0" y="0"/>
            <a:chExt cx="4696816" cy="438912"/>
          </a:xfrm>
        </p:grpSpPr>
        <p:sp>
          <p:nvSpPr>
            <p:cNvPr id="52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53" name="grass → rabbit → fox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grass → rabbit → fox</a:t>
              </a:r>
            </a:p>
          </p:txBody>
        </p:sp>
      </p:grpSp>
      <p:sp>
        <p:nvSpPr>
          <p:cNvPr id="55" name="d4_bg"/>
          <p:cNvSpPr/>
          <p:nvPr/>
        </p:nvSpPr>
        <p:spPr>
          <a:xfrm>
            <a:off x="1170432" y="4462271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d4_badge"/>
          <p:cNvSpPr/>
          <p:nvPr/>
        </p:nvSpPr>
        <p:spPr>
          <a:xfrm>
            <a:off x="1371600" y="4626864"/>
            <a:ext cx="384048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d4_num"/>
          <p:cNvSpPr txBox="1"/>
          <p:nvPr/>
        </p:nvSpPr>
        <p:spPr>
          <a:xfrm>
            <a:off x="1371600" y="4717288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" name="d4_q"/>
          <p:cNvSpPr txBox="1"/>
          <p:nvPr/>
        </p:nvSpPr>
        <p:spPr>
          <a:xfrm>
            <a:off x="1901951" y="4558267"/>
            <a:ext cx="4166465" cy="548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happens to most of the energy at each step of a food chain?</a:t>
            </a:r>
          </a:p>
        </p:txBody>
      </p:sp>
      <p:grpSp>
        <p:nvGrpSpPr>
          <p:cNvPr id="61" name="d4_a"/>
          <p:cNvGrpSpPr/>
          <p:nvPr/>
        </p:nvGrpSpPr>
        <p:grpSpPr>
          <a:xfrm>
            <a:off x="1371600" y="5376671"/>
            <a:ext cx="4696817" cy="438913"/>
            <a:chOff x="0" y="0"/>
            <a:chExt cx="4696816" cy="438912"/>
          </a:xfrm>
        </p:grpSpPr>
        <p:sp>
          <p:nvSpPr>
            <p:cNvPr id="59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60" name="About 90% is lost, mostly as heat.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About 90% is lost, mostly as heat.</a:t>
              </a:r>
            </a:p>
          </p:txBody>
        </p:sp>
      </p:grpSp>
      <p:sp>
        <p:nvSpPr>
          <p:cNvPr id="62" name="d5_bg"/>
          <p:cNvSpPr/>
          <p:nvPr/>
        </p:nvSpPr>
        <p:spPr>
          <a:xfrm>
            <a:off x="6543903" y="4462271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d5_badge"/>
          <p:cNvSpPr/>
          <p:nvPr/>
        </p:nvSpPr>
        <p:spPr>
          <a:xfrm>
            <a:off x="6745072" y="4626864"/>
            <a:ext cx="384049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d5_num"/>
          <p:cNvSpPr txBox="1"/>
          <p:nvPr/>
        </p:nvSpPr>
        <p:spPr>
          <a:xfrm>
            <a:off x="6745072" y="4717288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5" name="d5_q"/>
          <p:cNvSpPr txBox="1"/>
          <p:nvPr/>
        </p:nvSpPr>
        <p:spPr>
          <a:xfrm>
            <a:off x="7275424" y="4558267"/>
            <a:ext cx="4166465" cy="548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population of 2 rabbits doubles every year. How many after 5 years?</a:t>
            </a:r>
          </a:p>
        </p:txBody>
      </p:sp>
      <p:grpSp>
        <p:nvGrpSpPr>
          <p:cNvPr id="68" name="d5_a"/>
          <p:cNvGrpSpPr/>
          <p:nvPr/>
        </p:nvGrpSpPr>
        <p:grpSpPr>
          <a:xfrm>
            <a:off x="6745072" y="5376671"/>
            <a:ext cx="4696817" cy="438913"/>
            <a:chOff x="0" y="0"/>
            <a:chExt cx="4696816" cy="438912"/>
          </a:xfrm>
        </p:grpSpPr>
        <p:sp>
          <p:nvSpPr>
            <p:cNvPr id="66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67" name="64"/>
            <p:cNvSpPr txBox="1"/>
            <p:nvPr/>
          </p:nvSpPr>
          <p:spPr>
            <a:xfrm>
              <a:off x="35035" y="119748"/>
              <a:ext cx="4626746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64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20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build="whole" bldLvl="1" animBg="1" rev="0" advAuto="0" spid="61" grpId="6"/>
      <p:bldP build="whole" bldLvl="1" animBg="1" rev="0" advAuto="0" spid="68" grpId="7"/>
      <p:bldP build="whole" bldLvl="1" animBg="1" rev="0" advAuto="0" spid="47" grpId="4"/>
      <p:bldP build="whole" bldLvl="1" animBg="1" rev="0" advAuto="0" spid="33" grpId="2"/>
      <p:bldP build="whole" bldLvl="1" animBg="1" rev="0" advAuto="0" spid="40" grpId="3"/>
      <p:bldP build="whole" bldLvl="1" animBg="1" rev="0" advAuto="0" spid="54" grpId="5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5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73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0E3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74" name="TODAY · 1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TODAY · 1 MIN</a:t>
              </a:r>
            </a:p>
          </p:txBody>
        </p:sp>
      </p:grpSp>
      <p:sp>
        <p:nvSpPr>
          <p:cNvPr id="76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Learning Objectives</a:t>
            </a:r>
          </a:p>
        </p:txBody>
      </p:sp>
      <p:grpSp>
        <p:nvGrpSpPr>
          <p:cNvPr id="81" name="o0"/>
          <p:cNvGrpSpPr/>
          <p:nvPr/>
        </p:nvGrpSpPr>
        <p:grpSpPr>
          <a:xfrm>
            <a:off x="1170432" y="2194560"/>
            <a:ext cx="3307994" cy="1700785"/>
            <a:chOff x="0" y="0"/>
            <a:chExt cx="3307993" cy="1700783"/>
          </a:xfrm>
        </p:grpSpPr>
        <p:sp>
          <p:nvSpPr>
            <p:cNvPr id="77" name="o0_bg"/>
            <p:cNvSpPr/>
            <p:nvPr/>
          </p:nvSpPr>
          <p:spPr>
            <a:xfrm>
              <a:off x="0" y="0"/>
              <a:ext cx="3307994" cy="1700784"/>
            </a:xfrm>
            <a:prstGeom prst="roundRect">
              <a:avLst>
                <a:gd name="adj" fmla="val 5376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8" name="o0_badge"/>
            <p:cNvSpPr/>
            <p:nvPr/>
          </p:nvSpPr>
          <p:spPr>
            <a:xfrm>
              <a:off x="237744" y="201167"/>
              <a:ext cx="384049" cy="384049"/>
            </a:xfrm>
            <a:prstGeom prst="ellipse">
              <a:avLst/>
            </a:prstGeom>
            <a:solidFill>
              <a:srgbClr val="F5B301"/>
            </a:solidFill>
            <a:ln w="1270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" name="o0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0E3A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0" name="o0_t"/>
            <p:cNvSpPr txBox="1"/>
            <p:nvPr/>
          </p:nvSpPr>
          <p:spPr>
            <a:xfrm>
              <a:off x="237744" y="713231"/>
              <a:ext cx="2832506" cy="5486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defRPr b="1" sz="17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Describe how the human population has changed.</a:t>
              </a:r>
            </a:p>
          </p:txBody>
        </p:sp>
      </p:grpSp>
      <p:grpSp>
        <p:nvGrpSpPr>
          <p:cNvPr id="86" name="o1"/>
          <p:cNvGrpSpPr/>
          <p:nvPr/>
        </p:nvGrpSpPr>
        <p:grpSpPr>
          <a:xfrm>
            <a:off x="4752745" y="2194560"/>
            <a:ext cx="3307995" cy="1700785"/>
            <a:chOff x="0" y="0"/>
            <a:chExt cx="3307993" cy="1700783"/>
          </a:xfrm>
        </p:grpSpPr>
        <p:sp>
          <p:nvSpPr>
            <p:cNvPr id="82" name="o1_bg"/>
            <p:cNvSpPr/>
            <p:nvPr/>
          </p:nvSpPr>
          <p:spPr>
            <a:xfrm>
              <a:off x="0" y="0"/>
              <a:ext cx="3307994" cy="1700784"/>
            </a:xfrm>
            <a:prstGeom prst="roundRect">
              <a:avLst>
                <a:gd name="adj" fmla="val 5376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3" name="o1_badge"/>
            <p:cNvSpPr/>
            <p:nvPr/>
          </p:nvSpPr>
          <p:spPr>
            <a:xfrm>
              <a:off x="237744" y="201167"/>
              <a:ext cx="384049" cy="384049"/>
            </a:xfrm>
            <a:prstGeom prst="ellipse">
              <a:avLst/>
            </a:prstGeom>
            <a:solidFill>
              <a:srgbClr val="F5B301"/>
            </a:solidFill>
            <a:ln w="1270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" name="o1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0E3A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5" name="o1_t"/>
            <p:cNvSpPr txBox="1"/>
            <p:nvPr/>
          </p:nvSpPr>
          <p:spPr>
            <a:xfrm>
              <a:off x="237744" y="713231"/>
              <a:ext cx="2832506" cy="5486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defRPr b="1" sz="17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Explain why it grew so quickly.</a:t>
              </a:r>
            </a:p>
          </p:txBody>
        </p:sp>
      </p:grpSp>
      <p:grpSp>
        <p:nvGrpSpPr>
          <p:cNvPr id="91" name="o2"/>
          <p:cNvGrpSpPr/>
          <p:nvPr/>
        </p:nvGrpSpPr>
        <p:grpSpPr>
          <a:xfrm>
            <a:off x="8335061" y="2194560"/>
            <a:ext cx="3307994" cy="1700785"/>
            <a:chOff x="0" y="0"/>
            <a:chExt cx="3307993" cy="1700783"/>
          </a:xfrm>
        </p:grpSpPr>
        <p:sp>
          <p:nvSpPr>
            <p:cNvPr id="87" name="o2_bg"/>
            <p:cNvSpPr/>
            <p:nvPr/>
          </p:nvSpPr>
          <p:spPr>
            <a:xfrm>
              <a:off x="0" y="0"/>
              <a:ext cx="3307994" cy="1700784"/>
            </a:xfrm>
            <a:prstGeom prst="roundRect">
              <a:avLst>
                <a:gd name="adj" fmla="val 5376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" name="o2_badge"/>
            <p:cNvSpPr/>
            <p:nvPr/>
          </p:nvSpPr>
          <p:spPr>
            <a:xfrm>
              <a:off x="237744" y="201167"/>
              <a:ext cx="384049" cy="384049"/>
            </a:xfrm>
            <a:prstGeom prst="ellipse">
              <a:avLst/>
            </a:prstGeom>
            <a:solidFill>
              <a:srgbClr val="F5B301"/>
            </a:solidFill>
            <a:ln w="1270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9" name="o2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0E3A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0" name="o2_t"/>
            <p:cNvSpPr txBox="1"/>
            <p:nvPr/>
          </p:nvSpPr>
          <p:spPr>
            <a:xfrm>
              <a:off x="237744" y="713231"/>
              <a:ext cx="2832506" cy="5486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defRPr b="1" sz="17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Describe what that growth does to ecosystems.</a:t>
              </a:r>
            </a:p>
          </p:txBody>
        </p:sp>
      </p:grpSp>
      <p:grpSp>
        <p:nvGrpSpPr>
          <p:cNvPr id="94" name="obj_banner"/>
          <p:cNvGrpSpPr/>
          <p:nvPr/>
        </p:nvGrpSpPr>
        <p:grpSpPr>
          <a:xfrm>
            <a:off x="1170432" y="4206240"/>
            <a:ext cx="10472623" cy="640081"/>
            <a:chOff x="0" y="0"/>
            <a:chExt cx="10472622" cy="640080"/>
          </a:xfrm>
        </p:grpSpPr>
        <p:sp>
          <p:nvSpPr>
            <p:cNvPr id="92" name="Rounded Rectangle"/>
            <p:cNvSpPr/>
            <p:nvPr/>
          </p:nvSpPr>
          <p:spPr>
            <a:xfrm>
              <a:off x="0" y="0"/>
              <a:ext cx="10472623" cy="640081"/>
            </a:xfrm>
            <a:prstGeom prst="roundRect">
              <a:avLst>
                <a:gd name="adj" fmla="val 17143"/>
              </a:avLst>
            </a:prstGeom>
            <a:solidFill>
              <a:srgbClr val="0E3A3F"/>
            </a:solidFill>
            <a:ln w="9525" cap="flat">
              <a:solidFill>
                <a:srgbClr val="0E3A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700"/>
              </a:pPr>
            </a:p>
          </p:txBody>
        </p:sp>
        <p:sp>
          <p:nvSpPr>
            <p:cNvPr id="93" name="You already know what an ecosystem is. Now we add humans."/>
            <p:cNvSpPr txBox="1"/>
            <p:nvPr/>
          </p:nvSpPr>
          <p:spPr>
            <a:xfrm>
              <a:off x="36901" y="196571"/>
              <a:ext cx="10398821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700">
                  <a:solidFill>
                    <a:srgbClr val="F5B30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already know what an ecosystem is. Now we add humans.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8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seq concurrent="1" prevAc="none" nextAc="seek">
              <p:cTn id="29" evtFilter="cancelBubble" nodeType="interactiveSeq" restart="whenNotActive" fill="hold">
                <p:stCondLst>
                  <p:cond delay="0" evt="onClick">
                    <p:tgtEl>
                      <p:spTgt spid="7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3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build="whole" bldLvl="1" animBg="1" rev="0" advAuto="0" spid="94" grpId="5"/>
      <p:bldP build="whole" bldLvl="1" animBg="1" rev="0" advAuto="0" spid="81" grpId="2"/>
      <p:bldP build="whole" bldLvl="1" animBg="1" rev="0" advAuto="0" spid="91" grpId="4"/>
      <p:bldP build="whole" bldLvl="1" animBg="1" rev="0" advAuto="0" spid="86" grpId="3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1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0E3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00" name="HOOK · 2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HOOK · 2 MIN</a:t>
              </a:r>
            </a:p>
          </p:txBody>
        </p:sp>
      </p:grpSp>
      <p:sp>
        <p:nvSpPr>
          <p:cNvPr id="102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 1950 there were 2.6 billion people.</a:t>
            </a:r>
          </a:p>
        </p:txBody>
      </p:sp>
      <p:sp>
        <p:nvSpPr>
          <p:cNvPr id="103" name="slide_sub"/>
          <p:cNvSpPr txBox="1"/>
          <p:nvPr/>
        </p:nvSpPr>
        <p:spPr>
          <a:xfrm>
            <a:off x="1170432" y="1644671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4A616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Today, there are 8.2 billion. By what percentage has the population changed?</a:t>
            </a:r>
          </a:p>
        </p:txBody>
      </p:sp>
      <p:grpSp>
        <p:nvGrpSpPr>
          <p:cNvPr id="107" name="h0"/>
          <p:cNvGrpSpPr/>
          <p:nvPr/>
        </p:nvGrpSpPr>
        <p:grpSpPr>
          <a:xfrm>
            <a:off x="1170432" y="2487167"/>
            <a:ext cx="3307994" cy="1554481"/>
            <a:chOff x="0" y="0"/>
            <a:chExt cx="3307993" cy="1554480"/>
          </a:xfrm>
        </p:grpSpPr>
        <p:sp>
          <p:nvSpPr>
            <p:cNvPr id="104" name="h0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" name="h0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2572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6" name="h0_t"/>
            <p:cNvSpPr txBox="1"/>
            <p:nvPr/>
          </p:nvSpPr>
          <p:spPr>
            <a:xfrm>
              <a:off x="256032" y="835152"/>
              <a:ext cx="2795930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100">
                  <a:solidFill>
                    <a:srgbClr val="0E3A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About 50 years</a:t>
              </a:r>
            </a:p>
          </p:txBody>
        </p:sp>
      </p:grpSp>
      <p:grpSp>
        <p:nvGrpSpPr>
          <p:cNvPr id="111" name="h1"/>
          <p:cNvGrpSpPr/>
          <p:nvPr/>
        </p:nvGrpSpPr>
        <p:grpSpPr>
          <a:xfrm>
            <a:off x="4752745" y="2487167"/>
            <a:ext cx="3307995" cy="1554481"/>
            <a:chOff x="0" y="0"/>
            <a:chExt cx="3307993" cy="1554480"/>
          </a:xfrm>
        </p:grpSpPr>
        <p:sp>
          <p:nvSpPr>
            <p:cNvPr id="108" name="h1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9" name="h1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2572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0" name="h1_t"/>
            <p:cNvSpPr txBox="1"/>
            <p:nvPr/>
          </p:nvSpPr>
          <p:spPr>
            <a:xfrm>
              <a:off x="256032" y="835152"/>
              <a:ext cx="2795930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100">
                  <a:solidFill>
                    <a:srgbClr val="0E3A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About 70 years</a:t>
              </a:r>
            </a:p>
          </p:txBody>
        </p:sp>
      </p:grpSp>
      <p:grpSp>
        <p:nvGrpSpPr>
          <p:cNvPr id="115" name="h2"/>
          <p:cNvGrpSpPr/>
          <p:nvPr/>
        </p:nvGrpSpPr>
        <p:grpSpPr>
          <a:xfrm>
            <a:off x="8335061" y="2487167"/>
            <a:ext cx="3307994" cy="1554481"/>
            <a:chOff x="0" y="0"/>
            <a:chExt cx="3307993" cy="1554480"/>
          </a:xfrm>
        </p:grpSpPr>
        <p:sp>
          <p:nvSpPr>
            <p:cNvPr id="112" name="h2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3" name="h2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2572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4" name="h2_t"/>
            <p:cNvSpPr txBox="1"/>
            <p:nvPr/>
          </p:nvSpPr>
          <p:spPr>
            <a:xfrm>
              <a:off x="256032" y="835152"/>
              <a:ext cx="2795930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100">
                  <a:solidFill>
                    <a:srgbClr val="0E3A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About 60 years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0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2" fill="hold" display="0">
                  <p:stCondLst>
                    <p:cond delay="indefinite"/>
                  </p:stCondLst>
                </p:cTn>
                <p:tgtEl>
                  <p:spTgt spid="98"/>
                </p:tgtEl>
              </p:cMediaNode>
            </p:video>
            <p:seq concurrent="1" prevAc="none" nextAc="seek">
              <p:cTn id="23" evtFilter="cancelBubble" nodeType="interactiveSeq" restart="whenNotActive" fill="hold">
                <p:stCondLst>
                  <p:cond delay="0" evt="onClick">
                    <p:tgtEl>
                      <p:spTgt spid="9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98"/>
                  </p:tgtEl>
                </p:cond>
              </p:nextCondLst>
            </p:seq>
          </p:childTnLst>
        </p:cTn>
      </p:par>
    </p:tnLst>
    <p:bldLst>
      <p:bldP build="whole" bldLvl="1" animBg="1" rev="0" advAuto="0" spid="107" grpId="2"/>
      <p:bldP build="whole" bldLvl="1" animBg="1" rev="0" advAuto="0" spid="111" grpId="3"/>
      <p:bldP build="whole" bldLvl="1" animBg="1" rev="0" advAuto="0" spid="115" grpId="4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2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120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0E3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21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123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population curve</a:t>
            </a:r>
          </a:p>
        </p:txBody>
      </p:sp>
      <p:sp>
        <p:nvSpPr>
          <p:cNvPr id="124" name="slide_sub"/>
          <p:cNvSpPr txBox="1"/>
          <p:nvPr/>
        </p:nvSpPr>
        <p:spPr>
          <a:xfrm>
            <a:off x="1170432" y="1644671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4A616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Population growth means the number of individuals going up.</a:t>
            </a:r>
          </a:p>
        </p:txBody>
      </p:sp>
      <p:grpSp>
        <p:nvGrpSpPr>
          <p:cNvPr id="129" name="axes"/>
          <p:cNvGrpSpPr/>
          <p:nvPr/>
        </p:nvGrpSpPr>
        <p:grpSpPr>
          <a:xfrm>
            <a:off x="1261871" y="2560320"/>
            <a:ext cx="5166362" cy="3174078"/>
            <a:chOff x="0" y="0"/>
            <a:chExt cx="5166360" cy="3174077"/>
          </a:xfrm>
        </p:grpSpPr>
        <p:sp>
          <p:nvSpPr>
            <p:cNvPr id="125" name="ax_y"/>
            <p:cNvSpPr/>
            <p:nvPr/>
          </p:nvSpPr>
          <p:spPr>
            <a:xfrm flipH="1">
              <a:off x="960120" y="0"/>
              <a:ext cx="1" cy="2834641"/>
            </a:xfrm>
            <a:prstGeom prst="line">
              <a:avLst/>
            </a:prstGeom>
            <a:noFill/>
            <a:ln w="20320" cap="flat">
              <a:solidFill>
                <a:srgbClr val="4A616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6" name="ax_x"/>
            <p:cNvSpPr/>
            <p:nvPr/>
          </p:nvSpPr>
          <p:spPr>
            <a:xfrm>
              <a:off x="960119" y="2834639"/>
              <a:ext cx="4206241" cy="1"/>
            </a:xfrm>
            <a:prstGeom prst="line">
              <a:avLst/>
            </a:prstGeom>
            <a:noFill/>
            <a:ln w="20320" cap="flat">
              <a:solidFill>
                <a:srgbClr val="4A616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7" name="ax_ylab"/>
            <p:cNvSpPr txBox="1"/>
            <p:nvPr/>
          </p:nvSpPr>
          <p:spPr>
            <a:xfrm>
              <a:off x="0" y="62898"/>
              <a:ext cx="868681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defRPr sz="1300">
                  <a:solidFill>
                    <a:srgbClr val="4A616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people</a:t>
              </a:r>
            </a:p>
          </p:txBody>
        </p:sp>
        <p:sp>
          <p:nvSpPr>
            <p:cNvPr id="128" name="ax_xlab"/>
            <p:cNvSpPr txBox="1"/>
            <p:nvPr/>
          </p:nvSpPr>
          <p:spPr>
            <a:xfrm>
              <a:off x="4343400" y="2988978"/>
              <a:ext cx="822961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defRPr sz="1300">
                  <a:solidFill>
                    <a:srgbClr val="4A616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time</a:t>
              </a:r>
            </a:p>
          </p:txBody>
        </p:sp>
      </p:grpSp>
      <p:grpSp>
        <p:nvGrpSpPr>
          <p:cNvPr id="136" name="curve"/>
          <p:cNvGrpSpPr/>
          <p:nvPr/>
        </p:nvGrpSpPr>
        <p:grpSpPr>
          <a:xfrm>
            <a:off x="2221992" y="2889510"/>
            <a:ext cx="3760392" cy="2448831"/>
            <a:chOff x="0" y="0"/>
            <a:chExt cx="3760391" cy="2448830"/>
          </a:xfrm>
        </p:grpSpPr>
        <p:sp>
          <p:nvSpPr>
            <p:cNvPr id="130" name="curve0"/>
            <p:cNvSpPr/>
            <p:nvPr/>
          </p:nvSpPr>
          <p:spPr>
            <a:xfrm>
              <a:off x="0" y="2448756"/>
              <a:ext cx="1265818" cy="1"/>
            </a:xfrm>
            <a:prstGeom prst="line">
              <a:avLst/>
            </a:prstGeom>
            <a:noFill/>
            <a:ln w="50800" cap="flat">
              <a:solidFill>
                <a:srgbClr val="2E9E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1" name="curve1"/>
            <p:cNvSpPr/>
            <p:nvPr/>
          </p:nvSpPr>
          <p:spPr>
            <a:xfrm flipV="1">
              <a:off x="1261871" y="2291437"/>
              <a:ext cx="1068825" cy="157394"/>
            </a:xfrm>
            <a:prstGeom prst="line">
              <a:avLst/>
            </a:prstGeom>
            <a:noFill/>
            <a:ln w="50800" cap="flat">
              <a:solidFill>
                <a:srgbClr val="2E9E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2" name="curve2"/>
            <p:cNvSpPr/>
            <p:nvPr/>
          </p:nvSpPr>
          <p:spPr>
            <a:xfrm flipV="1">
              <a:off x="2329036" y="2050550"/>
              <a:ext cx="646794" cy="241543"/>
            </a:xfrm>
            <a:prstGeom prst="line">
              <a:avLst/>
            </a:prstGeom>
            <a:noFill/>
            <a:ln w="50800" cap="flat">
              <a:solidFill>
                <a:srgbClr val="2E9E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3" name="curve3"/>
            <p:cNvSpPr/>
            <p:nvPr/>
          </p:nvSpPr>
          <p:spPr>
            <a:xfrm flipV="1">
              <a:off x="2962929" y="1624731"/>
              <a:ext cx="411901" cy="433375"/>
            </a:xfrm>
            <a:prstGeom prst="line">
              <a:avLst/>
            </a:prstGeom>
            <a:noFill/>
            <a:ln w="50800" cap="flat">
              <a:solidFill>
                <a:srgbClr val="2E9E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4" name="curve4"/>
            <p:cNvSpPr/>
            <p:nvPr/>
          </p:nvSpPr>
          <p:spPr>
            <a:xfrm flipV="1">
              <a:off x="3366695" y="808827"/>
              <a:ext cx="305536" cy="831705"/>
            </a:xfrm>
            <a:prstGeom prst="line">
              <a:avLst/>
            </a:prstGeom>
            <a:noFill/>
            <a:ln w="50800" cap="flat">
              <a:solidFill>
                <a:srgbClr val="2E9E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5" name="curve5"/>
            <p:cNvSpPr/>
            <p:nvPr/>
          </p:nvSpPr>
          <p:spPr>
            <a:xfrm flipV="1">
              <a:off x="3663430" y="0"/>
              <a:ext cx="96962" cy="826572"/>
            </a:xfrm>
            <a:prstGeom prst="line">
              <a:avLst/>
            </a:prstGeom>
            <a:noFill/>
            <a:ln w="50800" cap="flat">
              <a:solidFill>
                <a:srgbClr val="2E9E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40" name="f0"/>
          <p:cNvGrpSpPr/>
          <p:nvPr/>
        </p:nvGrpSpPr>
        <p:grpSpPr>
          <a:xfrm>
            <a:off x="6839711" y="2432304"/>
            <a:ext cx="4803345" cy="713233"/>
            <a:chOff x="0" y="0"/>
            <a:chExt cx="4803343" cy="713231"/>
          </a:xfrm>
        </p:grpSpPr>
        <p:sp>
          <p:nvSpPr>
            <p:cNvPr id="137" name="f0_bg"/>
            <p:cNvSpPr/>
            <p:nvPr/>
          </p:nvSpPr>
          <p:spPr>
            <a:xfrm>
              <a:off x="-1" y="0"/>
              <a:ext cx="4803345" cy="713232"/>
            </a:xfrm>
            <a:prstGeom prst="roundRect">
              <a:avLst>
                <a:gd name="adj" fmla="val 12821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8" name="f0_w"/>
            <p:cNvSpPr txBox="1"/>
            <p:nvPr/>
          </p:nvSpPr>
          <p:spPr>
            <a:xfrm>
              <a:off x="237743" y="233147"/>
              <a:ext cx="1645921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700">
                  <a:solidFill>
                    <a:srgbClr val="4A616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1950</a:t>
              </a:r>
            </a:p>
          </p:txBody>
        </p:sp>
        <p:sp>
          <p:nvSpPr>
            <p:cNvPr id="139" name="f0_n"/>
            <p:cNvSpPr txBox="1"/>
            <p:nvPr/>
          </p:nvSpPr>
          <p:spPr>
            <a:xfrm>
              <a:off x="1920239" y="197866"/>
              <a:ext cx="264536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E3A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2.6 billion</a:t>
              </a:r>
            </a:p>
          </p:txBody>
        </p:sp>
      </p:grpSp>
      <p:grpSp>
        <p:nvGrpSpPr>
          <p:cNvPr id="144" name="f1"/>
          <p:cNvGrpSpPr/>
          <p:nvPr/>
        </p:nvGrpSpPr>
        <p:grpSpPr>
          <a:xfrm>
            <a:off x="6839711" y="3291840"/>
            <a:ext cx="4803345" cy="713233"/>
            <a:chOff x="0" y="0"/>
            <a:chExt cx="4803343" cy="713231"/>
          </a:xfrm>
        </p:grpSpPr>
        <p:sp>
          <p:nvSpPr>
            <p:cNvPr id="141" name="f1_bg"/>
            <p:cNvSpPr/>
            <p:nvPr/>
          </p:nvSpPr>
          <p:spPr>
            <a:xfrm>
              <a:off x="-1" y="0"/>
              <a:ext cx="4803345" cy="713232"/>
            </a:xfrm>
            <a:prstGeom prst="roundRect">
              <a:avLst>
                <a:gd name="adj" fmla="val 12821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2" name="f1_w"/>
            <p:cNvSpPr txBox="1"/>
            <p:nvPr/>
          </p:nvSpPr>
          <p:spPr>
            <a:xfrm>
              <a:off x="237743" y="233147"/>
              <a:ext cx="1645921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700">
                  <a:solidFill>
                    <a:srgbClr val="4A616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2022</a:t>
              </a:r>
            </a:p>
          </p:txBody>
        </p:sp>
        <p:sp>
          <p:nvSpPr>
            <p:cNvPr id="143" name="f1_n"/>
            <p:cNvSpPr txBox="1"/>
            <p:nvPr/>
          </p:nvSpPr>
          <p:spPr>
            <a:xfrm>
              <a:off x="1920239" y="197866"/>
              <a:ext cx="264536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E3A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8 billion</a:t>
              </a:r>
            </a:p>
          </p:txBody>
        </p:sp>
      </p:grpSp>
      <p:grpSp>
        <p:nvGrpSpPr>
          <p:cNvPr id="148" name="f2"/>
          <p:cNvGrpSpPr/>
          <p:nvPr/>
        </p:nvGrpSpPr>
        <p:grpSpPr>
          <a:xfrm>
            <a:off x="6839711" y="4151376"/>
            <a:ext cx="4803345" cy="713233"/>
            <a:chOff x="0" y="0"/>
            <a:chExt cx="4803343" cy="713231"/>
          </a:xfrm>
        </p:grpSpPr>
        <p:sp>
          <p:nvSpPr>
            <p:cNvPr id="145" name="f2_bg"/>
            <p:cNvSpPr/>
            <p:nvPr/>
          </p:nvSpPr>
          <p:spPr>
            <a:xfrm>
              <a:off x="-1" y="0"/>
              <a:ext cx="4803345" cy="713232"/>
            </a:xfrm>
            <a:prstGeom prst="roundRect">
              <a:avLst>
                <a:gd name="adj" fmla="val 12821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6" name="f2_w"/>
            <p:cNvSpPr txBox="1"/>
            <p:nvPr/>
          </p:nvSpPr>
          <p:spPr>
            <a:xfrm>
              <a:off x="237743" y="233147"/>
              <a:ext cx="1645921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700">
                  <a:solidFill>
                    <a:srgbClr val="4A616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Today</a:t>
              </a:r>
            </a:p>
          </p:txBody>
        </p:sp>
        <p:sp>
          <p:nvSpPr>
            <p:cNvPr id="147" name="f2_n"/>
            <p:cNvSpPr txBox="1"/>
            <p:nvPr/>
          </p:nvSpPr>
          <p:spPr>
            <a:xfrm>
              <a:off x="1920239" y="197866"/>
              <a:ext cx="264536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E3A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8.2 billion</a:t>
              </a:r>
            </a:p>
          </p:txBody>
        </p:sp>
      </p:grpSp>
      <p:grpSp>
        <p:nvGrpSpPr>
          <p:cNvPr id="151" name="ido_banner"/>
          <p:cNvGrpSpPr/>
          <p:nvPr/>
        </p:nvGrpSpPr>
        <p:grpSpPr>
          <a:xfrm>
            <a:off x="6839711" y="5065776"/>
            <a:ext cx="4803344" cy="768097"/>
            <a:chOff x="0" y="0"/>
            <a:chExt cx="4803342" cy="768095"/>
          </a:xfrm>
        </p:grpSpPr>
        <p:sp>
          <p:nvSpPr>
            <p:cNvPr id="149" name="Rounded Rectangle"/>
            <p:cNvSpPr/>
            <p:nvPr/>
          </p:nvSpPr>
          <p:spPr>
            <a:xfrm>
              <a:off x="0" y="0"/>
              <a:ext cx="4803343" cy="768096"/>
            </a:xfrm>
            <a:prstGeom prst="roundRect">
              <a:avLst>
                <a:gd name="adj" fmla="val 14286"/>
              </a:avLst>
            </a:prstGeom>
            <a:solidFill>
              <a:srgbClr val="0E3A3F"/>
            </a:solidFill>
            <a:ln w="9525" cap="flat">
              <a:solidFill>
                <a:srgbClr val="0E3A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50" name="It tripled in 68 years. That bend is called exponential growth."/>
            <p:cNvSpPr txBox="1"/>
            <p:nvPr/>
          </p:nvSpPr>
          <p:spPr>
            <a:xfrm>
              <a:off x="36901" y="157755"/>
              <a:ext cx="4729541" cy="4525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 algn="ctr">
                <a:defRPr b="1" sz="1600">
                  <a:solidFill>
                    <a:srgbClr val="F5B30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It tripled in 68 years. That bend is called exponential growth.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9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4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16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8" fill="hold" display="0">
                  <p:stCondLst>
                    <p:cond delay="indefinite"/>
                  </p:stCondLst>
                </p:cTn>
                <p:tgtEl>
                  <p:spTgt spid="119"/>
                </p:tgtEl>
              </p:cMediaNode>
            </p:video>
            <p:seq concurrent="1" prevAc="none" nextAc="seek">
              <p:cTn id="39" evtFilter="cancelBubble" nodeType="interactiveSeq" restart="whenNotActive" fill="hold">
                <p:stCondLst>
                  <p:cond delay="0" evt="onClick">
                    <p:tgtEl>
                      <p:spTgt spid="11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3" dur="1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19"/>
                  </p:tgtEl>
                </p:cond>
              </p:nextCondLst>
            </p:seq>
          </p:childTnLst>
        </p:cTn>
      </p:par>
    </p:tnLst>
    <p:bldLst>
      <p:bldP build="whole" bldLvl="1" animBg="1" rev="0" advAuto="0" spid="148" grpId="6"/>
      <p:bldP build="whole" bldLvl="1" animBg="1" rev="0" advAuto="0" spid="129" grpId="2"/>
      <p:bldP build="whole" bldLvl="1" animBg="1" rev="0" advAuto="0" spid="151" grpId="7"/>
      <p:bldP build="whole" bldLvl="1" animBg="1" rev="0" advAuto="0" spid="136" grpId="3"/>
      <p:bldP build="whole" bldLvl="1" animBg="1" rev="0" advAuto="0" spid="140" grpId="4"/>
      <p:bldP build="whole" bldLvl="1" animBg="1" rev="0" advAuto="0" spid="144" grpId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8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156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0E3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57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159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8 billion people need</a:t>
            </a:r>
          </a:p>
        </p:txBody>
      </p:sp>
      <p:sp>
        <p:nvSpPr>
          <p:cNvPr id="160" name="slide_sub"/>
          <p:cNvSpPr txBox="1"/>
          <p:nvPr/>
        </p:nvSpPr>
        <p:spPr>
          <a:xfrm>
            <a:off x="1170432" y="1644671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4A616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Every person needs food, water, energy and space. All of it comes from ecosystems.</a:t>
            </a:r>
          </a:p>
        </p:txBody>
      </p:sp>
      <p:grpSp>
        <p:nvGrpSpPr>
          <p:cNvPr id="164" name="im0"/>
          <p:cNvGrpSpPr/>
          <p:nvPr/>
        </p:nvGrpSpPr>
        <p:grpSpPr>
          <a:xfrm>
            <a:off x="1170432" y="2432304"/>
            <a:ext cx="2453565" cy="2377441"/>
            <a:chOff x="0" y="0"/>
            <a:chExt cx="2453563" cy="2377439"/>
          </a:xfrm>
        </p:grpSpPr>
        <p:sp>
          <p:nvSpPr>
            <p:cNvPr id="161" name="im0_bg"/>
            <p:cNvSpPr/>
            <p:nvPr/>
          </p:nvSpPr>
          <p:spPr>
            <a:xfrm>
              <a:off x="0" y="0"/>
              <a:ext cx="2453564" cy="2377440"/>
            </a:xfrm>
            <a:prstGeom prst="roundRect">
              <a:avLst>
                <a:gd name="adj" fmla="val 3846"/>
              </a:avLst>
            </a:prstGeom>
            <a:blipFill rotWithShape="1">
              <a:blip r:embed="rId6">
                <a:alphaModFix amt="25126"/>
              </a:blip>
              <a:srcRect l="0" t="0" r="0" b="0"/>
              <a:stretch>
                <a:fillRect/>
              </a:stretch>
            </a:blipFill>
            <a:ln w="16510" cap="flat">
              <a:solidFill>
                <a:srgbClr val="E6DCC2">
                  <a:alpha val="25126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2" name="im0_h"/>
            <p:cNvSpPr txBox="1"/>
            <p:nvPr/>
          </p:nvSpPr>
          <p:spPr>
            <a:xfrm>
              <a:off x="219455" y="280161"/>
              <a:ext cx="2014653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E2572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Land</a:t>
              </a:r>
            </a:p>
          </p:txBody>
        </p:sp>
        <p:sp>
          <p:nvSpPr>
            <p:cNvPr id="163" name="im0_t"/>
            <p:cNvSpPr txBox="1"/>
            <p:nvPr/>
          </p:nvSpPr>
          <p:spPr>
            <a:xfrm>
              <a:off x="219455" y="731519"/>
              <a:ext cx="2014653" cy="10565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100"/>
                </a:lnSpc>
                <a:defRPr sz="16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Forest and grassland are cleared to grow food. Habitats disappear.</a:t>
              </a:r>
            </a:p>
          </p:txBody>
        </p:sp>
      </p:grpSp>
      <p:grpSp>
        <p:nvGrpSpPr>
          <p:cNvPr id="168" name="im1"/>
          <p:cNvGrpSpPr/>
          <p:nvPr/>
        </p:nvGrpSpPr>
        <p:grpSpPr>
          <a:xfrm>
            <a:off x="3843451" y="2432304"/>
            <a:ext cx="2453565" cy="2377441"/>
            <a:chOff x="0" y="0"/>
            <a:chExt cx="2453563" cy="2377439"/>
          </a:xfrm>
        </p:grpSpPr>
        <p:sp>
          <p:nvSpPr>
            <p:cNvPr id="165" name="im1_bg"/>
            <p:cNvSpPr/>
            <p:nvPr/>
          </p:nvSpPr>
          <p:spPr>
            <a:xfrm>
              <a:off x="0" y="0"/>
              <a:ext cx="2453564" cy="2377440"/>
            </a:xfrm>
            <a:prstGeom prst="roundRect">
              <a:avLst>
                <a:gd name="adj" fmla="val 3846"/>
              </a:avLst>
            </a:prstGeom>
            <a:blipFill rotWithShape="1">
              <a:blip r:embed="rId7">
                <a:alphaModFix amt="25000"/>
              </a:blip>
              <a:srcRect l="0" t="0" r="0" b="0"/>
              <a:stretch>
                <a:fillRect/>
              </a:stretch>
            </a:blipFill>
            <a:ln w="16510" cap="flat">
              <a:solidFill>
                <a:srgbClr val="E6DCC2">
                  <a:alpha val="25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6" name="im1_h"/>
            <p:cNvSpPr txBox="1"/>
            <p:nvPr/>
          </p:nvSpPr>
          <p:spPr>
            <a:xfrm>
              <a:off x="219455" y="280161"/>
              <a:ext cx="2014653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E2572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Water</a:t>
              </a:r>
            </a:p>
          </p:txBody>
        </p:sp>
        <p:sp>
          <p:nvSpPr>
            <p:cNvPr id="167" name="im1_t"/>
            <p:cNvSpPr txBox="1"/>
            <p:nvPr/>
          </p:nvSpPr>
          <p:spPr>
            <a:xfrm>
              <a:off x="219455" y="731519"/>
              <a:ext cx="2014653" cy="10565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100"/>
                </a:lnSpc>
                <a:defRPr sz="16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Rivers are taken for farming and for cities. Less is left for everything else.</a:t>
              </a:r>
            </a:p>
          </p:txBody>
        </p:sp>
      </p:grpSp>
      <p:grpSp>
        <p:nvGrpSpPr>
          <p:cNvPr id="172" name="im2"/>
          <p:cNvGrpSpPr/>
          <p:nvPr/>
        </p:nvGrpSpPr>
        <p:grpSpPr>
          <a:xfrm>
            <a:off x="6516472" y="2432304"/>
            <a:ext cx="2453565" cy="2377441"/>
            <a:chOff x="0" y="0"/>
            <a:chExt cx="2453563" cy="2377439"/>
          </a:xfrm>
        </p:grpSpPr>
        <p:sp>
          <p:nvSpPr>
            <p:cNvPr id="169" name="im2_bg"/>
            <p:cNvSpPr/>
            <p:nvPr/>
          </p:nvSpPr>
          <p:spPr>
            <a:xfrm>
              <a:off x="0" y="0"/>
              <a:ext cx="2453564" cy="2377440"/>
            </a:xfrm>
            <a:prstGeom prst="roundRect">
              <a:avLst>
                <a:gd name="adj" fmla="val 3846"/>
              </a:avLst>
            </a:prstGeom>
            <a:blipFill rotWithShape="1">
              <a:blip r:embed="rId8">
                <a:alphaModFix amt="25000"/>
              </a:blip>
              <a:srcRect l="0" t="0" r="0" b="0"/>
              <a:stretch>
                <a:fillRect/>
              </a:stretch>
            </a:blipFill>
            <a:ln w="16510" cap="flat">
              <a:solidFill>
                <a:srgbClr val="E6DCC2">
                  <a:alpha val="25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0" name="im2_h"/>
            <p:cNvSpPr txBox="1"/>
            <p:nvPr/>
          </p:nvSpPr>
          <p:spPr>
            <a:xfrm>
              <a:off x="219455" y="280161"/>
              <a:ext cx="2014653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E2572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Other species</a:t>
              </a:r>
            </a:p>
          </p:txBody>
        </p:sp>
        <p:sp>
          <p:nvSpPr>
            <p:cNvPr id="171" name="im2_t"/>
            <p:cNvSpPr txBox="1"/>
            <p:nvPr/>
          </p:nvSpPr>
          <p:spPr>
            <a:xfrm>
              <a:off x="219455" y="731519"/>
              <a:ext cx="2014653" cy="10565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100"/>
                </a:lnSpc>
                <a:defRPr sz="16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Populations of wild animals fall as their space and food are taken.</a:t>
              </a:r>
            </a:p>
          </p:txBody>
        </p:sp>
      </p:grpSp>
      <p:grpSp>
        <p:nvGrpSpPr>
          <p:cNvPr id="176" name="im3"/>
          <p:cNvGrpSpPr/>
          <p:nvPr/>
        </p:nvGrpSpPr>
        <p:grpSpPr>
          <a:xfrm>
            <a:off x="9189491" y="2432304"/>
            <a:ext cx="2453565" cy="2377441"/>
            <a:chOff x="0" y="0"/>
            <a:chExt cx="2453563" cy="2377439"/>
          </a:xfrm>
        </p:grpSpPr>
        <p:sp>
          <p:nvSpPr>
            <p:cNvPr id="173" name="im3_bg"/>
            <p:cNvSpPr/>
            <p:nvPr/>
          </p:nvSpPr>
          <p:spPr>
            <a:xfrm>
              <a:off x="0" y="0"/>
              <a:ext cx="2453564" cy="2377440"/>
            </a:xfrm>
            <a:prstGeom prst="roundRect">
              <a:avLst>
                <a:gd name="adj" fmla="val 3846"/>
              </a:avLst>
            </a:prstGeom>
            <a:blipFill rotWithShape="1">
              <a:blip r:embed="rId9">
                <a:alphaModFix amt="25000"/>
              </a:blip>
              <a:srcRect l="0" t="0" r="0" b="0"/>
              <a:stretch>
                <a:fillRect/>
              </a:stretch>
            </a:blipFill>
            <a:ln w="16510" cap="flat">
              <a:solidFill>
                <a:srgbClr val="E6DCC2">
                  <a:alpha val="25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4" name="im3_h"/>
            <p:cNvSpPr txBox="1"/>
            <p:nvPr/>
          </p:nvSpPr>
          <p:spPr>
            <a:xfrm>
              <a:off x="219455" y="121411"/>
              <a:ext cx="2014653" cy="635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E2572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Air and climate</a:t>
              </a:r>
            </a:p>
          </p:txBody>
        </p:sp>
        <p:sp>
          <p:nvSpPr>
            <p:cNvPr id="175" name="im3_t"/>
            <p:cNvSpPr txBox="1"/>
            <p:nvPr/>
          </p:nvSpPr>
          <p:spPr>
            <a:xfrm>
              <a:off x="219455" y="731519"/>
              <a:ext cx="2014653" cy="10565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100"/>
                </a:lnSpc>
                <a:defRPr sz="16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Burning fuel for energy changes the atmosphere for every ecosystem at once.</a:t>
              </a:r>
            </a:p>
          </p:txBody>
        </p:sp>
      </p:grpSp>
      <p:grpSp>
        <p:nvGrpSpPr>
          <p:cNvPr id="179" name="imp_banner"/>
          <p:cNvGrpSpPr/>
          <p:nvPr/>
        </p:nvGrpSpPr>
        <p:grpSpPr>
          <a:xfrm>
            <a:off x="1170432" y="5065776"/>
            <a:ext cx="10472623" cy="658369"/>
            <a:chOff x="0" y="0"/>
            <a:chExt cx="10472622" cy="658368"/>
          </a:xfrm>
        </p:grpSpPr>
        <p:sp>
          <p:nvSpPr>
            <p:cNvPr id="177" name="Rounded Rectangle"/>
            <p:cNvSpPr/>
            <p:nvPr/>
          </p:nvSpPr>
          <p:spPr>
            <a:xfrm>
              <a:off x="0" y="0"/>
              <a:ext cx="10472623" cy="658369"/>
            </a:xfrm>
            <a:prstGeom prst="roundRect">
              <a:avLst>
                <a:gd name="adj" fmla="val 16667"/>
              </a:avLst>
            </a:prstGeom>
            <a:solidFill>
              <a:srgbClr val="0E3A3F"/>
            </a:solidFill>
            <a:ln w="9525" cap="flat">
              <a:solidFill>
                <a:srgbClr val="0E3A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700"/>
              </a:pPr>
            </a:p>
          </p:txBody>
        </p:sp>
        <p:sp>
          <p:nvSpPr>
            <p:cNvPr id="178" name="We are part of the ecosystem, not visitors to it. Everything we consume comes out of a food chain."/>
            <p:cNvSpPr txBox="1"/>
            <p:nvPr/>
          </p:nvSpPr>
          <p:spPr>
            <a:xfrm>
              <a:off x="36901" y="204699"/>
              <a:ext cx="10398821" cy="2489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 algn="ctr">
                <a:defRPr b="1" sz="1700">
                  <a:solidFill>
                    <a:srgbClr val="F5B30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 are part of the ecosystem, not visitors to it. Everything we consume comes out of a food chain.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1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16" presetID="23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3" fill="hold" display="0">
                  <p:stCondLst>
                    <p:cond delay="indefinite"/>
                  </p:stCondLst>
                </p:cTn>
                <p:tgtEl>
                  <p:spTgt spid="155"/>
                </p:tgtEl>
              </p:cMediaNode>
            </p:video>
            <p:seq concurrent="1" prevAc="none" nextAc="seek">
              <p:cTn id="34" evtFilter="cancelBubble" nodeType="interactiveSeq" restart="whenNotActive" fill="hold">
                <p:stCondLst>
                  <p:cond delay="0" evt="onClick">
                    <p:tgtEl>
                      <p:spTgt spid="15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8" dur="1" fill="hold"/>
                                        <p:tgtEl>
                                          <p:spTgt spid="1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55"/>
                  </p:tgtEl>
                </p:cond>
              </p:nextCondLst>
            </p:seq>
          </p:childTnLst>
        </p:cTn>
      </p:par>
    </p:tnLst>
    <p:bldLst>
      <p:bldP build="whole" bldLvl="1" animBg="1" rev="0" advAuto="0" spid="168" grpId="3"/>
      <p:bldP build="whole" bldLvl="1" animBg="1" rev="0" advAuto="0" spid="176" grpId="5"/>
      <p:bldP build="whole" bldLvl="1" animBg="1" rev="0" advAuto="0" spid="164" grpId="2"/>
      <p:bldP build="whole" bldLvl="1" animBg="1" rev="0" advAuto="0" spid="172" grpId="4"/>
      <p:bldP build="whole" bldLvl="1" animBg="1" rev="0" advAuto="0" spid="179" grpId="6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6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184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0E3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85" name="WE DO · 5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 DO · 5 MIN</a:t>
              </a:r>
            </a:p>
          </p:txBody>
        </p:sp>
      </p:grpSp>
      <p:sp>
        <p:nvSpPr>
          <p:cNvPr id="187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should be the correct answer?</a:t>
            </a:r>
          </a:p>
        </p:txBody>
      </p:sp>
      <p:sp>
        <p:nvSpPr>
          <p:cNvPr id="188" name="slide_sub"/>
          <p:cNvSpPr txBox="1"/>
          <p:nvPr/>
        </p:nvSpPr>
        <p:spPr>
          <a:xfrm>
            <a:off x="1170432" y="1644671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4A616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Spot the mistake.</a:t>
            </a:r>
          </a:p>
        </p:txBody>
      </p:sp>
      <p:sp>
        <p:nvSpPr>
          <p:cNvPr id="189" name="wd0_bg"/>
          <p:cNvSpPr/>
          <p:nvPr/>
        </p:nvSpPr>
        <p:spPr>
          <a:xfrm>
            <a:off x="1170432" y="2322576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wd0_q"/>
          <p:cNvSpPr txBox="1"/>
          <p:nvPr/>
        </p:nvSpPr>
        <p:spPr>
          <a:xfrm>
            <a:off x="1426463" y="2481639"/>
            <a:ext cx="5852162" cy="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population grew because people started having more babies.</a:t>
            </a:r>
          </a:p>
        </p:txBody>
      </p:sp>
      <p:grpSp>
        <p:nvGrpSpPr>
          <p:cNvPr id="193" name="wd0_a"/>
          <p:cNvGrpSpPr/>
          <p:nvPr/>
        </p:nvGrpSpPr>
        <p:grpSpPr>
          <a:xfrm>
            <a:off x="7571231" y="2450592"/>
            <a:ext cx="3980384" cy="585217"/>
            <a:chOff x="0" y="0"/>
            <a:chExt cx="3980383" cy="585216"/>
          </a:xfrm>
        </p:grpSpPr>
        <p:sp>
          <p:nvSpPr>
            <p:cNvPr id="191" name="Rounded Rectangle"/>
            <p:cNvSpPr/>
            <p:nvPr/>
          </p:nvSpPr>
          <p:spPr>
            <a:xfrm>
              <a:off x="0" y="0"/>
              <a:ext cx="3980384" cy="585217"/>
            </a:xfrm>
            <a:prstGeom prst="roundRect">
              <a:avLst>
                <a:gd name="adj" fmla="val 15625"/>
              </a:avLst>
            </a:prstGeom>
            <a:solidFill>
              <a:srgbClr val="FDF3D6"/>
            </a:solidFill>
            <a:ln w="19050" cap="flat">
              <a:solidFill>
                <a:srgbClr val="E2572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92" name="It grew because fewer people died."/>
            <p:cNvSpPr txBox="1"/>
            <p:nvPr/>
          </p:nvSpPr>
          <p:spPr>
            <a:xfrm>
              <a:off x="36306" y="180869"/>
              <a:ext cx="3907771" cy="2234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6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It grew because fewer people died.</a:t>
              </a:r>
            </a:p>
          </p:txBody>
        </p:sp>
      </p:grpSp>
      <p:sp>
        <p:nvSpPr>
          <p:cNvPr id="194" name="wd1_bg"/>
          <p:cNvSpPr/>
          <p:nvPr/>
        </p:nvSpPr>
        <p:spPr>
          <a:xfrm>
            <a:off x="1170432" y="3346703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wd1_q"/>
          <p:cNvSpPr txBox="1"/>
          <p:nvPr/>
        </p:nvSpPr>
        <p:spPr>
          <a:xfrm>
            <a:off x="1426463" y="3639117"/>
            <a:ext cx="5852162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population will keep growing exponentially.</a:t>
            </a:r>
          </a:p>
        </p:txBody>
      </p:sp>
      <p:grpSp>
        <p:nvGrpSpPr>
          <p:cNvPr id="198" name="wd1_a"/>
          <p:cNvGrpSpPr/>
          <p:nvPr/>
        </p:nvGrpSpPr>
        <p:grpSpPr>
          <a:xfrm>
            <a:off x="7571231" y="3474720"/>
            <a:ext cx="3980384" cy="585217"/>
            <a:chOff x="0" y="0"/>
            <a:chExt cx="3980383" cy="585216"/>
          </a:xfrm>
        </p:grpSpPr>
        <p:sp>
          <p:nvSpPr>
            <p:cNvPr id="196" name="Rounded Rectangle"/>
            <p:cNvSpPr/>
            <p:nvPr/>
          </p:nvSpPr>
          <p:spPr>
            <a:xfrm>
              <a:off x="0" y="0"/>
              <a:ext cx="3980384" cy="585217"/>
            </a:xfrm>
            <a:prstGeom prst="roundRect">
              <a:avLst>
                <a:gd name="adj" fmla="val 15625"/>
              </a:avLst>
            </a:prstGeom>
            <a:solidFill>
              <a:srgbClr val="FDF3D6"/>
            </a:solidFill>
            <a:ln w="19050" cap="flat">
              <a:solidFill>
                <a:srgbClr val="E2572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197" name="It will likely plateau."/>
            <p:cNvSpPr txBox="1"/>
            <p:nvPr/>
          </p:nvSpPr>
          <p:spPr>
            <a:xfrm>
              <a:off x="36306" y="180869"/>
              <a:ext cx="3907771" cy="2234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6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It will likely plateau.</a:t>
              </a:r>
            </a:p>
          </p:txBody>
        </p:sp>
      </p:grpSp>
      <p:sp>
        <p:nvSpPr>
          <p:cNvPr id="199" name="wd2_bg"/>
          <p:cNvSpPr/>
          <p:nvPr/>
        </p:nvSpPr>
        <p:spPr>
          <a:xfrm>
            <a:off x="1170432" y="4370832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wd2_q"/>
          <p:cNvSpPr txBox="1"/>
          <p:nvPr/>
        </p:nvSpPr>
        <p:spPr>
          <a:xfrm>
            <a:off x="1426463" y="4663245"/>
            <a:ext cx="5852162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Humans are outside the ecosystem.</a:t>
            </a:r>
          </a:p>
        </p:txBody>
      </p:sp>
      <p:grpSp>
        <p:nvGrpSpPr>
          <p:cNvPr id="203" name="wd2_a"/>
          <p:cNvGrpSpPr/>
          <p:nvPr/>
        </p:nvGrpSpPr>
        <p:grpSpPr>
          <a:xfrm>
            <a:off x="7571231" y="4498847"/>
            <a:ext cx="3980384" cy="585217"/>
            <a:chOff x="0" y="0"/>
            <a:chExt cx="3980383" cy="585216"/>
          </a:xfrm>
        </p:grpSpPr>
        <p:sp>
          <p:nvSpPr>
            <p:cNvPr id="201" name="Rounded Rectangle"/>
            <p:cNvSpPr/>
            <p:nvPr/>
          </p:nvSpPr>
          <p:spPr>
            <a:xfrm>
              <a:off x="0" y="0"/>
              <a:ext cx="3980384" cy="585217"/>
            </a:xfrm>
            <a:prstGeom prst="roundRect">
              <a:avLst>
                <a:gd name="adj" fmla="val 15625"/>
              </a:avLst>
            </a:prstGeom>
            <a:solidFill>
              <a:srgbClr val="FDF3D6"/>
            </a:solidFill>
            <a:ln w="19050" cap="flat">
              <a:solidFill>
                <a:srgbClr val="E2572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202" name="We are part of the ecosystem."/>
            <p:cNvSpPr txBox="1"/>
            <p:nvPr/>
          </p:nvSpPr>
          <p:spPr>
            <a:xfrm>
              <a:off x="36306" y="180869"/>
              <a:ext cx="3907771" cy="2234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6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 are part of the ecosystem.</a:t>
              </a:r>
            </a:p>
          </p:txBody>
        </p:sp>
      </p:grpSp>
      <p:sp>
        <p:nvSpPr>
          <p:cNvPr id="204" name="wd3_bg"/>
          <p:cNvSpPr/>
          <p:nvPr/>
        </p:nvSpPr>
        <p:spPr>
          <a:xfrm>
            <a:off x="1170432" y="5394959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wd3_q"/>
          <p:cNvSpPr txBox="1"/>
          <p:nvPr/>
        </p:nvSpPr>
        <p:spPr>
          <a:xfrm>
            <a:off x="1426463" y="5687373"/>
            <a:ext cx="5852162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population is growing at the same speed everywhere.</a:t>
            </a:r>
          </a:p>
        </p:txBody>
      </p:sp>
      <p:grpSp>
        <p:nvGrpSpPr>
          <p:cNvPr id="208" name="wd3_a"/>
          <p:cNvGrpSpPr/>
          <p:nvPr/>
        </p:nvGrpSpPr>
        <p:grpSpPr>
          <a:xfrm>
            <a:off x="7571231" y="5522976"/>
            <a:ext cx="3980384" cy="585217"/>
            <a:chOff x="0" y="0"/>
            <a:chExt cx="3980383" cy="585216"/>
          </a:xfrm>
        </p:grpSpPr>
        <p:sp>
          <p:nvSpPr>
            <p:cNvPr id="206" name="Rounded Rectangle"/>
            <p:cNvSpPr/>
            <p:nvPr/>
          </p:nvSpPr>
          <p:spPr>
            <a:xfrm>
              <a:off x="0" y="0"/>
              <a:ext cx="3980384" cy="585217"/>
            </a:xfrm>
            <a:prstGeom prst="roundRect">
              <a:avLst>
                <a:gd name="adj" fmla="val 15625"/>
              </a:avLst>
            </a:prstGeom>
            <a:solidFill>
              <a:srgbClr val="FDF3D6"/>
            </a:solidFill>
            <a:ln w="19050" cap="flat">
              <a:solidFill>
                <a:srgbClr val="E2572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207" name="It varies hugely by country."/>
            <p:cNvSpPr txBox="1"/>
            <p:nvPr/>
          </p:nvSpPr>
          <p:spPr>
            <a:xfrm>
              <a:off x="36306" y="180869"/>
              <a:ext cx="3907771" cy="2234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6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It varies hugely by country.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0" fill="hold"/>
                                        <p:tgtEl>
                                          <p:spTgt spid="1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16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1" fill="hold" display="0">
                  <p:stCondLst>
                    <p:cond delay="indefinite"/>
                  </p:stCondLst>
                </p:cTn>
                <p:tgtEl>
                  <p:spTgt spid="183"/>
                </p:tgtEl>
              </p:cMediaNode>
            </p:video>
            <p:seq concurrent="1" prevAc="none" nextAc="seek">
              <p:cTn id="32" evtFilter="cancelBubble" nodeType="interactiveSeq" restart="whenNotActive" fill="hold">
                <p:stCondLst>
                  <p:cond delay="0" evt="onClick">
                    <p:tgtEl>
                      <p:spTgt spid="183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83"/>
                  </p:tgtEl>
                </p:cond>
              </p:nextCondLst>
            </p:seq>
          </p:childTnLst>
        </p:cTn>
      </p:par>
    </p:tnLst>
    <p:bldLst>
      <p:bldP build="whole" bldLvl="1" animBg="1" rev="0" advAuto="0" spid="198" grpId="3"/>
      <p:bldP build="whole" bldLvl="1" animBg="1" rev="0" advAuto="0" spid="193" grpId="2"/>
      <p:bldP build="whole" bldLvl="1" animBg="1" rev="0" advAuto="0" spid="203" grpId="4"/>
      <p:bldP build="whole" bldLvl="1" animBg="1" rev="0" advAuto="0" spid="208" grpId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5" name="phase_pill"/>
          <p:cNvGrpSpPr/>
          <p:nvPr/>
        </p:nvGrpSpPr>
        <p:grpSpPr>
          <a:xfrm>
            <a:off x="1170432" y="310895"/>
            <a:ext cx="2072030" cy="329185"/>
            <a:chOff x="0" y="0"/>
            <a:chExt cx="2072029" cy="329184"/>
          </a:xfrm>
        </p:grpSpPr>
        <p:sp>
          <p:nvSpPr>
            <p:cNvPr id="213" name="Rounded Rectangle"/>
            <p:cNvSpPr/>
            <p:nvPr/>
          </p:nvSpPr>
          <p:spPr>
            <a:xfrm>
              <a:off x="0" y="0"/>
              <a:ext cx="2072030" cy="329185"/>
            </a:xfrm>
            <a:prstGeom prst="roundRect">
              <a:avLst>
                <a:gd name="adj" fmla="val 44444"/>
              </a:avLst>
            </a:prstGeom>
            <a:solidFill>
              <a:srgbClr val="0E3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14" name="COLD CALL · 6 MIN"/>
            <p:cNvSpPr txBox="1"/>
            <p:nvPr/>
          </p:nvSpPr>
          <p:spPr>
            <a:xfrm>
              <a:off x="42850" y="90677"/>
              <a:ext cx="1986329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COLD CALL · 6 MIN</a:t>
              </a:r>
            </a:p>
          </p:txBody>
        </p:sp>
      </p:grpSp>
      <p:sp>
        <p:nvSpPr>
          <p:cNvPr id="216" name="c0_bg"/>
          <p:cNvSpPr/>
          <p:nvPr/>
        </p:nvSpPr>
        <p:spPr>
          <a:xfrm>
            <a:off x="1170432" y="969263"/>
            <a:ext cx="5117441" cy="138989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c0_badge"/>
          <p:cNvSpPr/>
          <p:nvPr/>
        </p:nvSpPr>
        <p:spPr>
          <a:xfrm>
            <a:off x="1371600" y="1133855"/>
            <a:ext cx="384048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c0_num"/>
          <p:cNvSpPr txBox="1"/>
          <p:nvPr/>
        </p:nvSpPr>
        <p:spPr>
          <a:xfrm>
            <a:off x="1371600" y="12242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9" name="c0_q"/>
          <p:cNvSpPr txBox="1"/>
          <p:nvPr/>
        </p:nvSpPr>
        <p:spPr>
          <a:xfrm>
            <a:off x="1901951" y="1223069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does population growth mean?</a:t>
            </a:r>
          </a:p>
        </p:txBody>
      </p:sp>
      <p:grpSp>
        <p:nvGrpSpPr>
          <p:cNvPr id="222" name="c0_a"/>
          <p:cNvGrpSpPr/>
          <p:nvPr/>
        </p:nvGrpSpPr>
        <p:grpSpPr>
          <a:xfrm>
            <a:off x="1371600" y="1810511"/>
            <a:ext cx="4715105" cy="402337"/>
            <a:chOff x="0" y="0"/>
            <a:chExt cx="4715104" cy="402336"/>
          </a:xfrm>
        </p:grpSpPr>
        <p:sp>
          <p:nvSpPr>
            <p:cNvPr id="220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21" name="The number of individuals going up.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number of individuals going up.</a:t>
              </a:r>
            </a:p>
          </p:txBody>
        </p:sp>
      </p:grpSp>
      <p:sp>
        <p:nvSpPr>
          <p:cNvPr id="223" name="c1_bg"/>
          <p:cNvSpPr/>
          <p:nvPr/>
        </p:nvSpPr>
        <p:spPr>
          <a:xfrm>
            <a:off x="6525615" y="969263"/>
            <a:ext cx="5117441" cy="138989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c1_badge"/>
          <p:cNvSpPr/>
          <p:nvPr/>
        </p:nvSpPr>
        <p:spPr>
          <a:xfrm>
            <a:off x="6726783" y="1133855"/>
            <a:ext cx="384049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c1_num"/>
          <p:cNvSpPr txBox="1"/>
          <p:nvPr/>
        </p:nvSpPr>
        <p:spPr>
          <a:xfrm>
            <a:off x="6726783" y="12242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6" name="c1_q"/>
          <p:cNvSpPr txBox="1"/>
          <p:nvPr/>
        </p:nvSpPr>
        <p:spPr>
          <a:xfrm>
            <a:off x="7257136" y="1223069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Roughly how many people are alive now?</a:t>
            </a:r>
          </a:p>
        </p:txBody>
      </p:sp>
      <p:grpSp>
        <p:nvGrpSpPr>
          <p:cNvPr id="229" name="c1_a"/>
          <p:cNvGrpSpPr/>
          <p:nvPr/>
        </p:nvGrpSpPr>
        <p:grpSpPr>
          <a:xfrm>
            <a:off x="6726783" y="1810511"/>
            <a:ext cx="4715106" cy="402337"/>
            <a:chOff x="0" y="0"/>
            <a:chExt cx="4715104" cy="402336"/>
          </a:xfrm>
        </p:grpSpPr>
        <p:sp>
          <p:nvSpPr>
            <p:cNvPr id="227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28" name="About 8 billion.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About 8 billion.</a:t>
              </a:r>
            </a:p>
          </p:txBody>
        </p:sp>
      </p:grpSp>
      <p:sp>
        <p:nvSpPr>
          <p:cNvPr id="230" name="c2_bg"/>
          <p:cNvSpPr/>
          <p:nvPr/>
        </p:nvSpPr>
        <p:spPr>
          <a:xfrm>
            <a:off x="1170432" y="2560320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c2_badge"/>
          <p:cNvSpPr/>
          <p:nvPr/>
        </p:nvSpPr>
        <p:spPr>
          <a:xfrm>
            <a:off x="1371600" y="2724911"/>
            <a:ext cx="384048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c2_num"/>
          <p:cNvSpPr txBox="1"/>
          <p:nvPr/>
        </p:nvSpPr>
        <p:spPr>
          <a:xfrm>
            <a:off x="1371600" y="2815335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3" name="c2_q"/>
          <p:cNvSpPr txBox="1"/>
          <p:nvPr/>
        </p:nvSpPr>
        <p:spPr>
          <a:xfrm>
            <a:off x="1901951" y="2814125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Give one reason fewer people die young now.</a:t>
            </a:r>
          </a:p>
        </p:txBody>
      </p:sp>
      <p:grpSp>
        <p:nvGrpSpPr>
          <p:cNvPr id="236" name="c2_a"/>
          <p:cNvGrpSpPr/>
          <p:nvPr/>
        </p:nvGrpSpPr>
        <p:grpSpPr>
          <a:xfrm>
            <a:off x="1371600" y="3401567"/>
            <a:ext cx="4715105" cy="402337"/>
            <a:chOff x="0" y="0"/>
            <a:chExt cx="4715104" cy="402336"/>
          </a:xfrm>
        </p:grpSpPr>
        <p:sp>
          <p:nvSpPr>
            <p:cNvPr id="234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35" name="Clean water · vaccines · medicine · more food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Clean water · vaccines · medicine · more food</a:t>
              </a:r>
            </a:p>
          </p:txBody>
        </p:sp>
      </p:grpSp>
      <p:sp>
        <p:nvSpPr>
          <p:cNvPr id="237" name="c3_bg"/>
          <p:cNvSpPr/>
          <p:nvPr/>
        </p:nvSpPr>
        <p:spPr>
          <a:xfrm>
            <a:off x="6525615" y="2560320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c3_badge"/>
          <p:cNvSpPr/>
          <p:nvPr/>
        </p:nvSpPr>
        <p:spPr>
          <a:xfrm>
            <a:off x="6726783" y="2724911"/>
            <a:ext cx="384049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c3_num"/>
          <p:cNvSpPr txBox="1"/>
          <p:nvPr/>
        </p:nvSpPr>
        <p:spPr>
          <a:xfrm>
            <a:off x="6726783" y="2815335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0" name="c3_q"/>
          <p:cNvSpPr txBox="1"/>
          <p:nvPr/>
        </p:nvSpPr>
        <p:spPr>
          <a:xfrm>
            <a:off x="7257136" y="2680775"/>
            <a:ext cx="4184753" cy="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Name one thing that happens to forests as the population grows.</a:t>
            </a:r>
          </a:p>
        </p:txBody>
      </p:sp>
      <p:grpSp>
        <p:nvGrpSpPr>
          <p:cNvPr id="243" name="c3_a"/>
          <p:cNvGrpSpPr/>
          <p:nvPr/>
        </p:nvGrpSpPr>
        <p:grpSpPr>
          <a:xfrm>
            <a:off x="6726783" y="3401567"/>
            <a:ext cx="4715106" cy="402337"/>
            <a:chOff x="0" y="0"/>
            <a:chExt cx="4715104" cy="402336"/>
          </a:xfrm>
        </p:grpSpPr>
        <p:sp>
          <p:nvSpPr>
            <p:cNvPr id="241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42" name="They are cleared to grow food.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They are cleared to grow food.</a:t>
              </a:r>
            </a:p>
          </p:txBody>
        </p:sp>
      </p:grpSp>
      <p:sp>
        <p:nvSpPr>
          <p:cNvPr id="244" name="c4_bg"/>
          <p:cNvSpPr/>
          <p:nvPr/>
        </p:nvSpPr>
        <p:spPr>
          <a:xfrm>
            <a:off x="1170432" y="4151376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c4_badge"/>
          <p:cNvSpPr/>
          <p:nvPr/>
        </p:nvSpPr>
        <p:spPr>
          <a:xfrm>
            <a:off x="1371600" y="4315967"/>
            <a:ext cx="384048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c4_num"/>
          <p:cNvSpPr txBox="1"/>
          <p:nvPr/>
        </p:nvSpPr>
        <p:spPr>
          <a:xfrm>
            <a:off x="1371600" y="440639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7" name="c4_q"/>
          <p:cNvSpPr txBox="1"/>
          <p:nvPr/>
        </p:nvSpPr>
        <p:spPr>
          <a:xfrm>
            <a:off x="1901951" y="4405181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Are birth rates going up or down?</a:t>
            </a:r>
          </a:p>
        </p:txBody>
      </p:sp>
      <p:grpSp>
        <p:nvGrpSpPr>
          <p:cNvPr id="250" name="c4_a"/>
          <p:cNvGrpSpPr/>
          <p:nvPr/>
        </p:nvGrpSpPr>
        <p:grpSpPr>
          <a:xfrm>
            <a:off x="1371600" y="4992623"/>
            <a:ext cx="4715105" cy="402337"/>
            <a:chOff x="0" y="0"/>
            <a:chExt cx="4715104" cy="402336"/>
          </a:xfrm>
        </p:grpSpPr>
        <p:sp>
          <p:nvSpPr>
            <p:cNvPr id="248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49" name="Down, in most of the world.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Down, in most of the world.</a:t>
              </a:r>
            </a:p>
          </p:txBody>
        </p:sp>
      </p:grpSp>
      <p:sp>
        <p:nvSpPr>
          <p:cNvPr id="251" name="c5_bg"/>
          <p:cNvSpPr/>
          <p:nvPr/>
        </p:nvSpPr>
        <p:spPr>
          <a:xfrm>
            <a:off x="6525615" y="4151376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E6DCC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c5_badge"/>
          <p:cNvSpPr/>
          <p:nvPr/>
        </p:nvSpPr>
        <p:spPr>
          <a:xfrm>
            <a:off x="6726783" y="4315967"/>
            <a:ext cx="384049" cy="384049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c5_num"/>
          <p:cNvSpPr txBox="1"/>
          <p:nvPr/>
        </p:nvSpPr>
        <p:spPr>
          <a:xfrm>
            <a:off x="6726783" y="440639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54" name="c5_q"/>
          <p:cNvSpPr txBox="1"/>
          <p:nvPr/>
        </p:nvSpPr>
        <p:spPr>
          <a:xfrm>
            <a:off x="7257136" y="4405181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28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 the population still growing?</a:t>
            </a:r>
          </a:p>
        </p:txBody>
      </p:sp>
      <p:grpSp>
        <p:nvGrpSpPr>
          <p:cNvPr id="257" name="c5_a"/>
          <p:cNvGrpSpPr/>
          <p:nvPr/>
        </p:nvGrpSpPr>
        <p:grpSpPr>
          <a:xfrm>
            <a:off x="6726783" y="4992623"/>
            <a:ext cx="4715106" cy="402337"/>
            <a:chOff x="0" y="0"/>
            <a:chExt cx="4715104" cy="402336"/>
          </a:xfrm>
        </p:grpSpPr>
        <p:sp>
          <p:nvSpPr>
            <p:cNvPr id="255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DF3D6"/>
            </a:solidFill>
            <a:ln w="1651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56" name="Yes, but more slowly than before.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Yes, but more slowly than before.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00" fill="hold"/>
                                        <p:tgtEl>
                                          <p:spTgt spid="2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212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21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12"/>
                  </p:tgtEl>
                </p:cond>
              </p:nextCondLst>
            </p:seq>
          </p:childTnLst>
        </p:cTn>
      </p:par>
    </p:tnLst>
    <p:bldLst>
      <p:bldP build="whole" bldLvl="1" animBg="1" rev="0" advAuto="0" spid="236" grpId="4"/>
      <p:bldP build="whole" bldLvl="1" animBg="1" rev="0" advAuto="0" spid="250" grpId="6"/>
      <p:bldP build="whole" bldLvl="1" animBg="1" rev="0" advAuto="0" spid="229" grpId="3"/>
      <p:bldP build="whole" bldLvl="1" animBg="1" rev="0" advAuto="0" spid="243" grpId="5"/>
      <p:bldP build="whole" bldLvl="1" animBg="1" rev="0" advAuto="0" spid="257" grpId="7"/>
      <p:bldP build="whole" bldLvl="1" animBg="1" rev="0" advAuto="0" spid="222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4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62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0E3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63" name="YOU DO · 14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DO · 14 MIN</a:t>
              </a:r>
            </a:p>
          </p:txBody>
        </p:sp>
      </p:grpSp>
      <p:pic>
        <p:nvPicPr>
          <p:cNvPr id="265" name="gc_logo" descr="gc_logo"/>
          <p:cNvPicPr>
            <a:picLocks noChangeAspect="1"/>
          </p:cNvPicPr>
          <p:nvPr/>
        </p:nvPicPr>
        <p:blipFill>
          <a:blip r:embed="rId6">
            <a:alphaModFix amt="38000"/>
            <a:extLst/>
          </a:blip>
          <a:stretch>
            <a:fillRect/>
          </a:stretch>
        </p:blipFill>
        <p:spPr>
          <a:xfrm>
            <a:off x="10088574" y="786383"/>
            <a:ext cx="1554481" cy="1344169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slide_title"/>
          <p:cNvSpPr txBox="1"/>
          <p:nvPr/>
        </p:nvSpPr>
        <p:spPr>
          <a:xfrm>
            <a:off x="1170432" y="1059842"/>
            <a:ext cx="8643823" cy="49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4000"/>
              </a:lnSpc>
              <a:defRPr b="1" sz="32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Human Population Growth worksheet</a:t>
            </a:r>
          </a:p>
        </p:txBody>
      </p:sp>
      <p:sp>
        <p:nvSpPr>
          <p:cNvPr id="267" name="slide_sub"/>
          <p:cNvSpPr txBox="1"/>
          <p:nvPr/>
        </p:nvSpPr>
        <p:spPr>
          <a:xfrm>
            <a:off x="1170432" y="1924787"/>
            <a:ext cx="864382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E25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 Google Classroom now.</a:t>
            </a:r>
          </a:p>
        </p:txBody>
      </p:sp>
      <p:grpSp>
        <p:nvGrpSpPr>
          <p:cNvPr id="272" name="t0"/>
          <p:cNvGrpSpPr/>
          <p:nvPr/>
        </p:nvGrpSpPr>
        <p:grpSpPr>
          <a:xfrm>
            <a:off x="1170432" y="2322576"/>
            <a:ext cx="3307994" cy="1828801"/>
            <a:chOff x="0" y="0"/>
            <a:chExt cx="3307993" cy="1828800"/>
          </a:xfrm>
        </p:grpSpPr>
        <p:sp>
          <p:nvSpPr>
            <p:cNvPr id="268" name="t0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BE9E1"/>
            </a:solidFill>
            <a:ln w="20320" cap="flat">
              <a:solidFill>
                <a:srgbClr val="E2572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9" name="t0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E257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BRONZE</a:t>
              </a:r>
            </a:p>
          </p:txBody>
        </p:sp>
        <p:sp>
          <p:nvSpPr>
            <p:cNvPr id="270" name="t0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Recall</a:t>
              </a:r>
            </a:p>
          </p:txBody>
        </p:sp>
        <p:sp>
          <p:nvSpPr>
            <p:cNvPr id="271" name="t0_b"/>
            <p:cNvSpPr txBox="1"/>
            <p:nvPr/>
          </p:nvSpPr>
          <p:spPr>
            <a:xfrm>
              <a:off x="237744" y="877823"/>
              <a:ext cx="2832506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sz="1500">
                  <a:solidFill>
                    <a:srgbClr val="4A616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numbers, the words, and the shape of the curve.</a:t>
              </a:r>
            </a:p>
          </p:txBody>
        </p:sp>
      </p:grpSp>
      <p:grpSp>
        <p:nvGrpSpPr>
          <p:cNvPr id="277" name="t1"/>
          <p:cNvGrpSpPr/>
          <p:nvPr/>
        </p:nvGrpSpPr>
        <p:grpSpPr>
          <a:xfrm>
            <a:off x="4752745" y="2322576"/>
            <a:ext cx="3307995" cy="1828801"/>
            <a:chOff x="0" y="0"/>
            <a:chExt cx="3307993" cy="1828800"/>
          </a:xfrm>
        </p:grpSpPr>
        <p:sp>
          <p:nvSpPr>
            <p:cNvPr id="273" name="t1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2F3F1"/>
            </a:solidFill>
            <a:ln w="20320" cap="flat">
              <a:solidFill>
                <a:srgbClr val="6A7F8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4" name="t1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6A7F8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SILVER</a:t>
              </a:r>
            </a:p>
          </p:txBody>
        </p:sp>
        <p:sp>
          <p:nvSpPr>
            <p:cNvPr id="275" name="t1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Explain</a:t>
              </a:r>
            </a:p>
          </p:txBody>
        </p:sp>
        <p:sp>
          <p:nvSpPr>
            <p:cNvPr id="276" name="t1_b"/>
            <p:cNvSpPr txBox="1"/>
            <p:nvPr/>
          </p:nvSpPr>
          <p:spPr>
            <a:xfrm>
              <a:off x="237744" y="877823"/>
              <a:ext cx="2832506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sz="1500">
                  <a:solidFill>
                    <a:srgbClr val="4A616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Why it grew, and what it costs an ecosystem.</a:t>
              </a:r>
            </a:p>
          </p:txBody>
        </p:sp>
      </p:grpSp>
      <p:grpSp>
        <p:nvGrpSpPr>
          <p:cNvPr id="282" name="t2"/>
          <p:cNvGrpSpPr/>
          <p:nvPr/>
        </p:nvGrpSpPr>
        <p:grpSpPr>
          <a:xfrm>
            <a:off x="8335061" y="2322576"/>
            <a:ext cx="3307994" cy="1828801"/>
            <a:chOff x="0" y="0"/>
            <a:chExt cx="3307993" cy="1828800"/>
          </a:xfrm>
        </p:grpSpPr>
        <p:sp>
          <p:nvSpPr>
            <p:cNvPr id="278" name="t2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DF3D6"/>
            </a:solidFill>
            <a:ln w="20320" cap="flat">
              <a:solidFill>
                <a:srgbClr val="F5B30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9" name="t2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F5B30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GOLD</a:t>
              </a:r>
            </a:p>
          </p:txBody>
        </p:sp>
        <p:sp>
          <p:nvSpPr>
            <p:cNvPr id="280" name="t2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Reasoning</a:t>
              </a:r>
            </a:p>
          </p:txBody>
        </p:sp>
        <p:sp>
          <p:nvSpPr>
            <p:cNvPr id="281" name="t2_b"/>
            <p:cNvSpPr txBox="1"/>
            <p:nvPr/>
          </p:nvSpPr>
          <p:spPr>
            <a:xfrm>
              <a:off x="237744" y="877823"/>
              <a:ext cx="2832506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sz="1500">
                  <a:solidFill>
                    <a:srgbClr val="4A616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Read a graph, argue a case, and judge a claim.</a:t>
              </a:r>
            </a:p>
          </p:txBody>
        </p:sp>
      </p:grpSp>
      <p:sp>
        <p:nvSpPr>
          <p:cNvPr id="283" name="yd_note"/>
          <p:cNvSpPr txBox="1"/>
          <p:nvPr/>
        </p:nvSpPr>
        <p:spPr>
          <a:xfrm>
            <a:off x="1170432" y="4530827"/>
            <a:ext cx="1047262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0E3A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Start anywhere. You do not need to finish every tier.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0000" fill="hold"/>
                                        <p:tgtEl>
                                          <p:spTgt spid="2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7" fill="hold" display="0">
                  <p:stCondLst>
                    <p:cond delay="indefinite"/>
                  </p:stCondLst>
                </p:cTn>
                <p:tgtEl>
                  <p:spTgt spid="261"/>
                </p:tgtEl>
              </p:cMediaNode>
            </p:video>
            <p:seq concurrent="1" prevAc="none" nextAc="seek">
              <p:cTn id="28" evtFilter="cancelBubble" nodeType="interactiveSeq" restart="whenNotActive" fill="hold">
                <p:stCondLst>
                  <p:cond delay="0" evt="onClick">
                    <p:tgtEl>
                      <p:spTgt spid="261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61"/>
                  </p:tgtEl>
                </p:cond>
              </p:nextCondLst>
            </p:seq>
          </p:childTnLst>
        </p:cTn>
      </p:par>
    </p:tnLst>
    <p:bldLst>
      <p:bldP build="whole" bldLvl="1" animBg="1" rev="0" advAuto="0" spid="277" grpId="3"/>
      <p:bldP build="whole" bldLvl="1" animBg="1" rev="0" advAuto="0" spid="272" grpId="2"/>
      <p:bldP build="whole" bldLvl="1" animBg="1" rev="0" advAuto="0" spid="282" grpId="4"/>
      <p:bldP build="whole" bldLvl="1" animBg="1" rev="0" advAuto="0" spid="283" grpId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0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88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0E3A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89" name="ANSWERS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ANSWERS · 3 MIN</a:t>
              </a:r>
            </a:p>
          </p:txBody>
        </p:sp>
      </p:grpSp>
      <p:sp>
        <p:nvSpPr>
          <p:cNvPr id="291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0E3A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Answers</a:t>
            </a:r>
          </a:p>
        </p:txBody>
      </p:sp>
      <p:grpSp>
        <p:nvGrpSpPr>
          <p:cNvPr id="295" name="a0"/>
          <p:cNvGrpSpPr/>
          <p:nvPr/>
        </p:nvGrpSpPr>
        <p:grpSpPr>
          <a:xfrm>
            <a:off x="1170432" y="1828800"/>
            <a:ext cx="5117441" cy="658369"/>
            <a:chOff x="0" y="0"/>
            <a:chExt cx="5117439" cy="658368"/>
          </a:xfrm>
        </p:grpSpPr>
        <p:sp>
          <p:nvSpPr>
            <p:cNvPr id="292" name="a0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3" name="a0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5B30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94" name="a0_t"/>
            <p:cNvSpPr txBox="1"/>
            <p:nvPr/>
          </p:nvSpPr>
          <p:spPr>
            <a:xfrm>
              <a:off x="749808" y="91829"/>
              <a:ext cx="4166464" cy="474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number of individuals in a population going up.</a:t>
              </a:r>
            </a:p>
          </p:txBody>
        </p:sp>
      </p:grpSp>
      <p:grpSp>
        <p:nvGrpSpPr>
          <p:cNvPr id="299" name="a1"/>
          <p:cNvGrpSpPr/>
          <p:nvPr/>
        </p:nvGrpSpPr>
        <p:grpSpPr>
          <a:xfrm>
            <a:off x="6525615" y="1828800"/>
            <a:ext cx="5117441" cy="658369"/>
            <a:chOff x="0" y="0"/>
            <a:chExt cx="5117439" cy="658368"/>
          </a:xfrm>
        </p:grpSpPr>
        <p:sp>
          <p:nvSpPr>
            <p:cNvPr id="296" name="a1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7" name="a1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5B30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98" name="a1_t"/>
            <p:cNvSpPr txBox="1"/>
            <p:nvPr/>
          </p:nvSpPr>
          <p:spPr>
            <a:xfrm>
              <a:off x="749808" y="212479"/>
              <a:ext cx="4166464" cy="2334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About 8 billion.</a:t>
              </a:r>
            </a:p>
          </p:txBody>
        </p:sp>
      </p:grpSp>
      <p:grpSp>
        <p:nvGrpSpPr>
          <p:cNvPr id="303" name="a2"/>
          <p:cNvGrpSpPr/>
          <p:nvPr/>
        </p:nvGrpSpPr>
        <p:grpSpPr>
          <a:xfrm>
            <a:off x="1170432" y="2578607"/>
            <a:ext cx="5117441" cy="658369"/>
            <a:chOff x="0" y="0"/>
            <a:chExt cx="5117439" cy="658368"/>
          </a:xfrm>
        </p:grpSpPr>
        <p:sp>
          <p:nvSpPr>
            <p:cNvPr id="300" name="a2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1" name="a2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5B30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02" name="a2_t"/>
            <p:cNvSpPr txBox="1"/>
            <p:nvPr/>
          </p:nvSpPr>
          <p:spPr>
            <a:xfrm>
              <a:off x="749808" y="91829"/>
              <a:ext cx="4166464" cy="474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Producer → consumer → consumer. Energy is lost at every step.</a:t>
              </a:r>
            </a:p>
          </p:txBody>
        </p:sp>
      </p:grpSp>
      <p:grpSp>
        <p:nvGrpSpPr>
          <p:cNvPr id="307" name="a3"/>
          <p:cNvGrpSpPr/>
          <p:nvPr/>
        </p:nvGrpSpPr>
        <p:grpSpPr>
          <a:xfrm>
            <a:off x="6525615" y="2578607"/>
            <a:ext cx="5117441" cy="658369"/>
            <a:chOff x="0" y="0"/>
            <a:chExt cx="5117439" cy="658368"/>
          </a:xfrm>
        </p:grpSpPr>
        <p:sp>
          <p:nvSpPr>
            <p:cNvPr id="304" name="a3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5" name="a3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5B30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306" name="a3_t"/>
            <p:cNvSpPr txBox="1"/>
            <p:nvPr/>
          </p:nvSpPr>
          <p:spPr>
            <a:xfrm>
              <a:off x="749808" y="91829"/>
              <a:ext cx="4166464" cy="474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death rate fell: clean water, more food, vaccines and medicine.</a:t>
              </a:r>
            </a:p>
          </p:txBody>
        </p:sp>
      </p:grpSp>
      <p:grpSp>
        <p:nvGrpSpPr>
          <p:cNvPr id="311" name="a4"/>
          <p:cNvGrpSpPr/>
          <p:nvPr/>
        </p:nvGrpSpPr>
        <p:grpSpPr>
          <a:xfrm>
            <a:off x="1170432" y="3328415"/>
            <a:ext cx="5117441" cy="658369"/>
            <a:chOff x="0" y="0"/>
            <a:chExt cx="5117439" cy="658368"/>
          </a:xfrm>
        </p:grpSpPr>
        <p:sp>
          <p:nvSpPr>
            <p:cNvPr id="308" name="a4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9" name="a4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5B30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10" name="a4_t"/>
            <p:cNvSpPr txBox="1"/>
            <p:nvPr/>
          </p:nvSpPr>
          <p:spPr>
            <a:xfrm>
              <a:off x="749808" y="91829"/>
              <a:ext cx="4166464" cy="474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Birth rates have fallen. People live longer, so the total still rises.</a:t>
              </a:r>
            </a:p>
          </p:txBody>
        </p:sp>
      </p:grpSp>
      <p:grpSp>
        <p:nvGrpSpPr>
          <p:cNvPr id="315" name="a5"/>
          <p:cNvGrpSpPr/>
          <p:nvPr/>
        </p:nvGrpSpPr>
        <p:grpSpPr>
          <a:xfrm>
            <a:off x="6525615" y="3328415"/>
            <a:ext cx="5117441" cy="658369"/>
            <a:chOff x="0" y="0"/>
            <a:chExt cx="5117439" cy="658368"/>
          </a:xfrm>
        </p:grpSpPr>
        <p:sp>
          <p:nvSpPr>
            <p:cNvPr id="312" name="a5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3" name="a5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5B30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314" name="a5_t"/>
            <p:cNvSpPr txBox="1"/>
            <p:nvPr/>
          </p:nvSpPr>
          <p:spPr>
            <a:xfrm>
              <a:off x="749808" y="91829"/>
              <a:ext cx="4166464" cy="474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Land cleared for farming, so habitats and food chains are lost.</a:t>
              </a:r>
            </a:p>
          </p:txBody>
        </p:sp>
      </p:grpSp>
      <p:grpSp>
        <p:nvGrpSpPr>
          <p:cNvPr id="319" name="a6"/>
          <p:cNvGrpSpPr/>
          <p:nvPr/>
        </p:nvGrpSpPr>
        <p:grpSpPr>
          <a:xfrm>
            <a:off x="1170432" y="4078223"/>
            <a:ext cx="5117441" cy="658369"/>
            <a:chOff x="0" y="0"/>
            <a:chExt cx="5117439" cy="658368"/>
          </a:xfrm>
        </p:grpSpPr>
        <p:sp>
          <p:nvSpPr>
            <p:cNvPr id="316" name="a6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7" name="a6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5B30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318" name="a6_t"/>
            <p:cNvSpPr txBox="1"/>
            <p:nvPr/>
          </p:nvSpPr>
          <p:spPr>
            <a:xfrm>
              <a:off x="749808" y="91829"/>
              <a:ext cx="4166464" cy="474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Water taken for farms and cities, leaving less for other species.</a:t>
              </a:r>
            </a:p>
          </p:txBody>
        </p:sp>
      </p:grpSp>
      <p:grpSp>
        <p:nvGrpSpPr>
          <p:cNvPr id="323" name="a7"/>
          <p:cNvGrpSpPr/>
          <p:nvPr/>
        </p:nvGrpSpPr>
        <p:grpSpPr>
          <a:xfrm>
            <a:off x="6525615" y="4078223"/>
            <a:ext cx="5117441" cy="658369"/>
            <a:chOff x="0" y="0"/>
            <a:chExt cx="5117439" cy="658368"/>
          </a:xfrm>
        </p:grpSpPr>
        <p:sp>
          <p:nvSpPr>
            <p:cNvPr id="320" name="a7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1" name="a7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5B30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322" name="a7_t"/>
            <p:cNvSpPr txBox="1"/>
            <p:nvPr/>
          </p:nvSpPr>
          <p:spPr>
            <a:xfrm>
              <a:off x="749808" y="91829"/>
              <a:ext cx="4166464" cy="474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Slow for thousands of years, then a sharp bend upwards.</a:t>
              </a:r>
            </a:p>
          </p:txBody>
        </p:sp>
      </p:grpSp>
      <p:grpSp>
        <p:nvGrpSpPr>
          <p:cNvPr id="327" name="a8"/>
          <p:cNvGrpSpPr/>
          <p:nvPr/>
        </p:nvGrpSpPr>
        <p:grpSpPr>
          <a:xfrm>
            <a:off x="1170432" y="4828032"/>
            <a:ext cx="5117441" cy="658369"/>
            <a:chOff x="0" y="0"/>
            <a:chExt cx="5117439" cy="658368"/>
          </a:xfrm>
        </p:grpSpPr>
        <p:sp>
          <p:nvSpPr>
            <p:cNvPr id="324" name="a8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5" name="a8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5B30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326" name="a8_t"/>
            <p:cNvSpPr txBox="1"/>
            <p:nvPr/>
          </p:nvSpPr>
          <p:spPr>
            <a:xfrm>
              <a:off x="749808" y="212479"/>
              <a:ext cx="4166464" cy="2334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peak of about 10.3 billion in the mid-2080s.</a:t>
              </a:r>
            </a:p>
          </p:txBody>
        </p:sp>
      </p:grpSp>
      <p:grpSp>
        <p:nvGrpSpPr>
          <p:cNvPr id="331" name="a9"/>
          <p:cNvGrpSpPr/>
          <p:nvPr/>
        </p:nvGrpSpPr>
        <p:grpSpPr>
          <a:xfrm>
            <a:off x="6525615" y="4828032"/>
            <a:ext cx="5117441" cy="658369"/>
            <a:chOff x="0" y="0"/>
            <a:chExt cx="5117439" cy="658368"/>
          </a:xfrm>
        </p:grpSpPr>
        <p:sp>
          <p:nvSpPr>
            <p:cNvPr id="328" name="a9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E6DCC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9" name="a9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5B301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330" name="a9_t"/>
            <p:cNvSpPr txBox="1"/>
            <p:nvPr/>
          </p:nvSpPr>
          <p:spPr>
            <a:xfrm>
              <a:off x="749808" y="91829"/>
              <a:ext cx="4166464" cy="474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282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No. Growth is fastest in a small number of countries.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2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4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"/>
                            </p:stCondLst>
                            <p:childTnLst>
                              <p:par>
                                <p:cTn id="31" presetClass="entr" nodeType="afterEffect" presetID="10" grpId="7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4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"/>
                            </p:stCondLst>
                            <p:childTnLst>
                              <p:par>
                                <p:cTn id="40" presetClass="entr" nodeType="afterEffect" presetID="10" grpId="9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2"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4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"/>
                            </p:stCondLst>
                            <p:childTnLst>
                              <p:par>
                                <p:cTn id="49" presetClass="entr" nodeType="afterEffect" presetID="10" grpId="11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4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52" fill="hold" display="0">
                  <p:stCondLst>
                    <p:cond delay="indefinite"/>
                  </p:stCondLst>
                </p:cTn>
                <p:tgtEl>
                  <p:spTgt spid="287"/>
                </p:tgtEl>
              </p:cMediaNode>
            </p:video>
            <p:seq concurrent="1" prevAc="none" nextAc="seek">
              <p:cTn id="53" evtFilter="cancelBubble" nodeType="interactiveSeq" restart="whenNotActive" fill="hold">
                <p:stCondLst>
                  <p:cond delay="0" evt="onClick">
                    <p:tgtEl>
                      <p:spTgt spid="287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7" dur="1" fill="hold"/>
                                        <p:tgtEl>
                                          <p:spTgt spid="2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87"/>
                  </p:tgtEl>
                </p:cond>
              </p:nextCondLst>
            </p:seq>
          </p:childTnLst>
        </p:cTn>
      </p:par>
    </p:tnLst>
    <p:bldLst>
      <p:bldP build="whole" bldLvl="1" animBg="1" rev="0" advAuto="0" spid="311" grpId="6"/>
      <p:bldP build="whole" bldLvl="1" animBg="1" rev="0" advAuto="0" spid="307" grpId="5"/>
      <p:bldP build="whole" bldLvl="1" animBg="1" rev="0" advAuto="0" spid="327" grpId="10"/>
      <p:bldP build="whole" bldLvl="1" animBg="1" rev="0" advAuto="0" spid="303" grpId="4"/>
      <p:bldP build="whole" bldLvl="1" animBg="1" rev="0" advAuto="0" spid="323" grpId="9"/>
      <p:bldP build="whole" bldLvl="1" animBg="1" rev="0" advAuto="0" spid="319" grpId="8"/>
      <p:bldP build="whole" bldLvl="1" animBg="1" rev="0" advAuto="0" spid="299" grpId="3"/>
      <p:bldP build="whole" bldLvl="1" animBg="1" rev="0" advAuto="0" spid="315" grpId="7"/>
      <p:bldP build="whole" bldLvl="1" animBg="1" rev="0" advAuto="0" spid="331" grpId="11"/>
      <p:bldP build="whole" bldLvl="1" animBg="1" rev="0" advAuto="0" spid="295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8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336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F5B30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337" name="PLENARY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0E3A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PLENARY · 3 MIN</a:t>
              </a:r>
            </a:p>
          </p:txBody>
        </p:sp>
      </p:grpSp>
      <p:sp>
        <p:nvSpPr>
          <p:cNvPr id="339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FAF4E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True or false?</a:t>
            </a:r>
          </a:p>
        </p:txBody>
      </p:sp>
      <p:grpSp>
        <p:nvGrpSpPr>
          <p:cNvPr id="342" name="p0_stmt"/>
          <p:cNvGrpSpPr/>
          <p:nvPr/>
        </p:nvGrpSpPr>
        <p:grpSpPr>
          <a:xfrm>
            <a:off x="1170432" y="2194560"/>
            <a:ext cx="8552383" cy="640081"/>
            <a:chOff x="0" y="0"/>
            <a:chExt cx="8552382" cy="640080"/>
          </a:xfrm>
        </p:grpSpPr>
        <p:sp>
          <p:nvSpPr>
            <p:cNvPr id="340" name="p0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6474D"/>
            </a:solidFill>
            <a:ln w="12700" cap="flat">
              <a:solidFill>
                <a:srgbClr val="17505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1" name="p0_q"/>
            <p:cNvSpPr txBox="1"/>
            <p:nvPr/>
          </p:nvSpPr>
          <p:spPr>
            <a:xfrm>
              <a:off x="256032" y="196571"/>
              <a:ext cx="8186623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700">
                  <a:solidFill>
                    <a:srgbClr val="FAF4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human population grew because birth rates went up.</a:t>
              </a:r>
            </a:p>
          </p:txBody>
        </p:sp>
      </p:grpSp>
      <p:sp>
        <p:nvSpPr>
          <p:cNvPr id="343" name="p0_v"/>
          <p:cNvSpPr txBox="1"/>
          <p:nvPr/>
        </p:nvSpPr>
        <p:spPr>
          <a:xfrm>
            <a:off x="9905695" y="2391131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5B30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346" name="p1_stmt"/>
          <p:cNvGrpSpPr/>
          <p:nvPr/>
        </p:nvGrpSpPr>
        <p:grpSpPr>
          <a:xfrm>
            <a:off x="1170432" y="2999232"/>
            <a:ext cx="8552383" cy="640081"/>
            <a:chOff x="0" y="0"/>
            <a:chExt cx="8552382" cy="640080"/>
          </a:xfrm>
        </p:grpSpPr>
        <p:sp>
          <p:nvSpPr>
            <p:cNvPr id="344" name="p1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6474D"/>
            </a:solidFill>
            <a:ln w="12700" cap="flat">
              <a:solidFill>
                <a:srgbClr val="17505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5" name="p1_q"/>
            <p:cNvSpPr txBox="1"/>
            <p:nvPr/>
          </p:nvSpPr>
          <p:spPr>
            <a:xfrm>
              <a:off x="256032" y="196571"/>
              <a:ext cx="8186623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700">
                  <a:solidFill>
                    <a:srgbClr val="FAF4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Humans are part of an ecosystem.</a:t>
              </a:r>
            </a:p>
          </p:txBody>
        </p:sp>
      </p:grpSp>
      <p:sp>
        <p:nvSpPr>
          <p:cNvPr id="347" name="p1_v"/>
          <p:cNvSpPr txBox="1"/>
          <p:nvPr/>
        </p:nvSpPr>
        <p:spPr>
          <a:xfrm>
            <a:off x="9905695" y="3195803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2E9E6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grpSp>
        <p:nvGrpSpPr>
          <p:cNvPr id="350" name="p2_stmt"/>
          <p:cNvGrpSpPr/>
          <p:nvPr/>
        </p:nvGrpSpPr>
        <p:grpSpPr>
          <a:xfrm>
            <a:off x="1170432" y="3803903"/>
            <a:ext cx="8552383" cy="640081"/>
            <a:chOff x="0" y="0"/>
            <a:chExt cx="8552382" cy="640080"/>
          </a:xfrm>
        </p:grpSpPr>
        <p:sp>
          <p:nvSpPr>
            <p:cNvPr id="348" name="p2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6474D"/>
            </a:solidFill>
            <a:ln w="12700" cap="flat">
              <a:solidFill>
                <a:srgbClr val="17505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9" name="p2_q"/>
            <p:cNvSpPr txBox="1"/>
            <p:nvPr/>
          </p:nvSpPr>
          <p:spPr>
            <a:xfrm>
              <a:off x="256032" y="196571"/>
              <a:ext cx="8186623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700">
                  <a:solidFill>
                    <a:srgbClr val="FAF4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population is expected to keep rising for ever.</a:t>
              </a:r>
            </a:p>
          </p:txBody>
        </p:sp>
      </p:grpSp>
      <p:sp>
        <p:nvSpPr>
          <p:cNvPr id="351" name="p2_v"/>
          <p:cNvSpPr txBox="1"/>
          <p:nvPr/>
        </p:nvSpPr>
        <p:spPr>
          <a:xfrm>
            <a:off x="9905695" y="4000475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5B30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354" name="p3_stmt"/>
          <p:cNvGrpSpPr/>
          <p:nvPr/>
        </p:nvGrpSpPr>
        <p:grpSpPr>
          <a:xfrm>
            <a:off x="1170432" y="4608576"/>
            <a:ext cx="8552383" cy="640081"/>
            <a:chOff x="0" y="0"/>
            <a:chExt cx="8552382" cy="640080"/>
          </a:xfrm>
        </p:grpSpPr>
        <p:sp>
          <p:nvSpPr>
            <p:cNvPr id="352" name="p3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6474D"/>
            </a:solidFill>
            <a:ln w="12700" cap="flat">
              <a:solidFill>
                <a:srgbClr val="17505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3" name="p3_q"/>
            <p:cNvSpPr txBox="1"/>
            <p:nvPr/>
          </p:nvSpPr>
          <p:spPr>
            <a:xfrm>
              <a:off x="256032" y="196571"/>
              <a:ext cx="8186623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700">
                  <a:solidFill>
                    <a:srgbClr val="FAF4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Clearing land for farming destroys habitats.</a:t>
              </a:r>
            </a:p>
          </p:txBody>
        </p:sp>
      </p:grpSp>
      <p:sp>
        <p:nvSpPr>
          <p:cNvPr id="355" name="p3_v"/>
          <p:cNvSpPr txBox="1"/>
          <p:nvPr/>
        </p:nvSpPr>
        <p:spPr>
          <a:xfrm>
            <a:off x="9905695" y="4805147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2E9E6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grpSp>
        <p:nvGrpSpPr>
          <p:cNvPr id="358" name="p4_stmt"/>
          <p:cNvGrpSpPr/>
          <p:nvPr/>
        </p:nvGrpSpPr>
        <p:grpSpPr>
          <a:xfrm>
            <a:off x="1170432" y="5413247"/>
            <a:ext cx="8552383" cy="640081"/>
            <a:chOff x="0" y="0"/>
            <a:chExt cx="8552382" cy="640080"/>
          </a:xfrm>
        </p:grpSpPr>
        <p:sp>
          <p:nvSpPr>
            <p:cNvPr id="356" name="p4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6474D"/>
            </a:solidFill>
            <a:ln w="12700" cap="flat">
              <a:solidFill>
                <a:srgbClr val="17505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7" name="p4_q"/>
            <p:cNvSpPr txBox="1"/>
            <p:nvPr/>
          </p:nvSpPr>
          <p:spPr>
            <a:xfrm>
              <a:off x="256032" y="196571"/>
              <a:ext cx="8186623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700">
                  <a:solidFill>
                    <a:srgbClr val="FAF4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population is still growing today.</a:t>
              </a:r>
            </a:p>
          </p:txBody>
        </p:sp>
      </p:grpSp>
      <p:sp>
        <p:nvSpPr>
          <p:cNvPr id="359" name="p4_v"/>
          <p:cNvSpPr txBox="1"/>
          <p:nvPr/>
        </p:nvSpPr>
        <p:spPr>
          <a:xfrm>
            <a:off x="9905695" y="5609819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2E9E6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sp>
        <p:nvSpPr>
          <p:cNvPr id="360" name="pl_next"/>
          <p:cNvSpPr txBox="1"/>
          <p:nvPr/>
        </p:nvSpPr>
        <p:spPr>
          <a:xfrm>
            <a:off x="1170432" y="6189239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600">
                <a:solidFill>
                  <a:srgbClr val="F5B30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That is the unit. Ecosystems, energy, and the one species that changed all of them.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u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3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16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4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16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4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Subtype="16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6" dur="4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67" fill="hold" display="0">
                  <p:stCondLst>
                    <p:cond delay="indefinite"/>
                  </p:stCondLst>
                </p:cTn>
                <p:tgtEl>
                  <p:spTgt spid="335"/>
                </p:tgtEl>
              </p:cMediaNode>
            </p:video>
            <p:seq concurrent="1" prevAc="none" nextAc="seek">
              <p:cTn id="68" evtFilter="cancelBubble" nodeType="interactiveSeq" restart="whenNotActive" fill="hold">
                <p:stCondLst>
                  <p:cond delay="0" evt="onClick">
                    <p:tgtEl>
                      <p:spTgt spid="33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2" dur="1" fill="hold"/>
                                        <p:tgtEl>
                                          <p:spTgt spid="3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35"/>
                  </p:tgtEl>
                </p:cond>
              </p:nextCondLst>
            </p:seq>
          </p:childTnLst>
        </p:cTn>
      </p:par>
    </p:tnLst>
    <p:bldLst>
      <p:bldP build="whole" bldLvl="1" animBg="1" rev="0" advAuto="0" spid="343" grpId="3"/>
      <p:bldP build="whole" bldLvl="1" animBg="1" rev="0" advAuto="0" spid="351" grpId="7"/>
      <p:bldP build="whole" bldLvl="1" animBg="1" rev="0" advAuto="0" spid="354" grpId="8"/>
      <p:bldP build="whole" bldLvl="1" animBg="1" rev="0" advAuto="0" spid="350" grpId="6"/>
      <p:bldP build="whole" bldLvl="1" animBg="1" rev="0" advAuto="0" spid="359" grpId="11"/>
      <p:bldP build="whole" bldLvl="1" animBg="1" rev="0" advAuto="0" spid="346" grpId="4"/>
      <p:bldP build="whole" bldLvl="1" animBg="1" rev="0" advAuto="0" spid="347" grpId="5"/>
      <p:bldP build="whole" bldLvl="1" animBg="1" rev="0" advAuto="0" spid="342" grpId="2"/>
      <p:bldP build="whole" bldLvl="1" animBg="1" rev="0" advAuto="0" spid="360" grpId="12"/>
      <p:bldP build="whole" bldLvl="1" animBg="1" rev="0" advAuto="0" spid="355" grpId="9"/>
      <p:bldP build="whole" bldLvl="1" animBg="1" rev="0" advAuto="0" spid="358" grpId="10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