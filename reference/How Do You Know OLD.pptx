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Hidden slide — it will not appear in the slideshow. Print it or keep it open on the second screen.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Shape 53"/>
          <p:cNvSpPr/>
          <p:nvPr>
            <p:ph type="sldImg"/>
          </p:nvPr>
        </p:nvSpPr>
        <p:spPr>
          <a:prstGeom prst="rect">
            <a:avLst/>
          </a:prstGeom>
        </p:spPr>
        <p:txBody>
          <a:bodyPr/>
          <a:lstStyle/>
          <a:p>
            <a:pPr/>
          </a:p>
        </p:txBody>
      </p:sp>
      <p:sp>
        <p:nvSpPr>
          <p:cNvPr id="54" name="Shape 54"/>
          <p:cNvSpPr/>
          <p:nvPr>
            <p:ph type="body" sz="quarter" idx="1"/>
          </p:nvPr>
        </p:nvSpPr>
        <p:spPr>
          <a:prstGeom prst="rect">
            <a:avLst/>
          </a:prstGeom>
        </p:spPr>
        <p:txBody>
          <a:bodyPr/>
          <a:lstStyle/>
          <a:p>
            <a:pPr/>
            <a:r>
              <a:t>TITLE — arrive on this. The dots land one at a time, then the line goes through them.</a:t>
            </a:r>
          </a:p>
          <a:p>
            <a:pPr/>
          </a:p>
          <a:p>
            <a:pPr/>
            <a:r>
              <a:t>SAY: "Each dot is something somebody noticed. On its own a dot tells you almost nothing. Put enough of them together and a pattern appears — and by the end of today you will know the word for what I just did."</a:t>
            </a:r>
          </a:p>
          <a:p>
            <a:pPr/>
          </a:p>
          <a:p>
            <a:pPr/>
            <a:r>
              <a:t>Do not name induction yet. The word arrives on slide 9 and the motif is already waiting for it.</a:t>
            </a:r>
          </a:p>
          <a:p>
            <a:pPr/>
          </a:p>
          <a:p>
            <a:pPr/>
            <a:r>
              <a:t>FOR MANY OF THEM THIS IS LESSON ONE of secondary science. Take thirty seconds to say that the subject is not a list of facts to memorise, whatever primary school felt like.</a:t>
            </a:r>
          </a:p>
          <a:p>
            <a:pPr/>
          </a:p>
          <a:p>
            <a:pPr/>
            <a:r>
              <a:t>TIMING: 40 seconds.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Shape 83"/>
          <p:cNvSpPr/>
          <p:nvPr>
            <p:ph type="sldImg"/>
          </p:nvPr>
        </p:nvSpPr>
        <p:spPr>
          <a:prstGeom prst="rect">
            <a:avLst/>
          </a:prstGeom>
        </p:spPr>
        <p:txBody>
          <a:bodyPr/>
          <a:lstStyle/>
          <a:p>
            <a:pPr/>
          </a:p>
        </p:txBody>
      </p:sp>
      <p:sp>
        <p:nvSpPr>
          <p:cNvPr id="84" name="Shape 84"/>
          <p:cNvSpPr/>
          <p:nvPr>
            <p:ph type="body" sz="quarter" idx="1"/>
          </p:nvPr>
        </p:nvSpPr>
        <p:spPr>
          <a:prstGeom prst="rect">
            <a:avLst/>
          </a:prstGeom>
        </p:spPr>
        <p:txBody>
          <a:bodyPr/>
          <a:lstStyle/>
          <a:p>
            <a:pPr/>
            <a:r>
              <a:t>OBJECTIVES — 2 minutes, which is longer than usual because it is Year 7 and the routine is new. Two clicks.</a:t>
            </a:r>
          </a:p>
          <a:p>
            <a:pPr/>
          </a:p>
          <a:p>
            <a:pPr/>
            <a:r>
              <a:t>EXPLAIN THE RAG GRID properly, once, today: they colour how confident they feel at the start and again at the end, and amber is a perfectly good honest answer. If you set that up well now you will not have to explain it again all year.</a:t>
            </a:r>
          </a:p>
          <a:p>
            <a:pPr/>
          </a:p>
          <a:p>
            <a:pPr/>
            <a:r>
              <a:t>SAY: "Criterion five asks you to find something science got WRONG. That is not a trick. It is the most important thing about the subject."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THE UNIT — 1 minute. Five clicks. Year 7 deserve to know the shape of a unit before they are in it.</a:t>
            </a:r>
          </a:p>
          <a:p>
            <a:pPr/>
          </a:p>
          <a:p>
            <a:pPr/>
            <a:r>
              <a:t>Point at lesson 4 and say the word "practical" out loud. It buys you three lessons of attention.</a:t>
            </a:r>
          </a:p>
          <a:p>
            <a:pPr/>
          </a:p>
          <a:p>
            <a:pPr/>
            <a:r>
              <a:t>Lesson 3 carries the poster task (SDG 5) and lesson 4 carries the scavenger hunt. Both are homework, not lesson time — say so when you get there.</a:t>
            </a:r>
          </a:p>
          <a:p>
            <a:pPr/>
          </a:p>
          <a:p>
            <a:pPr/>
            <a:r>
              <a:t>DO NOT read all four cards. Click, let them look, move 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r>
              <a:t>DO NOW — 5 minutes: 4 working, 1 marking. Six clicks.</a:t>
            </a:r>
          </a:p>
          <a:p>
            <a:pPr/>
          </a:p>
          <a:p>
            <a:pPr/>
            <a:r>
              <a:t>Q1 to Q3 are primary retrieval and should be quick wins on day one. Getting six out of six on their first page of secondary science matters more than the content does.</a:t>
            </a:r>
          </a:p>
          <a:p>
            <a:pPr/>
          </a:p>
          <a:p>
            <a:pPr/>
            <a:r>
              <a:t>Q4 is deliberately open. Take four or five answers out loud and write them on the board — you will point at that list on slide 7.</a:t>
            </a:r>
          </a:p>
          <a:p>
            <a:pPr/>
          </a:p>
          <a:p>
            <a:pPr/>
            <a:r>
              <a:t>Q5 IS A SAFETY PLANT. Lesson 4 is the equipment practical, and you want this sentence already said once. Take ten seconds, no lecture.</a:t>
            </a:r>
          </a:p>
          <a:p>
            <a:pPr/>
          </a:p>
          <a:p>
            <a:pPr/>
            <a:r>
              <a:t>Q6 IS THE LESSON. Do not settle it. Take three or four suggestions, write them in the corner of the board, and say you will come back to them. You do, on slide 12.</a:t>
            </a:r>
          </a:p>
          <a:p>
            <a:pPr/>
          </a:p>
          <a:p>
            <a:pPr/>
            <a:r>
              <a:t>MISCONCEPTION on Q4: "a scientist knows lots of facts". Gently: so does a quiz champion. What do scientists DO?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p>
            <a:pPr/>
            <a:r>
              <a:t>HOOK — 5 minutes. Three clicks: the claim, the question, then the three options staggered.</a:t>
            </a:r>
          </a:p>
          <a:p>
            <a:pPr/>
          </a:p>
          <a:p>
            <a:pPr/>
            <a:r>
              <a:t>Take the vote by hands and record the tally on the board.</a:t>
            </a:r>
          </a:p>
          <a:p>
            <a:pPr/>
          </a:p>
          <a:p>
            <a:pPr/>
            <a:r>
              <a:t>ANSWER: C. And C is the whole of today. A claim is not science or unscience by itself — what makes something science is HOW you decide whether it is true.</a:t>
            </a:r>
          </a:p>
          <a:p>
            <a:pPr/>
          </a:p>
          <a:p>
            <a:pPr/>
            <a:r>
              <a:t>A IS THE INTERESTING WRONG ANSWER. Lots of people noticing something is a good reason to go and look. It is not a reason to be sure. Press gently: "how many people have to say a thing before it is definitely true?" There is no number, and they can feel that.</a:t>
            </a:r>
          </a:p>
          <a:p>
            <a:pPr/>
          </a:p>
          <a:p>
            <a:pPr/>
            <a:r>
              <a:t>B IS ALSO WRONG, and be careful with it. Do not let the room conclude that things their families believe are stupid. Old sayings often contain something real — slide 12 shows that this one might. The problem is not that it is old; it is that nobody had checked.</a:t>
            </a:r>
          </a:p>
          <a:p>
            <a:pPr/>
          </a:p>
          <a:p>
            <a:pPr/>
            <a:r>
              <a:t>HOLD THE LINE if a pupil says their grandmother is never wrong. "She might well be right. What I am asking is how we would KNOW."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I DO — 6 minutes. Six clicks: the definition, then each of the four parts, then the banner.</a:t>
            </a:r>
          </a:p>
          <a:p>
            <a:pPr/>
          </a:p>
          <a:p>
            <a:pPr/>
            <a:r>
              <a:t>THEY COPY THE DEFINITION into their books word for word. It is the first thing they will be asked to recall, and it is on the key-word sheet too.</a:t>
            </a:r>
          </a:p>
          <a:p>
            <a:pPr/>
          </a:p>
          <a:p>
            <a:pPr/>
            <a:r>
              <a:t>GO BACK TO DO NOW Q4 and the list of "things a scientist does" still on the board. Nearly everything they said will fit under "a way of learning". Point at it — their own words, organised.</a:t>
            </a:r>
          </a:p>
          <a:p>
            <a:pPr/>
          </a:p>
          <a:p>
            <a:pPr/>
            <a:r>
              <a:t>EVIDENCE IS THE WORD TO LABOUR. Ask for the difference between "my brother told me durian is hot" and "I measured my temperature before and after". Both are information. Only one is evidence.</a:t>
            </a:r>
          </a:p>
          <a:p>
            <a:pPr/>
          </a:p>
          <a:p>
            <a:pPr/>
            <a:r>
              <a:t>LOGIC: give them a broken one to hear. "It rained after I washed the car, so washing the car causes rain." The evidence is real; the reasoning does not follow. They will enjoy that far more than a definition.</a:t>
            </a:r>
          </a:p>
          <a:p>
            <a:pPr/>
          </a:p>
          <a:p>
            <a:pPr/>
            <a:r>
              <a:t>AVOID THE WORD "PROVE" all lesson, including in the banner discussion. Say "supports" or "shows". If you never model it, they are much less likely to pick it up.</a:t>
            </a:r>
          </a:p>
          <a:p>
            <a:pPr/>
          </a:p>
          <a:p>
            <a:pPr/>
            <a:r>
              <a:t>STRETCH: "Is maths a science?" — genuinely debatable and a lovely thirty seconds. Maths does not use evidence from the natural world; it proves things from rules. Do not resolve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WE DO — 5 minutes. Twelve clicks: verdict then reason, row by row. Thumbs up BEFORE you click.</a:t>
            </a:r>
          </a:p>
          <a:p>
            <a:pPr/>
          </a:p>
          <a:p>
            <a:pPr/>
            <a:r>
              <a:t>THE TEST TO GIVE THEM, and make them say it out loud each time: "what would I measure?" If you cannot name something to measure, science cannot settle it.</a:t>
            </a:r>
          </a:p>
          <a:p>
            <a:pPr/>
          </a:p>
          <a:p>
            <a:pPr/>
            <a:r>
              <a:t>ROW 2 needs care. "Not scientific" does not mean "not worth asking". Say that explicitly — you are going to need it in row 5 and again in Lesson 3.</a:t>
            </a:r>
          </a:p>
          <a:p>
            <a:pPr/>
          </a:p>
          <a:p>
            <a:pPr/>
            <a:r>
              <a:t>ROW 4 is there because it sounds like nonsense and is completely testable. Being testable has nothing to do with being likely.</a:t>
            </a:r>
          </a:p>
          <a:p>
            <a:pPr/>
          </a:p>
          <a:p>
            <a:pPr/>
            <a:r>
              <a:t>ROW 6 IS THE ONE, and it is the critical-thinking skill the unit is assessed on. Science measures consequences; people decide what matters. Map Ta Phut is down the road and some of them have a parent working there, so keep it about the reasoning, not about whether factories are good.</a:t>
            </a:r>
          </a:p>
          <a:p>
            <a:pPr/>
          </a:p>
          <a:p>
            <a:pPr/>
            <a:r>
              <a:t>IF A PUPIL RAISES a question about a belief at home, take it seriously and use the same test: what would you measure? If there is nothing, that is an honest answer and not an insult.</a:t>
            </a:r>
          </a:p>
          <a:p>
            <a:pPr/>
          </a:p>
          <a:p>
            <a:pPr/>
            <a:r>
              <a:t>STRETCH: "Give me a question science cannot answer that you still think is important." Collect three. They are usually excellent.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I DO — 6 minutes. Six clicks: the definition, the four observations together, the caption, the arrow, the conclusion, then the warning.</a:t>
            </a:r>
          </a:p>
          <a:p>
            <a:pPr/>
          </a:p>
          <a:p>
            <a:pPr/>
            <a:r>
              <a:t>POINT AT THE TITLE SLIDE MOTIF as you click the arrow. The dots and the line were this all along, and they will not have noticed. Tell them.</a:t>
            </a:r>
          </a:p>
          <a:p>
            <a:pPr/>
          </a:p>
          <a:p>
            <a:pPr/>
            <a:r>
              <a:t>SAY IT AS A PROCESS: you observe, you observe again, and again, and at some point you say "so, in general…". That last step is induction, and it is the most useful move in science.</a:t>
            </a:r>
          </a:p>
          <a:p>
            <a:pPr/>
          </a:p>
          <a:p>
            <a:pPr/>
            <a:r>
              <a:t>THE SHIP IS THE POINT OF THE SLIDE. Every observation was correct. The conclusion was still too broad — it should have been "a lump of iron sinks". Do not explain floating today; this is about the reasoning, not about density. Density is Unit 3.</a:t>
            </a:r>
          </a:p>
          <a:p>
            <a:pPr/>
          </a:p>
          <a:p>
            <a:pPr/>
            <a:r>
              <a:t>MISCONCEPTION: "so induction is unreliable and we should not use it." No. It is how nearly everything in science starts. It just stays open to being corrected, and that is a strength.</a:t>
            </a:r>
          </a:p>
          <a:p>
            <a:pPr/>
          </a:p>
          <a:p>
            <a:pPr/>
            <a:r>
              <a:t>THE SENTENCE TO LEAVE THEM WITH: "a scientific conclusion is the best answer so far, not the last word."</a:t>
            </a:r>
          </a:p>
          <a:p>
            <a:pPr/>
          </a:p>
          <a:p>
            <a:pPr/>
            <a:r>
              <a:t>STRETCH: "How many observations would be enough to be certain?" — there is no such number, and that is a real and permanent feature of science, not a gap in our knowledge.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r>
              <a:t>WE DO — 6 minutes. Six clicks: conclusion then comment, row by row. Pairs write their sentence BEFORE you click.</a:t>
            </a:r>
          </a:p>
          <a:p>
            <a:pPr/>
          </a:p>
          <a:p>
            <a:pPr/>
            <a:r>
              <a:t>INSIST ON "IN GENERAL". It is the grammar of an induction, and once they hear themselves say it they stop over-claiming.</a:t>
            </a:r>
          </a:p>
          <a:p>
            <a:pPr/>
          </a:p>
          <a:p>
            <a:pPr/>
            <a:r>
              <a:t>ROW 3 IS THE BEST TWO MINUTES OF THE LESSON. Set it up properly: two thousand years, every swan anyone had ever laid eyes on, white. How sure would you have been? Then the black swans. Let the room react.</a:t>
            </a:r>
          </a:p>
          <a:p>
            <a:pPr/>
          </a:p>
          <a:p>
            <a:pPr/>
            <a:r>
              <a:t>THE QUESTION TO ASK AFTERWARDS: "so was everybody before 1697 being stupid?" No. They had done the reasoning correctly on all the evidence they had. That is exactly what a scientist does, and it can still turn out to be wrong.</a:t>
            </a:r>
          </a:p>
          <a:p>
            <a:pPr/>
          </a:p>
          <a:p>
            <a:pPr/>
            <a:r>
              <a:t>CONNECT IT BACK: this is the same shape as the durian claim. Lots of people, lots of noticing, a general conclusion — and nobody had gone looking for the black swan.</a:t>
            </a:r>
          </a:p>
          <a:p>
            <a:pPr/>
          </a:p>
          <a:p>
            <a:pPr/>
            <a:r>
              <a:t>MISCONCEPTION on row 2: "the sun rising is a fact, not a conclusion." It is both. Do not push this far with Year 7 — one sentence and move 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YOU DO — 8 minutes. No clicks.</a:t>
            </a:r>
          </a:p>
          <a:p>
            <a:pPr/>
          </a:p>
          <a:p>
            <a:pPr/>
            <a:r>
              <a:t>CIRCULATE WITH ONE QUESTION: "what would you measure?" It diagnoses almost everything on this sheet in ten seconds.</a:t>
            </a:r>
          </a:p>
          <a:p>
            <a:pPr/>
          </a:p>
          <a:p>
            <a:pPr/>
            <a:r>
              <a:t>WHERE THEY WILL STALL: B3 (writing a conclusion that is not over-claimed) and C2 (why "everyone says so" is not evidence, in full sentences). Both are the Gold skill in miniature.</a:t>
            </a:r>
          </a:p>
          <a:p>
            <a:pPr/>
          </a:p>
          <a:p>
            <a:pPr/>
            <a:r>
              <a:t>YEAR 7 NOTE: for many of them this is the first extended writing in secondary science. Give the sentence starter out loud for C2 — "Lots of people believing something is not evidence because…" — and expect to give it twice.</a:t>
            </a:r>
          </a:p>
          <a:p>
            <a:pPr/>
          </a:p>
          <a:p>
            <a:pPr/>
            <a:r>
              <a:t>AT 2 MINUTES REMAINING, stop them wherever they are. The reveal matters more than two more minutes of writing.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Shape 362"/>
          <p:cNvSpPr/>
          <p:nvPr>
            <p:ph type="sldImg"/>
          </p:nvPr>
        </p:nvSpPr>
        <p:spPr>
          <a:prstGeom prst="rect">
            <a:avLst/>
          </a:prstGeom>
        </p:spPr>
        <p:txBody>
          <a:bodyPr/>
          <a:lstStyle/>
          <a:p>
            <a:pPr/>
          </a:p>
        </p:txBody>
      </p:sp>
      <p:sp>
        <p:nvSpPr>
          <p:cNvPr id="363" name="Shape 363"/>
          <p:cNvSpPr/>
          <p:nvPr>
            <p:ph type="body" sz="quarter" idx="1"/>
          </p:nvPr>
        </p:nvSpPr>
        <p:spPr>
          <a:prstGeom prst="rect">
            <a:avLst/>
          </a:prstGeom>
        </p:spPr>
        <p:txBody>
          <a:bodyPr/>
          <a:lstStyle/>
          <a:p>
            <a:pPr/>
            <a:r>
              <a:t>REVEAL — 4 minutes. Five clicks: the four cards, then the banner.</a:t>
            </a:r>
          </a:p>
          <a:p>
            <a:pPr/>
          </a:p>
          <a:p>
            <a:pPr/>
            <a:r>
              <a:t>Go back to the hook tally and to the Do Now Q6 suggestions still on the board. Several of them will have said "measure someone's temperature". Tell them that is exactly what was eventually done, and mean it.</a:t>
            </a:r>
          </a:p>
          <a:p>
            <a:pPr/>
          </a:p>
          <a:p>
            <a:pPr/>
            <a:r>
              <a:t>CARD 2 NEEDS ONE SENTENCE OF CARE. "Not significant" does not mean nothing happened — it means the change was too small to be sure it was not chance. Say it in those words; do not use the word "significant" without unpacking it.</a:t>
            </a:r>
          </a:p>
          <a:p>
            <a:pPr/>
          </a:p>
          <a:p>
            <a:pPr/>
            <a:r>
              <a:t>CARD 3: the trial matched the calories so that any difference came from the durian and not from eating more. Point at that — it is the first controlled comparison they have met, and Unit 2 is all about it.</a:t>
            </a:r>
          </a:p>
          <a:p>
            <a:pPr/>
          </a:p>
          <a:p>
            <a:pPr/>
            <a:r>
              <a:t>THE BANNER IS THE SENTENCE OF THE LESSON. Year 7 often think changing your mind means you were stupid before. Say plainly that in science it is the opposite.</a:t>
            </a:r>
          </a:p>
          <a:p>
            <a:pPr/>
          </a:p>
          <a:p>
            <a:pPr/>
            <a:r>
              <a:t>DO NOT let the room land on "so grandma was right all along" OR on "so grandma was talking nonsense". The honest answer is that nobody could have known, and now we know a bit more.</a:t>
            </a:r>
          </a:p>
          <a:p>
            <a:pPr/>
          </a:p>
          <a:p>
            <a:pPr/>
            <a:r>
              <a:t>STRETCH: "The 2024 trial used 16 people. Is that enough?" — a superb question with no clean answer, and it is Unit 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r>
              <a:t>PLENARY — 2 minutes. Eleven clicks: statement, then verdict and reason, then the closing line.</a:t>
            </a:r>
          </a:p>
          <a:p>
            <a:pPr/>
          </a:p>
          <a:p>
            <a:pPr/>
            <a:r>
              <a:t>Every FALSE here is a misconception from the hidden teacher slide.</a:t>
            </a:r>
          </a:p>
          <a:p>
            <a:pPr/>
          </a:p>
          <a:p>
            <a:pPr/>
            <a:r>
              <a:t>Q4 is the one that matters most and the one they are least likely to have believed before today. If the room gets it right, the lesson worked.</a:t>
            </a:r>
          </a:p>
          <a:p>
            <a:pPr/>
          </a:p>
          <a:p>
            <a:pPr/>
            <a:r>
              <a:t>Q5 sets up Lesson 4, where they meet the lab for the first time. The point is not that labs do not matter — it is that science is a way of thinking, and the room is just where some of it happens.</a:t>
            </a:r>
          </a:p>
          <a:p>
            <a:pPr/>
          </a:p>
          <a:p>
            <a:pPr/>
            <a:r>
              <a:t>THE MOTIF RETURNS top right: the same scattered dots with a line through them. Ask one pupil what it means. By now somebody will know.</a:t>
            </a:r>
          </a:p>
          <a:p>
            <a:pPr/>
          </a:p>
          <a:p>
            <a:pPr/>
            <a:r>
              <a:t>STOP HERE. Theories and laws are next lesson.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Shape 422"/>
          <p:cNvSpPr/>
          <p:nvPr>
            <p:ph type="sldImg"/>
          </p:nvPr>
        </p:nvSpPr>
        <p:spPr>
          <a:prstGeom prst="rect">
            <a:avLst/>
          </a:prstGeom>
        </p:spPr>
        <p:txBody>
          <a:bodyPr/>
          <a:lstStyle/>
          <a:p>
            <a:pPr/>
          </a:p>
        </p:txBody>
      </p:sp>
      <p:sp>
        <p:nvSpPr>
          <p:cNvPr id="423" name="Shape 423"/>
          <p:cNvSpPr/>
          <p:nvPr>
            <p:ph type="body" sz="quarter" idx="1"/>
          </p:nvPr>
        </p:nvSpPr>
        <p:spPr>
          <a:prstGeom prst="rect">
            <a:avLst/>
          </a:prstGeom>
        </p:spPr>
        <p:txBody>
          <a:bodyPr/>
          <a:lstStyle/>
          <a:p>
            <a:pPr/>
            <a:r>
              <a:t>Not shown in the lesson unless someone asks. Kept in the file so the sources travel with the deck if you share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0" name="teach_flag"/>
          <p:cNvSpPr txBox="1"/>
          <p:nvPr/>
        </p:nvSpPr>
        <p:spPr>
          <a:xfrm>
            <a:off x="502919" y="319277"/>
            <a:ext cx="640080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100">
                <a:solidFill>
                  <a:srgbClr val="D94F6A"/>
                </a:solidFill>
                <a:latin typeface="Arial"/>
                <a:ea typeface="Arial"/>
                <a:cs typeface="Arial"/>
                <a:sym typeface="Arial"/>
              </a:defRPr>
            </a:lvl1pPr>
          </a:lstStyle>
          <a:p>
            <a:pPr/>
            <a:r>
              <a:t>TEACHER ONLY — hidden in slideshow</a:t>
            </a:r>
          </a:p>
        </p:txBody>
      </p:sp>
      <p:sp>
        <p:nvSpPr>
          <p:cNvPr id="21" name="teach_meta"/>
          <p:cNvSpPr txBox="1"/>
          <p:nvPr/>
        </p:nvSpPr>
        <p:spPr>
          <a:xfrm>
            <a:off x="5653735" y="319277"/>
            <a:ext cx="603504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6A6180"/>
                </a:solidFill>
                <a:latin typeface="Arial"/>
                <a:ea typeface="Arial"/>
                <a:cs typeface="Arial"/>
                <a:sym typeface="Arial"/>
              </a:defRPr>
            </a:lvl1pPr>
          </a:lstStyle>
          <a:p>
            <a:pPr/>
            <a:r>
              <a:t>Y7 · Unit 1 The World of Science · L1 of 4 · 50 minutes</a:t>
            </a:r>
          </a:p>
        </p:txBody>
      </p:sp>
      <p:sp>
        <p:nvSpPr>
          <p:cNvPr id="22" name="teach_title"/>
          <p:cNvSpPr txBox="1"/>
          <p:nvPr/>
        </p:nvSpPr>
        <p:spPr>
          <a:xfrm>
            <a:off x="502919" y="655827"/>
            <a:ext cx="1118585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2C6F"/>
                </a:solidFill>
                <a:latin typeface="Georgia"/>
                <a:ea typeface="Georgia"/>
                <a:cs typeface="Georgia"/>
                <a:sym typeface="Georgia"/>
              </a:defRPr>
            </a:lvl1pPr>
          </a:lstStyle>
          <a:p>
            <a:pPr/>
            <a:r>
              <a:t>How do you know?  Evidence, logic, and the trouble with "everyone says so"</a:t>
            </a:r>
          </a:p>
        </p:txBody>
      </p:sp>
      <p:sp>
        <p:nvSpPr>
          <p:cNvPr id="23" name="teach_col0_bg"/>
          <p:cNvSpPr/>
          <p:nvPr/>
        </p:nvSpPr>
        <p:spPr>
          <a:xfrm>
            <a:off x="502919" y="1188719"/>
            <a:ext cx="3576220" cy="5285234"/>
          </a:xfrm>
          <a:prstGeom prst="rect">
            <a:avLst/>
          </a:prstGeom>
          <a:solidFill>
            <a:srgbClr val="F7F4FB"/>
          </a:solidFill>
          <a:ln w="12700">
            <a:solidFill>
              <a:srgbClr val="E3DAF0"/>
            </a:solidFill>
          </a:ln>
        </p:spPr>
        <p:txBody>
          <a:bodyPr lIns="45719" rIns="45719"/>
          <a:lstStyle/>
          <a:p>
            <a:pPr/>
          </a:p>
        </p:txBody>
      </p:sp>
      <p:sp>
        <p:nvSpPr>
          <p:cNvPr id="24" name="teach_col0_h"/>
          <p:cNvSpPr txBox="1"/>
          <p:nvPr/>
        </p:nvSpPr>
        <p:spPr>
          <a:xfrm>
            <a:off x="649223" y="1386123"/>
            <a:ext cx="328361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4A2C6F"/>
                </a:solidFill>
                <a:latin typeface="Arial"/>
                <a:ea typeface="Arial"/>
                <a:cs typeface="Arial"/>
                <a:sym typeface="Arial"/>
              </a:defRPr>
            </a:lvl1pPr>
          </a:lstStyle>
          <a:p>
            <a:pPr/>
            <a:r>
              <a:t>PRIOR KNOWLEDGE &amp; CONTEXT</a:t>
            </a:r>
          </a:p>
        </p:txBody>
      </p:sp>
      <p:sp>
        <p:nvSpPr>
          <p:cNvPr id="25" name="teach_col0_b"/>
          <p:cNvSpPr txBox="1"/>
          <p:nvPr/>
        </p:nvSpPr>
        <p:spPr>
          <a:xfrm>
            <a:off x="649223" y="1627631"/>
            <a:ext cx="3283612" cy="25081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sz="800">
                <a:solidFill>
                  <a:srgbClr val="241535"/>
                </a:solidFill>
                <a:latin typeface="Arial"/>
                <a:ea typeface="Arial"/>
                <a:cs typeface="Arial"/>
                <a:sym typeface="Arial"/>
              </a:defRPr>
            </a:pPr>
            <a:r>
              <a:t>This may be their first secondary science lesson, so assume primary science and nothing else: states of matter, the five senses, a thermometer measures temperature, and basic lab safety.</a:t>
            </a:r>
          </a:p>
          <a:p>
            <a:pPr>
              <a:lnSpc>
                <a:spcPts val="1100"/>
              </a:lnSpc>
              <a:defRPr sz="800"/>
            </a:pPr>
          </a:p>
          <a:p>
            <a:pPr>
              <a:lnSpc>
                <a:spcPts val="1100"/>
              </a:lnSpc>
              <a:defRPr sz="800">
                <a:solidFill>
                  <a:srgbClr val="241535"/>
                </a:solidFill>
                <a:latin typeface="Arial"/>
                <a:ea typeface="Arial"/>
                <a:cs typeface="Arial"/>
                <a:sym typeface="Arial"/>
              </a:defRPr>
            </a:pPr>
            <a:r>
              <a:t>The Do Now checks exactly those. Q5 is a safety plant — never taste anything in a lab — because Lesson 4 is the equipment practical.</a:t>
            </a:r>
          </a:p>
          <a:p>
            <a:pPr>
              <a:lnSpc>
                <a:spcPts val="1100"/>
              </a:lnSpc>
              <a:defRPr sz="800"/>
            </a:pPr>
          </a:p>
          <a:p>
            <a:pPr>
              <a:lnSpc>
                <a:spcPts val="1100"/>
              </a:lnSpc>
              <a:defRPr sz="800">
                <a:solidFill>
                  <a:srgbClr val="241535"/>
                </a:solidFill>
                <a:latin typeface="Arial"/>
                <a:ea typeface="Arial"/>
                <a:cs typeface="Arial"/>
                <a:sym typeface="Arial"/>
              </a:defRPr>
            </a:pPr>
            <a:r>
              <a:t>NO PRIOR VOCABULARY IS ASSUMED. "Evidence", "logic", "induction" and "conclusion" are all new words today. Write each one on the board as it arrives and leave it there.</a:t>
            </a:r>
          </a:p>
          <a:p>
            <a:pPr>
              <a:lnSpc>
                <a:spcPts val="1100"/>
              </a:lnSpc>
              <a:defRPr sz="800"/>
            </a:pPr>
          </a:p>
          <a:p>
            <a:pPr>
              <a:lnSpc>
                <a:spcPts val="1100"/>
              </a:lnSpc>
              <a:defRPr sz="800">
                <a:solidFill>
                  <a:srgbClr val="241535"/>
                </a:solidFill>
                <a:latin typeface="Arial"/>
                <a:ea typeface="Arial"/>
                <a:cs typeface="Arial"/>
                <a:sym typeface="Arial"/>
              </a:defRPr>
            </a:pPr>
            <a:r>
              <a:t>EAL note: "observation" and "conclusion" are long abstract nouns. Give the verb first — you observe, then you conclude — and the nouns land more easily.</a:t>
            </a:r>
          </a:p>
          <a:p>
            <a:pPr>
              <a:lnSpc>
                <a:spcPts val="1100"/>
              </a:lnSpc>
              <a:defRPr sz="800"/>
            </a:pPr>
          </a:p>
          <a:p>
            <a:pPr>
              <a:lnSpc>
                <a:spcPts val="1100"/>
              </a:lnSpc>
              <a:defRPr sz="800">
                <a:solidFill>
                  <a:srgbClr val="241535"/>
                </a:solidFill>
                <a:latin typeface="Arial"/>
                <a:ea typeface="Arial"/>
                <a:cs typeface="Arial"/>
                <a:sym typeface="Arial"/>
              </a:defRPr>
            </a:pPr>
            <a:r>
              <a:t>LOCAL CONTEXT: Rayong and Chanthaburi are durian country and every child in the room will have heard someone say durian is ร้อน. That is the hook, and it is doing real work, not decoration.</a:t>
            </a:r>
          </a:p>
        </p:txBody>
      </p:sp>
      <p:sp>
        <p:nvSpPr>
          <p:cNvPr id="26" name="teach_col1_bg"/>
          <p:cNvSpPr/>
          <p:nvPr/>
        </p:nvSpPr>
        <p:spPr>
          <a:xfrm>
            <a:off x="4307737" y="1188719"/>
            <a:ext cx="3576219" cy="5285234"/>
          </a:xfrm>
          <a:prstGeom prst="rect">
            <a:avLst/>
          </a:prstGeom>
          <a:solidFill>
            <a:srgbClr val="FCEDF0"/>
          </a:solidFill>
          <a:ln w="12700">
            <a:solidFill>
              <a:srgbClr val="D94F6A"/>
            </a:solidFill>
          </a:ln>
        </p:spPr>
        <p:txBody>
          <a:bodyPr lIns="45719" rIns="45719"/>
          <a:lstStyle/>
          <a:p>
            <a:pPr/>
          </a:p>
        </p:txBody>
      </p:sp>
      <p:sp>
        <p:nvSpPr>
          <p:cNvPr id="27" name="teach_col1_h"/>
          <p:cNvSpPr txBox="1"/>
          <p:nvPr/>
        </p:nvSpPr>
        <p:spPr>
          <a:xfrm>
            <a:off x="4454042" y="1386123"/>
            <a:ext cx="328361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D94F6A"/>
                </a:solidFill>
                <a:latin typeface="Arial"/>
                <a:ea typeface="Arial"/>
                <a:cs typeface="Arial"/>
                <a:sym typeface="Arial"/>
              </a:defRPr>
            </a:lvl1pPr>
          </a:lstStyle>
          <a:p>
            <a:pPr/>
            <a:r>
              <a:t>MISCONCEPTIONS  (wrong → right)</a:t>
            </a:r>
          </a:p>
        </p:txBody>
      </p:sp>
      <p:sp>
        <p:nvSpPr>
          <p:cNvPr id="28" name="teach_col1_b"/>
          <p:cNvSpPr txBox="1"/>
          <p:nvPr/>
        </p:nvSpPr>
        <p:spPr>
          <a:xfrm>
            <a:off x="4454042" y="1627631"/>
            <a:ext cx="3283611" cy="33463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sz="800">
                <a:solidFill>
                  <a:srgbClr val="241535"/>
                </a:solidFill>
                <a:latin typeface="Arial"/>
                <a:ea typeface="Arial"/>
                <a:cs typeface="Arial"/>
                <a:sym typeface="Arial"/>
              </a:defRPr>
            </a:pPr>
            <a:r>
              <a:t>✗ "Science is a pile of facts you have to learn."</a:t>
            </a:r>
          </a:p>
          <a:p>
            <a:pPr>
              <a:lnSpc>
                <a:spcPts val="1100"/>
              </a:lnSpc>
              <a:defRPr sz="800">
                <a:solidFill>
                  <a:srgbClr val="241535"/>
                </a:solidFill>
                <a:latin typeface="Arial"/>
                <a:ea typeface="Arial"/>
                <a:cs typeface="Arial"/>
                <a:sym typeface="Arial"/>
              </a:defRPr>
            </a:pPr>
            <a:r>
              <a:t>→ It is a way of FINDING THINGS OUT. The facts are what it produces, not what it is.</a:t>
            </a:r>
          </a:p>
          <a:p>
            <a:pPr>
              <a:lnSpc>
                <a:spcPts val="1100"/>
              </a:lnSpc>
              <a:defRPr sz="800"/>
            </a:pPr>
          </a:p>
          <a:p>
            <a:pPr>
              <a:lnSpc>
                <a:spcPts val="1100"/>
              </a:lnSpc>
              <a:defRPr sz="800">
                <a:solidFill>
                  <a:srgbClr val="241535"/>
                </a:solidFill>
                <a:latin typeface="Arial"/>
                <a:ea typeface="Arial"/>
                <a:cs typeface="Arial"/>
                <a:sym typeface="Arial"/>
              </a:defRPr>
            </a:pPr>
            <a:r>
              <a:t>✗ "If lots of people believe it, it must be true."</a:t>
            </a:r>
          </a:p>
          <a:p>
            <a:pPr>
              <a:lnSpc>
                <a:spcPts val="1100"/>
              </a:lnSpc>
              <a:defRPr sz="800">
                <a:solidFill>
                  <a:srgbClr val="241535"/>
                </a:solidFill>
                <a:latin typeface="Arial"/>
                <a:ea typeface="Arial"/>
                <a:cs typeface="Arial"/>
                <a:sym typeface="Arial"/>
              </a:defRPr>
            </a:pPr>
            <a:r>
              <a:t>→ How many people say something is not evidence. This is the whole hook.</a:t>
            </a:r>
          </a:p>
          <a:p>
            <a:pPr>
              <a:lnSpc>
                <a:spcPts val="1100"/>
              </a:lnSpc>
              <a:defRPr sz="800"/>
            </a:pPr>
          </a:p>
          <a:p>
            <a:pPr>
              <a:lnSpc>
                <a:spcPts val="1100"/>
              </a:lnSpc>
              <a:defRPr sz="800">
                <a:solidFill>
                  <a:srgbClr val="241535"/>
                </a:solidFill>
                <a:latin typeface="Arial"/>
                <a:ea typeface="Arial"/>
                <a:cs typeface="Arial"/>
                <a:sym typeface="Arial"/>
              </a:defRPr>
            </a:pPr>
            <a:r>
              <a:t>✗ "Scientists prove things."</a:t>
            </a:r>
          </a:p>
          <a:p>
            <a:pPr>
              <a:lnSpc>
                <a:spcPts val="1100"/>
              </a:lnSpc>
              <a:defRPr sz="800">
                <a:solidFill>
                  <a:srgbClr val="241535"/>
                </a:solidFill>
                <a:latin typeface="Arial"/>
                <a:ea typeface="Arial"/>
                <a:cs typeface="Arial"/>
                <a:sym typeface="Arial"/>
              </a:defRPr>
            </a:pPr>
            <a:r>
              <a:t>→ Evidence supports a conclusion; it does not lock it. Avoid the word "prove" all lesson and they will not pick it up.</a:t>
            </a:r>
          </a:p>
          <a:p>
            <a:pPr>
              <a:lnSpc>
                <a:spcPts val="1100"/>
              </a:lnSpc>
              <a:defRPr sz="800"/>
            </a:pPr>
          </a:p>
          <a:p>
            <a:pPr>
              <a:lnSpc>
                <a:spcPts val="1100"/>
              </a:lnSpc>
              <a:defRPr sz="800">
                <a:solidFill>
                  <a:srgbClr val="241535"/>
                </a:solidFill>
                <a:latin typeface="Arial"/>
                <a:ea typeface="Arial"/>
                <a:cs typeface="Arial"/>
                <a:sym typeface="Arial"/>
              </a:defRPr>
            </a:pPr>
            <a:r>
              <a:t>✗ "Induction always gives the right answer."</a:t>
            </a:r>
          </a:p>
          <a:p>
            <a:pPr>
              <a:lnSpc>
                <a:spcPts val="1100"/>
              </a:lnSpc>
              <a:defRPr sz="800">
                <a:solidFill>
                  <a:srgbClr val="241535"/>
                </a:solidFill>
                <a:latin typeface="Arial"/>
                <a:ea typeface="Arial"/>
                <a:cs typeface="Arial"/>
                <a:sym typeface="Arial"/>
              </a:defRPr>
            </a:pPr>
            <a:r>
              <a:t>→ Every swan anyone had seen was white, until Australia. Slide 9 is built on this.</a:t>
            </a:r>
          </a:p>
          <a:p>
            <a:pPr>
              <a:lnSpc>
                <a:spcPts val="1100"/>
              </a:lnSpc>
              <a:defRPr sz="800"/>
            </a:pPr>
          </a:p>
          <a:p>
            <a:pPr>
              <a:lnSpc>
                <a:spcPts val="1100"/>
              </a:lnSpc>
              <a:defRPr sz="800">
                <a:solidFill>
                  <a:srgbClr val="241535"/>
                </a:solidFill>
                <a:latin typeface="Arial"/>
                <a:ea typeface="Arial"/>
                <a:cs typeface="Arial"/>
                <a:sym typeface="Arial"/>
              </a:defRPr>
            </a:pPr>
            <a:r>
              <a:t>✗ "If science cannot answer a question, the question is stupid."</a:t>
            </a:r>
          </a:p>
          <a:p>
            <a:pPr>
              <a:lnSpc>
                <a:spcPts val="1100"/>
              </a:lnSpc>
              <a:defRPr sz="800">
                <a:solidFill>
                  <a:srgbClr val="241535"/>
                </a:solidFill>
                <a:latin typeface="Arial"/>
                <a:ea typeface="Arial"/>
                <a:cs typeface="Arial"/>
                <a:sym typeface="Arial"/>
              </a:defRPr>
            </a:pPr>
            <a:r>
              <a:t>→ No. "Is this fair?" is a serious question and science cannot settle it. Be careful here — some of their questions will be about beliefs that matter to their families.</a:t>
            </a:r>
          </a:p>
          <a:p>
            <a:pPr>
              <a:lnSpc>
                <a:spcPts val="1100"/>
              </a:lnSpc>
              <a:defRPr sz="800"/>
            </a:pPr>
          </a:p>
          <a:p>
            <a:pPr>
              <a:lnSpc>
                <a:spcPts val="1100"/>
              </a:lnSpc>
              <a:defRPr sz="800">
                <a:solidFill>
                  <a:srgbClr val="241535"/>
                </a:solidFill>
                <a:latin typeface="Arial"/>
                <a:ea typeface="Arial"/>
                <a:cs typeface="Arial"/>
                <a:sym typeface="Arial"/>
              </a:defRPr>
            </a:pPr>
            <a:r>
              <a:t>✗ "Science happens in labs, done by men in white coats."</a:t>
            </a:r>
          </a:p>
          <a:p>
            <a:pPr>
              <a:lnSpc>
                <a:spcPts val="1100"/>
              </a:lnSpc>
              <a:defRPr sz="800">
                <a:solidFill>
                  <a:srgbClr val="241535"/>
                </a:solidFill>
                <a:latin typeface="Arial"/>
                <a:ea typeface="Arial"/>
                <a:cs typeface="Arial"/>
                <a:sym typeface="Arial"/>
              </a:defRPr>
            </a:pPr>
            <a:r>
              <a:t>→ Leave this one standing today. Lesson 3 takes it apart properly (SDG 5).</a:t>
            </a:r>
          </a:p>
        </p:txBody>
      </p:sp>
      <p:sp>
        <p:nvSpPr>
          <p:cNvPr id="29" name="teach_col2_bg"/>
          <p:cNvSpPr/>
          <p:nvPr/>
        </p:nvSpPr>
        <p:spPr>
          <a:xfrm>
            <a:off x="8112556" y="1188719"/>
            <a:ext cx="3576219" cy="5285234"/>
          </a:xfrm>
          <a:prstGeom prst="rect">
            <a:avLst/>
          </a:prstGeom>
          <a:solidFill>
            <a:srgbClr val="F7F4FB"/>
          </a:solidFill>
          <a:ln w="12700">
            <a:solidFill>
              <a:srgbClr val="E3DAF0"/>
            </a:solidFill>
          </a:ln>
        </p:spPr>
        <p:txBody>
          <a:bodyPr lIns="45719" rIns="45719"/>
          <a:lstStyle/>
          <a:p>
            <a:pPr/>
          </a:p>
        </p:txBody>
      </p:sp>
      <p:sp>
        <p:nvSpPr>
          <p:cNvPr id="30" name="teach_col2_h"/>
          <p:cNvSpPr txBox="1"/>
          <p:nvPr/>
        </p:nvSpPr>
        <p:spPr>
          <a:xfrm>
            <a:off x="8258860" y="1386123"/>
            <a:ext cx="328361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4A2C6F"/>
                </a:solidFill>
                <a:latin typeface="Arial"/>
                <a:ea typeface="Arial"/>
                <a:cs typeface="Arial"/>
                <a:sym typeface="Arial"/>
              </a:defRPr>
            </a:lvl1pPr>
          </a:lstStyle>
          <a:p>
            <a:pPr/>
            <a:r>
              <a:t>LESSON FLOW  (50 min)</a:t>
            </a:r>
          </a:p>
        </p:txBody>
      </p:sp>
      <p:sp>
        <p:nvSpPr>
          <p:cNvPr id="31" name="teach_col2_b"/>
          <p:cNvSpPr txBox="1"/>
          <p:nvPr/>
        </p:nvSpPr>
        <p:spPr>
          <a:xfrm>
            <a:off x="8258860" y="1627631"/>
            <a:ext cx="3283612" cy="44639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sz="800">
                <a:solidFill>
                  <a:srgbClr val="241535"/>
                </a:solidFill>
                <a:latin typeface="Arial"/>
                <a:ea typeface="Arial"/>
                <a:cs typeface="Arial"/>
                <a:sym typeface="Arial"/>
              </a:defRPr>
            </a:pPr>
            <a:r>
              <a:t>Objectives — 2</a:t>
            </a:r>
          </a:p>
          <a:p>
            <a:pPr>
              <a:lnSpc>
                <a:spcPts val="1100"/>
              </a:lnSpc>
              <a:defRPr sz="800">
                <a:solidFill>
                  <a:srgbClr val="241535"/>
                </a:solidFill>
                <a:latin typeface="Arial"/>
                <a:ea typeface="Arial"/>
                <a:cs typeface="Arial"/>
                <a:sym typeface="Arial"/>
              </a:defRPr>
            </a:pPr>
            <a:r>
              <a:t>Where this unit goes — 1</a:t>
            </a:r>
          </a:p>
          <a:p>
            <a:pPr>
              <a:lnSpc>
                <a:spcPts val="1100"/>
              </a:lnSpc>
              <a:defRPr sz="800">
                <a:solidFill>
                  <a:srgbClr val="241535"/>
                </a:solidFill>
                <a:latin typeface="Arial"/>
                <a:ea typeface="Arial"/>
                <a:cs typeface="Arial"/>
                <a:sym typeface="Arial"/>
              </a:defRPr>
            </a:pPr>
            <a:r>
              <a:t>Do Now — 5</a:t>
            </a:r>
          </a:p>
          <a:p>
            <a:pPr>
              <a:lnSpc>
                <a:spcPts val="1100"/>
              </a:lnSpc>
              <a:defRPr sz="800">
                <a:solidFill>
                  <a:srgbClr val="241535"/>
                </a:solidFill>
                <a:latin typeface="Arial"/>
                <a:ea typeface="Arial"/>
                <a:cs typeface="Arial"/>
                <a:sym typeface="Arial"/>
              </a:defRPr>
            </a:pPr>
            <a:r>
              <a:t>Hook: is ทุเรียนร้อน science? — 5</a:t>
            </a:r>
          </a:p>
          <a:p>
            <a:pPr>
              <a:lnSpc>
                <a:spcPts val="1100"/>
              </a:lnSpc>
              <a:defRPr sz="800">
                <a:solidFill>
                  <a:srgbClr val="241535"/>
                </a:solidFill>
                <a:latin typeface="Arial"/>
                <a:ea typeface="Arial"/>
                <a:cs typeface="Arial"/>
                <a:sym typeface="Arial"/>
              </a:defRPr>
            </a:pPr>
            <a:r>
              <a:t>I Do: evidence and logic — 6</a:t>
            </a:r>
          </a:p>
          <a:p>
            <a:pPr>
              <a:lnSpc>
                <a:spcPts val="1100"/>
              </a:lnSpc>
              <a:defRPr sz="800">
                <a:solidFill>
                  <a:srgbClr val="241535"/>
                </a:solidFill>
                <a:latin typeface="Arial"/>
                <a:ea typeface="Arial"/>
                <a:cs typeface="Arial"/>
                <a:sym typeface="Arial"/>
              </a:defRPr>
            </a:pPr>
            <a:r>
              <a:t>We Do: can science answer this? — 5</a:t>
            </a:r>
          </a:p>
          <a:p>
            <a:pPr>
              <a:lnSpc>
                <a:spcPts val="1100"/>
              </a:lnSpc>
              <a:defRPr sz="800">
                <a:solidFill>
                  <a:srgbClr val="241535"/>
                </a:solidFill>
                <a:latin typeface="Arial"/>
                <a:ea typeface="Arial"/>
                <a:cs typeface="Arial"/>
                <a:sym typeface="Arial"/>
              </a:defRPr>
            </a:pPr>
            <a:r>
              <a:t>I Do: induction — 6</a:t>
            </a:r>
          </a:p>
          <a:p>
            <a:pPr>
              <a:lnSpc>
                <a:spcPts val="1100"/>
              </a:lnSpc>
              <a:defRPr sz="800">
                <a:solidFill>
                  <a:srgbClr val="241535"/>
                </a:solidFill>
                <a:latin typeface="Arial"/>
                <a:ea typeface="Arial"/>
                <a:cs typeface="Arial"/>
                <a:sym typeface="Arial"/>
              </a:defRPr>
            </a:pPr>
            <a:r>
              <a:t>We Do: what can you conclude? — 6</a:t>
            </a:r>
          </a:p>
          <a:p>
            <a:pPr>
              <a:lnSpc>
                <a:spcPts val="1100"/>
              </a:lnSpc>
              <a:defRPr sz="800">
                <a:solidFill>
                  <a:srgbClr val="241535"/>
                </a:solidFill>
                <a:latin typeface="Arial"/>
                <a:ea typeface="Arial"/>
                <a:cs typeface="Arial"/>
                <a:sym typeface="Arial"/>
              </a:defRPr>
            </a:pPr>
            <a:r>
              <a:t>You Do: worksheet — 8</a:t>
            </a:r>
          </a:p>
          <a:p>
            <a:pPr>
              <a:lnSpc>
                <a:spcPts val="1100"/>
              </a:lnSpc>
              <a:defRPr sz="800">
                <a:solidFill>
                  <a:srgbClr val="241535"/>
                </a:solidFill>
                <a:latin typeface="Arial"/>
                <a:ea typeface="Arial"/>
                <a:cs typeface="Arial"/>
                <a:sym typeface="Arial"/>
              </a:defRPr>
            </a:pPr>
            <a:r>
              <a:t>Reveal: somebody measured it — 4</a:t>
            </a:r>
          </a:p>
          <a:p>
            <a:pPr>
              <a:lnSpc>
                <a:spcPts val="1100"/>
              </a:lnSpc>
              <a:defRPr sz="800">
                <a:solidFill>
                  <a:srgbClr val="241535"/>
                </a:solidFill>
                <a:latin typeface="Arial"/>
                <a:ea typeface="Arial"/>
                <a:cs typeface="Arial"/>
                <a:sym typeface="Arial"/>
              </a:defRPr>
            </a:pPr>
            <a:r>
              <a:t>Plenary: true or false — 2</a:t>
            </a:r>
          </a:p>
          <a:p>
            <a:pPr>
              <a:lnSpc>
                <a:spcPts val="1100"/>
              </a:lnSpc>
              <a:defRPr sz="800">
                <a:solidFill>
                  <a:srgbClr val="241535"/>
                </a:solidFill>
                <a:latin typeface="Arial"/>
                <a:ea typeface="Arial"/>
                <a:cs typeface="Arial"/>
                <a:sym typeface="Arial"/>
              </a:defRPr>
            </a:pPr>
            <a:r>
              <a:t>──────────────</a:t>
            </a:r>
          </a:p>
          <a:p>
            <a:pPr>
              <a:lnSpc>
                <a:spcPts val="1100"/>
              </a:lnSpc>
              <a:defRPr sz="800">
                <a:solidFill>
                  <a:srgbClr val="241535"/>
                </a:solidFill>
                <a:latin typeface="Arial"/>
                <a:ea typeface="Arial"/>
                <a:cs typeface="Arial"/>
                <a:sym typeface="Arial"/>
              </a:defRPr>
            </a:pPr>
            <a:r>
              <a:t>TOTAL 50 min</a:t>
            </a:r>
          </a:p>
          <a:p>
            <a:pPr>
              <a:lnSpc>
                <a:spcPts val="1100"/>
              </a:lnSpc>
              <a:defRPr sz="800"/>
            </a:pPr>
          </a:p>
          <a:p>
            <a:pPr>
              <a:lnSpc>
                <a:spcPts val="1100"/>
              </a:lnSpc>
              <a:defRPr sz="800">
                <a:solidFill>
                  <a:srgbClr val="241535"/>
                </a:solidFill>
                <a:latin typeface="Arial"/>
                <a:ea typeface="Arial"/>
                <a:cs typeface="Arial"/>
                <a:sym typeface="Arial"/>
              </a:defRPr>
            </a:pPr>
            <a:r>
              <a:t>SCOPE: objectives 1 and 2 only (define science; explain induction). Theories and laws are Lesson 2 — if a pupil uses the word "theory" today, take it and park it.</a:t>
            </a:r>
          </a:p>
          <a:p>
            <a:pPr>
              <a:lnSpc>
                <a:spcPts val="1100"/>
              </a:lnSpc>
              <a:defRPr sz="800"/>
            </a:pPr>
          </a:p>
          <a:p>
            <a:pPr>
              <a:lnSpc>
                <a:spcPts val="1100"/>
              </a:lnSpc>
              <a:defRPr sz="800">
                <a:solidFill>
                  <a:srgbClr val="241535"/>
                </a:solidFill>
                <a:latin typeface="Arial"/>
                <a:ea typeface="Arial"/>
                <a:cs typeface="Arial"/>
                <a:sym typeface="Arial"/>
              </a:defRPr>
            </a:pPr>
            <a:r>
              <a:t>THE UNIT DOES NOT FIT ITS 3 HOURS. Eight objectives plus a practical, a research poster and a scavenger hunt is nearer six lessons. The four-lesson plan on slide 4 is 200 minutes against 180: claw it back by setting the poster (L3) and the scavenger hunt (L4) as homework, which is what they are best used for anyway.</a:t>
            </a:r>
          </a:p>
          <a:p>
            <a:pPr>
              <a:lnSpc>
                <a:spcPts val="1100"/>
              </a:lnSpc>
              <a:defRPr sz="800"/>
            </a:pPr>
          </a:p>
          <a:p>
            <a:pPr>
              <a:lnSpc>
                <a:spcPts val="1100"/>
              </a:lnSpc>
              <a:defRPr sz="800">
                <a:solidFill>
                  <a:srgbClr val="241535"/>
                </a:solidFill>
                <a:latin typeface="Arial"/>
                <a:ea typeface="Arial"/>
                <a:cs typeface="Arial"/>
                <a:sym typeface="Arial"/>
              </a:defRPr>
            </a:pPr>
            <a:r>
              <a:t>ATL — Thinking Skills, Critical Thinking. Slide 8 row 6 is the one that earns it: science can measure what a factory would do to the bay, and it cannot decide whether we should build it.</a:t>
            </a:r>
          </a:p>
          <a:p>
            <a:pPr>
              <a:lnSpc>
                <a:spcPts val="1100"/>
              </a:lnSpc>
              <a:defRPr sz="800"/>
            </a:pPr>
          </a:p>
          <a:p>
            <a:pPr>
              <a:lnSpc>
                <a:spcPts val="1100"/>
              </a:lnSpc>
              <a:defRPr sz="800">
                <a:solidFill>
                  <a:srgbClr val="241535"/>
                </a:solidFill>
                <a:latin typeface="Arial"/>
                <a:ea typeface="Arial"/>
                <a:cs typeface="Arial"/>
                <a:sym typeface="Arial"/>
              </a:defRPr>
            </a:pPr>
            <a:r>
              <a:t>SENSITIVE — light touch. Slide 8 asks which questions science can answer. Some pupils hold beliefs at home that science does not test. The line to hold: "science is not the only good way to think about things; it is just very good at one particular job."</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4A2C6F"/>
        </a:solidFill>
      </p:bgPr>
    </p:bg>
    <p:spTree>
      <p:nvGrpSpPr>
        <p:cNvPr id="1" name=""/>
        <p:cNvGrpSpPr/>
        <p:nvPr/>
      </p:nvGrpSpPr>
      <p:grpSpPr>
        <a:xfrm>
          <a:off x="0" y="0"/>
          <a:ext cx="0" cy="0"/>
          <a:chOff x="0" y="0"/>
          <a:chExt cx="0" cy="0"/>
        </a:xfrm>
      </p:grpSpPr>
      <p:sp>
        <p:nvSpPr>
          <p:cNvPr id="35" name="motif_obs0"/>
          <p:cNvSpPr/>
          <p:nvPr/>
        </p:nvSpPr>
        <p:spPr>
          <a:xfrm>
            <a:off x="7319771" y="4902463"/>
            <a:ext cx="173737" cy="173737"/>
          </a:xfrm>
          <a:prstGeom prst="ellipse">
            <a:avLst/>
          </a:prstGeom>
          <a:solidFill>
            <a:srgbClr val="2BA6A0"/>
          </a:solidFill>
          <a:ln w="12700">
            <a:solidFill>
              <a:srgbClr val="2BA6A0"/>
            </a:solidFill>
          </a:ln>
        </p:spPr>
        <p:txBody>
          <a:bodyPr lIns="45719" rIns="45719"/>
          <a:lstStyle/>
          <a:p>
            <a:pPr/>
          </a:p>
        </p:txBody>
      </p:sp>
      <p:sp>
        <p:nvSpPr>
          <p:cNvPr id="36" name="motif_obs1"/>
          <p:cNvSpPr/>
          <p:nvPr/>
        </p:nvSpPr>
        <p:spPr>
          <a:xfrm>
            <a:off x="7689687" y="4270564"/>
            <a:ext cx="173737" cy="173737"/>
          </a:xfrm>
          <a:prstGeom prst="ellipse">
            <a:avLst/>
          </a:prstGeom>
          <a:solidFill>
            <a:srgbClr val="2BA6A0"/>
          </a:solidFill>
          <a:ln w="12700">
            <a:solidFill>
              <a:srgbClr val="2BA6A0"/>
            </a:solidFill>
          </a:ln>
        </p:spPr>
        <p:txBody>
          <a:bodyPr lIns="45719" rIns="45719"/>
          <a:lstStyle/>
          <a:p>
            <a:pPr/>
          </a:p>
        </p:txBody>
      </p:sp>
      <p:sp>
        <p:nvSpPr>
          <p:cNvPr id="37" name="motif_obs2"/>
          <p:cNvSpPr/>
          <p:nvPr/>
        </p:nvSpPr>
        <p:spPr>
          <a:xfrm>
            <a:off x="8059604" y="4294837"/>
            <a:ext cx="173737" cy="173737"/>
          </a:xfrm>
          <a:prstGeom prst="ellipse">
            <a:avLst/>
          </a:prstGeom>
          <a:solidFill>
            <a:srgbClr val="2BA6A0"/>
          </a:solidFill>
          <a:ln w="12700">
            <a:solidFill>
              <a:srgbClr val="2BA6A0"/>
            </a:solidFill>
          </a:ln>
        </p:spPr>
        <p:txBody>
          <a:bodyPr lIns="45719" rIns="45719"/>
          <a:lstStyle/>
          <a:p>
            <a:pPr/>
          </a:p>
        </p:txBody>
      </p:sp>
      <p:sp>
        <p:nvSpPr>
          <p:cNvPr id="38" name="motif_obs3"/>
          <p:cNvSpPr/>
          <p:nvPr/>
        </p:nvSpPr>
        <p:spPr>
          <a:xfrm>
            <a:off x="8429521" y="3831185"/>
            <a:ext cx="173737" cy="173737"/>
          </a:xfrm>
          <a:prstGeom prst="ellipse">
            <a:avLst/>
          </a:prstGeom>
          <a:solidFill>
            <a:srgbClr val="2BA6A0"/>
          </a:solidFill>
          <a:ln w="12700">
            <a:solidFill>
              <a:srgbClr val="2BA6A0"/>
            </a:solidFill>
          </a:ln>
        </p:spPr>
        <p:txBody>
          <a:bodyPr lIns="45719" rIns="45719"/>
          <a:lstStyle/>
          <a:p>
            <a:pPr/>
          </a:p>
        </p:txBody>
      </p:sp>
      <p:sp>
        <p:nvSpPr>
          <p:cNvPr id="39" name="motif_obs4"/>
          <p:cNvSpPr/>
          <p:nvPr/>
        </p:nvSpPr>
        <p:spPr>
          <a:xfrm>
            <a:off x="8799437" y="3935378"/>
            <a:ext cx="173737" cy="173737"/>
          </a:xfrm>
          <a:prstGeom prst="ellipse">
            <a:avLst/>
          </a:prstGeom>
          <a:solidFill>
            <a:srgbClr val="2BA6A0"/>
          </a:solidFill>
          <a:ln w="12700">
            <a:solidFill>
              <a:srgbClr val="2BA6A0"/>
            </a:solidFill>
          </a:ln>
        </p:spPr>
        <p:txBody>
          <a:bodyPr lIns="45719" rIns="45719"/>
          <a:lstStyle/>
          <a:p>
            <a:pPr/>
          </a:p>
        </p:txBody>
      </p:sp>
      <p:sp>
        <p:nvSpPr>
          <p:cNvPr id="40" name="motif_obs5"/>
          <p:cNvSpPr/>
          <p:nvPr/>
        </p:nvSpPr>
        <p:spPr>
          <a:xfrm>
            <a:off x="9169354" y="3349745"/>
            <a:ext cx="173737" cy="173737"/>
          </a:xfrm>
          <a:prstGeom prst="ellipse">
            <a:avLst/>
          </a:prstGeom>
          <a:solidFill>
            <a:srgbClr val="2BA6A0"/>
          </a:solidFill>
          <a:ln w="12700">
            <a:solidFill>
              <a:srgbClr val="2BA6A0"/>
            </a:solidFill>
          </a:ln>
        </p:spPr>
        <p:txBody>
          <a:bodyPr lIns="45719" rIns="45719"/>
          <a:lstStyle/>
          <a:p>
            <a:pPr/>
          </a:p>
        </p:txBody>
      </p:sp>
      <p:sp>
        <p:nvSpPr>
          <p:cNvPr id="41" name="motif_obs6"/>
          <p:cNvSpPr/>
          <p:nvPr/>
        </p:nvSpPr>
        <p:spPr>
          <a:xfrm>
            <a:off x="9539269" y="3315132"/>
            <a:ext cx="173737" cy="173737"/>
          </a:xfrm>
          <a:prstGeom prst="ellipse">
            <a:avLst/>
          </a:prstGeom>
          <a:solidFill>
            <a:srgbClr val="2BA6A0"/>
          </a:solidFill>
          <a:ln w="12700">
            <a:solidFill>
              <a:srgbClr val="2BA6A0"/>
            </a:solidFill>
          </a:ln>
        </p:spPr>
        <p:txBody>
          <a:bodyPr lIns="45719" rIns="45719"/>
          <a:lstStyle/>
          <a:p>
            <a:pPr/>
          </a:p>
        </p:txBody>
      </p:sp>
      <p:sp>
        <p:nvSpPr>
          <p:cNvPr id="42" name="motif_obs7"/>
          <p:cNvSpPr/>
          <p:nvPr/>
        </p:nvSpPr>
        <p:spPr>
          <a:xfrm>
            <a:off x="9909186" y="2590694"/>
            <a:ext cx="173737" cy="173737"/>
          </a:xfrm>
          <a:prstGeom prst="ellipse">
            <a:avLst/>
          </a:prstGeom>
          <a:solidFill>
            <a:srgbClr val="2BA6A0"/>
          </a:solidFill>
          <a:ln w="12700">
            <a:solidFill>
              <a:srgbClr val="2BA6A0"/>
            </a:solidFill>
          </a:ln>
        </p:spPr>
        <p:txBody>
          <a:bodyPr lIns="45719" rIns="45719"/>
          <a:lstStyle/>
          <a:p>
            <a:pPr/>
          </a:p>
        </p:txBody>
      </p:sp>
      <p:sp>
        <p:nvSpPr>
          <p:cNvPr id="43" name="motif_obs8"/>
          <p:cNvSpPr/>
          <p:nvPr/>
        </p:nvSpPr>
        <p:spPr>
          <a:xfrm>
            <a:off x="10279102" y="2635998"/>
            <a:ext cx="173737" cy="173737"/>
          </a:xfrm>
          <a:prstGeom prst="ellipse">
            <a:avLst/>
          </a:prstGeom>
          <a:solidFill>
            <a:srgbClr val="2BA6A0"/>
          </a:solidFill>
          <a:ln w="12700">
            <a:solidFill>
              <a:srgbClr val="2BA6A0"/>
            </a:solidFill>
          </a:ln>
        </p:spPr>
        <p:txBody>
          <a:bodyPr lIns="45719" rIns="45719"/>
          <a:lstStyle/>
          <a:p>
            <a:pPr/>
          </a:p>
        </p:txBody>
      </p:sp>
      <p:sp>
        <p:nvSpPr>
          <p:cNvPr id="44" name="motif_obs9"/>
          <p:cNvSpPr/>
          <p:nvPr/>
        </p:nvSpPr>
        <p:spPr>
          <a:xfrm>
            <a:off x="10649018" y="2163935"/>
            <a:ext cx="173737" cy="173737"/>
          </a:xfrm>
          <a:prstGeom prst="ellipse">
            <a:avLst/>
          </a:prstGeom>
          <a:solidFill>
            <a:srgbClr val="2BA6A0"/>
          </a:solidFill>
          <a:ln w="12700">
            <a:solidFill>
              <a:srgbClr val="2BA6A0"/>
            </a:solidFill>
          </a:ln>
        </p:spPr>
        <p:txBody>
          <a:bodyPr lIns="45719" rIns="45719"/>
          <a:lstStyle/>
          <a:p>
            <a:pPr/>
          </a:p>
        </p:txBody>
      </p:sp>
      <p:sp>
        <p:nvSpPr>
          <p:cNvPr id="45" name="motif_obs10"/>
          <p:cNvSpPr/>
          <p:nvPr/>
        </p:nvSpPr>
        <p:spPr>
          <a:xfrm>
            <a:off x="11018935" y="2289158"/>
            <a:ext cx="173737" cy="173737"/>
          </a:xfrm>
          <a:prstGeom prst="ellipse">
            <a:avLst/>
          </a:prstGeom>
          <a:solidFill>
            <a:srgbClr val="2BA6A0"/>
          </a:solidFill>
          <a:ln w="12700">
            <a:solidFill>
              <a:srgbClr val="2BA6A0"/>
            </a:solidFill>
          </a:ln>
        </p:spPr>
        <p:txBody>
          <a:bodyPr lIns="45719" rIns="45719"/>
          <a:lstStyle/>
          <a:p>
            <a:pPr/>
          </a:p>
        </p:txBody>
      </p:sp>
      <p:sp>
        <p:nvSpPr>
          <p:cNvPr id="46" name="motif_obs11"/>
          <p:cNvSpPr/>
          <p:nvPr/>
        </p:nvSpPr>
        <p:spPr>
          <a:xfrm>
            <a:off x="11388852" y="1699321"/>
            <a:ext cx="173737" cy="173737"/>
          </a:xfrm>
          <a:prstGeom prst="ellipse">
            <a:avLst/>
          </a:prstGeom>
          <a:solidFill>
            <a:srgbClr val="2BA6A0"/>
          </a:solidFill>
          <a:ln w="12700">
            <a:solidFill>
              <a:srgbClr val="2BA6A0"/>
            </a:solidFill>
          </a:ln>
        </p:spPr>
        <p:txBody>
          <a:bodyPr lIns="45719" rIns="45719"/>
          <a:lstStyle/>
          <a:p>
            <a:pPr/>
          </a:p>
        </p:txBody>
      </p:sp>
      <p:sp>
        <p:nvSpPr>
          <p:cNvPr id="47" name="motif_trend"/>
          <p:cNvSpPr/>
          <p:nvPr/>
        </p:nvSpPr>
        <p:spPr>
          <a:xfrm rot="19431053">
            <a:off x="6751717" y="3310128"/>
            <a:ext cx="5378927" cy="118873"/>
          </a:xfrm>
          <a:prstGeom prst="rightArrow">
            <a:avLst>
              <a:gd name="adj1" fmla="val 50000"/>
              <a:gd name="adj2" fmla="val 50000"/>
            </a:avLst>
          </a:prstGeom>
          <a:solidFill>
            <a:srgbClr val="F2A03D"/>
          </a:solidFill>
          <a:ln w="12700">
            <a:solidFill>
              <a:srgbClr val="F2A03D"/>
            </a:solidFill>
          </a:ln>
        </p:spPr>
        <p:txBody>
          <a:bodyPr lIns="45719" rIns="45719"/>
          <a:lstStyle/>
          <a:p>
            <a:pPr/>
          </a:p>
        </p:txBody>
      </p:sp>
      <p:sp>
        <p:nvSpPr>
          <p:cNvPr id="48" name="motif_cap"/>
          <p:cNvSpPr txBox="1"/>
          <p:nvPr/>
        </p:nvSpPr>
        <p:spPr>
          <a:xfrm>
            <a:off x="6949440" y="5302757"/>
            <a:ext cx="475488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E3DAF0"/>
                </a:solidFill>
                <a:latin typeface="Arial"/>
                <a:ea typeface="Arial"/>
                <a:cs typeface="Arial"/>
                <a:sym typeface="Arial"/>
              </a:defRPr>
            </a:lvl1pPr>
          </a:lstStyle>
          <a:p>
            <a:pPr/>
            <a:r>
              <a:t>many observations  →  one conclusion</a:t>
            </a:r>
          </a:p>
        </p:txBody>
      </p:sp>
      <p:sp>
        <p:nvSpPr>
          <p:cNvPr id="49" name="title_kicker"/>
          <p:cNvSpPr txBox="1"/>
          <p:nvPr/>
        </p:nvSpPr>
        <p:spPr>
          <a:xfrm>
            <a:off x="502919" y="1321768"/>
            <a:ext cx="658368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60" sz="1200">
                <a:solidFill>
                  <a:srgbClr val="F2A03D"/>
                </a:solidFill>
                <a:latin typeface="Arial"/>
                <a:ea typeface="Arial"/>
                <a:cs typeface="Arial"/>
                <a:sym typeface="Arial"/>
              </a:defRPr>
            </a:lvl1pPr>
          </a:lstStyle>
          <a:p>
            <a:pPr/>
            <a:r>
              <a:t>Y7 SCIENCE  ·  UNIT 1  ·  LESSON 1 OF 4</a:t>
            </a:r>
          </a:p>
        </p:txBody>
      </p:sp>
      <p:sp>
        <p:nvSpPr>
          <p:cNvPr id="50" name="title_main"/>
          <p:cNvSpPr txBox="1"/>
          <p:nvPr/>
        </p:nvSpPr>
        <p:spPr>
          <a:xfrm>
            <a:off x="502919" y="1795269"/>
            <a:ext cx="6583682" cy="14020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5500"/>
              </a:lnSpc>
              <a:defRPr b="1" sz="5200">
                <a:solidFill>
                  <a:srgbClr val="F7F4FB"/>
                </a:solidFill>
                <a:latin typeface="Georgia"/>
                <a:ea typeface="Georgia"/>
                <a:cs typeface="Georgia"/>
                <a:sym typeface="Georgia"/>
              </a:defRPr>
            </a:pPr>
            <a:r>
              <a:t>How do</a:t>
            </a:r>
          </a:p>
          <a:p>
            <a:pPr>
              <a:lnSpc>
                <a:spcPts val="5500"/>
              </a:lnSpc>
              <a:defRPr b="1" sz="5200">
                <a:solidFill>
                  <a:srgbClr val="F7F4FB"/>
                </a:solidFill>
                <a:latin typeface="Georgia"/>
                <a:ea typeface="Georgia"/>
                <a:cs typeface="Georgia"/>
                <a:sym typeface="Georgia"/>
              </a:defRPr>
            </a:pPr>
            <a:r>
              <a:t>you know?</a:t>
            </a:r>
          </a:p>
        </p:txBody>
      </p:sp>
      <p:sp>
        <p:nvSpPr>
          <p:cNvPr id="51" name="title_sub"/>
          <p:cNvSpPr txBox="1"/>
          <p:nvPr/>
        </p:nvSpPr>
        <p:spPr>
          <a:xfrm>
            <a:off x="502919" y="3529584"/>
            <a:ext cx="6400801" cy="2842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400"/>
              </a:lnSpc>
              <a:defRPr sz="1500">
                <a:solidFill>
                  <a:srgbClr val="E3DAF0"/>
                </a:solidFill>
                <a:latin typeface="Arial"/>
                <a:ea typeface="Arial"/>
                <a:cs typeface="Arial"/>
                <a:sym typeface="Arial"/>
              </a:defRPr>
            </a:pPr>
            <a:r>
              <a:t>Science is centred around one question: </a:t>
            </a:r>
            <a:r>
              <a:rPr b="1"/>
              <a:t>how do you know that is true?</a:t>
            </a:r>
          </a:p>
        </p:txBody>
      </p:sp>
      <p:sp>
        <p:nvSpPr>
          <p:cNvPr id="52" name="title_place"/>
          <p:cNvSpPr txBox="1"/>
          <p:nvPr/>
        </p:nvSpPr>
        <p:spPr>
          <a:xfrm>
            <a:off x="502919" y="5893769"/>
            <a:ext cx="640080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F2A03D"/>
                </a:solidFill>
                <a:latin typeface="Arial"/>
                <a:ea typeface="Arial"/>
                <a:cs typeface="Arial"/>
                <a:sym typeface="Arial"/>
              </a:defRPr>
            </a:lvl1pPr>
          </a:lstStyle>
          <a:p>
            <a:pPr/>
            <a:r>
              <a:t>Unit 1  ·  The World of Science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49"/>
                                        </p:tgtEl>
                                        <p:attrNameLst>
                                          <p:attrName>style.visibility</p:attrName>
                                        </p:attrNameLst>
                                      </p:cBhvr>
                                      <p:to>
                                        <p:strVal val="visible"/>
                                      </p:to>
                                    </p:set>
                                    <p:animEffect filter="fade" transition="in">
                                      <p:cBhvr>
                                        <p:cTn id="7" dur="500"/>
                                        <p:tgtEl>
                                          <p:spTgt spid="49"/>
                                        </p:tgtEl>
                                      </p:cBhvr>
                                    </p:animEffect>
                                  </p:childTnLst>
                                </p:cTn>
                              </p:par>
                            </p:childTnLst>
                          </p:cTn>
                        </p:par>
                        <p:par>
                          <p:cTn id="8" fill="hold">
                            <p:stCondLst>
                              <p:cond delay="500"/>
                            </p:stCondLst>
                            <p:childTnLst>
                              <p:par>
                                <p:cTn id="9" presetClass="entr" nodeType="afterEffect" presetID="10" grpId="2" fill="hold">
                                  <p:stCondLst>
                                    <p:cond delay="150"/>
                                  </p:stCondLst>
                                  <p:iterate type="el" backwards="0">
                                    <p:tmAbs val="0"/>
                                  </p:iterate>
                                  <p:childTnLst>
                                    <p:set>
                                      <p:cBhvr>
                                        <p:cTn id="10" fill="hold"/>
                                        <p:tgtEl>
                                          <p:spTgt spid="50"/>
                                        </p:tgtEl>
                                        <p:attrNameLst>
                                          <p:attrName>style.visibility</p:attrName>
                                        </p:attrNameLst>
                                      </p:cBhvr>
                                      <p:to>
                                        <p:strVal val="visible"/>
                                      </p:to>
                                    </p:set>
                                    <p:animEffect filter="fade" transition="in">
                                      <p:cBhvr>
                                        <p:cTn id="11" dur="700"/>
                                        <p:tgtEl>
                                          <p:spTgt spid="50"/>
                                        </p:tgtEl>
                                      </p:cBhvr>
                                    </p:animEffect>
                                  </p:childTnLst>
                                </p:cTn>
                              </p:par>
                            </p:childTnLst>
                          </p:cTn>
                        </p:par>
                        <p:par>
                          <p:cTn id="12" fill="hold">
                            <p:stCondLst>
                              <p:cond delay="1350"/>
                            </p:stCondLst>
                            <p:childTnLst>
                              <p:par>
                                <p:cTn id="13" presetClass="entr" nodeType="afterEffect" presetSubtype="16" presetID="23" grpId="3" fill="hold">
                                  <p:stCondLst>
                                    <p:cond delay="150"/>
                                  </p:stCondLst>
                                  <p:iterate type="el" backwards="0">
                                    <p:tmAbs val="0"/>
                                  </p:iterate>
                                  <p:childTnLst>
                                    <p:set>
                                      <p:cBhvr>
                                        <p:cTn id="14" fill="hold"/>
                                        <p:tgtEl>
                                          <p:spTgt spid="35"/>
                                        </p:tgtEl>
                                        <p:attrNameLst>
                                          <p:attrName>style.visibility</p:attrName>
                                        </p:attrNameLst>
                                      </p:cBhvr>
                                      <p:to>
                                        <p:strVal val="visible"/>
                                      </p:to>
                                    </p:set>
                                    <p:anim calcmode="lin" valueType="num">
                                      <p:cBhvr>
                                        <p:cTn id="15" dur="500" fill="hold"/>
                                        <p:tgtEl>
                                          <p:spTgt spid="35"/>
                                        </p:tgtEl>
                                        <p:attrNameLst>
                                          <p:attrName>ppt_w</p:attrName>
                                        </p:attrNameLst>
                                      </p:cBhvr>
                                      <p:tavLst>
                                        <p:tav tm="0">
                                          <p:val>
                                            <p:fltVal val="0"/>
                                          </p:val>
                                        </p:tav>
                                        <p:tav tm="100000">
                                          <p:val>
                                            <p:strVal val="#ppt_w"/>
                                          </p:val>
                                        </p:tav>
                                      </p:tavLst>
                                    </p:anim>
                                    <p:anim calcmode="lin" valueType="num">
                                      <p:cBhvr>
                                        <p:cTn id="16" dur="500" fill="hold"/>
                                        <p:tgtEl>
                                          <p:spTgt spid="35"/>
                                        </p:tgtEl>
                                        <p:attrNameLst>
                                          <p:attrName>ppt_h</p:attrName>
                                        </p:attrNameLst>
                                      </p:cBhvr>
                                      <p:tavLst>
                                        <p:tav tm="0">
                                          <p:val>
                                            <p:fltVal val="0"/>
                                          </p:val>
                                        </p:tav>
                                        <p:tav tm="100000">
                                          <p:val>
                                            <p:strVal val="#ppt_h"/>
                                          </p:val>
                                        </p:tav>
                                      </p:tavLst>
                                    </p:anim>
                                  </p:childTnLst>
                                </p:cTn>
                              </p:par>
                            </p:childTnLst>
                          </p:cTn>
                        </p:par>
                        <p:par>
                          <p:cTn id="17" fill="hold">
                            <p:stCondLst>
                              <p:cond delay="2000"/>
                            </p:stCondLst>
                            <p:childTnLst>
                              <p:par>
                                <p:cTn id="18" presetClass="entr" nodeType="afterEffect" presetSubtype="16" presetID="23" grpId="4" fill="hold">
                                  <p:stCondLst>
                                    <p:cond delay="150"/>
                                  </p:stCondLst>
                                  <p:iterate type="el" backwards="0">
                                    <p:tmAbs val="0"/>
                                  </p:iterate>
                                  <p:childTnLst>
                                    <p:set>
                                      <p:cBhvr>
                                        <p:cTn id="19" fill="hold"/>
                                        <p:tgtEl>
                                          <p:spTgt spid="36"/>
                                        </p:tgtEl>
                                        <p:attrNameLst>
                                          <p:attrName>style.visibility</p:attrName>
                                        </p:attrNameLst>
                                      </p:cBhvr>
                                      <p:to>
                                        <p:strVal val="visible"/>
                                      </p:to>
                                    </p:set>
                                    <p:anim calcmode="lin" valueType="num">
                                      <p:cBhvr>
                                        <p:cTn id="20" dur="500" fill="hold"/>
                                        <p:tgtEl>
                                          <p:spTgt spid="36"/>
                                        </p:tgtEl>
                                        <p:attrNameLst>
                                          <p:attrName>ppt_w</p:attrName>
                                        </p:attrNameLst>
                                      </p:cBhvr>
                                      <p:tavLst>
                                        <p:tav tm="0">
                                          <p:val>
                                            <p:fltVal val="0"/>
                                          </p:val>
                                        </p:tav>
                                        <p:tav tm="100000">
                                          <p:val>
                                            <p:strVal val="#ppt_w"/>
                                          </p:val>
                                        </p:tav>
                                      </p:tavLst>
                                    </p:anim>
                                    <p:anim calcmode="lin" valueType="num">
                                      <p:cBhvr>
                                        <p:cTn id="21" dur="500" fill="hold"/>
                                        <p:tgtEl>
                                          <p:spTgt spid="36"/>
                                        </p:tgtEl>
                                        <p:attrNameLst>
                                          <p:attrName>ppt_h</p:attrName>
                                        </p:attrNameLst>
                                      </p:cBhvr>
                                      <p:tavLst>
                                        <p:tav tm="0">
                                          <p:val>
                                            <p:fltVal val="0"/>
                                          </p:val>
                                        </p:tav>
                                        <p:tav tm="100000">
                                          <p:val>
                                            <p:strVal val="#ppt_h"/>
                                          </p:val>
                                        </p:tav>
                                      </p:tavLst>
                                    </p:anim>
                                  </p:childTnLst>
                                </p:cTn>
                              </p:par>
                            </p:childTnLst>
                          </p:cTn>
                        </p:par>
                        <p:par>
                          <p:cTn id="22" fill="hold">
                            <p:stCondLst>
                              <p:cond delay="2650"/>
                            </p:stCondLst>
                            <p:childTnLst>
                              <p:par>
                                <p:cTn id="23" presetClass="entr" nodeType="afterEffect" presetSubtype="16" presetID="23" grpId="5" fill="hold">
                                  <p:stCondLst>
                                    <p:cond delay="150"/>
                                  </p:stCondLst>
                                  <p:iterate type="el" backwards="0">
                                    <p:tmAbs val="0"/>
                                  </p:iterate>
                                  <p:childTnLst>
                                    <p:set>
                                      <p:cBhvr>
                                        <p:cTn id="24" fill="hold"/>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childTnLst>
                                </p:cTn>
                              </p:par>
                            </p:childTnLst>
                          </p:cTn>
                        </p:par>
                        <p:par>
                          <p:cTn id="27" fill="hold">
                            <p:stCondLst>
                              <p:cond delay="3300"/>
                            </p:stCondLst>
                            <p:childTnLst>
                              <p:par>
                                <p:cTn id="28" presetClass="entr" nodeType="afterEffect" presetSubtype="16" presetID="23" grpId="6" fill="hold">
                                  <p:stCondLst>
                                    <p:cond delay="150"/>
                                  </p:stCondLst>
                                  <p:iterate type="el" backwards="0">
                                    <p:tmAbs val="0"/>
                                  </p:iterate>
                                  <p:childTnLst>
                                    <p:set>
                                      <p:cBhvr>
                                        <p:cTn id="29" fill="hold"/>
                                        <p:tgtEl>
                                          <p:spTgt spid="38"/>
                                        </p:tgtEl>
                                        <p:attrNameLst>
                                          <p:attrName>style.visibility</p:attrName>
                                        </p:attrNameLst>
                                      </p:cBhvr>
                                      <p:to>
                                        <p:strVal val="visible"/>
                                      </p:to>
                                    </p:set>
                                    <p:anim calcmode="lin" valueType="num">
                                      <p:cBhvr>
                                        <p:cTn id="30" dur="500" fill="hold"/>
                                        <p:tgtEl>
                                          <p:spTgt spid="38"/>
                                        </p:tgtEl>
                                        <p:attrNameLst>
                                          <p:attrName>ppt_w</p:attrName>
                                        </p:attrNameLst>
                                      </p:cBhvr>
                                      <p:tavLst>
                                        <p:tav tm="0">
                                          <p:val>
                                            <p:fltVal val="0"/>
                                          </p:val>
                                        </p:tav>
                                        <p:tav tm="100000">
                                          <p:val>
                                            <p:strVal val="#ppt_w"/>
                                          </p:val>
                                        </p:tav>
                                      </p:tavLst>
                                    </p:anim>
                                    <p:anim calcmode="lin" valueType="num">
                                      <p:cBhvr>
                                        <p:cTn id="31" dur="500" fill="hold"/>
                                        <p:tgtEl>
                                          <p:spTgt spid="38"/>
                                        </p:tgtEl>
                                        <p:attrNameLst>
                                          <p:attrName>ppt_h</p:attrName>
                                        </p:attrNameLst>
                                      </p:cBhvr>
                                      <p:tavLst>
                                        <p:tav tm="0">
                                          <p:val>
                                            <p:fltVal val="0"/>
                                          </p:val>
                                        </p:tav>
                                        <p:tav tm="100000">
                                          <p:val>
                                            <p:strVal val="#ppt_h"/>
                                          </p:val>
                                        </p:tav>
                                      </p:tavLst>
                                    </p:anim>
                                  </p:childTnLst>
                                </p:cTn>
                              </p:par>
                            </p:childTnLst>
                          </p:cTn>
                        </p:par>
                        <p:par>
                          <p:cTn id="32" fill="hold">
                            <p:stCondLst>
                              <p:cond delay="3950"/>
                            </p:stCondLst>
                            <p:childTnLst>
                              <p:par>
                                <p:cTn id="33" presetClass="entr" nodeType="afterEffect" presetSubtype="16" presetID="23" grpId="7" fill="hold">
                                  <p:stCondLst>
                                    <p:cond delay="150"/>
                                  </p:stCondLst>
                                  <p:iterate type="el" backwards="0">
                                    <p:tmAbs val="0"/>
                                  </p:iterate>
                                  <p:childTnLst>
                                    <p:set>
                                      <p:cBhvr>
                                        <p:cTn id="34" fill="hold"/>
                                        <p:tgtEl>
                                          <p:spTgt spid="39"/>
                                        </p:tgtEl>
                                        <p:attrNameLst>
                                          <p:attrName>style.visibility</p:attrName>
                                        </p:attrNameLst>
                                      </p:cBhvr>
                                      <p:to>
                                        <p:strVal val="visible"/>
                                      </p:to>
                                    </p:set>
                                    <p:anim calcmode="lin" valueType="num">
                                      <p:cBhvr>
                                        <p:cTn id="35" dur="500" fill="hold"/>
                                        <p:tgtEl>
                                          <p:spTgt spid="39"/>
                                        </p:tgtEl>
                                        <p:attrNameLst>
                                          <p:attrName>ppt_w</p:attrName>
                                        </p:attrNameLst>
                                      </p:cBhvr>
                                      <p:tavLst>
                                        <p:tav tm="0">
                                          <p:val>
                                            <p:fltVal val="0"/>
                                          </p:val>
                                        </p:tav>
                                        <p:tav tm="100000">
                                          <p:val>
                                            <p:strVal val="#ppt_w"/>
                                          </p:val>
                                        </p:tav>
                                      </p:tavLst>
                                    </p:anim>
                                    <p:anim calcmode="lin" valueType="num">
                                      <p:cBhvr>
                                        <p:cTn id="36" dur="500" fill="hold"/>
                                        <p:tgtEl>
                                          <p:spTgt spid="39"/>
                                        </p:tgtEl>
                                        <p:attrNameLst>
                                          <p:attrName>ppt_h</p:attrName>
                                        </p:attrNameLst>
                                      </p:cBhvr>
                                      <p:tavLst>
                                        <p:tav tm="0">
                                          <p:val>
                                            <p:fltVal val="0"/>
                                          </p:val>
                                        </p:tav>
                                        <p:tav tm="100000">
                                          <p:val>
                                            <p:strVal val="#ppt_h"/>
                                          </p:val>
                                        </p:tav>
                                      </p:tavLst>
                                    </p:anim>
                                  </p:childTnLst>
                                </p:cTn>
                              </p:par>
                            </p:childTnLst>
                          </p:cTn>
                        </p:par>
                        <p:par>
                          <p:cTn id="37" fill="hold">
                            <p:stCondLst>
                              <p:cond delay="4600"/>
                            </p:stCondLst>
                            <p:childTnLst>
                              <p:par>
                                <p:cTn id="38" presetClass="entr" nodeType="afterEffect" presetSubtype="16" presetID="23" grpId="8" fill="hold">
                                  <p:stCondLst>
                                    <p:cond delay="150"/>
                                  </p:stCondLst>
                                  <p:iterate type="el" backwards="0">
                                    <p:tmAbs val="0"/>
                                  </p:iterate>
                                  <p:childTnLst>
                                    <p:set>
                                      <p:cBhvr>
                                        <p:cTn id="39" fill="hold"/>
                                        <p:tgtEl>
                                          <p:spTgt spid="40"/>
                                        </p:tgtEl>
                                        <p:attrNameLst>
                                          <p:attrName>style.visibility</p:attrName>
                                        </p:attrNameLst>
                                      </p:cBhvr>
                                      <p:to>
                                        <p:strVal val="visible"/>
                                      </p:to>
                                    </p:set>
                                    <p:anim calcmode="lin" valueType="num">
                                      <p:cBhvr>
                                        <p:cTn id="40" dur="500" fill="hold"/>
                                        <p:tgtEl>
                                          <p:spTgt spid="40"/>
                                        </p:tgtEl>
                                        <p:attrNameLst>
                                          <p:attrName>ppt_w</p:attrName>
                                        </p:attrNameLst>
                                      </p:cBhvr>
                                      <p:tavLst>
                                        <p:tav tm="0">
                                          <p:val>
                                            <p:fltVal val="0"/>
                                          </p:val>
                                        </p:tav>
                                        <p:tav tm="100000">
                                          <p:val>
                                            <p:strVal val="#ppt_w"/>
                                          </p:val>
                                        </p:tav>
                                      </p:tavLst>
                                    </p:anim>
                                    <p:anim calcmode="lin" valueType="num">
                                      <p:cBhvr>
                                        <p:cTn id="41" dur="500" fill="hold"/>
                                        <p:tgtEl>
                                          <p:spTgt spid="40"/>
                                        </p:tgtEl>
                                        <p:attrNameLst>
                                          <p:attrName>ppt_h</p:attrName>
                                        </p:attrNameLst>
                                      </p:cBhvr>
                                      <p:tavLst>
                                        <p:tav tm="0">
                                          <p:val>
                                            <p:fltVal val="0"/>
                                          </p:val>
                                        </p:tav>
                                        <p:tav tm="100000">
                                          <p:val>
                                            <p:strVal val="#ppt_h"/>
                                          </p:val>
                                        </p:tav>
                                      </p:tavLst>
                                    </p:anim>
                                  </p:childTnLst>
                                </p:cTn>
                              </p:par>
                            </p:childTnLst>
                          </p:cTn>
                        </p:par>
                        <p:par>
                          <p:cTn id="42" fill="hold">
                            <p:stCondLst>
                              <p:cond delay="5250"/>
                            </p:stCondLst>
                            <p:childTnLst>
                              <p:par>
                                <p:cTn id="43" presetClass="entr" nodeType="afterEffect" presetSubtype="16" presetID="23" grpId="9" fill="hold">
                                  <p:stCondLst>
                                    <p:cond delay="150"/>
                                  </p:stCondLst>
                                  <p:iterate type="el" backwards="0">
                                    <p:tmAbs val="0"/>
                                  </p:iterate>
                                  <p:childTnLst>
                                    <p:set>
                                      <p:cBhvr>
                                        <p:cTn id="44" fill="hold"/>
                                        <p:tgtEl>
                                          <p:spTgt spid="41"/>
                                        </p:tgtEl>
                                        <p:attrNameLst>
                                          <p:attrName>style.visibility</p:attrName>
                                        </p:attrNameLst>
                                      </p:cBhvr>
                                      <p:to>
                                        <p:strVal val="visible"/>
                                      </p:to>
                                    </p:set>
                                    <p:anim calcmode="lin" valueType="num">
                                      <p:cBhvr>
                                        <p:cTn id="45" dur="500" fill="hold"/>
                                        <p:tgtEl>
                                          <p:spTgt spid="41"/>
                                        </p:tgtEl>
                                        <p:attrNameLst>
                                          <p:attrName>ppt_w</p:attrName>
                                        </p:attrNameLst>
                                      </p:cBhvr>
                                      <p:tavLst>
                                        <p:tav tm="0">
                                          <p:val>
                                            <p:fltVal val="0"/>
                                          </p:val>
                                        </p:tav>
                                        <p:tav tm="100000">
                                          <p:val>
                                            <p:strVal val="#ppt_w"/>
                                          </p:val>
                                        </p:tav>
                                      </p:tavLst>
                                    </p:anim>
                                    <p:anim calcmode="lin" valueType="num">
                                      <p:cBhvr>
                                        <p:cTn id="46" dur="500" fill="hold"/>
                                        <p:tgtEl>
                                          <p:spTgt spid="41"/>
                                        </p:tgtEl>
                                        <p:attrNameLst>
                                          <p:attrName>ppt_h</p:attrName>
                                        </p:attrNameLst>
                                      </p:cBhvr>
                                      <p:tavLst>
                                        <p:tav tm="0">
                                          <p:val>
                                            <p:fltVal val="0"/>
                                          </p:val>
                                        </p:tav>
                                        <p:tav tm="100000">
                                          <p:val>
                                            <p:strVal val="#ppt_h"/>
                                          </p:val>
                                        </p:tav>
                                      </p:tavLst>
                                    </p:anim>
                                  </p:childTnLst>
                                </p:cTn>
                              </p:par>
                            </p:childTnLst>
                          </p:cTn>
                        </p:par>
                        <p:par>
                          <p:cTn id="47" fill="hold">
                            <p:stCondLst>
                              <p:cond delay="5900"/>
                            </p:stCondLst>
                            <p:childTnLst>
                              <p:par>
                                <p:cTn id="48" presetClass="entr" nodeType="afterEffect" presetSubtype="16" presetID="23" grpId="10" fill="hold">
                                  <p:stCondLst>
                                    <p:cond delay="170"/>
                                  </p:stCondLst>
                                  <p:iterate type="el" backwards="0">
                                    <p:tmAbs val="0"/>
                                  </p:iterate>
                                  <p:childTnLst>
                                    <p:set>
                                      <p:cBhvr>
                                        <p:cTn id="49" fill="hold"/>
                                        <p:tgtEl>
                                          <p:spTgt spid="42"/>
                                        </p:tgtEl>
                                        <p:attrNameLst>
                                          <p:attrName>style.visibility</p:attrName>
                                        </p:attrNameLst>
                                      </p:cBhvr>
                                      <p:to>
                                        <p:strVal val="visible"/>
                                      </p:to>
                                    </p:set>
                                    <p:anim calcmode="lin" valueType="num">
                                      <p:cBhvr>
                                        <p:cTn id="50" dur="500" fill="hold"/>
                                        <p:tgtEl>
                                          <p:spTgt spid="42"/>
                                        </p:tgtEl>
                                        <p:attrNameLst>
                                          <p:attrName>ppt_w</p:attrName>
                                        </p:attrNameLst>
                                      </p:cBhvr>
                                      <p:tavLst>
                                        <p:tav tm="0">
                                          <p:val>
                                            <p:fltVal val="0"/>
                                          </p:val>
                                        </p:tav>
                                        <p:tav tm="100000">
                                          <p:val>
                                            <p:strVal val="#ppt_w"/>
                                          </p:val>
                                        </p:tav>
                                      </p:tavLst>
                                    </p:anim>
                                    <p:anim calcmode="lin" valueType="num">
                                      <p:cBhvr>
                                        <p:cTn id="51" dur="500" fill="hold"/>
                                        <p:tgtEl>
                                          <p:spTgt spid="42"/>
                                        </p:tgtEl>
                                        <p:attrNameLst>
                                          <p:attrName>ppt_h</p:attrName>
                                        </p:attrNameLst>
                                      </p:cBhvr>
                                      <p:tavLst>
                                        <p:tav tm="0">
                                          <p:val>
                                            <p:fltVal val="0"/>
                                          </p:val>
                                        </p:tav>
                                        <p:tav tm="100000">
                                          <p:val>
                                            <p:strVal val="#ppt_h"/>
                                          </p:val>
                                        </p:tav>
                                      </p:tavLst>
                                    </p:anim>
                                  </p:childTnLst>
                                </p:cTn>
                              </p:par>
                            </p:childTnLst>
                          </p:cTn>
                        </p:par>
                        <p:par>
                          <p:cTn id="52" fill="hold">
                            <p:stCondLst>
                              <p:cond delay="6570"/>
                            </p:stCondLst>
                            <p:childTnLst>
                              <p:par>
                                <p:cTn id="53" presetClass="entr" nodeType="afterEffect" presetSubtype="16" presetID="23" grpId="11" fill="hold">
                                  <p:stCondLst>
                                    <p:cond delay="150"/>
                                  </p:stCondLst>
                                  <p:iterate type="el" backwards="0">
                                    <p:tmAbs val="0"/>
                                  </p:iterate>
                                  <p:childTnLst>
                                    <p:set>
                                      <p:cBhvr>
                                        <p:cTn id="54" fill="hold"/>
                                        <p:tgtEl>
                                          <p:spTgt spid="43"/>
                                        </p:tgtEl>
                                        <p:attrNameLst>
                                          <p:attrName>style.visibility</p:attrName>
                                        </p:attrNameLst>
                                      </p:cBhvr>
                                      <p:to>
                                        <p:strVal val="visible"/>
                                      </p:to>
                                    </p:set>
                                    <p:anim calcmode="lin" valueType="num">
                                      <p:cBhvr>
                                        <p:cTn id="55" dur="500" fill="hold"/>
                                        <p:tgtEl>
                                          <p:spTgt spid="43"/>
                                        </p:tgtEl>
                                        <p:attrNameLst>
                                          <p:attrName>ppt_w</p:attrName>
                                        </p:attrNameLst>
                                      </p:cBhvr>
                                      <p:tavLst>
                                        <p:tav tm="0">
                                          <p:val>
                                            <p:fltVal val="0"/>
                                          </p:val>
                                        </p:tav>
                                        <p:tav tm="100000">
                                          <p:val>
                                            <p:strVal val="#ppt_w"/>
                                          </p:val>
                                        </p:tav>
                                      </p:tavLst>
                                    </p:anim>
                                    <p:anim calcmode="lin" valueType="num">
                                      <p:cBhvr>
                                        <p:cTn id="56" dur="500" fill="hold"/>
                                        <p:tgtEl>
                                          <p:spTgt spid="43"/>
                                        </p:tgtEl>
                                        <p:attrNameLst>
                                          <p:attrName>ppt_h</p:attrName>
                                        </p:attrNameLst>
                                      </p:cBhvr>
                                      <p:tavLst>
                                        <p:tav tm="0">
                                          <p:val>
                                            <p:fltVal val="0"/>
                                          </p:val>
                                        </p:tav>
                                        <p:tav tm="100000">
                                          <p:val>
                                            <p:strVal val="#ppt_h"/>
                                          </p:val>
                                        </p:tav>
                                      </p:tavLst>
                                    </p:anim>
                                  </p:childTnLst>
                                </p:cTn>
                              </p:par>
                            </p:childTnLst>
                          </p:cTn>
                        </p:par>
                        <p:par>
                          <p:cTn id="57" fill="hold">
                            <p:stCondLst>
                              <p:cond delay="7220"/>
                            </p:stCondLst>
                            <p:childTnLst>
                              <p:par>
                                <p:cTn id="58" presetClass="entr" nodeType="afterEffect" presetSubtype="16" presetID="23" grpId="12" fill="hold">
                                  <p:stCondLst>
                                    <p:cond delay="150"/>
                                  </p:stCondLst>
                                  <p:iterate type="el" backwards="0">
                                    <p:tmAbs val="0"/>
                                  </p:iterate>
                                  <p:childTnLst>
                                    <p:set>
                                      <p:cBhvr>
                                        <p:cTn id="59" fill="hold"/>
                                        <p:tgtEl>
                                          <p:spTgt spid="44"/>
                                        </p:tgtEl>
                                        <p:attrNameLst>
                                          <p:attrName>style.visibility</p:attrName>
                                        </p:attrNameLst>
                                      </p:cBhvr>
                                      <p:to>
                                        <p:strVal val="visible"/>
                                      </p:to>
                                    </p:set>
                                    <p:anim calcmode="lin" valueType="num">
                                      <p:cBhvr>
                                        <p:cTn id="60" dur="500" fill="hold"/>
                                        <p:tgtEl>
                                          <p:spTgt spid="44"/>
                                        </p:tgtEl>
                                        <p:attrNameLst>
                                          <p:attrName>ppt_w</p:attrName>
                                        </p:attrNameLst>
                                      </p:cBhvr>
                                      <p:tavLst>
                                        <p:tav tm="0">
                                          <p:val>
                                            <p:fltVal val="0"/>
                                          </p:val>
                                        </p:tav>
                                        <p:tav tm="100000">
                                          <p:val>
                                            <p:strVal val="#ppt_w"/>
                                          </p:val>
                                        </p:tav>
                                      </p:tavLst>
                                    </p:anim>
                                    <p:anim calcmode="lin" valueType="num">
                                      <p:cBhvr>
                                        <p:cTn id="61" dur="500" fill="hold"/>
                                        <p:tgtEl>
                                          <p:spTgt spid="44"/>
                                        </p:tgtEl>
                                        <p:attrNameLst>
                                          <p:attrName>ppt_h</p:attrName>
                                        </p:attrNameLst>
                                      </p:cBhvr>
                                      <p:tavLst>
                                        <p:tav tm="0">
                                          <p:val>
                                            <p:fltVal val="0"/>
                                          </p:val>
                                        </p:tav>
                                        <p:tav tm="100000">
                                          <p:val>
                                            <p:strVal val="#ppt_h"/>
                                          </p:val>
                                        </p:tav>
                                      </p:tavLst>
                                    </p:anim>
                                  </p:childTnLst>
                                </p:cTn>
                              </p:par>
                            </p:childTnLst>
                          </p:cTn>
                        </p:par>
                        <p:par>
                          <p:cTn id="62" fill="hold">
                            <p:stCondLst>
                              <p:cond delay="7870"/>
                            </p:stCondLst>
                            <p:childTnLst>
                              <p:par>
                                <p:cTn id="63" presetClass="entr" nodeType="afterEffect" presetSubtype="16" presetID="23" grpId="13" fill="hold">
                                  <p:stCondLst>
                                    <p:cond delay="150"/>
                                  </p:stCondLst>
                                  <p:iterate type="el" backwards="0">
                                    <p:tmAbs val="0"/>
                                  </p:iterate>
                                  <p:childTnLst>
                                    <p:set>
                                      <p:cBhvr>
                                        <p:cTn id="64" fill="hold"/>
                                        <p:tgtEl>
                                          <p:spTgt spid="45"/>
                                        </p:tgtEl>
                                        <p:attrNameLst>
                                          <p:attrName>style.visibility</p:attrName>
                                        </p:attrNameLst>
                                      </p:cBhvr>
                                      <p:to>
                                        <p:strVal val="visible"/>
                                      </p:to>
                                    </p:set>
                                    <p:anim calcmode="lin" valueType="num">
                                      <p:cBhvr>
                                        <p:cTn id="65" dur="500" fill="hold"/>
                                        <p:tgtEl>
                                          <p:spTgt spid="45"/>
                                        </p:tgtEl>
                                        <p:attrNameLst>
                                          <p:attrName>ppt_w</p:attrName>
                                        </p:attrNameLst>
                                      </p:cBhvr>
                                      <p:tavLst>
                                        <p:tav tm="0">
                                          <p:val>
                                            <p:fltVal val="0"/>
                                          </p:val>
                                        </p:tav>
                                        <p:tav tm="100000">
                                          <p:val>
                                            <p:strVal val="#ppt_w"/>
                                          </p:val>
                                        </p:tav>
                                      </p:tavLst>
                                    </p:anim>
                                    <p:anim calcmode="lin" valueType="num">
                                      <p:cBhvr>
                                        <p:cTn id="66" dur="500" fill="hold"/>
                                        <p:tgtEl>
                                          <p:spTgt spid="45"/>
                                        </p:tgtEl>
                                        <p:attrNameLst>
                                          <p:attrName>ppt_h</p:attrName>
                                        </p:attrNameLst>
                                      </p:cBhvr>
                                      <p:tavLst>
                                        <p:tav tm="0">
                                          <p:val>
                                            <p:fltVal val="0"/>
                                          </p:val>
                                        </p:tav>
                                        <p:tav tm="100000">
                                          <p:val>
                                            <p:strVal val="#ppt_h"/>
                                          </p:val>
                                        </p:tav>
                                      </p:tavLst>
                                    </p:anim>
                                  </p:childTnLst>
                                </p:cTn>
                              </p:par>
                            </p:childTnLst>
                          </p:cTn>
                        </p:par>
                        <p:par>
                          <p:cTn id="67" fill="hold">
                            <p:stCondLst>
                              <p:cond delay="8520"/>
                            </p:stCondLst>
                            <p:childTnLst>
                              <p:par>
                                <p:cTn id="68" presetClass="entr" nodeType="afterEffect" presetSubtype="16" presetID="23" grpId="14" fill="hold">
                                  <p:stCondLst>
                                    <p:cond delay="150"/>
                                  </p:stCondLst>
                                  <p:iterate type="el" backwards="0">
                                    <p:tmAbs val="0"/>
                                  </p:iterate>
                                  <p:childTnLst>
                                    <p:set>
                                      <p:cBhvr>
                                        <p:cTn id="69" fill="hold"/>
                                        <p:tgtEl>
                                          <p:spTgt spid="46"/>
                                        </p:tgtEl>
                                        <p:attrNameLst>
                                          <p:attrName>style.visibility</p:attrName>
                                        </p:attrNameLst>
                                      </p:cBhvr>
                                      <p:to>
                                        <p:strVal val="visible"/>
                                      </p:to>
                                    </p:set>
                                    <p:anim calcmode="lin" valueType="num">
                                      <p:cBhvr>
                                        <p:cTn id="70" dur="500" fill="hold"/>
                                        <p:tgtEl>
                                          <p:spTgt spid="46"/>
                                        </p:tgtEl>
                                        <p:attrNameLst>
                                          <p:attrName>ppt_w</p:attrName>
                                        </p:attrNameLst>
                                      </p:cBhvr>
                                      <p:tavLst>
                                        <p:tav tm="0">
                                          <p:val>
                                            <p:fltVal val="0"/>
                                          </p:val>
                                        </p:tav>
                                        <p:tav tm="100000">
                                          <p:val>
                                            <p:strVal val="#ppt_w"/>
                                          </p:val>
                                        </p:tav>
                                      </p:tavLst>
                                    </p:anim>
                                    <p:anim calcmode="lin" valueType="num">
                                      <p:cBhvr>
                                        <p:cTn id="71" dur="500" fill="hold"/>
                                        <p:tgtEl>
                                          <p:spTgt spid="46"/>
                                        </p:tgtEl>
                                        <p:attrNameLst>
                                          <p:attrName>ppt_h</p:attrName>
                                        </p:attrNameLst>
                                      </p:cBhvr>
                                      <p:tavLst>
                                        <p:tav tm="0">
                                          <p:val>
                                            <p:fltVal val="0"/>
                                          </p:val>
                                        </p:tav>
                                        <p:tav tm="100000">
                                          <p:val>
                                            <p:strVal val="#ppt_h"/>
                                          </p:val>
                                        </p:tav>
                                      </p:tavLst>
                                    </p:anim>
                                  </p:childTnLst>
                                </p:cTn>
                              </p:par>
                            </p:childTnLst>
                          </p:cTn>
                        </p:par>
                        <p:par>
                          <p:cTn id="72" fill="hold">
                            <p:stCondLst>
                              <p:cond delay="9170"/>
                            </p:stCondLst>
                            <p:childTnLst>
                              <p:par>
                                <p:cTn id="73" presetClass="entr" nodeType="afterEffect" presetSubtype="8" presetID="22" grpId="15" fill="hold">
                                  <p:stCondLst>
                                    <p:cond delay="150"/>
                                  </p:stCondLst>
                                  <p:iterate type="el" backwards="0">
                                    <p:tmAbs val="0"/>
                                  </p:iterate>
                                  <p:childTnLst>
                                    <p:set>
                                      <p:cBhvr>
                                        <p:cTn id="74" fill="hold"/>
                                        <p:tgtEl>
                                          <p:spTgt spid="47"/>
                                        </p:tgtEl>
                                        <p:attrNameLst>
                                          <p:attrName>style.visibility</p:attrName>
                                        </p:attrNameLst>
                                      </p:cBhvr>
                                      <p:to>
                                        <p:strVal val="visible"/>
                                      </p:to>
                                    </p:set>
                                    <p:animEffect filter="wipe(left)" transition="in">
                                      <p:cBhvr>
                                        <p:cTn id="75" dur="500"/>
                                        <p:tgtEl>
                                          <p:spTgt spid="47"/>
                                        </p:tgtEl>
                                      </p:cBhvr>
                                    </p:animEffect>
                                  </p:childTnLst>
                                </p:cTn>
                              </p:par>
                            </p:childTnLst>
                          </p:cTn>
                        </p:par>
                        <p:par>
                          <p:cTn id="76" fill="hold">
                            <p:stCondLst>
                              <p:cond delay="9820"/>
                            </p:stCondLst>
                            <p:childTnLst>
                              <p:par>
                                <p:cTn id="77" presetClass="entr" nodeType="afterEffect" presetID="10" grpId="16" fill="hold">
                                  <p:stCondLst>
                                    <p:cond delay="250"/>
                                  </p:stCondLst>
                                  <p:iterate type="el" backwards="0">
                                    <p:tmAbs val="0"/>
                                  </p:iterate>
                                  <p:childTnLst>
                                    <p:set>
                                      <p:cBhvr>
                                        <p:cTn id="78" fill="hold"/>
                                        <p:tgtEl>
                                          <p:spTgt spid="48"/>
                                        </p:tgtEl>
                                        <p:attrNameLst>
                                          <p:attrName>style.visibility</p:attrName>
                                        </p:attrNameLst>
                                      </p:cBhvr>
                                      <p:to>
                                        <p:strVal val="visible"/>
                                      </p:to>
                                    </p:set>
                                    <p:animEffect filter="fade" transition="in">
                                      <p:cBhvr>
                                        <p:cTn id="79" dur="500"/>
                                        <p:tgtEl>
                                          <p:spTgt spid="48"/>
                                        </p:tgtEl>
                                      </p:cBhvr>
                                    </p:animEffect>
                                  </p:childTnLst>
                                </p:cTn>
                              </p:par>
                            </p:childTnLst>
                          </p:cTn>
                        </p:par>
                        <p:par>
                          <p:cTn id="80" fill="hold">
                            <p:stCondLst>
                              <p:cond delay="10570"/>
                            </p:stCondLst>
                            <p:childTnLst>
                              <p:par>
                                <p:cTn id="81" presetClass="entr" nodeType="afterEffect" presetID="10" grpId="17" fill="hold">
                                  <p:stCondLst>
                                    <p:cond delay="250"/>
                                  </p:stCondLst>
                                  <p:iterate type="el" backwards="0">
                                    <p:tmAbs val="0"/>
                                  </p:iterate>
                                  <p:childTnLst>
                                    <p:set>
                                      <p:cBhvr>
                                        <p:cTn id="82" fill="hold"/>
                                        <p:tgtEl>
                                          <p:spTgt spid="51"/>
                                        </p:tgtEl>
                                        <p:attrNameLst>
                                          <p:attrName>style.visibility</p:attrName>
                                        </p:attrNameLst>
                                      </p:cBhvr>
                                      <p:to>
                                        <p:strVal val="visible"/>
                                      </p:to>
                                    </p:set>
                                    <p:animEffect filter="fade" transition="in">
                                      <p:cBhvr>
                                        <p:cTn id="83" dur="500"/>
                                        <p:tgtEl>
                                          <p:spTgt spid="51"/>
                                        </p:tgtEl>
                                      </p:cBhvr>
                                    </p:animEffect>
                                  </p:childTnLst>
                                </p:cTn>
                              </p:par>
                            </p:childTnLst>
                          </p:cTn>
                        </p:par>
                        <p:par>
                          <p:cTn id="84" fill="hold">
                            <p:stCondLst>
                              <p:cond delay="11320"/>
                            </p:stCondLst>
                            <p:childTnLst>
                              <p:par>
                                <p:cTn id="85" presetClass="entr" nodeType="afterEffect" presetID="10" grpId="18" fill="hold">
                                  <p:stCondLst>
                                    <p:cond delay="250"/>
                                  </p:stCondLst>
                                  <p:iterate type="el" backwards="0">
                                    <p:tmAbs val="0"/>
                                  </p:iterate>
                                  <p:childTnLst>
                                    <p:set>
                                      <p:cBhvr>
                                        <p:cTn id="86" fill="hold"/>
                                        <p:tgtEl>
                                          <p:spTgt spid="52"/>
                                        </p:tgtEl>
                                        <p:attrNameLst>
                                          <p:attrName>style.visibility</p:attrName>
                                        </p:attrNameLst>
                                      </p:cBhvr>
                                      <p:to>
                                        <p:strVal val="visible"/>
                                      </p:to>
                                    </p:set>
                                    <p:animEffect filter="fade" transition="in">
                                      <p:cBhvr>
                                        <p:cTn id="87" dur="50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 grpId="18"/>
      <p:bldP build="whole" bldLvl="1" animBg="1" rev="0" advAuto="0" spid="37" grpId="5"/>
      <p:bldP build="whole" bldLvl="1" animBg="1" rev="0" advAuto="0" spid="40" grpId="8"/>
      <p:bldP build="whole" bldLvl="1" animBg="1" rev="0" advAuto="0" spid="39" grpId="7"/>
      <p:bldP build="whole" bldLvl="1" animBg="1" rev="0" advAuto="0" spid="41" grpId="9"/>
      <p:bldP build="whole" bldLvl="1" animBg="1" rev="0" advAuto="0" spid="50" grpId="2"/>
      <p:bldP build="whole" bldLvl="1" animBg="1" rev="0" advAuto="0" spid="45" grpId="13"/>
      <p:bldP build="whole" bldLvl="1" animBg="1" rev="0" advAuto="0" spid="47" grpId="15"/>
      <p:bldP build="whole" bldLvl="1" animBg="1" rev="0" advAuto="0" spid="49" grpId="1"/>
      <p:bldP build="whole" bldLvl="1" animBg="1" rev="0" advAuto="0" spid="35" grpId="3"/>
      <p:bldP build="whole" bldLvl="1" animBg="1" rev="0" advAuto="0" spid="51" grpId="17"/>
      <p:bldP build="whole" bldLvl="1" animBg="1" rev="0" advAuto="0" spid="48" grpId="16"/>
      <p:bldP build="whole" bldLvl="1" animBg="1" rev="0" advAuto="0" spid="38" grpId="6"/>
      <p:bldP build="whole" bldLvl="1" animBg="1" rev="0" advAuto="0" spid="44" grpId="12"/>
      <p:bldP build="whole" bldLvl="1" animBg="1" rev="0" advAuto="0" spid="42" grpId="10"/>
      <p:bldP build="whole" bldLvl="1" animBg="1" rev="0" advAuto="0" spid="46" grpId="14"/>
      <p:bldP build="whole" bldLvl="1" animBg="1" rev="0" advAuto="0" spid="43" grpId="11"/>
      <p:bldP build="whole" bldLvl="1" animBg="1" rev="0" advAuto="0" spid="36"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58" name="phase_pill"/>
          <p:cNvGrpSpPr/>
          <p:nvPr/>
        </p:nvGrpSpPr>
        <p:grpSpPr>
          <a:xfrm>
            <a:off x="502919" y="274320"/>
            <a:ext cx="3017522" cy="347473"/>
            <a:chOff x="0" y="0"/>
            <a:chExt cx="3017520" cy="347472"/>
          </a:xfrm>
        </p:grpSpPr>
        <p:sp>
          <p:nvSpPr>
            <p:cNvPr id="56" name="Rounded Rectangle"/>
            <p:cNvSpPr/>
            <p:nvPr/>
          </p:nvSpPr>
          <p:spPr>
            <a:xfrm>
              <a:off x="0" y="0"/>
              <a:ext cx="3017521"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57" name="OBJECTIVES · 2 MIN"/>
            <p:cNvSpPr txBox="1"/>
            <p:nvPr/>
          </p:nvSpPr>
          <p:spPr>
            <a:xfrm>
              <a:off x="50886" y="99821"/>
              <a:ext cx="291574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OBJECTIVES · 2 MIN</a:t>
              </a:r>
            </a:p>
          </p:txBody>
        </p:sp>
      </p:grpSp>
      <p:sp>
        <p:nvSpPr>
          <p:cNvPr id="59"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Today’s goals</a:t>
            </a:r>
          </a:p>
        </p:txBody>
      </p:sp>
      <p:grpSp>
        <p:nvGrpSpPr>
          <p:cNvPr id="69" name="obj_block"/>
          <p:cNvGrpSpPr/>
          <p:nvPr/>
        </p:nvGrpSpPr>
        <p:grpSpPr>
          <a:xfrm>
            <a:off x="502919" y="1810511"/>
            <a:ext cx="5394962" cy="4114801"/>
            <a:chOff x="0" y="0"/>
            <a:chExt cx="5394960" cy="4114800"/>
          </a:xfrm>
        </p:grpSpPr>
        <p:sp>
          <p:nvSpPr>
            <p:cNvPr id="60" name="obj_card"/>
            <p:cNvSpPr/>
            <p:nvPr/>
          </p:nvSpPr>
          <p:spPr>
            <a:xfrm>
              <a:off x="-1" y="0"/>
              <a:ext cx="5394962" cy="4114800"/>
            </a:xfrm>
            <a:prstGeom prst="roundRect">
              <a:avLst>
                <a:gd name="adj" fmla="val 3111"/>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61" name="obj_head"/>
            <p:cNvSpPr txBox="1"/>
            <p:nvPr/>
          </p:nvSpPr>
          <p:spPr>
            <a:xfrm>
              <a:off x="237743" y="246125"/>
              <a:ext cx="4937761"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100">
                  <a:solidFill>
                    <a:srgbClr val="4A2C6F"/>
                  </a:solidFill>
                  <a:latin typeface="Arial"/>
                  <a:ea typeface="Arial"/>
                  <a:cs typeface="Arial"/>
                  <a:sym typeface="Arial"/>
                </a:defRPr>
              </a:lvl1pPr>
            </a:lstStyle>
            <a:p>
              <a:pPr/>
              <a:r>
                <a:t>LESSON OBJECTIVES</a:t>
              </a:r>
            </a:p>
          </p:txBody>
        </p:sp>
        <p:sp>
          <p:nvSpPr>
            <p:cNvPr id="62" name="obj_seq"/>
            <p:cNvSpPr txBox="1"/>
            <p:nvPr/>
          </p:nvSpPr>
          <p:spPr>
            <a:xfrm>
              <a:off x="237743" y="3754419"/>
              <a:ext cx="4937761"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000">
                  <a:solidFill>
                    <a:srgbClr val="6A6180"/>
                  </a:solidFill>
                  <a:latin typeface="Arial"/>
                  <a:ea typeface="Arial"/>
                  <a:cs typeface="Arial"/>
                  <a:sym typeface="Arial"/>
                </a:defRPr>
              </a:lvl1pPr>
            </a:lstStyle>
            <a:p>
              <a:pPr/>
              <a:r>
                <a:t>Next lesson: the difference between a scientific theory and a scientific law.</a:t>
              </a:r>
            </a:p>
          </p:txBody>
        </p:sp>
        <p:sp>
          <p:nvSpPr>
            <p:cNvPr id="63" name="obj0_n"/>
            <p:cNvSpPr txBox="1"/>
            <p:nvPr/>
          </p:nvSpPr>
          <p:spPr>
            <a:xfrm>
              <a:off x="237743" y="603503"/>
              <a:ext cx="329185"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b="1" sz="1500">
                  <a:solidFill>
                    <a:srgbClr val="F2A03D"/>
                  </a:solidFill>
                  <a:latin typeface="Arial"/>
                  <a:ea typeface="Arial"/>
                  <a:cs typeface="Arial"/>
                  <a:sym typeface="Arial"/>
                </a:defRPr>
              </a:lvl1pPr>
            </a:lstStyle>
            <a:p>
              <a:pPr/>
              <a:r>
                <a:t>1.</a:t>
              </a:r>
            </a:p>
          </p:txBody>
        </p:sp>
        <p:sp>
          <p:nvSpPr>
            <p:cNvPr id="64" name="obj0_t"/>
            <p:cNvSpPr txBox="1"/>
            <p:nvPr/>
          </p:nvSpPr>
          <p:spPr>
            <a:xfrm>
              <a:off x="603503" y="603503"/>
              <a:ext cx="4572001" cy="2280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300">
                  <a:solidFill>
                    <a:srgbClr val="241535"/>
                  </a:solidFill>
                  <a:latin typeface="Arial"/>
                  <a:ea typeface="Arial"/>
                  <a:cs typeface="Arial"/>
                  <a:sym typeface="Arial"/>
                </a:defRPr>
              </a:lvl1pPr>
            </a:lstStyle>
            <a:p>
              <a:pPr/>
              <a:r>
                <a:t>Say what science is, using the words evidence and logic.</a:t>
              </a:r>
            </a:p>
          </p:txBody>
        </p:sp>
        <p:sp>
          <p:nvSpPr>
            <p:cNvPr id="65" name="obj1_n"/>
            <p:cNvSpPr txBox="1"/>
            <p:nvPr/>
          </p:nvSpPr>
          <p:spPr>
            <a:xfrm>
              <a:off x="237743" y="1719072"/>
              <a:ext cx="3291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b="1" sz="1500">
                  <a:solidFill>
                    <a:srgbClr val="F2A03D"/>
                  </a:solidFill>
                  <a:latin typeface="Arial"/>
                  <a:ea typeface="Arial"/>
                  <a:cs typeface="Arial"/>
                  <a:sym typeface="Arial"/>
                </a:defRPr>
              </a:lvl1pPr>
            </a:lstStyle>
            <a:p>
              <a:pPr/>
              <a:r>
                <a:t>2.</a:t>
              </a:r>
            </a:p>
          </p:txBody>
        </p:sp>
        <p:sp>
          <p:nvSpPr>
            <p:cNvPr id="66" name="obj1_t"/>
            <p:cNvSpPr txBox="1"/>
            <p:nvPr/>
          </p:nvSpPr>
          <p:spPr>
            <a:xfrm>
              <a:off x="603503" y="1719071"/>
              <a:ext cx="4572001" cy="4693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300">
                  <a:solidFill>
                    <a:srgbClr val="241535"/>
                  </a:solidFill>
                  <a:latin typeface="Arial"/>
                  <a:ea typeface="Arial"/>
                  <a:cs typeface="Arial"/>
                  <a:sym typeface="Arial"/>
                </a:defRPr>
              </a:lvl1pPr>
            </a:lstStyle>
            <a:p>
              <a:pPr/>
              <a:r>
                <a:t>Decide whether a question is one that science can answer — and say why.</a:t>
              </a:r>
            </a:p>
          </p:txBody>
        </p:sp>
        <p:sp>
          <p:nvSpPr>
            <p:cNvPr id="67" name="obj2_n"/>
            <p:cNvSpPr txBox="1"/>
            <p:nvPr/>
          </p:nvSpPr>
          <p:spPr>
            <a:xfrm>
              <a:off x="237743" y="2834640"/>
              <a:ext cx="3291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b="1" sz="1500">
                  <a:solidFill>
                    <a:srgbClr val="F2A03D"/>
                  </a:solidFill>
                  <a:latin typeface="Arial"/>
                  <a:ea typeface="Arial"/>
                  <a:cs typeface="Arial"/>
                  <a:sym typeface="Arial"/>
                </a:defRPr>
              </a:lvl1pPr>
            </a:lstStyle>
            <a:p>
              <a:pPr/>
              <a:r>
                <a:t>3.</a:t>
              </a:r>
            </a:p>
          </p:txBody>
        </p:sp>
        <p:sp>
          <p:nvSpPr>
            <p:cNvPr id="68" name="obj2_t"/>
            <p:cNvSpPr txBox="1"/>
            <p:nvPr/>
          </p:nvSpPr>
          <p:spPr>
            <a:xfrm>
              <a:off x="603503" y="2834639"/>
              <a:ext cx="4572001" cy="4693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300">
                  <a:solidFill>
                    <a:srgbClr val="241535"/>
                  </a:solidFill>
                  <a:latin typeface="Arial"/>
                  <a:ea typeface="Arial"/>
                  <a:cs typeface="Arial"/>
                  <a:sym typeface="Arial"/>
                </a:defRPr>
              </a:lvl1pPr>
            </a:lstStyle>
            <a:p>
              <a:pPr/>
              <a:r>
                <a:t>Explain what induction is, and use it to draw a conclusion from a set of observations.</a:t>
              </a:r>
            </a:p>
          </p:txBody>
        </p:sp>
      </p:grpSp>
      <p:grpSp>
        <p:nvGrpSpPr>
          <p:cNvPr id="82" name="sc_block"/>
          <p:cNvGrpSpPr/>
          <p:nvPr/>
        </p:nvGrpSpPr>
        <p:grpSpPr>
          <a:xfrm>
            <a:off x="6263640" y="1810511"/>
            <a:ext cx="5425136" cy="4114801"/>
            <a:chOff x="0" y="0"/>
            <a:chExt cx="5425135" cy="4114800"/>
          </a:xfrm>
        </p:grpSpPr>
        <p:sp>
          <p:nvSpPr>
            <p:cNvPr id="70" name="sc_card"/>
            <p:cNvSpPr/>
            <p:nvPr/>
          </p:nvSpPr>
          <p:spPr>
            <a:xfrm>
              <a:off x="0" y="0"/>
              <a:ext cx="5425136" cy="4114800"/>
            </a:xfrm>
            <a:prstGeom prst="roundRect">
              <a:avLst>
                <a:gd name="adj" fmla="val 3111"/>
              </a:avLst>
            </a:prstGeom>
            <a:solidFill>
              <a:srgbClr val="E6F5F4"/>
            </a:solidFill>
            <a:ln w="15875" cap="flat">
              <a:solidFill>
                <a:srgbClr val="2BA6A0"/>
              </a:solidFill>
              <a:prstDash val="solid"/>
              <a:round/>
            </a:ln>
            <a:effectLst/>
          </p:spPr>
          <p:txBody>
            <a:bodyPr wrap="square" lIns="45719" tIns="45719" rIns="45719" bIns="45719" numCol="1" anchor="t">
              <a:noAutofit/>
            </a:bodyPr>
            <a:lstStyle/>
            <a:p>
              <a:pPr/>
            </a:p>
          </p:txBody>
        </p:sp>
        <p:sp>
          <p:nvSpPr>
            <p:cNvPr id="71" name="sc_head"/>
            <p:cNvSpPr txBox="1"/>
            <p:nvPr/>
          </p:nvSpPr>
          <p:spPr>
            <a:xfrm>
              <a:off x="237743" y="246125"/>
              <a:ext cx="512064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100">
                  <a:solidFill>
                    <a:srgbClr val="2BA6A0"/>
                  </a:solidFill>
                  <a:latin typeface="Arial"/>
                  <a:ea typeface="Arial"/>
                  <a:cs typeface="Arial"/>
                  <a:sym typeface="Arial"/>
                </a:defRPr>
              </a:lvl1pPr>
            </a:lstStyle>
            <a:p>
              <a:pPr/>
              <a:r>
                <a:t>SUCCESS CRITERIA — tick these off yourself</a:t>
              </a:r>
            </a:p>
          </p:txBody>
        </p:sp>
        <p:sp>
          <p:nvSpPr>
            <p:cNvPr id="72" name="sc0_box"/>
            <p:cNvSpPr/>
            <p:nvPr/>
          </p:nvSpPr>
          <p:spPr>
            <a:xfrm>
              <a:off x="237744" y="621791"/>
              <a:ext cx="201169" cy="201169"/>
            </a:xfrm>
            <a:prstGeom prst="rect">
              <a:avLst/>
            </a:prstGeom>
            <a:solidFill>
              <a:srgbClr val="FFFFFF"/>
            </a:solidFill>
            <a:ln w="15240" cap="flat">
              <a:solidFill>
                <a:srgbClr val="2BA6A0"/>
              </a:solidFill>
              <a:prstDash val="solid"/>
              <a:round/>
            </a:ln>
            <a:effectLst/>
          </p:spPr>
          <p:txBody>
            <a:bodyPr wrap="square" lIns="45719" tIns="45719" rIns="45719" bIns="45719" numCol="1" anchor="t">
              <a:noAutofit/>
            </a:bodyPr>
            <a:lstStyle/>
            <a:p>
              <a:pPr/>
            </a:p>
          </p:txBody>
        </p:sp>
        <p:sp>
          <p:nvSpPr>
            <p:cNvPr id="73" name="sc0_t"/>
            <p:cNvSpPr txBox="1"/>
            <p:nvPr/>
          </p:nvSpPr>
          <p:spPr>
            <a:xfrm>
              <a:off x="566928" y="548639"/>
              <a:ext cx="4602176" cy="2050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241535"/>
                  </a:solidFill>
                  <a:latin typeface="Arial"/>
                  <a:ea typeface="Arial"/>
                  <a:cs typeface="Arial"/>
                  <a:sym typeface="Arial"/>
                </a:defRPr>
              </a:lvl1pPr>
            </a:lstStyle>
            <a:p>
              <a:pPr/>
              <a:r>
                <a:t>I can finish the sentence "science is a way of…" in my own words.</a:t>
              </a:r>
            </a:p>
          </p:txBody>
        </p:sp>
        <p:sp>
          <p:nvSpPr>
            <p:cNvPr id="74" name="sc1_box"/>
            <p:cNvSpPr/>
            <p:nvPr/>
          </p:nvSpPr>
          <p:spPr>
            <a:xfrm>
              <a:off x="237744" y="1335023"/>
              <a:ext cx="201169" cy="201169"/>
            </a:xfrm>
            <a:prstGeom prst="rect">
              <a:avLst/>
            </a:prstGeom>
            <a:solidFill>
              <a:srgbClr val="FFFFFF"/>
            </a:solidFill>
            <a:ln w="15240" cap="flat">
              <a:solidFill>
                <a:srgbClr val="2BA6A0"/>
              </a:solidFill>
              <a:prstDash val="solid"/>
              <a:round/>
            </a:ln>
            <a:effectLst/>
          </p:spPr>
          <p:txBody>
            <a:bodyPr wrap="square" lIns="45719" tIns="45719" rIns="45719" bIns="45719" numCol="1" anchor="t">
              <a:noAutofit/>
            </a:bodyPr>
            <a:lstStyle/>
            <a:p>
              <a:pPr/>
            </a:p>
          </p:txBody>
        </p:sp>
        <p:sp>
          <p:nvSpPr>
            <p:cNvPr id="75" name="sc1_t"/>
            <p:cNvSpPr txBox="1"/>
            <p:nvPr/>
          </p:nvSpPr>
          <p:spPr>
            <a:xfrm>
              <a:off x="566928" y="1261871"/>
              <a:ext cx="4602176" cy="2050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241535"/>
                  </a:solidFill>
                  <a:latin typeface="Arial"/>
                  <a:ea typeface="Arial"/>
                  <a:cs typeface="Arial"/>
                  <a:sym typeface="Arial"/>
                </a:defRPr>
              </a:lvl1pPr>
            </a:lstStyle>
            <a:p>
              <a:pPr/>
              <a:r>
                <a:t>I can explain why "everyone says so" is not evidence.</a:t>
              </a:r>
            </a:p>
          </p:txBody>
        </p:sp>
        <p:sp>
          <p:nvSpPr>
            <p:cNvPr id="76" name="sc2_box"/>
            <p:cNvSpPr/>
            <p:nvPr/>
          </p:nvSpPr>
          <p:spPr>
            <a:xfrm>
              <a:off x="237744" y="2048255"/>
              <a:ext cx="201169" cy="201170"/>
            </a:xfrm>
            <a:prstGeom prst="rect">
              <a:avLst/>
            </a:prstGeom>
            <a:solidFill>
              <a:srgbClr val="FFFFFF"/>
            </a:solidFill>
            <a:ln w="15240" cap="flat">
              <a:solidFill>
                <a:srgbClr val="2BA6A0"/>
              </a:solidFill>
              <a:prstDash val="solid"/>
              <a:round/>
            </a:ln>
            <a:effectLst/>
          </p:spPr>
          <p:txBody>
            <a:bodyPr wrap="square" lIns="45719" tIns="45719" rIns="45719" bIns="45719" numCol="1" anchor="t">
              <a:noAutofit/>
            </a:bodyPr>
            <a:lstStyle/>
            <a:p>
              <a:pPr/>
            </a:p>
          </p:txBody>
        </p:sp>
        <p:sp>
          <p:nvSpPr>
            <p:cNvPr id="77" name="sc2_t"/>
            <p:cNvSpPr txBox="1"/>
            <p:nvPr/>
          </p:nvSpPr>
          <p:spPr>
            <a:xfrm>
              <a:off x="566928" y="1975103"/>
              <a:ext cx="4602176" cy="4209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241535"/>
                  </a:solidFill>
                  <a:latin typeface="Arial"/>
                  <a:ea typeface="Arial"/>
                  <a:cs typeface="Arial"/>
                  <a:sym typeface="Arial"/>
                </a:defRPr>
              </a:lvl1pPr>
            </a:lstStyle>
            <a:p>
              <a:pPr/>
              <a:r>
                <a:t>I can sort questions into ones science can answer and ones it cannot.</a:t>
              </a:r>
            </a:p>
          </p:txBody>
        </p:sp>
        <p:sp>
          <p:nvSpPr>
            <p:cNvPr id="78" name="sc3_box"/>
            <p:cNvSpPr/>
            <p:nvPr/>
          </p:nvSpPr>
          <p:spPr>
            <a:xfrm>
              <a:off x="237744" y="2761488"/>
              <a:ext cx="201169" cy="201169"/>
            </a:xfrm>
            <a:prstGeom prst="rect">
              <a:avLst/>
            </a:prstGeom>
            <a:solidFill>
              <a:srgbClr val="FFFFFF"/>
            </a:solidFill>
            <a:ln w="15240" cap="flat">
              <a:solidFill>
                <a:srgbClr val="2BA6A0"/>
              </a:solidFill>
              <a:prstDash val="solid"/>
              <a:round/>
            </a:ln>
            <a:effectLst/>
          </p:spPr>
          <p:txBody>
            <a:bodyPr wrap="square" lIns="45719" tIns="45719" rIns="45719" bIns="45719" numCol="1" anchor="t">
              <a:noAutofit/>
            </a:bodyPr>
            <a:lstStyle/>
            <a:p>
              <a:pPr/>
            </a:p>
          </p:txBody>
        </p:sp>
        <p:sp>
          <p:nvSpPr>
            <p:cNvPr id="79" name="sc3_t"/>
            <p:cNvSpPr txBox="1"/>
            <p:nvPr/>
          </p:nvSpPr>
          <p:spPr>
            <a:xfrm>
              <a:off x="566928" y="2688336"/>
              <a:ext cx="4602176" cy="205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241535"/>
                  </a:solidFill>
                  <a:latin typeface="Arial"/>
                  <a:ea typeface="Arial"/>
                  <a:cs typeface="Arial"/>
                  <a:sym typeface="Arial"/>
                </a:defRPr>
              </a:lvl1pPr>
            </a:lstStyle>
            <a:p>
              <a:pPr/>
              <a:r>
                <a:t>I can say what induction means without reading it off the sheet.</a:t>
              </a:r>
            </a:p>
          </p:txBody>
        </p:sp>
        <p:sp>
          <p:nvSpPr>
            <p:cNvPr id="80" name="sc4_box"/>
            <p:cNvSpPr/>
            <p:nvPr/>
          </p:nvSpPr>
          <p:spPr>
            <a:xfrm>
              <a:off x="237744" y="3474720"/>
              <a:ext cx="201169" cy="201169"/>
            </a:xfrm>
            <a:prstGeom prst="rect">
              <a:avLst/>
            </a:prstGeom>
            <a:solidFill>
              <a:srgbClr val="FFFFFF"/>
            </a:solidFill>
            <a:ln w="15240" cap="flat">
              <a:solidFill>
                <a:srgbClr val="2BA6A0"/>
              </a:solidFill>
              <a:prstDash val="solid"/>
              <a:round/>
            </a:ln>
            <a:effectLst/>
          </p:spPr>
          <p:txBody>
            <a:bodyPr wrap="square" lIns="45719" tIns="45719" rIns="45719" bIns="45719" numCol="1" anchor="t">
              <a:noAutofit/>
            </a:bodyPr>
            <a:lstStyle/>
            <a:p>
              <a:pPr/>
            </a:p>
          </p:txBody>
        </p:sp>
        <p:sp>
          <p:nvSpPr>
            <p:cNvPr id="81" name="sc4_t"/>
            <p:cNvSpPr txBox="1"/>
            <p:nvPr/>
          </p:nvSpPr>
          <p:spPr>
            <a:xfrm>
              <a:off x="566928" y="3401568"/>
              <a:ext cx="4602176" cy="205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241535"/>
                  </a:solidFill>
                  <a:latin typeface="Arial"/>
                  <a:ea typeface="Arial"/>
                  <a:cs typeface="Arial"/>
                  <a:sym typeface="Arial"/>
                </a:defRPr>
              </a:lvl1pPr>
            </a:lstStyle>
            <a:p>
              <a:pPr/>
              <a:r>
                <a:t>I can give one example of a conclusion that turned out to be wrong.</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69"/>
                                        </p:tgtEl>
                                        <p:attrNameLst>
                                          <p:attrName>style.visibility</p:attrName>
                                        </p:attrNameLst>
                                      </p:cBhvr>
                                      <p:to>
                                        <p:strVal val="visible"/>
                                      </p:to>
                                    </p:set>
                                    <p:animEffect filter="fade" transition="in">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82"/>
                                        </p:tgtEl>
                                        <p:attrNameLst>
                                          <p:attrName>style.visibility</p:attrName>
                                        </p:attrNameLst>
                                      </p:cBhvr>
                                      <p:to>
                                        <p:strVal val="visible"/>
                                      </p:to>
                                    </p:set>
                                    <p:animEffect filter="wipe(left)" transition="in">
                                      <p:cBhvr>
                                        <p:cTn id="12" dur="5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9" grpId="1"/>
      <p:bldP build="whole" bldLvl="1" animBg="1" rev="0" advAuto="0" spid="82"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88" name="phase_pill"/>
          <p:cNvGrpSpPr/>
          <p:nvPr/>
        </p:nvGrpSpPr>
        <p:grpSpPr>
          <a:xfrm>
            <a:off x="502919" y="274320"/>
            <a:ext cx="2724913" cy="347473"/>
            <a:chOff x="0" y="0"/>
            <a:chExt cx="2724911" cy="347472"/>
          </a:xfrm>
        </p:grpSpPr>
        <p:sp>
          <p:nvSpPr>
            <p:cNvPr id="86" name="Rounded Rectangle"/>
            <p:cNvSpPr/>
            <p:nvPr/>
          </p:nvSpPr>
          <p:spPr>
            <a:xfrm>
              <a:off x="0" y="0"/>
              <a:ext cx="2724912"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87" name="THE UNIT · 1 MIN"/>
            <p:cNvSpPr txBox="1"/>
            <p:nvPr/>
          </p:nvSpPr>
          <p:spPr>
            <a:xfrm>
              <a:off x="50885" y="99821"/>
              <a:ext cx="262314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THE UNIT · 1 MIN</a:t>
              </a:r>
            </a:p>
          </p:txBody>
        </p:sp>
      </p:grpSp>
      <p:sp>
        <p:nvSpPr>
          <p:cNvPr id="89"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Overview</a:t>
            </a:r>
          </a:p>
        </p:txBody>
      </p:sp>
      <p:grpSp>
        <p:nvGrpSpPr>
          <p:cNvPr id="94" name="bd0"/>
          <p:cNvGrpSpPr/>
          <p:nvPr/>
        </p:nvGrpSpPr>
        <p:grpSpPr>
          <a:xfrm>
            <a:off x="502920" y="2066544"/>
            <a:ext cx="2631872" cy="2651761"/>
            <a:chOff x="0" y="0"/>
            <a:chExt cx="2631871" cy="2651760"/>
          </a:xfrm>
        </p:grpSpPr>
        <p:sp>
          <p:nvSpPr>
            <p:cNvPr id="90" name="bd0_bg"/>
            <p:cNvSpPr/>
            <p:nvPr/>
          </p:nvSpPr>
          <p:spPr>
            <a:xfrm>
              <a:off x="0" y="0"/>
              <a:ext cx="2631872" cy="2651761"/>
            </a:xfrm>
            <a:prstGeom prst="roundRect">
              <a:avLst>
                <a:gd name="adj" fmla="val 4864"/>
              </a:avLst>
            </a:prstGeom>
            <a:solidFill>
              <a:srgbClr val="FFFFFF"/>
            </a:solidFill>
            <a:ln w="20320" cap="flat">
              <a:solidFill>
                <a:srgbClr val="F2A03D"/>
              </a:solidFill>
              <a:prstDash val="solid"/>
              <a:round/>
            </a:ln>
            <a:effectLst/>
          </p:spPr>
          <p:txBody>
            <a:bodyPr wrap="square" lIns="45719" tIns="45719" rIns="45719" bIns="45719" numCol="1" anchor="t">
              <a:noAutofit/>
            </a:bodyPr>
            <a:lstStyle/>
            <a:p>
              <a:pPr/>
            </a:p>
          </p:txBody>
        </p:sp>
        <p:sp>
          <p:nvSpPr>
            <p:cNvPr id="91" name="bd0_tag"/>
            <p:cNvSpPr txBox="1"/>
            <p:nvPr/>
          </p:nvSpPr>
          <p:spPr>
            <a:xfrm>
              <a:off x="201168" y="227837"/>
              <a:ext cx="22295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F2A03D"/>
                  </a:solidFill>
                  <a:latin typeface="Arial"/>
                  <a:ea typeface="Arial"/>
                  <a:cs typeface="Arial"/>
                  <a:sym typeface="Arial"/>
                </a:defRPr>
              </a:lvl1pPr>
            </a:lstStyle>
            <a:p>
              <a:pPr/>
              <a:r>
                <a:t>LESSON 1</a:t>
              </a:r>
            </a:p>
          </p:txBody>
        </p:sp>
        <p:sp>
          <p:nvSpPr>
            <p:cNvPr id="92" name="bd0_h"/>
            <p:cNvSpPr txBox="1"/>
            <p:nvPr/>
          </p:nvSpPr>
          <p:spPr>
            <a:xfrm>
              <a:off x="201168" y="475487"/>
              <a:ext cx="2229536"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700">
                  <a:solidFill>
                    <a:srgbClr val="4A2C6F"/>
                  </a:solidFill>
                  <a:latin typeface="Georgia"/>
                  <a:ea typeface="Georgia"/>
                  <a:cs typeface="Georgia"/>
                  <a:sym typeface="Georgia"/>
                </a:defRPr>
              </a:lvl1pPr>
            </a:lstStyle>
            <a:p>
              <a:pPr/>
              <a:r>
                <a:t>How do you know?</a:t>
              </a:r>
            </a:p>
          </p:txBody>
        </p:sp>
        <p:sp>
          <p:nvSpPr>
            <p:cNvPr id="93" name="bd0_b"/>
            <p:cNvSpPr txBox="1"/>
            <p:nvPr/>
          </p:nvSpPr>
          <p:spPr>
            <a:xfrm>
              <a:off x="201168" y="1170432"/>
              <a:ext cx="2229536" cy="5985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6A6180"/>
                  </a:solidFill>
                  <a:latin typeface="Arial"/>
                  <a:ea typeface="Arial"/>
                  <a:cs typeface="Arial"/>
                  <a:sym typeface="Arial"/>
                </a:defRPr>
              </a:lvl1pPr>
            </a:lstStyle>
            <a:p>
              <a:pPr/>
              <a:r>
                <a:t>What science is. Evidence, logic, and drawing conclusions from observations.</a:t>
              </a:r>
            </a:p>
          </p:txBody>
        </p:sp>
      </p:grpSp>
      <p:grpSp>
        <p:nvGrpSpPr>
          <p:cNvPr id="99" name="bd1"/>
          <p:cNvGrpSpPr/>
          <p:nvPr/>
        </p:nvGrpSpPr>
        <p:grpSpPr>
          <a:xfrm>
            <a:off x="3354248" y="2066544"/>
            <a:ext cx="2631872" cy="2651761"/>
            <a:chOff x="0" y="0"/>
            <a:chExt cx="2631871" cy="2651760"/>
          </a:xfrm>
        </p:grpSpPr>
        <p:sp>
          <p:nvSpPr>
            <p:cNvPr id="95" name="bd1_bg"/>
            <p:cNvSpPr/>
            <p:nvPr/>
          </p:nvSpPr>
          <p:spPr>
            <a:xfrm>
              <a:off x="0" y="0"/>
              <a:ext cx="2631872" cy="2651761"/>
            </a:xfrm>
            <a:prstGeom prst="roundRect">
              <a:avLst>
                <a:gd name="adj" fmla="val 4864"/>
              </a:avLst>
            </a:prstGeom>
            <a:solidFill>
              <a:srgbClr val="FFFFFF"/>
            </a:solidFill>
            <a:ln w="20320" cap="flat">
              <a:solidFill>
                <a:srgbClr val="2BA6A0"/>
              </a:solidFill>
              <a:prstDash val="solid"/>
              <a:round/>
            </a:ln>
            <a:effectLst/>
          </p:spPr>
          <p:txBody>
            <a:bodyPr wrap="square" lIns="45719" tIns="45719" rIns="45719" bIns="45719" numCol="1" anchor="t">
              <a:noAutofit/>
            </a:bodyPr>
            <a:lstStyle/>
            <a:p>
              <a:pPr/>
            </a:p>
          </p:txBody>
        </p:sp>
        <p:sp>
          <p:nvSpPr>
            <p:cNvPr id="96" name="bd1_tag"/>
            <p:cNvSpPr txBox="1"/>
            <p:nvPr/>
          </p:nvSpPr>
          <p:spPr>
            <a:xfrm>
              <a:off x="201168" y="227837"/>
              <a:ext cx="22295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2BA6A0"/>
                  </a:solidFill>
                  <a:latin typeface="Arial"/>
                  <a:ea typeface="Arial"/>
                  <a:cs typeface="Arial"/>
                  <a:sym typeface="Arial"/>
                </a:defRPr>
              </a:lvl1pPr>
            </a:lstStyle>
            <a:p>
              <a:pPr/>
              <a:r>
                <a:t>LESSON 2</a:t>
              </a:r>
            </a:p>
          </p:txBody>
        </p:sp>
        <p:sp>
          <p:nvSpPr>
            <p:cNvPr id="97" name="bd1_h"/>
            <p:cNvSpPr txBox="1"/>
            <p:nvPr/>
          </p:nvSpPr>
          <p:spPr>
            <a:xfrm>
              <a:off x="201168" y="475487"/>
              <a:ext cx="2229536"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700">
                  <a:solidFill>
                    <a:srgbClr val="4A2C6F"/>
                  </a:solidFill>
                  <a:latin typeface="Georgia"/>
                  <a:ea typeface="Georgia"/>
                  <a:cs typeface="Georgia"/>
                  <a:sym typeface="Georgia"/>
                </a:defRPr>
              </a:lvl1pPr>
            </a:lstStyle>
            <a:p>
              <a:pPr/>
              <a:r>
                <a:t>Theory or law?</a:t>
              </a:r>
            </a:p>
          </p:txBody>
        </p:sp>
        <p:sp>
          <p:nvSpPr>
            <p:cNvPr id="98" name="bd1_b"/>
            <p:cNvSpPr txBox="1"/>
            <p:nvPr/>
          </p:nvSpPr>
          <p:spPr>
            <a:xfrm>
              <a:off x="201168" y="1170432"/>
              <a:ext cx="2229536" cy="5985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6A6180"/>
                  </a:solidFill>
                  <a:latin typeface="Arial"/>
                  <a:ea typeface="Arial"/>
                  <a:cs typeface="Arial"/>
                  <a:sym typeface="Arial"/>
                </a:defRPr>
              </a:lvl1pPr>
            </a:lstStyle>
            <a:p>
              <a:pPr/>
              <a:r>
                <a:t>Two words people use wrongly every day, and the difference between them.</a:t>
              </a:r>
            </a:p>
          </p:txBody>
        </p:sp>
      </p:grpSp>
      <p:grpSp>
        <p:nvGrpSpPr>
          <p:cNvPr id="104" name="bd2"/>
          <p:cNvGrpSpPr/>
          <p:nvPr/>
        </p:nvGrpSpPr>
        <p:grpSpPr>
          <a:xfrm>
            <a:off x="6205575" y="2066544"/>
            <a:ext cx="2631873" cy="2651761"/>
            <a:chOff x="0" y="0"/>
            <a:chExt cx="2631871" cy="2651760"/>
          </a:xfrm>
        </p:grpSpPr>
        <p:sp>
          <p:nvSpPr>
            <p:cNvPr id="100" name="bd2_bg"/>
            <p:cNvSpPr/>
            <p:nvPr/>
          </p:nvSpPr>
          <p:spPr>
            <a:xfrm>
              <a:off x="0" y="0"/>
              <a:ext cx="2631872" cy="2651761"/>
            </a:xfrm>
            <a:prstGeom prst="roundRect">
              <a:avLst>
                <a:gd name="adj" fmla="val 4864"/>
              </a:avLst>
            </a:prstGeom>
            <a:solidFill>
              <a:srgbClr val="FFFFFF"/>
            </a:solidFill>
            <a:ln w="20320" cap="flat">
              <a:solidFill>
                <a:srgbClr val="D94F6A"/>
              </a:solidFill>
              <a:prstDash val="solid"/>
              <a:round/>
            </a:ln>
            <a:effectLst/>
          </p:spPr>
          <p:txBody>
            <a:bodyPr wrap="square" lIns="45719" tIns="45719" rIns="45719" bIns="45719" numCol="1" anchor="t">
              <a:noAutofit/>
            </a:bodyPr>
            <a:lstStyle/>
            <a:p>
              <a:pPr/>
            </a:p>
          </p:txBody>
        </p:sp>
        <p:sp>
          <p:nvSpPr>
            <p:cNvPr id="101" name="bd2_tag"/>
            <p:cNvSpPr txBox="1"/>
            <p:nvPr/>
          </p:nvSpPr>
          <p:spPr>
            <a:xfrm>
              <a:off x="201168" y="227837"/>
              <a:ext cx="22295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D94F6A"/>
                  </a:solidFill>
                  <a:latin typeface="Arial"/>
                  <a:ea typeface="Arial"/>
                  <a:cs typeface="Arial"/>
                  <a:sym typeface="Arial"/>
                </a:defRPr>
              </a:lvl1pPr>
            </a:lstStyle>
            <a:p>
              <a:pPr/>
              <a:r>
                <a:t>LESSON 3</a:t>
              </a:r>
            </a:p>
          </p:txBody>
        </p:sp>
        <p:sp>
          <p:nvSpPr>
            <p:cNvPr id="102" name="bd2_h"/>
            <p:cNvSpPr txBox="1"/>
            <p:nvPr/>
          </p:nvSpPr>
          <p:spPr>
            <a:xfrm>
              <a:off x="201168" y="475487"/>
              <a:ext cx="2229536"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700">
                  <a:solidFill>
                    <a:srgbClr val="4A2C6F"/>
                  </a:solidFill>
                  <a:latin typeface="Georgia"/>
                  <a:ea typeface="Georgia"/>
                  <a:cs typeface="Georgia"/>
                  <a:sym typeface="Georgia"/>
                </a:defRPr>
              </a:lvl1pPr>
            </a:lstStyle>
            <a:p>
              <a:pPr/>
              <a:r>
                <a:t>Who got left out</a:t>
              </a:r>
            </a:p>
          </p:txBody>
        </p:sp>
        <p:sp>
          <p:nvSpPr>
            <p:cNvPr id="103" name="bd2_b"/>
            <p:cNvSpPr txBox="1"/>
            <p:nvPr/>
          </p:nvSpPr>
          <p:spPr>
            <a:xfrm>
              <a:off x="201168" y="1170432"/>
              <a:ext cx="2229536" cy="5985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6A6180"/>
                  </a:solidFill>
                  <a:latin typeface="Arial"/>
                  <a:ea typeface="Arial"/>
                  <a:cs typeface="Arial"/>
                  <a:sym typeface="Arial"/>
                </a:defRPr>
              </a:lvl1pPr>
            </a:lstStyle>
            <a:p>
              <a:pPr/>
              <a:r>
                <a:t>Milestones in the history of science — and the people whose names went missing.</a:t>
              </a:r>
            </a:p>
          </p:txBody>
        </p:sp>
      </p:grpSp>
      <p:grpSp>
        <p:nvGrpSpPr>
          <p:cNvPr id="109" name="bd3"/>
          <p:cNvGrpSpPr/>
          <p:nvPr/>
        </p:nvGrpSpPr>
        <p:grpSpPr>
          <a:xfrm>
            <a:off x="9056903" y="2066544"/>
            <a:ext cx="2631872" cy="2651761"/>
            <a:chOff x="0" y="0"/>
            <a:chExt cx="2631871" cy="2651760"/>
          </a:xfrm>
        </p:grpSpPr>
        <p:sp>
          <p:nvSpPr>
            <p:cNvPr id="105" name="bd3_bg"/>
            <p:cNvSpPr/>
            <p:nvPr/>
          </p:nvSpPr>
          <p:spPr>
            <a:xfrm>
              <a:off x="0" y="0"/>
              <a:ext cx="2631872" cy="2651761"/>
            </a:xfrm>
            <a:prstGeom prst="roundRect">
              <a:avLst>
                <a:gd name="adj" fmla="val 4864"/>
              </a:avLst>
            </a:prstGeom>
            <a:solidFill>
              <a:srgbClr val="FFFFFF"/>
            </a:solidFill>
            <a:ln w="20320" cap="flat">
              <a:solidFill>
                <a:srgbClr val="6B4E96"/>
              </a:solidFill>
              <a:prstDash val="solid"/>
              <a:round/>
            </a:ln>
            <a:effectLst/>
          </p:spPr>
          <p:txBody>
            <a:bodyPr wrap="square" lIns="45719" tIns="45719" rIns="45719" bIns="45719" numCol="1" anchor="t">
              <a:noAutofit/>
            </a:bodyPr>
            <a:lstStyle/>
            <a:p>
              <a:pPr/>
            </a:p>
          </p:txBody>
        </p:sp>
        <p:sp>
          <p:nvSpPr>
            <p:cNvPr id="106" name="bd3_tag"/>
            <p:cNvSpPr txBox="1"/>
            <p:nvPr/>
          </p:nvSpPr>
          <p:spPr>
            <a:xfrm>
              <a:off x="201168" y="227837"/>
              <a:ext cx="22295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6B4E96"/>
                  </a:solidFill>
                  <a:latin typeface="Arial"/>
                  <a:ea typeface="Arial"/>
                  <a:cs typeface="Arial"/>
                  <a:sym typeface="Arial"/>
                </a:defRPr>
              </a:lvl1pPr>
            </a:lstStyle>
            <a:p>
              <a:pPr/>
              <a:r>
                <a:t>LESSON 4</a:t>
              </a:r>
            </a:p>
          </p:txBody>
        </p:sp>
        <p:sp>
          <p:nvSpPr>
            <p:cNvPr id="107" name="bd3_h"/>
            <p:cNvSpPr txBox="1"/>
            <p:nvPr/>
          </p:nvSpPr>
          <p:spPr>
            <a:xfrm>
              <a:off x="201168" y="475487"/>
              <a:ext cx="2229536"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700">
                  <a:solidFill>
                    <a:srgbClr val="4A2C6F"/>
                  </a:solidFill>
                  <a:latin typeface="Georgia"/>
                  <a:ea typeface="Georgia"/>
                  <a:cs typeface="Georgia"/>
                  <a:sym typeface="Georgia"/>
                </a:defRPr>
              </a:lvl1pPr>
            </a:lstStyle>
            <a:p>
              <a:pPr/>
              <a:r>
                <a:t>Into the lab</a:t>
              </a:r>
            </a:p>
          </p:txBody>
        </p:sp>
        <p:sp>
          <p:nvSpPr>
            <p:cNvPr id="108" name="bd3_b"/>
            <p:cNvSpPr txBox="1"/>
            <p:nvPr/>
          </p:nvSpPr>
          <p:spPr>
            <a:xfrm>
              <a:off x="201168" y="1170432"/>
              <a:ext cx="2229536" cy="5985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6A6180"/>
                  </a:solidFill>
                  <a:latin typeface="Arial"/>
                  <a:ea typeface="Arial"/>
                  <a:cs typeface="Arial"/>
                  <a:sym typeface="Arial"/>
                </a:defRPr>
              </a:lvl1pPr>
            </a:lstStyle>
            <a:p>
              <a:pPr/>
              <a:r>
                <a:t>Physical science, chemistry and physics. Meet the equipment, and where this subject can take you.</a:t>
              </a:r>
            </a:p>
          </p:txBody>
        </p:sp>
      </p:grpSp>
      <p:sp>
        <p:nvSpPr>
          <p:cNvPr id="110" name="bd_point"/>
          <p:cNvSpPr txBox="1"/>
          <p:nvPr/>
        </p:nvSpPr>
        <p:spPr>
          <a:xfrm>
            <a:off x="502919" y="4974335"/>
            <a:ext cx="1118585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4A2C6F"/>
                </a:solidFill>
                <a:latin typeface="Arial"/>
                <a:ea typeface="Arial"/>
                <a:cs typeface="Arial"/>
                <a:sym typeface="Arial"/>
              </a:defRPr>
            </a:lvl1pPr>
          </a:lstStyle>
          <a:p>
            <a:pPr/>
            <a:r>
              <a:t>Lesson 4 is a practical!</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2" grpId="1" fill="hold">
                                  <p:stCondLst>
                                    <p:cond delay="0"/>
                                  </p:stCondLst>
                                  <p:iterate type="el" backwards="0">
                                    <p:tmAbs val="0"/>
                                  </p:iterate>
                                  <p:childTnLst>
                                    <p:set>
                                      <p:cBhvr>
                                        <p:cTn id="6" fill="hold"/>
                                        <p:tgtEl>
                                          <p:spTgt spid="94"/>
                                        </p:tgtEl>
                                        <p:attrNameLst>
                                          <p:attrName>style.visibility</p:attrName>
                                        </p:attrNameLst>
                                      </p:cBhvr>
                                      <p:to>
                                        <p:strVal val="visible"/>
                                      </p:to>
                                    </p:set>
                                    <p:animEffect filter="wipe(up)" transition="in">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1" presetID="22" grpId="2" fill="hold">
                                  <p:stCondLst>
                                    <p:cond delay="0"/>
                                  </p:stCondLst>
                                  <p:iterate type="el" backwards="0">
                                    <p:tmAbs val="0"/>
                                  </p:iterate>
                                  <p:childTnLst>
                                    <p:set>
                                      <p:cBhvr>
                                        <p:cTn id="11" fill="hold"/>
                                        <p:tgtEl>
                                          <p:spTgt spid="99"/>
                                        </p:tgtEl>
                                        <p:attrNameLst>
                                          <p:attrName>style.visibility</p:attrName>
                                        </p:attrNameLst>
                                      </p:cBhvr>
                                      <p:to>
                                        <p:strVal val="visible"/>
                                      </p:to>
                                    </p:set>
                                    <p:animEffect filter="wipe(up)" transition="in">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 presetID="22" grpId="3" fill="hold">
                                  <p:stCondLst>
                                    <p:cond delay="0"/>
                                  </p:stCondLst>
                                  <p:iterate type="el" backwards="0">
                                    <p:tmAbs val="0"/>
                                  </p:iterate>
                                  <p:childTnLst>
                                    <p:set>
                                      <p:cBhvr>
                                        <p:cTn id="16" fill="hold"/>
                                        <p:tgtEl>
                                          <p:spTgt spid="104"/>
                                        </p:tgtEl>
                                        <p:attrNameLst>
                                          <p:attrName>style.visibility</p:attrName>
                                        </p:attrNameLst>
                                      </p:cBhvr>
                                      <p:to>
                                        <p:strVal val="visible"/>
                                      </p:to>
                                    </p:set>
                                    <p:animEffect filter="wipe(up)" transition="in">
                                      <p:cBhvr>
                                        <p:cTn id="17" dur="500"/>
                                        <p:tgtEl>
                                          <p:spTgt spid="10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 presetID="22" grpId="4" fill="hold">
                                  <p:stCondLst>
                                    <p:cond delay="0"/>
                                  </p:stCondLst>
                                  <p:iterate type="el" backwards="0">
                                    <p:tmAbs val="0"/>
                                  </p:iterate>
                                  <p:childTnLst>
                                    <p:set>
                                      <p:cBhvr>
                                        <p:cTn id="21" fill="hold"/>
                                        <p:tgtEl>
                                          <p:spTgt spid="109"/>
                                        </p:tgtEl>
                                        <p:attrNameLst>
                                          <p:attrName>style.visibility</p:attrName>
                                        </p:attrNameLst>
                                      </p:cBhvr>
                                      <p:to>
                                        <p:strVal val="visible"/>
                                      </p:to>
                                    </p:set>
                                    <p:animEffect filter="wipe(up)" transition="in">
                                      <p:cBhvr>
                                        <p:cTn id="22" dur="500"/>
                                        <p:tgtEl>
                                          <p:spTgt spid="10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10"/>
                                        </p:tgtEl>
                                        <p:attrNameLst>
                                          <p:attrName>style.visibility</p:attrName>
                                        </p:attrNameLst>
                                      </p:cBhvr>
                                      <p:to>
                                        <p:strVal val="visible"/>
                                      </p:to>
                                    </p:set>
                                    <p:animEffect filter="fade" transition="in">
                                      <p:cBhvr>
                                        <p:cTn id="27" dur="5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9" grpId="4"/>
      <p:bldP build="whole" bldLvl="1" animBg="1" rev="0" advAuto="0" spid="104" grpId="3"/>
      <p:bldP build="whole" bldLvl="1" animBg="1" rev="0" advAuto="0" spid="94" grpId="1"/>
      <p:bldP build="whole" bldLvl="1" animBg="1" rev="0" advAuto="0" spid="99" grpId="2"/>
      <p:bldP build="whole" bldLvl="1" animBg="1" rev="0" advAuto="0" spid="110"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16" name="phase_pill"/>
          <p:cNvGrpSpPr/>
          <p:nvPr/>
        </p:nvGrpSpPr>
        <p:grpSpPr>
          <a:xfrm>
            <a:off x="502919" y="274320"/>
            <a:ext cx="2432306" cy="347473"/>
            <a:chOff x="0" y="0"/>
            <a:chExt cx="2432304" cy="347472"/>
          </a:xfrm>
        </p:grpSpPr>
        <p:sp>
          <p:nvSpPr>
            <p:cNvPr id="114" name="Rounded Rectangle"/>
            <p:cNvSpPr/>
            <p:nvPr/>
          </p:nvSpPr>
          <p:spPr>
            <a:xfrm>
              <a:off x="0" y="0"/>
              <a:ext cx="2432305"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15" name="DO NOW · 5 MIN"/>
            <p:cNvSpPr txBox="1"/>
            <p:nvPr/>
          </p:nvSpPr>
          <p:spPr>
            <a:xfrm>
              <a:off x="50886" y="99821"/>
              <a:ext cx="23305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DO NOW · 5 MIN</a:t>
              </a:r>
            </a:p>
          </p:txBody>
        </p:sp>
      </p:grpSp>
      <p:sp>
        <p:nvSpPr>
          <p:cNvPr id="117"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Do Now</a:t>
            </a:r>
          </a:p>
        </p:txBody>
      </p:sp>
      <p:sp>
        <p:nvSpPr>
          <p:cNvPr id="118" name="do_intro"/>
          <p:cNvSpPr txBox="1"/>
          <p:nvPr/>
        </p:nvSpPr>
        <p:spPr>
          <a:xfrm>
            <a:off x="502919" y="1617378"/>
            <a:ext cx="100584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Books open, name and date at the top. Answer all six. Four minutes.</a:t>
            </a:r>
          </a:p>
        </p:txBody>
      </p:sp>
      <p:sp>
        <p:nvSpPr>
          <p:cNvPr id="119" name="dq0_card"/>
          <p:cNvSpPr/>
          <p:nvPr/>
        </p:nvSpPr>
        <p:spPr>
          <a:xfrm>
            <a:off x="502919" y="2084832"/>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20" name="dq0_n"/>
          <p:cNvSpPr txBox="1"/>
          <p:nvPr/>
        </p:nvSpPr>
        <p:spPr>
          <a:xfrm>
            <a:off x="649223" y="2230026"/>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1</a:t>
            </a:r>
          </a:p>
        </p:txBody>
      </p:sp>
      <p:sp>
        <p:nvSpPr>
          <p:cNvPr id="121" name="dq0_q"/>
          <p:cNvSpPr txBox="1"/>
          <p:nvPr/>
        </p:nvSpPr>
        <p:spPr>
          <a:xfrm>
            <a:off x="978408" y="2176272"/>
            <a:ext cx="4797400" cy="18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Name the three states of matter.</a:t>
            </a:r>
          </a:p>
        </p:txBody>
      </p:sp>
      <p:grpSp>
        <p:nvGrpSpPr>
          <p:cNvPr id="124" name="dq0_a"/>
          <p:cNvGrpSpPr/>
          <p:nvPr/>
        </p:nvGrpSpPr>
        <p:grpSpPr>
          <a:xfrm>
            <a:off x="978408" y="2688335"/>
            <a:ext cx="4797400" cy="329185"/>
            <a:chOff x="0" y="0"/>
            <a:chExt cx="4797399" cy="329184"/>
          </a:xfrm>
        </p:grpSpPr>
        <p:sp>
          <p:nvSpPr>
            <p:cNvPr id="122"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23" name="Solid, liquid, gas."/>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sz="1100">
                  <a:solidFill>
                    <a:srgbClr val="4A2C6F"/>
                  </a:solidFill>
                  <a:latin typeface="Arial"/>
                  <a:ea typeface="Arial"/>
                  <a:cs typeface="Arial"/>
                  <a:sym typeface="Arial"/>
                </a:defRPr>
              </a:lvl1pPr>
            </a:lstStyle>
            <a:p>
              <a:pPr/>
              <a:r>
                <a:t>Solid, liquid, gas.</a:t>
              </a:r>
            </a:p>
          </p:txBody>
        </p:sp>
      </p:grpSp>
      <p:sp>
        <p:nvSpPr>
          <p:cNvPr id="125" name="dq1_card"/>
          <p:cNvSpPr/>
          <p:nvPr/>
        </p:nvSpPr>
        <p:spPr>
          <a:xfrm>
            <a:off x="6233007" y="2084832"/>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26" name="dq1_n"/>
          <p:cNvSpPr txBox="1"/>
          <p:nvPr/>
        </p:nvSpPr>
        <p:spPr>
          <a:xfrm>
            <a:off x="6379312" y="2230026"/>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2</a:t>
            </a:r>
          </a:p>
        </p:txBody>
      </p:sp>
      <p:sp>
        <p:nvSpPr>
          <p:cNvPr id="127" name="dq1_q"/>
          <p:cNvSpPr txBox="1"/>
          <p:nvPr/>
        </p:nvSpPr>
        <p:spPr>
          <a:xfrm>
            <a:off x="6708496" y="2176272"/>
            <a:ext cx="4797400" cy="18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Which piece of equipment measures temperature?</a:t>
            </a:r>
          </a:p>
        </p:txBody>
      </p:sp>
      <p:grpSp>
        <p:nvGrpSpPr>
          <p:cNvPr id="130" name="dq1_a"/>
          <p:cNvGrpSpPr/>
          <p:nvPr/>
        </p:nvGrpSpPr>
        <p:grpSpPr>
          <a:xfrm>
            <a:off x="6708495" y="2688335"/>
            <a:ext cx="4797401" cy="329185"/>
            <a:chOff x="0" y="0"/>
            <a:chExt cx="4797399" cy="329184"/>
          </a:xfrm>
        </p:grpSpPr>
        <p:sp>
          <p:nvSpPr>
            <p:cNvPr id="128"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29" name="A thermometer."/>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sz="1100">
                  <a:solidFill>
                    <a:srgbClr val="4A2C6F"/>
                  </a:solidFill>
                  <a:latin typeface="Arial"/>
                  <a:ea typeface="Arial"/>
                  <a:cs typeface="Arial"/>
                  <a:sym typeface="Arial"/>
                </a:defRPr>
              </a:lvl1pPr>
            </a:lstStyle>
            <a:p>
              <a:pPr/>
              <a:r>
                <a:t>A thermometer.</a:t>
              </a:r>
            </a:p>
          </p:txBody>
        </p:sp>
      </p:grpSp>
      <p:sp>
        <p:nvSpPr>
          <p:cNvPr id="131" name="dq2_card"/>
          <p:cNvSpPr/>
          <p:nvPr/>
        </p:nvSpPr>
        <p:spPr>
          <a:xfrm>
            <a:off x="502919" y="3346703"/>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32" name="dq2_n"/>
          <p:cNvSpPr txBox="1"/>
          <p:nvPr/>
        </p:nvSpPr>
        <p:spPr>
          <a:xfrm>
            <a:off x="649223" y="3491898"/>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3</a:t>
            </a:r>
          </a:p>
        </p:txBody>
      </p:sp>
      <p:sp>
        <p:nvSpPr>
          <p:cNvPr id="133" name="dq2_q"/>
          <p:cNvSpPr txBox="1"/>
          <p:nvPr/>
        </p:nvSpPr>
        <p:spPr>
          <a:xfrm>
            <a:off x="978408" y="3438144"/>
            <a:ext cx="4797400" cy="18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Which sense would you use to tell whether a room is cold?</a:t>
            </a:r>
          </a:p>
        </p:txBody>
      </p:sp>
      <p:grpSp>
        <p:nvGrpSpPr>
          <p:cNvPr id="136" name="dq2_a"/>
          <p:cNvGrpSpPr/>
          <p:nvPr/>
        </p:nvGrpSpPr>
        <p:grpSpPr>
          <a:xfrm>
            <a:off x="978408" y="3950208"/>
            <a:ext cx="4797400" cy="329185"/>
            <a:chOff x="0" y="0"/>
            <a:chExt cx="4797399" cy="329184"/>
          </a:xfrm>
        </p:grpSpPr>
        <p:sp>
          <p:nvSpPr>
            <p:cNvPr id="134"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35" name="Touch — you feel it."/>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sz="1100">
                  <a:solidFill>
                    <a:srgbClr val="4A2C6F"/>
                  </a:solidFill>
                  <a:latin typeface="Arial"/>
                  <a:ea typeface="Arial"/>
                  <a:cs typeface="Arial"/>
                  <a:sym typeface="Arial"/>
                </a:defRPr>
              </a:lvl1pPr>
            </a:lstStyle>
            <a:p>
              <a:pPr/>
              <a:r>
                <a:t>Touch — you feel it.</a:t>
              </a:r>
            </a:p>
          </p:txBody>
        </p:sp>
      </p:grpSp>
      <p:sp>
        <p:nvSpPr>
          <p:cNvPr id="137" name="dq3_card"/>
          <p:cNvSpPr/>
          <p:nvPr/>
        </p:nvSpPr>
        <p:spPr>
          <a:xfrm>
            <a:off x="6233007" y="3346703"/>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38" name="dq3_n"/>
          <p:cNvSpPr txBox="1"/>
          <p:nvPr/>
        </p:nvSpPr>
        <p:spPr>
          <a:xfrm>
            <a:off x="6379312" y="3491898"/>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4</a:t>
            </a:r>
          </a:p>
        </p:txBody>
      </p:sp>
      <p:sp>
        <p:nvSpPr>
          <p:cNvPr id="139" name="dq3_q"/>
          <p:cNvSpPr txBox="1"/>
          <p:nvPr/>
        </p:nvSpPr>
        <p:spPr>
          <a:xfrm>
            <a:off x="6708496" y="3438144"/>
            <a:ext cx="4797400" cy="18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Name one thing a scientist does.</a:t>
            </a:r>
          </a:p>
        </p:txBody>
      </p:sp>
      <p:grpSp>
        <p:nvGrpSpPr>
          <p:cNvPr id="142" name="dq3_a"/>
          <p:cNvGrpSpPr/>
          <p:nvPr/>
        </p:nvGrpSpPr>
        <p:grpSpPr>
          <a:xfrm>
            <a:off x="6708495" y="3950208"/>
            <a:ext cx="4797401" cy="329185"/>
            <a:chOff x="0" y="0"/>
            <a:chExt cx="4797399" cy="329184"/>
          </a:xfrm>
        </p:grpSpPr>
        <p:sp>
          <p:nvSpPr>
            <p:cNvPr id="140"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41" name="e.g. measures, tests, asks questions, records results."/>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sz="1100">
                  <a:solidFill>
                    <a:srgbClr val="4A2C6F"/>
                  </a:solidFill>
                  <a:latin typeface="Arial"/>
                  <a:ea typeface="Arial"/>
                  <a:cs typeface="Arial"/>
                  <a:sym typeface="Arial"/>
                </a:defRPr>
              </a:lvl1pPr>
            </a:lstStyle>
            <a:p>
              <a:pPr/>
              <a:r>
                <a:t>e.g. measures, tests, asks questions, records results.</a:t>
              </a:r>
            </a:p>
          </p:txBody>
        </p:sp>
      </p:grpSp>
      <p:sp>
        <p:nvSpPr>
          <p:cNvPr id="143" name="dq4_card"/>
          <p:cNvSpPr/>
          <p:nvPr/>
        </p:nvSpPr>
        <p:spPr>
          <a:xfrm>
            <a:off x="502919" y="4608576"/>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44" name="dq4_n"/>
          <p:cNvSpPr txBox="1"/>
          <p:nvPr/>
        </p:nvSpPr>
        <p:spPr>
          <a:xfrm>
            <a:off x="649223" y="4753770"/>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5</a:t>
            </a:r>
          </a:p>
        </p:txBody>
      </p:sp>
      <p:sp>
        <p:nvSpPr>
          <p:cNvPr id="145" name="dq4_q"/>
          <p:cNvSpPr txBox="1"/>
          <p:nvPr/>
        </p:nvSpPr>
        <p:spPr>
          <a:xfrm>
            <a:off x="978408" y="4700015"/>
            <a:ext cx="4797400"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True or false: in a lab you may taste a substance to work out what it is.</a:t>
            </a:r>
          </a:p>
        </p:txBody>
      </p:sp>
      <p:grpSp>
        <p:nvGrpSpPr>
          <p:cNvPr id="148" name="dq4_a"/>
          <p:cNvGrpSpPr/>
          <p:nvPr/>
        </p:nvGrpSpPr>
        <p:grpSpPr>
          <a:xfrm>
            <a:off x="978408" y="5212079"/>
            <a:ext cx="4797400" cy="329185"/>
            <a:chOff x="0" y="0"/>
            <a:chExt cx="4797399" cy="329184"/>
          </a:xfrm>
        </p:grpSpPr>
        <p:sp>
          <p:nvSpPr>
            <p:cNvPr id="146"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47" name="FALSE. Never taste anything in a lab."/>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sz="1100">
                  <a:solidFill>
                    <a:srgbClr val="4A2C6F"/>
                  </a:solidFill>
                  <a:latin typeface="Arial"/>
                  <a:ea typeface="Arial"/>
                  <a:cs typeface="Arial"/>
                  <a:sym typeface="Arial"/>
                </a:defRPr>
              </a:lvl1pPr>
            </a:lstStyle>
            <a:p>
              <a:pPr/>
              <a:r>
                <a:t>FALSE. Never taste anything in a lab.</a:t>
              </a:r>
            </a:p>
          </p:txBody>
        </p:sp>
      </p:grpSp>
      <p:sp>
        <p:nvSpPr>
          <p:cNvPr id="149" name="dq5_card"/>
          <p:cNvSpPr/>
          <p:nvPr/>
        </p:nvSpPr>
        <p:spPr>
          <a:xfrm>
            <a:off x="6233007" y="4608576"/>
            <a:ext cx="5455770" cy="1060705"/>
          </a:xfrm>
          <a:prstGeom prst="roundRect">
            <a:avLst>
              <a:gd name="adj" fmla="val 12069"/>
            </a:avLst>
          </a:prstGeom>
          <a:solidFill>
            <a:srgbClr val="FFFFFF"/>
          </a:solidFill>
          <a:ln w="15875">
            <a:solidFill>
              <a:srgbClr val="E3DAF0"/>
            </a:solidFill>
          </a:ln>
        </p:spPr>
        <p:txBody>
          <a:bodyPr lIns="45719" rIns="45719"/>
          <a:lstStyle/>
          <a:p>
            <a:pPr/>
          </a:p>
        </p:txBody>
      </p:sp>
      <p:sp>
        <p:nvSpPr>
          <p:cNvPr id="150" name="dq5_n"/>
          <p:cNvSpPr txBox="1"/>
          <p:nvPr/>
        </p:nvSpPr>
        <p:spPr>
          <a:xfrm>
            <a:off x="6379312" y="4753770"/>
            <a:ext cx="274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2A03D"/>
                </a:solidFill>
                <a:latin typeface="Arial"/>
                <a:ea typeface="Arial"/>
                <a:cs typeface="Arial"/>
                <a:sym typeface="Arial"/>
              </a:defRPr>
            </a:lvl1pPr>
          </a:lstStyle>
          <a:p>
            <a:pPr/>
            <a:r>
              <a:t>6</a:t>
            </a:r>
          </a:p>
        </p:txBody>
      </p:sp>
      <p:sp>
        <p:nvSpPr>
          <p:cNvPr id="151" name="dq5_q"/>
          <p:cNvSpPr txBox="1"/>
          <p:nvPr/>
        </p:nvSpPr>
        <p:spPr>
          <a:xfrm>
            <a:off x="6708496" y="4700015"/>
            <a:ext cx="4797400"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241535"/>
                </a:solidFill>
                <a:latin typeface="Arial"/>
                <a:ea typeface="Arial"/>
                <a:cs typeface="Arial"/>
                <a:sym typeface="Arial"/>
              </a:defRPr>
            </a:lvl1pPr>
          </a:lstStyle>
          <a:p>
            <a:pPr/>
            <a:r>
              <a:t>People say durian makes you feel hot. How could you find out whether that is true?</a:t>
            </a:r>
          </a:p>
        </p:txBody>
      </p:sp>
      <p:grpSp>
        <p:nvGrpSpPr>
          <p:cNvPr id="154" name="dq5_a"/>
          <p:cNvGrpSpPr/>
          <p:nvPr/>
        </p:nvGrpSpPr>
        <p:grpSpPr>
          <a:xfrm>
            <a:off x="6708495" y="5212079"/>
            <a:ext cx="4797401" cy="329185"/>
            <a:chOff x="0" y="0"/>
            <a:chExt cx="4797399" cy="329184"/>
          </a:xfrm>
        </p:grpSpPr>
        <p:sp>
          <p:nvSpPr>
            <p:cNvPr id="152" name="Rounded Rectangle"/>
            <p:cNvSpPr/>
            <p:nvPr/>
          </p:nvSpPr>
          <p:spPr>
            <a:xfrm>
              <a:off x="0" y="0"/>
              <a:ext cx="4797400" cy="329185"/>
            </a:xfrm>
            <a:prstGeom prst="roundRect">
              <a:avLst>
                <a:gd name="adj" fmla="val 22222"/>
              </a:avLst>
            </a:prstGeom>
            <a:solidFill>
              <a:srgbClr val="FDEFD9"/>
            </a:solidFill>
            <a:ln w="12700" cap="flat">
              <a:solidFill>
                <a:srgbClr val="F2A03D"/>
              </a:solidFill>
              <a:prstDash val="solid"/>
              <a:round/>
            </a:ln>
            <a:effectLst/>
          </p:spPr>
          <p:txBody>
            <a:bodyPr wrap="square" lIns="45719" tIns="45719" rIns="45719" bIns="45719" numCol="1" anchor="ctr">
              <a:noAutofit/>
            </a:bodyPr>
            <a:lstStyle/>
            <a:p>
              <a:pPr>
                <a:defRPr sz="1100"/>
              </a:pPr>
            </a:p>
          </p:txBody>
        </p:sp>
        <p:sp>
          <p:nvSpPr>
            <p:cNvPr id="153" name="The answer will be revealed by the end of this lesson!"/>
            <p:cNvSpPr txBox="1"/>
            <p:nvPr/>
          </p:nvSpPr>
          <p:spPr>
            <a:xfrm>
              <a:off x="27775" y="89915"/>
              <a:ext cx="4741850" cy="149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defRPr b="1" i="1" sz="1100">
                  <a:solidFill>
                    <a:srgbClr val="4A2C6F"/>
                  </a:solidFill>
                  <a:latin typeface="Arial"/>
                  <a:ea typeface="Arial"/>
                  <a:cs typeface="Arial"/>
                  <a:sym typeface="Arial"/>
                </a:defRPr>
              </a:lvl1pPr>
            </a:lstStyle>
            <a:p>
              <a:pPr/>
              <a:r>
                <a:t>The answer will be revealed by the end of this lesson!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24"/>
                                        </p:tgtEl>
                                        <p:attrNameLst>
                                          <p:attrName>style.visibility</p:attrName>
                                        </p:attrNameLst>
                                      </p:cBhvr>
                                      <p:to>
                                        <p:strVal val="visible"/>
                                      </p:to>
                                    </p:set>
                                    <p:animEffect filter="wipe(left)" transition="in">
                                      <p:cBhvr>
                                        <p:cTn id="7" dur="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130"/>
                                        </p:tgtEl>
                                        <p:attrNameLst>
                                          <p:attrName>style.visibility</p:attrName>
                                        </p:attrNameLst>
                                      </p:cBhvr>
                                      <p:to>
                                        <p:strVal val="visible"/>
                                      </p:to>
                                    </p:set>
                                    <p:animEffect filter="wipe(left)" transition="in">
                                      <p:cBhvr>
                                        <p:cTn id="12" dur="500"/>
                                        <p:tgtEl>
                                          <p:spTgt spid="13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136"/>
                                        </p:tgtEl>
                                        <p:attrNameLst>
                                          <p:attrName>style.visibility</p:attrName>
                                        </p:attrNameLst>
                                      </p:cBhvr>
                                      <p:to>
                                        <p:strVal val="visible"/>
                                      </p:to>
                                    </p:set>
                                    <p:animEffect filter="wipe(left)" transition="in">
                                      <p:cBhvr>
                                        <p:cTn id="17" dur="500"/>
                                        <p:tgtEl>
                                          <p:spTgt spid="136"/>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142"/>
                                        </p:tgtEl>
                                        <p:attrNameLst>
                                          <p:attrName>style.visibility</p:attrName>
                                        </p:attrNameLst>
                                      </p:cBhvr>
                                      <p:to>
                                        <p:strVal val="visible"/>
                                      </p:to>
                                    </p:set>
                                    <p:animEffect filter="wipe(left)" transition="in">
                                      <p:cBhvr>
                                        <p:cTn id="22" dur="500"/>
                                        <p:tgtEl>
                                          <p:spTgt spid="14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148"/>
                                        </p:tgtEl>
                                        <p:attrNameLst>
                                          <p:attrName>style.visibility</p:attrName>
                                        </p:attrNameLst>
                                      </p:cBhvr>
                                      <p:to>
                                        <p:strVal val="visible"/>
                                      </p:to>
                                    </p:set>
                                    <p:animEffect filter="wipe(left)" transition="in">
                                      <p:cBhvr>
                                        <p:cTn id="27" dur="500"/>
                                        <p:tgtEl>
                                          <p:spTgt spid="148"/>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154"/>
                                        </p:tgtEl>
                                        <p:attrNameLst>
                                          <p:attrName>style.visibility</p:attrName>
                                        </p:attrNameLst>
                                      </p:cBhvr>
                                      <p:to>
                                        <p:strVal val="visible"/>
                                      </p:to>
                                    </p:set>
                                    <p:animEffect filter="wipe(left)" transition="in">
                                      <p:cBhvr>
                                        <p:cTn id="32"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6" grpId="3"/>
      <p:bldP build="whole" bldLvl="1" animBg="1" rev="0" advAuto="0" spid="124" grpId="1"/>
      <p:bldP build="whole" bldLvl="1" animBg="1" rev="0" advAuto="0" spid="142" grpId="4"/>
      <p:bldP build="whole" bldLvl="1" animBg="1" rev="0" advAuto="0" spid="130" grpId="2"/>
      <p:bldP build="whole" bldLvl="1" animBg="1" rev="0" advAuto="0" spid="148" grpId="5"/>
      <p:bldP build="whole" bldLvl="1" animBg="1" rev="0" advAuto="0" spid="154" grpId="6"/>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60" name="phase_pill"/>
          <p:cNvGrpSpPr/>
          <p:nvPr/>
        </p:nvGrpSpPr>
        <p:grpSpPr>
          <a:xfrm>
            <a:off x="502919" y="274320"/>
            <a:ext cx="2139697" cy="347473"/>
            <a:chOff x="0" y="0"/>
            <a:chExt cx="2139695" cy="347472"/>
          </a:xfrm>
        </p:grpSpPr>
        <p:sp>
          <p:nvSpPr>
            <p:cNvPr id="158" name="Rounded Rectangle"/>
            <p:cNvSpPr/>
            <p:nvPr/>
          </p:nvSpPr>
          <p:spPr>
            <a:xfrm>
              <a:off x="0" y="0"/>
              <a:ext cx="2139696"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59" name="HOOK · 5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HOOK · 5 MIN</a:t>
              </a:r>
            </a:p>
          </p:txBody>
        </p:sp>
      </p:grpSp>
      <p:sp>
        <p:nvSpPr>
          <p:cNvPr id="161" name="slide_title"/>
          <p:cNvSpPr txBox="1"/>
          <p:nvPr/>
        </p:nvSpPr>
        <p:spPr>
          <a:xfrm>
            <a:off x="502919" y="995959"/>
            <a:ext cx="11185857" cy="4952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"Durian is ร้อน"</a:t>
            </a:r>
          </a:p>
        </p:txBody>
      </p:sp>
      <p:sp>
        <p:nvSpPr>
          <p:cNvPr id="162" name="hook_kick"/>
          <p:cNvSpPr txBox="1"/>
          <p:nvPr/>
        </p:nvSpPr>
        <p:spPr>
          <a:xfrm>
            <a:off x="502919" y="1617378"/>
            <a:ext cx="10607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Ask almost anyone in Rayong and they will tell you durian heats you up. Eat too much and you will get a sore throat.</a:t>
            </a:r>
          </a:p>
        </p:txBody>
      </p:sp>
      <p:grpSp>
        <p:nvGrpSpPr>
          <p:cNvPr id="167" name="hk_claim"/>
          <p:cNvGrpSpPr/>
          <p:nvPr/>
        </p:nvGrpSpPr>
        <p:grpSpPr>
          <a:xfrm>
            <a:off x="502919" y="2029967"/>
            <a:ext cx="5029201" cy="2103122"/>
            <a:chOff x="0" y="0"/>
            <a:chExt cx="5029200" cy="2103120"/>
          </a:xfrm>
        </p:grpSpPr>
        <p:sp>
          <p:nvSpPr>
            <p:cNvPr id="163" name="hk_claim_bg"/>
            <p:cNvSpPr/>
            <p:nvPr/>
          </p:nvSpPr>
          <p:spPr>
            <a:xfrm>
              <a:off x="0" y="0"/>
              <a:ext cx="5029200" cy="2103121"/>
            </a:xfrm>
            <a:prstGeom prst="roundRect">
              <a:avLst>
                <a:gd name="adj" fmla="val 6087"/>
              </a:avLst>
            </a:prstGeom>
            <a:solidFill>
              <a:srgbClr val="FDEFD9"/>
            </a:solidFill>
            <a:ln w="21590" cap="flat">
              <a:solidFill>
                <a:srgbClr val="F2A03D"/>
              </a:solidFill>
              <a:prstDash val="solid"/>
              <a:round/>
            </a:ln>
            <a:effectLst/>
          </p:spPr>
          <p:txBody>
            <a:bodyPr wrap="square" lIns="45719" tIns="45719" rIns="45719" bIns="45719" numCol="1" anchor="t">
              <a:noAutofit/>
            </a:bodyPr>
            <a:lstStyle/>
            <a:p>
              <a:pPr/>
            </a:p>
          </p:txBody>
        </p:sp>
        <p:sp>
          <p:nvSpPr>
            <p:cNvPr id="164" name="hk_claim_h"/>
            <p:cNvSpPr txBox="1"/>
            <p:nvPr/>
          </p:nvSpPr>
          <p:spPr>
            <a:xfrm>
              <a:off x="237744" y="246125"/>
              <a:ext cx="4572001"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F2A03D"/>
                  </a:solidFill>
                  <a:latin typeface="Arial"/>
                  <a:ea typeface="Arial"/>
                  <a:cs typeface="Arial"/>
                  <a:sym typeface="Arial"/>
                </a:defRPr>
              </a:lvl1pPr>
            </a:lstStyle>
            <a:p>
              <a:pPr/>
              <a:r>
                <a:t>THE CLAIM</a:t>
              </a:r>
            </a:p>
          </p:txBody>
        </p:sp>
        <p:sp>
          <p:nvSpPr>
            <p:cNvPr id="165" name="hk_claim_t"/>
            <p:cNvSpPr txBox="1"/>
            <p:nvPr/>
          </p:nvSpPr>
          <p:spPr>
            <a:xfrm>
              <a:off x="237744" y="531332"/>
              <a:ext cx="4572001" cy="6015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400"/>
                </a:lnSpc>
                <a:defRPr b="1" sz="1900">
                  <a:solidFill>
                    <a:srgbClr val="4A2C6F"/>
                  </a:solidFill>
                  <a:latin typeface="Georgia"/>
                  <a:ea typeface="Georgia"/>
                  <a:cs typeface="Georgia"/>
                  <a:sym typeface="Georgia"/>
                </a:defRPr>
              </a:lvl1pPr>
            </a:lstStyle>
            <a:p>
              <a:pPr/>
              <a:r>
                <a:t>Eating durian raises your body temperature.</a:t>
              </a:r>
            </a:p>
          </p:txBody>
        </p:sp>
        <p:sp>
          <p:nvSpPr>
            <p:cNvPr id="166" name="hk_claim_b"/>
            <p:cNvSpPr txBox="1"/>
            <p:nvPr/>
          </p:nvSpPr>
          <p:spPr>
            <a:xfrm>
              <a:off x="237744" y="1207008"/>
              <a:ext cx="4572001"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241535"/>
                  </a:solidFill>
                  <a:latin typeface="Arial"/>
                  <a:ea typeface="Arial"/>
                  <a:cs typeface="Arial"/>
                  <a:sym typeface="Arial"/>
                </a:defRPr>
              </a:lvl1pPr>
            </a:lstStyle>
            <a:p>
              <a:pPr/>
              <a:r>
                <a:t>Believed across Thailand, Malaysia and Singapore. Passed down for generations. Ask your grandmother.</a:t>
              </a:r>
            </a:p>
          </p:txBody>
        </p:sp>
      </p:grpSp>
      <p:sp>
        <p:nvSpPr>
          <p:cNvPr id="168" name="hook_q"/>
          <p:cNvSpPr txBox="1"/>
          <p:nvPr/>
        </p:nvSpPr>
        <p:spPr>
          <a:xfrm>
            <a:off x="5989319" y="2169414"/>
            <a:ext cx="5699457"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4A2C6F"/>
                </a:solidFill>
                <a:latin typeface="Georgia"/>
                <a:ea typeface="Georgia"/>
                <a:cs typeface="Georgia"/>
                <a:sym typeface="Georgia"/>
              </a:defRPr>
            </a:lvl1pPr>
          </a:lstStyle>
          <a:p>
            <a:pPr/>
            <a:r>
              <a:t>Is that science?</a:t>
            </a:r>
          </a:p>
        </p:txBody>
      </p:sp>
      <p:grpSp>
        <p:nvGrpSpPr>
          <p:cNvPr id="172" name="hook_opt0"/>
          <p:cNvGrpSpPr/>
          <p:nvPr/>
        </p:nvGrpSpPr>
        <p:grpSpPr>
          <a:xfrm>
            <a:off x="5989319" y="2761488"/>
            <a:ext cx="5699457" cy="512065"/>
            <a:chOff x="0" y="0"/>
            <a:chExt cx="5699455" cy="512063"/>
          </a:xfrm>
        </p:grpSpPr>
        <p:sp>
          <p:nvSpPr>
            <p:cNvPr id="169" name="hook_opt0_bg"/>
            <p:cNvSpPr/>
            <p:nvPr/>
          </p:nvSpPr>
          <p:spPr>
            <a:xfrm>
              <a:off x="-1" y="0"/>
              <a:ext cx="5699457" cy="512064"/>
            </a:xfrm>
            <a:prstGeom prst="roundRect">
              <a:avLst>
                <a:gd name="adj" fmla="val 25000"/>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70" name="hook_opt0_k"/>
            <p:cNvSpPr txBox="1"/>
            <p:nvPr/>
          </p:nvSpPr>
          <p:spPr>
            <a:xfrm>
              <a:off x="182879" y="157340"/>
              <a:ext cx="29260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D94F6A"/>
                  </a:solidFill>
                  <a:latin typeface="Arial"/>
                  <a:ea typeface="Arial"/>
                  <a:cs typeface="Arial"/>
                  <a:sym typeface="Arial"/>
                </a:defRPr>
              </a:lvl1pPr>
            </a:lstStyle>
            <a:p>
              <a:pPr/>
              <a:r>
                <a:t>A</a:t>
              </a:r>
            </a:p>
          </p:txBody>
        </p:sp>
        <p:sp>
          <p:nvSpPr>
            <p:cNvPr id="171" name="hook_opt0_t"/>
            <p:cNvSpPr txBox="1"/>
            <p:nvPr/>
          </p:nvSpPr>
          <p:spPr>
            <a:xfrm>
              <a:off x="548639" y="163482"/>
              <a:ext cx="496793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241535"/>
                  </a:solidFill>
                  <a:latin typeface="Arial"/>
                  <a:ea typeface="Arial"/>
                  <a:cs typeface="Arial"/>
                  <a:sym typeface="Arial"/>
                </a:defRPr>
              </a:lvl1pPr>
            </a:lstStyle>
            <a:p>
              <a:pPr/>
              <a:r>
                <a:t>Yes — millions of people have noticed it.</a:t>
              </a:r>
            </a:p>
          </p:txBody>
        </p:sp>
      </p:grpSp>
      <p:grpSp>
        <p:nvGrpSpPr>
          <p:cNvPr id="176" name="hook_opt1"/>
          <p:cNvGrpSpPr/>
          <p:nvPr/>
        </p:nvGrpSpPr>
        <p:grpSpPr>
          <a:xfrm>
            <a:off x="5989319" y="3401567"/>
            <a:ext cx="5699457" cy="512065"/>
            <a:chOff x="0" y="0"/>
            <a:chExt cx="5699455" cy="512063"/>
          </a:xfrm>
        </p:grpSpPr>
        <p:sp>
          <p:nvSpPr>
            <p:cNvPr id="173" name="hook_opt1_bg"/>
            <p:cNvSpPr/>
            <p:nvPr/>
          </p:nvSpPr>
          <p:spPr>
            <a:xfrm>
              <a:off x="-1" y="0"/>
              <a:ext cx="5699457" cy="512064"/>
            </a:xfrm>
            <a:prstGeom prst="roundRect">
              <a:avLst>
                <a:gd name="adj" fmla="val 25000"/>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74" name="hook_opt1_k"/>
            <p:cNvSpPr txBox="1"/>
            <p:nvPr/>
          </p:nvSpPr>
          <p:spPr>
            <a:xfrm>
              <a:off x="182879" y="157340"/>
              <a:ext cx="29260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D94F6A"/>
                  </a:solidFill>
                  <a:latin typeface="Arial"/>
                  <a:ea typeface="Arial"/>
                  <a:cs typeface="Arial"/>
                  <a:sym typeface="Arial"/>
                </a:defRPr>
              </a:lvl1pPr>
            </a:lstStyle>
            <a:p>
              <a:pPr/>
              <a:r>
                <a:t>B</a:t>
              </a:r>
            </a:p>
          </p:txBody>
        </p:sp>
        <p:sp>
          <p:nvSpPr>
            <p:cNvPr id="175" name="hook_opt1_t"/>
            <p:cNvSpPr txBox="1"/>
            <p:nvPr/>
          </p:nvSpPr>
          <p:spPr>
            <a:xfrm>
              <a:off x="548639" y="163482"/>
              <a:ext cx="496793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241535"/>
                  </a:solidFill>
                  <a:latin typeface="Arial"/>
                  <a:ea typeface="Arial"/>
                  <a:cs typeface="Arial"/>
                  <a:sym typeface="Arial"/>
                </a:defRPr>
              </a:lvl1pPr>
            </a:lstStyle>
            <a:p>
              <a:pPr/>
              <a:r>
                <a:t>No — it is just an old saying.</a:t>
              </a:r>
            </a:p>
          </p:txBody>
        </p:sp>
      </p:grpSp>
      <p:grpSp>
        <p:nvGrpSpPr>
          <p:cNvPr id="180" name="hook_opt2"/>
          <p:cNvGrpSpPr/>
          <p:nvPr/>
        </p:nvGrpSpPr>
        <p:grpSpPr>
          <a:xfrm>
            <a:off x="5989319" y="4041647"/>
            <a:ext cx="5699457" cy="512065"/>
            <a:chOff x="0" y="0"/>
            <a:chExt cx="5699455" cy="512063"/>
          </a:xfrm>
        </p:grpSpPr>
        <p:sp>
          <p:nvSpPr>
            <p:cNvPr id="177" name="hook_opt2_bg"/>
            <p:cNvSpPr/>
            <p:nvPr/>
          </p:nvSpPr>
          <p:spPr>
            <a:xfrm>
              <a:off x="-1" y="0"/>
              <a:ext cx="5699457" cy="512064"/>
            </a:xfrm>
            <a:prstGeom prst="roundRect">
              <a:avLst>
                <a:gd name="adj" fmla="val 25000"/>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78" name="hook_opt2_k"/>
            <p:cNvSpPr txBox="1"/>
            <p:nvPr/>
          </p:nvSpPr>
          <p:spPr>
            <a:xfrm>
              <a:off x="182879" y="157340"/>
              <a:ext cx="29260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D94F6A"/>
                  </a:solidFill>
                  <a:latin typeface="Arial"/>
                  <a:ea typeface="Arial"/>
                  <a:cs typeface="Arial"/>
                  <a:sym typeface="Arial"/>
                </a:defRPr>
              </a:lvl1pPr>
            </a:lstStyle>
            <a:p>
              <a:pPr/>
              <a:r>
                <a:t>C</a:t>
              </a:r>
            </a:p>
          </p:txBody>
        </p:sp>
        <p:sp>
          <p:nvSpPr>
            <p:cNvPr id="179" name="hook_opt2_t"/>
            <p:cNvSpPr txBox="1"/>
            <p:nvPr/>
          </p:nvSpPr>
          <p:spPr>
            <a:xfrm>
              <a:off x="548639" y="163482"/>
              <a:ext cx="496793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241535"/>
                  </a:solidFill>
                  <a:latin typeface="Arial"/>
                  <a:ea typeface="Arial"/>
                  <a:cs typeface="Arial"/>
                  <a:sym typeface="Arial"/>
                </a:defRPr>
              </a:lvl1pPr>
            </a:lstStyle>
            <a:p>
              <a:pPr/>
              <a:r>
                <a:t>You cannot tell yet. It depends how you check.</a:t>
              </a:r>
            </a:p>
          </p:txBody>
        </p:sp>
      </p:grpSp>
      <p:sp>
        <p:nvSpPr>
          <p:cNvPr id="181"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A6180"/>
                </a:solidFill>
                <a:latin typeface="Arial"/>
                <a:ea typeface="Arial"/>
                <a:cs typeface="Arial"/>
                <a:sym typeface="Arial"/>
              </a:defRPr>
            </a:lvl1pPr>
          </a:lstStyle>
          <a:p>
            <a:pPr/>
            <a:r>
              <a:t>Write your letter in the margin. We come back to this at the end of the lesson.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67"/>
                                        </p:tgtEl>
                                        <p:attrNameLst>
                                          <p:attrName>style.visibility</p:attrName>
                                        </p:attrNameLst>
                                      </p:cBhvr>
                                      <p:to>
                                        <p:strVal val="visible"/>
                                      </p:to>
                                    </p:set>
                                    <p:animEffect filter="fade" transition="in">
                                      <p:cBhvr>
                                        <p:cTn id="7" dur="500"/>
                                        <p:tgtEl>
                                          <p:spTgt spid="16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68"/>
                                        </p:tgtEl>
                                        <p:attrNameLst>
                                          <p:attrName>style.visibility</p:attrName>
                                        </p:attrNameLst>
                                      </p:cBhvr>
                                      <p:to>
                                        <p:strVal val="visible"/>
                                      </p:to>
                                    </p:set>
                                    <p:animEffect filter="fade" transition="in">
                                      <p:cBhvr>
                                        <p:cTn id="12" dur="500"/>
                                        <p:tgtEl>
                                          <p:spTgt spid="16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72"/>
                                        </p:tgtEl>
                                        <p:attrNameLst>
                                          <p:attrName>style.visibility</p:attrName>
                                        </p:attrNameLst>
                                      </p:cBhvr>
                                      <p:to>
                                        <p:strVal val="visible"/>
                                      </p:to>
                                    </p:set>
                                    <p:animEffect filter="fade" transition="in">
                                      <p:cBhvr>
                                        <p:cTn id="17" dur="500"/>
                                        <p:tgtEl>
                                          <p:spTgt spid="172"/>
                                        </p:tgtEl>
                                      </p:cBhvr>
                                    </p:animEffect>
                                  </p:childTnLst>
                                </p:cTn>
                              </p:par>
                            </p:childTnLst>
                          </p:cTn>
                        </p:par>
                        <p:par>
                          <p:cTn id="18" fill="hold">
                            <p:stCondLst>
                              <p:cond delay="500"/>
                            </p:stCondLst>
                            <p:childTnLst>
                              <p:par>
                                <p:cTn id="19" presetClass="entr" nodeType="afterEffect" presetID="10" grpId="4" fill="hold">
                                  <p:stCondLst>
                                    <p:cond delay="160"/>
                                  </p:stCondLst>
                                  <p:iterate type="el" backwards="0">
                                    <p:tmAbs val="0"/>
                                  </p:iterate>
                                  <p:childTnLst>
                                    <p:set>
                                      <p:cBhvr>
                                        <p:cTn id="20" fill="hold"/>
                                        <p:tgtEl>
                                          <p:spTgt spid="176"/>
                                        </p:tgtEl>
                                        <p:attrNameLst>
                                          <p:attrName>style.visibility</p:attrName>
                                        </p:attrNameLst>
                                      </p:cBhvr>
                                      <p:to>
                                        <p:strVal val="visible"/>
                                      </p:to>
                                    </p:set>
                                    <p:animEffect filter="fade" transition="in">
                                      <p:cBhvr>
                                        <p:cTn id="21" dur="500"/>
                                        <p:tgtEl>
                                          <p:spTgt spid="176"/>
                                        </p:tgtEl>
                                      </p:cBhvr>
                                    </p:animEffect>
                                  </p:childTnLst>
                                </p:cTn>
                              </p:par>
                            </p:childTnLst>
                          </p:cTn>
                        </p:par>
                        <p:par>
                          <p:cTn id="22" fill="hold">
                            <p:stCondLst>
                              <p:cond delay="1160"/>
                            </p:stCondLst>
                            <p:childTnLst>
                              <p:par>
                                <p:cTn id="23" presetClass="entr" nodeType="afterEffect" presetID="10" grpId="5" fill="hold">
                                  <p:stCondLst>
                                    <p:cond delay="320"/>
                                  </p:stCondLst>
                                  <p:iterate type="el" backwards="0">
                                    <p:tmAbs val="0"/>
                                  </p:iterate>
                                  <p:childTnLst>
                                    <p:set>
                                      <p:cBhvr>
                                        <p:cTn id="24" fill="hold"/>
                                        <p:tgtEl>
                                          <p:spTgt spid="180"/>
                                        </p:tgtEl>
                                        <p:attrNameLst>
                                          <p:attrName>style.visibility</p:attrName>
                                        </p:attrNameLst>
                                      </p:cBhvr>
                                      <p:to>
                                        <p:strVal val="visible"/>
                                      </p:to>
                                    </p:set>
                                    <p:animEffect filter="fade" transition="in">
                                      <p:cBhvr>
                                        <p:cTn id="25" dur="5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2" grpId="3"/>
      <p:bldP build="whole" bldLvl="1" animBg="1" rev="0" advAuto="0" spid="168" grpId="2"/>
      <p:bldP build="whole" bldLvl="1" animBg="1" rev="0" advAuto="0" spid="167" grpId="1"/>
      <p:bldP build="whole" bldLvl="1" animBg="1" rev="0" advAuto="0" spid="180" grpId="5"/>
      <p:bldP build="whole" bldLvl="1" animBg="1" rev="0" advAuto="0" spid="176"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87" name="phase_pill"/>
          <p:cNvGrpSpPr/>
          <p:nvPr/>
        </p:nvGrpSpPr>
        <p:grpSpPr>
          <a:xfrm>
            <a:off x="502919" y="274320"/>
            <a:ext cx="2139697" cy="347473"/>
            <a:chOff x="0" y="0"/>
            <a:chExt cx="2139695" cy="347472"/>
          </a:xfrm>
        </p:grpSpPr>
        <p:sp>
          <p:nvSpPr>
            <p:cNvPr id="185" name="Rounded Rectangle"/>
            <p:cNvSpPr/>
            <p:nvPr/>
          </p:nvSpPr>
          <p:spPr>
            <a:xfrm>
              <a:off x="0" y="0"/>
              <a:ext cx="2139696"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86" name="I DO · 6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I DO · 6 MIN</a:t>
              </a:r>
            </a:p>
          </p:txBody>
        </p:sp>
      </p:grpSp>
      <p:sp>
        <p:nvSpPr>
          <p:cNvPr id="188"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BA6A0"/>
                </a:solidFill>
                <a:latin typeface="Arial"/>
                <a:ea typeface="Arial"/>
                <a:cs typeface="Arial"/>
                <a:sym typeface="Arial"/>
              </a:defRPr>
            </a:lvl1pPr>
          </a:lstStyle>
          <a:p>
            <a:pPr/>
            <a:r>
              <a:t>science   ·   evidence   ·   logic</a:t>
            </a:r>
          </a:p>
        </p:txBody>
      </p:sp>
      <p:sp>
        <p:nvSpPr>
          <p:cNvPr id="189"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What is science, then?</a:t>
            </a:r>
          </a:p>
        </p:txBody>
      </p:sp>
      <p:grpSp>
        <p:nvGrpSpPr>
          <p:cNvPr id="192" name="def"/>
          <p:cNvGrpSpPr/>
          <p:nvPr/>
        </p:nvGrpSpPr>
        <p:grpSpPr>
          <a:xfrm>
            <a:off x="502919" y="1993392"/>
            <a:ext cx="11185857" cy="1005841"/>
            <a:chOff x="0" y="0"/>
            <a:chExt cx="11185855" cy="1005839"/>
          </a:xfrm>
        </p:grpSpPr>
        <p:sp>
          <p:nvSpPr>
            <p:cNvPr id="190" name="def_bg"/>
            <p:cNvSpPr/>
            <p:nvPr/>
          </p:nvSpPr>
          <p:spPr>
            <a:xfrm>
              <a:off x="0" y="0"/>
              <a:ext cx="11185856" cy="1005840"/>
            </a:xfrm>
            <a:prstGeom prst="roundRect">
              <a:avLst>
                <a:gd name="adj" fmla="val 12727"/>
              </a:avLst>
            </a:prstGeom>
            <a:solidFill>
              <a:srgbClr val="EDE6F5"/>
            </a:solidFill>
            <a:ln w="20320" cap="flat">
              <a:solidFill>
                <a:srgbClr val="4A2C6F"/>
              </a:solidFill>
              <a:prstDash val="solid"/>
              <a:round/>
            </a:ln>
            <a:effectLst/>
          </p:spPr>
          <p:txBody>
            <a:bodyPr wrap="square" lIns="45719" tIns="45719" rIns="45719" bIns="45719" numCol="1" anchor="t">
              <a:noAutofit/>
            </a:bodyPr>
            <a:lstStyle/>
            <a:p>
              <a:pPr/>
            </a:p>
          </p:txBody>
        </p:sp>
        <p:sp>
          <p:nvSpPr>
            <p:cNvPr id="191" name="def_t"/>
            <p:cNvSpPr txBox="1"/>
            <p:nvPr/>
          </p:nvSpPr>
          <p:spPr>
            <a:xfrm>
              <a:off x="274320" y="198119"/>
              <a:ext cx="10637216" cy="609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100">
                  <a:solidFill>
                    <a:srgbClr val="4A2C6F"/>
                  </a:solidFill>
                  <a:latin typeface="Georgia"/>
                  <a:ea typeface="Georgia"/>
                  <a:cs typeface="Georgia"/>
                  <a:sym typeface="Georgia"/>
                </a:defRPr>
              </a:lvl1pPr>
            </a:lstStyle>
            <a:p>
              <a:pPr/>
              <a:r>
                <a:t>Science is a way of learning about the natural world, based on evidence and logic.</a:t>
              </a:r>
            </a:p>
          </p:txBody>
        </p:sp>
      </p:grpSp>
      <p:grpSp>
        <p:nvGrpSpPr>
          <p:cNvPr id="196" name="pt0"/>
          <p:cNvGrpSpPr/>
          <p:nvPr/>
        </p:nvGrpSpPr>
        <p:grpSpPr>
          <a:xfrm>
            <a:off x="502919" y="3273552"/>
            <a:ext cx="2645590" cy="1700785"/>
            <a:chOff x="0" y="0"/>
            <a:chExt cx="2645588" cy="1700783"/>
          </a:xfrm>
        </p:grpSpPr>
        <p:sp>
          <p:nvSpPr>
            <p:cNvPr id="193" name="pt0_bg"/>
            <p:cNvSpPr/>
            <p:nvPr/>
          </p:nvSpPr>
          <p:spPr>
            <a:xfrm>
              <a:off x="-1" y="0"/>
              <a:ext cx="2645590" cy="1700784"/>
            </a:xfrm>
            <a:prstGeom prst="roundRect">
              <a:avLst>
                <a:gd name="adj" fmla="val 7527"/>
              </a:avLst>
            </a:prstGeom>
            <a:solidFill>
              <a:srgbClr val="FFFFFF"/>
            </a:solidFill>
            <a:ln w="19050" cap="flat">
              <a:solidFill>
                <a:srgbClr val="6B4E96"/>
              </a:solidFill>
              <a:prstDash val="solid"/>
              <a:round/>
            </a:ln>
            <a:effectLst/>
          </p:spPr>
          <p:txBody>
            <a:bodyPr wrap="square" lIns="45719" tIns="45719" rIns="45719" bIns="45719" numCol="1" anchor="t">
              <a:noAutofit/>
            </a:bodyPr>
            <a:lstStyle/>
            <a:p>
              <a:pPr/>
            </a:p>
          </p:txBody>
        </p:sp>
        <p:sp>
          <p:nvSpPr>
            <p:cNvPr id="194" name="pt0_h"/>
            <p:cNvSpPr txBox="1"/>
            <p:nvPr/>
          </p:nvSpPr>
          <p:spPr>
            <a:xfrm>
              <a:off x="182879" y="164591"/>
              <a:ext cx="2279829"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90" sz="1100">
                  <a:solidFill>
                    <a:srgbClr val="6B4E96"/>
                  </a:solidFill>
                  <a:latin typeface="Arial"/>
                  <a:ea typeface="Arial"/>
                  <a:cs typeface="Arial"/>
                  <a:sym typeface="Arial"/>
                </a:defRPr>
              </a:lvl1pPr>
            </a:lstStyle>
            <a:p>
              <a:pPr/>
              <a:r>
                <a:t>A WAY OF LEARNING</a:t>
              </a:r>
            </a:p>
          </p:txBody>
        </p:sp>
        <p:sp>
          <p:nvSpPr>
            <p:cNvPr id="195" name="pt0_b"/>
            <p:cNvSpPr txBox="1"/>
            <p:nvPr/>
          </p:nvSpPr>
          <p:spPr>
            <a:xfrm>
              <a:off x="182879" y="603503"/>
              <a:ext cx="2279829" cy="1921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You ‘do’ science and produce facts.</a:t>
              </a:r>
            </a:p>
          </p:txBody>
        </p:sp>
      </p:grpSp>
      <p:grpSp>
        <p:nvGrpSpPr>
          <p:cNvPr id="200" name="pt1"/>
          <p:cNvGrpSpPr/>
          <p:nvPr/>
        </p:nvGrpSpPr>
        <p:grpSpPr>
          <a:xfrm>
            <a:off x="3349676" y="3273552"/>
            <a:ext cx="2645589" cy="1700785"/>
            <a:chOff x="0" y="0"/>
            <a:chExt cx="2645588" cy="1700783"/>
          </a:xfrm>
        </p:grpSpPr>
        <p:sp>
          <p:nvSpPr>
            <p:cNvPr id="197" name="pt1_bg"/>
            <p:cNvSpPr/>
            <p:nvPr/>
          </p:nvSpPr>
          <p:spPr>
            <a:xfrm>
              <a:off x="-1" y="0"/>
              <a:ext cx="2645590" cy="1700784"/>
            </a:xfrm>
            <a:prstGeom prst="roundRect">
              <a:avLst>
                <a:gd name="adj" fmla="val 7527"/>
              </a:avLst>
            </a:prstGeom>
            <a:solidFill>
              <a:srgbClr val="FFFFFF"/>
            </a:solidFill>
            <a:ln w="19050" cap="flat">
              <a:solidFill>
                <a:srgbClr val="2BA6A0"/>
              </a:solidFill>
              <a:prstDash val="solid"/>
              <a:round/>
            </a:ln>
            <a:effectLst/>
          </p:spPr>
          <p:txBody>
            <a:bodyPr wrap="square" lIns="45719" tIns="45719" rIns="45719" bIns="45719" numCol="1" anchor="t">
              <a:noAutofit/>
            </a:bodyPr>
            <a:lstStyle/>
            <a:p>
              <a:pPr/>
            </a:p>
          </p:txBody>
        </p:sp>
        <p:sp>
          <p:nvSpPr>
            <p:cNvPr id="198" name="pt1_h"/>
            <p:cNvSpPr txBox="1"/>
            <p:nvPr/>
          </p:nvSpPr>
          <p:spPr>
            <a:xfrm>
              <a:off x="182879" y="164591"/>
              <a:ext cx="2279829"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90" sz="1100">
                  <a:solidFill>
                    <a:srgbClr val="2BA6A0"/>
                  </a:solidFill>
                  <a:latin typeface="Arial"/>
                  <a:ea typeface="Arial"/>
                  <a:cs typeface="Arial"/>
                  <a:sym typeface="Arial"/>
                </a:defRPr>
              </a:lvl1pPr>
            </a:lstStyle>
            <a:p>
              <a:pPr/>
              <a:r>
                <a:t>THE NATURAL WORLD</a:t>
              </a:r>
            </a:p>
          </p:txBody>
        </p:sp>
        <p:sp>
          <p:nvSpPr>
            <p:cNvPr id="199" name="pt1_b"/>
            <p:cNvSpPr txBox="1"/>
            <p:nvPr/>
          </p:nvSpPr>
          <p:spPr>
            <a:xfrm>
              <a:off x="182879" y="603503"/>
              <a:ext cx="2279829" cy="1921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You observe the world around you.</a:t>
              </a:r>
            </a:p>
          </p:txBody>
        </p:sp>
      </p:grpSp>
      <p:grpSp>
        <p:nvGrpSpPr>
          <p:cNvPr id="204" name="pt2"/>
          <p:cNvGrpSpPr/>
          <p:nvPr/>
        </p:nvGrpSpPr>
        <p:grpSpPr>
          <a:xfrm>
            <a:off x="6196431" y="3273552"/>
            <a:ext cx="2645589" cy="1700785"/>
            <a:chOff x="0" y="0"/>
            <a:chExt cx="2645588" cy="1700783"/>
          </a:xfrm>
        </p:grpSpPr>
        <p:sp>
          <p:nvSpPr>
            <p:cNvPr id="201" name="pt2_bg"/>
            <p:cNvSpPr/>
            <p:nvPr/>
          </p:nvSpPr>
          <p:spPr>
            <a:xfrm>
              <a:off x="-1" y="0"/>
              <a:ext cx="2645590" cy="1700784"/>
            </a:xfrm>
            <a:prstGeom prst="roundRect">
              <a:avLst>
                <a:gd name="adj" fmla="val 7527"/>
              </a:avLst>
            </a:prstGeom>
            <a:solidFill>
              <a:srgbClr val="FFFFFF"/>
            </a:solidFill>
            <a:ln w="19050" cap="flat">
              <a:solidFill>
                <a:srgbClr val="F2A03D"/>
              </a:solidFill>
              <a:prstDash val="solid"/>
              <a:round/>
            </a:ln>
            <a:effectLst/>
          </p:spPr>
          <p:txBody>
            <a:bodyPr wrap="square" lIns="45719" tIns="45719" rIns="45719" bIns="45719" numCol="1" anchor="t">
              <a:noAutofit/>
            </a:bodyPr>
            <a:lstStyle/>
            <a:p>
              <a:pPr/>
            </a:p>
          </p:txBody>
        </p:sp>
        <p:sp>
          <p:nvSpPr>
            <p:cNvPr id="202" name="pt2_h"/>
            <p:cNvSpPr txBox="1"/>
            <p:nvPr/>
          </p:nvSpPr>
          <p:spPr>
            <a:xfrm>
              <a:off x="182879" y="164591"/>
              <a:ext cx="2279829"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90" sz="1100">
                  <a:solidFill>
                    <a:srgbClr val="F2A03D"/>
                  </a:solidFill>
                  <a:latin typeface="Arial"/>
                  <a:ea typeface="Arial"/>
                  <a:cs typeface="Arial"/>
                  <a:sym typeface="Arial"/>
                </a:defRPr>
              </a:lvl1pPr>
            </a:lstStyle>
            <a:p>
              <a:pPr/>
              <a:r>
                <a:t>EVIDENCE</a:t>
              </a:r>
            </a:p>
          </p:txBody>
        </p:sp>
        <p:sp>
          <p:nvSpPr>
            <p:cNvPr id="203" name="pt2_b"/>
            <p:cNvSpPr txBox="1"/>
            <p:nvPr/>
          </p:nvSpPr>
          <p:spPr>
            <a:xfrm>
              <a:off x="182879" y="603503"/>
              <a:ext cx="2279829" cy="1921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You measure a thing in the world.</a:t>
              </a:r>
            </a:p>
          </p:txBody>
        </p:sp>
      </p:grpSp>
      <p:grpSp>
        <p:nvGrpSpPr>
          <p:cNvPr id="208" name="pt3"/>
          <p:cNvGrpSpPr/>
          <p:nvPr/>
        </p:nvGrpSpPr>
        <p:grpSpPr>
          <a:xfrm>
            <a:off x="9043186" y="3273552"/>
            <a:ext cx="2645589" cy="1700785"/>
            <a:chOff x="0" y="0"/>
            <a:chExt cx="2645588" cy="1700783"/>
          </a:xfrm>
        </p:grpSpPr>
        <p:sp>
          <p:nvSpPr>
            <p:cNvPr id="205" name="pt3_bg"/>
            <p:cNvSpPr/>
            <p:nvPr/>
          </p:nvSpPr>
          <p:spPr>
            <a:xfrm>
              <a:off x="-1" y="0"/>
              <a:ext cx="2645590" cy="1700784"/>
            </a:xfrm>
            <a:prstGeom prst="roundRect">
              <a:avLst>
                <a:gd name="adj" fmla="val 7527"/>
              </a:avLst>
            </a:prstGeom>
            <a:solidFill>
              <a:srgbClr val="FFFFFF"/>
            </a:solidFill>
            <a:ln w="19050" cap="flat">
              <a:solidFill>
                <a:srgbClr val="D94F6A"/>
              </a:solidFill>
              <a:prstDash val="solid"/>
              <a:round/>
            </a:ln>
            <a:effectLst/>
          </p:spPr>
          <p:txBody>
            <a:bodyPr wrap="square" lIns="45719" tIns="45719" rIns="45719" bIns="45719" numCol="1" anchor="t">
              <a:noAutofit/>
            </a:bodyPr>
            <a:lstStyle/>
            <a:p>
              <a:pPr/>
            </a:p>
          </p:txBody>
        </p:sp>
        <p:sp>
          <p:nvSpPr>
            <p:cNvPr id="206" name="pt3_h"/>
            <p:cNvSpPr txBox="1"/>
            <p:nvPr/>
          </p:nvSpPr>
          <p:spPr>
            <a:xfrm>
              <a:off x="182879" y="164591"/>
              <a:ext cx="2279829"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90" sz="1100">
                  <a:solidFill>
                    <a:srgbClr val="D94F6A"/>
                  </a:solidFill>
                  <a:latin typeface="Arial"/>
                  <a:ea typeface="Arial"/>
                  <a:cs typeface="Arial"/>
                  <a:sym typeface="Arial"/>
                </a:defRPr>
              </a:lvl1pPr>
            </a:lstStyle>
            <a:p>
              <a:pPr/>
              <a:r>
                <a:t>LOGIC</a:t>
              </a:r>
            </a:p>
          </p:txBody>
        </p:sp>
        <p:sp>
          <p:nvSpPr>
            <p:cNvPr id="207" name="pt3_b"/>
            <p:cNvSpPr txBox="1"/>
            <p:nvPr/>
          </p:nvSpPr>
          <p:spPr>
            <a:xfrm>
              <a:off x="182879" y="603503"/>
              <a:ext cx="2279829" cy="3953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The path from evidence to conclusion.</a:t>
              </a:r>
            </a:p>
          </p:txBody>
        </p:sp>
      </p:grpSp>
      <p:grpSp>
        <p:nvGrpSpPr>
          <p:cNvPr id="211" name="def_banner"/>
          <p:cNvGrpSpPr/>
          <p:nvPr/>
        </p:nvGrpSpPr>
        <p:grpSpPr>
          <a:xfrm>
            <a:off x="502919" y="5248655"/>
            <a:ext cx="11185857" cy="603505"/>
            <a:chOff x="0" y="0"/>
            <a:chExt cx="11185855" cy="603504"/>
          </a:xfrm>
        </p:grpSpPr>
        <p:sp>
          <p:nvSpPr>
            <p:cNvPr id="209" name="Rounded Rectangle"/>
            <p:cNvSpPr/>
            <p:nvPr/>
          </p:nvSpPr>
          <p:spPr>
            <a:xfrm>
              <a:off x="0" y="0"/>
              <a:ext cx="11185856" cy="603505"/>
            </a:xfrm>
            <a:prstGeom prst="roundRect">
              <a:avLst>
                <a:gd name="adj" fmla="val 16667"/>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defRPr sz="1400"/>
              </a:pPr>
            </a:p>
          </p:txBody>
        </p:sp>
        <p:sp>
          <p:nvSpPr>
            <p:cNvPr id="210" name="&quot;Everyone says so&quot; and &quot;it has always been that way” are not scientific evidence."/>
            <p:cNvSpPr txBox="1"/>
            <p:nvPr/>
          </p:nvSpPr>
          <p:spPr>
            <a:xfrm>
              <a:off x="34223" y="202044"/>
              <a:ext cx="11117409"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defRPr b="1" sz="1400">
                  <a:solidFill>
                    <a:srgbClr val="F2A03D"/>
                  </a:solidFill>
                  <a:latin typeface="Arial"/>
                  <a:ea typeface="Arial"/>
                  <a:cs typeface="Arial"/>
                  <a:sym typeface="Arial"/>
                </a:defRPr>
              </a:lvl1pPr>
            </a:lstStyle>
            <a:p>
              <a:pPr/>
              <a:r>
                <a:t>"Everyone says so" and "it has always been that way” are not scientific evidence.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92"/>
                                        </p:tgtEl>
                                        <p:attrNameLst>
                                          <p:attrName>style.visibility</p:attrName>
                                        </p:attrNameLst>
                                      </p:cBhvr>
                                      <p:to>
                                        <p:strVal val="visible"/>
                                      </p:to>
                                    </p:set>
                                    <p:anim calcmode="lin" valueType="num">
                                      <p:cBhvr>
                                        <p:cTn id="7" dur="500" fill="hold"/>
                                        <p:tgtEl>
                                          <p:spTgt spid="192"/>
                                        </p:tgtEl>
                                        <p:attrNameLst>
                                          <p:attrName>ppt_w</p:attrName>
                                        </p:attrNameLst>
                                      </p:cBhvr>
                                      <p:tavLst>
                                        <p:tav tm="0">
                                          <p:val>
                                            <p:fltVal val="0"/>
                                          </p:val>
                                        </p:tav>
                                        <p:tav tm="100000">
                                          <p:val>
                                            <p:strVal val="#ppt_w"/>
                                          </p:val>
                                        </p:tav>
                                      </p:tavLst>
                                    </p:anim>
                                    <p:anim calcmode="lin" valueType="num">
                                      <p:cBhvr>
                                        <p:cTn id="8" dur="500" fill="hold"/>
                                        <p:tgtEl>
                                          <p:spTgt spid="19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 presetID="22" grpId="2" fill="hold">
                                  <p:stCondLst>
                                    <p:cond delay="0"/>
                                  </p:stCondLst>
                                  <p:iterate type="el" backwards="0">
                                    <p:tmAbs val="0"/>
                                  </p:iterate>
                                  <p:childTnLst>
                                    <p:set>
                                      <p:cBhvr>
                                        <p:cTn id="12" fill="hold"/>
                                        <p:tgtEl>
                                          <p:spTgt spid="196"/>
                                        </p:tgtEl>
                                        <p:attrNameLst>
                                          <p:attrName>style.visibility</p:attrName>
                                        </p:attrNameLst>
                                      </p:cBhvr>
                                      <p:to>
                                        <p:strVal val="visible"/>
                                      </p:to>
                                    </p:set>
                                    <p:animEffect filter="wipe(up)" transition="in">
                                      <p:cBhvr>
                                        <p:cTn id="13" dur="500"/>
                                        <p:tgtEl>
                                          <p:spTgt spid="196"/>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1" presetID="22" grpId="3" fill="hold">
                                  <p:stCondLst>
                                    <p:cond delay="0"/>
                                  </p:stCondLst>
                                  <p:iterate type="el" backwards="0">
                                    <p:tmAbs val="0"/>
                                  </p:iterate>
                                  <p:childTnLst>
                                    <p:set>
                                      <p:cBhvr>
                                        <p:cTn id="17" fill="hold"/>
                                        <p:tgtEl>
                                          <p:spTgt spid="200"/>
                                        </p:tgtEl>
                                        <p:attrNameLst>
                                          <p:attrName>style.visibility</p:attrName>
                                        </p:attrNameLst>
                                      </p:cBhvr>
                                      <p:to>
                                        <p:strVal val="visible"/>
                                      </p:to>
                                    </p:set>
                                    <p:animEffect filter="wipe(up)" transition="in">
                                      <p:cBhvr>
                                        <p:cTn id="18" dur="500"/>
                                        <p:tgtEl>
                                          <p:spTgt spid="200"/>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 presetID="22" grpId="4" fill="hold">
                                  <p:stCondLst>
                                    <p:cond delay="0"/>
                                  </p:stCondLst>
                                  <p:iterate type="el" backwards="0">
                                    <p:tmAbs val="0"/>
                                  </p:iterate>
                                  <p:childTnLst>
                                    <p:set>
                                      <p:cBhvr>
                                        <p:cTn id="22" fill="hold"/>
                                        <p:tgtEl>
                                          <p:spTgt spid="204"/>
                                        </p:tgtEl>
                                        <p:attrNameLst>
                                          <p:attrName>style.visibility</p:attrName>
                                        </p:attrNameLst>
                                      </p:cBhvr>
                                      <p:to>
                                        <p:strVal val="visible"/>
                                      </p:to>
                                    </p:set>
                                    <p:animEffect filter="wipe(up)" transition="in">
                                      <p:cBhvr>
                                        <p:cTn id="23" dur="500"/>
                                        <p:tgtEl>
                                          <p:spTgt spid="204"/>
                                        </p:tgtEl>
                                      </p:cBhvr>
                                    </p:animEffec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1" presetID="22" grpId="5" fill="hold">
                                  <p:stCondLst>
                                    <p:cond delay="0"/>
                                  </p:stCondLst>
                                  <p:iterate type="el" backwards="0">
                                    <p:tmAbs val="0"/>
                                  </p:iterate>
                                  <p:childTnLst>
                                    <p:set>
                                      <p:cBhvr>
                                        <p:cTn id="27" fill="hold"/>
                                        <p:tgtEl>
                                          <p:spTgt spid="208"/>
                                        </p:tgtEl>
                                        <p:attrNameLst>
                                          <p:attrName>style.visibility</p:attrName>
                                        </p:attrNameLst>
                                      </p:cBhvr>
                                      <p:to>
                                        <p:strVal val="visible"/>
                                      </p:to>
                                    </p:set>
                                    <p:animEffect filter="wipe(up)" transition="in">
                                      <p:cBhvr>
                                        <p:cTn id="28" dur="500"/>
                                        <p:tgtEl>
                                          <p:spTgt spid="208"/>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16" presetID="23" grpId="6" fill="hold">
                                  <p:stCondLst>
                                    <p:cond delay="0"/>
                                  </p:stCondLst>
                                  <p:iterate type="el" backwards="0">
                                    <p:tmAbs val="0"/>
                                  </p:iterate>
                                  <p:childTnLst>
                                    <p:set>
                                      <p:cBhvr>
                                        <p:cTn id="32" fill="hold"/>
                                        <p:tgtEl>
                                          <p:spTgt spid="211"/>
                                        </p:tgtEl>
                                        <p:attrNameLst>
                                          <p:attrName>style.visibility</p:attrName>
                                        </p:attrNameLst>
                                      </p:cBhvr>
                                      <p:to>
                                        <p:strVal val="visible"/>
                                      </p:to>
                                    </p:set>
                                    <p:anim calcmode="lin" valueType="num">
                                      <p:cBhvr>
                                        <p:cTn id="33" dur="500" fill="hold"/>
                                        <p:tgtEl>
                                          <p:spTgt spid="211"/>
                                        </p:tgtEl>
                                        <p:attrNameLst>
                                          <p:attrName>ppt_w</p:attrName>
                                        </p:attrNameLst>
                                      </p:cBhvr>
                                      <p:tavLst>
                                        <p:tav tm="0">
                                          <p:val>
                                            <p:fltVal val="0"/>
                                          </p:val>
                                        </p:tav>
                                        <p:tav tm="100000">
                                          <p:val>
                                            <p:strVal val="#ppt_w"/>
                                          </p:val>
                                        </p:tav>
                                      </p:tavLst>
                                    </p:anim>
                                    <p:anim calcmode="lin" valueType="num">
                                      <p:cBhvr>
                                        <p:cTn id="34" dur="500" fill="hold"/>
                                        <p:tgtEl>
                                          <p:spTgt spid="2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1" grpId="6"/>
      <p:bldP build="whole" bldLvl="1" animBg="1" rev="0" advAuto="0" spid="192" grpId="1"/>
      <p:bldP build="whole" bldLvl="1" animBg="1" rev="0" advAuto="0" spid="196" grpId="2"/>
      <p:bldP build="whole" bldLvl="1" animBg="1" rev="0" advAuto="0" spid="200" grpId="3"/>
      <p:bldP build="whole" bldLvl="1" animBg="1" rev="0" advAuto="0" spid="204" grpId="4"/>
      <p:bldP build="whole" bldLvl="1" animBg="1" rev="0" advAuto="0" spid="208"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17" name="phase_pill"/>
          <p:cNvGrpSpPr/>
          <p:nvPr/>
        </p:nvGrpSpPr>
        <p:grpSpPr>
          <a:xfrm>
            <a:off x="502919" y="274320"/>
            <a:ext cx="2286001" cy="347473"/>
            <a:chOff x="0" y="0"/>
            <a:chExt cx="2286000" cy="347472"/>
          </a:xfrm>
        </p:grpSpPr>
        <p:sp>
          <p:nvSpPr>
            <p:cNvPr id="215" name="Rounded Rectangle"/>
            <p:cNvSpPr/>
            <p:nvPr/>
          </p:nvSpPr>
          <p:spPr>
            <a:xfrm>
              <a:off x="0" y="0"/>
              <a:ext cx="2286000"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16" name="WE DO · 5 MIN"/>
            <p:cNvSpPr txBox="1"/>
            <p:nvPr/>
          </p:nvSpPr>
          <p:spPr>
            <a:xfrm>
              <a:off x="50885" y="99821"/>
              <a:ext cx="218423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WE DO · 5 MIN</a:t>
              </a:r>
            </a:p>
          </p:txBody>
        </p:sp>
      </p:grpSp>
      <p:sp>
        <p:nvSpPr>
          <p:cNvPr id="218"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BA6A0"/>
                </a:solidFill>
                <a:latin typeface="Arial"/>
                <a:ea typeface="Arial"/>
                <a:cs typeface="Arial"/>
                <a:sym typeface="Arial"/>
              </a:defRPr>
            </a:lvl1pPr>
          </a:lstStyle>
          <a:p>
            <a:pPr/>
            <a:r>
              <a:t>evidence</a:t>
            </a:r>
          </a:p>
        </p:txBody>
      </p:sp>
      <p:sp>
        <p:nvSpPr>
          <p:cNvPr id="219"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Can science answer this question?</a:t>
            </a:r>
          </a:p>
        </p:txBody>
      </p:sp>
      <p:sp>
        <p:nvSpPr>
          <p:cNvPr id="220" name="cs_intro"/>
          <p:cNvSpPr txBox="1"/>
          <p:nvPr/>
        </p:nvSpPr>
        <p:spPr>
          <a:xfrm>
            <a:off x="502919" y="1617378"/>
            <a:ext cx="100584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Thumbs up for yes, thumbs down for no. Everyone votes before I click.</a:t>
            </a:r>
          </a:p>
        </p:txBody>
      </p:sp>
      <p:sp>
        <p:nvSpPr>
          <p:cNvPr id="221" name="cr0_bg"/>
          <p:cNvSpPr/>
          <p:nvPr/>
        </p:nvSpPr>
        <p:spPr>
          <a:xfrm>
            <a:off x="502919" y="2103120"/>
            <a:ext cx="11185857" cy="548641"/>
          </a:xfrm>
          <a:prstGeom prst="roundRect">
            <a:avLst>
              <a:gd name="adj" fmla="val 23333"/>
            </a:avLst>
          </a:prstGeom>
          <a:solidFill>
            <a:srgbClr val="FFFFFF"/>
          </a:solidFill>
          <a:ln w="15875">
            <a:solidFill>
              <a:srgbClr val="E3DAF0"/>
            </a:solidFill>
          </a:ln>
        </p:spPr>
        <p:txBody>
          <a:bodyPr lIns="45719" rIns="45719"/>
          <a:lstStyle/>
          <a:p>
            <a:pPr/>
          </a:p>
        </p:txBody>
      </p:sp>
      <p:sp>
        <p:nvSpPr>
          <p:cNvPr id="222" name="cr0_q"/>
          <p:cNvSpPr txBox="1"/>
          <p:nvPr/>
        </p:nvSpPr>
        <p:spPr>
          <a:xfrm>
            <a:off x="722376" y="2291032"/>
            <a:ext cx="475488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Does eating durian raise your body temperature?</a:t>
            </a:r>
          </a:p>
        </p:txBody>
      </p:sp>
      <p:grpSp>
        <p:nvGrpSpPr>
          <p:cNvPr id="225" name="cr0_v"/>
          <p:cNvGrpSpPr/>
          <p:nvPr/>
        </p:nvGrpSpPr>
        <p:grpSpPr>
          <a:xfrm>
            <a:off x="5623559" y="2176272"/>
            <a:ext cx="841249" cy="402337"/>
            <a:chOff x="0" y="0"/>
            <a:chExt cx="841247" cy="402336"/>
          </a:xfrm>
        </p:grpSpPr>
        <p:sp>
          <p:nvSpPr>
            <p:cNvPr id="223" name="Rounded Rectangle"/>
            <p:cNvSpPr/>
            <p:nvPr/>
          </p:nvSpPr>
          <p:spPr>
            <a:xfrm>
              <a:off x="0" y="0"/>
              <a:ext cx="841248" cy="402337"/>
            </a:xfrm>
            <a:prstGeom prst="roundRect">
              <a:avLst>
                <a:gd name="adj" fmla="val 20455"/>
              </a:avLst>
            </a:prstGeom>
            <a:solidFill>
              <a:srgbClr val="FFFFFF"/>
            </a:solidFill>
            <a:ln w="19050" cap="flat">
              <a:solidFill>
                <a:srgbClr val="2BA6A0"/>
              </a:solidFill>
              <a:prstDash val="solid"/>
              <a:round/>
            </a:ln>
            <a:effectLst/>
          </p:spPr>
          <p:txBody>
            <a:bodyPr wrap="square" lIns="45719" tIns="45719" rIns="45719" bIns="45719" numCol="1" anchor="ctr">
              <a:noAutofit/>
            </a:bodyPr>
            <a:lstStyle/>
            <a:p>
              <a:pPr algn="ctr">
                <a:defRPr sz="1100"/>
              </a:pPr>
            </a:p>
          </p:txBody>
        </p:sp>
        <p:sp>
          <p:nvSpPr>
            <p:cNvPr id="224" name="YES"/>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2BA6A0"/>
                  </a:solidFill>
                  <a:latin typeface="Arial"/>
                  <a:ea typeface="Arial"/>
                  <a:cs typeface="Arial"/>
                  <a:sym typeface="Arial"/>
                </a:defRPr>
              </a:lvl1pPr>
            </a:lstStyle>
            <a:p>
              <a:pPr/>
              <a:r>
                <a:t>YES</a:t>
              </a:r>
            </a:p>
          </p:txBody>
        </p:sp>
      </p:grpSp>
      <p:sp>
        <p:nvSpPr>
          <p:cNvPr id="226" name="cr0_w"/>
          <p:cNvSpPr txBox="1"/>
          <p:nvPr/>
        </p:nvSpPr>
        <p:spPr>
          <a:xfrm>
            <a:off x="6629400" y="2291517"/>
            <a:ext cx="5059375"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You can measure a temperature. That is all it takes to prove the claim.</a:t>
            </a:r>
          </a:p>
        </p:txBody>
      </p:sp>
      <p:sp>
        <p:nvSpPr>
          <p:cNvPr id="227" name="cr1_bg"/>
          <p:cNvSpPr/>
          <p:nvPr/>
        </p:nvSpPr>
        <p:spPr>
          <a:xfrm>
            <a:off x="502919" y="2761488"/>
            <a:ext cx="11185857" cy="548641"/>
          </a:xfrm>
          <a:prstGeom prst="roundRect">
            <a:avLst>
              <a:gd name="adj" fmla="val 23333"/>
            </a:avLst>
          </a:prstGeom>
          <a:solidFill>
            <a:srgbClr val="FFFFFF"/>
          </a:solidFill>
          <a:ln w="15875">
            <a:solidFill>
              <a:srgbClr val="E3DAF0"/>
            </a:solidFill>
          </a:ln>
        </p:spPr>
        <p:txBody>
          <a:bodyPr lIns="45719" rIns="45719"/>
          <a:lstStyle/>
          <a:p>
            <a:pPr/>
          </a:p>
        </p:txBody>
      </p:sp>
      <p:sp>
        <p:nvSpPr>
          <p:cNvPr id="228" name="cr1_q"/>
          <p:cNvSpPr txBox="1"/>
          <p:nvPr/>
        </p:nvSpPr>
        <p:spPr>
          <a:xfrm>
            <a:off x="722376" y="2949400"/>
            <a:ext cx="475488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Is durian the best fruit in Thailand?</a:t>
            </a:r>
          </a:p>
        </p:txBody>
      </p:sp>
      <p:grpSp>
        <p:nvGrpSpPr>
          <p:cNvPr id="231" name="cr1_v"/>
          <p:cNvGrpSpPr/>
          <p:nvPr/>
        </p:nvGrpSpPr>
        <p:grpSpPr>
          <a:xfrm>
            <a:off x="5623559" y="2834639"/>
            <a:ext cx="841249" cy="402337"/>
            <a:chOff x="0" y="0"/>
            <a:chExt cx="841247" cy="402336"/>
          </a:xfrm>
        </p:grpSpPr>
        <p:sp>
          <p:nvSpPr>
            <p:cNvPr id="229" name="Rounded Rectangle"/>
            <p:cNvSpPr/>
            <p:nvPr/>
          </p:nvSpPr>
          <p:spPr>
            <a:xfrm>
              <a:off x="0" y="0"/>
              <a:ext cx="841248" cy="402337"/>
            </a:xfrm>
            <a:prstGeom prst="roundRect">
              <a:avLst>
                <a:gd name="adj" fmla="val 20455"/>
              </a:avLst>
            </a:prstGeom>
            <a:solidFill>
              <a:srgbClr val="FFFFFF"/>
            </a:solidFill>
            <a:ln w="19050" cap="flat">
              <a:solidFill>
                <a:srgbClr val="D94F6A"/>
              </a:solidFill>
              <a:prstDash val="solid"/>
              <a:round/>
            </a:ln>
            <a:effectLst/>
          </p:spPr>
          <p:txBody>
            <a:bodyPr wrap="square" lIns="45719" tIns="45719" rIns="45719" bIns="45719" numCol="1" anchor="ctr">
              <a:noAutofit/>
            </a:bodyPr>
            <a:lstStyle/>
            <a:p>
              <a:pPr algn="ctr">
                <a:defRPr sz="1100"/>
              </a:pPr>
            </a:p>
          </p:txBody>
        </p:sp>
        <p:sp>
          <p:nvSpPr>
            <p:cNvPr id="230" name="NO"/>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D94F6A"/>
                  </a:solidFill>
                  <a:latin typeface="Arial"/>
                  <a:ea typeface="Arial"/>
                  <a:cs typeface="Arial"/>
                  <a:sym typeface="Arial"/>
                </a:defRPr>
              </a:lvl1pPr>
            </a:lstStyle>
            <a:p>
              <a:pPr/>
              <a:r>
                <a:t>NO</a:t>
              </a:r>
            </a:p>
          </p:txBody>
        </p:sp>
      </p:grpSp>
      <p:sp>
        <p:nvSpPr>
          <p:cNvPr id="232" name="cr1_w"/>
          <p:cNvSpPr txBox="1"/>
          <p:nvPr/>
        </p:nvSpPr>
        <p:spPr>
          <a:xfrm>
            <a:off x="6629400" y="2949885"/>
            <a:ext cx="5059375"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There is nothing to measure. "Best" is an opinion, and opinions are not scientific.</a:t>
            </a:r>
          </a:p>
        </p:txBody>
      </p:sp>
      <p:sp>
        <p:nvSpPr>
          <p:cNvPr id="233" name="cr2_bg"/>
          <p:cNvSpPr/>
          <p:nvPr/>
        </p:nvSpPr>
        <p:spPr>
          <a:xfrm>
            <a:off x="502919" y="3419855"/>
            <a:ext cx="11185857" cy="548641"/>
          </a:xfrm>
          <a:prstGeom prst="roundRect">
            <a:avLst>
              <a:gd name="adj" fmla="val 23333"/>
            </a:avLst>
          </a:prstGeom>
          <a:solidFill>
            <a:srgbClr val="FFFFFF"/>
          </a:solidFill>
          <a:ln w="15875">
            <a:solidFill>
              <a:srgbClr val="E3DAF0"/>
            </a:solidFill>
          </a:ln>
        </p:spPr>
        <p:txBody>
          <a:bodyPr lIns="45719" rIns="45719"/>
          <a:lstStyle/>
          <a:p>
            <a:pPr/>
          </a:p>
        </p:txBody>
      </p:sp>
      <p:sp>
        <p:nvSpPr>
          <p:cNvPr id="234" name="cr2_q"/>
          <p:cNvSpPr txBox="1"/>
          <p:nvPr/>
        </p:nvSpPr>
        <p:spPr>
          <a:xfrm>
            <a:off x="722376" y="3607768"/>
            <a:ext cx="475488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How far away is the Moon?</a:t>
            </a:r>
          </a:p>
        </p:txBody>
      </p:sp>
      <p:grpSp>
        <p:nvGrpSpPr>
          <p:cNvPr id="237" name="cr2_v"/>
          <p:cNvGrpSpPr/>
          <p:nvPr/>
        </p:nvGrpSpPr>
        <p:grpSpPr>
          <a:xfrm>
            <a:off x="5623559" y="3493008"/>
            <a:ext cx="841249" cy="402337"/>
            <a:chOff x="0" y="0"/>
            <a:chExt cx="841247" cy="402336"/>
          </a:xfrm>
        </p:grpSpPr>
        <p:sp>
          <p:nvSpPr>
            <p:cNvPr id="235" name="Rounded Rectangle"/>
            <p:cNvSpPr/>
            <p:nvPr/>
          </p:nvSpPr>
          <p:spPr>
            <a:xfrm>
              <a:off x="0" y="0"/>
              <a:ext cx="841248" cy="402337"/>
            </a:xfrm>
            <a:prstGeom prst="roundRect">
              <a:avLst>
                <a:gd name="adj" fmla="val 20455"/>
              </a:avLst>
            </a:prstGeom>
            <a:solidFill>
              <a:srgbClr val="FFFFFF"/>
            </a:solidFill>
            <a:ln w="19050" cap="flat">
              <a:solidFill>
                <a:srgbClr val="2BA6A0"/>
              </a:solidFill>
              <a:prstDash val="solid"/>
              <a:round/>
            </a:ln>
            <a:effectLst/>
          </p:spPr>
          <p:txBody>
            <a:bodyPr wrap="square" lIns="45719" tIns="45719" rIns="45719" bIns="45719" numCol="1" anchor="ctr">
              <a:noAutofit/>
            </a:bodyPr>
            <a:lstStyle/>
            <a:p>
              <a:pPr algn="ctr">
                <a:defRPr sz="1100"/>
              </a:pPr>
            </a:p>
          </p:txBody>
        </p:sp>
        <p:sp>
          <p:nvSpPr>
            <p:cNvPr id="236" name="YES"/>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2BA6A0"/>
                  </a:solidFill>
                  <a:latin typeface="Arial"/>
                  <a:ea typeface="Arial"/>
                  <a:cs typeface="Arial"/>
                  <a:sym typeface="Arial"/>
                </a:defRPr>
              </a:lvl1pPr>
            </a:lstStyle>
            <a:p>
              <a:pPr/>
              <a:r>
                <a:t>YES</a:t>
              </a:r>
            </a:p>
          </p:txBody>
        </p:sp>
      </p:grpSp>
      <p:sp>
        <p:nvSpPr>
          <p:cNvPr id="238" name="cr2_w"/>
          <p:cNvSpPr txBox="1"/>
          <p:nvPr/>
        </p:nvSpPr>
        <p:spPr>
          <a:xfrm>
            <a:off x="6629400" y="3608253"/>
            <a:ext cx="5059375"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It has been measured many times.</a:t>
            </a:r>
          </a:p>
        </p:txBody>
      </p:sp>
      <p:sp>
        <p:nvSpPr>
          <p:cNvPr id="239" name="cr3_bg"/>
          <p:cNvSpPr/>
          <p:nvPr/>
        </p:nvSpPr>
        <p:spPr>
          <a:xfrm>
            <a:off x="502919" y="4078223"/>
            <a:ext cx="11185857" cy="548641"/>
          </a:xfrm>
          <a:prstGeom prst="roundRect">
            <a:avLst>
              <a:gd name="adj" fmla="val 23333"/>
            </a:avLst>
          </a:prstGeom>
          <a:solidFill>
            <a:srgbClr val="FFFFFF"/>
          </a:solidFill>
          <a:ln w="15875">
            <a:solidFill>
              <a:srgbClr val="E3DAF0"/>
            </a:solidFill>
          </a:ln>
        </p:spPr>
        <p:txBody>
          <a:bodyPr lIns="45719" rIns="45719"/>
          <a:lstStyle/>
          <a:p>
            <a:pPr/>
          </a:p>
        </p:txBody>
      </p:sp>
      <p:sp>
        <p:nvSpPr>
          <p:cNvPr id="240" name="cr3_q"/>
          <p:cNvSpPr txBox="1"/>
          <p:nvPr/>
        </p:nvSpPr>
        <p:spPr>
          <a:xfrm>
            <a:off x="722376" y="4266136"/>
            <a:ext cx="475488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Do plants grow faster if you play music to them?</a:t>
            </a:r>
          </a:p>
        </p:txBody>
      </p:sp>
      <p:grpSp>
        <p:nvGrpSpPr>
          <p:cNvPr id="243" name="cr3_v"/>
          <p:cNvGrpSpPr/>
          <p:nvPr/>
        </p:nvGrpSpPr>
        <p:grpSpPr>
          <a:xfrm>
            <a:off x="5623559" y="4151376"/>
            <a:ext cx="841249" cy="402337"/>
            <a:chOff x="0" y="0"/>
            <a:chExt cx="841247" cy="402336"/>
          </a:xfrm>
        </p:grpSpPr>
        <p:sp>
          <p:nvSpPr>
            <p:cNvPr id="241" name="Rounded Rectangle"/>
            <p:cNvSpPr/>
            <p:nvPr/>
          </p:nvSpPr>
          <p:spPr>
            <a:xfrm>
              <a:off x="0" y="0"/>
              <a:ext cx="841248" cy="402337"/>
            </a:xfrm>
            <a:prstGeom prst="roundRect">
              <a:avLst>
                <a:gd name="adj" fmla="val 20455"/>
              </a:avLst>
            </a:prstGeom>
            <a:solidFill>
              <a:srgbClr val="FFFFFF"/>
            </a:solidFill>
            <a:ln w="19050" cap="flat">
              <a:solidFill>
                <a:srgbClr val="2BA6A0"/>
              </a:solidFill>
              <a:prstDash val="solid"/>
              <a:round/>
            </a:ln>
            <a:effectLst/>
          </p:spPr>
          <p:txBody>
            <a:bodyPr wrap="square" lIns="45719" tIns="45719" rIns="45719" bIns="45719" numCol="1" anchor="ctr">
              <a:noAutofit/>
            </a:bodyPr>
            <a:lstStyle/>
            <a:p>
              <a:pPr algn="ctr">
                <a:defRPr sz="1100"/>
              </a:pPr>
            </a:p>
          </p:txBody>
        </p:sp>
        <p:sp>
          <p:nvSpPr>
            <p:cNvPr id="242" name="YES"/>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2BA6A0"/>
                  </a:solidFill>
                  <a:latin typeface="Arial"/>
                  <a:ea typeface="Arial"/>
                  <a:cs typeface="Arial"/>
                  <a:sym typeface="Arial"/>
                </a:defRPr>
              </a:lvl1pPr>
            </a:lstStyle>
            <a:p>
              <a:pPr/>
              <a:r>
                <a:t>YES</a:t>
              </a:r>
            </a:p>
          </p:txBody>
        </p:sp>
      </p:grpSp>
      <p:sp>
        <p:nvSpPr>
          <p:cNvPr id="244" name="cr3_w"/>
          <p:cNvSpPr txBox="1"/>
          <p:nvPr/>
        </p:nvSpPr>
        <p:spPr>
          <a:xfrm>
            <a:off x="6629400" y="4266621"/>
            <a:ext cx="5059375"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Sounds odd, but it is perfectly testable.</a:t>
            </a:r>
          </a:p>
        </p:txBody>
      </p:sp>
      <p:sp>
        <p:nvSpPr>
          <p:cNvPr id="245" name="cr4_bg"/>
          <p:cNvSpPr/>
          <p:nvPr/>
        </p:nvSpPr>
        <p:spPr>
          <a:xfrm>
            <a:off x="502919" y="4736591"/>
            <a:ext cx="11185857" cy="548641"/>
          </a:xfrm>
          <a:prstGeom prst="roundRect">
            <a:avLst>
              <a:gd name="adj" fmla="val 23333"/>
            </a:avLst>
          </a:prstGeom>
          <a:solidFill>
            <a:srgbClr val="FFFFFF"/>
          </a:solidFill>
          <a:ln w="15875">
            <a:solidFill>
              <a:srgbClr val="E3DAF0"/>
            </a:solidFill>
          </a:ln>
        </p:spPr>
        <p:txBody>
          <a:bodyPr lIns="45719" rIns="45719"/>
          <a:lstStyle/>
          <a:p>
            <a:pPr/>
          </a:p>
        </p:txBody>
      </p:sp>
      <p:sp>
        <p:nvSpPr>
          <p:cNvPr id="246" name="cr4_q"/>
          <p:cNvSpPr txBox="1"/>
          <p:nvPr/>
        </p:nvSpPr>
        <p:spPr>
          <a:xfrm>
            <a:off x="722376" y="4924504"/>
            <a:ext cx="475488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Is it fair to set homework at the weekend?</a:t>
            </a:r>
          </a:p>
        </p:txBody>
      </p:sp>
      <p:grpSp>
        <p:nvGrpSpPr>
          <p:cNvPr id="249" name="cr4_v"/>
          <p:cNvGrpSpPr/>
          <p:nvPr/>
        </p:nvGrpSpPr>
        <p:grpSpPr>
          <a:xfrm>
            <a:off x="5623559" y="4809744"/>
            <a:ext cx="841249" cy="402337"/>
            <a:chOff x="0" y="0"/>
            <a:chExt cx="841247" cy="402336"/>
          </a:xfrm>
        </p:grpSpPr>
        <p:sp>
          <p:nvSpPr>
            <p:cNvPr id="247" name="Rounded Rectangle"/>
            <p:cNvSpPr/>
            <p:nvPr/>
          </p:nvSpPr>
          <p:spPr>
            <a:xfrm>
              <a:off x="0" y="0"/>
              <a:ext cx="841248" cy="402337"/>
            </a:xfrm>
            <a:prstGeom prst="roundRect">
              <a:avLst>
                <a:gd name="adj" fmla="val 20455"/>
              </a:avLst>
            </a:prstGeom>
            <a:solidFill>
              <a:srgbClr val="FFFFFF"/>
            </a:solidFill>
            <a:ln w="19050" cap="flat">
              <a:solidFill>
                <a:srgbClr val="D94F6A"/>
              </a:solidFill>
              <a:prstDash val="solid"/>
              <a:round/>
            </a:ln>
            <a:effectLst/>
          </p:spPr>
          <p:txBody>
            <a:bodyPr wrap="square" lIns="45719" tIns="45719" rIns="45719" bIns="45719" numCol="1" anchor="ctr">
              <a:noAutofit/>
            </a:bodyPr>
            <a:lstStyle/>
            <a:p>
              <a:pPr algn="ctr">
                <a:defRPr sz="1100"/>
              </a:pPr>
            </a:p>
          </p:txBody>
        </p:sp>
        <p:sp>
          <p:nvSpPr>
            <p:cNvPr id="248" name="NO"/>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D94F6A"/>
                  </a:solidFill>
                  <a:latin typeface="Arial"/>
                  <a:ea typeface="Arial"/>
                  <a:cs typeface="Arial"/>
                  <a:sym typeface="Arial"/>
                </a:defRPr>
              </a:lvl1pPr>
            </a:lstStyle>
            <a:p>
              <a:pPr/>
              <a:r>
                <a:t>NO</a:t>
              </a:r>
            </a:p>
          </p:txBody>
        </p:sp>
      </p:grpSp>
      <p:sp>
        <p:nvSpPr>
          <p:cNvPr id="250" name="cr4_w"/>
          <p:cNvSpPr txBox="1"/>
          <p:nvPr/>
        </p:nvSpPr>
        <p:spPr>
          <a:xfrm>
            <a:off x="6629400" y="4924989"/>
            <a:ext cx="5059375"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Science can tell you what homework does to results; it cannot tell you what is fair.</a:t>
            </a:r>
          </a:p>
        </p:txBody>
      </p:sp>
      <p:sp>
        <p:nvSpPr>
          <p:cNvPr id="251" name="cr5_bg"/>
          <p:cNvSpPr/>
          <p:nvPr/>
        </p:nvSpPr>
        <p:spPr>
          <a:xfrm>
            <a:off x="502919" y="5394959"/>
            <a:ext cx="11185857" cy="548641"/>
          </a:xfrm>
          <a:prstGeom prst="roundRect">
            <a:avLst>
              <a:gd name="adj" fmla="val 23333"/>
            </a:avLst>
          </a:prstGeom>
          <a:solidFill>
            <a:srgbClr val="FDEFD9"/>
          </a:solidFill>
          <a:ln w="21590">
            <a:solidFill>
              <a:srgbClr val="F2A03D"/>
            </a:solidFill>
          </a:ln>
        </p:spPr>
        <p:txBody>
          <a:bodyPr lIns="45719" rIns="45719"/>
          <a:lstStyle/>
          <a:p>
            <a:pPr/>
          </a:p>
        </p:txBody>
      </p:sp>
      <p:sp>
        <p:nvSpPr>
          <p:cNvPr id="252" name="cr5_q"/>
          <p:cNvSpPr txBox="1"/>
          <p:nvPr/>
        </p:nvSpPr>
        <p:spPr>
          <a:xfrm>
            <a:off x="722376" y="5582872"/>
            <a:ext cx="475488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41535"/>
                </a:solidFill>
                <a:latin typeface="Arial"/>
                <a:ea typeface="Arial"/>
                <a:cs typeface="Arial"/>
                <a:sym typeface="Arial"/>
              </a:defRPr>
            </a:lvl1pPr>
          </a:lstStyle>
          <a:p>
            <a:pPr/>
            <a:r>
              <a:t>Should Rayong build another factory near the sea?</a:t>
            </a:r>
          </a:p>
        </p:txBody>
      </p:sp>
      <p:grpSp>
        <p:nvGrpSpPr>
          <p:cNvPr id="255" name="cr5_v"/>
          <p:cNvGrpSpPr/>
          <p:nvPr/>
        </p:nvGrpSpPr>
        <p:grpSpPr>
          <a:xfrm>
            <a:off x="5623559" y="5468111"/>
            <a:ext cx="841249" cy="402337"/>
            <a:chOff x="0" y="0"/>
            <a:chExt cx="841247" cy="402336"/>
          </a:xfrm>
        </p:grpSpPr>
        <p:sp>
          <p:nvSpPr>
            <p:cNvPr id="253" name="Rounded Rectangle"/>
            <p:cNvSpPr/>
            <p:nvPr/>
          </p:nvSpPr>
          <p:spPr>
            <a:xfrm>
              <a:off x="0" y="0"/>
              <a:ext cx="841248" cy="402337"/>
            </a:xfrm>
            <a:prstGeom prst="roundRect">
              <a:avLst>
                <a:gd name="adj" fmla="val 20455"/>
              </a:avLst>
            </a:prstGeom>
            <a:solidFill>
              <a:srgbClr val="FFFFFF"/>
            </a:solidFill>
            <a:ln w="19050" cap="flat">
              <a:solidFill>
                <a:srgbClr val="F2A03D"/>
              </a:solidFill>
              <a:prstDash val="solid"/>
              <a:round/>
            </a:ln>
            <a:effectLst/>
          </p:spPr>
          <p:txBody>
            <a:bodyPr wrap="square" lIns="45719" tIns="45719" rIns="45719" bIns="45719" numCol="1" anchor="ctr">
              <a:noAutofit/>
            </a:bodyPr>
            <a:lstStyle/>
            <a:p>
              <a:pPr algn="ctr">
                <a:defRPr sz="1100"/>
              </a:pPr>
            </a:p>
          </p:txBody>
        </p:sp>
        <p:sp>
          <p:nvSpPr>
            <p:cNvPr id="254" name="BOTH"/>
            <p:cNvSpPr txBox="1"/>
            <p:nvPr/>
          </p:nvSpPr>
          <p:spPr>
            <a:xfrm>
              <a:off x="33629" y="127253"/>
              <a:ext cx="773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60" sz="1100">
                  <a:solidFill>
                    <a:srgbClr val="F2A03D"/>
                  </a:solidFill>
                  <a:latin typeface="Arial"/>
                  <a:ea typeface="Arial"/>
                  <a:cs typeface="Arial"/>
                  <a:sym typeface="Arial"/>
                </a:defRPr>
              </a:lvl1pPr>
            </a:lstStyle>
            <a:p>
              <a:pPr/>
              <a:r>
                <a:t>BOTH</a:t>
              </a:r>
            </a:p>
          </p:txBody>
        </p:sp>
      </p:grpSp>
      <p:sp>
        <p:nvSpPr>
          <p:cNvPr id="256" name="cr5_w"/>
          <p:cNvSpPr txBox="1"/>
          <p:nvPr/>
        </p:nvSpPr>
        <p:spPr>
          <a:xfrm>
            <a:off x="6629400" y="5494457"/>
            <a:ext cx="5059375" cy="3496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100">
                <a:solidFill>
                  <a:srgbClr val="6A6180"/>
                </a:solidFill>
                <a:latin typeface="Arial"/>
                <a:ea typeface="Arial"/>
                <a:cs typeface="Arial"/>
                <a:sym typeface="Arial"/>
              </a:defRPr>
            </a:lvl1pPr>
          </a:lstStyle>
          <a:p>
            <a:pPr/>
            <a:r>
              <a:t>Science can measure what it would do to the water, the air and the fish. It cannot decide whether we should. That part is up to people.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25"/>
                                        </p:tgtEl>
                                        <p:attrNameLst>
                                          <p:attrName>style.visibility</p:attrName>
                                        </p:attrNameLst>
                                      </p:cBhvr>
                                      <p:to>
                                        <p:strVal val="visible"/>
                                      </p:to>
                                    </p:set>
                                    <p:anim calcmode="lin" valueType="num">
                                      <p:cBhvr>
                                        <p:cTn id="7" dur="500" fill="hold"/>
                                        <p:tgtEl>
                                          <p:spTgt spid="225"/>
                                        </p:tgtEl>
                                        <p:attrNameLst>
                                          <p:attrName>ppt_w</p:attrName>
                                        </p:attrNameLst>
                                      </p:cBhvr>
                                      <p:tavLst>
                                        <p:tav tm="0">
                                          <p:val>
                                            <p:fltVal val="0"/>
                                          </p:val>
                                        </p:tav>
                                        <p:tav tm="100000">
                                          <p:val>
                                            <p:strVal val="#ppt_w"/>
                                          </p:val>
                                        </p:tav>
                                      </p:tavLst>
                                    </p:anim>
                                    <p:anim calcmode="lin" valueType="num">
                                      <p:cBhvr>
                                        <p:cTn id="8" dur="500" fill="hold"/>
                                        <p:tgtEl>
                                          <p:spTgt spid="22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226"/>
                                        </p:tgtEl>
                                        <p:attrNameLst>
                                          <p:attrName>style.visibility</p:attrName>
                                        </p:attrNameLst>
                                      </p:cBhvr>
                                      <p:to>
                                        <p:strVal val="visible"/>
                                      </p:to>
                                    </p:set>
                                    <p:animEffect filter="fade" transition="in">
                                      <p:cBhvr>
                                        <p:cTn id="13" dur="500"/>
                                        <p:tgtEl>
                                          <p:spTgt spid="226"/>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16" presetID="23" grpId="3" fill="hold">
                                  <p:stCondLst>
                                    <p:cond delay="0"/>
                                  </p:stCondLst>
                                  <p:iterate type="el" backwards="0">
                                    <p:tmAbs val="0"/>
                                  </p:iterate>
                                  <p:childTnLst>
                                    <p:set>
                                      <p:cBhvr>
                                        <p:cTn id="17" fill="hold"/>
                                        <p:tgtEl>
                                          <p:spTgt spid="231"/>
                                        </p:tgtEl>
                                        <p:attrNameLst>
                                          <p:attrName>style.visibility</p:attrName>
                                        </p:attrNameLst>
                                      </p:cBhvr>
                                      <p:to>
                                        <p:strVal val="visible"/>
                                      </p:to>
                                    </p:set>
                                    <p:anim calcmode="lin" valueType="num">
                                      <p:cBhvr>
                                        <p:cTn id="18" dur="500" fill="hold"/>
                                        <p:tgtEl>
                                          <p:spTgt spid="231"/>
                                        </p:tgtEl>
                                        <p:attrNameLst>
                                          <p:attrName>ppt_w</p:attrName>
                                        </p:attrNameLst>
                                      </p:cBhvr>
                                      <p:tavLst>
                                        <p:tav tm="0">
                                          <p:val>
                                            <p:fltVal val="0"/>
                                          </p:val>
                                        </p:tav>
                                        <p:tav tm="100000">
                                          <p:val>
                                            <p:strVal val="#ppt_w"/>
                                          </p:val>
                                        </p:tav>
                                      </p:tavLst>
                                    </p:anim>
                                    <p:anim calcmode="lin" valueType="num">
                                      <p:cBhvr>
                                        <p:cTn id="19" dur="500" fill="hold"/>
                                        <p:tgtEl>
                                          <p:spTgt spid="231"/>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4" fill="hold">
                                  <p:stCondLst>
                                    <p:cond delay="0"/>
                                  </p:stCondLst>
                                  <p:iterate type="el" backwards="0">
                                    <p:tmAbs val="0"/>
                                  </p:iterate>
                                  <p:childTnLst>
                                    <p:set>
                                      <p:cBhvr>
                                        <p:cTn id="23" fill="hold"/>
                                        <p:tgtEl>
                                          <p:spTgt spid="232"/>
                                        </p:tgtEl>
                                        <p:attrNameLst>
                                          <p:attrName>style.visibility</p:attrName>
                                        </p:attrNameLst>
                                      </p:cBhvr>
                                      <p:to>
                                        <p:strVal val="visible"/>
                                      </p:to>
                                    </p:set>
                                    <p:animEffect filter="fade" transition="in">
                                      <p:cBhvr>
                                        <p:cTn id="24" dur="500"/>
                                        <p:tgtEl>
                                          <p:spTgt spid="232"/>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37"/>
                                        </p:tgtEl>
                                        <p:attrNameLst>
                                          <p:attrName>style.visibility</p:attrName>
                                        </p:attrNameLst>
                                      </p:cBhvr>
                                      <p:to>
                                        <p:strVal val="visible"/>
                                      </p:to>
                                    </p:set>
                                    <p:anim calcmode="lin" valueType="num">
                                      <p:cBhvr>
                                        <p:cTn id="29" dur="500" fill="hold"/>
                                        <p:tgtEl>
                                          <p:spTgt spid="237"/>
                                        </p:tgtEl>
                                        <p:attrNameLst>
                                          <p:attrName>ppt_w</p:attrName>
                                        </p:attrNameLst>
                                      </p:cBhvr>
                                      <p:tavLst>
                                        <p:tav tm="0">
                                          <p:val>
                                            <p:fltVal val="0"/>
                                          </p:val>
                                        </p:tav>
                                        <p:tav tm="100000">
                                          <p:val>
                                            <p:strVal val="#ppt_w"/>
                                          </p:val>
                                        </p:tav>
                                      </p:tavLst>
                                    </p:anim>
                                    <p:anim calcmode="lin" valueType="num">
                                      <p:cBhvr>
                                        <p:cTn id="30" dur="500" fill="hold"/>
                                        <p:tgtEl>
                                          <p:spTgt spid="237"/>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6" fill="hold">
                                  <p:stCondLst>
                                    <p:cond delay="0"/>
                                  </p:stCondLst>
                                  <p:iterate type="el" backwards="0">
                                    <p:tmAbs val="0"/>
                                  </p:iterate>
                                  <p:childTnLst>
                                    <p:set>
                                      <p:cBhvr>
                                        <p:cTn id="34" fill="hold"/>
                                        <p:tgtEl>
                                          <p:spTgt spid="238"/>
                                        </p:tgtEl>
                                        <p:attrNameLst>
                                          <p:attrName>style.visibility</p:attrName>
                                        </p:attrNameLst>
                                      </p:cBhvr>
                                      <p:to>
                                        <p:strVal val="visible"/>
                                      </p:to>
                                    </p:set>
                                    <p:animEffect filter="fade" transition="in">
                                      <p:cBhvr>
                                        <p:cTn id="35" dur="500"/>
                                        <p:tgtEl>
                                          <p:spTgt spid="238"/>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16" presetID="23" grpId="7" fill="hold">
                                  <p:stCondLst>
                                    <p:cond delay="0"/>
                                  </p:stCondLst>
                                  <p:iterate type="el" backwards="0">
                                    <p:tmAbs val="0"/>
                                  </p:iterate>
                                  <p:childTnLst>
                                    <p:set>
                                      <p:cBhvr>
                                        <p:cTn id="39" fill="hold"/>
                                        <p:tgtEl>
                                          <p:spTgt spid="243"/>
                                        </p:tgtEl>
                                        <p:attrNameLst>
                                          <p:attrName>style.visibility</p:attrName>
                                        </p:attrNameLst>
                                      </p:cBhvr>
                                      <p:to>
                                        <p:strVal val="visible"/>
                                      </p:to>
                                    </p:set>
                                    <p:anim calcmode="lin" valueType="num">
                                      <p:cBhvr>
                                        <p:cTn id="40" dur="500" fill="hold"/>
                                        <p:tgtEl>
                                          <p:spTgt spid="243"/>
                                        </p:tgtEl>
                                        <p:attrNameLst>
                                          <p:attrName>ppt_w</p:attrName>
                                        </p:attrNameLst>
                                      </p:cBhvr>
                                      <p:tavLst>
                                        <p:tav tm="0">
                                          <p:val>
                                            <p:fltVal val="0"/>
                                          </p:val>
                                        </p:tav>
                                        <p:tav tm="100000">
                                          <p:val>
                                            <p:strVal val="#ppt_w"/>
                                          </p:val>
                                        </p:tav>
                                      </p:tavLst>
                                    </p:anim>
                                    <p:anim calcmode="lin" valueType="num">
                                      <p:cBhvr>
                                        <p:cTn id="41" dur="500" fill="hold"/>
                                        <p:tgtEl>
                                          <p:spTgt spid="243"/>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Class="entr" nodeType="clickEffect" presetID="10" grpId="8" fill="hold">
                                  <p:stCondLst>
                                    <p:cond delay="0"/>
                                  </p:stCondLst>
                                  <p:iterate type="el" backwards="0">
                                    <p:tmAbs val="0"/>
                                  </p:iterate>
                                  <p:childTnLst>
                                    <p:set>
                                      <p:cBhvr>
                                        <p:cTn id="45" fill="hold"/>
                                        <p:tgtEl>
                                          <p:spTgt spid="244"/>
                                        </p:tgtEl>
                                        <p:attrNameLst>
                                          <p:attrName>style.visibility</p:attrName>
                                        </p:attrNameLst>
                                      </p:cBhvr>
                                      <p:to>
                                        <p:strVal val="visible"/>
                                      </p:to>
                                    </p:set>
                                    <p:animEffect filter="fade" transition="in">
                                      <p:cBhvr>
                                        <p:cTn id="46" dur="500"/>
                                        <p:tgtEl>
                                          <p:spTgt spid="244"/>
                                        </p:tgtEl>
                                      </p:cBhvr>
                                    </p:animEffect>
                                  </p:childTnLst>
                                </p:cTn>
                              </p:par>
                            </p:childTnLst>
                          </p:cTn>
                        </p:par>
                      </p:childTnLst>
                    </p:cTn>
                  </p:par>
                  <p:par>
                    <p:cTn id="47" fill="hold">
                      <p:stCondLst>
                        <p:cond delay="indefinite"/>
                      </p:stCondLst>
                      <p:childTnLst>
                        <p:par>
                          <p:cTn id="48" fill="hold">
                            <p:stCondLst>
                              <p:cond delay="0"/>
                            </p:stCondLst>
                            <p:childTnLst>
                              <p:par>
                                <p:cTn id="49" presetClass="entr" nodeType="clickEffect" presetSubtype="16" presetID="23" grpId="9" fill="hold">
                                  <p:stCondLst>
                                    <p:cond delay="0"/>
                                  </p:stCondLst>
                                  <p:iterate type="el" backwards="0">
                                    <p:tmAbs val="0"/>
                                  </p:iterate>
                                  <p:childTnLst>
                                    <p:set>
                                      <p:cBhvr>
                                        <p:cTn id="50" fill="hold"/>
                                        <p:tgtEl>
                                          <p:spTgt spid="249"/>
                                        </p:tgtEl>
                                        <p:attrNameLst>
                                          <p:attrName>style.visibility</p:attrName>
                                        </p:attrNameLst>
                                      </p:cBhvr>
                                      <p:to>
                                        <p:strVal val="visible"/>
                                      </p:to>
                                    </p:set>
                                    <p:anim calcmode="lin" valueType="num">
                                      <p:cBhvr>
                                        <p:cTn id="51" dur="500" fill="hold"/>
                                        <p:tgtEl>
                                          <p:spTgt spid="249"/>
                                        </p:tgtEl>
                                        <p:attrNameLst>
                                          <p:attrName>ppt_w</p:attrName>
                                        </p:attrNameLst>
                                      </p:cBhvr>
                                      <p:tavLst>
                                        <p:tav tm="0">
                                          <p:val>
                                            <p:fltVal val="0"/>
                                          </p:val>
                                        </p:tav>
                                        <p:tav tm="100000">
                                          <p:val>
                                            <p:strVal val="#ppt_w"/>
                                          </p:val>
                                        </p:tav>
                                      </p:tavLst>
                                    </p:anim>
                                    <p:anim calcmode="lin" valueType="num">
                                      <p:cBhvr>
                                        <p:cTn id="52" dur="500" fill="hold"/>
                                        <p:tgtEl>
                                          <p:spTgt spid="249"/>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Class="entr" nodeType="clickEffect" presetID="10" grpId="10" fill="hold">
                                  <p:stCondLst>
                                    <p:cond delay="0"/>
                                  </p:stCondLst>
                                  <p:iterate type="el" backwards="0">
                                    <p:tmAbs val="0"/>
                                  </p:iterate>
                                  <p:childTnLst>
                                    <p:set>
                                      <p:cBhvr>
                                        <p:cTn id="56" fill="hold"/>
                                        <p:tgtEl>
                                          <p:spTgt spid="250"/>
                                        </p:tgtEl>
                                        <p:attrNameLst>
                                          <p:attrName>style.visibility</p:attrName>
                                        </p:attrNameLst>
                                      </p:cBhvr>
                                      <p:to>
                                        <p:strVal val="visible"/>
                                      </p:to>
                                    </p:set>
                                    <p:animEffect filter="fade" transition="in">
                                      <p:cBhvr>
                                        <p:cTn id="57" dur="500"/>
                                        <p:tgtEl>
                                          <p:spTgt spid="250"/>
                                        </p:tgtEl>
                                      </p:cBhvr>
                                    </p:animEffect>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16" presetID="23" grpId="11" fill="hold">
                                  <p:stCondLst>
                                    <p:cond delay="0"/>
                                  </p:stCondLst>
                                  <p:iterate type="el" backwards="0">
                                    <p:tmAbs val="0"/>
                                  </p:iterate>
                                  <p:childTnLst>
                                    <p:set>
                                      <p:cBhvr>
                                        <p:cTn id="61" fill="hold"/>
                                        <p:tgtEl>
                                          <p:spTgt spid="255"/>
                                        </p:tgtEl>
                                        <p:attrNameLst>
                                          <p:attrName>style.visibility</p:attrName>
                                        </p:attrNameLst>
                                      </p:cBhvr>
                                      <p:to>
                                        <p:strVal val="visible"/>
                                      </p:to>
                                    </p:set>
                                    <p:anim calcmode="lin" valueType="num">
                                      <p:cBhvr>
                                        <p:cTn id="62" dur="500" fill="hold"/>
                                        <p:tgtEl>
                                          <p:spTgt spid="255"/>
                                        </p:tgtEl>
                                        <p:attrNameLst>
                                          <p:attrName>ppt_w</p:attrName>
                                        </p:attrNameLst>
                                      </p:cBhvr>
                                      <p:tavLst>
                                        <p:tav tm="0">
                                          <p:val>
                                            <p:fltVal val="0"/>
                                          </p:val>
                                        </p:tav>
                                        <p:tav tm="100000">
                                          <p:val>
                                            <p:strVal val="#ppt_w"/>
                                          </p:val>
                                        </p:tav>
                                      </p:tavLst>
                                    </p:anim>
                                    <p:anim calcmode="lin" valueType="num">
                                      <p:cBhvr>
                                        <p:cTn id="63" dur="500" fill="hold"/>
                                        <p:tgtEl>
                                          <p:spTgt spid="255"/>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Class="entr" nodeType="clickEffect" presetID="10" grpId="12" fill="hold">
                                  <p:stCondLst>
                                    <p:cond delay="0"/>
                                  </p:stCondLst>
                                  <p:iterate type="el" backwards="0">
                                    <p:tmAbs val="0"/>
                                  </p:iterate>
                                  <p:childTnLst>
                                    <p:set>
                                      <p:cBhvr>
                                        <p:cTn id="67" fill="hold"/>
                                        <p:tgtEl>
                                          <p:spTgt spid="256"/>
                                        </p:tgtEl>
                                        <p:attrNameLst>
                                          <p:attrName>style.visibility</p:attrName>
                                        </p:attrNameLst>
                                      </p:cBhvr>
                                      <p:to>
                                        <p:strVal val="visible"/>
                                      </p:to>
                                    </p:set>
                                    <p:animEffect filter="fade" transition="in">
                                      <p:cBhvr>
                                        <p:cTn id="68" dur="5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0" grpId="10"/>
      <p:bldP build="whole" bldLvl="1" animBg="1" rev="0" advAuto="0" spid="232" grpId="4"/>
      <p:bldP build="whole" bldLvl="1" animBg="1" rev="0" advAuto="0" spid="226" grpId="2"/>
      <p:bldP build="whole" bldLvl="1" animBg="1" rev="0" advAuto="0" spid="238" grpId="6"/>
      <p:bldP build="whole" bldLvl="1" animBg="1" rev="0" advAuto="0" spid="255" grpId="11"/>
      <p:bldP build="whole" bldLvl="1" animBg="1" rev="0" advAuto="0" spid="231" grpId="3"/>
      <p:bldP build="whole" bldLvl="1" animBg="1" rev="0" advAuto="0" spid="249" grpId="9"/>
      <p:bldP build="whole" bldLvl="1" animBg="1" rev="0" advAuto="0" spid="237" grpId="5"/>
      <p:bldP build="whole" bldLvl="1" animBg="1" rev="0" advAuto="0" spid="225" grpId="1"/>
      <p:bldP build="whole" bldLvl="1" animBg="1" rev="0" advAuto="0" spid="244" grpId="8"/>
      <p:bldP build="whole" bldLvl="1" animBg="1" rev="0" advAuto="0" spid="243" grpId="7"/>
      <p:bldP build="whole" bldLvl="1" animBg="1" rev="0" advAuto="0" spid="256" grpId="1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62" name="phase_pill"/>
          <p:cNvGrpSpPr/>
          <p:nvPr/>
        </p:nvGrpSpPr>
        <p:grpSpPr>
          <a:xfrm>
            <a:off x="502919" y="274320"/>
            <a:ext cx="2139697" cy="347473"/>
            <a:chOff x="0" y="0"/>
            <a:chExt cx="2139695" cy="347472"/>
          </a:xfrm>
        </p:grpSpPr>
        <p:sp>
          <p:nvSpPr>
            <p:cNvPr id="260" name="Rounded Rectangle"/>
            <p:cNvSpPr/>
            <p:nvPr/>
          </p:nvSpPr>
          <p:spPr>
            <a:xfrm>
              <a:off x="0" y="0"/>
              <a:ext cx="2139696"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61" name="I DO · 6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I DO · 6 MIN</a:t>
              </a:r>
            </a:p>
          </p:txBody>
        </p:sp>
      </p:grpSp>
      <p:sp>
        <p:nvSpPr>
          <p:cNvPr id="263"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BA6A0"/>
                </a:solidFill>
                <a:latin typeface="Arial"/>
                <a:ea typeface="Arial"/>
                <a:cs typeface="Arial"/>
                <a:sym typeface="Arial"/>
              </a:defRPr>
            </a:lvl1pPr>
          </a:lstStyle>
          <a:p>
            <a:pPr/>
            <a:r>
              <a:t>observation   ·   induction   ·   conclusion</a:t>
            </a:r>
          </a:p>
        </p:txBody>
      </p:sp>
      <p:sp>
        <p:nvSpPr>
          <p:cNvPr id="264"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Induction: from lots of little to one big</a:t>
            </a:r>
          </a:p>
        </p:txBody>
      </p:sp>
      <p:grpSp>
        <p:nvGrpSpPr>
          <p:cNvPr id="267" name="ind_def"/>
          <p:cNvGrpSpPr/>
          <p:nvPr/>
        </p:nvGrpSpPr>
        <p:grpSpPr>
          <a:xfrm>
            <a:off x="502919" y="1975104"/>
            <a:ext cx="11185857" cy="768097"/>
            <a:chOff x="0" y="0"/>
            <a:chExt cx="11185855" cy="768095"/>
          </a:xfrm>
        </p:grpSpPr>
        <p:sp>
          <p:nvSpPr>
            <p:cNvPr id="265" name="ind_def_bg"/>
            <p:cNvSpPr/>
            <p:nvPr/>
          </p:nvSpPr>
          <p:spPr>
            <a:xfrm>
              <a:off x="0" y="0"/>
              <a:ext cx="11185856" cy="768096"/>
            </a:xfrm>
            <a:prstGeom prst="roundRect">
              <a:avLst>
                <a:gd name="adj" fmla="val 16667"/>
              </a:avLst>
            </a:prstGeom>
            <a:solidFill>
              <a:srgbClr val="EDE6F5"/>
            </a:solidFill>
            <a:ln w="19050" cap="flat">
              <a:solidFill>
                <a:srgbClr val="4A2C6F"/>
              </a:solidFill>
              <a:prstDash val="solid"/>
              <a:round/>
            </a:ln>
            <a:effectLst/>
          </p:spPr>
          <p:txBody>
            <a:bodyPr wrap="square" lIns="45719" tIns="45719" rIns="45719" bIns="45719" numCol="1" anchor="t">
              <a:noAutofit/>
            </a:bodyPr>
            <a:lstStyle/>
            <a:p>
              <a:pPr/>
            </a:p>
          </p:txBody>
        </p:sp>
        <p:sp>
          <p:nvSpPr>
            <p:cNvPr id="266" name="ind_def_t"/>
            <p:cNvSpPr txBox="1"/>
            <p:nvPr/>
          </p:nvSpPr>
          <p:spPr>
            <a:xfrm>
              <a:off x="274320" y="250697"/>
              <a:ext cx="1063721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4A2C6F"/>
                  </a:solidFill>
                  <a:latin typeface="Georgia"/>
                  <a:ea typeface="Georgia"/>
                  <a:cs typeface="Georgia"/>
                  <a:sym typeface="Georgia"/>
                </a:defRPr>
              </a:lvl1pPr>
            </a:lstStyle>
            <a:p>
              <a:pPr/>
              <a:r>
                <a:t>Induction  —  drawing a general conclusion from many individual observations.</a:t>
              </a:r>
            </a:p>
          </p:txBody>
        </p:sp>
      </p:grpSp>
      <p:grpSp>
        <p:nvGrpSpPr>
          <p:cNvPr id="270" name="ob0"/>
          <p:cNvGrpSpPr/>
          <p:nvPr/>
        </p:nvGrpSpPr>
        <p:grpSpPr>
          <a:xfrm>
            <a:off x="1517649" y="2999232"/>
            <a:ext cx="2148841" cy="566929"/>
            <a:chOff x="0" y="0"/>
            <a:chExt cx="2148839" cy="566927"/>
          </a:xfrm>
        </p:grpSpPr>
        <p:sp>
          <p:nvSpPr>
            <p:cNvPr id="268" name="ob0_bg"/>
            <p:cNvSpPr/>
            <p:nvPr/>
          </p:nvSpPr>
          <p:spPr>
            <a:xfrm>
              <a:off x="0" y="0"/>
              <a:ext cx="2148840" cy="566928"/>
            </a:xfrm>
            <a:prstGeom prst="roundRect">
              <a:avLst>
                <a:gd name="adj" fmla="val 22581"/>
              </a:avLst>
            </a:prstGeom>
            <a:solidFill>
              <a:srgbClr val="FFFFFF"/>
            </a:solidFill>
            <a:ln w="15875" cap="flat">
              <a:solidFill>
                <a:srgbClr val="2BA6A0"/>
              </a:solidFill>
              <a:prstDash val="solid"/>
              <a:round/>
            </a:ln>
            <a:effectLst/>
          </p:spPr>
          <p:txBody>
            <a:bodyPr wrap="square" lIns="45719" tIns="45719" rIns="45719" bIns="45719" numCol="1" anchor="t">
              <a:noAutofit/>
            </a:bodyPr>
            <a:lstStyle/>
            <a:p>
              <a:pPr/>
            </a:p>
          </p:txBody>
        </p:sp>
        <p:sp>
          <p:nvSpPr>
            <p:cNvPr id="269" name="ob0_t"/>
            <p:cNvSpPr txBox="1"/>
            <p:nvPr/>
          </p:nvSpPr>
          <p:spPr>
            <a:xfrm>
              <a:off x="109728" y="197056"/>
              <a:ext cx="19293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41535"/>
                  </a:solidFill>
                  <a:latin typeface="Arial"/>
                  <a:ea typeface="Arial"/>
                  <a:cs typeface="Arial"/>
                  <a:sym typeface="Arial"/>
                </a:defRPr>
              </a:lvl1pPr>
            </a:lstStyle>
            <a:p>
              <a:pPr/>
              <a:r>
                <a:t>This nail sank.</a:t>
              </a:r>
            </a:p>
          </p:txBody>
        </p:sp>
      </p:grpSp>
      <p:grpSp>
        <p:nvGrpSpPr>
          <p:cNvPr id="273" name="ob1"/>
          <p:cNvGrpSpPr/>
          <p:nvPr/>
        </p:nvGrpSpPr>
        <p:grpSpPr>
          <a:xfrm>
            <a:off x="3849369" y="2999232"/>
            <a:ext cx="2148841" cy="566929"/>
            <a:chOff x="0" y="0"/>
            <a:chExt cx="2148839" cy="566927"/>
          </a:xfrm>
        </p:grpSpPr>
        <p:sp>
          <p:nvSpPr>
            <p:cNvPr id="271" name="ob1_bg"/>
            <p:cNvSpPr/>
            <p:nvPr/>
          </p:nvSpPr>
          <p:spPr>
            <a:xfrm>
              <a:off x="0" y="0"/>
              <a:ext cx="2148840" cy="566928"/>
            </a:xfrm>
            <a:prstGeom prst="roundRect">
              <a:avLst>
                <a:gd name="adj" fmla="val 22581"/>
              </a:avLst>
            </a:prstGeom>
            <a:solidFill>
              <a:srgbClr val="FFFFFF"/>
            </a:solidFill>
            <a:ln w="15875" cap="flat">
              <a:solidFill>
                <a:srgbClr val="2BA6A0"/>
              </a:solidFill>
              <a:prstDash val="solid"/>
              <a:round/>
            </a:ln>
            <a:effectLst/>
          </p:spPr>
          <p:txBody>
            <a:bodyPr wrap="square" lIns="45719" tIns="45719" rIns="45719" bIns="45719" numCol="1" anchor="t">
              <a:noAutofit/>
            </a:bodyPr>
            <a:lstStyle/>
            <a:p>
              <a:pPr/>
            </a:p>
          </p:txBody>
        </p:sp>
        <p:sp>
          <p:nvSpPr>
            <p:cNvPr id="272" name="ob1_t"/>
            <p:cNvSpPr txBox="1"/>
            <p:nvPr/>
          </p:nvSpPr>
          <p:spPr>
            <a:xfrm>
              <a:off x="109728" y="197056"/>
              <a:ext cx="19293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41535"/>
                  </a:solidFill>
                  <a:latin typeface="Arial"/>
                  <a:ea typeface="Arial"/>
                  <a:cs typeface="Arial"/>
                  <a:sym typeface="Arial"/>
                </a:defRPr>
              </a:lvl1pPr>
            </a:lstStyle>
            <a:p>
              <a:pPr/>
              <a:r>
                <a:t>That bolt sank.</a:t>
              </a:r>
            </a:p>
          </p:txBody>
        </p:sp>
      </p:grpSp>
      <p:grpSp>
        <p:nvGrpSpPr>
          <p:cNvPr id="276" name="ob2"/>
          <p:cNvGrpSpPr/>
          <p:nvPr/>
        </p:nvGrpSpPr>
        <p:grpSpPr>
          <a:xfrm>
            <a:off x="6181089" y="2999232"/>
            <a:ext cx="2148841" cy="566929"/>
            <a:chOff x="0" y="0"/>
            <a:chExt cx="2148839" cy="566927"/>
          </a:xfrm>
        </p:grpSpPr>
        <p:sp>
          <p:nvSpPr>
            <p:cNvPr id="274" name="ob2_bg"/>
            <p:cNvSpPr/>
            <p:nvPr/>
          </p:nvSpPr>
          <p:spPr>
            <a:xfrm>
              <a:off x="0" y="0"/>
              <a:ext cx="2148840" cy="566928"/>
            </a:xfrm>
            <a:prstGeom prst="roundRect">
              <a:avLst>
                <a:gd name="adj" fmla="val 22581"/>
              </a:avLst>
            </a:prstGeom>
            <a:solidFill>
              <a:srgbClr val="FFFFFF"/>
            </a:solidFill>
            <a:ln w="15875" cap="flat">
              <a:solidFill>
                <a:srgbClr val="2BA6A0"/>
              </a:solidFill>
              <a:prstDash val="solid"/>
              <a:round/>
            </a:ln>
            <a:effectLst/>
          </p:spPr>
          <p:txBody>
            <a:bodyPr wrap="square" lIns="45719" tIns="45719" rIns="45719" bIns="45719" numCol="1" anchor="t">
              <a:noAutofit/>
            </a:bodyPr>
            <a:lstStyle/>
            <a:p>
              <a:pPr/>
            </a:p>
          </p:txBody>
        </p:sp>
        <p:sp>
          <p:nvSpPr>
            <p:cNvPr id="275" name="ob2_t"/>
            <p:cNvSpPr txBox="1"/>
            <p:nvPr/>
          </p:nvSpPr>
          <p:spPr>
            <a:xfrm>
              <a:off x="109728" y="197056"/>
              <a:ext cx="19293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41535"/>
                  </a:solidFill>
                  <a:latin typeface="Arial"/>
                  <a:ea typeface="Arial"/>
                  <a:cs typeface="Arial"/>
                  <a:sym typeface="Arial"/>
                </a:defRPr>
              </a:lvl1pPr>
            </a:lstStyle>
            <a:p>
              <a:pPr/>
              <a:r>
                <a:t>A spanner sank.</a:t>
              </a:r>
            </a:p>
          </p:txBody>
        </p:sp>
      </p:grpSp>
      <p:grpSp>
        <p:nvGrpSpPr>
          <p:cNvPr id="279" name="ob3"/>
          <p:cNvGrpSpPr/>
          <p:nvPr/>
        </p:nvGrpSpPr>
        <p:grpSpPr>
          <a:xfrm>
            <a:off x="8512810" y="2999232"/>
            <a:ext cx="2148841" cy="566929"/>
            <a:chOff x="0" y="0"/>
            <a:chExt cx="2148839" cy="566927"/>
          </a:xfrm>
        </p:grpSpPr>
        <p:sp>
          <p:nvSpPr>
            <p:cNvPr id="277" name="ob3_bg"/>
            <p:cNvSpPr/>
            <p:nvPr/>
          </p:nvSpPr>
          <p:spPr>
            <a:xfrm>
              <a:off x="0" y="0"/>
              <a:ext cx="2148840" cy="566928"/>
            </a:xfrm>
            <a:prstGeom prst="roundRect">
              <a:avLst>
                <a:gd name="adj" fmla="val 22581"/>
              </a:avLst>
            </a:prstGeom>
            <a:solidFill>
              <a:srgbClr val="FFFFFF"/>
            </a:solidFill>
            <a:ln w="15875" cap="flat">
              <a:solidFill>
                <a:srgbClr val="2BA6A0"/>
              </a:solidFill>
              <a:prstDash val="solid"/>
              <a:round/>
            </a:ln>
            <a:effectLst/>
          </p:spPr>
          <p:txBody>
            <a:bodyPr wrap="square" lIns="45719" tIns="45719" rIns="45719" bIns="45719" numCol="1" anchor="t">
              <a:noAutofit/>
            </a:bodyPr>
            <a:lstStyle/>
            <a:p>
              <a:pPr/>
            </a:p>
          </p:txBody>
        </p:sp>
        <p:sp>
          <p:nvSpPr>
            <p:cNvPr id="278" name="ob3_t"/>
            <p:cNvSpPr txBox="1"/>
            <p:nvPr/>
          </p:nvSpPr>
          <p:spPr>
            <a:xfrm>
              <a:off x="109728" y="197056"/>
              <a:ext cx="19293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41535"/>
                  </a:solidFill>
                  <a:latin typeface="Arial"/>
                  <a:ea typeface="Arial"/>
                  <a:cs typeface="Arial"/>
                  <a:sym typeface="Arial"/>
                </a:defRPr>
              </a:lvl1pPr>
            </a:lstStyle>
            <a:p>
              <a:pPr/>
              <a:r>
                <a:t>A horseshoe sank.</a:t>
              </a:r>
            </a:p>
          </p:txBody>
        </p:sp>
      </p:grpSp>
      <p:sp>
        <p:nvSpPr>
          <p:cNvPr id="280" name="ob_cap"/>
          <p:cNvSpPr txBox="1"/>
          <p:nvPr/>
        </p:nvSpPr>
        <p:spPr>
          <a:xfrm>
            <a:off x="1517649" y="3690411"/>
            <a:ext cx="914400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2BA6A0"/>
                </a:solidFill>
                <a:latin typeface="Arial"/>
                <a:ea typeface="Arial"/>
                <a:cs typeface="Arial"/>
                <a:sym typeface="Arial"/>
              </a:defRPr>
            </a:lvl1pPr>
          </a:lstStyle>
          <a:p>
            <a:pPr/>
            <a:r>
              <a:t>Evidence that metal items sink.</a:t>
            </a:r>
          </a:p>
        </p:txBody>
      </p:sp>
      <p:sp>
        <p:nvSpPr>
          <p:cNvPr id="281" name="ind_arrow"/>
          <p:cNvSpPr/>
          <p:nvPr/>
        </p:nvSpPr>
        <p:spPr>
          <a:xfrm rot="5400000">
            <a:off x="5778753" y="4197096"/>
            <a:ext cx="621793" cy="201169"/>
          </a:xfrm>
          <a:prstGeom prst="rightArrow">
            <a:avLst>
              <a:gd name="adj1" fmla="val 50000"/>
              <a:gd name="adj2" fmla="val 50000"/>
            </a:avLst>
          </a:prstGeom>
          <a:solidFill>
            <a:srgbClr val="F2A03D"/>
          </a:solidFill>
          <a:ln w="12700">
            <a:solidFill>
              <a:srgbClr val="F2A03D"/>
            </a:solidFill>
          </a:ln>
        </p:spPr>
        <p:txBody>
          <a:bodyPr lIns="45719" rIns="45719"/>
          <a:lstStyle/>
          <a:p>
            <a:pPr/>
          </a:p>
        </p:txBody>
      </p:sp>
      <p:sp>
        <p:nvSpPr>
          <p:cNvPr id="282" name="ind_lab"/>
          <p:cNvSpPr txBox="1"/>
          <p:nvPr/>
        </p:nvSpPr>
        <p:spPr>
          <a:xfrm>
            <a:off x="6363970" y="4158291"/>
            <a:ext cx="201168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10" sz="1200">
                <a:solidFill>
                  <a:srgbClr val="F2A03D"/>
                </a:solidFill>
                <a:latin typeface="Arial"/>
                <a:ea typeface="Arial"/>
                <a:cs typeface="Arial"/>
                <a:sym typeface="Arial"/>
              </a:defRPr>
            </a:lvl1pPr>
          </a:lstStyle>
          <a:p>
            <a:pPr/>
            <a:r>
              <a:t>INDUCTION</a:t>
            </a:r>
          </a:p>
        </p:txBody>
      </p:sp>
      <p:grpSp>
        <p:nvGrpSpPr>
          <p:cNvPr id="285" name="ind_conc"/>
          <p:cNvGrpSpPr/>
          <p:nvPr/>
        </p:nvGrpSpPr>
        <p:grpSpPr>
          <a:xfrm>
            <a:off x="1965960" y="4663440"/>
            <a:ext cx="8259775" cy="566929"/>
            <a:chOff x="0" y="0"/>
            <a:chExt cx="8259774" cy="566927"/>
          </a:xfrm>
        </p:grpSpPr>
        <p:sp>
          <p:nvSpPr>
            <p:cNvPr id="283" name="Rounded Rectangle"/>
            <p:cNvSpPr/>
            <p:nvPr/>
          </p:nvSpPr>
          <p:spPr>
            <a:xfrm>
              <a:off x="0" y="0"/>
              <a:ext cx="8259775" cy="566928"/>
            </a:xfrm>
            <a:prstGeom prst="roundRect">
              <a:avLst>
                <a:gd name="adj" fmla="val 17742"/>
              </a:avLst>
            </a:prstGeom>
            <a:solidFill>
              <a:srgbClr val="2BA6A0"/>
            </a:solidFill>
            <a:ln w="9525" cap="flat">
              <a:solidFill>
                <a:srgbClr val="2BA6A0"/>
              </a:solidFill>
              <a:prstDash val="solid"/>
              <a:round/>
            </a:ln>
            <a:effectLst/>
          </p:spPr>
          <p:txBody>
            <a:bodyPr wrap="square" lIns="45719" tIns="45719" rIns="45719" bIns="45719" numCol="1" anchor="ctr">
              <a:noAutofit/>
            </a:bodyPr>
            <a:lstStyle/>
            <a:p>
              <a:pPr algn="ctr"/>
            </a:p>
          </p:txBody>
        </p:sp>
        <p:sp>
          <p:nvSpPr>
            <p:cNvPr id="284" name="Conclusion:  iron sinks in water."/>
            <p:cNvSpPr txBox="1"/>
            <p:nvPr/>
          </p:nvSpPr>
          <p:spPr>
            <a:xfrm>
              <a:off x="34222" y="150113"/>
              <a:ext cx="819133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Georgia"/>
                  <a:ea typeface="Georgia"/>
                  <a:cs typeface="Georgia"/>
                  <a:sym typeface="Georgia"/>
                </a:defRPr>
              </a:lvl1pPr>
            </a:lstStyle>
            <a:p>
              <a:pPr/>
              <a:r>
                <a:t>Conclusion:  iron sinks in water.</a:t>
              </a:r>
            </a:p>
          </p:txBody>
        </p:sp>
      </p:grpSp>
      <p:grpSp>
        <p:nvGrpSpPr>
          <p:cNvPr id="288" name="ind_warn"/>
          <p:cNvGrpSpPr/>
          <p:nvPr/>
        </p:nvGrpSpPr>
        <p:grpSpPr>
          <a:xfrm>
            <a:off x="502919" y="5431535"/>
            <a:ext cx="11185857" cy="694945"/>
            <a:chOff x="0" y="0"/>
            <a:chExt cx="11185855" cy="694944"/>
          </a:xfrm>
        </p:grpSpPr>
        <p:sp>
          <p:nvSpPr>
            <p:cNvPr id="286" name="ind_warn_bg"/>
            <p:cNvSpPr/>
            <p:nvPr/>
          </p:nvSpPr>
          <p:spPr>
            <a:xfrm>
              <a:off x="0" y="0"/>
              <a:ext cx="11185856" cy="694945"/>
            </a:xfrm>
            <a:prstGeom prst="roundRect">
              <a:avLst>
                <a:gd name="adj" fmla="val 18421"/>
              </a:avLst>
            </a:prstGeom>
            <a:solidFill>
              <a:srgbClr val="FCEDF0"/>
            </a:solidFill>
            <a:ln w="20320" cap="flat">
              <a:solidFill>
                <a:srgbClr val="D94F6A"/>
              </a:solidFill>
              <a:prstDash val="solid"/>
              <a:round/>
            </a:ln>
            <a:effectLst/>
          </p:spPr>
          <p:txBody>
            <a:bodyPr wrap="square" lIns="45719" tIns="45719" rIns="45719" bIns="45719" numCol="1" anchor="t">
              <a:noAutofit/>
            </a:bodyPr>
            <a:lstStyle/>
            <a:p>
              <a:pPr/>
            </a:p>
          </p:txBody>
        </p:sp>
        <p:sp>
          <p:nvSpPr>
            <p:cNvPr id="287" name="ind_warn_t"/>
            <p:cNvSpPr txBox="1"/>
            <p:nvPr/>
          </p:nvSpPr>
          <p:spPr>
            <a:xfrm>
              <a:off x="237743" y="168816"/>
              <a:ext cx="10710369" cy="3756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241535"/>
                  </a:solidFill>
                  <a:latin typeface="Arial"/>
                  <a:ea typeface="Arial"/>
                  <a:cs typeface="Arial"/>
                  <a:sym typeface="Arial"/>
                </a:defRPr>
              </a:lvl1pPr>
            </a:lstStyle>
            <a:p>
              <a:pPr/>
              <a:r>
                <a:t>And then somebody built a ship out of iron, and it floated. Induction is powerful, and it is never finished. It takes one observation that does not fit to break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67"/>
                                        </p:tgtEl>
                                        <p:attrNameLst>
                                          <p:attrName>style.visibility</p:attrName>
                                        </p:attrNameLst>
                                      </p:cBhvr>
                                      <p:to>
                                        <p:strVal val="visible"/>
                                      </p:to>
                                    </p:set>
                                    <p:animEffect filter="fade" transition="in">
                                      <p:cBhvr>
                                        <p:cTn id="7" dur="500"/>
                                        <p:tgtEl>
                                          <p:spTgt spid="26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70"/>
                                        </p:tgtEl>
                                        <p:attrNameLst>
                                          <p:attrName>style.visibility</p:attrName>
                                        </p:attrNameLst>
                                      </p:cBhvr>
                                      <p:to>
                                        <p:strVal val="visible"/>
                                      </p:to>
                                    </p:set>
                                    <p:animEffect filter="fade" transition="in">
                                      <p:cBhvr>
                                        <p:cTn id="12" dur="500"/>
                                        <p:tgtEl>
                                          <p:spTgt spid="270"/>
                                        </p:tgtEl>
                                      </p:cBhvr>
                                    </p:animEffect>
                                  </p:childTnLst>
                                </p:cTn>
                              </p:par>
                            </p:childTnLst>
                          </p:cTn>
                        </p:par>
                        <p:par>
                          <p:cTn id="13" fill="hold">
                            <p:stCondLst>
                              <p:cond delay="500"/>
                            </p:stCondLst>
                            <p:childTnLst>
                              <p:par>
                                <p:cTn id="14" presetClass="entr" nodeType="afterEffect" presetID="10" grpId="3" fill="hold">
                                  <p:stCondLst>
                                    <p:cond delay="180"/>
                                  </p:stCondLst>
                                  <p:iterate type="el" backwards="0">
                                    <p:tmAbs val="0"/>
                                  </p:iterate>
                                  <p:childTnLst>
                                    <p:set>
                                      <p:cBhvr>
                                        <p:cTn id="15" fill="hold"/>
                                        <p:tgtEl>
                                          <p:spTgt spid="273"/>
                                        </p:tgtEl>
                                        <p:attrNameLst>
                                          <p:attrName>style.visibility</p:attrName>
                                        </p:attrNameLst>
                                      </p:cBhvr>
                                      <p:to>
                                        <p:strVal val="visible"/>
                                      </p:to>
                                    </p:set>
                                    <p:animEffect filter="fade" transition="in">
                                      <p:cBhvr>
                                        <p:cTn id="16" dur="500"/>
                                        <p:tgtEl>
                                          <p:spTgt spid="273"/>
                                        </p:tgtEl>
                                      </p:cBhvr>
                                    </p:animEffect>
                                  </p:childTnLst>
                                </p:cTn>
                              </p:par>
                            </p:childTnLst>
                          </p:cTn>
                        </p:par>
                        <p:par>
                          <p:cTn id="17" fill="hold">
                            <p:stCondLst>
                              <p:cond delay="1180"/>
                            </p:stCondLst>
                            <p:childTnLst>
                              <p:par>
                                <p:cTn id="18" presetClass="entr" nodeType="afterEffect" presetID="10" grpId="4" fill="hold">
                                  <p:stCondLst>
                                    <p:cond delay="360"/>
                                  </p:stCondLst>
                                  <p:iterate type="el" backwards="0">
                                    <p:tmAbs val="0"/>
                                  </p:iterate>
                                  <p:childTnLst>
                                    <p:set>
                                      <p:cBhvr>
                                        <p:cTn id="19" fill="hold"/>
                                        <p:tgtEl>
                                          <p:spTgt spid="276"/>
                                        </p:tgtEl>
                                        <p:attrNameLst>
                                          <p:attrName>style.visibility</p:attrName>
                                        </p:attrNameLst>
                                      </p:cBhvr>
                                      <p:to>
                                        <p:strVal val="visible"/>
                                      </p:to>
                                    </p:set>
                                    <p:animEffect filter="fade" transition="in">
                                      <p:cBhvr>
                                        <p:cTn id="20" dur="500"/>
                                        <p:tgtEl>
                                          <p:spTgt spid="276"/>
                                        </p:tgtEl>
                                      </p:cBhvr>
                                    </p:animEffect>
                                  </p:childTnLst>
                                </p:cTn>
                              </p:par>
                            </p:childTnLst>
                          </p:cTn>
                        </p:par>
                        <p:par>
                          <p:cTn id="21" fill="hold">
                            <p:stCondLst>
                              <p:cond delay="2040"/>
                            </p:stCondLst>
                            <p:childTnLst>
                              <p:par>
                                <p:cTn id="22" presetClass="entr" nodeType="afterEffect" presetID="10" grpId="5" fill="hold">
                                  <p:stCondLst>
                                    <p:cond delay="540"/>
                                  </p:stCondLst>
                                  <p:iterate type="el" backwards="0">
                                    <p:tmAbs val="0"/>
                                  </p:iterate>
                                  <p:childTnLst>
                                    <p:set>
                                      <p:cBhvr>
                                        <p:cTn id="23" fill="hold"/>
                                        <p:tgtEl>
                                          <p:spTgt spid="279"/>
                                        </p:tgtEl>
                                        <p:attrNameLst>
                                          <p:attrName>style.visibility</p:attrName>
                                        </p:attrNameLst>
                                      </p:cBhvr>
                                      <p:to>
                                        <p:strVal val="visible"/>
                                      </p:to>
                                    </p:set>
                                    <p:animEffect filter="fade" transition="in">
                                      <p:cBhvr>
                                        <p:cTn id="24" dur="500"/>
                                        <p:tgtEl>
                                          <p:spTgt spid="279"/>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280"/>
                                        </p:tgtEl>
                                        <p:attrNameLst>
                                          <p:attrName>style.visibility</p:attrName>
                                        </p:attrNameLst>
                                      </p:cBhvr>
                                      <p:to>
                                        <p:strVal val="visible"/>
                                      </p:to>
                                    </p:set>
                                    <p:animEffect filter="fade" transition="in">
                                      <p:cBhvr>
                                        <p:cTn id="29" dur="500"/>
                                        <p:tgtEl>
                                          <p:spTgt spid="280"/>
                                        </p:tgtEl>
                                      </p:cBhvr>
                                    </p:animEffect>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1" presetID="22" grpId="7" fill="hold">
                                  <p:stCondLst>
                                    <p:cond delay="0"/>
                                  </p:stCondLst>
                                  <p:iterate type="el" backwards="0">
                                    <p:tmAbs val="0"/>
                                  </p:iterate>
                                  <p:childTnLst>
                                    <p:set>
                                      <p:cBhvr>
                                        <p:cTn id="33" fill="hold"/>
                                        <p:tgtEl>
                                          <p:spTgt spid="281"/>
                                        </p:tgtEl>
                                        <p:attrNameLst>
                                          <p:attrName>style.visibility</p:attrName>
                                        </p:attrNameLst>
                                      </p:cBhvr>
                                      <p:to>
                                        <p:strVal val="visible"/>
                                      </p:to>
                                    </p:set>
                                    <p:animEffect filter="wipe(up)" transition="in">
                                      <p:cBhvr>
                                        <p:cTn id="34" dur="500"/>
                                        <p:tgtEl>
                                          <p:spTgt spid="281"/>
                                        </p:tgtEl>
                                      </p:cBhvr>
                                    </p:animEffect>
                                  </p:childTnLst>
                                </p:cTn>
                              </p:par>
                            </p:childTnLst>
                          </p:cTn>
                        </p:par>
                        <p:par>
                          <p:cTn id="35" fill="hold">
                            <p:stCondLst>
                              <p:cond delay="500"/>
                            </p:stCondLst>
                            <p:childTnLst>
                              <p:par>
                                <p:cTn id="36" presetClass="entr" nodeType="afterEffect" presetID="10" grpId="8" fill="hold">
                                  <p:stCondLst>
                                    <p:cond delay="200"/>
                                  </p:stCondLst>
                                  <p:iterate type="el" backwards="0">
                                    <p:tmAbs val="0"/>
                                  </p:iterate>
                                  <p:childTnLst>
                                    <p:set>
                                      <p:cBhvr>
                                        <p:cTn id="37" fill="hold"/>
                                        <p:tgtEl>
                                          <p:spTgt spid="282"/>
                                        </p:tgtEl>
                                        <p:attrNameLst>
                                          <p:attrName>style.visibility</p:attrName>
                                        </p:attrNameLst>
                                      </p:cBhvr>
                                      <p:to>
                                        <p:strVal val="visible"/>
                                      </p:to>
                                    </p:set>
                                    <p:animEffect filter="fade" transition="in">
                                      <p:cBhvr>
                                        <p:cTn id="38" dur="500"/>
                                        <p:tgtEl>
                                          <p:spTgt spid="282"/>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16" presetID="23" grpId="9" fill="hold">
                                  <p:stCondLst>
                                    <p:cond delay="0"/>
                                  </p:stCondLst>
                                  <p:iterate type="el" backwards="0">
                                    <p:tmAbs val="0"/>
                                  </p:iterate>
                                  <p:childTnLst>
                                    <p:set>
                                      <p:cBhvr>
                                        <p:cTn id="42" fill="hold"/>
                                        <p:tgtEl>
                                          <p:spTgt spid="285"/>
                                        </p:tgtEl>
                                        <p:attrNameLst>
                                          <p:attrName>style.visibility</p:attrName>
                                        </p:attrNameLst>
                                      </p:cBhvr>
                                      <p:to>
                                        <p:strVal val="visible"/>
                                      </p:to>
                                    </p:set>
                                    <p:anim calcmode="lin" valueType="num">
                                      <p:cBhvr>
                                        <p:cTn id="43" dur="500" fill="hold"/>
                                        <p:tgtEl>
                                          <p:spTgt spid="285"/>
                                        </p:tgtEl>
                                        <p:attrNameLst>
                                          <p:attrName>ppt_w</p:attrName>
                                        </p:attrNameLst>
                                      </p:cBhvr>
                                      <p:tavLst>
                                        <p:tav tm="0">
                                          <p:val>
                                            <p:fltVal val="0"/>
                                          </p:val>
                                        </p:tav>
                                        <p:tav tm="100000">
                                          <p:val>
                                            <p:strVal val="#ppt_w"/>
                                          </p:val>
                                        </p:tav>
                                      </p:tavLst>
                                    </p:anim>
                                    <p:anim calcmode="lin" valueType="num">
                                      <p:cBhvr>
                                        <p:cTn id="44" dur="500" fill="hold"/>
                                        <p:tgtEl>
                                          <p:spTgt spid="285"/>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Class="entr" nodeType="clickEffect" presetID="10" grpId="10" fill="hold">
                                  <p:stCondLst>
                                    <p:cond delay="0"/>
                                  </p:stCondLst>
                                  <p:iterate type="el" backwards="0">
                                    <p:tmAbs val="0"/>
                                  </p:iterate>
                                  <p:childTnLst>
                                    <p:set>
                                      <p:cBhvr>
                                        <p:cTn id="48" fill="hold"/>
                                        <p:tgtEl>
                                          <p:spTgt spid="288"/>
                                        </p:tgtEl>
                                        <p:attrNameLst>
                                          <p:attrName>style.visibility</p:attrName>
                                        </p:attrNameLst>
                                      </p:cBhvr>
                                      <p:to>
                                        <p:strVal val="visible"/>
                                      </p:to>
                                    </p:set>
                                    <p:animEffect filter="fade" transition="in">
                                      <p:cBhvr>
                                        <p:cTn id="49" dur="5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3" grpId="3"/>
      <p:bldP build="whole" bldLvl="1" animBg="1" rev="0" advAuto="0" spid="285" grpId="9"/>
      <p:bldP build="whole" bldLvl="1" animBg="1" rev="0" advAuto="0" spid="288" grpId="10"/>
      <p:bldP build="whole" bldLvl="1" animBg="1" rev="0" advAuto="0" spid="282" grpId="8"/>
      <p:bldP build="whole" bldLvl="1" animBg="1" rev="0" advAuto="0" spid="270" grpId="2"/>
      <p:bldP build="whole" bldLvl="1" animBg="1" rev="0" advAuto="0" spid="279" grpId="5"/>
      <p:bldP build="whole" bldLvl="1" animBg="1" rev="0" advAuto="0" spid="267" grpId="1"/>
      <p:bldP build="whole" bldLvl="1" animBg="1" rev="0" advAuto="0" spid="281" grpId="7"/>
      <p:bldP build="whole" bldLvl="1" animBg="1" rev="0" advAuto="0" spid="276" grpId="4"/>
      <p:bldP build="whole" bldLvl="1" animBg="1" rev="0" advAuto="0" spid="280" grpId="6"/>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94" name="phase_pill"/>
          <p:cNvGrpSpPr/>
          <p:nvPr/>
        </p:nvGrpSpPr>
        <p:grpSpPr>
          <a:xfrm>
            <a:off x="502919" y="274320"/>
            <a:ext cx="2286001" cy="347473"/>
            <a:chOff x="0" y="0"/>
            <a:chExt cx="2286000" cy="347472"/>
          </a:xfrm>
        </p:grpSpPr>
        <p:sp>
          <p:nvSpPr>
            <p:cNvPr id="292" name="Rounded Rectangle"/>
            <p:cNvSpPr/>
            <p:nvPr/>
          </p:nvSpPr>
          <p:spPr>
            <a:xfrm>
              <a:off x="0" y="0"/>
              <a:ext cx="2286000"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93" name="WE DO · 6 MIN"/>
            <p:cNvSpPr txBox="1"/>
            <p:nvPr/>
          </p:nvSpPr>
          <p:spPr>
            <a:xfrm>
              <a:off x="50885" y="99821"/>
              <a:ext cx="218423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WE DO · 6 MIN</a:t>
              </a:r>
            </a:p>
          </p:txBody>
        </p:sp>
      </p:grpSp>
      <p:sp>
        <p:nvSpPr>
          <p:cNvPr id="295"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BA6A0"/>
                </a:solidFill>
                <a:latin typeface="Arial"/>
                <a:ea typeface="Arial"/>
                <a:cs typeface="Arial"/>
                <a:sym typeface="Arial"/>
              </a:defRPr>
            </a:lvl1pPr>
          </a:lstStyle>
          <a:p>
            <a:pPr/>
            <a:r>
              <a:t>induction</a:t>
            </a:r>
          </a:p>
        </p:txBody>
      </p:sp>
      <p:sp>
        <p:nvSpPr>
          <p:cNvPr id="296"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Your turn: what can you conclude?</a:t>
            </a:r>
          </a:p>
        </p:txBody>
      </p:sp>
      <p:sp>
        <p:nvSpPr>
          <p:cNvPr id="297" name="wc_intro"/>
          <p:cNvSpPr txBox="1"/>
          <p:nvPr/>
        </p:nvSpPr>
        <p:spPr>
          <a:xfrm>
            <a:off x="502919" y="1617378"/>
            <a:ext cx="100584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In pairs. One sentence each time, starting with the words "in general".</a:t>
            </a:r>
          </a:p>
        </p:txBody>
      </p:sp>
      <p:sp>
        <p:nvSpPr>
          <p:cNvPr id="298" name="wc0_bg"/>
          <p:cNvSpPr/>
          <p:nvPr/>
        </p:nvSpPr>
        <p:spPr>
          <a:xfrm>
            <a:off x="502919" y="2139695"/>
            <a:ext cx="11185857" cy="1078993"/>
          </a:xfrm>
          <a:prstGeom prst="roundRect">
            <a:avLst>
              <a:gd name="adj" fmla="val 11864"/>
            </a:avLst>
          </a:prstGeom>
          <a:solidFill>
            <a:srgbClr val="FFFFFF"/>
          </a:solidFill>
          <a:ln w="15875">
            <a:solidFill>
              <a:srgbClr val="E3DAF0"/>
            </a:solidFill>
          </a:ln>
        </p:spPr>
        <p:txBody>
          <a:bodyPr lIns="45719" rIns="45719"/>
          <a:lstStyle/>
          <a:p>
            <a:pPr/>
          </a:p>
        </p:txBody>
      </p:sp>
      <p:sp>
        <p:nvSpPr>
          <p:cNvPr id="299" name="wc0_n"/>
          <p:cNvSpPr txBox="1"/>
          <p:nvPr/>
        </p:nvSpPr>
        <p:spPr>
          <a:xfrm>
            <a:off x="704087" y="2323591"/>
            <a:ext cx="329185"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F2A03D"/>
                </a:solidFill>
                <a:latin typeface="Georgia"/>
                <a:ea typeface="Georgia"/>
                <a:cs typeface="Georgia"/>
                <a:sym typeface="Georgia"/>
              </a:defRPr>
            </a:lvl1pPr>
          </a:lstStyle>
          <a:p>
            <a:pPr/>
            <a:r>
              <a:t>1</a:t>
            </a:r>
          </a:p>
        </p:txBody>
      </p:sp>
      <p:sp>
        <p:nvSpPr>
          <p:cNvPr id="300" name="wc0_o"/>
          <p:cNvSpPr txBox="1"/>
          <p:nvPr/>
        </p:nvSpPr>
        <p:spPr>
          <a:xfrm>
            <a:off x="1161287" y="2480164"/>
            <a:ext cx="4160522" cy="3980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sz="1200">
                <a:solidFill>
                  <a:srgbClr val="241535"/>
                </a:solidFill>
                <a:latin typeface="Arial"/>
                <a:ea typeface="Arial"/>
                <a:cs typeface="Arial"/>
                <a:sym typeface="Arial"/>
              </a:defRPr>
            </a:lvl1pPr>
          </a:lstStyle>
          <a:p>
            <a:pPr/>
            <a:r>
              <a:t>Every mango you have eaten was sour when hard and sweet when soft.</a:t>
            </a:r>
          </a:p>
        </p:txBody>
      </p:sp>
      <p:sp>
        <p:nvSpPr>
          <p:cNvPr id="301" name="wc0_c"/>
          <p:cNvSpPr txBox="1"/>
          <p:nvPr/>
        </p:nvSpPr>
        <p:spPr>
          <a:xfrm>
            <a:off x="5486400" y="2480164"/>
            <a:ext cx="2834640" cy="3980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b="1" sz="1200">
                <a:solidFill>
                  <a:srgbClr val="2BA6A0"/>
                </a:solidFill>
                <a:latin typeface="Arial"/>
                <a:ea typeface="Arial"/>
                <a:cs typeface="Arial"/>
                <a:sym typeface="Arial"/>
              </a:defRPr>
            </a:lvl1pPr>
          </a:lstStyle>
          <a:p>
            <a:pPr/>
            <a:r>
              <a:t>In general, mangoes get sweeter as they ripen.</a:t>
            </a:r>
          </a:p>
        </p:txBody>
      </p:sp>
      <p:sp>
        <p:nvSpPr>
          <p:cNvPr id="302" name="wc1_bg"/>
          <p:cNvSpPr/>
          <p:nvPr/>
        </p:nvSpPr>
        <p:spPr>
          <a:xfrm>
            <a:off x="502919" y="3364991"/>
            <a:ext cx="11185857" cy="1078993"/>
          </a:xfrm>
          <a:prstGeom prst="roundRect">
            <a:avLst>
              <a:gd name="adj" fmla="val 11864"/>
            </a:avLst>
          </a:prstGeom>
          <a:solidFill>
            <a:srgbClr val="FFFFFF"/>
          </a:solidFill>
          <a:ln w="15875">
            <a:solidFill>
              <a:srgbClr val="E3DAF0"/>
            </a:solidFill>
          </a:ln>
        </p:spPr>
        <p:txBody>
          <a:bodyPr lIns="45719" rIns="45719"/>
          <a:lstStyle/>
          <a:p>
            <a:pPr/>
          </a:p>
        </p:txBody>
      </p:sp>
      <p:sp>
        <p:nvSpPr>
          <p:cNvPr id="303" name="wc1_n"/>
          <p:cNvSpPr txBox="1"/>
          <p:nvPr/>
        </p:nvSpPr>
        <p:spPr>
          <a:xfrm>
            <a:off x="704087" y="3548888"/>
            <a:ext cx="329185"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F2A03D"/>
                </a:solidFill>
                <a:latin typeface="Georgia"/>
                <a:ea typeface="Georgia"/>
                <a:cs typeface="Georgia"/>
                <a:sym typeface="Georgia"/>
              </a:defRPr>
            </a:lvl1pPr>
          </a:lstStyle>
          <a:p>
            <a:pPr/>
            <a:r>
              <a:t>2</a:t>
            </a:r>
          </a:p>
        </p:txBody>
      </p:sp>
      <p:sp>
        <p:nvSpPr>
          <p:cNvPr id="304" name="wc1_o"/>
          <p:cNvSpPr txBox="1"/>
          <p:nvPr/>
        </p:nvSpPr>
        <p:spPr>
          <a:xfrm>
            <a:off x="1161287" y="3705460"/>
            <a:ext cx="4160522" cy="3980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sz="1200">
                <a:solidFill>
                  <a:srgbClr val="241535"/>
                </a:solidFill>
                <a:latin typeface="Arial"/>
                <a:ea typeface="Arial"/>
                <a:cs typeface="Arial"/>
                <a:sym typeface="Arial"/>
              </a:defRPr>
            </a:lvl1pPr>
          </a:lstStyle>
          <a:p>
            <a:pPr/>
            <a:r>
              <a:t>For every morning of your life, the sun has come up in the east.</a:t>
            </a:r>
          </a:p>
        </p:txBody>
      </p:sp>
      <p:sp>
        <p:nvSpPr>
          <p:cNvPr id="305" name="wc1_c"/>
          <p:cNvSpPr txBox="1"/>
          <p:nvPr/>
        </p:nvSpPr>
        <p:spPr>
          <a:xfrm>
            <a:off x="5486400" y="3807060"/>
            <a:ext cx="2834640" cy="1948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b="1" sz="1200">
                <a:solidFill>
                  <a:srgbClr val="2BA6A0"/>
                </a:solidFill>
                <a:latin typeface="Arial"/>
                <a:ea typeface="Arial"/>
                <a:cs typeface="Arial"/>
                <a:sym typeface="Arial"/>
              </a:defRPr>
            </a:lvl1pPr>
          </a:lstStyle>
          <a:p>
            <a:pPr/>
            <a:r>
              <a:t>In general, the sun rises in the east.</a:t>
            </a:r>
          </a:p>
        </p:txBody>
      </p:sp>
      <p:sp>
        <p:nvSpPr>
          <p:cNvPr id="306" name="wc2_bg"/>
          <p:cNvSpPr/>
          <p:nvPr/>
        </p:nvSpPr>
        <p:spPr>
          <a:xfrm>
            <a:off x="502919" y="4590288"/>
            <a:ext cx="11185857" cy="1078993"/>
          </a:xfrm>
          <a:prstGeom prst="roundRect">
            <a:avLst>
              <a:gd name="adj" fmla="val 11864"/>
            </a:avLst>
          </a:prstGeom>
          <a:solidFill>
            <a:srgbClr val="FCEDF0"/>
          </a:solidFill>
          <a:ln w="21590">
            <a:solidFill>
              <a:srgbClr val="D94F6A"/>
            </a:solidFill>
          </a:ln>
        </p:spPr>
        <p:txBody>
          <a:bodyPr lIns="45719" rIns="45719"/>
          <a:lstStyle/>
          <a:p>
            <a:pPr/>
          </a:p>
        </p:txBody>
      </p:sp>
      <p:sp>
        <p:nvSpPr>
          <p:cNvPr id="307" name="wc2_n"/>
          <p:cNvSpPr txBox="1"/>
          <p:nvPr/>
        </p:nvSpPr>
        <p:spPr>
          <a:xfrm>
            <a:off x="704087" y="4774183"/>
            <a:ext cx="329185"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F2A03D"/>
                </a:solidFill>
                <a:latin typeface="Georgia"/>
                <a:ea typeface="Georgia"/>
                <a:cs typeface="Georgia"/>
                <a:sym typeface="Georgia"/>
              </a:defRPr>
            </a:lvl1pPr>
          </a:lstStyle>
          <a:p>
            <a:pPr/>
            <a:r>
              <a:t>3</a:t>
            </a:r>
          </a:p>
        </p:txBody>
      </p:sp>
      <p:sp>
        <p:nvSpPr>
          <p:cNvPr id="308" name="wc2_o"/>
          <p:cNvSpPr txBox="1"/>
          <p:nvPr/>
        </p:nvSpPr>
        <p:spPr>
          <a:xfrm>
            <a:off x="1161287" y="4930755"/>
            <a:ext cx="4160522" cy="3980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sz="1200">
                <a:solidFill>
                  <a:srgbClr val="241535"/>
                </a:solidFill>
                <a:latin typeface="Arial"/>
                <a:ea typeface="Arial"/>
                <a:cs typeface="Arial"/>
                <a:sym typeface="Arial"/>
              </a:defRPr>
            </a:lvl1pPr>
          </a:lstStyle>
          <a:p>
            <a:pPr/>
            <a:r>
              <a:t>For 2,000 years, every swan anyone in Europe had ever seen was white. A black one was seen after.</a:t>
            </a:r>
          </a:p>
        </p:txBody>
      </p:sp>
      <p:sp>
        <p:nvSpPr>
          <p:cNvPr id="309" name="wc2_c"/>
          <p:cNvSpPr txBox="1"/>
          <p:nvPr/>
        </p:nvSpPr>
        <p:spPr>
          <a:xfrm>
            <a:off x="5486400" y="5032355"/>
            <a:ext cx="2834640" cy="1948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600"/>
              </a:lnSpc>
              <a:defRPr b="1" sz="1200">
                <a:solidFill>
                  <a:srgbClr val="2BA6A0"/>
                </a:solidFill>
                <a:latin typeface="Arial"/>
                <a:ea typeface="Arial"/>
                <a:cs typeface="Arial"/>
                <a:sym typeface="Arial"/>
              </a:defRPr>
            </a:lvl1pPr>
          </a:lstStyle>
          <a:p>
            <a:pPr/>
            <a:r>
              <a:t>In general, swans are white.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01"/>
                                        </p:tgtEl>
                                        <p:attrNameLst>
                                          <p:attrName>style.visibility</p:attrName>
                                        </p:attrNameLst>
                                      </p:cBhvr>
                                      <p:to>
                                        <p:strVal val="visible"/>
                                      </p:to>
                                    </p:set>
                                    <p:animEffect filter="fade" transition="in">
                                      <p:cBhvr>
                                        <p:cTn id="7" dur="500"/>
                                        <p:tgtEl>
                                          <p:spTgt spid="30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05"/>
                                        </p:tgtEl>
                                        <p:attrNameLst>
                                          <p:attrName>style.visibility</p:attrName>
                                        </p:attrNameLst>
                                      </p:cBhvr>
                                      <p:to>
                                        <p:strVal val="visible"/>
                                      </p:to>
                                    </p:set>
                                    <p:animEffect filter="fade" transition="in">
                                      <p:cBhvr>
                                        <p:cTn id="12" dur="500"/>
                                        <p:tgtEl>
                                          <p:spTgt spid="305"/>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309"/>
                                        </p:tgtEl>
                                        <p:attrNameLst>
                                          <p:attrName>style.visibility</p:attrName>
                                        </p:attrNameLst>
                                      </p:cBhvr>
                                      <p:to>
                                        <p:strVal val="visible"/>
                                      </p:to>
                                    </p:set>
                                    <p:animEffect filter="fade" transition="in">
                                      <p:cBhvr>
                                        <p:cTn id="17"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1" grpId="1"/>
      <p:bldP build="whole" bldLvl="1" animBg="1" rev="0" advAuto="0" spid="309" grpId="3"/>
      <p:bldP build="whole" bldLvl="1" animBg="1" rev="0" advAuto="0" spid="305" grpId="2"/>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315" name="phase_pill"/>
          <p:cNvGrpSpPr/>
          <p:nvPr/>
        </p:nvGrpSpPr>
        <p:grpSpPr>
          <a:xfrm>
            <a:off x="502919" y="274320"/>
            <a:ext cx="2432306" cy="347473"/>
            <a:chOff x="0" y="0"/>
            <a:chExt cx="2432304" cy="347472"/>
          </a:xfrm>
        </p:grpSpPr>
        <p:sp>
          <p:nvSpPr>
            <p:cNvPr id="313" name="Rounded Rectangle"/>
            <p:cNvSpPr/>
            <p:nvPr/>
          </p:nvSpPr>
          <p:spPr>
            <a:xfrm>
              <a:off x="0" y="0"/>
              <a:ext cx="2432305"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314" name="YOU DO · 8 MIN"/>
            <p:cNvSpPr txBox="1"/>
            <p:nvPr/>
          </p:nvSpPr>
          <p:spPr>
            <a:xfrm>
              <a:off x="50886" y="99821"/>
              <a:ext cx="23305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YOU DO · 8 MIN</a:t>
              </a:r>
            </a:p>
          </p:txBody>
        </p:sp>
      </p:grpSp>
      <p:sp>
        <p:nvSpPr>
          <p:cNvPr id="316"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On your own — worksheet, Section A to C</a:t>
            </a:r>
          </a:p>
        </p:txBody>
      </p:sp>
      <p:sp>
        <p:nvSpPr>
          <p:cNvPr id="317" name="yd_intro"/>
          <p:cNvSpPr txBox="1"/>
          <p:nvPr/>
        </p:nvSpPr>
        <p:spPr>
          <a:xfrm>
            <a:off x="502919" y="1617378"/>
            <a:ext cx="100584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Start where you like. Bronze is the warm-up, not the bottom set.</a:t>
            </a:r>
          </a:p>
        </p:txBody>
      </p:sp>
      <p:sp>
        <p:nvSpPr>
          <p:cNvPr id="318" name="t0_bg"/>
          <p:cNvSpPr/>
          <p:nvPr/>
        </p:nvSpPr>
        <p:spPr>
          <a:xfrm>
            <a:off x="502919" y="2084832"/>
            <a:ext cx="3545739" cy="1737361"/>
          </a:xfrm>
          <a:prstGeom prst="roundRect">
            <a:avLst>
              <a:gd name="adj" fmla="val 7368"/>
            </a:avLst>
          </a:prstGeom>
          <a:solidFill>
            <a:srgbClr val="FCEDF0"/>
          </a:solidFill>
          <a:ln w="15875">
            <a:solidFill>
              <a:srgbClr val="D94F6A"/>
            </a:solidFill>
          </a:ln>
        </p:spPr>
        <p:txBody>
          <a:bodyPr lIns="45719" rIns="45719"/>
          <a:lstStyle/>
          <a:p>
            <a:pPr/>
          </a:p>
        </p:txBody>
      </p:sp>
      <p:sp>
        <p:nvSpPr>
          <p:cNvPr id="319" name="t0_h"/>
          <p:cNvSpPr txBox="1"/>
          <p:nvPr/>
        </p:nvSpPr>
        <p:spPr>
          <a:xfrm>
            <a:off x="722375" y="2284751"/>
            <a:ext cx="3106828"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600">
                <a:solidFill>
                  <a:srgbClr val="D94F6A"/>
                </a:solidFill>
                <a:latin typeface="Arial"/>
                <a:ea typeface="Arial"/>
                <a:cs typeface="Arial"/>
                <a:sym typeface="Arial"/>
              </a:defRPr>
            </a:lvl1pPr>
          </a:lstStyle>
          <a:p>
            <a:pPr/>
            <a:r>
              <a:t>BRONZE</a:t>
            </a:r>
          </a:p>
        </p:txBody>
      </p:sp>
      <p:sp>
        <p:nvSpPr>
          <p:cNvPr id="320" name="t0_s"/>
          <p:cNvSpPr txBox="1"/>
          <p:nvPr/>
        </p:nvSpPr>
        <p:spPr>
          <a:xfrm>
            <a:off x="722375" y="2629360"/>
            <a:ext cx="3106828"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41535"/>
                </a:solidFill>
                <a:latin typeface="Arial"/>
                <a:ea typeface="Arial"/>
                <a:cs typeface="Arial"/>
                <a:sym typeface="Arial"/>
              </a:defRPr>
            </a:lvl1pPr>
          </a:lstStyle>
          <a:p>
            <a:pPr/>
            <a:r>
              <a:t>Fluency</a:t>
            </a:r>
          </a:p>
        </p:txBody>
      </p:sp>
      <p:sp>
        <p:nvSpPr>
          <p:cNvPr id="321" name="t0_b"/>
          <p:cNvSpPr txBox="1"/>
          <p:nvPr/>
        </p:nvSpPr>
        <p:spPr>
          <a:xfrm>
            <a:off x="722375" y="2871216"/>
            <a:ext cx="3106828" cy="3980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200">
                <a:solidFill>
                  <a:srgbClr val="6A6180"/>
                </a:solidFill>
                <a:latin typeface="Arial"/>
                <a:ea typeface="Arial"/>
                <a:cs typeface="Arial"/>
                <a:sym typeface="Arial"/>
              </a:defRPr>
            </a:lvl1pPr>
          </a:lstStyle>
          <a:p>
            <a:pPr/>
            <a:r>
              <a:t>Definitions and sorting. Get the four new words solid.</a:t>
            </a:r>
          </a:p>
        </p:txBody>
      </p:sp>
      <p:sp>
        <p:nvSpPr>
          <p:cNvPr id="322" name="t1_bg"/>
          <p:cNvSpPr/>
          <p:nvPr/>
        </p:nvSpPr>
        <p:spPr>
          <a:xfrm>
            <a:off x="4322977" y="2084832"/>
            <a:ext cx="3545739" cy="1737361"/>
          </a:xfrm>
          <a:prstGeom prst="roundRect">
            <a:avLst>
              <a:gd name="adj" fmla="val 7368"/>
            </a:avLst>
          </a:prstGeom>
          <a:solidFill>
            <a:srgbClr val="F3F2F6"/>
          </a:solidFill>
          <a:ln w="15875">
            <a:solidFill>
              <a:srgbClr val="6A6180"/>
            </a:solidFill>
          </a:ln>
        </p:spPr>
        <p:txBody>
          <a:bodyPr lIns="45719" rIns="45719"/>
          <a:lstStyle/>
          <a:p>
            <a:pPr/>
          </a:p>
        </p:txBody>
      </p:sp>
      <p:sp>
        <p:nvSpPr>
          <p:cNvPr id="323" name="t1_h"/>
          <p:cNvSpPr txBox="1"/>
          <p:nvPr/>
        </p:nvSpPr>
        <p:spPr>
          <a:xfrm>
            <a:off x="4542433" y="2284751"/>
            <a:ext cx="3106828"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600">
                <a:solidFill>
                  <a:srgbClr val="6A6180"/>
                </a:solidFill>
                <a:latin typeface="Arial"/>
                <a:ea typeface="Arial"/>
                <a:cs typeface="Arial"/>
                <a:sym typeface="Arial"/>
              </a:defRPr>
            </a:lvl1pPr>
          </a:lstStyle>
          <a:p>
            <a:pPr/>
            <a:r>
              <a:t>SILVER</a:t>
            </a:r>
          </a:p>
        </p:txBody>
      </p:sp>
      <p:sp>
        <p:nvSpPr>
          <p:cNvPr id="324" name="t1_s"/>
          <p:cNvSpPr txBox="1"/>
          <p:nvPr/>
        </p:nvSpPr>
        <p:spPr>
          <a:xfrm>
            <a:off x="4542433" y="2629360"/>
            <a:ext cx="3106828"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41535"/>
                </a:solidFill>
                <a:latin typeface="Arial"/>
                <a:ea typeface="Arial"/>
                <a:cs typeface="Arial"/>
                <a:sym typeface="Arial"/>
              </a:defRPr>
            </a:lvl1pPr>
          </a:lstStyle>
          <a:p>
            <a:pPr/>
            <a:r>
              <a:t>Mixed practice</a:t>
            </a:r>
          </a:p>
        </p:txBody>
      </p:sp>
      <p:sp>
        <p:nvSpPr>
          <p:cNvPr id="325" name="t1_b"/>
          <p:cNvSpPr txBox="1"/>
          <p:nvPr/>
        </p:nvSpPr>
        <p:spPr>
          <a:xfrm>
            <a:off x="4542433" y="2871216"/>
            <a:ext cx="3106828" cy="3980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200">
                <a:solidFill>
                  <a:srgbClr val="6A6180"/>
                </a:solidFill>
                <a:latin typeface="Arial"/>
                <a:ea typeface="Arial"/>
                <a:cs typeface="Arial"/>
                <a:sym typeface="Arial"/>
              </a:defRPr>
            </a:lvl1pPr>
          </a:lstStyle>
          <a:p>
            <a:pPr/>
            <a:r>
              <a:t>Apply them: spot the evidence, write a conclusion.</a:t>
            </a:r>
          </a:p>
        </p:txBody>
      </p:sp>
      <p:sp>
        <p:nvSpPr>
          <p:cNvPr id="326" name="t2_bg"/>
          <p:cNvSpPr/>
          <p:nvPr/>
        </p:nvSpPr>
        <p:spPr>
          <a:xfrm>
            <a:off x="8143037" y="2084832"/>
            <a:ext cx="3545738" cy="1737361"/>
          </a:xfrm>
          <a:prstGeom prst="roundRect">
            <a:avLst>
              <a:gd name="adj" fmla="val 7368"/>
            </a:avLst>
          </a:prstGeom>
          <a:solidFill>
            <a:srgbClr val="FDEFD9"/>
          </a:solidFill>
          <a:ln w="15875">
            <a:solidFill>
              <a:srgbClr val="F2A03D"/>
            </a:solidFill>
          </a:ln>
        </p:spPr>
        <p:txBody>
          <a:bodyPr lIns="45719" rIns="45719"/>
          <a:lstStyle/>
          <a:p>
            <a:pPr/>
          </a:p>
        </p:txBody>
      </p:sp>
      <p:sp>
        <p:nvSpPr>
          <p:cNvPr id="327" name="t2_h"/>
          <p:cNvSpPr txBox="1"/>
          <p:nvPr/>
        </p:nvSpPr>
        <p:spPr>
          <a:xfrm>
            <a:off x="8362492" y="2284751"/>
            <a:ext cx="3106827"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600">
                <a:solidFill>
                  <a:srgbClr val="F2A03D"/>
                </a:solidFill>
                <a:latin typeface="Arial"/>
                <a:ea typeface="Arial"/>
                <a:cs typeface="Arial"/>
                <a:sym typeface="Arial"/>
              </a:defRPr>
            </a:lvl1pPr>
          </a:lstStyle>
          <a:p>
            <a:pPr/>
            <a:r>
              <a:t>GOLD</a:t>
            </a:r>
          </a:p>
        </p:txBody>
      </p:sp>
      <p:sp>
        <p:nvSpPr>
          <p:cNvPr id="328" name="t2_s"/>
          <p:cNvSpPr txBox="1"/>
          <p:nvPr/>
        </p:nvSpPr>
        <p:spPr>
          <a:xfrm>
            <a:off x="8362492" y="2629360"/>
            <a:ext cx="3106827"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41535"/>
                </a:solidFill>
                <a:latin typeface="Arial"/>
                <a:ea typeface="Arial"/>
                <a:cs typeface="Arial"/>
                <a:sym typeface="Arial"/>
              </a:defRPr>
            </a:lvl1pPr>
          </a:lstStyle>
          <a:p>
            <a:pPr/>
            <a:r>
              <a:t>Reasoning</a:t>
            </a:r>
          </a:p>
        </p:txBody>
      </p:sp>
      <p:sp>
        <p:nvSpPr>
          <p:cNvPr id="329" name="t2_b"/>
          <p:cNvSpPr txBox="1"/>
          <p:nvPr/>
        </p:nvSpPr>
        <p:spPr>
          <a:xfrm>
            <a:off x="8362492" y="2871216"/>
            <a:ext cx="3106827" cy="1948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200">
                <a:solidFill>
                  <a:srgbClr val="6A6180"/>
                </a:solidFill>
                <a:latin typeface="Arial"/>
                <a:ea typeface="Arial"/>
                <a:cs typeface="Arial"/>
                <a:sym typeface="Arial"/>
              </a:defRPr>
            </a:lvl1pPr>
          </a:lstStyle>
          <a:p>
            <a:pPr/>
            <a:r>
              <a:t>Explain and judge. Full sentences.</a:t>
            </a:r>
          </a:p>
        </p:txBody>
      </p:sp>
      <p:sp>
        <p:nvSpPr>
          <p:cNvPr id="330" name="gem_bg"/>
          <p:cNvSpPr/>
          <p:nvPr/>
        </p:nvSpPr>
        <p:spPr>
          <a:xfrm>
            <a:off x="502919" y="4059935"/>
            <a:ext cx="11185857" cy="1207009"/>
          </a:xfrm>
          <a:prstGeom prst="roundRect">
            <a:avLst>
              <a:gd name="adj" fmla="val 10606"/>
            </a:avLst>
          </a:prstGeom>
          <a:solidFill>
            <a:srgbClr val="E6F5F4"/>
          </a:solidFill>
          <a:ln w="15875">
            <a:solidFill>
              <a:srgbClr val="2BA6A0"/>
            </a:solidFill>
          </a:ln>
        </p:spPr>
        <p:txBody>
          <a:bodyPr lIns="45719" rIns="45719"/>
          <a:lstStyle/>
          <a:p>
            <a:pPr/>
          </a:p>
        </p:txBody>
      </p:sp>
      <p:sp>
        <p:nvSpPr>
          <p:cNvPr id="331" name="gem_h"/>
          <p:cNvSpPr txBox="1"/>
          <p:nvPr/>
        </p:nvSpPr>
        <p:spPr>
          <a:xfrm>
            <a:off x="758951" y="4241706"/>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4A2C6F"/>
                </a:solidFill>
                <a:latin typeface="Arial"/>
                <a:ea typeface="Arial"/>
                <a:cs typeface="Arial"/>
                <a:sym typeface="Arial"/>
              </a:defRPr>
            </a:lvl1pPr>
          </a:lstStyle>
          <a:p>
            <a:pPr/>
            <a:r>
              <a:t>Finished early? There is a game, and there are Gemini prompts.</a:t>
            </a:r>
          </a:p>
        </p:txBody>
      </p:sp>
      <p:sp>
        <p:nvSpPr>
          <p:cNvPr id="332" name="gem_t"/>
          <p:cNvSpPr txBox="1"/>
          <p:nvPr/>
        </p:nvSpPr>
        <p:spPr>
          <a:xfrm>
            <a:off x="758951" y="4498847"/>
            <a:ext cx="10673793" cy="3980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200">
                <a:solidFill>
                  <a:srgbClr val="241535"/>
                </a:solidFill>
                <a:latin typeface="Arial"/>
                <a:ea typeface="Arial"/>
                <a:cs typeface="Arial"/>
                <a:sym typeface="Arial"/>
              </a:defRPr>
            </a:lvl1pPr>
          </a:lstStyle>
          <a:p>
            <a:pPr/>
            <a:r>
              <a:t>The game is on Google Classroom: three rounds on evidence, on what science can answer, and on induction. It times you and tells you which ones you got wrong and why. The three Gemini prompts are on the last page of your worksheet — none of them will write an answer for you, and I can tell.</a:t>
            </a:r>
          </a:p>
        </p:txBody>
      </p:sp>
      <p:sp>
        <p:nvSpPr>
          <p:cNvPr id="333" name="yd_rag"/>
          <p:cNvSpPr txBox="1"/>
          <p:nvPr/>
        </p:nvSpPr>
        <p:spPr>
          <a:xfrm>
            <a:off x="502919" y="6360112"/>
            <a:ext cx="11185857"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D94F6A"/>
                </a:solidFill>
                <a:latin typeface="Arial"/>
                <a:ea typeface="Arial"/>
                <a:cs typeface="Arial"/>
                <a:sym typeface="Arial"/>
              </a:defRPr>
            </a:lvl1pPr>
          </a:lstStyle>
          <a:p>
            <a:pPr/>
            <a:r>
              <a:t>RAG grid, front page — fill in the "end of lesson" column before you pack away.</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339" name="phase_pill"/>
          <p:cNvGrpSpPr/>
          <p:nvPr/>
        </p:nvGrpSpPr>
        <p:grpSpPr>
          <a:xfrm>
            <a:off x="502919" y="274320"/>
            <a:ext cx="2432306" cy="347473"/>
            <a:chOff x="0" y="0"/>
            <a:chExt cx="2432304" cy="347472"/>
          </a:xfrm>
        </p:grpSpPr>
        <p:sp>
          <p:nvSpPr>
            <p:cNvPr id="337" name="Rounded Rectangle"/>
            <p:cNvSpPr/>
            <p:nvPr/>
          </p:nvSpPr>
          <p:spPr>
            <a:xfrm>
              <a:off x="0" y="0"/>
              <a:ext cx="2432305" cy="347473"/>
            </a:xfrm>
            <a:prstGeom prst="roundRect">
              <a:avLst>
                <a:gd name="adj" fmla="val 50000"/>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338" name="REVEAL · 4 MIN"/>
            <p:cNvSpPr txBox="1"/>
            <p:nvPr/>
          </p:nvSpPr>
          <p:spPr>
            <a:xfrm>
              <a:off x="50886" y="99821"/>
              <a:ext cx="23305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7F4FB"/>
                  </a:solidFill>
                  <a:latin typeface="Arial"/>
                  <a:ea typeface="Arial"/>
                  <a:cs typeface="Arial"/>
                  <a:sym typeface="Arial"/>
                </a:defRPr>
              </a:lvl1pPr>
            </a:lstStyle>
            <a:p>
              <a:pPr/>
              <a:r>
                <a:t>REVEAL · 4 MIN</a:t>
              </a:r>
            </a:p>
          </p:txBody>
        </p:sp>
      </p:grpSp>
      <p:sp>
        <p:nvSpPr>
          <p:cNvPr id="340"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4A2C6F"/>
                </a:solidFill>
                <a:latin typeface="Georgia"/>
                <a:ea typeface="Georgia"/>
                <a:cs typeface="Georgia"/>
                <a:sym typeface="Georgia"/>
              </a:defRPr>
            </a:lvl1pPr>
          </a:lstStyle>
          <a:p>
            <a:pPr/>
            <a:r>
              <a:t>So — somebody went and measured it</a:t>
            </a:r>
          </a:p>
        </p:txBody>
      </p:sp>
      <p:sp>
        <p:nvSpPr>
          <p:cNvPr id="341" name="rv_kick"/>
          <p:cNvSpPr txBox="1"/>
          <p:nvPr/>
        </p:nvSpPr>
        <p:spPr>
          <a:xfrm>
            <a:off x="502919" y="1617378"/>
            <a:ext cx="10607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A6180"/>
                </a:solidFill>
                <a:latin typeface="Arial"/>
                <a:ea typeface="Arial"/>
                <a:cs typeface="Arial"/>
                <a:sym typeface="Arial"/>
              </a:defRPr>
            </a:lvl1pPr>
          </a:lstStyle>
          <a:p>
            <a:pPr/>
            <a:r>
              <a:t>The answer to the hook was C. Here is what happened when people finally checked.</a:t>
            </a:r>
          </a:p>
        </p:txBody>
      </p:sp>
      <p:grpSp>
        <p:nvGrpSpPr>
          <p:cNvPr id="345" name="rv0"/>
          <p:cNvGrpSpPr/>
          <p:nvPr/>
        </p:nvGrpSpPr>
        <p:grpSpPr>
          <a:xfrm>
            <a:off x="502920" y="2066543"/>
            <a:ext cx="2631872" cy="2468882"/>
            <a:chOff x="0" y="0"/>
            <a:chExt cx="2631871" cy="2468880"/>
          </a:xfrm>
        </p:grpSpPr>
        <p:sp>
          <p:nvSpPr>
            <p:cNvPr id="342" name="rv0_bg"/>
            <p:cNvSpPr/>
            <p:nvPr/>
          </p:nvSpPr>
          <p:spPr>
            <a:xfrm>
              <a:off x="0" y="-1"/>
              <a:ext cx="2631872" cy="2468882"/>
            </a:xfrm>
            <a:prstGeom prst="roundRect">
              <a:avLst>
                <a:gd name="adj" fmla="val 5185"/>
              </a:avLst>
            </a:prstGeom>
            <a:solidFill>
              <a:srgbClr val="FFFFFF"/>
            </a:solidFill>
            <a:ln w="15875" cap="flat">
              <a:solidFill>
                <a:srgbClr val="6B4E96"/>
              </a:solidFill>
              <a:prstDash val="solid"/>
              <a:round/>
            </a:ln>
            <a:effectLst/>
          </p:spPr>
          <p:txBody>
            <a:bodyPr wrap="square" lIns="45719" tIns="45719" rIns="45719" bIns="45719" numCol="1" anchor="t">
              <a:noAutofit/>
            </a:bodyPr>
            <a:lstStyle/>
            <a:p>
              <a:pPr/>
            </a:p>
          </p:txBody>
        </p:sp>
        <p:sp>
          <p:nvSpPr>
            <p:cNvPr id="343" name="rv0_h"/>
            <p:cNvSpPr txBox="1"/>
            <p:nvPr/>
          </p:nvSpPr>
          <p:spPr>
            <a:xfrm>
              <a:off x="182879" y="164591"/>
              <a:ext cx="2266113"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100" sz="1100">
                  <a:solidFill>
                    <a:srgbClr val="6B4E96"/>
                  </a:solidFill>
                  <a:latin typeface="Arial"/>
                  <a:ea typeface="Arial"/>
                  <a:cs typeface="Arial"/>
                  <a:sym typeface="Arial"/>
                </a:defRPr>
              </a:lvl1pPr>
            </a:lstStyle>
            <a:p>
              <a:pPr/>
              <a:r>
                <a:t>FOR GENERATIONS</a:t>
              </a:r>
            </a:p>
          </p:txBody>
        </p:sp>
        <p:sp>
          <p:nvSpPr>
            <p:cNvPr id="344" name="rv0_b"/>
            <p:cNvSpPr txBox="1"/>
            <p:nvPr/>
          </p:nvSpPr>
          <p:spPr>
            <a:xfrm>
              <a:off x="182879" y="640079"/>
              <a:ext cx="2266113" cy="5985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Everyone said it. Nobody had taken a thermometer to a durian stall. Not one measurement, anywhere.</a:t>
              </a:r>
            </a:p>
          </p:txBody>
        </p:sp>
      </p:grpSp>
      <p:grpSp>
        <p:nvGrpSpPr>
          <p:cNvPr id="349" name="rv1"/>
          <p:cNvGrpSpPr/>
          <p:nvPr/>
        </p:nvGrpSpPr>
        <p:grpSpPr>
          <a:xfrm>
            <a:off x="3354248" y="2066543"/>
            <a:ext cx="2631872" cy="2468882"/>
            <a:chOff x="0" y="0"/>
            <a:chExt cx="2631871" cy="2468880"/>
          </a:xfrm>
        </p:grpSpPr>
        <p:sp>
          <p:nvSpPr>
            <p:cNvPr id="346" name="rv1_bg"/>
            <p:cNvSpPr/>
            <p:nvPr/>
          </p:nvSpPr>
          <p:spPr>
            <a:xfrm>
              <a:off x="0" y="-1"/>
              <a:ext cx="2631872" cy="2468882"/>
            </a:xfrm>
            <a:prstGeom prst="roundRect">
              <a:avLst>
                <a:gd name="adj" fmla="val 5185"/>
              </a:avLst>
            </a:prstGeom>
            <a:solidFill>
              <a:srgbClr val="FFFFFF"/>
            </a:solidFill>
            <a:ln w="15875" cap="flat">
              <a:solidFill>
                <a:srgbClr val="2BA6A0"/>
              </a:solidFill>
              <a:prstDash val="solid"/>
              <a:round/>
            </a:ln>
            <a:effectLst/>
          </p:spPr>
          <p:txBody>
            <a:bodyPr wrap="square" lIns="45719" tIns="45719" rIns="45719" bIns="45719" numCol="1" anchor="t">
              <a:noAutofit/>
            </a:bodyPr>
            <a:lstStyle/>
            <a:p>
              <a:pPr/>
            </a:p>
          </p:txBody>
        </p:sp>
        <p:sp>
          <p:nvSpPr>
            <p:cNvPr id="347" name="rv1_h"/>
            <p:cNvSpPr txBox="1"/>
            <p:nvPr/>
          </p:nvSpPr>
          <p:spPr>
            <a:xfrm>
              <a:off x="182879" y="164591"/>
              <a:ext cx="2266113"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100" sz="1100">
                  <a:solidFill>
                    <a:srgbClr val="2BA6A0"/>
                  </a:solidFill>
                  <a:latin typeface="Arial"/>
                  <a:ea typeface="Arial"/>
                  <a:cs typeface="Arial"/>
                  <a:sym typeface="Arial"/>
                </a:defRPr>
              </a:lvl1pPr>
            </a:lstStyle>
            <a:p>
              <a:pPr/>
              <a:r>
                <a:t>2009 · MALAYSIA</a:t>
              </a:r>
            </a:p>
          </p:txBody>
        </p:sp>
        <p:sp>
          <p:nvSpPr>
            <p:cNvPr id="348" name="rv1_b"/>
            <p:cNvSpPr txBox="1"/>
            <p:nvPr/>
          </p:nvSpPr>
          <p:spPr>
            <a:xfrm>
              <a:off x="182879" y="640079"/>
              <a:ext cx="2266113" cy="10049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Rats were fed durian and their temperatures taken. They did go up — but so slightly that the researchers could not rule out chance. Not enough to say yes.</a:t>
              </a:r>
            </a:p>
          </p:txBody>
        </p:sp>
      </p:grpSp>
      <p:grpSp>
        <p:nvGrpSpPr>
          <p:cNvPr id="353" name="rv2"/>
          <p:cNvGrpSpPr/>
          <p:nvPr/>
        </p:nvGrpSpPr>
        <p:grpSpPr>
          <a:xfrm>
            <a:off x="6205575" y="2066543"/>
            <a:ext cx="2631873" cy="2468882"/>
            <a:chOff x="0" y="0"/>
            <a:chExt cx="2631871" cy="2468880"/>
          </a:xfrm>
        </p:grpSpPr>
        <p:sp>
          <p:nvSpPr>
            <p:cNvPr id="350" name="rv2_bg"/>
            <p:cNvSpPr/>
            <p:nvPr/>
          </p:nvSpPr>
          <p:spPr>
            <a:xfrm>
              <a:off x="0" y="-1"/>
              <a:ext cx="2631872" cy="2468882"/>
            </a:xfrm>
            <a:prstGeom prst="roundRect">
              <a:avLst>
                <a:gd name="adj" fmla="val 5185"/>
              </a:avLst>
            </a:prstGeom>
            <a:solidFill>
              <a:srgbClr val="FFFFFF"/>
            </a:solidFill>
            <a:ln w="15875" cap="flat">
              <a:solidFill>
                <a:srgbClr val="F2A03D"/>
              </a:solidFill>
              <a:prstDash val="solid"/>
              <a:round/>
            </a:ln>
            <a:effectLst/>
          </p:spPr>
          <p:txBody>
            <a:bodyPr wrap="square" lIns="45719" tIns="45719" rIns="45719" bIns="45719" numCol="1" anchor="t">
              <a:noAutofit/>
            </a:bodyPr>
            <a:lstStyle/>
            <a:p>
              <a:pPr/>
            </a:p>
          </p:txBody>
        </p:sp>
        <p:sp>
          <p:nvSpPr>
            <p:cNvPr id="351" name="rv2_h"/>
            <p:cNvSpPr txBox="1"/>
            <p:nvPr/>
          </p:nvSpPr>
          <p:spPr>
            <a:xfrm>
              <a:off x="182879" y="164591"/>
              <a:ext cx="2266113"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100" sz="1100">
                  <a:solidFill>
                    <a:srgbClr val="F2A03D"/>
                  </a:solidFill>
                  <a:latin typeface="Arial"/>
                  <a:ea typeface="Arial"/>
                  <a:cs typeface="Arial"/>
                  <a:sym typeface="Arial"/>
                </a:defRPr>
              </a:lvl1pPr>
            </a:lstStyle>
            <a:p>
              <a:pPr/>
              <a:r>
                <a:t>2024 · A HUMAN TRIAL</a:t>
              </a:r>
            </a:p>
          </p:txBody>
        </p:sp>
        <p:sp>
          <p:nvSpPr>
            <p:cNvPr id="352" name="rv2_b"/>
            <p:cNvSpPr txBox="1"/>
            <p:nvPr/>
          </p:nvSpPr>
          <p:spPr>
            <a:xfrm>
              <a:off x="182879" y="640079"/>
              <a:ext cx="2266113" cy="10049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16 adults ate durian, and on a different day the same number of calories as banana. Durian made their bodies give out more heat, and for longer, in most of them.</a:t>
              </a:r>
            </a:p>
          </p:txBody>
        </p:sp>
      </p:grpSp>
      <p:grpSp>
        <p:nvGrpSpPr>
          <p:cNvPr id="357" name="rv3"/>
          <p:cNvGrpSpPr/>
          <p:nvPr/>
        </p:nvGrpSpPr>
        <p:grpSpPr>
          <a:xfrm>
            <a:off x="9056903" y="2066543"/>
            <a:ext cx="2631872" cy="2468882"/>
            <a:chOff x="0" y="0"/>
            <a:chExt cx="2631871" cy="2468880"/>
          </a:xfrm>
        </p:grpSpPr>
        <p:sp>
          <p:nvSpPr>
            <p:cNvPr id="354" name="rv3_bg"/>
            <p:cNvSpPr/>
            <p:nvPr/>
          </p:nvSpPr>
          <p:spPr>
            <a:xfrm>
              <a:off x="0" y="-1"/>
              <a:ext cx="2631872" cy="2468882"/>
            </a:xfrm>
            <a:prstGeom prst="roundRect">
              <a:avLst>
                <a:gd name="adj" fmla="val 5185"/>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sp>
          <p:nvSpPr>
            <p:cNvPr id="355" name="rv3_h"/>
            <p:cNvSpPr txBox="1"/>
            <p:nvPr/>
          </p:nvSpPr>
          <p:spPr>
            <a:xfrm>
              <a:off x="182879" y="164591"/>
              <a:ext cx="2266113"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100" sz="1100">
                  <a:solidFill>
                    <a:srgbClr val="D94F6A"/>
                  </a:solidFill>
                  <a:latin typeface="Arial"/>
                  <a:ea typeface="Arial"/>
                  <a:cs typeface="Arial"/>
                  <a:sym typeface="Arial"/>
                </a:defRPr>
              </a:lvl1pPr>
            </a:lstStyle>
            <a:p>
              <a:pPr/>
              <a:r>
                <a:t>SO?</a:t>
              </a:r>
            </a:p>
          </p:txBody>
        </p:sp>
        <p:sp>
          <p:nvSpPr>
            <p:cNvPr id="356" name="rv3_b"/>
            <p:cNvSpPr txBox="1"/>
            <p:nvPr/>
          </p:nvSpPr>
          <p:spPr>
            <a:xfrm>
              <a:off x="182879" y="640079"/>
              <a:ext cx="2266113" cy="10049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100">
                  <a:solidFill>
                    <a:srgbClr val="241535"/>
                  </a:solidFill>
                  <a:latin typeface="Arial"/>
                  <a:ea typeface="Arial"/>
                  <a:cs typeface="Arial"/>
                  <a:sym typeface="Arial"/>
                </a:defRPr>
              </a:lvl1pPr>
            </a:lstStyle>
            <a:p>
              <a:pPr/>
              <a:r>
                <a:t>The old saying may well have something in it. Nobody knew until somebody measured — and the answer changed as the evidence got better.</a:t>
              </a:r>
            </a:p>
          </p:txBody>
        </p:sp>
      </p:grpSp>
      <p:grpSp>
        <p:nvGrpSpPr>
          <p:cNvPr id="360" name="rv_banner"/>
          <p:cNvGrpSpPr/>
          <p:nvPr/>
        </p:nvGrpSpPr>
        <p:grpSpPr>
          <a:xfrm>
            <a:off x="502919" y="4773167"/>
            <a:ext cx="11185857" cy="603505"/>
            <a:chOff x="0" y="0"/>
            <a:chExt cx="11185855" cy="603504"/>
          </a:xfrm>
        </p:grpSpPr>
        <p:sp>
          <p:nvSpPr>
            <p:cNvPr id="358" name="Rounded Rectangle"/>
            <p:cNvSpPr/>
            <p:nvPr/>
          </p:nvSpPr>
          <p:spPr>
            <a:xfrm>
              <a:off x="0" y="0"/>
              <a:ext cx="11185856" cy="603505"/>
            </a:xfrm>
            <a:prstGeom prst="roundRect">
              <a:avLst>
                <a:gd name="adj" fmla="val 16667"/>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defRPr sz="1400"/>
              </a:pPr>
            </a:p>
          </p:txBody>
        </p:sp>
        <p:sp>
          <p:nvSpPr>
            <p:cNvPr id="359" name="Science changed its mind when better evidence turned up. That is not science being unreliable. That is the entire point of it."/>
            <p:cNvSpPr txBox="1"/>
            <p:nvPr/>
          </p:nvSpPr>
          <p:spPr>
            <a:xfrm>
              <a:off x="34223" y="202044"/>
              <a:ext cx="11117409"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defRPr b="1" sz="1400">
                  <a:solidFill>
                    <a:srgbClr val="F2A03D"/>
                  </a:solidFill>
                  <a:latin typeface="Arial"/>
                  <a:ea typeface="Arial"/>
                  <a:cs typeface="Arial"/>
                  <a:sym typeface="Arial"/>
                </a:defRPr>
              </a:lvl1pPr>
            </a:lstStyle>
            <a:p>
              <a:pPr/>
              <a:r>
                <a:t>Science changed its mind when better evidence turned up. That is not science being unreliable. That is the entire point of it.</a:t>
              </a:r>
            </a:p>
          </p:txBody>
        </p:sp>
      </p:grpSp>
      <p:sp>
        <p:nvSpPr>
          <p:cNvPr id="361"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A6180"/>
                </a:solidFill>
                <a:latin typeface="Arial"/>
                <a:ea typeface="Arial"/>
                <a:cs typeface="Arial"/>
                <a:sym typeface="Arial"/>
              </a:defRPr>
            </a:lvl1pPr>
          </a:lstStyle>
          <a:p>
            <a:pPr/>
            <a:r>
              <a:t>Rat study: Hyperthermic Effects of Durio zibethinus, 2009. Human trial: Journal of the American Nutrition Association, 2024 — 16 adults, durian vs banana, matched calories.</a:t>
            </a:r>
          </a:p>
        </p:txBody>
      </p:sp>
    </p:spTree>
  </p:cSld>
  <p:clrMapOvr>
    <a:masterClrMapping/>
  </p:clrMapOvr>
  <mc:AlternateContent xmlns:mc="http://schemas.openxmlformats.org/markup-compatibility/2006">
    <mc:Choice xmlns:p14="http://schemas.microsoft.com/office/powerpoint/2010/main" Requires="p14">
      <p:transition spd="med" advClick="1" p14:dur="1000">
        <p:wipe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2" grpId="1" fill="hold">
                                  <p:stCondLst>
                                    <p:cond delay="0"/>
                                  </p:stCondLst>
                                  <p:iterate type="el" backwards="0">
                                    <p:tmAbs val="0"/>
                                  </p:iterate>
                                  <p:childTnLst>
                                    <p:set>
                                      <p:cBhvr>
                                        <p:cTn id="6" fill="hold"/>
                                        <p:tgtEl>
                                          <p:spTgt spid="345"/>
                                        </p:tgtEl>
                                        <p:attrNameLst>
                                          <p:attrName>style.visibility</p:attrName>
                                        </p:attrNameLst>
                                      </p:cBhvr>
                                      <p:to>
                                        <p:strVal val="visible"/>
                                      </p:to>
                                    </p:set>
                                    <p:animEffect filter="wipe(down)" transition="in">
                                      <p:cBhvr>
                                        <p:cTn id="7" dur="500"/>
                                        <p:tgtEl>
                                          <p:spTgt spid="34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2" grpId="2" fill="hold">
                                  <p:stCondLst>
                                    <p:cond delay="0"/>
                                  </p:stCondLst>
                                  <p:iterate type="el" backwards="0">
                                    <p:tmAbs val="0"/>
                                  </p:iterate>
                                  <p:childTnLst>
                                    <p:set>
                                      <p:cBhvr>
                                        <p:cTn id="11" fill="hold"/>
                                        <p:tgtEl>
                                          <p:spTgt spid="349"/>
                                        </p:tgtEl>
                                        <p:attrNameLst>
                                          <p:attrName>style.visibility</p:attrName>
                                        </p:attrNameLst>
                                      </p:cBhvr>
                                      <p:to>
                                        <p:strVal val="visible"/>
                                      </p:to>
                                    </p:set>
                                    <p:animEffect filter="wipe(down)" transition="in">
                                      <p:cBhvr>
                                        <p:cTn id="12" dur="500"/>
                                        <p:tgtEl>
                                          <p:spTgt spid="34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4" presetID="22" grpId="3" fill="hold">
                                  <p:stCondLst>
                                    <p:cond delay="0"/>
                                  </p:stCondLst>
                                  <p:iterate type="el" backwards="0">
                                    <p:tmAbs val="0"/>
                                  </p:iterate>
                                  <p:childTnLst>
                                    <p:set>
                                      <p:cBhvr>
                                        <p:cTn id="16" fill="hold"/>
                                        <p:tgtEl>
                                          <p:spTgt spid="353"/>
                                        </p:tgtEl>
                                        <p:attrNameLst>
                                          <p:attrName>style.visibility</p:attrName>
                                        </p:attrNameLst>
                                      </p:cBhvr>
                                      <p:to>
                                        <p:strVal val="visible"/>
                                      </p:to>
                                    </p:set>
                                    <p:animEffect filter="wipe(down)" transition="in">
                                      <p:cBhvr>
                                        <p:cTn id="17" dur="500"/>
                                        <p:tgtEl>
                                          <p:spTgt spid="35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4" presetID="22" grpId="4" fill="hold">
                                  <p:stCondLst>
                                    <p:cond delay="0"/>
                                  </p:stCondLst>
                                  <p:iterate type="el" backwards="0">
                                    <p:tmAbs val="0"/>
                                  </p:iterate>
                                  <p:childTnLst>
                                    <p:set>
                                      <p:cBhvr>
                                        <p:cTn id="21" fill="hold"/>
                                        <p:tgtEl>
                                          <p:spTgt spid="357"/>
                                        </p:tgtEl>
                                        <p:attrNameLst>
                                          <p:attrName>style.visibility</p:attrName>
                                        </p:attrNameLst>
                                      </p:cBhvr>
                                      <p:to>
                                        <p:strVal val="visible"/>
                                      </p:to>
                                    </p:set>
                                    <p:animEffect filter="wipe(down)" transition="in">
                                      <p:cBhvr>
                                        <p:cTn id="22" dur="500"/>
                                        <p:tgtEl>
                                          <p:spTgt spid="35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60"/>
                                        </p:tgtEl>
                                        <p:attrNameLst>
                                          <p:attrName>style.visibility</p:attrName>
                                        </p:attrNameLst>
                                      </p:cBhvr>
                                      <p:to>
                                        <p:strVal val="visible"/>
                                      </p:to>
                                    </p:set>
                                    <p:anim calcmode="lin" valueType="num">
                                      <p:cBhvr>
                                        <p:cTn id="27" dur="500" fill="hold"/>
                                        <p:tgtEl>
                                          <p:spTgt spid="360"/>
                                        </p:tgtEl>
                                        <p:attrNameLst>
                                          <p:attrName>ppt_w</p:attrName>
                                        </p:attrNameLst>
                                      </p:cBhvr>
                                      <p:tavLst>
                                        <p:tav tm="0">
                                          <p:val>
                                            <p:fltVal val="0"/>
                                          </p:val>
                                        </p:tav>
                                        <p:tav tm="100000">
                                          <p:val>
                                            <p:strVal val="#ppt_w"/>
                                          </p:val>
                                        </p:tav>
                                      </p:tavLst>
                                    </p:anim>
                                    <p:anim calcmode="lin" valueType="num">
                                      <p:cBhvr>
                                        <p:cTn id="28" dur="500" fill="hold"/>
                                        <p:tgtEl>
                                          <p:spTgt spid="36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7" grpId="4"/>
      <p:bldP build="whole" bldLvl="1" animBg="1" rev="0" advAuto="0" spid="360" grpId="5"/>
      <p:bldP build="whole" bldLvl="1" animBg="1" rev="0" advAuto="0" spid="345" grpId="1"/>
      <p:bldP build="whole" bldLvl="1" animBg="1" rev="0" advAuto="0" spid="349" grpId="2"/>
      <p:bldP build="whole" bldLvl="1" animBg="1" rev="0" advAuto="0" spid="353" grpId="3"/>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4A2C6F"/>
        </a:solidFill>
      </p:bgPr>
    </p:bg>
    <p:spTree>
      <p:nvGrpSpPr>
        <p:cNvPr id="1" name=""/>
        <p:cNvGrpSpPr/>
        <p:nvPr/>
      </p:nvGrpSpPr>
      <p:grpSpPr>
        <a:xfrm>
          <a:off x="0" y="0"/>
          <a:ext cx="0" cy="0"/>
          <a:chOff x="0" y="0"/>
          <a:chExt cx="0" cy="0"/>
        </a:xfrm>
      </p:grpSpPr>
      <p:grpSp>
        <p:nvGrpSpPr>
          <p:cNvPr id="367" name="phase_pill"/>
          <p:cNvGrpSpPr/>
          <p:nvPr/>
        </p:nvGrpSpPr>
        <p:grpSpPr>
          <a:xfrm>
            <a:off x="502919" y="274320"/>
            <a:ext cx="2578609" cy="347473"/>
            <a:chOff x="0" y="0"/>
            <a:chExt cx="2578607" cy="347472"/>
          </a:xfrm>
        </p:grpSpPr>
        <p:sp>
          <p:nvSpPr>
            <p:cNvPr id="365" name="Rounded Rectangle"/>
            <p:cNvSpPr/>
            <p:nvPr/>
          </p:nvSpPr>
          <p:spPr>
            <a:xfrm>
              <a:off x="0" y="0"/>
              <a:ext cx="2578608" cy="347473"/>
            </a:xfrm>
            <a:prstGeom prst="roundRect">
              <a:avLst>
                <a:gd name="adj" fmla="val 50000"/>
              </a:avLst>
            </a:prstGeom>
            <a:solidFill>
              <a:srgbClr val="F2A03D"/>
            </a:solidFill>
            <a:ln w="12700" cap="flat">
              <a:noFill/>
              <a:miter lim="400000"/>
            </a:ln>
            <a:effectLst/>
          </p:spPr>
          <p:txBody>
            <a:bodyPr wrap="square" lIns="45719" tIns="45719" rIns="45719" bIns="45719" numCol="1" anchor="ctr">
              <a:noAutofit/>
            </a:bodyPr>
            <a:lstStyle/>
            <a:p>
              <a:pPr algn="ctr">
                <a:defRPr sz="1100"/>
              </a:pPr>
            </a:p>
          </p:txBody>
        </p:sp>
        <p:sp>
          <p:nvSpPr>
            <p:cNvPr id="366" name="PLENARY · 2 MIN"/>
            <p:cNvSpPr txBox="1"/>
            <p:nvPr/>
          </p:nvSpPr>
          <p:spPr>
            <a:xfrm>
              <a:off x="50886" y="99821"/>
              <a:ext cx="24768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4A2C6F"/>
                  </a:solidFill>
                  <a:latin typeface="Arial"/>
                  <a:ea typeface="Arial"/>
                  <a:cs typeface="Arial"/>
                  <a:sym typeface="Arial"/>
                </a:defRPr>
              </a:lvl1pPr>
            </a:lstStyle>
            <a:p>
              <a:pPr/>
              <a:r>
                <a:t>PLENARY · 2 MIN</a:t>
              </a:r>
            </a:p>
          </p:txBody>
        </p:sp>
      </p:grpSp>
      <p:sp>
        <p:nvSpPr>
          <p:cNvPr id="368"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7F4FB"/>
                </a:solidFill>
                <a:latin typeface="Georgia"/>
                <a:ea typeface="Georgia"/>
                <a:cs typeface="Georgia"/>
                <a:sym typeface="Georgia"/>
              </a:defRPr>
            </a:lvl1pPr>
          </a:lstStyle>
          <a:p>
            <a:pPr/>
            <a:r>
              <a:t>True or false?</a:t>
            </a:r>
          </a:p>
        </p:txBody>
      </p:sp>
      <p:sp>
        <p:nvSpPr>
          <p:cNvPr id="369" name="pl_intro"/>
          <p:cNvSpPr txBox="1"/>
          <p:nvPr/>
        </p:nvSpPr>
        <p:spPr>
          <a:xfrm>
            <a:off x="502919" y="1617378"/>
            <a:ext cx="73152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3DAF0"/>
                </a:solidFill>
                <a:latin typeface="Arial"/>
                <a:ea typeface="Arial"/>
                <a:cs typeface="Arial"/>
                <a:sym typeface="Arial"/>
              </a:defRPr>
            </a:lvl1pPr>
          </a:lstStyle>
          <a:p>
            <a:pPr/>
            <a:r>
              <a:t>Stand up for TRUE. Stay sitting for FALSE. No fence-sitting.</a:t>
            </a:r>
          </a:p>
        </p:txBody>
      </p:sp>
      <p:sp>
        <p:nvSpPr>
          <p:cNvPr id="370" name="pl_motif_obs0"/>
          <p:cNvSpPr/>
          <p:nvPr/>
        </p:nvSpPr>
        <p:spPr>
          <a:xfrm>
            <a:off x="9907523" y="1484071"/>
            <a:ext cx="118873" cy="118873"/>
          </a:xfrm>
          <a:prstGeom prst="ellipse">
            <a:avLst/>
          </a:prstGeom>
          <a:solidFill>
            <a:srgbClr val="2BA6A0"/>
          </a:solidFill>
          <a:ln w="12700">
            <a:solidFill>
              <a:srgbClr val="2BA6A0"/>
            </a:solidFill>
          </a:ln>
        </p:spPr>
        <p:txBody>
          <a:bodyPr lIns="45719" rIns="45719"/>
          <a:lstStyle/>
          <a:p>
            <a:pPr/>
          </a:p>
        </p:txBody>
      </p:sp>
      <p:sp>
        <p:nvSpPr>
          <p:cNvPr id="371" name="pl_motif_obs1"/>
          <p:cNvSpPr/>
          <p:nvPr/>
        </p:nvSpPr>
        <p:spPr>
          <a:xfrm>
            <a:off x="10174223" y="1189633"/>
            <a:ext cx="118873" cy="118873"/>
          </a:xfrm>
          <a:prstGeom prst="ellipse">
            <a:avLst/>
          </a:prstGeom>
          <a:solidFill>
            <a:srgbClr val="2BA6A0"/>
          </a:solidFill>
          <a:ln w="12700">
            <a:solidFill>
              <a:srgbClr val="2BA6A0"/>
            </a:solidFill>
          </a:ln>
        </p:spPr>
        <p:txBody>
          <a:bodyPr lIns="45719" rIns="45719"/>
          <a:lstStyle/>
          <a:p>
            <a:pPr/>
          </a:p>
        </p:txBody>
      </p:sp>
      <p:sp>
        <p:nvSpPr>
          <p:cNvPr id="372" name="pl_motif_obs2"/>
          <p:cNvSpPr/>
          <p:nvPr/>
        </p:nvSpPr>
        <p:spPr>
          <a:xfrm>
            <a:off x="10440923" y="1180489"/>
            <a:ext cx="118873" cy="118873"/>
          </a:xfrm>
          <a:prstGeom prst="ellipse">
            <a:avLst/>
          </a:prstGeom>
          <a:solidFill>
            <a:srgbClr val="2BA6A0"/>
          </a:solidFill>
          <a:ln w="12700">
            <a:solidFill>
              <a:srgbClr val="2BA6A0"/>
            </a:solidFill>
          </a:ln>
        </p:spPr>
        <p:txBody>
          <a:bodyPr lIns="45719" rIns="45719"/>
          <a:lstStyle/>
          <a:p>
            <a:pPr/>
          </a:p>
        </p:txBody>
      </p:sp>
      <p:sp>
        <p:nvSpPr>
          <p:cNvPr id="373" name="pl_motif_obs3"/>
          <p:cNvSpPr/>
          <p:nvPr/>
        </p:nvSpPr>
        <p:spPr>
          <a:xfrm>
            <a:off x="10707623" y="959205"/>
            <a:ext cx="118873" cy="118873"/>
          </a:xfrm>
          <a:prstGeom prst="ellipse">
            <a:avLst/>
          </a:prstGeom>
          <a:solidFill>
            <a:srgbClr val="2BA6A0"/>
          </a:solidFill>
          <a:ln w="12700">
            <a:solidFill>
              <a:srgbClr val="2BA6A0"/>
            </a:solidFill>
          </a:ln>
        </p:spPr>
        <p:txBody>
          <a:bodyPr lIns="45719" rIns="45719"/>
          <a:lstStyle/>
          <a:p>
            <a:pPr/>
          </a:p>
        </p:txBody>
      </p:sp>
      <p:sp>
        <p:nvSpPr>
          <p:cNvPr id="374" name="pl_motif_obs4"/>
          <p:cNvSpPr/>
          <p:nvPr/>
        </p:nvSpPr>
        <p:spPr>
          <a:xfrm>
            <a:off x="10974323" y="984808"/>
            <a:ext cx="118873" cy="118873"/>
          </a:xfrm>
          <a:prstGeom prst="ellipse">
            <a:avLst/>
          </a:prstGeom>
          <a:solidFill>
            <a:srgbClr val="2BA6A0"/>
          </a:solidFill>
          <a:ln w="12700">
            <a:solidFill>
              <a:srgbClr val="2BA6A0"/>
            </a:solidFill>
          </a:ln>
        </p:spPr>
        <p:txBody>
          <a:bodyPr lIns="45719" rIns="45719"/>
          <a:lstStyle/>
          <a:p>
            <a:pPr/>
          </a:p>
        </p:txBody>
      </p:sp>
      <p:sp>
        <p:nvSpPr>
          <p:cNvPr id="375" name="pl_motif_obs5"/>
          <p:cNvSpPr/>
          <p:nvPr/>
        </p:nvSpPr>
        <p:spPr>
          <a:xfrm>
            <a:off x="11241023" y="710488"/>
            <a:ext cx="118873" cy="118874"/>
          </a:xfrm>
          <a:prstGeom prst="ellipse">
            <a:avLst/>
          </a:prstGeom>
          <a:solidFill>
            <a:srgbClr val="2BA6A0"/>
          </a:solidFill>
          <a:ln w="12700">
            <a:solidFill>
              <a:srgbClr val="2BA6A0"/>
            </a:solidFill>
          </a:ln>
        </p:spPr>
        <p:txBody>
          <a:bodyPr lIns="45719" rIns="45719"/>
          <a:lstStyle/>
          <a:p>
            <a:pPr/>
          </a:p>
        </p:txBody>
      </p:sp>
      <p:sp>
        <p:nvSpPr>
          <p:cNvPr id="376" name="pl_motif_obs6"/>
          <p:cNvSpPr/>
          <p:nvPr/>
        </p:nvSpPr>
        <p:spPr>
          <a:xfrm>
            <a:off x="11507723" y="675741"/>
            <a:ext cx="118873" cy="118873"/>
          </a:xfrm>
          <a:prstGeom prst="ellipse">
            <a:avLst/>
          </a:prstGeom>
          <a:solidFill>
            <a:srgbClr val="2BA6A0"/>
          </a:solidFill>
          <a:ln w="12700">
            <a:solidFill>
              <a:srgbClr val="2BA6A0"/>
            </a:solidFill>
          </a:ln>
        </p:spPr>
        <p:txBody>
          <a:bodyPr lIns="45719" rIns="45719"/>
          <a:lstStyle/>
          <a:p>
            <a:pPr/>
          </a:p>
        </p:txBody>
      </p:sp>
      <p:sp>
        <p:nvSpPr>
          <p:cNvPr id="377" name="pl_trend"/>
          <p:cNvSpPr/>
          <p:nvPr/>
        </p:nvSpPr>
        <p:spPr>
          <a:xfrm rot="19924585">
            <a:off x="9736742" y="1024127"/>
            <a:ext cx="2069779" cy="91441"/>
          </a:xfrm>
          <a:prstGeom prst="rightArrow">
            <a:avLst>
              <a:gd name="adj1" fmla="val 50000"/>
              <a:gd name="adj2" fmla="val 50000"/>
            </a:avLst>
          </a:prstGeom>
          <a:solidFill>
            <a:srgbClr val="F2A03D"/>
          </a:solidFill>
          <a:ln w="12700">
            <a:solidFill>
              <a:srgbClr val="F2A03D"/>
            </a:solidFill>
          </a:ln>
        </p:spPr>
        <p:txBody>
          <a:bodyPr lIns="45719" rIns="45719"/>
          <a:lstStyle/>
          <a:p>
            <a:pPr/>
          </a:p>
        </p:txBody>
      </p:sp>
      <p:grpSp>
        <p:nvGrpSpPr>
          <p:cNvPr id="380" name="pq0_stmt"/>
          <p:cNvGrpSpPr/>
          <p:nvPr/>
        </p:nvGrpSpPr>
        <p:grpSpPr>
          <a:xfrm>
            <a:off x="502919" y="2084832"/>
            <a:ext cx="6309362" cy="566929"/>
            <a:chOff x="0" y="0"/>
            <a:chExt cx="6309360" cy="566927"/>
          </a:xfrm>
        </p:grpSpPr>
        <p:sp>
          <p:nvSpPr>
            <p:cNvPr id="378" name="pq0_bg"/>
            <p:cNvSpPr/>
            <p:nvPr/>
          </p:nvSpPr>
          <p:spPr>
            <a:xfrm>
              <a:off x="-1" y="0"/>
              <a:ext cx="6309362" cy="566928"/>
            </a:xfrm>
            <a:prstGeom prst="roundRect">
              <a:avLst>
                <a:gd name="adj" fmla="val 16129"/>
              </a:avLst>
            </a:prstGeom>
            <a:solidFill>
              <a:srgbClr val="5A3A84"/>
            </a:solidFill>
            <a:ln w="12700" cap="flat">
              <a:solidFill>
                <a:srgbClr val="6B4E96"/>
              </a:solidFill>
              <a:prstDash val="solid"/>
              <a:round/>
            </a:ln>
            <a:effectLst/>
          </p:spPr>
          <p:txBody>
            <a:bodyPr wrap="square" lIns="45719" tIns="45719" rIns="45719" bIns="45719" numCol="1" anchor="t">
              <a:noAutofit/>
            </a:bodyPr>
            <a:lstStyle/>
            <a:p>
              <a:pPr/>
            </a:p>
          </p:txBody>
        </p:sp>
        <p:sp>
          <p:nvSpPr>
            <p:cNvPr id="379" name="pq0_q"/>
            <p:cNvSpPr txBox="1"/>
            <p:nvPr/>
          </p:nvSpPr>
          <p:spPr>
            <a:xfrm>
              <a:off x="201167" y="197056"/>
              <a:ext cx="59436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F7F4FB"/>
                  </a:solidFill>
                  <a:latin typeface="Arial"/>
                  <a:ea typeface="Arial"/>
                  <a:cs typeface="Arial"/>
                  <a:sym typeface="Arial"/>
                </a:defRPr>
              </a:lvl1pPr>
            </a:lstStyle>
            <a:p>
              <a:pPr/>
              <a:r>
                <a:t>1. If enough people believe something, that makes it science.</a:t>
              </a:r>
            </a:p>
          </p:txBody>
        </p:sp>
      </p:grpSp>
      <p:sp>
        <p:nvSpPr>
          <p:cNvPr id="381" name="pq0_v"/>
          <p:cNvSpPr txBox="1"/>
          <p:nvPr/>
        </p:nvSpPr>
        <p:spPr>
          <a:xfrm>
            <a:off x="7040880" y="2281888"/>
            <a:ext cx="86868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 sz="1200">
                <a:solidFill>
                  <a:srgbClr val="F2A03D"/>
                </a:solidFill>
                <a:latin typeface="Arial"/>
                <a:ea typeface="Arial"/>
                <a:cs typeface="Arial"/>
                <a:sym typeface="Arial"/>
              </a:defRPr>
            </a:lvl1pPr>
          </a:lstStyle>
          <a:p>
            <a:pPr/>
            <a:r>
              <a:t>FALSE</a:t>
            </a:r>
          </a:p>
        </p:txBody>
      </p:sp>
      <p:sp>
        <p:nvSpPr>
          <p:cNvPr id="382" name="pq0_w"/>
          <p:cNvSpPr txBox="1"/>
          <p:nvPr/>
        </p:nvSpPr>
        <p:spPr>
          <a:xfrm>
            <a:off x="7955280" y="2283719"/>
            <a:ext cx="2331721" cy="16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000">
                <a:solidFill>
                  <a:srgbClr val="E3DAF0"/>
                </a:solidFill>
                <a:latin typeface="Arial"/>
                <a:ea typeface="Arial"/>
                <a:cs typeface="Arial"/>
                <a:sym typeface="Arial"/>
              </a:defRPr>
            </a:lvl1pPr>
          </a:lstStyle>
          <a:p>
            <a:pPr/>
            <a:r>
              <a:t>How many people agree is not evidence.</a:t>
            </a:r>
          </a:p>
        </p:txBody>
      </p:sp>
      <p:grpSp>
        <p:nvGrpSpPr>
          <p:cNvPr id="385" name="pq1_stmt"/>
          <p:cNvGrpSpPr/>
          <p:nvPr/>
        </p:nvGrpSpPr>
        <p:grpSpPr>
          <a:xfrm>
            <a:off x="502919" y="2798064"/>
            <a:ext cx="6309362" cy="566929"/>
            <a:chOff x="0" y="0"/>
            <a:chExt cx="6309360" cy="566927"/>
          </a:xfrm>
        </p:grpSpPr>
        <p:sp>
          <p:nvSpPr>
            <p:cNvPr id="383" name="pq1_bg"/>
            <p:cNvSpPr/>
            <p:nvPr/>
          </p:nvSpPr>
          <p:spPr>
            <a:xfrm>
              <a:off x="-1" y="0"/>
              <a:ext cx="6309362" cy="566928"/>
            </a:xfrm>
            <a:prstGeom prst="roundRect">
              <a:avLst>
                <a:gd name="adj" fmla="val 16129"/>
              </a:avLst>
            </a:prstGeom>
            <a:solidFill>
              <a:srgbClr val="5A3A84"/>
            </a:solidFill>
            <a:ln w="12700" cap="flat">
              <a:solidFill>
                <a:srgbClr val="6B4E96"/>
              </a:solidFill>
              <a:prstDash val="solid"/>
              <a:round/>
            </a:ln>
            <a:effectLst/>
          </p:spPr>
          <p:txBody>
            <a:bodyPr wrap="square" lIns="45719" tIns="45719" rIns="45719" bIns="45719" numCol="1" anchor="t">
              <a:noAutofit/>
            </a:bodyPr>
            <a:lstStyle/>
            <a:p>
              <a:pPr/>
            </a:p>
          </p:txBody>
        </p:sp>
        <p:sp>
          <p:nvSpPr>
            <p:cNvPr id="384" name="pq1_q"/>
            <p:cNvSpPr txBox="1"/>
            <p:nvPr/>
          </p:nvSpPr>
          <p:spPr>
            <a:xfrm>
              <a:off x="201167" y="197056"/>
              <a:ext cx="59436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F7F4FB"/>
                  </a:solidFill>
                  <a:latin typeface="Arial"/>
                  <a:ea typeface="Arial"/>
                  <a:cs typeface="Arial"/>
                  <a:sym typeface="Arial"/>
                </a:defRPr>
              </a:lvl1pPr>
            </a:lstStyle>
            <a:p>
              <a:pPr/>
              <a:r>
                <a:t>2. Science can tell you which song is the best.</a:t>
              </a:r>
            </a:p>
          </p:txBody>
        </p:sp>
      </p:grpSp>
      <p:sp>
        <p:nvSpPr>
          <p:cNvPr id="386" name="pq1_v"/>
          <p:cNvSpPr txBox="1"/>
          <p:nvPr/>
        </p:nvSpPr>
        <p:spPr>
          <a:xfrm>
            <a:off x="7040880" y="2995120"/>
            <a:ext cx="86868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 sz="1200">
                <a:solidFill>
                  <a:srgbClr val="F2A03D"/>
                </a:solidFill>
                <a:latin typeface="Arial"/>
                <a:ea typeface="Arial"/>
                <a:cs typeface="Arial"/>
                <a:sym typeface="Arial"/>
              </a:defRPr>
            </a:lvl1pPr>
          </a:lstStyle>
          <a:p>
            <a:pPr/>
            <a:r>
              <a:t>FALSE</a:t>
            </a:r>
          </a:p>
        </p:txBody>
      </p:sp>
      <p:sp>
        <p:nvSpPr>
          <p:cNvPr id="387" name="pq1_w"/>
          <p:cNvSpPr txBox="1"/>
          <p:nvPr/>
        </p:nvSpPr>
        <p:spPr>
          <a:xfrm>
            <a:off x="7955280" y="2908051"/>
            <a:ext cx="2331721" cy="346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000">
                <a:solidFill>
                  <a:srgbClr val="E3DAF0"/>
                </a:solidFill>
                <a:latin typeface="Arial"/>
                <a:ea typeface="Arial"/>
                <a:cs typeface="Arial"/>
                <a:sym typeface="Arial"/>
              </a:defRPr>
            </a:lvl1pPr>
          </a:lstStyle>
          <a:p>
            <a:pPr/>
            <a:r>
              <a:t>There is nothing to measure. That is an opinion.</a:t>
            </a:r>
          </a:p>
        </p:txBody>
      </p:sp>
      <p:grpSp>
        <p:nvGrpSpPr>
          <p:cNvPr id="390" name="pq2_stmt"/>
          <p:cNvGrpSpPr/>
          <p:nvPr/>
        </p:nvGrpSpPr>
        <p:grpSpPr>
          <a:xfrm>
            <a:off x="502919" y="3511296"/>
            <a:ext cx="6309362" cy="566929"/>
            <a:chOff x="0" y="0"/>
            <a:chExt cx="6309360" cy="566927"/>
          </a:xfrm>
        </p:grpSpPr>
        <p:sp>
          <p:nvSpPr>
            <p:cNvPr id="388" name="pq2_bg"/>
            <p:cNvSpPr/>
            <p:nvPr/>
          </p:nvSpPr>
          <p:spPr>
            <a:xfrm>
              <a:off x="-1" y="0"/>
              <a:ext cx="6309362" cy="566928"/>
            </a:xfrm>
            <a:prstGeom prst="roundRect">
              <a:avLst>
                <a:gd name="adj" fmla="val 16129"/>
              </a:avLst>
            </a:prstGeom>
            <a:solidFill>
              <a:srgbClr val="5A3A84"/>
            </a:solidFill>
            <a:ln w="12700" cap="flat">
              <a:solidFill>
                <a:srgbClr val="6B4E96"/>
              </a:solidFill>
              <a:prstDash val="solid"/>
              <a:round/>
            </a:ln>
            <a:effectLst/>
          </p:spPr>
          <p:txBody>
            <a:bodyPr wrap="square" lIns="45719" tIns="45719" rIns="45719" bIns="45719" numCol="1" anchor="t">
              <a:noAutofit/>
            </a:bodyPr>
            <a:lstStyle/>
            <a:p>
              <a:pPr/>
            </a:p>
          </p:txBody>
        </p:sp>
        <p:sp>
          <p:nvSpPr>
            <p:cNvPr id="389" name="pq2_q"/>
            <p:cNvSpPr txBox="1"/>
            <p:nvPr/>
          </p:nvSpPr>
          <p:spPr>
            <a:xfrm>
              <a:off x="201167" y="197056"/>
              <a:ext cx="59436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F7F4FB"/>
                  </a:solidFill>
                  <a:latin typeface="Arial"/>
                  <a:ea typeface="Arial"/>
                  <a:cs typeface="Arial"/>
                  <a:sym typeface="Arial"/>
                </a:defRPr>
              </a:lvl1pPr>
            </a:lstStyle>
            <a:p>
              <a:pPr/>
              <a:r>
                <a:t>3. Induction means drawing a general conclusion from many observations.</a:t>
              </a:r>
            </a:p>
          </p:txBody>
        </p:sp>
      </p:grpSp>
      <p:sp>
        <p:nvSpPr>
          <p:cNvPr id="391" name="pq2_v"/>
          <p:cNvSpPr txBox="1"/>
          <p:nvPr/>
        </p:nvSpPr>
        <p:spPr>
          <a:xfrm>
            <a:off x="7040880" y="3708353"/>
            <a:ext cx="86868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 sz="1200">
                <a:solidFill>
                  <a:srgbClr val="2BA6A0"/>
                </a:solidFill>
                <a:latin typeface="Arial"/>
                <a:ea typeface="Arial"/>
                <a:cs typeface="Arial"/>
                <a:sym typeface="Arial"/>
              </a:defRPr>
            </a:lvl1pPr>
          </a:lstStyle>
          <a:p>
            <a:pPr/>
            <a:r>
              <a:t>TRUE</a:t>
            </a:r>
          </a:p>
        </p:txBody>
      </p:sp>
      <p:sp>
        <p:nvSpPr>
          <p:cNvPr id="392" name="pq2_w"/>
          <p:cNvSpPr txBox="1"/>
          <p:nvPr/>
        </p:nvSpPr>
        <p:spPr>
          <a:xfrm>
            <a:off x="7955280" y="3710183"/>
            <a:ext cx="2331721" cy="16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000">
                <a:solidFill>
                  <a:srgbClr val="E3DAF0"/>
                </a:solidFill>
                <a:latin typeface="Arial"/>
                <a:ea typeface="Arial"/>
                <a:cs typeface="Arial"/>
                <a:sym typeface="Arial"/>
              </a:defRPr>
            </a:lvl1pPr>
          </a:lstStyle>
          <a:p>
            <a:pPr/>
            <a:r>
              <a:t>Straight from the definition.</a:t>
            </a:r>
          </a:p>
        </p:txBody>
      </p:sp>
      <p:grpSp>
        <p:nvGrpSpPr>
          <p:cNvPr id="395" name="pq3_stmt"/>
          <p:cNvGrpSpPr/>
          <p:nvPr/>
        </p:nvGrpSpPr>
        <p:grpSpPr>
          <a:xfrm>
            <a:off x="502919" y="4224528"/>
            <a:ext cx="6309362" cy="566929"/>
            <a:chOff x="0" y="0"/>
            <a:chExt cx="6309360" cy="566927"/>
          </a:xfrm>
        </p:grpSpPr>
        <p:sp>
          <p:nvSpPr>
            <p:cNvPr id="393" name="pq3_bg"/>
            <p:cNvSpPr/>
            <p:nvPr/>
          </p:nvSpPr>
          <p:spPr>
            <a:xfrm>
              <a:off x="-1" y="0"/>
              <a:ext cx="6309362" cy="566928"/>
            </a:xfrm>
            <a:prstGeom prst="roundRect">
              <a:avLst>
                <a:gd name="adj" fmla="val 16129"/>
              </a:avLst>
            </a:prstGeom>
            <a:solidFill>
              <a:srgbClr val="5A3A84"/>
            </a:solidFill>
            <a:ln w="12700" cap="flat">
              <a:solidFill>
                <a:srgbClr val="6B4E96"/>
              </a:solidFill>
              <a:prstDash val="solid"/>
              <a:round/>
            </a:ln>
            <a:effectLst/>
          </p:spPr>
          <p:txBody>
            <a:bodyPr wrap="square" lIns="45719" tIns="45719" rIns="45719" bIns="45719" numCol="1" anchor="t">
              <a:noAutofit/>
            </a:bodyPr>
            <a:lstStyle/>
            <a:p>
              <a:pPr/>
            </a:p>
          </p:txBody>
        </p:sp>
        <p:sp>
          <p:nvSpPr>
            <p:cNvPr id="394" name="pq3_q"/>
            <p:cNvSpPr txBox="1"/>
            <p:nvPr/>
          </p:nvSpPr>
          <p:spPr>
            <a:xfrm>
              <a:off x="201167" y="197056"/>
              <a:ext cx="59436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F7F4FB"/>
                  </a:solidFill>
                  <a:latin typeface="Arial"/>
                  <a:ea typeface="Arial"/>
                  <a:cs typeface="Arial"/>
                  <a:sym typeface="Arial"/>
                </a:defRPr>
              </a:lvl1pPr>
            </a:lstStyle>
            <a:p>
              <a:pPr/>
              <a:r>
                <a:t>4. Once scientists reach a conclusion, it can never change.</a:t>
              </a:r>
            </a:p>
          </p:txBody>
        </p:sp>
      </p:grpSp>
      <p:sp>
        <p:nvSpPr>
          <p:cNvPr id="396" name="pq3_v"/>
          <p:cNvSpPr txBox="1"/>
          <p:nvPr/>
        </p:nvSpPr>
        <p:spPr>
          <a:xfrm>
            <a:off x="7040880" y="4421585"/>
            <a:ext cx="86868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 sz="1200">
                <a:solidFill>
                  <a:srgbClr val="F2A03D"/>
                </a:solidFill>
                <a:latin typeface="Arial"/>
                <a:ea typeface="Arial"/>
                <a:cs typeface="Arial"/>
                <a:sym typeface="Arial"/>
              </a:defRPr>
            </a:lvl1pPr>
          </a:lstStyle>
          <a:p>
            <a:pPr/>
            <a:r>
              <a:t>FALSE</a:t>
            </a:r>
          </a:p>
        </p:txBody>
      </p:sp>
      <p:sp>
        <p:nvSpPr>
          <p:cNvPr id="397" name="pq3_w"/>
          <p:cNvSpPr txBox="1"/>
          <p:nvPr/>
        </p:nvSpPr>
        <p:spPr>
          <a:xfrm>
            <a:off x="7955280" y="4334515"/>
            <a:ext cx="2331721" cy="346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000">
                <a:solidFill>
                  <a:srgbClr val="E3DAF0"/>
                </a:solidFill>
                <a:latin typeface="Arial"/>
                <a:ea typeface="Arial"/>
                <a:cs typeface="Arial"/>
                <a:sym typeface="Arial"/>
              </a:defRPr>
            </a:lvl1pPr>
          </a:lstStyle>
          <a:p>
            <a:pPr/>
            <a:r>
              <a:t>Ask the people who were sure all swans were white.</a:t>
            </a:r>
          </a:p>
        </p:txBody>
      </p:sp>
      <p:grpSp>
        <p:nvGrpSpPr>
          <p:cNvPr id="400" name="pq4_stmt"/>
          <p:cNvGrpSpPr/>
          <p:nvPr/>
        </p:nvGrpSpPr>
        <p:grpSpPr>
          <a:xfrm>
            <a:off x="502919" y="4937759"/>
            <a:ext cx="6309362" cy="566929"/>
            <a:chOff x="0" y="0"/>
            <a:chExt cx="6309360" cy="566927"/>
          </a:xfrm>
        </p:grpSpPr>
        <p:sp>
          <p:nvSpPr>
            <p:cNvPr id="398" name="pq4_bg"/>
            <p:cNvSpPr/>
            <p:nvPr/>
          </p:nvSpPr>
          <p:spPr>
            <a:xfrm>
              <a:off x="-1" y="0"/>
              <a:ext cx="6309362" cy="566928"/>
            </a:xfrm>
            <a:prstGeom prst="roundRect">
              <a:avLst>
                <a:gd name="adj" fmla="val 16129"/>
              </a:avLst>
            </a:prstGeom>
            <a:solidFill>
              <a:srgbClr val="5A3A84"/>
            </a:solidFill>
            <a:ln w="12700" cap="flat">
              <a:solidFill>
                <a:srgbClr val="6B4E96"/>
              </a:solidFill>
              <a:prstDash val="solid"/>
              <a:round/>
            </a:ln>
            <a:effectLst/>
          </p:spPr>
          <p:txBody>
            <a:bodyPr wrap="square" lIns="45719" tIns="45719" rIns="45719" bIns="45719" numCol="1" anchor="t">
              <a:noAutofit/>
            </a:bodyPr>
            <a:lstStyle/>
            <a:p>
              <a:pPr/>
            </a:p>
          </p:txBody>
        </p:sp>
        <p:sp>
          <p:nvSpPr>
            <p:cNvPr id="399" name="pq4_q"/>
            <p:cNvSpPr txBox="1"/>
            <p:nvPr/>
          </p:nvSpPr>
          <p:spPr>
            <a:xfrm>
              <a:off x="201167" y="197056"/>
              <a:ext cx="59436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F7F4FB"/>
                  </a:solidFill>
                  <a:latin typeface="Arial"/>
                  <a:ea typeface="Arial"/>
                  <a:cs typeface="Arial"/>
                  <a:sym typeface="Arial"/>
                </a:defRPr>
              </a:lvl1pPr>
            </a:lstStyle>
            <a:p>
              <a:pPr/>
              <a:r>
                <a:t>5. Science only happens in a laboratory.</a:t>
              </a:r>
            </a:p>
          </p:txBody>
        </p:sp>
      </p:grpSp>
      <p:sp>
        <p:nvSpPr>
          <p:cNvPr id="401" name="pq4_v"/>
          <p:cNvSpPr txBox="1"/>
          <p:nvPr/>
        </p:nvSpPr>
        <p:spPr>
          <a:xfrm>
            <a:off x="7040880" y="5134816"/>
            <a:ext cx="86868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 sz="1200">
                <a:solidFill>
                  <a:srgbClr val="F2A03D"/>
                </a:solidFill>
                <a:latin typeface="Arial"/>
                <a:ea typeface="Arial"/>
                <a:cs typeface="Arial"/>
                <a:sym typeface="Arial"/>
              </a:defRPr>
            </a:lvl1pPr>
          </a:lstStyle>
          <a:p>
            <a:pPr/>
            <a:r>
              <a:t>FALSE</a:t>
            </a:r>
          </a:p>
        </p:txBody>
      </p:sp>
      <p:sp>
        <p:nvSpPr>
          <p:cNvPr id="402" name="pq4_w"/>
          <p:cNvSpPr txBox="1"/>
          <p:nvPr/>
        </p:nvSpPr>
        <p:spPr>
          <a:xfrm>
            <a:off x="7955280" y="5047747"/>
            <a:ext cx="2331721" cy="346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000">
                <a:solidFill>
                  <a:srgbClr val="E3DAF0"/>
                </a:solidFill>
                <a:latin typeface="Arial"/>
                <a:ea typeface="Arial"/>
                <a:cs typeface="Arial"/>
                <a:sym typeface="Arial"/>
              </a:defRPr>
            </a:lvl1pPr>
          </a:lstStyle>
          <a:p>
            <a:pPr/>
            <a:r>
              <a:t>It happens at a durian stall, in the sea, and in your kitchen.</a:t>
            </a:r>
          </a:p>
        </p:txBody>
      </p:sp>
      <p:sp>
        <p:nvSpPr>
          <p:cNvPr id="403" name="pl_next"/>
          <p:cNvSpPr txBox="1"/>
          <p:nvPr/>
        </p:nvSpPr>
        <p:spPr>
          <a:xfrm>
            <a:off x="502919" y="6280818"/>
            <a:ext cx="1118585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300">
                <a:solidFill>
                  <a:srgbClr val="F2A03D"/>
                </a:solidFill>
                <a:latin typeface="Arial"/>
                <a:ea typeface="Arial"/>
                <a:cs typeface="Arial"/>
                <a:sym typeface="Arial"/>
              </a:defRPr>
            </a:lvl1pPr>
          </a:lstStyle>
          <a:p>
            <a:pPr/>
            <a:r>
              <a:t>Next lesson: two words people mix up constantly — theory and law.</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80"/>
                                        </p:tgtEl>
                                        <p:attrNameLst>
                                          <p:attrName>style.visibility</p:attrName>
                                        </p:attrNameLst>
                                      </p:cBhvr>
                                      <p:to>
                                        <p:strVal val="visible"/>
                                      </p:to>
                                    </p:set>
                                    <p:animEffect filter="fade" transition="in">
                                      <p:cBhvr>
                                        <p:cTn id="7" dur="500"/>
                                        <p:tgtEl>
                                          <p:spTgt spid="38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16" presetID="23" grpId="2" fill="hold">
                                  <p:stCondLst>
                                    <p:cond delay="0"/>
                                  </p:stCondLst>
                                  <p:iterate type="el" backwards="0">
                                    <p:tmAbs val="0"/>
                                  </p:iterate>
                                  <p:childTnLst>
                                    <p:set>
                                      <p:cBhvr>
                                        <p:cTn id="11" fill="hold"/>
                                        <p:tgtEl>
                                          <p:spTgt spid="381"/>
                                        </p:tgtEl>
                                        <p:attrNameLst>
                                          <p:attrName>style.visibility</p:attrName>
                                        </p:attrNameLst>
                                      </p:cBhvr>
                                      <p:to>
                                        <p:strVal val="visible"/>
                                      </p:to>
                                    </p:set>
                                    <p:anim calcmode="lin" valueType="num">
                                      <p:cBhvr>
                                        <p:cTn id="12" dur="500" fill="hold"/>
                                        <p:tgtEl>
                                          <p:spTgt spid="381"/>
                                        </p:tgtEl>
                                        <p:attrNameLst>
                                          <p:attrName>ppt_w</p:attrName>
                                        </p:attrNameLst>
                                      </p:cBhvr>
                                      <p:tavLst>
                                        <p:tav tm="0">
                                          <p:val>
                                            <p:fltVal val="0"/>
                                          </p:val>
                                        </p:tav>
                                        <p:tav tm="100000">
                                          <p:val>
                                            <p:strVal val="#ppt_w"/>
                                          </p:val>
                                        </p:tav>
                                      </p:tavLst>
                                    </p:anim>
                                    <p:anim calcmode="lin" valueType="num">
                                      <p:cBhvr>
                                        <p:cTn id="13" dur="500" fill="hold"/>
                                        <p:tgtEl>
                                          <p:spTgt spid="381"/>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Class="entr" nodeType="afterEffect" presetID="10" grpId="3" fill="hold">
                                  <p:stCondLst>
                                    <p:cond delay="220"/>
                                  </p:stCondLst>
                                  <p:iterate type="el" backwards="0">
                                    <p:tmAbs val="0"/>
                                  </p:iterate>
                                  <p:childTnLst>
                                    <p:set>
                                      <p:cBhvr>
                                        <p:cTn id="16" fill="hold"/>
                                        <p:tgtEl>
                                          <p:spTgt spid="382"/>
                                        </p:tgtEl>
                                        <p:attrNameLst>
                                          <p:attrName>style.visibility</p:attrName>
                                        </p:attrNameLst>
                                      </p:cBhvr>
                                      <p:to>
                                        <p:strVal val="visible"/>
                                      </p:to>
                                    </p:set>
                                    <p:animEffect filter="fade" transition="in">
                                      <p:cBhvr>
                                        <p:cTn id="17" dur="500"/>
                                        <p:tgtEl>
                                          <p:spTgt spid="38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85"/>
                                        </p:tgtEl>
                                        <p:attrNameLst>
                                          <p:attrName>style.visibility</p:attrName>
                                        </p:attrNameLst>
                                      </p:cBhvr>
                                      <p:to>
                                        <p:strVal val="visible"/>
                                      </p:to>
                                    </p:set>
                                    <p:animEffect filter="fade" transition="in">
                                      <p:cBhvr>
                                        <p:cTn id="22" dur="500"/>
                                        <p:tgtEl>
                                          <p:spTgt spid="38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86"/>
                                        </p:tgtEl>
                                        <p:attrNameLst>
                                          <p:attrName>style.visibility</p:attrName>
                                        </p:attrNameLst>
                                      </p:cBhvr>
                                      <p:to>
                                        <p:strVal val="visible"/>
                                      </p:to>
                                    </p:set>
                                    <p:anim calcmode="lin" valueType="num">
                                      <p:cBhvr>
                                        <p:cTn id="27" dur="500" fill="hold"/>
                                        <p:tgtEl>
                                          <p:spTgt spid="386"/>
                                        </p:tgtEl>
                                        <p:attrNameLst>
                                          <p:attrName>ppt_w</p:attrName>
                                        </p:attrNameLst>
                                      </p:cBhvr>
                                      <p:tavLst>
                                        <p:tav tm="0">
                                          <p:val>
                                            <p:fltVal val="0"/>
                                          </p:val>
                                        </p:tav>
                                        <p:tav tm="100000">
                                          <p:val>
                                            <p:strVal val="#ppt_w"/>
                                          </p:val>
                                        </p:tav>
                                      </p:tavLst>
                                    </p:anim>
                                    <p:anim calcmode="lin" valueType="num">
                                      <p:cBhvr>
                                        <p:cTn id="28" dur="500" fill="hold"/>
                                        <p:tgtEl>
                                          <p:spTgt spid="386"/>
                                        </p:tgtEl>
                                        <p:attrNameLst>
                                          <p:attrName>ppt_h</p:attrName>
                                        </p:attrNameLst>
                                      </p:cBhvr>
                                      <p:tavLst>
                                        <p:tav tm="0">
                                          <p:val>
                                            <p:fltVal val="0"/>
                                          </p:val>
                                        </p:tav>
                                        <p:tav tm="100000">
                                          <p:val>
                                            <p:strVal val="#ppt_h"/>
                                          </p:val>
                                        </p:tav>
                                      </p:tavLst>
                                    </p:anim>
                                  </p:childTnLst>
                                </p:cTn>
                              </p:par>
                            </p:childTnLst>
                          </p:cTn>
                        </p:par>
                        <p:par>
                          <p:cTn id="29" fill="hold">
                            <p:stCondLst>
                              <p:cond delay="500"/>
                            </p:stCondLst>
                            <p:childTnLst>
                              <p:par>
                                <p:cTn id="30" presetClass="entr" nodeType="afterEffect" presetID="10" grpId="6" fill="hold">
                                  <p:stCondLst>
                                    <p:cond delay="220"/>
                                  </p:stCondLst>
                                  <p:iterate type="el" backwards="0">
                                    <p:tmAbs val="0"/>
                                  </p:iterate>
                                  <p:childTnLst>
                                    <p:set>
                                      <p:cBhvr>
                                        <p:cTn id="31" fill="hold"/>
                                        <p:tgtEl>
                                          <p:spTgt spid="387"/>
                                        </p:tgtEl>
                                        <p:attrNameLst>
                                          <p:attrName>style.visibility</p:attrName>
                                        </p:attrNameLst>
                                      </p:cBhvr>
                                      <p:to>
                                        <p:strVal val="visible"/>
                                      </p:to>
                                    </p:set>
                                    <p:animEffect filter="fade" transition="in">
                                      <p:cBhvr>
                                        <p:cTn id="32" dur="500"/>
                                        <p:tgtEl>
                                          <p:spTgt spid="387"/>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390"/>
                                        </p:tgtEl>
                                        <p:attrNameLst>
                                          <p:attrName>style.visibility</p:attrName>
                                        </p:attrNameLst>
                                      </p:cBhvr>
                                      <p:to>
                                        <p:strVal val="visible"/>
                                      </p:to>
                                    </p:set>
                                    <p:animEffect filter="fade" transition="in">
                                      <p:cBhvr>
                                        <p:cTn id="37" dur="500"/>
                                        <p:tgtEl>
                                          <p:spTgt spid="390"/>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16" presetID="23" grpId="8" fill="hold">
                                  <p:stCondLst>
                                    <p:cond delay="0"/>
                                  </p:stCondLst>
                                  <p:iterate type="el" backwards="0">
                                    <p:tmAbs val="0"/>
                                  </p:iterate>
                                  <p:childTnLst>
                                    <p:set>
                                      <p:cBhvr>
                                        <p:cTn id="41" fill="hold"/>
                                        <p:tgtEl>
                                          <p:spTgt spid="391"/>
                                        </p:tgtEl>
                                        <p:attrNameLst>
                                          <p:attrName>style.visibility</p:attrName>
                                        </p:attrNameLst>
                                      </p:cBhvr>
                                      <p:to>
                                        <p:strVal val="visible"/>
                                      </p:to>
                                    </p:set>
                                    <p:anim calcmode="lin" valueType="num">
                                      <p:cBhvr>
                                        <p:cTn id="42" dur="500" fill="hold"/>
                                        <p:tgtEl>
                                          <p:spTgt spid="391"/>
                                        </p:tgtEl>
                                        <p:attrNameLst>
                                          <p:attrName>ppt_w</p:attrName>
                                        </p:attrNameLst>
                                      </p:cBhvr>
                                      <p:tavLst>
                                        <p:tav tm="0">
                                          <p:val>
                                            <p:fltVal val="0"/>
                                          </p:val>
                                        </p:tav>
                                        <p:tav tm="100000">
                                          <p:val>
                                            <p:strVal val="#ppt_w"/>
                                          </p:val>
                                        </p:tav>
                                      </p:tavLst>
                                    </p:anim>
                                    <p:anim calcmode="lin" valueType="num">
                                      <p:cBhvr>
                                        <p:cTn id="43" dur="500" fill="hold"/>
                                        <p:tgtEl>
                                          <p:spTgt spid="391"/>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Class="entr" nodeType="afterEffect" presetID="10" grpId="9" fill="hold">
                                  <p:stCondLst>
                                    <p:cond delay="220"/>
                                  </p:stCondLst>
                                  <p:iterate type="el" backwards="0">
                                    <p:tmAbs val="0"/>
                                  </p:iterate>
                                  <p:childTnLst>
                                    <p:set>
                                      <p:cBhvr>
                                        <p:cTn id="46" fill="hold"/>
                                        <p:tgtEl>
                                          <p:spTgt spid="392"/>
                                        </p:tgtEl>
                                        <p:attrNameLst>
                                          <p:attrName>style.visibility</p:attrName>
                                        </p:attrNameLst>
                                      </p:cBhvr>
                                      <p:to>
                                        <p:strVal val="visible"/>
                                      </p:to>
                                    </p:set>
                                    <p:animEffect filter="fade" transition="in">
                                      <p:cBhvr>
                                        <p:cTn id="47" dur="500"/>
                                        <p:tgtEl>
                                          <p:spTgt spid="392"/>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ID="10" grpId="10" fill="hold">
                                  <p:stCondLst>
                                    <p:cond delay="0"/>
                                  </p:stCondLst>
                                  <p:iterate type="el" backwards="0">
                                    <p:tmAbs val="0"/>
                                  </p:iterate>
                                  <p:childTnLst>
                                    <p:set>
                                      <p:cBhvr>
                                        <p:cTn id="51" fill="hold"/>
                                        <p:tgtEl>
                                          <p:spTgt spid="395"/>
                                        </p:tgtEl>
                                        <p:attrNameLst>
                                          <p:attrName>style.visibility</p:attrName>
                                        </p:attrNameLst>
                                      </p:cBhvr>
                                      <p:to>
                                        <p:strVal val="visible"/>
                                      </p:to>
                                    </p:set>
                                    <p:animEffect filter="fade" transition="in">
                                      <p:cBhvr>
                                        <p:cTn id="52" dur="500"/>
                                        <p:tgtEl>
                                          <p:spTgt spid="395"/>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Subtype="16" presetID="23" grpId="11" fill="hold">
                                  <p:stCondLst>
                                    <p:cond delay="0"/>
                                  </p:stCondLst>
                                  <p:iterate type="el" backwards="0">
                                    <p:tmAbs val="0"/>
                                  </p:iterate>
                                  <p:childTnLst>
                                    <p:set>
                                      <p:cBhvr>
                                        <p:cTn id="56" fill="hold"/>
                                        <p:tgtEl>
                                          <p:spTgt spid="396"/>
                                        </p:tgtEl>
                                        <p:attrNameLst>
                                          <p:attrName>style.visibility</p:attrName>
                                        </p:attrNameLst>
                                      </p:cBhvr>
                                      <p:to>
                                        <p:strVal val="visible"/>
                                      </p:to>
                                    </p:set>
                                    <p:anim calcmode="lin" valueType="num">
                                      <p:cBhvr>
                                        <p:cTn id="57" dur="500" fill="hold"/>
                                        <p:tgtEl>
                                          <p:spTgt spid="396"/>
                                        </p:tgtEl>
                                        <p:attrNameLst>
                                          <p:attrName>ppt_w</p:attrName>
                                        </p:attrNameLst>
                                      </p:cBhvr>
                                      <p:tavLst>
                                        <p:tav tm="0">
                                          <p:val>
                                            <p:fltVal val="0"/>
                                          </p:val>
                                        </p:tav>
                                        <p:tav tm="100000">
                                          <p:val>
                                            <p:strVal val="#ppt_w"/>
                                          </p:val>
                                        </p:tav>
                                      </p:tavLst>
                                    </p:anim>
                                    <p:anim calcmode="lin" valueType="num">
                                      <p:cBhvr>
                                        <p:cTn id="58" dur="500" fill="hold"/>
                                        <p:tgtEl>
                                          <p:spTgt spid="396"/>
                                        </p:tgtEl>
                                        <p:attrNameLst>
                                          <p:attrName>ppt_h</p:attrName>
                                        </p:attrNameLst>
                                      </p:cBhvr>
                                      <p:tavLst>
                                        <p:tav tm="0">
                                          <p:val>
                                            <p:fltVal val="0"/>
                                          </p:val>
                                        </p:tav>
                                        <p:tav tm="100000">
                                          <p:val>
                                            <p:strVal val="#ppt_h"/>
                                          </p:val>
                                        </p:tav>
                                      </p:tavLst>
                                    </p:anim>
                                  </p:childTnLst>
                                </p:cTn>
                              </p:par>
                            </p:childTnLst>
                          </p:cTn>
                        </p:par>
                        <p:par>
                          <p:cTn id="59" fill="hold">
                            <p:stCondLst>
                              <p:cond delay="500"/>
                            </p:stCondLst>
                            <p:childTnLst>
                              <p:par>
                                <p:cTn id="60" presetClass="entr" nodeType="afterEffect" presetID="10" grpId="12" fill="hold">
                                  <p:stCondLst>
                                    <p:cond delay="220"/>
                                  </p:stCondLst>
                                  <p:iterate type="el" backwards="0">
                                    <p:tmAbs val="0"/>
                                  </p:iterate>
                                  <p:childTnLst>
                                    <p:set>
                                      <p:cBhvr>
                                        <p:cTn id="61" fill="hold"/>
                                        <p:tgtEl>
                                          <p:spTgt spid="397"/>
                                        </p:tgtEl>
                                        <p:attrNameLst>
                                          <p:attrName>style.visibility</p:attrName>
                                        </p:attrNameLst>
                                      </p:cBhvr>
                                      <p:to>
                                        <p:strVal val="visible"/>
                                      </p:to>
                                    </p:set>
                                    <p:animEffect filter="fade" transition="in">
                                      <p:cBhvr>
                                        <p:cTn id="62" dur="500"/>
                                        <p:tgtEl>
                                          <p:spTgt spid="397"/>
                                        </p:tgtEl>
                                      </p:cBhvr>
                                    </p:animEffect>
                                  </p:childTnLst>
                                </p:cTn>
                              </p:par>
                            </p:childTnLst>
                          </p:cTn>
                        </p:par>
                      </p:childTnLst>
                    </p:cTn>
                  </p:par>
                  <p:par>
                    <p:cTn id="63" fill="hold">
                      <p:stCondLst>
                        <p:cond delay="indefinite"/>
                      </p:stCondLst>
                      <p:childTnLst>
                        <p:par>
                          <p:cTn id="64" fill="hold">
                            <p:stCondLst>
                              <p:cond delay="0"/>
                            </p:stCondLst>
                            <p:childTnLst>
                              <p:par>
                                <p:cTn id="65" presetClass="entr" nodeType="clickEffect" presetID="10" grpId="13" fill="hold">
                                  <p:stCondLst>
                                    <p:cond delay="0"/>
                                  </p:stCondLst>
                                  <p:iterate type="el" backwards="0">
                                    <p:tmAbs val="0"/>
                                  </p:iterate>
                                  <p:childTnLst>
                                    <p:set>
                                      <p:cBhvr>
                                        <p:cTn id="66" fill="hold"/>
                                        <p:tgtEl>
                                          <p:spTgt spid="400"/>
                                        </p:tgtEl>
                                        <p:attrNameLst>
                                          <p:attrName>style.visibility</p:attrName>
                                        </p:attrNameLst>
                                      </p:cBhvr>
                                      <p:to>
                                        <p:strVal val="visible"/>
                                      </p:to>
                                    </p:set>
                                    <p:animEffect filter="fade" transition="in">
                                      <p:cBhvr>
                                        <p:cTn id="67" dur="500"/>
                                        <p:tgtEl>
                                          <p:spTgt spid="400"/>
                                        </p:tgtEl>
                                      </p:cBhvr>
                                    </p:animEffect>
                                  </p:childTnLst>
                                </p:cTn>
                              </p:par>
                            </p:childTnLst>
                          </p:cTn>
                        </p:par>
                      </p:childTnLst>
                    </p:cTn>
                  </p:par>
                  <p:par>
                    <p:cTn id="68" fill="hold">
                      <p:stCondLst>
                        <p:cond delay="indefinite"/>
                      </p:stCondLst>
                      <p:childTnLst>
                        <p:par>
                          <p:cTn id="69" fill="hold">
                            <p:stCondLst>
                              <p:cond delay="0"/>
                            </p:stCondLst>
                            <p:childTnLst>
                              <p:par>
                                <p:cTn id="70" presetClass="entr" nodeType="clickEffect" presetSubtype="16" presetID="23" grpId="14" fill="hold">
                                  <p:stCondLst>
                                    <p:cond delay="0"/>
                                  </p:stCondLst>
                                  <p:iterate type="el" backwards="0">
                                    <p:tmAbs val="0"/>
                                  </p:iterate>
                                  <p:childTnLst>
                                    <p:set>
                                      <p:cBhvr>
                                        <p:cTn id="71" fill="hold"/>
                                        <p:tgtEl>
                                          <p:spTgt spid="401"/>
                                        </p:tgtEl>
                                        <p:attrNameLst>
                                          <p:attrName>style.visibility</p:attrName>
                                        </p:attrNameLst>
                                      </p:cBhvr>
                                      <p:to>
                                        <p:strVal val="visible"/>
                                      </p:to>
                                    </p:set>
                                    <p:anim calcmode="lin" valueType="num">
                                      <p:cBhvr>
                                        <p:cTn id="72" dur="500" fill="hold"/>
                                        <p:tgtEl>
                                          <p:spTgt spid="401"/>
                                        </p:tgtEl>
                                        <p:attrNameLst>
                                          <p:attrName>ppt_w</p:attrName>
                                        </p:attrNameLst>
                                      </p:cBhvr>
                                      <p:tavLst>
                                        <p:tav tm="0">
                                          <p:val>
                                            <p:fltVal val="0"/>
                                          </p:val>
                                        </p:tav>
                                        <p:tav tm="100000">
                                          <p:val>
                                            <p:strVal val="#ppt_w"/>
                                          </p:val>
                                        </p:tav>
                                      </p:tavLst>
                                    </p:anim>
                                    <p:anim calcmode="lin" valueType="num">
                                      <p:cBhvr>
                                        <p:cTn id="73" dur="500" fill="hold"/>
                                        <p:tgtEl>
                                          <p:spTgt spid="401"/>
                                        </p:tgtEl>
                                        <p:attrNameLst>
                                          <p:attrName>ppt_h</p:attrName>
                                        </p:attrNameLst>
                                      </p:cBhvr>
                                      <p:tavLst>
                                        <p:tav tm="0">
                                          <p:val>
                                            <p:fltVal val="0"/>
                                          </p:val>
                                        </p:tav>
                                        <p:tav tm="100000">
                                          <p:val>
                                            <p:strVal val="#ppt_h"/>
                                          </p:val>
                                        </p:tav>
                                      </p:tavLst>
                                    </p:anim>
                                  </p:childTnLst>
                                </p:cTn>
                              </p:par>
                            </p:childTnLst>
                          </p:cTn>
                        </p:par>
                        <p:par>
                          <p:cTn id="74" fill="hold">
                            <p:stCondLst>
                              <p:cond delay="500"/>
                            </p:stCondLst>
                            <p:childTnLst>
                              <p:par>
                                <p:cTn id="75" presetClass="entr" nodeType="afterEffect" presetID="10" grpId="15" fill="hold">
                                  <p:stCondLst>
                                    <p:cond delay="220"/>
                                  </p:stCondLst>
                                  <p:iterate type="el" backwards="0">
                                    <p:tmAbs val="0"/>
                                  </p:iterate>
                                  <p:childTnLst>
                                    <p:set>
                                      <p:cBhvr>
                                        <p:cTn id="76" fill="hold"/>
                                        <p:tgtEl>
                                          <p:spTgt spid="402"/>
                                        </p:tgtEl>
                                        <p:attrNameLst>
                                          <p:attrName>style.visibility</p:attrName>
                                        </p:attrNameLst>
                                      </p:cBhvr>
                                      <p:to>
                                        <p:strVal val="visible"/>
                                      </p:to>
                                    </p:set>
                                    <p:animEffect filter="fade" transition="in">
                                      <p:cBhvr>
                                        <p:cTn id="77" dur="500"/>
                                        <p:tgtEl>
                                          <p:spTgt spid="402"/>
                                        </p:tgtEl>
                                      </p:cBhvr>
                                    </p:animEffect>
                                  </p:childTnLst>
                                </p:cTn>
                              </p:par>
                            </p:childTnLst>
                          </p:cTn>
                        </p:par>
                      </p:childTnLst>
                    </p:cTn>
                  </p:par>
                  <p:par>
                    <p:cTn id="78" fill="hold">
                      <p:stCondLst>
                        <p:cond delay="indefinite"/>
                      </p:stCondLst>
                      <p:childTnLst>
                        <p:par>
                          <p:cTn id="79" fill="hold">
                            <p:stCondLst>
                              <p:cond delay="0"/>
                            </p:stCondLst>
                            <p:childTnLst>
                              <p:par>
                                <p:cTn id="80" presetClass="entr" nodeType="clickEffect" presetID="10" grpId="16" fill="hold">
                                  <p:stCondLst>
                                    <p:cond delay="0"/>
                                  </p:stCondLst>
                                  <p:iterate type="el" backwards="0">
                                    <p:tmAbs val="0"/>
                                  </p:iterate>
                                  <p:childTnLst>
                                    <p:set>
                                      <p:cBhvr>
                                        <p:cTn id="81" fill="hold"/>
                                        <p:tgtEl>
                                          <p:spTgt spid="403"/>
                                        </p:tgtEl>
                                        <p:attrNameLst>
                                          <p:attrName>style.visibility</p:attrName>
                                        </p:attrNameLst>
                                      </p:cBhvr>
                                      <p:to>
                                        <p:strVal val="visible"/>
                                      </p:to>
                                    </p:set>
                                    <p:animEffect filter="fade" transition="in">
                                      <p:cBhvr>
                                        <p:cTn id="82" dur="5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2" grpId="9"/>
      <p:bldP build="whole" bldLvl="1" animBg="1" rev="0" advAuto="0" spid="390" grpId="7"/>
      <p:bldP build="whole" bldLvl="1" animBg="1" rev="0" advAuto="0" spid="402" grpId="15"/>
      <p:bldP build="whole" bldLvl="1" animBg="1" rev="0" advAuto="0" spid="397" grpId="12"/>
      <p:bldP build="whole" bldLvl="1" animBg="1" rev="0" advAuto="0" spid="385" grpId="4"/>
      <p:bldP build="whole" bldLvl="1" animBg="1" rev="0" advAuto="0" spid="391" grpId="8"/>
      <p:bldP build="whole" bldLvl="1" animBg="1" rev="0" advAuto="0" spid="382" grpId="3"/>
      <p:bldP build="whole" bldLvl="1" animBg="1" rev="0" advAuto="0" spid="400" grpId="13"/>
      <p:bldP build="whole" bldLvl="1" animBg="1" rev="0" advAuto="0" spid="396" grpId="11"/>
      <p:bldP build="whole" bldLvl="1" animBg="1" rev="0" advAuto="0" spid="401" grpId="14"/>
      <p:bldP build="whole" bldLvl="1" animBg="1" rev="0" advAuto="0" spid="380" grpId="1"/>
      <p:bldP build="whole" bldLvl="1" animBg="1" rev="0" advAuto="0" spid="381" grpId="2"/>
      <p:bldP build="whole" bldLvl="1" animBg="1" rev="0" advAuto="0" spid="387" grpId="6"/>
      <p:bldP build="whole" bldLvl="1" animBg="1" rev="0" advAuto="0" spid="386" grpId="5"/>
      <p:bldP build="whole" bldLvl="1" animBg="1" rev="0" advAuto="0" spid="395" grpId="10"/>
      <p:bldP build="whole" bldLvl="1" animBg="1" rev="0" advAuto="0" spid="403" grpId="16"/>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4A2C6F"/>
        </a:solidFill>
      </p:bgPr>
    </p:bg>
    <p:spTree>
      <p:nvGrpSpPr>
        <p:cNvPr id="1" name=""/>
        <p:cNvGrpSpPr/>
        <p:nvPr/>
      </p:nvGrpSpPr>
      <p:grpSpPr>
        <a:xfrm>
          <a:off x="0" y="0"/>
          <a:ext cx="0" cy="0"/>
          <a:chOff x="0" y="0"/>
          <a:chExt cx="0" cy="0"/>
        </a:xfrm>
      </p:grpSpPr>
      <p:sp>
        <p:nvSpPr>
          <p:cNvPr id="407"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7F4FB"/>
                </a:solidFill>
                <a:latin typeface="Georgia"/>
                <a:ea typeface="Georgia"/>
                <a:cs typeface="Georgia"/>
                <a:sym typeface="Georgia"/>
              </a:defRPr>
            </a:lvl1pPr>
          </a:lstStyle>
          <a:p>
            <a:pPr/>
            <a:r>
              <a:t>Credits and sources</a:t>
            </a:r>
          </a:p>
        </p:txBody>
      </p:sp>
      <p:sp>
        <p:nvSpPr>
          <p:cNvPr id="408" name="cred0_a"/>
          <p:cNvSpPr txBox="1"/>
          <p:nvPr/>
        </p:nvSpPr>
        <p:spPr>
          <a:xfrm>
            <a:off x="502919" y="181889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10" sz="1100">
                <a:solidFill>
                  <a:srgbClr val="F2A03D"/>
                </a:solidFill>
                <a:latin typeface="Arial"/>
                <a:ea typeface="Arial"/>
                <a:cs typeface="Arial"/>
                <a:sym typeface="Arial"/>
              </a:defRPr>
            </a:lvl1pPr>
          </a:lstStyle>
          <a:p>
            <a:pPr/>
            <a:r>
              <a:t>SOURCES</a:t>
            </a:r>
          </a:p>
        </p:txBody>
      </p:sp>
      <p:sp>
        <p:nvSpPr>
          <p:cNvPr id="409" name="cred1_a"/>
          <p:cNvSpPr txBox="1"/>
          <p:nvPr/>
        </p:nvSpPr>
        <p:spPr>
          <a:xfrm>
            <a:off x="502919" y="218465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Durian and body temperature — the rat study, 2009</a:t>
            </a:r>
          </a:p>
        </p:txBody>
      </p:sp>
      <p:sp>
        <p:nvSpPr>
          <p:cNvPr id="410" name="cred1_b"/>
          <p:cNvSpPr txBox="1"/>
          <p:nvPr/>
        </p:nvSpPr>
        <p:spPr>
          <a:xfrm>
            <a:off x="6446520" y="2184653"/>
            <a:ext cx="524225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Hyperthermic Effects of Durio zibethinus and Its Interaction with Paracetamol</a:t>
            </a:r>
          </a:p>
        </p:txBody>
      </p:sp>
      <p:sp>
        <p:nvSpPr>
          <p:cNvPr id="411" name="cred2_a"/>
          <p:cNvSpPr txBox="1"/>
          <p:nvPr/>
        </p:nvSpPr>
        <p:spPr>
          <a:xfrm>
            <a:off x="502919" y="255041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Durian and body temperature — the human trial, 2024</a:t>
            </a:r>
          </a:p>
        </p:txBody>
      </p:sp>
      <p:sp>
        <p:nvSpPr>
          <p:cNvPr id="412" name="cred2_b"/>
          <p:cNvSpPr txBox="1"/>
          <p:nvPr/>
        </p:nvSpPr>
        <p:spPr>
          <a:xfrm>
            <a:off x="6446520" y="2474213"/>
            <a:ext cx="5242255" cy="3002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Journal of the American Nutrition Association: 16 adults, durian vs banana, matched calories</a:t>
            </a:r>
          </a:p>
        </p:txBody>
      </p:sp>
      <p:sp>
        <p:nvSpPr>
          <p:cNvPr id="413" name="cred3_a"/>
          <p:cNvSpPr txBox="1"/>
          <p:nvPr/>
        </p:nvSpPr>
        <p:spPr>
          <a:xfrm>
            <a:off x="502919" y="291617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No conclusive evidence for the durian-and-alcohol claim</a:t>
            </a:r>
          </a:p>
        </p:txBody>
      </p:sp>
      <p:sp>
        <p:nvSpPr>
          <p:cNvPr id="414" name="cred3_b"/>
          <p:cNvSpPr txBox="1"/>
          <p:nvPr/>
        </p:nvSpPr>
        <p:spPr>
          <a:xfrm>
            <a:off x="6446520" y="2916173"/>
            <a:ext cx="524225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Raffles Medical Group, reviewing the common durian beliefs</a:t>
            </a:r>
          </a:p>
        </p:txBody>
      </p:sp>
      <p:sp>
        <p:nvSpPr>
          <p:cNvPr id="415" name="cred4_a"/>
          <p:cNvSpPr txBox="1"/>
          <p:nvPr/>
        </p:nvSpPr>
        <p:spPr>
          <a:xfrm>
            <a:off x="502919" y="328193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Black swans reached European knowledge in 1697</a:t>
            </a:r>
          </a:p>
        </p:txBody>
      </p:sp>
      <p:sp>
        <p:nvSpPr>
          <p:cNvPr id="416" name="cred4_b"/>
          <p:cNvSpPr txBox="1"/>
          <p:nvPr/>
        </p:nvSpPr>
        <p:spPr>
          <a:xfrm>
            <a:off x="6446520" y="3281933"/>
            <a:ext cx="524225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Willem de Vlamingh’s expedition to Western Australia</a:t>
            </a:r>
          </a:p>
        </p:txBody>
      </p:sp>
      <p:sp>
        <p:nvSpPr>
          <p:cNvPr id="417" name="cred5_a"/>
          <p:cNvSpPr txBox="1"/>
          <p:nvPr/>
        </p:nvSpPr>
        <p:spPr>
          <a:xfrm>
            <a:off x="502919" y="3647692"/>
            <a:ext cx="576072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Objectives, vocabulary and unit structure</a:t>
            </a:r>
          </a:p>
        </p:txBody>
      </p:sp>
      <p:sp>
        <p:nvSpPr>
          <p:cNvPr id="418" name="cred5_b"/>
          <p:cNvSpPr txBox="1"/>
          <p:nvPr/>
        </p:nvSpPr>
        <p:spPr>
          <a:xfrm>
            <a:off x="6446520" y="3647692"/>
            <a:ext cx="5242255"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CK-12 Lesson 1.1 What Is Science? · GIS KS3 SoW, Y7 Unit 1</a:t>
            </a:r>
          </a:p>
        </p:txBody>
      </p:sp>
      <p:sp>
        <p:nvSpPr>
          <p:cNvPr id="419" name="cred6_a"/>
          <p:cNvSpPr txBox="1"/>
          <p:nvPr/>
        </p:nvSpPr>
        <p:spPr>
          <a:xfrm>
            <a:off x="502919" y="401345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10" sz="1100">
                <a:solidFill>
                  <a:srgbClr val="F2A03D"/>
                </a:solidFill>
                <a:latin typeface="Arial"/>
                <a:ea typeface="Arial"/>
                <a:cs typeface="Arial"/>
                <a:sym typeface="Arial"/>
              </a:defRPr>
            </a:lvl1pPr>
          </a:lstStyle>
          <a:p>
            <a:pPr/>
            <a:r>
              <a:t>NOTE</a:t>
            </a:r>
          </a:p>
        </p:txBody>
      </p:sp>
      <p:sp>
        <p:nvSpPr>
          <p:cNvPr id="420" name="cred7_a"/>
          <p:cNvSpPr txBox="1"/>
          <p:nvPr/>
        </p:nvSpPr>
        <p:spPr>
          <a:xfrm>
            <a:off x="502919" y="4379213"/>
            <a:ext cx="57607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7F4FB"/>
                </a:solidFill>
                <a:latin typeface="Arial"/>
                <a:ea typeface="Arial"/>
                <a:cs typeface="Arial"/>
                <a:sym typeface="Arial"/>
              </a:defRPr>
            </a:lvl1pPr>
          </a:lstStyle>
          <a:p>
            <a:pPr/>
            <a:r>
              <a:t>No photographs used in this deck</a:t>
            </a:r>
          </a:p>
        </p:txBody>
      </p:sp>
      <p:sp>
        <p:nvSpPr>
          <p:cNvPr id="421" name="cred7_b"/>
          <p:cNvSpPr txBox="1"/>
          <p:nvPr/>
        </p:nvSpPr>
        <p:spPr>
          <a:xfrm>
            <a:off x="6446520" y="4379213"/>
            <a:ext cx="524225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DAF0"/>
                </a:solidFill>
                <a:latin typeface="Arial"/>
                <a:ea typeface="Arial"/>
                <a:cs typeface="Arial"/>
                <a:sym typeface="Arial"/>
              </a:defRPr>
            </a:lvl1pPr>
          </a:lstStyle>
          <a:p>
            <a:pPr/>
            <a:r>
              <a:t>Every diagram is drawn from native shapes, so it stays sharp at any size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