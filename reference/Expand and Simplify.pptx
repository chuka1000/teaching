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 name="Shape 62"/>
          <p:cNvSpPr/>
          <p:nvPr>
            <p:ph type="sldImg"/>
          </p:nvPr>
        </p:nvSpPr>
        <p:spPr>
          <a:prstGeom prst="rect">
            <a:avLst/>
          </a:prstGeom>
        </p:spPr>
        <p:txBody>
          <a:bodyPr/>
          <a:lstStyle/>
          <a:p>
            <a:pPr/>
          </a:p>
        </p:txBody>
      </p:sp>
      <p:sp>
        <p:nvSpPr>
          <p:cNvPr id="63" name="Shape 63"/>
          <p:cNvSpPr/>
          <p:nvPr>
            <p:ph type="body" sz="quarter" idx="1"/>
          </p:nvPr>
        </p:nvSpPr>
        <p:spPr>
          <a:prstGeom prst="rect">
            <a:avLst/>
          </a:prstGeom>
        </p:spPr>
        <p:txBody>
          <a:bodyPr/>
          <a:lstStyle/>
          <a:p>
            <a:pPr/>
            <a:r>
              <a:t>DO NOW — 5 minutes. Six clicks, one answer each.</a:t>
            </a:r>
          </a:p>
          <a:p>
            <a:pPr/>
          </a:p>
          <a:p>
            <a:pPr/>
            <a:r>
              <a:t>Q1 is Lesson 1. Q2 and Q3 are Lesson 2. If Q3 is shaky, fix it now — today doubles the number of chances to lose a sign.</a:t>
            </a:r>
          </a:p>
          <a:p>
            <a:pPr/>
          </a:p>
          <a:p>
            <a:pPr/>
            <a:r>
              <a:t>Q4 catches anyone still writing 2x for x × x.</a:t>
            </a:r>
          </a:p>
          <a:p>
            <a:pPr/>
          </a:p>
          <a:p>
            <a:pPr/>
            <a:r>
              <a:t>Q5 mixes letters and plain numbers, which is exactly what today’s answers look like.</a:t>
            </a:r>
          </a:p>
          <a:p>
            <a:pPr/>
          </a:p>
          <a:p>
            <a:pPr/>
            <a:r>
              <a:t>Q6 IS THE LESSON. Do not settle it. Collect answers on the board — expect 6x + 6, 2x + 6 + 4x left unfinished, and 6x + 10. Come back to it on slide 4.</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 name="Shape 87"/>
          <p:cNvSpPr/>
          <p:nvPr>
            <p:ph type="sldImg"/>
          </p:nvPr>
        </p:nvSpPr>
        <p:spPr>
          <a:prstGeom prst="rect">
            <a:avLst/>
          </a:prstGeom>
        </p:spPr>
        <p:txBody>
          <a:bodyPr/>
          <a:lstStyle/>
          <a:p>
            <a:pPr/>
          </a:p>
        </p:txBody>
      </p:sp>
      <p:sp>
        <p:nvSpPr>
          <p:cNvPr id="88" name="Shape 88"/>
          <p:cNvSpPr/>
          <p:nvPr>
            <p:ph type="body" sz="quarter" idx="1"/>
          </p:nvPr>
        </p:nvSpPr>
        <p:spPr>
          <a:prstGeom prst="rect">
            <a:avLst/>
          </a:prstGeom>
        </p:spPr>
        <p:txBody>
          <a:bodyPr/>
          <a:lstStyle/>
          <a:p>
            <a:pPr/>
            <a:r>
              <a:t>TODAY — 1 minute. Four clicks. Goal 3 is the hard one and they will find out why on slide 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Shape 107"/>
          <p:cNvSpPr/>
          <p:nvPr>
            <p:ph type="sldImg"/>
          </p:nvPr>
        </p:nvSpPr>
        <p:spPr>
          <a:prstGeom prst="rect">
            <a:avLst/>
          </a:prstGeom>
        </p:spPr>
        <p:txBody>
          <a:bodyPr/>
          <a:lstStyle/>
          <a:p>
            <a:pPr/>
          </a:p>
        </p:txBody>
      </p:sp>
      <p:sp>
        <p:nvSpPr>
          <p:cNvPr id="108" name="Shape 108"/>
          <p:cNvSpPr/>
          <p:nvPr>
            <p:ph type="body" sz="quarter" idx="1"/>
          </p:nvPr>
        </p:nvSpPr>
        <p:spPr>
          <a:prstGeom prst="rect">
            <a:avLst/>
          </a:prstGeom>
        </p:spPr>
        <p:txBody>
          <a:bodyPr/>
          <a:lstStyle/>
          <a:p>
            <a:pPr/>
            <a:r>
              <a:t>HOOK — 4 minutes. Four clicks: the question, then the three options.</a:t>
            </a:r>
          </a:p>
          <a:p>
            <a:pPr/>
          </a:p>
          <a:p>
            <a:pPr/>
            <a:r>
              <a:t>Take the vote and tally it on the board.</a:t>
            </a:r>
          </a:p>
          <a:p>
            <a:pPr/>
          </a:p>
          <a:p>
            <a:pPr/>
            <a:r>
              <a:t>ANSWER (slide 9, not now): B.</a:t>
            </a:r>
          </a:p>
          <a:p>
            <a:pPr/>
          </a:p>
          <a:p>
            <a:pPr/>
            <a:r>
              <a:t>A is the Lesson 2 error walking back in: the 3 never got to the 2.</a:t>
            </a:r>
          </a:p>
          <a:p>
            <a:pPr/>
          </a:p>
          <a:p>
            <a:pPr/>
            <a:r>
              <a:t>C is half-finished. It is not wrong, it is just not an answer yet — and that is a useful thing to say out loud, because plenty of students stop there.</a:t>
            </a:r>
          </a:p>
          <a:p>
            <a:pPr/>
          </a:p>
          <a:p>
            <a:pPr/>
            <a:r>
              <a:t>THIS IS DO NOW Q6. Point at the board.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Shape 132"/>
          <p:cNvSpPr/>
          <p:nvPr>
            <p:ph type="sldImg"/>
          </p:nvPr>
        </p:nvSpPr>
        <p:spPr>
          <a:prstGeom prst="rect">
            <a:avLst/>
          </a:prstGeom>
        </p:spPr>
        <p:txBody>
          <a:bodyPr/>
          <a:lstStyle/>
          <a:p>
            <a:pPr/>
          </a:p>
        </p:txBody>
      </p:sp>
      <p:sp>
        <p:nvSpPr>
          <p:cNvPr id="133" name="Shape 133"/>
          <p:cNvSpPr/>
          <p:nvPr>
            <p:ph type="body" sz="quarter" idx="1"/>
          </p:nvPr>
        </p:nvSpPr>
        <p:spPr>
          <a:prstGeom prst="rect">
            <a:avLst/>
          </a:prstGeom>
        </p:spPr>
        <p:txBody>
          <a:bodyPr/>
          <a:lstStyle/>
          <a:p>
            <a:pPr/>
            <a:r>
              <a:t>I DO — 6 minutes. Nine clicks: each step's words then its maths, then the note.</a:t>
            </a:r>
          </a:p>
          <a:p>
            <a:pPr/>
          </a:p>
          <a:p>
            <a:pPr/>
            <a:r>
              <a:t>START FROM DO NOW Q6 on the board. This is the same question.</a:t>
            </a:r>
          </a:p>
          <a:p>
            <a:pPr/>
          </a:p>
          <a:p>
            <a:pPr/>
            <a:r>
              <a:t>STEP 2 LOOKS LIKE A WASTE OF A LINE and it is the step that stops the errors. Make them circle or underline the like terms in colour before collecting anything.</a:t>
            </a:r>
          </a:p>
          <a:p>
            <a:pPr/>
          </a:p>
          <a:p>
            <a:pPr/>
            <a:r>
              <a:t>THE 6 HAS NOTHING TO PAIR WITH. Say it. Students who expect everything to combine will try to force it into the x term.</a:t>
            </a:r>
          </a:p>
          <a:p>
            <a:pPr/>
          </a:p>
          <a:p>
            <a:pPr/>
            <a:r>
              <a:t>MODEL A SECOND ONE on the board with the same four steps: 5(a + 1) + 2a gives 7a + 5. Keep the colours.</a:t>
            </a:r>
          </a:p>
          <a:p>
            <a:pPr/>
          </a:p>
          <a:p>
            <a:pPr/>
            <a:r>
              <a:t>MISCONCEPTION: collecting before expanding. 3(x + 2) + 4x is not 3(5x + 2). The bracket has to go first.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Shape 157"/>
          <p:cNvSpPr/>
          <p:nvPr>
            <p:ph type="sldImg"/>
          </p:nvPr>
        </p:nvSpPr>
        <p:spPr>
          <a:prstGeom prst="rect">
            <a:avLst/>
          </a:prstGeom>
        </p:spPr>
        <p:txBody>
          <a:bodyPr/>
          <a:lstStyle/>
          <a:p>
            <a:pPr/>
          </a:p>
        </p:txBody>
      </p:sp>
      <p:sp>
        <p:nvSpPr>
          <p:cNvPr id="158" name="Shape 158"/>
          <p:cNvSpPr/>
          <p:nvPr>
            <p:ph type="body" sz="quarter" idx="1"/>
          </p:nvPr>
        </p:nvSpPr>
        <p:spPr>
          <a:prstGeom prst="rect">
            <a:avLst/>
          </a:prstGeom>
        </p:spPr>
        <p:txBody>
          <a:bodyPr/>
          <a:lstStyle/>
          <a:p>
            <a:pPr/>
            <a:r>
              <a:t>I DO — 6 minutes, the hardest block in the topic. Nine clicks.</a:t>
            </a:r>
          </a:p>
          <a:p>
            <a:pPr/>
          </a:p>
          <a:p>
            <a:pPr/>
            <a:r>
              <a:t>STEP 1 IS HIGHLIGHTED because it is the whole thing. The minus is not floating between the brackets; it belongs to the 2. Rewrite it on the board as 5(a + 3) + (−2)(a + 1) if that helps — ugly, and it works.</a:t>
            </a:r>
          </a:p>
          <a:p>
            <a:pPr/>
          </a:p>
          <a:p>
            <a:pPr/>
            <a:r>
              <a:t>THE ERROR TO EXPECT is 5a + 15 − 2a + 2. They multiply the a by −2 and then forget and multiply the 1 by +2.</a:t>
            </a:r>
          </a:p>
          <a:p>
            <a:pPr/>
          </a:p>
          <a:p>
            <a:pPr/>
            <a:r>
              <a:t>DO A NUMERICAL CHECK on the board, because it convinces them: put a = 4 into the original. 5 × 7 − 2 × 5 = 35 − 10 = 25. Now into 3a + 13: 12 + 13 = 25. Same. Then try it with the wrong answer 3a + 17 and watch it fail.</a:t>
            </a:r>
          </a:p>
          <a:p>
            <a:pPr/>
          </a:p>
          <a:p>
            <a:pPr/>
            <a:r>
              <a:t>THAT SUBSTITUTION CHECK is the most useful habit in this topic. Push it hard — the worksheet asks for it directly.</a:t>
            </a:r>
          </a:p>
          <a:p>
            <a:pPr/>
          </a:p>
          <a:p>
            <a:pPr/>
            <a:r>
              <a:t>IF THE ROOM IS STRUGGLING, stop after this slide and do three more like it together. Slide 7 can be cut.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hape 185"/>
          <p:cNvSpPr/>
          <p:nvPr>
            <p:ph type="sldImg"/>
          </p:nvPr>
        </p:nvSpPr>
        <p:spPr>
          <a:prstGeom prst="rect">
            <a:avLst/>
          </a:prstGeom>
        </p:spPr>
        <p:txBody>
          <a:bodyPr/>
          <a:lstStyle/>
          <a:p>
            <a:pPr/>
          </a:p>
        </p:txBody>
      </p:sp>
      <p:sp>
        <p:nvSpPr>
          <p:cNvPr id="186" name="Shape 186"/>
          <p:cNvSpPr/>
          <p:nvPr>
            <p:ph type="body" sz="quarter" idx="1"/>
          </p:nvPr>
        </p:nvSpPr>
        <p:spPr>
          <a:prstGeom prst="rect">
            <a:avLst/>
          </a:prstGeom>
        </p:spPr>
        <p:txBody>
          <a:bodyPr/>
          <a:lstStyle/>
          <a:p>
            <a:pPr/>
            <a:r>
              <a:t>WE DO — 5 minutes. Eight clicks: correct answer then diagnosis, row by row.</a:t>
            </a:r>
          </a:p>
          <a:p>
            <a:pPr/>
          </a:p>
          <a:p>
            <a:pPr/>
            <a:r>
              <a:t>THEY MUST SAY WHAT THE STUDENT DID. "It’s wrong" earns nothing. Naming the error is what stops them repeating it, and the worksheet asks for exactly this.</a:t>
            </a:r>
          </a:p>
          <a:p>
            <a:pPr/>
          </a:p>
          <a:p>
            <a:pPr/>
            <a:r>
              <a:t>ROW 1 is the hook answer A. Point at the tally.</a:t>
            </a:r>
          </a:p>
          <a:p>
            <a:pPr/>
          </a:p>
          <a:p>
            <a:pPr/>
            <a:r>
              <a:t>ROW 2 is the big one. Ask them to check it by substituting y = 2 into both: original gives 12 − 10 = 2, and 2y − 2 gives 2. The wrong answer gives 14.</a:t>
            </a:r>
          </a:p>
          <a:p>
            <a:pPr/>
          </a:p>
          <a:p>
            <a:pPr/>
            <a:r>
              <a:t>ROW 4: a bracket and a loose term, with a subtraction. Very common in tests.</a:t>
            </a:r>
          </a:p>
          <a:p>
            <a:pPr/>
          </a:p>
          <a:p>
            <a:pPr/>
            <a:r>
              <a:t>IF THEY ARE QUICK, ask them to write a wrong answer for a partner to diagnose.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Shape 221"/>
          <p:cNvSpPr/>
          <p:nvPr>
            <p:ph type="sldImg"/>
          </p:nvPr>
        </p:nvSpPr>
        <p:spPr>
          <a:prstGeom prst="rect">
            <a:avLst/>
          </a:prstGeom>
        </p:spPr>
        <p:txBody>
          <a:bodyPr/>
          <a:lstStyle/>
          <a:p>
            <a:pPr/>
          </a:p>
        </p:txBody>
      </p:sp>
      <p:sp>
        <p:nvSpPr>
          <p:cNvPr id="222" name="Shape 222"/>
          <p:cNvSpPr/>
          <p:nvPr>
            <p:ph type="body" sz="quarter" idx="1"/>
          </p:nvPr>
        </p:nvSpPr>
        <p:spPr>
          <a:prstGeom prst="rect">
            <a:avLst/>
          </a:prstGeom>
        </p:spPr>
        <p:txBody>
          <a:bodyPr/>
          <a:lstStyle/>
          <a:p>
            <a:pPr/>
            <a:r>
              <a:t>WE DO — 6 minutes. Six clicks. Boards up BEFORE you click.</a:t>
            </a:r>
          </a:p>
          <a:p>
            <a:pPr/>
          </a:p>
          <a:p>
            <a:pPr/>
            <a:r>
              <a:t>Q3: subtracting a single term, not a bracket. Easier than it looks and worth the confidence.</a:t>
            </a:r>
          </a:p>
          <a:p>
            <a:pPr/>
          </a:p>
          <a:p>
            <a:pPr/>
            <a:r>
              <a:t>Q4: two brackets, both added. Expect 7m + 11. Some will write 7m + 5 by only expanding one.</a:t>
            </a:r>
          </a:p>
          <a:p>
            <a:pPr/>
          </a:p>
          <a:p>
            <a:pPr/>
            <a:r>
              <a:t>Q5 AND Q6 are the ones that matter. Both have a minus in front of the second bracket.</a:t>
            </a:r>
          </a:p>
          <a:p>
            <a:pPr/>
          </a:p>
          <a:p>
            <a:pPr/>
            <a:r>
              <a:t>Q6 IS THE HARDEST on the slide: −3 × −4 = +12, so the answer goes UP. Expect 3k − 14. Give them longer, and get them to check it with k = 2 (original: 2 × 5 − 3 × −2 = 10 + 6 = 16; answer: 6 + 10 = 16).</a:t>
            </a:r>
          </a:p>
          <a:p>
            <a:pPr/>
          </a:p>
          <a:p>
            <a:pPr/>
            <a:r>
              <a:t>IF MOST OF THE ROOM IS RIGHT by Q4, set Q5 and Q6 as the first worksheet questions.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Shape 249"/>
          <p:cNvSpPr/>
          <p:nvPr>
            <p:ph type="sldImg"/>
          </p:nvPr>
        </p:nvSpPr>
        <p:spPr>
          <a:prstGeom prst="rect">
            <a:avLst/>
          </a:prstGeom>
        </p:spPr>
        <p:txBody>
          <a:bodyPr/>
          <a:lstStyle/>
          <a:p>
            <a:pPr/>
          </a:p>
        </p:txBody>
      </p:sp>
      <p:sp>
        <p:nvSpPr>
          <p:cNvPr id="250" name="Shape 250"/>
          <p:cNvSpPr/>
          <p:nvPr>
            <p:ph type="body" sz="quarter" idx="1"/>
          </p:nvPr>
        </p:nvSpPr>
        <p:spPr>
          <a:prstGeom prst="rect">
            <a:avLst/>
          </a:prstGeom>
        </p:spPr>
        <p:txBody>
          <a:bodyPr/>
          <a:lstStyle/>
          <a:p>
            <a:pPr/>
            <a:r>
              <a:t>YOU DO — 14 minutes. Four clicks.</a:t>
            </a:r>
          </a:p>
          <a:p>
            <a:pPr/>
          </a:p>
          <a:p>
            <a:pPr/>
            <a:r>
              <a:t>CIRCULATE WITH ONE QUESTION: "where did the minus go?"</a:t>
            </a:r>
          </a:p>
          <a:p>
            <a:pPr/>
          </a:p>
          <a:p>
            <a:pPr/>
            <a:r>
              <a:t>THE SUBSTITUTION CHECK makes them independent of you. Push it on every student who says "is this right?"</a:t>
            </a:r>
          </a:p>
          <a:p>
            <a:pPr/>
          </a:p>
          <a:p>
            <a:pPr/>
            <a:r>
              <a:t>WHERE THEY WILL STALL: the reverse-engineering questions in Silver, and the counterexample questions in Gold. Both are meant to be hard.</a:t>
            </a:r>
          </a:p>
          <a:p>
            <a:pPr/>
          </a:p>
          <a:p>
            <a:pPr/>
            <a:r>
              <a:t>THE STRETCH SECTION at the end is genuinely nasty. Nobody is expected to finish it.</a:t>
            </a:r>
          </a:p>
          <a:p>
            <a:pPr/>
          </a:p>
          <a:p>
            <a:pPr/>
            <a:r>
              <a:t>AT 3 MINUTES REMAINING, stop them. The plenary settles the hook.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hape 282"/>
          <p:cNvSpPr/>
          <p:nvPr>
            <p:ph type="sldImg"/>
          </p:nvPr>
        </p:nvSpPr>
        <p:spPr>
          <a:prstGeom prst="rect">
            <a:avLst/>
          </a:prstGeom>
        </p:spPr>
        <p:txBody>
          <a:bodyPr/>
          <a:lstStyle/>
          <a:p>
            <a:pPr/>
          </a:p>
        </p:txBody>
      </p:sp>
      <p:sp>
        <p:nvSpPr>
          <p:cNvPr id="283" name="Shape 283"/>
          <p:cNvSpPr/>
          <p:nvPr>
            <p:ph type="body" sz="quarter" idx="1"/>
          </p:nvPr>
        </p:nvSpPr>
        <p:spPr>
          <a:prstGeom prst="rect">
            <a:avLst/>
          </a:prstGeom>
        </p:spPr>
        <p:txBody>
          <a:bodyPr/>
          <a:lstStyle/>
          <a:p>
            <a:pPr/>
            <a:r>
              <a:t>PLENARY — 3 minutes. Eleven clicks.</a:t>
            </a:r>
          </a:p>
          <a:p>
            <a:pPr/>
          </a:p>
          <a:p>
            <a:pPr/>
            <a:r>
              <a:t>Q2 SETTLES THE HOOK. Go back to the tally first.</a:t>
            </a:r>
          </a:p>
          <a:p>
            <a:pPr/>
          </a:p>
          <a:p>
            <a:pPr/>
            <a:r>
              <a:t>Q5 IS THE ONE TO WATCH. A bracket with nothing written in front of it still has an invisible 1, and the minus applies to everything inside. If the room splits here, it is the first thing to reteach.</a:t>
            </a:r>
          </a:p>
          <a:p>
            <a:pPr/>
          </a:p>
          <a:p>
            <a:pPr/>
            <a:r>
              <a:t>Every FALSE is a misconception from the last three lessons.</a:t>
            </a:r>
          </a:p>
          <a:p>
            <a:pPr/>
          </a:p>
          <a:p>
            <a:pPr/>
            <a:r>
              <a:t>STOP HERE.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370012" y="577453"/>
            <a:ext cx="7315201" cy="125134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5103812" y="1828800"/>
            <a:ext cx="3581401" cy="33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294581" y="4643112"/>
            <a:ext cx="258621" cy="248302"/>
          </a:xfrm>
          <a:prstGeom prst="rect">
            <a:avLst/>
          </a:prstGeom>
          <a:ln w="12700">
            <a:miter lim="400000"/>
          </a:ln>
        </p:spPr>
        <p:txBody>
          <a:bodyPr wrap="none" lIns="45718" tIns="45718" rIns="45718" bIns="45718"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tif"/></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2" name="phase_pill"/>
          <p:cNvGrpSpPr/>
          <p:nvPr/>
        </p:nvGrpSpPr>
        <p:grpSpPr>
          <a:xfrm>
            <a:off x="548640" y="274320"/>
            <a:ext cx="1481332" cy="292613"/>
            <a:chOff x="0" y="0"/>
            <a:chExt cx="1481330" cy="292612"/>
          </a:xfrm>
        </p:grpSpPr>
        <p:sp>
          <p:nvSpPr>
            <p:cNvPr id="20" name="Rounded Rectangle"/>
            <p:cNvSpPr/>
            <p:nvPr/>
          </p:nvSpPr>
          <p:spPr>
            <a:xfrm>
              <a:off x="0" y="0"/>
              <a:ext cx="1481332" cy="292613"/>
            </a:xfrm>
            <a:prstGeom prst="roundRect">
              <a:avLst>
                <a:gd name="adj" fmla="val 50000"/>
              </a:avLst>
            </a:prstGeom>
            <a:solidFill>
              <a:srgbClr val="2B2350"/>
            </a:solidFill>
            <a:ln w="12700" cap="flat">
              <a:noFill/>
              <a:miter lim="400000"/>
            </a:ln>
            <a:effectLst/>
          </p:spPr>
          <p:txBody>
            <a:bodyPr wrap="square" lIns="45718" tIns="45718" rIns="45718" bIns="45718" numCol="1" anchor="ctr">
              <a:noAutofit/>
            </a:bodyPr>
            <a:lstStyle/>
            <a:p>
              <a:pPr algn="ctr">
                <a:defRPr sz="900"/>
              </a:pPr>
            </a:p>
          </p:txBody>
        </p:sp>
        <p:sp>
          <p:nvSpPr>
            <p:cNvPr id="21" name="DO NOW · 5 MIN"/>
            <p:cNvSpPr txBox="1"/>
            <p:nvPr/>
          </p:nvSpPr>
          <p:spPr>
            <a:xfrm>
              <a:off x="42850" y="82804"/>
              <a:ext cx="1395631"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DO NOW · 5 MIN</a:t>
              </a:r>
            </a:p>
          </p:txBody>
        </p:sp>
      </p:grpSp>
      <p:sp>
        <p:nvSpPr>
          <p:cNvPr id="23" name="lesson_title"/>
          <p:cNvSpPr txBox="1"/>
          <p:nvPr/>
        </p:nvSpPr>
        <p:spPr>
          <a:xfrm>
            <a:off x="2194560" y="226568"/>
            <a:ext cx="475488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800">
                <a:solidFill>
                  <a:srgbClr val="2B2350"/>
                </a:solidFill>
                <a:latin typeface="Georgia"/>
                <a:ea typeface="Georgia"/>
                <a:cs typeface="Georgia"/>
                <a:sym typeface="Georgia"/>
              </a:defRPr>
            </a:lvl1pPr>
          </a:lstStyle>
          <a:p>
            <a:pPr/>
            <a:r>
              <a:t>Expand and simplify</a:t>
            </a:r>
          </a:p>
        </p:txBody>
      </p:sp>
      <p:sp>
        <p:nvSpPr>
          <p:cNvPr id="24" name="lesson_date"/>
          <p:cNvSpPr txBox="1"/>
          <p:nvPr/>
        </p:nvSpPr>
        <p:spPr>
          <a:xfrm>
            <a:off x="5760720" y="334214"/>
            <a:ext cx="2834643"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5E5A70"/>
                </a:solidFill>
                <a:latin typeface="Arial"/>
                <a:ea typeface="Arial"/>
                <a:cs typeface="Arial"/>
                <a:sym typeface="Arial"/>
              </a:defRPr>
            </a:lvl1pPr>
          </a:lstStyle>
          <a:p>
            <a:pPr/>
            <a:r>
              <a:t>Friday 18 September 2026</a:t>
            </a:r>
          </a:p>
        </p:txBody>
      </p:sp>
      <p:sp>
        <p:nvSpPr>
          <p:cNvPr id="25" name="rule"/>
          <p:cNvSpPr/>
          <p:nvPr/>
        </p:nvSpPr>
        <p:spPr>
          <a:xfrm>
            <a:off x="548640" y="786383"/>
            <a:ext cx="8046719" cy="32005"/>
          </a:xfrm>
          <a:prstGeom prst="rect">
            <a:avLst/>
          </a:prstGeom>
          <a:solidFill>
            <a:srgbClr val="E85D4A"/>
          </a:solidFill>
          <a:ln w="12700">
            <a:solidFill>
              <a:srgbClr val="E85D4A"/>
            </a:solidFill>
          </a:ln>
        </p:spPr>
        <p:txBody>
          <a:bodyPr lIns="45718" tIns="45718" rIns="45718" bIns="45718"/>
          <a:lstStyle/>
          <a:p>
            <a:pPr/>
          </a:p>
        </p:txBody>
      </p:sp>
      <p:sp>
        <p:nvSpPr>
          <p:cNvPr id="26" name="d0_bg"/>
          <p:cNvSpPr/>
          <p:nvPr/>
        </p:nvSpPr>
        <p:spPr>
          <a:xfrm>
            <a:off x="548640" y="932688"/>
            <a:ext cx="3913633" cy="1261875"/>
          </a:xfrm>
          <a:prstGeom prst="roundRect">
            <a:avLst>
              <a:gd name="adj" fmla="val 4348"/>
            </a:avLst>
          </a:prstGeom>
          <a:solidFill>
            <a:srgbClr val="F2F0F8"/>
          </a:solidFill>
          <a:ln w="12700">
            <a:solidFill>
              <a:srgbClr val="F2F0F8"/>
            </a:solidFill>
          </a:ln>
        </p:spPr>
        <p:txBody>
          <a:bodyPr lIns="45718" tIns="45718" rIns="45718" bIns="45718"/>
          <a:lstStyle/>
          <a:p>
            <a:pPr/>
          </a:p>
        </p:txBody>
      </p:sp>
      <p:sp>
        <p:nvSpPr>
          <p:cNvPr id="27" name="d0_n"/>
          <p:cNvSpPr txBox="1"/>
          <p:nvPr/>
        </p:nvSpPr>
        <p:spPr>
          <a:xfrm>
            <a:off x="713230" y="1094738"/>
            <a:ext cx="365764"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E85D4A"/>
                </a:solidFill>
                <a:latin typeface="Georgia"/>
                <a:ea typeface="Georgia"/>
                <a:cs typeface="Georgia"/>
                <a:sym typeface="Georgia"/>
              </a:defRPr>
            </a:lvl1pPr>
          </a:lstStyle>
          <a:p>
            <a:pPr/>
            <a:r>
              <a:t>1</a:t>
            </a:r>
          </a:p>
        </p:txBody>
      </p:sp>
      <p:sp>
        <p:nvSpPr>
          <p:cNvPr id="28" name="d0_q"/>
          <p:cNvSpPr txBox="1"/>
          <p:nvPr/>
        </p:nvSpPr>
        <p:spPr>
          <a:xfrm>
            <a:off x="1152143" y="1190886"/>
            <a:ext cx="312725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Simplify 4a + 3a − a</a:t>
            </a:r>
          </a:p>
        </p:txBody>
      </p:sp>
      <p:grpSp>
        <p:nvGrpSpPr>
          <p:cNvPr id="31" name="d0_a"/>
          <p:cNvGrpSpPr/>
          <p:nvPr/>
        </p:nvGrpSpPr>
        <p:grpSpPr>
          <a:xfrm>
            <a:off x="713229" y="1664204"/>
            <a:ext cx="3584455" cy="402342"/>
            <a:chOff x="0" y="-1"/>
            <a:chExt cx="3584454" cy="402341"/>
          </a:xfrm>
        </p:grpSpPr>
        <p:sp>
          <p:nvSpPr>
            <p:cNvPr id="29" name="Rounded Rectangle"/>
            <p:cNvSpPr/>
            <p:nvPr/>
          </p:nvSpPr>
          <p:spPr>
            <a:xfrm>
              <a:off x="-1" y="-2"/>
              <a:ext cx="3584455" cy="402343"/>
            </a:xfrm>
            <a:prstGeom prst="roundRect">
              <a:avLst>
                <a:gd name="adj" fmla="val 20455"/>
              </a:avLst>
            </a:prstGeom>
            <a:solidFill>
              <a:srgbClr val="FDEEDC"/>
            </a:solidFill>
            <a:ln w="15240" cap="flat">
              <a:solidFill>
                <a:srgbClr val="E85D4A"/>
              </a:solidFill>
              <a:prstDash val="solid"/>
              <a:round/>
            </a:ln>
            <a:effectLst/>
          </p:spPr>
          <p:txBody>
            <a:bodyPr wrap="square" lIns="45718" tIns="45718" rIns="45718" bIns="45718" numCol="1" anchor="ctr">
              <a:noAutofit/>
            </a:bodyPr>
            <a:lstStyle/>
            <a:p>
              <a:pPr>
                <a:defRPr sz="1200"/>
              </a:pPr>
            </a:p>
          </p:txBody>
        </p:sp>
        <p:sp>
          <p:nvSpPr>
            <p:cNvPr id="30" name="6a"/>
            <p:cNvSpPr txBox="1"/>
            <p:nvPr/>
          </p:nvSpPr>
          <p:spPr>
            <a:xfrm>
              <a:off x="31723" y="113744"/>
              <a:ext cx="3521006" cy="1748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6a</a:t>
              </a:r>
            </a:p>
          </p:txBody>
        </p:sp>
      </p:grpSp>
      <p:sp>
        <p:nvSpPr>
          <p:cNvPr id="32" name="d1_bg"/>
          <p:cNvSpPr/>
          <p:nvPr/>
        </p:nvSpPr>
        <p:spPr>
          <a:xfrm>
            <a:off x="4681728" y="932688"/>
            <a:ext cx="3913635" cy="1261875"/>
          </a:xfrm>
          <a:prstGeom prst="roundRect">
            <a:avLst>
              <a:gd name="adj" fmla="val 4348"/>
            </a:avLst>
          </a:prstGeom>
          <a:solidFill>
            <a:srgbClr val="F2F0F8"/>
          </a:solidFill>
          <a:ln w="12700">
            <a:solidFill>
              <a:srgbClr val="F2F0F8"/>
            </a:solidFill>
          </a:ln>
        </p:spPr>
        <p:txBody>
          <a:bodyPr lIns="45718" tIns="45718" rIns="45718" bIns="45718"/>
          <a:lstStyle/>
          <a:p>
            <a:pPr/>
          </a:p>
        </p:txBody>
      </p:sp>
      <p:sp>
        <p:nvSpPr>
          <p:cNvPr id="33" name="d1_n"/>
          <p:cNvSpPr txBox="1"/>
          <p:nvPr/>
        </p:nvSpPr>
        <p:spPr>
          <a:xfrm>
            <a:off x="4846320" y="1094738"/>
            <a:ext cx="365763"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E85D4A"/>
                </a:solidFill>
                <a:latin typeface="Georgia"/>
                <a:ea typeface="Georgia"/>
                <a:cs typeface="Georgia"/>
                <a:sym typeface="Georgia"/>
              </a:defRPr>
            </a:lvl1pPr>
          </a:lstStyle>
          <a:p>
            <a:pPr/>
            <a:r>
              <a:t>2</a:t>
            </a:r>
          </a:p>
        </p:txBody>
      </p:sp>
      <p:sp>
        <p:nvSpPr>
          <p:cNvPr id="34" name="d1_q"/>
          <p:cNvSpPr txBox="1"/>
          <p:nvPr/>
        </p:nvSpPr>
        <p:spPr>
          <a:xfrm>
            <a:off x="5285232" y="1190886"/>
            <a:ext cx="3127251"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Expand 3(x + 5)</a:t>
            </a:r>
          </a:p>
        </p:txBody>
      </p:sp>
      <p:grpSp>
        <p:nvGrpSpPr>
          <p:cNvPr id="37" name="d1_a"/>
          <p:cNvGrpSpPr/>
          <p:nvPr/>
        </p:nvGrpSpPr>
        <p:grpSpPr>
          <a:xfrm>
            <a:off x="4846319" y="1664204"/>
            <a:ext cx="3584452" cy="402342"/>
            <a:chOff x="0" y="-1"/>
            <a:chExt cx="3584450" cy="402341"/>
          </a:xfrm>
        </p:grpSpPr>
        <p:sp>
          <p:nvSpPr>
            <p:cNvPr id="35" name="Rounded Rectangle"/>
            <p:cNvSpPr/>
            <p:nvPr/>
          </p:nvSpPr>
          <p:spPr>
            <a:xfrm>
              <a:off x="-1" y="-2"/>
              <a:ext cx="3584452" cy="402343"/>
            </a:xfrm>
            <a:prstGeom prst="roundRect">
              <a:avLst>
                <a:gd name="adj" fmla="val 20455"/>
              </a:avLst>
            </a:prstGeom>
            <a:solidFill>
              <a:srgbClr val="FDEEDC"/>
            </a:solidFill>
            <a:ln w="15240" cap="flat">
              <a:solidFill>
                <a:srgbClr val="E85D4A"/>
              </a:solidFill>
              <a:prstDash val="solid"/>
              <a:round/>
            </a:ln>
            <a:effectLst/>
          </p:spPr>
          <p:txBody>
            <a:bodyPr wrap="square" lIns="45718" tIns="45718" rIns="45718" bIns="45718" numCol="1" anchor="ctr">
              <a:noAutofit/>
            </a:bodyPr>
            <a:lstStyle/>
            <a:p>
              <a:pPr>
                <a:defRPr sz="1200"/>
              </a:pPr>
            </a:p>
          </p:txBody>
        </p:sp>
        <p:sp>
          <p:nvSpPr>
            <p:cNvPr id="36" name="3x + 15"/>
            <p:cNvSpPr txBox="1"/>
            <p:nvPr/>
          </p:nvSpPr>
          <p:spPr>
            <a:xfrm>
              <a:off x="31724" y="113744"/>
              <a:ext cx="3521002" cy="1748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3x + 15</a:t>
              </a:r>
            </a:p>
          </p:txBody>
        </p:sp>
      </p:grpSp>
      <p:sp>
        <p:nvSpPr>
          <p:cNvPr id="38" name="d2_bg"/>
          <p:cNvSpPr/>
          <p:nvPr/>
        </p:nvSpPr>
        <p:spPr>
          <a:xfrm>
            <a:off x="548640" y="2313432"/>
            <a:ext cx="3913633" cy="1261875"/>
          </a:xfrm>
          <a:prstGeom prst="roundRect">
            <a:avLst>
              <a:gd name="adj" fmla="val 4348"/>
            </a:avLst>
          </a:prstGeom>
          <a:solidFill>
            <a:srgbClr val="F2F0F8"/>
          </a:solidFill>
          <a:ln w="12700">
            <a:solidFill>
              <a:srgbClr val="F2F0F8"/>
            </a:solidFill>
          </a:ln>
        </p:spPr>
        <p:txBody>
          <a:bodyPr lIns="45718" tIns="45718" rIns="45718" bIns="45718"/>
          <a:lstStyle/>
          <a:p>
            <a:pPr/>
          </a:p>
        </p:txBody>
      </p:sp>
      <p:sp>
        <p:nvSpPr>
          <p:cNvPr id="39" name="d2_n"/>
          <p:cNvSpPr txBox="1"/>
          <p:nvPr/>
        </p:nvSpPr>
        <p:spPr>
          <a:xfrm>
            <a:off x="713230" y="2475483"/>
            <a:ext cx="365764"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E85D4A"/>
                </a:solidFill>
                <a:latin typeface="Georgia"/>
                <a:ea typeface="Georgia"/>
                <a:cs typeface="Georgia"/>
                <a:sym typeface="Georgia"/>
              </a:defRPr>
            </a:lvl1pPr>
          </a:lstStyle>
          <a:p>
            <a:pPr/>
            <a:r>
              <a:t>3</a:t>
            </a:r>
          </a:p>
        </p:txBody>
      </p:sp>
      <p:sp>
        <p:nvSpPr>
          <p:cNvPr id="40" name="d2_q"/>
          <p:cNvSpPr txBox="1"/>
          <p:nvPr/>
        </p:nvSpPr>
        <p:spPr>
          <a:xfrm>
            <a:off x="1152143" y="2571631"/>
            <a:ext cx="312725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Expand −2(y + 4)</a:t>
            </a:r>
          </a:p>
        </p:txBody>
      </p:sp>
      <p:grpSp>
        <p:nvGrpSpPr>
          <p:cNvPr id="43" name="d2_a"/>
          <p:cNvGrpSpPr/>
          <p:nvPr/>
        </p:nvGrpSpPr>
        <p:grpSpPr>
          <a:xfrm>
            <a:off x="713229" y="3044948"/>
            <a:ext cx="3584455" cy="402343"/>
            <a:chOff x="0" y="-1"/>
            <a:chExt cx="3584454" cy="402341"/>
          </a:xfrm>
        </p:grpSpPr>
        <p:sp>
          <p:nvSpPr>
            <p:cNvPr id="41" name="Rounded Rectangle"/>
            <p:cNvSpPr/>
            <p:nvPr/>
          </p:nvSpPr>
          <p:spPr>
            <a:xfrm>
              <a:off x="-1" y="-2"/>
              <a:ext cx="3584455" cy="402343"/>
            </a:xfrm>
            <a:prstGeom prst="roundRect">
              <a:avLst>
                <a:gd name="adj" fmla="val 20455"/>
              </a:avLst>
            </a:prstGeom>
            <a:solidFill>
              <a:srgbClr val="FDEEDC"/>
            </a:solidFill>
            <a:ln w="15240" cap="flat">
              <a:solidFill>
                <a:srgbClr val="E85D4A"/>
              </a:solidFill>
              <a:prstDash val="solid"/>
              <a:round/>
            </a:ln>
            <a:effectLst/>
          </p:spPr>
          <p:txBody>
            <a:bodyPr wrap="square" lIns="45718" tIns="45718" rIns="45718" bIns="45718" numCol="1" anchor="ctr">
              <a:noAutofit/>
            </a:bodyPr>
            <a:lstStyle/>
            <a:p>
              <a:pPr>
                <a:defRPr sz="1200"/>
              </a:pPr>
            </a:p>
          </p:txBody>
        </p:sp>
        <p:sp>
          <p:nvSpPr>
            <p:cNvPr id="42" name="−2y − 8"/>
            <p:cNvSpPr txBox="1"/>
            <p:nvPr/>
          </p:nvSpPr>
          <p:spPr>
            <a:xfrm>
              <a:off x="31723" y="113744"/>
              <a:ext cx="3521006" cy="1748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−2y − 8</a:t>
              </a:r>
            </a:p>
          </p:txBody>
        </p:sp>
      </p:grpSp>
      <p:sp>
        <p:nvSpPr>
          <p:cNvPr id="44" name="d3_bg"/>
          <p:cNvSpPr/>
          <p:nvPr/>
        </p:nvSpPr>
        <p:spPr>
          <a:xfrm>
            <a:off x="4681728" y="2313432"/>
            <a:ext cx="3913635" cy="1261875"/>
          </a:xfrm>
          <a:prstGeom prst="roundRect">
            <a:avLst>
              <a:gd name="adj" fmla="val 4348"/>
            </a:avLst>
          </a:prstGeom>
          <a:solidFill>
            <a:srgbClr val="F2F0F8"/>
          </a:solidFill>
          <a:ln w="12700">
            <a:solidFill>
              <a:srgbClr val="F2F0F8"/>
            </a:solidFill>
          </a:ln>
        </p:spPr>
        <p:txBody>
          <a:bodyPr lIns="45718" tIns="45718" rIns="45718" bIns="45718"/>
          <a:lstStyle/>
          <a:p>
            <a:pPr/>
          </a:p>
        </p:txBody>
      </p:sp>
      <p:sp>
        <p:nvSpPr>
          <p:cNvPr id="45" name="d3_n"/>
          <p:cNvSpPr txBox="1"/>
          <p:nvPr/>
        </p:nvSpPr>
        <p:spPr>
          <a:xfrm>
            <a:off x="4846320" y="2475483"/>
            <a:ext cx="365763"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E85D4A"/>
                </a:solidFill>
                <a:latin typeface="Georgia"/>
                <a:ea typeface="Georgia"/>
                <a:cs typeface="Georgia"/>
                <a:sym typeface="Georgia"/>
              </a:defRPr>
            </a:lvl1pPr>
          </a:lstStyle>
          <a:p>
            <a:pPr/>
            <a:r>
              <a:t>4</a:t>
            </a:r>
          </a:p>
        </p:txBody>
      </p:sp>
      <p:sp>
        <p:nvSpPr>
          <p:cNvPr id="46" name="d3_q"/>
          <p:cNvSpPr txBox="1"/>
          <p:nvPr/>
        </p:nvSpPr>
        <p:spPr>
          <a:xfrm>
            <a:off x="5285232" y="2571631"/>
            <a:ext cx="3127251"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What is x × x?</a:t>
            </a:r>
          </a:p>
        </p:txBody>
      </p:sp>
      <p:grpSp>
        <p:nvGrpSpPr>
          <p:cNvPr id="49" name="d3_a"/>
          <p:cNvGrpSpPr/>
          <p:nvPr/>
        </p:nvGrpSpPr>
        <p:grpSpPr>
          <a:xfrm>
            <a:off x="4846319" y="3044948"/>
            <a:ext cx="3584452" cy="402343"/>
            <a:chOff x="0" y="-1"/>
            <a:chExt cx="3584450" cy="402341"/>
          </a:xfrm>
        </p:grpSpPr>
        <p:sp>
          <p:nvSpPr>
            <p:cNvPr id="47" name="Rounded Rectangle"/>
            <p:cNvSpPr/>
            <p:nvPr/>
          </p:nvSpPr>
          <p:spPr>
            <a:xfrm>
              <a:off x="-1" y="-2"/>
              <a:ext cx="3584452" cy="402343"/>
            </a:xfrm>
            <a:prstGeom prst="roundRect">
              <a:avLst>
                <a:gd name="adj" fmla="val 20455"/>
              </a:avLst>
            </a:prstGeom>
            <a:solidFill>
              <a:srgbClr val="FDEEDC"/>
            </a:solidFill>
            <a:ln w="15240" cap="flat">
              <a:solidFill>
                <a:srgbClr val="E85D4A"/>
              </a:solidFill>
              <a:prstDash val="solid"/>
              <a:round/>
            </a:ln>
            <a:effectLst/>
          </p:spPr>
          <p:txBody>
            <a:bodyPr wrap="square" lIns="45718" tIns="45718" rIns="45718" bIns="45718" numCol="1" anchor="ctr">
              <a:noAutofit/>
            </a:bodyPr>
            <a:lstStyle/>
            <a:p>
              <a:pPr>
                <a:defRPr sz="1200"/>
              </a:pPr>
            </a:p>
          </p:txBody>
        </p:sp>
        <p:sp>
          <p:nvSpPr>
            <p:cNvPr id="48" name="x²"/>
            <p:cNvSpPr txBox="1"/>
            <p:nvPr/>
          </p:nvSpPr>
          <p:spPr>
            <a:xfrm>
              <a:off x="31724" y="113744"/>
              <a:ext cx="3521002" cy="1748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x²</a:t>
              </a:r>
            </a:p>
          </p:txBody>
        </p:sp>
      </p:grpSp>
      <p:sp>
        <p:nvSpPr>
          <p:cNvPr id="50" name="d4_bg"/>
          <p:cNvSpPr/>
          <p:nvPr/>
        </p:nvSpPr>
        <p:spPr>
          <a:xfrm>
            <a:off x="548640" y="3694176"/>
            <a:ext cx="3913633" cy="1261875"/>
          </a:xfrm>
          <a:prstGeom prst="roundRect">
            <a:avLst>
              <a:gd name="adj" fmla="val 4348"/>
            </a:avLst>
          </a:prstGeom>
          <a:solidFill>
            <a:srgbClr val="F2F0F8"/>
          </a:solidFill>
          <a:ln w="12700">
            <a:solidFill>
              <a:srgbClr val="F2F0F8"/>
            </a:solidFill>
          </a:ln>
        </p:spPr>
        <p:txBody>
          <a:bodyPr lIns="45718" tIns="45718" rIns="45718" bIns="45718"/>
          <a:lstStyle/>
          <a:p>
            <a:pPr/>
          </a:p>
        </p:txBody>
      </p:sp>
      <p:sp>
        <p:nvSpPr>
          <p:cNvPr id="51" name="d4_n"/>
          <p:cNvSpPr txBox="1"/>
          <p:nvPr/>
        </p:nvSpPr>
        <p:spPr>
          <a:xfrm>
            <a:off x="713230" y="3856225"/>
            <a:ext cx="365764"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E85D4A"/>
                </a:solidFill>
                <a:latin typeface="Georgia"/>
                <a:ea typeface="Georgia"/>
                <a:cs typeface="Georgia"/>
                <a:sym typeface="Georgia"/>
              </a:defRPr>
            </a:lvl1pPr>
          </a:lstStyle>
          <a:p>
            <a:pPr/>
            <a:r>
              <a:t>5</a:t>
            </a:r>
          </a:p>
        </p:txBody>
      </p:sp>
      <p:sp>
        <p:nvSpPr>
          <p:cNvPr id="52" name="d4_q"/>
          <p:cNvSpPr txBox="1"/>
          <p:nvPr/>
        </p:nvSpPr>
        <p:spPr>
          <a:xfrm>
            <a:off x="1152143" y="3952373"/>
            <a:ext cx="3127252" cy="2334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Simplify 5b + 2 + 3b − 7</a:t>
            </a:r>
          </a:p>
        </p:txBody>
      </p:sp>
      <p:grpSp>
        <p:nvGrpSpPr>
          <p:cNvPr id="55" name="d4_a"/>
          <p:cNvGrpSpPr/>
          <p:nvPr/>
        </p:nvGrpSpPr>
        <p:grpSpPr>
          <a:xfrm>
            <a:off x="713229" y="4425695"/>
            <a:ext cx="3584455" cy="402342"/>
            <a:chOff x="0" y="-1"/>
            <a:chExt cx="3584454" cy="402341"/>
          </a:xfrm>
        </p:grpSpPr>
        <p:sp>
          <p:nvSpPr>
            <p:cNvPr id="53" name="Rounded Rectangle"/>
            <p:cNvSpPr/>
            <p:nvPr/>
          </p:nvSpPr>
          <p:spPr>
            <a:xfrm>
              <a:off x="-1" y="-2"/>
              <a:ext cx="3584455" cy="402343"/>
            </a:xfrm>
            <a:prstGeom prst="roundRect">
              <a:avLst>
                <a:gd name="adj" fmla="val 20455"/>
              </a:avLst>
            </a:prstGeom>
            <a:solidFill>
              <a:srgbClr val="FDEEDC"/>
            </a:solidFill>
            <a:ln w="15240" cap="flat">
              <a:solidFill>
                <a:srgbClr val="E85D4A"/>
              </a:solidFill>
              <a:prstDash val="solid"/>
              <a:round/>
            </a:ln>
            <a:effectLst/>
          </p:spPr>
          <p:txBody>
            <a:bodyPr wrap="square" lIns="45718" tIns="45718" rIns="45718" bIns="45718" numCol="1" anchor="ctr">
              <a:noAutofit/>
            </a:bodyPr>
            <a:lstStyle/>
            <a:p>
              <a:pPr>
                <a:defRPr sz="1200"/>
              </a:pPr>
            </a:p>
          </p:txBody>
        </p:sp>
        <p:sp>
          <p:nvSpPr>
            <p:cNvPr id="54" name="8b − 5"/>
            <p:cNvSpPr txBox="1"/>
            <p:nvPr/>
          </p:nvSpPr>
          <p:spPr>
            <a:xfrm>
              <a:off x="31723" y="113744"/>
              <a:ext cx="3521006" cy="1748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8b − 5</a:t>
              </a:r>
            </a:p>
          </p:txBody>
        </p:sp>
      </p:grpSp>
      <p:sp>
        <p:nvSpPr>
          <p:cNvPr id="56" name="d5_bg"/>
          <p:cNvSpPr/>
          <p:nvPr/>
        </p:nvSpPr>
        <p:spPr>
          <a:xfrm>
            <a:off x="4681728" y="3694176"/>
            <a:ext cx="3913635" cy="1261875"/>
          </a:xfrm>
          <a:prstGeom prst="roundRect">
            <a:avLst>
              <a:gd name="adj" fmla="val 4348"/>
            </a:avLst>
          </a:prstGeom>
          <a:solidFill>
            <a:srgbClr val="F2F0F8"/>
          </a:solidFill>
          <a:ln w="12700">
            <a:solidFill>
              <a:srgbClr val="F2F0F8"/>
            </a:solidFill>
          </a:ln>
        </p:spPr>
        <p:txBody>
          <a:bodyPr lIns="45718" tIns="45718" rIns="45718" bIns="45718"/>
          <a:lstStyle/>
          <a:p>
            <a:pPr/>
          </a:p>
        </p:txBody>
      </p:sp>
      <p:sp>
        <p:nvSpPr>
          <p:cNvPr id="57" name="d5_n"/>
          <p:cNvSpPr txBox="1"/>
          <p:nvPr/>
        </p:nvSpPr>
        <p:spPr>
          <a:xfrm>
            <a:off x="4846320" y="3856225"/>
            <a:ext cx="365763"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E85D4A"/>
                </a:solidFill>
                <a:latin typeface="Georgia"/>
                <a:ea typeface="Georgia"/>
                <a:cs typeface="Georgia"/>
                <a:sym typeface="Georgia"/>
              </a:defRPr>
            </a:lvl1pPr>
          </a:lstStyle>
          <a:p>
            <a:pPr/>
            <a:r>
              <a:t>6</a:t>
            </a:r>
          </a:p>
        </p:txBody>
      </p:sp>
      <p:sp>
        <p:nvSpPr>
          <p:cNvPr id="58" name="d5_q"/>
          <p:cNvSpPr txBox="1"/>
          <p:nvPr/>
        </p:nvSpPr>
        <p:spPr>
          <a:xfrm>
            <a:off x="5285232" y="3831725"/>
            <a:ext cx="3127251"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Expand 2(x + 3), then add 4x. What do you get?</a:t>
            </a:r>
          </a:p>
        </p:txBody>
      </p:sp>
      <p:grpSp>
        <p:nvGrpSpPr>
          <p:cNvPr id="61" name="d5_a"/>
          <p:cNvGrpSpPr/>
          <p:nvPr/>
        </p:nvGrpSpPr>
        <p:grpSpPr>
          <a:xfrm>
            <a:off x="4846319" y="4425695"/>
            <a:ext cx="3584452" cy="402342"/>
            <a:chOff x="0" y="-1"/>
            <a:chExt cx="3584450" cy="402341"/>
          </a:xfrm>
        </p:grpSpPr>
        <p:sp>
          <p:nvSpPr>
            <p:cNvPr id="59" name="Rounded Rectangle"/>
            <p:cNvSpPr/>
            <p:nvPr/>
          </p:nvSpPr>
          <p:spPr>
            <a:xfrm>
              <a:off x="-1" y="-2"/>
              <a:ext cx="3584452" cy="402343"/>
            </a:xfrm>
            <a:prstGeom prst="roundRect">
              <a:avLst>
                <a:gd name="adj" fmla="val 20455"/>
              </a:avLst>
            </a:prstGeom>
            <a:solidFill>
              <a:srgbClr val="FDEEDC"/>
            </a:solidFill>
            <a:ln w="15240" cap="flat">
              <a:solidFill>
                <a:srgbClr val="E85D4A"/>
              </a:solidFill>
              <a:prstDash val="solid"/>
              <a:round/>
            </a:ln>
            <a:effectLst/>
          </p:spPr>
          <p:txBody>
            <a:bodyPr wrap="square" lIns="45718" tIns="45718" rIns="45718" bIns="45718" numCol="1" anchor="ctr">
              <a:noAutofit/>
            </a:bodyPr>
            <a:lstStyle/>
            <a:p>
              <a:pPr>
                <a:defRPr sz="1200"/>
              </a:pPr>
            </a:p>
          </p:txBody>
        </p:sp>
        <p:sp>
          <p:nvSpPr>
            <p:cNvPr id="60" name="6x + 6"/>
            <p:cNvSpPr txBox="1"/>
            <p:nvPr/>
          </p:nvSpPr>
          <p:spPr>
            <a:xfrm>
              <a:off x="31724" y="113744"/>
              <a:ext cx="3521002" cy="1748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6x + 6</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31"/>
                                        </p:tgtEl>
                                        <p:attrNameLst>
                                          <p:attrName>style.visibility</p:attrName>
                                        </p:attrNameLst>
                                      </p:cBhvr>
                                      <p:to>
                                        <p:strVal val="visible"/>
                                      </p:to>
                                    </p:set>
                                    <p:animEffect filter="wipe(left)" transition="in">
                                      <p:cBhvr>
                                        <p:cTn id="7" dur="4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37"/>
                                        </p:tgtEl>
                                        <p:attrNameLst>
                                          <p:attrName>style.visibility</p:attrName>
                                        </p:attrNameLst>
                                      </p:cBhvr>
                                      <p:to>
                                        <p:strVal val="visible"/>
                                      </p:to>
                                    </p:set>
                                    <p:animEffect filter="wipe(left)" transition="in">
                                      <p:cBhvr>
                                        <p:cTn id="12" dur="4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43"/>
                                        </p:tgtEl>
                                        <p:attrNameLst>
                                          <p:attrName>style.visibility</p:attrName>
                                        </p:attrNameLst>
                                      </p:cBhvr>
                                      <p:to>
                                        <p:strVal val="visible"/>
                                      </p:to>
                                    </p:set>
                                    <p:animEffect filter="wipe(left)" transition="in">
                                      <p:cBhvr>
                                        <p:cTn id="17" dur="4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49"/>
                                        </p:tgtEl>
                                        <p:attrNameLst>
                                          <p:attrName>style.visibility</p:attrName>
                                        </p:attrNameLst>
                                      </p:cBhvr>
                                      <p:to>
                                        <p:strVal val="visible"/>
                                      </p:to>
                                    </p:set>
                                    <p:animEffect filter="wipe(left)" transition="in">
                                      <p:cBhvr>
                                        <p:cTn id="22" dur="4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2" grpId="5" fill="hold">
                                  <p:stCondLst>
                                    <p:cond delay="0"/>
                                  </p:stCondLst>
                                  <p:iterate type="el" backwards="0">
                                    <p:tmAbs val="0"/>
                                  </p:iterate>
                                  <p:childTnLst>
                                    <p:set>
                                      <p:cBhvr>
                                        <p:cTn id="26" fill="hold"/>
                                        <p:tgtEl>
                                          <p:spTgt spid="55"/>
                                        </p:tgtEl>
                                        <p:attrNameLst>
                                          <p:attrName>style.visibility</p:attrName>
                                        </p:attrNameLst>
                                      </p:cBhvr>
                                      <p:to>
                                        <p:strVal val="visible"/>
                                      </p:to>
                                    </p:set>
                                    <p:animEffect filter="wipe(left)" transition="in">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8" presetID="22" grpId="6" fill="hold">
                                  <p:stCondLst>
                                    <p:cond delay="0"/>
                                  </p:stCondLst>
                                  <p:iterate type="el" backwards="0">
                                    <p:tmAbs val="0"/>
                                  </p:iterate>
                                  <p:childTnLst>
                                    <p:set>
                                      <p:cBhvr>
                                        <p:cTn id="31" fill="hold"/>
                                        <p:tgtEl>
                                          <p:spTgt spid="61"/>
                                        </p:tgtEl>
                                        <p:attrNameLst>
                                          <p:attrName>style.visibility</p:attrName>
                                        </p:attrNameLst>
                                      </p:cBhvr>
                                      <p:to>
                                        <p:strVal val="visible"/>
                                      </p:to>
                                    </p:set>
                                    <p:animEffect filter="wipe(left)" transition="in">
                                      <p:cBhvr>
                                        <p:cTn id="32" dur="400"/>
                                        <p:tgtEl>
                                          <p:spTgt spid="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3" grpId="3"/>
      <p:bldP build="whole" bldLvl="1" animBg="1" rev="0" advAuto="0" spid="61" grpId="6"/>
      <p:bldP build="whole" bldLvl="1" animBg="1" rev="0" advAuto="0" spid="31" grpId="1"/>
      <p:bldP build="whole" bldLvl="1" animBg="1" rev="0" advAuto="0" spid="49" grpId="4"/>
      <p:bldP build="whole" bldLvl="1" animBg="1" rev="0" advAuto="0" spid="37" grpId="2"/>
      <p:bldP build="whole" bldLvl="1" animBg="1" rev="0" advAuto="0" spid="55" grpId="5"/>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67" name="phase_pill"/>
          <p:cNvGrpSpPr/>
          <p:nvPr/>
        </p:nvGrpSpPr>
        <p:grpSpPr>
          <a:xfrm>
            <a:off x="548638" y="274320"/>
            <a:ext cx="1512421" cy="292613"/>
            <a:chOff x="0" y="0"/>
            <a:chExt cx="1512420" cy="292612"/>
          </a:xfrm>
        </p:grpSpPr>
        <p:sp>
          <p:nvSpPr>
            <p:cNvPr id="65" name="Rounded Rectangle"/>
            <p:cNvSpPr/>
            <p:nvPr/>
          </p:nvSpPr>
          <p:spPr>
            <a:xfrm>
              <a:off x="-1" y="0"/>
              <a:ext cx="1512421" cy="292613"/>
            </a:xfrm>
            <a:prstGeom prst="roundRect">
              <a:avLst>
                <a:gd name="adj" fmla="val 43750"/>
              </a:avLst>
            </a:prstGeom>
            <a:solidFill>
              <a:srgbClr val="2B2350"/>
            </a:solidFill>
            <a:ln w="12700" cap="flat">
              <a:noFill/>
              <a:miter lim="400000"/>
            </a:ln>
            <a:effectLst/>
          </p:spPr>
          <p:txBody>
            <a:bodyPr wrap="square" lIns="45718" tIns="45718" rIns="45718" bIns="45718" numCol="1" anchor="ctr">
              <a:noAutofit/>
            </a:bodyPr>
            <a:lstStyle/>
            <a:p>
              <a:pPr algn="ctr">
                <a:defRPr sz="900"/>
              </a:pPr>
            </a:p>
          </p:txBody>
        </p:sp>
        <p:sp>
          <p:nvSpPr>
            <p:cNvPr id="66" name="TODAY · 1 MIN"/>
            <p:cNvSpPr txBox="1"/>
            <p:nvPr/>
          </p:nvSpPr>
          <p:spPr>
            <a:xfrm>
              <a:off x="37492" y="82803"/>
              <a:ext cx="143743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TODAY · 1 MIN</a:t>
              </a:r>
            </a:p>
          </p:txBody>
        </p:sp>
      </p:grpSp>
      <p:sp>
        <p:nvSpPr>
          <p:cNvPr id="68" name="slide_title"/>
          <p:cNvSpPr txBox="1"/>
          <p:nvPr/>
        </p:nvSpPr>
        <p:spPr>
          <a:xfrm>
            <a:off x="548640" y="774443"/>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Learning Objectives</a:t>
            </a:r>
          </a:p>
        </p:txBody>
      </p:sp>
      <p:grpSp>
        <p:nvGrpSpPr>
          <p:cNvPr id="73" name="o0"/>
          <p:cNvGrpSpPr/>
          <p:nvPr/>
        </p:nvGrpSpPr>
        <p:grpSpPr>
          <a:xfrm>
            <a:off x="548638" y="1591053"/>
            <a:ext cx="2535940" cy="1316743"/>
            <a:chOff x="0" y="-1"/>
            <a:chExt cx="2535939" cy="1316742"/>
          </a:xfrm>
        </p:grpSpPr>
        <p:sp>
          <p:nvSpPr>
            <p:cNvPr id="69" name="o0_bg"/>
            <p:cNvSpPr/>
            <p:nvPr/>
          </p:nvSpPr>
          <p:spPr>
            <a:xfrm>
              <a:off x="-1" y="-2"/>
              <a:ext cx="2535940" cy="1316743"/>
            </a:xfrm>
            <a:prstGeom prst="roundRect">
              <a:avLst>
                <a:gd name="adj" fmla="val 4167"/>
              </a:avLst>
            </a:prstGeom>
            <a:solidFill>
              <a:srgbClr val="F2F0F8"/>
            </a:solidFill>
            <a:ln w="12700" cap="flat">
              <a:solidFill>
                <a:srgbClr val="F2F0F8"/>
              </a:solidFill>
              <a:prstDash val="solid"/>
              <a:round/>
            </a:ln>
            <a:effectLst/>
          </p:spPr>
          <p:txBody>
            <a:bodyPr wrap="square" lIns="45718" tIns="45718" rIns="45718" bIns="45718" numCol="1" anchor="t">
              <a:noAutofit/>
            </a:bodyPr>
            <a:lstStyle/>
            <a:p>
              <a:pPr/>
            </a:p>
          </p:txBody>
        </p:sp>
        <p:sp>
          <p:nvSpPr>
            <p:cNvPr id="70" name="o0_badge"/>
            <p:cNvSpPr/>
            <p:nvPr/>
          </p:nvSpPr>
          <p:spPr>
            <a:xfrm>
              <a:off x="164592" y="164591"/>
              <a:ext cx="347477" cy="347477"/>
            </a:xfrm>
            <a:prstGeom prst="ellipse">
              <a:avLst/>
            </a:prstGeom>
            <a:solidFill>
              <a:srgbClr val="E85D4A"/>
            </a:solidFill>
            <a:ln w="12700" cap="flat">
              <a:solidFill>
                <a:srgbClr val="E85D4A"/>
              </a:solidFill>
              <a:prstDash val="solid"/>
              <a:round/>
            </a:ln>
            <a:effectLst/>
          </p:spPr>
          <p:txBody>
            <a:bodyPr wrap="square" lIns="45718" tIns="45718" rIns="45718" bIns="45718" numCol="1" anchor="t">
              <a:noAutofit/>
            </a:bodyPr>
            <a:lstStyle/>
            <a:p>
              <a:pPr/>
            </a:p>
          </p:txBody>
        </p:sp>
        <p:sp>
          <p:nvSpPr>
            <p:cNvPr id="71" name="o0_num"/>
            <p:cNvSpPr txBox="1"/>
            <p:nvPr/>
          </p:nvSpPr>
          <p:spPr>
            <a:xfrm>
              <a:off x="164592" y="270555"/>
              <a:ext cx="347474"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latin typeface="Arial"/>
                  <a:ea typeface="Arial"/>
                  <a:cs typeface="Arial"/>
                  <a:sym typeface="Arial"/>
                </a:defRPr>
              </a:lvl1pPr>
            </a:lstStyle>
            <a:p>
              <a:pPr/>
              <a:r>
                <a:t>1</a:t>
              </a:r>
            </a:p>
          </p:txBody>
        </p:sp>
        <p:sp>
          <p:nvSpPr>
            <p:cNvPr id="72" name="o0_t"/>
            <p:cNvSpPr txBox="1"/>
            <p:nvPr/>
          </p:nvSpPr>
          <p:spPr>
            <a:xfrm>
              <a:off x="164592" y="640079"/>
              <a:ext cx="2206754"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b="1" sz="1300">
                  <a:solidFill>
                    <a:srgbClr val="2B2350"/>
                  </a:solidFill>
                  <a:latin typeface="Arial"/>
                  <a:ea typeface="Arial"/>
                  <a:cs typeface="Arial"/>
                  <a:sym typeface="Arial"/>
                </a:defRPr>
              </a:lvl1pPr>
            </a:lstStyle>
            <a:p>
              <a:pPr/>
              <a:r>
                <a:t>Expand a bracket, then collect the like terms.</a:t>
              </a:r>
            </a:p>
          </p:txBody>
        </p:sp>
      </p:grpSp>
      <p:grpSp>
        <p:nvGrpSpPr>
          <p:cNvPr id="78" name="o1"/>
          <p:cNvGrpSpPr/>
          <p:nvPr/>
        </p:nvGrpSpPr>
        <p:grpSpPr>
          <a:xfrm>
            <a:off x="3304029" y="1591053"/>
            <a:ext cx="2535941" cy="1316743"/>
            <a:chOff x="0" y="-1"/>
            <a:chExt cx="2535939" cy="1316742"/>
          </a:xfrm>
        </p:grpSpPr>
        <p:sp>
          <p:nvSpPr>
            <p:cNvPr id="74" name="o1_bg"/>
            <p:cNvSpPr/>
            <p:nvPr/>
          </p:nvSpPr>
          <p:spPr>
            <a:xfrm>
              <a:off x="-1" y="-2"/>
              <a:ext cx="2535940" cy="1316743"/>
            </a:xfrm>
            <a:prstGeom prst="roundRect">
              <a:avLst>
                <a:gd name="adj" fmla="val 4167"/>
              </a:avLst>
            </a:prstGeom>
            <a:solidFill>
              <a:srgbClr val="F2F0F8"/>
            </a:solidFill>
            <a:ln w="12700" cap="flat">
              <a:solidFill>
                <a:srgbClr val="F2F0F8"/>
              </a:solidFill>
              <a:prstDash val="solid"/>
              <a:round/>
            </a:ln>
            <a:effectLst/>
          </p:spPr>
          <p:txBody>
            <a:bodyPr wrap="square" lIns="45718" tIns="45718" rIns="45718" bIns="45718" numCol="1" anchor="t">
              <a:noAutofit/>
            </a:bodyPr>
            <a:lstStyle/>
            <a:p>
              <a:pPr/>
            </a:p>
          </p:txBody>
        </p:sp>
        <p:sp>
          <p:nvSpPr>
            <p:cNvPr id="75" name="o1_badge"/>
            <p:cNvSpPr/>
            <p:nvPr/>
          </p:nvSpPr>
          <p:spPr>
            <a:xfrm>
              <a:off x="164592" y="164591"/>
              <a:ext cx="347477" cy="347477"/>
            </a:xfrm>
            <a:prstGeom prst="ellipse">
              <a:avLst/>
            </a:prstGeom>
            <a:solidFill>
              <a:srgbClr val="E85D4A"/>
            </a:solidFill>
            <a:ln w="12700" cap="flat">
              <a:solidFill>
                <a:srgbClr val="E85D4A"/>
              </a:solidFill>
              <a:prstDash val="solid"/>
              <a:round/>
            </a:ln>
            <a:effectLst/>
          </p:spPr>
          <p:txBody>
            <a:bodyPr wrap="square" lIns="45718" tIns="45718" rIns="45718" bIns="45718" numCol="1" anchor="t">
              <a:noAutofit/>
            </a:bodyPr>
            <a:lstStyle/>
            <a:p>
              <a:pPr/>
            </a:p>
          </p:txBody>
        </p:sp>
        <p:sp>
          <p:nvSpPr>
            <p:cNvPr id="76" name="o1_num"/>
            <p:cNvSpPr txBox="1"/>
            <p:nvPr/>
          </p:nvSpPr>
          <p:spPr>
            <a:xfrm>
              <a:off x="164592" y="270555"/>
              <a:ext cx="347474"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latin typeface="Arial"/>
                  <a:ea typeface="Arial"/>
                  <a:cs typeface="Arial"/>
                  <a:sym typeface="Arial"/>
                </a:defRPr>
              </a:lvl1pPr>
            </a:lstStyle>
            <a:p>
              <a:pPr/>
              <a:r>
                <a:t>2</a:t>
              </a:r>
            </a:p>
          </p:txBody>
        </p:sp>
        <p:sp>
          <p:nvSpPr>
            <p:cNvPr id="77" name="o1_t"/>
            <p:cNvSpPr txBox="1"/>
            <p:nvPr/>
          </p:nvSpPr>
          <p:spPr>
            <a:xfrm>
              <a:off x="164592" y="640079"/>
              <a:ext cx="2206755"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b="1" sz="1300">
                  <a:solidFill>
                    <a:srgbClr val="2B2350"/>
                  </a:solidFill>
                  <a:latin typeface="Arial"/>
                  <a:ea typeface="Arial"/>
                  <a:cs typeface="Arial"/>
                  <a:sym typeface="Arial"/>
                </a:defRPr>
              </a:lvl1pPr>
            </a:lstStyle>
            <a:p>
              <a:pPr/>
              <a:r>
                <a:t>Handle two brackets in the same question.</a:t>
              </a:r>
            </a:p>
          </p:txBody>
        </p:sp>
      </p:grpSp>
      <p:grpSp>
        <p:nvGrpSpPr>
          <p:cNvPr id="83" name="o2"/>
          <p:cNvGrpSpPr/>
          <p:nvPr/>
        </p:nvGrpSpPr>
        <p:grpSpPr>
          <a:xfrm>
            <a:off x="6059422" y="1591053"/>
            <a:ext cx="2535940" cy="1316743"/>
            <a:chOff x="0" y="-1"/>
            <a:chExt cx="2535939" cy="1316742"/>
          </a:xfrm>
        </p:grpSpPr>
        <p:sp>
          <p:nvSpPr>
            <p:cNvPr id="79" name="o2_bg"/>
            <p:cNvSpPr/>
            <p:nvPr/>
          </p:nvSpPr>
          <p:spPr>
            <a:xfrm>
              <a:off x="-1" y="-2"/>
              <a:ext cx="2535940" cy="1316743"/>
            </a:xfrm>
            <a:prstGeom prst="roundRect">
              <a:avLst>
                <a:gd name="adj" fmla="val 4167"/>
              </a:avLst>
            </a:prstGeom>
            <a:solidFill>
              <a:srgbClr val="F2F0F8"/>
            </a:solidFill>
            <a:ln w="12700" cap="flat">
              <a:solidFill>
                <a:srgbClr val="F2F0F8"/>
              </a:solidFill>
              <a:prstDash val="solid"/>
              <a:round/>
            </a:ln>
            <a:effectLst/>
          </p:spPr>
          <p:txBody>
            <a:bodyPr wrap="square" lIns="45718" tIns="45718" rIns="45718" bIns="45718" numCol="1" anchor="t">
              <a:noAutofit/>
            </a:bodyPr>
            <a:lstStyle/>
            <a:p>
              <a:pPr/>
            </a:p>
          </p:txBody>
        </p:sp>
        <p:sp>
          <p:nvSpPr>
            <p:cNvPr id="80" name="o2_badge"/>
            <p:cNvSpPr/>
            <p:nvPr/>
          </p:nvSpPr>
          <p:spPr>
            <a:xfrm>
              <a:off x="164592" y="164591"/>
              <a:ext cx="347477" cy="347477"/>
            </a:xfrm>
            <a:prstGeom prst="ellipse">
              <a:avLst/>
            </a:prstGeom>
            <a:solidFill>
              <a:srgbClr val="E85D4A"/>
            </a:solidFill>
            <a:ln w="12700" cap="flat">
              <a:solidFill>
                <a:srgbClr val="E85D4A"/>
              </a:solidFill>
              <a:prstDash val="solid"/>
              <a:round/>
            </a:ln>
            <a:effectLst/>
          </p:spPr>
          <p:txBody>
            <a:bodyPr wrap="square" lIns="45718" tIns="45718" rIns="45718" bIns="45718" numCol="1" anchor="t">
              <a:noAutofit/>
            </a:bodyPr>
            <a:lstStyle/>
            <a:p>
              <a:pPr/>
            </a:p>
          </p:txBody>
        </p:sp>
        <p:sp>
          <p:nvSpPr>
            <p:cNvPr id="81" name="o2_num"/>
            <p:cNvSpPr txBox="1"/>
            <p:nvPr/>
          </p:nvSpPr>
          <p:spPr>
            <a:xfrm>
              <a:off x="164592" y="270555"/>
              <a:ext cx="347474"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latin typeface="Arial"/>
                  <a:ea typeface="Arial"/>
                  <a:cs typeface="Arial"/>
                  <a:sym typeface="Arial"/>
                </a:defRPr>
              </a:lvl1pPr>
            </a:lstStyle>
            <a:p>
              <a:pPr/>
              <a:r>
                <a:t>3</a:t>
              </a:r>
            </a:p>
          </p:txBody>
        </p:sp>
        <p:sp>
          <p:nvSpPr>
            <p:cNvPr id="82" name="o2_t"/>
            <p:cNvSpPr txBox="1"/>
            <p:nvPr/>
          </p:nvSpPr>
          <p:spPr>
            <a:xfrm>
              <a:off x="164592" y="640079"/>
              <a:ext cx="2206754"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b="1" sz="1300">
                  <a:solidFill>
                    <a:srgbClr val="2B2350"/>
                  </a:solidFill>
                  <a:latin typeface="Arial"/>
                  <a:ea typeface="Arial"/>
                  <a:cs typeface="Arial"/>
                  <a:sym typeface="Arial"/>
                </a:defRPr>
              </a:lvl1pPr>
            </a:lstStyle>
            <a:p>
              <a:pPr/>
              <a:r>
                <a:t>Take a bracket away without losing a sign.</a:t>
              </a:r>
            </a:p>
          </p:txBody>
        </p:sp>
      </p:grpSp>
      <p:grpSp>
        <p:nvGrpSpPr>
          <p:cNvPr id="86" name="obj_banner"/>
          <p:cNvGrpSpPr/>
          <p:nvPr/>
        </p:nvGrpSpPr>
        <p:grpSpPr>
          <a:xfrm>
            <a:off x="548638" y="3218688"/>
            <a:ext cx="8046723" cy="512069"/>
            <a:chOff x="0" y="0"/>
            <a:chExt cx="8046722" cy="512068"/>
          </a:xfrm>
        </p:grpSpPr>
        <p:sp>
          <p:nvSpPr>
            <p:cNvPr id="84" name="Rounded Rectangle"/>
            <p:cNvSpPr/>
            <p:nvPr/>
          </p:nvSpPr>
          <p:spPr>
            <a:xfrm>
              <a:off x="-1" y="-1"/>
              <a:ext cx="8046723" cy="512070"/>
            </a:xfrm>
            <a:prstGeom prst="roundRect">
              <a:avLst>
                <a:gd name="adj" fmla="val 14286"/>
              </a:avLst>
            </a:prstGeom>
            <a:solidFill>
              <a:srgbClr val="2B2350"/>
            </a:solidFill>
            <a:ln w="9525" cap="flat">
              <a:solidFill>
                <a:srgbClr val="2B2350"/>
              </a:solidFill>
              <a:prstDash val="solid"/>
              <a:round/>
            </a:ln>
            <a:effectLst/>
          </p:spPr>
          <p:txBody>
            <a:bodyPr wrap="square" lIns="45718" tIns="45718" rIns="45718" bIns="45718" numCol="1" anchor="ctr">
              <a:noAutofit/>
            </a:bodyPr>
            <a:lstStyle/>
            <a:p>
              <a:pPr algn="ctr">
                <a:defRPr sz="1300"/>
              </a:pPr>
            </a:p>
          </p:txBody>
        </p:sp>
        <p:sp>
          <p:nvSpPr>
            <p:cNvPr id="85" name="You already know how to do most of this!"/>
            <p:cNvSpPr txBox="1"/>
            <p:nvPr/>
          </p:nvSpPr>
          <p:spPr>
            <a:xfrm>
              <a:off x="26188" y="163482"/>
              <a:ext cx="7994345"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latin typeface="Arial"/>
                  <a:ea typeface="Arial"/>
                  <a:cs typeface="Arial"/>
                  <a:sym typeface="Arial"/>
                </a:defRPr>
              </a:lvl1pPr>
            </a:lstStyle>
            <a:p>
              <a:pPr/>
              <a:r>
                <a:t>You already know how to do most of this!</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73"/>
                                        </p:tgtEl>
                                        <p:attrNameLst>
                                          <p:attrName>style.visibility</p:attrName>
                                        </p:attrNameLst>
                                      </p:cBhvr>
                                      <p:to>
                                        <p:strVal val="visible"/>
                                      </p:to>
                                    </p:set>
                                    <p:animEffect filter="fade" transition="in">
                                      <p:cBhvr>
                                        <p:cTn id="7" dur="4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78"/>
                                        </p:tgtEl>
                                        <p:attrNameLst>
                                          <p:attrName>style.visibility</p:attrName>
                                        </p:attrNameLst>
                                      </p:cBhvr>
                                      <p:to>
                                        <p:strVal val="visible"/>
                                      </p:to>
                                    </p:set>
                                    <p:animEffect filter="fade" transition="in">
                                      <p:cBhvr>
                                        <p:cTn id="12" dur="400"/>
                                        <p:tgtEl>
                                          <p:spTgt spid="7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83"/>
                                        </p:tgtEl>
                                        <p:attrNameLst>
                                          <p:attrName>style.visibility</p:attrName>
                                        </p:attrNameLst>
                                      </p:cBhvr>
                                      <p:to>
                                        <p:strVal val="visible"/>
                                      </p:to>
                                    </p:set>
                                    <p:animEffect filter="fade" transition="in">
                                      <p:cBhvr>
                                        <p:cTn id="17" dur="400"/>
                                        <p:tgtEl>
                                          <p:spTgt spid="83"/>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16" presetID="23" grpId="4" fill="hold">
                                  <p:stCondLst>
                                    <p:cond delay="0"/>
                                  </p:stCondLst>
                                  <p:iterate type="el" backwards="0">
                                    <p:tmAbs val="0"/>
                                  </p:iterate>
                                  <p:childTnLst>
                                    <p:set>
                                      <p:cBhvr>
                                        <p:cTn id="21" fill="hold"/>
                                        <p:tgtEl>
                                          <p:spTgt spid="86"/>
                                        </p:tgtEl>
                                        <p:attrNameLst>
                                          <p:attrName>style.visibility</p:attrName>
                                        </p:attrNameLst>
                                      </p:cBhvr>
                                      <p:to>
                                        <p:strVal val="visible"/>
                                      </p:to>
                                    </p:set>
                                    <p:anim calcmode="lin" valueType="num">
                                      <p:cBhvr>
                                        <p:cTn id="22" dur="400" fill="hold"/>
                                        <p:tgtEl>
                                          <p:spTgt spid="86"/>
                                        </p:tgtEl>
                                        <p:attrNameLst>
                                          <p:attrName>ppt_w</p:attrName>
                                        </p:attrNameLst>
                                      </p:cBhvr>
                                      <p:tavLst>
                                        <p:tav tm="0">
                                          <p:val>
                                            <p:fltVal val="0"/>
                                          </p:val>
                                        </p:tav>
                                        <p:tav tm="100000">
                                          <p:val>
                                            <p:strVal val="#ppt_w"/>
                                          </p:val>
                                        </p:tav>
                                      </p:tavLst>
                                    </p:anim>
                                    <p:anim calcmode="lin" valueType="num">
                                      <p:cBhvr>
                                        <p:cTn id="23" dur="400" fill="hold"/>
                                        <p:tgtEl>
                                          <p:spTgt spid="8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8" grpId="2"/>
      <p:bldP build="whole" bldLvl="1" animBg="1" rev="0" advAuto="0" spid="73" grpId="1"/>
      <p:bldP build="whole" bldLvl="1" animBg="1" rev="0" advAuto="0" spid="86" grpId="4"/>
      <p:bldP build="whole" bldLvl="1" animBg="1" rev="0" advAuto="0" spid="83" grpId="3"/>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92" name="phase_pill"/>
          <p:cNvGrpSpPr/>
          <p:nvPr/>
        </p:nvGrpSpPr>
        <p:grpSpPr>
          <a:xfrm>
            <a:off x="548640" y="274320"/>
            <a:ext cx="1422808" cy="292613"/>
            <a:chOff x="0" y="0"/>
            <a:chExt cx="1422807" cy="292612"/>
          </a:xfrm>
        </p:grpSpPr>
        <p:sp>
          <p:nvSpPr>
            <p:cNvPr id="90" name="Rounded Rectangle"/>
            <p:cNvSpPr/>
            <p:nvPr/>
          </p:nvSpPr>
          <p:spPr>
            <a:xfrm>
              <a:off x="0" y="0"/>
              <a:ext cx="1422808" cy="292613"/>
            </a:xfrm>
            <a:prstGeom prst="roundRect">
              <a:avLst>
                <a:gd name="adj" fmla="val 43750"/>
              </a:avLst>
            </a:prstGeom>
            <a:solidFill>
              <a:srgbClr val="2B2350"/>
            </a:solidFill>
            <a:ln w="12700" cap="flat">
              <a:noFill/>
              <a:miter lim="400000"/>
            </a:ln>
            <a:effectLst/>
          </p:spPr>
          <p:txBody>
            <a:bodyPr wrap="square" lIns="45718" tIns="45718" rIns="45718" bIns="45718" numCol="1" anchor="ctr">
              <a:noAutofit/>
            </a:bodyPr>
            <a:lstStyle/>
            <a:p>
              <a:pPr algn="ctr">
                <a:defRPr sz="900"/>
              </a:pPr>
            </a:p>
          </p:txBody>
        </p:sp>
        <p:sp>
          <p:nvSpPr>
            <p:cNvPr id="91" name="HOOK · 4 MIN"/>
            <p:cNvSpPr txBox="1"/>
            <p:nvPr/>
          </p:nvSpPr>
          <p:spPr>
            <a:xfrm>
              <a:off x="37494" y="82803"/>
              <a:ext cx="1347819"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HOOK · 4 MIN</a:t>
              </a:r>
            </a:p>
          </p:txBody>
        </p:sp>
      </p:grpSp>
      <p:sp>
        <p:nvSpPr>
          <p:cNvPr id="93" name="slide_title"/>
          <p:cNvSpPr txBox="1"/>
          <p:nvPr/>
        </p:nvSpPr>
        <p:spPr>
          <a:xfrm>
            <a:off x="548640" y="774443"/>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Which one is right?</a:t>
            </a:r>
          </a:p>
        </p:txBody>
      </p:sp>
      <p:sp>
        <p:nvSpPr>
          <p:cNvPr id="94" name="hook_q"/>
          <p:cNvSpPr txBox="1"/>
          <p:nvPr/>
        </p:nvSpPr>
        <p:spPr>
          <a:xfrm>
            <a:off x="548640" y="1588260"/>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3000">
                <a:solidFill>
                  <a:srgbClr val="E85D4A"/>
                </a:solidFill>
                <a:latin typeface="Georgia"/>
                <a:ea typeface="Georgia"/>
                <a:cs typeface="Georgia"/>
                <a:sym typeface="Georgia"/>
              </a:defRPr>
            </a:pPr>
            <a:r>
              <a:t>3</a:t>
            </a:r>
            <a:r>
              <a:rPr>
                <a:solidFill>
                  <a:srgbClr val="2B2350"/>
                </a:solidFill>
              </a:rPr>
              <a:t>(</a:t>
            </a:r>
            <a:r>
              <a:rPr>
                <a:solidFill>
                  <a:srgbClr val="2E8B57"/>
                </a:solidFill>
              </a:rPr>
              <a:t>x</a:t>
            </a:r>
            <a:r>
              <a:rPr>
                <a:solidFill>
                  <a:srgbClr val="2B2350"/>
                </a:solidFill>
              </a:rPr>
              <a:t> + </a:t>
            </a:r>
            <a:r>
              <a:rPr>
                <a:solidFill>
                  <a:srgbClr val="1F6FB2"/>
                </a:solidFill>
              </a:rPr>
              <a:t>2</a:t>
            </a:r>
            <a:r>
              <a:rPr>
                <a:solidFill>
                  <a:srgbClr val="2B2350"/>
                </a:solidFill>
              </a:rPr>
              <a:t>)  +  </a:t>
            </a:r>
            <a:r>
              <a:rPr>
                <a:solidFill>
                  <a:srgbClr val="2E8B57"/>
                </a:solidFill>
              </a:rPr>
              <a:t>5x</a:t>
            </a:r>
            <a:r>
              <a:rPr>
                <a:solidFill>
                  <a:srgbClr val="2B2350"/>
                </a:solidFill>
              </a:rPr>
              <a:t>  =  ?</a:t>
            </a:r>
          </a:p>
        </p:txBody>
      </p:sp>
      <p:grpSp>
        <p:nvGrpSpPr>
          <p:cNvPr id="98" name="h0"/>
          <p:cNvGrpSpPr/>
          <p:nvPr/>
        </p:nvGrpSpPr>
        <p:grpSpPr>
          <a:xfrm>
            <a:off x="548638" y="2359150"/>
            <a:ext cx="2535940" cy="1042421"/>
            <a:chOff x="0" y="0"/>
            <a:chExt cx="2535939" cy="1042419"/>
          </a:xfrm>
        </p:grpSpPr>
        <p:sp>
          <p:nvSpPr>
            <p:cNvPr id="95" name="h0_bg"/>
            <p:cNvSpPr/>
            <p:nvPr/>
          </p:nvSpPr>
          <p:spPr>
            <a:xfrm>
              <a:off x="-1" y="0"/>
              <a:ext cx="2535940" cy="1042421"/>
            </a:xfrm>
            <a:prstGeom prst="roundRect">
              <a:avLst>
                <a:gd name="adj" fmla="val 5263"/>
              </a:avLst>
            </a:prstGeom>
            <a:solidFill>
              <a:srgbClr val="F2F0F8"/>
            </a:solidFill>
            <a:ln w="12700" cap="flat">
              <a:solidFill>
                <a:srgbClr val="F2F0F8"/>
              </a:solidFill>
              <a:prstDash val="solid"/>
              <a:round/>
            </a:ln>
            <a:effectLst/>
          </p:spPr>
          <p:txBody>
            <a:bodyPr wrap="square" lIns="45718" tIns="45718" rIns="45718" bIns="45718" numCol="1" anchor="t">
              <a:noAutofit/>
            </a:bodyPr>
            <a:lstStyle/>
            <a:p>
              <a:pPr/>
            </a:p>
          </p:txBody>
        </p:sp>
        <p:sp>
          <p:nvSpPr>
            <p:cNvPr id="96" name="h0_k"/>
            <p:cNvSpPr txBox="1"/>
            <p:nvPr/>
          </p:nvSpPr>
          <p:spPr>
            <a:xfrm>
              <a:off x="182880" y="159258"/>
              <a:ext cx="36576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E85D4A"/>
                  </a:solidFill>
                  <a:latin typeface="Georgia"/>
                  <a:ea typeface="Georgia"/>
                  <a:cs typeface="Georgia"/>
                  <a:sym typeface="Georgia"/>
                </a:defRPr>
              </a:lvl1pPr>
            </a:lstStyle>
            <a:p>
              <a:pPr/>
              <a:r>
                <a:t>A</a:t>
              </a:r>
            </a:p>
          </p:txBody>
        </p:sp>
        <p:sp>
          <p:nvSpPr>
            <p:cNvPr id="97" name="h0_t"/>
            <p:cNvSpPr txBox="1"/>
            <p:nvPr/>
          </p:nvSpPr>
          <p:spPr>
            <a:xfrm>
              <a:off x="182879" y="542545"/>
              <a:ext cx="2170179"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2B2350"/>
                  </a:solidFill>
                  <a:latin typeface="Georgia"/>
                  <a:ea typeface="Georgia"/>
                  <a:cs typeface="Georgia"/>
                  <a:sym typeface="Georgia"/>
                </a:defRPr>
              </a:lvl1pPr>
            </a:lstStyle>
            <a:p>
              <a:pPr/>
              <a:r>
                <a:t>8x + 2</a:t>
              </a:r>
            </a:p>
          </p:txBody>
        </p:sp>
      </p:grpSp>
      <p:grpSp>
        <p:nvGrpSpPr>
          <p:cNvPr id="102" name="h1"/>
          <p:cNvGrpSpPr/>
          <p:nvPr/>
        </p:nvGrpSpPr>
        <p:grpSpPr>
          <a:xfrm>
            <a:off x="3304029" y="2359150"/>
            <a:ext cx="2535941" cy="1042421"/>
            <a:chOff x="0" y="0"/>
            <a:chExt cx="2535939" cy="1042419"/>
          </a:xfrm>
        </p:grpSpPr>
        <p:sp>
          <p:nvSpPr>
            <p:cNvPr id="99" name="h1_bg"/>
            <p:cNvSpPr/>
            <p:nvPr/>
          </p:nvSpPr>
          <p:spPr>
            <a:xfrm>
              <a:off x="-1" y="0"/>
              <a:ext cx="2535940" cy="1042421"/>
            </a:xfrm>
            <a:prstGeom prst="roundRect">
              <a:avLst>
                <a:gd name="adj" fmla="val 5263"/>
              </a:avLst>
            </a:prstGeom>
            <a:solidFill>
              <a:srgbClr val="F2F0F8"/>
            </a:solidFill>
            <a:ln w="12700" cap="flat">
              <a:solidFill>
                <a:srgbClr val="F2F0F8"/>
              </a:solidFill>
              <a:prstDash val="solid"/>
              <a:round/>
            </a:ln>
            <a:effectLst/>
          </p:spPr>
          <p:txBody>
            <a:bodyPr wrap="square" lIns="45718" tIns="45718" rIns="45718" bIns="45718" numCol="1" anchor="t">
              <a:noAutofit/>
            </a:bodyPr>
            <a:lstStyle/>
            <a:p>
              <a:pPr/>
            </a:p>
          </p:txBody>
        </p:sp>
        <p:sp>
          <p:nvSpPr>
            <p:cNvPr id="100" name="h1_k"/>
            <p:cNvSpPr txBox="1"/>
            <p:nvPr/>
          </p:nvSpPr>
          <p:spPr>
            <a:xfrm>
              <a:off x="182880" y="159258"/>
              <a:ext cx="36576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E85D4A"/>
                  </a:solidFill>
                  <a:latin typeface="Georgia"/>
                  <a:ea typeface="Georgia"/>
                  <a:cs typeface="Georgia"/>
                  <a:sym typeface="Georgia"/>
                </a:defRPr>
              </a:lvl1pPr>
            </a:lstStyle>
            <a:p>
              <a:pPr/>
              <a:r>
                <a:t>B</a:t>
              </a:r>
            </a:p>
          </p:txBody>
        </p:sp>
        <p:sp>
          <p:nvSpPr>
            <p:cNvPr id="101" name="h1_t"/>
            <p:cNvSpPr txBox="1"/>
            <p:nvPr/>
          </p:nvSpPr>
          <p:spPr>
            <a:xfrm>
              <a:off x="182879" y="542545"/>
              <a:ext cx="2170180"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2B2350"/>
                  </a:solidFill>
                  <a:latin typeface="Georgia"/>
                  <a:ea typeface="Georgia"/>
                  <a:cs typeface="Georgia"/>
                  <a:sym typeface="Georgia"/>
                </a:defRPr>
              </a:lvl1pPr>
            </a:lstStyle>
            <a:p>
              <a:pPr/>
              <a:r>
                <a:t>8x + 6</a:t>
              </a:r>
            </a:p>
          </p:txBody>
        </p:sp>
      </p:grpSp>
      <p:grpSp>
        <p:nvGrpSpPr>
          <p:cNvPr id="106" name="h2"/>
          <p:cNvGrpSpPr/>
          <p:nvPr/>
        </p:nvGrpSpPr>
        <p:grpSpPr>
          <a:xfrm>
            <a:off x="6059422" y="2359150"/>
            <a:ext cx="2535940" cy="1042421"/>
            <a:chOff x="0" y="0"/>
            <a:chExt cx="2535939" cy="1042419"/>
          </a:xfrm>
        </p:grpSpPr>
        <p:sp>
          <p:nvSpPr>
            <p:cNvPr id="103" name="h2_bg"/>
            <p:cNvSpPr/>
            <p:nvPr/>
          </p:nvSpPr>
          <p:spPr>
            <a:xfrm>
              <a:off x="-1" y="0"/>
              <a:ext cx="2535940" cy="1042421"/>
            </a:xfrm>
            <a:prstGeom prst="roundRect">
              <a:avLst>
                <a:gd name="adj" fmla="val 5263"/>
              </a:avLst>
            </a:prstGeom>
            <a:solidFill>
              <a:srgbClr val="F2F0F8"/>
            </a:solidFill>
            <a:ln w="12700" cap="flat">
              <a:solidFill>
                <a:srgbClr val="F2F0F8"/>
              </a:solidFill>
              <a:prstDash val="solid"/>
              <a:round/>
            </a:ln>
            <a:effectLst/>
          </p:spPr>
          <p:txBody>
            <a:bodyPr wrap="square" lIns="45718" tIns="45718" rIns="45718" bIns="45718" numCol="1" anchor="t">
              <a:noAutofit/>
            </a:bodyPr>
            <a:lstStyle/>
            <a:p>
              <a:pPr/>
            </a:p>
          </p:txBody>
        </p:sp>
        <p:sp>
          <p:nvSpPr>
            <p:cNvPr id="104" name="h2_k"/>
            <p:cNvSpPr txBox="1"/>
            <p:nvPr/>
          </p:nvSpPr>
          <p:spPr>
            <a:xfrm>
              <a:off x="182880" y="159258"/>
              <a:ext cx="36576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E85D4A"/>
                  </a:solidFill>
                  <a:latin typeface="Georgia"/>
                  <a:ea typeface="Georgia"/>
                  <a:cs typeface="Georgia"/>
                  <a:sym typeface="Georgia"/>
                </a:defRPr>
              </a:lvl1pPr>
            </a:lstStyle>
            <a:p>
              <a:pPr/>
              <a:r>
                <a:t>C</a:t>
              </a:r>
            </a:p>
          </p:txBody>
        </p:sp>
        <p:sp>
          <p:nvSpPr>
            <p:cNvPr id="105" name="h2_t"/>
            <p:cNvSpPr txBox="1"/>
            <p:nvPr/>
          </p:nvSpPr>
          <p:spPr>
            <a:xfrm>
              <a:off x="182879" y="567945"/>
              <a:ext cx="2170179"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2B2350"/>
                  </a:solidFill>
                  <a:latin typeface="Georgia"/>
                  <a:ea typeface="Georgia"/>
                  <a:cs typeface="Georgia"/>
                  <a:sym typeface="Georgia"/>
                </a:defRPr>
              </a:lvl1pPr>
            </a:lstStyle>
            <a:p>
              <a:pPr/>
              <a:r>
                <a:t>3x + 6 + 5x</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94"/>
                                        </p:tgtEl>
                                        <p:attrNameLst>
                                          <p:attrName>style.visibility</p:attrName>
                                        </p:attrNameLst>
                                      </p:cBhvr>
                                      <p:to>
                                        <p:strVal val="visible"/>
                                      </p:to>
                                    </p:set>
                                    <p:animEffect filter="fade" transition="in">
                                      <p:cBhvr>
                                        <p:cTn id="7" dur="4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98"/>
                                        </p:tgtEl>
                                        <p:attrNameLst>
                                          <p:attrName>style.visibility</p:attrName>
                                        </p:attrNameLst>
                                      </p:cBhvr>
                                      <p:to>
                                        <p:strVal val="visible"/>
                                      </p:to>
                                    </p:set>
                                    <p:animEffect filter="fade" transition="in">
                                      <p:cBhvr>
                                        <p:cTn id="12" dur="400"/>
                                        <p:tgtEl>
                                          <p:spTgt spid="9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02"/>
                                        </p:tgtEl>
                                        <p:attrNameLst>
                                          <p:attrName>style.visibility</p:attrName>
                                        </p:attrNameLst>
                                      </p:cBhvr>
                                      <p:to>
                                        <p:strVal val="visible"/>
                                      </p:to>
                                    </p:set>
                                    <p:animEffect filter="fade" transition="in">
                                      <p:cBhvr>
                                        <p:cTn id="17" dur="400"/>
                                        <p:tgtEl>
                                          <p:spTgt spid="102"/>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06"/>
                                        </p:tgtEl>
                                        <p:attrNameLst>
                                          <p:attrName>style.visibility</p:attrName>
                                        </p:attrNameLst>
                                      </p:cBhvr>
                                      <p:to>
                                        <p:strVal val="visible"/>
                                      </p:to>
                                    </p:set>
                                    <p:animEffect filter="fade" transition="in">
                                      <p:cBhvr>
                                        <p:cTn id="22" dur="4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8" grpId="2"/>
      <p:bldP build="whole" bldLvl="1" animBg="1" rev="0" advAuto="0" spid="106" grpId="4"/>
      <p:bldP build="whole" bldLvl="1" animBg="1" rev="0" advAuto="0" spid="94" grpId="1"/>
      <p:bldP build="whole" bldLvl="1" animBg="1" rev="0" advAuto="0" spid="102" grpId="3"/>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12" name="phase_pill"/>
          <p:cNvGrpSpPr/>
          <p:nvPr/>
        </p:nvGrpSpPr>
        <p:grpSpPr>
          <a:xfrm>
            <a:off x="548640" y="274320"/>
            <a:ext cx="1422808" cy="292613"/>
            <a:chOff x="0" y="0"/>
            <a:chExt cx="1422807" cy="292612"/>
          </a:xfrm>
        </p:grpSpPr>
        <p:sp>
          <p:nvSpPr>
            <p:cNvPr id="110" name="Rounded Rectangle"/>
            <p:cNvSpPr/>
            <p:nvPr/>
          </p:nvSpPr>
          <p:spPr>
            <a:xfrm>
              <a:off x="0" y="0"/>
              <a:ext cx="1422808" cy="292613"/>
            </a:xfrm>
            <a:prstGeom prst="roundRect">
              <a:avLst>
                <a:gd name="adj" fmla="val 43750"/>
              </a:avLst>
            </a:prstGeom>
            <a:solidFill>
              <a:srgbClr val="2B2350"/>
            </a:solidFill>
            <a:ln w="12700" cap="flat">
              <a:noFill/>
              <a:miter lim="400000"/>
            </a:ln>
            <a:effectLst/>
          </p:spPr>
          <p:txBody>
            <a:bodyPr wrap="square" lIns="45718" tIns="45718" rIns="45718" bIns="45718" numCol="1" anchor="ctr">
              <a:noAutofit/>
            </a:bodyPr>
            <a:lstStyle/>
            <a:p>
              <a:pPr algn="ctr">
                <a:defRPr sz="900"/>
              </a:pPr>
            </a:p>
          </p:txBody>
        </p:sp>
        <p:sp>
          <p:nvSpPr>
            <p:cNvPr id="111" name="I DO · 6 MIN"/>
            <p:cNvSpPr txBox="1"/>
            <p:nvPr/>
          </p:nvSpPr>
          <p:spPr>
            <a:xfrm>
              <a:off x="37494" y="82803"/>
              <a:ext cx="1347819"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I DO · 6 MIN</a:t>
              </a:r>
            </a:p>
          </p:txBody>
        </p:sp>
      </p:grpSp>
      <p:sp>
        <p:nvSpPr>
          <p:cNvPr id="113" name="slide_title"/>
          <p:cNvSpPr txBox="1"/>
          <p:nvPr/>
        </p:nvSpPr>
        <p:spPr>
          <a:xfrm>
            <a:off x="548640" y="774443"/>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Simplify  3(x + 2) + 4x</a:t>
            </a:r>
          </a:p>
        </p:txBody>
      </p:sp>
      <p:sp>
        <p:nvSpPr>
          <p:cNvPr id="114" name="slide_sub"/>
          <p:cNvSpPr txBox="1"/>
          <p:nvPr/>
        </p:nvSpPr>
        <p:spPr>
          <a:xfrm>
            <a:off x="548640" y="1349545"/>
            <a:ext cx="8046719"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E5A70"/>
                </a:solidFill>
                <a:latin typeface="Arial"/>
                <a:ea typeface="Arial"/>
                <a:cs typeface="Arial"/>
                <a:sym typeface="Arial"/>
              </a:defRPr>
            </a:lvl1pPr>
          </a:lstStyle>
          <a:p>
            <a:pPr/>
            <a:r>
              <a:t>Expand first. Collect second.</a:t>
            </a:r>
          </a:p>
        </p:txBody>
      </p:sp>
      <p:sp>
        <p:nvSpPr>
          <p:cNvPr id="115" name="st0_bg"/>
          <p:cNvSpPr/>
          <p:nvPr/>
        </p:nvSpPr>
        <p:spPr>
          <a:xfrm>
            <a:off x="548640" y="1700783"/>
            <a:ext cx="8046720" cy="566930"/>
          </a:xfrm>
          <a:prstGeom prst="roundRect">
            <a:avLst>
              <a:gd name="adj" fmla="val 9677"/>
            </a:avLst>
          </a:prstGeom>
          <a:solidFill>
            <a:srgbClr val="F2F0F8"/>
          </a:solidFill>
          <a:ln w="12700">
            <a:solidFill>
              <a:srgbClr val="F2F0F8"/>
            </a:solidFill>
          </a:ln>
        </p:spPr>
        <p:txBody>
          <a:bodyPr lIns="45718" tIns="45718" rIns="45718" bIns="45718"/>
          <a:lstStyle/>
          <a:p>
            <a:pPr/>
          </a:p>
        </p:txBody>
      </p:sp>
      <p:sp>
        <p:nvSpPr>
          <p:cNvPr id="116" name="st0_n"/>
          <p:cNvSpPr txBox="1"/>
          <p:nvPr/>
        </p:nvSpPr>
        <p:spPr>
          <a:xfrm>
            <a:off x="713230" y="1857245"/>
            <a:ext cx="2743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E85D4A"/>
                </a:solidFill>
                <a:latin typeface="Georgia"/>
                <a:ea typeface="Georgia"/>
                <a:cs typeface="Georgia"/>
                <a:sym typeface="Georgia"/>
              </a:defRPr>
            </a:lvl1pPr>
          </a:lstStyle>
          <a:p>
            <a:pPr/>
            <a:r>
              <a:t>1</a:t>
            </a:r>
          </a:p>
        </p:txBody>
      </p:sp>
      <p:sp>
        <p:nvSpPr>
          <p:cNvPr id="117" name="st0_w"/>
          <p:cNvSpPr txBox="1"/>
          <p:nvPr/>
        </p:nvSpPr>
        <p:spPr>
          <a:xfrm>
            <a:off x="1078990" y="1897839"/>
            <a:ext cx="2377443"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Expand the bracket.</a:t>
            </a:r>
          </a:p>
        </p:txBody>
      </p:sp>
      <p:sp>
        <p:nvSpPr>
          <p:cNvPr id="118" name="st0_e"/>
          <p:cNvSpPr txBox="1"/>
          <p:nvPr/>
        </p:nvSpPr>
        <p:spPr>
          <a:xfrm>
            <a:off x="3602735" y="1850895"/>
            <a:ext cx="4992627"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solidFill>
                  <a:srgbClr val="2E8B57"/>
                </a:solidFill>
                <a:latin typeface="Georgia"/>
                <a:ea typeface="Georgia"/>
                <a:cs typeface="Georgia"/>
                <a:sym typeface="Georgia"/>
              </a:defRPr>
            </a:pPr>
            <a:r>
              <a:t>3x</a:t>
            </a:r>
            <a:r>
              <a:rPr>
                <a:solidFill>
                  <a:srgbClr val="2B2350"/>
                </a:solidFill>
              </a:rPr>
              <a:t> + </a:t>
            </a:r>
            <a:r>
              <a:rPr>
                <a:solidFill>
                  <a:srgbClr val="1F6FB2"/>
                </a:solidFill>
              </a:rPr>
              <a:t>6</a:t>
            </a:r>
            <a:r>
              <a:rPr>
                <a:solidFill>
                  <a:srgbClr val="2B2350"/>
                </a:solidFill>
              </a:rPr>
              <a:t>  +  </a:t>
            </a:r>
            <a:r>
              <a:t>4x</a:t>
            </a:r>
          </a:p>
        </p:txBody>
      </p:sp>
      <p:sp>
        <p:nvSpPr>
          <p:cNvPr id="119" name="st1_bg"/>
          <p:cNvSpPr/>
          <p:nvPr/>
        </p:nvSpPr>
        <p:spPr>
          <a:xfrm>
            <a:off x="548640" y="2386583"/>
            <a:ext cx="8046720" cy="566930"/>
          </a:xfrm>
          <a:prstGeom prst="roundRect">
            <a:avLst>
              <a:gd name="adj" fmla="val 9677"/>
            </a:avLst>
          </a:prstGeom>
          <a:solidFill>
            <a:srgbClr val="F2F0F8"/>
          </a:solidFill>
          <a:ln w="12700">
            <a:solidFill>
              <a:srgbClr val="F2F0F8"/>
            </a:solidFill>
          </a:ln>
        </p:spPr>
        <p:txBody>
          <a:bodyPr lIns="45718" tIns="45718" rIns="45718" bIns="45718"/>
          <a:lstStyle/>
          <a:p>
            <a:pPr/>
          </a:p>
        </p:txBody>
      </p:sp>
      <p:sp>
        <p:nvSpPr>
          <p:cNvPr id="120" name="st1_n"/>
          <p:cNvSpPr txBox="1"/>
          <p:nvPr/>
        </p:nvSpPr>
        <p:spPr>
          <a:xfrm>
            <a:off x="713230" y="2543045"/>
            <a:ext cx="2743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E85D4A"/>
                </a:solidFill>
                <a:latin typeface="Georgia"/>
                <a:ea typeface="Georgia"/>
                <a:cs typeface="Georgia"/>
                <a:sym typeface="Georgia"/>
              </a:defRPr>
            </a:lvl1pPr>
          </a:lstStyle>
          <a:p>
            <a:pPr/>
            <a:r>
              <a:t>2</a:t>
            </a:r>
          </a:p>
        </p:txBody>
      </p:sp>
      <p:sp>
        <p:nvSpPr>
          <p:cNvPr id="121" name="st1_w"/>
          <p:cNvSpPr txBox="1"/>
          <p:nvPr/>
        </p:nvSpPr>
        <p:spPr>
          <a:xfrm>
            <a:off x="1078990" y="2583639"/>
            <a:ext cx="2377443"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Find the like terms.</a:t>
            </a:r>
          </a:p>
        </p:txBody>
      </p:sp>
      <p:sp>
        <p:nvSpPr>
          <p:cNvPr id="122" name="st1_e"/>
          <p:cNvSpPr txBox="1"/>
          <p:nvPr/>
        </p:nvSpPr>
        <p:spPr>
          <a:xfrm>
            <a:off x="3602735" y="2536695"/>
            <a:ext cx="4992627"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solidFill>
                  <a:srgbClr val="2E8B57"/>
                </a:solidFill>
                <a:latin typeface="Georgia"/>
                <a:ea typeface="Georgia"/>
                <a:cs typeface="Georgia"/>
                <a:sym typeface="Georgia"/>
              </a:defRPr>
            </a:pPr>
            <a:r>
              <a:t>3x</a:t>
            </a:r>
            <a:r>
              <a:rPr>
                <a:solidFill>
                  <a:srgbClr val="2B2350"/>
                </a:solidFill>
              </a:rPr>
              <a:t>  and  </a:t>
            </a:r>
            <a:r>
              <a:t>4x</a:t>
            </a:r>
            <a:r>
              <a:rPr>
                <a:solidFill>
                  <a:srgbClr val="2B2350"/>
                </a:solidFill>
              </a:rPr>
              <a:t>   |   </a:t>
            </a:r>
            <a:r>
              <a:rPr>
                <a:solidFill>
                  <a:srgbClr val="1F6FB2"/>
                </a:solidFill>
              </a:rPr>
              <a:t>6</a:t>
            </a:r>
            <a:r>
              <a:rPr>
                <a:solidFill>
                  <a:srgbClr val="2B2350"/>
                </a:solidFill>
              </a:rPr>
              <a:t> is on its own</a:t>
            </a:r>
          </a:p>
        </p:txBody>
      </p:sp>
      <p:sp>
        <p:nvSpPr>
          <p:cNvPr id="123" name="st2_bg"/>
          <p:cNvSpPr/>
          <p:nvPr/>
        </p:nvSpPr>
        <p:spPr>
          <a:xfrm>
            <a:off x="548640" y="3072383"/>
            <a:ext cx="8046720" cy="566930"/>
          </a:xfrm>
          <a:prstGeom prst="roundRect">
            <a:avLst>
              <a:gd name="adj" fmla="val 9677"/>
            </a:avLst>
          </a:prstGeom>
          <a:solidFill>
            <a:srgbClr val="F2F0F8"/>
          </a:solidFill>
          <a:ln w="12700">
            <a:solidFill>
              <a:srgbClr val="F2F0F8"/>
            </a:solidFill>
          </a:ln>
        </p:spPr>
        <p:txBody>
          <a:bodyPr lIns="45718" tIns="45718" rIns="45718" bIns="45718"/>
          <a:lstStyle/>
          <a:p>
            <a:pPr/>
          </a:p>
        </p:txBody>
      </p:sp>
      <p:sp>
        <p:nvSpPr>
          <p:cNvPr id="124" name="st2_n"/>
          <p:cNvSpPr txBox="1"/>
          <p:nvPr/>
        </p:nvSpPr>
        <p:spPr>
          <a:xfrm>
            <a:off x="713230" y="3228845"/>
            <a:ext cx="2743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E85D4A"/>
                </a:solidFill>
                <a:latin typeface="Georgia"/>
                <a:ea typeface="Georgia"/>
                <a:cs typeface="Georgia"/>
                <a:sym typeface="Georgia"/>
              </a:defRPr>
            </a:lvl1pPr>
          </a:lstStyle>
          <a:p>
            <a:pPr/>
            <a:r>
              <a:t>3</a:t>
            </a:r>
          </a:p>
        </p:txBody>
      </p:sp>
      <p:sp>
        <p:nvSpPr>
          <p:cNvPr id="125" name="st2_w"/>
          <p:cNvSpPr txBox="1"/>
          <p:nvPr/>
        </p:nvSpPr>
        <p:spPr>
          <a:xfrm>
            <a:off x="1078990" y="3269438"/>
            <a:ext cx="2377443"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Collect them.</a:t>
            </a:r>
          </a:p>
        </p:txBody>
      </p:sp>
      <p:sp>
        <p:nvSpPr>
          <p:cNvPr id="126" name="st2_e"/>
          <p:cNvSpPr txBox="1"/>
          <p:nvPr/>
        </p:nvSpPr>
        <p:spPr>
          <a:xfrm>
            <a:off x="3602735" y="3222495"/>
            <a:ext cx="4992627"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2E8B57"/>
                </a:solidFill>
                <a:latin typeface="Georgia"/>
                <a:ea typeface="Georgia"/>
                <a:cs typeface="Georgia"/>
                <a:sym typeface="Georgia"/>
              </a:defRPr>
            </a:lvl1pPr>
          </a:lstStyle>
          <a:p>
            <a:pPr/>
            <a:r>
              <a:t>3x + 4x = 7x</a:t>
            </a:r>
          </a:p>
        </p:txBody>
      </p:sp>
      <p:sp>
        <p:nvSpPr>
          <p:cNvPr id="127" name="st3_bg"/>
          <p:cNvSpPr/>
          <p:nvPr/>
        </p:nvSpPr>
        <p:spPr>
          <a:xfrm>
            <a:off x="548640" y="3758184"/>
            <a:ext cx="8046720" cy="566931"/>
          </a:xfrm>
          <a:prstGeom prst="roundRect">
            <a:avLst>
              <a:gd name="adj" fmla="val 9677"/>
            </a:avLst>
          </a:prstGeom>
          <a:solidFill>
            <a:srgbClr val="FDF0EE"/>
          </a:solidFill>
          <a:ln w="17780">
            <a:solidFill>
              <a:srgbClr val="E85D4A"/>
            </a:solidFill>
          </a:ln>
        </p:spPr>
        <p:txBody>
          <a:bodyPr lIns="45718" tIns="45718" rIns="45718" bIns="45718"/>
          <a:lstStyle/>
          <a:p>
            <a:pPr/>
          </a:p>
        </p:txBody>
      </p:sp>
      <p:sp>
        <p:nvSpPr>
          <p:cNvPr id="128" name="st3_n"/>
          <p:cNvSpPr txBox="1"/>
          <p:nvPr/>
        </p:nvSpPr>
        <p:spPr>
          <a:xfrm>
            <a:off x="713230" y="3914647"/>
            <a:ext cx="2743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E85D4A"/>
                </a:solidFill>
                <a:latin typeface="Georgia"/>
                <a:ea typeface="Georgia"/>
                <a:cs typeface="Georgia"/>
                <a:sym typeface="Georgia"/>
              </a:defRPr>
            </a:lvl1pPr>
          </a:lstStyle>
          <a:p>
            <a:pPr/>
            <a:r>
              <a:t>4</a:t>
            </a:r>
          </a:p>
        </p:txBody>
      </p:sp>
      <p:sp>
        <p:nvSpPr>
          <p:cNvPr id="129" name="st3_w"/>
          <p:cNvSpPr txBox="1"/>
          <p:nvPr/>
        </p:nvSpPr>
        <p:spPr>
          <a:xfrm>
            <a:off x="1078990" y="3955241"/>
            <a:ext cx="2377443"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Write the answer.</a:t>
            </a:r>
          </a:p>
        </p:txBody>
      </p:sp>
      <p:sp>
        <p:nvSpPr>
          <p:cNvPr id="130" name="st3_e"/>
          <p:cNvSpPr txBox="1"/>
          <p:nvPr/>
        </p:nvSpPr>
        <p:spPr>
          <a:xfrm>
            <a:off x="3602735" y="3908297"/>
            <a:ext cx="4992627"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C0392B"/>
                </a:solidFill>
                <a:latin typeface="Georgia"/>
                <a:ea typeface="Georgia"/>
                <a:cs typeface="Georgia"/>
                <a:sym typeface="Georgia"/>
              </a:defRPr>
            </a:lvl1pPr>
          </a:lstStyle>
          <a:p>
            <a:pPr/>
            <a:r>
              <a:t>7x + 6</a:t>
            </a:r>
          </a:p>
        </p:txBody>
      </p:sp>
      <p:sp>
        <p:nvSpPr>
          <p:cNvPr id="131" name="st_note"/>
          <p:cNvSpPr txBox="1"/>
          <p:nvPr/>
        </p:nvSpPr>
        <p:spPr>
          <a:xfrm>
            <a:off x="548640" y="4513024"/>
            <a:ext cx="8046719"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C0392B"/>
                </a:solidFill>
                <a:latin typeface="Arial"/>
                <a:ea typeface="Arial"/>
                <a:cs typeface="Arial"/>
                <a:sym typeface="Arial"/>
              </a:defRPr>
            </a:lvl1pPr>
          </a:lstStyle>
          <a:p>
            <a:pPr/>
            <a:r>
              <a:t>You can’t collect anything while the brackets are still there. Expand first.</a:t>
            </a:r>
          </a:p>
        </p:txBody>
      </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17"/>
                                        </p:tgtEl>
                                        <p:attrNameLst>
                                          <p:attrName>style.visibility</p:attrName>
                                        </p:attrNameLst>
                                      </p:cBhvr>
                                      <p:to>
                                        <p:strVal val="visible"/>
                                      </p:to>
                                    </p:set>
                                    <p:animEffect filter="fade" transition="in">
                                      <p:cBhvr>
                                        <p:cTn id="7" dur="40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18"/>
                                        </p:tgtEl>
                                        <p:attrNameLst>
                                          <p:attrName>style.visibility</p:attrName>
                                        </p:attrNameLst>
                                      </p:cBhvr>
                                      <p:to>
                                        <p:strVal val="visible"/>
                                      </p:to>
                                    </p:set>
                                    <p:animEffect filter="fade" transition="in">
                                      <p:cBhvr>
                                        <p:cTn id="12" dur="400"/>
                                        <p:tgtEl>
                                          <p:spTgt spid="11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21"/>
                                        </p:tgtEl>
                                        <p:attrNameLst>
                                          <p:attrName>style.visibility</p:attrName>
                                        </p:attrNameLst>
                                      </p:cBhvr>
                                      <p:to>
                                        <p:strVal val="visible"/>
                                      </p:to>
                                    </p:set>
                                    <p:animEffect filter="fade" transition="in">
                                      <p:cBhvr>
                                        <p:cTn id="17" dur="400"/>
                                        <p:tgtEl>
                                          <p:spTgt spid="121"/>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22"/>
                                        </p:tgtEl>
                                        <p:attrNameLst>
                                          <p:attrName>style.visibility</p:attrName>
                                        </p:attrNameLst>
                                      </p:cBhvr>
                                      <p:to>
                                        <p:strVal val="visible"/>
                                      </p:to>
                                    </p:set>
                                    <p:animEffect filter="fade" transition="in">
                                      <p:cBhvr>
                                        <p:cTn id="22" dur="400"/>
                                        <p:tgtEl>
                                          <p:spTgt spid="122"/>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125"/>
                                        </p:tgtEl>
                                        <p:attrNameLst>
                                          <p:attrName>style.visibility</p:attrName>
                                        </p:attrNameLst>
                                      </p:cBhvr>
                                      <p:to>
                                        <p:strVal val="visible"/>
                                      </p:to>
                                    </p:set>
                                    <p:animEffect filter="fade" transition="in">
                                      <p:cBhvr>
                                        <p:cTn id="27" dur="400"/>
                                        <p:tgtEl>
                                          <p:spTgt spid="125"/>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ID="10" grpId="6" fill="hold">
                                  <p:stCondLst>
                                    <p:cond delay="0"/>
                                  </p:stCondLst>
                                  <p:iterate type="el" backwards="0">
                                    <p:tmAbs val="0"/>
                                  </p:iterate>
                                  <p:childTnLst>
                                    <p:set>
                                      <p:cBhvr>
                                        <p:cTn id="31" fill="hold"/>
                                        <p:tgtEl>
                                          <p:spTgt spid="126"/>
                                        </p:tgtEl>
                                        <p:attrNameLst>
                                          <p:attrName>style.visibility</p:attrName>
                                        </p:attrNameLst>
                                      </p:cBhvr>
                                      <p:to>
                                        <p:strVal val="visible"/>
                                      </p:to>
                                    </p:set>
                                    <p:animEffect filter="fade" transition="in">
                                      <p:cBhvr>
                                        <p:cTn id="32" dur="400"/>
                                        <p:tgtEl>
                                          <p:spTgt spid="126"/>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ID="10" grpId="7" fill="hold">
                                  <p:stCondLst>
                                    <p:cond delay="0"/>
                                  </p:stCondLst>
                                  <p:iterate type="el" backwards="0">
                                    <p:tmAbs val="0"/>
                                  </p:iterate>
                                  <p:childTnLst>
                                    <p:set>
                                      <p:cBhvr>
                                        <p:cTn id="36" fill="hold"/>
                                        <p:tgtEl>
                                          <p:spTgt spid="129"/>
                                        </p:tgtEl>
                                        <p:attrNameLst>
                                          <p:attrName>style.visibility</p:attrName>
                                        </p:attrNameLst>
                                      </p:cBhvr>
                                      <p:to>
                                        <p:strVal val="visible"/>
                                      </p:to>
                                    </p:set>
                                    <p:animEffect filter="fade" transition="in">
                                      <p:cBhvr>
                                        <p:cTn id="37" dur="400"/>
                                        <p:tgtEl>
                                          <p:spTgt spid="129"/>
                                        </p:tgtEl>
                                      </p:cBhvr>
                                    </p:animEffect>
                                  </p:childTnLst>
                                </p:cTn>
                              </p:par>
                            </p:childTnLst>
                          </p:cTn>
                        </p:par>
                      </p:childTnLst>
                    </p:cTn>
                  </p:par>
                  <p:par>
                    <p:cTn id="38" fill="hold">
                      <p:stCondLst>
                        <p:cond delay="indefinite"/>
                      </p:stCondLst>
                      <p:childTnLst>
                        <p:par>
                          <p:cTn id="39" fill="hold">
                            <p:stCondLst>
                              <p:cond delay="0"/>
                            </p:stCondLst>
                            <p:childTnLst>
                              <p:par>
                                <p:cTn id="40" presetClass="entr" nodeType="clickEffect" presetID="10" grpId="8" fill="hold">
                                  <p:stCondLst>
                                    <p:cond delay="0"/>
                                  </p:stCondLst>
                                  <p:iterate type="el" backwards="0">
                                    <p:tmAbs val="0"/>
                                  </p:iterate>
                                  <p:childTnLst>
                                    <p:set>
                                      <p:cBhvr>
                                        <p:cTn id="41" fill="hold"/>
                                        <p:tgtEl>
                                          <p:spTgt spid="130"/>
                                        </p:tgtEl>
                                        <p:attrNameLst>
                                          <p:attrName>style.visibility</p:attrName>
                                        </p:attrNameLst>
                                      </p:cBhvr>
                                      <p:to>
                                        <p:strVal val="visible"/>
                                      </p:to>
                                    </p:set>
                                    <p:animEffect filter="fade" transition="in">
                                      <p:cBhvr>
                                        <p:cTn id="42" dur="400"/>
                                        <p:tgtEl>
                                          <p:spTgt spid="130"/>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9" fill="hold">
                                  <p:stCondLst>
                                    <p:cond delay="0"/>
                                  </p:stCondLst>
                                  <p:iterate type="el" backwards="0">
                                    <p:tmAbs val="0"/>
                                  </p:iterate>
                                  <p:childTnLst>
                                    <p:set>
                                      <p:cBhvr>
                                        <p:cTn id="46" fill="hold"/>
                                        <p:tgtEl>
                                          <p:spTgt spid="131"/>
                                        </p:tgtEl>
                                        <p:attrNameLst>
                                          <p:attrName>style.visibility</p:attrName>
                                        </p:attrNameLst>
                                      </p:cBhvr>
                                      <p:to>
                                        <p:strVal val="visible"/>
                                      </p:to>
                                    </p:set>
                                    <p:animEffect filter="fade" transition="in">
                                      <p:cBhvr>
                                        <p:cTn id="47" dur="4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6" grpId="6"/>
      <p:bldP build="whole" bldLvl="1" animBg="1" rev="0" advAuto="0" spid="129" grpId="7"/>
      <p:bldP build="whole" bldLvl="1" animBg="1" rev="0" advAuto="0" spid="122" grpId="4"/>
      <p:bldP build="whole" bldLvl="1" animBg="1" rev="0" advAuto="0" spid="118" grpId="2"/>
      <p:bldP build="whole" bldLvl="1" animBg="1" rev="0" advAuto="0" spid="117" grpId="1"/>
      <p:bldP build="whole" bldLvl="1" animBg="1" rev="0" advAuto="0" spid="130" grpId="8"/>
      <p:bldP build="whole" bldLvl="1" animBg="1" rev="0" advAuto="0" spid="125" grpId="5"/>
      <p:bldP build="whole" bldLvl="1" animBg="1" rev="0" advAuto="0" spid="131" grpId="9"/>
      <p:bldP build="whole" bldLvl="1" animBg="1" rev="0" advAuto="0" spid="121" grpId="3"/>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37" name="phase_pill"/>
          <p:cNvGrpSpPr/>
          <p:nvPr/>
        </p:nvGrpSpPr>
        <p:grpSpPr>
          <a:xfrm>
            <a:off x="548640" y="274320"/>
            <a:ext cx="1422808" cy="292613"/>
            <a:chOff x="0" y="0"/>
            <a:chExt cx="1422807" cy="292612"/>
          </a:xfrm>
        </p:grpSpPr>
        <p:sp>
          <p:nvSpPr>
            <p:cNvPr id="135" name="Rounded Rectangle"/>
            <p:cNvSpPr/>
            <p:nvPr/>
          </p:nvSpPr>
          <p:spPr>
            <a:xfrm>
              <a:off x="0" y="0"/>
              <a:ext cx="1422808" cy="292613"/>
            </a:xfrm>
            <a:prstGeom prst="roundRect">
              <a:avLst>
                <a:gd name="adj" fmla="val 43750"/>
              </a:avLst>
            </a:prstGeom>
            <a:solidFill>
              <a:srgbClr val="2B2350"/>
            </a:solidFill>
            <a:ln w="12700" cap="flat">
              <a:noFill/>
              <a:miter lim="400000"/>
            </a:ln>
            <a:effectLst/>
          </p:spPr>
          <p:txBody>
            <a:bodyPr wrap="square" lIns="45718" tIns="45718" rIns="45718" bIns="45718" numCol="1" anchor="ctr">
              <a:noAutofit/>
            </a:bodyPr>
            <a:lstStyle/>
            <a:p>
              <a:pPr algn="ctr">
                <a:defRPr sz="900"/>
              </a:pPr>
            </a:p>
          </p:txBody>
        </p:sp>
        <p:sp>
          <p:nvSpPr>
            <p:cNvPr id="136" name="I DO · 6 MIN"/>
            <p:cNvSpPr txBox="1"/>
            <p:nvPr/>
          </p:nvSpPr>
          <p:spPr>
            <a:xfrm>
              <a:off x="37494" y="82803"/>
              <a:ext cx="1347819"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I DO · 6 MIN</a:t>
              </a:r>
            </a:p>
          </p:txBody>
        </p:sp>
      </p:grpSp>
      <p:sp>
        <p:nvSpPr>
          <p:cNvPr id="138" name="slide_title"/>
          <p:cNvSpPr txBox="1"/>
          <p:nvPr/>
        </p:nvSpPr>
        <p:spPr>
          <a:xfrm>
            <a:off x="548640" y="774443"/>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Simplify  5(a + 3) − 2(a + 1)</a:t>
            </a:r>
          </a:p>
        </p:txBody>
      </p:sp>
      <p:sp>
        <p:nvSpPr>
          <p:cNvPr id="139" name="slide_sub"/>
          <p:cNvSpPr txBox="1"/>
          <p:nvPr/>
        </p:nvSpPr>
        <p:spPr>
          <a:xfrm>
            <a:off x="548640" y="1349545"/>
            <a:ext cx="8046719"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E5A70"/>
                </a:solidFill>
                <a:latin typeface="Arial"/>
                <a:ea typeface="Arial"/>
                <a:cs typeface="Arial"/>
                <a:sym typeface="Arial"/>
              </a:defRPr>
            </a:lvl1pPr>
          </a:lstStyle>
          <a:p>
            <a:pPr/>
            <a:r>
              <a:t>A hard one.</a:t>
            </a:r>
          </a:p>
        </p:txBody>
      </p:sp>
      <p:sp>
        <p:nvSpPr>
          <p:cNvPr id="140" name="mn0_bg"/>
          <p:cNvSpPr/>
          <p:nvPr/>
        </p:nvSpPr>
        <p:spPr>
          <a:xfrm>
            <a:off x="548640" y="1700783"/>
            <a:ext cx="8046720" cy="566930"/>
          </a:xfrm>
          <a:prstGeom prst="roundRect">
            <a:avLst>
              <a:gd name="adj" fmla="val 9677"/>
            </a:avLst>
          </a:prstGeom>
          <a:solidFill>
            <a:srgbClr val="FDF0EE"/>
          </a:solidFill>
          <a:ln w="17780">
            <a:solidFill>
              <a:srgbClr val="E85D4A"/>
            </a:solidFill>
          </a:ln>
        </p:spPr>
        <p:txBody>
          <a:bodyPr lIns="45718" tIns="45718" rIns="45718" bIns="45718"/>
          <a:lstStyle/>
          <a:p>
            <a:pPr/>
          </a:p>
        </p:txBody>
      </p:sp>
      <p:sp>
        <p:nvSpPr>
          <p:cNvPr id="141" name="mn0_n"/>
          <p:cNvSpPr txBox="1"/>
          <p:nvPr/>
        </p:nvSpPr>
        <p:spPr>
          <a:xfrm>
            <a:off x="713230" y="1857245"/>
            <a:ext cx="2743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E85D4A"/>
                </a:solidFill>
                <a:latin typeface="Georgia"/>
                <a:ea typeface="Georgia"/>
                <a:cs typeface="Georgia"/>
                <a:sym typeface="Georgia"/>
              </a:defRPr>
            </a:lvl1pPr>
          </a:lstStyle>
          <a:p>
            <a:pPr/>
            <a:r>
              <a:t>1</a:t>
            </a:r>
          </a:p>
        </p:txBody>
      </p:sp>
      <p:sp>
        <p:nvSpPr>
          <p:cNvPr id="142" name="mn0_w"/>
          <p:cNvSpPr txBox="1"/>
          <p:nvPr/>
        </p:nvSpPr>
        <p:spPr>
          <a:xfrm>
            <a:off x="1078990" y="1897839"/>
            <a:ext cx="2606043"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The minus belongs to the 2.</a:t>
            </a:r>
          </a:p>
        </p:txBody>
      </p:sp>
      <p:sp>
        <p:nvSpPr>
          <p:cNvPr id="143" name="mn0_e"/>
          <p:cNvSpPr txBox="1"/>
          <p:nvPr/>
        </p:nvSpPr>
        <p:spPr>
          <a:xfrm>
            <a:off x="3822191" y="1857245"/>
            <a:ext cx="477317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solidFill>
                  <a:srgbClr val="2B2350"/>
                </a:solidFill>
                <a:latin typeface="Georgia"/>
                <a:ea typeface="Georgia"/>
                <a:cs typeface="Georgia"/>
                <a:sym typeface="Georgia"/>
              </a:defRPr>
            </a:pPr>
            <a:r>
              <a:t>It is  </a:t>
            </a:r>
            <a:r>
              <a:rPr>
                <a:solidFill>
                  <a:srgbClr val="C0392B"/>
                </a:solidFill>
              </a:rPr>
              <a:t>−2</a:t>
            </a:r>
            <a:r>
              <a:t>  multiplying  (a + 1)</a:t>
            </a:r>
          </a:p>
        </p:txBody>
      </p:sp>
      <p:sp>
        <p:nvSpPr>
          <p:cNvPr id="144" name="mn1_bg"/>
          <p:cNvSpPr/>
          <p:nvPr/>
        </p:nvSpPr>
        <p:spPr>
          <a:xfrm>
            <a:off x="548640" y="2386583"/>
            <a:ext cx="8046720" cy="566930"/>
          </a:xfrm>
          <a:prstGeom prst="roundRect">
            <a:avLst>
              <a:gd name="adj" fmla="val 9677"/>
            </a:avLst>
          </a:prstGeom>
          <a:solidFill>
            <a:srgbClr val="F2F0F8"/>
          </a:solidFill>
          <a:ln w="12700">
            <a:solidFill>
              <a:srgbClr val="F2F0F8"/>
            </a:solidFill>
          </a:ln>
        </p:spPr>
        <p:txBody>
          <a:bodyPr lIns="45718" tIns="45718" rIns="45718" bIns="45718"/>
          <a:lstStyle/>
          <a:p>
            <a:pPr/>
          </a:p>
        </p:txBody>
      </p:sp>
      <p:sp>
        <p:nvSpPr>
          <p:cNvPr id="145" name="mn1_n"/>
          <p:cNvSpPr txBox="1"/>
          <p:nvPr/>
        </p:nvSpPr>
        <p:spPr>
          <a:xfrm>
            <a:off x="713230" y="2543045"/>
            <a:ext cx="2743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E85D4A"/>
                </a:solidFill>
                <a:latin typeface="Georgia"/>
                <a:ea typeface="Georgia"/>
                <a:cs typeface="Georgia"/>
                <a:sym typeface="Georgia"/>
              </a:defRPr>
            </a:lvl1pPr>
          </a:lstStyle>
          <a:p>
            <a:pPr/>
            <a:r>
              <a:t>2</a:t>
            </a:r>
          </a:p>
        </p:txBody>
      </p:sp>
      <p:sp>
        <p:nvSpPr>
          <p:cNvPr id="146" name="mn1_w"/>
          <p:cNvSpPr txBox="1"/>
          <p:nvPr/>
        </p:nvSpPr>
        <p:spPr>
          <a:xfrm>
            <a:off x="1078990" y="2583639"/>
            <a:ext cx="2606043"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Expand both brackets.</a:t>
            </a:r>
          </a:p>
        </p:txBody>
      </p:sp>
      <p:sp>
        <p:nvSpPr>
          <p:cNvPr id="147" name="mn1_e"/>
          <p:cNvSpPr txBox="1"/>
          <p:nvPr/>
        </p:nvSpPr>
        <p:spPr>
          <a:xfrm>
            <a:off x="3822191" y="2543045"/>
            <a:ext cx="477317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solidFill>
                  <a:srgbClr val="2E8B57"/>
                </a:solidFill>
                <a:latin typeface="Georgia"/>
                <a:ea typeface="Georgia"/>
                <a:cs typeface="Georgia"/>
                <a:sym typeface="Georgia"/>
              </a:defRPr>
            </a:pPr>
            <a:r>
              <a:t>5a</a:t>
            </a:r>
            <a:r>
              <a:rPr>
                <a:solidFill>
                  <a:srgbClr val="2B2350"/>
                </a:solidFill>
              </a:rPr>
              <a:t> + </a:t>
            </a:r>
            <a:r>
              <a:rPr>
                <a:solidFill>
                  <a:srgbClr val="1F6FB2"/>
                </a:solidFill>
              </a:rPr>
              <a:t>15</a:t>
            </a:r>
            <a:r>
              <a:rPr>
                <a:solidFill>
                  <a:srgbClr val="2B2350"/>
                </a:solidFill>
              </a:rPr>
              <a:t>  </a:t>
            </a:r>
            <a:r>
              <a:t>− 2a</a:t>
            </a:r>
            <a:r>
              <a:rPr>
                <a:solidFill>
                  <a:srgbClr val="2B2350"/>
                </a:solidFill>
              </a:rPr>
              <a:t>  </a:t>
            </a:r>
            <a:r>
              <a:rPr>
                <a:solidFill>
                  <a:srgbClr val="1F6FB2"/>
                </a:solidFill>
              </a:rPr>
              <a:t>− 2</a:t>
            </a:r>
          </a:p>
        </p:txBody>
      </p:sp>
      <p:sp>
        <p:nvSpPr>
          <p:cNvPr id="148" name="mn2_bg"/>
          <p:cNvSpPr/>
          <p:nvPr/>
        </p:nvSpPr>
        <p:spPr>
          <a:xfrm>
            <a:off x="548640" y="3072383"/>
            <a:ext cx="8046720" cy="566930"/>
          </a:xfrm>
          <a:prstGeom prst="roundRect">
            <a:avLst>
              <a:gd name="adj" fmla="val 9677"/>
            </a:avLst>
          </a:prstGeom>
          <a:solidFill>
            <a:srgbClr val="F2F0F8"/>
          </a:solidFill>
          <a:ln w="12700">
            <a:solidFill>
              <a:srgbClr val="F2F0F8"/>
            </a:solidFill>
          </a:ln>
        </p:spPr>
        <p:txBody>
          <a:bodyPr lIns="45718" tIns="45718" rIns="45718" bIns="45718"/>
          <a:lstStyle/>
          <a:p>
            <a:pPr/>
          </a:p>
        </p:txBody>
      </p:sp>
      <p:sp>
        <p:nvSpPr>
          <p:cNvPr id="149" name="mn2_n"/>
          <p:cNvSpPr txBox="1"/>
          <p:nvPr/>
        </p:nvSpPr>
        <p:spPr>
          <a:xfrm>
            <a:off x="713230" y="3228845"/>
            <a:ext cx="2743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E85D4A"/>
                </a:solidFill>
                <a:latin typeface="Georgia"/>
                <a:ea typeface="Georgia"/>
                <a:cs typeface="Georgia"/>
                <a:sym typeface="Georgia"/>
              </a:defRPr>
            </a:lvl1pPr>
          </a:lstStyle>
          <a:p>
            <a:pPr/>
            <a:r>
              <a:t>3</a:t>
            </a:r>
          </a:p>
        </p:txBody>
      </p:sp>
      <p:sp>
        <p:nvSpPr>
          <p:cNvPr id="150" name="mn2_w"/>
          <p:cNvSpPr txBox="1"/>
          <p:nvPr/>
        </p:nvSpPr>
        <p:spPr>
          <a:xfrm>
            <a:off x="1078990" y="3269438"/>
            <a:ext cx="2606043"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Collect.</a:t>
            </a:r>
          </a:p>
        </p:txBody>
      </p:sp>
      <p:sp>
        <p:nvSpPr>
          <p:cNvPr id="151" name="mn2_e"/>
          <p:cNvSpPr txBox="1"/>
          <p:nvPr/>
        </p:nvSpPr>
        <p:spPr>
          <a:xfrm>
            <a:off x="3822191" y="3228845"/>
            <a:ext cx="477317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solidFill>
                  <a:srgbClr val="2E8B57"/>
                </a:solidFill>
                <a:latin typeface="Georgia"/>
                <a:ea typeface="Georgia"/>
                <a:cs typeface="Georgia"/>
                <a:sym typeface="Georgia"/>
              </a:defRPr>
            </a:pPr>
            <a:r>
              <a:t>5a − 2a = 3a</a:t>
            </a:r>
            <a:r>
              <a:rPr>
                <a:solidFill>
                  <a:srgbClr val="2B2350"/>
                </a:solidFill>
              </a:rPr>
              <a:t>        </a:t>
            </a:r>
            <a:r>
              <a:rPr>
                <a:solidFill>
                  <a:srgbClr val="1F6FB2"/>
                </a:solidFill>
              </a:rPr>
              <a:t>15 − 2 = 13</a:t>
            </a:r>
          </a:p>
        </p:txBody>
      </p:sp>
      <p:sp>
        <p:nvSpPr>
          <p:cNvPr id="152" name="mn3_bg"/>
          <p:cNvSpPr/>
          <p:nvPr/>
        </p:nvSpPr>
        <p:spPr>
          <a:xfrm>
            <a:off x="548640" y="3758184"/>
            <a:ext cx="8046720" cy="566931"/>
          </a:xfrm>
          <a:prstGeom prst="roundRect">
            <a:avLst>
              <a:gd name="adj" fmla="val 9677"/>
            </a:avLst>
          </a:prstGeom>
          <a:solidFill>
            <a:srgbClr val="FDF0EE"/>
          </a:solidFill>
          <a:ln w="17780">
            <a:solidFill>
              <a:srgbClr val="E85D4A"/>
            </a:solidFill>
          </a:ln>
        </p:spPr>
        <p:txBody>
          <a:bodyPr lIns="45718" tIns="45718" rIns="45718" bIns="45718"/>
          <a:lstStyle/>
          <a:p>
            <a:pPr/>
          </a:p>
        </p:txBody>
      </p:sp>
      <p:sp>
        <p:nvSpPr>
          <p:cNvPr id="153" name="mn3_n"/>
          <p:cNvSpPr txBox="1"/>
          <p:nvPr/>
        </p:nvSpPr>
        <p:spPr>
          <a:xfrm>
            <a:off x="713230" y="3914647"/>
            <a:ext cx="2743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E85D4A"/>
                </a:solidFill>
                <a:latin typeface="Georgia"/>
                <a:ea typeface="Georgia"/>
                <a:cs typeface="Georgia"/>
                <a:sym typeface="Georgia"/>
              </a:defRPr>
            </a:lvl1pPr>
          </a:lstStyle>
          <a:p>
            <a:pPr/>
            <a:r>
              <a:t>4</a:t>
            </a:r>
          </a:p>
        </p:txBody>
      </p:sp>
      <p:sp>
        <p:nvSpPr>
          <p:cNvPr id="154" name="mn3_w"/>
          <p:cNvSpPr txBox="1"/>
          <p:nvPr/>
        </p:nvSpPr>
        <p:spPr>
          <a:xfrm>
            <a:off x="1078990" y="3955241"/>
            <a:ext cx="2606043"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Answer.</a:t>
            </a:r>
          </a:p>
        </p:txBody>
      </p:sp>
      <p:sp>
        <p:nvSpPr>
          <p:cNvPr id="155" name="mn3_e"/>
          <p:cNvSpPr txBox="1"/>
          <p:nvPr/>
        </p:nvSpPr>
        <p:spPr>
          <a:xfrm>
            <a:off x="3822191" y="3914647"/>
            <a:ext cx="477317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0392B"/>
                </a:solidFill>
                <a:latin typeface="Georgia"/>
                <a:ea typeface="Georgia"/>
                <a:cs typeface="Georgia"/>
                <a:sym typeface="Georgia"/>
              </a:defRPr>
            </a:lvl1pPr>
          </a:lstStyle>
          <a:p>
            <a:pPr/>
            <a:r>
              <a:t>3a + 13</a:t>
            </a:r>
          </a:p>
        </p:txBody>
      </p:sp>
      <p:sp>
        <p:nvSpPr>
          <p:cNvPr id="156" name="mn_note"/>
          <p:cNvSpPr txBox="1"/>
          <p:nvPr/>
        </p:nvSpPr>
        <p:spPr>
          <a:xfrm>
            <a:off x="548640" y="4513024"/>
            <a:ext cx="8046719"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C0392B"/>
                </a:solidFill>
                <a:latin typeface="Arial"/>
                <a:ea typeface="Arial"/>
                <a:cs typeface="Arial"/>
                <a:sym typeface="Arial"/>
              </a:defRPr>
            </a:lvl1pPr>
          </a:lstStyle>
          <a:p>
            <a:pPr/>
            <a:r>
              <a:t>−2 × (+1) = −2.  All terms in the second bracket change sign!</a:t>
            </a:r>
          </a:p>
        </p:txBody>
      </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42"/>
                                        </p:tgtEl>
                                        <p:attrNameLst>
                                          <p:attrName>style.visibility</p:attrName>
                                        </p:attrNameLst>
                                      </p:cBhvr>
                                      <p:to>
                                        <p:strVal val="visible"/>
                                      </p:to>
                                    </p:set>
                                    <p:animEffect filter="fade" transition="in">
                                      <p:cBhvr>
                                        <p:cTn id="7" dur="400"/>
                                        <p:tgtEl>
                                          <p:spTgt spid="142"/>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43"/>
                                        </p:tgtEl>
                                        <p:attrNameLst>
                                          <p:attrName>style.visibility</p:attrName>
                                        </p:attrNameLst>
                                      </p:cBhvr>
                                      <p:to>
                                        <p:strVal val="visible"/>
                                      </p:to>
                                    </p:set>
                                    <p:animEffect filter="fade" transition="in">
                                      <p:cBhvr>
                                        <p:cTn id="12" dur="400"/>
                                        <p:tgtEl>
                                          <p:spTgt spid="143"/>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46"/>
                                        </p:tgtEl>
                                        <p:attrNameLst>
                                          <p:attrName>style.visibility</p:attrName>
                                        </p:attrNameLst>
                                      </p:cBhvr>
                                      <p:to>
                                        <p:strVal val="visible"/>
                                      </p:to>
                                    </p:set>
                                    <p:animEffect filter="fade" transition="in">
                                      <p:cBhvr>
                                        <p:cTn id="17" dur="400"/>
                                        <p:tgtEl>
                                          <p:spTgt spid="146"/>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47"/>
                                        </p:tgtEl>
                                        <p:attrNameLst>
                                          <p:attrName>style.visibility</p:attrName>
                                        </p:attrNameLst>
                                      </p:cBhvr>
                                      <p:to>
                                        <p:strVal val="visible"/>
                                      </p:to>
                                    </p:set>
                                    <p:animEffect filter="fade" transition="in">
                                      <p:cBhvr>
                                        <p:cTn id="22" dur="400"/>
                                        <p:tgtEl>
                                          <p:spTgt spid="147"/>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150"/>
                                        </p:tgtEl>
                                        <p:attrNameLst>
                                          <p:attrName>style.visibility</p:attrName>
                                        </p:attrNameLst>
                                      </p:cBhvr>
                                      <p:to>
                                        <p:strVal val="visible"/>
                                      </p:to>
                                    </p:set>
                                    <p:animEffect filter="fade" transition="in">
                                      <p:cBhvr>
                                        <p:cTn id="27" dur="400"/>
                                        <p:tgtEl>
                                          <p:spTgt spid="150"/>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ID="10" grpId="6" fill="hold">
                                  <p:stCondLst>
                                    <p:cond delay="0"/>
                                  </p:stCondLst>
                                  <p:iterate type="el" backwards="0">
                                    <p:tmAbs val="0"/>
                                  </p:iterate>
                                  <p:childTnLst>
                                    <p:set>
                                      <p:cBhvr>
                                        <p:cTn id="31" fill="hold"/>
                                        <p:tgtEl>
                                          <p:spTgt spid="151"/>
                                        </p:tgtEl>
                                        <p:attrNameLst>
                                          <p:attrName>style.visibility</p:attrName>
                                        </p:attrNameLst>
                                      </p:cBhvr>
                                      <p:to>
                                        <p:strVal val="visible"/>
                                      </p:to>
                                    </p:set>
                                    <p:animEffect filter="fade" transition="in">
                                      <p:cBhvr>
                                        <p:cTn id="32" dur="400"/>
                                        <p:tgtEl>
                                          <p:spTgt spid="151"/>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ID="10" grpId="7" fill="hold">
                                  <p:stCondLst>
                                    <p:cond delay="0"/>
                                  </p:stCondLst>
                                  <p:iterate type="el" backwards="0">
                                    <p:tmAbs val="0"/>
                                  </p:iterate>
                                  <p:childTnLst>
                                    <p:set>
                                      <p:cBhvr>
                                        <p:cTn id="36" fill="hold"/>
                                        <p:tgtEl>
                                          <p:spTgt spid="154"/>
                                        </p:tgtEl>
                                        <p:attrNameLst>
                                          <p:attrName>style.visibility</p:attrName>
                                        </p:attrNameLst>
                                      </p:cBhvr>
                                      <p:to>
                                        <p:strVal val="visible"/>
                                      </p:to>
                                    </p:set>
                                    <p:animEffect filter="fade" transition="in">
                                      <p:cBhvr>
                                        <p:cTn id="37" dur="400"/>
                                        <p:tgtEl>
                                          <p:spTgt spid="154"/>
                                        </p:tgtEl>
                                      </p:cBhvr>
                                    </p:animEffect>
                                  </p:childTnLst>
                                </p:cTn>
                              </p:par>
                            </p:childTnLst>
                          </p:cTn>
                        </p:par>
                      </p:childTnLst>
                    </p:cTn>
                  </p:par>
                  <p:par>
                    <p:cTn id="38" fill="hold">
                      <p:stCondLst>
                        <p:cond delay="indefinite"/>
                      </p:stCondLst>
                      <p:childTnLst>
                        <p:par>
                          <p:cTn id="39" fill="hold">
                            <p:stCondLst>
                              <p:cond delay="0"/>
                            </p:stCondLst>
                            <p:childTnLst>
                              <p:par>
                                <p:cTn id="40" presetClass="entr" nodeType="clickEffect" presetID="10" grpId="8" fill="hold">
                                  <p:stCondLst>
                                    <p:cond delay="0"/>
                                  </p:stCondLst>
                                  <p:iterate type="el" backwards="0">
                                    <p:tmAbs val="0"/>
                                  </p:iterate>
                                  <p:childTnLst>
                                    <p:set>
                                      <p:cBhvr>
                                        <p:cTn id="41" fill="hold"/>
                                        <p:tgtEl>
                                          <p:spTgt spid="155"/>
                                        </p:tgtEl>
                                        <p:attrNameLst>
                                          <p:attrName>style.visibility</p:attrName>
                                        </p:attrNameLst>
                                      </p:cBhvr>
                                      <p:to>
                                        <p:strVal val="visible"/>
                                      </p:to>
                                    </p:set>
                                    <p:animEffect filter="fade" transition="in">
                                      <p:cBhvr>
                                        <p:cTn id="42" dur="400"/>
                                        <p:tgtEl>
                                          <p:spTgt spid="155"/>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9" fill="hold">
                                  <p:stCondLst>
                                    <p:cond delay="0"/>
                                  </p:stCondLst>
                                  <p:iterate type="el" backwards="0">
                                    <p:tmAbs val="0"/>
                                  </p:iterate>
                                  <p:childTnLst>
                                    <p:set>
                                      <p:cBhvr>
                                        <p:cTn id="46" fill="hold"/>
                                        <p:tgtEl>
                                          <p:spTgt spid="156"/>
                                        </p:tgtEl>
                                        <p:attrNameLst>
                                          <p:attrName>style.visibility</p:attrName>
                                        </p:attrNameLst>
                                      </p:cBhvr>
                                      <p:to>
                                        <p:strVal val="visible"/>
                                      </p:to>
                                    </p:set>
                                    <p:animEffect filter="fade" transition="in">
                                      <p:cBhvr>
                                        <p:cTn id="47" dur="4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0" grpId="5"/>
      <p:bldP build="whole" bldLvl="1" animBg="1" rev="0" advAuto="0" spid="156" grpId="9"/>
      <p:bldP build="whole" bldLvl="1" animBg="1" rev="0" advAuto="0" spid="147" grpId="4"/>
      <p:bldP build="whole" bldLvl="1" animBg="1" rev="0" advAuto="0" spid="142" grpId="1"/>
      <p:bldP build="whole" bldLvl="1" animBg="1" rev="0" advAuto="0" spid="155" grpId="8"/>
      <p:bldP build="whole" bldLvl="1" animBg="1" rev="0" advAuto="0" spid="151" grpId="6"/>
      <p:bldP build="whole" bldLvl="1" animBg="1" rev="0" advAuto="0" spid="154" grpId="7"/>
      <p:bldP build="whole" bldLvl="1" animBg="1" rev="0" advAuto="0" spid="143" grpId="2"/>
      <p:bldP build="whole" bldLvl="1" animBg="1" rev="0" advAuto="0" spid="146" grpId="3"/>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62" name="phase_pill"/>
          <p:cNvGrpSpPr/>
          <p:nvPr/>
        </p:nvGrpSpPr>
        <p:grpSpPr>
          <a:xfrm>
            <a:off x="548638" y="274320"/>
            <a:ext cx="1512421" cy="292613"/>
            <a:chOff x="0" y="0"/>
            <a:chExt cx="1512420" cy="292612"/>
          </a:xfrm>
        </p:grpSpPr>
        <p:sp>
          <p:nvSpPr>
            <p:cNvPr id="160" name="Rounded Rectangle"/>
            <p:cNvSpPr/>
            <p:nvPr/>
          </p:nvSpPr>
          <p:spPr>
            <a:xfrm>
              <a:off x="-1" y="0"/>
              <a:ext cx="1512421" cy="292613"/>
            </a:xfrm>
            <a:prstGeom prst="roundRect">
              <a:avLst>
                <a:gd name="adj" fmla="val 43750"/>
              </a:avLst>
            </a:prstGeom>
            <a:solidFill>
              <a:srgbClr val="2B2350"/>
            </a:solidFill>
            <a:ln w="12700" cap="flat">
              <a:noFill/>
              <a:miter lim="400000"/>
            </a:ln>
            <a:effectLst/>
          </p:spPr>
          <p:txBody>
            <a:bodyPr wrap="square" lIns="45718" tIns="45718" rIns="45718" bIns="45718" numCol="1" anchor="ctr">
              <a:noAutofit/>
            </a:bodyPr>
            <a:lstStyle/>
            <a:p>
              <a:pPr algn="ctr">
                <a:defRPr sz="900"/>
              </a:pPr>
            </a:p>
          </p:txBody>
        </p:sp>
        <p:sp>
          <p:nvSpPr>
            <p:cNvPr id="161" name="WE DO · 5 MIN"/>
            <p:cNvSpPr txBox="1"/>
            <p:nvPr/>
          </p:nvSpPr>
          <p:spPr>
            <a:xfrm>
              <a:off x="37492" y="82803"/>
              <a:ext cx="143743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WE DO · 5 MIN</a:t>
              </a:r>
            </a:p>
          </p:txBody>
        </p:sp>
      </p:grpSp>
      <p:sp>
        <p:nvSpPr>
          <p:cNvPr id="163" name="slide_title"/>
          <p:cNvSpPr txBox="1"/>
          <p:nvPr/>
        </p:nvSpPr>
        <p:spPr>
          <a:xfrm>
            <a:off x="548640" y="774443"/>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What should be the correct answer?</a:t>
            </a:r>
          </a:p>
        </p:txBody>
      </p:sp>
      <p:sp>
        <p:nvSpPr>
          <p:cNvPr id="164" name="slide_sub"/>
          <p:cNvSpPr txBox="1"/>
          <p:nvPr/>
        </p:nvSpPr>
        <p:spPr>
          <a:xfrm>
            <a:off x="548640" y="1378298"/>
            <a:ext cx="8046719"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E5A70"/>
                </a:solidFill>
                <a:latin typeface="Arial"/>
                <a:ea typeface="Arial"/>
                <a:cs typeface="Arial"/>
                <a:sym typeface="Arial"/>
              </a:defRPr>
            </a:lvl1pPr>
          </a:lstStyle>
          <a:p>
            <a:pPr/>
            <a:r>
              <a:t>Spot the mistake.</a:t>
            </a:r>
          </a:p>
        </p:txBody>
      </p:sp>
      <p:sp>
        <p:nvSpPr>
          <p:cNvPr id="165" name="sm0_bg"/>
          <p:cNvSpPr/>
          <p:nvPr/>
        </p:nvSpPr>
        <p:spPr>
          <a:xfrm>
            <a:off x="548640" y="1831083"/>
            <a:ext cx="8046720" cy="603507"/>
          </a:xfrm>
          <a:prstGeom prst="roundRect">
            <a:avLst>
              <a:gd name="adj" fmla="val 9091"/>
            </a:avLst>
          </a:prstGeom>
          <a:solidFill>
            <a:srgbClr val="F2F0F8"/>
          </a:solidFill>
          <a:ln w="12700">
            <a:solidFill>
              <a:srgbClr val="F2F0F8"/>
            </a:solidFill>
          </a:ln>
        </p:spPr>
        <p:txBody>
          <a:bodyPr lIns="45718" tIns="45718" rIns="45718" bIns="45718"/>
          <a:lstStyle/>
          <a:p>
            <a:pPr/>
          </a:p>
        </p:txBody>
      </p:sp>
      <p:sp>
        <p:nvSpPr>
          <p:cNvPr id="166" name="sm0_q"/>
          <p:cNvSpPr txBox="1"/>
          <p:nvPr/>
        </p:nvSpPr>
        <p:spPr>
          <a:xfrm>
            <a:off x="731520" y="2012187"/>
            <a:ext cx="338328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B2350"/>
                </a:solidFill>
                <a:latin typeface="Georgia"/>
                <a:ea typeface="Georgia"/>
                <a:cs typeface="Georgia"/>
                <a:sym typeface="Georgia"/>
              </a:defRPr>
            </a:lvl1pPr>
          </a:lstStyle>
          <a:p>
            <a:pPr/>
            <a:r>
              <a:t>3(x + 2) + 5x  =  8x + 2</a:t>
            </a:r>
          </a:p>
        </p:txBody>
      </p:sp>
      <p:grpSp>
        <p:nvGrpSpPr>
          <p:cNvPr id="169" name="sm0_r"/>
          <p:cNvGrpSpPr/>
          <p:nvPr/>
        </p:nvGrpSpPr>
        <p:grpSpPr>
          <a:xfrm>
            <a:off x="5500183" y="1922526"/>
            <a:ext cx="1243591" cy="420629"/>
            <a:chOff x="-1" y="0"/>
            <a:chExt cx="1243590" cy="420628"/>
          </a:xfrm>
        </p:grpSpPr>
        <p:sp>
          <p:nvSpPr>
            <p:cNvPr id="167" name="Rounded Rectangle"/>
            <p:cNvSpPr/>
            <p:nvPr/>
          </p:nvSpPr>
          <p:spPr>
            <a:xfrm>
              <a:off x="-2" y="-1"/>
              <a:ext cx="1243592" cy="420629"/>
            </a:xfrm>
            <a:prstGeom prst="roundRect">
              <a:avLst>
                <a:gd name="adj" fmla="val 15217"/>
              </a:avLst>
            </a:prstGeom>
            <a:solidFill>
              <a:srgbClr val="FDF0EE"/>
            </a:solidFill>
            <a:ln w="16510" cap="flat">
              <a:solidFill>
                <a:srgbClr val="C0392B"/>
              </a:solidFill>
              <a:prstDash val="solid"/>
              <a:round/>
            </a:ln>
            <a:effectLst/>
          </p:spPr>
          <p:txBody>
            <a:bodyPr wrap="square" lIns="45718" tIns="45718" rIns="45718" bIns="45718" numCol="1" anchor="ctr">
              <a:noAutofit/>
            </a:bodyPr>
            <a:lstStyle/>
            <a:p>
              <a:pPr algn="ctr">
                <a:defRPr sz="1500"/>
              </a:pPr>
            </a:p>
          </p:txBody>
        </p:sp>
        <p:sp>
          <p:nvSpPr>
            <p:cNvPr id="168" name="8x + 6"/>
            <p:cNvSpPr txBox="1"/>
            <p:nvPr/>
          </p:nvSpPr>
          <p:spPr>
            <a:xfrm>
              <a:off x="27001" y="102361"/>
              <a:ext cx="1189588"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C0392B"/>
                  </a:solidFill>
                  <a:latin typeface="Georgia"/>
                  <a:ea typeface="Georgia"/>
                  <a:cs typeface="Georgia"/>
                  <a:sym typeface="Georgia"/>
                </a:defRPr>
              </a:lvl1pPr>
            </a:lstStyle>
            <a:p>
              <a:pPr/>
              <a:r>
                <a:t>8x + 6</a:t>
              </a:r>
            </a:p>
          </p:txBody>
        </p:sp>
      </p:grpSp>
      <p:sp>
        <p:nvSpPr>
          <p:cNvPr id="170" name="sm1_bg"/>
          <p:cNvSpPr/>
          <p:nvPr/>
        </p:nvSpPr>
        <p:spPr>
          <a:xfrm>
            <a:off x="548640" y="2562605"/>
            <a:ext cx="8046720" cy="603507"/>
          </a:xfrm>
          <a:prstGeom prst="roundRect">
            <a:avLst>
              <a:gd name="adj" fmla="val 9091"/>
            </a:avLst>
          </a:prstGeom>
          <a:solidFill>
            <a:srgbClr val="F2F0F8"/>
          </a:solidFill>
          <a:ln w="12700">
            <a:solidFill>
              <a:srgbClr val="F2F0F8"/>
            </a:solidFill>
          </a:ln>
        </p:spPr>
        <p:txBody>
          <a:bodyPr lIns="45718" tIns="45718" rIns="45718" bIns="45718"/>
          <a:lstStyle/>
          <a:p>
            <a:pPr/>
          </a:p>
        </p:txBody>
      </p:sp>
      <p:sp>
        <p:nvSpPr>
          <p:cNvPr id="171" name="sm1_q"/>
          <p:cNvSpPr txBox="1"/>
          <p:nvPr/>
        </p:nvSpPr>
        <p:spPr>
          <a:xfrm>
            <a:off x="731520" y="2743706"/>
            <a:ext cx="338328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B2350"/>
                </a:solidFill>
                <a:latin typeface="Georgia"/>
                <a:ea typeface="Georgia"/>
                <a:cs typeface="Georgia"/>
                <a:sym typeface="Georgia"/>
              </a:defRPr>
            </a:lvl1pPr>
          </a:lstStyle>
          <a:p>
            <a:pPr/>
            <a:r>
              <a:t>4(y + 1) − 2(y + 3)  =  2y + 10</a:t>
            </a:r>
          </a:p>
        </p:txBody>
      </p:sp>
      <p:grpSp>
        <p:nvGrpSpPr>
          <p:cNvPr id="174" name="sm1_r"/>
          <p:cNvGrpSpPr/>
          <p:nvPr/>
        </p:nvGrpSpPr>
        <p:grpSpPr>
          <a:xfrm>
            <a:off x="5500183" y="2654043"/>
            <a:ext cx="1243591" cy="420630"/>
            <a:chOff x="-1" y="0"/>
            <a:chExt cx="1243590" cy="420628"/>
          </a:xfrm>
        </p:grpSpPr>
        <p:sp>
          <p:nvSpPr>
            <p:cNvPr id="172" name="Rounded Rectangle"/>
            <p:cNvSpPr/>
            <p:nvPr/>
          </p:nvSpPr>
          <p:spPr>
            <a:xfrm>
              <a:off x="-2" y="-1"/>
              <a:ext cx="1243592" cy="420629"/>
            </a:xfrm>
            <a:prstGeom prst="roundRect">
              <a:avLst>
                <a:gd name="adj" fmla="val 15217"/>
              </a:avLst>
            </a:prstGeom>
            <a:solidFill>
              <a:srgbClr val="FDF0EE"/>
            </a:solidFill>
            <a:ln w="16510" cap="flat">
              <a:solidFill>
                <a:srgbClr val="C0392B"/>
              </a:solidFill>
              <a:prstDash val="solid"/>
              <a:round/>
            </a:ln>
            <a:effectLst/>
          </p:spPr>
          <p:txBody>
            <a:bodyPr wrap="square" lIns="45718" tIns="45718" rIns="45718" bIns="45718" numCol="1" anchor="ctr">
              <a:noAutofit/>
            </a:bodyPr>
            <a:lstStyle/>
            <a:p>
              <a:pPr algn="ctr">
                <a:defRPr sz="1500"/>
              </a:pPr>
            </a:p>
          </p:txBody>
        </p:sp>
        <p:sp>
          <p:nvSpPr>
            <p:cNvPr id="173" name="2y − 2"/>
            <p:cNvSpPr txBox="1"/>
            <p:nvPr/>
          </p:nvSpPr>
          <p:spPr>
            <a:xfrm>
              <a:off x="27001" y="102361"/>
              <a:ext cx="1189588"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C0392B"/>
                  </a:solidFill>
                  <a:latin typeface="Georgia"/>
                  <a:ea typeface="Georgia"/>
                  <a:cs typeface="Georgia"/>
                  <a:sym typeface="Georgia"/>
                </a:defRPr>
              </a:lvl1pPr>
            </a:lstStyle>
            <a:p>
              <a:pPr/>
              <a:r>
                <a:t>2y − 2</a:t>
              </a:r>
            </a:p>
          </p:txBody>
        </p:sp>
      </p:grpSp>
      <p:sp>
        <p:nvSpPr>
          <p:cNvPr id="175" name="sm2_bg"/>
          <p:cNvSpPr/>
          <p:nvPr/>
        </p:nvSpPr>
        <p:spPr>
          <a:xfrm>
            <a:off x="548640" y="3294126"/>
            <a:ext cx="8046720" cy="603507"/>
          </a:xfrm>
          <a:prstGeom prst="roundRect">
            <a:avLst>
              <a:gd name="adj" fmla="val 9091"/>
            </a:avLst>
          </a:prstGeom>
          <a:solidFill>
            <a:srgbClr val="F2F0F8"/>
          </a:solidFill>
          <a:ln w="12700">
            <a:solidFill>
              <a:srgbClr val="F2F0F8"/>
            </a:solidFill>
          </a:ln>
        </p:spPr>
        <p:txBody>
          <a:bodyPr lIns="45718" tIns="45718" rIns="45718" bIns="45718"/>
          <a:lstStyle/>
          <a:p>
            <a:pPr/>
          </a:p>
        </p:txBody>
      </p:sp>
      <p:sp>
        <p:nvSpPr>
          <p:cNvPr id="176" name="sm2_q"/>
          <p:cNvSpPr txBox="1"/>
          <p:nvPr/>
        </p:nvSpPr>
        <p:spPr>
          <a:xfrm>
            <a:off x="731520" y="3475228"/>
            <a:ext cx="338328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B2350"/>
                </a:solidFill>
                <a:latin typeface="Georgia"/>
                <a:ea typeface="Georgia"/>
                <a:cs typeface="Georgia"/>
                <a:sym typeface="Georgia"/>
              </a:defRPr>
            </a:lvl1pPr>
          </a:lstStyle>
          <a:p>
            <a:pPr/>
            <a:r>
              <a:t>2(3x + 1) + x  =  7x + 1</a:t>
            </a:r>
          </a:p>
        </p:txBody>
      </p:sp>
      <p:grpSp>
        <p:nvGrpSpPr>
          <p:cNvPr id="179" name="sm2_r"/>
          <p:cNvGrpSpPr/>
          <p:nvPr/>
        </p:nvGrpSpPr>
        <p:grpSpPr>
          <a:xfrm>
            <a:off x="5500183" y="3385565"/>
            <a:ext cx="1243591" cy="420629"/>
            <a:chOff x="-1" y="0"/>
            <a:chExt cx="1243590" cy="420628"/>
          </a:xfrm>
        </p:grpSpPr>
        <p:sp>
          <p:nvSpPr>
            <p:cNvPr id="177" name="Rounded Rectangle"/>
            <p:cNvSpPr/>
            <p:nvPr/>
          </p:nvSpPr>
          <p:spPr>
            <a:xfrm>
              <a:off x="-2" y="-1"/>
              <a:ext cx="1243592" cy="420629"/>
            </a:xfrm>
            <a:prstGeom prst="roundRect">
              <a:avLst>
                <a:gd name="adj" fmla="val 15217"/>
              </a:avLst>
            </a:prstGeom>
            <a:solidFill>
              <a:srgbClr val="FDF0EE"/>
            </a:solidFill>
            <a:ln w="16510" cap="flat">
              <a:solidFill>
                <a:srgbClr val="C0392B"/>
              </a:solidFill>
              <a:prstDash val="solid"/>
              <a:round/>
            </a:ln>
            <a:effectLst/>
          </p:spPr>
          <p:txBody>
            <a:bodyPr wrap="square" lIns="45718" tIns="45718" rIns="45718" bIns="45718" numCol="1" anchor="ctr">
              <a:noAutofit/>
            </a:bodyPr>
            <a:lstStyle/>
            <a:p>
              <a:pPr algn="ctr">
                <a:defRPr sz="1500"/>
              </a:pPr>
            </a:p>
          </p:txBody>
        </p:sp>
        <p:sp>
          <p:nvSpPr>
            <p:cNvPr id="178" name="7x + 2"/>
            <p:cNvSpPr txBox="1"/>
            <p:nvPr/>
          </p:nvSpPr>
          <p:spPr>
            <a:xfrm>
              <a:off x="27001" y="102361"/>
              <a:ext cx="1189588"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C0392B"/>
                  </a:solidFill>
                  <a:latin typeface="Georgia"/>
                  <a:ea typeface="Georgia"/>
                  <a:cs typeface="Georgia"/>
                  <a:sym typeface="Georgia"/>
                </a:defRPr>
              </a:lvl1pPr>
            </a:lstStyle>
            <a:p>
              <a:pPr/>
              <a:r>
                <a:t>7x + 2</a:t>
              </a:r>
            </a:p>
          </p:txBody>
        </p:sp>
      </p:grpSp>
      <p:sp>
        <p:nvSpPr>
          <p:cNvPr id="180" name="sm3_bg"/>
          <p:cNvSpPr/>
          <p:nvPr/>
        </p:nvSpPr>
        <p:spPr>
          <a:xfrm>
            <a:off x="548640" y="4025646"/>
            <a:ext cx="8046720" cy="603507"/>
          </a:xfrm>
          <a:prstGeom prst="roundRect">
            <a:avLst>
              <a:gd name="adj" fmla="val 9091"/>
            </a:avLst>
          </a:prstGeom>
          <a:solidFill>
            <a:srgbClr val="F2F0F8"/>
          </a:solidFill>
          <a:ln w="12700">
            <a:solidFill>
              <a:srgbClr val="F2F0F8"/>
            </a:solidFill>
          </a:ln>
        </p:spPr>
        <p:txBody>
          <a:bodyPr lIns="45718" tIns="45718" rIns="45718" bIns="45718"/>
          <a:lstStyle/>
          <a:p>
            <a:pPr/>
          </a:p>
        </p:txBody>
      </p:sp>
      <p:sp>
        <p:nvSpPr>
          <p:cNvPr id="181" name="sm3_q"/>
          <p:cNvSpPr txBox="1"/>
          <p:nvPr/>
        </p:nvSpPr>
        <p:spPr>
          <a:xfrm>
            <a:off x="731520" y="4206747"/>
            <a:ext cx="338328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B2350"/>
                </a:solidFill>
                <a:latin typeface="Georgia"/>
                <a:ea typeface="Georgia"/>
                <a:cs typeface="Georgia"/>
                <a:sym typeface="Georgia"/>
              </a:defRPr>
            </a:lvl1pPr>
          </a:lstStyle>
          <a:p>
            <a:pPr/>
            <a:r>
              <a:t>5(a + 2) − 3a  =  8a + 10</a:t>
            </a:r>
          </a:p>
        </p:txBody>
      </p:sp>
      <p:grpSp>
        <p:nvGrpSpPr>
          <p:cNvPr id="184" name="sm3_r"/>
          <p:cNvGrpSpPr/>
          <p:nvPr/>
        </p:nvGrpSpPr>
        <p:grpSpPr>
          <a:xfrm>
            <a:off x="5500183" y="4117085"/>
            <a:ext cx="1243591" cy="420629"/>
            <a:chOff x="-1" y="0"/>
            <a:chExt cx="1243590" cy="420628"/>
          </a:xfrm>
        </p:grpSpPr>
        <p:sp>
          <p:nvSpPr>
            <p:cNvPr id="182" name="Rounded Rectangle"/>
            <p:cNvSpPr/>
            <p:nvPr/>
          </p:nvSpPr>
          <p:spPr>
            <a:xfrm>
              <a:off x="-2" y="-1"/>
              <a:ext cx="1243592" cy="420629"/>
            </a:xfrm>
            <a:prstGeom prst="roundRect">
              <a:avLst>
                <a:gd name="adj" fmla="val 15217"/>
              </a:avLst>
            </a:prstGeom>
            <a:solidFill>
              <a:srgbClr val="FDF0EE"/>
            </a:solidFill>
            <a:ln w="16510" cap="flat">
              <a:solidFill>
                <a:srgbClr val="C0392B"/>
              </a:solidFill>
              <a:prstDash val="solid"/>
              <a:round/>
            </a:ln>
            <a:effectLst/>
          </p:spPr>
          <p:txBody>
            <a:bodyPr wrap="square" lIns="45718" tIns="45718" rIns="45718" bIns="45718" numCol="1" anchor="ctr">
              <a:noAutofit/>
            </a:bodyPr>
            <a:lstStyle/>
            <a:p>
              <a:pPr algn="ctr">
                <a:defRPr sz="1500"/>
              </a:pPr>
            </a:p>
          </p:txBody>
        </p:sp>
        <p:sp>
          <p:nvSpPr>
            <p:cNvPr id="183" name="2a + 10"/>
            <p:cNvSpPr txBox="1"/>
            <p:nvPr/>
          </p:nvSpPr>
          <p:spPr>
            <a:xfrm>
              <a:off x="27001" y="102361"/>
              <a:ext cx="1189588"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C0392B"/>
                  </a:solidFill>
                  <a:latin typeface="Georgia"/>
                  <a:ea typeface="Georgia"/>
                  <a:cs typeface="Georgia"/>
                  <a:sym typeface="Georgia"/>
                </a:defRPr>
              </a:lvl1pPr>
            </a:lstStyle>
            <a:p>
              <a:pPr/>
              <a:r>
                <a:t>2a + 10</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169"/>
                                        </p:tgtEl>
                                        <p:attrNameLst>
                                          <p:attrName>style.visibility</p:attrName>
                                        </p:attrNameLst>
                                      </p:cBhvr>
                                      <p:to>
                                        <p:strVal val="visible"/>
                                      </p:to>
                                    </p:set>
                                    <p:anim calcmode="lin" valueType="num">
                                      <p:cBhvr>
                                        <p:cTn id="7" dur="400" fill="hold"/>
                                        <p:tgtEl>
                                          <p:spTgt spid="169"/>
                                        </p:tgtEl>
                                        <p:attrNameLst>
                                          <p:attrName>ppt_w</p:attrName>
                                        </p:attrNameLst>
                                      </p:cBhvr>
                                      <p:tavLst>
                                        <p:tav tm="0">
                                          <p:val>
                                            <p:fltVal val="0"/>
                                          </p:val>
                                        </p:tav>
                                        <p:tav tm="100000">
                                          <p:val>
                                            <p:strVal val="#ppt_w"/>
                                          </p:val>
                                        </p:tav>
                                      </p:tavLst>
                                    </p:anim>
                                    <p:anim calcmode="lin" valueType="num">
                                      <p:cBhvr>
                                        <p:cTn id="8" dur="400" fill="hold"/>
                                        <p:tgtEl>
                                          <p:spTgt spid="16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6" presetID="23" grpId="2" fill="hold">
                                  <p:stCondLst>
                                    <p:cond delay="0"/>
                                  </p:stCondLst>
                                  <p:iterate type="el" backwards="0">
                                    <p:tmAbs val="0"/>
                                  </p:iterate>
                                  <p:childTnLst>
                                    <p:set>
                                      <p:cBhvr>
                                        <p:cTn id="12" fill="hold"/>
                                        <p:tgtEl>
                                          <p:spTgt spid="174"/>
                                        </p:tgtEl>
                                        <p:attrNameLst>
                                          <p:attrName>style.visibility</p:attrName>
                                        </p:attrNameLst>
                                      </p:cBhvr>
                                      <p:to>
                                        <p:strVal val="visible"/>
                                      </p:to>
                                    </p:set>
                                    <p:anim calcmode="lin" valueType="num">
                                      <p:cBhvr>
                                        <p:cTn id="13" dur="400" fill="hold"/>
                                        <p:tgtEl>
                                          <p:spTgt spid="174"/>
                                        </p:tgtEl>
                                        <p:attrNameLst>
                                          <p:attrName>ppt_w</p:attrName>
                                        </p:attrNameLst>
                                      </p:cBhvr>
                                      <p:tavLst>
                                        <p:tav tm="0">
                                          <p:val>
                                            <p:fltVal val="0"/>
                                          </p:val>
                                        </p:tav>
                                        <p:tav tm="100000">
                                          <p:val>
                                            <p:strVal val="#ppt_w"/>
                                          </p:val>
                                        </p:tav>
                                      </p:tavLst>
                                    </p:anim>
                                    <p:anim calcmode="lin" valueType="num">
                                      <p:cBhvr>
                                        <p:cTn id="14" dur="400" fill="hold"/>
                                        <p:tgtEl>
                                          <p:spTgt spid="174"/>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16" presetID="23" grpId="3" fill="hold">
                                  <p:stCondLst>
                                    <p:cond delay="0"/>
                                  </p:stCondLst>
                                  <p:iterate type="el" backwards="0">
                                    <p:tmAbs val="0"/>
                                  </p:iterate>
                                  <p:childTnLst>
                                    <p:set>
                                      <p:cBhvr>
                                        <p:cTn id="18" fill="hold"/>
                                        <p:tgtEl>
                                          <p:spTgt spid="179"/>
                                        </p:tgtEl>
                                        <p:attrNameLst>
                                          <p:attrName>style.visibility</p:attrName>
                                        </p:attrNameLst>
                                      </p:cBhvr>
                                      <p:to>
                                        <p:strVal val="visible"/>
                                      </p:to>
                                    </p:set>
                                    <p:anim calcmode="lin" valueType="num">
                                      <p:cBhvr>
                                        <p:cTn id="19" dur="400" fill="hold"/>
                                        <p:tgtEl>
                                          <p:spTgt spid="179"/>
                                        </p:tgtEl>
                                        <p:attrNameLst>
                                          <p:attrName>ppt_w</p:attrName>
                                        </p:attrNameLst>
                                      </p:cBhvr>
                                      <p:tavLst>
                                        <p:tav tm="0">
                                          <p:val>
                                            <p:fltVal val="0"/>
                                          </p:val>
                                        </p:tav>
                                        <p:tav tm="100000">
                                          <p:val>
                                            <p:strVal val="#ppt_w"/>
                                          </p:val>
                                        </p:tav>
                                      </p:tavLst>
                                    </p:anim>
                                    <p:anim calcmode="lin" valueType="num">
                                      <p:cBhvr>
                                        <p:cTn id="20" dur="400" fill="hold"/>
                                        <p:tgtEl>
                                          <p:spTgt spid="179"/>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16" presetID="23" grpId="4" fill="hold">
                                  <p:stCondLst>
                                    <p:cond delay="0"/>
                                  </p:stCondLst>
                                  <p:iterate type="el" backwards="0">
                                    <p:tmAbs val="0"/>
                                  </p:iterate>
                                  <p:childTnLst>
                                    <p:set>
                                      <p:cBhvr>
                                        <p:cTn id="24" fill="hold"/>
                                        <p:tgtEl>
                                          <p:spTgt spid="184"/>
                                        </p:tgtEl>
                                        <p:attrNameLst>
                                          <p:attrName>style.visibility</p:attrName>
                                        </p:attrNameLst>
                                      </p:cBhvr>
                                      <p:to>
                                        <p:strVal val="visible"/>
                                      </p:to>
                                    </p:set>
                                    <p:anim calcmode="lin" valueType="num">
                                      <p:cBhvr>
                                        <p:cTn id="25" dur="400" fill="hold"/>
                                        <p:tgtEl>
                                          <p:spTgt spid="184"/>
                                        </p:tgtEl>
                                        <p:attrNameLst>
                                          <p:attrName>ppt_w</p:attrName>
                                        </p:attrNameLst>
                                      </p:cBhvr>
                                      <p:tavLst>
                                        <p:tav tm="0">
                                          <p:val>
                                            <p:fltVal val="0"/>
                                          </p:val>
                                        </p:tav>
                                        <p:tav tm="100000">
                                          <p:val>
                                            <p:strVal val="#ppt_w"/>
                                          </p:val>
                                        </p:tav>
                                      </p:tavLst>
                                    </p:anim>
                                    <p:anim calcmode="lin" valueType="num">
                                      <p:cBhvr>
                                        <p:cTn id="26" dur="400" fill="hold"/>
                                        <p:tgtEl>
                                          <p:spTgt spid="18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4" grpId="2"/>
      <p:bldP build="whole" bldLvl="1" animBg="1" rev="0" advAuto="0" spid="184" grpId="4"/>
      <p:bldP build="whole" bldLvl="1" animBg="1" rev="0" advAuto="0" spid="169" grpId="1"/>
      <p:bldP build="whole" bldLvl="1" animBg="1" rev="0" advAuto="0" spid="179"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q5_bg"/>
          <p:cNvSpPr/>
          <p:nvPr/>
        </p:nvSpPr>
        <p:spPr>
          <a:xfrm>
            <a:off x="6035038" y="941107"/>
            <a:ext cx="2560324" cy="1684496"/>
          </a:xfrm>
          <a:prstGeom prst="roundRect">
            <a:avLst>
              <a:gd name="adj" fmla="val 3257"/>
            </a:avLst>
          </a:prstGeom>
          <a:solidFill>
            <a:srgbClr val="F2F0F8"/>
          </a:solidFill>
          <a:ln w="12700">
            <a:solidFill>
              <a:srgbClr val="F2F0F8"/>
            </a:solidFill>
          </a:ln>
        </p:spPr>
        <p:txBody>
          <a:bodyPr lIns="45718" tIns="45718" rIns="45718" bIns="45718"/>
          <a:lstStyle/>
          <a:p>
            <a:pPr/>
          </a:p>
        </p:txBody>
      </p:sp>
      <p:grpSp>
        <p:nvGrpSpPr>
          <p:cNvPr id="191" name="phase_pill"/>
          <p:cNvGrpSpPr/>
          <p:nvPr/>
        </p:nvGrpSpPr>
        <p:grpSpPr>
          <a:xfrm>
            <a:off x="548638" y="274320"/>
            <a:ext cx="1512421" cy="292613"/>
            <a:chOff x="0" y="0"/>
            <a:chExt cx="1512420" cy="292612"/>
          </a:xfrm>
        </p:grpSpPr>
        <p:sp>
          <p:nvSpPr>
            <p:cNvPr id="189" name="Rounded Rectangle"/>
            <p:cNvSpPr/>
            <p:nvPr/>
          </p:nvSpPr>
          <p:spPr>
            <a:xfrm>
              <a:off x="-1" y="0"/>
              <a:ext cx="1512421" cy="292613"/>
            </a:xfrm>
            <a:prstGeom prst="roundRect">
              <a:avLst>
                <a:gd name="adj" fmla="val 43750"/>
              </a:avLst>
            </a:prstGeom>
            <a:solidFill>
              <a:srgbClr val="2B2350"/>
            </a:solidFill>
            <a:ln w="12700" cap="flat">
              <a:noFill/>
              <a:miter lim="400000"/>
            </a:ln>
            <a:effectLst/>
          </p:spPr>
          <p:txBody>
            <a:bodyPr wrap="square" lIns="45718" tIns="45718" rIns="45718" bIns="45718" numCol="1" anchor="ctr">
              <a:noAutofit/>
            </a:bodyPr>
            <a:lstStyle/>
            <a:p>
              <a:pPr algn="ctr">
                <a:defRPr sz="900"/>
              </a:pPr>
            </a:p>
          </p:txBody>
        </p:sp>
        <p:sp>
          <p:nvSpPr>
            <p:cNvPr id="190" name="WE DO · 6 MIN"/>
            <p:cNvSpPr txBox="1"/>
            <p:nvPr/>
          </p:nvSpPr>
          <p:spPr>
            <a:xfrm>
              <a:off x="37492" y="82803"/>
              <a:ext cx="143743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COLD CALL · 6 MIN</a:t>
              </a:r>
            </a:p>
          </p:txBody>
        </p:sp>
      </p:grpSp>
      <p:sp>
        <p:nvSpPr>
          <p:cNvPr id="192" name="q0_bg"/>
          <p:cNvSpPr/>
          <p:nvPr/>
        </p:nvSpPr>
        <p:spPr>
          <a:xfrm>
            <a:off x="548638" y="939980"/>
            <a:ext cx="2560324" cy="1686751"/>
          </a:xfrm>
          <a:prstGeom prst="roundRect">
            <a:avLst>
              <a:gd name="adj" fmla="val 3252"/>
            </a:avLst>
          </a:prstGeom>
          <a:solidFill>
            <a:srgbClr val="F2F0F8"/>
          </a:solidFill>
          <a:ln w="12700">
            <a:solidFill>
              <a:srgbClr val="F2F0F8"/>
            </a:solidFill>
          </a:ln>
        </p:spPr>
        <p:txBody>
          <a:bodyPr lIns="45718" tIns="45718" rIns="45718" bIns="45718"/>
          <a:lstStyle/>
          <a:p>
            <a:pPr/>
          </a:p>
        </p:txBody>
      </p:sp>
      <p:sp>
        <p:nvSpPr>
          <p:cNvPr id="193" name="q0_badge"/>
          <p:cNvSpPr/>
          <p:nvPr/>
        </p:nvSpPr>
        <p:spPr>
          <a:xfrm>
            <a:off x="694942" y="1152836"/>
            <a:ext cx="347478" cy="347477"/>
          </a:xfrm>
          <a:prstGeom prst="ellipse">
            <a:avLst/>
          </a:prstGeom>
          <a:solidFill>
            <a:srgbClr val="E85D4A"/>
          </a:solidFill>
          <a:ln w="12700">
            <a:solidFill>
              <a:srgbClr val="E85D4A"/>
            </a:solidFill>
          </a:ln>
        </p:spPr>
        <p:txBody>
          <a:bodyPr lIns="45718" tIns="45718" rIns="45718" bIns="45718"/>
          <a:lstStyle/>
          <a:p>
            <a:pPr/>
          </a:p>
        </p:txBody>
      </p:sp>
      <p:sp>
        <p:nvSpPr>
          <p:cNvPr id="194" name="q0_num"/>
          <p:cNvSpPr txBox="1"/>
          <p:nvPr/>
        </p:nvSpPr>
        <p:spPr>
          <a:xfrm>
            <a:off x="694943" y="1258800"/>
            <a:ext cx="347474"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1</a:t>
            </a:r>
          </a:p>
        </p:txBody>
      </p:sp>
      <p:sp>
        <p:nvSpPr>
          <p:cNvPr id="195" name="q0_e"/>
          <p:cNvSpPr txBox="1"/>
          <p:nvPr/>
        </p:nvSpPr>
        <p:spPr>
          <a:xfrm>
            <a:off x="1166373" y="1198811"/>
            <a:ext cx="192024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E85D4A"/>
                </a:solidFill>
                <a:latin typeface="Georgia"/>
                <a:ea typeface="Georgia"/>
                <a:cs typeface="Georgia"/>
                <a:sym typeface="Georgia"/>
              </a:defRPr>
            </a:pPr>
            <a:r>
              <a:t>2</a:t>
            </a:r>
            <a:r>
              <a:rPr>
                <a:solidFill>
                  <a:srgbClr val="2B2350"/>
                </a:solidFill>
              </a:rPr>
              <a:t>(</a:t>
            </a:r>
            <a:r>
              <a:rPr>
                <a:solidFill>
                  <a:srgbClr val="2E8B57"/>
                </a:solidFill>
              </a:rPr>
              <a:t>x</a:t>
            </a:r>
            <a:r>
              <a:rPr>
                <a:solidFill>
                  <a:srgbClr val="2B2350"/>
                </a:solidFill>
              </a:rPr>
              <a:t> + </a:t>
            </a:r>
            <a:r>
              <a:rPr>
                <a:solidFill>
                  <a:srgbClr val="1F6FB2"/>
                </a:solidFill>
              </a:rPr>
              <a:t>3</a:t>
            </a:r>
            <a:r>
              <a:rPr>
                <a:solidFill>
                  <a:srgbClr val="2B2350"/>
                </a:solidFill>
              </a:rPr>
              <a:t>) + </a:t>
            </a:r>
            <a:r>
              <a:rPr>
                <a:solidFill>
                  <a:srgbClr val="2E8B57"/>
                </a:solidFill>
              </a:rPr>
              <a:t>4x</a:t>
            </a:r>
          </a:p>
        </p:txBody>
      </p:sp>
      <p:sp>
        <p:nvSpPr>
          <p:cNvPr id="196" name="q0_a"/>
          <p:cNvSpPr txBox="1"/>
          <p:nvPr/>
        </p:nvSpPr>
        <p:spPr>
          <a:xfrm>
            <a:off x="731518" y="2140318"/>
            <a:ext cx="219456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C0392B"/>
                </a:solidFill>
                <a:latin typeface="Georgia"/>
                <a:ea typeface="Georgia"/>
                <a:cs typeface="Georgia"/>
                <a:sym typeface="Georgia"/>
              </a:defRPr>
            </a:lvl1pPr>
          </a:lstStyle>
          <a:p>
            <a:pPr/>
            <a:r>
              <a:t>6x + 6</a:t>
            </a:r>
          </a:p>
        </p:txBody>
      </p:sp>
      <p:sp>
        <p:nvSpPr>
          <p:cNvPr id="197" name="q1_bg"/>
          <p:cNvSpPr/>
          <p:nvPr/>
        </p:nvSpPr>
        <p:spPr>
          <a:xfrm>
            <a:off x="3291838" y="939980"/>
            <a:ext cx="2560324" cy="1686751"/>
          </a:xfrm>
          <a:prstGeom prst="roundRect">
            <a:avLst>
              <a:gd name="adj" fmla="val 3252"/>
            </a:avLst>
          </a:prstGeom>
          <a:solidFill>
            <a:srgbClr val="F2F0F8"/>
          </a:solidFill>
          <a:ln w="12700">
            <a:solidFill>
              <a:srgbClr val="F2F0F8"/>
            </a:solidFill>
          </a:ln>
        </p:spPr>
        <p:txBody>
          <a:bodyPr lIns="45718" tIns="45718" rIns="45718" bIns="45718"/>
          <a:lstStyle/>
          <a:p>
            <a:pPr/>
          </a:p>
        </p:txBody>
      </p:sp>
      <p:sp>
        <p:nvSpPr>
          <p:cNvPr id="198" name="q1_badge"/>
          <p:cNvSpPr/>
          <p:nvPr/>
        </p:nvSpPr>
        <p:spPr>
          <a:xfrm>
            <a:off x="3438142" y="1152836"/>
            <a:ext cx="347477" cy="347477"/>
          </a:xfrm>
          <a:prstGeom prst="ellipse">
            <a:avLst/>
          </a:prstGeom>
          <a:solidFill>
            <a:srgbClr val="E85D4A"/>
          </a:solidFill>
          <a:ln w="12700">
            <a:solidFill>
              <a:srgbClr val="E85D4A"/>
            </a:solidFill>
          </a:ln>
        </p:spPr>
        <p:txBody>
          <a:bodyPr lIns="45718" tIns="45718" rIns="45718" bIns="45718"/>
          <a:lstStyle/>
          <a:p>
            <a:pPr/>
          </a:p>
        </p:txBody>
      </p:sp>
      <p:sp>
        <p:nvSpPr>
          <p:cNvPr id="199" name="q1_num"/>
          <p:cNvSpPr txBox="1"/>
          <p:nvPr/>
        </p:nvSpPr>
        <p:spPr>
          <a:xfrm>
            <a:off x="3438142" y="1258800"/>
            <a:ext cx="347475"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2</a:t>
            </a:r>
          </a:p>
        </p:txBody>
      </p:sp>
      <p:sp>
        <p:nvSpPr>
          <p:cNvPr id="200" name="q1_e"/>
          <p:cNvSpPr txBox="1"/>
          <p:nvPr/>
        </p:nvSpPr>
        <p:spPr>
          <a:xfrm>
            <a:off x="3909573" y="1198811"/>
            <a:ext cx="192024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E85D4A"/>
                </a:solidFill>
                <a:latin typeface="Georgia"/>
                <a:ea typeface="Georgia"/>
                <a:cs typeface="Georgia"/>
                <a:sym typeface="Georgia"/>
              </a:defRPr>
            </a:pPr>
            <a:r>
              <a:t>5</a:t>
            </a:r>
            <a:r>
              <a:rPr>
                <a:solidFill>
                  <a:srgbClr val="2B2350"/>
                </a:solidFill>
              </a:rPr>
              <a:t>(</a:t>
            </a:r>
            <a:r>
              <a:rPr>
                <a:solidFill>
                  <a:srgbClr val="2E8B57"/>
                </a:solidFill>
              </a:rPr>
              <a:t>a</a:t>
            </a:r>
            <a:r>
              <a:rPr>
                <a:solidFill>
                  <a:srgbClr val="2B2350"/>
                </a:solidFill>
              </a:rPr>
              <a:t> + </a:t>
            </a:r>
            <a:r>
              <a:rPr>
                <a:solidFill>
                  <a:srgbClr val="1F6FB2"/>
                </a:solidFill>
              </a:rPr>
              <a:t>1</a:t>
            </a:r>
            <a:r>
              <a:rPr>
                <a:solidFill>
                  <a:srgbClr val="2B2350"/>
                </a:solidFill>
              </a:rPr>
              <a:t>) + </a:t>
            </a:r>
            <a:r>
              <a:rPr>
                <a:solidFill>
                  <a:srgbClr val="2E8B57"/>
                </a:solidFill>
              </a:rPr>
              <a:t>2a</a:t>
            </a:r>
          </a:p>
        </p:txBody>
      </p:sp>
      <p:sp>
        <p:nvSpPr>
          <p:cNvPr id="201" name="q1_a"/>
          <p:cNvSpPr txBox="1"/>
          <p:nvPr/>
        </p:nvSpPr>
        <p:spPr>
          <a:xfrm>
            <a:off x="3474718" y="2140318"/>
            <a:ext cx="2194563"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C0392B"/>
                </a:solidFill>
                <a:latin typeface="Georgia"/>
                <a:ea typeface="Georgia"/>
                <a:cs typeface="Georgia"/>
                <a:sym typeface="Georgia"/>
              </a:defRPr>
            </a:lvl1pPr>
          </a:lstStyle>
          <a:p>
            <a:pPr/>
            <a:r>
              <a:t>7a + 5</a:t>
            </a:r>
          </a:p>
        </p:txBody>
      </p:sp>
      <p:sp>
        <p:nvSpPr>
          <p:cNvPr id="202" name="q2_badge"/>
          <p:cNvSpPr/>
          <p:nvPr/>
        </p:nvSpPr>
        <p:spPr>
          <a:xfrm>
            <a:off x="6181342" y="1152836"/>
            <a:ext cx="347477" cy="347477"/>
          </a:xfrm>
          <a:prstGeom prst="ellipse">
            <a:avLst/>
          </a:prstGeom>
          <a:solidFill>
            <a:srgbClr val="E85D4A"/>
          </a:solidFill>
          <a:ln w="12700">
            <a:solidFill>
              <a:srgbClr val="E85D4A"/>
            </a:solidFill>
          </a:ln>
        </p:spPr>
        <p:txBody>
          <a:bodyPr lIns="45718" tIns="45718" rIns="45718" bIns="45718"/>
          <a:lstStyle/>
          <a:p>
            <a:pPr/>
          </a:p>
        </p:txBody>
      </p:sp>
      <p:sp>
        <p:nvSpPr>
          <p:cNvPr id="203" name="q2_num"/>
          <p:cNvSpPr txBox="1"/>
          <p:nvPr/>
        </p:nvSpPr>
        <p:spPr>
          <a:xfrm>
            <a:off x="6181342" y="1258800"/>
            <a:ext cx="347475"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3</a:t>
            </a:r>
          </a:p>
        </p:txBody>
      </p:sp>
      <p:sp>
        <p:nvSpPr>
          <p:cNvPr id="204" name="q2_e"/>
          <p:cNvSpPr txBox="1"/>
          <p:nvPr/>
        </p:nvSpPr>
        <p:spPr>
          <a:xfrm>
            <a:off x="6652773" y="1198811"/>
            <a:ext cx="192024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E85D4A"/>
                </a:solidFill>
                <a:latin typeface="Georgia"/>
                <a:ea typeface="Georgia"/>
                <a:cs typeface="Georgia"/>
                <a:sym typeface="Georgia"/>
              </a:defRPr>
            </a:pPr>
            <a:r>
              <a:t>3</a:t>
            </a:r>
            <a:r>
              <a:rPr>
                <a:solidFill>
                  <a:srgbClr val="2B2350"/>
                </a:solidFill>
              </a:rPr>
              <a:t>(</a:t>
            </a:r>
            <a:r>
              <a:rPr>
                <a:solidFill>
                  <a:srgbClr val="2E8B57"/>
                </a:solidFill>
              </a:rPr>
              <a:t>y</a:t>
            </a:r>
            <a:r>
              <a:rPr>
                <a:solidFill>
                  <a:srgbClr val="2B2350"/>
                </a:solidFill>
              </a:rPr>
              <a:t> + </a:t>
            </a:r>
            <a:r>
              <a:rPr>
                <a:solidFill>
                  <a:srgbClr val="1F6FB2"/>
                </a:solidFill>
              </a:rPr>
              <a:t>4</a:t>
            </a:r>
            <a:r>
              <a:rPr>
                <a:solidFill>
                  <a:srgbClr val="2B2350"/>
                </a:solidFill>
              </a:rPr>
              <a:t>) − </a:t>
            </a:r>
            <a:r>
              <a:rPr>
                <a:solidFill>
                  <a:srgbClr val="2E8B57"/>
                </a:solidFill>
              </a:rPr>
              <a:t>y</a:t>
            </a:r>
          </a:p>
        </p:txBody>
      </p:sp>
      <p:sp>
        <p:nvSpPr>
          <p:cNvPr id="205" name="q2_a"/>
          <p:cNvSpPr txBox="1"/>
          <p:nvPr/>
        </p:nvSpPr>
        <p:spPr>
          <a:xfrm>
            <a:off x="6217918" y="2140318"/>
            <a:ext cx="2194563"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C0392B"/>
                </a:solidFill>
                <a:latin typeface="Georgia"/>
                <a:ea typeface="Georgia"/>
                <a:cs typeface="Georgia"/>
                <a:sym typeface="Georgia"/>
              </a:defRPr>
            </a:lvl1pPr>
          </a:lstStyle>
          <a:p>
            <a:pPr/>
            <a:r>
              <a:t>2y + 12</a:t>
            </a:r>
          </a:p>
        </p:txBody>
      </p:sp>
      <p:sp>
        <p:nvSpPr>
          <p:cNvPr id="206" name="q3_bg"/>
          <p:cNvSpPr/>
          <p:nvPr/>
        </p:nvSpPr>
        <p:spPr>
          <a:xfrm>
            <a:off x="548640" y="2947630"/>
            <a:ext cx="2560323" cy="1684496"/>
          </a:xfrm>
          <a:prstGeom prst="roundRect">
            <a:avLst>
              <a:gd name="adj" fmla="val 3257"/>
            </a:avLst>
          </a:prstGeom>
          <a:solidFill>
            <a:srgbClr val="F2F0F8"/>
          </a:solidFill>
          <a:ln w="12700">
            <a:solidFill>
              <a:srgbClr val="F2F0F8"/>
            </a:solidFill>
          </a:ln>
        </p:spPr>
        <p:txBody>
          <a:bodyPr lIns="45718" tIns="45718" rIns="45718" bIns="45718"/>
          <a:lstStyle/>
          <a:p>
            <a:pPr/>
          </a:p>
        </p:txBody>
      </p:sp>
      <p:sp>
        <p:nvSpPr>
          <p:cNvPr id="207" name="q3_badge"/>
          <p:cNvSpPr/>
          <p:nvPr/>
        </p:nvSpPr>
        <p:spPr>
          <a:xfrm>
            <a:off x="694944" y="3158230"/>
            <a:ext cx="347477" cy="347477"/>
          </a:xfrm>
          <a:prstGeom prst="ellipse">
            <a:avLst/>
          </a:prstGeom>
          <a:solidFill>
            <a:srgbClr val="E85D4A"/>
          </a:solidFill>
          <a:ln w="12700">
            <a:solidFill>
              <a:srgbClr val="E85D4A"/>
            </a:solidFill>
          </a:ln>
        </p:spPr>
        <p:txBody>
          <a:bodyPr lIns="45718" tIns="45718" rIns="45718" bIns="45718"/>
          <a:lstStyle/>
          <a:p>
            <a:pPr/>
          </a:p>
        </p:txBody>
      </p:sp>
      <p:sp>
        <p:nvSpPr>
          <p:cNvPr id="208" name="q3_num"/>
          <p:cNvSpPr txBox="1"/>
          <p:nvPr/>
        </p:nvSpPr>
        <p:spPr>
          <a:xfrm>
            <a:off x="694944" y="3264194"/>
            <a:ext cx="347475"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4</a:t>
            </a:r>
          </a:p>
        </p:txBody>
      </p:sp>
      <p:sp>
        <p:nvSpPr>
          <p:cNvPr id="209" name="q3_e"/>
          <p:cNvSpPr txBox="1"/>
          <p:nvPr/>
        </p:nvSpPr>
        <p:spPr>
          <a:xfrm>
            <a:off x="1166373" y="3083555"/>
            <a:ext cx="192024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E85D4A"/>
                </a:solidFill>
                <a:latin typeface="Georgia"/>
                <a:ea typeface="Georgia"/>
                <a:cs typeface="Georgia"/>
                <a:sym typeface="Georgia"/>
              </a:defRPr>
            </a:pPr>
            <a:r>
              <a:t>4</a:t>
            </a:r>
            <a:r>
              <a:rPr>
                <a:solidFill>
                  <a:srgbClr val="2B2350"/>
                </a:solidFill>
              </a:rPr>
              <a:t>(</a:t>
            </a:r>
            <a:r>
              <a:rPr>
                <a:solidFill>
                  <a:srgbClr val="2E8B57"/>
                </a:solidFill>
              </a:rPr>
              <a:t>m</a:t>
            </a:r>
            <a:r>
              <a:rPr>
                <a:solidFill>
                  <a:srgbClr val="2B2350"/>
                </a:solidFill>
              </a:rPr>
              <a:t> + </a:t>
            </a:r>
            <a:r>
              <a:rPr>
                <a:solidFill>
                  <a:srgbClr val="1F6FB2"/>
                </a:solidFill>
              </a:rPr>
              <a:t>2</a:t>
            </a:r>
            <a:r>
              <a:rPr>
                <a:solidFill>
                  <a:srgbClr val="2B2350"/>
                </a:solidFill>
              </a:rPr>
              <a:t>) + 3(</a:t>
            </a:r>
            <a:r>
              <a:rPr>
                <a:solidFill>
                  <a:srgbClr val="2E8B57"/>
                </a:solidFill>
              </a:rPr>
              <a:t>m</a:t>
            </a:r>
            <a:r>
              <a:rPr>
                <a:solidFill>
                  <a:srgbClr val="2B2350"/>
                </a:solidFill>
              </a:rPr>
              <a:t> + </a:t>
            </a:r>
            <a:r>
              <a:rPr>
                <a:solidFill>
                  <a:srgbClr val="1F6FB2"/>
                </a:solidFill>
              </a:rPr>
              <a:t>1</a:t>
            </a:r>
            <a:r>
              <a:rPr>
                <a:solidFill>
                  <a:srgbClr val="2B2350"/>
                </a:solidFill>
              </a:rPr>
              <a:t>)</a:t>
            </a:r>
          </a:p>
        </p:txBody>
      </p:sp>
      <p:sp>
        <p:nvSpPr>
          <p:cNvPr id="210" name="q3_a"/>
          <p:cNvSpPr txBox="1"/>
          <p:nvPr/>
        </p:nvSpPr>
        <p:spPr>
          <a:xfrm>
            <a:off x="731519" y="4145712"/>
            <a:ext cx="219456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C0392B"/>
                </a:solidFill>
                <a:latin typeface="Georgia"/>
                <a:ea typeface="Georgia"/>
                <a:cs typeface="Georgia"/>
                <a:sym typeface="Georgia"/>
              </a:defRPr>
            </a:lvl1pPr>
          </a:lstStyle>
          <a:p>
            <a:pPr/>
            <a:r>
              <a:t>7m + 11</a:t>
            </a:r>
          </a:p>
        </p:txBody>
      </p:sp>
      <p:sp>
        <p:nvSpPr>
          <p:cNvPr id="211" name="q4_bg"/>
          <p:cNvSpPr/>
          <p:nvPr/>
        </p:nvSpPr>
        <p:spPr>
          <a:xfrm>
            <a:off x="3291840" y="2947630"/>
            <a:ext cx="2560323" cy="1684496"/>
          </a:xfrm>
          <a:prstGeom prst="roundRect">
            <a:avLst>
              <a:gd name="adj" fmla="val 3257"/>
            </a:avLst>
          </a:prstGeom>
          <a:solidFill>
            <a:srgbClr val="F2F0F8"/>
          </a:solidFill>
          <a:ln w="12700">
            <a:solidFill>
              <a:srgbClr val="F2F0F8"/>
            </a:solidFill>
          </a:ln>
        </p:spPr>
        <p:txBody>
          <a:bodyPr lIns="45718" tIns="45718" rIns="45718" bIns="45718"/>
          <a:lstStyle/>
          <a:p>
            <a:pPr/>
          </a:p>
        </p:txBody>
      </p:sp>
      <p:sp>
        <p:nvSpPr>
          <p:cNvPr id="212" name="q4_badge"/>
          <p:cNvSpPr/>
          <p:nvPr/>
        </p:nvSpPr>
        <p:spPr>
          <a:xfrm>
            <a:off x="3438144" y="3158230"/>
            <a:ext cx="347477" cy="347477"/>
          </a:xfrm>
          <a:prstGeom prst="ellipse">
            <a:avLst/>
          </a:prstGeom>
          <a:solidFill>
            <a:srgbClr val="E85D4A"/>
          </a:solidFill>
          <a:ln w="12700">
            <a:solidFill>
              <a:srgbClr val="E85D4A"/>
            </a:solidFill>
          </a:ln>
        </p:spPr>
        <p:txBody>
          <a:bodyPr lIns="45718" tIns="45718" rIns="45718" bIns="45718"/>
          <a:lstStyle/>
          <a:p>
            <a:pPr/>
          </a:p>
        </p:txBody>
      </p:sp>
      <p:sp>
        <p:nvSpPr>
          <p:cNvPr id="213" name="q4_num"/>
          <p:cNvSpPr txBox="1"/>
          <p:nvPr/>
        </p:nvSpPr>
        <p:spPr>
          <a:xfrm>
            <a:off x="3438144" y="3264194"/>
            <a:ext cx="347475"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5</a:t>
            </a:r>
          </a:p>
        </p:txBody>
      </p:sp>
      <p:sp>
        <p:nvSpPr>
          <p:cNvPr id="214" name="q4_e"/>
          <p:cNvSpPr txBox="1"/>
          <p:nvPr/>
        </p:nvSpPr>
        <p:spPr>
          <a:xfrm>
            <a:off x="3909574" y="3204205"/>
            <a:ext cx="19202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E85D4A"/>
                </a:solidFill>
                <a:latin typeface="Georgia"/>
                <a:ea typeface="Georgia"/>
                <a:cs typeface="Georgia"/>
                <a:sym typeface="Georgia"/>
              </a:defRPr>
            </a:pPr>
            <a:r>
              <a:t>6</a:t>
            </a:r>
            <a:r>
              <a:rPr>
                <a:solidFill>
                  <a:srgbClr val="2B2350"/>
                </a:solidFill>
              </a:rPr>
              <a:t>(</a:t>
            </a:r>
            <a:r>
              <a:rPr>
                <a:solidFill>
                  <a:srgbClr val="2E8B57"/>
                </a:solidFill>
              </a:rPr>
              <a:t>p</a:t>
            </a:r>
            <a:r>
              <a:rPr>
                <a:solidFill>
                  <a:srgbClr val="2B2350"/>
                </a:solidFill>
              </a:rPr>
              <a:t> + </a:t>
            </a:r>
            <a:r>
              <a:rPr>
                <a:solidFill>
                  <a:srgbClr val="1F6FB2"/>
                </a:solidFill>
              </a:rPr>
              <a:t>3</a:t>
            </a:r>
            <a:r>
              <a:rPr>
                <a:solidFill>
                  <a:srgbClr val="2B2350"/>
                </a:solidFill>
              </a:rPr>
              <a:t>) − 2(</a:t>
            </a:r>
            <a:r>
              <a:rPr>
                <a:solidFill>
                  <a:srgbClr val="2E8B57"/>
                </a:solidFill>
              </a:rPr>
              <a:t>p</a:t>
            </a:r>
            <a:r>
              <a:rPr>
                <a:solidFill>
                  <a:srgbClr val="2B2350"/>
                </a:solidFill>
              </a:rPr>
              <a:t> + </a:t>
            </a:r>
            <a:r>
              <a:rPr>
                <a:solidFill>
                  <a:srgbClr val="1F6FB2"/>
                </a:solidFill>
              </a:rPr>
              <a:t>4</a:t>
            </a:r>
            <a:r>
              <a:rPr>
                <a:solidFill>
                  <a:srgbClr val="2B2350"/>
                </a:solidFill>
              </a:rPr>
              <a:t>)</a:t>
            </a:r>
          </a:p>
        </p:txBody>
      </p:sp>
      <p:sp>
        <p:nvSpPr>
          <p:cNvPr id="215" name="q4_a"/>
          <p:cNvSpPr txBox="1"/>
          <p:nvPr/>
        </p:nvSpPr>
        <p:spPr>
          <a:xfrm>
            <a:off x="3474720" y="4145712"/>
            <a:ext cx="2194563"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C0392B"/>
                </a:solidFill>
                <a:latin typeface="Georgia"/>
                <a:ea typeface="Georgia"/>
                <a:cs typeface="Georgia"/>
                <a:sym typeface="Georgia"/>
              </a:defRPr>
            </a:lvl1pPr>
          </a:lstStyle>
          <a:p>
            <a:pPr/>
            <a:r>
              <a:t>4p + 10</a:t>
            </a:r>
          </a:p>
        </p:txBody>
      </p:sp>
      <p:sp>
        <p:nvSpPr>
          <p:cNvPr id="216" name="q5_bg"/>
          <p:cNvSpPr/>
          <p:nvPr/>
        </p:nvSpPr>
        <p:spPr>
          <a:xfrm>
            <a:off x="6035040" y="2947630"/>
            <a:ext cx="2560323" cy="1684496"/>
          </a:xfrm>
          <a:prstGeom prst="roundRect">
            <a:avLst>
              <a:gd name="adj" fmla="val 3257"/>
            </a:avLst>
          </a:prstGeom>
          <a:solidFill>
            <a:srgbClr val="F2F0F8"/>
          </a:solidFill>
          <a:ln w="12700">
            <a:solidFill>
              <a:srgbClr val="F2F0F8"/>
            </a:solidFill>
          </a:ln>
        </p:spPr>
        <p:txBody>
          <a:bodyPr lIns="45718" tIns="45718" rIns="45718" bIns="45718"/>
          <a:lstStyle/>
          <a:p>
            <a:pPr/>
          </a:p>
        </p:txBody>
      </p:sp>
      <p:sp>
        <p:nvSpPr>
          <p:cNvPr id="217" name="q5_badge"/>
          <p:cNvSpPr/>
          <p:nvPr/>
        </p:nvSpPr>
        <p:spPr>
          <a:xfrm>
            <a:off x="6181344" y="3158230"/>
            <a:ext cx="347477" cy="347477"/>
          </a:xfrm>
          <a:prstGeom prst="ellipse">
            <a:avLst/>
          </a:prstGeom>
          <a:solidFill>
            <a:srgbClr val="E85D4A"/>
          </a:solidFill>
          <a:ln w="12700">
            <a:solidFill>
              <a:srgbClr val="E85D4A"/>
            </a:solidFill>
          </a:ln>
        </p:spPr>
        <p:txBody>
          <a:bodyPr lIns="45718" tIns="45718" rIns="45718" bIns="45718"/>
          <a:lstStyle/>
          <a:p>
            <a:pPr/>
          </a:p>
        </p:txBody>
      </p:sp>
      <p:sp>
        <p:nvSpPr>
          <p:cNvPr id="218" name="q5_num"/>
          <p:cNvSpPr txBox="1"/>
          <p:nvPr/>
        </p:nvSpPr>
        <p:spPr>
          <a:xfrm>
            <a:off x="6181344" y="3264194"/>
            <a:ext cx="347475"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6</a:t>
            </a:r>
          </a:p>
        </p:txBody>
      </p:sp>
      <p:sp>
        <p:nvSpPr>
          <p:cNvPr id="219" name="q5_e"/>
          <p:cNvSpPr txBox="1"/>
          <p:nvPr/>
        </p:nvSpPr>
        <p:spPr>
          <a:xfrm>
            <a:off x="6652773" y="3083555"/>
            <a:ext cx="192024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E85D4A"/>
                </a:solidFill>
                <a:latin typeface="Georgia"/>
                <a:ea typeface="Georgia"/>
                <a:cs typeface="Georgia"/>
                <a:sym typeface="Georgia"/>
              </a:defRPr>
            </a:pPr>
            <a:r>
              <a:t>2</a:t>
            </a:r>
            <a:r>
              <a:rPr>
                <a:solidFill>
                  <a:srgbClr val="2B2350"/>
                </a:solidFill>
              </a:rPr>
              <a:t>(3</a:t>
            </a:r>
            <a:r>
              <a:rPr>
                <a:solidFill>
                  <a:srgbClr val="2E8B57"/>
                </a:solidFill>
              </a:rPr>
              <a:t>k</a:t>
            </a:r>
            <a:r>
              <a:rPr>
                <a:solidFill>
                  <a:srgbClr val="2B2350"/>
                </a:solidFill>
              </a:rPr>
              <a:t> − </a:t>
            </a:r>
            <a:r>
              <a:rPr>
                <a:solidFill>
                  <a:srgbClr val="1F6FB2"/>
                </a:solidFill>
              </a:rPr>
              <a:t>1</a:t>
            </a:r>
            <a:r>
              <a:rPr>
                <a:solidFill>
                  <a:srgbClr val="2B2350"/>
                </a:solidFill>
              </a:rPr>
              <a:t>) − 3(</a:t>
            </a:r>
            <a:r>
              <a:rPr>
                <a:solidFill>
                  <a:srgbClr val="2E8B57"/>
                </a:solidFill>
              </a:rPr>
              <a:t>k</a:t>
            </a:r>
            <a:r>
              <a:rPr>
                <a:solidFill>
                  <a:srgbClr val="2B2350"/>
                </a:solidFill>
              </a:rPr>
              <a:t> − </a:t>
            </a:r>
            <a:r>
              <a:rPr>
                <a:solidFill>
                  <a:srgbClr val="1F6FB2"/>
                </a:solidFill>
              </a:rPr>
              <a:t>4</a:t>
            </a:r>
            <a:r>
              <a:rPr>
                <a:solidFill>
                  <a:srgbClr val="2B2350"/>
                </a:solidFill>
              </a:rPr>
              <a:t>)</a:t>
            </a:r>
          </a:p>
        </p:txBody>
      </p:sp>
      <p:sp>
        <p:nvSpPr>
          <p:cNvPr id="220" name="q5_a"/>
          <p:cNvSpPr txBox="1"/>
          <p:nvPr/>
        </p:nvSpPr>
        <p:spPr>
          <a:xfrm>
            <a:off x="6217920" y="4145712"/>
            <a:ext cx="2194563"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C0392B"/>
                </a:solidFill>
                <a:latin typeface="Georgia"/>
                <a:ea typeface="Georgia"/>
                <a:cs typeface="Georgia"/>
                <a:sym typeface="Georgia"/>
              </a:defRPr>
            </a:lvl1pPr>
          </a:lstStyle>
          <a:p>
            <a:pPr/>
            <a:r>
              <a:t>3k + 10</a:t>
            </a:r>
          </a:p>
        </p:txBody>
      </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196"/>
                                        </p:tgtEl>
                                        <p:attrNameLst>
                                          <p:attrName>style.visibility</p:attrName>
                                        </p:attrNameLst>
                                      </p:cBhvr>
                                      <p:to>
                                        <p:strVal val="visible"/>
                                      </p:to>
                                    </p:set>
                                    <p:anim calcmode="lin" valueType="num">
                                      <p:cBhvr>
                                        <p:cTn id="7" dur="400" fill="hold"/>
                                        <p:tgtEl>
                                          <p:spTgt spid="196"/>
                                        </p:tgtEl>
                                        <p:attrNameLst>
                                          <p:attrName>ppt_w</p:attrName>
                                        </p:attrNameLst>
                                      </p:cBhvr>
                                      <p:tavLst>
                                        <p:tav tm="0">
                                          <p:val>
                                            <p:fltVal val="0"/>
                                          </p:val>
                                        </p:tav>
                                        <p:tav tm="100000">
                                          <p:val>
                                            <p:strVal val="#ppt_w"/>
                                          </p:val>
                                        </p:tav>
                                      </p:tavLst>
                                    </p:anim>
                                    <p:anim calcmode="lin" valueType="num">
                                      <p:cBhvr>
                                        <p:cTn id="8" dur="400" fill="hold"/>
                                        <p:tgtEl>
                                          <p:spTgt spid="19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6" presetID="23" grpId="2" fill="hold">
                                  <p:stCondLst>
                                    <p:cond delay="0"/>
                                  </p:stCondLst>
                                  <p:iterate type="el" backwards="0">
                                    <p:tmAbs val="0"/>
                                  </p:iterate>
                                  <p:childTnLst>
                                    <p:set>
                                      <p:cBhvr>
                                        <p:cTn id="12" fill="hold"/>
                                        <p:tgtEl>
                                          <p:spTgt spid="201"/>
                                        </p:tgtEl>
                                        <p:attrNameLst>
                                          <p:attrName>style.visibility</p:attrName>
                                        </p:attrNameLst>
                                      </p:cBhvr>
                                      <p:to>
                                        <p:strVal val="visible"/>
                                      </p:to>
                                    </p:set>
                                    <p:anim calcmode="lin" valueType="num">
                                      <p:cBhvr>
                                        <p:cTn id="13" dur="400" fill="hold"/>
                                        <p:tgtEl>
                                          <p:spTgt spid="201"/>
                                        </p:tgtEl>
                                        <p:attrNameLst>
                                          <p:attrName>ppt_w</p:attrName>
                                        </p:attrNameLst>
                                      </p:cBhvr>
                                      <p:tavLst>
                                        <p:tav tm="0">
                                          <p:val>
                                            <p:fltVal val="0"/>
                                          </p:val>
                                        </p:tav>
                                        <p:tav tm="100000">
                                          <p:val>
                                            <p:strVal val="#ppt_w"/>
                                          </p:val>
                                        </p:tav>
                                      </p:tavLst>
                                    </p:anim>
                                    <p:anim calcmode="lin" valueType="num">
                                      <p:cBhvr>
                                        <p:cTn id="14" dur="400" fill="hold"/>
                                        <p:tgtEl>
                                          <p:spTgt spid="201"/>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16" presetID="23" grpId="3" fill="hold">
                                  <p:stCondLst>
                                    <p:cond delay="0"/>
                                  </p:stCondLst>
                                  <p:iterate type="el" backwards="0">
                                    <p:tmAbs val="0"/>
                                  </p:iterate>
                                  <p:childTnLst>
                                    <p:set>
                                      <p:cBhvr>
                                        <p:cTn id="18" fill="hold"/>
                                        <p:tgtEl>
                                          <p:spTgt spid="205"/>
                                        </p:tgtEl>
                                        <p:attrNameLst>
                                          <p:attrName>style.visibility</p:attrName>
                                        </p:attrNameLst>
                                      </p:cBhvr>
                                      <p:to>
                                        <p:strVal val="visible"/>
                                      </p:to>
                                    </p:set>
                                    <p:anim calcmode="lin" valueType="num">
                                      <p:cBhvr>
                                        <p:cTn id="19" dur="400" fill="hold"/>
                                        <p:tgtEl>
                                          <p:spTgt spid="205"/>
                                        </p:tgtEl>
                                        <p:attrNameLst>
                                          <p:attrName>ppt_w</p:attrName>
                                        </p:attrNameLst>
                                      </p:cBhvr>
                                      <p:tavLst>
                                        <p:tav tm="0">
                                          <p:val>
                                            <p:fltVal val="0"/>
                                          </p:val>
                                        </p:tav>
                                        <p:tav tm="100000">
                                          <p:val>
                                            <p:strVal val="#ppt_w"/>
                                          </p:val>
                                        </p:tav>
                                      </p:tavLst>
                                    </p:anim>
                                    <p:anim calcmode="lin" valueType="num">
                                      <p:cBhvr>
                                        <p:cTn id="20" dur="400" fill="hold"/>
                                        <p:tgtEl>
                                          <p:spTgt spid="205"/>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16" presetID="23" grpId="4" fill="hold">
                                  <p:stCondLst>
                                    <p:cond delay="0"/>
                                  </p:stCondLst>
                                  <p:iterate type="el" backwards="0">
                                    <p:tmAbs val="0"/>
                                  </p:iterate>
                                  <p:childTnLst>
                                    <p:set>
                                      <p:cBhvr>
                                        <p:cTn id="24" fill="hold"/>
                                        <p:tgtEl>
                                          <p:spTgt spid="210"/>
                                        </p:tgtEl>
                                        <p:attrNameLst>
                                          <p:attrName>style.visibility</p:attrName>
                                        </p:attrNameLst>
                                      </p:cBhvr>
                                      <p:to>
                                        <p:strVal val="visible"/>
                                      </p:to>
                                    </p:set>
                                    <p:anim calcmode="lin" valueType="num">
                                      <p:cBhvr>
                                        <p:cTn id="25" dur="400" fill="hold"/>
                                        <p:tgtEl>
                                          <p:spTgt spid="210"/>
                                        </p:tgtEl>
                                        <p:attrNameLst>
                                          <p:attrName>ppt_w</p:attrName>
                                        </p:attrNameLst>
                                      </p:cBhvr>
                                      <p:tavLst>
                                        <p:tav tm="0">
                                          <p:val>
                                            <p:fltVal val="0"/>
                                          </p:val>
                                        </p:tav>
                                        <p:tav tm="100000">
                                          <p:val>
                                            <p:strVal val="#ppt_w"/>
                                          </p:val>
                                        </p:tav>
                                      </p:tavLst>
                                    </p:anim>
                                    <p:anim calcmode="lin" valueType="num">
                                      <p:cBhvr>
                                        <p:cTn id="26" dur="400" fill="hold"/>
                                        <p:tgtEl>
                                          <p:spTgt spid="210"/>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6" presetID="23" grpId="5" fill="hold">
                                  <p:stCondLst>
                                    <p:cond delay="0"/>
                                  </p:stCondLst>
                                  <p:iterate type="el" backwards="0">
                                    <p:tmAbs val="0"/>
                                  </p:iterate>
                                  <p:childTnLst>
                                    <p:set>
                                      <p:cBhvr>
                                        <p:cTn id="30" fill="hold"/>
                                        <p:tgtEl>
                                          <p:spTgt spid="215"/>
                                        </p:tgtEl>
                                        <p:attrNameLst>
                                          <p:attrName>style.visibility</p:attrName>
                                        </p:attrNameLst>
                                      </p:cBhvr>
                                      <p:to>
                                        <p:strVal val="visible"/>
                                      </p:to>
                                    </p:set>
                                    <p:anim calcmode="lin" valueType="num">
                                      <p:cBhvr>
                                        <p:cTn id="31" dur="400" fill="hold"/>
                                        <p:tgtEl>
                                          <p:spTgt spid="215"/>
                                        </p:tgtEl>
                                        <p:attrNameLst>
                                          <p:attrName>ppt_w</p:attrName>
                                        </p:attrNameLst>
                                      </p:cBhvr>
                                      <p:tavLst>
                                        <p:tav tm="0">
                                          <p:val>
                                            <p:fltVal val="0"/>
                                          </p:val>
                                        </p:tav>
                                        <p:tav tm="100000">
                                          <p:val>
                                            <p:strVal val="#ppt_w"/>
                                          </p:val>
                                        </p:tav>
                                      </p:tavLst>
                                    </p:anim>
                                    <p:anim calcmode="lin" valueType="num">
                                      <p:cBhvr>
                                        <p:cTn id="32" dur="400" fill="hold"/>
                                        <p:tgtEl>
                                          <p:spTgt spid="215"/>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16" presetID="23" grpId="6" fill="hold">
                                  <p:stCondLst>
                                    <p:cond delay="0"/>
                                  </p:stCondLst>
                                  <p:iterate type="el" backwards="0">
                                    <p:tmAbs val="0"/>
                                  </p:iterate>
                                  <p:childTnLst>
                                    <p:set>
                                      <p:cBhvr>
                                        <p:cTn id="36" fill="hold"/>
                                        <p:tgtEl>
                                          <p:spTgt spid="220"/>
                                        </p:tgtEl>
                                        <p:attrNameLst>
                                          <p:attrName>style.visibility</p:attrName>
                                        </p:attrNameLst>
                                      </p:cBhvr>
                                      <p:to>
                                        <p:strVal val="visible"/>
                                      </p:to>
                                    </p:set>
                                    <p:anim calcmode="lin" valueType="num">
                                      <p:cBhvr>
                                        <p:cTn id="37" dur="400" fill="hold"/>
                                        <p:tgtEl>
                                          <p:spTgt spid="220"/>
                                        </p:tgtEl>
                                        <p:attrNameLst>
                                          <p:attrName>ppt_w</p:attrName>
                                        </p:attrNameLst>
                                      </p:cBhvr>
                                      <p:tavLst>
                                        <p:tav tm="0">
                                          <p:val>
                                            <p:fltVal val="0"/>
                                          </p:val>
                                        </p:tav>
                                        <p:tav tm="100000">
                                          <p:val>
                                            <p:strVal val="#ppt_w"/>
                                          </p:val>
                                        </p:tav>
                                      </p:tavLst>
                                    </p:anim>
                                    <p:anim calcmode="lin" valueType="num">
                                      <p:cBhvr>
                                        <p:cTn id="38" dur="400" fill="hold"/>
                                        <p:tgtEl>
                                          <p:spTgt spid="2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20" grpId="6"/>
      <p:bldP build="whole" bldLvl="1" animBg="1" rev="0" advAuto="0" spid="205" grpId="3"/>
      <p:bldP build="whole" bldLvl="1" animBg="1" rev="0" advAuto="0" spid="201" grpId="2"/>
      <p:bldP build="whole" bldLvl="1" animBg="1" rev="0" advAuto="0" spid="196" grpId="1"/>
      <p:bldP build="whole" bldLvl="1" animBg="1" rev="0" advAuto="0" spid="215" grpId="5"/>
      <p:bldP build="whole" bldLvl="1" animBg="1" rev="0" advAuto="0" spid="210" grpId="4"/>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4" name="Image" descr="Image"/>
          <p:cNvPicPr>
            <a:picLocks noChangeAspect="1"/>
          </p:cNvPicPr>
          <p:nvPr/>
        </p:nvPicPr>
        <p:blipFill>
          <a:blip r:embed="rId3">
            <a:alphaModFix amt="50000"/>
            <a:extLst/>
          </a:blip>
          <a:stretch>
            <a:fillRect/>
          </a:stretch>
        </p:blipFill>
        <p:spPr>
          <a:xfrm>
            <a:off x="7127317" y="-11091"/>
            <a:ext cx="2015571" cy="2015571"/>
          </a:xfrm>
          <a:prstGeom prst="rect">
            <a:avLst/>
          </a:prstGeom>
          <a:ln w="12700">
            <a:miter lim="400000"/>
          </a:ln>
        </p:spPr>
      </p:pic>
      <p:sp>
        <p:nvSpPr>
          <p:cNvPr id="225" name="slide_title"/>
          <p:cNvSpPr txBox="1"/>
          <p:nvPr/>
        </p:nvSpPr>
        <p:spPr>
          <a:xfrm>
            <a:off x="548640" y="774443"/>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Expand and Simplify worksheet</a:t>
            </a:r>
          </a:p>
        </p:txBody>
      </p:sp>
      <p:sp>
        <p:nvSpPr>
          <p:cNvPr id="226" name="slide_sub"/>
          <p:cNvSpPr txBox="1"/>
          <p:nvPr/>
        </p:nvSpPr>
        <p:spPr>
          <a:xfrm>
            <a:off x="548640" y="1349546"/>
            <a:ext cx="8046719"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E5A70"/>
                </a:solidFill>
                <a:latin typeface="Arial"/>
                <a:ea typeface="Arial"/>
                <a:cs typeface="Arial"/>
                <a:sym typeface="Arial"/>
              </a:defRPr>
            </a:lvl1pPr>
          </a:lstStyle>
          <a:p>
            <a:pPr/>
            <a:r>
              <a:t>Non-calculator. You do NOT need to finish every tier.</a:t>
            </a:r>
          </a:p>
        </p:txBody>
      </p:sp>
      <p:grpSp>
        <p:nvGrpSpPr>
          <p:cNvPr id="231" name="t0"/>
          <p:cNvGrpSpPr/>
          <p:nvPr/>
        </p:nvGrpSpPr>
        <p:grpSpPr>
          <a:xfrm>
            <a:off x="548640" y="1664203"/>
            <a:ext cx="2548131" cy="1408184"/>
            <a:chOff x="0" y="-1"/>
            <a:chExt cx="2548130" cy="1408182"/>
          </a:xfrm>
        </p:grpSpPr>
        <p:sp>
          <p:nvSpPr>
            <p:cNvPr id="227" name="t0_bg"/>
            <p:cNvSpPr/>
            <p:nvPr/>
          </p:nvSpPr>
          <p:spPr>
            <a:xfrm>
              <a:off x="0" y="-2"/>
              <a:ext cx="2548131" cy="1408184"/>
            </a:xfrm>
            <a:prstGeom prst="roundRect">
              <a:avLst>
                <a:gd name="adj" fmla="val 3896"/>
              </a:avLst>
            </a:prstGeom>
            <a:solidFill>
              <a:srgbClr val="F2F0F8"/>
            </a:solidFill>
            <a:ln w="17780" cap="flat">
              <a:solidFill>
                <a:srgbClr val="CD7F52"/>
              </a:solidFill>
              <a:prstDash val="solid"/>
              <a:round/>
            </a:ln>
            <a:effectLst/>
          </p:spPr>
          <p:txBody>
            <a:bodyPr wrap="square" lIns="45718" tIns="45718" rIns="45718" bIns="45718" numCol="1" anchor="t">
              <a:noAutofit/>
            </a:bodyPr>
            <a:lstStyle/>
            <a:p>
              <a:pPr/>
            </a:p>
          </p:txBody>
        </p:sp>
        <p:sp>
          <p:nvSpPr>
            <p:cNvPr id="228" name="t0_h"/>
            <p:cNvSpPr txBox="1"/>
            <p:nvPr/>
          </p:nvSpPr>
          <p:spPr>
            <a:xfrm>
              <a:off x="182879" y="200406"/>
              <a:ext cx="21823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CD7F52"/>
                  </a:solidFill>
                  <a:latin typeface="Arial"/>
                  <a:ea typeface="Arial"/>
                  <a:cs typeface="Arial"/>
                  <a:sym typeface="Arial"/>
                </a:defRPr>
              </a:lvl1pPr>
            </a:lstStyle>
            <a:p>
              <a:pPr/>
              <a:r>
                <a:t>BRONZE</a:t>
              </a:r>
            </a:p>
          </p:txBody>
        </p:sp>
        <p:sp>
          <p:nvSpPr>
            <p:cNvPr id="229" name="t0_s"/>
            <p:cNvSpPr txBox="1"/>
            <p:nvPr/>
          </p:nvSpPr>
          <p:spPr>
            <a:xfrm>
              <a:off x="182879" y="471377"/>
              <a:ext cx="2182372"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2B2350"/>
                  </a:solidFill>
                  <a:latin typeface="Arial"/>
                  <a:ea typeface="Arial"/>
                  <a:cs typeface="Arial"/>
                  <a:sym typeface="Arial"/>
                </a:defRPr>
              </a:lvl1pPr>
            </a:lstStyle>
            <a:p>
              <a:pPr/>
              <a:r>
                <a:t>Fluency</a:t>
              </a:r>
            </a:p>
          </p:txBody>
        </p:sp>
        <p:sp>
          <p:nvSpPr>
            <p:cNvPr id="230" name="t0_b"/>
            <p:cNvSpPr txBox="1"/>
            <p:nvPr/>
          </p:nvSpPr>
          <p:spPr>
            <a:xfrm>
              <a:off x="182879" y="694944"/>
              <a:ext cx="2182372" cy="346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sz="1000">
                  <a:solidFill>
                    <a:srgbClr val="5E5A70"/>
                  </a:solidFill>
                  <a:latin typeface="Arial"/>
                  <a:ea typeface="Arial"/>
                  <a:cs typeface="Arial"/>
                  <a:sym typeface="Arial"/>
                </a:defRPr>
              </a:lvl1pPr>
            </a:lstStyle>
            <a:p>
              <a:pPr/>
              <a:r>
                <a:t>One bracket and a loose term. Signs included.</a:t>
              </a:r>
            </a:p>
          </p:txBody>
        </p:sp>
      </p:grpSp>
      <p:grpSp>
        <p:nvGrpSpPr>
          <p:cNvPr id="236" name="t1"/>
          <p:cNvGrpSpPr/>
          <p:nvPr/>
        </p:nvGrpSpPr>
        <p:grpSpPr>
          <a:xfrm>
            <a:off x="3297935" y="1664203"/>
            <a:ext cx="2548133" cy="1408184"/>
            <a:chOff x="0" y="-1"/>
            <a:chExt cx="2548132" cy="1408182"/>
          </a:xfrm>
        </p:grpSpPr>
        <p:sp>
          <p:nvSpPr>
            <p:cNvPr id="232" name="t1_bg"/>
            <p:cNvSpPr/>
            <p:nvPr/>
          </p:nvSpPr>
          <p:spPr>
            <a:xfrm>
              <a:off x="0" y="-2"/>
              <a:ext cx="2548133" cy="1408184"/>
            </a:xfrm>
            <a:prstGeom prst="roundRect">
              <a:avLst>
                <a:gd name="adj" fmla="val 3896"/>
              </a:avLst>
            </a:prstGeom>
            <a:solidFill>
              <a:srgbClr val="F2F0F8"/>
            </a:solidFill>
            <a:ln w="17780" cap="flat">
              <a:solidFill>
                <a:srgbClr val="78868E"/>
              </a:solidFill>
              <a:prstDash val="solid"/>
              <a:round/>
            </a:ln>
            <a:effectLst/>
          </p:spPr>
          <p:txBody>
            <a:bodyPr wrap="square" lIns="45718" tIns="45718" rIns="45718" bIns="45718" numCol="1" anchor="t">
              <a:noAutofit/>
            </a:bodyPr>
            <a:lstStyle/>
            <a:p>
              <a:pPr/>
            </a:p>
          </p:txBody>
        </p:sp>
        <p:sp>
          <p:nvSpPr>
            <p:cNvPr id="233" name="t1_h"/>
            <p:cNvSpPr txBox="1"/>
            <p:nvPr/>
          </p:nvSpPr>
          <p:spPr>
            <a:xfrm>
              <a:off x="182880" y="200406"/>
              <a:ext cx="21823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78868E"/>
                  </a:solidFill>
                  <a:latin typeface="Arial"/>
                  <a:ea typeface="Arial"/>
                  <a:cs typeface="Arial"/>
                  <a:sym typeface="Arial"/>
                </a:defRPr>
              </a:lvl1pPr>
            </a:lstStyle>
            <a:p>
              <a:pPr/>
              <a:r>
                <a:t>SILVER</a:t>
              </a:r>
            </a:p>
          </p:txBody>
        </p:sp>
        <p:sp>
          <p:nvSpPr>
            <p:cNvPr id="234" name="t1_s"/>
            <p:cNvSpPr txBox="1"/>
            <p:nvPr/>
          </p:nvSpPr>
          <p:spPr>
            <a:xfrm>
              <a:off x="182880" y="471377"/>
              <a:ext cx="2182372"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2B2350"/>
                  </a:solidFill>
                  <a:latin typeface="Arial"/>
                  <a:ea typeface="Arial"/>
                  <a:cs typeface="Arial"/>
                  <a:sym typeface="Arial"/>
                </a:defRPr>
              </a:lvl1pPr>
            </a:lstStyle>
            <a:p>
              <a:pPr/>
              <a:r>
                <a:t>Mixed practice</a:t>
              </a:r>
            </a:p>
          </p:txBody>
        </p:sp>
        <p:sp>
          <p:nvSpPr>
            <p:cNvPr id="235" name="t1_b"/>
            <p:cNvSpPr txBox="1"/>
            <p:nvPr/>
          </p:nvSpPr>
          <p:spPr>
            <a:xfrm>
              <a:off x="182880" y="694944"/>
              <a:ext cx="2182372" cy="346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sz="1000">
                  <a:solidFill>
                    <a:srgbClr val="5E5A70"/>
                  </a:solidFill>
                  <a:latin typeface="Arial"/>
                  <a:ea typeface="Arial"/>
                  <a:cs typeface="Arial"/>
                  <a:sym typeface="Arial"/>
                </a:defRPr>
              </a:lvl1pPr>
            </a:lstStyle>
            <a:p>
              <a:pPr/>
              <a:r>
                <a:t>Two brackets. Work backwards. Check by substituting.</a:t>
              </a:r>
            </a:p>
          </p:txBody>
        </p:sp>
      </p:grpSp>
      <p:grpSp>
        <p:nvGrpSpPr>
          <p:cNvPr id="241" name="t2"/>
          <p:cNvGrpSpPr/>
          <p:nvPr/>
        </p:nvGrpSpPr>
        <p:grpSpPr>
          <a:xfrm>
            <a:off x="6047232" y="1664203"/>
            <a:ext cx="2548131" cy="1408184"/>
            <a:chOff x="0" y="-1"/>
            <a:chExt cx="2548130" cy="1408182"/>
          </a:xfrm>
        </p:grpSpPr>
        <p:sp>
          <p:nvSpPr>
            <p:cNvPr id="237" name="t2_bg"/>
            <p:cNvSpPr/>
            <p:nvPr/>
          </p:nvSpPr>
          <p:spPr>
            <a:xfrm>
              <a:off x="0" y="-2"/>
              <a:ext cx="2548131" cy="1408184"/>
            </a:xfrm>
            <a:prstGeom prst="roundRect">
              <a:avLst>
                <a:gd name="adj" fmla="val 3896"/>
              </a:avLst>
            </a:prstGeom>
            <a:solidFill>
              <a:srgbClr val="FBF3DF"/>
            </a:solidFill>
            <a:ln w="17780" cap="flat">
              <a:solidFill>
                <a:srgbClr val="B98400"/>
              </a:solidFill>
              <a:prstDash val="solid"/>
              <a:round/>
            </a:ln>
            <a:effectLst/>
          </p:spPr>
          <p:txBody>
            <a:bodyPr wrap="square" lIns="45718" tIns="45718" rIns="45718" bIns="45718" numCol="1" anchor="t">
              <a:noAutofit/>
            </a:bodyPr>
            <a:lstStyle/>
            <a:p>
              <a:pPr/>
            </a:p>
          </p:txBody>
        </p:sp>
        <p:sp>
          <p:nvSpPr>
            <p:cNvPr id="238" name="t2_h"/>
            <p:cNvSpPr txBox="1"/>
            <p:nvPr/>
          </p:nvSpPr>
          <p:spPr>
            <a:xfrm>
              <a:off x="182879" y="200406"/>
              <a:ext cx="21823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B98400"/>
                  </a:solidFill>
                  <a:latin typeface="Arial"/>
                  <a:ea typeface="Arial"/>
                  <a:cs typeface="Arial"/>
                  <a:sym typeface="Arial"/>
                </a:defRPr>
              </a:lvl1pPr>
            </a:lstStyle>
            <a:p>
              <a:pPr/>
              <a:r>
                <a:t>GOLD</a:t>
              </a:r>
            </a:p>
          </p:txBody>
        </p:sp>
        <p:sp>
          <p:nvSpPr>
            <p:cNvPr id="239" name="t2_s"/>
            <p:cNvSpPr txBox="1"/>
            <p:nvPr/>
          </p:nvSpPr>
          <p:spPr>
            <a:xfrm>
              <a:off x="182879" y="471377"/>
              <a:ext cx="2182372"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2B2350"/>
                  </a:solidFill>
                  <a:latin typeface="Arial"/>
                  <a:ea typeface="Arial"/>
                  <a:cs typeface="Arial"/>
                  <a:sym typeface="Arial"/>
                </a:defRPr>
              </a:lvl1pPr>
            </a:lstStyle>
            <a:p>
              <a:pPr/>
              <a:r>
                <a:t>Reasoning</a:t>
              </a:r>
            </a:p>
          </p:txBody>
        </p:sp>
        <p:sp>
          <p:nvSpPr>
            <p:cNvPr id="240" name="t2_b"/>
            <p:cNvSpPr txBox="1"/>
            <p:nvPr/>
          </p:nvSpPr>
          <p:spPr>
            <a:xfrm>
              <a:off x="182879" y="694944"/>
              <a:ext cx="2182372" cy="346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sz="1000">
                  <a:solidFill>
                    <a:srgbClr val="5E5A70"/>
                  </a:solidFill>
                  <a:latin typeface="Arial"/>
                  <a:ea typeface="Arial"/>
                  <a:cs typeface="Arial"/>
                  <a:sym typeface="Arial"/>
                </a:defRPr>
              </a:lvl1pPr>
            </a:lstStyle>
            <a:p>
              <a:pPr/>
              <a:r>
                <a:t>Equivalence, counterexamples, and proving it in general.</a:t>
              </a:r>
            </a:p>
          </p:txBody>
        </p:sp>
      </p:grpSp>
      <p:grpSp>
        <p:nvGrpSpPr>
          <p:cNvPr id="245" name="gem"/>
          <p:cNvGrpSpPr/>
          <p:nvPr/>
        </p:nvGrpSpPr>
        <p:grpSpPr>
          <a:xfrm>
            <a:off x="548638" y="3273552"/>
            <a:ext cx="8046723" cy="932693"/>
            <a:chOff x="0" y="0"/>
            <a:chExt cx="8046722" cy="932692"/>
          </a:xfrm>
        </p:grpSpPr>
        <p:sp>
          <p:nvSpPr>
            <p:cNvPr id="242" name="gem_bg"/>
            <p:cNvSpPr/>
            <p:nvPr/>
          </p:nvSpPr>
          <p:spPr>
            <a:xfrm>
              <a:off x="-1" y="0"/>
              <a:ext cx="8046723" cy="932693"/>
            </a:xfrm>
            <a:prstGeom prst="roundRect">
              <a:avLst>
                <a:gd name="adj" fmla="val 5882"/>
              </a:avLst>
            </a:prstGeom>
            <a:solidFill>
              <a:srgbClr val="EDF2F7"/>
            </a:solidFill>
            <a:ln w="17780" cap="flat">
              <a:solidFill>
                <a:srgbClr val="5B4FA0"/>
              </a:solidFill>
              <a:prstDash val="solid"/>
              <a:round/>
            </a:ln>
            <a:effectLst/>
          </p:spPr>
          <p:txBody>
            <a:bodyPr wrap="square" lIns="45718" tIns="45718" rIns="45718" bIns="45718" numCol="1" anchor="t">
              <a:noAutofit/>
            </a:bodyPr>
            <a:lstStyle/>
            <a:p>
              <a:pPr/>
            </a:p>
          </p:txBody>
        </p:sp>
        <p:sp>
          <p:nvSpPr>
            <p:cNvPr id="243" name="gem_h"/>
            <p:cNvSpPr txBox="1"/>
            <p:nvPr/>
          </p:nvSpPr>
          <p:spPr>
            <a:xfrm>
              <a:off x="201168" y="145541"/>
              <a:ext cx="5486402"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100">
                  <a:solidFill>
                    <a:srgbClr val="2B2350"/>
                  </a:solidFill>
                  <a:latin typeface="Arial"/>
                  <a:ea typeface="Arial"/>
                  <a:cs typeface="Arial"/>
                  <a:sym typeface="Arial"/>
                </a:defRPr>
              </a:lvl1pPr>
            </a:lstStyle>
            <a:p>
              <a:pPr/>
              <a:r>
                <a:t>Check your own work!</a:t>
              </a:r>
            </a:p>
          </p:txBody>
        </p:sp>
        <p:sp>
          <p:nvSpPr>
            <p:cNvPr id="244" name="gem_t"/>
            <p:cNvSpPr txBox="1"/>
            <p:nvPr/>
          </p:nvSpPr>
          <p:spPr>
            <a:xfrm>
              <a:off x="201168" y="347472"/>
              <a:ext cx="7644385" cy="3240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300"/>
                </a:lnSpc>
                <a:defRPr sz="1000">
                  <a:solidFill>
                    <a:srgbClr val="2B2350"/>
                  </a:solidFill>
                  <a:latin typeface="Arial"/>
                  <a:ea typeface="Arial"/>
                  <a:cs typeface="Arial"/>
                  <a:sym typeface="Arial"/>
                </a:defRPr>
              </a:lvl1pPr>
            </a:lstStyle>
            <a:p>
              <a:pPr/>
              <a:r>
                <a:t>Put a number in. If the original and your answer give the same total when x = 2, you are probably right. If they disagree, you are definitely wrong. One matching value is not a proof—the Gold questions explain why.</a:t>
              </a:r>
            </a:p>
          </p:txBody>
        </p:sp>
      </p:grpSp>
      <p:grpSp>
        <p:nvGrpSpPr>
          <p:cNvPr id="248" name="phase_pill"/>
          <p:cNvGrpSpPr/>
          <p:nvPr/>
        </p:nvGrpSpPr>
        <p:grpSpPr>
          <a:xfrm>
            <a:off x="548638" y="274320"/>
            <a:ext cx="1512421" cy="292613"/>
            <a:chOff x="0" y="0"/>
            <a:chExt cx="1512420" cy="292612"/>
          </a:xfrm>
        </p:grpSpPr>
        <p:sp>
          <p:nvSpPr>
            <p:cNvPr id="246" name="Rounded Rectangle"/>
            <p:cNvSpPr/>
            <p:nvPr/>
          </p:nvSpPr>
          <p:spPr>
            <a:xfrm>
              <a:off x="-1" y="0"/>
              <a:ext cx="1512421" cy="292613"/>
            </a:xfrm>
            <a:prstGeom prst="roundRect">
              <a:avLst>
                <a:gd name="adj" fmla="val 43750"/>
              </a:avLst>
            </a:prstGeom>
            <a:solidFill>
              <a:srgbClr val="2B2350"/>
            </a:solidFill>
            <a:ln w="12700" cap="flat">
              <a:noFill/>
              <a:miter lim="400000"/>
            </a:ln>
            <a:effectLst/>
          </p:spPr>
          <p:txBody>
            <a:bodyPr wrap="square" lIns="45718" tIns="45718" rIns="45718" bIns="45718" numCol="1" anchor="ctr">
              <a:noAutofit/>
            </a:bodyPr>
            <a:lstStyle/>
            <a:p>
              <a:pPr algn="ctr">
                <a:defRPr sz="900"/>
              </a:pPr>
            </a:p>
          </p:txBody>
        </p:sp>
        <p:sp>
          <p:nvSpPr>
            <p:cNvPr id="247" name="WE DO · 6 MIN"/>
            <p:cNvSpPr txBox="1"/>
            <p:nvPr/>
          </p:nvSpPr>
          <p:spPr>
            <a:xfrm>
              <a:off x="37492" y="82803"/>
              <a:ext cx="143743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YOU DO · 14 MIN</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31"/>
                                        </p:tgtEl>
                                        <p:attrNameLst>
                                          <p:attrName>style.visibility</p:attrName>
                                        </p:attrNameLst>
                                      </p:cBhvr>
                                      <p:to>
                                        <p:strVal val="visible"/>
                                      </p:to>
                                    </p:set>
                                    <p:animEffect filter="fade" transition="in">
                                      <p:cBhvr>
                                        <p:cTn id="7" dur="400"/>
                                        <p:tgtEl>
                                          <p:spTgt spid="23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236"/>
                                        </p:tgtEl>
                                        <p:attrNameLst>
                                          <p:attrName>style.visibility</p:attrName>
                                        </p:attrNameLst>
                                      </p:cBhvr>
                                      <p:to>
                                        <p:strVal val="visible"/>
                                      </p:to>
                                    </p:set>
                                    <p:animEffect filter="fade" transition="in">
                                      <p:cBhvr>
                                        <p:cTn id="12" dur="400"/>
                                        <p:tgtEl>
                                          <p:spTgt spid="236"/>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241"/>
                                        </p:tgtEl>
                                        <p:attrNameLst>
                                          <p:attrName>style.visibility</p:attrName>
                                        </p:attrNameLst>
                                      </p:cBhvr>
                                      <p:to>
                                        <p:strVal val="visible"/>
                                      </p:to>
                                    </p:set>
                                    <p:animEffect filter="fade" transition="in">
                                      <p:cBhvr>
                                        <p:cTn id="17" dur="400"/>
                                        <p:tgtEl>
                                          <p:spTgt spid="241"/>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45"/>
                                        </p:tgtEl>
                                        <p:attrNameLst>
                                          <p:attrName>style.visibility</p:attrName>
                                        </p:attrNameLst>
                                      </p:cBhvr>
                                      <p:to>
                                        <p:strVal val="visible"/>
                                      </p:to>
                                    </p:set>
                                    <p:animEffect filter="fade" transition="in">
                                      <p:cBhvr>
                                        <p:cTn id="22" dur="400"/>
                                        <p:tgtEl>
                                          <p:spTgt spid="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41" grpId="3"/>
      <p:bldP build="whole" bldLvl="1" animBg="1" rev="0" advAuto="0" spid="245" grpId="4"/>
      <p:bldP build="whole" bldLvl="1" animBg="1" rev="0" advAuto="0" spid="236" grpId="2"/>
      <p:bldP build="whole" bldLvl="1" animBg="1" rev="0" advAuto="0" spid="231"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B2350"/>
        </a:solidFill>
      </p:bgPr>
    </p:bg>
    <p:spTree>
      <p:nvGrpSpPr>
        <p:cNvPr id="1" name=""/>
        <p:cNvGrpSpPr/>
        <p:nvPr/>
      </p:nvGrpSpPr>
      <p:grpSpPr>
        <a:xfrm>
          <a:off x="0" y="0"/>
          <a:ext cx="0" cy="0"/>
          <a:chOff x="0" y="0"/>
          <a:chExt cx="0" cy="0"/>
        </a:xfrm>
      </p:grpSpPr>
      <p:grpSp>
        <p:nvGrpSpPr>
          <p:cNvPr id="254" name="phase_pill"/>
          <p:cNvGrpSpPr/>
          <p:nvPr/>
        </p:nvGrpSpPr>
        <p:grpSpPr>
          <a:xfrm>
            <a:off x="548637" y="274320"/>
            <a:ext cx="1554488" cy="292613"/>
            <a:chOff x="-1" y="0"/>
            <a:chExt cx="1554486" cy="292612"/>
          </a:xfrm>
        </p:grpSpPr>
        <p:sp>
          <p:nvSpPr>
            <p:cNvPr id="252" name="Rounded Rectangle"/>
            <p:cNvSpPr/>
            <p:nvPr/>
          </p:nvSpPr>
          <p:spPr>
            <a:xfrm>
              <a:off x="-2" y="0"/>
              <a:ext cx="1554488" cy="292613"/>
            </a:xfrm>
            <a:prstGeom prst="roundRect">
              <a:avLst>
                <a:gd name="adj" fmla="val 43750"/>
              </a:avLst>
            </a:prstGeom>
            <a:solidFill>
              <a:srgbClr val="E85D4A"/>
            </a:solidFill>
            <a:ln w="12700" cap="flat">
              <a:noFill/>
              <a:miter lim="400000"/>
            </a:ln>
            <a:effectLst/>
          </p:spPr>
          <p:txBody>
            <a:bodyPr wrap="square" lIns="45718" tIns="45718" rIns="45718" bIns="45718" numCol="1" anchor="ctr">
              <a:noAutofit/>
            </a:bodyPr>
            <a:lstStyle/>
            <a:p>
              <a:pPr algn="ctr">
                <a:defRPr sz="900"/>
              </a:pPr>
            </a:p>
          </p:txBody>
        </p:sp>
        <p:sp>
          <p:nvSpPr>
            <p:cNvPr id="253" name="PLENARY · 3 MIN"/>
            <p:cNvSpPr txBox="1"/>
            <p:nvPr/>
          </p:nvSpPr>
          <p:spPr>
            <a:xfrm>
              <a:off x="37492" y="82803"/>
              <a:ext cx="1479497"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PLENARY · 3 MIN</a:t>
              </a:r>
            </a:p>
          </p:txBody>
        </p:sp>
      </p:grpSp>
      <p:sp>
        <p:nvSpPr>
          <p:cNvPr id="255" name="slide_title"/>
          <p:cNvSpPr txBox="1"/>
          <p:nvPr/>
        </p:nvSpPr>
        <p:spPr>
          <a:xfrm>
            <a:off x="548640" y="793494"/>
            <a:ext cx="8046719"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True or false?</a:t>
            </a:r>
          </a:p>
        </p:txBody>
      </p:sp>
      <p:grpSp>
        <p:nvGrpSpPr>
          <p:cNvPr id="258" name="p0_stmt"/>
          <p:cNvGrpSpPr/>
          <p:nvPr/>
        </p:nvGrpSpPr>
        <p:grpSpPr>
          <a:xfrm>
            <a:off x="548639" y="1849371"/>
            <a:ext cx="4206245" cy="420629"/>
            <a:chOff x="0" y="0"/>
            <a:chExt cx="4206243" cy="420628"/>
          </a:xfrm>
        </p:grpSpPr>
        <p:sp>
          <p:nvSpPr>
            <p:cNvPr id="256" name="p0_bg"/>
            <p:cNvSpPr/>
            <p:nvPr/>
          </p:nvSpPr>
          <p:spPr>
            <a:xfrm>
              <a:off x="-1" y="-1"/>
              <a:ext cx="4206245" cy="420629"/>
            </a:xfrm>
            <a:prstGeom prst="roundRect">
              <a:avLst>
                <a:gd name="adj" fmla="val 15217"/>
              </a:avLst>
            </a:prstGeom>
            <a:solidFill>
              <a:srgbClr val="3A3168"/>
            </a:solidFill>
            <a:ln w="12700" cap="flat">
              <a:solidFill>
                <a:srgbClr val="4B4180"/>
              </a:solidFill>
              <a:prstDash val="solid"/>
              <a:round/>
            </a:ln>
            <a:effectLst/>
          </p:spPr>
          <p:txBody>
            <a:bodyPr wrap="square" lIns="45718" tIns="45718" rIns="45718" bIns="45718" numCol="1" anchor="t">
              <a:noAutofit/>
            </a:bodyPr>
            <a:lstStyle/>
            <a:p>
              <a:pPr/>
            </a:p>
          </p:txBody>
        </p:sp>
        <p:sp>
          <p:nvSpPr>
            <p:cNvPr id="257" name="p0_q"/>
            <p:cNvSpPr txBox="1"/>
            <p:nvPr/>
          </p:nvSpPr>
          <p:spPr>
            <a:xfrm>
              <a:off x="164591" y="121412"/>
              <a:ext cx="393192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FFFFFF"/>
                  </a:solidFill>
                  <a:latin typeface="Georgia"/>
                  <a:ea typeface="Georgia"/>
                  <a:cs typeface="Georgia"/>
                  <a:sym typeface="Georgia"/>
                </a:defRPr>
              </a:lvl1pPr>
            </a:lstStyle>
            <a:p>
              <a:pPr/>
              <a:r>
                <a:t>You can collect like terms before expanding.</a:t>
              </a:r>
            </a:p>
          </p:txBody>
        </p:sp>
      </p:grpSp>
      <p:sp>
        <p:nvSpPr>
          <p:cNvPr id="259" name="p0_v"/>
          <p:cNvSpPr txBox="1"/>
          <p:nvPr/>
        </p:nvSpPr>
        <p:spPr>
          <a:xfrm>
            <a:off x="4974335" y="1985771"/>
            <a:ext cx="731523"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79" sz="1100">
                <a:solidFill>
                  <a:srgbClr val="E85D4A"/>
                </a:solidFill>
                <a:latin typeface="Arial"/>
                <a:ea typeface="Arial"/>
                <a:cs typeface="Arial"/>
                <a:sym typeface="Arial"/>
              </a:defRPr>
            </a:lvl1pPr>
          </a:lstStyle>
          <a:p>
            <a:pPr/>
            <a:r>
              <a:t>FALSE</a:t>
            </a:r>
          </a:p>
        </p:txBody>
      </p:sp>
      <p:sp>
        <p:nvSpPr>
          <p:cNvPr id="260" name="p0_w"/>
          <p:cNvSpPr txBox="1"/>
          <p:nvPr/>
        </p:nvSpPr>
        <p:spPr>
          <a:xfrm>
            <a:off x="5797296" y="1991911"/>
            <a:ext cx="2798067"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C9C3EA"/>
                </a:solidFill>
                <a:latin typeface="Arial"/>
                <a:ea typeface="Arial"/>
                <a:cs typeface="Arial"/>
                <a:sym typeface="Arial"/>
              </a:defRPr>
            </a:lvl1pPr>
          </a:lstStyle>
          <a:p>
            <a:pPr/>
            <a:r>
              <a:t>The bracket has to go first.</a:t>
            </a:r>
          </a:p>
        </p:txBody>
      </p:sp>
      <p:grpSp>
        <p:nvGrpSpPr>
          <p:cNvPr id="263" name="p1_stmt"/>
          <p:cNvGrpSpPr/>
          <p:nvPr/>
        </p:nvGrpSpPr>
        <p:grpSpPr>
          <a:xfrm>
            <a:off x="548639" y="2379726"/>
            <a:ext cx="4206245" cy="420629"/>
            <a:chOff x="0" y="0"/>
            <a:chExt cx="4206243" cy="420628"/>
          </a:xfrm>
        </p:grpSpPr>
        <p:sp>
          <p:nvSpPr>
            <p:cNvPr id="261" name="p1_bg"/>
            <p:cNvSpPr/>
            <p:nvPr/>
          </p:nvSpPr>
          <p:spPr>
            <a:xfrm>
              <a:off x="-1" y="-1"/>
              <a:ext cx="4206245" cy="420629"/>
            </a:xfrm>
            <a:prstGeom prst="roundRect">
              <a:avLst>
                <a:gd name="adj" fmla="val 15217"/>
              </a:avLst>
            </a:prstGeom>
            <a:solidFill>
              <a:srgbClr val="3A3168"/>
            </a:solidFill>
            <a:ln w="12700" cap="flat">
              <a:solidFill>
                <a:srgbClr val="4B4180"/>
              </a:solidFill>
              <a:prstDash val="solid"/>
              <a:round/>
            </a:ln>
            <a:effectLst/>
          </p:spPr>
          <p:txBody>
            <a:bodyPr wrap="square" lIns="45718" tIns="45718" rIns="45718" bIns="45718" numCol="1" anchor="t">
              <a:noAutofit/>
            </a:bodyPr>
            <a:lstStyle/>
            <a:p>
              <a:pPr/>
            </a:p>
          </p:txBody>
        </p:sp>
        <p:sp>
          <p:nvSpPr>
            <p:cNvPr id="262" name="p1_q"/>
            <p:cNvSpPr txBox="1"/>
            <p:nvPr/>
          </p:nvSpPr>
          <p:spPr>
            <a:xfrm>
              <a:off x="164591" y="121412"/>
              <a:ext cx="393192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FFFFFF"/>
                  </a:solidFill>
                  <a:latin typeface="Georgia"/>
                  <a:ea typeface="Georgia"/>
                  <a:cs typeface="Georgia"/>
                  <a:sym typeface="Georgia"/>
                </a:defRPr>
              </a:lvl1pPr>
            </a:lstStyle>
            <a:p>
              <a:pPr/>
              <a:r>
                <a:t>3(x + 2) + 4x = 7x + 6</a:t>
              </a:r>
            </a:p>
          </p:txBody>
        </p:sp>
      </p:grpSp>
      <p:sp>
        <p:nvSpPr>
          <p:cNvPr id="264" name="p1_v"/>
          <p:cNvSpPr txBox="1"/>
          <p:nvPr/>
        </p:nvSpPr>
        <p:spPr>
          <a:xfrm>
            <a:off x="4974335" y="2516122"/>
            <a:ext cx="731523"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79" sz="1100">
                <a:solidFill>
                  <a:srgbClr val="4CC38A"/>
                </a:solidFill>
                <a:latin typeface="Arial"/>
                <a:ea typeface="Arial"/>
                <a:cs typeface="Arial"/>
                <a:sym typeface="Arial"/>
              </a:defRPr>
            </a:lvl1pPr>
          </a:lstStyle>
          <a:p>
            <a:pPr/>
            <a:r>
              <a:t>TRUE</a:t>
            </a:r>
          </a:p>
        </p:txBody>
      </p:sp>
      <p:sp>
        <p:nvSpPr>
          <p:cNvPr id="265" name="p1_w"/>
          <p:cNvSpPr txBox="1"/>
          <p:nvPr/>
        </p:nvSpPr>
        <p:spPr>
          <a:xfrm>
            <a:off x="5797296" y="2522265"/>
            <a:ext cx="2798067"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C9C3EA"/>
                </a:solidFill>
                <a:latin typeface="Arial"/>
                <a:ea typeface="Arial"/>
                <a:cs typeface="Arial"/>
                <a:sym typeface="Arial"/>
              </a:defRPr>
            </a:lvl1pPr>
          </a:lstStyle>
          <a:p>
            <a:pPr/>
            <a:r>
              <a:t>Expand, then collect.</a:t>
            </a:r>
          </a:p>
        </p:txBody>
      </p:sp>
      <p:grpSp>
        <p:nvGrpSpPr>
          <p:cNvPr id="268" name="p2_stmt"/>
          <p:cNvGrpSpPr/>
          <p:nvPr/>
        </p:nvGrpSpPr>
        <p:grpSpPr>
          <a:xfrm>
            <a:off x="548639" y="2910077"/>
            <a:ext cx="4206245" cy="420629"/>
            <a:chOff x="0" y="0"/>
            <a:chExt cx="4206243" cy="420628"/>
          </a:xfrm>
        </p:grpSpPr>
        <p:sp>
          <p:nvSpPr>
            <p:cNvPr id="266" name="p2_bg"/>
            <p:cNvSpPr/>
            <p:nvPr/>
          </p:nvSpPr>
          <p:spPr>
            <a:xfrm>
              <a:off x="-1" y="-1"/>
              <a:ext cx="4206245" cy="420629"/>
            </a:xfrm>
            <a:prstGeom prst="roundRect">
              <a:avLst>
                <a:gd name="adj" fmla="val 15217"/>
              </a:avLst>
            </a:prstGeom>
            <a:solidFill>
              <a:srgbClr val="3A3168"/>
            </a:solidFill>
            <a:ln w="12700" cap="flat">
              <a:solidFill>
                <a:srgbClr val="4B4180"/>
              </a:solidFill>
              <a:prstDash val="solid"/>
              <a:round/>
            </a:ln>
            <a:effectLst/>
          </p:spPr>
          <p:txBody>
            <a:bodyPr wrap="square" lIns="45718" tIns="45718" rIns="45718" bIns="45718" numCol="1" anchor="t">
              <a:noAutofit/>
            </a:bodyPr>
            <a:lstStyle/>
            <a:p>
              <a:pPr/>
            </a:p>
          </p:txBody>
        </p:sp>
        <p:sp>
          <p:nvSpPr>
            <p:cNvPr id="267" name="p2_q"/>
            <p:cNvSpPr txBox="1"/>
            <p:nvPr/>
          </p:nvSpPr>
          <p:spPr>
            <a:xfrm>
              <a:off x="164591" y="121412"/>
              <a:ext cx="393192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FFFFFF"/>
                  </a:solidFill>
                  <a:latin typeface="Georgia"/>
                  <a:ea typeface="Georgia"/>
                  <a:cs typeface="Georgia"/>
                  <a:sym typeface="Georgia"/>
                </a:defRPr>
              </a:lvl1pPr>
            </a:lstStyle>
            <a:p>
              <a:pPr/>
              <a:r>
                <a:t>−2(y + 3) = −2y + 6</a:t>
              </a:r>
            </a:p>
          </p:txBody>
        </p:sp>
      </p:grpSp>
      <p:sp>
        <p:nvSpPr>
          <p:cNvPr id="269" name="p2_v"/>
          <p:cNvSpPr txBox="1"/>
          <p:nvPr/>
        </p:nvSpPr>
        <p:spPr>
          <a:xfrm>
            <a:off x="4974335" y="3046475"/>
            <a:ext cx="731523"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79" sz="1100">
                <a:solidFill>
                  <a:srgbClr val="E85D4A"/>
                </a:solidFill>
                <a:latin typeface="Arial"/>
                <a:ea typeface="Arial"/>
                <a:cs typeface="Arial"/>
                <a:sym typeface="Arial"/>
              </a:defRPr>
            </a:lvl1pPr>
          </a:lstStyle>
          <a:p>
            <a:pPr/>
            <a:r>
              <a:t>FALSE</a:t>
            </a:r>
          </a:p>
        </p:txBody>
      </p:sp>
      <p:sp>
        <p:nvSpPr>
          <p:cNvPr id="270" name="p2_w"/>
          <p:cNvSpPr txBox="1"/>
          <p:nvPr/>
        </p:nvSpPr>
        <p:spPr>
          <a:xfrm>
            <a:off x="5797296" y="3052615"/>
            <a:ext cx="2798067"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C9C3EA"/>
                </a:solidFill>
                <a:latin typeface="Arial"/>
                <a:ea typeface="Arial"/>
                <a:cs typeface="Arial"/>
                <a:sym typeface="Arial"/>
              </a:defRPr>
            </a:lvl1pPr>
          </a:lstStyle>
          <a:p>
            <a:pPr/>
            <a:r>
              <a:t>−2y − 6. Both terms go negative.</a:t>
            </a:r>
          </a:p>
        </p:txBody>
      </p:sp>
      <p:grpSp>
        <p:nvGrpSpPr>
          <p:cNvPr id="273" name="p3_stmt"/>
          <p:cNvGrpSpPr/>
          <p:nvPr/>
        </p:nvGrpSpPr>
        <p:grpSpPr>
          <a:xfrm>
            <a:off x="548639" y="3440429"/>
            <a:ext cx="4206245" cy="420629"/>
            <a:chOff x="0" y="0"/>
            <a:chExt cx="4206243" cy="420628"/>
          </a:xfrm>
        </p:grpSpPr>
        <p:sp>
          <p:nvSpPr>
            <p:cNvPr id="271" name="p3_bg"/>
            <p:cNvSpPr/>
            <p:nvPr/>
          </p:nvSpPr>
          <p:spPr>
            <a:xfrm>
              <a:off x="-1" y="-1"/>
              <a:ext cx="4206245" cy="420629"/>
            </a:xfrm>
            <a:prstGeom prst="roundRect">
              <a:avLst>
                <a:gd name="adj" fmla="val 15217"/>
              </a:avLst>
            </a:prstGeom>
            <a:solidFill>
              <a:srgbClr val="3A3168"/>
            </a:solidFill>
            <a:ln w="12700" cap="flat">
              <a:solidFill>
                <a:srgbClr val="4B4180"/>
              </a:solidFill>
              <a:prstDash val="solid"/>
              <a:round/>
            </a:ln>
            <a:effectLst/>
          </p:spPr>
          <p:txBody>
            <a:bodyPr wrap="square" lIns="45718" tIns="45718" rIns="45718" bIns="45718" numCol="1" anchor="t">
              <a:noAutofit/>
            </a:bodyPr>
            <a:lstStyle/>
            <a:p>
              <a:pPr/>
            </a:p>
          </p:txBody>
        </p:sp>
        <p:sp>
          <p:nvSpPr>
            <p:cNvPr id="272" name="p3_q"/>
            <p:cNvSpPr txBox="1"/>
            <p:nvPr/>
          </p:nvSpPr>
          <p:spPr>
            <a:xfrm>
              <a:off x="164591" y="121412"/>
              <a:ext cx="393192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FFFFFF"/>
                  </a:solidFill>
                  <a:latin typeface="Georgia"/>
                  <a:ea typeface="Georgia"/>
                  <a:cs typeface="Georgia"/>
                  <a:sym typeface="Georgia"/>
                </a:defRPr>
              </a:lvl1pPr>
            </a:lstStyle>
            <a:p>
              <a:pPr/>
              <a:r>
                <a:t>5(a + 1) − 2(a + 1) = 3a + 3</a:t>
              </a:r>
            </a:p>
          </p:txBody>
        </p:sp>
      </p:grpSp>
      <p:sp>
        <p:nvSpPr>
          <p:cNvPr id="274" name="p3_v"/>
          <p:cNvSpPr txBox="1"/>
          <p:nvPr/>
        </p:nvSpPr>
        <p:spPr>
          <a:xfrm>
            <a:off x="4974335" y="3576825"/>
            <a:ext cx="731523"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79" sz="1100">
                <a:solidFill>
                  <a:srgbClr val="4CC38A"/>
                </a:solidFill>
                <a:latin typeface="Arial"/>
                <a:ea typeface="Arial"/>
                <a:cs typeface="Arial"/>
                <a:sym typeface="Arial"/>
              </a:defRPr>
            </a:lvl1pPr>
          </a:lstStyle>
          <a:p>
            <a:pPr/>
            <a:r>
              <a:t>TRUE</a:t>
            </a:r>
          </a:p>
        </p:txBody>
      </p:sp>
      <p:sp>
        <p:nvSpPr>
          <p:cNvPr id="275" name="p3_w"/>
          <p:cNvSpPr txBox="1"/>
          <p:nvPr/>
        </p:nvSpPr>
        <p:spPr>
          <a:xfrm>
            <a:off x="5797296" y="3582968"/>
            <a:ext cx="2798067"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C9C3EA"/>
                </a:solidFill>
                <a:latin typeface="Arial"/>
                <a:ea typeface="Arial"/>
                <a:cs typeface="Arial"/>
                <a:sym typeface="Arial"/>
              </a:defRPr>
            </a:lvl1pPr>
          </a:lstStyle>
          <a:p>
            <a:pPr/>
            <a:r>
              <a:t>5a + 5 − 2a − 2.</a:t>
            </a:r>
          </a:p>
        </p:txBody>
      </p:sp>
      <p:grpSp>
        <p:nvGrpSpPr>
          <p:cNvPr id="278" name="p4_stmt"/>
          <p:cNvGrpSpPr/>
          <p:nvPr/>
        </p:nvGrpSpPr>
        <p:grpSpPr>
          <a:xfrm>
            <a:off x="548639" y="3970782"/>
            <a:ext cx="4206245" cy="420629"/>
            <a:chOff x="0" y="0"/>
            <a:chExt cx="4206243" cy="420628"/>
          </a:xfrm>
        </p:grpSpPr>
        <p:sp>
          <p:nvSpPr>
            <p:cNvPr id="276" name="p4_bg"/>
            <p:cNvSpPr/>
            <p:nvPr/>
          </p:nvSpPr>
          <p:spPr>
            <a:xfrm>
              <a:off x="-1" y="-1"/>
              <a:ext cx="4206245" cy="420629"/>
            </a:xfrm>
            <a:prstGeom prst="roundRect">
              <a:avLst>
                <a:gd name="adj" fmla="val 15217"/>
              </a:avLst>
            </a:prstGeom>
            <a:solidFill>
              <a:srgbClr val="3A3168"/>
            </a:solidFill>
            <a:ln w="12700" cap="flat">
              <a:solidFill>
                <a:srgbClr val="4B4180"/>
              </a:solidFill>
              <a:prstDash val="solid"/>
              <a:round/>
            </a:ln>
            <a:effectLst/>
          </p:spPr>
          <p:txBody>
            <a:bodyPr wrap="square" lIns="45718" tIns="45718" rIns="45718" bIns="45718" numCol="1" anchor="t">
              <a:noAutofit/>
            </a:bodyPr>
            <a:lstStyle/>
            <a:p>
              <a:pPr/>
            </a:p>
          </p:txBody>
        </p:sp>
        <p:sp>
          <p:nvSpPr>
            <p:cNvPr id="277" name="p4_q"/>
            <p:cNvSpPr txBox="1"/>
            <p:nvPr/>
          </p:nvSpPr>
          <p:spPr>
            <a:xfrm>
              <a:off x="164591" y="121412"/>
              <a:ext cx="3931925" cy="177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FFFFFF"/>
                  </a:solidFill>
                  <a:latin typeface="Georgia"/>
                  <a:ea typeface="Georgia"/>
                  <a:cs typeface="Georgia"/>
                  <a:sym typeface="Georgia"/>
                </a:defRPr>
              </a:lvl1pPr>
            </a:lstStyle>
            <a:p>
              <a:pPr/>
              <a:r>
                <a:t>4(x + 2) − (x + 1) = 3x + 9</a:t>
              </a:r>
            </a:p>
          </p:txBody>
        </p:sp>
      </p:grpSp>
      <p:sp>
        <p:nvSpPr>
          <p:cNvPr id="279" name="p4_v"/>
          <p:cNvSpPr txBox="1"/>
          <p:nvPr/>
        </p:nvSpPr>
        <p:spPr>
          <a:xfrm>
            <a:off x="4974335" y="4107179"/>
            <a:ext cx="731523"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79" sz="1100">
                <a:solidFill>
                  <a:srgbClr val="E85D4A"/>
                </a:solidFill>
                <a:latin typeface="Arial"/>
                <a:ea typeface="Arial"/>
                <a:cs typeface="Arial"/>
                <a:sym typeface="Arial"/>
              </a:defRPr>
            </a:lvl1pPr>
          </a:lstStyle>
          <a:p>
            <a:pPr/>
            <a:r>
              <a:t>FALSE</a:t>
            </a:r>
          </a:p>
        </p:txBody>
      </p:sp>
      <p:sp>
        <p:nvSpPr>
          <p:cNvPr id="280" name="p4_w"/>
          <p:cNvSpPr txBox="1"/>
          <p:nvPr/>
        </p:nvSpPr>
        <p:spPr>
          <a:xfrm>
            <a:off x="5797296" y="4113321"/>
            <a:ext cx="2798067"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C9C3EA"/>
                </a:solidFill>
                <a:latin typeface="Arial"/>
                <a:ea typeface="Arial"/>
                <a:cs typeface="Arial"/>
                <a:sym typeface="Arial"/>
              </a:defRPr>
            </a:lvl1pPr>
          </a:lstStyle>
          <a:p>
            <a:pPr/>
            <a:r>
              <a:t>3x + 7. The minus hits the 1 too.</a:t>
            </a:r>
          </a:p>
        </p:txBody>
      </p:sp>
      <p:sp>
        <p:nvSpPr>
          <p:cNvPr id="281" name="pl_next"/>
          <p:cNvSpPr txBox="1"/>
          <p:nvPr/>
        </p:nvSpPr>
        <p:spPr>
          <a:xfrm>
            <a:off x="548640" y="4703824"/>
            <a:ext cx="8046719"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100">
                <a:solidFill>
                  <a:srgbClr val="E85D4A"/>
                </a:solidFill>
                <a:latin typeface="Arial"/>
                <a:ea typeface="Arial"/>
                <a:cs typeface="Arial"/>
                <a:sym typeface="Arial"/>
              </a:defRPr>
            </a:lvl1pPr>
          </a:lstStyle>
          <a:p>
            <a:pPr/>
            <a:r>
              <a:t>That’s the topic. You can expand, you can collect, and now you can do both at once!</a:t>
            </a:r>
          </a:p>
        </p:txBody>
      </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58"/>
                                        </p:tgtEl>
                                        <p:attrNameLst>
                                          <p:attrName>style.visibility</p:attrName>
                                        </p:attrNameLst>
                                      </p:cBhvr>
                                      <p:to>
                                        <p:strVal val="visible"/>
                                      </p:to>
                                    </p:set>
                                    <p:animEffect filter="fade" transition="in">
                                      <p:cBhvr>
                                        <p:cTn id="7" dur="400"/>
                                        <p:tgtEl>
                                          <p:spTgt spid="25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16" presetID="23" grpId="2" fill="hold">
                                  <p:stCondLst>
                                    <p:cond delay="0"/>
                                  </p:stCondLst>
                                  <p:iterate type="el" backwards="0">
                                    <p:tmAbs val="0"/>
                                  </p:iterate>
                                  <p:childTnLst>
                                    <p:set>
                                      <p:cBhvr>
                                        <p:cTn id="11" fill="hold"/>
                                        <p:tgtEl>
                                          <p:spTgt spid="259"/>
                                        </p:tgtEl>
                                        <p:attrNameLst>
                                          <p:attrName>style.visibility</p:attrName>
                                        </p:attrNameLst>
                                      </p:cBhvr>
                                      <p:to>
                                        <p:strVal val="visible"/>
                                      </p:to>
                                    </p:set>
                                    <p:anim calcmode="lin" valueType="num">
                                      <p:cBhvr>
                                        <p:cTn id="12" dur="400" fill="hold"/>
                                        <p:tgtEl>
                                          <p:spTgt spid="259"/>
                                        </p:tgtEl>
                                        <p:attrNameLst>
                                          <p:attrName>ppt_w</p:attrName>
                                        </p:attrNameLst>
                                      </p:cBhvr>
                                      <p:tavLst>
                                        <p:tav tm="0">
                                          <p:val>
                                            <p:fltVal val="0"/>
                                          </p:val>
                                        </p:tav>
                                        <p:tav tm="100000">
                                          <p:val>
                                            <p:strVal val="#ppt_w"/>
                                          </p:val>
                                        </p:tav>
                                      </p:tavLst>
                                    </p:anim>
                                    <p:anim calcmode="lin" valueType="num">
                                      <p:cBhvr>
                                        <p:cTn id="13" dur="400" fill="hold"/>
                                        <p:tgtEl>
                                          <p:spTgt spid="259"/>
                                        </p:tgtEl>
                                        <p:attrNameLst>
                                          <p:attrName>ppt_h</p:attrName>
                                        </p:attrNameLst>
                                      </p:cBhvr>
                                      <p:tavLst>
                                        <p:tav tm="0">
                                          <p:val>
                                            <p:fltVal val="0"/>
                                          </p:val>
                                        </p:tav>
                                        <p:tav tm="100000">
                                          <p:val>
                                            <p:strVal val="#ppt_h"/>
                                          </p:val>
                                        </p:tav>
                                      </p:tavLst>
                                    </p:anim>
                                  </p:childTnLst>
                                </p:cTn>
                              </p:par>
                            </p:childTnLst>
                          </p:cTn>
                        </p:par>
                        <p:par>
                          <p:cTn id="14" fill="hold">
                            <p:stCondLst>
                              <p:cond delay="400"/>
                            </p:stCondLst>
                            <p:childTnLst>
                              <p:par>
                                <p:cTn id="15" presetClass="entr" nodeType="afterEffect" presetID="10" grpId="3" fill="hold">
                                  <p:stCondLst>
                                    <p:cond delay="150"/>
                                  </p:stCondLst>
                                  <p:iterate type="el" backwards="0">
                                    <p:tmAbs val="0"/>
                                  </p:iterate>
                                  <p:childTnLst>
                                    <p:set>
                                      <p:cBhvr>
                                        <p:cTn id="16" fill="hold"/>
                                        <p:tgtEl>
                                          <p:spTgt spid="260"/>
                                        </p:tgtEl>
                                        <p:attrNameLst>
                                          <p:attrName>style.visibility</p:attrName>
                                        </p:attrNameLst>
                                      </p:cBhvr>
                                      <p:to>
                                        <p:strVal val="visible"/>
                                      </p:to>
                                    </p:set>
                                    <p:animEffect filter="fade" transition="in">
                                      <p:cBhvr>
                                        <p:cTn id="17" dur="400"/>
                                        <p:tgtEl>
                                          <p:spTgt spid="260"/>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63"/>
                                        </p:tgtEl>
                                        <p:attrNameLst>
                                          <p:attrName>style.visibility</p:attrName>
                                        </p:attrNameLst>
                                      </p:cBhvr>
                                      <p:to>
                                        <p:strVal val="visible"/>
                                      </p:to>
                                    </p:set>
                                    <p:animEffect filter="fade" transition="in">
                                      <p:cBhvr>
                                        <p:cTn id="22" dur="400"/>
                                        <p:tgtEl>
                                          <p:spTgt spid="263"/>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264"/>
                                        </p:tgtEl>
                                        <p:attrNameLst>
                                          <p:attrName>style.visibility</p:attrName>
                                        </p:attrNameLst>
                                      </p:cBhvr>
                                      <p:to>
                                        <p:strVal val="visible"/>
                                      </p:to>
                                    </p:set>
                                    <p:anim calcmode="lin" valueType="num">
                                      <p:cBhvr>
                                        <p:cTn id="27" dur="400" fill="hold"/>
                                        <p:tgtEl>
                                          <p:spTgt spid="264"/>
                                        </p:tgtEl>
                                        <p:attrNameLst>
                                          <p:attrName>ppt_w</p:attrName>
                                        </p:attrNameLst>
                                      </p:cBhvr>
                                      <p:tavLst>
                                        <p:tav tm="0">
                                          <p:val>
                                            <p:fltVal val="0"/>
                                          </p:val>
                                        </p:tav>
                                        <p:tav tm="100000">
                                          <p:val>
                                            <p:strVal val="#ppt_w"/>
                                          </p:val>
                                        </p:tav>
                                      </p:tavLst>
                                    </p:anim>
                                    <p:anim calcmode="lin" valueType="num">
                                      <p:cBhvr>
                                        <p:cTn id="28" dur="400" fill="hold"/>
                                        <p:tgtEl>
                                          <p:spTgt spid="264"/>
                                        </p:tgtEl>
                                        <p:attrNameLst>
                                          <p:attrName>ppt_h</p:attrName>
                                        </p:attrNameLst>
                                      </p:cBhvr>
                                      <p:tavLst>
                                        <p:tav tm="0">
                                          <p:val>
                                            <p:fltVal val="0"/>
                                          </p:val>
                                        </p:tav>
                                        <p:tav tm="100000">
                                          <p:val>
                                            <p:strVal val="#ppt_h"/>
                                          </p:val>
                                        </p:tav>
                                      </p:tavLst>
                                    </p:anim>
                                  </p:childTnLst>
                                </p:cTn>
                              </p:par>
                            </p:childTnLst>
                          </p:cTn>
                        </p:par>
                        <p:par>
                          <p:cTn id="29" fill="hold">
                            <p:stCondLst>
                              <p:cond delay="400"/>
                            </p:stCondLst>
                            <p:childTnLst>
                              <p:par>
                                <p:cTn id="30" presetClass="entr" nodeType="afterEffect" presetID="10" grpId="6" fill="hold">
                                  <p:stCondLst>
                                    <p:cond delay="150"/>
                                  </p:stCondLst>
                                  <p:iterate type="el" backwards="0">
                                    <p:tmAbs val="0"/>
                                  </p:iterate>
                                  <p:childTnLst>
                                    <p:set>
                                      <p:cBhvr>
                                        <p:cTn id="31" fill="hold"/>
                                        <p:tgtEl>
                                          <p:spTgt spid="265"/>
                                        </p:tgtEl>
                                        <p:attrNameLst>
                                          <p:attrName>style.visibility</p:attrName>
                                        </p:attrNameLst>
                                      </p:cBhvr>
                                      <p:to>
                                        <p:strVal val="visible"/>
                                      </p:to>
                                    </p:set>
                                    <p:animEffect filter="fade" transition="in">
                                      <p:cBhvr>
                                        <p:cTn id="32" dur="400"/>
                                        <p:tgtEl>
                                          <p:spTgt spid="265"/>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ID="10" grpId="7" fill="hold">
                                  <p:stCondLst>
                                    <p:cond delay="0"/>
                                  </p:stCondLst>
                                  <p:iterate type="el" backwards="0">
                                    <p:tmAbs val="0"/>
                                  </p:iterate>
                                  <p:childTnLst>
                                    <p:set>
                                      <p:cBhvr>
                                        <p:cTn id="36" fill="hold"/>
                                        <p:tgtEl>
                                          <p:spTgt spid="268"/>
                                        </p:tgtEl>
                                        <p:attrNameLst>
                                          <p:attrName>style.visibility</p:attrName>
                                        </p:attrNameLst>
                                      </p:cBhvr>
                                      <p:to>
                                        <p:strVal val="visible"/>
                                      </p:to>
                                    </p:set>
                                    <p:animEffect filter="fade" transition="in">
                                      <p:cBhvr>
                                        <p:cTn id="37" dur="400"/>
                                        <p:tgtEl>
                                          <p:spTgt spid="268"/>
                                        </p:tgtEl>
                                      </p:cBhvr>
                                    </p:animEffect>
                                  </p:childTnLst>
                                </p:cTn>
                              </p:par>
                            </p:childTnLst>
                          </p:cTn>
                        </p:par>
                      </p:childTnLst>
                    </p:cTn>
                  </p:par>
                  <p:par>
                    <p:cTn id="38" fill="hold">
                      <p:stCondLst>
                        <p:cond delay="indefinite"/>
                      </p:stCondLst>
                      <p:childTnLst>
                        <p:par>
                          <p:cTn id="39" fill="hold">
                            <p:stCondLst>
                              <p:cond delay="0"/>
                            </p:stCondLst>
                            <p:childTnLst>
                              <p:par>
                                <p:cTn id="40" presetClass="entr" nodeType="clickEffect" presetSubtype="16" presetID="23" grpId="8" fill="hold">
                                  <p:stCondLst>
                                    <p:cond delay="0"/>
                                  </p:stCondLst>
                                  <p:iterate type="el" backwards="0">
                                    <p:tmAbs val="0"/>
                                  </p:iterate>
                                  <p:childTnLst>
                                    <p:set>
                                      <p:cBhvr>
                                        <p:cTn id="41" fill="hold"/>
                                        <p:tgtEl>
                                          <p:spTgt spid="269"/>
                                        </p:tgtEl>
                                        <p:attrNameLst>
                                          <p:attrName>style.visibility</p:attrName>
                                        </p:attrNameLst>
                                      </p:cBhvr>
                                      <p:to>
                                        <p:strVal val="visible"/>
                                      </p:to>
                                    </p:set>
                                    <p:anim calcmode="lin" valueType="num">
                                      <p:cBhvr>
                                        <p:cTn id="42" dur="400" fill="hold"/>
                                        <p:tgtEl>
                                          <p:spTgt spid="269"/>
                                        </p:tgtEl>
                                        <p:attrNameLst>
                                          <p:attrName>ppt_w</p:attrName>
                                        </p:attrNameLst>
                                      </p:cBhvr>
                                      <p:tavLst>
                                        <p:tav tm="0">
                                          <p:val>
                                            <p:fltVal val="0"/>
                                          </p:val>
                                        </p:tav>
                                        <p:tav tm="100000">
                                          <p:val>
                                            <p:strVal val="#ppt_w"/>
                                          </p:val>
                                        </p:tav>
                                      </p:tavLst>
                                    </p:anim>
                                    <p:anim calcmode="lin" valueType="num">
                                      <p:cBhvr>
                                        <p:cTn id="43" dur="400" fill="hold"/>
                                        <p:tgtEl>
                                          <p:spTgt spid="269"/>
                                        </p:tgtEl>
                                        <p:attrNameLst>
                                          <p:attrName>ppt_h</p:attrName>
                                        </p:attrNameLst>
                                      </p:cBhvr>
                                      <p:tavLst>
                                        <p:tav tm="0">
                                          <p:val>
                                            <p:fltVal val="0"/>
                                          </p:val>
                                        </p:tav>
                                        <p:tav tm="100000">
                                          <p:val>
                                            <p:strVal val="#ppt_h"/>
                                          </p:val>
                                        </p:tav>
                                      </p:tavLst>
                                    </p:anim>
                                  </p:childTnLst>
                                </p:cTn>
                              </p:par>
                            </p:childTnLst>
                          </p:cTn>
                        </p:par>
                        <p:par>
                          <p:cTn id="44" fill="hold">
                            <p:stCondLst>
                              <p:cond delay="400"/>
                            </p:stCondLst>
                            <p:childTnLst>
                              <p:par>
                                <p:cTn id="45" presetClass="entr" nodeType="afterEffect" presetID="10" grpId="9" fill="hold">
                                  <p:stCondLst>
                                    <p:cond delay="150"/>
                                  </p:stCondLst>
                                  <p:iterate type="el" backwards="0">
                                    <p:tmAbs val="0"/>
                                  </p:iterate>
                                  <p:childTnLst>
                                    <p:set>
                                      <p:cBhvr>
                                        <p:cTn id="46" fill="hold"/>
                                        <p:tgtEl>
                                          <p:spTgt spid="270"/>
                                        </p:tgtEl>
                                        <p:attrNameLst>
                                          <p:attrName>style.visibility</p:attrName>
                                        </p:attrNameLst>
                                      </p:cBhvr>
                                      <p:to>
                                        <p:strVal val="visible"/>
                                      </p:to>
                                    </p:set>
                                    <p:animEffect filter="fade" transition="in">
                                      <p:cBhvr>
                                        <p:cTn id="47" dur="400"/>
                                        <p:tgtEl>
                                          <p:spTgt spid="270"/>
                                        </p:tgtEl>
                                      </p:cBhvr>
                                    </p:animEffect>
                                  </p:childTnLst>
                                </p:cTn>
                              </p:par>
                            </p:childTnLst>
                          </p:cTn>
                        </p:par>
                      </p:childTnLst>
                    </p:cTn>
                  </p:par>
                  <p:par>
                    <p:cTn id="48" fill="hold">
                      <p:stCondLst>
                        <p:cond delay="indefinite"/>
                      </p:stCondLst>
                      <p:childTnLst>
                        <p:par>
                          <p:cTn id="49" fill="hold">
                            <p:stCondLst>
                              <p:cond delay="0"/>
                            </p:stCondLst>
                            <p:childTnLst>
                              <p:par>
                                <p:cTn id="50" presetClass="entr" nodeType="clickEffect" presetID="10" grpId="10" fill="hold">
                                  <p:stCondLst>
                                    <p:cond delay="0"/>
                                  </p:stCondLst>
                                  <p:iterate type="el" backwards="0">
                                    <p:tmAbs val="0"/>
                                  </p:iterate>
                                  <p:childTnLst>
                                    <p:set>
                                      <p:cBhvr>
                                        <p:cTn id="51" fill="hold"/>
                                        <p:tgtEl>
                                          <p:spTgt spid="273"/>
                                        </p:tgtEl>
                                        <p:attrNameLst>
                                          <p:attrName>style.visibility</p:attrName>
                                        </p:attrNameLst>
                                      </p:cBhvr>
                                      <p:to>
                                        <p:strVal val="visible"/>
                                      </p:to>
                                    </p:set>
                                    <p:animEffect filter="fade" transition="in">
                                      <p:cBhvr>
                                        <p:cTn id="52" dur="400"/>
                                        <p:tgtEl>
                                          <p:spTgt spid="273"/>
                                        </p:tgtEl>
                                      </p:cBhvr>
                                    </p:animEffect>
                                  </p:childTnLst>
                                </p:cTn>
                              </p:par>
                            </p:childTnLst>
                          </p:cTn>
                        </p:par>
                      </p:childTnLst>
                    </p:cTn>
                  </p:par>
                  <p:par>
                    <p:cTn id="53" fill="hold">
                      <p:stCondLst>
                        <p:cond delay="indefinite"/>
                      </p:stCondLst>
                      <p:childTnLst>
                        <p:par>
                          <p:cTn id="54" fill="hold">
                            <p:stCondLst>
                              <p:cond delay="0"/>
                            </p:stCondLst>
                            <p:childTnLst>
                              <p:par>
                                <p:cTn id="55" presetClass="entr" nodeType="clickEffect" presetSubtype="16" presetID="23" grpId="11" fill="hold">
                                  <p:stCondLst>
                                    <p:cond delay="0"/>
                                  </p:stCondLst>
                                  <p:iterate type="el" backwards="0">
                                    <p:tmAbs val="0"/>
                                  </p:iterate>
                                  <p:childTnLst>
                                    <p:set>
                                      <p:cBhvr>
                                        <p:cTn id="56" fill="hold"/>
                                        <p:tgtEl>
                                          <p:spTgt spid="274"/>
                                        </p:tgtEl>
                                        <p:attrNameLst>
                                          <p:attrName>style.visibility</p:attrName>
                                        </p:attrNameLst>
                                      </p:cBhvr>
                                      <p:to>
                                        <p:strVal val="visible"/>
                                      </p:to>
                                    </p:set>
                                    <p:anim calcmode="lin" valueType="num">
                                      <p:cBhvr>
                                        <p:cTn id="57" dur="400" fill="hold"/>
                                        <p:tgtEl>
                                          <p:spTgt spid="274"/>
                                        </p:tgtEl>
                                        <p:attrNameLst>
                                          <p:attrName>ppt_w</p:attrName>
                                        </p:attrNameLst>
                                      </p:cBhvr>
                                      <p:tavLst>
                                        <p:tav tm="0">
                                          <p:val>
                                            <p:fltVal val="0"/>
                                          </p:val>
                                        </p:tav>
                                        <p:tav tm="100000">
                                          <p:val>
                                            <p:strVal val="#ppt_w"/>
                                          </p:val>
                                        </p:tav>
                                      </p:tavLst>
                                    </p:anim>
                                    <p:anim calcmode="lin" valueType="num">
                                      <p:cBhvr>
                                        <p:cTn id="58" dur="400" fill="hold"/>
                                        <p:tgtEl>
                                          <p:spTgt spid="274"/>
                                        </p:tgtEl>
                                        <p:attrNameLst>
                                          <p:attrName>ppt_h</p:attrName>
                                        </p:attrNameLst>
                                      </p:cBhvr>
                                      <p:tavLst>
                                        <p:tav tm="0">
                                          <p:val>
                                            <p:fltVal val="0"/>
                                          </p:val>
                                        </p:tav>
                                        <p:tav tm="100000">
                                          <p:val>
                                            <p:strVal val="#ppt_h"/>
                                          </p:val>
                                        </p:tav>
                                      </p:tavLst>
                                    </p:anim>
                                  </p:childTnLst>
                                </p:cTn>
                              </p:par>
                            </p:childTnLst>
                          </p:cTn>
                        </p:par>
                        <p:par>
                          <p:cTn id="59" fill="hold">
                            <p:stCondLst>
                              <p:cond delay="400"/>
                            </p:stCondLst>
                            <p:childTnLst>
                              <p:par>
                                <p:cTn id="60" presetClass="entr" nodeType="afterEffect" presetID="10" grpId="12" fill="hold">
                                  <p:stCondLst>
                                    <p:cond delay="150"/>
                                  </p:stCondLst>
                                  <p:iterate type="el" backwards="0">
                                    <p:tmAbs val="0"/>
                                  </p:iterate>
                                  <p:childTnLst>
                                    <p:set>
                                      <p:cBhvr>
                                        <p:cTn id="61" fill="hold"/>
                                        <p:tgtEl>
                                          <p:spTgt spid="275"/>
                                        </p:tgtEl>
                                        <p:attrNameLst>
                                          <p:attrName>style.visibility</p:attrName>
                                        </p:attrNameLst>
                                      </p:cBhvr>
                                      <p:to>
                                        <p:strVal val="visible"/>
                                      </p:to>
                                    </p:set>
                                    <p:animEffect filter="fade" transition="in">
                                      <p:cBhvr>
                                        <p:cTn id="62" dur="400"/>
                                        <p:tgtEl>
                                          <p:spTgt spid="275"/>
                                        </p:tgtEl>
                                      </p:cBhvr>
                                    </p:animEffect>
                                  </p:childTnLst>
                                </p:cTn>
                              </p:par>
                            </p:childTnLst>
                          </p:cTn>
                        </p:par>
                      </p:childTnLst>
                    </p:cTn>
                  </p:par>
                  <p:par>
                    <p:cTn id="63" fill="hold">
                      <p:stCondLst>
                        <p:cond delay="indefinite"/>
                      </p:stCondLst>
                      <p:childTnLst>
                        <p:par>
                          <p:cTn id="64" fill="hold">
                            <p:stCondLst>
                              <p:cond delay="0"/>
                            </p:stCondLst>
                            <p:childTnLst>
                              <p:par>
                                <p:cTn id="65" presetClass="entr" nodeType="clickEffect" presetID="10" grpId="13" fill="hold">
                                  <p:stCondLst>
                                    <p:cond delay="0"/>
                                  </p:stCondLst>
                                  <p:iterate type="el" backwards="0">
                                    <p:tmAbs val="0"/>
                                  </p:iterate>
                                  <p:childTnLst>
                                    <p:set>
                                      <p:cBhvr>
                                        <p:cTn id="66" fill="hold"/>
                                        <p:tgtEl>
                                          <p:spTgt spid="278"/>
                                        </p:tgtEl>
                                        <p:attrNameLst>
                                          <p:attrName>style.visibility</p:attrName>
                                        </p:attrNameLst>
                                      </p:cBhvr>
                                      <p:to>
                                        <p:strVal val="visible"/>
                                      </p:to>
                                    </p:set>
                                    <p:animEffect filter="fade" transition="in">
                                      <p:cBhvr>
                                        <p:cTn id="67" dur="400"/>
                                        <p:tgtEl>
                                          <p:spTgt spid="278"/>
                                        </p:tgtEl>
                                      </p:cBhvr>
                                    </p:animEffect>
                                  </p:childTnLst>
                                </p:cTn>
                              </p:par>
                            </p:childTnLst>
                          </p:cTn>
                        </p:par>
                      </p:childTnLst>
                    </p:cTn>
                  </p:par>
                  <p:par>
                    <p:cTn id="68" fill="hold">
                      <p:stCondLst>
                        <p:cond delay="indefinite"/>
                      </p:stCondLst>
                      <p:childTnLst>
                        <p:par>
                          <p:cTn id="69" fill="hold">
                            <p:stCondLst>
                              <p:cond delay="0"/>
                            </p:stCondLst>
                            <p:childTnLst>
                              <p:par>
                                <p:cTn id="70" presetClass="entr" nodeType="clickEffect" presetSubtype="16" presetID="23" grpId="14" fill="hold">
                                  <p:stCondLst>
                                    <p:cond delay="0"/>
                                  </p:stCondLst>
                                  <p:iterate type="el" backwards="0">
                                    <p:tmAbs val="0"/>
                                  </p:iterate>
                                  <p:childTnLst>
                                    <p:set>
                                      <p:cBhvr>
                                        <p:cTn id="71" fill="hold"/>
                                        <p:tgtEl>
                                          <p:spTgt spid="279"/>
                                        </p:tgtEl>
                                        <p:attrNameLst>
                                          <p:attrName>style.visibility</p:attrName>
                                        </p:attrNameLst>
                                      </p:cBhvr>
                                      <p:to>
                                        <p:strVal val="visible"/>
                                      </p:to>
                                    </p:set>
                                    <p:anim calcmode="lin" valueType="num">
                                      <p:cBhvr>
                                        <p:cTn id="72" dur="400" fill="hold"/>
                                        <p:tgtEl>
                                          <p:spTgt spid="279"/>
                                        </p:tgtEl>
                                        <p:attrNameLst>
                                          <p:attrName>ppt_w</p:attrName>
                                        </p:attrNameLst>
                                      </p:cBhvr>
                                      <p:tavLst>
                                        <p:tav tm="0">
                                          <p:val>
                                            <p:fltVal val="0"/>
                                          </p:val>
                                        </p:tav>
                                        <p:tav tm="100000">
                                          <p:val>
                                            <p:strVal val="#ppt_w"/>
                                          </p:val>
                                        </p:tav>
                                      </p:tavLst>
                                    </p:anim>
                                    <p:anim calcmode="lin" valueType="num">
                                      <p:cBhvr>
                                        <p:cTn id="73" dur="400" fill="hold"/>
                                        <p:tgtEl>
                                          <p:spTgt spid="279"/>
                                        </p:tgtEl>
                                        <p:attrNameLst>
                                          <p:attrName>ppt_h</p:attrName>
                                        </p:attrNameLst>
                                      </p:cBhvr>
                                      <p:tavLst>
                                        <p:tav tm="0">
                                          <p:val>
                                            <p:fltVal val="0"/>
                                          </p:val>
                                        </p:tav>
                                        <p:tav tm="100000">
                                          <p:val>
                                            <p:strVal val="#ppt_h"/>
                                          </p:val>
                                        </p:tav>
                                      </p:tavLst>
                                    </p:anim>
                                  </p:childTnLst>
                                </p:cTn>
                              </p:par>
                            </p:childTnLst>
                          </p:cTn>
                        </p:par>
                        <p:par>
                          <p:cTn id="74" fill="hold">
                            <p:stCondLst>
                              <p:cond delay="400"/>
                            </p:stCondLst>
                            <p:childTnLst>
                              <p:par>
                                <p:cTn id="75" presetClass="entr" nodeType="afterEffect" presetID="10" grpId="15" fill="hold">
                                  <p:stCondLst>
                                    <p:cond delay="150"/>
                                  </p:stCondLst>
                                  <p:iterate type="el" backwards="0">
                                    <p:tmAbs val="0"/>
                                  </p:iterate>
                                  <p:childTnLst>
                                    <p:set>
                                      <p:cBhvr>
                                        <p:cTn id="76" fill="hold"/>
                                        <p:tgtEl>
                                          <p:spTgt spid="280"/>
                                        </p:tgtEl>
                                        <p:attrNameLst>
                                          <p:attrName>style.visibility</p:attrName>
                                        </p:attrNameLst>
                                      </p:cBhvr>
                                      <p:to>
                                        <p:strVal val="visible"/>
                                      </p:to>
                                    </p:set>
                                    <p:animEffect filter="fade" transition="in">
                                      <p:cBhvr>
                                        <p:cTn id="77" dur="400"/>
                                        <p:tgtEl>
                                          <p:spTgt spid="280"/>
                                        </p:tgtEl>
                                      </p:cBhvr>
                                    </p:animEffect>
                                  </p:childTnLst>
                                </p:cTn>
                              </p:par>
                            </p:childTnLst>
                          </p:cTn>
                        </p:par>
                      </p:childTnLst>
                    </p:cTn>
                  </p:par>
                  <p:par>
                    <p:cTn id="78" fill="hold">
                      <p:stCondLst>
                        <p:cond delay="indefinite"/>
                      </p:stCondLst>
                      <p:childTnLst>
                        <p:par>
                          <p:cTn id="79" fill="hold">
                            <p:stCondLst>
                              <p:cond delay="0"/>
                            </p:stCondLst>
                            <p:childTnLst>
                              <p:par>
                                <p:cTn id="80" presetClass="entr" nodeType="clickEffect" presetID="10" grpId="16" fill="hold">
                                  <p:stCondLst>
                                    <p:cond delay="0"/>
                                  </p:stCondLst>
                                  <p:iterate type="el" backwards="0">
                                    <p:tmAbs val="0"/>
                                  </p:iterate>
                                  <p:childTnLst>
                                    <p:set>
                                      <p:cBhvr>
                                        <p:cTn id="81" fill="hold"/>
                                        <p:tgtEl>
                                          <p:spTgt spid="281"/>
                                        </p:tgtEl>
                                        <p:attrNameLst>
                                          <p:attrName>style.visibility</p:attrName>
                                        </p:attrNameLst>
                                      </p:cBhvr>
                                      <p:to>
                                        <p:strVal val="visible"/>
                                      </p:to>
                                    </p:set>
                                    <p:animEffect filter="fade" transition="in">
                                      <p:cBhvr>
                                        <p:cTn id="82" dur="4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8" grpId="13"/>
      <p:bldP build="whole" bldLvl="1" animBg="1" rev="0" advAuto="0" spid="280" grpId="15"/>
      <p:bldP build="whole" bldLvl="1" animBg="1" rev="0" advAuto="0" spid="259" grpId="2"/>
      <p:bldP build="whole" bldLvl="1" animBg="1" rev="0" advAuto="0" spid="270" grpId="9"/>
      <p:bldP build="whole" bldLvl="1" animBg="1" rev="0" advAuto="0" spid="258" grpId="1"/>
      <p:bldP build="whole" bldLvl="1" animBg="1" rev="0" advAuto="0" spid="279" grpId="14"/>
      <p:bldP build="whole" bldLvl="1" animBg="1" rev="0" advAuto="0" spid="273" grpId="10"/>
      <p:bldP build="whole" bldLvl="1" animBg="1" rev="0" advAuto="0" spid="281" grpId="16"/>
      <p:bldP build="whole" bldLvl="1" animBg="1" rev="0" advAuto="0" spid="275" grpId="12"/>
      <p:bldP build="whole" bldLvl="1" animBg="1" rev="0" advAuto="0" spid="264" grpId="5"/>
      <p:bldP build="whole" bldLvl="1" animBg="1" rev="0" advAuto="0" spid="268" grpId="7"/>
      <p:bldP build="whole" bldLvl="1" animBg="1" rev="0" advAuto="0" spid="269" grpId="8"/>
      <p:bldP build="whole" bldLvl="1" animBg="1" rev="0" advAuto="0" spid="265" grpId="6"/>
      <p:bldP build="whole" bldLvl="1" animBg="1" rev="0" advAuto="0" spid="263" grpId="4"/>
      <p:bldP build="whole" bldLvl="1" animBg="1" rev="0" advAuto="0" spid="260" grpId="3"/>
      <p:bldP build="whole" bldLvl="1" animBg="1" rev="0" advAuto="0" spid="274" grpId="11"/>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