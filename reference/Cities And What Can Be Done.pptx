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image1.jpeg" ContentType="image/jpeg"/>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Q1 TO Q4 ARE RETRIEVAL FROM LOSING THE SOIL. Q2 is deliberate: "runoff" was the word that did not land last lesson (you had to add "what collects in the catch pots" to the practical slide). It comes back in this lesson, so get it secure now. The answer: rain that flows over the surface instead of soaking in.</a:t>
            </a:r>
          </a:p>
          <a:p>
            <a:pPr/>
          </a:p>
          <a:p>
            <a:pPr/>
            <a:r>
              <a:t>Q3 IS THE TIMESCALE, ONCE MORE. Soil is still the idea they carry least securely, and today it does real work: soil sealed under concrete is lost for centuries.</a:t>
            </a:r>
          </a:p>
          <a:p>
            <a:pPr/>
          </a:p>
          <a:p>
            <a:pPr/>
            <a:r>
              <a:t>Q5 AND Q6 ARE PRIMING, NOT TAUGHT YET. Q5 is the whole of today's second objective in one everyday picture. Q6: accept any answer, the Hook gives the actual figures.</a:t>
            </a:r>
          </a:p>
          <a:p>
            <a:pPr/>
          </a:p>
          <a:p>
            <a:pPr/>
            <a:r>
              <a:t>TAUGHT IDENTICALLY TO 9G AND 9I. 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THE BANNER GIVES THE SHAPE OF THE LESSON, and it deliberately does not end on damage. Objectives 1 and 2 are what cities do to land. Objective 3 is what can be done, with real places, and it is where the lesson finishes.</a:t>
            </a:r>
          </a:p>
          <a:p>
            <a:pPr/>
          </a:p>
          <a:p>
            <a:pPr/>
            <a:r>
              <a:t>SAY "URBANISATION" OUT LOUD AND HAVE THEM SAY IT. It is a long word, and the whole lesson depends on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HOOK. 2 minutes. Four clicks.</a:t>
            </a:r>
          </a:p>
          <a:p>
            <a:pPr/>
          </a:p>
          <a:p>
            <a:pPr/>
            <a:r>
              <a:t>Hands up for each. Tally on the board. Expect a spread, and a lot of C: most people think cities hold most of the world already.</a:t>
            </a:r>
          </a:p>
          <a:p>
            <a:pPr/>
          </a:p>
          <a:p>
            <a:pPr/>
            <a:r>
              <a:t>DO NOT REVEAL THE ANSWER HERE. I Do 1 gives it.</a:t>
            </a:r>
          </a:p>
          <a:p>
            <a:pPr/>
          </a:p>
          <a:p>
            <a:pPr/>
            <a:r>
              <a:t>ANSWER, FOR YOU: B. The UN's World Urbanization Prospects 2025 puts 45% of the 8.2 billion people in cities, another 36% in towns and 19% in rural areas. In 1950 it was about 20% in cities. Two thirds of the growth to 2050 is expected in cities.</a:t>
            </a:r>
          </a:p>
          <a:p>
            <a:pPr/>
          </a:p>
          <a:p>
            <a:pPr/>
            <a:r>
              <a:t>IF A STUDENT QUOTES 57% URBAN (an older figure), they are not wrong. Older figures use each country's own definition of "urban". The 2025 report uses one common definition: a city is at least 50,000 people at 1,500 or more per square kilometre. Say so in one sentence and move 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I DO. 3 minutes. Six clicks: the definition, the four changes, then the bridge.</a:t>
            </a:r>
          </a:p>
          <a:p>
            <a:pPr/>
          </a:p>
          <a:p>
            <a:pPr/>
            <a:r>
              <a:t>THE DEFINITION HAS TWO HALVES: cities grow, AND a bigger share of people live in them. It is a share, not just a number. The Hook figures (20 in 100 in 1950, 45 in 100 now) are the share going up.</a:t>
            </a:r>
          </a:p>
          <a:p>
            <a:pPr/>
          </a:p>
          <a:p>
            <a:pPr/>
            <a:r>
              <a:t>COVERED IS THE ONE TO SLOW DOWN ON. This is where last lesson comes back: a few centimetres of soil took a few hundred to about a thousand years to form, and once it is under concrete it cannot do its job (grow plants, soak up rain). It is not "destroyed" in a moment, it is sealed, and for anyone alive that is the same as gone. Say "centuries to make", and let them finish the line: "years to lose".</a:t>
            </a:r>
          </a:p>
          <a:p>
            <a:pPr/>
          </a:p>
          <a:p>
            <a:pPr/>
            <a:r>
              <a:t>RUNOFF: say the word and give the bracket every time. Runoff is rain that flows over the surface instead of soaking in. It is the tray practical, on a road. Bare tray, fast runoff.</a:t>
            </a:r>
          </a:p>
          <a:p>
            <a:pPr/>
          </a:p>
          <a:p>
            <a:pPr/>
            <a:r>
              <a:t>HOTTER: the city is warmer because dark surfaces soak up heat and there are fewer plants to cool the air by giving off water. Do not give a number: it varies a great deal (a few degrees on average, much more on some evenings).</a:t>
            </a:r>
          </a:p>
          <a:p>
            <a:pPr/>
          </a:p>
          <a:p>
            <a:pPr/>
            <a:r>
              <a:t>THE BRIDGE BANNER IS THE POINT OF THE SLIDE. Stop here for one second, then click. The next slide is what can be done, and the lesson is not going to end on this 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I DO. 3 minutes. Three clicks: the first thing, the second thing, then the banner. This is the closing note of the lesson, per the brief, so give it the room.</a:t>
            </a:r>
          </a:p>
          <a:p>
            <a:pPr/>
          </a:p>
          <a:p>
            <a:pPr/>
            <a:r>
              <a:t>BOTH ARE REAL PLACES WITH REAL NUMBERS. Neither is "we should recycle". Point at the map if you have one: Wuhan, central China. London, and the ring of land round it.</a:t>
            </a:r>
          </a:p>
          <a:p>
            <a:pPr/>
          </a:p>
          <a:p>
            <a:pPr/>
            <a:r>
              <a:t>LET RAIN SOAK IN, IN ONE LINE: everything on I Do 1 that went wrong (runoff, floods, heat) is because rain cannot soak in. Sponge cities try to undo exactly that. Rain gardens are planted dips that collect roof and road water, permeable paving has gaps or pores that let water through, green roofs are planted roofs that hold water. Say what each one looks like.</a:t>
            </a:r>
          </a:p>
          <a:p>
            <a:pPr/>
          </a:p>
          <a:p>
            <a:pPr/>
            <a:r>
              <a:t>BE HONEST ABOUT WUHAN. It is a real programme, and 288 pilot projects from 2015 is a real figure. The 70% is a national TARGET that China set, not a proven result, and how well projects have worked varies. Teach it as a design aim that makes physical sense, not as a solved problem. That honesty is part of the judging skill on Gold.</a:t>
            </a:r>
          </a:p>
          <a:p>
            <a:pPr/>
          </a:p>
          <a:p>
            <a:pPr/>
            <a:r>
              <a:t>KEEP LAND FROM BEING BUILT ON, IN ONE LINE: the soil that is not built on is soil that is not sealed. The London Green Belt is about 500,000 hectares (sources put it between 486,000 and 513,000). It came from the 1947 planning law and its stated aims include stopping sprawl and encouraging the reuse of derelict urban land. Brownfield means land that has been built on before. Be fair: the green belt protects OPEN land, and it is argued about, because people also need housing. You do not need to settle that, just do not claim it is perfect.</a:t>
            </a:r>
          </a:p>
          <a:p>
            <a:pPr/>
          </a:p>
          <a:p>
            <a:pPr/>
            <a:r>
              <a:t>THE BANNER CLOSES THE LOOP WITH TODAY. Point back to the first slide. The rest of the lesson practises these two and ends on them.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WE DO. 5 minutes. Four clicks. Take answers from the room first.</a:t>
            </a:r>
          </a:p>
          <a:p>
            <a:pPr/>
          </a:p>
          <a:p>
            <a:pPr/>
            <a:r>
              <a:t>ROW 1 IS OBJECTIVE 1. "Urbanisation" is the word they will mix with "hotter" or "pollution", because cities sound like those.</a:t>
            </a:r>
          </a:p>
          <a:p>
            <a:pPr/>
          </a:p>
          <a:p>
            <a:pPr/>
            <a:r>
              <a:t>ROW 2 IS OBJECTIVE 2 AND THE RUNOFF WORD. Use the bracket. Point back at the tray practical: a bare tray is a road.</a:t>
            </a:r>
          </a:p>
          <a:p>
            <a:pPr/>
          </a:p>
          <a:p>
            <a:pPr/>
            <a:r>
              <a:t>ROWS 3 AND 4 ARE OBJECTIVE 3. Row 3 should be easy, because "sponge" already suggests soaking up. Row 4 is the trap: "green belt" sounds like a park, so expect a wrong answer. Take the green belt one slowly and say it is a RING of land round a city.</a:t>
            </a:r>
          </a:p>
          <a:p>
            <a:pPr/>
          </a:p>
          <a:p>
            <a:pPr/>
            <a:r>
              <a:t>THE ORDER IS ON PURPOSE: the two rows that describe what reduces the damage come last, so the room finishes on them.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COLD CALL. 6 minutes. Six clicks. Name a student, then ask. Thinking time before the answer.</a:t>
            </a:r>
          </a:p>
          <a:p>
            <a:pPr/>
          </a:p>
          <a:p>
            <a:pPr/>
            <a:r>
              <a:t>Q1 AND Q2 ARE OBJECTIVES 1 AND 2, cold. Q3 IS THE TIMESCALE, in the setting where it now matters.</a:t>
            </a:r>
          </a:p>
          <a:p>
            <a:pPr/>
          </a:p>
          <a:p>
            <a:pPr/>
            <a:r>
              <a:t>Q4 TO Q6 ARE OBJECTIVE 3 AND ARE THE LAST THREE ON PURPOSE. If Q4 or Q5 is shaky, say the real place name again (Wuhan, London), the examples are what makes it stick.</a:t>
            </a:r>
          </a:p>
          <a:p>
            <a:pPr/>
          </a:p>
          <a:p>
            <a:pPr/>
            <a:r>
              <a:t>Q4 HAS SEVERAL RIGHT ANSWERS. Take two or three. Q6 is the one new word of the lesson (brownfield): say it, define it, and have them say it back once.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Shape 284"/>
          <p:cNvSpPr/>
          <p:nvPr>
            <p:ph type="sldImg"/>
          </p:nvPr>
        </p:nvSpPr>
        <p:spPr>
          <a:prstGeom prst="rect">
            <a:avLst/>
          </a:prstGeom>
        </p:spPr>
        <p:txBody>
          <a:bodyPr/>
          <a:lstStyle/>
          <a:p>
            <a:pPr/>
          </a:p>
        </p:txBody>
      </p:sp>
      <p:sp>
        <p:nvSpPr>
          <p:cNvPr id="285" name="Shape 285"/>
          <p:cNvSpPr/>
          <p:nvPr>
            <p:ph type="body" sz="quarter" idx="1"/>
          </p:nvPr>
        </p:nvSpPr>
        <p:spPr>
          <a:prstGeom prst="rect">
            <a:avLst/>
          </a:prstGeom>
        </p:spPr>
        <p:txBody>
          <a:bodyPr/>
          <a:lstStyle/>
          <a:p>
            <a:pPr/>
            <a:r>
              <a:t>YOU DO. 14 minutes. Four clicks.</a:t>
            </a:r>
          </a:p>
          <a:p>
            <a:pPr/>
          </a:p>
          <a:p>
            <a:pPr/>
            <a:r>
              <a:t>THE NOTE ON THE SLIDE IS THE WORD THEY FOUND HARD. Leave it up while they work.</a:t>
            </a:r>
          </a:p>
          <a:p>
            <a:pPr/>
          </a:p>
          <a:p>
            <a:pPr/>
            <a:r>
              <a:t>CIRCULATE WITH ONE QUESTION: "which place is that, and what did they actually do?" Wuhan and London are the answers to almost every Silver and Gold question. If a student writes "we should plant more trees", ask for the place and the number.</a:t>
            </a:r>
          </a:p>
          <a:p>
            <a:pPr/>
          </a:p>
          <a:p>
            <a:pPr/>
            <a:r>
              <a:t>WHERE THEY WILL STALL: Gold Q9, judging the claim. Last lesson's notes flagged judging a claim as the stall point, so scaffold it without giving the answer: "what is true in that claim?" then "what is not?" then "which real place shows it?".</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hape 332"/>
          <p:cNvSpPr/>
          <p:nvPr>
            <p:ph type="sldImg"/>
          </p:nvPr>
        </p:nvSpPr>
        <p:spPr>
          <a:prstGeom prst="rect">
            <a:avLst/>
          </a:prstGeom>
        </p:spPr>
        <p:txBody>
          <a:bodyPr/>
          <a:lstStyle/>
          <a:p>
            <a:pPr/>
          </a:p>
        </p:txBody>
      </p:sp>
      <p:sp>
        <p:nvSpPr>
          <p:cNvPr id="333" name="Shape 333"/>
          <p:cNvSpPr/>
          <p:nvPr>
            <p:ph type="body" sz="quarter" idx="1"/>
          </p:nvPr>
        </p:nvSpPr>
        <p:spPr>
          <a:prstGeom prst="rect">
            <a:avLst/>
          </a:prstGeom>
        </p:spPr>
        <p:txBody>
          <a:bodyPr/>
          <a:lstStyle/>
          <a:p>
            <a:pPr/>
            <a:r>
              <a:t>ANSWERS. 3 minutes. Five clicks, two at a time. They mark their own in a different colour.</a:t>
            </a:r>
          </a:p>
          <a:p>
            <a:pPr/>
          </a:p>
          <a:p>
            <a:pPr/>
            <a:r>
              <a:t>Q6 AND Q7 NEED THE PLACE NAME AND ONE FACT. Wuhan with paving, gardens or roofs; London with the ring of land. "Plant more trees" with no place is not a full answer, mark it as half.</a:t>
            </a:r>
          </a:p>
          <a:p>
            <a:pPr/>
          </a:p>
          <a:p>
            <a:pPr/>
            <a:r>
              <a:t>Q8, Q9 AND Q10 ARE THE REAL TEST. Take two or three out loud. Q9 has no single answer: accept any judgement that says what is true in the claim (cities do cover soil and cause runoff) AND what is not (real places have reduced the damage).</a:t>
            </a:r>
          </a:p>
          <a:p>
            <a:pPr/>
          </a:p>
          <a:p>
            <a:pPr/>
            <a:r>
              <a:t>Q10 IS THE TIMESCALE FROM THE START OF THE UNIT, in one sentence. Listen for "centuries" and "years".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Shape 361"/>
          <p:cNvSpPr/>
          <p:nvPr>
            <p:ph type="sldImg"/>
          </p:nvPr>
        </p:nvSpPr>
        <p:spPr>
          <a:prstGeom prst="rect">
            <a:avLst/>
          </a:prstGeom>
        </p:spPr>
        <p:txBody>
          <a:bodyPr/>
          <a:lstStyle/>
          <a:p>
            <a:pPr/>
          </a:p>
        </p:txBody>
      </p:sp>
      <p:sp>
        <p:nvSpPr>
          <p:cNvPr id="362" name="Shape 362"/>
          <p:cNvSpPr/>
          <p:nvPr>
            <p:ph type="body" sz="quarter" idx="1"/>
          </p:nvPr>
        </p:nvSpPr>
        <p:spPr>
          <a:prstGeom prst="rect">
            <a:avLst/>
          </a:prstGeom>
        </p:spPr>
        <p:txBody>
          <a:bodyPr/>
          <a:lstStyle/>
          <a:p>
            <a:pPr/>
            <a:r>
              <a:t>PLENARY. 3 minutes. Six clicks.</a:t>
            </a:r>
          </a:p>
          <a:p>
            <a:pPr/>
          </a:p>
          <a:p>
            <a:pPr/>
            <a:r>
              <a:t>THE ORDER FINISHES ON THE POSITIVE. The two wrong statements are in the middle, and the last two are the solutions, so the last thing the room says is true about Wuhan and London.</a:t>
            </a:r>
          </a:p>
          <a:p>
            <a:pPr/>
          </a:p>
          <a:p>
            <a:pPr/>
            <a:r>
              <a:t>Q3 IS THE TIMESCALE. If anyone says TRUE, ask for the numbers: a few hundred to about a thousand years for a few centimetres.</a:t>
            </a:r>
          </a:p>
          <a:p>
            <a:pPr/>
          </a:p>
          <a:p>
            <a:pPr/>
            <a:r>
              <a:t>Q4 AND Q5: ask "where?" and take "Wuhan" and "London". If they can name the place, objective 3 landed.</a:t>
            </a:r>
          </a:p>
          <a:p>
            <a:pPr/>
          </a:p>
          <a:p>
            <a:pPr/>
            <a:r>
              <a:t>The closing line is the Today banner, word for word, and this time it is the last thing on the last slide. That is the point of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1.jpeg"/><Relationship Id="rId9"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926079" y="344170"/>
            <a:ext cx="630936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3D2B1F"/>
                </a:solidFill>
                <a:latin typeface="Georgia"/>
                <a:ea typeface="Georgia"/>
                <a:cs typeface="Georgia"/>
                <a:sym typeface="Georgia"/>
              </a:defRPr>
            </a:lvl1pPr>
          </a:lstStyle>
          <a:p>
            <a:pPr/>
            <a:r>
              <a:t>Cities And What Can Be Done</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6B5A48"/>
                </a:solidFill>
                <a:latin typeface="Arial"/>
                <a:ea typeface="Arial"/>
                <a:cs typeface="Arial"/>
                <a:sym typeface="Arial"/>
              </a:defRPr>
            </a:lvl1pPr>
          </a:lstStyle>
          <a:p>
            <a:pPr/>
            <a:r>
              <a:t>Thursday 8 October 2026</a:t>
            </a:r>
          </a:p>
        </p:txBody>
      </p:sp>
      <p:sp>
        <p:nvSpPr>
          <p:cNvPr id="26" name="rule"/>
          <p:cNvSpPr/>
          <p:nvPr/>
        </p:nvSpPr>
        <p:spPr>
          <a:xfrm>
            <a:off x="1170432" y="896111"/>
            <a:ext cx="10472623" cy="36577"/>
          </a:xfrm>
          <a:prstGeom prst="rect">
            <a:avLst/>
          </a:prstGeom>
          <a:solidFill>
            <a:srgbClr val="C99A3D"/>
          </a:solidFill>
          <a:ln w="12700">
            <a:solidFill>
              <a:srgbClr val="C99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C99A3D"/>
          </a:solidFill>
          <a:ln w="12700">
            <a:solidFill>
              <a:srgbClr val="C99A3D"/>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30" name="d0_q"/>
          <p:cNvSpPr txBox="1"/>
          <p:nvPr/>
        </p:nvSpPr>
        <p:spPr>
          <a:xfrm>
            <a:off x="1901951"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Describe what erosion is.</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32" name="Soil worn away and carried off by water or wind."/>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Soil worn away and carried off by water or wind.</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C99A3D"/>
          </a:solidFill>
          <a:ln w="12700">
            <a:solidFill>
              <a:srgbClr val="C99A3D"/>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37" name="d1_q"/>
          <p:cNvSpPr txBox="1"/>
          <p:nvPr/>
        </p:nvSpPr>
        <p:spPr>
          <a:xfrm>
            <a:off x="7275424"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what runoff is.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39" name="Rain that flows over the ground instead of soaking in."/>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Rain that flows over the ground instead of soaking in.</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C99A3D"/>
          </a:solidFill>
          <a:ln w="12700">
            <a:solidFill>
              <a:srgbClr val="C99A3D"/>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how long a few centimetres of soil take to form.</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46" name="A few hundred to about a thousand year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A few hundred to about a thousand years.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C99A3D"/>
          </a:solidFill>
          <a:ln w="12700">
            <a:solidFill>
              <a:srgbClr val="C99A3D"/>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51" name="d3_q"/>
          <p:cNvSpPr txBox="1"/>
          <p:nvPr/>
        </p:nvSpPr>
        <p:spPr>
          <a:xfrm>
            <a:off x="7275424"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Name one way farming can cause erosion.</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53" name="Ploughing, too many animals, or clearing tree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Ploughing, too many animals, or clearing trees.</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C99A3D"/>
          </a:solidFill>
          <a:ln w="12700">
            <a:solidFill>
              <a:srgbClr val="C99A3D"/>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58" name="d4_q"/>
          <p:cNvSpPr txBox="1"/>
          <p:nvPr/>
        </p:nvSpPr>
        <p:spPr>
          <a:xfrm>
            <a:off x="1901951"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what happens to rain that falls on a road.</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60" name="It cannot soak in. It runs off into drain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It cannot soak in. It runs off into drains.</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C99A3D"/>
          </a:solidFill>
          <a:ln w="12700">
            <a:solidFill>
              <a:srgbClr val="C99A3D"/>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Do more people live in towns and cities, or in the countryside?</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67" name="Towns and citie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Towns and cities.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47" grpId="4"/>
      <p:bldP build="whole" bldLvl="1" animBg="1" rev="0" advAuto="0" spid="61" grpId="6"/>
      <p:bldP build="whole" bldLvl="1" animBg="1" rev="0" advAuto="0" spid="68" grpId="7"/>
      <p:bldP build="whole" bldLvl="1" animBg="1" rev="0" advAuto="0" spid="40" grpId="3"/>
      <p:bldP build="whole" bldLvl="1" animBg="1" rev="0" advAuto="0" spid="33"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Today</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80" name="o0_t"/>
            <p:cNvSpPr txBox="1"/>
            <p:nvPr/>
          </p:nvSpPr>
          <p:spPr>
            <a:xfrm>
              <a:off x="237744" y="713231"/>
              <a:ext cx="2832506" cy="243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what urbanisation is.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Explain how building on land changes it.</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two things that reduce damage to land.</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700"/>
              </a:pPr>
            </a:p>
          </p:txBody>
        </p:sp>
        <p:sp>
          <p:nvSpPr>
            <p:cNvPr id="93" name="Cities change land. They can also be built to protect it."/>
            <p:cNvSpPr txBox="1"/>
            <p:nvPr/>
          </p:nvSpPr>
          <p:spPr>
            <a:xfrm>
              <a:off x="36901" y="195301"/>
              <a:ext cx="10398821" cy="249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700">
                  <a:solidFill>
                    <a:srgbClr val="C99A3D"/>
                  </a:solidFill>
                  <a:latin typeface="Arial"/>
                  <a:ea typeface="Arial"/>
                  <a:cs typeface="Arial"/>
                  <a:sym typeface="Arial"/>
                </a:defRPr>
              </a:lvl1pPr>
            </a:lstStyle>
            <a:p>
              <a:pPr/>
              <a:r>
                <a:t>Cities change land. They can also be built to protect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4" grpId="5"/>
      <p:bldP build="whole" bldLvl="1" animBg="1" rev="0" advAuto="0" spid="81" grpId="2"/>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69059"/>
            <a:ext cx="10472623" cy="803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200"/>
              </a:lnSpc>
              <a:defRPr b="1" sz="2600">
                <a:solidFill>
                  <a:srgbClr val="3D2B1F"/>
                </a:solidFill>
                <a:latin typeface="Georgia"/>
                <a:ea typeface="Georgia"/>
                <a:cs typeface="Georgia"/>
                <a:sym typeface="Georgia"/>
              </a:defRPr>
            </a:lvl1pPr>
          </a:lstStyle>
          <a:p>
            <a:pPr/>
            <a:r>
              <a:t>In 1950, about 20 in every 100 people lived in a city. How many do now?</a:t>
            </a:r>
          </a:p>
        </p:txBody>
      </p:sp>
      <p:grpSp>
        <p:nvGrpSpPr>
          <p:cNvPr id="106" name="h0"/>
          <p:cNvGrpSpPr/>
          <p:nvPr/>
        </p:nvGrpSpPr>
        <p:grpSpPr>
          <a:xfrm>
            <a:off x="1170432" y="2487167"/>
            <a:ext cx="3307994" cy="1554481"/>
            <a:chOff x="0" y="0"/>
            <a:chExt cx="3307993" cy="1554480"/>
          </a:xfrm>
        </p:grpSpPr>
        <p:sp>
          <p:nvSpPr>
            <p:cNvPr id="103" name="h0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A</a:t>
              </a:r>
            </a:p>
          </p:txBody>
        </p:sp>
        <p:sp>
          <p:nvSpPr>
            <p:cNvPr id="105" name="h0_t"/>
            <p:cNvSpPr txBox="1"/>
            <p:nvPr/>
          </p:nvSpPr>
          <p:spPr>
            <a:xfrm>
              <a:off x="256032" y="838708"/>
              <a:ext cx="279593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3D2B1F"/>
                  </a:solidFill>
                  <a:latin typeface="Georgia"/>
                  <a:ea typeface="Georgia"/>
                  <a:cs typeface="Georgia"/>
                  <a:sym typeface="Georgia"/>
                </a:defRPr>
              </a:lvl1pPr>
            </a:lstStyle>
            <a:p>
              <a:pPr/>
              <a:r>
                <a:t>About 25 in 100</a:t>
              </a:r>
            </a:p>
          </p:txBody>
        </p:sp>
      </p:grpSp>
      <p:grpSp>
        <p:nvGrpSpPr>
          <p:cNvPr id="110" name="h1"/>
          <p:cNvGrpSpPr/>
          <p:nvPr/>
        </p:nvGrpSpPr>
        <p:grpSpPr>
          <a:xfrm>
            <a:off x="4752745" y="2487167"/>
            <a:ext cx="3307995" cy="1554481"/>
            <a:chOff x="0" y="0"/>
            <a:chExt cx="3307993" cy="1554480"/>
          </a:xfrm>
        </p:grpSpPr>
        <p:sp>
          <p:nvSpPr>
            <p:cNvPr id="107" name="h1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8"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B</a:t>
              </a:r>
            </a:p>
          </p:txBody>
        </p:sp>
        <p:sp>
          <p:nvSpPr>
            <p:cNvPr id="109" name="h1_t"/>
            <p:cNvSpPr txBox="1"/>
            <p:nvPr/>
          </p:nvSpPr>
          <p:spPr>
            <a:xfrm>
              <a:off x="256032" y="838708"/>
              <a:ext cx="279593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3D2B1F"/>
                  </a:solidFill>
                  <a:latin typeface="Georgia"/>
                  <a:ea typeface="Georgia"/>
                  <a:cs typeface="Georgia"/>
                  <a:sym typeface="Georgia"/>
                </a:defRPr>
              </a:lvl1pPr>
            </a:lstStyle>
            <a:p>
              <a:pPr/>
              <a:r>
                <a:t>About 45 in 100</a:t>
              </a:r>
            </a:p>
          </p:txBody>
        </p:sp>
      </p:grpSp>
      <p:grpSp>
        <p:nvGrpSpPr>
          <p:cNvPr id="114" name="h2"/>
          <p:cNvGrpSpPr/>
          <p:nvPr/>
        </p:nvGrpSpPr>
        <p:grpSpPr>
          <a:xfrm>
            <a:off x="8335061" y="2487167"/>
            <a:ext cx="3307994" cy="1554481"/>
            <a:chOff x="0" y="0"/>
            <a:chExt cx="3307993" cy="1554480"/>
          </a:xfrm>
        </p:grpSpPr>
        <p:sp>
          <p:nvSpPr>
            <p:cNvPr id="111" name="h2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2"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C</a:t>
              </a:r>
            </a:p>
          </p:txBody>
        </p:sp>
        <p:sp>
          <p:nvSpPr>
            <p:cNvPr id="113" name="h2_t"/>
            <p:cNvSpPr txBox="1"/>
            <p:nvPr/>
          </p:nvSpPr>
          <p:spPr>
            <a:xfrm>
              <a:off x="256032" y="838708"/>
              <a:ext cx="279593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000">
                  <a:solidFill>
                    <a:srgbClr val="3D2B1F"/>
                  </a:solidFill>
                  <a:latin typeface="Georgia"/>
                  <a:ea typeface="Georgia"/>
                  <a:cs typeface="Georgia"/>
                  <a:sym typeface="Georgia"/>
                </a:defRPr>
              </a:lvl1pPr>
            </a:lstStyle>
            <a:p>
              <a:pPr/>
              <a:r>
                <a:t>About 70 in 100</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6"/>
                                        </p:tgtEl>
                                        <p:attrNameLst>
                                          <p:attrName>style.visibility</p:attrName>
                                        </p:attrNameLst>
                                      </p:cBhvr>
                                      <p:to>
                                        <p:strVal val="visible"/>
                                      </p:to>
                                    </p:set>
                                    <p:animEffect filter="fade" transition="in">
                                      <p:cBhvr>
                                        <p:cTn id="11" dur="400"/>
                                        <p:tgtEl>
                                          <p:spTgt spid="10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0"/>
                                        </p:tgtEl>
                                        <p:attrNameLst>
                                          <p:attrName>style.visibility</p:attrName>
                                        </p:attrNameLst>
                                      </p:cBhvr>
                                      <p:to>
                                        <p:strVal val="visible"/>
                                      </p:to>
                                    </p:set>
                                    <p:animEffect filter="fade" transition="in">
                                      <p:cBhvr>
                                        <p:cTn id="15" dur="400"/>
                                        <p:tgtEl>
                                          <p:spTgt spid="110"/>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4"/>
                                        </p:tgtEl>
                                        <p:attrNameLst>
                                          <p:attrName>style.visibility</p:attrName>
                                        </p:attrNameLst>
                                      </p:cBhvr>
                                      <p:to>
                                        <p:strVal val="visible"/>
                                      </p:to>
                                    </p:set>
                                    <p:animEffect filter="fade" transition="in">
                                      <p:cBhvr>
                                        <p:cTn id="19" dur="4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6" grpId="2"/>
      <p:bldP build="whole" bldLvl="1" animBg="1" rev="0" advAuto="0" spid="110" grpId="3"/>
      <p:bldP build="whole" bldLvl="1" animBg="1" rev="0" advAuto="0" spid="114"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1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1" name="phase_pill"/>
          <p:cNvGrpSpPr/>
          <p:nvPr/>
        </p:nvGrpSpPr>
        <p:grpSpPr>
          <a:xfrm>
            <a:off x="1170432" y="310895"/>
            <a:ext cx="1623975" cy="329185"/>
            <a:chOff x="0" y="0"/>
            <a:chExt cx="1623974" cy="329184"/>
          </a:xfrm>
        </p:grpSpPr>
        <p:sp>
          <p:nvSpPr>
            <p:cNvPr id="11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2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2"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3D2B1F"/>
                </a:solidFill>
                <a:latin typeface="Georgia"/>
                <a:ea typeface="Georgia"/>
                <a:cs typeface="Georgia"/>
                <a:sym typeface="Georgia"/>
              </a:defRPr>
            </a:lvl1pPr>
          </a:lstStyle>
          <a:p>
            <a:pPr/>
            <a:r>
              <a:t>Urbanisation, and what it does to land</a:t>
            </a:r>
          </a:p>
        </p:txBody>
      </p:sp>
      <p:grpSp>
        <p:nvGrpSpPr>
          <p:cNvPr id="125" name="def"/>
          <p:cNvGrpSpPr/>
          <p:nvPr/>
        </p:nvGrpSpPr>
        <p:grpSpPr>
          <a:xfrm>
            <a:off x="1170432" y="1938527"/>
            <a:ext cx="10472623" cy="932690"/>
            <a:chOff x="0" y="0"/>
            <a:chExt cx="10472622" cy="932688"/>
          </a:xfrm>
        </p:grpSpPr>
        <p:sp>
          <p:nvSpPr>
            <p:cNvPr id="123" name="def_bg"/>
            <p:cNvSpPr/>
            <p:nvPr/>
          </p:nvSpPr>
          <p:spPr>
            <a:xfrm>
              <a:off x="0" y="0"/>
              <a:ext cx="10472623" cy="932689"/>
            </a:xfrm>
            <a:prstGeom prst="roundRect">
              <a:avLst>
                <a:gd name="adj" fmla="val 98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4" name="def_t"/>
            <p:cNvSpPr txBox="1"/>
            <p:nvPr/>
          </p:nvSpPr>
          <p:spPr>
            <a:xfrm>
              <a:off x="274319" y="208820"/>
              <a:ext cx="9923984" cy="5150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100"/>
                </a:lnSpc>
                <a:defRPr b="1" sz="1600">
                  <a:solidFill>
                    <a:srgbClr val="3D2B1F"/>
                  </a:solidFill>
                  <a:latin typeface="Arial"/>
                  <a:ea typeface="Arial"/>
                  <a:cs typeface="Arial"/>
                  <a:sym typeface="Arial"/>
                </a:defRPr>
              </a:pPr>
              <a:r>
                <a:t>Urbanisation: towns and cities grow, and a bigger share of people live in them.</a:t>
              </a:r>
            </a:p>
            <a:p>
              <a:pPr>
                <a:lnSpc>
                  <a:spcPts val="2100"/>
                </a:lnSpc>
                <a:defRPr sz="1300">
                  <a:solidFill>
                    <a:srgbClr val="6B5A48"/>
                  </a:solidFill>
                  <a:latin typeface="Arial"/>
                  <a:ea typeface="Arial"/>
                  <a:cs typeface="Arial"/>
                  <a:sym typeface="Arial"/>
                </a:defRPr>
              </a:pPr>
              <a:r>
                <a:t>Hook answer: B. About 45 in 100 people now live in cities, and another 36 in 100 in towns.</a:t>
              </a:r>
            </a:p>
          </p:txBody>
        </p:sp>
      </p:grpSp>
      <p:grpSp>
        <p:nvGrpSpPr>
          <p:cNvPr id="130" name="ch0"/>
          <p:cNvGrpSpPr/>
          <p:nvPr/>
        </p:nvGrpSpPr>
        <p:grpSpPr>
          <a:xfrm>
            <a:off x="1170432" y="3072383"/>
            <a:ext cx="2480997" cy="2395729"/>
            <a:chOff x="0" y="0"/>
            <a:chExt cx="2480996" cy="2395727"/>
          </a:xfrm>
        </p:grpSpPr>
        <p:sp>
          <p:nvSpPr>
            <p:cNvPr id="126" name="ch0_bg"/>
            <p:cNvSpPr/>
            <p:nvPr/>
          </p:nvSpPr>
          <p:spPr>
            <a:xfrm>
              <a:off x="0" y="0"/>
              <a:ext cx="2480997" cy="2395728"/>
            </a:xfrm>
            <a:prstGeom prst="roundRect">
              <a:avLst>
                <a:gd name="adj" fmla="val 381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27" name="ch0_icon" descr="ch0_icon"/>
            <p:cNvPicPr>
              <a:picLocks noChangeAspect="1"/>
            </p:cNvPicPr>
            <p:nvPr/>
          </p:nvPicPr>
          <p:blipFill>
            <a:blip r:embed="rId6">
              <a:extLst/>
            </a:blip>
            <a:stretch>
              <a:fillRect/>
            </a:stretch>
          </p:blipFill>
          <p:spPr>
            <a:xfrm>
              <a:off x="182880" y="182879"/>
              <a:ext cx="457201" cy="457201"/>
            </a:xfrm>
            <a:prstGeom prst="rect">
              <a:avLst/>
            </a:prstGeom>
            <a:ln w="12700" cap="flat">
              <a:noFill/>
              <a:miter lim="400000"/>
            </a:ln>
            <a:effectLst/>
          </p:spPr>
        </p:pic>
        <p:sp>
          <p:nvSpPr>
            <p:cNvPr id="128" name="ch0_h"/>
            <p:cNvSpPr txBox="1"/>
            <p:nvPr/>
          </p:nvSpPr>
          <p:spPr>
            <a:xfrm>
              <a:off x="749808" y="309879"/>
              <a:ext cx="161231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3D2B1F"/>
                  </a:solidFill>
                  <a:latin typeface="Georgia"/>
                  <a:ea typeface="Georgia"/>
                  <a:cs typeface="Georgia"/>
                  <a:sym typeface="Georgia"/>
                </a:defRPr>
              </a:lvl1pPr>
            </a:lstStyle>
            <a:p>
              <a:pPr/>
              <a:r>
                <a:t>COVERED</a:t>
              </a:r>
            </a:p>
          </p:txBody>
        </p:sp>
        <p:sp>
          <p:nvSpPr>
            <p:cNvPr id="129" name="ch0_t"/>
            <p:cNvSpPr txBox="1"/>
            <p:nvPr/>
          </p:nvSpPr>
          <p:spPr>
            <a:xfrm>
              <a:off x="182880" y="786384"/>
              <a:ext cx="2115237" cy="8044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2A1D14"/>
                  </a:solidFill>
                  <a:latin typeface="Arial"/>
                  <a:ea typeface="Arial"/>
                  <a:cs typeface="Arial"/>
                  <a:sym typeface="Arial"/>
                </a:defRPr>
              </a:lvl1pPr>
            </a:lstStyle>
            <a:p>
              <a:pPr/>
              <a:r>
                <a:t>Concrete and tarmac cover the soil. Soil under a road cannot grow anything, and takes centuries to form again.</a:t>
              </a:r>
            </a:p>
          </p:txBody>
        </p:sp>
      </p:grpSp>
      <p:grpSp>
        <p:nvGrpSpPr>
          <p:cNvPr id="135" name="ch1"/>
          <p:cNvGrpSpPr/>
          <p:nvPr/>
        </p:nvGrpSpPr>
        <p:grpSpPr>
          <a:xfrm>
            <a:off x="3834307" y="3072383"/>
            <a:ext cx="2480997" cy="2395729"/>
            <a:chOff x="0" y="0"/>
            <a:chExt cx="2480996" cy="2395727"/>
          </a:xfrm>
        </p:grpSpPr>
        <p:sp>
          <p:nvSpPr>
            <p:cNvPr id="131" name="ch1_bg"/>
            <p:cNvSpPr/>
            <p:nvPr/>
          </p:nvSpPr>
          <p:spPr>
            <a:xfrm>
              <a:off x="0" y="0"/>
              <a:ext cx="2480997" cy="2395728"/>
            </a:xfrm>
            <a:prstGeom prst="roundRect">
              <a:avLst>
                <a:gd name="adj" fmla="val 381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32" name="ch1_icon" descr="ch1_icon"/>
            <p:cNvPicPr>
              <a:picLocks noChangeAspect="1"/>
            </p:cNvPicPr>
            <p:nvPr/>
          </p:nvPicPr>
          <p:blipFill>
            <a:blip r:embed="rId7">
              <a:extLst/>
            </a:blip>
            <a:stretch>
              <a:fillRect/>
            </a:stretch>
          </p:blipFill>
          <p:spPr>
            <a:xfrm>
              <a:off x="182880" y="182879"/>
              <a:ext cx="457201" cy="457201"/>
            </a:xfrm>
            <a:prstGeom prst="rect">
              <a:avLst/>
            </a:prstGeom>
            <a:ln w="12700" cap="flat">
              <a:noFill/>
              <a:miter lim="400000"/>
            </a:ln>
            <a:effectLst/>
          </p:spPr>
        </p:pic>
        <p:sp>
          <p:nvSpPr>
            <p:cNvPr id="133" name="ch1_h"/>
            <p:cNvSpPr txBox="1"/>
            <p:nvPr/>
          </p:nvSpPr>
          <p:spPr>
            <a:xfrm>
              <a:off x="749808" y="309879"/>
              <a:ext cx="161231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3D2B1F"/>
                  </a:solidFill>
                  <a:latin typeface="Georgia"/>
                  <a:ea typeface="Georgia"/>
                  <a:cs typeface="Georgia"/>
                  <a:sym typeface="Georgia"/>
                </a:defRPr>
              </a:lvl1pPr>
            </a:lstStyle>
            <a:p>
              <a:pPr/>
              <a:r>
                <a:t>RUNOFF</a:t>
              </a:r>
            </a:p>
          </p:txBody>
        </p:sp>
        <p:sp>
          <p:nvSpPr>
            <p:cNvPr id="134" name="ch1_t"/>
            <p:cNvSpPr txBox="1"/>
            <p:nvPr/>
          </p:nvSpPr>
          <p:spPr>
            <a:xfrm>
              <a:off x="182880" y="786384"/>
              <a:ext cx="2115237" cy="8044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2A1D14"/>
                  </a:solidFill>
                  <a:latin typeface="Arial"/>
                  <a:ea typeface="Arial"/>
                  <a:cs typeface="Arial"/>
                  <a:sym typeface="Arial"/>
                </a:defRPr>
              </a:lvl1pPr>
            </a:lstStyle>
            <a:p>
              <a:pPr/>
              <a:r>
                <a:t>Rain cannot soak in. It runs off quickly over the surface (runoff) into drains, and can flood streets.</a:t>
              </a:r>
            </a:p>
          </p:txBody>
        </p:sp>
      </p:grpSp>
      <p:grpSp>
        <p:nvGrpSpPr>
          <p:cNvPr id="140" name="ch2"/>
          <p:cNvGrpSpPr/>
          <p:nvPr/>
        </p:nvGrpSpPr>
        <p:grpSpPr>
          <a:xfrm>
            <a:off x="6498183" y="3072383"/>
            <a:ext cx="2480998" cy="2395729"/>
            <a:chOff x="0" y="0"/>
            <a:chExt cx="2480996" cy="2395727"/>
          </a:xfrm>
        </p:grpSpPr>
        <p:sp>
          <p:nvSpPr>
            <p:cNvPr id="136" name="ch2_bg"/>
            <p:cNvSpPr/>
            <p:nvPr/>
          </p:nvSpPr>
          <p:spPr>
            <a:xfrm>
              <a:off x="0" y="0"/>
              <a:ext cx="2480997" cy="2395728"/>
            </a:xfrm>
            <a:prstGeom prst="roundRect">
              <a:avLst>
                <a:gd name="adj" fmla="val 381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37" name="ch2_icon" descr="ch2_icon"/>
            <p:cNvPicPr>
              <a:picLocks noChangeAspect="1"/>
            </p:cNvPicPr>
            <p:nvPr/>
          </p:nvPicPr>
          <p:blipFill>
            <a:blip r:embed="rId8">
              <a:extLst/>
            </a:blip>
            <a:stretch>
              <a:fillRect/>
            </a:stretch>
          </p:blipFill>
          <p:spPr>
            <a:xfrm>
              <a:off x="182880" y="182879"/>
              <a:ext cx="457201" cy="457201"/>
            </a:xfrm>
            <a:prstGeom prst="rect">
              <a:avLst/>
            </a:prstGeom>
            <a:ln w="12700" cap="flat">
              <a:noFill/>
              <a:miter lim="400000"/>
            </a:ln>
            <a:effectLst/>
          </p:spPr>
        </p:pic>
        <p:sp>
          <p:nvSpPr>
            <p:cNvPr id="138" name="ch2_h"/>
            <p:cNvSpPr txBox="1"/>
            <p:nvPr/>
          </p:nvSpPr>
          <p:spPr>
            <a:xfrm>
              <a:off x="749808" y="309879"/>
              <a:ext cx="161231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3D2B1F"/>
                  </a:solidFill>
                  <a:latin typeface="Georgia"/>
                  <a:ea typeface="Georgia"/>
                  <a:cs typeface="Georgia"/>
                  <a:sym typeface="Georgia"/>
                </a:defRPr>
              </a:lvl1pPr>
            </a:lstStyle>
            <a:p>
              <a:pPr/>
              <a:r>
                <a:t>HOTTER</a:t>
              </a:r>
            </a:p>
          </p:txBody>
        </p:sp>
        <p:sp>
          <p:nvSpPr>
            <p:cNvPr id="139" name="ch2_t"/>
            <p:cNvSpPr txBox="1"/>
            <p:nvPr/>
          </p:nvSpPr>
          <p:spPr>
            <a:xfrm>
              <a:off x="182880" y="786384"/>
              <a:ext cx="2115237" cy="10076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2A1D14"/>
                  </a:solidFill>
                  <a:latin typeface="Arial"/>
                  <a:ea typeface="Arial"/>
                  <a:cs typeface="Arial"/>
                  <a:sym typeface="Arial"/>
                </a:defRPr>
              </a:lvl1pPr>
            </a:lstStyle>
            <a:p>
              <a:pPr/>
              <a:r>
                <a:t>Dark surfaces soak up heat and there are fewer plants, so a big city can be several degrees warmer than the countryside.</a:t>
              </a:r>
            </a:p>
          </p:txBody>
        </p:sp>
      </p:grpSp>
      <p:grpSp>
        <p:nvGrpSpPr>
          <p:cNvPr id="145" name="ch3"/>
          <p:cNvGrpSpPr/>
          <p:nvPr/>
        </p:nvGrpSpPr>
        <p:grpSpPr>
          <a:xfrm>
            <a:off x="9162059" y="3072383"/>
            <a:ext cx="2480997" cy="2395729"/>
            <a:chOff x="0" y="0"/>
            <a:chExt cx="2480996" cy="2395727"/>
          </a:xfrm>
        </p:grpSpPr>
        <p:sp>
          <p:nvSpPr>
            <p:cNvPr id="141" name="ch3_bg"/>
            <p:cNvSpPr/>
            <p:nvPr/>
          </p:nvSpPr>
          <p:spPr>
            <a:xfrm>
              <a:off x="0" y="0"/>
              <a:ext cx="2480997" cy="2395728"/>
            </a:xfrm>
            <a:prstGeom prst="roundRect">
              <a:avLst>
                <a:gd name="adj" fmla="val 3817"/>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42" name="ch3_icon" descr="ch3_icon"/>
            <p:cNvPicPr>
              <a:picLocks noChangeAspect="1"/>
            </p:cNvPicPr>
            <p:nvPr/>
          </p:nvPicPr>
          <p:blipFill>
            <a:blip r:embed="rId9">
              <a:extLst/>
            </a:blip>
            <a:stretch>
              <a:fillRect/>
            </a:stretch>
          </p:blipFill>
          <p:spPr>
            <a:xfrm>
              <a:off x="182880" y="182879"/>
              <a:ext cx="457201" cy="457201"/>
            </a:xfrm>
            <a:prstGeom prst="rect">
              <a:avLst/>
            </a:prstGeom>
            <a:ln w="12700" cap="flat">
              <a:noFill/>
              <a:miter lim="400000"/>
            </a:ln>
            <a:effectLst/>
          </p:spPr>
        </p:pic>
        <p:sp>
          <p:nvSpPr>
            <p:cNvPr id="143" name="ch3_h"/>
            <p:cNvSpPr txBox="1"/>
            <p:nvPr/>
          </p:nvSpPr>
          <p:spPr>
            <a:xfrm>
              <a:off x="749808" y="309879"/>
              <a:ext cx="161231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3D2B1F"/>
                  </a:solidFill>
                  <a:latin typeface="Georgia"/>
                  <a:ea typeface="Georgia"/>
                  <a:cs typeface="Georgia"/>
                  <a:sym typeface="Georgia"/>
                </a:defRPr>
              </a:lvl1pPr>
            </a:lstStyle>
            <a:p>
              <a:pPr/>
              <a:r>
                <a:t>HABITAT LOST</a:t>
              </a:r>
            </a:p>
          </p:txBody>
        </p:sp>
        <p:sp>
          <p:nvSpPr>
            <p:cNvPr id="144" name="ch3_t"/>
            <p:cNvSpPr txBox="1"/>
            <p:nvPr/>
          </p:nvSpPr>
          <p:spPr>
            <a:xfrm>
              <a:off x="182880" y="786384"/>
              <a:ext cx="2115237" cy="3980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2A1D14"/>
                  </a:solidFill>
                  <a:latin typeface="Arial"/>
                  <a:ea typeface="Arial"/>
                  <a:cs typeface="Arial"/>
                  <a:sym typeface="Arial"/>
                </a:defRPr>
              </a:lvl1pPr>
            </a:lstStyle>
            <a:p>
              <a:pPr/>
              <a:r>
                <a:t>Trees and fields are cleared, so wildlife loses its home.</a:t>
              </a:r>
            </a:p>
          </p:txBody>
        </p:sp>
      </p:grpSp>
      <p:grpSp>
        <p:nvGrpSpPr>
          <p:cNvPr id="148" name="ido_banner"/>
          <p:cNvGrpSpPr/>
          <p:nvPr/>
        </p:nvGrpSpPr>
        <p:grpSpPr>
          <a:xfrm>
            <a:off x="1170432" y="5687567"/>
            <a:ext cx="10472623" cy="566929"/>
            <a:chOff x="0" y="0"/>
            <a:chExt cx="10472622" cy="566927"/>
          </a:xfrm>
        </p:grpSpPr>
        <p:sp>
          <p:nvSpPr>
            <p:cNvPr id="146" name="Rounded Rectangle"/>
            <p:cNvSpPr/>
            <p:nvPr/>
          </p:nvSpPr>
          <p:spPr>
            <a:xfrm>
              <a:off x="0" y="0"/>
              <a:ext cx="10472623" cy="566928"/>
            </a:xfrm>
            <a:prstGeom prst="roundRect">
              <a:avLst>
                <a:gd name="adj" fmla="val 19355"/>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700"/>
              </a:pPr>
            </a:p>
          </p:txBody>
        </p:sp>
        <p:sp>
          <p:nvSpPr>
            <p:cNvPr id="147" name="That is the damage. Next: what reduces it."/>
            <p:cNvSpPr txBox="1"/>
            <p:nvPr/>
          </p:nvSpPr>
          <p:spPr>
            <a:xfrm>
              <a:off x="36901" y="158725"/>
              <a:ext cx="10398821" cy="249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700">
                  <a:solidFill>
                    <a:srgbClr val="C99A3D"/>
                  </a:solidFill>
                  <a:latin typeface="Arial"/>
                  <a:ea typeface="Arial"/>
                  <a:cs typeface="Arial"/>
                  <a:sym typeface="Arial"/>
                </a:defRPr>
              </a:lvl1pPr>
            </a:lstStyle>
            <a:p>
              <a:pPr/>
              <a:r>
                <a:t>That is the damage. Next: what reduces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5"/>
                                        </p:tgtEl>
                                        <p:attrNameLst>
                                          <p:attrName>style.visibility</p:attrName>
                                        </p:attrNameLst>
                                      </p:cBhvr>
                                      <p:to>
                                        <p:strVal val="visible"/>
                                      </p:to>
                                    </p:set>
                                    <p:animEffect filter="fade" transition="in">
                                      <p:cBhvr>
                                        <p:cTn id="11" dur="400"/>
                                        <p:tgtEl>
                                          <p:spTgt spid="12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0"/>
                                        </p:tgtEl>
                                        <p:attrNameLst>
                                          <p:attrName>style.visibility</p:attrName>
                                        </p:attrNameLst>
                                      </p:cBhvr>
                                      <p:to>
                                        <p:strVal val="visible"/>
                                      </p:to>
                                    </p:set>
                                    <p:animEffect filter="fade" transition="in">
                                      <p:cBhvr>
                                        <p:cTn id="16" dur="400"/>
                                        <p:tgtEl>
                                          <p:spTgt spid="13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0"/>
                                        </p:tgtEl>
                                        <p:attrNameLst>
                                          <p:attrName>style.visibility</p:attrName>
                                        </p:attrNameLst>
                                      </p:cBhvr>
                                      <p:to>
                                        <p:strVal val="visible"/>
                                      </p:to>
                                    </p:set>
                                    <p:animEffect filter="fade" transition="in">
                                      <p:cBhvr>
                                        <p:cTn id="26" dur="400"/>
                                        <p:tgtEl>
                                          <p:spTgt spid="140"/>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45"/>
                                        </p:tgtEl>
                                        <p:attrNameLst>
                                          <p:attrName>style.visibility</p:attrName>
                                        </p:attrNameLst>
                                      </p:cBhvr>
                                      <p:to>
                                        <p:strVal val="visible"/>
                                      </p:to>
                                    </p:set>
                                    <p:animEffect filter="fade" transition="in">
                                      <p:cBhvr>
                                        <p:cTn id="31" dur="400"/>
                                        <p:tgtEl>
                                          <p:spTgt spid="145"/>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16" presetID="23" grpId="7" fill="hold">
                                  <p:stCondLst>
                                    <p:cond delay="0"/>
                                  </p:stCondLst>
                                  <p:iterate type="el" backwards="0">
                                    <p:tmAbs val="0"/>
                                  </p:iterate>
                                  <p:childTnLst>
                                    <p:set>
                                      <p:cBhvr>
                                        <p:cTn id="35" fill="hold"/>
                                        <p:tgtEl>
                                          <p:spTgt spid="148"/>
                                        </p:tgtEl>
                                        <p:attrNameLst>
                                          <p:attrName>style.visibility</p:attrName>
                                        </p:attrNameLst>
                                      </p:cBhvr>
                                      <p:to>
                                        <p:strVal val="visible"/>
                                      </p:to>
                                    </p:set>
                                    <p:anim calcmode="lin" valueType="num">
                                      <p:cBhvr>
                                        <p:cTn id="36" dur="400" fill="hold"/>
                                        <p:tgtEl>
                                          <p:spTgt spid="148"/>
                                        </p:tgtEl>
                                        <p:attrNameLst>
                                          <p:attrName>ppt_w</p:attrName>
                                        </p:attrNameLst>
                                      </p:cBhvr>
                                      <p:tavLst>
                                        <p:tav tm="0">
                                          <p:val>
                                            <p:fltVal val="0"/>
                                          </p:val>
                                        </p:tav>
                                        <p:tav tm="100000">
                                          <p:val>
                                            <p:strVal val="#ppt_w"/>
                                          </p:val>
                                        </p:tav>
                                      </p:tavLst>
                                    </p:anim>
                                    <p:anim calcmode="lin" valueType="num">
                                      <p:cBhvr>
                                        <p:cTn id="37" dur="400" fill="hold"/>
                                        <p:tgtEl>
                                          <p:spTgt spid="1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8" fill="hold" display="0">
                  <p:stCondLst>
                    <p:cond delay="indefinite"/>
                  </p:stCondLst>
                </p:cTn>
                <p:tgtEl>
                  <p:spTgt spid="118"/>
                </p:tgtEl>
              </p:cMediaNode>
            </p:video>
            <p:seq concurrent="1" prevAc="none" nextAc="seek">
              <p:cTn id="39" evtFilter="cancelBubble" nodeType="interactiveSeq" restart="whenNotActive" fill="hold">
                <p:stCondLst>
                  <p:cond delay="0" evt="onClick">
                    <p:tgtEl>
                      <p:spTgt spid="118"/>
                    </p:tgtEl>
                  </p:cond>
                </p:stCondLst>
                <p:endSync delay="0" evt="end">
                  <p:rtn val="all"/>
                </p:endSync>
                <p:childTnLst>
                  <p:par>
                    <p:cTn id="40" fill="hold">
                      <p:stCondLst>
                        <p:cond delay="0"/>
                      </p:stCondLst>
                      <p:childTnLst>
                        <p:par>
                          <p:cTn id="41" fill="hold">
                            <p:stCondLst>
                              <p:cond delay="0"/>
                            </p:stCondLst>
                            <p:childTnLst>
                              <p:par>
                                <p:cTn id="42" presetClass="mediacall" nodeType="clickEffect" presetSubtype="0" presetID="2" fill="hold">
                                  <p:stCondLst>
                                    <p:cond delay="0"/>
                                  </p:stCondLst>
                                  <p:childTnLst>
                                    <p:cmd type="call" cmd="togglePause">
                                      <p:cBhvr>
                                        <p:cTn id="43" dur="1" fill="hold"/>
                                        <p:tgtEl>
                                          <p:spTgt spid="118"/>
                                        </p:tgtEl>
                                      </p:cBhvr>
                                    </p:cmd>
                                  </p:childTnLst>
                                </p:cTn>
                              </p:par>
                            </p:childTnLst>
                          </p:cTn>
                        </p:par>
                      </p:childTnLst>
                    </p:cTn>
                  </p:par>
                </p:childTnLst>
              </p:cTn>
              <p:nextCondLst>
                <p:cond delay="0" evt="onClick">
                  <p:tgtEl>
                    <p:spTgt spid="118"/>
                  </p:tgtEl>
                </p:cond>
              </p:nextCondLst>
            </p:seq>
          </p:childTnLst>
        </p:cTn>
      </p:par>
    </p:tnLst>
    <p:bldLst>
      <p:bldP build="whole" bldLvl="1" animBg="1" rev="0" advAuto="0" spid="135" grpId="4"/>
      <p:bldP build="whole" bldLvl="1" animBg="1" rev="0" advAuto="0" spid="140" grpId="5"/>
      <p:bldP build="whole" bldLvl="1" animBg="1" rev="0" advAuto="0" spid="125" grpId="2"/>
      <p:bldP build="whole" bldLvl="1" animBg="1" rev="0" advAuto="0" spid="145" grpId="6"/>
      <p:bldP build="whole" bldLvl="1" animBg="1" rev="0" advAuto="0" spid="130" grpId="3"/>
      <p:bldP build="whole" bldLvl="1" animBg="1" rev="0" advAuto="0" spid="148" grpId="7"/>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5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5" name="phase_pill"/>
          <p:cNvGrpSpPr/>
          <p:nvPr/>
        </p:nvGrpSpPr>
        <p:grpSpPr>
          <a:xfrm>
            <a:off x="1170432" y="310895"/>
            <a:ext cx="1623975" cy="329185"/>
            <a:chOff x="0" y="0"/>
            <a:chExt cx="1623974" cy="329184"/>
          </a:xfrm>
        </p:grpSpPr>
        <p:sp>
          <p:nvSpPr>
            <p:cNvPr id="153"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54"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Two things that reduce the damage</a:t>
            </a:r>
          </a:p>
        </p:txBody>
      </p:sp>
      <p:grpSp>
        <p:nvGrpSpPr>
          <p:cNvPr id="165" name="rd0"/>
          <p:cNvGrpSpPr/>
          <p:nvPr/>
        </p:nvGrpSpPr>
        <p:grpSpPr>
          <a:xfrm>
            <a:off x="1170432" y="1874520"/>
            <a:ext cx="5099152" cy="3794760"/>
            <a:chOff x="0" y="0"/>
            <a:chExt cx="5099151" cy="3794759"/>
          </a:xfrm>
        </p:grpSpPr>
        <p:sp>
          <p:nvSpPr>
            <p:cNvPr id="157" name="rd0_bg"/>
            <p:cNvSpPr/>
            <p:nvPr/>
          </p:nvSpPr>
          <p:spPr>
            <a:xfrm>
              <a:off x="0" y="0"/>
              <a:ext cx="5099152" cy="3794760"/>
            </a:xfrm>
            <a:prstGeom prst="roundRect">
              <a:avLst>
                <a:gd name="adj" fmla="val 241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58" name="rd0_icon" descr="rd0_icon"/>
            <p:cNvPicPr>
              <a:picLocks noChangeAspect="1"/>
            </p:cNvPicPr>
            <p:nvPr/>
          </p:nvPicPr>
          <p:blipFill>
            <a:blip r:embed="rId6">
              <a:extLst/>
            </a:blip>
            <a:stretch>
              <a:fillRect/>
            </a:stretch>
          </p:blipFill>
          <p:spPr>
            <a:xfrm>
              <a:off x="219455" y="182880"/>
              <a:ext cx="457201" cy="457201"/>
            </a:xfrm>
            <a:prstGeom prst="rect">
              <a:avLst/>
            </a:prstGeom>
            <a:ln w="12700" cap="flat">
              <a:noFill/>
              <a:miter lim="400000"/>
            </a:ln>
            <a:effectLst/>
          </p:spPr>
        </p:pic>
        <p:sp>
          <p:nvSpPr>
            <p:cNvPr id="159" name="rd0_h"/>
            <p:cNvSpPr txBox="1"/>
            <p:nvPr/>
          </p:nvSpPr>
          <p:spPr>
            <a:xfrm>
              <a:off x="822959" y="278129"/>
              <a:ext cx="409331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3D2B1F"/>
                  </a:solidFill>
                  <a:latin typeface="Georgia"/>
                  <a:ea typeface="Georgia"/>
                  <a:cs typeface="Georgia"/>
                  <a:sym typeface="Georgia"/>
                </a:defRPr>
              </a:lvl1pPr>
            </a:lstStyle>
            <a:p>
              <a:pPr/>
              <a:r>
                <a:t>Let rain soak in</a:t>
              </a:r>
            </a:p>
          </p:txBody>
        </p:sp>
        <p:sp>
          <p:nvSpPr>
            <p:cNvPr id="160" name="rd0_w"/>
            <p:cNvSpPr txBox="1"/>
            <p:nvPr/>
          </p:nvSpPr>
          <p:spPr>
            <a:xfrm>
              <a:off x="256031" y="822959"/>
              <a:ext cx="4587089" cy="6750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2A1D14"/>
                  </a:solidFill>
                  <a:latin typeface="Arial"/>
                  <a:ea typeface="Arial"/>
                  <a:cs typeface="Arial"/>
                  <a:sym typeface="Arial"/>
                </a:defRPr>
              </a:lvl1pPr>
            </a:lstStyle>
            <a:p>
              <a:pPr/>
              <a:r>
                <a:t>Permeable paving, rain gardens and green roofs let rain soak in or be stored, instead of running off. (Permeable: water can pass through.)</a:t>
              </a:r>
            </a:p>
          </p:txBody>
        </p:sp>
        <p:sp>
          <p:nvSpPr>
            <p:cNvPr id="161" name="rd0_exbg"/>
            <p:cNvSpPr/>
            <p:nvPr/>
          </p:nvSpPr>
          <p:spPr>
            <a:xfrm>
              <a:off x="201167" y="1755647"/>
              <a:ext cx="2690346" cy="1505335"/>
            </a:xfrm>
            <a:prstGeom prst="roundRect">
              <a:avLst>
                <a:gd name="adj" fmla="val 4859"/>
              </a:avLst>
            </a:prstGeom>
            <a:solidFill>
              <a:srgbClr val="ECE1CB"/>
            </a:solidFill>
            <a:ln w="16510" cap="flat">
              <a:solidFill>
                <a:srgbClr val="C99A3D"/>
              </a:solidFill>
              <a:prstDash val="solid"/>
              <a:round/>
            </a:ln>
            <a:effectLst/>
          </p:spPr>
          <p:txBody>
            <a:bodyPr wrap="square" lIns="45719" tIns="45719" rIns="45719" bIns="45719" numCol="1" anchor="t">
              <a:noAutofit/>
            </a:bodyPr>
            <a:lstStyle/>
            <a:p>
              <a:pPr/>
            </a:p>
          </p:txBody>
        </p:sp>
        <p:sp>
          <p:nvSpPr>
            <p:cNvPr id="162" name="rd0_place"/>
            <p:cNvSpPr txBox="1"/>
            <p:nvPr/>
          </p:nvSpPr>
          <p:spPr>
            <a:xfrm>
              <a:off x="365759" y="1891698"/>
              <a:ext cx="2504383"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300">
                  <a:solidFill>
                    <a:srgbClr val="8F6D2A"/>
                  </a:solidFill>
                  <a:latin typeface="Arial"/>
                  <a:ea typeface="Arial"/>
                  <a:cs typeface="Arial"/>
                  <a:sym typeface="Arial"/>
                </a:defRPr>
              </a:lvl1pPr>
            </a:lstStyle>
            <a:p>
              <a:pPr/>
              <a:r>
                <a:t>Wuhan, China</a:t>
              </a:r>
            </a:p>
          </p:txBody>
        </p:sp>
        <p:sp>
          <p:nvSpPr>
            <p:cNvPr id="163" name="rd0_ex"/>
            <p:cNvSpPr txBox="1"/>
            <p:nvPr/>
          </p:nvSpPr>
          <p:spPr>
            <a:xfrm>
              <a:off x="365759" y="2157983"/>
              <a:ext cx="2297691" cy="10076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3D2B1F"/>
                  </a:solidFill>
                  <a:latin typeface="Arial"/>
                  <a:ea typeface="Arial"/>
                  <a:cs typeface="Arial"/>
                  <a:sym typeface="Arial"/>
                </a:defRPr>
              </a:lvl1pPr>
            </a:lstStyle>
            <a:p>
              <a:pPr/>
              <a:r>
                <a:t>A "sponge city". From 2015 it ran 288 pilot projects with permeable paving, rain gardens and green roofs. China's target: soak up and reuse at least 70% of rain.</a:t>
              </a:r>
            </a:p>
          </p:txBody>
        </p:sp>
        <p:sp>
          <p:nvSpPr>
            <p:cNvPr id="164" name="rd0_gain"/>
            <p:cNvSpPr txBox="1"/>
            <p:nvPr/>
          </p:nvSpPr>
          <p:spPr>
            <a:xfrm>
              <a:off x="256031" y="3360741"/>
              <a:ext cx="4587089"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500">
                  <a:solidFill>
                    <a:srgbClr val="6A8C9A"/>
                  </a:solidFill>
                  <a:latin typeface="Arial"/>
                  <a:ea typeface="Arial"/>
                  <a:cs typeface="Arial"/>
                  <a:sym typeface="Arial"/>
                </a:defRPr>
              </a:lvl1pPr>
            </a:lstStyle>
            <a:p>
              <a:pPr/>
              <a:r>
                <a:t>Less runoff. Less flooding.</a:t>
              </a:r>
            </a:p>
          </p:txBody>
        </p:sp>
      </p:grpSp>
      <p:grpSp>
        <p:nvGrpSpPr>
          <p:cNvPr id="174" name="rd1"/>
          <p:cNvGrpSpPr/>
          <p:nvPr/>
        </p:nvGrpSpPr>
        <p:grpSpPr>
          <a:xfrm>
            <a:off x="6543903" y="1874520"/>
            <a:ext cx="5099153" cy="3794760"/>
            <a:chOff x="0" y="0"/>
            <a:chExt cx="5099151" cy="3794759"/>
          </a:xfrm>
        </p:grpSpPr>
        <p:sp>
          <p:nvSpPr>
            <p:cNvPr id="166" name="rd1_bg"/>
            <p:cNvSpPr/>
            <p:nvPr/>
          </p:nvSpPr>
          <p:spPr>
            <a:xfrm>
              <a:off x="0" y="0"/>
              <a:ext cx="5099152" cy="3794760"/>
            </a:xfrm>
            <a:prstGeom prst="roundRect">
              <a:avLst>
                <a:gd name="adj" fmla="val 241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67" name="rd1_icon" descr="rd1_icon"/>
            <p:cNvPicPr>
              <a:picLocks noChangeAspect="1"/>
            </p:cNvPicPr>
            <p:nvPr/>
          </p:nvPicPr>
          <p:blipFill>
            <a:blip r:embed="rId7">
              <a:extLst/>
            </a:blip>
            <a:stretch>
              <a:fillRect/>
            </a:stretch>
          </p:blipFill>
          <p:spPr>
            <a:xfrm>
              <a:off x="219455" y="182880"/>
              <a:ext cx="457201" cy="457201"/>
            </a:xfrm>
            <a:prstGeom prst="rect">
              <a:avLst/>
            </a:prstGeom>
            <a:ln w="12700" cap="flat">
              <a:noFill/>
              <a:miter lim="400000"/>
            </a:ln>
            <a:effectLst/>
          </p:spPr>
        </p:pic>
        <p:sp>
          <p:nvSpPr>
            <p:cNvPr id="168" name="rd1_h"/>
            <p:cNvSpPr txBox="1"/>
            <p:nvPr/>
          </p:nvSpPr>
          <p:spPr>
            <a:xfrm>
              <a:off x="822959" y="278129"/>
              <a:ext cx="409331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3D2B1F"/>
                  </a:solidFill>
                  <a:latin typeface="Georgia"/>
                  <a:ea typeface="Georgia"/>
                  <a:cs typeface="Georgia"/>
                  <a:sym typeface="Georgia"/>
                </a:defRPr>
              </a:lvl1pPr>
            </a:lstStyle>
            <a:p>
              <a:pPr/>
              <a:r>
                <a:t>Keep land from being built on</a:t>
              </a:r>
            </a:p>
          </p:txBody>
        </p:sp>
        <p:sp>
          <p:nvSpPr>
            <p:cNvPr id="169" name="rd1_w"/>
            <p:cNvSpPr txBox="1"/>
            <p:nvPr/>
          </p:nvSpPr>
          <p:spPr>
            <a:xfrm>
              <a:off x="256031" y="822959"/>
              <a:ext cx="4587089" cy="4464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2A1D14"/>
                  </a:solidFill>
                  <a:latin typeface="Arial"/>
                  <a:ea typeface="Arial"/>
                  <a:cs typeface="Arial"/>
                  <a:sym typeface="Arial"/>
                </a:defRPr>
              </a:lvl1pPr>
            </a:lstStyle>
            <a:p>
              <a:pPr/>
              <a:r>
                <a:t>A green belt keeps a ring of land around a city open. New building goes first on land already built on (brownfield).</a:t>
              </a:r>
            </a:p>
          </p:txBody>
        </p:sp>
        <p:sp>
          <p:nvSpPr>
            <p:cNvPr id="170" name="rd1_exbg"/>
            <p:cNvSpPr/>
            <p:nvPr/>
          </p:nvSpPr>
          <p:spPr>
            <a:xfrm>
              <a:off x="201167" y="1755647"/>
              <a:ext cx="2441909" cy="1389889"/>
            </a:xfrm>
            <a:prstGeom prst="roundRect">
              <a:avLst>
                <a:gd name="adj" fmla="val 5263"/>
              </a:avLst>
            </a:prstGeom>
            <a:solidFill>
              <a:srgbClr val="ECE1CB"/>
            </a:solidFill>
            <a:ln w="16510" cap="flat">
              <a:solidFill>
                <a:srgbClr val="C99A3D"/>
              </a:solidFill>
              <a:prstDash val="solid"/>
              <a:round/>
            </a:ln>
            <a:effectLst/>
          </p:spPr>
          <p:txBody>
            <a:bodyPr wrap="square" lIns="45719" tIns="45719" rIns="45719" bIns="45719" numCol="1" anchor="t">
              <a:noAutofit/>
            </a:bodyPr>
            <a:lstStyle/>
            <a:p>
              <a:pPr/>
            </a:p>
          </p:txBody>
        </p:sp>
        <p:sp>
          <p:nvSpPr>
            <p:cNvPr id="171" name="rd1_place"/>
            <p:cNvSpPr txBox="1"/>
            <p:nvPr/>
          </p:nvSpPr>
          <p:spPr>
            <a:xfrm>
              <a:off x="365759" y="1891698"/>
              <a:ext cx="4367633"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300">
                  <a:solidFill>
                    <a:srgbClr val="8F6D2A"/>
                  </a:solidFill>
                  <a:latin typeface="Arial"/>
                  <a:ea typeface="Arial"/>
                  <a:cs typeface="Arial"/>
                  <a:sym typeface="Arial"/>
                </a:defRPr>
              </a:lvl1pPr>
            </a:lstStyle>
            <a:p>
              <a:pPr/>
              <a:r>
                <a:t>London Green Belt</a:t>
              </a:r>
            </a:p>
          </p:txBody>
        </p:sp>
        <p:sp>
          <p:nvSpPr>
            <p:cNvPr id="172" name="rd1_ex"/>
            <p:cNvSpPr txBox="1"/>
            <p:nvPr/>
          </p:nvSpPr>
          <p:spPr>
            <a:xfrm>
              <a:off x="365759" y="2157983"/>
              <a:ext cx="2230811" cy="8044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200">
                  <a:solidFill>
                    <a:srgbClr val="3D2B1F"/>
                  </a:solidFill>
                  <a:latin typeface="Arial"/>
                  <a:ea typeface="Arial"/>
                  <a:cs typeface="Arial"/>
                  <a:sym typeface="Arial"/>
                </a:defRPr>
              </a:lvl1pPr>
            </a:lstStyle>
            <a:p>
              <a:pPr/>
              <a:r>
                <a:t>About 500,000 hectares kept open around London since the 1947 planning law. The aim: stop the city spreading over fields.</a:t>
              </a:r>
            </a:p>
          </p:txBody>
        </p:sp>
        <p:sp>
          <p:nvSpPr>
            <p:cNvPr id="173" name="rd1_gain"/>
            <p:cNvSpPr txBox="1"/>
            <p:nvPr/>
          </p:nvSpPr>
          <p:spPr>
            <a:xfrm>
              <a:off x="256031" y="3360741"/>
              <a:ext cx="4587089"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500">
                  <a:solidFill>
                    <a:srgbClr val="6A8C9A"/>
                  </a:solidFill>
                  <a:latin typeface="Arial"/>
                  <a:ea typeface="Arial"/>
                  <a:cs typeface="Arial"/>
                  <a:sym typeface="Arial"/>
                </a:defRPr>
              </a:lvl1pPr>
            </a:lstStyle>
            <a:p>
              <a:pPr/>
              <a:r>
                <a:t>Fields and soil stay as they are.</a:t>
              </a:r>
            </a:p>
          </p:txBody>
        </p:sp>
      </p:grpSp>
      <p:grpSp>
        <p:nvGrpSpPr>
          <p:cNvPr id="177" name="rd_banner"/>
          <p:cNvGrpSpPr/>
          <p:nvPr/>
        </p:nvGrpSpPr>
        <p:grpSpPr>
          <a:xfrm>
            <a:off x="1170432" y="5870447"/>
            <a:ext cx="10472623" cy="566929"/>
            <a:chOff x="0" y="0"/>
            <a:chExt cx="10472622" cy="566927"/>
          </a:xfrm>
        </p:grpSpPr>
        <p:sp>
          <p:nvSpPr>
            <p:cNvPr id="175" name="Rounded Rectangle"/>
            <p:cNvSpPr/>
            <p:nvPr/>
          </p:nvSpPr>
          <p:spPr>
            <a:xfrm>
              <a:off x="0" y="0"/>
              <a:ext cx="10472623" cy="566928"/>
            </a:xfrm>
            <a:prstGeom prst="roundRect">
              <a:avLst>
                <a:gd name="adj" fmla="val 19355"/>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700"/>
              </a:pPr>
            </a:p>
          </p:txBody>
        </p:sp>
        <p:sp>
          <p:nvSpPr>
            <p:cNvPr id="176" name="Cities change land. They can also be built to protect it."/>
            <p:cNvSpPr txBox="1"/>
            <p:nvPr/>
          </p:nvSpPr>
          <p:spPr>
            <a:xfrm>
              <a:off x="36901" y="158725"/>
              <a:ext cx="10398821" cy="249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700">
                  <a:solidFill>
                    <a:srgbClr val="C99A3D"/>
                  </a:solidFill>
                  <a:latin typeface="Arial"/>
                  <a:ea typeface="Arial"/>
                  <a:cs typeface="Arial"/>
                  <a:sym typeface="Arial"/>
                </a:defRPr>
              </a:lvl1pPr>
            </a:lstStyle>
            <a:p>
              <a:pPr/>
              <a:r>
                <a:t>Cities change land. They can also be built to protect it.</a:t>
              </a:r>
            </a:p>
          </p:txBody>
        </p:sp>
      </p:grpSp>
      <p:pic>
        <p:nvPicPr>
          <p:cNvPr id="178" name="images.jpeg" descr="images.jpeg"/>
          <p:cNvPicPr>
            <a:picLocks noChangeAspect="1"/>
          </p:cNvPicPr>
          <p:nvPr/>
        </p:nvPicPr>
        <p:blipFill>
          <a:blip r:embed="rId8">
            <a:extLst/>
          </a:blip>
          <a:stretch>
            <a:fillRect/>
          </a:stretch>
        </p:blipFill>
        <p:spPr>
          <a:xfrm>
            <a:off x="9443073" y="3438336"/>
            <a:ext cx="2062154" cy="1602439"/>
          </a:xfrm>
          <a:prstGeom prst="rect">
            <a:avLst/>
          </a:prstGeom>
          <a:ln w="12700">
            <a:miter lim="400000"/>
          </a:ln>
        </p:spPr>
      </p:pic>
      <p:pic>
        <p:nvPicPr>
          <p:cNvPr id="179" name="pasted-movie.png" descr="pasted-movie.png"/>
          <p:cNvPicPr>
            <a:picLocks noChangeAspect="1"/>
          </p:cNvPicPr>
          <p:nvPr/>
        </p:nvPicPr>
        <p:blipFill>
          <a:blip r:embed="rId9">
            <a:extLst/>
          </a:blip>
          <a:stretch>
            <a:fillRect/>
          </a:stretch>
        </p:blipFill>
        <p:spPr>
          <a:xfrm>
            <a:off x="4253449" y="3604025"/>
            <a:ext cx="1704272" cy="170427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5"/>
                                        </p:tgtEl>
                                        <p:attrNameLst>
                                          <p:attrName>style.visibility</p:attrName>
                                        </p:attrNameLst>
                                      </p:cBhvr>
                                      <p:to>
                                        <p:strVal val="visible"/>
                                      </p:to>
                                    </p:set>
                                    <p:animEffect filter="fade" transition="in">
                                      <p:cBhvr>
                                        <p:cTn id="11" dur="400"/>
                                        <p:tgtEl>
                                          <p:spTgt spid="165"/>
                                        </p:tgtEl>
                                      </p:cBhvr>
                                    </p:animEffect>
                                  </p:childTnLst>
                                </p:cTn>
                              </p:par>
                            </p:childTnLst>
                          </p:cTn>
                        </p:par>
                        <p:par>
                          <p:cTn id="12" fill="hold">
                            <p:stCondLst>
                              <p:cond delay="400"/>
                            </p:stCondLst>
                            <p:childTnLst>
                              <p:par>
                                <p:cTn id="13" presetClass="entr" nodeType="afterEffect" presetID="9" grpId="3" fill="hold">
                                  <p:stCondLst>
                                    <p:cond delay="0"/>
                                  </p:stCondLst>
                                  <p:iterate type="el" backwards="0">
                                    <p:tmAbs val="0"/>
                                  </p:iterate>
                                  <p:childTnLst>
                                    <p:set>
                                      <p:cBhvr>
                                        <p:cTn id="14" fill="hold"/>
                                        <p:tgtEl>
                                          <p:spTgt spid="179"/>
                                        </p:tgtEl>
                                        <p:attrNameLst>
                                          <p:attrName>style.visibility</p:attrName>
                                        </p:attrNameLst>
                                      </p:cBhvr>
                                      <p:to>
                                        <p:strVal val="visible"/>
                                      </p:to>
                                    </p:set>
                                    <p:animEffect filter="dissolve" transition="in">
                                      <p:cBhvr>
                                        <p:cTn id="15" dur="1500"/>
                                        <p:tgtEl>
                                          <p:spTgt spid="179"/>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74"/>
                                        </p:tgtEl>
                                        <p:attrNameLst>
                                          <p:attrName>style.visibility</p:attrName>
                                        </p:attrNameLst>
                                      </p:cBhvr>
                                      <p:to>
                                        <p:strVal val="visible"/>
                                      </p:to>
                                    </p:set>
                                    <p:animEffect filter="fade" transition="in">
                                      <p:cBhvr>
                                        <p:cTn id="20" dur="400"/>
                                        <p:tgtEl>
                                          <p:spTgt spid="174"/>
                                        </p:tgtEl>
                                      </p:cBhvr>
                                    </p:animEffect>
                                  </p:childTnLst>
                                </p:cTn>
                              </p:par>
                            </p:childTnLst>
                          </p:cTn>
                        </p:par>
                        <p:par>
                          <p:cTn id="21" fill="hold">
                            <p:stCondLst>
                              <p:cond delay="400"/>
                            </p:stCondLst>
                            <p:childTnLst>
                              <p:par>
                                <p:cTn id="22" presetClass="entr" nodeType="afterEffect" presetID="9" grpId="5" fill="hold">
                                  <p:stCondLst>
                                    <p:cond delay="0"/>
                                  </p:stCondLst>
                                  <p:iterate type="el" backwards="0">
                                    <p:tmAbs val="0"/>
                                  </p:iterate>
                                  <p:childTnLst>
                                    <p:set>
                                      <p:cBhvr>
                                        <p:cTn id="23" fill="hold"/>
                                        <p:tgtEl>
                                          <p:spTgt spid="178"/>
                                        </p:tgtEl>
                                        <p:attrNameLst>
                                          <p:attrName>style.visibility</p:attrName>
                                        </p:attrNameLst>
                                      </p:cBhvr>
                                      <p:to>
                                        <p:strVal val="visible"/>
                                      </p:to>
                                    </p:set>
                                    <p:animEffect filter="dissolve" transition="in">
                                      <p:cBhvr>
                                        <p:cTn id="24" dur="1500"/>
                                        <p:tgtEl>
                                          <p:spTgt spid="178"/>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6" fill="hold">
                                  <p:stCondLst>
                                    <p:cond delay="0"/>
                                  </p:stCondLst>
                                  <p:iterate type="el" backwards="0">
                                    <p:tmAbs val="0"/>
                                  </p:iterate>
                                  <p:childTnLst>
                                    <p:set>
                                      <p:cBhvr>
                                        <p:cTn id="28" fill="hold"/>
                                        <p:tgtEl>
                                          <p:spTgt spid="177"/>
                                        </p:tgtEl>
                                        <p:attrNameLst>
                                          <p:attrName>style.visibility</p:attrName>
                                        </p:attrNameLst>
                                      </p:cBhvr>
                                      <p:to>
                                        <p:strVal val="visible"/>
                                      </p:to>
                                    </p:set>
                                    <p:anim calcmode="lin" valueType="num">
                                      <p:cBhvr>
                                        <p:cTn id="29" dur="400" fill="hold"/>
                                        <p:tgtEl>
                                          <p:spTgt spid="177"/>
                                        </p:tgtEl>
                                        <p:attrNameLst>
                                          <p:attrName>ppt_w</p:attrName>
                                        </p:attrNameLst>
                                      </p:cBhvr>
                                      <p:tavLst>
                                        <p:tav tm="0">
                                          <p:val>
                                            <p:fltVal val="0"/>
                                          </p:val>
                                        </p:tav>
                                        <p:tav tm="100000">
                                          <p:val>
                                            <p:strVal val="#ppt_w"/>
                                          </p:val>
                                        </p:tav>
                                      </p:tavLst>
                                    </p:anim>
                                    <p:anim calcmode="lin" valueType="num">
                                      <p:cBhvr>
                                        <p:cTn id="30" dur="400" fill="hold"/>
                                        <p:tgtEl>
                                          <p:spTgt spid="17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52"/>
                </p:tgtEl>
              </p:cMediaNode>
            </p:video>
            <p:seq concurrent="1" prevAc="none" nextAc="seek">
              <p:cTn id="32" evtFilter="cancelBubble" nodeType="interactiveSeq" restart="whenNotActive" fill="hold">
                <p:stCondLst>
                  <p:cond delay="0" evt="onClick">
                    <p:tgtEl>
                      <p:spTgt spid="152"/>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52"/>
                                        </p:tgtEl>
                                      </p:cBhvr>
                                    </p:cmd>
                                  </p:childTnLst>
                                </p:cTn>
                              </p:par>
                            </p:childTnLst>
                          </p:cTn>
                        </p:par>
                      </p:childTnLst>
                    </p:cTn>
                  </p:par>
                </p:childTnLst>
              </p:cTn>
              <p:nextCondLst>
                <p:cond delay="0" evt="onClick">
                  <p:tgtEl>
                    <p:spTgt spid="152"/>
                  </p:tgtEl>
                </p:cond>
              </p:nextCondLst>
            </p:seq>
          </p:childTnLst>
        </p:cTn>
      </p:par>
    </p:tnLst>
    <p:bldLst>
      <p:bldP build="whole" bldLvl="1" animBg="1" rev="0" advAuto="0" spid="178" grpId="5"/>
      <p:bldP build="whole" bldLvl="1" animBg="1" rev="0" advAuto="0" spid="177" grpId="6"/>
      <p:bldP build="whole" bldLvl="1" animBg="1" rev="0" advAuto="0" spid="179" grpId="3"/>
      <p:bldP build="whole" bldLvl="1" animBg="1" rev="0" advAuto="0" spid="165" grpId="2"/>
      <p:bldP build="whole" bldLvl="1" animBg="1" rev="0" advAuto="0" spid="174"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8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6" name="phase_pill"/>
          <p:cNvGrpSpPr/>
          <p:nvPr/>
        </p:nvGrpSpPr>
        <p:grpSpPr>
          <a:xfrm>
            <a:off x="1170432" y="310895"/>
            <a:ext cx="1713586" cy="329185"/>
            <a:chOff x="0" y="0"/>
            <a:chExt cx="1713585" cy="329184"/>
          </a:xfrm>
        </p:grpSpPr>
        <p:sp>
          <p:nvSpPr>
            <p:cNvPr id="184"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85"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7"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What should be the correct answer?</a:t>
            </a:r>
          </a:p>
        </p:txBody>
      </p:sp>
      <p:sp>
        <p:nvSpPr>
          <p:cNvPr id="188"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Spot the mistake.</a:t>
            </a:r>
          </a:p>
        </p:txBody>
      </p:sp>
      <p:sp>
        <p:nvSpPr>
          <p:cNvPr id="189"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0" name="wd0_q"/>
          <p:cNvSpPr txBox="1"/>
          <p:nvPr/>
        </p:nvSpPr>
        <p:spPr>
          <a:xfrm>
            <a:off x="1426463" y="2632920"/>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"Urbanisation means cities are getting hotter."</a:t>
            </a:r>
          </a:p>
        </p:txBody>
      </p:sp>
      <p:grpSp>
        <p:nvGrpSpPr>
          <p:cNvPr id="193" name="wd0_a"/>
          <p:cNvGrpSpPr/>
          <p:nvPr/>
        </p:nvGrpSpPr>
        <p:grpSpPr>
          <a:xfrm>
            <a:off x="7388352" y="2395727"/>
            <a:ext cx="4163264" cy="694946"/>
            <a:chOff x="0" y="0"/>
            <a:chExt cx="4163262" cy="694944"/>
          </a:xfrm>
        </p:grpSpPr>
        <p:sp>
          <p:nvSpPr>
            <p:cNvPr id="191"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92" name="Urbanisation means towns and cities growing, with a bigger share of people living in them."/>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Urbanisation means towns and cities growing, with a bigger share of people living in them.</a:t>
              </a:r>
            </a:p>
          </p:txBody>
        </p:sp>
      </p:grpSp>
      <p:sp>
        <p:nvSpPr>
          <p:cNvPr id="194"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5" name="wd1_q"/>
          <p:cNvSpPr txBox="1"/>
          <p:nvPr/>
        </p:nvSpPr>
        <p:spPr>
          <a:xfrm>
            <a:off x="1426463" y="3657048"/>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"Rain soaks into tarmac, so cities flood less."</a:t>
            </a:r>
          </a:p>
        </p:txBody>
      </p:sp>
      <p:grpSp>
        <p:nvGrpSpPr>
          <p:cNvPr id="198" name="wd1_a"/>
          <p:cNvGrpSpPr/>
          <p:nvPr/>
        </p:nvGrpSpPr>
        <p:grpSpPr>
          <a:xfrm>
            <a:off x="7388352" y="3419855"/>
            <a:ext cx="4163264" cy="694945"/>
            <a:chOff x="0" y="0"/>
            <a:chExt cx="4163262" cy="694944"/>
          </a:xfrm>
        </p:grpSpPr>
        <p:sp>
          <p:nvSpPr>
            <p:cNvPr id="196"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197" name="Rain cannot soak in. It runs off (runoff) into drains, and can flood streets."/>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Rain cannot soak in. It runs off (runoff) into drains, and can flood streets.</a:t>
              </a:r>
            </a:p>
          </p:txBody>
        </p:sp>
      </p:grpSp>
      <p:sp>
        <p:nvSpPr>
          <p:cNvPr id="199"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00" name="wd2_q"/>
          <p:cNvSpPr txBox="1"/>
          <p:nvPr/>
        </p:nvSpPr>
        <p:spPr>
          <a:xfrm>
            <a:off x="1426463" y="4681176"/>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"Sponge cities send rain away faster."</a:t>
            </a:r>
          </a:p>
        </p:txBody>
      </p:sp>
      <p:grpSp>
        <p:nvGrpSpPr>
          <p:cNvPr id="203" name="wd2_a"/>
          <p:cNvGrpSpPr/>
          <p:nvPr/>
        </p:nvGrpSpPr>
        <p:grpSpPr>
          <a:xfrm>
            <a:off x="7388352" y="4443984"/>
            <a:ext cx="4163264" cy="694945"/>
            <a:chOff x="0" y="0"/>
            <a:chExt cx="4163262" cy="694944"/>
          </a:xfrm>
        </p:grpSpPr>
        <p:sp>
          <p:nvSpPr>
            <p:cNvPr id="201"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02" name="The opposite. They let rain soak in or be stored, with permeable paving, rain gardens and green roofs."/>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The opposite. They let rain soak in or be stored, with permeable paving, rain gardens and green roofs.</a:t>
              </a:r>
            </a:p>
          </p:txBody>
        </p:sp>
      </p:grpSp>
      <p:sp>
        <p:nvSpPr>
          <p:cNvPr id="204"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05" name="wd3_q"/>
          <p:cNvSpPr txBox="1"/>
          <p:nvPr/>
        </p:nvSpPr>
        <p:spPr>
          <a:xfrm>
            <a:off x="1426463" y="5705304"/>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"A green belt is a park in the middle of a city."</a:t>
            </a:r>
          </a:p>
        </p:txBody>
      </p:sp>
      <p:grpSp>
        <p:nvGrpSpPr>
          <p:cNvPr id="208" name="wd3_a"/>
          <p:cNvGrpSpPr/>
          <p:nvPr/>
        </p:nvGrpSpPr>
        <p:grpSpPr>
          <a:xfrm>
            <a:off x="7388352" y="5468111"/>
            <a:ext cx="4163264" cy="694945"/>
            <a:chOff x="0" y="0"/>
            <a:chExt cx="4163262" cy="694944"/>
          </a:xfrm>
        </p:grpSpPr>
        <p:sp>
          <p:nvSpPr>
            <p:cNvPr id="206"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07" name="It is a ring of land round a city, kept from being built on. London's is about 500,000 hectares."/>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It is a ring of land round a city, kept from being built on. London's is about 500,000 hectares.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8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93"/>
                                        </p:tgtEl>
                                        <p:attrNameLst>
                                          <p:attrName>style.visibility</p:attrName>
                                        </p:attrNameLst>
                                      </p:cBhvr>
                                      <p:to>
                                        <p:strVal val="visible"/>
                                      </p:to>
                                    </p:set>
                                    <p:anim calcmode="lin" valueType="num">
                                      <p:cBhvr>
                                        <p:cTn id="11" dur="400" fill="hold"/>
                                        <p:tgtEl>
                                          <p:spTgt spid="193"/>
                                        </p:tgtEl>
                                        <p:attrNameLst>
                                          <p:attrName>ppt_w</p:attrName>
                                        </p:attrNameLst>
                                      </p:cBhvr>
                                      <p:tavLst>
                                        <p:tav tm="0">
                                          <p:val>
                                            <p:fltVal val="0"/>
                                          </p:val>
                                        </p:tav>
                                        <p:tav tm="100000">
                                          <p:val>
                                            <p:strVal val="#ppt_w"/>
                                          </p:val>
                                        </p:tav>
                                      </p:tavLst>
                                    </p:anim>
                                    <p:anim calcmode="lin" valueType="num">
                                      <p:cBhvr>
                                        <p:cTn id="12" dur="400" fill="hold"/>
                                        <p:tgtEl>
                                          <p:spTgt spid="193"/>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8"/>
                                        </p:tgtEl>
                                        <p:attrNameLst>
                                          <p:attrName>style.visibility</p:attrName>
                                        </p:attrNameLst>
                                      </p:cBhvr>
                                      <p:to>
                                        <p:strVal val="visible"/>
                                      </p:to>
                                    </p:set>
                                    <p:anim calcmode="lin" valueType="num">
                                      <p:cBhvr>
                                        <p:cTn id="17" dur="400" fill="hold"/>
                                        <p:tgtEl>
                                          <p:spTgt spid="198"/>
                                        </p:tgtEl>
                                        <p:attrNameLst>
                                          <p:attrName>ppt_w</p:attrName>
                                        </p:attrNameLst>
                                      </p:cBhvr>
                                      <p:tavLst>
                                        <p:tav tm="0">
                                          <p:val>
                                            <p:fltVal val="0"/>
                                          </p:val>
                                        </p:tav>
                                        <p:tav tm="100000">
                                          <p:val>
                                            <p:strVal val="#ppt_w"/>
                                          </p:val>
                                        </p:tav>
                                      </p:tavLst>
                                    </p:anim>
                                    <p:anim calcmode="lin" valueType="num">
                                      <p:cBhvr>
                                        <p:cTn id="18" dur="400" fill="hold"/>
                                        <p:tgtEl>
                                          <p:spTgt spid="19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03"/>
                                        </p:tgtEl>
                                        <p:attrNameLst>
                                          <p:attrName>style.visibility</p:attrName>
                                        </p:attrNameLst>
                                      </p:cBhvr>
                                      <p:to>
                                        <p:strVal val="visible"/>
                                      </p:to>
                                    </p:set>
                                    <p:anim calcmode="lin" valueType="num">
                                      <p:cBhvr>
                                        <p:cTn id="23" dur="400" fill="hold"/>
                                        <p:tgtEl>
                                          <p:spTgt spid="203"/>
                                        </p:tgtEl>
                                        <p:attrNameLst>
                                          <p:attrName>ppt_w</p:attrName>
                                        </p:attrNameLst>
                                      </p:cBhvr>
                                      <p:tavLst>
                                        <p:tav tm="0">
                                          <p:val>
                                            <p:fltVal val="0"/>
                                          </p:val>
                                        </p:tav>
                                        <p:tav tm="100000">
                                          <p:val>
                                            <p:strVal val="#ppt_w"/>
                                          </p:val>
                                        </p:tav>
                                      </p:tavLst>
                                    </p:anim>
                                    <p:anim calcmode="lin" valueType="num">
                                      <p:cBhvr>
                                        <p:cTn id="24" dur="400" fill="hold"/>
                                        <p:tgtEl>
                                          <p:spTgt spid="20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08"/>
                                        </p:tgtEl>
                                        <p:attrNameLst>
                                          <p:attrName>style.visibility</p:attrName>
                                        </p:attrNameLst>
                                      </p:cBhvr>
                                      <p:to>
                                        <p:strVal val="visible"/>
                                      </p:to>
                                    </p:set>
                                    <p:anim calcmode="lin" valueType="num">
                                      <p:cBhvr>
                                        <p:cTn id="29" dur="400" fill="hold"/>
                                        <p:tgtEl>
                                          <p:spTgt spid="208"/>
                                        </p:tgtEl>
                                        <p:attrNameLst>
                                          <p:attrName>ppt_w</p:attrName>
                                        </p:attrNameLst>
                                      </p:cBhvr>
                                      <p:tavLst>
                                        <p:tav tm="0">
                                          <p:val>
                                            <p:fltVal val="0"/>
                                          </p:val>
                                        </p:tav>
                                        <p:tav tm="100000">
                                          <p:val>
                                            <p:strVal val="#ppt_w"/>
                                          </p:val>
                                        </p:tav>
                                      </p:tavLst>
                                    </p:anim>
                                    <p:anim calcmode="lin" valueType="num">
                                      <p:cBhvr>
                                        <p:cTn id="30" dur="400" fill="hold"/>
                                        <p:tgtEl>
                                          <p:spTgt spid="2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83"/>
                </p:tgtEl>
              </p:cMediaNode>
            </p:video>
            <p:seq concurrent="1" prevAc="none" nextAc="seek">
              <p:cTn id="32" evtFilter="cancelBubble" nodeType="interactiveSeq" restart="whenNotActive" fill="hold">
                <p:stCondLst>
                  <p:cond delay="0" evt="onClick">
                    <p:tgtEl>
                      <p:spTgt spid="183"/>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83"/>
                                        </p:tgtEl>
                                      </p:cBhvr>
                                    </p:cmd>
                                  </p:childTnLst>
                                </p:cTn>
                              </p:par>
                            </p:childTnLst>
                          </p:cTn>
                        </p:par>
                      </p:childTnLst>
                    </p:cTn>
                  </p:par>
                </p:childTnLst>
              </p:cTn>
              <p:nextCondLst>
                <p:cond delay="0" evt="onClick">
                  <p:tgtEl>
                    <p:spTgt spid="183"/>
                  </p:tgtEl>
                </p:cond>
              </p:nextCondLst>
            </p:seq>
          </p:childTnLst>
        </p:cTn>
      </p:par>
    </p:tnLst>
    <p:bldLst>
      <p:bldP build="whole" bldLvl="1" animBg="1" rev="0" advAuto="0" spid="208" grpId="5"/>
      <p:bldP build="whole" bldLvl="1" animBg="1" rev="0" advAuto="0" spid="193" grpId="2"/>
      <p:bldP build="whole" bldLvl="1" animBg="1" rev="0" advAuto="0" spid="203" grpId="4"/>
      <p:bldP build="whole" bldLvl="1" animBg="1" rev="0" advAuto="0" spid="198"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1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15" name="phase_pill"/>
          <p:cNvGrpSpPr/>
          <p:nvPr/>
        </p:nvGrpSpPr>
        <p:grpSpPr>
          <a:xfrm>
            <a:off x="1170432" y="310895"/>
            <a:ext cx="2072030" cy="329185"/>
            <a:chOff x="0" y="0"/>
            <a:chExt cx="2072029" cy="329184"/>
          </a:xfrm>
        </p:grpSpPr>
        <p:sp>
          <p:nvSpPr>
            <p:cNvPr id="213" name="Rounded Rectangle"/>
            <p:cNvSpPr/>
            <p:nvPr/>
          </p:nvSpPr>
          <p:spPr>
            <a:xfrm>
              <a:off x="0" y="0"/>
              <a:ext cx="2072030"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14"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6" name="c0_bg"/>
          <p:cNvSpPr/>
          <p:nvPr/>
        </p:nvSpPr>
        <p:spPr>
          <a:xfrm>
            <a:off x="1170432"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17" name="c0_badge"/>
          <p:cNvSpPr/>
          <p:nvPr/>
        </p:nvSpPr>
        <p:spPr>
          <a:xfrm>
            <a:off x="1371600" y="1133855"/>
            <a:ext cx="384048" cy="384049"/>
          </a:xfrm>
          <a:prstGeom prst="ellipse">
            <a:avLst/>
          </a:prstGeom>
          <a:solidFill>
            <a:srgbClr val="C99A3D"/>
          </a:solidFill>
          <a:ln w="12700">
            <a:solidFill>
              <a:srgbClr val="C99A3D"/>
            </a:solidFill>
          </a:ln>
        </p:spPr>
        <p:txBody>
          <a:bodyPr lIns="45719" rIns="45719"/>
          <a:lstStyle/>
          <a:p>
            <a:pPr/>
          </a:p>
        </p:txBody>
      </p:sp>
      <p:sp>
        <p:nvSpPr>
          <p:cNvPr id="218" name="c0_num"/>
          <p:cNvSpPr txBox="1"/>
          <p:nvPr/>
        </p:nvSpPr>
        <p:spPr>
          <a:xfrm>
            <a:off x="1371600" y="12242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219" name="c0_q"/>
          <p:cNvSpPr txBox="1"/>
          <p:nvPr/>
        </p:nvSpPr>
        <p:spPr>
          <a:xfrm>
            <a:off x="1901951" y="1312120"/>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Describe what urbanisation is.</a:t>
            </a:r>
          </a:p>
        </p:txBody>
      </p:sp>
      <p:grpSp>
        <p:nvGrpSpPr>
          <p:cNvPr id="222" name="c0_a"/>
          <p:cNvGrpSpPr/>
          <p:nvPr/>
        </p:nvGrpSpPr>
        <p:grpSpPr>
          <a:xfrm>
            <a:off x="1371600" y="1810511"/>
            <a:ext cx="4715105" cy="402337"/>
            <a:chOff x="0" y="0"/>
            <a:chExt cx="4715104" cy="402336"/>
          </a:xfrm>
        </p:grpSpPr>
        <p:sp>
          <p:nvSpPr>
            <p:cNvPr id="220"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21" name="Towns and cities grow; more people live in them."/>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Towns and cities grow; more people live in them.</a:t>
              </a:r>
            </a:p>
          </p:txBody>
        </p:sp>
      </p:grpSp>
      <p:sp>
        <p:nvSpPr>
          <p:cNvPr id="223" name="c1_bg"/>
          <p:cNvSpPr/>
          <p:nvPr/>
        </p:nvSpPr>
        <p:spPr>
          <a:xfrm>
            <a:off x="6525615"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24" name="c1_badge"/>
          <p:cNvSpPr/>
          <p:nvPr/>
        </p:nvSpPr>
        <p:spPr>
          <a:xfrm>
            <a:off x="6726783" y="1133855"/>
            <a:ext cx="384049" cy="384049"/>
          </a:xfrm>
          <a:prstGeom prst="ellipse">
            <a:avLst/>
          </a:prstGeom>
          <a:solidFill>
            <a:srgbClr val="C99A3D"/>
          </a:solidFill>
          <a:ln w="12700">
            <a:solidFill>
              <a:srgbClr val="C99A3D"/>
            </a:solidFill>
          </a:ln>
        </p:spPr>
        <p:txBody>
          <a:bodyPr lIns="45719" rIns="45719"/>
          <a:lstStyle/>
          <a:p>
            <a:pPr/>
          </a:p>
        </p:txBody>
      </p:sp>
      <p:sp>
        <p:nvSpPr>
          <p:cNvPr id="225" name="c1_num"/>
          <p:cNvSpPr txBox="1"/>
          <p:nvPr/>
        </p:nvSpPr>
        <p:spPr>
          <a:xfrm>
            <a:off x="6726783" y="12242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226" name="c1_q"/>
          <p:cNvSpPr txBox="1"/>
          <p:nvPr/>
        </p:nvSpPr>
        <p:spPr>
          <a:xfrm>
            <a:off x="7257136" y="1312120"/>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State what happens to rain that falls on concrete.</a:t>
            </a:r>
          </a:p>
        </p:txBody>
      </p:sp>
      <p:grpSp>
        <p:nvGrpSpPr>
          <p:cNvPr id="229" name="c1_a"/>
          <p:cNvGrpSpPr/>
          <p:nvPr/>
        </p:nvGrpSpPr>
        <p:grpSpPr>
          <a:xfrm>
            <a:off x="6726783" y="1810511"/>
            <a:ext cx="4715106" cy="402337"/>
            <a:chOff x="0" y="0"/>
            <a:chExt cx="4715104" cy="402336"/>
          </a:xfrm>
        </p:grpSpPr>
        <p:sp>
          <p:nvSpPr>
            <p:cNvPr id="227"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28" name="It cannot soak in. It runs off."/>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It cannot soak in. It runs off.</a:t>
              </a:r>
            </a:p>
          </p:txBody>
        </p:sp>
      </p:grpSp>
      <p:sp>
        <p:nvSpPr>
          <p:cNvPr id="230" name="c2_bg"/>
          <p:cNvSpPr/>
          <p:nvPr/>
        </p:nvSpPr>
        <p:spPr>
          <a:xfrm>
            <a:off x="1170432"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1" name="c2_badge"/>
          <p:cNvSpPr/>
          <p:nvPr/>
        </p:nvSpPr>
        <p:spPr>
          <a:xfrm>
            <a:off x="1371600" y="2724911"/>
            <a:ext cx="384048" cy="384049"/>
          </a:xfrm>
          <a:prstGeom prst="ellipse">
            <a:avLst/>
          </a:prstGeom>
          <a:solidFill>
            <a:srgbClr val="C99A3D"/>
          </a:solidFill>
          <a:ln w="12700">
            <a:solidFill>
              <a:srgbClr val="C99A3D"/>
            </a:solidFill>
          </a:ln>
        </p:spPr>
        <p:txBody>
          <a:bodyPr lIns="45719" rIns="45719"/>
          <a:lstStyle/>
          <a:p>
            <a:pPr/>
          </a:p>
        </p:txBody>
      </p:sp>
      <p:sp>
        <p:nvSpPr>
          <p:cNvPr id="232" name="c2_num"/>
          <p:cNvSpPr txBox="1"/>
          <p:nvPr/>
        </p:nvSpPr>
        <p:spPr>
          <a:xfrm>
            <a:off x="1371600" y="281533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233" name="c2_q"/>
          <p:cNvSpPr txBox="1"/>
          <p:nvPr/>
        </p:nvSpPr>
        <p:spPr>
          <a:xfrm>
            <a:off x="1901951" y="2903176"/>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State why soil sealed under a road is lost for so long.</a:t>
            </a:r>
          </a:p>
        </p:txBody>
      </p:sp>
      <p:grpSp>
        <p:nvGrpSpPr>
          <p:cNvPr id="236" name="c2_a"/>
          <p:cNvGrpSpPr/>
          <p:nvPr/>
        </p:nvGrpSpPr>
        <p:grpSpPr>
          <a:xfrm>
            <a:off x="1371600" y="3401567"/>
            <a:ext cx="4715105" cy="402337"/>
            <a:chOff x="0" y="0"/>
            <a:chExt cx="4715104" cy="402336"/>
          </a:xfrm>
        </p:grpSpPr>
        <p:sp>
          <p:nvSpPr>
            <p:cNvPr id="234"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35" name="It takes a few hundred to about a thousand years to form."/>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It takes a few hundred to about a thousand years to form.</a:t>
              </a:r>
            </a:p>
          </p:txBody>
        </p:sp>
      </p:grpSp>
      <p:sp>
        <p:nvSpPr>
          <p:cNvPr id="237" name="c3_bg"/>
          <p:cNvSpPr/>
          <p:nvPr/>
        </p:nvSpPr>
        <p:spPr>
          <a:xfrm>
            <a:off x="6525615"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8" name="c3_badge"/>
          <p:cNvSpPr/>
          <p:nvPr/>
        </p:nvSpPr>
        <p:spPr>
          <a:xfrm>
            <a:off x="6726783" y="2724911"/>
            <a:ext cx="384049" cy="384049"/>
          </a:xfrm>
          <a:prstGeom prst="ellipse">
            <a:avLst/>
          </a:prstGeom>
          <a:solidFill>
            <a:srgbClr val="C99A3D"/>
          </a:solidFill>
          <a:ln w="12700">
            <a:solidFill>
              <a:srgbClr val="C99A3D"/>
            </a:solidFill>
          </a:ln>
        </p:spPr>
        <p:txBody>
          <a:bodyPr lIns="45719" rIns="45719"/>
          <a:lstStyle/>
          <a:p>
            <a:pPr/>
          </a:p>
        </p:txBody>
      </p:sp>
      <p:sp>
        <p:nvSpPr>
          <p:cNvPr id="239" name="c3_num"/>
          <p:cNvSpPr txBox="1"/>
          <p:nvPr/>
        </p:nvSpPr>
        <p:spPr>
          <a:xfrm>
            <a:off x="6726783" y="281533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240" name="c3_q"/>
          <p:cNvSpPr txBox="1"/>
          <p:nvPr/>
        </p:nvSpPr>
        <p:spPr>
          <a:xfrm>
            <a:off x="7257136" y="2903176"/>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Name two things a sponge city uses.</a:t>
            </a:r>
          </a:p>
        </p:txBody>
      </p:sp>
      <p:grpSp>
        <p:nvGrpSpPr>
          <p:cNvPr id="243" name="c3_a"/>
          <p:cNvGrpSpPr/>
          <p:nvPr/>
        </p:nvGrpSpPr>
        <p:grpSpPr>
          <a:xfrm>
            <a:off x="6726783" y="3401567"/>
            <a:ext cx="4715106" cy="402337"/>
            <a:chOff x="0" y="0"/>
            <a:chExt cx="4715104" cy="402336"/>
          </a:xfrm>
        </p:grpSpPr>
        <p:sp>
          <p:nvSpPr>
            <p:cNvPr id="241"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42" name="Any two: permeable paving, rain gardens, green roofs."/>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Any two: permeable paving, rain gardens, green roofs.</a:t>
              </a:r>
            </a:p>
          </p:txBody>
        </p:sp>
      </p:grpSp>
      <p:sp>
        <p:nvSpPr>
          <p:cNvPr id="244" name="c4_bg"/>
          <p:cNvSpPr/>
          <p:nvPr/>
        </p:nvSpPr>
        <p:spPr>
          <a:xfrm>
            <a:off x="1170432"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45" name="c4_badge"/>
          <p:cNvSpPr/>
          <p:nvPr/>
        </p:nvSpPr>
        <p:spPr>
          <a:xfrm>
            <a:off x="1371600" y="4315967"/>
            <a:ext cx="384048" cy="384049"/>
          </a:xfrm>
          <a:prstGeom prst="ellipse">
            <a:avLst/>
          </a:prstGeom>
          <a:solidFill>
            <a:srgbClr val="C99A3D"/>
          </a:solidFill>
          <a:ln w="12700">
            <a:solidFill>
              <a:srgbClr val="C99A3D"/>
            </a:solidFill>
          </a:ln>
        </p:spPr>
        <p:txBody>
          <a:bodyPr lIns="45719" rIns="45719"/>
          <a:lstStyle/>
          <a:p>
            <a:pPr/>
          </a:p>
        </p:txBody>
      </p:sp>
      <p:sp>
        <p:nvSpPr>
          <p:cNvPr id="246"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247" name="c4_q"/>
          <p:cNvSpPr txBox="1"/>
          <p:nvPr/>
        </p:nvSpPr>
        <p:spPr>
          <a:xfrm>
            <a:off x="1901951" y="4494232"/>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State what the London Green Belt does.</a:t>
            </a:r>
          </a:p>
        </p:txBody>
      </p:sp>
      <p:grpSp>
        <p:nvGrpSpPr>
          <p:cNvPr id="250" name="c4_a"/>
          <p:cNvGrpSpPr/>
          <p:nvPr/>
        </p:nvGrpSpPr>
        <p:grpSpPr>
          <a:xfrm>
            <a:off x="1371600" y="4992623"/>
            <a:ext cx="4715105" cy="402337"/>
            <a:chOff x="0" y="0"/>
            <a:chExt cx="4715104" cy="402336"/>
          </a:xfrm>
        </p:grpSpPr>
        <p:sp>
          <p:nvSpPr>
            <p:cNvPr id="248"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49" name="Keeps a ring of land round London from being built on."/>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Keeps a ring of land round London from being built on.</a:t>
              </a:r>
            </a:p>
          </p:txBody>
        </p:sp>
      </p:grpSp>
      <p:sp>
        <p:nvSpPr>
          <p:cNvPr id="251" name="c5_bg"/>
          <p:cNvSpPr/>
          <p:nvPr/>
        </p:nvSpPr>
        <p:spPr>
          <a:xfrm>
            <a:off x="6525615"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52" name="c5_badge"/>
          <p:cNvSpPr/>
          <p:nvPr/>
        </p:nvSpPr>
        <p:spPr>
          <a:xfrm>
            <a:off x="6726783" y="4315967"/>
            <a:ext cx="384049" cy="384049"/>
          </a:xfrm>
          <a:prstGeom prst="ellipse">
            <a:avLst/>
          </a:prstGeom>
          <a:solidFill>
            <a:srgbClr val="C99A3D"/>
          </a:solidFill>
          <a:ln w="12700">
            <a:solidFill>
              <a:srgbClr val="C99A3D"/>
            </a:solidFill>
          </a:ln>
        </p:spPr>
        <p:txBody>
          <a:bodyPr lIns="45719" rIns="45719"/>
          <a:lstStyle/>
          <a:p>
            <a:pPr/>
          </a:p>
        </p:txBody>
      </p:sp>
      <p:sp>
        <p:nvSpPr>
          <p:cNvPr id="253" name="c5_num"/>
          <p:cNvSpPr txBox="1"/>
          <p:nvPr/>
        </p:nvSpPr>
        <p:spPr>
          <a:xfrm>
            <a:off x="6726783" y="440639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254" name="c5_q"/>
          <p:cNvSpPr txBox="1"/>
          <p:nvPr/>
        </p:nvSpPr>
        <p:spPr>
          <a:xfrm>
            <a:off x="7257136" y="4494232"/>
            <a:ext cx="4184753" cy="210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400">
                <a:solidFill>
                  <a:srgbClr val="2A1D14"/>
                </a:solidFill>
                <a:latin typeface="Arial"/>
                <a:ea typeface="Arial"/>
                <a:cs typeface="Arial"/>
                <a:sym typeface="Arial"/>
              </a:defRPr>
            </a:lvl1pPr>
          </a:lstStyle>
          <a:p>
            <a:pPr/>
            <a:r>
              <a:t>State what brownfield land is.</a:t>
            </a:r>
          </a:p>
        </p:txBody>
      </p:sp>
      <p:grpSp>
        <p:nvGrpSpPr>
          <p:cNvPr id="257" name="c5_a"/>
          <p:cNvGrpSpPr/>
          <p:nvPr/>
        </p:nvGrpSpPr>
        <p:grpSpPr>
          <a:xfrm>
            <a:off x="6726783" y="4992623"/>
            <a:ext cx="4715106" cy="402337"/>
            <a:chOff x="0" y="0"/>
            <a:chExt cx="4715104" cy="402336"/>
          </a:xfrm>
        </p:grpSpPr>
        <p:sp>
          <p:nvSpPr>
            <p:cNvPr id="255" name="Rounded Rectangle"/>
            <p:cNvSpPr/>
            <p:nvPr/>
          </p:nvSpPr>
          <p:spPr>
            <a:xfrm>
              <a:off x="0" y="0"/>
              <a:ext cx="4715105" cy="402337"/>
            </a:xfrm>
            <a:prstGeom prst="roundRect">
              <a:avLst>
                <a:gd name="adj" fmla="val 22727"/>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100"/>
              </a:pPr>
            </a:p>
          </p:txBody>
        </p:sp>
        <p:sp>
          <p:nvSpPr>
            <p:cNvPr id="256" name="Land that has been built on before."/>
            <p:cNvSpPr txBox="1"/>
            <p:nvPr/>
          </p:nvSpPr>
          <p:spPr>
            <a:xfrm>
              <a:off x="35037" y="126237"/>
              <a:ext cx="4645030" cy="149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100">
                  <a:solidFill>
                    <a:srgbClr val="3D2B1F"/>
                  </a:solidFill>
                  <a:latin typeface="Arial"/>
                  <a:ea typeface="Arial"/>
                  <a:cs typeface="Arial"/>
                  <a:sym typeface="Arial"/>
                </a:defRPr>
              </a:lvl1pPr>
            </a:lstStyle>
            <a:p>
              <a:pPr/>
              <a:r>
                <a:t>Land that has been built on before.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1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22"/>
                                        </p:tgtEl>
                                        <p:attrNameLst>
                                          <p:attrName>style.visibility</p:attrName>
                                        </p:attrNameLst>
                                      </p:cBhvr>
                                      <p:to>
                                        <p:strVal val="visible"/>
                                      </p:to>
                                    </p:set>
                                    <p:animEffect filter="wipe(left)" transition="in">
                                      <p:cBhvr>
                                        <p:cTn id="11" dur="400"/>
                                        <p:tgtEl>
                                          <p:spTgt spid="22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29"/>
                                        </p:tgtEl>
                                        <p:attrNameLst>
                                          <p:attrName>style.visibility</p:attrName>
                                        </p:attrNameLst>
                                      </p:cBhvr>
                                      <p:to>
                                        <p:strVal val="visible"/>
                                      </p:to>
                                    </p:set>
                                    <p:animEffect filter="wipe(left)" transition="in">
                                      <p:cBhvr>
                                        <p:cTn id="16" dur="400"/>
                                        <p:tgtEl>
                                          <p:spTgt spid="22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6"/>
                                        </p:tgtEl>
                                        <p:attrNameLst>
                                          <p:attrName>style.visibility</p:attrName>
                                        </p:attrNameLst>
                                      </p:cBhvr>
                                      <p:to>
                                        <p:strVal val="visible"/>
                                      </p:to>
                                    </p:set>
                                    <p:animEffect filter="wipe(left)" transition="in">
                                      <p:cBhvr>
                                        <p:cTn id="21" dur="400"/>
                                        <p:tgtEl>
                                          <p:spTgt spid="23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43"/>
                                        </p:tgtEl>
                                        <p:attrNameLst>
                                          <p:attrName>style.visibility</p:attrName>
                                        </p:attrNameLst>
                                      </p:cBhvr>
                                      <p:to>
                                        <p:strVal val="visible"/>
                                      </p:to>
                                    </p:set>
                                    <p:animEffect filter="wipe(left)" transition="in">
                                      <p:cBhvr>
                                        <p:cTn id="26" dur="400"/>
                                        <p:tgtEl>
                                          <p:spTgt spid="243"/>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50"/>
                                        </p:tgtEl>
                                        <p:attrNameLst>
                                          <p:attrName>style.visibility</p:attrName>
                                        </p:attrNameLst>
                                      </p:cBhvr>
                                      <p:to>
                                        <p:strVal val="visible"/>
                                      </p:to>
                                    </p:set>
                                    <p:animEffect filter="wipe(left)" transition="in">
                                      <p:cBhvr>
                                        <p:cTn id="31" dur="400"/>
                                        <p:tgtEl>
                                          <p:spTgt spid="250"/>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7"/>
                                        </p:tgtEl>
                                        <p:attrNameLst>
                                          <p:attrName>style.visibility</p:attrName>
                                        </p:attrNameLst>
                                      </p:cBhvr>
                                      <p:to>
                                        <p:strVal val="visible"/>
                                      </p:to>
                                    </p:set>
                                    <p:animEffect filter="wipe(left)" transition="in">
                                      <p:cBhvr>
                                        <p:cTn id="36" dur="4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12"/>
                </p:tgtEl>
              </p:cMediaNode>
            </p:video>
            <p:seq concurrent="1" prevAc="none" nextAc="seek">
              <p:cTn id="38" evtFilter="cancelBubble" nodeType="interactiveSeq" restart="whenNotActive" fill="hold">
                <p:stCondLst>
                  <p:cond delay="0" evt="onClick">
                    <p:tgtEl>
                      <p:spTgt spid="212"/>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12"/>
                                        </p:tgtEl>
                                      </p:cBhvr>
                                    </p:cmd>
                                  </p:childTnLst>
                                </p:cTn>
                              </p:par>
                            </p:childTnLst>
                          </p:cTn>
                        </p:par>
                      </p:childTnLst>
                    </p:cTn>
                  </p:par>
                </p:childTnLst>
              </p:cTn>
              <p:nextCondLst>
                <p:cond delay="0" evt="onClick">
                  <p:tgtEl>
                    <p:spTgt spid="212"/>
                  </p:tgtEl>
                </p:cond>
              </p:nextCondLst>
            </p:seq>
          </p:childTnLst>
        </p:cTn>
      </p:par>
    </p:tnLst>
    <p:bldLst>
      <p:bldP build="whole" bldLvl="1" animBg="1" rev="0" advAuto="0" spid="257" grpId="7"/>
      <p:bldP build="whole" bldLvl="1" animBg="1" rev="0" advAuto="0" spid="243" grpId="5"/>
      <p:bldP build="whole" bldLvl="1" animBg="1" rev="0" advAuto="0" spid="229" grpId="3"/>
      <p:bldP build="whole" bldLvl="1" animBg="1" rev="0" advAuto="0" spid="250" grpId="6"/>
      <p:bldP build="whole" bldLvl="1" animBg="1" rev="0" advAuto="0" spid="236" grpId="4"/>
      <p:bldP build="whole" bldLvl="1" animBg="1" rev="0" advAuto="0" spid="222"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6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4" name="phase_pill"/>
          <p:cNvGrpSpPr/>
          <p:nvPr/>
        </p:nvGrpSpPr>
        <p:grpSpPr>
          <a:xfrm>
            <a:off x="1170432" y="310895"/>
            <a:ext cx="1892808" cy="329185"/>
            <a:chOff x="0" y="0"/>
            <a:chExt cx="1892807" cy="329184"/>
          </a:xfrm>
        </p:grpSpPr>
        <p:sp>
          <p:nvSpPr>
            <p:cNvPr id="262"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63"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65"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6"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3D2B1F"/>
                </a:solidFill>
                <a:latin typeface="Georgia"/>
                <a:ea typeface="Georgia"/>
                <a:cs typeface="Georgia"/>
                <a:sym typeface="Georgia"/>
              </a:defRPr>
            </a:lvl1pPr>
          </a:lstStyle>
          <a:p>
            <a:pPr/>
            <a:r>
              <a:t>Cities And What Can Be Done worksheet</a:t>
            </a:r>
          </a:p>
        </p:txBody>
      </p:sp>
      <p:sp>
        <p:nvSpPr>
          <p:cNvPr id="267"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B5482E"/>
                </a:solidFill>
                <a:latin typeface="Arial"/>
                <a:ea typeface="Arial"/>
                <a:cs typeface="Arial"/>
                <a:sym typeface="Arial"/>
              </a:defRPr>
            </a:lvl1pPr>
          </a:lstStyle>
          <a:p>
            <a:pPr/>
            <a:r>
              <a:t>Open Google Classroom now.</a:t>
            </a:r>
          </a:p>
        </p:txBody>
      </p:sp>
      <p:grpSp>
        <p:nvGrpSpPr>
          <p:cNvPr id="272" name="t0"/>
          <p:cNvGrpSpPr/>
          <p:nvPr/>
        </p:nvGrpSpPr>
        <p:grpSpPr>
          <a:xfrm>
            <a:off x="1170432" y="2322576"/>
            <a:ext cx="3307994" cy="1828801"/>
            <a:chOff x="0" y="0"/>
            <a:chExt cx="3307993" cy="1828800"/>
          </a:xfrm>
        </p:grpSpPr>
        <p:sp>
          <p:nvSpPr>
            <p:cNvPr id="268" name="t0_bg"/>
            <p:cNvSpPr/>
            <p:nvPr/>
          </p:nvSpPr>
          <p:spPr>
            <a:xfrm>
              <a:off x="0" y="0"/>
              <a:ext cx="3307994" cy="1828800"/>
            </a:xfrm>
            <a:prstGeom prst="roundRect">
              <a:avLst>
                <a:gd name="adj" fmla="val 5000"/>
              </a:avLst>
            </a:prstGeom>
            <a:solidFill>
              <a:srgbClr val="F5E5DE"/>
            </a:solidFill>
            <a:ln w="20320" cap="flat">
              <a:solidFill>
                <a:srgbClr val="B5482E"/>
              </a:solidFill>
              <a:prstDash val="solid"/>
              <a:round/>
            </a:ln>
            <a:effectLst/>
          </p:spPr>
          <p:txBody>
            <a:bodyPr wrap="square" lIns="45719" tIns="45719" rIns="45719" bIns="45719" numCol="1" anchor="t">
              <a:noAutofit/>
            </a:bodyPr>
            <a:lstStyle/>
            <a:p>
              <a:pPr/>
            </a:p>
          </p:txBody>
        </p:sp>
        <p:sp>
          <p:nvSpPr>
            <p:cNvPr id="269"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B5482E"/>
                  </a:solidFill>
                  <a:latin typeface="Arial"/>
                  <a:ea typeface="Arial"/>
                  <a:cs typeface="Arial"/>
                  <a:sym typeface="Arial"/>
                </a:defRPr>
              </a:lvl1pPr>
            </a:lstStyle>
            <a:p>
              <a:pPr/>
              <a:r>
                <a:t>BRONZE</a:t>
              </a:r>
            </a:p>
          </p:txBody>
        </p:sp>
        <p:sp>
          <p:nvSpPr>
            <p:cNvPr id="270"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Describe it</a:t>
              </a:r>
            </a:p>
          </p:txBody>
        </p:sp>
        <p:sp>
          <p:nvSpPr>
            <p:cNvPr id="271" name="t0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Urbanisation, runoff, and what happens to sealed soil.</a:t>
              </a:r>
            </a:p>
          </p:txBody>
        </p:sp>
      </p:grpSp>
      <p:grpSp>
        <p:nvGrpSpPr>
          <p:cNvPr id="277" name="t1"/>
          <p:cNvGrpSpPr/>
          <p:nvPr/>
        </p:nvGrpSpPr>
        <p:grpSpPr>
          <a:xfrm>
            <a:off x="4752745" y="2322576"/>
            <a:ext cx="3307995" cy="1828801"/>
            <a:chOff x="0" y="0"/>
            <a:chExt cx="3307993" cy="1828800"/>
          </a:xfrm>
        </p:grpSpPr>
        <p:sp>
          <p:nvSpPr>
            <p:cNvPr id="273" name="t1_bg"/>
            <p:cNvSpPr/>
            <p:nvPr/>
          </p:nvSpPr>
          <p:spPr>
            <a:xfrm>
              <a:off x="0" y="0"/>
              <a:ext cx="3307994" cy="1828800"/>
            </a:xfrm>
            <a:prstGeom prst="roundRect">
              <a:avLst>
                <a:gd name="adj" fmla="val 5000"/>
              </a:avLst>
            </a:prstGeom>
            <a:solidFill>
              <a:srgbClr val="F0EBE0"/>
            </a:solidFill>
            <a:ln w="20320" cap="flat">
              <a:solidFill>
                <a:srgbClr val="81715F"/>
              </a:solidFill>
              <a:prstDash val="solid"/>
              <a:round/>
            </a:ln>
            <a:effectLst/>
          </p:spPr>
          <p:txBody>
            <a:bodyPr wrap="square" lIns="45719" tIns="45719" rIns="45719" bIns="45719" numCol="1" anchor="t">
              <a:noAutofit/>
            </a:bodyPr>
            <a:lstStyle/>
            <a:p>
              <a:pPr/>
            </a:p>
          </p:txBody>
        </p:sp>
        <p:sp>
          <p:nvSpPr>
            <p:cNvPr id="274"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1715F"/>
                  </a:solidFill>
                  <a:latin typeface="Arial"/>
                  <a:ea typeface="Arial"/>
                  <a:cs typeface="Arial"/>
                  <a:sym typeface="Arial"/>
                </a:defRPr>
              </a:lvl1pPr>
            </a:lstStyle>
            <a:p>
              <a:pPr/>
              <a:r>
                <a:t>SILVER</a:t>
              </a:r>
            </a:p>
          </p:txBody>
        </p:sp>
        <p:sp>
          <p:nvSpPr>
            <p:cNvPr id="275"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Explain it</a:t>
              </a:r>
            </a:p>
          </p:txBody>
        </p:sp>
        <p:sp>
          <p:nvSpPr>
            <p:cNvPr id="276"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Why cities flood, and how Wuhan and London reduce the damage.</a:t>
              </a:r>
            </a:p>
          </p:txBody>
        </p:sp>
      </p:grpSp>
      <p:grpSp>
        <p:nvGrpSpPr>
          <p:cNvPr id="282" name="t2"/>
          <p:cNvGrpSpPr/>
          <p:nvPr/>
        </p:nvGrpSpPr>
        <p:grpSpPr>
          <a:xfrm>
            <a:off x="8335061" y="2322576"/>
            <a:ext cx="3307994" cy="1828801"/>
            <a:chOff x="0" y="0"/>
            <a:chExt cx="3307993" cy="1828800"/>
          </a:xfrm>
        </p:grpSpPr>
        <p:sp>
          <p:nvSpPr>
            <p:cNvPr id="278" name="t2_bg"/>
            <p:cNvSpPr/>
            <p:nvPr/>
          </p:nvSpPr>
          <p:spPr>
            <a:xfrm>
              <a:off x="0" y="0"/>
              <a:ext cx="3307994" cy="1828800"/>
            </a:xfrm>
            <a:prstGeom prst="roundRect">
              <a:avLst>
                <a:gd name="adj" fmla="val 5000"/>
              </a:avLst>
            </a:prstGeom>
            <a:solidFill>
              <a:srgbClr val="ECE1CB"/>
            </a:solidFill>
            <a:ln w="20320" cap="flat">
              <a:solidFill>
                <a:srgbClr val="8F6D2A"/>
              </a:solidFill>
              <a:prstDash val="solid"/>
              <a:round/>
            </a:ln>
            <a:effectLst/>
          </p:spPr>
          <p:txBody>
            <a:bodyPr wrap="square" lIns="45719" tIns="45719" rIns="45719" bIns="45719" numCol="1" anchor="t">
              <a:noAutofit/>
            </a:bodyPr>
            <a:lstStyle/>
            <a:p>
              <a:pPr/>
            </a:p>
          </p:txBody>
        </p:sp>
        <p:sp>
          <p:nvSpPr>
            <p:cNvPr id="279"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F6D2A"/>
                  </a:solidFill>
                  <a:latin typeface="Arial"/>
                  <a:ea typeface="Arial"/>
                  <a:cs typeface="Arial"/>
                  <a:sym typeface="Arial"/>
                </a:defRPr>
              </a:lvl1pPr>
            </a:lstStyle>
            <a:p>
              <a:pPr/>
              <a:r>
                <a:t>GOLD</a:t>
              </a:r>
            </a:p>
          </p:txBody>
        </p:sp>
        <p:sp>
          <p:nvSpPr>
            <p:cNvPr id="280"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Judge it</a:t>
              </a:r>
            </a:p>
          </p:txBody>
        </p:sp>
        <p:sp>
          <p:nvSpPr>
            <p:cNvPr id="281" name="t2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Compare two choices, and judge a claim using a real example.</a:t>
              </a:r>
            </a:p>
          </p:txBody>
        </p:sp>
      </p:grpSp>
      <p:sp>
        <p:nvSpPr>
          <p:cNvPr id="283" name="yd_note"/>
          <p:cNvSpPr txBox="1"/>
          <p:nvPr/>
        </p:nvSpPr>
        <p:spPr>
          <a:xfrm>
            <a:off x="1170432" y="454331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3D2B1F"/>
                </a:solidFill>
                <a:latin typeface="Arial"/>
                <a:ea typeface="Arial"/>
                <a:cs typeface="Arial"/>
                <a:sym typeface="Arial"/>
              </a:defRPr>
            </a:lvl1pPr>
          </a:lstStyle>
          <a:p>
            <a:pPr/>
            <a:r>
              <a:t>Runoff means rain that flows over the surface instead of soaking in.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6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2"/>
                                        </p:tgtEl>
                                        <p:attrNameLst>
                                          <p:attrName>style.visibility</p:attrName>
                                        </p:attrNameLst>
                                      </p:cBhvr>
                                      <p:to>
                                        <p:strVal val="visible"/>
                                      </p:to>
                                    </p:set>
                                    <p:animEffect filter="fade" transition="in">
                                      <p:cBhvr>
                                        <p:cTn id="11" dur="400"/>
                                        <p:tgtEl>
                                          <p:spTgt spid="27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7"/>
                                        </p:tgtEl>
                                        <p:attrNameLst>
                                          <p:attrName>style.visibility</p:attrName>
                                        </p:attrNameLst>
                                      </p:cBhvr>
                                      <p:to>
                                        <p:strVal val="visible"/>
                                      </p:to>
                                    </p:set>
                                    <p:animEffect filter="fade" transition="in">
                                      <p:cBhvr>
                                        <p:cTn id="16" dur="400"/>
                                        <p:tgtEl>
                                          <p:spTgt spid="27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82"/>
                                        </p:tgtEl>
                                        <p:attrNameLst>
                                          <p:attrName>style.visibility</p:attrName>
                                        </p:attrNameLst>
                                      </p:cBhvr>
                                      <p:to>
                                        <p:strVal val="visible"/>
                                      </p:to>
                                    </p:set>
                                    <p:animEffect filter="fade" transition="in">
                                      <p:cBhvr>
                                        <p:cTn id="21" dur="400"/>
                                        <p:tgtEl>
                                          <p:spTgt spid="282"/>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83"/>
                                        </p:tgtEl>
                                        <p:attrNameLst>
                                          <p:attrName>style.visibility</p:attrName>
                                        </p:attrNameLst>
                                      </p:cBhvr>
                                      <p:to>
                                        <p:strVal val="visible"/>
                                      </p:to>
                                    </p:set>
                                    <p:animEffect filter="fade" transition="in">
                                      <p:cBhvr>
                                        <p:cTn id="26" dur="4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61"/>
                </p:tgtEl>
              </p:cMediaNode>
            </p:video>
            <p:seq concurrent="1" prevAc="none" nextAc="seek">
              <p:cTn id="28" evtFilter="cancelBubble" nodeType="interactiveSeq" restart="whenNotActive" fill="hold">
                <p:stCondLst>
                  <p:cond delay="0" evt="onClick">
                    <p:tgtEl>
                      <p:spTgt spid="261"/>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61"/>
                                        </p:tgtEl>
                                      </p:cBhvr>
                                    </p:cmd>
                                  </p:childTnLst>
                                </p:cTn>
                              </p:par>
                            </p:childTnLst>
                          </p:cTn>
                        </p:par>
                      </p:childTnLst>
                    </p:cTn>
                  </p:par>
                </p:childTnLst>
              </p:cTn>
              <p:nextCondLst>
                <p:cond delay="0" evt="onClick">
                  <p:tgtEl>
                    <p:spTgt spid="261"/>
                  </p:tgtEl>
                </p:cond>
              </p:nextCondLst>
            </p:seq>
          </p:childTnLst>
        </p:cTn>
      </p:par>
    </p:tnLst>
    <p:bldLst>
      <p:bldP build="whole" bldLvl="1" animBg="1" rev="0" advAuto="0" spid="283" grpId="5"/>
      <p:bldP build="whole" bldLvl="1" animBg="1" rev="0" advAuto="0" spid="277" grpId="3"/>
      <p:bldP build="whole" bldLvl="1" animBg="1" rev="0" advAuto="0" spid="272" grpId="2"/>
      <p:bldP build="whole" bldLvl="1" animBg="1" rev="0" advAuto="0" spid="282"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8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0" name="phase_pill"/>
          <p:cNvGrpSpPr/>
          <p:nvPr/>
        </p:nvGrpSpPr>
        <p:grpSpPr>
          <a:xfrm>
            <a:off x="1170432" y="310895"/>
            <a:ext cx="1892808" cy="329185"/>
            <a:chOff x="0" y="0"/>
            <a:chExt cx="1892807" cy="329184"/>
          </a:xfrm>
        </p:grpSpPr>
        <p:sp>
          <p:nvSpPr>
            <p:cNvPr id="288"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89"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29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Answers</a:t>
            </a:r>
          </a:p>
        </p:txBody>
      </p:sp>
      <p:grpSp>
        <p:nvGrpSpPr>
          <p:cNvPr id="295" name="a0"/>
          <p:cNvGrpSpPr/>
          <p:nvPr/>
        </p:nvGrpSpPr>
        <p:grpSpPr>
          <a:xfrm>
            <a:off x="1170432" y="1828800"/>
            <a:ext cx="5117441" cy="658369"/>
            <a:chOff x="0" y="0"/>
            <a:chExt cx="5117439" cy="658368"/>
          </a:xfrm>
        </p:grpSpPr>
        <p:sp>
          <p:nvSpPr>
            <p:cNvPr id="292"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3"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a:t>
              </a:r>
            </a:p>
          </p:txBody>
        </p:sp>
        <p:sp>
          <p:nvSpPr>
            <p:cNvPr id="294" name="a0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Towns and cities growing, and a bigger share of people living in them.</a:t>
              </a:r>
            </a:p>
          </p:txBody>
        </p:sp>
      </p:grpSp>
      <p:grpSp>
        <p:nvGrpSpPr>
          <p:cNvPr id="299" name="a1"/>
          <p:cNvGrpSpPr/>
          <p:nvPr/>
        </p:nvGrpSpPr>
        <p:grpSpPr>
          <a:xfrm>
            <a:off x="6525615" y="1828800"/>
            <a:ext cx="5117441" cy="658369"/>
            <a:chOff x="0" y="0"/>
            <a:chExt cx="5117439" cy="658368"/>
          </a:xfrm>
        </p:grpSpPr>
        <p:sp>
          <p:nvSpPr>
            <p:cNvPr id="296"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7"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2</a:t>
              </a:r>
            </a:p>
          </p:txBody>
        </p:sp>
        <p:sp>
          <p:nvSpPr>
            <p:cNvPr id="298" name="a1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Any two: soil covered, less soaks in so more runoff, hotter, habitat lost.</a:t>
              </a:r>
            </a:p>
          </p:txBody>
        </p:sp>
      </p:grpSp>
      <p:grpSp>
        <p:nvGrpSpPr>
          <p:cNvPr id="303" name="a2"/>
          <p:cNvGrpSpPr/>
          <p:nvPr/>
        </p:nvGrpSpPr>
        <p:grpSpPr>
          <a:xfrm>
            <a:off x="1170432" y="2578607"/>
            <a:ext cx="5117441" cy="658369"/>
            <a:chOff x="0" y="0"/>
            <a:chExt cx="5117439" cy="658368"/>
          </a:xfrm>
        </p:grpSpPr>
        <p:sp>
          <p:nvSpPr>
            <p:cNvPr id="300"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1"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3</a:t>
              </a:r>
            </a:p>
          </p:txBody>
        </p:sp>
        <p:sp>
          <p:nvSpPr>
            <p:cNvPr id="302" name="a2_t"/>
            <p:cNvSpPr txBox="1"/>
            <p:nvPr/>
          </p:nvSpPr>
          <p:spPr>
            <a:xfrm>
              <a:off x="749808" y="248341"/>
              <a:ext cx="4166464" cy="1616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Rain that flows over the surface instead of soaking in.</a:t>
              </a:r>
            </a:p>
          </p:txBody>
        </p:sp>
      </p:grpSp>
      <p:grpSp>
        <p:nvGrpSpPr>
          <p:cNvPr id="307" name="a3"/>
          <p:cNvGrpSpPr/>
          <p:nvPr/>
        </p:nvGrpSpPr>
        <p:grpSpPr>
          <a:xfrm>
            <a:off x="6525615" y="2578607"/>
            <a:ext cx="5117441" cy="658369"/>
            <a:chOff x="0" y="0"/>
            <a:chExt cx="5117439" cy="658368"/>
          </a:xfrm>
        </p:grpSpPr>
        <p:sp>
          <p:nvSpPr>
            <p:cNvPr id="304"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5"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4</a:t>
              </a:r>
            </a:p>
          </p:txBody>
        </p:sp>
        <p:sp>
          <p:nvSpPr>
            <p:cNvPr id="306" name="a3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It is sealed. It cannot grow plants, and takes centuries to form again.</a:t>
              </a:r>
            </a:p>
          </p:txBody>
        </p:sp>
      </p:grpSp>
      <p:grpSp>
        <p:nvGrpSpPr>
          <p:cNvPr id="311" name="a4"/>
          <p:cNvGrpSpPr/>
          <p:nvPr/>
        </p:nvGrpSpPr>
        <p:grpSpPr>
          <a:xfrm>
            <a:off x="1170432" y="3328415"/>
            <a:ext cx="5117441" cy="658369"/>
            <a:chOff x="0" y="0"/>
            <a:chExt cx="5117439" cy="658368"/>
          </a:xfrm>
        </p:grpSpPr>
        <p:sp>
          <p:nvSpPr>
            <p:cNvPr id="308"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9"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5</a:t>
              </a:r>
            </a:p>
          </p:txBody>
        </p:sp>
        <p:sp>
          <p:nvSpPr>
            <p:cNvPr id="310" name="a4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Roofs and roads let no rain in, so it all runs off at once into drains. A field soaks up much of it.</a:t>
              </a:r>
            </a:p>
          </p:txBody>
        </p:sp>
      </p:grpSp>
      <p:grpSp>
        <p:nvGrpSpPr>
          <p:cNvPr id="315" name="a5"/>
          <p:cNvGrpSpPr/>
          <p:nvPr/>
        </p:nvGrpSpPr>
        <p:grpSpPr>
          <a:xfrm>
            <a:off x="6525615" y="3328415"/>
            <a:ext cx="5117441" cy="658369"/>
            <a:chOff x="0" y="0"/>
            <a:chExt cx="5117439" cy="658368"/>
          </a:xfrm>
        </p:grpSpPr>
        <p:sp>
          <p:nvSpPr>
            <p:cNvPr id="312"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3"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6</a:t>
              </a:r>
            </a:p>
          </p:txBody>
        </p:sp>
        <p:sp>
          <p:nvSpPr>
            <p:cNvPr id="314" name="a5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Sponge cities, e.g. Wuhan (from 2015): permeable paving, rain gardens, green roofs let rain soak in.</a:t>
              </a:r>
            </a:p>
          </p:txBody>
        </p:sp>
      </p:grpSp>
      <p:grpSp>
        <p:nvGrpSpPr>
          <p:cNvPr id="319" name="a6"/>
          <p:cNvGrpSpPr/>
          <p:nvPr/>
        </p:nvGrpSpPr>
        <p:grpSpPr>
          <a:xfrm>
            <a:off x="1170432" y="4078223"/>
            <a:ext cx="5117441" cy="658369"/>
            <a:chOff x="0" y="0"/>
            <a:chExt cx="5117439" cy="658368"/>
          </a:xfrm>
        </p:grpSpPr>
        <p:sp>
          <p:nvSpPr>
            <p:cNvPr id="316"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7"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7</a:t>
              </a:r>
            </a:p>
          </p:txBody>
        </p:sp>
        <p:sp>
          <p:nvSpPr>
            <p:cNvPr id="318" name="a6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Green belts, e.g. London (about 500,000 ha, 1947): keep a ring of land free of building.</a:t>
              </a:r>
            </a:p>
          </p:txBody>
        </p:sp>
      </p:grpSp>
      <p:grpSp>
        <p:nvGrpSpPr>
          <p:cNvPr id="323" name="a7"/>
          <p:cNvGrpSpPr/>
          <p:nvPr/>
        </p:nvGrpSpPr>
        <p:grpSpPr>
          <a:xfrm>
            <a:off x="6525615" y="4078223"/>
            <a:ext cx="5117441" cy="658369"/>
            <a:chOff x="0" y="0"/>
            <a:chExt cx="5117439" cy="658368"/>
          </a:xfrm>
        </p:grpSpPr>
        <p:sp>
          <p:nvSpPr>
            <p:cNvPr id="320"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1"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8</a:t>
              </a:r>
            </a:p>
          </p:txBody>
        </p:sp>
        <p:sp>
          <p:nvSpPr>
            <p:cNvPr id="322" name="a7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Permeable paving lets rain soak in and cuts runoff. Tarmac seals the ground. Accept reasoned cost points.</a:t>
              </a:r>
            </a:p>
          </p:txBody>
        </p:sp>
      </p:grpSp>
      <p:grpSp>
        <p:nvGrpSpPr>
          <p:cNvPr id="327" name="a8"/>
          <p:cNvGrpSpPr/>
          <p:nvPr/>
        </p:nvGrpSpPr>
        <p:grpSpPr>
          <a:xfrm>
            <a:off x="1170432" y="4828032"/>
            <a:ext cx="5117441" cy="658369"/>
            <a:chOff x="0" y="0"/>
            <a:chExt cx="5117439" cy="658368"/>
          </a:xfrm>
        </p:grpSpPr>
        <p:sp>
          <p:nvSpPr>
            <p:cNvPr id="324"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5"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9</a:t>
              </a:r>
            </a:p>
          </p:txBody>
        </p:sp>
        <p:sp>
          <p:nvSpPr>
            <p:cNvPr id="326" name="a8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Partly true, but "nothing can be done" is false: Wuhan and London are real examples.</a:t>
              </a:r>
            </a:p>
          </p:txBody>
        </p:sp>
      </p:grpSp>
      <p:grpSp>
        <p:nvGrpSpPr>
          <p:cNvPr id="331" name="a9"/>
          <p:cNvGrpSpPr/>
          <p:nvPr/>
        </p:nvGrpSpPr>
        <p:grpSpPr>
          <a:xfrm>
            <a:off x="6525615" y="4828032"/>
            <a:ext cx="5117441" cy="658369"/>
            <a:chOff x="0" y="0"/>
            <a:chExt cx="5117439" cy="658368"/>
          </a:xfrm>
        </p:grpSpPr>
        <p:sp>
          <p:nvSpPr>
            <p:cNvPr id="328"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9"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10</a:t>
              </a:r>
            </a:p>
          </p:txBody>
        </p:sp>
        <p:sp>
          <p:nvSpPr>
            <p:cNvPr id="330" name="a9_t"/>
            <p:cNvSpPr txBox="1"/>
            <p:nvPr/>
          </p:nvSpPr>
          <p:spPr>
            <a:xfrm>
              <a:off x="749808" y="165791"/>
              <a:ext cx="4166464" cy="3267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300"/>
                </a:lnSpc>
                <a:defRPr sz="1100">
                  <a:solidFill>
                    <a:srgbClr val="2A1D14"/>
                  </a:solidFill>
                  <a:latin typeface="Arial"/>
                  <a:ea typeface="Arial"/>
                  <a:cs typeface="Arial"/>
                  <a:sym typeface="Arial"/>
                </a:defRPr>
              </a:lvl1pPr>
            </a:lstStyle>
            <a:p>
              <a:pPr/>
              <a:r>
                <a:t>Sealed soil takes centuries to replace, so preventing the loss beats repairing it.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5"/>
                                        </p:tgtEl>
                                        <p:attrNameLst>
                                          <p:attrName>style.visibility</p:attrName>
                                        </p:attrNameLst>
                                      </p:cBhvr>
                                      <p:to>
                                        <p:strVal val="visible"/>
                                      </p:to>
                                    </p:set>
                                    <p:animEffect filter="fade" transition="in">
                                      <p:cBhvr>
                                        <p:cTn id="11" dur="400"/>
                                        <p:tgtEl>
                                          <p:spTgt spid="295"/>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99"/>
                                        </p:tgtEl>
                                        <p:attrNameLst>
                                          <p:attrName>style.visibility</p:attrName>
                                        </p:attrNameLst>
                                      </p:cBhvr>
                                      <p:to>
                                        <p:strVal val="visible"/>
                                      </p:to>
                                    </p:set>
                                    <p:animEffect filter="fade" transition="in">
                                      <p:cBhvr>
                                        <p:cTn id="15" dur="400"/>
                                        <p:tgtEl>
                                          <p:spTgt spid="299"/>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03"/>
                                        </p:tgtEl>
                                        <p:attrNameLst>
                                          <p:attrName>style.visibility</p:attrName>
                                        </p:attrNameLst>
                                      </p:cBhvr>
                                      <p:to>
                                        <p:strVal val="visible"/>
                                      </p:to>
                                    </p:set>
                                    <p:animEffect filter="fade" transition="in">
                                      <p:cBhvr>
                                        <p:cTn id="20" dur="400"/>
                                        <p:tgtEl>
                                          <p:spTgt spid="303"/>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307"/>
                                        </p:tgtEl>
                                        <p:attrNameLst>
                                          <p:attrName>style.visibility</p:attrName>
                                        </p:attrNameLst>
                                      </p:cBhvr>
                                      <p:to>
                                        <p:strVal val="visible"/>
                                      </p:to>
                                    </p:set>
                                    <p:animEffect filter="fade" transition="in">
                                      <p:cBhvr>
                                        <p:cTn id="24" dur="4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11"/>
                                        </p:tgtEl>
                                        <p:attrNameLst>
                                          <p:attrName>style.visibility</p:attrName>
                                        </p:attrNameLst>
                                      </p:cBhvr>
                                      <p:to>
                                        <p:strVal val="visible"/>
                                      </p:to>
                                    </p:set>
                                    <p:animEffect filter="fade" transition="in">
                                      <p:cBhvr>
                                        <p:cTn id="29" dur="400"/>
                                        <p:tgtEl>
                                          <p:spTgt spid="311"/>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15"/>
                                        </p:tgtEl>
                                        <p:attrNameLst>
                                          <p:attrName>style.visibility</p:attrName>
                                        </p:attrNameLst>
                                      </p:cBhvr>
                                      <p:to>
                                        <p:strVal val="visible"/>
                                      </p:to>
                                    </p:set>
                                    <p:animEffect filter="fade" transition="in">
                                      <p:cBhvr>
                                        <p:cTn id="33" dur="400"/>
                                        <p:tgtEl>
                                          <p:spTgt spid="31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19"/>
                                        </p:tgtEl>
                                        <p:attrNameLst>
                                          <p:attrName>style.visibility</p:attrName>
                                        </p:attrNameLst>
                                      </p:cBhvr>
                                      <p:to>
                                        <p:strVal val="visible"/>
                                      </p:to>
                                    </p:set>
                                    <p:animEffect filter="fade" transition="in">
                                      <p:cBhvr>
                                        <p:cTn id="38" dur="400"/>
                                        <p:tgtEl>
                                          <p:spTgt spid="319"/>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23"/>
                                        </p:tgtEl>
                                        <p:attrNameLst>
                                          <p:attrName>style.visibility</p:attrName>
                                        </p:attrNameLst>
                                      </p:cBhvr>
                                      <p:to>
                                        <p:strVal val="visible"/>
                                      </p:to>
                                    </p:set>
                                    <p:animEffect filter="fade" transition="in">
                                      <p:cBhvr>
                                        <p:cTn id="42" dur="400"/>
                                        <p:tgtEl>
                                          <p:spTgt spid="323"/>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27"/>
                                        </p:tgtEl>
                                        <p:attrNameLst>
                                          <p:attrName>style.visibility</p:attrName>
                                        </p:attrNameLst>
                                      </p:cBhvr>
                                      <p:to>
                                        <p:strVal val="visible"/>
                                      </p:to>
                                    </p:set>
                                    <p:animEffect filter="fade" transition="in">
                                      <p:cBhvr>
                                        <p:cTn id="47" dur="400"/>
                                        <p:tgtEl>
                                          <p:spTgt spid="327"/>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31"/>
                                        </p:tgtEl>
                                        <p:attrNameLst>
                                          <p:attrName>style.visibility</p:attrName>
                                        </p:attrNameLst>
                                      </p:cBhvr>
                                      <p:to>
                                        <p:strVal val="visible"/>
                                      </p:to>
                                    </p:set>
                                    <p:animEffect filter="fade" transition="in">
                                      <p:cBhvr>
                                        <p:cTn id="51" dur="4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287"/>
                </p:tgtEl>
              </p:cMediaNode>
            </p:video>
            <p:seq concurrent="1" prevAc="none" nextAc="seek">
              <p:cTn id="53" evtFilter="cancelBubble" nodeType="interactiveSeq" restart="whenNotActive" fill="hold">
                <p:stCondLst>
                  <p:cond delay="0" evt="onClick">
                    <p:tgtEl>
                      <p:spTgt spid="287"/>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287"/>
                                        </p:tgtEl>
                                      </p:cBhvr>
                                    </p:cmd>
                                  </p:childTnLst>
                                </p:cTn>
                              </p:par>
                            </p:childTnLst>
                          </p:cTn>
                        </p:par>
                      </p:childTnLst>
                    </p:cTn>
                  </p:par>
                </p:childTnLst>
              </p:cTn>
              <p:nextCondLst>
                <p:cond delay="0" evt="onClick">
                  <p:tgtEl>
                    <p:spTgt spid="287"/>
                  </p:tgtEl>
                </p:cond>
              </p:nextCondLst>
            </p:seq>
          </p:childTnLst>
        </p:cTn>
      </p:par>
    </p:tnLst>
    <p:bldLst>
      <p:bldP build="whole" bldLvl="1" animBg="1" rev="0" advAuto="0" spid="327" grpId="10"/>
      <p:bldP build="whole" bldLvl="1" animBg="1" rev="0" advAuto="0" spid="307" grpId="5"/>
      <p:bldP build="whole" bldLvl="1" animBg="1" rev="0" advAuto="0" spid="323" grpId="9"/>
      <p:bldP build="whole" bldLvl="1" animBg="1" rev="0" advAuto="0" spid="303" grpId="4"/>
      <p:bldP build="whole" bldLvl="1" animBg="1" rev="0" advAuto="0" spid="319" grpId="8"/>
      <p:bldP build="whole" bldLvl="1" animBg="1" rev="0" advAuto="0" spid="299" grpId="3"/>
      <p:bldP build="whole" bldLvl="1" animBg="1" rev="0" advAuto="0" spid="315" grpId="7"/>
      <p:bldP build="whole" bldLvl="1" animBg="1" rev="0" advAuto="0" spid="331" grpId="11"/>
      <p:bldP build="whole" bldLvl="1" animBg="1" rev="0" advAuto="0" spid="295" grpId="2"/>
      <p:bldP build="whole" bldLvl="1" animBg="1" rev="0" advAuto="0" spid="311" grpId="6"/>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D2B1F"/>
        </a:solidFill>
      </p:bgPr>
    </p:bg>
    <p:spTree>
      <p:nvGrpSpPr>
        <p:cNvPr id="1" name=""/>
        <p:cNvGrpSpPr/>
        <p:nvPr/>
      </p:nvGrpSpPr>
      <p:grpSpPr>
        <a:xfrm>
          <a:off x="0" y="0"/>
          <a:ext cx="0" cy="0"/>
          <a:chOff x="0" y="0"/>
          <a:chExt cx="0" cy="0"/>
        </a:xfrm>
      </p:grpSpPr>
      <p:pic>
        <p:nvPicPr>
          <p:cNvPr id="33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38" name="phase_pill"/>
          <p:cNvGrpSpPr/>
          <p:nvPr/>
        </p:nvGrpSpPr>
        <p:grpSpPr>
          <a:xfrm>
            <a:off x="1170432" y="310895"/>
            <a:ext cx="1892808" cy="329185"/>
            <a:chOff x="0" y="0"/>
            <a:chExt cx="1892807" cy="329184"/>
          </a:xfrm>
        </p:grpSpPr>
        <p:sp>
          <p:nvSpPr>
            <p:cNvPr id="336" name="Rounded Rectangle"/>
            <p:cNvSpPr/>
            <p:nvPr/>
          </p:nvSpPr>
          <p:spPr>
            <a:xfrm>
              <a:off x="0" y="0"/>
              <a:ext cx="1892808" cy="329185"/>
            </a:xfrm>
            <a:prstGeom prst="roundRect">
              <a:avLst>
                <a:gd name="adj" fmla="val 44444"/>
              </a:avLst>
            </a:prstGeom>
            <a:solidFill>
              <a:srgbClr val="C99A3D"/>
            </a:solidFill>
            <a:ln w="12700" cap="flat">
              <a:noFill/>
              <a:miter lim="400000"/>
            </a:ln>
            <a:effectLst/>
          </p:spPr>
          <p:txBody>
            <a:bodyPr wrap="square" lIns="45719" tIns="45719" rIns="45719" bIns="45719" numCol="1" anchor="ctr">
              <a:noAutofit/>
            </a:bodyPr>
            <a:lstStyle/>
            <a:p>
              <a:pPr algn="ctr">
                <a:defRPr sz="1100"/>
              </a:pPr>
            </a:p>
          </p:txBody>
        </p:sp>
        <p:sp>
          <p:nvSpPr>
            <p:cNvPr id="337"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3D2B1F"/>
                  </a:solidFill>
                  <a:latin typeface="Arial"/>
                  <a:ea typeface="Arial"/>
                  <a:cs typeface="Arial"/>
                  <a:sym typeface="Arial"/>
                </a:defRPr>
              </a:lvl1pPr>
            </a:lstStyle>
            <a:p>
              <a:pPr/>
              <a:r>
                <a:t>PLENARY · 3 MIN</a:t>
              </a:r>
            </a:p>
          </p:txBody>
        </p:sp>
      </p:grpSp>
      <p:sp>
        <p:nvSpPr>
          <p:cNvPr id="339"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2EBDD"/>
                </a:solidFill>
                <a:latin typeface="Georgia"/>
                <a:ea typeface="Georgia"/>
                <a:cs typeface="Georgia"/>
                <a:sym typeface="Georgia"/>
              </a:defRPr>
            </a:lvl1pPr>
          </a:lstStyle>
          <a:p>
            <a:pPr/>
            <a:r>
              <a:t>True or false?</a:t>
            </a:r>
          </a:p>
        </p:txBody>
      </p:sp>
      <p:grpSp>
        <p:nvGrpSpPr>
          <p:cNvPr id="342" name="p0_stmt"/>
          <p:cNvGrpSpPr/>
          <p:nvPr/>
        </p:nvGrpSpPr>
        <p:grpSpPr>
          <a:xfrm>
            <a:off x="1170432" y="2194560"/>
            <a:ext cx="8552383" cy="640081"/>
            <a:chOff x="0" y="0"/>
            <a:chExt cx="8552382" cy="640080"/>
          </a:xfrm>
        </p:grpSpPr>
        <p:sp>
          <p:nvSpPr>
            <p:cNvPr id="340" name="p0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1"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Urbanisation means more people living in towns and cities.</a:t>
              </a:r>
            </a:p>
          </p:txBody>
        </p:sp>
      </p:grpSp>
      <p:sp>
        <p:nvSpPr>
          <p:cNvPr id="343"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46" name="p1_stmt"/>
          <p:cNvGrpSpPr/>
          <p:nvPr/>
        </p:nvGrpSpPr>
        <p:grpSpPr>
          <a:xfrm>
            <a:off x="1170432" y="2999232"/>
            <a:ext cx="8552383" cy="640081"/>
            <a:chOff x="0" y="0"/>
            <a:chExt cx="8552382" cy="640080"/>
          </a:xfrm>
        </p:grpSpPr>
        <p:sp>
          <p:nvSpPr>
            <p:cNvPr id="344" name="p1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5"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Rain soaks into concrete and tarmac.</a:t>
              </a:r>
            </a:p>
          </p:txBody>
        </p:sp>
      </p:grpSp>
      <p:sp>
        <p:nvSpPr>
          <p:cNvPr id="347"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50" name="p2_stmt"/>
          <p:cNvGrpSpPr/>
          <p:nvPr/>
        </p:nvGrpSpPr>
        <p:grpSpPr>
          <a:xfrm>
            <a:off x="1170432" y="3803903"/>
            <a:ext cx="8552383" cy="640081"/>
            <a:chOff x="0" y="0"/>
            <a:chExt cx="8552382" cy="640080"/>
          </a:xfrm>
        </p:grpSpPr>
        <p:sp>
          <p:nvSpPr>
            <p:cNvPr id="348" name="p2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49"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Soil sealed under a road is soon replaced.</a:t>
              </a:r>
            </a:p>
          </p:txBody>
        </p:sp>
      </p:grpSp>
      <p:sp>
        <p:nvSpPr>
          <p:cNvPr id="351"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54" name="p3_stmt"/>
          <p:cNvGrpSpPr/>
          <p:nvPr/>
        </p:nvGrpSpPr>
        <p:grpSpPr>
          <a:xfrm>
            <a:off x="1170432" y="4608576"/>
            <a:ext cx="8552383" cy="640081"/>
            <a:chOff x="0" y="0"/>
            <a:chExt cx="8552382" cy="640080"/>
          </a:xfrm>
        </p:grpSpPr>
        <p:sp>
          <p:nvSpPr>
            <p:cNvPr id="352" name="p3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53"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A sponge city lets rain soak in instead of running off.</a:t>
              </a:r>
            </a:p>
          </p:txBody>
        </p:sp>
      </p:grpSp>
      <p:sp>
        <p:nvSpPr>
          <p:cNvPr id="355"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58" name="p4_stmt"/>
          <p:cNvGrpSpPr/>
          <p:nvPr/>
        </p:nvGrpSpPr>
        <p:grpSpPr>
          <a:xfrm>
            <a:off x="1170432" y="5413247"/>
            <a:ext cx="8552383" cy="640081"/>
            <a:chOff x="0" y="0"/>
            <a:chExt cx="8552382" cy="640080"/>
          </a:xfrm>
        </p:grpSpPr>
        <p:sp>
          <p:nvSpPr>
            <p:cNvPr id="356" name="p4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57"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A green belt keeps land around a city from being built on.</a:t>
              </a:r>
            </a:p>
          </p:txBody>
        </p:sp>
      </p:grpSp>
      <p:sp>
        <p:nvSpPr>
          <p:cNvPr id="359"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sp>
        <p:nvSpPr>
          <p:cNvPr id="360" name="pl_next"/>
          <p:cNvSpPr txBox="1"/>
          <p:nvPr/>
        </p:nvSpPr>
        <p:spPr>
          <a:xfrm>
            <a:off x="1170432" y="618923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600">
                <a:solidFill>
                  <a:srgbClr val="C99A3D"/>
                </a:solidFill>
                <a:latin typeface="Arial"/>
                <a:ea typeface="Arial"/>
                <a:cs typeface="Arial"/>
                <a:sym typeface="Arial"/>
              </a:defRPr>
            </a:lvl1pPr>
          </a:lstStyle>
          <a:p>
            <a:pPr/>
            <a:r>
              <a:t>Cities change land. They can also be built to protect it.</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3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42"/>
                                        </p:tgtEl>
                                        <p:attrNameLst>
                                          <p:attrName>style.visibility</p:attrName>
                                        </p:attrNameLst>
                                      </p:cBhvr>
                                      <p:to>
                                        <p:strVal val="visible"/>
                                      </p:to>
                                    </p:set>
                                    <p:animEffect filter="fade" transition="in">
                                      <p:cBhvr>
                                        <p:cTn id="11" dur="400"/>
                                        <p:tgtEl>
                                          <p:spTgt spid="34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43"/>
                                        </p:tgtEl>
                                        <p:attrNameLst>
                                          <p:attrName>style.visibility</p:attrName>
                                        </p:attrNameLst>
                                      </p:cBhvr>
                                      <p:to>
                                        <p:strVal val="visible"/>
                                      </p:to>
                                    </p:set>
                                    <p:anim calcmode="lin" valueType="num">
                                      <p:cBhvr>
                                        <p:cTn id="16" dur="400" fill="hold"/>
                                        <p:tgtEl>
                                          <p:spTgt spid="343"/>
                                        </p:tgtEl>
                                        <p:attrNameLst>
                                          <p:attrName>ppt_w</p:attrName>
                                        </p:attrNameLst>
                                      </p:cBhvr>
                                      <p:tavLst>
                                        <p:tav tm="0">
                                          <p:val>
                                            <p:fltVal val="0"/>
                                          </p:val>
                                        </p:tav>
                                        <p:tav tm="100000">
                                          <p:val>
                                            <p:strVal val="#ppt_w"/>
                                          </p:val>
                                        </p:tav>
                                      </p:tavLst>
                                    </p:anim>
                                    <p:anim calcmode="lin" valueType="num">
                                      <p:cBhvr>
                                        <p:cTn id="17" dur="400" fill="hold"/>
                                        <p:tgtEl>
                                          <p:spTgt spid="343"/>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46"/>
                                        </p:tgtEl>
                                        <p:attrNameLst>
                                          <p:attrName>style.visibility</p:attrName>
                                        </p:attrNameLst>
                                      </p:cBhvr>
                                      <p:to>
                                        <p:strVal val="visible"/>
                                      </p:to>
                                    </p:set>
                                    <p:animEffect filter="fade" transition="in">
                                      <p:cBhvr>
                                        <p:cTn id="22" dur="400"/>
                                        <p:tgtEl>
                                          <p:spTgt spid="346"/>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47"/>
                                        </p:tgtEl>
                                        <p:attrNameLst>
                                          <p:attrName>style.visibility</p:attrName>
                                        </p:attrNameLst>
                                      </p:cBhvr>
                                      <p:to>
                                        <p:strVal val="visible"/>
                                      </p:to>
                                    </p:set>
                                    <p:anim calcmode="lin" valueType="num">
                                      <p:cBhvr>
                                        <p:cTn id="27" dur="400" fill="hold"/>
                                        <p:tgtEl>
                                          <p:spTgt spid="347"/>
                                        </p:tgtEl>
                                        <p:attrNameLst>
                                          <p:attrName>ppt_w</p:attrName>
                                        </p:attrNameLst>
                                      </p:cBhvr>
                                      <p:tavLst>
                                        <p:tav tm="0">
                                          <p:val>
                                            <p:fltVal val="0"/>
                                          </p:val>
                                        </p:tav>
                                        <p:tav tm="100000">
                                          <p:val>
                                            <p:strVal val="#ppt_w"/>
                                          </p:val>
                                        </p:tav>
                                      </p:tavLst>
                                    </p:anim>
                                    <p:anim calcmode="lin" valueType="num">
                                      <p:cBhvr>
                                        <p:cTn id="28" dur="400" fill="hold"/>
                                        <p:tgtEl>
                                          <p:spTgt spid="34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50"/>
                                        </p:tgtEl>
                                        <p:attrNameLst>
                                          <p:attrName>style.visibility</p:attrName>
                                        </p:attrNameLst>
                                      </p:cBhvr>
                                      <p:to>
                                        <p:strVal val="visible"/>
                                      </p:to>
                                    </p:set>
                                    <p:animEffect filter="fade" transition="in">
                                      <p:cBhvr>
                                        <p:cTn id="33" dur="400"/>
                                        <p:tgtEl>
                                          <p:spTgt spid="350"/>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51"/>
                                        </p:tgtEl>
                                        <p:attrNameLst>
                                          <p:attrName>style.visibility</p:attrName>
                                        </p:attrNameLst>
                                      </p:cBhvr>
                                      <p:to>
                                        <p:strVal val="visible"/>
                                      </p:to>
                                    </p:set>
                                    <p:anim calcmode="lin" valueType="num">
                                      <p:cBhvr>
                                        <p:cTn id="38" dur="400" fill="hold"/>
                                        <p:tgtEl>
                                          <p:spTgt spid="351"/>
                                        </p:tgtEl>
                                        <p:attrNameLst>
                                          <p:attrName>ppt_w</p:attrName>
                                        </p:attrNameLst>
                                      </p:cBhvr>
                                      <p:tavLst>
                                        <p:tav tm="0">
                                          <p:val>
                                            <p:fltVal val="0"/>
                                          </p:val>
                                        </p:tav>
                                        <p:tav tm="100000">
                                          <p:val>
                                            <p:strVal val="#ppt_w"/>
                                          </p:val>
                                        </p:tav>
                                      </p:tavLst>
                                    </p:anim>
                                    <p:anim calcmode="lin" valueType="num">
                                      <p:cBhvr>
                                        <p:cTn id="39" dur="400" fill="hold"/>
                                        <p:tgtEl>
                                          <p:spTgt spid="351"/>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54"/>
                                        </p:tgtEl>
                                        <p:attrNameLst>
                                          <p:attrName>style.visibility</p:attrName>
                                        </p:attrNameLst>
                                      </p:cBhvr>
                                      <p:to>
                                        <p:strVal val="visible"/>
                                      </p:to>
                                    </p:set>
                                    <p:animEffect filter="fade" transition="in">
                                      <p:cBhvr>
                                        <p:cTn id="44" dur="400"/>
                                        <p:tgtEl>
                                          <p:spTgt spid="354"/>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55"/>
                                        </p:tgtEl>
                                        <p:attrNameLst>
                                          <p:attrName>style.visibility</p:attrName>
                                        </p:attrNameLst>
                                      </p:cBhvr>
                                      <p:to>
                                        <p:strVal val="visible"/>
                                      </p:to>
                                    </p:set>
                                    <p:anim calcmode="lin" valueType="num">
                                      <p:cBhvr>
                                        <p:cTn id="49" dur="400" fill="hold"/>
                                        <p:tgtEl>
                                          <p:spTgt spid="355"/>
                                        </p:tgtEl>
                                        <p:attrNameLst>
                                          <p:attrName>ppt_w</p:attrName>
                                        </p:attrNameLst>
                                      </p:cBhvr>
                                      <p:tavLst>
                                        <p:tav tm="0">
                                          <p:val>
                                            <p:fltVal val="0"/>
                                          </p:val>
                                        </p:tav>
                                        <p:tav tm="100000">
                                          <p:val>
                                            <p:strVal val="#ppt_w"/>
                                          </p:val>
                                        </p:tav>
                                      </p:tavLst>
                                    </p:anim>
                                    <p:anim calcmode="lin" valueType="num">
                                      <p:cBhvr>
                                        <p:cTn id="50" dur="400" fill="hold"/>
                                        <p:tgtEl>
                                          <p:spTgt spid="35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58"/>
                                        </p:tgtEl>
                                        <p:attrNameLst>
                                          <p:attrName>style.visibility</p:attrName>
                                        </p:attrNameLst>
                                      </p:cBhvr>
                                      <p:to>
                                        <p:strVal val="visible"/>
                                      </p:to>
                                    </p:set>
                                    <p:animEffect filter="fade" transition="in">
                                      <p:cBhvr>
                                        <p:cTn id="55" dur="400"/>
                                        <p:tgtEl>
                                          <p:spTgt spid="358"/>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59"/>
                                        </p:tgtEl>
                                        <p:attrNameLst>
                                          <p:attrName>style.visibility</p:attrName>
                                        </p:attrNameLst>
                                      </p:cBhvr>
                                      <p:to>
                                        <p:strVal val="visible"/>
                                      </p:to>
                                    </p:set>
                                    <p:anim calcmode="lin" valueType="num">
                                      <p:cBhvr>
                                        <p:cTn id="60" dur="400" fill="hold"/>
                                        <p:tgtEl>
                                          <p:spTgt spid="359"/>
                                        </p:tgtEl>
                                        <p:attrNameLst>
                                          <p:attrName>ppt_w</p:attrName>
                                        </p:attrNameLst>
                                      </p:cBhvr>
                                      <p:tavLst>
                                        <p:tav tm="0">
                                          <p:val>
                                            <p:fltVal val="0"/>
                                          </p:val>
                                        </p:tav>
                                        <p:tav tm="100000">
                                          <p:val>
                                            <p:strVal val="#ppt_w"/>
                                          </p:val>
                                        </p:tav>
                                      </p:tavLst>
                                    </p:anim>
                                    <p:anim calcmode="lin" valueType="num">
                                      <p:cBhvr>
                                        <p:cTn id="61" dur="400" fill="hold"/>
                                        <p:tgtEl>
                                          <p:spTgt spid="359"/>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60"/>
                                        </p:tgtEl>
                                        <p:attrNameLst>
                                          <p:attrName>style.visibility</p:attrName>
                                        </p:attrNameLst>
                                      </p:cBhvr>
                                      <p:to>
                                        <p:strVal val="visible"/>
                                      </p:to>
                                    </p:set>
                                    <p:animEffect filter="fade" transition="in">
                                      <p:cBhvr>
                                        <p:cTn id="66" dur="4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35"/>
                </p:tgtEl>
              </p:cMediaNode>
            </p:video>
            <p:seq concurrent="1" prevAc="none" nextAc="seek">
              <p:cTn id="68" evtFilter="cancelBubble" nodeType="interactiveSeq" restart="whenNotActive" fill="hold">
                <p:stCondLst>
                  <p:cond delay="0" evt="onClick">
                    <p:tgtEl>
                      <p:spTgt spid="335"/>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35"/>
                                        </p:tgtEl>
                                      </p:cBhvr>
                                    </p:cmd>
                                  </p:childTnLst>
                                </p:cTn>
                              </p:par>
                            </p:childTnLst>
                          </p:cTn>
                        </p:par>
                      </p:childTnLst>
                    </p:cTn>
                  </p:par>
                </p:childTnLst>
              </p:cTn>
              <p:nextCondLst>
                <p:cond delay="0" evt="onClick">
                  <p:tgtEl>
                    <p:spTgt spid="335"/>
                  </p:tgtEl>
                </p:cond>
              </p:nextCondLst>
            </p:seq>
          </p:childTnLst>
        </p:cTn>
      </p:par>
    </p:tnLst>
    <p:bldLst>
      <p:bldP build="whole" bldLvl="1" animBg="1" rev="0" advAuto="0" spid="354" grpId="8"/>
      <p:bldP build="whole" bldLvl="1" animBg="1" rev="0" advAuto="0" spid="360" grpId="12"/>
      <p:bldP build="whole" bldLvl="1" animBg="1" rev="0" advAuto="0" spid="342" grpId="2"/>
      <p:bldP build="whole" bldLvl="1" animBg="1" rev="0" advAuto="0" spid="350" grpId="6"/>
      <p:bldP build="whole" bldLvl="1" animBg="1" rev="0" advAuto="0" spid="346" grpId="4"/>
      <p:bldP build="whole" bldLvl="1" animBg="1" rev="0" advAuto="0" spid="343" grpId="3"/>
      <p:bldP build="whole" bldLvl="1" animBg="1" rev="0" advAuto="0" spid="355" grpId="9"/>
      <p:bldP build="whole" bldLvl="1" animBg="1" rev="0" advAuto="0" spid="351" grpId="7"/>
      <p:bldP build="whole" bldLvl="1" animBg="1" rev="0" advAuto="0" spid="359" grpId="11"/>
      <p:bldP build="whole" bldLvl="1" animBg="1" rev="0" advAuto="0" spid="358" grpId="10"/>
      <p:bldP build="whole" bldLvl="1" animBg="1" rev="0" advAuto="0" spid="347" grpId="5"/>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