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Shape 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3" name="Shape 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— 1 minute. No pill; this is the cover.</a:t>
            </a:r>
          </a:p>
          <a:p>
            <a:pPr/>
          </a:p>
          <a:p>
            <a:pPr/>
            <a:r>
              <a:t>Read the title slowly. Point to the picture: "This is the atom we drew last lesson. Today: what is in the middle?"</a:t>
            </a:r>
          </a:p>
          <a:p>
            <a:pPr/>
          </a:p>
          <a:p>
            <a:pPr/>
            <a:r>
              <a:t>Do not name proton or neutron yet — that is the New Words slide.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" name="Shape 5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TODAY — 2 minutes. Four clicks.</a:t>
            </a:r>
          </a:p>
          <a:p>
            <a:pPr/>
          </a:p>
          <a:p>
            <a:pPr/>
            <a:r>
              <a:t>Read each goal, class repeats the key words only (nucleus, proton, neutron) — not the whole sentence yet.</a:t>
            </a:r>
          </a:p>
          <a:p>
            <a:pPr/>
          </a:p>
          <a:p>
            <a:pPr/>
            <a:r>
              <a:t>THE BANNER MATTERS: it is the hook question restated as a promise. Do not answer it here.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7" name="Shape 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DO NOW — 6 minutes. One extra minute today, spent on Q4.</a:t>
            </a:r>
          </a:p>
          <a:p>
            <a:pPr/>
          </a:p>
          <a:p>
            <a:pPr/>
            <a:r>
              <a:t>Q1-Q3 are yes/no and either/or — closed, no open questions yet.</a:t>
            </a:r>
          </a:p>
          <a:p>
            <a:pPr/>
          </a:p>
          <a:p>
            <a:pPr/>
            <a:r>
              <a:t>Q4 IS THE ONE THAT MATTERS. Nucleus and electron were hard last lesson — both are three beats with the stress NOT on the first syllable, unlike atom/matter/tiny/part. Model it slowly first: NEW-clee-us. Whole class. Half the class. Three individuals. Do not rush past this even though it is retrieval, not new content.</a:t>
            </a:r>
          </a:p>
          <a:p>
            <a:pPr/>
          </a:p>
          <a:p>
            <a:pPr/>
            <a:r>
              <a:t>Q5 sets up today: they already know the answer is "centre" — today adds what is IN that centre.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HOOK — 4 minutes. Four clicks: the question, then A/B/C.</a:t>
            </a:r>
          </a:p>
          <a:p>
            <a:pPr/>
          </a:p>
          <a:p>
            <a:pPr/>
            <a:r>
              <a:t>Vote with hands. Tally on the board. Do not reveal the answer — I Do answers it.</a:t>
            </a:r>
          </a:p>
          <a:p>
            <a:pPr/>
          </a:p>
          <a:p>
            <a:pPr/>
            <a:r>
              <a:t>ANSWER (do not say yet): B, smaller parts.</a:t>
            </a:r>
          </a:p>
          <a:p>
            <a:pPr/>
          </a:p>
          <a:p>
            <a:pPr/>
            <a:r>
              <a:t>Point back to this tally after I Do slide 6.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13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7" name="Shape 13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NEW WORDS — 5 minutes. Two clicks, one card each. FULL DRILL ON BOTH: you say it, whole class, half the class, three individuals, then point at the picture and say it alone. Thirty seconds each.</a:t>
            </a:r>
          </a:p>
          <a:p>
            <a:pPr/>
          </a:p>
          <a:p>
            <a:pPr/>
            <a:r>
              <a:t>PROTON: two beats, stress on PRO — the same front-stress pattern as atom, matter, tiny, part. Should land easier than nucleus did.</a:t>
            </a:r>
          </a:p>
          <a:p>
            <a:pPr/>
          </a:p>
          <a:p>
            <a:pPr/>
            <a:r>
              <a:t>NEUTRON: two beats, stress on NEW. WATCH THIS ONE — it starts with the same sound as nucleus. Say the pair side by side once: "nucleus... neutron" and point out they are different words before drilling neutron on its own.</a:t>
            </a:r>
          </a:p>
          <a:p>
            <a:pPr/>
          </a:p>
          <a:p>
            <a:pPr/>
            <a:r>
              <a:t>GESTURE (proposed — confirm or change it in the room, this was not agreed with the class): proton = thumbs up. neutron = flat palm, held level. No gesture is fixed here the way atom/tiny/part/made-of were in Lesson 1; pick these or your own before teaching.</a:t>
            </a:r>
          </a:p>
          <a:p>
            <a:pPr/>
          </a:p>
          <a:p>
            <a:pPr/>
            <a:r>
              <a:t>CHECK, pointing at each dot: "Proton or neutron?" Either/or only, no open questions yet.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1" name="Shape 17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 DO — 6 minutes. Model drawing live: circle, then centre, then the dots.</a:t>
            </a:r>
          </a:p>
          <a:p>
            <a:pPr/>
          </a:p>
          <a:p>
            <a:pPr/>
            <a:r>
              <a:t>Click 1: the atom circle. Click 2: the nucleus. Click 3: the protons and neutrons together, as one reveal — do not separate the colours yet, that is We Do.</a:t>
            </a:r>
          </a:p>
          <a:p>
            <a:pPr/>
          </a:p>
          <a:p>
            <a:pPr/>
            <a:r>
              <a:t>SAY THE FULL SENTENCE and point at the picture as you say each part: "The nucleus... is made of... protons and neutrons."</a:t>
            </a:r>
          </a:p>
          <a:p>
            <a:pPr/>
          </a:p>
          <a:p>
            <a:pPr/>
            <a:r>
              <a:t>THIS ANSWERS THE HOOK. Go back to the tally: B was right.</a:t>
            </a:r>
          </a:p>
          <a:p>
            <a:pPr/>
          </a:p>
          <a:p>
            <a:pPr/>
            <a:r>
              <a:t>MISCONCEPTION: this is still a simple model, not to scale and not a real element. Say so if asked "how many protons does an atom have" — that is a later lesson.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1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9" name="Shape 1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WE DO — 5 minutes. Class builds with you, chanting each fragment.</a:t>
            </a:r>
          </a:p>
          <a:p>
            <a:pPr/>
          </a:p>
          <a:p>
            <a:pPr/>
            <a:r>
              <a:t>Click 1: circle. Click 2: nucleus. Click 3: dots. Then the two call-and-response questions, then the full sentence together.</a:t>
            </a:r>
          </a:p>
          <a:p>
            <a:pPr/>
          </a:p>
          <a:p>
            <a:pPr/>
            <a:r>
              <a:t>CHECK: ask two or three individuals to repeat the full sentence alone before moving on.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Shape 22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2" name="Shape 22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ACTIVITY — 9 minutes. Pairs. Counters or drawn dots, not the model kits — those are saved for Lesson 4's practical, so today does not spend that novelty early.</a:t>
            </a:r>
          </a:p>
          <a:p>
            <a:pPr/>
          </a:p>
          <a:p>
            <a:pPr/>
            <a:r>
              <a:t>ROUTINE: build, point, say — same order Lesson 2 used for the model-kit activity, so the pattern is already familiar.</a:t>
            </a:r>
          </a:p>
          <a:p>
            <a:pPr/>
          </a:p>
          <a:p>
            <a:pPr/>
            <a:r>
              <a:t>Teacher oral check starts here: circulate and ask "Point to a proton" / "Point to a neutron" of individual students.</a:t>
            </a:r>
          </a:p>
          <a:p>
            <a:pPr/>
          </a:p>
          <a:p>
            <a:pPr/>
            <a:r>
              <a:t>WATCH FOR: students placing protons and neutrons outside the nucleus circle, or drawing only one colour. Both mean "made of" has not landed yet — go back to I Do with that pair.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Shape 2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4" name="Shape 2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YOU DO — 9 minutes. Hand out worksheet.</a:t>
            </a:r>
          </a:p>
          <a:p>
            <a:pPr/>
          </a:p>
          <a:p>
            <a:pPr/>
            <a:r>
              <a:t>Circulate with one question: "Point to the nucleus. Now say the sentence."</a:t>
            </a:r>
          </a:p>
          <a:p>
            <a:pPr/>
          </a:p>
          <a:p>
            <a:pPr/>
            <a:r>
              <a:t>SUCCESS CRITERION: correct locations (dots inside the nucleus) and the full sentence, not just the words in isolation.</a:t>
            </a:r>
          </a:p>
          <a:p>
            <a:pPr/>
          </a:p>
          <a:p>
            <a:pPr/>
            <a:r>
              <a:t>FAST FINISHERS: draw a second atom and label it without the word bank.</a:t>
            </a:r>
          </a:p>
          <a:p>
            <a:pPr/>
          </a:p>
          <a:p>
            <a:pPr/>
            <a:r>
              <a:t>AT 2 MINUTES REMAINING, stop them. Plenary checks it together.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Shape 2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9" name="Shape 2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PLENARY — 3 minutes. Six clicks: four pointing prompts, then the sentence, then the closing line.</a:t>
            </a:r>
          </a:p>
          <a:p>
            <a:pPr/>
          </a:p>
          <a:p>
            <a:pPr/>
            <a:r>
              <a:t>Pairs do the pointing round first — every student points before anyone speaks, same order as the whole unit.</a:t>
            </a:r>
          </a:p>
          <a:p>
            <a:pPr/>
          </a:p>
          <a:p>
            <a:pPr/>
            <a:r>
              <a:t>WATCH: nucleus/proton mix-ups — some will point to the whole centre for both. Recast once: "the nucleus is the whole centre; a proton is one part inside it."</a:t>
            </a:r>
          </a:p>
          <a:p>
            <a:pPr/>
          </a:p>
          <a:p>
            <a:pPr/>
            <a:r>
              <a:t>THE PROMISE: Lesson 4 is the model-kit practical, after the 7-day gap. It opens with heavy retrieval of today's two words before anything new — plan that lesson expecting proton and neutron to need re-drilling, the way nucleus did today.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5886661" y="6172200"/>
            <a:ext cx="2841838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kicker"/>
          <p:cNvSpPr txBox="1"/>
          <p:nvPr/>
        </p:nvSpPr>
        <p:spPr>
          <a:xfrm>
            <a:off x="502919" y="361648"/>
            <a:ext cx="2926082" cy="1728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pc="140" sz="1200">
                <a:solidFill>
                  <a:srgbClr val="06A7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ATOMS · LESSON 3</a:t>
            </a:r>
          </a:p>
        </p:txBody>
      </p:sp>
      <p:sp>
        <p:nvSpPr>
          <p:cNvPr id="21" name="lesson_title"/>
          <p:cNvSpPr txBox="1"/>
          <p:nvPr/>
        </p:nvSpPr>
        <p:spPr>
          <a:xfrm>
            <a:off x="502919" y="1864360"/>
            <a:ext cx="11185857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4600">
                <a:solidFill>
                  <a:srgbClr val="123B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nucleus</a:t>
            </a:r>
          </a:p>
        </p:txBody>
      </p:sp>
      <p:sp>
        <p:nvSpPr>
          <p:cNvPr id="22" name="lesson_sub"/>
          <p:cNvSpPr txBox="1"/>
          <p:nvPr/>
        </p:nvSpPr>
        <p:spPr>
          <a:xfrm>
            <a:off x="502919" y="2738464"/>
            <a:ext cx="11185857" cy="2837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5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protons and neutrons</a:t>
            </a:r>
          </a:p>
        </p:txBody>
      </p:sp>
      <p:sp>
        <p:nvSpPr>
          <p:cNvPr id="23" name="hero_atom"/>
          <p:cNvSpPr/>
          <p:nvPr/>
        </p:nvSpPr>
        <p:spPr>
          <a:xfrm>
            <a:off x="4861407" y="3657599"/>
            <a:ext cx="2468881" cy="2468882"/>
          </a:xfrm>
          <a:prstGeom prst="ellipse">
            <a:avLst/>
          </a:prstGeom>
          <a:solidFill>
            <a:srgbClr val="FFFFFF"/>
          </a:solidFill>
          <a:ln w="20320">
            <a:solidFill>
              <a:srgbClr val="5B748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4" name="hero_nucleus"/>
          <p:cNvSpPr/>
          <p:nvPr/>
        </p:nvSpPr>
        <p:spPr>
          <a:xfrm>
            <a:off x="5552694" y="4348886"/>
            <a:ext cx="1086309" cy="1086309"/>
          </a:xfrm>
          <a:prstGeom prst="ellipse">
            <a:avLst/>
          </a:prstGeom>
          <a:solidFill>
            <a:srgbClr val="123B54"/>
          </a:solidFill>
          <a:ln w="12700">
            <a:solidFill>
              <a:srgbClr val="123B5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5" name="hero_p0"/>
          <p:cNvSpPr/>
          <p:nvPr/>
        </p:nvSpPr>
        <p:spPr>
          <a:xfrm>
            <a:off x="5704776" y="4577010"/>
            <a:ext cx="325893" cy="325893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hero_n1"/>
          <p:cNvSpPr/>
          <p:nvPr/>
        </p:nvSpPr>
        <p:spPr>
          <a:xfrm>
            <a:off x="6095848" y="4500969"/>
            <a:ext cx="325893" cy="325893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hero_p2"/>
          <p:cNvSpPr/>
          <p:nvPr/>
        </p:nvSpPr>
        <p:spPr>
          <a:xfrm>
            <a:off x="5900311" y="4761682"/>
            <a:ext cx="325893" cy="325893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hero_n3"/>
          <p:cNvSpPr/>
          <p:nvPr/>
        </p:nvSpPr>
        <p:spPr>
          <a:xfrm>
            <a:off x="6150162" y="4837724"/>
            <a:ext cx="325893" cy="325893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hero_p4"/>
          <p:cNvSpPr/>
          <p:nvPr/>
        </p:nvSpPr>
        <p:spPr>
          <a:xfrm>
            <a:off x="5683051" y="4892040"/>
            <a:ext cx="325893" cy="325893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hero_n5"/>
          <p:cNvSpPr/>
          <p:nvPr/>
        </p:nvSpPr>
        <p:spPr>
          <a:xfrm>
            <a:off x="5976353" y="4718230"/>
            <a:ext cx="325893" cy="325893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lesson_tag"/>
          <p:cNvSpPr txBox="1"/>
          <p:nvPr/>
        </p:nvSpPr>
        <p:spPr>
          <a:xfrm>
            <a:off x="502919" y="6439268"/>
            <a:ext cx="11185857" cy="197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400">
                <a:solidFill>
                  <a:srgbClr val="5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One centre. Two small parts.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phase_pill"/>
          <p:cNvGrpSpPr/>
          <p:nvPr/>
        </p:nvGrpSpPr>
        <p:grpSpPr>
          <a:xfrm>
            <a:off x="502919" y="274320"/>
            <a:ext cx="2286001" cy="347473"/>
            <a:chOff x="0" y="0"/>
            <a:chExt cx="2286000" cy="347472"/>
          </a:xfrm>
        </p:grpSpPr>
        <p:sp>
          <p:nvSpPr>
            <p:cNvPr id="35" name="Rounded Rectangle"/>
            <p:cNvSpPr/>
            <p:nvPr/>
          </p:nvSpPr>
          <p:spPr>
            <a:xfrm>
              <a:off x="0" y="0"/>
              <a:ext cx="2286000" cy="347473"/>
            </a:xfrm>
            <a:prstGeom prst="roundRect">
              <a:avLst>
                <a:gd name="adj" fmla="val 50000"/>
              </a:avLst>
            </a:prstGeom>
            <a:solidFill>
              <a:srgbClr val="123B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36" name="TODAY · 2 MIN"/>
            <p:cNvSpPr txBox="1"/>
            <p:nvPr/>
          </p:nvSpPr>
          <p:spPr>
            <a:xfrm>
              <a:off x="50885" y="99821"/>
              <a:ext cx="2184230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10" sz="1100">
                  <a:solidFill>
                    <a:srgbClr val="F4F8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TODAY · 2 MIN</a:t>
              </a:r>
            </a:p>
          </p:txBody>
        </p:sp>
      </p:grpSp>
      <p:sp>
        <p:nvSpPr>
          <p:cNvPr id="38" name="keyword_strip"/>
          <p:cNvSpPr txBox="1"/>
          <p:nvPr/>
        </p:nvSpPr>
        <p:spPr>
          <a:xfrm>
            <a:off x="5836614" y="374141"/>
            <a:ext cx="585216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i="1" sz="1100">
                <a:solidFill>
                  <a:srgbClr val="06A7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nucleus   ·   proton   ·   neutron</a:t>
            </a:r>
          </a:p>
        </p:txBody>
      </p:sp>
      <p:sp>
        <p:nvSpPr>
          <p:cNvPr id="39" name="slide_title"/>
          <p:cNvSpPr txBox="1"/>
          <p:nvPr/>
        </p:nvSpPr>
        <p:spPr>
          <a:xfrm>
            <a:off x="502919" y="1021333"/>
            <a:ext cx="11185857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B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Today</a:t>
            </a:r>
          </a:p>
        </p:txBody>
      </p:sp>
      <p:grpSp>
        <p:nvGrpSpPr>
          <p:cNvPr id="44" name="g0"/>
          <p:cNvGrpSpPr/>
          <p:nvPr/>
        </p:nvGrpSpPr>
        <p:grpSpPr>
          <a:xfrm>
            <a:off x="502919" y="2084832"/>
            <a:ext cx="3557932" cy="1920241"/>
            <a:chOff x="0" y="0"/>
            <a:chExt cx="3557930" cy="1920239"/>
          </a:xfrm>
        </p:grpSpPr>
        <p:sp>
          <p:nvSpPr>
            <p:cNvPr id="40" name="g0_bg"/>
            <p:cNvSpPr/>
            <p:nvPr/>
          </p:nvSpPr>
          <p:spPr>
            <a:xfrm>
              <a:off x="0" y="0"/>
              <a:ext cx="3557931" cy="192024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1" name="g0_dot"/>
            <p:cNvSpPr/>
            <p:nvPr/>
          </p:nvSpPr>
          <p:spPr>
            <a:xfrm>
              <a:off x="237744" y="237743"/>
              <a:ext cx="457201" cy="457201"/>
            </a:xfrm>
            <a:prstGeom prst="ellipse">
              <a:avLst/>
            </a:prstGeom>
            <a:solidFill>
              <a:srgbClr val="123B54"/>
            </a:solidFill>
            <a:ln w="12700" cap="flat">
              <a:solidFill>
                <a:srgbClr val="123B5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" name="g0_n"/>
            <p:cNvSpPr txBox="1"/>
            <p:nvPr/>
          </p:nvSpPr>
          <p:spPr>
            <a:xfrm>
              <a:off x="237744" y="345693"/>
              <a:ext cx="45720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43" name="g0_t"/>
            <p:cNvSpPr txBox="1"/>
            <p:nvPr/>
          </p:nvSpPr>
          <p:spPr>
            <a:xfrm>
              <a:off x="237743" y="859535"/>
              <a:ext cx="3082444" cy="243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b="1" sz="1500">
                  <a:solidFill>
                    <a:srgbClr val="0E2A3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Point to the nucleus.</a:t>
              </a:r>
            </a:p>
          </p:txBody>
        </p:sp>
      </p:grpSp>
      <p:grpSp>
        <p:nvGrpSpPr>
          <p:cNvPr id="49" name="g1"/>
          <p:cNvGrpSpPr/>
          <p:nvPr/>
        </p:nvGrpSpPr>
        <p:grpSpPr>
          <a:xfrm>
            <a:off x="4316881" y="2084832"/>
            <a:ext cx="3557931" cy="1920241"/>
            <a:chOff x="0" y="0"/>
            <a:chExt cx="3557930" cy="1920239"/>
          </a:xfrm>
        </p:grpSpPr>
        <p:sp>
          <p:nvSpPr>
            <p:cNvPr id="45" name="g1_bg"/>
            <p:cNvSpPr/>
            <p:nvPr/>
          </p:nvSpPr>
          <p:spPr>
            <a:xfrm>
              <a:off x="0" y="0"/>
              <a:ext cx="3557931" cy="192024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" name="g1_dot"/>
            <p:cNvSpPr/>
            <p:nvPr/>
          </p:nvSpPr>
          <p:spPr>
            <a:xfrm>
              <a:off x="237744" y="237743"/>
              <a:ext cx="457201" cy="457201"/>
            </a:xfrm>
            <a:prstGeom prst="ellipse">
              <a:avLst/>
            </a:prstGeom>
            <a:solidFill>
              <a:srgbClr val="FFD166"/>
            </a:solidFill>
            <a:ln w="1270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" name="g1_n"/>
            <p:cNvSpPr txBox="1"/>
            <p:nvPr/>
          </p:nvSpPr>
          <p:spPr>
            <a:xfrm>
              <a:off x="237744" y="345693"/>
              <a:ext cx="45720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48" name="g1_t"/>
            <p:cNvSpPr txBox="1"/>
            <p:nvPr/>
          </p:nvSpPr>
          <p:spPr>
            <a:xfrm>
              <a:off x="237743" y="859535"/>
              <a:ext cx="3082444" cy="497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b="1" sz="1500">
                  <a:solidFill>
                    <a:srgbClr val="0E2A3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Meet two new words: proton, neutron.</a:t>
              </a:r>
            </a:p>
          </p:txBody>
        </p:sp>
      </p:grpSp>
      <p:grpSp>
        <p:nvGrpSpPr>
          <p:cNvPr id="54" name="g2"/>
          <p:cNvGrpSpPr/>
          <p:nvPr/>
        </p:nvGrpSpPr>
        <p:grpSpPr>
          <a:xfrm>
            <a:off x="8130844" y="2084832"/>
            <a:ext cx="3557931" cy="1920241"/>
            <a:chOff x="0" y="0"/>
            <a:chExt cx="3557930" cy="1920239"/>
          </a:xfrm>
        </p:grpSpPr>
        <p:sp>
          <p:nvSpPr>
            <p:cNvPr id="50" name="g2_bg"/>
            <p:cNvSpPr/>
            <p:nvPr/>
          </p:nvSpPr>
          <p:spPr>
            <a:xfrm>
              <a:off x="0" y="0"/>
              <a:ext cx="3557931" cy="1920240"/>
            </a:xfrm>
            <a:prstGeom prst="roundRect">
              <a:avLst>
                <a:gd name="adj" fmla="val 6667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1" name="g2_dot"/>
            <p:cNvSpPr/>
            <p:nvPr/>
          </p:nvSpPr>
          <p:spPr>
            <a:xfrm>
              <a:off x="237744" y="237743"/>
              <a:ext cx="457201" cy="457201"/>
            </a:xfrm>
            <a:prstGeom prst="ellipse">
              <a:avLst/>
            </a:prstGeom>
            <a:solidFill>
              <a:srgbClr val="EF476F"/>
            </a:solidFill>
            <a:ln w="12700" cap="flat">
              <a:solidFill>
                <a:srgbClr val="EF476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2" name="g2_n"/>
            <p:cNvSpPr txBox="1"/>
            <p:nvPr/>
          </p:nvSpPr>
          <p:spPr>
            <a:xfrm>
              <a:off x="237744" y="345693"/>
              <a:ext cx="45720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6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53" name="g2_t"/>
            <p:cNvSpPr txBox="1"/>
            <p:nvPr/>
          </p:nvSpPr>
          <p:spPr>
            <a:xfrm>
              <a:off x="237743" y="859535"/>
              <a:ext cx="3082444" cy="497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2000"/>
                </a:lnSpc>
                <a:defRPr b="1" sz="1500">
                  <a:solidFill>
                    <a:srgbClr val="0E2A3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Say: "The nucleus is made of protons and neutrons."</a:t>
              </a:r>
            </a:p>
          </p:txBody>
        </p:sp>
      </p:grpSp>
      <p:grpSp>
        <p:nvGrpSpPr>
          <p:cNvPr id="57" name="obj_banner"/>
          <p:cNvGrpSpPr/>
          <p:nvPr/>
        </p:nvGrpSpPr>
        <p:grpSpPr>
          <a:xfrm>
            <a:off x="502919" y="4206240"/>
            <a:ext cx="11185857" cy="640081"/>
            <a:chOff x="0" y="0"/>
            <a:chExt cx="11185855" cy="640080"/>
          </a:xfrm>
        </p:grpSpPr>
        <p:sp>
          <p:nvSpPr>
            <p:cNvPr id="55" name="Rounded Rectangle"/>
            <p:cNvSpPr/>
            <p:nvPr/>
          </p:nvSpPr>
          <p:spPr>
            <a:xfrm>
              <a:off x="0" y="0"/>
              <a:ext cx="11185856" cy="640081"/>
            </a:xfrm>
            <a:prstGeom prst="roundRect">
              <a:avLst>
                <a:gd name="adj" fmla="val 17143"/>
              </a:avLst>
            </a:prstGeom>
            <a:solidFill>
              <a:srgbClr val="123B54"/>
            </a:solidFill>
            <a:ln w="9525" cap="flat">
              <a:solidFill>
                <a:srgbClr val="123B54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600"/>
              </a:pPr>
            </a:p>
          </p:txBody>
        </p:sp>
        <p:sp>
          <p:nvSpPr>
            <p:cNvPr id="56" name="The nucleus is not empty. Today we find out what is inside it."/>
            <p:cNvSpPr txBox="1"/>
            <p:nvPr/>
          </p:nvSpPr>
          <p:spPr>
            <a:xfrm>
              <a:off x="36901" y="209063"/>
              <a:ext cx="11112053" cy="2219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600">
                  <a:solidFill>
                    <a:srgbClr val="FFD16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nucleus is not empty. Today we find out what is inside it.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4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16" presetID="23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49" grpId="2"/>
      <p:bldP build="whole" bldLvl="1" animBg="1" rev="0" advAuto="0" spid="57" grpId="4"/>
      <p:bldP build="whole" bldLvl="1" animBg="1" rev="0" advAuto="0" spid="44" grpId="1"/>
      <p:bldP build="whole" bldLvl="1" animBg="1" rev="0" advAuto="0" spid="54" grpId="3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phase_pill"/>
          <p:cNvGrpSpPr/>
          <p:nvPr/>
        </p:nvGrpSpPr>
        <p:grpSpPr>
          <a:xfrm>
            <a:off x="502919" y="274320"/>
            <a:ext cx="2432306" cy="347473"/>
            <a:chOff x="0" y="0"/>
            <a:chExt cx="2432304" cy="347472"/>
          </a:xfrm>
        </p:grpSpPr>
        <p:sp>
          <p:nvSpPr>
            <p:cNvPr id="61" name="Rounded Rectangle"/>
            <p:cNvSpPr/>
            <p:nvPr/>
          </p:nvSpPr>
          <p:spPr>
            <a:xfrm>
              <a:off x="0" y="0"/>
              <a:ext cx="2432305" cy="347473"/>
            </a:xfrm>
            <a:prstGeom prst="roundRect">
              <a:avLst>
                <a:gd name="adj" fmla="val 50000"/>
              </a:avLst>
            </a:prstGeom>
            <a:solidFill>
              <a:srgbClr val="123B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62" name="DO NOW · 6 MIN"/>
            <p:cNvSpPr txBox="1"/>
            <p:nvPr/>
          </p:nvSpPr>
          <p:spPr>
            <a:xfrm>
              <a:off x="50886" y="99821"/>
              <a:ext cx="233053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10" sz="1100">
                  <a:solidFill>
                    <a:srgbClr val="F4F8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DO NOW · 6 MIN</a:t>
              </a:r>
            </a:p>
          </p:txBody>
        </p:sp>
      </p:grpSp>
      <p:sp>
        <p:nvSpPr>
          <p:cNvPr id="64" name="keyword_strip"/>
          <p:cNvSpPr txBox="1"/>
          <p:nvPr/>
        </p:nvSpPr>
        <p:spPr>
          <a:xfrm>
            <a:off x="5836614" y="374141"/>
            <a:ext cx="585216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i="1" sz="1100">
                <a:solidFill>
                  <a:srgbClr val="06A7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atom   ·   centre   ·   outside   ·   nucleus   ·   electron</a:t>
            </a:r>
          </a:p>
        </p:txBody>
      </p:sp>
      <p:sp>
        <p:nvSpPr>
          <p:cNvPr id="65" name="slide_title"/>
          <p:cNvSpPr txBox="1"/>
          <p:nvPr/>
        </p:nvSpPr>
        <p:spPr>
          <a:xfrm>
            <a:off x="502919" y="1021333"/>
            <a:ext cx="11185857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B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Answer first. Then we check.</a:t>
            </a:r>
          </a:p>
        </p:txBody>
      </p:sp>
      <p:sp>
        <p:nvSpPr>
          <p:cNvPr id="66" name="d0_bg"/>
          <p:cNvSpPr/>
          <p:nvPr/>
        </p:nvSpPr>
        <p:spPr>
          <a:xfrm>
            <a:off x="502919" y="1901951"/>
            <a:ext cx="11185857" cy="713233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5875">
            <a:solidFill>
              <a:srgbClr val="D3E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d0_n"/>
          <p:cNvSpPr txBox="1"/>
          <p:nvPr/>
        </p:nvSpPr>
        <p:spPr>
          <a:xfrm>
            <a:off x="704087" y="2131567"/>
            <a:ext cx="40233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D16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68" name="d0_q"/>
          <p:cNvSpPr txBox="1"/>
          <p:nvPr/>
        </p:nvSpPr>
        <p:spPr>
          <a:xfrm>
            <a:off x="1179575" y="2141863"/>
            <a:ext cx="6949442" cy="233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500">
                <a:solidFill>
                  <a:srgbClr val="0E2A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 an atom tiny?</a:t>
            </a:r>
          </a:p>
        </p:txBody>
      </p:sp>
      <p:grpSp>
        <p:nvGrpSpPr>
          <p:cNvPr id="71" name="d0_a"/>
          <p:cNvGrpSpPr/>
          <p:nvPr/>
        </p:nvGrpSpPr>
        <p:grpSpPr>
          <a:xfrm>
            <a:off x="8275319" y="2020823"/>
            <a:ext cx="3322016" cy="475489"/>
            <a:chOff x="0" y="0"/>
            <a:chExt cx="3322015" cy="475487"/>
          </a:xfrm>
        </p:grpSpPr>
        <p:sp>
          <p:nvSpPr>
            <p:cNvPr id="69" name="Rounded Rectangle"/>
            <p:cNvSpPr/>
            <p:nvPr/>
          </p:nvSpPr>
          <p:spPr>
            <a:xfrm>
              <a:off x="0" y="0"/>
              <a:ext cx="3322016" cy="475488"/>
            </a:xfrm>
            <a:prstGeom prst="roundRect">
              <a:avLst>
                <a:gd name="adj" fmla="val 17308"/>
              </a:avLst>
            </a:prstGeom>
            <a:solidFill>
              <a:srgbClr val="FDF3DC"/>
            </a:solidFill>
            <a:ln w="1524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70" name="Yes."/>
            <p:cNvSpPr txBox="1"/>
            <p:nvPr/>
          </p:nvSpPr>
          <p:spPr>
            <a:xfrm>
              <a:off x="31723" y="138289"/>
              <a:ext cx="3258569" cy="1989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23B5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Yes.</a:t>
              </a:r>
            </a:p>
          </p:txBody>
        </p:sp>
      </p:grpSp>
      <p:sp>
        <p:nvSpPr>
          <p:cNvPr id="72" name="d1_bg"/>
          <p:cNvSpPr/>
          <p:nvPr/>
        </p:nvSpPr>
        <p:spPr>
          <a:xfrm>
            <a:off x="502919" y="2743200"/>
            <a:ext cx="11185857" cy="713232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5875">
            <a:solidFill>
              <a:srgbClr val="D3E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d1_n"/>
          <p:cNvSpPr txBox="1"/>
          <p:nvPr/>
        </p:nvSpPr>
        <p:spPr>
          <a:xfrm>
            <a:off x="704087" y="2972816"/>
            <a:ext cx="40233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D16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4" name="d1_q"/>
          <p:cNvSpPr txBox="1"/>
          <p:nvPr/>
        </p:nvSpPr>
        <p:spPr>
          <a:xfrm>
            <a:off x="1179575" y="2983111"/>
            <a:ext cx="6949442" cy="233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500">
                <a:solidFill>
                  <a:srgbClr val="0E2A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Is the nucleus the centre or the outside of the atom?</a:t>
            </a:r>
          </a:p>
        </p:txBody>
      </p:sp>
      <p:grpSp>
        <p:nvGrpSpPr>
          <p:cNvPr id="77" name="d1_a"/>
          <p:cNvGrpSpPr/>
          <p:nvPr/>
        </p:nvGrpSpPr>
        <p:grpSpPr>
          <a:xfrm>
            <a:off x="8275319" y="2862072"/>
            <a:ext cx="3322016" cy="475488"/>
            <a:chOff x="0" y="0"/>
            <a:chExt cx="3322015" cy="475487"/>
          </a:xfrm>
        </p:grpSpPr>
        <p:sp>
          <p:nvSpPr>
            <p:cNvPr id="75" name="Rounded Rectangle"/>
            <p:cNvSpPr/>
            <p:nvPr/>
          </p:nvSpPr>
          <p:spPr>
            <a:xfrm>
              <a:off x="0" y="0"/>
              <a:ext cx="3322016" cy="475488"/>
            </a:xfrm>
            <a:prstGeom prst="roundRect">
              <a:avLst>
                <a:gd name="adj" fmla="val 17308"/>
              </a:avLst>
            </a:prstGeom>
            <a:solidFill>
              <a:srgbClr val="FDF3DC"/>
            </a:solidFill>
            <a:ln w="1524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76" name="The centre."/>
            <p:cNvSpPr txBox="1"/>
            <p:nvPr/>
          </p:nvSpPr>
          <p:spPr>
            <a:xfrm>
              <a:off x="31723" y="138289"/>
              <a:ext cx="3258569" cy="1989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23B5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centre.</a:t>
              </a:r>
            </a:p>
          </p:txBody>
        </p:sp>
      </p:grpSp>
      <p:sp>
        <p:nvSpPr>
          <p:cNvPr id="78" name="d2_bg"/>
          <p:cNvSpPr/>
          <p:nvPr/>
        </p:nvSpPr>
        <p:spPr>
          <a:xfrm>
            <a:off x="502919" y="3584447"/>
            <a:ext cx="11185857" cy="713233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5875">
            <a:solidFill>
              <a:srgbClr val="D3E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d2_n"/>
          <p:cNvSpPr txBox="1"/>
          <p:nvPr/>
        </p:nvSpPr>
        <p:spPr>
          <a:xfrm>
            <a:off x="704087" y="3814063"/>
            <a:ext cx="40233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D16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0" name="d2_q"/>
          <p:cNvSpPr txBox="1"/>
          <p:nvPr/>
        </p:nvSpPr>
        <p:spPr>
          <a:xfrm>
            <a:off x="1179575" y="3824359"/>
            <a:ext cx="6949442" cy="233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500">
                <a:solidFill>
                  <a:srgbClr val="0E2A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Are electrons in the centre or outside of the atom?</a:t>
            </a:r>
          </a:p>
        </p:txBody>
      </p:sp>
      <p:grpSp>
        <p:nvGrpSpPr>
          <p:cNvPr id="83" name="d2_a"/>
          <p:cNvGrpSpPr/>
          <p:nvPr/>
        </p:nvGrpSpPr>
        <p:grpSpPr>
          <a:xfrm>
            <a:off x="8275319" y="3703320"/>
            <a:ext cx="3322016" cy="475489"/>
            <a:chOff x="0" y="0"/>
            <a:chExt cx="3322015" cy="475487"/>
          </a:xfrm>
        </p:grpSpPr>
        <p:sp>
          <p:nvSpPr>
            <p:cNvPr id="81" name="Rounded Rectangle"/>
            <p:cNvSpPr/>
            <p:nvPr/>
          </p:nvSpPr>
          <p:spPr>
            <a:xfrm>
              <a:off x="0" y="0"/>
              <a:ext cx="3322016" cy="475488"/>
            </a:xfrm>
            <a:prstGeom prst="roundRect">
              <a:avLst>
                <a:gd name="adj" fmla="val 17308"/>
              </a:avLst>
            </a:prstGeom>
            <a:solidFill>
              <a:srgbClr val="FDF3DC"/>
            </a:solidFill>
            <a:ln w="1524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82" name="Outside."/>
            <p:cNvSpPr txBox="1"/>
            <p:nvPr/>
          </p:nvSpPr>
          <p:spPr>
            <a:xfrm>
              <a:off x="31723" y="138289"/>
              <a:ext cx="3258569" cy="1989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23B5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Outside.</a:t>
              </a:r>
            </a:p>
          </p:txBody>
        </p:sp>
      </p:grpSp>
      <p:sp>
        <p:nvSpPr>
          <p:cNvPr id="84" name="d3_bg"/>
          <p:cNvSpPr/>
          <p:nvPr/>
        </p:nvSpPr>
        <p:spPr>
          <a:xfrm>
            <a:off x="502919" y="4425696"/>
            <a:ext cx="11185857" cy="713233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5875">
            <a:solidFill>
              <a:srgbClr val="D3E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d3_n"/>
          <p:cNvSpPr txBox="1"/>
          <p:nvPr/>
        </p:nvSpPr>
        <p:spPr>
          <a:xfrm>
            <a:off x="704087" y="4655312"/>
            <a:ext cx="40233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D16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6" name="d3_q"/>
          <p:cNvSpPr txBox="1"/>
          <p:nvPr/>
        </p:nvSpPr>
        <p:spPr>
          <a:xfrm>
            <a:off x="1179575" y="4665607"/>
            <a:ext cx="6949442" cy="233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500">
                <a:solidFill>
                  <a:srgbClr val="0E2A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Complete: “Atoms are a ____ of matter.”</a:t>
            </a:r>
          </a:p>
        </p:txBody>
      </p:sp>
      <p:grpSp>
        <p:nvGrpSpPr>
          <p:cNvPr id="89" name="d3_a"/>
          <p:cNvGrpSpPr/>
          <p:nvPr/>
        </p:nvGrpSpPr>
        <p:grpSpPr>
          <a:xfrm>
            <a:off x="8275319" y="4544567"/>
            <a:ext cx="3322016" cy="475489"/>
            <a:chOff x="0" y="0"/>
            <a:chExt cx="3322015" cy="475487"/>
          </a:xfrm>
        </p:grpSpPr>
        <p:sp>
          <p:nvSpPr>
            <p:cNvPr id="87" name="Rounded Rectangle"/>
            <p:cNvSpPr/>
            <p:nvPr/>
          </p:nvSpPr>
          <p:spPr>
            <a:xfrm>
              <a:off x="0" y="0"/>
              <a:ext cx="3322016" cy="475488"/>
            </a:xfrm>
            <a:prstGeom prst="roundRect">
              <a:avLst>
                <a:gd name="adj" fmla="val 17308"/>
              </a:avLst>
            </a:prstGeom>
            <a:solidFill>
              <a:srgbClr val="FDF3DC"/>
            </a:solidFill>
            <a:ln w="1524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88" name="part"/>
            <p:cNvSpPr txBox="1"/>
            <p:nvPr/>
          </p:nvSpPr>
          <p:spPr>
            <a:xfrm>
              <a:off x="31723" y="138289"/>
              <a:ext cx="3258569" cy="1989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23B5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part</a:t>
              </a:r>
            </a:p>
          </p:txBody>
        </p:sp>
      </p:grpSp>
      <p:sp>
        <p:nvSpPr>
          <p:cNvPr id="90" name="d4_bg"/>
          <p:cNvSpPr/>
          <p:nvPr/>
        </p:nvSpPr>
        <p:spPr>
          <a:xfrm>
            <a:off x="502919" y="5266944"/>
            <a:ext cx="11185857" cy="713233"/>
          </a:xfrm>
          <a:prstGeom prst="roundRect">
            <a:avLst>
              <a:gd name="adj" fmla="val 17949"/>
            </a:avLst>
          </a:prstGeom>
          <a:solidFill>
            <a:srgbClr val="FFFFFF"/>
          </a:solidFill>
          <a:ln w="15875">
            <a:solidFill>
              <a:srgbClr val="D3E3E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d4_n"/>
          <p:cNvSpPr txBox="1"/>
          <p:nvPr/>
        </p:nvSpPr>
        <p:spPr>
          <a:xfrm>
            <a:off x="704087" y="5496560"/>
            <a:ext cx="40233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700">
                <a:solidFill>
                  <a:srgbClr val="FFD166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2" name="d4_q"/>
          <p:cNvSpPr txBox="1"/>
          <p:nvPr/>
        </p:nvSpPr>
        <p:spPr>
          <a:xfrm>
            <a:off x="1179575" y="5506855"/>
            <a:ext cx="6949442" cy="2334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1900"/>
              </a:lnSpc>
              <a:defRPr sz="1500">
                <a:solidFill>
                  <a:srgbClr val="0E2A3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Complete: "The nucleus is in the ___ of the atom."</a:t>
            </a:r>
          </a:p>
        </p:txBody>
      </p:sp>
      <p:grpSp>
        <p:nvGrpSpPr>
          <p:cNvPr id="95" name="d4_a"/>
          <p:cNvGrpSpPr/>
          <p:nvPr/>
        </p:nvGrpSpPr>
        <p:grpSpPr>
          <a:xfrm>
            <a:off x="8275319" y="5385815"/>
            <a:ext cx="3322016" cy="475489"/>
            <a:chOff x="0" y="0"/>
            <a:chExt cx="3322015" cy="475487"/>
          </a:xfrm>
        </p:grpSpPr>
        <p:sp>
          <p:nvSpPr>
            <p:cNvPr id="93" name="Rounded Rectangle"/>
            <p:cNvSpPr/>
            <p:nvPr/>
          </p:nvSpPr>
          <p:spPr>
            <a:xfrm>
              <a:off x="0" y="0"/>
              <a:ext cx="3322016" cy="475488"/>
            </a:xfrm>
            <a:prstGeom prst="roundRect">
              <a:avLst>
                <a:gd name="adj" fmla="val 17308"/>
              </a:avLst>
            </a:prstGeom>
            <a:solidFill>
              <a:srgbClr val="FDF3DC"/>
            </a:solidFill>
            <a:ln w="1524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400"/>
              </a:pPr>
            </a:p>
          </p:txBody>
        </p:sp>
        <p:sp>
          <p:nvSpPr>
            <p:cNvPr id="94" name="centre"/>
            <p:cNvSpPr txBox="1"/>
            <p:nvPr/>
          </p:nvSpPr>
          <p:spPr>
            <a:xfrm>
              <a:off x="31723" y="138289"/>
              <a:ext cx="3258569" cy="1989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761" tIns="761" rIns="761" bIns="761" numCol="1" anchor="ctr">
              <a:spAutoFit/>
            </a:bodyPr>
            <a:lstStyle>
              <a:lvl1pPr algn="ctr">
                <a:defRPr b="1" sz="1400">
                  <a:solidFill>
                    <a:srgbClr val="123B5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centre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8" presetID="22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Subtype="8" presetID="22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2" dur="4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Subtype="8" presetID="22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17" dur="4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Subtype="8" presetID="22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2" dur="4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8" presetID="22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wipe(left)" transition="in">
                                      <p:cBhvr>
                                        <p:cTn id="27" dur="4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83" grpId="3"/>
      <p:bldP build="whole" bldLvl="1" animBg="1" rev="0" advAuto="0" spid="71" grpId="1"/>
      <p:bldP build="whole" bldLvl="1" animBg="1" rev="0" advAuto="0" spid="77" grpId="2"/>
      <p:bldP build="whole" bldLvl="1" animBg="1" rev="0" advAuto="0" spid="89" grpId="4"/>
      <p:bldP build="whole" bldLvl="1" animBg="1" rev="0" advAuto="0" spid="95" grpId="5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1" name="phase_pill"/>
          <p:cNvGrpSpPr/>
          <p:nvPr/>
        </p:nvGrpSpPr>
        <p:grpSpPr>
          <a:xfrm>
            <a:off x="502919" y="274320"/>
            <a:ext cx="2139697" cy="347473"/>
            <a:chOff x="0" y="0"/>
            <a:chExt cx="2139695" cy="347472"/>
          </a:xfrm>
        </p:grpSpPr>
        <p:sp>
          <p:nvSpPr>
            <p:cNvPr id="99" name="Rounded Rectangle"/>
            <p:cNvSpPr/>
            <p:nvPr/>
          </p:nvSpPr>
          <p:spPr>
            <a:xfrm>
              <a:off x="0" y="0"/>
              <a:ext cx="2139696" cy="347473"/>
            </a:xfrm>
            <a:prstGeom prst="roundRect">
              <a:avLst>
                <a:gd name="adj" fmla="val 50000"/>
              </a:avLst>
            </a:prstGeom>
            <a:solidFill>
              <a:srgbClr val="123B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00" name="HOOK · 4 MIN"/>
            <p:cNvSpPr txBox="1"/>
            <p:nvPr/>
          </p:nvSpPr>
          <p:spPr>
            <a:xfrm>
              <a:off x="50885" y="99821"/>
              <a:ext cx="2037926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10" sz="1100">
                  <a:solidFill>
                    <a:srgbClr val="F4F8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HOOK · 4 MIN</a:t>
              </a:r>
            </a:p>
          </p:txBody>
        </p:sp>
      </p:grpSp>
      <p:sp>
        <p:nvSpPr>
          <p:cNvPr id="102" name="keyword_strip"/>
          <p:cNvSpPr txBox="1"/>
          <p:nvPr/>
        </p:nvSpPr>
        <p:spPr>
          <a:xfrm>
            <a:off x="5836614" y="374141"/>
            <a:ext cx="585216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i="1" sz="1100">
                <a:solidFill>
                  <a:srgbClr val="06A7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nucleus</a:t>
            </a:r>
          </a:p>
        </p:txBody>
      </p:sp>
      <p:sp>
        <p:nvSpPr>
          <p:cNvPr id="103" name="slide_title"/>
          <p:cNvSpPr txBox="1"/>
          <p:nvPr/>
        </p:nvSpPr>
        <p:spPr>
          <a:xfrm>
            <a:off x="502919" y="1078991"/>
            <a:ext cx="11185857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200">
                <a:solidFill>
                  <a:srgbClr val="123B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What is inside the nucleus?</a:t>
            </a:r>
          </a:p>
        </p:txBody>
      </p:sp>
      <p:sp>
        <p:nvSpPr>
          <p:cNvPr id="104" name="slide_sub"/>
          <p:cNvSpPr txBox="1"/>
          <p:nvPr/>
        </p:nvSpPr>
        <p:spPr>
          <a:xfrm>
            <a:off x="502919" y="1787627"/>
            <a:ext cx="11185857" cy="2469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700">
                <a:solidFill>
                  <a:srgbClr val="5B748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nucleus is not empty.</a:t>
            </a:r>
          </a:p>
        </p:txBody>
      </p:sp>
      <p:grpSp>
        <p:nvGrpSpPr>
          <p:cNvPr id="108" name="h0"/>
          <p:cNvGrpSpPr/>
          <p:nvPr/>
        </p:nvGrpSpPr>
        <p:grpSpPr>
          <a:xfrm>
            <a:off x="502919" y="2359151"/>
            <a:ext cx="3557932" cy="1463041"/>
            <a:chOff x="0" y="0"/>
            <a:chExt cx="3557930" cy="1463040"/>
          </a:xfrm>
        </p:grpSpPr>
        <p:sp>
          <p:nvSpPr>
            <p:cNvPr id="105" name="h0_bg"/>
            <p:cNvSpPr/>
            <p:nvPr/>
          </p:nvSpPr>
          <p:spPr>
            <a:xfrm>
              <a:off x="0" y="-1"/>
              <a:ext cx="3557931" cy="1463042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6" name="h0_k"/>
            <p:cNvSpPr txBox="1"/>
            <p:nvPr/>
          </p:nvSpPr>
          <p:spPr>
            <a:xfrm>
              <a:off x="237744" y="258317"/>
              <a:ext cx="548641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400">
                  <a:solidFill>
                    <a:srgbClr val="EF476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107" name="h0_t"/>
            <p:cNvSpPr txBox="1"/>
            <p:nvPr/>
          </p:nvSpPr>
          <p:spPr>
            <a:xfrm>
              <a:off x="237743" y="829563"/>
              <a:ext cx="3082444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000">
                  <a:solidFill>
                    <a:srgbClr val="123B54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Nothing</a:t>
              </a:r>
            </a:p>
          </p:txBody>
        </p:sp>
      </p:grpSp>
      <p:grpSp>
        <p:nvGrpSpPr>
          <p:cNvPr id="112" name="h1"/>
          <p:cNvGrpSpPr/>
          <p:nvPr/>
        </p:nvGrpSpPr>
        <p:grpSpPr>
          <a:xfrm>
            <a:off x="4316881" y="2359151"/>
            <a:ext cx="3557931" cy="1463041"/>
            <a:chOff x="0" y="0"/>
            <a:chExt cx="3557930" cy="1463040"/>
          </a:xfrm>
        </p:grpSpPr>
        <p:sp>
          <p:nvSpPr>
            <p:cNvPr id="109" name="h1_bg"/>
            <p:cNvSpPr/>
            <p:nvPr/>
          </p:nvSpPr>
          <p:spPr>
            <a:xfrm>
              <a:off x="0" y="-1"/>
              <a:ext cx="3557931" cy="1463042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0" name="h1_k"/>
            <p:cNvSpPr txBox="1"/>
            <p:nvPr/>
          </p:nvSpPr>
          <p:spPr>
            <a:xfrm>
              <a:off x="237744" y="258317"/>
              <a:ext cx="548641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400">
                  <a:solidFill>
                    <a:srgbClr val="EF476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111" name="h1_t"/>
            <p:cNvSpPr txBox="1"/>
            <p:nvPr/>
          </p:nvSpPr>
          <p:spPr>
            <a:xfrm>
              <a:off x="237743" y="829563"/>
              <a:ext cx="3082444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000">
                  <a:solidFill>
                    <a:srgbClr val="123B54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Smaller parts</a:t>
              </a:r>
            </a:p>
          </p:txBody>
        </p:sp>
      </p:grpSp>
      <p:grpSp>
        <p:nvGrpSpPr>
          <p:cNvPr id="116" name="h2"/>
          <p:cNvGrpSpPr/>
          <p:nvPr/>
        </p:nvGrpSpPr>
        <p:grpSpPr>
          <a:xfrm>
            <a:off x="8130844" y="2359151"/>
            <a:ext cx="3557931" cy="1463041"/>
            <a:chOff x="0" y="0"/>
            <a:chExt cx="3557930" cy="1463040"/>
          </a:xfrm>
        </p:grpSpPr>
        <p:sp>
          <p:nvSpPr>
            <p:cNvPr id="113" name="h2_bg"/>
            <p:cNvSpPr/>
            <p:nvPr/>
          </p:nvSpPr>
          <p:spPr>
            <a:xfrm>
              <a:off x="0" y="-1"/>
              <a:ext cx="3557931" cy="1463042"/>
            </a:xfrm>
            <a:prstGeom prst="roundRect">
              <a:avLst>
                <a:gd name="adj" fmla="val 8750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4" name="h2_k"/>
            <p:cNvSpPr txBox="1"/>
            <p:nvPr/>
          </p:nvSpPr>
          <p:spPr>
            <a:xfrm>
              <a:off x="237744" y="258317"/>
              <a:ext cx="548641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400">
                  <a:solidFill>
                    <a:srgbClr val="EF476F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115" name="h2_t"/>
            <p:cNvSpPr txBox="1"/>
            <p:nvPr/>
          </p:nvSpPr>
          <p:spPr>
            <a:xfrm>
              <a:off x="237743" y="829563"/>
              <a:ext cx="3082444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000">
                  <a:solidFill>
                    <a:srgbClr val="123B54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Another atom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00"/>
                            </p:stCondLst>
                            <p:childTnLst>
                              <p:par>
                                <p:cTn id="9" presetClass="entr" nodeType="afterEffect" presetID="10" grpId="2" fill="hold">
                                  <p:stCondLst>
                                    <p:cond delay="15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1" dur="4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50"/>
                            </p:stCondLst>
                            <p:childTnLst>
                              <p:par>
                                <p:cTn id="13" presetClass="entr" nodeType="afterEffect" presetID="10" grpId="3" fill="hold">
                                  <p:stCondLst>
                                    <p:cond delay="30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5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16" grpId="3"/>
      <p:bldP build="whole" bldLvl="1" animBg="1" rev="0" advAuto="0" spid="108" grpId="1"/>
      <p:bldP build="whole" bldLvl="1" animBg="1" rev="0" advAuto="0" spid="112" grpId="2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phase_pill"/>
          <p:cNvGrpSpPr/>
          <p:nvPr/>
        </p:nvGrpSpPr>
        <p:grpSpPr>
          <a:xfrm>
            <a:off x="502919" y="274320"/>
            <a:ext cx="2871218" cy="347473"/>
            <a:chOff x="0" y="0"/>
            <a:chExt cx="2871216" cy="347472"/>
          </a:xfrm>
        </p:grpSpPr>
        <p:sp>
          <p:nvSpPr>
            <p:cNvPr id="120" name="Rounded Rectangle"/>
            <p:cNvSpPr/>
            <p:nvPr/>
          </p:nvSpPr>
          <p:spPr>
            <a:xfrm>
              <a:off x="0" y="0"/>
              <a:ext cx="2871217" cy="347473"/>
            </a:xfrm>
            <a:prstGeom prst="roundRect">
              <a:avLst>
                <a:gd name="adj" fmla="val 50000"/>
              </a:avLst>
            </a:prstGeom>
            <a:solidFill>
              <a:srgbClr val="123B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21" name="NEW WORDS · 5 MIN"/>
            <p:cNvSpPr txBox="1"/>
            <p:nvPr/>
          </p:nvSpPr>
          <p:spPr>
            <a:xfrm>
              <a:off x="50885" y="99821"/>
              <a:ext cx="2769446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10" sz="1100">
                  <a:solidFill>
                    <a:srgbClr val="F4F8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NEW WORDS · 5 MIN</a:t>
              </a:r>
            </a:p>
          </p:txBody>
        </p:sp>
      </p:grpSp>
      <p:sp>
        <p:nvSpPr>
          <p:cNvPr id="123" name="slide_title"/>
          <p:cNvSpPr txBox="1"/>
          <p:nvPr/>
        </p:nvSpPr>
        <p:spPr>
          <a:xfrm>
            <a:off x="502919" y="1021333"/>
            <a:ext cx="11185857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B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New words</a:t>
            </a:r>
          </a:p>
        </p:txBody>
      </p:sp>
      <p:grpSp>
        <p:nvGrpSpPr>
          <p:cNvPr id="129" name="w0"/>
          <p:cNvGrpSpPr/>
          <p:nvPr/>
        </p:nvGrpSpPr>
        <p:grpSpPr>
          <a:xfrm>
            <a:off x="502919" y="1993392"/>
            <a:ext cx="5455770" cy="2103121"/>
            <a:chOff x="0" y="0"/>
            <a:chExt cx="5455768" cy="2103120"/>
          </a:xfrm>
        </p:grpSpPr>
        <p:sp>
          <p:nvSpPr>
            <p:cNvPr id="124" name="w0_bg"/>
            <p:cNvSpPr/>
            <p:nvPr/>
          </p:nvSpPr>
          <p:spPr>
            <a:xfrm>
              <a:off x="0" y="0"/>
              <a:ext cx="5455769" cy="2103121"/>
            </a:xfrm>
            <a:prstGeom prst="roundRect">
              <a:avLst>
                <a:gd name="adj" fmla="val 6087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5" name="w0_icon"/>
            <p:cNvSpPr/>
            <p:nvPr/>
          </p:nvSpPr>
          <p:spPr>
            <a:xfrm>
              <a:off x="274320" y="274320"/>
              <a:ext cx="566929" cy="566929"/>
            </a:xfrm>
            <a:prstGeom prst="ellipse">
              <a:avLst/>
            </a:prstGeom>
            <a:solidFill>
              <a:srgbClr val="FFD166"/>
            </a:solidFill>
            <a:ln w="1270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6" name="w0_word"/>
            <p:cNvSpPr txBox="1"/>
            <p:nvPr/>
          </p:nvSpPr>
          <p:spPr>
            <a:xfrm>
              <a:off x="1005840" y="240030"/>
              <a:ext cx="4267049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400">
                  <a:solidFill>
                    <a:srgbClr val="123B54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proton</a:t>
              </a:r>
            </a:p>
          </p:txBody>
        </p:sp>
        <p:sp>
          <p:nvSpPr>
            <p:cNvPr id="127" name="w0_say"/>
            <p:cNvSpPr txBox="1"/>
            <p:nvPr/>
          </p:nvSpPr>
          <p:spPr>
            <a:xfrm>
              <a:off x="1005840" y="657258"/>
              <a:ext cx="4267049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i="1" sz="1300">
                  <a:solidFill>
                    <a:srgbClr val="06A77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PRO-ton</a:t>
              </a:r>
            </a:p>
          </p:txBody>
        </p:sp>
        <p:sp>
          <p:nvSpPr>
            <p:cNvPr id="128" name="w0_meaning"/>
            <p:cNvSpPr txBox="1"/>
            <p:nvPr/>
          </p:nvSpPr>
          <p:spPr>
            <a:xfrm>
              <a:off x="274320" y="969263"/>
              <a:ext cx="4943705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0E2A3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 small part inside the nucleus.</a:t>
              </a:r>
            </a:p>
          </p:txBody>
        </p:sp>
      </p:grpSp>
      <p:grpSp>
        <p:nvGrpSpPr>
          <p:cNvPr id="135" name="w1"/>
          <p:cNvGrpSpPr/>
          <p:nvPr/>
        </p:nvGrpSpPr>
        <p:grpSpPr>
          <a:xfrm>
            <a:off x="6233007" y="1993392"/>
            <a:ext cx="5455770" cy="2103121"/>
            <a:chOff x="0" y="0"/>
            <a:chExt cx="5455768" cy="2103120"/>
          </a:xfrm>
        </p:grpSpPr>
        <p:sp>
          <p:nvSpPr>
            <p:cNvPr id="130" name="w1_bg"/>
            <p:cNvSpPr/>
            <p:nvPr/>
          </p:nvSpPr>
          <p:spPr>
            <a:xfrm>
              <a:off x="0" y="0"/>
              <a:ext cx="5455769" cy="2103121"/>
            </a:xfrm>
            <a:prstGeom prst="roundRect">
              <a:avLst>
                <a:gd name="adj" fmla="val 6087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1" name="w1_icon"/>
            <p:cNvSpPr/>
            <p:nvPr/>
          </p:nvSpPr>
          <p:spPr>
            <a:xfrm>
              <a:off x="274320" y="274320"/>
              <a:ext cx="566929" cy="566929"/>
            </a:xfrm>
            <a:prstGeom prst="ellipse">
              <a:avLst/>
            </a:prstGeom>
            <a:solidFill>
              <a:srgbClr val="EF476F"/>
            </a:solidFill>
            <a:ln w="12700" cap="flat">
              <a:solidFill>
                <a:srgbClr val="EF476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2" name="w1_word"/>
            <p:cNvSpPr txBox="1"/>
            <p:nvPr/>
          </p:nvSpPr>
          <p:spPr>
            <a:xfrm>
              <a:off x="1005840" y="240030"/>
              <a:ext cx="4267049" cy="3429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400">
                  <a:solidFill>
                    <a:srgbClr val="123B54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neutron</a:t>
              </a:r>
            </a:p>
          </p:txBody>
        </p:sp>
        <p:sp>
          <p:nvSpPr>
            <p:cNvPr id="133" name="w1_say"/>
            <p:cNvSpPr txBox="1"/>
            <p:nvPr/>
          </p:nvSpPr>
          <p:spPr>
            <a:xfrm>
              <a:off x="1005840" y="657258"/>
              <a:ext cx="4267049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i="1" sz="1300">
                  <a:solidFill>
                    <a:srgbClr val="06A77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NEW-tron</a:t>
              </a:r>
            </a:p>
          </p:txBody>
        </p:sp>
        <p:sp>
          <p:nvSpPr>
            <p:cNvPr id="134" name="w1_meaning"/>
            <p:cNvSpPr txBox="1"/>
            <p:nvPr/>
          </p:nvSpPr>
          <p:spPr>
            <a:xfrm>
              <a:off x="274320" y="969263"/>
              <a:ext cx="4943705" cy="2205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800"/>
                </a:lnSpc>
                <a:defRPr sz="1400">
                  <a:solidFill>
                    <a:srgbClr val="0E2A3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Another small part inside the nucleus.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4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35" grpId="2"/>
      <p:bldP build="whole" bldLvl="1" animBg="1" rev="0" advAuto="0" spid="12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" name="phase_pill"/>
          <p:cNvGrpSpPr/>
          <p:nvPr/>
        </p:nvGrpSpPr>
        <p:grpSpPr>
          <a:xfrm>
            <a:off x="502919" y="274320"/>
            <a:ext cx="2139697" cy="347473"/>
            <a:chOff x="0" y="0"/>
            <a:chExt cx="2139695" cy="347472"/>
          </a:xfrm>
        </p:grpSpPr>
        <p:sp>
          <p:nvSpPr>
            <p:cNvPr id="139" name="Rounded Rectangle"/>
            <p:cNvSpPr/>
            <p:nvPr/>
          </p:nvSpPr>
          <p:spPr>
            <a:xfrm>
              <a:off x="0" y="0"/>
              <a:ext cx="2139696" cy="347473"/>
            </a:xfrm>
            <a:prstGeom prst="roundRect">
              <a:avLst>
                <a:gd name="adj" fmla="val 50000"/>
              </a:avLst>
            </a:prstGeom>
            <a:solidFill>
              <a:srgbClr val="123B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40" name="I DO · 6 MIN"/>
            <p:cNvSpPr txBox="1"/>
            <p:nvPr/>
          </p:nvSpPr>
          <p:spPr>
            <a:xfrm>
              <a:off x="50885" y="99821"/>
              <a:ext cx="2037926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10" sz="1100">
                  <a:solidFill>
                    <a:srgbClr val="F4F8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I DO · 6 MIN</a:t>
              </a:r>
            </a:p>
          </p:txBody>
        </p:sp>
      </p:grpSp>
      <p:sp>
        <p:nvSpPr>
          <p:cNvPr id="142" name="keyword_strip"/>
          <p:cNvSpPr txBox="1"/>
          <p:nvPr/>
        </p:nvSpPr>
        <p:spPr>
          <a:xfrm>
            <a:off x="5836614" y="374141"/>
            <a:ext cx="5852162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i="1" sz="1100">
                <a:solidFill>
                  <a:srgbClr val="06A77D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nucleus   ·   proton   ·   neutron</a:t>
            </a:r>
          </a:p>
        </p:txBody>
      </p:sp>
      <p:sp>
        <p:nvSpPr>
          <p:cNvPr id="143" name="slide_title"/>
          <p:cNvSpPr txBox="1"/>
          <p:nvPr/>
        </p:nvSpPr>
        <p:spPr>
          <a:xfrm>
            <a:off x="502919" y="1053084"/>
            <a:ext cx="11185857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123B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The nucleus is made of protons and neutrons</a:t>
            </a:r>
          </a:p>
        </p:txBody>
      </p:sp>
      <p:sp>
        <p:nvSpPr>
          <p:cNvPr id="144" name="ido_atom"/>
          <p:cNvSpPr/>
          <p:nvPr/>
        </p:nvSpPr>
        <p:spPr>
          <a:xfrm>
            <a:off x="1508760" y="2176272"/>
            <a:ext cx="2834641" cy="2834641"/>
          </a:xfrm>
          <a:prstGeom prst="ellipse">
            <a:avLst/>
          </a:prstGeom>
          <a:solidFill>
            <a:srgbClr val="FFFFFF"/>
          </a:solidFill>
          <a:ln w="20320">
            <a:solidFill>
              <a:srgbClr val="5B748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5" name="ido_nucleus"/>
          <p:cNvSpPr/>
          <p:nvPr/>
        </p:nvSpPr>
        <p:spPr>
          <a:xfrm>
            <a:off x="2302459" y="2969971"/>
            <a:ext cx="1247243" cy="1247243"/>
          </a:xfrm>
          <a:prstGeom prst="ellipse">
            <a:avLst/>
          </a:prstGeom>
          <a:solidFill>
            <a:srgbClr val="123B54"/>
          </a:solidFill>
          <a:ln w="12700">
            <a:solidFill>
              <a:srgbClr val="123B54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54" name="ido_dots"/>
          <p:cNvGrpSpPr/>
          <p:nvPr/>
        </p:nvGrpSpPr>
        <p:grpSpPr>
          <a:xfrm>
            <a:off x="2452128" y="3144585"/>
            <a:ext cx="3811512" cy="823180"/>
            <a:chOff x="0" y="0"/>
            <a:chExt cx="3811512" cy="823179"/>
          </a:xfrm>
        </p:grpSpPr>
        <p:sp>
          <p:nvSpPr>
            <p:cNvPr id="146" name="ido_p0"/>
            <p:cNvSpPr/>
            <p:nvPr/>
          </p:nvSpPr>
          <p:spPr>
            <a:xfrm>
              <a:off x="24945" y="87307"/>
              <a:ext cx="374173" cy="374173"/>
            </a:xfrm>
            <a:prstGeom prst="ellipse">
              <a:avLst/>
            </a:prstGeom>
            <a:solidFill>
              <a:srgbClr val="FFD166"/>
            </a:solidFill>
            <a:ln w="1270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7" name="ido_n1"/>
            <p:cNvSpPr/>
            <p:nvPr/>
          </p:nvSpPr>
          <p:spPr>
            <a:xfrm>
              <a:off x="473952" y="0"/>
              <a:ext cx="374173" cy="374173"/>
            </a:xfrm>
            <a:prstGeom prst="ellipse">
              <a:avLst/>
            </a:prstGeom>
            <a:solidFill>
              <a:srgbClr val="EF476F"/>
            </a:solidFill>
            <a:ln w="12700" cap="flat">
              <a:solidFill>
                <a:srgbClr val="EF476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8" name="ido_p2"/>
            <p:cNvSpPr/>
            <p:nvPr/>
          </p:nvSpPr>
          <p:spPr>
            <a:xfrm>
              <a:off x="249449" y="299338"/>
              <a:ext cx="374173" cy="374173"/>
            </a:xfrm>
            <a:prstGeom prst="ellipse">
              <a:avLst/>
            </a:prstGeom>
            <a:solidFill>
              <a:srgbClr val="FFD166"/>
            </a:solidFill>
            <a:ln w="1270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49" name="ido_n3"/>
            <p:cNvSpPr/>
            <p:nvPr/>
          </p:nvSpPr>
          <p:spPr>
            <a:xfrm>
              <a:off x="536314" y="386645"/>
              <a:ext cx="374173" cy="374173"/>
            </a:xfrm>
            <a:prstGeom prst="ellipse">
              <a:avLst/>
            </a:prstGeom>
            <a:solidFill>
              <a:srgbClr val="EF476F"/>
            </a:solidFill>
            <a:ln w="12700" cap="flat">
              <a:solidFill>
                <a:srgbClr val="EF476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0" name="ido_p4"/>
            <p:cNvSpPr/>
            <p:nvPr/>
          </p:nvSpPr>
          <p:spPr>
            <a:xfrm>
              <a:off x="0" y="449007"/>
              <a:ext cx="374173" cy="374173"/>
            </a:xfrm>
            <a:prstGeom prst="ellipse">
              <a:avLst/>
            </a:prstGeom>
            <a:solidFill>
              <a:srgbClr val="FFD166"/>
            </a:solidFill>
            <a:ln w="1270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1" name="ido_n5"/>
            <p:cNvSpPr/>
            <p:nvPr/>
          </p:nvSpPr>
          <p:spPr>
            <a:xfrm>
              <a:off x="336755" y="249448"/>
              <a:ext cx="374173" cy="374173"/>
            </a:xfrm>
            <a:prstGeom prst="ellipse">
              <a:avLst/>
            </a:prstGeom>
            <a:solidFill>
              <a:srgbClr val="EF476F"/>
            </a:solidFill>
            <a:ln w="12700" cap="flat">
              <a:solidFill>
                <a:srgbClr val="EF476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2" name="ido_plabel"/>
            <p:cNvSpPr/>
            <p:nvPr/>
          </p:nvSpPr>
          <p:spPr>
            <a:xfrm>
              <a:off x="2074152" y="230794"/>
              <a:ext cx="17373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500">
                  <a:solidFill>
                    <a:srgbClr val="FFD166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proton</a:t>
              </a:r>
            </a:p>
          </p:txBody>
        </p:sp>
        <p:sp>
          <p:nvSpPr>
            <p:cNvPr id="153" name="ido_nlabel"/>
            <p:cNvSpPr/>
            <p:nvPr/>
          </p:nvSpPr>
          <p:spPr>
            <a:xfrm>
              <a:off x="2074152" y="642274"/>
              <a:ext cx="1737361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0" fill="norm" stroke="1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500">
                  <a:solidFill>
                    <a:srgbClr val="EF476F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neutron</a:t>
              </a:r>
            </a:p>
          </p:txBody>
        </p:sp>
      </p:grpSp>
      <p:grpSp>
        <p:nvGrpSpPr>
          <p:cNvPr id="159" name="i0"/>
          <p:cNvGrpSpPr/>
          <p:nvPr/>
        </p:nvGrpSpPr>
        <p:grpSpPr>
          <a:xfrm>
            <a:off x="6492240" y="2084832"/>
            <a:ext cx="5196536" cy="914401"/>
            <a:chOff x="0" y="0"/>
            <a:chExt cx="5196535" cy="914400"/>
          </a:xfrm>
        </p:grpSpPr>
        <p:sp>
          <p:nvSpPr>
            <p:cNvPr id="155" name="i0_bg"/>
            <p:cNvSpPr/>
            <p:nvPr/>
          </p:nvSpPr>
          <p:spPr>
            <a:xfrm>
              <a:off x="0" y="0"/>
              <a:ext cx="5196536" cy="9144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56" name="i0_n"/>
            <p:cNvSpPr txBox="1"/>
            <p:nvPr/>
          </p:nvSpPr>
          <p:spPr>
            <a:xfrm>
              <a:off x="201168" y="323850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157" name="i0_e"/>
            <p:cNvSpPr txBox="1"/>
            <p:nvPr/>
          </p:nvSpPr>
          <p:spPr>
            <a:xfrm>
              <a:off x="585216" y="201245"/>
              <a:ext cx="4391864" cy="237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b="1" sz="1600">
                  <a:solidFill>
                    <a:srgbClr val="123B54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This is the atom.</a:t>
              </a:r>
            </a:p>
          </p:txBody>
        </p:sp>
        <p:sp>
          <p:nvSpPr>
            <p:cNvPr id="158" name="i0_t"/>
            <p:cNvSpPr txBox="1"/>
            <p:nvPr/>
          </p:nvSpPr>
          <p:spPr>
            <a:xfrm>
              <a:off x="585216" y="635968"/>
              <a:ext cx="4391864" cy="17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200">
                  <a:solidFill>
                    <a:srgbClr val="5B748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One big circle — same as last lesson.</a:t>
              </a:r>
            </a:p>
          </p:txBody>
        </p:sp>
      </p:grpSp>
      <p:grpSp>
        <p:nvGrpSpPr>
          <p:cNvPr id="164" name="i1"/>
          <p:cNvGrpSpPr/>
          <p:nvPr/>
        </p:nvGrpSpPr>
        <p:grpSpPr>
          <a:xfrm>
            <a:off x="6492240" y="3136392"/>
            <a:ext cx="5196536" cy="914401"/>
            <a:chOff x="0" y="0"/>
            <a:chExt cx="5196535" cy="914400"/>
          </a:xfrm>
        </p:grpSpPr>
        <p:sp>
          <p:nvSpPr>
            <p:cNvPr id="160" name="i1_bg"/>
            <p:cNvSpPr/>
            <p:nvPr/>
          </p:nvSpPr>
          <p:spPr>
            <a:xfrm>
              <a:off x="0" y="0"/>
              <a:ext cx="5196536" cy="9144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1" name="i1_n"/>
            <p:cNvSpPr txBox="1"/>
            <p:nvPr/>
          </p:nvSpPr>
          <p:spPr>
            <a:xfrm>
              <a:off x="201168" y="323850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162" name="i1_e"/>
            <p:cNvSpPr txBox="1"/>
            <p:nvPr/>
          </p:nvSpPr>
          <p:spPr>
            <a:xfrm>
              <a:off x="585216" y="201245"/>
              <a:ext cx="4391864" cy="2375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b="1" sz="1600">
                  <a:solidFill>
                    <a:srgbClr val="123B54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This is the nucleus.</a:t>
              </a:r>
            </a:p>
          </p:txBody>
        </p:sp>
        <p:sp>
          <p:nvSpPr>
            <p:cNvPr id="163" name="i1_t"/>
            <p:cNvSpPr txBox="1"/>
            <p:nvPr/>
          </p:nvSpPr>
          <p:spPr>
            <a:xfrm>
              <a:off x="585216" y="635968"/>
              <a:ext cx="4391864" cy="17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200">
                  <a:solidFill>
                    <a:srgbClr val="5B748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The centre. We already know this.</a:t>
              </a:r>
            </a:p>
          </p:txBody>
        </p:sp>
      </p:grpSp>
      <p:grpSp>
        <p:nvGrpSpPr>
          <p:cNvPr id="169" name="i2"/>
          <p:cNvGrpSpPr/>
          <p:nvPr/>
        </p:nvGrpSpPr>
        <p:grpSpPr>
          <a:xfrm>
            <a:off x="6492240" y="4187952"/>
            <a:ext cx="5196536" cy="914401"/>
            <a:chOff x="0" y="0"/>
            <a:chExt cx="5196535" cy="914400"/>
          </a:xfrm>
        </p:grpSpPr>
        <p:sp>
          <p:nvSpPr>
            <p:cNvPr id="165" name="i2_bg"/>
            <p:cNvSpPr/>
            <p:nvPr/>
          </p:nvSpPr>
          <p:spPr>
            <a:xfrm>
              <a:off x="0" y="0"/>
              <a:ext cx="5196536" cy="9144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6" name="i2_n"/>
            <p:cNvSpPr txBox="1"/>
            <p:nvPr/>
          </p:nvSpPr>
          <p:spPr>
            <a:xfrm>
              <a:off x="201168" y="323850"/>
              <a:ext cx="310897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167" name="i2_e"/>
            <p:cNvSpPr txBox="1"/>
            <p:nvPr/>
          </p:nvSpPr>
          <p:spPr>
            <a:xfrm>
              <a:off x="585216" y="80595"/>
              <a:ext cx="4391864" cy="4788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lnSpc>
                  <a:spcPts val="1900"/>
                </a:lnSpc>
                <a:defRPr b="1" sz="1600">
                  <a:solidFill>
                    <a:srgbClr val="123B54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The nucleus is made of protons and neutrons.</a:t>
              </a:r>
            </a:p>
          </p:txBody>
        </p:sp>
        <p:sp>
          <p:nvSpPr>
            <p:cNvPr id="168" name="i2_t"/>
            <p:cNvSpPr txBox="1"/>
            <p:nvPr/>
          </p:nvSpPr>
          <p:spPr>
            <a:xfrm>
              <a:off x="585216" y="635968"/>
              <a:ext cx="4391864" cy="17281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200">
                  <a:solidFill>
                    <a:srgbClr val="5B748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Small parts, packed into the centre.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4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4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4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4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4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44" grpId="1"/>
      <p:bldP build="whole" bldLvl="1" animBg="1" rev="0" advAuto="0" spid="154" grpId="3"/>
      <p:bldP build="whole" bldLvl="1" animBg="1" rev="0" advAuto="0" spid="164" grpId="5"/>
      <p:bldP build="whole" bldLvl="1" animBg="1" rev="0" advAuto="0" spid="169" grpId="6"/>
      <p:bldP build="whole" bldLvl="1" animBg="1" rev="0" advAuto="0" spid="159" grpId="4"/>
      <p:bldP build="whole" bldLvl="1" animBg="1" rev="0" advAuto="0" spid="145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phase_pill"/>
          <p:cNvGrpSpPr/>
          <p:nvPr/>
        </p:nvGrpSpPr>
        <p:grpSpPr>
          <a:xfrm>
            <a:off x="502919" y="274320"/>
            <a:ext cx="2286001" cy="347473"/>
            <a:chOff x="0" y="0"/>
            <a:chExt cx="2286000" cy="347472"/>
          </a:xfrm>
        </p:grpSpPr>
        <p:sp>
          <p:nvSpPr>
            <p:cNvPr id="173" name="Rounded Rectangle"/>
            <p:cNvSpPr/>
            <p:nvPr/>
          </p:nvSpPr>
          <p:spPr>
            <a:xfrm>
              <a:off x="0" y="0"/>
              <a:ext cx="2286000" cy="347473"/>
            </a:xfrm>
            <a:prstGeom prst="roundRect">
              <a:avLst>
                <a:gd name="adj" fmla="val 50000"/>
              </a:avLst>
            </a:prstGeom>
            <a:solidFill>
              <a:srgbClr val="123B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174" name="WE DO · 5 MIN"/>
            <p:cNvSpPr txBox="1"/>
            <p:nvPr/>
          </p:nvSpPr>
          <p:spPr>
            <a:xfrm>
              <a:off x="50885" y="99821"/>
              <a:ext cx="2184230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10" sz="1100">
                  <a:solidFill>
                    <a:srgbClr val="F4F8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WE DO · 5 MIN</a:t>
              </a:r>
            </a:p>
          </p:txBody>
        </p:sp>
      </p:grpSp>
      <p:sp>
        <p:nvSpPr>
          <p:cNvPr id="176" name="slide_title"/>
          <p:cNvSpPr txBox="1"/>
          <p:nvPr/>
        </p:nvSpPr>
        <p:spPr>
          <a:xfrm>
            <a:off x="502919" y="1021333"/>
            <a:ext cx="11185857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B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Build one together</a:t>
            </a:r>
          </a:p>
        </p:txBody>
      </p:sp>
      <p:sp>
        <p:nvSpPr>
          <p:cNvPr id="177" name="wedo_atom"/>
          <p:cNvSpPr/>
          <p:nvPr/>
        </p:nvSpPr>
        <p:spPr>
          <a:xfrm>
            <a:off x="1554480" y="2359152"/>
            <a:ext cx="2743201" cy="2743201"/>
          </a:xfrm>
          <a:prstGeom prst="ellipse">
            <a:avLst/>
          </a:prstGeom>
          <a:solidFill>
            <a:srgbClr val="FFFFFF"/>
          </a:solidFill>
          <a:ln w="20320">
            <a:solidFill>
              <a:srgbClr val="5B748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8" name="wedo_nucleus"/>
          <p:cNvSpPr/>
          <p:nvPr/>
        </p:nvSpPr>
        <p:spPr>
          <a:xfrm>
            <a:off x="2322576" y="3127247"/>
            <a:ext cx="1207009" cy="1207009"/>
          </a:xfrm>
          <a:prstGeom prst="ellipse">
            <a:avLst/>
          </a:prstGeom>
          <a:solidFill>
            <a:srgbClr val="123B54"/>
          </a:solidFill>
          <a:ln w="12700">
            <a:solidFill>
              <a:srgbClr val="123B54"/>
            </a:solidFill>
          </a:ln>
        </p:spPr>
        <p:txBody>
          <a:bodyPr lIns="45719" rIns="45719"/>
          <a:lstStyle/>
          <a:p>
            <a:pPr/>
          </a:p>
        </p:txBody>
      </p:sp>
      <p:grpSp>
        <p:nvGrpSpPr>
          <p:cNvPr id="185" name="wedo_dots"/>
          <p:cNvGrpSpPr/>
          <p:nvPr/>
        </p:nvGrpSpPr>
        <p:grpSpPr>
          <a:xfrm>
            <a:off x="2467417" y="3296229"/>
            <a:ext cx="881116" cy="796626"/>
            <a:chOff x="0" y="0"/>
            <a:chExt cx="881115" cy="796625"/>
          </a:xfrm>
        </p:grpSpPr>
        <p:sp>
          <p:nvSpPr>
            <p:cNvPr id="179" name="wedo_p0"/>
            <p:cNvSpPr/>
            <p:nvPr/>
          </p:nvSpPr>
          <p:spPr>
            <a:xfrm>
              <a:off x="24140" y="84491"/>
              <a:ext cx="362103" cy="362103"/>
            </a:xfrm>
            <a:prstGeom prst="ellipse">
              <a:avLst/>
            </a:prstGeom>
            <a:solidFill>
              <a:srgbClr val="FFD166"/>
            </a:solidFill>
            <a:ln w="1270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0" name="wedo_n1"/>
            <p:cNvSpPr/>
            <p:nvPr/>
          </p:nvSpPr>
          <p:spPr>
            <a:xfrm>
              <a:off x="458663" y="0"/>
              <a:ext cx="362103" cy="362103"/>
            </a:xfrm>
            <a:prstGeom prst="ellipse">
              <a:avLst/>
            </a:prstGeom>
            <a:solidFill>
              <a:srgbClr val="EF476F"/>
            </a:solidFill>
            <a:ln w="12700" cap="flat">
              <a:solidFill>
                <a:srgbClr val="EF476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1" name="wedo_p2"/>
            <p:cNvSpPr/>
            <p:nvPr/>
          </p:nvSpPr>
          <p:spPr>
            <a:xfrm>
              <a:off x="241402" y="289682"/>
              <a:ext cx="362103" cy="362103"/>
            </a:xfrm>
            <a:prstGeom prst="ellipse">
              <a:avLst/>
            </a:prstGeom>
            <a:solidFill>
              <a:srgbClr val="FFD166"/>
            </a:solidFill>
            <a:ln w="1270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2" name="wedo_n3"/>
            <p:cNvSpPr/>
            <p:nvPr/>
          </p:nvSpPr>
          <p:spPr>
            <a:xfrm>
              <a:off x="519013" y="374173"/>
              <a:ext cx="362103" cy="362103"/>
            </a:xfrm>
            <a:prstGeom prst="ellipse">
              <a:avLst/>
            </a:prstGeom>
            <a:solidFill>
              <a:srgbClr val="EF476F"/>
            </a:solidFill>
            <a:ln w="12700" cap="flat">
              <a:solidFill>
                <a:srgbClr val="EF476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3" name="wedo_p4"/>
            <p:cNvSpPr/>
            <p:nvPr/>
          </p:nvSpPr>
          <p:spPr>
            <a:xfrm>
              <a:off x="0" y="434523"/>
              <a:ext cx="362103" cy="362103"/>
            </a:xfrm>
            <a:prstGeom prst="ellipse">
              <a:avLst/>
            </a:prstGeom>
            <a:solidFill>
              <a:srgbClr val="FFD166"/>
            </a:solidFill>
            <a:ln w="12700" cap="flat">
              <a:solidFill>
                <a:srgbClr val="FFD166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4" name="wedo_n5"/>
            <p:cNvSpPr/>
            <p:nvPr/>
          </p:nvSpPr>
          <p:spPr>
            <a:xfrm>
              <a:off x="325892" y="241402"/>
              <a:ext cx="362103" cy="362103"/>
            </a:xfrm>
            <a:prstGeom prst="ellipse">
              <a:avLst/>
            </a:prstGeom>
            <a:solidFill>
              <a:srgbClr val="EF476F"/>
            </a:solidFill>
            <a:ln w="12700" cap="flat">
              <a:solidFill>
                <a:srgbClr val="EF476F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89" name="wd0"/>
          <p:cNvGrpSpPr/>
          <p:nvPr/>
        </p:nvGrpSpPr>
        <p:grpSpPr>
          <a:xfrm>
            <a:off x="6492240" y="2176272"/>
            <a:ext cx="5196536" cy="914401"/>
            <a:chOff x="0" y="0"/>
            <a:chExt cx="5196535" cy="914400"/>
          </a:xfrm>
        </p:grpSpPr>
        <p:sp>
          <p:nvSpPr>
            <p:cNvPr id="186" name="wd0_bg"/>
            <p:cNvSpPr/>
            <p:nvPr/>
          </p:nvSpPr>
          <p:spPr>
            <a:xfrm>
              <a:off x="0" y="0"/>
              <a:ext cx="5196536" cy="9144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7" name="wd0_q"/>
            <p:cNvSpPr txBox="1"/>
            <p:nvPr/>
          </p:nvSpPr>
          <p:spPr>
            <a:xfrm>
              <a:off x="237743" y="178630"/>
              <a:ext cx="4721049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500">
                  <a:solidFill>
                    <a:srgbClr val="0E2A3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Where are the protons?</a:t>
              </a:r>
            </a:p>
          </p:txBody>
        </p:sp>
        <p:sp>
          <p:nvSpPr>
            <p:cNvPr id="188" name="wd0_a"/>
            <p:cNvSpPr txBox="1"/>
            <p:nvPr/>
          </p:nvSpPr>
          <p:spPr>
            <a:xfrm>
              <a:off x="237743" y="559676"/>
              <a:ext cx="4721049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i="1" sz="1400">
                  <a:solidFill>
                    <a:srgbClr val="06A77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"In the nucleus."</a:t>
              </a:r>
            </a:p>
          </p:txBody>
        </p:sp>
      </p:grpSp>
      <p:grpSp>
        <p:nvGrpSpPr>
          <p:cNvPr id="193" name="wd1"/>
          <p:cNvGrpSpPr/>
          <p:nvPr/>
        </p:nvGrpSpPr>
        <p:grpSpPr>
          <a:xfrm>
            <a:off x="6492240" y="3273552"/>
            <a:ext cx="5196536" cy="914401"/>
            <a:chOff x="0" y="0"/>
            <a:chExt cx="5196535" cy="914400"/>
          </a:xfrm>
        </p:grpSpPr>
        <p:sp>
          <p:nvSpPr>
            <p:cNvPr id="190" name="wd1_bg"/>
            <p:cNvSpPr/>
            <p:nvPr/>
          </p:nvSpPr>
          <p:spPr>
            <a:xfrm>
              <a:off x="0" y="0"/>
              <a:ext cx="5196536" cy="9144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1" name="wd1_q"/>
            <p:cNvSpPr txBox="1"/>
            <p:nvPr/>
          </p:nvSpPr>
          <p:spPr>
            <a:xfrm>
              <a:off x="237743" y="178630"/>
              <a:ext cx="4721049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500">
                  <a:solidFill>
                    <a:srgbClr val="0E2A3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Where are the neutrons?</a:t>
              </a:r>
            </a:p>
          </p:txBody>
        </p:sp>
        <p:sp>
          <p:nvSpPr>
            <p:cNvPr id="192" name="wd1_a"/>
            <p:cNvSpPr txBox="1"/>
            <p:nvPr/>
          </p:nvSpPr>
          <p:spPr>
            <a:xfrm>
              <a:off x="237743" y="559676"/>
              <a:ext cx="4721049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i="1" sz="1400">
                  <a:solidFill>
                    <a:srgbClr val="06A77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"In the nucleus."</a:t>
              </a:r>
            </a:p>
          </p:txBody>
        </p:sp>
      </p:grpSp>
      <p:grpSp>
        <p:nvGrpSpPr>
          <p:cNvPr id="197" name="wd2"/>
          <p:cNvGrpSpPr/>
          <p:nvPr/>
        </p:nvGrpSpPr>
        <p:grpSpPr>
          <a:xfrm>
            <a:off x="6492240" y="4370832"/>
            <a:ext cx="5196536" cy="914401"/>
            <a:chOff x="0" y="0"/>
            <a:chExt cx="5196535" cy="914400"/>
          </a:xfrm>
        </p:grpSpPr>
        <p:sp>
          <p:nvSpPr>
            <p:cNvPr id="194" name="wd2_bg"/>
            <p:cNvSpPr/>
            <p:nvPr/>
          </p:nvSpPr>
          <p:spPr>
            <a:xfrm>
              <a:off x="0" y="0"/>
              <a:ext cx="5196536" cy="9144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5" name="wd2_q"/>
            <p:cNvSpPr txBox="1"/>
            <p:nvPr/>
          </p:nvSpPr>
          <p:spPr>
            <a:xfrm>
              <a:off x="237743" y="178630"/>
              <a:ext cx="4721049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500">
                  <a:solidFill>
                    <a:srgbClr val="0E2A3B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Say the whole sentence.</a:t>
              </a:r>
            </a:p>
          </p:txBody>
        </p:sp>
        <p:sp>
          <p:nvSpPr>
            <p:cNvPr id="196" name="wd2_a"/>
            <p:cNvSpPr txBox="1"/>
            <p:nvPr/>
          </p:nvSpPr>
          <p:spPr>
            <a:xfrm>
              <a:off x="237743" y="559676"/>
              <a:ext cx="4721049" cy="19738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i="1" sz="1400">
                  <a:solidFill>
                    <a:srgbClr val="06A77D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"The nucleus is made of protons and neutrons."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4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4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4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ID="10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7" dur="4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2" dur="4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178" grpId="2"/>
      <p:bldP build="whole" bldLvl="1" animBg="1" rev="0" advAuto="0" spid="189" grpId="4"/>
      <p:bldP build="whole" bldLvl="1" animBg="1" rev="0" advAuto="0" spid="193" grpId="5"/>
      <p:bldP build="whole" bldLvl="1" animBg="1" rev="0" advAuto="0" spid="197" grpId="6"/>
      <p:bldP build="whole" bldLvl="1" animBg="1" rev="0" advAuto="0" spid="185" grpId="3"/>
      <p:bldP build="whole" bldLvl="1" animBg="1" rev="0" advAuto="0" spid="177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3" name="phase_pill"/>
          <p:cNvGrpSpPr/>
          <p:nvPr/>
        </p:nvGrpSpPr>
        <p:grpSpPr>
          <a:xfrm>
            <a:off x="502919" y="274320"/>
            <a:ext cx="2724913" cy="347473"/>
            <a:chOff x="0" y="0"/>
            <a:chExt cx="2724911" cy="347472"/>
          </a:xfrm>
        </p:grpSpPr>
        <p:sp>
          <p:nvSpPr>
            <p:cNvPr id="201" name="Rounded Rectangle"/>
            <p:cNvSpPr/>
            <p:nvPr/>
          </p:nvSpPr>
          <p:spPr>
            <a:xfrm>
              <a:off x="0" y="0"/>
              <a:ext cx="2724912" cy="347473"/>
            </a:xfrm>
            <a:prstGeom prst="roundRect">
              <a:avLst>
                <a:gd name="adj" fmla="val 50000"/>
              </a:avLst>
            </a:prstGeom>
            <a:solidFill>
              <a:srgbClr val="123B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02" name="ACTIVITY · 9 MIN"/>
            <p:cNvSpPr txBox="1"/>
            <p:nvPr/>
          </p:nvSpPr>
          <p:spPr>
            <a:xfrm>
              <a:off x="50885" y="99821"/>
              <a:ext cx="262314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10" sz="1100">
                  <a:solidFill>
                    <a:srgbClr val="F4F8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ACTIVITY · 9 MIN</a:t>
              </a:r>
            </a:p>
          </p:txBody>
        </p:sp>
      </p:grpSp>
      <p:sp>
        <p:nvSpPr>
          <p:cNvPr id="204" name="slide_title"/>
          <p:cNvSpPr txBox="1"/>
          <p:nvPr/>
        </p:nvSpPr>
        <p:spPr>
          <a:xfrm>
            <a:off x="502919" y="1021333"/>
            <a:ext cx="11185857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B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Build the nucleus</a:t>
            </a:r>
          </a:p>
        </p:txBody>
      </p:sp>
      <p:grpSp>
        <p:nvGrpSpPr>
          <p:cNvPr id="209" name="a0"/>
          <p:cNvGrpSpPr/>
          <p:nvPr/>
        </p:nvGrpSpPr>
        <p:grpSpPr>
          <a:xfrm>
            <a:off x="502919" y="2084832"/>
            <a:ext cx="3557932" cy="2286001"/>
            <a:chOff x="0" y="0"/>
            <a:chExt cx="3557930" cy="2286000"/>
          </a:xfrm>
        </p:grpSpPr>
        <p:sp>
          <p:nvSpPr>
            <p:cNvPr id="205" name="a0_bg"/>
            <p:cNvSpPr/>
            <p:nvPr/>
          </p:nvSpPr>
          <p:spPr>
            <a:xfrm>
              <a:off x="0" y="0"/>
              <a:ext cx="3557931" cy="2286000"/>
            </a:xfrm>
            <a:prstGeom prst="roundRect">
              <a:avLst>
                <a:gd name="adj" fmla="val 5600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6" name="a0_n"/>
            <p:cNvSpPr txBox="1"/>
            <p:nvPr/>
          </p:nvSpPr>
          <p:spPr>
            <a:xfrm>
              <a:off x="219456" y="253491"/>
              <a:ext cx="457201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000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07" name="a0_h"/>
            <p:cNvSpPr txBox="1"/>
            <p:nvPr/>
          </p:nvSpPr>
          <p:spPr>
            <a:xfrm>
              <a:off x="219456" y="753617"/>
              <a:ext cx="3119019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900">
                  <a:solidFill>
                    <a:srgbClr val="123B54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Build</a:t>
              </a:r>
            </a:p>
          </p:txBody>
        </p:sp>
        <p:sp>
          <p:nvSpPr>
            <p:cNvPr id="208" name="a0_b"/>
            <p:cNvSpPr txBox="1"/>
            <p:nvPr/>
          </p:nvSpPr>
          <p:spPr>
            <a:xfrm>
              <a:off x="219456" y="1133855"/>
              <a:ext cx="3119019" cy="7133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900"/>
                </a:lnSpc>
                <a:defRPr sz="1400">
                  <a:solidFill>
                    <a:srgbClr val="5B748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Place small circles into the nucleus outline: one colour for protons, one for neutrons.</a:t>
              </a:r>
            </a:p>
          </p:txBody>
        </p:sp>
      </p:grpSp>
      <p:grpSp>
        <p:nvGrpSpPr>
          <p:cNvPr id="214" name="a1"/>
          <p:cNvGrpSpPr/>
          <p:nvPr/>
        </p:nvGrpSpPr>
        <p:grpSpPr>
          <a:xfrm>
            <a:off x="4316881" y="2084832"/>
            <a:ext cx="3557931" cy="2286001"/>
            <a:chOff x="0" y="0"/>
            <a:chExt cx="3557930" cy="2286000"/>
          </a:xfrm>
        </p:grpSpPr>
        <p:sp>
          <p:nvSpPr>
            <p:cNvPr id="210" name="a1_bg"/>
            <p:cNvSpPr/>
            <p:nvPr/>
          </p:nvSpPr>
          <p:spPr>
            <a:xfrm>
              <a:off x="0" y="0"/>
              <a:ext cx="3557931" cy="2286000"/>
            </a:xfrm>
            <a:prstGeom prst="roundRect">
              <a:avLst>
                <a:gd name="adj" fmla="val 5600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1" name="a1_n"/>
            <p:cNvSpPr txBox="1"/>
            <p:nvPr/>
          </p:nvSpPr>
          <p:spPr>
            <a:xfrm>
              <a:off x="219456" y="253491"/>
              <a:ext cx="457201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000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12" name="a1_h"/>
            <p:cNvSpPr txBox="1"/>
            <p:nvPr/>
          </p:nvSpPr>
          <p:spPr>
            <a:xfrm>
              <a:off x="219456" y="753617"/>
              <a:ext cx="3119019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900">
                  <a:solidFill>
                    <a:srgbClr val="123B54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Point</a:t>
              </a:r>
            </a:p>
          </p:txBody>
        </p:sp>
        <p:sp>
          <p:nvSpPr>
            <p:cNvPr id="213" name="a1_b"/>
            <p:cNvSpPr txBox="1"/>
            <p:nvPr/>
          </p:nvSpPr>
          <p:spPr>
            <a:xfrm>
              <a:off x="219456" y="1133855"/>
              <a:ext cx="3119019" cy="2307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900"/>
                </a:lnSpc>
                <a:defRPr sz="1400">
                  <a:solidFill>
                    <a:srgbClr val="5B748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Point to a proton. Point to a neutron.</a:t>
              </a:r>
            </a:p>
          </p:txBody>
        </p:sp>
      </p:grpSp>
      <p:grpSp>
        <p:nvGrpSpPr>
          <p:cNvPr id="219" name="a2"/>
          <p:cNvGrpSpPr/>
          <p:nvPr/>
        </p:nvGrpSpPr>
        <p:grpSpPr>
          <a:xfrm>
            <a:off x="8130844" y="2084832"/>
            <a:ext cx="3557931" cy="2286001"/>
            <a:chOff x="0" y="0"/>
            <a:chExt cx="3557930" cy="2286000"/>
          </a:xfrm>
        </p:grpSpPr>
        <p:sp>
          <p:nvSpPr>
            <p:cNvPr id="215" name="a2_bg"/>
            <p:cNvSpPr/>
            <p:nvPr/>
          </p:nvSpPr>
          <p:spPr>
            <a:xfrm>
              <a:off x="0" y="0"/>
              <a:ext cx="3557931" cy="2286000"/>
            </a:xfrm>
            <a:prstGeom prst="roundRect">
              <a:avLst>
                <a:gd name="adj" fmla="val 5600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6" name="a2_n"/>
            <p:cNvSpPr txBox="1"/>
            <p:nvPr/>
          </p:nvSpPr>
          <p:spPr>
            <a:xfrm>
              <a:off x="219456" y="253491"/>
              <a:ext cx="457201" cy="279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000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17" name="a2_h"/>
            <p:cNvSpPr txBox="1"/>
            <p:nvPr/>
          </p:nvSpPr>
          <p:spPr>
            <a:xfrm>
              <a:off x="219456" y="753617"/>
              <a:ext cx="3119019" cy="2667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900">
                  <a:solidFill>
                    <a:srgbClr val="123B54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Say</a:t>
              </a:r>
            </a:p>
          </p:txBody>
        </p:sp>
        <p:sp>
          <p:nvSpPr>
            <p:cNvPr id="218" name="a2_b"/>
            <p:cNvSpPr txBox="1"/>
            <p:nvPr/>
          </p:nvSpPr>
          <p:spPr>
            <a:xfrm>
              <a:off x="219456" y="1133855"/>
              <a:ext cx="3119019" cy="47202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>
                <a:lnSpc>
                  <a:spcPts val="1900"/>
                </a:lnSpc>
                <a:defRPr sz="1400">
                  <a:solidFill>
                    <a:srgbClr val="5B748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"The nucleus is made of protons and neutrons."</a:t>
              </a:r>
            </a:p>
          </p:txBody>
        </p:sp>
      </p:grpSp>
      <p:sp>
        <p:nvSpPr>
          <p:cNvPr id="220" name="a_note"/>
          <p:cNvSpPr txBox="1"/>
          <p:nvPr/>
        </p:nvSpPr>
        <p:spPr>
          <a:xfrm>
            <a:off x="502919" y="4622614"/>
            <a:ext cx="11185857" cy="2096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123B54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Partner routine: build, then point, then say.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4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4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4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14" grpId="2"/>
      <p:bldP build="whole" bldLvl="1" animBg="1" rev="0" advAuto="0" spid="219" grpId="3"/>
      <p:bldP build="whole" bldLvl="1" animBg="1" rev="0" advAuto="0" spid="209" grpId="1"/>
      <p:bldP build="whole" bldLvl="1" animBg="1" rev="0" advAuto="0" spid="220" grpId="4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6" name="phase_pill"/>
          <p:cNvGrpSpPr/>
          <p:nvPr/>
        </p:nvGrpSpPr>
        <p:grpSpPr>
          <a:xfrm>
            <a:off x="502919" y="274320"/>
            <a:ext cx="2432306" cy="347473"/>
            <a:chOff x="0" y="0"/>
            <a:chExt cx="2432304" cy="347472"/>
          </a:xfrm>
        </p:grpSpPr>
        <p:sp>
          <p:nvSpPr>
            <p:cNvPr id="224" name="Rounded Rectangle"/>
            <p:cNvSpPr/>
            <p:nvPr/>
          </p:nvSpPr>
          <p:spPr>
            <a:xfrm>
              <a:off x="0" y="0"/>
              <a:ext cx="2432305" cy="347473"/>
            </a:xfrm>
            <a:prstGeom prst="roundRect">
              <a:avLst>
                <a:gd name="adj" fmla="val 50000"/>
              </a:avLst>
            </a:prstGeom>
            <a:solidFill>
              <a:srgbClr val="123B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25" name="YOU DO · 9 MIN"/>
            <p:cNvSpPr txBox="1"/>
            <p:nvPr/>
          </p:nvSpPr>
          <p:spPr>
            <a:xfrm>
              <a:off x="50886" y="99821"/>
              <a:ext cx="2330532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10" sz="1100">
                  <a:solidFill>
                    <a:srgbClr val="F4F8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YOU DO · 9 MIN</a:t>
              </a:r>
            </a:p>
          </p:txBody>
        </p:sp>
      </p:grpSp>
      <p:sp>
        <p:nvSpPr>
          <p:cNvPr id="227" name="slide_title"/>
          <p:cNvSpPr txBox="1"/>
          <p:nvPr/>
        </p:nvSpPr>
        <p:spPr>
          <a:xfrm>
            <a:off x="502919" y="1021333"/>
            <a:ext cx="11185857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123B54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Your worksheet</a:t>
            </a:r>
          </a:p>
        </p:txBody>
      </p:sp>
      <p:grpSp>
        <p:nvGrpSpPr>
          <p:cNvPr id="232" name="y0"/>
          <p:cNvGrpSpPr/>
          <p:nvPr/>
        </p:nvGrpSpPr>
        <p:grpSpPr>
          <a:xfrm>
            <a:off x="502919" y="2084832"/>
            <a:ext cx="11185857" cy="786385"/>
            <a:chOff x="0" y="0"/>
            <a:chExt cx="11185855" cy="786384"/>
          </a:xfrm>
        </p:grpSpPr>
        <p:sp>
          <p:nvSpPr>
            <p:cNvPr id="228" name="y0_bg"/>
            <p:cNvSpPr/>
            <p:nvPr/>
          </p:nvSpPr>
          <p:spPr>
            <a:xfrm>
              <a:off x="0" y="-1"/>
              <a:ext cx="11185856" cy="786386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9" name="y0_k"/>
            <p:cNvSpPr txBox="1"/>
            <p:nvPr/>
          </p:nvSpPr>
          <p:spPr>
            <a:xfrm>
              <a:off x="219456" y="234441"/>
              <a:ext cx="457201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A</a:t>
              </a:r>
            </a:p>
          </p:txBody>
        </p:sp>
        <p:sp>
          <p:nvSpPr>
            <p:cNvPr id="230" name="y0_h"/>
            <p:cNvSpPr txBox="1"/>
            <p:nvPr/>
          </p:nvSpPr>
          <p:spPr>
            <a:xfrm>
              <a:off x="786384" y="169486"/>
              <a:ext cx="2377441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00" sz="1500">
                  <a:solidFill>
                    <a:srgbClr val="123B5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DRAW</a:t>
              </a:r>
            </a:p>
          </p:txBody>
        </p:sp>
        <p:sp>
          <p:nvSpPr>
            <p:cNvPr id="231" name="y0_b"/>
            <p:cNvSpPr txBox="1"/>
            <p:nvPr/>
          </p:nvSpPr>
          <p:spPr>
            <a:xfrm>
              <a:off x="786384" y="474378"/>
              <a:ext cx="10180016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B748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Draw a simple atom with a nucleus.</a:t>
              </a:r>
            </a:p>
          </p:txBody>
        </p:sp>
      </p:grpSp>
      <p:grpSp>
        <p:nvGrpSpPr>
          <p:cNvPr id="237" name="y1"/>
          <p:cNvGrpSpPr/>
          <p:nvPr/>
        </p:nvGrpSpPr>
        <p:grpSpPr>
          <a:xfrm>
            <a:off x="502919" y="3035807"/>
            <a:ext cx="11185857" cy="786385"/>
            <a:chOff x="0" y="0"/>
            <a:chExt cx="11185855" cy="786384"/>
          </a:xfrm>
        </p:grpSpPr>
        <p:sp>
          <p:nvSpPr>
            <p:cNvPr id="233" name="y1_bg"/>
            <p:cNvSpPr/>
            <p:nvPr/>
          </p:nvSpPr>
          <p:spPr>
            <a:xfrm>
              <a:off x="0" y="-1"/>
              <a:ext cx="11185856" cy="786386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4" name="y1_k"/>
            <p:cNvSpPr txBox="1"/>
            <p:nvPr/>
          </p:nvSpPr>
          <p:spPr>
            <a:xfrm>
              <a:off x="219456" y="234441"/>
              <a:ext cx="457201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B</a:t>
              </a:r>
            </a:p>
          </p:txBody>
        </p:sp>
        <p:sp>
          <p:nvSpPr>
            <p:cNvPr id="235" name="y1_h"/>
            <p:cNvSpPr txBox="1"/>
            <p:nvPr/>
          </p:nvSpPr>
          <p:spPr>
            <a:xfrm>
              <a:off x="786384" y="169486"/>
              <a:ext cx="2377441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00" sz="1500">
                  <a:solidFill>
                    <a:srgbClr val="123B5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COLOUR + LABEL</a:t>
              </a:r>
            </a:p>
          </p:txBody>
        </p:sp>
        <p:sp>
          <p:nvSpPr>
            <p:cNvPr id="236" name="y1_b"/>
            <p:cNvSpPr txBox="1"/>
            <p:nvPr/>
          </p:nvSpPr>
          <p:spPr>
            <a:xfrm>
              <a:off x="786384" y="474378"/>
              <a:ext cx="10180016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B748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Colour the protons and neutrons. Label: nucleus, proton, neutron.</a:t>
              </a:r>
            </a:p>
          </p:txBody>
        </p:sp>
      </p:grpSp>
      <p:grpSp>
        <p:nvGrpSpPr>
          <p:cNvPr id="242" name="y2"/>
          <p:cNvGrpSpPr/>
          <p:nvPr/>
        </p:nvGrpSpPr>
        <p:grpSpPr>
          <a:xfrm>
            <a:off x="502919" y="3986784"/>
            <a:ext cx="11185857" cy="786385"/>
            <a:chOff x="0" y="0"/>
            <a:chExt cx="11185855" cy="786384"/>
          </a:xfrm>
        </p:grpSpPr>
        <p:sp>
          <p:nvSpPr>
            <p:cNvPr id="238" name="y2_bg"/>
            <p:cNvSpPr/>
            <p:nvPr/>
          </p:nvSpPr>
          <p:spPr>
            <a:xfrm>
              <a:off x="0" y="-1"/>
              <a:ext cx="11185856" cy="786386"/>
            </a:xfrm>
            <a:prstGeom prst="roundRect">
              <a:avLst>
                <a:gd name="adj" fmla="val 16279"/>
              </a:avLst>
            </a:prstGeom>
            <a:solidFill>
              <a:srgbClr val="FFFFFF"/>
            </a:solidFill>
            <a:ln w="15875" cap="flat">
              <a:solidFill>
                <a:srgbClr val="D3E3EB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9" name="y2_k"/>
            <p:cNvSpPr txBox="1"/>
            <p:nvPr/>
          </p:nvSpPr>
          <p:spPr>
            <a:xfrm>
              <a:off x="219456" y="234441"/>
              <a:ext cx="457201" cy="3175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2200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C</a:t>
              </a:r>
            </a:p>
          </p:txBody>
        </p:sp>
        <p:sp>
          <p:nvSpPr>
            <p:cNvPr id="240" name="y2_h"/>
            <p:cNvSpPr txBox="1"/>
            <p:nvPr/>
          </p:nvSpPr>
          <p:spPr>
            <a:xfrm>
              <a:off x="786384" y="169486"/>
              <a:ext cx="2377441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pc="100" sz="1500">
                  <a:solidFill>
                    <a:srgbClr val="123B5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SAY</a:t>
              </a:r>
            </a:p>
          </p:txBody>
        </p:sp>
        <p:sp>
          <p:nvSpPr>
            <p:cNvPr id="241" name="y2_b"/>
            <p:cNvSpPr txBox="1"/>
            <p:nvPr/>
          </p:nvSpPr>
          <p:spPr>
            <a:xfrm>
              <a:off x="786384" y="474378"/>
              <a:ext cx="10180016" cy="1851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300">
                  <a:solidFill>
                    <a:srgbClr val="5B748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Point and say: "The nucleus is made of protons and neutrons."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4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4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2" grpId="1"/>
      <p:bldP build="whole" bldLvl="1" animBg="1" rev="0" advAuto="0" spid="237" grpId="2"/>
      <p:bldP build="whole" bldLvl="1" animBg="1" rev="0" advAuto="0" spid="242" grpId="3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23B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" name="phase_pill"/>
          <p:cNvGrpSpPr/>
          <p:nvPr/>
        </p:nvGrpSpPr>
        <p:grpSpPr>
          <a:xfrm>
            <a:off x="502919" y="274320"/>
            <a:ext cx="2578609" cy="347473"/>
            <a:chOff x="0" y="0"/>
            <a:chExt cx="2578607" cy="347472"/>
          </a:xfrm>
        </p:grpSpPr>
        <p:sp>
          <p:nvSpPr>
            <p:cNvPr id="246" name="Rounded Rectangle"/>
            <p:cNvSpPr/>
            <p:nvPr/>
          </p:nvSpPr>
          <p:spPr>
            <a:xfrm>
              <a:off x="0" y="0"/>
              <a:ext cx="2578608" cy="347473"/>
            </a:xfrm>
            <a:prstGeom prst="roundRect">
              <a:avLst>
                <a:gd name="adj" fmla="val 50000"/>
              </a:avLst>
            </a:prstGeom>
            <a:solidFill>
              <a:srgbClr val="FFD166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sz="1100"/>
              </a:pPr>
            </a:p>
          </p:txBody>
        </p:sp>
        <p:sp>
          <p:nvSpPr>
            <p:cNvPr id="247" name="PLENARY · 3 MIN"/>
            <p:cNvSpPr txBox="1"/>
            <p:nvPr/>
          </p:nvSpPr>
          <p:spPr>
            <a:xfrm>
              <a:off x="50886" y="99821"/>
              <a:ext cx="2476836" cy="1478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pc="110" sz="1100">
                  <a:solidFill>
                    <a:srgbClr val="123B54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PLENARY · 3 MIN</a:t>
              </a:r>
            </a:p>
          </p:txBody>
        </p:sp>
      </p:grpSp>
      <p:sp>
        <p:nvSpPr>
          <p:cNvPr id="249" name="slide_title"/>
          <p:cNvSpPr txBox="1"/>
          <p:nvPr/>
        </p:nvSpPr>
        <p:spPr>
          <a:xfrm>
            <a:off x="502919" y="1021333"/>
            <a:ext cx="11185857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3000">
                <a:solidFill>
                  <a:srgbClr val="F4F8FA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pPr/>
            <a:r>
              <a:t>Point and say</a:t>
            </a:r>
          </a:p>
        </p:txBody>
      </p:sp>
      <p:grpSp>
        <p:nvGrpSpPr>
          <p:cNvPr id="253" name="p0"/>
          <p:cNvGrpSpPr/>
          <p:nvPr/>
        </p:nvGrpSpPr>
        <p:grpSpPr>
          <a:xfrm>
            <a:off x="502919" y="2084832"/>
            <a:ext cx="9357057" cy="603505"/>
            <a:chOff x="0" y="0"/>
            <a:chExt cx="9357055" cy="603504"/>
          </a:xfrm>
        </p:grpSpPr>
        <p:sp>
          <p:nvSpPr>
            <p:cNvPr id="250" name="p0_bg"/>
            <p:cNvSpPr/>
            <p:nvPr/>
          </p:nvSpPr>
          <p:spPr>
            <a:xfrm>
              <a:off x="0" y="0"/>
              <a:ext cx="9357056" cy="603505"/>
            </a:xfrm>
            <a:prstGeom prst="roundRect">
              <a:avLst>
                <a:gd name="adj" fmla="val 15152"/>
              </a:avLst>
            </a:prstGeom>
            <a:solidFill>
              <a:srgbClr val="1B4A63"/>
            </a:solidFill>
            <a:ln w="12700" cap="flat">
              <a:solidFill>
                <a:srgbClr val="2D5F7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1" name="p0_n"/>
            <p:cNvSpPr txBox="1"/>
            <p:nvPr/>
          </p:nvSpPr>
          <p:spPr>
            <a:xfrm>
              <a:off x="182880" y="181101"/>
              <a:ext cx="36576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1</a:t>
              </a:r>
            </a:p>
          </p:txBody>
        </p:sp>
        <p:sp>
          <p:nvSpPr>
            <p:cNvPr id="252" name="p0_t"/>
            <p:cNvSpPr txBox="1"/>
            <p:nvPr/>
          </p:nvSpPr>
          <p:spPr>
            <a:xfrm>
              <a:off x="585216" y="196918"/>
              <a:ext cx="871697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500">
                  <a:solidFill>
                    <a:srgbClr val="F4F8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Point to the nucleus.</a:t>
              </a:r>
            </a:p>
          </p:txBody>
        </p:sp>
      </p:grpSp>
      <p:grpSp>
        <p:nvGrpSpPr>
          <p:cNvPr id="257" name="p1"/>
          <p:cNvGrpSpPr/>
          <p:nvPr/>
        </p:nvGrpSpPr>
        <p:grpSpPr>
          <a:xfrm>
            <a:off x="502919" y="2834639"/>
            <a:ext cx="9357057" cy="603505"/>
            <a:chOff x="0" y="0"/>
            <a:chExt cx="9357055" cy="603504"/>
          </a:xfrm>
        </p:grpSpPr>
        <p:sp>
          <p:nvSpPr>
            <p:cNvPr id="254" name="p1_bg"/>
            <p:cNvSpPr/>
            <p:nvPr/>
          </p:nvSpPr>
          <p:spPr>
            <a:xfrm>
              <a:off x="0" y="0"/>
              <a:ext cx="9357056" cy="603505"/>
            </a:xfrm>
            <a:prstGeom prst="roundRect">
              <a:avLst>
                <a:gd name="adj" fmla="val 15152"/>
              </a:avLst>
            </a:prstGeom>
            <a:solidFill>
              <a:srgbClr val="1B4A63"/>
            </a:solidFill>
            <a:ln w="12700" cap="flat">
              <a:solidFill>
                <a:srgbClr val="2D5F7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5" name="p1_n"/>
            <p:cNvSpPr txBox="1"/>
            <p:nvPr/>
          </p:nvSpPr>
          <p:spPr>
            <a:xfrm>
              <a:off x="182880" y="181101"/>
              <a:ext cx="36576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2</a:t>
              </a:r>
            </a:p>
          </p:txBody>
        </p:sp>
        <p:sp>
          <p:nvSpPr>
            <p:cNvPr id="256" name="p1_t"/>
            <p:cNvSpPr txBox="1"/>
            <p:nvPr/>
          </p:nvSpPr>
          <p:spPr>
            <a:xfrm>
              <a:off x="585216" y="196918"/>
              <a:ext cx="871697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500">
                  <a:solidFill>
                    <a:srgbClr val="F4F8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Point to a proton.</a:t>
              </a:r>
            </a:p>
          </p:txBody>
        </p:sp>
      </p:grpSp>
      <p:grpSp>
        <p:nvGrpSpPr>
          <p:cNvPr id="261" name="p2"/>
          <p:cNvGrpSpPr/>
          <p:nvPr/>
        </p:nvGrpSpPr>
        <p:grpSpPr>
          <a:xfrm>
            <a:off x="502919" y="3584447"/>
            <a:ext cx="9357057" cy="603505"/>
            <a:chOff x="0" y="0"/>
            <a:chExt cx="9357055" cy="603504"/>
          </a:xfrm>
        </p:grpSpPr>
        <p:sp>
          <p:nvSpPr>
            <p:cNvPr id="258" name="p2_bg"/>
            <p:cNvSpPr/>
            <p:nvPr/>
          </p:nvSpPr>
          <p:spPr>
            <a:xfrm>
              <a:off x="0" y="0"/>
              <a:ext cx="9357056" cy="603505"/>
            </a:xfrm>
            <a:prstGeom prst="roundRect">
              <a:avLst>
                <a:gd name="adj" fmla="val 15152"/>
              </a:avLst>
            </a:prstGeom>
            <a:solidFill>
              <a:srgbClr val="1B4A63"/>
            </a:solidFill>
            <a:ln w="12700" cap="flat">
              <a:solidFill>
                <a:srgbClr val="2D5F7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9" name="p2_n"/>
            <p:cNvSpPr txBox="1"/>
            <p:nvPr/>
          </p:nvSpPr>
          <p:spPr>
            <a:xfrm>
              <a:off x="182880" y="181101"/>
              <a:ext cx="36576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3</a:t>
              </a:r>
            </a:p>
          </p:txBody>
        </p:sp>
        <p:sp>
          <p:nvSpPr>
            <p:cNvPr id="260" name="p2_t"/>
            <p:cNvSpPr txBox="1"/>
            <p:nvPr/>
          </p:nvSpPr>
          <p:spPr>
            <a:xfrm>
              <a:off x="585216" y="196918"/>
              <a:ext cx="871697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500">
                  <a:solidFill>
                    <a:srgbClr val="F4F8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Point to a neutron.</a:t>
              </a:r>
            </a:p>
          </p:txBody>
        </p:sp>
      </p:grpSp>
      <p:grpSp>
        <p:nvGrpSpPr>
          <p:cNvPr id="265" name="p3"/>
          <p:cNvGrpSpPr/>
          <p:nvPr/>
        </p:nvGrpSpPr>
        <p:grpSpPr>
          <a:xfrm>
            <a:off x="502919" y="4334255"/>
            <a:ext cx="9357057" cy="603505"/>
            <a:chOff x="0" y="0"/>
            <a:chExt cx="9357055" cy="603504"/>
          </a:xfrm>
        </p:grpSpPr>
        <p:sp>
          <p:nvSpPr>
            <p:cNvPr id="262" name="p3_bg"/>
            <p:cNvSpPr/>
            <p:nvPr/>
          </p:nvSpPr>
          <p:spPr>
            <a:xfrm>
              <a:off x="0" y="0"/>
              <a:ext cx="9357056" cy="603505"/>
            </a:xfrm>
            <a:prstGeom prst="roundRect">
              <a:avLst>
                <a:gd name="adj" fmla="val 15152"/>
              </a:avLst>
            </a:prstGeom>
            <a:solidFill>
              <a:srgbClr val="1B4A63"/>
            </a:solidFill>
            <a:ln w="12700" cap="flat">
              <a:solidFill>
                <a:srgbClr val="2D5F7C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3" name="p3_n"/>
            <p:cNvSpPr txBox="1"/>
            <p:nvPr/>
          </p:nvSpPr>
          <p:spPr>
            <a:xfrm>
              <a:off x="182880" y="181101"/>
              <a:ext cx="365761" cy="2413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b="1" sz="1600">
                  <a:solidFill>
                    <a:srgbClr val="FFD166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pPr/>
              <a:r>
                <a:t>4</a:t>
              </a:r>
            </a:p>
          </p:txBody>
        </p:sp>
        <p:sp>
          <p:nvSpPr>
            <p:cNvPr id="264" name="p3_t"/>
            <p:cNvSpPr txBox="1"/>
            <p:nvPr/>
          </p:nvSpPr>
          <p:spPr>
            <a:xfrm>
              <a:off x="585216" y="196918"/>
              <a:ext cx="8716976" cy="20966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>
                <a:defRPr sz="1500">
                  <a:solidFill>
                    <a:srgbClr val="F4F8FA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Say the sentence.</a:t>
              </a:r>
            </a:p>
          </p:txBody>
        </p:sp>
      </p:grpSp>
      <p:sp>
        <p:nvSpPr>
          <p:cNvPr id="266" name="pl_sentence"/>
          <p:cNvSpPr txBox="1"/>
          <p:nvPr/>
        </p:nvSpPr>
        <p:spPr>
          <a:xfrm>
            <a:off x="502919" y="5293127"/>
            <a:ext cx="11185857" cy="2219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i="1" sz="1600">
                <a:solidFill>
                  <a:srgbClr val="FFD166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The nucleus is made of protons and neutrons.</a:t>
            </a:r>
          </a:p>
        </p:txBody>
      </p:sp>
      <p:sp>
        <p:nvSpPr>
          <p:cNvPr id="267" name="pl_next"/>
          <p:cNvSpPr txBox="1"/>
          <p:nvPr/>
        </p:nvSpPr>
        <p:spPr>
          <a:xfrm>
            <a:off x="502919" y="6317394"/>
            <a:ext cx="11185857" cy="185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i="1" sz="1300">
                <a:solidFill>
                  <a:srgbClr val="D3E3EB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Next lesson: we build a real model.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push dir="u"/>
      </p:transition>
    </mc:Choice>
    <mc:Fallback>
      <p:transition spd="med">
        <p:fade/>
      </p:transition>
    </mc:Fallback>
  </mc:AlternateContent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ID="10" grpId="1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7" dur="4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Class="entr" nodeType="clickEffect" presetID="10" grpId="2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2" dur="4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Class="entr" nodeType="clickEffect" presetID="10" grpId="3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17" dur="4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Class="entr" nodeType="clickEffect" presetID="10" grpId="4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22" dur="4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nodeType="clickEffect" presetSubtype="16" presetID="23" grpId="5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Class="entr" nodeType="clickEffect" presetID="10" grpId="6" fill="hold">
                                  <p:stCondLst>
                                    <p:cond delay="0"/>
                                  </p:stCondLst>
                                  <p:iterate type="el" backwards="0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id="33" dur="4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53" grpId="1"/>
      <p:bldP build="whole" bldLvl="1" animBg="1" rev="0" advAuto="0" spid="257" grpId="2"/>
      <p:bldP build="whole" bldLvl="1" animBg="1" rev="0" advAuto="0" spid="261" grpId="3"/>
      <p:bldP build="whole" bldLvl="1" animBg="1" rev="0" advAuto="0" spid="265" grpId="4"/>
      <p:bldP build="whole" bldLvl="1" animBg="1" rev="0" advAuto="0" spid="266" grpId="5"/>
      <p:bldP build="whole" bldLvl="1" animBg="1" rev="0" advAuto="0" spid="267" grpId="6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