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a:t>
            </a:r>
          </a:p>
          <a:p>
            <a:pPr/>
          </a:p>
          <a:p>
            <a:pPr/>
            <a:r>
              <a:t>I READ reference/Numbers In Science.pptx (the stated PREVIOUS lesson) and checked every question against the last three Do Nows (Numbers In Science, Measuring And Recording Honestly, Burning Food). Nothing repeats: "why repeat a test", "controlled variable", rounding to a whole number and 3.0 cm against 3.00 cm have each been asked already, so none is asked again.</a:t>
            </a:r>
          </a:p>
          <a:p>
            <a:pPr/>
          </a:p>
          <a:p>
            <a:pPr/>
            <a:r>
              <a:t>Q1 AND Q4 RETRIEVE NUMBERS IN SCIENCE in a new shape. Q1 is standard form on a fresh small number (7.2 × 10⁻⁴; watch for 7.2 × 10⁴). Q4 is spot-the-error on significant figures: the leading zeros do not count, but the zero BETWEEN the 4 and the 5 does, so the answer is 3, not 2 and not 5.</a:t>
            </a:r>
          </a:p>
          <a:p>
            <a:pPr/>
          </a:p>
          <a:p>
            <a:pPr/>
            <a:r>
              <a:t>Q2 IS THE MEAN, PRIMED. Everyone has met it at primary school: 12 + 15 + 18 = 45, and 45 ÷ 3 = 15. It is a biology context on purpose. Watch for 45 (forgetting to divide), which is We Do row 1.</a:t>
            </a:r>
          </a:p>
          <a:p>
            <a:pPr/>
          </a:p>
          <a:p>
            <a:pPr/>
            <a:r>
              <a:t>Q3 IS THE ONE THE CLASS FOUND HARD, accuracy versus precision, in a new shape (not the dartboard). The readings 530, 531 and 530 are very close together, so PRECISE, but the true mass is 500 g, so they are about 30 g too high, so NOT accurate. Do not correct it yet if it comes out wrong. Say "hold that thought, I Do 1 gives you a way to tell".</a:t>
            </a:r>
          </a:p>
          <a:p>
            <a:pPr/>
          </a:p>
          <a:p>
            <a:pPr/>
            <a:r>
              <a:t>Q5 AND Q6 ARE INTUITIVE, NOT TAUGHT YET. Accept any reasonable answer. Q5 primes objective 3 (models). Q6 primes objective 2 (graphs): a line graph, because both temperature and time are numbers that change smoothly.</a:t>
            </a:r>
          </a:p>
          <a:p>
            <a:pPr/>
          </a:p>
          <a:p>
            <a:pPr/>
            <a:r>
              <a:t>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Shape 92"/>
          <p:cNvSpPr/>
          <p:nvPr>
            <p:ph type="sldImg"/>
          </p:nvPr>
        </p:nvSpPr>
        <p:spPr>
          <a:prstGeom prst="rect">
            <a:avLst/>
          </a:prstGeom>
        </p:spPr>
        <p:txBody>
          <a:bodyPr/>
          <a:lstStyle/>
          <a:p>
            <a:pPr/>
          </a:p>
        </p:txBody>
      </p:sp>
      <p:sp>
        <p:nvSpPr>
          <p:cNvPr id="93" name="Shape 93"/>
          <p:cNvSpPr/>
          <p:nvPr>
            <p:ph type="body" sz="quarter" idx="1"/>
          </p:nvPr>
        </p:nvSpPr>
        <p:spPr>
          <a:prstGeom prst="rect">
            <a:avLst/>
          </a:prstGeom>
        </p:spPr>
        <p:txBody>
          <a:bodyPr/>
          <a:lstStyle/>
          <a:p>
            <a:pPr/>
            <a:r>
              <a:t>OBJECTIVES. 1 minute. Four clicks.</a:t>
            </a:r>
          </a:p>
          <a:p>
            <a:pPr/>
          </a:p>
          <a:p>
            <a:pPr/>
            <a:r>
              <a:t>WHERE THIS SITS. The last two lessons were about getting good numbers: writing them exactly (Numbers In Science) and, before that, measuring fairly (Burning Food). Today is what a scientist does with a set of numbers once they have them: summarise them, draw them, and use them. Say "you have the numbers. Today we make them mean something."</a:t>
            </a:r>
          </a:p>
          <a:p>
            <a:pPr/>
          </a:p>
          <a:p>
            <a:pPr/>
            <a:r>
              <a:t>THE PRACTICAL TODAY IS PLOTTING A SET OF RESULTS. Say so now: it is the You Do, and it is on paper. The results are invented, so no one has to roll anything, and everyone gets the same numbers.</a:t>
            </a:r>
          </a:p>
          <a:p>
            <a:pPr/>
          </a:p>
          <a:p>
            <a:pPr/>
            <a:r>
              <a:t>THE BANNER IS THE THROUGHLINE: mean, then graph, then model. Point back at it when the room gets lost. The model "predicts" what you did not measure: that is today's last idea.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110"/>
          <p:cNvSpPr/>
          <p:nvPr>
            <p:ph type="sldImg"/>
          </p:nvPr>
        </p:nvSpPr>
        <p:spPr>
          <a:prstGeom prst="rect">
            <a:avLst/>
          </a:prstGeom>
        </p:spPr>
        <p:txBody>
          <a:bodyPr/>
          <a:lstStyle/>
          <a:p>
            <a:pPr/>
          </a:p>
        </p:txBody>
      </p:sp>
      <p:sp>
        <p:nvSpPr>
          <p:cNvPr id="111" name="Shape 111"/>
          <p:cNvSpPr/>
          <p:nvPr>
            <p:ph type="body" sz="quarter" idx="1"/>
          </p:nvPr>
        </p:nvSpPr>
        <p:spPr>
          <a:prstGeom prst="rect">
            <a:avLst/>
          </a:prstGeom>
        </p:spPr>
        <p:txBody>
          <a:bodyPr/>
          <a:lstStyle/>
          <a:p>
            <a:pPr/>
            <a:r>
              <a:t>HOOK. 2 minutes. Three cards on one click.</a:t>
            </a:r>
          </a:p>
          <a:p>
            <a:pPr/>
          </a:p>
          <a:p>
            <a:pPr/>
            <a:r>
              <a:t>Show of hands for each, and tally on the board. Do not settle it: I Do 2 does.</a:t>
            </a:r>
          </a:p>
          <a:p>
            <a:pPr/>
          </a:p>
          <a:p>
            <a:pPr/>
            <a:r>
              <a:t>ANSWER, FOR YOU: B. Eclipse times are calculated from a mathematical model of how the Sun, Moon and Earth move. NASA's forecasts are accurate to under a minute, hundreds of years ahead. Expect A to attract votes: it feels like "patterns" is how it works. It half is: the pattern is the model, written as maths.</a:t>
            </a:r>
          </a:p>
          <a:p>
            <a:pPr/>
          </a:p>
          <a:p>
            <a:pPr/>
            <a:r>
              <a:t>THE POINT FOR TODAY: the model did not exist first. People measured the Moon and Sun again and again, averaged and graphed the results, found the pattern, and wrote it as a model. That is the whole lesson in one sentence: mean, graph, model.</a:t>
            </a:r>
          </a:p>
          <a:p>
            <a:pPr/>
          </a:p>
          <a:p>
            <a:pPr/>
            <a:r>
              <a:t>DO NOT EXPLAIN YET. Say "a model that predicts the sky to within a minute. That is what a graph can turn into" and move to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r>
              <a:t>I DO. 3 minutes. Four clicks: the definitions, then thermometer A, B and C one at a time.</a:t>
            </a:r>
          </a:p>
          <a:p>
            <a:pPr/>
          </a:p>
          <a:p>
            <a:pPr/>
            <a:r>
              <a:t>OBJECTIVE 1, AND THE DIAGNOSTIC THE CLASS FOUND HARD. Calculate each mean and range aloud with them: A is (99 + 100 + 101) ÷ 3 = 300 ÷ 3 = 100, range 101 − 99 = 2. B is (95 + 96 + 97) ÷ 3 = 288 ÷ 3 = 96, range 2. C is (94 + 100 + 106) ÷ 3 = 300 ÷ 3 = 100, range 106 − 94 = 12. Every number on this slide is checked in build/averages-graphs-and-models-check.py.</a:t>
            </a:r>
          </a:p>
          <a:p>
            <a:pPr/>
          </a:p>
          <a:p>
            <a:pPr/>
            <a:r>
              <a:t>THE RANGE TELLS YOU ABOUT PRECISION. A small range means the results are close together: precise. A and B both have a range of 2, so both are precise. C has a range of 12, so it is not.</a:t>
            </a:r>
          </a:p>
          <a:p>
            <a:pPr/>
          </a:p>
          <a:p>
            <a:pPr/>
            <a:r>
              <a:t>THE MEAN, COMPARED WITH THE TRUE VALUE, TELLS YOU ABOUT ACCURACY. The true boiling point is 100 °C. A and C both average 100, so both are accurate ON AVERAGE. B averages 96, which is 4 degrees off, so it is not accurate.</a:t>
            </a:r>
          </a:p>
          <a:p>
            <a:pPr/>
          </a:p>
          <a:p>
            <a:pPr/>
            <a:r>
              <a:t>THE TRAP IS B. It looks like the best thermometer because the readings agree. Say it plainly: "agreeing with each other is not the same as agreeing with the truth". C is the opposite: the readings jump about, but the average is right.</a:t>
            </a:r>
          </a:p>
          <a:p>
            <a:pPr/>
          </a:p>
          <a:p>
            <a:pPr/>
            <a:r>
              <a:t>THE SECOND THING TO SAY: a mean can hide a wide spread, which is why we quote the range with it. Two sets of results can have the same mean (A and C) and be very different.</a:t>
            </a:r>
          </a:p>
          <a:p>
            <a:pPr/>
          </a:p>
          <a:p>
            <a:pPr/>
            <a:r>
              <a:t>IF ASKED WHY A THERMOMETER WOULD READ 94 AND 106: a poor or damaged one, or one read badly. It is a teaching example, not a typical thermometer.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I DO. 3 minutes. Two clicks: the three graph types together, then the model.</a:t>
            </a:r>
          </a:p>
          <a:p>
            <a:pPr/>
          </a:p>
          <a:p>
            <a:pPr/>
            <a:r>
              <a:t>OBJECTIVE 2, THE CHOICE. The rule is the type of the independent variable. A word (a category): bar chart. A number that can take any value in between (time, height, temperature): line graph. Parts of a whole adding to 100%: pie chart. Ask "what is on the x-axis?" and the choice mostly makes itself.</a:t>
            </a:r>
          </a:p>
          <a:p>
            <a:pPr/>
          </a:p>
          <a:p>
            <a:pPr/>
            <a:r>
              <a:t>THE MISCONCEPTION TO WATCH: a bar chart for two continuous numbers because "bar charts look neat". Name it: bars are for separate categories, and a line shows that values in between exist.</a:t>
            </a:r>
          </a:p>
          <a:p>
            <a:pPr/>
          </a:p>
          <a:p>
            <a:pPr/>
            <a:r>
              <a:t>THE LINE GRAPH ALSO NEEDS THE RIGHT LINE. A line graph of experimental results is NOT dot-to-dot. It is a LINE OF BEST FIT: a ruler line (or smooth curve) through the middle of the points, with about as many points above as below. Say this now, because the You Do depends on it.</a:t>
            </a:r>
          </a:p>
          <a:p>
            <a:pPr/>
          </a:p>
          <a:p>
            <a:pPr/>
            <a:r>
              <a:t>OBJECTIVE 3, THE MODEL. Settle the Hook here: the eclipse model is B. A model is simplified on purpose: the eclipse model ignores the colour of the Moon, the weather, everything not needed to predict where the shadow falls. It is useful because it predicts, not because it is a copy. Other examples to have ready: a globe, a diagram of the particle model of a solid, a weather forecast, a model aeroplane in a wind tunnel.</a:t>
            </a:r>
          </a:p>
          <a:p>
            <a:pPr/>
          </a:p>
          <a:p>
            <a:pPr/>
            <a:r>
              <a:t>THE LINK TO TODAY'S PRACTICAL: the straight line they draw through the ramp results is a model. They will use it to predict a ramp height nobody tested, and say how far to trust it. That is objective 3 in action.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WE DO. 5 minutes. Four clicks. Take answers from the room first, then click.</a:t>
            </a:r>
          </a:p>
          <a:p>
            <a:pPr/>
          </a:p>
          <a:p>
            <a:pPr/>
            <a:r>
              <a:t>ROW 1 IS OBJECTIVE 1, THE COMMONEST MEAN MISTAKE: stopping at the total. 4 + 7 + 13 = 24, and 24 ÷ 3 = 8. If anyone says 24 ÷ 4, ask "how many results are there?"</a:t>
            </a:r>
          </a:p>
          <a:p>
            <a:pPr/>
          </a:p>
          <a:p>
            <a:pPr/>
            <a:r>
              <a:t>ROW 2 IS THE ONE THE CLASS FOUND HARD, SAID AS A MISCONCEPTION. "Close together" is precision, not accuracy. Make them use both numbers: the range (2) says precise; the mean (96) against the true value (100) says not accurate. This is thermometer B from I Do 1.</a:t>
            </a:r>
          </a:p>
          <a:p>
            <a:pPr/>
          </a:p>
          <a:p>
            <a:pPr/>
            <a:r>
              <a:t>ROW 3 IS OBJECTIVE 2. Carpet, wood and tiles are words, so a bar chart. If they argue "but I could join the tops", ask what the point halfway between carpet and wood would mean.</a:t>
            </a:r>
          </a:p>
          <a:p>
            <a:pPr/>
          </a:p>
          <a:p>
            <a:pPr/>
            <a:r>
              <a:t>ROW 4 IS OBJECTIVE 3, THE COMMON ONE: students think a model has to be a perfect copy. A model that was a perfect copy would be as hard to use as the real thing. Say "a map as big as the country is no use".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Shape 250"/>
          <p:cNvSpPr/>
          <p:nvPr>
            <p:ph type="sldImg"/>
          </p:nvPr>
        </p:nvSpPr>
        <p:spPr>
          <a:prstGeom prst="rect">
            <a:avLst/>
          </a:prstGeom>
        </p:spPr>
        <p:txBody>
          <a:bodyPr/>
          <a:lstStyle/>
          <a:p>
            <a:pPr/>
          </a:p>
        </p:txBody>
      </p:sp>
      <p:sp>
        <p:nvSpPr>
          <p:cNvPr id="251" name="Shape 251"/>
          <p:cNvSpPr/>
          <p:nvPr>
            <p:ph type="body" sz="quarter" idx="1"/>
          </p:nvPr>
        </p:nvSpPr>
        <p:spPr>
          <a:prstGeom prst="rect">
            <a:avLst/>
          </a:prstGeom>
        </p:spPr>
        <p:txBody>
          <a:bodyPr/>
          <a:lstStyle/>
          <a:p>
            <a:pPr/>
            <a:r>
              <a:t>COLD CALL. 6 minutes. Six clicks. Name a student, then ask. Students have no mini whiteboards, so answers are spoken.</a:t>
            </a:r>
          </a:p>
          <a:p>
            <a:pPr/>
          </a:p>
          <a:p>
            <a:pPr/>
            <a:r>
              <a:t>Q1 AND Q2 ARE OBJECTIVE 1, FRESH NUMBERS, FOUR RESULTS THIS TIME. Q1: 5 + 8 + 9 + 14 = 36, and 36 ÷ 4 = 9. Watch for ÷ 3 (counting the results wrongly). Q2: 31 − 19 = 12. Watch for 31 (the highest only) or 8 (the middle gap).</a:t>
            </a:r>
          </a:p>
          <a:p>
            <a:pPr/>
          </a:p>
          <a:p>
            <a:pPr/>
            <a:r>
              <a:t>Q3 IS THE ACCURACY VERSUS PRECISION CHECK, now with the range doing the work. A smaller range is more precise. If a student says "more accurate", ask "accurate compared with what?" Nothing in the question gives a true value, so accuracy cannot be judged.</a:t>
            </a:r>
          </a:p>
          <a:p>
            <a:pPr/>
          </a:p>
          <a:p>
            <a:pPr/>
            <a:r>
              <a:t>Q4 AND Q5 ARE OBJECTIVE 2. Q4: parts of a whole adding to 100%, so a pie chart (78 + 21 + 1 = 100). Q5: the independent variable, the one you change, goes on the x-axis. "Dependent on the y-axis" is the other half if anyone asks.</a:t>
            </a:r>
          </a:p>
          <a:p>
            <a:pPr/>
          </a:p>
          <a:p>
            <a:pPr/>
            <a:r>
              <a:t>Q6 IS OBJECTIVE 3, COLD. Several right answers: too big (a planet), too small (an atom), too fast, too slow, too dangerous, too expensive. Take two or three. Push for "predict" as well as "explain".</a:t>
            </a:r>
          </a:p>
          <a:p>
            <a:pPr/>
          </a:p>
          <a:p>
            <a:pPr/>
            <a:r>
              <a:t>IF MOST OF THE ROOM IS RIGHT BY Q4, spend longer on Q6. IF SHORT OF TIME, cut Q1.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Shape 362"/>
          <p:cNvSpPr/>
          <p:nvPr>
            <p:ph type="sldImg"/>
          </p:nvPr>
        </p:nvSpPr>
        <p:spPr>
          <a:prstGeom prst="rect">
            <a:avLst/>
          </a:prstGeom>
        </p:spPr>
        <p:txBody>
          <a:bodyPr/>
          <a:lstStyle/>
          <a:p>
            <a:pPr/>
          </a:p>
        </p:txBody>
      </p:sp>
      <p:sp>
        <p:nvSpPr>
          <p:cNvPr id="363" name="Shape 363"/>
          <p:cNvSpPr/>
          <p:nvPr>
            <p:ph type="body" sz="quarter" idx="1"/>
          </p:nvPr>
        </p:nvSpPr>
        <p:spPr>
          <a:prstGeom prst="rect">
            <a:avLst/>
          </a:prstGeom>
        </p:spPr>
        <p:txBody>
          <a:bodyPr/>
          <a:lstStyle/>
          <a:p>
            <a:pPr/>
            <a:r>
              <a:t>YOU DO. 17 minutes: the standard 14 and the 3 that used to be the Answers slide. Four clicks: Bronze, Silver, Gold, then the plotting steps. THIS IS THE PRACTICAL: PLOTTING A SET OF RESULTS, on the PRINTED worksheet (a graph cannot be plotted in Google Classroom, so there is no Classroom step). Print the worksheet double-sided, two pages; page 2 has the graph grid and the upside-down answers.</a:t>
            </a:r>
          </a:p>
          <a:p>
            <a:pPr/>
          </a:p>
          <a:p>
            <a:pPr/>
            <a:r>
              <a:t>THE RESULTS ARE FABRICATED. No one rolled a car. The numbers were invented to look like a real class's results: three trials per ramp height, a little scatter, and a steady rise. Tell the students: "these results were made up so everyone starts with the same numbers. Real results look like this." That is honest, and it matches last lesson's message about recording what actually happened. If you want to run it for real another day: a toy car, a plank on books at 10, 20, 30, 40 and 50 cm, three rolls each, measure from the bottom of the ramp to the front wheel.</a:t>
            </a:r>
          </a:p>
          <a:p>
            <a:pPr/>
          </a:p>
          <a:p>
            <a:pPr/>
            <a:r>
              <a:t>NO EQUIPMENT AND NO SAFETY ISSUE beyond a sharp pencil. They need a pencil, a ruler and an eraser. A ruler line of best fit is the one skill that really needs the ruler.</a:t>
            </a:r>
          </a:p>
          <a:p>
            <a:pPr/>
          </a:p>
          <a:p>
            <a:pPr/>
            <a:r>
              <a:t>THE SHEET IS A SEQUENCE: Bronze, Silver, Gold, then everyone carries on. About 4 minutes on Bronze (the mean and range columns, 10 calculations), 8 on Silver (choose the graph, plot, draw the line), 5 on Gold (predict, and judge the prediction).</a:t>
            </a:r>
          </a:p>
          <a:p>
            <a:pPr/>
          </a:p>
          <a:p>
            <a:pPr/>
            <a:r>
              <a:t>WHERE THEY WILL STALL. BRONZE: dividing by 4 or by 5 instead of by 3 (there are three trials), and using the middle value as the range. SILVER: plotting all 15 results instead of the 5 MEANS; axes the wrong way round (height is the independent variable, so it goes on the x-axis); no axis titles or units; joining the dots; forcing the line through (0, 0). The line does not have to go through the origin: it should go through the middle of the points. GOLD Q8: reading the answer off the line, not guessing. Q9: they say the prediction is wrong; push for "less trustworthy, because 100 cm is far outside the heights tested".</a:t>
            </a:r>
          </a:p>
          <a:p>
            <a:pPr/>
          </a:p>
          <a:p>
            <a:pPr/>
            <a:r>
              <a:t>IF THEY FINISH EARLY: Gold Q10, then ask "what would you change about the practical to get more precise results?" (more trials; the same release method).</a:t>
            </a:r>
          </a:p>
          <a:p>
            <a:pPr/>
          </a:p>
          <a:p>
            <a:pPr/>
            <a:r>
              <a:t>CIRCULATE WITH ONE QUESTION: "which is the independent variable, and where does it go?" AT 3 MINUTES REMAINING, stop them. There is no Answers slide: the answers are printed upside down at the end of the worksheet.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Shape 386"/>
          <p:cNvSpPr/>
          <p:nvPr>
            <p:ph type="sldImg"/>
          </p:nvPr>
        </p:nvSpPr>
        <p:spPr>
          <a:prstGeom prst="rect">
            <a:avLst/>
          </a:prstGeom>
        </p:spPr>
        <p:txBody>
          <a:bodyPr/>
          <a:lstStyle/>
          <a:p>
            <a:pPr/>
          </a:p>
        </p:txBody>
      </p:sp>
      <p:sp>
        <p:nvSpPr>
          <p:cNvPr id="387" name="Shape 387"/>
          <p:cNvSpPr/>
          <p:nvPr>
            <p:ph type="body" sz="quarter" idx="1"/>
          </p:nvPr>
        </p:nvSpPr>
        <p:spPr>
          <a:prstGeom prst="rect">
            <a:avLst/>
          </a:prstGeom>
        </p:spPr>
        <p:txBody>
          <a:bodyPr/>
          <a:lstStyle/>
          <a:p>
            <a:pPr/>
            <a:r>
              <a:t>PLENARY. 3 minutes. Eleven clicks: each statement, then its answer, then the closing line.</a:t>
            </a:r>
          </a:p>
          <a:p>
            <a:pPr/>
          </a:p>
          <a:p>
            <a:pPr/>
            <a:r>
              <a:t>Q1 IS OBJECTIVE 1, PLAINLY TRUE. Q2 IS THE ONE THE CLASS FOUND HARD, AND THE MOST IMPORTANT STATEMENT ON THE SLIDE: close together is precision. If this splits the room, that is the first five minutes of next lesson, not a footnote. Point back at thermometer B.</a:t>
            </a:r>
          </a:p>
          <a:p>
            <a:pPr/>
          </a:p>
          <a:p>
            <a:pPr/>
            <a:r>
              <a:t>Q3 IS OBJECTIVE 2: time and temperature are both numbers, so a line graph. Q4 IS OBJECTIVE 3 AND THE COMMONEST MISCONCEPTION. Q5 IS OBJECTIVE 3 IN ACTION, tied to their own line of best fit.</a:t>
            </a:r>
          </a:p>
          <a:p>
            <a:pPr/>
          </a:p>
          <a:p>
            <a:pPr/>
            <a:r>
              <a:t>THE CLOSING LINE REPEATS THE OBJECTIVES BANNER, on purpose. THIS LESSON MAKES NO PROMISE FOR THE NEXT ONE. If you want to lead on: running the ramp practical for real, and comparing the class's results with the invented ones, is a natural next step.</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69877" y="6232199"/>
            <a:ext cx="258622" cy="248303"/>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3" name="phase_pill"/>
          <p:cNvGrpSpPr/>
          <p:nvPr/>
        </p:nvGrpSpPr>
        <p:grpSpPr>
          <a:xfrm>
            <a:off x="1170432" y="310894"/>
            <a:ext cx="1892809" cy="329188"/>
            <a:chOff x="0" y="0"/>
            <a:chExt cx="1892808" cy="329186"/>
          </a:xfrm>
        </p:grpSpPr>
        <p:sp>
          <p:nvSpPr>
            <p:cNvPr id="21" name="Rounded Rectangle"/>
            <p:cNvSpPr/>
            <p:nvPr/>
          </p:nvSpPr>
          <p:spPr>
            <a:xfrm>
              <a:off x="0" y="-1"/>
              <a:ext cx="1892809"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22" name="DO NOW · 10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5395C"/>
                </a:solidFill>
                <a:latin typeface="Georgia"/>
                <a:ea typeface="Georgia"/>
                <a:cs typeface="Georgia"/>
                <a:sym typeface="Georgia"/>
              </a:defRPr>
            </a:lvl1pPr>
          </a:lstStyle>
          <a:p>
            <a:pPr/>
            <a:r>
              <a:t>Averages, Graphs And Models</a:t>
            </a:r>
          </a:p>
        </p:txBody>
      </p:sp>
      <p:sp>
        <p:nvSpPr>
          <p:cNvPr id="25" name="lesson_date"/>
          <p:cNvSpPr txBox="1"/>
          <p:nvPr/>
        </p:nvSpPr>
        <p:spPr>
          <a:xfrm>
            <a:off x="8534095" y="382938"/>
            <a:ext cx="3108962" cy="1850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5708A"/>
                </a:solidFill>
                <a:latin typeface="Arial"/>
                <a:ea typeface="Arial"/>
                <a:cs typeface="Arial"/>
                <a:sym typeface="Arial"/>
              </a:defRPr>
            </a:lvl1pPr>
          </a:lstStyle>
          <a:p>
            <a:pPr/>
            <a:r>
              <a:t>Monday 5 October 2026</a:t>
            </a:r>
          </a:p>
        </p:txBody>
      </p:sp>
      <p:sp>
        <p:nvSpPr>
          <p:cNvPr id="26" name="rule"/>
          <p:cNvSpPr/>
          <p:nvPr/>
        </p:nvSpPr>
        <p:spPr>
          <a:xfrm>
            <a:off x="1170432" y="896110"/>
            <a:ext cx="10472623" cy="36579"/>
          </a:xfrm>
          <a:prstGeom prst="rect">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8" name="d0_badge"/>
          <p:cNvSpPr/>
          <p:nvPr/>
        </p:nvSpPr>
        <p:spPr>
          <a:xfrm>
            <a:off x="1371600" y="1426463"/>
            <a:ext cx="384048"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9" name="d0_num"/>
          <p:cNvSpPr txBox="1"/>
          <p:nvPr/>
        </p:nvSpPr>
        <p:spPr>
          <a:xfrm>
            <a:off x="1371600" y="151688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30" name="d0_q"/>
          <p:cNvSpPr txBox="1"/>
          <p:nvPr/>
        </p:nvSpPr>
        <p:spPr>
          <a:xfrm>
            <a:off x="1901950" y="1501783"/>
            <a:ext cx="4166466"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Write 0.00072 in standard form.</a:t>
            </a:r>
          </a:p>
        </p:txBody>
      </p:sp>
      <p:grpSp>
        <p:nvGrpSpPr>
          <p:cNvPr id="33" name="d0_a"/>
          <p:cNvGrpSpPr/>
          <p:nvPr/>
        </p:nvGrpSpPr>
        <p:grpSpPr>
          <a:xfrm>
            <a:off x="1371599" y="2048255"/>
            <a:ext cx="4696820" cy="438916"/>
            <a:chOff x="0" y="0"/>
            <a:chExt cx="4696818" cy="438914"/>
          </a:xfrm>
        </p:grpSpPr>
        <p:sp>
          <p:nvSpPr>
            <p:cNvPr id="31" name="Rounded Rectangle"/>
            <p:cNvSpPr/>
            <p:nvPr/>
          </p:nvSpPr>
          <p:spPr>
            <a:xfrm>
              <a:off x="-1" y="0"/>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32" name="7.2 × 10⁻⁴. A small number has a negative power."/>
            <p:cNvSpPr txBox="1"/>
            <p:nvPr/>
          </p:nvSpPr>
          <p:spPr>
            <a:xfrm>
              <a:off x="35034" y="116840"/>
              <a:ext cx="4626748" cy="2052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7.2 × 10⁻⁴. A small number has a negative power.</a:t>
              </a:r>
            </a:p>
          </p:txBody>
        </p:sp>
      </p:grpSp>
      <p:sp>
        <p:nvSpPr>
          <p:cNvPr id="34" name="d1_bg"/>
          <p:cNvSpPr/>
          <p:nvPr/>
        </p:nvSpPr>
        <p:spPr>
          <a:xfrm>
            <a:off x="6543902" y="1133855"/>
            <a:ext cx="5099154" cy="1481329"/>
          </a:xfrm>
          <a:prstGeom prst="roundRect">
            <a:avLst>
              <a:gd name="adj" fmla="val 6173"/>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35" name="d1_badge"/>
          <p:cNvSpPr/>
          <p:nvPr/>
        </p:nvSpPr>
        <p:spPr>
          <a:xfrm>
            <a:off x="6745072" y="1426463"/>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36" name="d1_num"/>
          <p:cNvSpPr txBox="1"/>
          <p:nvPr/>
        </p:nvSpPr>
        <p:spPr>
          <a:xfrm>
            <a:off x="6745072" y="1516886"/>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37" name="d1_q"/>
          <p:cNvSpPr txBox="1"/>
          <p:nvPr/>
        </p:nvSpPr>
        <p:spPr>
          <a:xfrm>
            <a:off x="7275424" y="1381133"/>
            <a:ext cx="4166466"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Three plants grew 12 cm, 15 cm and 18 cm. Calculate the mean growth.</a:t>
            </a:r>
          </a:p>
        </p:txBody>
      </p:sp>
      <p:grpSp>
        <p:nvGrpSpPr>
          <p:cNvPr id="40" name="d1_a"/>
          <p:cNvGrpSpPr/>
          <p:nvPr/>
        </p:nvGrpSpPr>
        <p:grpSpPr>
          <a:xfrm>
            <a:off x="6745071" y="2048255"/>
            <a:ext cx="4696820" cy="438916"/>
            <a:chOff x="0" y="0"/>
            <a:chExt cx="4696818" cy="438914"/>
          </a:xfrm>
        </p:grpSpPr>
        <p:sp>
          <p:nvSpPr>
            <p:cNvPr id="38" name="Rounded Rectangle"/>
            <p:cNvSpPr/>
            <p:nvPr/>
          </p:nvSpPr>
          <p:spPr>
            <a:xfrm>
              <a:off x="-1" y="0"/>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39" name="15 cm. (12 + 15 + 18) ÷ 3 = 45 ÷ 3."/>
            <p:cNvSpPr txBox="1"/>
            <p:nvPr/>
          </p:nvSpPr>
          <p:spPr>
            <a:xfrm>
              <a:off x="35034" y="125890"/>
              <a:ext cx="4626748" cy="187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15 cm. (12 + 15 + 18) ÷ 3 = 45 ÷ 3.</a:t>
              </a:r>
            </a:p>
          </p:txBody>
        </p:sp>
      </p:grpSp>
      <p:sp>
        <p:nvSpPr>
          <p:cNvPr id="41" name="d2_bg"/>
          <p:cNvSpPr/>
          <p:nvPr/>
        </p:nvSpPr>
        <p:spPr>
          <a:xfrm>
            <a:off x="1170432" y="2798064"/>
            <a:ext cx="5099152" cy="1481330"/>
          </a:xfrm>
          <a:prstGeom prst="roundRect">
            <a:avLst>
              <a:gd name="adj" fmla="val 6173"/>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42" name="d2_badge"/>
          <p:cNvSpPr/>
          <p:nvPr/>
        </p:nvSpPr>
        <p:spPr>
          <a:xfrm>
            <a:off x="1371600" y="3090672"/>
            <a:ext cx="384048"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43" name="d2_num"/>
          <p:cNvSpPr txBox="1"/>
          <p:nvPr/>
        </p:nvSpPr>
        <p:spPr>
          <a:xfrm>
            <a:off x="1371600" y="318109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44" name="d2_q"/>
          <p:cNvSpPr txBox="1"/>
          <p:nvPr/>
        </p:nvSpPr>
        <p:spPr>
          <a:xfrm>
            <a:off x="1901950" y="2924691"/>
            <a:ext cx="4166466"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A scale weighs a 500 g bag three times: 530 g, 531 g, 530 g. Is it accurate, precise, both or neither?</a:t>
            </a:r>
          </a:p>
        </p:txBody>
      </p:sp>
      <p:grpSp>
        <p:nvGrpSpPr>
          <p:cNvPr id="47" name="d2_a"/>
          <p:cNvGrpSpPr/>
          <p:nvPr/>
        </p:nvGrpSpPr>
        <p:grpSpPr>
          <a:xfrm>
            <a:off x="1371599" y="3712464"/>
            <a:ext cx="4696820" cy="438915"/>
            <a:chOff x="0" y="0"/>
            <a:chExt cx="4696818" cy="438914"/>
          </a:xfrm>
        </p:grpSpPr>
        <p:sp>
          <p:nvSpPr>
            <p:cNvPr id="45"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46" name="Precise, not accurate. Close together, but about 30 g too high."/>
            <p:cNvSpPr txBox="1"/>
            <p:nvPr/>
          </p:nvSpPr>
          <p:spPr>
            <a:xfrm>
              <a:off x="35034" y="30640"/>
              <a:ext cx="4626748" cy="3776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Precise, not accurate. Close together, but about 30 g too high.</a:t>
              </a:r>
            </a:p>
          </p:txBody>
        </p:sp>
      </p:grpSp>
      <p:sp>
        <p:nvSpPr>
          <p:cNvPr id="48" name="d3_bg"/>
          <p:cNvSpPr/>
          <p:nvPr/>
        </p:nvSpPr>
        <p:spPr>
          <a:xfrm>
            <a:off x="6543902" y="2798064"/>
            <a:ext cx="5099154" cy="1481330"/>
          </a:xfrm>
          <a:prstGeom prst="roundRect">
            <a:avLst>
              <a:gd name="adj" fmla="val 6173"/>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49" name="d3_badge"/>
          <p:cNvSpPr/>
          <p:nvPr/>
        </p:nvSpPr>
        <p:spPr>
          <a:xfrm>
            <a:off x="6745072" y="3090672"/>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50" name="d3_num"/>
          <p:cNvSpPr txBox="1"/>
          <p:nvPr/>
        </p:nvSpPr>
        <p:spPr>
          <a:xfrm>
            <a:off x="6745072" y="3181095"/>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51" name="d3_q"/>
          <p:cNvSpPr txBox="1"/>
          <p:nvPr/>
        </p:nvSpPr>
        <p:spPr>
          <a:xfrm>
            <a:off x="7275424" y="3045341"/>
            <a:ext cx="4166466"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A student says 0.0405 has 5 significant figures. Explain the mistake.</a:t>
            </a:r>
          </a:p>
        </p:txBody>
      </p:sp>
      <p:grpSp>
        <p:nvGrpSpPr>
          <p:cNvPr id="54" name="d3_a"/>
          <p:cNvGrpSpPr/>
          <p:nvPr/>
        </p:nvGrpSpPr>
        <p:grpSpPr>
          <a:xfrm>
            <a:off x="6745071" y="3712464"/>
            <a:ext cx="4696820" cy="438915"/>
            <a:chOff x="0" y="0"/>
            <a:chExt cx="4696818" cy="438914"/>
          </a:xfrm>
        </p:grpSpPr>
        <p:sp>
          <p:nvSpPr>
            <p:cNvPr id="52"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53" name="Leading zeros do not count. It has 3: the 4, 0 and 5."/>
            <p:cNvSpPr txBox="1"/>
            <p:nvPr/>
          </p:nvSpPr>
          <p:spPr>
            <a:xfrm>
              <a:off x="35034" y="125890"/>
              <a:ext cx="4626748" cy="187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Leading zeros do not count. It has 3: the 4, 0 and 5.</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56" name="d4_badge"/>
          <p:cNvSpPr/>
          <p:nvPr/>
        </p:nvSpPr>
        <p:spPr>
          <a:xfrm>
            <a:off x="1371600" y="4754879"/>
            <a:ext cx="384048"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58" name="d4_q"/>
          <p:cNvSpPr txBox="1"/>
          <p:nvPr/>
        </p:nvSpPr>
        <p:spPr>
          <a:xfrm>
            <a:off x="1901950" y="4588898"/>
            <a:ext cx="4166466" cy="7160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A globe is a model of the Earth. Suggest one reason scientists use models instead of the real thing.</a:t>
            </a:r>
          </a:p>
        </p:txBody>
      </p:sp>
      <p:grpSp>
        <p:nvGrpSpPr>
          <p:cNvPr id="61" name="d4_a"/>
          <p:cNvGrpSpPr/>
          <p:nvPr/>
        </p:nvGrpSpPr>
        <p:grpSpPr>
          <a:xfrm>
            <a:off x="1371599" y="5376671"/>
            <a:ext cx="4696820" cy="438915"/>
            <a:chOff x="0" y="0"/>
            <a:chExt cx="4696818" cy="438914"/>
          </a:xfrm>
        </p:grpSpPr>
        <p:sp>
          <p:nvSpPr>
            <p:cNvPr id="59"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60" name="Any reasonable answer: too big, too small, too far away, too slow or too dangerous."/>
            <p:cNvSpPr txBox="1"/>
            <p:nvPr/>
          </p:nvSpPr>
          <p:spPr>
            <a:xfrm>
              <a:off x="35034" y="30640"/>
              <a:ext cx="4626748" cy="3776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Any reasonable answer: too big, too small, too far away, too slow or too dangerous.</a:t>
              </a:r>
            </a:p>
          </p:txBody>
        </p:sp>
      </p:grpSp>
      <p:sp>
        <p:nvSpPr>
          <p:cNvPr id="62" name="d5_bg"/>
          <p:cNvSpPr/>
          <p:nvPr/>
        </p:nvSpPr>
        <p:spPr>
          <a:xfrm>
            <a:off x="6543902" y="4462271"/>
            <a:ext cx="5099154" cy="1481329"/>
          </a:xfrm>
          <a:prstGeom prst="roundRect">
            <a:avLst>
              <a:gd name="adj" fmla="val 6173"/>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63" name="d5_badge"/>
          <p:cNvSpPr/>
          <p:nvPr/>
        </p:nvSpPr>
        <p:spPr>
          <a:xfrm>
            <a:off x="6745072" y="4754879"/>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64" name="d5_num"/>
          <p:cNvSpPr txBox="1"/>
          <p:nvPr/>
        </p:nvSpPr>
        <p:spPr>
          <a:xfrm>
            <a:off x="6745072" y="4845303"/>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65" name="d5_q"/>
          <p:cNvSpPr txBox="1"/>
          <p:nvPr/>
        </p:nvSpPr>
        <p:spPr>
          <a:xfrm>
            <a:off x="7275424" y="4709548"/>
            <a:ext cx="4166466"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A graph shows a room's temperature every hour for a day. Suggest the best type of graph.</a:t>
            </a:r>
          </a:p>
        </p:txBody>
      </p:sp>
      <p:grpSp>
        <p:nvGrpSpPr>
          <p:cNvPr id="68" name="d5_a"/>
          <p:cNvGrpSpPr/>
          <p:nvPr/>
        </p:nvGrpSpPr>
        <p:grpSpPr>
          <a:xfrm>
            <a:off x="6745071" y="5376671"/>
            <a:ext cx="4696820" cy="438915"/>
            <a:chOff x="0" y="0"/>
            <a:chExt cx="4696818" cy="438914"/>
          </a:xfrm>
        </p:grpSpPr>
        <p:sp>
          <p:nvSpPr>
            <p:cNvPr id="66"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67" name="A line graph. Both axes are numbers that change continuously."/>
            <p:cNvSpPr txBox="1"/>
            <p:nvPr/>
          </p:nvSpPr>
          <p:spPr>
            <a:xfrm>
              <a:off x="35034" y="30640"/>
              <a:ext cx="4626748" cy="3776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A line graph. Both axes are numbers that change continuously.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fade" transition="in">
                                      <p:cBhvr>
                                        <p:cTn id="11" dur="10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fade" transition="in">
                                      <p:cBhvr>
                                        <p:cTn id="16" dur="10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fade" transition="in">
                                      <p:cBhvr>
                                        <p:cTn id="21" dur="10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fade" transition="in">
                                      <p:cBhvr>
                                        <p:cTn id="26" dur="10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fade" transition="in">
                                      <p:cBhvr>
                                        <p:cTn id="31" dur="10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ID="10"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fade" transition="in">
                                      <p:cBhvr>
                                        <p:cTn id="36" dur="1000"/>
                                        <p:tgtEl>
                                          <p:spTgt spid="68"/>
                                        </p:tgtEl>
                                      </p:cBhvr>
                                    </p:animEffect>
                                  </p:childTnLst>
                                </p:cTn>
                              </p:par>
                            </p:childTnLst>
                          </p:cTn>
                        </p:par>
                      </p:childTnLst>
                    </p:cTn>
                  </p:par>
                  <p:par>
                    <p:cTn id="37" fill="hold">
                      <p:stCondLst>
                        <p:cond delay="indefinite"/>
                      </p:stCondLst>
                      <p:childTnLst>
                        <p:par>
                          <p:cTn id="38" fill="hold">
                            <p:stCondLst>
                              <p:cond delay="0"/>
                            </p:stCondLst>
                            <p:childTnLst>
                              <p:par>
                                <p:cTn id="39" presetClass="mediacall" nodeType="clickEffect" presetSubtype="0" presetID="3" grpId="1" fill="hold">
                                  <p:stCondLst>
                                    <p:cond delay="0"/>
                                  </p:stCondLst>
                                  <p:childTnLst>
                                    <p:cmd type="call" cmd="stop">
                                      <p:cBhvr>
                                        <p:cTn id="40" dur="1000" fill="hold"/>
                                        <p:tgtEl>
                                          <p:spTgt spid="20"/>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41" fill="hold" display="0">
                  <p:stCondLst>
                    <p:cond delay="indefinite"/>
                  </p:stCondLst>
                </p:cTn>
                <p:tgtEl>
                  <p:spTgt spid="20"/>
                </p:tgtEl>
              </p:cMediaNode>
            </p:video>
            <p:seq concurrent="1" prevAc="none" nextAc="seek">
              <p:cTn id="42" evtFilter="cancelBubble" nodeType="interactiveSeq" restart="whenNotActive" fill="hold">
                <p:stCondLst>
                  <p:cond delay="0" evt="onClick">
                    <p:tgtEl>
                      <p:spTgt spid="20"/>
                    </p:tgtEl>
                  </p:cond>
                </p:stCondLst>
                <p:endSync delay="0" evt="end">
                  <p:rtn val="all"/>
                </p:endSync>
                <p:childTnLst>
                  <p:par>
                    <p:cTn id="43" fill="hold">
                      <p:stCondLst>
                        <p:cond delay="0"/>
                      </p:stCondLst>
                      <p:childTnLst>
                        <p:par>
                          <p:cTn id="44" fill="hold">
                            <p:stCondLst>
                              <p:cond delay="0"/>
                            </p:stCondLst>
                            <p:childTnLst>
                              <p:par>
                                <p:cTn id="45" presetClass="mediacall" nodeType="clickEffect" presetSubtype="0" presetID="2" fill="hold">
                                  <p:stCondLst>
                                    <p:cond delay="0"/>
                                  </p:stCondLst>
                                  <p:childTnLst>
                                    <p:cmd type="call" cmd="togglePause">
                                      <p:cBhvr>
                                        <p:cTn id="46"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54" grpId="5"/>
      <p:bldP build="whole" bldLvl="1" animBg="1" rev="0" advAuto="0" spid="61" grpId="6"/>
      <p:bldP build="whole" bldLvl="1" animBg="1" rev="0" advAuto="0" spid="47" grpId="4"/>
      <p:bldP build="whole" bldLvl="1" animBg="1" rev="0" advAuto="0" spid="68" grpId="7"/>
      <p:bldP build="whole" bldLvl="1" animBg="1" rev="0" advAuto="0" spid="33" grpId="2"/>
      <p:bldP build="whole" bldLvl="1" animBg="1" rev="0" advAuto="0" spid="40" grpId="3"/>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75" name="phase_pill"/>
          <p:cNvGrpSpPr/>
          <p:nvPr/>
        </p:nvGrpSpPr>
        <p:grpSpPr>
          <a:xfrm>
            <a:off x="1170431" y="310894"/>
            <a:ext cx="1713589" cy="329188"/>
            <a:chOff x="0" y="0"/>
            <a:chExt cx="1713587" cy="329186"/>
          </a:xfrm>
        </p:grpSpPr>
        <p:sp>
          <p:nvSpPr>
            <p:cNvPr id="73" name="Rounded Rectangle"/>
            <p:cNvSpPr/>
            <p:nvPr/>
          </p:nvSpPr>
          <p:spPr>
            <a:xfrm>
              <a:off x="-1" y="-1"/>
              <a:ext cx="171358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74" name="TODAY · 1 MIN"/>
            <p:cNvSpPr txBox="1"/>
            <p:nvPr/>
          </p:nvSpPr>
          <p:spPr>
            <a:xfrm>
              <a:off x="42850" y="90677"/>
              <a:ext cx="1627885"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Objectives</a:t>
            </a:r>
          </a:p>
        </p:txBody>
      </p:sp>
      <p:sp>
        <p:nvSpPr>
          <p:cNvPr id="77" name="o0_bg"/>
          <p:cNvSpPr/>
          <p:nvPr/>
        </p:nvSpPr>
        <p:spPr>
          <a:xfrm>
            <a:off x="1170432" y="2194560"/>
            <a:ext cx="3307994" cy="1792224"/>
          </a:xfrm>
          <a:prstGeom prst="roundRect">
            <a:avLst>
              <a:gd name="adj" fmla="val 5102"/>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78" name="o0_badge"/>
          <p:cNvSpPr/>
          <p:nvPr/>
        </p:nvSpPr>
        <p:spPr>
          <a:xfrm>
            <a:off x="1408174" y="2395727"/>
            <a:ext cx="384052"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79" name="o0_num"/>
          <p:cNvSpPr txBox="1"/>
          <p:nvPr/>
        </p:nvSpPr>
        <p:spPr>
          <a:xfrm>
            <a:off x="1408174" y="2486150"/>
            <a:ext cx="38405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80" name="o0_t"/>
          <p:cNvSpPr txBox="1"/>
          <p:nvPr/>
        </p:nvSpPr>
        <p:spPr>
          <a:xfrm>
            <a:off x="1408175" y="2907792"/>
            <a:ext cx="2832507" cy="4975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000"/>
              </a:lnSpc>
              <a:defRPr b="1" sz="1500">
                <a:solidFill>
                  <a:srgbClr val="0E2A40"/>
                </a:solidFill>
                <a:latin typeface="Arial"/>
                <a:ea typeface="Arial"/>
                <a:cs typeface="Arial"/>
                <a:sym typeface="Arial"/>
              </a:defRPr>
            </a:lvl1pPr>
          </a:lstStyle>
          <a:p>
            <a:pPr/>
            <a:r>
              <a:t>Calculate the mean and the range of a set of results.</a:t>
            </a:r>
          </a:p>
        </p:txBody>
      </p:sp>
      <p:sp>
        <p:nvSpPr>
          <p:cNvPr id="81" name="o1_bg"/>
          <p:cNvSpPr/>
          <p:nvPr/>
        </p:nvSpPr>
        <p:spPr>
          <a:xfrm>
            <a:off x="4752745" y="2194560"/>
            <a:ext cx="3307996" cy="1792224"/>
          </a:xfrm>
          <a:prstGeom prst="roundRect">
            <a:avLst>
              <a:gd name="adj" fmla="val 5102"/>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82" name="o1_badge"/>
          <p:cNvSpPr/>
          <p:nvPr/>
        </p:nvSpPr>
        <p:spPr>
          <a:xfrm>
            <a:off x="4990489" y="2395727"/>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83" name="o1_num"/>
          <p:cNvSpPr txBox="1"/>
          <p:nvPr/>
        </p:nvSpPr>
        <p:spPr>
          <a:xfrm>
            <a:off x="4990489" y="2486150"/>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84" name="o1_t"/>
          <p:cNvSpPr txBox="1"/>
          <p:nvPr/>
        </p:nvSpPr>
        <p:spPr>
          <a:xfrm>
            <a:off x="4990489" y="2907792"/>
            <a:ext cx="2832508" cy="4975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000"/>
              </a:lnSpc>
              <a:defRPr b="1" sz="1500">
                <a:solidFill>
                  <a:srgbClr val="0E2A40"/>
                </a:solidFill>
                <a:latin typeface="Arial"/>
                <a:ea typeface="Arial"/>
                <a:cs typeface="Arial"/>
                <a:sym typeface="Arial"/>
              </a:defRPr>
            </a:lvl1pPr>
          </a:lstStyle>
          <a:p>
            <a:pPr/>
            <a:r>
              <a:t>Choose the right graph for a set of data, and plot it.</a:t>
            </a:r>
          </a:p>
        </p:txBody>
      </p:sp>
      <p:sp>
        <p:nvSpPr>
          <p:cNvPr id="85" name="o2_bg"/>
          <p:cNvSpPr/>
          <p:nvPr/>
        </p:nvSpPr>
        <p:spPr>
          <a:xfrm>
            <a:off x="8335061" y="2194560"/>
            <a:ext cx="3307994" cy="1792224"/>
          </a:xfrm>
          <a:prstGeom prst="roundRect">
            <a:avLst>
              <a:gd name="adj" fmla="val 5102"/>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86" name="o2_badge"/>
          <p:cNvSpPr/>
          <p:nvPr/>
        </p:nvSpPr>
        <p:spPr>
          <a:xfrm>
            <a:off x="8572803" y="2395727"/>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87" name="o2_num"/>
          <p:cNvSpPr txBox="1"/>
          <p:nvPr/>
        </p:nvSpPr>
        <p:spPr>
          <a:xfrm>
            <a:off x="8572803" y="2486150"/>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88" name="o2_t"/>
          <p:cNvSpPr txBox="1"/>
          <p:nvPr/>
        </p:nvSpPr>
        <p:spPr>
          <a:xfrm>
            <a:off x="8572803" y="2907792"/>
            <a:ext cx="2832508" cy="4975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000"/>
              </a:lnSpc>
              <a:defRPr b="1" sz="1500">
                <a:solidFill>
                  <a:srgbClr val="0E2A40"/>
                </a:solidFill>
                <a:latin typeface="Arial"/>
                <a:ea typeface="Arial"/>
                <a:cs typeface="Arial"/>
                <a:sym typeface="Arial"/>
              </a:defRPr>
            </a:lvl1pPr>
          </a:lstStyle>
          <a:p>
            <a:pPr/>
            <a:r>
              <a:t>Explain what a model is for in science.</a:t>
            </a:r>
          </a:p>
        </p:txBody>
      </p:sp>
      <p:grpSp>
        <p:nvGrpSpPr>
          <p:cNvPr id="91" name="obj_banner"/>
          <p:cNvGrpSpPr/>
          <p:nvPr/>
        </p:nvGrpSpPr>
        <p:grpSpPr>
          <a:xfrm>
            <a:off x="1170431" y="4279391"/>
            <a:ext cx="10472626" cy="640083"/>
            <a:chOff x="0" y="0"/>
            <a:chExt cx="10472624" cy="640082"/>
          </a:xfrm>
        </p:grpSpPr>
        <p:sp>
          <p:nvSpPr>
            <p:cNvPr id="89" name="Rounded Rectangle"/>
            <p:cNvSpPr/>
            <p:nvPr/>
          </p:nvSpPr>
          <p:spPr>
            <a:xfrm>
              <a:off x="-1" y="-1"/>
              <a:ext cx="10472626" cy="640083"/>
            </a:xfrm>
            <a:prstGeom prst="roundRect">
              <a:avLst>
                <a:gd name="adj" fmla="val 17143"/>
              </a:avLst>
            </a:prstGeom>
            <a:solidFill>
              <a:srgbClr val="15395C"/>
            </a:solidFill>
            <a:ln w="9525" cap="flat">
              <a:solidFill>
                <a:srgbClr val="15395C"/>
              </a:solidFill>
              <a:prstDash val="solid"/>
              <a:round/>
            </a:ln>
            <a:effectLst/>
          </p:spPr>
          <p:txBody>
            <a:bodyPr wrap="square" lIns="45718" tIns="45718" rIns="45718" bIns="45718" numCol="1" anchor="ctr">
              <a:noAutofit/>
            </a:bodyPr>
            <a:lstStyle/>
            <a:p>
              <a:pPr algn="ctr">
                <a:lnSpc>
                  <a:spcPts val="2200"/>
                </a:lnSpc>
                <a:defRPr sz="1700">
                  <a:latin typeface="+mn-lt"/>
                  <a:ea typeface="+mn-ea"/>
                  <a:cs typeface="+mn-cs"/>
                  <a:sym typeface="Calibri"/>
                </a:defRPr>
              </a:pPr>
            </a:p>
          </p:txBody>
        </p:sp>
        <p:sp>
          <p:nvSpPr>
            <p:cNvPr id="90" name="The mean gives the typical result, a graph shows the pattern, and a model predicts."/>
            <p:cNvSpPr txBox="1"/>
            <p:nvPr/>
          </p:nvSpPr>
          <p:spPr>
            <a:xfrm>
              <a:off x="36901" y="183879"/>
              <a:ext cx="10398822" cy="2723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2" tIns="1522" rIns="1522" bIns="1522" numCol="1" anchor="ctr">
              <a:spAutoFit/>
            </a:bodyPr>
            <a:lstStyle/>
            <a:p>
              <a:pPr algn="ctr">
                <a:lnSpc>
                  <a:spcPts val="2200"/>
                </a:lnSpc>
                <a:defRPr b="1" sz="1700">
                  <a:solidFill>
                    <a:srgbClr val="FFD921"/>
                  </a:solidFill>
                  <a:latin typeface="Arial"/>
                  <a:ea typeface="Arial"/>
                  <a:cs typeface="Arial"/>
                  <a:sym typeface="Arial"/>
                </a:defRPr>
              </a:pPr>
              <a:r>
                <a:t>The </a:t>
              </a:r>
              <a:r>
                <a:rPr u="sng"/>
                <a:t>mean</a:t>
              </a:r>
              <a:r>
                <a:t> gives the typical result, a </a:t>
              </a:r>
              <a:r>
                <a:rPr u="sng"/>
                <a:t>graph</a:t>
              </a:r>
              <a:r>
                <a:t> shows the pattern, and a </a:t>
              </a:r>
              <a:r>
                <a:rPr u="sng"/>
                <a:t>model</a:t>
              </a:r>
              <a:r>
                <a:t> predicts.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3" grpId="1" fill="hold">
                                  <p:stCondLst>
                                    <p:cond delay="0"/>
                                  </p:stCondLst>
                                  <p:childTnLst>
                                    <p:cmd type="call" cmd="stop">
                                      <p:cBhvr>
                                        <p:cTn id="10" dur="1000" fill="hold"/>
                                        <p:tgtEl>
                                          <p:spTgt spid="72"/>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11" fill="hold" display="0">
                  <p:stCondLst>
                    <p:cond delay="indefinite"/>
                  </p:stCondLst>
                </p:cTn>
                <p:tgtEl>
                  <p:spTgt spid="72"/>
                </p:tgtEl>
              </p:cMediaNode>
            </p:video>
            <p:seq concurrent="1" prevAc="none" nextAc="seek">
              <p:cTn id="12" evtFilter="cancelBubble" nodeType="interactiveSeq" restart="whenNotActive" fill="hold">
                <p:stCondLst>
                  <p:cond delay="0" evt="onClick">
                    <p:tgtEl>
                      <p:spTgt spid="72"/>
                    </p:tgtEl>
                  </p:cond>
                </p:stCondLst>
                <p:endSync delay="0" evt="end">
                  <p:rtn val="all"/>
                </p:endSync>
                <p:childTnLst>
                  <p:par>
                    <p:cTn id="13" fill="hold">
                      <p:stCondLst>
                        <p:cond delay="0"/>
                      </p:stCondLst>
                      <p:childTnLst>
                        <p:par>
                          <p:cTn id="14" fill="hold">
                            <p:stCondLst>
                              <p:cond delay="0"/>
                            </p:stCondLst>
                            <p:childTnLst>
                              <p:par>
                                <p:cTn id="15" presetClass="mediacall" nodeType="clickEffect" presetSubtype="0" presetID="2" fill="hold">
                                  <p:stCondLst>
                                    <p:cond delay="0"/>
                                  </p:stCondLst>
                                  <p:childTnLst>
                                    <p:cmd type="call" cmd="togglePause">
                                      <p:cBhvr>
                                        <p:cTn id="16" dur="1" fill="hold"/>
                                        <p:tgtEl>
                                          <p:spTgt spid="72"/>
                                        </p:tgtEl>
                                      </p:cBhvr>
                                    </p:cmd>
                                  </p:childTnLst>
                                </p:cTn>
                              </p:par>
                            </p:childTnLst>
                          </p:cTn>
                        </p:par>
                      </p:childTnLst>
                    </p:cTn>
                  </p:par>
                </p:childTnLst>
              </p:cTn>
              <p:nextCondLst>
                <p:cond delay="0" evt="onClick">
                  <p:tgtEl>
                    <p:spTgt spid="7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9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98" name="phase_pill"/>
          <p:cNvGrpSpPr/>
          <p:nvPr/>
        </p:nvGrpSpPr>
        <p:grpSpPr>
          <a:xfrm>
            <a:off x="1170432" y="310894"/>
            <a:ext cx="1623977" cy="329188"/>
            <a:chOff x="0" y="0"/>
            <a:chExt cx="1623976" cy="329186"/>
          </a:xfrm>
        </p:grpSpPr>
        <p:sp>
          <p:nvSpPr>
            <p:cNvPr id="96" name="Rounded Rectangle"/>
            <p:cNvSpPr/>
            <p:nvPr/>
          </p:nvSpPr>
          <p:spPr>
            <a:xfrm>
              <a:off x="-1" y="-1"/>
              <a:ext cx="162397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97" name="HOOK · 2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99" name="slide_title"/>
          <p:cNvSpPr txBox="1"/>
          <p:nvPr/>
        </p:nvSpPr>
        <p:spPr>
          <a:xfrm>
            <a:off x="1170432" y="889227"/>
            <a:ext cx="9055304" cy="9830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2100">
                <a:solidFill>
                  <a:srgbClr val="15395C"/>
                </a:solidFill>
                <a:latin typeface="Georgia"/>
                <a:ea typeface="Georgia"/>
                <a:cs typeface="Georgia"/>
                <a:sym typeface="Georgia"/>
              </a:defRPr>
            </a:lvl1pPr>
          </a:lstStyle>
          <a:p>
            <a:pPr/>
            <a:r>
              <a:t>On 21 August 2017 a total solar eclipse crossed the USA. The time it would reach each town had been published years earlier. How did scientists know?</a:t>
            </a:r>
          </a:p>
        </p:txBody>
      </p:sp>
      <p:pic>
        <p:nvPicPr>
          <p:cNvPr id="100" name="hook_eclipse" descr="hook_eclipse"/>
          <p:cNvPicPr>
            <a:picLocks noChangeAspect="1"/>
          </p:cNvPicPr>
          <p:nvPr/>
        </p:nvPicPr>
        <p:blipFill>
          <a:blip r:embed="rId6">
            <a:extLst/>
          </a:blip>
          <a:stretch>
            <a:fillRect/>
          </a:stretch>
        </p:blipFill>
        <p:spPr>
          <a:xfrm>
            <a:off x="10362895" y="822960"/>
            <a:ext cx="1188722" cy="1188722"/>
          </a:xfrm>
          <a:prstGeom prst="rect">
            <a:avLst/>
          </a:prstGeom>
          <a:ln w="12700">
            <a:miter lim="400000"/>
          </a:ln>
        </p:spPr>
      </p:pic>
      <p:sp>
        <p:nvSpPr>
          <p:cNvPr id="101" name="h0_bg"/>
          <p:cNvSpPr/>
          <p:nvPr/>
        </p:nvSpPr>
        <p:spPr>
          <a:xfrm>
            <a:off x="1170432" y="2487166"/>
            <a:ext cx="3307994" cy="1828802"/>
          </a:xfrm>
          <a:prstGeom prst="roundRect">
            <a:avLst>
              <a:gd name="adj" fmla="val 500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02" name="h0_k"/>
          <p:cNvSpPr txBox="1"/>
          <p:nvPr/>
        </p:nvSpPr>
        <p:spPr>
          <a:xfrm>
            <a:off x="1426463" y="2726434"/>
            <a:ext cx="548643"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CD312F"/>
                </a:solidFill>
                <a:latin typeface="Georgia"/>
                <a:ea typeface="Georgia"/>
                <a:cs typeface="Georgia"/>
                <a:sym typeface="Georgia"/>
              </a:defRPr>
            </a:lvl1pPr>
          </a:lstStyle>
          <a:p>
            <a:pPr/>
            <a:r>
              <a:t>A</a:t>
            </a:r>
          </a:p>
        </p:txBody>
      </p:sp>
      <p:sp>
        <p:nvSpPr>
          <p:cNvPr id="103" name="h0_t"/>
          <p:cNvSpPr txBox="1"/>
          <p:nvPr/>
        </p:nvSpPr>
        <p:spPr>
          <a:xfrm>
            <a:off x="1426463" y="3163822"/>
            <a:ext cx="2795933" cy="8679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300"/>
              </a:lnSpc>
              <a:defRPr b="1">
                <a:solidFill>
                  <a:srgbClr val="15395C"/>
                </a:solidFill>
                <a:latin typeface="Georgia"/>
                <a:ea typeface="Georgia"/>
                <a:cs typeface="Georgia"/>
                <a:sym typeface="Georgia"/>
              </a:defRPr>
            </a:lvl1pPr>
          </a:lstStyle>
          <a:p>
            <a:pPr/>
            <a:r>
              <a:t>They looked at old records and guessed the same would happen</a:t>
            </a:r>
          </a:p>
        </p:txBody>
      </p:sp>
      <p:sp>
        <p:nvSpPr>
          <p:cNvPr id="104" name="h1_bg"/>
          <p:cNvSpPr/>
          <p:nvPr/>
        </p:nvSpPr>
        <p:spPr>
          <a:xfrm>
            <a:off x="4752745" y="2487166"/>
            <a:ext cx="3307996" cy="1828802"/>
          </a:xfrm>
          <a:prstGeom prst="roundRect">
            <a:avLst>
              <a:gd name="adj" fmla="val 500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05" name="h1_k"/>
          <p:cNvSpPr txBox="1"/>
          <p:nvPr/>
        </p:nvSpPr>
        <p:spPr>
          <a:xfrm>
            <a:off x="5008776" y="2726434"/>
            <a:ext cx="54864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CD312F"/>
                </a:solidFill>
                <a:latin typeface="Georgia"/>
                <a:ea typeface="Georgia"/>
                <a:cs typeface="Georgia"/>
                <a:sym typeface="Georgia"/>
              </a:defRPr>
            </a:lvl1pPr>
          </a:lstStyle>
          <a:p>
            <a:pPr/>
            <a:r>
              <a:t>B</a:t>
            </a:r>
          </a:p>
        </p:txBody>
      </p:sp>
      <p:sp>
        <p:nvSpPr>
          <p:cNvPr id="106" name="h1_t"/>
          <p:cNvSpPr txBox="1"/>
          <p:nvPr/>
        </p:nvSpPr>
        <p:spPr>
          <a:xfrm>
            <a:off x="5008776" y="3163822"/>
            <a:ext cx="2795933" cy="8679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300"/>
              </a:lnSpc>
              <a:defRPr b="1">
                <a:solidFill>
                  <a:srgbClr val="15395C"/>
                </a:solidFill>
                <a:latin typeface="Georgia"/>
                <a:ea typeface="Georgia"/>
                <a:cs typeface="Georgia"/>
                <a:sym typeface="Georgia"/>
              </a:defRPr>
            </a:lvl1pPr>
          </a:lstStyle>
          <a:p>
            <a:pPr/>
            <a:r>
              <a:t>They used a model of how the Sun, Moon and Earth move</a:t>
            </a:r>
          </a:p>
        </p:txBody>
      </p:sp>
      <p:sp>
        <p:nvSpPr>
          <p:cNvPr id="107" name="h2_bg"/>
          <p:cNvSpPr/>
          <p:nvPr/>
        </p:nvSpPr>
        <p:spPr>
          <a:xfrm>
            <a:off x="8335061" y="2487166"/>
            <a:ext cx="3307994" cy="1828802"/>
          </a:xfrm>
          <a:prstGeom prst="roundRect">
            <a:avLst>
              <a:gd name="adj" fmla="val 500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08" name="h2_k"/>
          <p:cNvSpPr txBox="1"/>
          <p:nvPr/>
        </p:nvSpPr>
        <p:spPr>
          <a:xfrm>
            <a:off x="8591091" y="2726434"/>
            <a:ext cx="548642"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CD312F"/>
                </a:solidFill>
                <a:latin typeface="Georgia"/>
                <a:ea typeface="Georgia"/>
                <a:cs typeface="Georgia"/>
                <a:sym typeface="Georgia"/>
              </a:defRPr>
            </a:lvl1pPr>
          </a:lstStyle>
          <a:p>
            <a:pPr/>
            <a:r>
              <a:t>C</a:t>
            </a:r>
          </a:p>
        </p:txBody>
      </p:sp>
      <p:sp>
        <p:nvSpPr>
          <p:cNvPr id="109" name="h2_t"/>
          <p:cNvSpPr txBox="1"/>
          <p:nvPr/>
        </p:nvSpPr>
        <p:spPr>
          <a:xfrm>
            <a:off x="8591091" y="3163822"/>
            <a:ext cx="2795932" cy="5758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300"/>
              </a:lnSpc>
              <a:defRPr b="1">
                <a:solidFill>
                  <a:srgbClr val="15395C"/>
                </a:solidFill>
                <a:latin typeface="Georgia"/>
                <a:ea typeface="Georgia"/>
                <a:cs typeface="Georgia"/>
                <a:sym typeface="Georgia"/>
              </a:defRPr>
            </a:lvl1pPr>
          </a:lstStyle>
          <a:p>
            <a:pPr/>
            <a:r>
              <a:t>They sent a spacecraft ahead to check</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1"/>
                                        </p:tgtEl>
                                        <p:attrNameLst>
                                          <p:attrName>style.visibility</p:attrName>
                                        </p:attrNameLst>
                                      </p:cBhvr>
                                      <p:to>
                                        <p:strVal val="visible"/>
                                      </p:to>
                                    </p:set>
                                    <p:animEffect filter="fade" transition="in">
                                      <p:cBhvr>
                                        <p:cTn id="11" dur="1000"/>
                                        <p:tgtEl>
                                          <p:spTgt spid="101"/>
                                        </p:tgtEl>
                                      </p:cBhvr>
                                    </p:animEffect>
                                  </p:childTnLst>
                                </p:cTn>
                              </p:par>
                            </p:childTnLst>
                          </p:cTn>
                        </p:par>
                        <p:par>
                          <p:cTn id="12" fill="hold">
                            <p:stCondLst>
                              <p:cond delay="1000"/>
                            </p:stCondLst>
                            <p:childTnLst>
                              <p:par>
                                <p:cTn id="13" presetClass="entr" nodeType="afterEffect" presetID="10" grpId="3" fill="hold">
                                  <p:stCondLst>
                                    <p:cond delay="0"/>
                                  </p:stCondLst>
                                  <p:iterate type="el" backwards="0">
                                    <p:tmAbs val="0"/>
                                  </p:iterate>
                                  <p:childTnLst>
                                    <p:set>
                                      <p:cBhvr>
                                        <p:cTn id="14" fill="hold"/>
                                        <p:tgtEl>
                                          <p:spTgt spid="102"/>
                                        </p:tgtEl>
                                        <p:attrNameLst>
                                          <p:attrName>style.visibility</p:attrName>
                                        </p:attrNameLst>
                                      </p:cBhvr>
                                      <p:to>
                                        <p:strVal val="visible"/>
                                      </p:to>
                                    </p:set>
                                    <p:animEffect filter="fade" transition="in">
                                      <p:cBhvr>
                                        <p:cTn id="15" dur="1000"/>
                                        <p:tgtEl>
                                          <p:spTgt spid="102"/>
                                        </p:tgtEl>
                                      </p:cBhvr>
                                    </p:animEffect>
                                  </p:childTnLst>
                                </p:cTn>
                              </p:par>
                            </p:childTnLst>
                          </p:cTn>
                        </p:par>
                        <p:par>
                          <p:cTn id="16" fill="hold">
                            <p:stCondLst>
                              <p:cond delay="2000"/>
                            </p:stCondLst>
                            <p:childTnLst>
                              <p:par>
                                <p:cTn id="17" presetClass="entr" nodeType="afterEffect" presetID="10" grpId="4" fill="hold">
                                  <p:stCondLst>
                                    <p:cond delay="0"/>
                                  </p:stCondLst>
                                  <p:iterate type="el" backwards="0">
                                    <p:tmAbs val="0"/>
                                  </p:iterate>
                                  <p:childTnLst>
                                    <p:set>
                                      <p:cBhvr>
                                        <p:cTn id="18" fill="hold"/>
                                        <p:tgtEl>
                                          <p:spTgt spid="103"/>
                                        </p:tgtEl>
                                        <p:attrNameLst>
                                          <p:attrName>style.visibility</p:attrName>
                                        </p:attrNameLst>
                                      </p:cBhvr>
                                      <p:to>
                                        <p:strVal val="visible"/>
                                      </p:to>
                                    </p:set>
                                    <p:animEffect filter="fade" transition="in">
                                      <p:cBhvr>
                                        <p:cTn id="19" dur="1000"/>
                                        <p:tgtEl>
                                          <p:spTgt spid="103"/>
                                        </p:tgtEl>
                                      </p:cBhvr>
                                    </p:animEffect>
                                  </p:childTnLst>
                                </p:cTn>
                              </p:par>
                            </p:childTnLst>
                          </p:cTn>
                        </p:par>
                      </p:childTnLst>
                    </p:cTn>
                  </p:par>
                  <p:par>
                    <p:cTn id="20" fill="hold">
                      <p:stCondLst>
                        <p:cond delay="indefinite"/>
                      </p:stCondLst>
                      <p:childTnLst>
                        <p:par>
                          <p:cTn id="21" fill="hold">
                            <p:stCondLst>
                              <p:cond delay="0"/>
                            </p:stCondLst>
                            <p:childTnLst>
                              <p:par>
                                <p:cTn id="22" presetClass="entr" nodeType="clickEffect" presetID="10" grpId="5" fill="hold">
                                  <p:stCondLst>
                                    <p:cond delay="0"/>
                                  </p:stCondLst>
                                  <p:iterate type="el" backwards="0">
                                    <p:tmAbs val="0"/>
                                  </p:iterate>
                                  <p:childTnLst>
                                    <p:set>
                                      <p:cBhvr>
                                        <p:cTn id="23" fill="hold"/>
                                        <p:tgtEl>
                                          <p:spTgt spid="104"/>
                                        </p:tgtEl>
                                        <p:attrNameLst>
                                          <p:attrName>style.visibility</p:attrName>
                                        </p:attrNameLst>
                                      </p:cBhvr>
                                      <p:to>
                                        <p:strVal val="visible"/>
                                      </p:to>
                                    </p:set>
                                    <p:animEffect filter="fade" transition="in">
                                      <p:cBhvr>
                                        <p:cTn id="24" dur="1000"/>
                                        <p:tgtEl>
                                          <p:spTgt spid="104"/>
                                        </p:tgtEl>
                                      </p:cBhvr>
                                    </p:animEffect>
                                  </p:childTnLst>
                                </p:cTn>
                              </p:par>
                            </p:childTnLst>
                          </p:cTn>
                        </p:par>
                        <p:par>
                          <p:cTn id="25" fill="hold">
                            <p:stCondLst>
                              <p:cond delay="1000"/>
                            </p:stCondLst>
                            <p:childTnLst>
                              <p:par>
                                <p:cTn id="26" presetClass="entr" nodeType="afterEffect" presetID="10" grpId="6" fill="hold">
                                  <p:stCondLst>
                                    <p:cond delay="0"/>
                                  </p:stCondLst>
                                  <p:iterate type="el" backwards="0">
                                    <p:tmAbs val="0"/>
                                  </p:iterate>
                                  <p:childTnLst>
                                    <p:set>
                                      <p:cBhvr>
                                        <p:cTn id="27" fill="hold"/>
                                        <p:tgtEl>
                                          <p:spTgt spid="105"/>
                                        </p:tgtEl>
                                        <p:attrNameLst>
                                          <p:attrName>style.visibility</p:attrName>
                                        </p:attrNameLst>
                                      </p:cBhvr>
                                      <p:to>
                                        <p:strVal val="visible"/>
                                      </p:to>
                                    </p:set>
                                    <p:animEffect filter="fade" transition="in">
                                      <p:cBhvr>
                                        <p:cTn id="28" dur="1000"/>
                                        <p:tgtEl>
                                          <p:spTgt spid="105"/>
                                        </p:tgtEl>
                                      </p:cBhvr>
                                    </p:animEffect>
                                  </p:childTnLst>
                                </p:cTn>
                              </p:par>
                            </p:childTnLst>
                          </p:cTn>
                        </p:par>
                        <p:par>
                          <p:cTn id="29" fill="hold">
                            <p:stCondLst>
                              <p:cond delay="2000"/>
                            </p:stCondLst>
                            <p:childTnLst>
                              <p:par>
                                <p:cTn id="30" presetClass="entr" nodeType="afterEffect" presetID="10" grpId="7" fill="hold">
                                  <p:stCondLst>
                                    <p:cond delay="0"/>
                                  </p:stCondLst>
                                  <p:iterate type="el" backwards="0">
                                    <p:tmAbs val="0"/>
                                  </p:iterate>
                                  <p:childTnLst>
                                    <p:set>
                                      <p:cBhvr>
                                        <p:cTn id="31" fill="hold"/>
                                        <p:tgtEl>
                                          <p:spTgt spid="106"/>
                                        </p:tgtEl>
                                        <p:attrNameLst>
                                          <p:attrName>style.visibility</p:attrName>
                                        </p:attrNameLst>
                                      </p:cBhvr>
                                      <p:to>
                                        <p:strVal val="visible"/>
                                      </p:to>
                                    </p:set>
                                    <p:animEffect filter="fade" transition="in">
                                      <p:cBhvr>
                                        <p:cTn id="32" dur="1000"/>
                                        <p:tgtEl>
                                          <p:spTgt spid="106"/>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ID="10" grpId="8" fill="hold">
                                  <p:stCondLst>
                                    <p:cond delay="0"/>
                                  </p:stCondLst>
                                  <p:iterate type="el" backwards="0">
                                    <p:tmAbs val="0"/>
                                  </p:iterate>
                                  <p:childTnLst>
                                    <p:set>
                                      <p:cBhvr>
                                        <p:cTn id="36" fill="hold"/>
                                        <p:tgtEl>
                                          <p:spTgt spid="107"/>
                                        </p:tgtEl>
                                        <p:attrNameLst>
                                          <p:attrName>style.visibility</p:attrName>
                                        </p:attrNameLst>
                                      </p:cBhvr>
                                      <p:to>
                                        <p:strVal val="visible"/>
                                      </p:to>
                                    </p:set>
                                    <p:animEffect filter="fade" transition="in">
                                      <p:cBhvr>
                                        <p:cTn id="37" dur="1000"/>
                                        <p:tgtEl>
                                          <p:spTgt spid="107"/>
                                        </p:tgtEl>
                                      </p:cBhvr>
                                    </p:animEffect>
                                  </p:childTnLst>
                                </p:cTn>
                              </p:par>
                            </p:childTnLst>
                          </p:cTn>
                        </p:par>
                        <p:par>
                          <p:cTn id="38" fill="hold">
                            <p:stCondLst>
                              <p:cond delay="1000"/>
                            </p:stCondLst>
                            <p:childTnLst>
                              <p:par>
                                <p:cTn id="39" presetClass="entr" nodeType="afterEffect" presetID="10" grpId="9" fill="hold">
                                  <p:stCondLst>
                                    <p:cond delay="0"/>
                                  </p:stCondLst>
                                  <p:iterate type="el" backwards="0">
                                    <p:tmAbs val="0"/>
                                  </p:iterate>
                                  <p:childTnLst>
                                    <p:set>
                                      <p:cBhvr>
                                        <p:cTn id="40" fill="hold"/>
                                        <p:tgtEl>
                                          <p:spTgt spid="108"/>
                                        </p:tgtEl>
                                        <p:attrNameLst>
                                          <p:attrName>style.visibility</p:attrName>
                                        </p:attrNameLst>
                                      </p:cBhvr>
                                      <p:to>
                                        <p:strVal val="visible"/>
                                      </p:to>
                                    </p:set>
                                    <p:animEffect filter="fade" transition="in">
                                      <p:cBhvr>
                                        <p:cTn id="41" dur="1000"/>
                                        <p:tgtEl>
                                          <p:spTgt spid="108"/>
                                        </p:tgtEl>
                                      </p:cBhvr>
                                    </p:animEffect>
                                  </p:childTnLst>
                                </p:cTn>
                              </p:par>
                            </p:childTnLst>
                          </p:cTn>
                        </p:par>
                        <p:par>
                          <p:cTn id="42" fill="hold">
                            <p:stCondLst>
                              <p:cond delay="2000"/>
                            </p:stCondLst>
                            <p:childTnLst>
                              <p:par>
                                <p:cTn id="43" presetClass="entr" nodeType="afterEffect" presetID="10" grpId="10" fill="hold">
                                  <p:stCondLst>
                                    <p:cond delay="0"/>
                                  </p:stCondLst>
                                  <p:iterate type="el" backwards="0">
                                    <p:tmAbs val="0"/>
                                  </p:iterate>
                                  <p:childTnLst>
                                    <p:set>
                                      <p:cBhvr>
                                        <p:cTn id="44" fill="hold"/>
                                        <p:tgtEl>
                                          <p:spTgt spid="109"/>
                                        </p:tgtEl>
                                        <p:attrNameLst>
                                          <p:attrName>style.visibility</p:attrName>
                                        </p:attrNameLst>
                                      </p:cBhvr>
                                      <p:to>
                                        <p:strVal val="visible"/>
                                      </p:to>
                                    </p:set>
                                    <p:animEffect filter="fade" transition="in">
                                      <p:cBhvr>
                                        <p:cTn id="45" dur="1000"/>
                                        <p:tgtEl>
                                          <p:spTgt spid="109"/>
                                        </p:tgtEl>
                                      </p:cBhvr>
                                    </p:animEffect>
                                  </p:childTnLst>
                                </p:cTn>
                              </p:par>
                            </p:childTnLst>
                          </p:cTn>
                        </p:par>
                      </p:childTnLst>
                    </p:cTn>
                  </p:par>
                  <p:par>
                    <p:cTn id="46" fill="hold">
                      <p:stCondLst>
                        <p:cond delay="indefinite"/>
                      </p:stCondLst>
                      <p:childTnLst>
                        <p:par>
                          <p:cTn id="47" fill="hold">
                            <p:stCondLst>
                              <p:cond delay="0"/>
                            </p:stCondLst>
                            <p:childTnLst>
                              <p:par>
                                <p:cTn id="48" presetClass="mediacall" nodeType="clickEffect" presetSubtype="0" presetID="3" grpId="1" fill="hold">
                                  <p:stCondLst>
                                    <p:cond delay="0"/>
                                  </p:stCondLst>
                                  <p:childTnLst>
                                    <p:cmd type="call" cmd="stop">
                                      <p:cBhvr>
                                        <p:cTn id="49" dur="1000" fill="hold"/>
                                        <p:tgtEl>
                                          <p:spTgt spid="95"/>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50" fill="hold" display="0">
                  <p:stCondLst>
                    <p:cond delay="indefinite"/>
                  </p:stCondLst>
                </p:cTn>
                <p:tgtEl>
                  <p:spTgt spid="95"/>
                </p:tgtEl>
              </p:cMediaNode>
            </p:video>
            <p:seq concurrent="1" prevAc="none" nextAc="seek">
              <p:cTn id="51" evtFilter="cancelBubble" nodeType="interactiveSeq" restart="whenNotActive" fill="hold">
                <p:stCondLst>
                  <p:cond delay="0" evt="onClick">
                    <p:tgtEl>
                      <p:spTgt spid="95"/>
                    </p:tgtEl>
                  </p:cond>
                </p:stCondLst>
                <p:endSync delay="0" evt="end">
                  <p:rtn val="all"/>
                </p:endSync>
                <p:childTnLst>
                  <p:par>
                    <p:cTn id="52" fill="hold">
                      <p:stCondLst>
                        <p:cond delay="0"/>
                      </p:stCondLst>
                      <p:childTnLst>
                        <p:par>
                          <p:cTn id="53" fill="hold">
                            <p:stCondLst>
                              <p:cond delay="0"/>
                            </p:stCondLst>
                            <p:childTnLst>
                              <p:par>
                                <p:cTn id="54" presetClass="mediacall" nodeType="clickEffect" presetSubtype="0" presetID="2" fill="hold">
                                  <p:stCondLst>
                                    <p:cond delay="0"/>
                                  </p:stCondLst>
                                  <p:childTnLst>
                                    <p:cmd type="call" cmd="togglePause">
                                      <p:cBhvr>
                                        <p:cTn id="55" dur="1" fill="hold"/>
                                        <p:tgtEl>
                                          <p:spTgt spid="95"/>
                                        </p:tgtEl>
                                      </p:cBhvr>
                                    </p:cmd>
                                  </p:childTnLst>
                                </p:cTn>
                              </p:par>
                            </p:childTnLst>
                          </p:cTn>
                        </p:par>
                      </p:childTnLst>
                    </p:cTn>
                  </p:par>
                </p:childTnLst>
              </p:cTn>
              <p:nextCondLst>
                <p:cond delay="0" evt="onClick">
                  <p:tgtEl>
                    <p:spTgt spid="95"/>
                  </p:tgtEl>
                </p:cond>
              </p:nextCondLst>
            </p:seq>
          </p:childTnLst>
        </p:cTn>
      </p:par>
    </p:tnLst>
    <p:bldLst>
      <p:bldP build="whole" bldLvl="1" animBg="1" rev="0" advAuto="0" spid="102" grpId="3"/>
      <p:bldP build="whole" bldLvl="1" animBg="1" rev="0" advAuto="0" spid="105" grpId="6"/>
      <p:bldP build="whole" bldLvl="1" animBg="1" rev="0" advAuto="0" spid="107" grpId="8"/>
      <p:bldP build="whole" bldLvl="1" animBg="1" rev="0" advAuto="0" spid="109" grpId="10"/>
      <p:bldP build="whole" bldLvl="1" animBg="1" rev="0" advAuto="0" spid="103" grpId="4"/>
      <p:bldP build="whole" bldLvl="1" animBg="1" rev="0" advAuto="0" spid="106" grpId="7"/>
      <p:bldP build="whole" bldLvl="1" animBg="1" rev="0" advAuto="0" spid="108" grpId="9"/>
      <p:bldP build="whole" bldLvl="1" animBg="1" rev="0" advAuto="0" spid="101" grpId="2"/>
      <p:bldP build="whole" bldLvl="1" animBg="1" rev="0" advAuto="0" spid="104" grpId="5"/>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1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16" name="phase_pill"/>
          <p:cNvGrpSpPr/>
          <p:nvPr/>
        </p:nvGrpSpPr>
        <p:grpSpPr>
          <a:xfrm>
            <a:off x="1170432" y="310894"/>
            <a:ext cx="1623977" cy="329188"/>
            <a:chOff x="0" y="0"/>
            <a:chExt cx="1623976" cy="329186"/>
          </a:xfrm>
        </p:grpSpPr>
        <p:sp>
          <p:nvSpPr>
            <p:cNvPr id="114" name="Rounded Rectangle"/>
            <p:cNvSpPr/>
            <p:nvPr/>
          </p:nvSpPr>
          <p:spPr>
            <a:xfrm>
              <a:off x="-1" y="-1"/>
              <a:ext cx="162397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115" name="I DO · 3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17"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Mean and range</a:t>
            </a:r>
          </a:p>
        </p:txBody>
      </p:sp>
      <p:sp>
        <p:nvSpPr>
          <p:cNvPr id="118" name="def_bg"/>
          <p:cNvSpPr/>
          <p:nvPr/>
        </p:nvSpPr>
        <p:spPr>
          <a:xfrm>
            <a:off x="1170432" y="1920238"/>
            <a:ext cx="10472623" cy="914402"/>
          </a:xfrm>
          <a:prstGeom prst="roundRect">
            <a:avLst>
              <a:gd name="adj" fmla="val 1000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19" name="def_t"/>
          <p:cNvSpPr txBox="1"/>
          <p:nvPr/>
        </p:nvSpPr>
        <p:spPr>
          <a:xfrm>
            <a:off x="1444752" y="2127308"/>
            <a:ext cx="9923983"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2000"/>
              </a:lnSpc>
              <a:defRPr sz="1600">
                <a:solidFill>
                  <a:srgbClr val="0E2A40"/>
                </a:solidFill>
                <a:latin typeface="Arial"/>
                <a:ea typeface="Arial"/>
                <a:cs typeface="Arial"/>
                <a:sym typeface="Arial"/>
              </a:defRPr>
            </a:pPr>
            <a:r>
              <a:t>The </a:t>
            </a:r>
            <a:r>
              <a:rPr b="1">
                <a:solidFill>
                  <a:srgbClr val="957D11"/>
                </a:solidFill>
              </a:rPr>
              <a:t>mean</a:t>
            </a:r>
            <a:r>
              <a:t> is the results added up, then divided by how many there are. The </a:t>
            </a:r>
            <a:r>
              <a:rPr b="1">
                <a:solidFill>
                  <a:srgbClr val="957D11"/>
                </a:solidFill>
              </a:rPr>
              <a:t>range</a:t>
            </a:r>
            <a:r>
              <a:t> is the highest result minus the lowest.</a:t>
            </a:r>
          </a:p>
        </p:txBody>
      </p:sp>
      <p:sp>
        <p:nvSpPr>
          <p:cNvPr id="120" name="tbl_bg"/>
          <p:cNvSpPr/>
          <p:nvPr/>
        </p:nvSpPr>
        <p:spPr>
          <a:xfrm>
            <a:off x="1170432" y="3054094"/>
            <a:ext cx="10472623" cy="2834642"/>
          </a:xfrm>
          <a:prstGeom prst="roundRect">
            <a:avLst>
              <a:gd name="adj" fmla="val 3226"/>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21" name="tbl_h"/>
          <p:cNvSpPr txBox="1"/>
          <p:nvPr/>
        </p:nvSpPr>
        <p:spPr>
          <a:xfrm>
            <a:off x="1408174" y="3242309"/>
            <a:ext cx="9997139"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300">
                <a:solidFill>
                  <a:srgbClr val="15395C"/>
                </a:solidFill>
                <a:latin typeface="Georgia"/>
                <a:ea typeface="Georgia"/>
                <a:cs typeface="Georgia"/>
                <a:sym typeface="Georgia"/>
              </a:defRPr>
            </a:lvl1pPr>
          </a:lstStyle>
          <a:p>
            <a:pPr/>
            <a:r>
              <a:t>WATER BOILS AT 100 °C. THREE THERMOMETERS EACH READ THE BOILING TEMP THREE TIMES.</a:t>
            </a:r>
          </a:p>
        </p:txBody>
      </p:sp>
      <p:sp>
        <p:nvSpPr>
          <p:cNvPr id="122" name="colh_0"/>
          <p:cNvSpPr txBox="1"/>
          <p:nvPr/>
        </p:nvSpPr>
        <p:spPr>
          <a:xfrm>
            <a:off x="1408174" y="3626056"/>
            <a:ext cx="160020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5708A"/>
                </a:solidFill>
                <a:latin typeface="Arial"/>
                <a:ea typeface="Arial"/>
                <a:cs typeface="Arial"/>
                <a:sym typeface="Arial"/>
              </a:defRPr>
            </a:lvl1pPr>
          </a:lstStyle>
          <a:p>
            <a:pPr/>
            <a:r>
              <a:t>Thermometer</a:t>
            </a:r>
          </a:p>
        </p:txBody>
      </p:sp>
      <p:sp>
        <p:nvSpPr>
          <p:cNvPr id="123" name="colh_1"/>
          <p:cNvSpPr txBox="1"/>
          <p:nvPr/>
        </p:nvSpPr>
        <p:spPr>
          <a:xfrm>
            <a:off x="3090671" y="3626056"/>
            <a:ext cx="2103123"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5708A"/>
                </a:solidFill>
                <a:latin typeface="Arial"/>
                <a:ea typeface="Arial"/>
                <a:cs typeface="Arial"/>
                <a:sym typeface="Arial"/>
              </a:defRPr>
            </a:lvl1pPr>
          </a:lstStyle>
          <a:p>
            <a:pPr/>
            <a:r>
              <a:t>Readings (°C)</a:t>
            </a:r>
          </a:p>
        </p:txBody>
      </p:sp>
      <p:sp>
        <p:nvSpPr>
          <p:cNvPr id="124" name="colh_2"/>
          <p:cNvSpPr txBox="1"/>
          <p:nvPr/>
        </p:nvSpPr>
        <p:spPr>
          <a:xfrm>
            <a:off x="5285232" y="3626056"/>
            <a:ext cx="100584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5708A"/>
                </a:solidFill>
                <a:latin typeface="Arial"/>
                <a:ea typeface="Arial"/>
                <a:cs typeface="Arial"/>
                <a:sym typeface="Arial"/>
              </a:defRPr>
            </a:lvl1pPr>
          </a:lstStyle>
          <a:p>
            <a:pPr/>
            <a:r>
              <a:t>Mean</a:t>
            </a:r>
          </a:p>
        </p:txBody>
      </p:sp>
      <p:sp>
        <p:nvSpPr>
          <p:cNvPr id="125" name="colh_3"/>
          <p:cNvSpPr txBox="1"/>
          <p:nvPr/>
        </p:nvSpPr>
        <p:spPr>
          <a:xfrm>
            <a:off x="6382510" y="3626056"/>
            <a:ext cx="100584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5708A"/>
                </a:solidFill>
                <a:latin typeface="Arial"/>
                <a:ea typeface="Arial"/>
                <a:cs typeface="Arial"/>
                <a:sym typeface="Arial"/>
              </a:defRPr>
            </a:lvl1pPr>
          </a:lstStyle>
          <a:p>
            <a:pPr/>
            <a:r>
              <a:t>Range</a:t>
            </a:r>
          </a:p>
        </p:txBody>
      </p:sp>
      <p:sp>
        <p:nvSpPr>
          <p:cNvPr id="126" name="colh_4"/>
          <p:cNvSpPr txBox="1"/>
          <p:nvPr/>
        </p:nvSpPr>
        <p:spPr>
          <a:xfrm>
            <a:off x="7525511" y="3626056"/>
            <a:ext cx="387980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5708A"/>
                </a:solidFill>
                <a:latin typeface="Arial"/>
                <a:ea typeface="Arial"/>
                <a:cs typeface="Arial"/>
                <a:sym typeface="Arial"/>
              </a:defRPr>
            </a:lvl1pPr>
          </a:lstStyle>
          <a:p>
            <a:pPr/>
            <a:r>
              <a:t>What it shows</a:t>
            </a:r>
          </a:p>
        </p:txBody>
      </p:sp>
      <p:sp>
        <p:nvSpPr>
          <p:cNvPr id="127" name="rA_bg"/>
          <p:cNvSpPr/>
          <p:nvPr/>
        </p:nvSpPr>
        <p:spPr>
          <a:xfrm>
            <a:off x="1335024" y="3931920"/>
            <a:ext cx="10143440" cy="530354"/>
          </a:xfrm>
          <a:prstGeom prst="roundRect">
            <a:avLst>
              <a:gd name="adj" fmla="val 13793"/>
            </a:avLst>
          </a:prstGeom>
          <a:solidFill>
            <a:srgbClr val="F2F6FB"/>
          </a:solidFill>
          <a:ln w="12700">
            <a:solidFill>
              <a:srgbClr val="C7D9EA"/>
            </a:solidFill>
          </a:ln>
        </p:spPr>
        <p:txBody>
          <a:bodyPr lIns="45718" tIns="45718" rIns="45718" bIns="45718"/>
          <a:lstStyle/>
          <a:p>
            <a:pPr>
              <a:defRPr>
                <a:latin typeface="+mn-lt"/>
                <a:ea typeface="+mn-ea"/>
                <a:cs typeface="+mn-cs"/>
                <a:sym typeface="Calibri"/>
              </a:defRPr>
            </a:pPr>
          </a:p>
        </p:txBody>
      </p:sp>
      <p:sp>
        <p:nvSpPr>
          <p:cNvPr id="128" name="rA_c0"/>
          <p:cNvSpPr txBox="1"/>
          <p:nvPr/>
        </p:nvSpPr>
        <p:spPr>
          <a:xfrm>
            <a:off x="1408174" y="4092261"/>
            <a:ext cx="160020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Thermometer A</a:t>
            </a:r>
          </a:p>
        </p:txBody>
      </p:sp>
      <p:sp>
        <p:nvSpPr>
          <p:cNvPr id="129" name="rA_c1"/>
          <p:cNvSpPr txBox="1"/>
          <p:nvPr/>
        </p:nvSpPr>
        <p:spPr>
          <a:xfrm>
            <a:off x="3090671" y="4092261"/>
            <a:ext cx="21031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0E2A40"/>
                </a:solidFill>
                <a:latin typeface="Arial"/>
                <a:ea typeface="Arial"/>
                <a:cs typeface="Arial"/>
                <a:sym typeface="Arial"/>
              </a:defRPr>
            </a:lvl1pPr>
          </a:lstStyle>
          <a:p>
            <a:pPr/>
            <a:r>
              <a:t>99,  100,  101</a:t>
            </a:r>
          </a:p>
        </p:txBody>
      </p:sp>
      <p:sp>
        <p:nvSpPr>
          <p:cNvPr id="130" name="rA_c2"/>
          <p:cNvSpPr txBox="1"/>
          <p:nvPr/>
        </p:nvSpPr>
        <p:spPr>
          <a:xfrm>
            <a:off x="5285232" y="4092261"/>
            <a:ext cx="100584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100</a:t>
            </a:r>
          </a:p>
        </p:txBody>
      </p:sp>
      <p:sp>
        <p:nvSpPr>
          <p:cNvPr id="131" name="rA_c3"/>
          <p:cNvSpPr txBox="1"/>
          <p:nvPr/>
        </p:nvSpPr>
        <p:spPr>
          <a:xfrm>
            <a:off x="6382510" y="4092261"/>
            <a:ext cx="100584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2</a:t>
            </a:r>
          </a:p>
        </p:txBody>
      </p:sp>
      <p:sp>
        <p:nvSpPr>
          <p:cNvPr id="132" name="rA_c4"/>
          <p:cNvSpPr txBox="1"/>
          <p:nvPr/>
        </p:nvSpPr>
        <p:spPr>
          <a:xfrm>
            <a:off x="7525511" y="4104545"/>
            <a:ext cx="38798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5395C"/>
                </a:solidFill>
                <a:latin typeface="Arial"/>
                <a:ea typeface="Arial"/>
                <a:cs typeface="Arial"/>
                <a:sym typeface="Arial"/>
              </a:defRPr>
            </a:lvl1pPr>
          </a:lstStyle>
          <a:p>
            <a:pPr/>
            <a:r>
              <a:t>Accurate and precise.</a:t>
            </a:r>
          </a:p>
        </p:txBody>
      </p:sp>
      <p:sp>
        <p:nvSpPr>
          <p:cNvPr id="133" name="rB_bg"/>
          <p:cNvSpPr/>
          <p:nvPr/>
        </p:nvSpPr>
        <p:spPr>
          <a:xfrm>
            <a:off x="1335024" y="4553710"/>
            <a:ext cx="10143440" cy="530354"/>
          </a:xfrm>
          <a:prstGeom prst="roundRect">
            <a:avLst>
              <a:gd name="adj" fmla="val 13793"/>
            </a:avLst>
          </a:prstGeom>
          <a:solidFill>
            <a:srgbClr val="FFF6CC"/>
          </a:solidFill>
          <a:ln w="12700">
            <a:solidFill>
              <a:srgbClr val="C7D9EA"/>
            </a:solidFill>
          </a:ln>
        </p:spPr>
        <p:txBody>
          <a:bodyPr lIns="45718" tIns="45718" rIns="45718" bIns="45718"/>
          <a:lstStyle/>
          <a:p>
            <a:pPr>
              <a:defRPr>
                <a:latin typeface="+mn-lt"/>
                <a:ea typeface="+mn-ea"/>
                <a:cs typeface="+mn-cs"/>
                <a:sym typeface="Calibri"/>
              </a:defRPr>
            </a:pPr>
          </a:p>
        </p:txBody>
      </p:sp>
      <p:sp>
        <p:nvSpPr>
          <p:cNvPr id="134" name="rB_c0"/>
          <p:cNvSpPr txBox="1"/>
          <p:nvPr/>
        </p:nvSpPr>
        <p:spPr>
          <a:xfrm>
            <a:off x="1408174" y="4714054"/>
            <a:ext cx="1600203"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Thermometer B</a:t>
            </a:r>
          </a:p>
        </p:txBody>
      </p:sp>
      <p:sp>
        <p:nvSpPr>
          <p:cNvPr id="135" name="rB_c1"/>
          <p:cNvSpPr txBox="1"/>
          <p:nvPr/>
        </p:nvSpPr>
        <p:spPr>
          <a:xfrm>
            <a:off x="3090671" y="4714054"/>
            <a:ext cx="2103123"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0E2A40"/>
                </a:solidFill>
                <a:latin typeface="Arial"/>
                <a:ea typeface="Arial"/>
                <a:cs typeface="Arial"/>
                <a:sym typeface="Arial"/>
              </a:defRPr>
            </a:lvl1pPr>
          </a:lstStyle>
          <a:p>
            <a:pPr/>
            <a:r>
              <a:t>95,  96,  97</a:t>
            </a:r>
          </a:p>
        </p:txBody>
      </p:sp>
      <p:sp>
        <p:nvSpPr>
          <p:cNvPr id="136" name="rB_c2"/>
          <p:cNvSpPr txBox="1"/>
          <p:nvPr/>
        </p:nvSpPr>
        <p:spPr>
          <a:xfrm>
            <a:off x="5285232" y="4714054"/>
            <a:ext cx="100584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96</a:t>
            </a:r>
          </a:p>
        </p:txBody>
      </p:sp>
      <p:sp>
        <p:nvSpPr>
          <p:cNvPr id="137" name="rB_c3"/>
          <p:cNvSpPr txBox="1"/>
          <p:nvPr/>
        </p:nvSpPr>
        <p:spPr>
          <a:xfrm>
            <a:off x="6382510" y="4714054"/>
            <a:ext cx="100584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2</a:t>
            </a:r>
          </a:p>
        </p:txBody>
      </p:sp>
      <p:sp>
        <p:nvSpPr>
          <p:cNvPr id="138" name="rB_c4"/>
          <p:cNvSpPr txBox="1"/>
          <p:nvPr/>
        </p:nvSpPr>
        <p:spPr>
          <a:xfrm>
            <a:off x="7525511" y="4726337"/>
            <a:ext cx="38798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5395C"/>
                </a:solidFill>
                <a:latin typeface="Arial"/>
                <a:ea typeface="Arial"/>
                <a:cs typeface="Arial"/>
                <a:sym typeface="Arial"/>
              </a:defRPr>
            </a:lvl1pPr>
          </a:lstStyle>
          <a:p>
            <a:pPr/>
            <a:r>
              <a:t>Precise, but not accurate.</a:t>
            </a:r>
          </a:p>
        </p:txBody>
      </p:sp>
      <p:sp>
        <p:nvSpPr>
          <p:cNvPr id="139" name="rC_bg"/>
          <p:cNvSpPr/>
          <p:nvPr/>
        </p:nvSpPr>
        <p:spPr>
          <a:xfrm>
            <a:off x="1335024" y="5175503"/>
            <a:ext cx="10143440" cy="530354"/>
          </a:xfrm>
          <a:prstGeom prst="roundRect">
            <a:avLst>
              <a:gd name="adj" fmla="val 13793"/>
            </a:avLst>
          </a:prstGeom>
          <a:solidFill>
            <a:srgbClr val="F2F6FB"/>
          </a:solidFill>
          <a:ln w="12700">
            <a:solidFill>
              <a:srgbClr val="C7D9EA"/>
            </a:solidFill>
          </a:ln>
        </p:spPr>
        <p:txBody>
          <a:bodyPr lIns="45718" tIns="45718" rIns="45718" bIns="45718"/>
          <a:lstStyle/>
          <a:p>
            <a:pPr>
              <a:defRPr>
                <a:latin typeface="+mn-lt"/>
                <a:ea typeface="+mn-ea"/>
                <a:cs typeface="+mn-cs"/>
                <a:sym typeface="Calibri"/>
              </a:defRPr>
            </a:pPr>
          </a:p>
        </p:txBody>
      </p:sp>
      <p:sp>
        <p:nvSpPr>
          <p:cNvPr id="140" name="rC_c0"/>
          <p:cNvSpPr txBox="1"/>
          <p:nvPr/>
        </p:nvSpPr>
        <p:spPr>
          <a:xfrm>
            <a:off x="1408174" y="5335844"/>
            <a:ext cx="160020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Thermometer C</a:t>
            </a:r>
          </a:p>
        </p:txBody>
      </p:sp>
      <p:sp>
        <p:nvSpPr>
          <p:cNvPr id="141" name="rC_c1"/>
          <p:cNvSpPr txBox="1"/>
          <p:nvPr/>
        </p:nvSpPr>
        <p:spPr>
          <a:xfrm>
            <a:off x="3090671" y="5335844"/>
            <a:ext cx="21031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0E2A40"/>
                </a:solidFill>
                <a:latin typeface="Arial"/>
                <a:ea typeface="Arial"/>
                <a:cs typeface="Arial"/>
                <a:sym typeface="Arial"/>
              </a:defRPr>
            </a:lvl1pPr>
          </a:lstStyle>
          <a:p>
            <a:pPr/>
            <a:r>
              <a:t>94,  100,  106</a:t>
            </a:r>
          </a:p>
        </p:txBody>
      </p:sp>
      <p:sp>
        <p:nvSpPr>
          <p:cNvPr id="142" name="rC_c2"/>
          <p:cNvSpPr txBox="1"/>
          <p:nvPr/>
        </p:nvSpPr>
        <p:spPr>
          <a:xfrm>
            <a:off x="5285232" y="5335844"/>
            <a:ext cx="100584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100</a:t>
            </a:r>
          </a:p>
        </p:txBody>
      </p:sp>
      <p:sp>
        <p:nvSpPr>
          <p:cNvPr id="143" name="rC_c3"/>
          <p:cNvSpPr txBox="1"/>
          <p:nvPr/>
        </p:nvSpPr>
        <p:spPr>
          <a:xfrm>
            <a:off x="6382510" y="5335844"/>
            <a:ext cx="100584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0E2A40"/>
                </a:solidFill>
                <a:latin typeface="Arial"/>
                <a:ea typeface="Arial"/>
                <a:cs typeface="Arial"/>
                <a:sym typeface="Arial"/>
              </a:defRPr>
            </a:lvl1pPr>
          </a:lstStyle>
          <a:p>
            <a:pPr/>
            <a:r>
              <a:t>12</a:t>
            </a:r>
          </a:p>
        </p:txBody>
      </p:sp>
      <p:sp>
        <p:nvSpPr>
          <p:cNvPr id="144" name="rC_c4"/>
          <p:cNvSpPr txBox="1"/>
          <p:nvPr/>
        </p:nvSpPr>
        <p:spPr>
          <a:xfrm>
            <a:off x="7525511" y="5348130"/>
            <a:ext cx="3879801" cy="1850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5395C"/>
                </a:solidFill>
                <a:latin typeface="Arial"/>
                <a:ea typeface="Arial"/>
                <a:cs typeface="Arial"/>
                <a:sym typeface="Arial"/>
              </a:defRPr>
            </a:lvl1pPr>
          </a:lstStyle>
          <a:p>
            <a:pPr/>
            <a:r>
              <a:t>Accurate on average, but not precise.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18"/>
                                        </p:tgtEl>
                                        <p:attrNameLst>
                                          <p:attrName>style.visibility</p:attrName>
                                        </p:attrNameLst>
                                      </p:cBhvr>
                                      <p:to>
                                        <p:strVal val="visible"/>
                                      </p:to>
                                    </p:set>
                                    <p:animEffect filter="fade" transition="in">
                                      <p:cBhvr>
                                        <p:cTn id="11" dur="1000"/>
                                        <p:tgtEl>
                                          <p:spTgt spid="118"/>
                                        </p:tgtEl>
                                      </p:cBhvr>
                                    </p:animEffect>
                                  </p:childTnLst>
                                </p:cTn>
                              </p:par>
                            </p:childTnLst>
                          </p:cTn>
                        </p:par>
                        <p:par>
                          <p:cTn id="12" fill="hold">
                            <p:stCondLst>
                              <p:cond delay="1000"/>
                            </p:stCondLst>
                            <p:childTnLst>
                              <p:par>
                                <p:cTn id="13" presetClass="entr" nodeType="afterEffect" presetID="10" grpId="3" fill="hold">
                                  <p:stCondLst>
                                    <p:cond delay="0"/>
                                  </p:stCondLst>
                                  <p:iterate type="el" backwards="0">
                                    <p:tmAbs val="0"/>
                                  </p:iterate>
                                  <p:childTnLst>
                                    <p:set>
                                      <p:cBhvr>
                                        <p:cTn id="14" fill="hold"/>
                                        <p:tgtEl>
                                          <p:spTgt spid="119"/>
                                        </p:tgtEl>
                                        <p:attrNameLst>
                                          <p:attrName>style.visibility</p:attrName>
                                        </p:attrNameLst>
                                      </p:cBhvr>
                                      <p:to>
                                        <p:strVal val="visible"/>
                                      </p:to>
                                    </p:set>
                                    <p:animEffect filter="fade" transition="in">
                                      <p:cBhvr>
                                        <p:cTn id="15" dur="1000"/>
                                        <p:tgtEl>
                                          <p:spTgt spid="119"/>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20"/>
                                        </p:tgtEl>
                                        <p:attrNameLst>
                                          <p:attrName>style.visibility</p:attrName>
                                        </p:attrNameLst>
                                      </p:cBhvr>
                                      <p:to>
                                        <p:strVal val="visible"/>
                                      </p:to>
                                    </p:set>
                                    <p:animEffect filter="fade" transition="in">
                                      <p:cBhvr>
                                        <p:cTn id="20" dur="1000"/>
                                        <p:tgtEl>
                                          <p:spTgt spid="120"/>
                                        </p:tgtEl>
                                      </p:cBhvr>
                                    </p:animEffect>
                                  </p:childTnLst>
                                </p:cTn>
                              </p:par>
                            </p:childTnLst>
                          </p:cTn>
                        </p:par>
                        <p:par>
                          <p:cTn id="21" fill="hold">
                            <p:stCondLst>
                              <p:cond delay="1000"/>
                            </p:stCondLst>
                            <p:childTnLst>
                              <p:par>
                                <p:cTn id="22" presetClass="entr" nodeType="afterEffect" presetID="10" grpId="5" fill="hold">
                                  <p:stCondLst>
                                    <p:cond delay="0"/>
                                  </p:stCondLst>
                                  <p:iterate type="el" backwards="0">
                                    <p:tmAbs val="0"/>
                                  </p:iterate>
                                  <p:childTnLst>
                                    <p:set>
                                      <p:cBhvr>
                                        <p:cTn id="23" fill="hold"/>
                                        <p:tgtEl>
                                          <p:spTgt spid="121"/>
                                        </p:tgtEl>
                                        <p:attrNameLst>
                                          <p:attrName>style.visibility</p:attrName>
                                        </p:attrNameLst>
                                      </p:cBhvr>
                                      <p:to>
                                        <p:strVal val="visible"/>
                                      </p:to>
                                    </p:set>
                                    <p:animEffect filter="fade" transition="in">
                                      <p:cBhvr>
                                        <p:cTn id="24" dur="1000"/>
                                        <p:tgtEl>
                                          <p:spTgt spid="121"/>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122"/>
                                        </p:tgtEl>
                                        <p:attrNameLst>
                                          <p:attrName>style.visibility</p:attrName>
                                        </p:attrNameLst>
                                      </p:cBhvr>
                                      <p:to>
                                        <p:strVal val="visible"/>
                                      </p:to>
                                    </p:set>
                                    <p:animEffect filter="fade" transition="in">
                                      <p:cBhvr>
                                        <p:cTn id="29" dur="1000"/>
                                        <p:tgtEl>
                                          <p:spTgt spid="122"/>
                                        </p:tgtEl>
                                      </p:cBhvr>
                                    </p:animEffect>
                                  </p:childTnLst>
                                </p:cTn>
                              </p:par>
                            </p:childTnLst>
                          </p:cTn>
                        </p:par>
                        <p:par>
                          <p:cTn id="30" fill="hold">
                            <p:stCondLst>
                              <p:cond delay="1000"/>
                            </p:stCondLst>
                            <p:childTnLst>
                              <p:par>
                                <p:cTn id="31" presetClass="entr" nodeType="afterEffect" presetID="10" grpId="7" fill="hold">
                                  <p:stCondLst>
                                    <p:cond delay="0"/>
                                  </p:stCondLst>
                                  <p:iterate type="el" backwards="0">
                                    <p:tmAbs val="0"/>
                                  </p:iterate>
                                  <p:childTnLst>
                                    <p:set>
                                      <p:cBhvr>
                                        <p:cTn id="32" fill="hold"/>
                                        <p:tgtEl>
                                          <p:spTgt spid="123"/>
                                        </p:tgtEl>
                                        <p:attrNameLst>
                                          <p:attrName>style.visibility</p:attrName>
                                        </p:attrNameLst>
                                      </p:cBhvr>
                                      <p:to>
                                        <p:strVal val="visible"/>
                                      </p:to>
                                    </p:set>
                                    <p:animEffect filter="fade" transition="in">
                                      <p:cBhvr>
                                        <p:cTn id="33" dur="1000"/>
                                        <p:tgtEl>
                                          <p:spTgt spid="123"/>
                                        </p:tgtEl>
                                      </p:cBhvr>
                                    </p:animEffect>
                                  </p:childTnLst>
                                </p:cTn>
                              </p:par>
                            </p:childTnLst>
                          </p:cTn>
                        </p:par>
                        <p:par>
                          <p:cTn id="34" fill="hold">
                            <p:stCondLst>
                              <p:cond delay="2000"/>
                            </p:stCondLst>
                            <p:childTnLst>
                              <p:par>
                                <p:cTn id="35" presetClass="entr" nodeType="afterEffect" presetID="10" grpId="8" fill="hold">
                                  <p:stCondLst>
                                    <p:cond delay="0"/>
                                  </p:stCondLst>
                                  <p:iterate type="el" backwards="0">
                                    <p:tmAbs val="0"/>
                                  </p:iterate>
                                  <p:childTnLst>
                                    <p:set>
                                      <p:cBhvr>
                                        <p:cTn id="36" fill="hold"/>
                                        <p:tgtEl>
                                          <p:spTgt spid="124"/>
                                        </p:tgtEl>
                                        <p:attrNameLst>
                                          <p:attrName>style.visibility</p:attrName>
                                        </p:attrNameLst>
                                      </p:cBhvr>
                                      <p:to>
                                        <p:strVal val="visible"/>
                                      </p:to>
                                    </p:set>
                                    <p:animEffect filter="fade" transition="in">
                                      <p:cBhvr>
                                        <p:cTn id="37" dur="1000"/>
                                        <p:tgtEl>
                                          <p:spTgt spid="124"/>
                                        </p:tgtEl>
                                      </p:cBhvr>
                                    </p:animEffect>
                                  </p:childTnLst>
                                </p:cTn>
                              </p:par>
                            </p:childTnLst>
                          </p:cTn>
                        </p:par>
                        <p:par>
                          <p:cTn id="38" fill="hold">
                            <p:stCondLst>
                              <p:cond delay="3000"/>
                            </p:stCondLst>
                            <p:childTnLst>
                              <p:par>
                                <p:cTn id="39" presetClass="entr" nodeType="afterEffect" presetID="10" grpId="9" fill="hold">
                                  <p:stCondLst>
                                    <p:cond delay="0"/>
                                  </p:stCondLst>
                                  <p:iterate type="el" backwards="0">
                                    <p:tmAbs val="0"/>
                                  </p:iterate>
                                  <p:childTnLst>
                                    <p:set>
                                      <p:cBhvr>
                                        <p:cTn id="40" fill="hold"/>
                                        <p:tgtEl>
                                          <p:spTgt spid="125"/>
                                        </p:tgtEl>
                                        <p:attrNameLst>
                                          <p:attrName>style.visibility</p:attrName>
                                        </p:attrNameLst>
                                      </p:cBhvr>
                                      <p:to>
                                        <p:strVal val="visible"/>
                                      </p:to>
                                    </p:set>
                                    <p:animEffect filter="fade" transition="in">
                                      <p:cBhvr>
                                        <p:cTn id="41" dur="1000"/>
                                        <p:tgtEl>
                                          <p:spTgt spid="125"/>
                                        </p:tgtEl>
                                      </p:cBhvr>
                                    </p:animEffect>
                                  </p:childTnLst>
                                </p:cTn>
                              </p:par>
                            </p:childTnLst>
                          </p:cTn>
                        </p:par>
                        <p:par>
                          <p:cTn id="42" fill="hold">
                            <p:stCondLst>
                              <p:cond delay="4000"/>
                            </p:stCondLst>
                            <p:childTnLst>
                              <p:par>
                                <p:cTn id="43" presetClass="entr" nodeType="afterEffect" presetID="10" grpId="10" fill="hold">
                                  <p:stCondLst>
                                    <p:cond delay="0"/>
                                  </p:stCondLst>
                                  <p:iterate type="el" backwards="0">
                                    <p:tmAbs val="0"/>
                                  </p:iterate>
                                  <p:childTnLst>
                                    <p:set>
                                      <p:cBhvr>
                                        <p:cTn id="44" fill="hold"/>
                                        <p:tgtEl>
                                          <p:spTgt spid="126"/>
                                        </p:tgtEl>
                                        <p:attrNameLst>
                                          <p:attrName>style.visibility</p:attrName>
                                        </p:attrNameLst>
                                      </p:cBhvr>
                                      <p:to>
                                        <p:strVal val="visible"/>
                                      </p:to>
                                    </p:set>
                                    <p:animEffect filter="fade" transition="in">
                                      <p:cBhvr>
                                        <p:cTn id="45" dur="1000"/>
                                        <p:tgtEl>
                                          <p:spTgt spid="126"/>
                                        </p:tgtEl>
                                      </p:cBhvr>
                                    </p:animEffect>
                                  </p:childTnLst>
                                </p:cTn>
                              </p:par>
                            </p:childTnLst>
                          </p:cTn>
                        </p:par>
                      </p:childTnLst>
                    </p:cTn>
                  </p:par>
                  <p:par>
                    <p:cTn id="46" fill="hold">
                      <p:stCondLst>
                        <p:cond delay="indefinite"/>
                      </p:stCondLst>
                      <p:childTnLst>
                        <p:par>
                          <p:cTn id="47" fill="hold">
                            <p:stCondLst>
                              <p:cond delay="0"/>
                            </p:stCondLst>
                            <p:childTnLst>
                              <p:par>
                                <p:cTn id="48" presetClass="entr" nodeType="clickEffect" presetID="10" grpId="11" fill="hold">
                                  <p:stCondLst>
                                    <p:cond delay="0"/>
                                  </p:stCondLst>
                                  <p:iterate type="el" backwards="0">
                                    <p:tmAbs val="0"/>
                                  </p:iterate>
                                  <p:childTnLst>
                                    <p:set>
                                      <p:cBhvr>
                                        <p:cTn id="49" fill="hold"/>
                                        <p:tgtEl>
                                          <p:spTgt spid="127"/>
                                        </p:tgtEl>
                                        <p:attrNameLst>
                                          <p:attrName>style.visibility</p:attrName>
                                        </p:attrNameLst>
                                      </p:cBhvr>
                                      <p:to>
                                        <p:strVal val="visible"/>
                                      </p:to>
                                    </p:set>
                                    <p:animEffect filter="fade" transition="in">
                                      <p:cBhvr>
                                        <p:cTn id="50" dur="1000"/>
                                        <p:tgtEl>
                                          <p:spTgt spid="127"/>
                                        </p:tgtEl>
                                      </p:cBhvr>
                                    </p:animEffect>
                                  </p:childTnLst>
                                </p:cTn>
                              </p:par>
                            </p:childTnLst>
                          </p:cTn>
                        </p:par>
                        <p:par>
                          <p:cTn id="51" fill="hold">
                            <p:stCondLst>
                              <p:cond delay="1000"/>
                            </p:stCondLst>
                            <p:childTnLst>
                              <p:par>
                                <p:cTn id="52" presetClass="entr" nodeType="afterEffect" presetID="10" grpId="12" fill="hold">
                                  <p:stCondLst>
                                    <p:cond delay="0"/>
                                  </p:stCondLst>
                                  <p:iterate type="el" backwards="0">
                                    <p:tmAbs val="0"/>
                                  </p:iterate>
                                  <p:childTnLst>
                                    <p:set>
                                      <p:cBhvr>
                                        <p:cTn id="53" fill="hold"/>
                                        <p:tgtEl>
                                          <p:spTgt spid="128"/>
                                        </p:tgtEl>
                                        <p:attrNameLst>
                                          <p:attrName>style.visibility</p:attrName>
                                        </p:attrNameLst>
                                      </p:cBhvr>
                                      <p:to>
                                        <p:strVal val="visible"/>
                                      </p:to>
                                    </p:set>
                                    <p:animEffect filter="fade" transition="in">
                                      <p:cBhvr>
                                        <p:cTn id="54" dur="1000"/>
                                        <p:tgtEl>
                                          <p:spTgt spid="128"/>
                                        </p:tgtEl>
                                      </p:cBhvr>
                                    </p:animEffect>
                                  </p:childTnLst>
                                </p:cTn>
                              </p:par>
                            </p:childTnLst>
                          </p:cTn>
                        </p:par>
                        <p:par>
                          <p:cTn id="55" fill="hold">
                            <p:stCondLst>
                              <p:cond delay="2000"/>
                            </p:stCondLst>
                            <p:childTnLst>
                              <p:par>
                                <p:cTn id="56" presetClass="entr" nodeType="afterEffect" presetID="10" grpId="13" fill="hold">
                                  <p:stCondLst>
                                    <p:cond delay="0"/>
                                  </p:stCondLst>
                                  <p:iterate type="el" backwards="0">
                                    <p:tmAbs val="0"/>
                                  </p:iterate>
                                  <p:childTnLst>
                                    <p:set>
                                      <p:cBhvr>
                                        <p:cTn id="57" fill="hold"/>
                                        <p:tgtEl>
                                          <p:spTgt spid="129"/>
                                        </p:tgtEl>
                                        <p:attrNameLst>
                                          <p:attrName>style.visibility</p:attrName>
                                        </p:attrNameLst>
                                      </p:cBhvr>
                                      <p:to>
                                        <p:strVal val="visible"/>
                                      </p:to>
                                    </p:set>
                                    <p:animEffect filter="fade" transition="in">
                                      <p:cBhvr>
                                        <p:cTn id="58" dur="1000"/>
                                        <p:tgtEl>
                                          <p:spTgt spid="129"/>
                                        </p:tgtEl>
                                      </p:cBhvr>
                                    </p:animEffect>
                                  </p:childTnLst>
                                </p:cTn>
                              </p:par>
                            </p:childTnLst>
                          </p:cTn>
                        </p:par>
                        <p:par>
                          <p:cTn id="59" fill="hold">
                            <p:stCondLst>
                              <p:cond delay="3000"/>
                            </p:stCondLst>
                            <p:childTnLst>
                              <p:par>
                                <p:cTn id="60" presetClass="entr" nodeType="afterEffect" presetID="10" grpId="14" fill="hold">
                                  <p:stCondLst>
                                    <p:cond delay="0"/>
                                  </p:stCondLst>
                                  <p:iterate type="el" backwards="0">
                                    <p:tmAbs val="0"/>
                                  </p:iterate>
                                  <p:childTnLst>
                                    <p:set>
                                      <p:cBhvr>
                                        <p:cTn id="61" fill="hold"/>
                                        <p:tgtEl>
                                          <p:spTgt spid="130"/>
                                        </p:tgtEl>
                                        <p:attrNameLst>
                                          <p:attrName>style.visibility</p:attrName>
                                        </p:attrNameLst>
                                      </p:cBhvr>
                                      <p:to>
                                        <p:strVal val="visible"/>
                                      </p:to>
                                    </p:set>
                                    <p:animEffect filter="fade" transition="in">
                                      <p:cBhvr>
                                        <p:cTn id="62" dur="1000"/>
                                        <p:tgtEl>
                                          <p:spTgt spid="130"/>
                                        </p:tgtEl>
                                      </p:cBhvr>
                                    </p:animEffect>
                                  </p:childTnLst>
                                </p:cTn>
                              </p:par>
                            </p:childTnLst>
                          </p:cTn>
                        </p:par>
                        <p:par>
                          <p:cTn id="63" fill="hold">
                            <p:stCondLst>
                              <p:cond delay="4000"/>
                            </p:stCondLst>
                            <p:childTnLst>
                              <p:par>
                                <p:cTn id="64" presetClass="entr" nodeType="afterEffect" presetID="10" grpId="15" fill="hold">
                                  <p:stCondLst>
                                    <p:cond delay="0"/>
                                  </p:stCondLst>
                                  <p:iterate type="el" backwards="0">
                                    <p:tmAbs val="0"/>
                                  </p:iterate>
                                  <p:childTnLst>
                                    <p:set>
                                      <p:cBhvr>
                                        <p:cTn id="65" fill="hold"/>
                                        <p:tgtEl>
                                          <p:spTgt spid="131"/>
                                        </p:tgtEl>
                                        <p:attrNameLst>
                                          <p:attrName>style.visibility</p:attrName>
                                        </p:attrNameLst>
                                      </p:cBhvr>
                                      <p:to>
                                        <p:strVal val="visible"/>
                                      </p:to>
                                    </p:set>
                                    <p:animEffect filter="fade" transition="in">
                                      <p:cBhvr>
                                        <p:cTn id="66" dur="1000"/>
                                        <p:tgtEl>
                                          <p:spTgt spid="131"/>
                                        </p:tgtEl>
                                      </p:cBhvr>
                                    </p:animEffect>
                                  </p:childTnLst>
                                </p:cTn>
                              </p:par>
                            </p:childTnLst>
                          </p:cTn>
                        </p:par>
                      </p:childTnLst>
                    </p:cTn>
                  </p:par>
                  <p:par>
                    <p:cTn id="67" fill="hold">
                      <p:stCondLst>
                        <p:cond delay="indefinite"/>
                      </p:stCondLst>
                      <p:childTnLst>
                        <p:par>
                          <p:cTn id="68" fill="hold">
                            <p:stCondLst>
                              <p:cond delay="0"/>
                            </p:stCondLst>
                            <p:childTnLst>
                              <p:par>
                                <p:cTn id="69" presetClass="entr" nodeType="clickEffect" presetID="10" grpId="16" fill="hold">
                                  <p:stCondLst>
                                    <p:cond delay="0"/>
                                  </p:stCondLst>
                                  <p:iterate type="el" backwards="0">
                                    <p:tmAbs val="0"/>
                                  </p:iterate>
                                  <p:childTnLst>
                                    <p:set>
                                      <p:cBhvr>
                                        <p:cTn id="70" fill="hold"/>
                                        <p:tgtEl>
                                          <p:spTgt spid="132"/>
                                        </p:tgtEl>
                                        <p:attrNameLst>
                                          <p:attrName>style.visibility</p:attrName>
                                        </p:attrNameLst>
                                      </p:cBhvr>
                                      <p:to>
                                        <p:strVal val="visible"/>
                                      </p:to>
                                    </p:set>
                                    <p:animEffect filter="fade" transition="in">
                                      <p:cBhvr>
                                        <p:cTn id="71" dur="1000"/>
                                        <p:tgtEl>
                                          <p:spTgt spid="132"/>
                                        </p:tgtEl>
                                      </p:cBhvr>
                                    </p:animEffect>
                                  </p:childTnLst>
                                </p:cTn>
                              </p:par>
                            </p:childTnLst>
                          </p:cTn>
                        </p:par>
                      </p:childTnLst>
                    </p:cTn>
                  </p:par>
                  <p:par>
                    <p:cTn id="72" fill="hold">
                      <p:stCondLst>
                        <p:cond delay="indefinite"/>
                      </p:stCondLst>
                      <p:childTnLst>
                        <p:par>
                          <p:cTn id="73" fill="hold">
                            <p:stCondLst>
                              <p:cond delay="0"/>
                            </p:stCondLst>
                            <p:childTnLst>
                              <p:par>
                                <p:cTn id="74" presetClass="entr" nodeType="clickEffect" presetID="10" grpId="17" fill="hold">
                                  <p:stCondLst>
                                    <p:cond delay="0"/>
                                  </p:stCondLst>
                                  <p:iterate type="el" backwards="0">
                                    <p:tmAbs val="0"/>
                                  </p:iterate>
                                  <p:childTnLst>
                                    <p:set>
                                      <p:cBhvr>
                                        <p:cTn id="75" fill="hold"/>
                                        <p:tgtEl>
                                          <p:spTgt spid="133"/>
                                        </p:tgtEl>
                                        <p:attrNameLst>
                                          <p:attrName>style.visibility</p:attrName>
                                        </p:attrNameLst>
                                      </p:cBhvr>
                                      <p:to>
                                        <p:strVal val="visible"/>
                                      </p:to>
                                    </p:set>
                                    <p:animEffect filter="fade" transition="in">
                                      <p:cBhvr>
                                        <p:cTn id="76" dur="1000"/>
                                        <p:tgtEl>
                                          <p:spTgt spid="133"/>
                                        </p:tgtEl>
                                      </p:cBhvr>
                                    </p:animEffect>
                                  </p:childTnLst>
                                </p:cTn>
                              </p:par>
                            </p:childTnLst>
                          </p:cTn>
                        </p:par>
                        <p:par>
                          <p:cTn id="77" fill="hold">
                            <p:stCondLst>
                              <p:cond delay="1000"/>
                            </p:stCondLst>
                            <p:childTnLst>
                              <p:par>
                                <p:cTn id="78" presetClass="entr" nodeType="afterEffect" presetID="10" grpId="18" fill="hold">
                                  <p:stCondLst>
                                    <p:cond delay="0"/>
                                  </p:stCondLst>
                                  <p:iterate type="el" backwards="0">
                                    <p:tmAbs val="0"/>
                                  </p:iterate>
                                  <p:childTnLst>
                                    <p:set>
                                      <p:cBhvr>
                                        <p:cTn id="79" fill="hold"/>
                                        <p:tgtEl>
                                          <p:spTgt spid="134"/>
                                        </p:tgtEl>
                                        <p:attrNameLst>
                                          <p:attrName>style.visibility</p:attrName>
                                        </p:attrNameLst>
                                      </p:cBhvr>
                                      <p:to>
                                        <p:strVal val="visible"/>
                                      </p:to>
                                    </p:set>
                                    <p:animEffect filter="fade" transition="in">
                                      <p:cBhvr>
                                        <p:cTn id="80" dur="1000"/>
                                        <p:tgtEl>
                                          <p:spTgt spid="134"/>
                                        </p:tgtEl>
                                      </p:cBhvr>
                                    </p:animEffect>
                                  </p:childTnLst>
                                </p:cTn>
                              </p:par>
                            </p:childTnLst>
                          </p:cTn>
                        </p:par>
                        <p:par>
                          <p:cTn id="81" fill="hold">
                            <p:stCondLst>
                              <p:cond delay="2000"/>
                            </p:stCondLst>
                            <p:childTnLst>
                              <p:par>
                                <p:cTn id="82" presetClass="entr" nodeType="afterEffect" presetID="10" grpId="19" fill="hold">
                                  <p:stCondLst>
                                    <p:cond delay="0"/>
                                  </p:stCondLst>
                                  <p:iterate type="el" backwards="0">
                                    <p:tmAbs val="0"/>
                                  </p:iterate>
                                  <p:childTnLst>
                                    <p:set>
                                      <p:cBhvr>
                                        <p:cTn id="83" fill="hold"/>
                                        <p:tgtEl>
                                          <p:spTgt spid="135"/>
                                        </p:tgtEl>
                                        <p:attrNameLst>
                                          <p:attrName>style.visibility</p:attrName>
                                        </p:attrNameLst>
                                      </p:cBhvr>
                                      <p:to>
                                        <p:strVal val="visible"/>
                                      </p:to>
                                    </p:set>
                                    <p:animEffect filter="fade" transition="in">
                                      <p:cBhvr>
                                        <p:cTn id="84" dur="1000"/>
                                        <p:tgtEl>
                                          <p:spTgt spid="135"/>
                                        </p:tgtEl>
                                      </p:cBhvr>
                                    </p:animEffect>
                                  </p:childTnLst>
                                </p:cTn>
                              </p:par>
                            </p:childTnLst>
                          </p:cTn>
                        </p:par>
                        <p:par>
                          <p:cTn id="85" fill="hold">
                            <p:stCondLst>
                              <p:cond delay="3000"/>
                            </p:stCondLst>
                            <p:childTnLst>
                              <p:par>
                                <p:cTn id="86" presetClass="entr" nodeType="afterEffect" presetID="10" grpId="20" fill="hold">
                                  <p:stCondLst>
                                    <p:cond delay="0"/>
                                  </p:stCondLst>
                                  <p:iterate type="el" backwards="0">
                                    <p:tmAbs val="0"/>
                                  </p:iterate>
                                  <p:childTnLst>
                                    <p:set>
                                      <p:cBhvr>
                                        <p:cTn id="87" fill="hold"/>
                                        <p:tgtEl>
                                          <p:spTgt spid="136"/>
                                        </p:tgtEl>
                                        <p:attrNameLst>
                                          <p:attrName>style.visibility</p:attrName>
                                        </p:attrNameLst>
                                      </p:cBhvr>
                                      <p:to>
                                        <p:strVal val="visible"/>
                                      </p:to>
                                    </p:set>
                                    <p:animEffect filter="fade" transition="in">
                                      <p:cBhvr>
                                        <p:cTn id="88" dur="1000"/>
                                        <p:tgtEl>
                                          <p:spTgt spid="136"/>
                                        </p:tgtEl>
                                      </p:cBhvr>
                                    </p:animEffect>
                                  </p:childTnLst>
                                </p:cTn>
                              </p:par>
                            </p:childTnLst>
                          </p:cTn>
                        </p:par>
                        <p:par>
                          <p:cTn id="89" fill="hold">
                            <p:stCondLst>
                              <p:cond delay="4000"/>
                            </p:stCondLst>
                            <p:childTnLst>
                              <p:par>
                                <p:cTn id="90" presetClass="entr" nodeType="afterEffect" presetID="10" grpId="21" fill="hold">
                                  <p:stCondLst>
                                    <p:cond delay="0"/>
                                  </p:stCondLst>
                                  <p:iterate type="el" backwards="0">
                                    <p:tmAbs val="0"/>
                                  </p:iterate>
                                  <p:childTnLst>
                                    <p:set>
                                      <p:cBhvr>
                                        <p:cTn id="91" fill="hold"/>
                                        <p:tgtEl>
                                          <p:spTgt spid="137"/>
                                        </p:tgtEl>
                                        <p:attrNameLst>
                                          <p:attrName>style.visibility</p:attrName>
                                        </p:attrNameLst>
                                      </p:cBhvr>
                                      <p:to>
                                        <p:strVal val="visible"/>
                                      </p:to>
                                    </p:set>
                                    <p:animEffect filter="fade" transition="in">
                                      <p:cBhvr>
                                        <p:cTn id="92" dur="1000"/>
                                        <p:tgtEl>
                                          <p:spTgt spid="137"/>
                                        </p:tgtEl>
                                      </p:cBhvr>
                                    </p:animEffect>
                                  </p:childTnLst>
                                </p:cTn>
                              </p:par>
                            </p:childTnLst>
                          </p:cTn>
                        </p:par>
                      </p:childTnLst>
                    </p:cTn>
                  </p:par>
                  <p:par>
                    <p:cTn id="93" fill="hold">
                      <p:stCondLst>
                        <p:cond delay="indefinite"/>
                      </p:stCondLst>
                      <p:childTnLst>
                        <p:par>
                          <p:cTn id="94" fill="hold">
                            <p:stCondLst>
                              <p:cond delay="0"/>
                            </p:stCondLst>
                            <p:childTnLst>
                              <p:par>
                                <p:cTn id="95" presetClass="entr" nodeType="clickEffect" presetID="10" grpId="22" fill="hold">
                                  <p:stCondLst>
                                    <p:cond delay="0"/>
                                  </p:stCondLst>
                                  <p:iterate type="el" backwards="0">
                                    <p:tmAbs val="0"/>
                                  </p:iterate>
                                  <p:childTnLst>
                                    <p:set>
                                      <p:cBhvr>
                                        <p:cTn id="96" fill="hold"/>
                                        <p:tgtEl>
                                          <p:spTgt spid="138"/>
                                        </p:tgtEl>
                                        <p:attrNameLst>
                                          <p:attrName>style.visibility</p:attrName>
                                        </p:attrNameLst>
                                      </p:cBhvr>
                                      <p:to>
                                        <p:strVal val="visible"/>
                                      </p:to>
                                    </p:set>
                                    <p:animEffect filter="fade" transition="in">
                                      <p:cBhvr>
                                        <p:cTn id="97" dur="1000"/>
                                        <p:tgtEl>
                                          <p:spTgt spid="138"/>
                                        </p:tgtEl>
                                      </p:cBhvr>
                                    </p:animEffect>
                                  </p:childTnLst>
                                </p:cTn>
                              </p:par>
                            </p:childTnLst>
                          </p:cTn>
                        </p:par>
                      </p:childTnLst>
                    </p:cTn>
                  </p:par>
                  <p:par>
                    <p:cTn id="98" fill="hold">
                      <p:stCondLst>
                        <p:cond delay="indefinite"/>
                      </p:stCondLst>
                      <p:childTnLst>
                        <p:par>
                          <p:cTn id="99" fill="hold">
                            <p:stCondLst>
                              <p:cond delay="0"/>
                            </p:stCondLst>
                            <p:childTnLst>
                              <p:par>
                                <p:cTn id="100" presetClass="entr" nodeType="clickEffect" presetID="10" grpId="23" fill="hold">
                                  <p:stCondLst>
                                    <p:cond delay="0"/>
                                  </p:stCondLst>
                                  <p:iterate type="el" backwards="0">
                                    <p:tmAbs val="0"/>
                                  </p:iterate>
                                  <p:childTnLst>
                                    <p:set>
                                      <p:cBhvr>
                                        <p:cTn id="101" fill="hold"/>
                                        <p:tgtEl>
                                          <p:spTgt spid="139"/>
                                        </p:tgtEl>
                                        <p:attrNameLst>
                                          <p:attrName>style.visibility</p:attrName>
                                        </p:attrNameLst>
                                      </p:cBhvr>
                                      <p:to>
                                        <p:strVal val="visible"/>
                                      </p:to>
                                    </p:set>
                                    <p:animEffect filter="fade" transition="in">
                                      <p:cBhvr>
                                        <p:cTn id="102" dur="1000"/>
                                        <p:tgtEl>
                                          <p:spTgt spid="139"/>
                                        </p:tgtEl>
                                      </p:cBhvr>
                                    </p:animEffect>
                                  </p:childTnLst>
                                </p:cTn>
                              </p:par>
                            </p:childTnLst>
                          </p:cTn>
                        </p:par>
                        <p:par>
                          <p:cTn id="103" fill="hold">
                            <p:stCondLst>
                              <p:cond delay="1000"/>
                            </p:stCondLst>
                            <p:childTnLst>
                              <p:par>
                                <p:cTn id="104" presetClass="entr" nodeType="afterEffect" presetID="10" grpId="24" fill="hold">
                                  <p:stCondLst>
                                    <p:cond delay="0"/>
                                  </p:stCondLst>
                                  <p:iterate type="el" backwards="0">
                                    <p:tmAbs val="0"/>
                                  </p:iterate>
                                  <p:childTnLst>
                                    <p:set>
                                      <p:cBhvr>
                                        <p:cTn id="105" fill="hold"/>
                                        <p:tgtEl>
                                          <p:spTgt spid="140"/>
                                        </p:tgtEl>
                                        <p:attrNameLst>
                                          <p:attrName>style.visibility</p:attrName>
                                        </p:attrNameLst>
                                      </p:cBhvr>
                                      <p:to>
                                        <p:strVal val="visible"/>
                                      </p:to>
                                    </p:set>
                                    <p:animEffect filter="fade" transition="in">
                                      <p:cBhvr>
                                        <p:cTn id="106" dur="1000"/>
                                        <p:tgtEl>
                                          <p:spTgt spid="140"/>
                                        </p:tgtEl>
                                      </p:cBhvr>
                                    </p:animEffect>
                                  </p:childTnLst>
                                </p:cTn>
                              </p:par>
                            </p:childTnLst>
                          </p:cTn>
                        </p:par>
                        <p:par>
                          <p:cTn id="107" fill="hold">
                            <p:stCondLst>
                              <p:cond delay="2000"/>
                            </p:stCondLst>
                            <p:childTnLst>
                              <p:par>
                                <p:cTn id="108" presetClass="entr" nodeType="afterEffect" presetID="10" grpId="25" fill="hold">
                                  <p:stCondLst>
                                    <p:cond delay="0"/>
                                  </p:stCondLst>
                                  <p:iterate type="el" backwards="0">
                                    <p:tmAbs val="0"/>
                                  </p:iterate>
                                  <p:childTnLst>
                                    <p:set>
                                      <p:cBhvr>
                                        <p:cTn id="109" fill="hold"/>
                                        <p:tgtEl>
                                          <p:spTgt spid="141"/>
                                        </p:tgtEl>
                                        <p:attrNameLst>
                                          <p:attrName>style.visibility</p:attrName>
                                        </p:attrNameLst>
                                      </p:cBhvr>
                                      <p:to>
                                        <p:strVal val="visible"/>
                                      </p:to>
                                    </p:set>
                                    <p:animEffect filter="fade" transition="in">
                                      <p:cBhvr>
                                        <p:cTn id="110" dur="1000"/>
                                        <p:tgtEl>
                                          <p:spTgt spid="141"/>
                                        </p:tgtEl>
                                      </p:cBhvr>
                                    </p:animEffect>
                                  </p:childTnLst>
                                </p:cTn>
                              </p:par>
                            </p:childTnLst>
                          </p:cTn>
                        </p:par>
                        <p:par>
                          <p:cTn id="111" fill="hold">
                            <p:stCondLst>
                              <p:cond delay="3000"/>
                            </p:stCondLst>
                            <p:childTnLst>
                              <p:par>
                                <p:cTn id="112" presetClass="entr" nodeType="afterEffect" presetID="10" grpId="26" fill="hold">
                                  <p:stCondLst>
                                    <p:cond delay="0"/>
                                  </p:stCondLst>
                                  <p:iterate type="el" backwards="0">
                                    <p:tmAbs val="0"/>
                                  </p:iterate>
                                  <p:childTnLst>
                                    <p:set>
                                      <p:cBhvr>
                                        <p:cTn id="113" fill="hold"/>
                                        <p:tgtEl>
                                          <p:spTgt spid="142"/>
                                        </p:tgtEl>
                                        <p:attrNameLst>
                                          <p:attrName>style.visibility</p:attrName>
                                        </p:attrNameLst>
                                      </p:cBhvr>
                                      <p:to>
                                        <p:strVal val="visible"/>
                                      </p:to>
                                    </p:set>
                                    <p:animEffect filter="fade" transition="in">
                                      <p:cBhvr>
                                        <p:cTn id="114" dur="1000"/>
                                        <p:tgtEl>
                                          <p:spTgt spid="142"/>
                                        </p:tgtEl>
                                      </p:cBhvr>
                                    </p:animEffect>
                                  </p:childTnLst>
                                </p:cTn>
                              </p:par>
                            </p:childTnLst>
                          </p:cTn>
                        </p:par>
                        <p:par>
                          <p:cTn id="115" fill="hold">
                            <p:stCondLst>
                              <p:cond delay="4000"/>
                            </p:stCondLst>
                            <p:childTnLst>
                              <p:par>
                                <p:cTn id="116" presetClass="entr" nodeType="afterEffect" presetID="10" grpId="27" fill="hold">
                                  <p:stCondLst>
                                    <p:cond delay="0"/>
                                  </p:stCondLst>
                                  <p:iterate type="el" backwards="0">
                                    <p:tmAbs val="0"/>
                                  </p:iterate>
                                  <p:childTnLst>
                                    <p:set>
                                      <p:cBhvr>
                                        <p:cTn id="117" fill="hold"/>
                                        <p:tgtEl>
                                          <p:spTgt spid="143"/>
                                        </p:tgtEl>
                                        <p:attrNameLst>
                                          <p:attrName>style.visibility</p:attrName>
                                        </p:attrNameLst>
                                      </p:cBhvr>
                                      <p:to>
                                        <p:strVal val="visible"/>
                                      </p:to>
                                    </p:set>
                                    <p:animEffect filter="fade" transition="in">
                                      <p:cBhvr>
                                        <p:cTn id="118" dur="1000"/>
                                        <p:tgtEl>
                                          <p:spTgt spid="143"/>
                                        </p:tgtEl>
                                      </p:cBhvr>
                                    </p:animEffect>
                                  </p:childTnLst>
                                </p:cTn>
                              </p:par>
                            </p:childTnLst>
                          </p:cTn>
                        </p:par>
                      </p:childTnLst>
                    </p:cTn>
                  </p:par>
                  <p:par>
                    <p:cTn id="119" fill="hold">
                      <p:stCondLst>
                        <p:cond delay="indefinite"/>
                      </p:stCondLst>
                      <p:childTnLst>
                        <p:par>
                          <p:cTn id="120" fill="hold">
                            <p:stCondLst>
                              <p:cond delay="0"/>
                            </p:stCondLst>
                            <p:childTnLst>
                              <p:par>
                                <p:cTn id="121" presetClass="entr" nodeType="clickEffect" presetID="10" grpId="28" fill="hold">
                                  <p:stCondLst>
                                    <p:cond delay="0"/>
                                  </p:stCondLst>
                                  <p:iterate type="el" backwards="0">
                                    <p:tmAbs val="0"/>
                                  </p:iterate>
                                  <p:childTnLst>
                                    <p:set>
                                      <p:cBhvr>
                                        <p:cTn id="122" fill="hold"/>
                                        <p:tgtEl>
                                          <p:spTgt spid="144"/>
                                        </p:tgtEl>
                                        <p:attrNameLst>
                                          <p:attrName>style.visibility</p:attrName>
                                        </p:attrNameLst>
                                      </p:cBhvr>
                                      <p:to>
                                        <p:strVal val="visible"/>
                                      </p:to>
                                    </p:set>
                                    <p:animEffect filter="fade" transition="in">
                                      <p:cBhvr>
                                        <p:cTn id="123" dur="1000"/>
                                        <p:tgtEl>
                                          <p:spTgt spid="144"/>
                                        </p:tgtEl>
                                      </p:cBhvr>
                                    </p:animEffect>
                                  </p:childTnLst>
                                </p:cTn>
                              </p:par>
                            </p:childTnLst>
                          </p:cTn>
                        </p:par>
                      </p:childTnLst>
                    </p:cTn>
                  </p:par>
                  <p:par>
                    <p:cTn id="124" fill="hold">
                      <p:stCondLst>
                        <p:cond delay="indefinite"/>
                      </p:stCondLst>
                      <p:childTnLst>
                        <p:par>
                          <p:cTn id="125" fill="hold">
                            <p:stCondLst>
                              <p:cond delay="0"/>
                            </p:stCondLst>
                            <p:childTnLst>
                              <p:par>
                                <p:cTn id="126" presetClass="mediacall" nodeType="clickEffect" presetSubtype="0" presetID="3" grpId="1" fill="hold">
                                  <p:stCondLst>
                                    <p:cond delay="0"/>
                                  </p:stCondLst>
                                  <p:childTnLst>
                                    <p:cmd type="call" cmd="stop">
                                      <p:cBhvr>
                                        <p:cTn id="127" dur="1000" fill="hold"/>
                                        <p:tgtEl>
                                          <p:spTgt spid="113"/>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128" fill="hold" display="0">
                  <p:stCondLst>
                    <p:cond delay="indefinite"/>
                  </p:stCondLst>
                </p:cTn>
                <p:tgtEl>
                  <p:spTgt spid="113"/>
                </p:tgtEl>
              </p:cMediaNode>
            </p:video>
            <p:seq concurrent="1" prevAc="none" nextAc="seek">
              <p:cTn id="129" evtFilter="cancelBubble" nodeType="interactiveSeq" restart="whenNotActive" fill="hold">
                <p:stCondLst>
                  <p:cond delay="0" evt="onClick">
                    <p:tgtEl>
                      <p:spTgt spid="113"/>
                    </p:tgtEl>
                  </p:cond>
                </p:stCondLst>
                <p:endSync delay="0" evt="end">
                  <p:rtn val="all"/>
                </p:endSync>
                <p:childTnLst>
                  <p:par>
                    <p:cTn id="130" fill="hold">
                      <p:stCondLst>
                        <p:cond delay="0"/>
                      </p:stCondLst>
                      <p:childTnLst>
                        <p:par>
                          <p:cTn id="131" fill="hold">
                            <p:stCondLst>
                              <p:cond delay="0"/>
                            </p:stCondLst>
                            <p:childTnLst>
                              <p:par>
                                <p:cTn id="132" presetClass="mediacall" nodeType="clickEffect" presetSubtype="0" presetID="2" fill="hold">
                                  <p:stCondLst>
                                    <p:cond delay="0"/>
                                  </p:stCondLst>
                                  <p:childTnLst>
                                    <p:cmd type="call" cmd="togglePause">
                                      <p:cBhvr>
                                        <p:cTn id="133" dur="1" fill="hold"/>
                                        <p:tgtEl>
                                          <p:spTgt spid="113"/>
                                        </p:tgtEl>
                                      </p:cBhvr>
                                    </p:cmd>
                                  </p:childTnLst>
                                </p:cTn>
                              </p:par>
                            </p:childTnLst>
                          </p:cTn>
                        </p:par>
                      </p:childTnLst>
                    </p:cTn>
                  </p:par>
                </p:childTnLst>
              </p:cTn>
              <p:nextCondLst>
                <p:cond delay="0" evt="onClick">
                  <p:tgtEl>
                    <p:spTgt spid="113"/>
                  </p:tgtEl>
                </p:cond>
              </p:nextCondLst>
            </p:seq>
          </p:childTnLst>
        </p:cTn>
      </p:par>
    </p:tnLst>
    <p:bldLst>
      <p:bldP build="whole" bldLvl="1" animBg="1" rev="0" advAuto="0" spid="142" grpId="26"/>
      <p:bldP build="whole" bldLvl="1" animBg="1" rev="0" advAuto="0" spid="128" grpId="12"/>
      <p:bldP build="whole" bldLvl="1" animBg="1" rev="0" advAuto="0" spid="124" grpId="8"/>
      <p:bldP build="whole" bldLvl="1" animBg="1" rev="0" advAuto="0" spid="120" grpId="4"/>
      <p:bldP build="whole" bldLvl="1" animBg="1" rev="0" advAuto="0" spid="127" grpId="11"/>
      <p:bldP build="whole" bldLvl="1" animBg="1" rev="0" advAuto="0" spid="133" grpId="17"/>
      <p:bldP build="whole" bldLvl="1" animBg="1" rev="0" advAuto="0" spid="132" grpId="16"/>
      <p:bldP build="whole" bldLvl="1" animBg="1" rev="0" advAuto="0" spid="121" grpId="5"/>
      <p:bldP build="whole" bldLvl="1" animBg="1" rev="0" advAuto="0" spid="144" grpId="28"/>
      <p:bldP build="whole" bldLvl="1" animBg="1" rev="0" advAuto="0" spid="118" grpId="2"/>
      <p:bldP build="whole" bldLvl="1" animBg="1" rev="0" advAuto="0" spid="143" grpId="27"/>
      <p:bldP build="whole" bldLvl="1" animBg="1" rev="0" advAuto="0" spid="125" grpId="9"/>
      <p:bldP build="whole" bldLvl="1" animBg="1" rev="0" advAuto="0" spid="123" grpId="7"/>
      <p:bldP build="whole" bldLvl="1" animBg="1" rev="0" advAuto="0" spid="139" grpId="23"/>
      <p:bldP build="whole" bldLvl="1" animBg="1" rev="0" advAuto="0" spid="119" grpId="3"/>
      <p:bldP build="whole" bldLvl="1" animBg="1" rev="0" advAuto="0" spid="135" grpId="19"/>
      <p:bldP build="whole" bldLvl="1" animBg="1" rev="0" advAuto="0" spid="122" grpId="6"/>
      <p:bldP build="whole" bldLvl="1" animBg="1" rev="0" advAuto="0" spid="140" grpId="24"/>
      <p:bldP build="whole" bldLvl="1" animBg="1" rev="0" advAuto="0" spid="141" grpId="25"/>
      <p:bldP build="whole" bldLvl="1" animBg="1" rev="0" advAuto="0" spid="138" grpId="22"/>
      <p:bldP build="whole" bldLvl="1" animBg="1" rev="0" advAuto="0" spid="136" grpId="20"/>
      <p:bldP build="whole" bldLvl="1" animBg="1" rev="0" advAuto="0" spid="137" grpId="21"/>
      <p:bldP build="whole" bldLvl="1" animBg="1" rev="0" advAuto="0" spid="134" grpId="18"/>
      <p:bldP build="whole" bldLvl="1" animBg="1" rev="0" advAuto="0" spid="129" grpId="13"/>
      <p:bldP build="whole" bldLvl="1" animBg="1" rev="0" advAuto="0" spid="130" grpId="14"/>
      <p:bldP build="whole" bldLvl="1" animBg="1" rev="0" advAuto="0" spid="126" grpId="10"/>
      <p:bldP build="whole" bldLvl="1" animBg="1" rev="0" advAuto="0" spid="131" grpId="15"/>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4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51" name="phase_pill"/>
          <p:cNvGrpSpPr/>
          <p:nvPr/>
        </p:nvGrpSpPr>
        <p:grpSpPr>
          <a:xfrm>
            <a:off x="1170432" y="310894"/>
            <a:ext cx="1623977" cy="329188"/>
            <a:chOff x="0" y="0"/>
            <a:chExt cx="1623976" cy="329186"/>
          </a:xfrm>
        </p:grpSpPr>
        <p:sp>
          <p:nvSpPr>
            <p:cNvPr id="149" name="Rounded Rectangle"/>
            <p:cNvSpPr/>
            <p:nvPr/>
          </p:nvSpPr>
          <p:spPr>
            <a:xfrm>
              <a:off x="-1" y="-1"/>
              <a:ext cx="162397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150" name="I DO · 3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52"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Graphs and models</a:t>
            </a:r>
          </a:p>
        </p:txBody>
      </p:sp>
      <p:sp>
        <p:nvSpPr>
          <p:cNvPr id="153" name="g_bar_bg"/>
          <p:cNvSpPr/>
          <p:nvPr/>
        </p:nvSpPr>
        <p:spPr>
          <a:xfrm>
            <a:off x="1170432" y="1920238"/>
            <a:ext cx="3307994" cy="1783083"/>
          </a:xfrm>
          <a:prstGeom prst="roundRect">
            <a:avLst>
              <a:gd name="adj" fmla="val 5128"/>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pic>
        <p:nvPicPr>
          <p:cNvPr id="154" name="g_bar_icon" descr="g_bar_icon"/>
          <p:cNvPicPr>
            <a:picLocks noChangeAspect="1"/>
          </p:cNvPicPr>
          <p:nvPr/>
        </p:nvPicPr>
        <p:blipFill>
          <a:blip r:embed="rId6">
            <a:extLst/>
          </a:blip>
          <a:stretch>
            <a:fillRect/>
          </a:stretch>
        </p:blipFill>
        <p:spPr>
          <a:xfrm>
            <a:off x="3801769" y="2066544"/>
            <a:ext cx="457202" cy="457202"/>
          </a:xfrm>
          <a:prstGeom prst="rect">
            <a:avLst/>
          </a:prstGeom>
          <a:ln w="12700">
            <a:miter lim="400000"/>
          </a:ln>
        </p:spPr>
      </p:pic>
      <p:sp>
        <p:nvSpPr>
          <p:cNvPr id="155" name="g_bar_h"/>
          <p:cNvSpPr txBox="1"/>
          <p:nvPr/>
        </p:nvSpPr>
        <p:spPr>
          <a:xfrm>
            <a:off x="1389888" y="2147823"/>
            <a:ext cx="239359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15395C"/>
                </a:solidFill>
                <a:latin typeface="Georgia"/>
                <a:ea typeface="Georgia"/>
                <a:cs typeface="Georgia"/>
                <a:sym typeface="Georgia"/>
              </a:defRPr>
            </a:lvl1pPr>
          </a:lstStyle>
          <a:p>
            <a:pPr/>
            <a:r>
              <a:t>BAR CHART</a:t>
            </a:r>
          </a:p>
        </p:txBody>
      </p:sp>
      <p:sp>
        <p:nvSpPr>
          <p:cNvPr id="156" name="g_bar_t"/>
          <p:cNvSpPr txBox="1"/>
          <p:nvPr/>
        </p:nvSpPr>
        <p:spPr>
          <a:xfrm>
            <a:off x="1389888" y="2596894"/>
            <a:ext cx="2869084"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One variable is a category, a word: a type of soil, a material, a name.</a:t>
            </a:r>
          </a:p>
        </p:txBody>
      </p:sp>
      <p:sp>
        <p:nvSpPr>
          <p:cNvPr id="157" name="g_bar_e"/>
          <p:cNvSpPr txBox="1"/>
          <p:nvPr/>
        </p:nvSpPr>
        <p:spPr>
          <a:xfrm>
            <a:off x="1389888" y="3182110"/>
            <a:ext cx="2869084" cy="1948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b="1" sz="1200">
                <a:solidFill>
                  <a:srgbClr val="957D11"/>
                </a:solidFill>
                <a:latin typeface="Arial"/>
                <a:ea typeface="Arial"/>
                <a:cs typeface="Arial"/>
                <a:sym typeface="Arial"/>
              </a:defRPr>
            </a:pPr>
            <a:r>
              <a:t>e.g. </a:t>
            </a:r>
            <a:r>
              <a:rPr b="0">
                <a:solidFill>
                  <a:srgbClr val="55708A"/>
                </a:solidFill>
              </a:rPr>
              <a:t>Water held by sand, clay and loam.</a:t>
            </a:r>
          </a:p>
        </p:txBody>
      </p:sp>
      <p:sp>
        <p:nvSpPr>
          <p:cNvPr id="158" name="g_line_bg"/>
          <p:cNvSpPr/>
          <p:nvPr/>
        </p:nvSpPr>
        <p:spPr>
          <a:xfrm>
            <a:off x="4752745" y="1920238"/>
            <a:ext cx="3307996" cy="1783083"/>
          </a:xfrm>
          <a:prstGeom prst="roundRect">
            <a:avLst>
              <a:gd name="adj" fmla="val 5128"/>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pic>
        <p:nvPicPr>
          <p:cNvPr id="159" name="g_line_icon" descr="g_line_icon"/>
          <p:cNvPicPr>
            <a:picLocks noChangeAspect="1"/>
          </p:cNvPicPr>
          <p:nvPr/>
        </p:nvPicPr>
        <p:blipFill>
          <a:blip r:embed="rId7">
            <a:extLst/>
          </a:blip>
          <a:stretch>
            <a:fillRect/>
          </a:stretch>
        </p:blipFill>
        <p:spPr>
          <a:xfrm>
            <a:off x="7384084" y="2066544"/>
            <a:ext cx="457202" cy="457202"/>
          </a:xfrm>
          <a:prstGeom prst="rect">
            <a:avLst/>
          </a:prstGeom>
          <a:ln w="12700">
            <a:miter lim="400000"/>
          </a:ln>
        </p:spPr>
      </p:pic>
      <p:sp>
        <p:nvSpPr>
          <p:cNvPr id="160" name="g_line_h"/>
          <p:cNvSpPr txBox="1"/>
          <p:nvPr/>
        </p:nvSpPr>
        <p:spPr>
          <a:xfrm>
            <a:off x="4972201" y="2147823"/>
            <a:ext cx="239359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15395C"/>
                </a:solidFill>
                <a:latin typeface="Georgia"/>
                <a:ea typeface="Georgia"/>
                <a:cs typeface="Georgia"/>
                <a:sym typeface="Georgia"/>
              </a:defRPr>
            </a:lvl1pPr>
          </a:lstStyle>
          <a:p>
            <a:pPr/>
            <a:r>
              <a:t>LINE GRAPH</a:t>
            </a:r>
          </a:p>
        </p:txBody>
      </p:sp>
      <p:sp>
        <p:nvSpPr>
          <p:cNvPr id="161" name="g_line_t"/>
          <p:cNvSpPr txBox="1"/>
          <p:nvPr/>
        </p:nvSpPr>
        <p:spPr>
          <a:xfrm>
            <a:off x="4972201" y="2596894"/>
            <a:ext cx="2869084"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Both variables are numbers that change smoothly, like time or height.</a:t>
            </a:r>
          </a:p>
        </p:txBody>
      </p:sp>
      <p:sp>
        <p:nvSpPr>
          <p:cNvPr id="162" name="g_line_e"/>
          <p:cNvSpPr txBox="1"/>
          <p:nvPr/>
        </p:nvSpPr>
        <p:spPr>
          <a:xfrm>
            <a:off x="4972201" y="3182110"/>
            <a:ext cx="2869084" cy="3980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b="1" sz="1200">
                <a:solidFill>
                  <a:srgbClr val="957D11"/>
                </a:solidFill>
                <a:latin typeface="Arial"/>
                <a:ea typeface="Arial"/>
                <a:cs typeface="Arial"/>
                <a:sym typeface="Arial"/>
              </a:defRPr>
            </a:pPr>
            <a:r>
              <a:t>e.g. </a:t>
            </a:r>
            <a:r>
              <a:rPr b="0">
                <a:solidFill>
                  <a:srgbClr val="55708A"/>
                </a:solidFill>
              </a:rPr>
              <a:t>Temperature every minute as water cools.</a:t>
            </a:r>
          </a:p>
        </p:txBody>
      </p:sp>
      <p:sp>
        <p:nvSpPr>
          <p:cNvPr id="163" name="g_pie_bg"/>
          <p:cNvSpPr/>
          <p:nvPr/>
        </p:nvSpPr>
        <p:spPr>
          <a:xfrm>
            <a:off x="8335061" y="1920238"/>
            <a:ext cx="3307994" cy="1783083"/>
          </a:xfrm>
          <a:prstGeom prst="roundRect">
            <a:avLst>
              <a:gd name="adj" fmla="val 5128"/>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pic>
        <p:nvPicPr>
          <p:cNvPr id="164" name="g_pie_icon" descr="g_pie_icon"/>
          <p:cNvPicPr>
            <a:picLocks noChangeAspect="1"/>
          </p:cNvPicPr>
          <p:nvPr/>
        </p:nvPicPr>
        <p:blipFill>
          <a:blip r:embed="rId8">
            <a:extLst/>
          </a:blip>
          <a:stretch>
            <a:fillRect/>
          </a:stretch>
        </p:blipFill>
        <p:spPr>
          <a:xfrm>
            <a:off x="10966398" y="2066544"/>
            <a:ext cx="457202" cy="457202"/>
          </a:xfrm>
          <a:prstGeom prst="rect">
            <a:avLst/>
          </a:prstGeom>
          <a:ln w="12700">
            <a:miter lim="400000"/>
          </a:ln>
        </p:spPr>
      </p:pic>
      <p:sp>
        <p:nvSpPr>
          <p:cNvPr id="165" name="g_pie_h"/>
          <p:cNvSpPr txBox="1"/>
          <p:nvPr/>
        </p:nvSpPr>
        <p:spPr>
          <a:xfrm>
            <a:off x="8554517" y="2147823"/>
            <a:ext cx="2393596"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15395C"/>
                </a:solidFill>
                <a:latin typeface="Georgia"/>
                <a:ea typeface="Georgia"/>
                <a:cs typeface="Georgia"/>
                <a:sym typeface="Georgia"/>
              </a:defRPr>
            </a:lvl1pPr>
          </a:lstStyle>
          <a:p>
            <a:pPr/>
            <a:r>
              <a:t>PIE CHART</a:t>
            </a:r>
          </a:p>
        </p:txBody>
      </p:sp>
      <p:sp>
        <p:nvSpPr>
          <p:cNvPr id="166" name="g_pie_t"/>
          <p:cNvSpPr txBox="1"/>
          <p:nvPr/>
        </p:nvSpPr>
        <p:spPr>
          <a:xfrm>
            <a:off x="8554517" y="2596894"/>
            <a:ext cx="2869084"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Parts that make up a whole, shown as slices.</a:t>
            </a:r>
          </a:p>
        </p:txBody>
      </p:sp>
      <p:sp>
        <p:nvSpPr>
          <p:cNvPr id="167" name="g_pie_e"/>
          <p:cNvSpPr txBox="1"/>
          <p:nvPr/>
        </p:nvSpPr>
        <p:spPr>
          <a:xfrm>
            <a:off x="8554517" y="3182110"/>
            <a:ext cx="2869084" cy="3980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b="1" sz="1200">
                <a:solidFill>
                  <a:srgbClr val="957D11"/>
                </a:solidFill>
                <a:latin typeface="Arial"/>
                <a:ea typeface="Arial"/>
                <a:cs typeface="Arial"/>
                <a:sym typeface="Arial"/>
              </a:defRPr>
            </a:pPr>
            <a:r>
              <a:t>e.g. </a:t>
            </a:r>
            <a:r>
              <a:rPr b="0">
                <a:solidFill>
                  <a:srgbClr val="55708A"/>
                </a:solidFill>
              </a:rPr>
              <a:t>The gases in air: nitrogen, oxygen, other.</a:t>
            </a:r>
          </a:p>
        </p:txBody>
      </p:sp>
      <p:sp>
        <p:nvSpPr>
          <p:cNvPr id="168" name="model_bg"/>
          <p:cNvSpPr/>
          <p:nvPr/>
        </p:nvSpPr>
        <p:spPr>
          <a:xfrm>
            <a:off x="1170432" y="3941064"/>
            <a:ext cx="10472623" cy="1371602"/>
          </a:xfrm>
          <a:prstGeom prst="roundRect">
            <a:avLst>
              <a:gd name="adj" fmla="val 6667"/>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pic>
        <p:nvPicPr>
          <p:cNvPr id="169" name="model_icon" descr="model_icon"/>
          <p:cNvPicPr>
            <a:picLocks noChangeAspect="1"/>
          </p:cNvPicPr>
          <p:nvPr/>
        </p:nvPicPr>
        <p:blipFill>
          <a:blip r:embed="rId9">
            <a:extLst/>
          </a:blip>
          <a:stretch>
            <a:fillRect/>
          </a:stretch>
        </p:blipFill>
        <p:spPr>
          <a:xfrm>
            <a:off x="10911533" y="4087367"/>
            <a:ext cx="475490" cy="475490"/>
          </a:xfrm>
          <a:prstGeom prst="rect">
            <a:avLst/>
          </a:prstGeom>
          <a:ln w="12700">
            <a:miter lim="400000"/>
          </a:ln>
        </p:spPr>
      </p:pic>
      <p:sp>
        <p:nvSpPr>
          <p:cNvPr id="170" name="model_h"/>
          <p:cNvSpPr txBox="1"/>
          <p:nvPr/>
        </p:nvSpPr>
        <p:spPr>
          <a:xfrm>
            <a:off x="1408175" y="4132071"/>
            <a:ext cx="9283905"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15395C"/>
                </a:solidFill>
                <a:latin typeface="Georgia"/>
                <a:ea typeface="Georgia"/>
                <a:cs typeface="Georgia"/>
                <a:sym typeface="Georgia"/>
              </a:defRPr>
            </a:lvl1pPr>
          </a:lstStyle>
          <a:p>
            <a:pPr/>
            <a:r>
              <a:t>A MODEL</a:t>
            </a:r>
          </a:p>
        </p:txBody>
      </p:sp>
      <p:sp>
        <p:nvSpPr>
          <p:cNvPr id="171" name="model_t"/>
          <p:cNvSpPr txBox="1"/>
          <p:nvPr/>
        </p:nvSpPr>
        <p:spPr>
          <a:xfrm>
            <a:off x="1408174" y="4434840"/>
            <a:ext cx="9997139" cy="6777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800"/>
              </a:lnSpc>
              <a:defRPr sz="1400">
                <a:solidFill>
                  <a:srgbClr val="0E2A40"/>
                </a:solidFill>
                <a:latin typeface="Arial"/>
                <a:ea typeface="Arial"/>
                <a:cs typeface="Arial"/>
                <a:sym typeface="Arial"/>
              </a:defRPr>
            </a:pPr>
            <a:r>
              <a:t>A model is a simplified idea, picture or equation that helps us </a:t>
            </a:r>
            <a:r>
              <a:rPr b="1">
                <a:solidFill>
                  <a:srgbClr val="957D11"/>
                </a:solidFill>
              </a:rPr>
              <a:t>explain or predict</a:t>
            </a:r>
            <a:r>
              <a:t> something we cannot easily see or test directly. The eclipse times came from a model of how the Sun, Moon and Earth move. A </a:t>
            </a:r>
            <a:r>
              <a:rPr b="1">
                <a:solidFill>
                  <a:srgbClr val="957D11"/>
                </a:solidFill>
              </a:rPr>
              <a:t>line of best fit is a model too</a:t>
            </a:r>
            <a:r>
              <a:t>: it predicts a result you never measured.</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4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3"/>
                                        </p:tgtEl>
                                        <p:attrNameLst>
                                          <p:attrName>style.visibility</p:attrName>
                                        </p:attrNameLst>
                                      </p:cBhvr>
                                      <p:to>
                                        <p:strVal val="visible"/>
                                      </p:to>
                                    </p:set>
                                    <p:animEffect filter="fade" transition="in">
                                      <p:cBhvr>
                                        <p:cTn id="11" dur="1000"/>
                                        <p:tgtEl>
                                          <p:spTgt spid="153"/>
                                        </p:tgtEl>
                                      </p:cBhvr>
                                    </p:animEffect>
                                  </p:childTnLst>
                                </p:cTn>
                              </p:par>
                            </p:childTnLst>
                          </p:cTn>
                        </p:par>
                        <p:par>
                          <p:cTn id="12" fill="hold">
                            <p:stCondLst>
                              <p:cond delay="1000"/>
                            </p:stCondLst>
                            <p:childTnLst>
                              <p:par>
                                <p:cTn id="13" presetClass="entr" nodeType="afterEffect" presetID="10" grpId="3" fill="hold">
                                  <p:stCondLst>
                                    <p:cond delay="0"/>
                                  </p:stCondLst>
                                  <p:iterate type="el" backwards="0">
                                    <p:tmAbs val="0"/>
                                  </p:iterate>
                                  <p:childTnLst>
                                    <p:set>
                                      <p:cBhvr>
                                        <p:cTn id="14" fill="hold"/>
                                        <p:tgtEl>
                                          <p:spTgt spid="155"/>
                                        </p:tgtEl>
                                        <p:attrNameLst>
                                          <p:attrName>style.visibility</p:attrName>
                                        </p:attrNameLst>
                                      </p:cBhvr>
                                      <p:to>
                                        <p:strVal val="visible"/>
                                      </p:to>
                                    </p:set>
                                    <p:animEffect filter="fade" transition="in">
                                      <p:cBhvr>
                                        <p:cTn id="15" dur="1000"/>
                                        <p:tgtEl>
                                          <p:spTgt spid="155"/>
                                        </p:tgtEl>
                                      </p:cBhvr>
                                    </p:animEffect>
                                  </p:childTnLst>
                                </p:cTn>
                              </p:par>
                            </p:childTnLst>
                          </p:cTn>
                        </p:par>
                        <p:par>
                          <p:cTn id="16" fill="hold">
                            <p:stCondLst>
                              <p:cond delay="2000"/>
                            </p:stCondLst>
                            <p:childTnLst>
                              <p:par>
                                <p:cTn id="17" presetClass="entr" nodeType="afterEffect" presetID="10" grpId="4" fill="hold">
                                  <p:stCondLst>
                                    <p:cond delay="0"/>
                                  </p:stCondLst>
                                  <p:iterate type="el" backwards="0">
                                    <p:tmAbs val="0"/>
                                  </p:iterate>
                                  <p:childTnLst>
                                    <p:set>
                                      <p:cBhvr>
                                        <p:cTn id="18" fill="hold"/>
                                        <p:tgtEl>
                                          <p:spTgt spid="156"/>
                                        </p:tgtEl>
                                        <p:attrNameLst>
                                          <p:attrName>style.visibility</p:attrName>
                                        </p:attrNameLst>
                                      </p:cBhvr>
                                      <p:to>
                                        <p:strVal val="visible"/>
                                      </p:to>
                                    </p:set>
                                    <p:animEffect filter="fade" transition="in">
                                      <p:cBhvr>
                                        <p:cTn id="19" dur="1000"/>
                                        <p:tgtEl>
                                          <p:spTgt spid="156"/>
                                        </p:tgtEl>
                                      </p:cBhvr>
                                    </p:animEffect>
                                  </p:childTnLst>
                                </p:cTn>
                              </p:par>
                            </p:childTnLst>
                          </p:cTn>
                        </p:par>
                        <p:par>
                          <p:cTn id="20" fill="hold">
                            <p:stCondLst>
                              <p:cond delay="3000"/>
                            </p:stCondLst>
                            <p:childTnLst>
                              <p:par>
                                <p:cTn id="21" presetClass="entr" nodeType="afterEffect" presetID="10" grpId="5" fill="hold">
                                  <p:stCondLst>
                                    <p:cond delay="0"/>
                                  </p:stCondLst>
                                  <p:iterate type="el" backwards="0">
                                    <p:tmAbs val="0"/>
                                  </p:iterate>
                                  <p:childTnLst>
                                    <p:set>
                                      <p:cBhvr>
                                        <p:cTn id="22" fill="hold"/>
                                        <p:tgtEl>
                                          <p:spTgt spid="157"/>
                                        </p:tgtEl>
                                        <p:attrNameLst>
                                          <p:attrName>style.visibility</p:attrName>
                                        </p:attrNameLst>
                                      </p:cBhvr>
                                      <p:to>
                                        <p:strVal val="visible"/>
                                      </p:to>
                                    </p:set>
                                    <p:animEffect filter="fade" transition="in">
                                      <p:cBhvr>
                                        <p:cTn id="23" dur="1000"/>
                                        <p:tgtEl>
                                          <p:spTgt spid="157"/>
                                        </p:tgtEl>
                                      </p:cBhvr>
                                    </p:animEffect>
                                  </p:childTnLst>
                                </p:cTn>
                              </p:par>
                            </p:childTnLst>
                          </p:cTn>
                        </p:par>
                        <p:par>
                          <p:cTn id="24" fill="hold">
                            <p:stCondLst>
                              <p:cond delay="4000"/>
                            </p:stCondLst>
                            <p:childTnLst>
                              <p:par>
                                <p:cTn id="25" presetClass="entr" nodeType="afterEffect" presetID="10" grpId="6" fill="hold">
                                  <p:stCondLst>
                                    <p:cond delay="0"/>
                                  </p:stCondLst>
                                  <p:iterate type="el" backwards="0">
                                    <p:tmAbs val="0"/>
                                  </p:iterate>
                                  <p:childTnLst>
                                    <p:set>
                                      <p:cBhvr>
                                        <p:cTn id="26" fill="hold"/>
                                        <p:tgtEl>
                                          <p:spTgt spid="154"/>
                                        </p:tgtEl>
                                        <p:attrNameLst>
                                          <p:attrName>style.visibility</p:attrName>
                                        </p:attrNameLst>
                                      </p:cBhvr>
                                      <p:to>
                                        <p:strVal val="visible"/>
                                      </p:to>
                                    </p:set>
                                    <p:animEffect filter="fade" transition="in">
                                      <p:cBhvr>
                                        <p:cTn id="27" dur="1000"/>
                                        <p:tgtEl>
                                          <p:spTgt spid="154"/>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7" fill="hold">
                                  <p:stCondLst>
                                    <p:cond delay="0"/>
                                  </p:stCondLst>
                                  <p:iterate type="el" backwards="0">
                                    <p:tmAbs val="0"/>
                                  </p:iterate>
                                  <p:childTnLst>
                                    <p:set>
                                      <p:cBhvr>
                                        <p:cTn id="31" fill="hold"/>
                                        <p:tgtEl>
                                          <p:spTgt spid="158"/>
                                        </p:tgtEl>
                                        <p:attrNameLst>
                                          <p:attrName>style.visibility</p:attrName>
                                        </p:attrNameLst>
                                      </p:cBhvr>
                                      <p:to>
                                        <p:strVal val="visible"/>
                                      </p:to>
                                    </p:set>
                                    <p:animEffect filter="fade" transition="in">
                                      <p:cBhvr>
                                        <p:cTn id="32" dur="1000"/>
                                        <p:tgtEl>
                                          <p:spTgt spid="158"/>
                                        </p:tgtEl>
                                      </p:cBhvr>
                                    </p:animEffect>
                                  </p:childTnLst>
                                </p:cTn>
                              </p:par>
                            </p:childTnLst>
                          </p:cTn>
                        </p:par>
                        <p:par>
                          <p:cTn id="33" fill="hold">
                            <p:stCondLst>
                              <p:cond delay="1000"/>
                            </p:stCondLst>
                            <p:childTnLst>
                              <p:par>
                                <p:cTn id="34" presetClass="entr" nodeType="afterEffect" presetID="10" grpId="8" fill="hold">
                                  <p:stCondLst>
                                    <p:cond delay="0"/>
                                  </p:stCondLst>
                                  <p:iterate type="el" backwards="0">
                                    <p:tmAbs val="0"/>
                                  </p:iterate>
                                  <p:childTnLst>
                                    <p:set>
                                      <p:cBhvr>
                                        <p:cTn id="35" fill="hold"/>
                                        <p:tgtEl>
                                          <p:spTgt spid="160"/>
                                        </p:tgtEl>
                                        <p:attrNameLst>
                                          <p:attrName>style.visibility</p:attrName>
                                        </p:attrNameLst>
                                      </p:cBhvr>
                                      <p:to>
                                        <p:strVal val="visible"/>
                                      </p:to>
                                    </p:set>
                                    <p:animEffect filter="fade" transition="in">
                                      <p:cBhvr>
                                        <p:cTn id="36" dur="1000"/>
                                        <p:tgtEl>
                                          <p:spTgt spid="160"/>
                                        </p:tgtEl>
                                      </p:cBhvr>
                                    </p:animEffect>
                                  </p:childTnLst>
                                </p:cTn>
                              </p:par>
                            </p:childTnLst>
                          </p:cTn>
                        </p:par>
                        <p:par>
                          <p:cTn id="37" fill="hold">
                            <p:stCondLst>
                              <p:cond delay="2000"/>
                            </p:stCondLst>
                            <p:childTnLst>
                              <p:par>
                                <p:cTn id="38" presetClass="entr" nodeType="afterEffect" presetID="10" grpId="9" fill="hold">
                                  <p:stCondLst>
                                    <p:cond delay="0"/>
                                  </p:stCondLst>
                                  <p:iterate type="el" backwards="0">
                                    <p:tmAbs val="0"/>
                                  </p:iterate>
                                  <p:childTnLst>
                                    <p:set>
                                      <p:cBhvr>
                                        <p:cTn id="39" fill="hold"/>
                                        <p:tgtEl>
                                          <p:spTgt spid="161"/>
                                        </p:tgtEl>
                                        <p:attrNameLst>
                                          <p:attrName>style.visibility</p:attrName>
                                        </p:attrNameLst>
                                      </p:cBhvr>
                                      <p:to>
                                        <p:strVal val="visible"/>
                                      </p:to>
                                    </p:set>
                                    <p:animEffect filter="fade" transition="in">
                                      <p:cBhvr>
                                        <p:cTn id="40" dur="1000"/>
                                        <p:tgtEl>
                                          <p:spTgt spid="161"/>
                                        </p:tgtEl>
                                      </p:cBhvr>
                                    </p:animEffect>
                                  </p:childTnLst>
                                </p:cTn>
                              </p:par>
                            </p:childTnLst>
                          </p:cTn>
                        </p:par>
                        <p:par>
                          <p:cTn id="41" fill="hold">
                            <p:stCondLst>
                              <p:cond delay="3000"/>
                            </p:stCondLst>
                            <p:childTnLst>
                              <p:par>
                                <p:cTn id="42" presetClass="entr" nodeType="afterEffect" presetID="10" grpId="10" fill="hold">
                                  <p:stCondLst>
                                    <p:cond delay="0"/>
                                  </p:stCondLst>
                                  <p:iterate type="el" backwards="0">
                                    <p:tmAbs val="0"/>
                                  </p:iterate>
                                  <p:childTnLst>
                                    <p:set>
                                      <p:cBhvr>
                                        <p:cTn id="43" fill="hold"/>
                                        <p:tgtEl>
                                          <p:spTgt spid="162"/>
                                        </p:tgtEl>
                                        <p:attrNameLst>
                                          <p:attrName>style.visibility</p:attrName>
                                        </p:attrNameLst>
                                      </p:cBhvr>
                                      <p:to>
                                        <p:strVal val="visible"/>
                                      </p:to>
                                    </p:set>
                                    <p:animEffect filter="fade" transition="in">
                                      <p:cBhvr>
                                        <p:cTn id="44" dur="1000"/>
                                        <p:tgtEl>
                                          <p:spTgt spid="162"/>
                                        </p:tgtEl>
                                      </p:cBhvr>
                                    </p:animEffect>
                                  </p:childTnLst>
                                </p:cTn>
                              </p:par>
                            </p:childTnLst>
                          </p:cTn>
                        </p:par>
                        <p:par>
                          <p:cTn id="45" fill="hold">
                            <p:stCondLst>
                              <p:cond delay="4000"/>
                            </p:stCondLst>
                            <p:childTnLst>
                              <p:par>
                                <p:cTn id="46" presetClass="entr" nodeType="afterEffect" presetID="10" grpId="11" fill="hold">
                                  <p:stCondLst>
                                    <p:cond delay="0"/>
                                  </p:stCondLst>
                                  <p:iterate type="el" backwards="0">
                                    <p:tmAbs val="0"/>
                                  </p:iterate>
                                  <p:childTnLst>
                                    <p:set>
                                      <p:cBhvr>
                                        <p:cTn id="47" fill="hold"/>
                                        <p:tgtEl>
                                          <p:spTgt spid="159"/>
                                        </p:tgtEl>
                                        <p:attrNameLst>
                                          <p:attrName>style.visibility</p:attrName>
                                        </p:attrNameLst>
                                      </p:cBhvr>
                                      <p:to>
                                        <p:strVal val="visible"/>
                                      </p:to>
                                    </p:set>
                                    <p:animEffect filter="fade" transition="in">
                                      <p:cBhvr>
                                        <p:cTn id="48" dur="1000"/>
                                        <p:tgtEl>
                                          <p:spTgt spid="159"/>
                                        </p:tgtEl>
                                      </p:cBhvr>
                                    </p:animEffect>
                                  </p:childTnLst>
                                </p:cTn>
                              </p:par>
                            </p:childTnLst>
                          </p:cTn>
                        </p:par>
                      </p:childTnLst>
                    </p:cTn>
                  </p:par>
                  <p:par>
                    <p:cTn id="49" fill="hold">
                      <p:stCondLst>
                        <p:cond delay="indefinite"/>
                      </p:stCondLst>
                      <p:childTnLst>
                        <p:par>
                          <p:cTn id="50" fill="hold">
                            <p:stCondLst>
                              <p:cond delay="0"/>
                            </p:stCondLst>
                            <p:childTnLst>
                              <p:par>
                                <p:cTn id="51" presetClass="entr" nodeType="clickEffect" presetID="10" grpId="12" fill="hold">
                                  <p:stCondLst>
                                    <p:cond delay="0"/>
                                  </p:stCondLst>
                                  <p:iterate type="el" backwards="0">
                                    <p:tmAbs val="0"/>
                                  </p:iterate>
                                  <p:childTnLst>
                                    <p:set>
                                      <p:cBhvr>
                                        <p:cTn id="52" fill="hold"/>
                                        <p:tgtEl>
                                          <p:spTgt spid="163"/>
                                        </p:tgtEl>
                                        <p:attrNameLst>
                                          <p:attrName>style.visibility</p:attrName>
                                        </p:attrNameLst>
                                      </p:cBhvr>
                                      <p:to>
                                        <p:strVal val="visible"/>
                                      </p:to>
                                    </p:set>
                                    <p:animEffect filter="fade" transition="in">
                                      <p:cBhvr>
                                        <p:cTn id="53" dur="1000"/>
                                        <p:tgtEl>
                                          <p:spTgt spid="163"/>
                                        </p:tgtEl>
                                      </p:cBhvr>
                                    </p:animEffect>
                                  </p:childTnLst>
                                </p:cTn>
                              </p:par>
                            </p:childTnLst>
                          </p:cTn>
                        </p:par>
                        <p:par>
                          <p:cTn id="54" fill="hold">
                            <p:stCondLst>
                              <p:cond delay="1000"/>
                            </p:stCondLst>
                            <p:childTnLst>
                              <p:par>
                                <p:cTn id="55" presetClass="entr" nodeType="afterEffect" presetID="10" grpId="13" fill="hold">
                                  <p:stCondLst>
                                    <p:cond delay="0"/>
                                  </p:stCondLst>
                                  <p:iterate type="el" backwards="0">
                                    <p:tmAbs val="0"/>
                                  </p:iterate>
                                  <p:childTnLst>
                                    <p:set>
                                      <p:cBhvr>
                                        <p:cTn id="56" fill="hold"/>
                                        <p:tgtEl>
                                          <p:spTgt spid="165"/>
                                        </p:tgtEl>
                                        <p:attrNameLst>
                                          <p:attrName>style.visibility</p:attrName>
                                        </p:attrNameLst>
                                      </p:cBhvr>
                                      <p:to>
                                        <p:strVal val="visible"/>
                                      </p:to>
                                    </p:set>
                                    <p:animEffect filter="fade" transition="in">
                                      <p:cBhvr>
                                        <p:cTn id="57" dur="1000"/>
                                        <p:tgtEl>
                                          <p:spTgt spid="165"/>
                                        </p:tgtEl>
                                      </p:cBhvr>
                                    </p:animEffect>
                                  </p:childTnLst>
                                </p:cTn>
                              </p:par>
                            </p:childTnLst>
                          </p:cTn>
                        </p:par>
                        <p:par>
                          <p:cTn id="58" fill="hold">
                            <p:stCondLst>
                              <p:cond delay="2000"/>
                            </p:stCondLst>
                            <p:childTnLst>
                              <p:par>
                                <p:cTn id="59" presetClass="entr" nodeType="afterEffect" presetID="10" grpId="14" fill="hold">
                                  <p:stCondLst>
                                    <p:cond delay="0"/>
                                  </p:stCondLst>
                                  <p:iterate type="el" backwards="0">
                                    <p:tmAbs val="0"/>
                                  </p:iterate>
                                  <p:childTnLst>
                                    <p:set>
                                      <p:cBhvr>
                                        <p:cTn id="60" fill="hold"/>
                                        <p:tgtEl>
                                          <p:spTgt spid="166"/>
                                        </p:tgtEl>
                                        <p:attrNameLst>
                                          <p:attrName>style.visibility</p:attrName>
                                        </p:attrNameLst>
                                      </p:cBhvr>
                                      <p:to>
                                        <p:strVal val="visible"/>
                                      </p:to>
                                    </p:set>
                                    <p:animEffect filter="fade" transition="in">
                                      <p:cBhvr>
                                        <p:cTn id="61" dur="1000"/>
                                        <p:tgtEl>
                                          <p:spTgt spid="166"/>
                                        </p:tgtEl>
                                      </p:cBhvr>
                                    </p:animEffect>
                                  </p:childTnLst>
                                </p:cTn>
                              </p:par>
                            </p:childTnLst>
                          </p:cTn>
                        </p:par>
                        <p:par>
                          <p:cTn id="62" fill="hold">
                            <p:stCondLst>
                              <p:cond delay="3000"/>
                            </p:stCondLst>
                            <p:childTnLst>
                              <p:par>
                                <p:cTn id="63" presetClass="entr" nodeType="afterEffect" presetID="10" grpId="15" fill="hold">
                                  <p:stCondLst>
                                    <p:cond delay="0"/>
                                  </p:stCondLst>
                                  <p:iterate type="el" backwards="0">
                                    <p:tmAbs val="0"/>
                                  </p:iterate>
                                  <p:childTnLst>
                                    <p:set>
                                      <p:cBhvr>
                                        <p:cTn id="64" fill="hold"/>
                                        <p:tgtEl>
                                          <p:spTgt spid="167"/>
                                        </p:tgtEl>
                                        <p:attrNameLst>
                                          <p:attrName>style.visibility</p:attrName>
                                        </p:attrNameLst>
                                      </p:cBhvr>
                                      <p:to>
                                        <p:strVal val="visible"/>
                                      </p:to>
                                    </p:set>
                                    <p:animEffect filter="fade" transition="in">
                                      <p:cBhvr>
                                        <p:cTn id="65" dur="1000"/>
                                        <p:tgtEl>
                                          <p:spTgt spid="167"/>
                                        </p:tgtEl>
                                      </p:cBhvr>
                                    </p:animEffect>
                                  </p:childTnLst>
                                </p:cTn>
                              </p:par>
                            </p:childTnLst>
                          </p:cTn>
                        </p:par>
                        <p:par>
                          <p:cTn id="66" fill="hold">
                            <p:stCondLst>
                              <p:cond delay="4000"/>
                            </p:stCondLst>
                            <p:childTnLst>
                              <p:par>
                                <p:cTn id="67" presetClass="entr" nodeType="afterEffect" presetID="10" grpId="16" fill="hold">
                                  <p:stCondLst>
                                    <p:cond delay="0"/>
                                  </p:stCondLst>
                                  <p:iterate type="el" backwards="0">
                                    <p:tmAbs val="0"/>
                                  </p:iterate>
                                  <p:childTnLst>
                                    <p:set>
                                      <p:cBhvr>
                                        <p:cTn id="68" fill="hold"/>
                                        <p:tgtEl>
                                          <p:spTgt spid="164"/>
                                        </p:tgtEl>
                                        <p:attrNameLst>
                                          <p:attrName>style.visibility</p:attrName>
                                        </p:attrNameLst>
                                      </p:cBhvr>
                                      <p:to>
                                        <p:strVal val="visible"/>
                                      </p:to>
                                    </p:set>
                                    <p:animEffect filter="fade" transition="in">
                                      <p:cBhvr>
                                        <p:cTn id="69" dur="1000"/>
                                        <p:tgtEl>
                                          <p:spTgt spid="164"/>
                                        </p:tgtEl>
                                      </p:cBhvr>
                                    </p:animEffect>
                                  </p:childTnLst>
                                </p:cTn>
                              </p:par>
                            </p:childTnLst>
                          </p:cTn>
                        </p:par>
                      </p:childTnLst>
                    </p:cTn>
                  </p:par>
                  <p:par>
                    <p:cTn id="70" fill="hold">
                      <p:stCondLst>
                        <p:cond delay="indefinite"/>
                      </p:stCondLst>
                      <p:childTnLst>
                        <p:par>
                          <p:cTn id="71" fill="hold">
                            <p:stCondLst>
                              <p:cond delay="0"/>
                            </p:stCondLst>
                            <p:childTnLst>
                              <p:par>
                                <p:cTn id="72" presetClass="entr" nodeType="clickEffect" presetID="10" grpId="17" fill="hold">
                                  <p:stCondLst>
                                    <p:cond delay="0"/>
                                  </p:stCondLst>
                                  <p:iterate type="el" backwards="0">
                                    <p:tmAbs val="0"/>
                                  </p:iterate>
                                  <p:childTnLst>
                                    <p:set>
                                      <p:cBhvr>
                                        <p:cTn id="73" fill="hold"/>
                                        <p:tgtEl>
                                          <p:spTgt spid="168"/>
                                        </p:tgtEl>
                                        <p:attrNameLst>
                                          <p:attrName>style.visibility</p:attrName>
                                        </p:attrNameLst>
                                      </p:cBhvr>
                                      <p:to>
                                        <p:strVal val="visible"/>
                                      </p:to>
                                    </p:set>
                                    <p:animEffect filter="fade" transition="in">
                                      <p:cBhvr>
                                        <p:cTn id="74" dur="1000"/>
                                        <p:tgtEl>
                                          <p:spTgt spid="168"/>
                                        </p:tgtEl>
                                      </p:cBhvr>
                                    </p:animEffect>
                                  </p:childTnLst>
                                </p:cTn>
                              </p:par>
                            </p:childTnLst>
                          </p:cTn>
                        </p:par>
                        <p:par>
                          <p:cTn id="75" fill="hold">
                            <p:stCondLst>
                              <p:cond delay="1000"/>
                            </p:stCondLst>
                            <p:childTnLst>
                              <p:par>
                                <p:cTn id="76" presetClass="entr" nodeType="afterEffect" presetID="10" grpId="18" fill="hold">
                                  <p:stCondLst>
                                    <p:cond delay="0"/>
                                  </p:stCondLst>
                                  <p:iterate type="el" backwards="0">
                                    <p:tmAbs val="0"/>
                                  </p:iterate>
                                  <p:childTnLst>
                                    <p:set>
                                      <p:cBhvr>
                                        <p:cTn id="77" fill="hold"/>
                                        <p:tgtEl>
                                          <p:spTgt spid="170"/>
                                        </p:tgtEl>
                                        <p:attrNameLst>
                                          <p:attrName>style.visibility</p:attrName>
                                        </p:attrNameLst>
                                      </p:cBhvr>
                                      <p:to>
                                        <p:strVal val="visible"/>
                                      </p:to>
                                    </p:set>
                                    <p:animEffect filter="fade" transition="in">
                                      <p:cBhvr>
                                        <p:cTn id="78" dur="1000"/>
                                        <p:tgtEl>
                                          <p:spTgt spid="170"/>
                                        </p:tgtEl>
                                      </p:cBhvr>
                                    </p:animEffect>
                                  </p:childTnLst>
                                </p:cTn>
                              </p:par>
                            </p:childTnLst>
                          </p:cTn>
                        </p:par>
                        <p:par>
                          <p:cTn id="79" fill="hold">
                            <p:stCondLst>
                              <p:cond delay="2000"/>
                            </p:stCondLst>
                            <p:childTnLst>
                              <p:par>
                                <p:cTn id="80" presetClass="entr" nodeType="afterEffect" presetID="10" grpId="19" fill="hold">
                                  <p:stCondLst>
                                    <p:cond delay="0"/>
                                  </p:stCondLst>
                                  <p:iterate type="el" backwards="0">
                                    <p:tmAbs val="0"/>
                                  </p:iterate>
                                  <p:childTnLst>
                                    <p:set>
                                      <p:cBhvr>
                                        <p:cTn id="81" fill="hold"/>
                                        <p:tgtEl>
                                          <p:spTgt spid="171"/>
                                        </p:tgtEl>
                                        <p:attrNameLst>
                                          <p:attrName>style.visibility</p:attrName>
                                        </p:attrNameLst>
                                      </p:cBhvr>
                                      <p:to>
                                        <p:strVal val="visible"/>
                                      </p:to>
                                    </p:set>
                                    <p:animEffect filter="fade" transition="in">
                                      <p:cBhvr>
                                        <p:cTn id="82" dur="1000"/>
                                        <p:tgtEl>
                                          <p:spTgt spid="171"/>
                                        </p:tgtEl>
                                      </p:cBhvr>
                                    </p:animEffect>
                                  </p:childTnLst>
                                </p:cTn>
                              </p:par>
                            </p:childTnLst>
                          </p:cTn>
                        </p:par>
                        <p:par>
                          <p:cTn id="83" fill="hold">
                            <p:stCondLst>
                              <p:cond delay="3000"/>
                            </p:stCondLst>
                            <p:childTnLst>
                              <p:par>
                                <p:cTn id="84" presetClass="entr" nodeType="afterEffect" presetID="10" grpId="20" fill="hold">
                                  <p:stCondLst>
                                    <p:cond delay="0"/>
                                  </p:stCondLst>
                                  <p:iterate type="el" backwards="0">
                                    <p:tmAbs val="0"/>
                                  </p:iterate>
                                  <p:childTnLst>
                                    <p:set>
                                      <p:cBhvr>
                                        <p:cTn id="85" fill="hold"/>
                                        <p:tgtEl>
                                          <p:spTgt spid="169"/>
                                        </p:tgtEl>
                                        <p:attrNameLst>
                                          <p:attrName>style.visibility</p:attrName>
                                        </p:attrNameLst>
                                      </p:cBhvr>
                                      <p:to>
                                        <p:strVal val="visible"/>
                                      </p:to>
                                    </p:set>
                                    <p:animEffect filter="fade" transition="in">
                                      <p:cBhvr>
                                        <p:cTn id="86" dur="1000"/>
                                        <p:tgtEl>
                                          <p:spTgt spid="169"/>
                                        </p:tgtEl>
                                      </p:cBhvr>
                                    </p:animEffect>
                                  </p:childTnLst>
                                </p:cTn>
                              </p:par>
                            </p:childTnLst>
                          </p:cTn>
                        </p:par>
                      </p:childTnLst>
                    </p:cTn>
                  </p:par>
                  <p:par>
                    <p:cTn id="87" fill="hold">
                      <p:stCondLst>
                        <p:cond delay="indefinite"/>
                      </p:stCondLst>
                      <p:childTnLst>
                        <p:par>
                          <p:cTn id="88" fill="hold">
                            <p:stCondLst>
                              <p:cond delay="0"/>
                            </p:stCondLst>
                            <p:childTnLst>
                              <p:par>
                                <p:cTn id="89" presetClass="mediacall" nodeType="clickEffect" presetSubtype="0" presetID="3" grpId="1" fill="hold">
                                  <p:stCondLst>
                                    <p:cond delay="0"/>
                                  </p:stCondLst>
                                  <p:childTnLst>
                                    <p:cmd type="call" cmd="stop">
                                      <p:cBhvr>
                                        <p:cTn id="90" dur="1000" fill="hold"/>
                                        <p:tgtEl>
                                          <p:spTgt spid="148"/>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91" fill="hold" display="0">
                  <p:stCondLst>
                    <p:cond delay="indefinite"/>
                  </p:stCondLst>
                </p:cTn>
                <p:tgtEl>
                  <p:spTgt spid="148"/>
                </p:tgtEl>
              </p:cMediaNode>
            </p:video>
            <p:seq concurrent="1" prevAc="none" nextAc="seek">
              <p:cTn id="92" evtFilter="cancelBubble" nodeType="interactiveSeq" restart="whenNotActive" fill="hold">
                <p:stCondLst>
                  <p:cond delay="0" evt="onClick">
                    <p:tgtEl>
                      <p:spTgt spid="148"/>
                    </p:tgtEl>
                  </p:cond>
                </p:stCondLst>
                <p:endSync delay="0" evt="end">
                  <p:rtn val="all"/>
                </p:endSync>
                <p:childTnLst>
                  <p:par>
                    <p:cTn id="93" fill="hold">
                      <p:stCondLst>
                        <p:cond delay="0"/>
                      </p:stCondLst>
                      <p:childTnLst>
                        <p:par>
                          <p:cTn id="94" fill="hold">
                            <p:stCondLst>
                              <p:cond delay="0"/>
                            </p:stCondLst>
                            <p:childTnLst>
                              <p:par>
                                <p:cTn id="95" presetClass="mediacall" nodeType="clickEffect" presetSubtype="0" presetID="2" fill="hold">
                                  <p:stCondLst>
                                    <p:cond delay="0"/>
                                  </p:stCondLst>
                                  <p:childTnLst>
                                    <p:cmd type="call" cmd="togglePause">
                                      <p:cBhvr>
                                        <p:cTn id="96" dur="1" fill="hold"/>
                                        <p:tgtEl>
                                          <p:spTgt spid="148"/>
                                        </p:tgtEl>
                                      </p:cBhvr>
                                    </p:cmd>
                                  </p:childTnLst>
                                </p:cTn>
                              </p:par>
                            </p:childTnLst>
                          </p:cTn>
                        </p:par>
                      </p:childTnLst>
                    </p:cTn>
                  </p:par>
                </p:childTnLst>
              </p:cTn>
              <p:nextCondLst>
                <p:cond delay="0" evt="onClick">
                  <p:tgtEl>
                    <p:spTgt spid="148"/>
                  </p:tgtEl>
                </p:cond>
              </p:nextCondLst>
            </p:seq>
          </p:childTnLst>
        </p:cTn>
      </p:par>
    </p:tnLst>
    <p:bldLst>
      <p:bldP build="whole" bldLvl="1" animBg="1" rev="0" advAuto="0" spid="158" grpId="7"/>
      <p:bldP build="whole" bldLvl="1" animBg="1" rev="0" advAuto="0" spid="171" grpId="19"/>
      <p:bldP build="whole" bldLvl="1" animBg="1" rev="0" advAuto="0" spid="156" grpId="4"/>
      <p:bldP build="whole" bldLvl="1" animBg="1" rev="0" advAuto="0" spid="170" grpId="18"/>
      <p:bldP build="whole" bldLvl="1" animBg="1" rev="0" advAuto="0" spid="169" grpId="20"/>
      <p:bldP build="whole" bldLvl="1" animBg="1" rev="0" advAuto="0" spid="164" grpId="16"/>
      <p:bldP build="whole" bldLvl="1" animBg="1" rev="0" advAuto="0" spid="153" grpId="2"/>
      <p:bldP build="whole" bldLvl="1" animBg="1" rev="0" advAuto="0" spid="161" grpId="9"/>
      <p:bldP build="whole" bldLvl="1" animBg="1" rev="0" advAuto="0" spid="157" grpId="5"/>
      <p:bldP build="whole" bldLvl="1" animBg="1" rev="0" advAuto="0" spid="160" grpId="8"/>
      <p:bldP build="whole" bldLvl="1" animBg="1" rev="0" advAuto="0" spid="162" grpId="10"/>
      <p:bldP build="whole" bldLvl="1" animBg="1" rev="0" advAuto="0" spid="163" grpId="12"/>
      <p:bldP build="whole" bldLvl="1" animBg="1" rev="0" advAuto="0" spid="167" grpId="15"/>
      <p:bldP build="whole" bldLvl="1" animBg="1" rev="0" advAuto="0" spid="159" grpId="11"/>
      <p:bldP build="whole" bldLvl="1" animBg="1" rev="0" advAuto="0" spid="155" grpId="3"/>
      <p:bldP build="whole" bldLvl="1" animBg="1" rev="0" advAuto="0" spid="154" grpId="6"/>
      <p:bldP build="whole" bldLvl="1" animBg="1" rev="0" advAuto="0" spid="165" grpId="13"/>
      <p:bldP build="whole" bldLvl="1" animBg="1" rev="0" advAuto="0" spid="166" grpId="14"/>
      <p:bldP build="whole" bldLvl="1" animBg="1" rev="0" advAuto="0" spid="168" grpId="17"/>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17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78" name="phase_pill"/>
          <p:cNvGrpSpPr/>
          <p:nvPr/>
        </p:nvGrpSpPr>
        <p:grpSpPr>
          <a:xfrm>
            <a:off x="1170431" y="310894"/>
            <a:ext cx="1713589" cy="329188"/>
            <a:chOff x="0" y="0"/>
            <a:chExt cx="1713587" cy="329186"/>
          </a:xfrm>
        </p:grpSpPr>
        <p:sp>
          <p:nvSpPr>
            <p:cNvPr id="176" name="Rounded Rectangle"/>
            <p:cNvSpPr/>
            <p:nvPr/>
          </p:nvSpPr>
          <p:spPr>
            <a:xfrm>
              <a:off x="-1" y="-1"/>
              <a:ext cx="1713588"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177" name="WE DO · 5 MIN"/>
            <p:cNvSpPr txBox="1"/>
            <p:nvPr/>
          </p:nvSpPr>
          <p:spPr>
            <a:xfrm>
              <a:off x="42850" y="90677"/>
              <a:ext cx="1627885"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79"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395C"/>
                </a:solidFill>
                <a:latin typeface="Georgia"/>
                <a:ea typeface="Georgia"/>
                <a:cs typeface="Georgia"/>
                <a:sym typeface="Georgia"/>
              </a:defRPr>
            </a:lvl1pPr>
          </a:lstStyle>
          <a:p>
            <a:pPr/>
            <a:r>
              <a:t>What should be the correct answer?</a:t>
            </a:r>
          </a:p>
        </p:txBody>
      </p:sp>
      <p:sp>
        <p:nvSpPr>
          <p:cNvPr id="180" name="slide_sub"/>
          <p:cNvSpPr txBox="1"/>
          <p:nvPr/>
        </p:nvSpPr>
        <p:spPr>
          <a:xfrm>
            <a:off x="1170432" y="1644670"/>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5708A"/>
                </a:solidFill>
                <a:latin typeface="Arial"/>
                <a:ea typeface="Arial"/>
                <a:cs typeface="Arial"/>
                <a:sym typeface="Arial"/>
              </a:defRPr>
            </a:lvl1pPr>
          </a:lstStyle>
          <a:p>
            <a:pPr/>
            <a:r>
              <a:t>Spot the mistake.</a:t>
            </a:r>
          </a:p>
        </p:txBody>
      </p:sp>
      <p:sp>
        <p:nvSpPr>
          <p:cNvPr id="181" name="wd0_bg"/>
          <p:cNvSpPr/>
          <p:nvPr/>
        </p:nvSpPr>
        <p:spPr>
          <a:xfrm>
            <a:off x="1170432" y="2322576"/>
            <a:ext cx="10472623" cy="841250"/>
          </a:xfrm>
          <a:prstGeom prst="roundRect">
            <a:avLst>
              <a:gd name="adj" fmla="val 1087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82" name="wd0_q"/>
          <p:cNvSpPr txBox="1"/>
          <p:nvPr/>
        </p:nvSpPr>
        <p:spPr>
          <a:xfrm>
            <a:off x="1426462" y="2626494"/>
            <a:ext cx="5120644"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"The mean of 4, 7 and 13 is 24."</a:t>
            </a:r>
          </a:p>
        </p:txBody>
      </p:sp>
      <p:grpSp>
        <p:nvGrpSpPr>
          <p:cNvPr id="185" name="wd0_a"/>
          <p:cNvGrpSpPr/>
          <p:nvPr/>
        </p:nvGrpSpPr>
        <p:grpSpPr>
          <a:xfrm>
            <a:off x="6748271" y="2404871"/>
            <a:ext cx="4803345" cy="676659"/>
            <a:chOff x="0" y="0"/>
            <a:chExt cx="4803344" cy="676657"/>
          </a:xfrm>
        </p:grpSpPr>
        <p:sp>
          <p:nvSpPr>
            <p:cNvPr id="183" name="Rounded Rectangle"/>
            <p:cNvSpPr/>
            <p:nvPr/>
          </p:nvSpPr>
          <p:spPr>
            <a:xfrm>
              <a:off x="0" y="-1"/>
              <a:ext cx="4803345" cy="676658"/>
            </a:xfrm>
            <a:prstGeom prst="roundRect">
              <a:avLst>
                <a:gd name="adj" fmla="val 13514"/>
              </a:avLst>
            </a:prstGeom>
            <a:solidFill>
              <a:srgbClr val="FFF6CC"/>
            </a:solidFill>
            <a:ln w="19050" cap="flat">
              <a:solidFill>
                <a:srgbClr val="CD312F"/>
              </a:solidFill>
              <a:prstDash val="solid"/>
              <a:round/>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184" name="24 is the total. Divide by 3: the mean is 8."/>
            <p:cNvSpPr txBox="1"/>
            <p:nvPr/>
          </p:nvSpPr>
          <p:spPr>
            <a:xfrm>
              <a:off x="36307" y="251158"/>
              <a:ext cx="4730732" cy="174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24 is the total. Divide by 3: the mean is 8.</a:t>
              </a:r>
            </a:p>
          </p:txBody>
        </p:sp>
      </p:grpSp>
      <p:sp>
        <p:nvSpPr>
          <p:cNvPr id="186" name="wd1_bg"/>
          <p:cNvSpPr/>
          <p:nvPr/>
        </p:nvSpPr>
        <p:spPr>
          <a:xfrm>
            <a:off x="1170432" y="3346703"/>
            <a:ext cx="10472623" cy="841250"/>
          </a:xfrm>
          <a:prstGeom prst="roundRect">
            <a:avLst>
              <a:gd name="adj" fmla="val 1087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87" name="wd1_q"/>
          <p:cNvSpPr txBox="1"/>
          <p:nvPr/>
        </p:nvSpPr>
        <p:spPr>
          <a:xfrm>
            <a:off x="1426462" y="3529972"/>
            <a:ext cx="5120644" cy="474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"The results 95, 96 and 97 are close together, so the thermometer is accurate."</a:t>
            </a:r>
          </a:p>
        </p:txBody>
      </p:sp>
      <p:grpSp>
        <p:nvGrpSpPr>
          <p:cNvPr id="190" name="wd1_a"/>
          <p:cNvGrpSpPr/>
          <p:nvPr/>
        </p:nvGrpSpPr>
        <p:grpSpPr>
          <a:xfrm>
            <a:off x="6748271" y="3428999"/>
            <a:ext cx="4803345" cy="676658"/>
            <a:chOff x="0" y="0"/>
            <a:chExt cx="4803344" cy="676657"/>
          </a:xfrm>
        </p:grpSpPr>
        <p:sp>
          <p:nvSpPr>
            <p:cNvPr id="188" name="Rounded Rectangle"/>
            <p:cNvSpPr/>
            <p:nvPr/>
          </p:nvSpPr>
          <p:spPr>
            <a:xfrm>
              <a:off x="0" y="-1"/>
              <a:ext cx="4803345" cy="676658"/>
            </a:xfrm>
            <a:prstGeom prst="roundRect">
              <a:avLst>
                <a:gd name="adj" fmla="val 13514"/>
              </a:avLst>
            </a:prstGeom>
            <a:solidFill>
              <a:srgbClr val="FFF6CC"/>
            </a:solidFill>
            <a:ln w="19050" cap="flat">
              <a:solidFill>
                <a:srgbClr val="CD312F"/>
              </a:solidFill>
              <a:prstDash val="solid"/>
              <a:round/>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189" name="Close together means precise. The mean, 96, is far from the true 100, so it is not accurate."/>
            <p:cNvSpPr txBox="1"/>
            <p:nvPr/>
          </p:nvSpPr>
          <p:spPr>
            <a:xfrm>
              <a:off x="36307" y="162258"/>
              <a:ext cx="4730732" cy="3521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Close together means precise. The mean, 96, is far from the true 100, so it is not accurate.</a:t>
              </a:r>
            </a:p>
          </p:txBody>
        </p:sp>
      </p:grpSp>
      <p:sp>
        <p:nvSpPr>
          <p:cNvPr id="191" name="wd2_bg"/>
          <p:cNvSpPr/>
          <p:nvPr/>
        </p:nvSpPr>
        <p:spPr>
          <a:xfrm>
            <a:off x="1170432" y="4370832"/>
            <a:ext cx="10472623" cy="841250"/>
          </a:xfrm>
          <a:prstGeom prst="roundRect">
            <a:avLst>
              <a:gd name="adj" fmla="val 1087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92" name="wd2_q"/>
          <p:cNvSpPr txBox="1"/>
          <p:nvPr/>
        </p:nvSpPr>
        <p:spPr>
          <a:xfrm>
            <a:off x="1426462" y="4674751"/>
            <a:ext cx="5120644"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"Carpet, wood and tiles should be shown on a line graph."</a:t>
            </a:r>
          </a:p>
        </p:txBody>
      </p:sp>
      <p:grpSp>
        <p:nvGrpSpPr>
          <p:cNvPr id="195" name="wd2_a"/>
          <p:cNvGrpSpPr/>
          <p:nvPr/>
        </p:nvGrpSpPr>
        <p:grpSpPr>
          <a:xfrm>
            <a:off x="6748271" y="4453128"/>
            <a:ext cx="4803345" cy="676659"/>
            <a:chOff x="0" y="0"/>
            <a:chExt cx="4803344" cy="676658"/>
          </a:xfrm>
        </p:grpSpPr>
        <p:sp>
          <p:nvSpPr>
            <p:cNvPr id="193" name="Rounded Rectangle"/>
            <p:cNvSpPr/>
            <p:nvPr/>
          </p:nvSpPr>
          <p:spPr>
            <a:xfrm>
              <a:off x="0" y="-1"/>
              <a:ext cx="4803345" cy="676660"/>
            </a:xfrm>
            <a:prstGeom prst="roundRect">
              <a:avLst>
                <a:gd name="adj" fmla="val 13514"/>
              </a:avLst>
            </a:prstGeom>
            <a:solidFill>
              <a:srgbClr val="FFF6CC"/>
            </a:solidFill>
            <a:ln w="19050" cap="flat">
              <a:solidFill>
                <a:srgbClr val="CD312F"/>
              </a:solidFill>
              <a:prstDash val="solid"/>
              <a:round/>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194" name="They are categories, not numbers. Use a bar chart."/>
            <p:cNvSpPr txBox="1"/>
            <p:nvPr/>
          </p:nvSpPr>
          <p:spPr>
            <a:xfrm>
              <a:off x="36307" y="251158"/>
              <a:ext cx="4730732" cy="1743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They are categories, not numbers. Use a bar chart.</a:t>
              </a:r>
            </a:p>
          </p:txBody>
        </p:sp>
      </p:grpSp>
      <p:sp>
        <p:nvSpPr>
          <p:cNvPr id="196" name="wd3_bg"/>
          <p:cNvSpPr/>
          <p:nvPr/>
        </p:nvSpPr>
        <p:spPr>
          <a:xfrm>
            <a:off x="1170432" y="5394959"/>
            <a:ext cx="10472623" cy="841250"/>
          </a:xfrm>
          <a:prstGeom prst="roundRect">
            <a:avLst>
              <a:gd name="adj" fmla="val 10870"/>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197" name="wd3_q"/>
          <p:cNvSpPr txBox="1"/>
          <p:nvPr/>
        </p:nvSpPr>
        <p:spPr>
          <a:xfrm>
            <a:off x="1426462" y="5698878"/>
            <a:ext cx="5120644"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E2A40"/>
                </a:solidFill>
                <a:latin typeface="Arial"/>
                <a:ea typeface="Arial"/>
                <a:cs typeface="Arial"/>
                <a:sym typeface="Arial"/>
              </a:defRPr>
            </a:lvl1pPr>
          </a:lstStyle>
          <a:p>
            <a:pPr/>
            <a:r>
              <a:t>"A model is useless unless it is exactly like the real thing."</a:t>
            </a:r>
          </a:p>
        </p:txBody>
      </p:sp>
      <p:grpSp>
        <p:nvGrpSpPr>
          <p:cNvPr id="200" name="wd3_a"/>
          <p:cNvGrpSpPr/>
          <p:nvPr/>
        </p:nvGrpSpPr>
        <p:grpSpPr>
          <a:xfrm>
            <a:off x="6748271" y="5477254"/>
            <a:ext cx="4803345" cy="676659"/>
            <a:chOff x="0" y="0"/>
            <a:chExt cx="4803344" cy="676658"/>
          </a:xfrm>
        </p:grpSpPr>
        <p:sp>
          <p:nvSpPr>
            <p:cNvPr id="198" name="Rounded Rectangle"/>
            <p:cNvSpPr/>
            <p:nvPr/>
          </p:nvSpPr>
          <p:spPr>
            <a:xfrm>
              <a:off x="0" y="-1"/>
              <a:ext cx="4803345" cy="676660"/>
            </a:xfrm>
            <a:prstGeom prst="roundRect">
              <a:avLst>
                <a:gd name="adj" fmla="val 13514"/>
              </a:avLst>
            </a:prstGeom>
            <a:solidFill>
              <a:srgbClr val="FFF6CC"/>
            </a:solidFill>
            <a:ln w="19050" cap="flat">
              <a:solidFill>
                <a:srgbClr val="CD312F"/>
              </a:solidFill>
              <a:prstDash val="solid"/>
              <a:round/>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199" name="A model is simplified on purpose. It is useful if it explains or predicts well, within its limits."/>
            <p:cNvSpPr txBox="1"/>
            <p:nvPr/>
          </p:nvSpPr>
          <p:spPr>
            <a:xfrm>
              <a:off x="36307" y="162258"/>
              <a:ext cx="4730732" cy="3521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5395C"/>
                  </a:solidFill>
                  <a:latin typeface="Arial"/>
                  <a:ea typeface="Arial"/>
                  <a:cs typeface="Arial"/>
                  <a:sym typeface="Arial"/>
                </a:defRPr>
              </a:lvl1pPr>
            </a:lstStyle>
            <a:p>
              <a:pPr/>
              <a:r>
                <a:t>A model is simplified on purpose. It is useful if it explains or predicts well, within its limits.</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7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85"/>
                                        </p:tgtEl>
                                        <p:attrNameLst>
                                          <p:attrName>style.visibility</p:attrName>
                                        </p:attrNameLst>
                                      </p:cBhvr>
                                      <p:to>
                                        <p:strVal val="visible"/>
                                      </p:to>
                                    </p:set>
                                    <p:animEffect filter="fade" transition="in">
                                      <p:cBhvr>
                                        <p:cTn id="11" dur="1000"/>
                                        <p:tgtEl>
                                          <p:spTgt spid="18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90"/>
                                        </p:tgtEl>
                                        <p:attrNameLst>
                                          <p:attrName>style.visibility</p:attrName>
                                        </p:attrNameLst>
                                      </p:cBhvr>
                                      <p:to>
                                        <p:strVal val="visible"/>
                                      </p:to>
                                    </p:set>
                                    <p:animEffect filter="fade" transition="in">
                                      <p:cBhvr>
                                        <p:cTn id="16" dur="1000"/>
                                        <p:tgtEl>
                                          <p:spTgt spid="19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95"/>
                                        </p:tgtEl>
                                        <p:attrNameLst>
                                          <p:attrName>style.visibility</p:attrName>
                                        </p:attrNameLst>
                                      </p:cBhvr>
                                      <p:to>
                                        <p:strVal val="visible"/>
                                      </p:to>
                                    </p:set>
                                    <p:animEffect filter="fade" transition="in">
                                      <p:cBhvr>
                                        <p:cTn id="21" dur="1000"/>
                                        <p:tgtEl>
                                          <p:spTgt spid="19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00"/>
                                        </p:tgtEl>
                                        <p:attrNameLst>
                                          <p:attrName>style.visibility</p:attrName>
                                        </p:attrNameLst>
                                      </p:cBhvr>
                                      <p:to>
                                        <p:strVal val="visible"/>
                                      </p:to>
                                    </p:set>
                                    <p:animEffect filter="fade" transition="in">
                                      <p:cBhvr>
                                        <p:cTn id="26" dur="1000"/>
                                        <p:tgtEl>
                                          <p:spTgt spid="200"/>
                                        </p:tgtEl>
                                      </p:cBhvr>
                                    </p:animEffect>
                                  </p:childTnLst>
                                </p:cTn>
                              </p:par>
                            </p:childTnLst>
                          </p:cTn>
                        </p:par>
                      </p:childTnLst>
                    </p:cTn>
                  </p:par>
                  <p:par>
                    <p:cTn id="27" fill="hold">
                      <p:stCondLst>
                        <p:cond delay="indefinite"/>
                      </p:stCondLst>
                      <p:childTnLst>
                        <p:par>
                          <p:cTn id="28" fill="hold">
                            <p:stCondLst>
                              <p:cond delay="0"/>
                            </p:stCondLst>
                            <p:childTnLst>
                              <p:par>
                                <p:cTn id="29" presetClass="mediacall" nodeType="clickEffect" presetSubtype="0" presetID="3" grpId="1" fill="hold">
                                  <p:stCondLst>
                                    <p:cond delay="0"/>
                                  </p:stCondLst>
                                  <p:childTnLst>
                                    <p:cmd type="call" cmd="stop">
                                      <p:cBhvr>
                                        <p:cTn id="30" dur="1000" fill="hold"/>
                                        <p:tgtEl>
                                          <p:spTgt spid="175"/>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31" fill="hold" display="0">
                  <p:stCondLst>
                    <p:cond delay="indefinite"/>
                  </p:stCondLst>
                </p:cTn>
                <p:tgtEl>
                  <p:spTgt spid="175"/>
                </p:tgtEl>
              </p:cMediaNode>
            </p:video>
            <p:seq concurrent="1" prevAc="none" nextAc="seek">
              <p:cTn id="32" evtFilter="cancelBubble" nodeType="interactiveSeq" restart="whenNotActive" fill="hold">
                <p:stCondLst>
                  <p:cond delay="0" evt="onClick">
                    <p:tgtEl>
                      <p:spTgt spid="175"/>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75"/>
                                        </p:tgtEl>
                                      </p:cBhvr>
                                    </p:cmd>
                                  </p:childTnLst>
                                </p:cTn>
                              </p:par>
                            </p:childTnLst>
                          </p:cTn>
                        </p:par>
                      </p:childTnLst>
                    </p:cTn>
                  </p:par>
                </p:childTnLst>
              </p:cTn>
              <p:nextCondLst>
                <p:cond delay="0" evt="onClick">
                  <p:tgtEl>
                    <p:spTgt spid="175"/>
                  </p:tgtEl>
                </p:cond>
              </p:nextCondLst>
            </p:seq>
          </p:childTnLst>
        </p:cTn>
      </p:par>
    </p:tnLst>
    <p:bldLst>
      <p:bldP build="whole" bldLvl="1" animBg="1" rev="0" advAuto="0" spid="195" grpId="4"/>
      <p:bldP build="whole" bldLvl="1" animBg="1" rev="0" advAuto="0" spid="190" grpId="3"/>
      <p:bldP build="whole" bldLvl="1" animBg="1" rev="0" advAuto="0" spid="200" grpId="5"/>
      <p:bldP build="whole" bldLvl="1" animBg="1" rev="0" advAuto="0" spid="185" grpId="2"/>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0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07" name="phase_pill"/>
          <p:cNvGrpSpPr/>
          <p:nvPr/>
        </p:nvGrpSpPr>
        <p:grpSpPr>
          <a:xfrm>
            <a:off x="1170431" y="310894"/>
            <a:ext cx="2072033" cy="329188"/>
            <a:chOff x="0" y="0"/>
            <a:chExt cx="2072031" cy="329186"/>
          </a:xfrm>
        </p:grpSpPr>
        <p:sp>
          <p:nvSpPr>
            <p:cNvPr id="205" name="Rounded Rectangle"/>
            <p:cNvSpPr/>
            <p:nvPr/>
          </p:nvSpPr>
          <p:spPr>
            <a:xfrm>
              <a:off x="-1" y="-1"/>
              <a:ext cx="2072033"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206" name="COLD CALL · 6 MIN"/>
            <p:cNvSpPr txBox="1"/>
            <p:nvPr/>
          </p:nvSpPr>
          <p:spPr>
            <a:xfrm>
              <a:off x="42850" y="90677"/>
              <a:ext cx="1986329"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08" name="c0_bg"/>
          <p:cNvSpPr/>
          <p:nvPr/>
        </p:nvSpPr>
        <p:spPr>
          <a:xfrm>
            <a:off x="1170432" y="960119"/>
            <a:ext cx="5099152" cy="1572770"/>
          </a:xfrm>
          <a:prstGeom prst="roundRect">
            <a:avLst>
              <a:gd name="adj" fmla="val 5814"/>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09" name="c0_badge"/>
          <p:cNvSpPr/>
          <p:nvPr/>
        </p:nvSpPr>
        <p:spPr>
          <a:xfrm>
            <a:off x="1371600" y="1307591"/>
            <a:ext cx="384048"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10" name="c0_num"/>
          <p:cNvSpPr txBox="1"/>
          <p:nvPr/>
        </p:nvSpPr>
        <p:spPr>
          <a:xfrm>
            <a:off x="1371600" y="1398014"/>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1</a:t>
            </a:r>
          </a:p>
        </p:txBody>
      </p:sp>
      <p:sp>
        <p:nvSpPr>
          <p:cNvPr id="211" name="c0_q"/>
          <p:cNvSpPr txBox="1"/>
          <p:nvPr/>
        </p:nvSpPr>
        <p:spPr>
          <a:xfrm>
            <a:off x="1901950" y="1376484"/>
            <a:ext cx="4166466"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Calculate the mean of 5, 8, 9 and 14.</a:t>
            </a:r>
          </a:p>
        </p:txBody>
      </p:sp>
      <p:grpSp>
        <p:nvGrpSpPr>
          <p:cNvPr id="214" name="c0_a"/>
          <p:cNvGrpSpPr/>
          <p:nvPr/>
        </p:nvGrpSpPr>
        <p:grpSpPr>
          <a:xfrm>
            <a:off x="1371599" y="1965960"/>
            <a:ext cx="4696820" cy="438915"/>
            <a:chOff x="0" y="0"/>
            <a:chExt cx="4696818" cy="438914"/>
          </a:xfrm>
        </p:grpSpPr>
        <p:sp>
          <p:nvSpPr>
            <p:cNvPr id="212"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213" name="9. (5 + 8 + 9 + 14) ÷ 4 = 36 ÷ 4."/>
            <p:cNvSpPr txBox="1"/>
            <p:nvPr/>
          </p:nvSpPr>
          <p:spPr>
            <a:xfrm>
              <a:off x="35034" y="125890"/>
              <a:ext cx="4626748" cy="187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9. (5 + 8 + 9 + 14) ÷ 4 = 36 ÷ 4.</a:t>
              </a:r>
            </a:p>
          </p:txBody>
        </p:sp>
      </p:grpSp>
      <p:sp>
        <p:nvSpPr>
          <p:cNvPr id="215" name="c1_bg"/>
          <p:cNvSpPr/>
          <p:nvPr/>
        </p:nvSpPr>
        <p:spPr>
          <a:xfrm>
            <a:off x="6543902" y="960119"/>
            <a:ext cx="5099154" cy="1572770"/>
          </a:xfrm>
          <a:prstGeom prst="roundRect">
            <a:avLst>
              <a:gd name="adj" fmla="val 5814"/>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16" name="c1_badge"/>
          <p:cNvSpPr/>
          <p:nvPr/>
        </p:nvSpPr>
        <p:spPr>
          <a:xfrm>
            <a:off x="6745072" y="1307591"/>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17" name="c1_num"/>
          <p:cNvSpPr txBox="1"/>
          <p:nvPr/>
        </p:nvSpPr>
        <p:spPr>
          <a:xfrm>
            <a:off x="6745072" y="1398014"/>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2</a:t>
            </a:r>
          </a:p>
        </p:txBody>
      </p:sp>
      <p:sp>
        <p:nvSpPr>
          <p:cNvPr id="218" name="c1_q"/>
          <p:cNvSpPr txBox="1"/>
          <p:nvPr/>
        </p:nvSpPr>
        <p:spPr>
          <a:xfrm>
            <a:off x="7275424" y="1376484"/>
            <a:ext cx="4166466"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Calculate the range of 23, 31, 27 and 19.</a:t>
            </a:r>
          </a:p>
        </p:txBody>
      </p:sp>
      <p:grpSp>
        <p:nvGrpSpPr>
          <p:cNvPr id="221" name="c1_a"/>
          <p:cNvGrpSpPr/>
          <p:nvPr/>
        </p:nvGrpSpPr>
        <p:grpSpPr>
          <a:xfrm>
            <a:off x="6745071" y="1965960"/>
            <a:ext cx="4696820" cy="438915"/>
            <a:chOff x="0" y="0"/>
            <a:chExt cx="4696818" cy="438914"/>
          </a:xfrm>
        </p:grpSpPr>
        <p:sp>
          <p:nvSpPr>
            <p:cNvPr id="219"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220" name="12. 31 − 19."/>
            <p:cNvSpPr txBox="1"/>
            <p:nvPr/>
          </p:nvSpPr>
          <p:spPr>
            <a:xfrm>
              <a:off x="35034" y="125890"/>
              <a:ext cx="4626748" cy="187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12. 31 − 19.</a:t>
              </a:r>
            </a:p>
          </p:txBody>
        </p:sp>
      </p:grpSp>
      <p:sp>
        <p:nvSpPr>
          <p:cNvPr id="222" name="c2_bg"/>
          <p:cNvSpPr/>
          <p:nvPr/>
        </p:nvSpPr>
        <p:spPr>
          <a:xfrm>
            <a:off x="1170432" y="2679192"/>
            <a:ext cx="5099152" cy="1572770"/>
          </a:xfrm>
          <a:prstGeom prst="roundRect">
            <a:avLst>
              <a:gd name="adj" fmla="val 5814"/>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23" name="c2_badge"/>
          <p:cNvSpPr/>
          <p:nvPr/>
        </p:nvSpPr>
        <p:spPr>
          <a:xfrm>
            <a:off x="1371600" y="3026664"/>
            <a:ext cx="384048"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24"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3</a:t>
            </a:r>
          </a:p>
        </p:txBody>
      </p:sp>
      <p:sp>
        <p:nvSpPr>
          <p:cNvPr id="225" name="c2_q"/>
          <p:cNvSpPr txBox="1"/>
          <p:nvPr/>
        </p:nvSpPr>
        <p:spPr>
          <a:xfrm>
            <a:off x="1901950" y="2841556"/>
            <a:ext cx="4166466"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One set of results has a range of 2. Another has a range of 12. State which is more precise.</a:t>
            </a:r>
          </a:p>
        </p:txBody>
      </p:sp>
      <p:grpSp>
        <p:nvGrpSpPr>
          <p:cNvPr id="228" name="c2_a"/>
          <p:cNvGrpSpPr/>
          <p:nvPr/>
        </p:nvGrpSpPr>
        <p:grpSpPr>
          <a:xfrm>
            <a:off x="1371599" y="3685032"/>
            <a:ext cx="4696820" cy="438915"/>
            <a:chOff x="0" y="0"/>
            <a:chExt cx="4696818" cy="438914"/>
          </a:xfrm>
        </p:grpSpPr>
        <p:sp>
          <p:nvSpPr>
            <p:cNvPr id="226"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227" name="The range of 2. Its results are closer together."/>
            <p:cNvSpPr txBox="1"/>
            <p:nvPr/>
          </p:nvSpPr>
          <p:spPr>
            <a:xfrm>
              <a:off x="35034" y="125890"/>
              <a:ext cx="4626748" cy="187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The range of 2. Its results are closer together.</a:t>
              </a:r>
            </a:p>
          </p:txBody>
        </p:sp>
      </p:grpSp>
      <p:sp>
        <p:nvSpPr>
          <p:cNvPr id="229" name="c3_bg"/>
          <p:cNvSpPr/>
          <p:nvPr/>
        </p:nvSpPr>
        <p:spPr>
          <a:xfrm>
            <a:off x="6543902" y="2679192"/>
            <a:ext cx="5099154" cy="1572770"/>
          </a:xfrm>
          <a:prstGeom prst="roundRect">
            <a:avLst>
              <a:gd name="adj" fmla="val 5814"/>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30" name="c3_badge"/>
          <p:cNvSpPr/>
          <p:nvPr/>
        </p:nvSpPr>
        <p:spPr>
          <a:xfrm>
            <a:off x="6745072" y="3026664"/>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31" name="c3_num"/>
          <p:cNvSpPr txBox="1"/>
          <p:nvPr/>
        </p:nvSpPr>
        <p:spPr>
          <a:xfrm>
            <a:off x="6745072" y="3117088"/>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4</a:t>
            </a:r>
          </a:p>
        </p:txBody>
      </p:sp>
      <p:sp>
        <p:nvSpPr>
          <p:cNvPr id="232" name="c3_q"/>
          <p:cNvSpPr txBox="1"/>
          <p:nvPr/>
        </p:nvSpPr>
        <p:spPr>
          <a:xfrm>
            <a:off x="7275424" y="2841556"/>
            <a:ext cx="4166466"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Air is about 78% nitrogen, 21% oxygen and 1% other gases. State the best graph to show this.</a:t>
            </a:r>
          </a:p>
        </p:txBody>
      </p:sp>
      <p:grpSp>
        <p:nvGrpSpPr>
          <p:cNvPr id="235" name="c3_a"/>
          <p:cNvGrpSpPr/>
          <p:nvPr/>
        </p:nvGrpSpPr>
        <p:grpSpPr>
          <a:xfrm>
            <a:off x="6745071" y="3685032"/>
            <a:ext cx="4696820" cy="438915"/>
            <a:chOff x="0" y="0"/>
            <a:chExt cx="4696818" cy="438914"/>
          </a:xfrm>
        </p:grpSpPr>
        <p:sp>
          <p:nvSpPr>
            <p:cNvPr id="233"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234" name="A pie chart. These are parts of a whole."/>
            <p:cNvSpPr txBox="1"/>
            <p:nvPr/>
          </p:nvSpPr>
          <p:spPr>
            <a:xfrm>
              <a:off x="35034" y="125890"/>
              <a:ext cx="4626748" cy="187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A pie chart. These are parts of a whole.</a:t>
              </a:r>
            </a:p>
          </p:txBody>
        </p:sp>
      </p:grpSp>
      <p:sp>
        <p:nvSpPr>
          <p:cNvPr id="236" name="c4_bg"/>
          <p:cNvSpPr/>
          <p:nvPr/>
        </p:nvSpPr>
        <p:spPr>
          <a:xfrm>
            <a:off x="1170432" y="4398264"/>
            <a:ext cx="5099152" cy="1572770"/>
          </a:xfrm>
          <a:prstGeom prst="roundRect">
            <a:avLst>
              <a:gd name="adj" fmla="val 5814"/>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37" name="c4_badge"/>
          <p:cNvSpPr/>
          <p:nvPr/>
        </p:nvSpPr>
        <p:spPr>
          <a:xfrm>
            <a:off x="1371600" y="4745735"/>
            <a:ext cx="384048"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38"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5</a:t>
            </a:r>
          </a:p>
        </p:txBody>
      </p:sp>
      <p:sp>
        <p:nvSpPr>
          <p:cNvPr id="239" name="c4_q"/>
          <p:cNvSpPr txBox="1"/>
          <p:nvPr/>
        </p:nvSpPr>
        <p:spPr>
          <a:xfrm>
            <a:off x="1901950" y="4687628"/>
            <a:ext cx="4166466"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State which axis the independent variable goes on.</a:t>
            </a:r>
          </a:p>
        </p:txBody>
      </p:sp>
      <p:grpSp>
        <p:nvGrpSpPr>
          <p:cNvPr id="242" name="c4_a"/>
          <p:cNvGrpSpPr/>
          <p:nvPr/>
        </p:nvGrpSpPr>
        <p:grpSpPr>
          <a:xfrm>
            <a:off x="1371599" y="5404103"/>
            <a:ext cx="4696820" cy="438915"/>
            <a:chOff x="0" y="0"/>
            <a:chExt cx="4696818" cy="438914"/>
          </a:xfrm>
        </p:grpSpPr>
        <p:sp>
          <p:nvSpPr>
            <p:cNvPr id="240"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241" name="The x-axis, along the bottom."/>
            <p:cNvSpPr txBox="1"/>
            <p:nvPr/>
          </p:nvSpPr>
          <p:spPr>
            <a:xfrm>
              <a:off x="35034" y="125890"/>
              <a:ext cx="4626748" cy="1871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The x-axis, along the bottom.</a:t>
              </a:r>
            </a:p>
          </p:txBody>
        </p:sp>
      </p:grpSp>
      <p:sp>
        <p:nvSpPr>
          <p:cNvPr id="243" name="c5_bg"/>
          <p:cNvSpPr/>
          <p:nvPr/>
        </p:nvSpPr>
        <p:spPr>
          <a:xfrm>
            <a:off x="6543902" y="4398264"/>
            <a:ext cx="5099154" cy="1572770"/>
          </a:xfrm>
          <a:prstGeom prst="roundRect">
            <a:avLst>
              <a:gd name="adj" fmla="val 5814"/>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44" name="c5_badge"/>
          <p:cNvSpPr/>
          <p:nvPr/>
        </p:nvSpPr>
        <p:spPr>
          <a:xfrm>
            <a:off x="6745072" y="4745735"/>
            <a:ext cx="384051" cy="384051"/>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245" name="c5_num"/>
          <p:cNvSpPr txBox="1"/>
          <p:nvPr/>
        </p:nvSpPr>
        <p:spPr>
          <a:xfrm>
            <a:off x="6745072" y="4836159"/>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395C"/>
                </a:solidFill>
                <a:latin typeface="Georgia"/>
                <a:ea typeface="Georgia"/>
                <a:cs typeface="Georgia"/>
                <a:sym typeface="Georgia"/>
              </a:defRPr>
            </a:lvl1pPr>
          </a:lstStyle>
          <a:p>
            <a:pPr/>
            <a:r>
              <a:t>6</a:t>
            </a:r>
          </a:p>
        </p:txBody>
      </p:sp>
      <p:sp>
        <p:nvSpPr>
          <p:cNvPr id="246" name="c5_q"/>
          <p:cNvSpPr txBox="1"/>
          <p:nvPr/>
        </p:nvSpPr>
        <p:spPr>
          <a:xfrm>
            <a:off x="7275424" y="4814628"/>
            <a:ext cx="4166466"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E2A40"/>
                </a:solidFill>
                <a:latin typeface="Arial"/>
                <a:ea typeface="Arial"/>
                <a:cs typeface="Arial"/>
                <a:sym typeface="Arial"/>
              </a:defRPr>
            </a:lvl1pPr>
          </a:lstStyle>
          <a:p>
            <a:pPr/>
            <a:r>
              <a:t>Explain what a model is for in science.</a:t>
            </a:r>
          </a:p>
        </p:txBody>
      </p:sp>
      <p:grpSp>
        <p:nvGrpSpPr>
          <p:cNvPr id="249" name="c5_a"/>
          <p:cNvGrpSpPr/>
          <p:nvPr/>
        </p:nvGrpSpPr>
        <p:grpSpPr>
          <a:xfrm>
            <a:off x="6745071" y="5404103"/>
            <a:ext cx="4696820" cy="438915"/>
            <a:chOff x="0" y="0"/>
            <a:chExt cx="4696818" cy="438914"/>
          </a:xfrm>
        </p:grpSpPr>
        <p:sp>
          <p:nvSpPr>
            <p:cNvPr id="247" name="Rounded Rectangle"/>
            <p:cNvSpPr/>
            <p:nvPr/>
          </p:nvSpPr>
          <p:spPr>
            <a:xfrm>
              <a:off x="-1" y="-1"/>
              <a:ext cx="4696820" cy="438915"/>
            </a:xfrm>
            <a:prstGeom prst="roundRect">
              <a:avLst>
                <a:gd name="adj" fmla="val 20833"/>
              </a:avLst>
            </a:prstGeom>
            <a:solidFill>
              <a:srgbClr val="ECE1CB"/>
            </a:solidFill>
            <a:ln w="16510" cap="flat">
              <a:solidFill>
                <a:srgbClr val="FFD921"/>
              </a:solidFill>
              <a:prstDash val="solid"/>
              <a:round/>
            </a:ln>
            <a:effectLst/>
          </p:spPr>
          <p:txBody>
            <a:bodyPr wrap="square" lIns="45718" tIns="45718" rIns="45718" bIns="45718" numCol="1" anchor="ctr">
              <a:noAutofit/>
            </a:bodyPr>
            <a:lstStyle/>
            <a:p>
              <a:pPr>
                <a:defRPr sz="1300">
                  <a:latin typeface="+mn-lt"/>
                  <a:ea typeface="+mn-ea"/>
                  <a:cs typeface="+mn-cs"/>
                  <a:sym typeface="Calibri"/>
                </a:defRPr>
              </a:pPr>
            </a:p>
          </p:txBody>
        </p:sp>
        <p:sp>
          <p:nvSpPr>
            <p:cNvPr id="248" name="To explain or predict what is too big, small, fast, slow or dangerous to test directly."/>
            <p:cNvSpPr txBox="1"/>
            <p:nvPr/>
          </p:nvSpPr>
          <p:spPr>
            <a:xfrm>
              <a:off x="35034" y="30640"/>
              <a:ext cx="4626748" cy="3776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5395C"/>
                  </a:solidFill>
                  <a:latin typeface="Arial"/>
                  <a:ea typeface="Arial"/>
                  <a:cs typeface="Arial"/>
                  <a:sym typeface="Arial"/>
                </a:defRPr>
              </a:lvl1pPr>
            </a:lstStyle>
            <a:p>
              <a:pPr/>
              <a:r>
                <a:t>To explain or predict what is too big, small, fast, slow or dangerous to test directly.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14"/>
                                        </p:tgtEl>
                                        <p:attrNameLst>
                                          <p:attrName>style.visibility</p:attrName>
                                        </p:attrNameLst>
                                      </p:cBhvr>
                                      <p:to>
                                        <p:strVal val="visible"/>
                                      </p:to>
                                    </p:set>
                                    <p:animEffect filter="fade" transition="in">
                                      <p:cBhvr>
                                        <p:cTn id="11" dur="1000"/>
                                        <p:tgtEl>
                                          <p:spTgt spid="214"/>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21"/>
                                        </p:tgtEl>
                                        <p:attrNameLst>
                                          <p:attrName>style.visibility</p:attrName>
                                        </p:attrNameLst>
                                      </p:cBhvr>
                                      <p:to>
                                        <p:strVal val="visible"/>
                                      </p:to>
                                    </p:set>
                                    <p:animEffect filter="fade" transition="in">
                                      <p:cBhvr>
                                        <p:cTn id="16" dur="1000"/>
                                        <p:tgtEl>
                                          <p:spTgt spid="22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28"/>
                                        </p:tgtEl>
                                        <p:attrNameLst>
                                          <p:attrName>style.visibility</p:attrName>
                                        </p:attrNameLst>
                                      </p:cBhvr>
                                      <p:to>
                                        <p:strVal val="visible"/>
                                      </p:to>
                                    </p:set>
                                    <p:animEffect filter="fade" transition="in">
                                      <p:cBhvr>
                                        <p:cTn id="21" dur="1000"/>
                                        <p:tgtEl>
                                          <p:spTgt spid="228"/>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35"/>
                                        </p:tgtEl>
                                        <p:attrNameLst>
                                          <p:attrName>style.visibility</p:attrName>
                                        </p:attrNameLst>
                                      </p:cBhvr>
                                      <p:to>
                                        <p:strVal val="visible"/>
                                      </p:to>
                                    </p:set>
                                    <p:animEffect filter="fade" transition="in">
                                      <p:cBhvr>
                                        <p:cTn id="26" dur="1000"/>
                                        <p:tgtEl>
                                          <p:spTgt spid="235"/>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242"/>
                                        </p:tgtEl>
                                        <p:attrNameLst>
                                          <p:attrName>style.visibility</p:attrName>
                                        </p:attrNameLst>
                                      </p:cBhvr>
                                      <p:to>
                                        <p:strVal val="visible"/>
                                      </p:to>
                                    </p:set>
                                    <p:animEffect filter="fade" transition="in">
                                      <p:cBhvr>
                                        <p:cTn id="31" dur="1000"/>
                                        <p:tgtEl>
                                          <p:spTgt spid="242"/>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ID="10" grpId="7" fill="hold">
                                  <p:stCondLst>
                                    <p:cond delay="0"/>
                                  </p:stCondLst>
                                  <p:iterate type="el" backwards="0">
                                    <p:tmAbs val="0"/>
                                  </p:iterate>
                                  <p:childTnLst>
                                    <p:set>
                                      <p:cBhvr>
                                        <p:cTn id="35" fill="hold"/>
                                        <p:tgtEl>
                                          <p:spTgt spid="249"/>
                                        </p:tgtEl>
                                        <p:attrNameLst>
                                          <p:attrName>style.visibility</p:attrName>
                                        </p:attrNameLst>
                                      </p:cBhvr>
                                      <p:to>
                                        <p:strVal val="visible"/>
                                      </p:to>
                                    </p:set>
                                    <p:animEffect filter="fade" transition="in">
                                      <p:cBhvr>
                                        <p:cTn id="36" dur="1000"/>
                                        <p:tgtEl>
                                          <p:spTgt spid="249"/>
                                        </p:tgtEl>
                                      </p:cBhvr>
                                    </p:animEffect>
                                  </p:childTnLst>
                                </p:cTn>
                              </p:par>
                            </p:childTnLst>
                          </p:cTn>
                        </p:par>
                      </p:childTnLst>
                    </p:cTn>
                  </p:par>
                  <p:par>
                    <p:cTn id="37" fill="hold">
                      <p:stCondLst>
                        <p:cond delay="indefinite"/>
                      </p:stCondLst>
                      <p:childTnLst>
                        <p:par>
                          <p:cTn id="38" fill="hold">
                            <p:stCondLst>
                              <p:cond delay="0"/>
                            </p:stCondLst>
                            <p:childTnLst>
                              <p:par>
                                <p:cTn id="39" presetClass="mediacall" nodeType="clickEffect" presetSubtype="0" presetID="3" grpId="1" fill="hold">
                                  <p:stCondLst>
                                    <p:cond delay="0"/>
                                  </p:stCondLst>
                                  <p:childTnLst>
                                    <p:cmd type="call" cmd="stop">
                                      <p:cBhvr>
                                        <p:cTn id="40" dur="1000" fill="hold"/>
                                        <p:tgtEl>
                                          <p:spTgt spid="204"/>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41" fill="hold" display="0">
                  <p:stCondLst>
                    <p:cond delay="indefinite"/>
                  </p:stCondLst>
                </p:cTn>
                <p:tgtEl>
                  <p:spTgt spid="204"/>
                </p:tgtEl>
              </p:cMediaNode>
            </p:video>
            <p:seq concurrent="1" prevAc="none" nextAc="seek">
              <p:cTn id="42" evtFilter="cancelBubble" nodeType="interactiveSeq" restart="whenNotActive" fill="hold">
                <p:stCondLst>
                  <p:cond delay="0" evt="onClick">
                    <p:tgtEl>
                      <p:spTgt spid="204"/>
                    </p:tgtEl>
                  </p:cond>
                </p:stCondLst>
                <p:endSync delay="0" evt="end">
                  <p:rtn val="all"/>
                </p:endSync>
                <p:childTnLst>
                  <p:par>
                    <p:cTn id="43" fill="hold">
                      <p:stCondLst>
                        <p:cond delay="0"/>
                      </p:stCondLst>
                      <p:childTnLst>
                        <p:par>
                          <p:cTn id="44" fill="hold">
                            <p:stCondLst>
                              <p:cond delay="0"/>
                            </p:stCondLst>
                            <p:childTnLst>
                              <p:par>
                                <p:cTn id="45" presetClass="mediacall" nodeType="clickEffect" presetSubtype="0" presetID="2" fill="hold">
                                  <p:stCondLst>
                                    <p:cond delay="0"/>
                                  </p:stCondLst>
                                  <p:childTnLst>
                                    <p:cmd type="call" cmd="togglePause">
                                      <p:cBhvr>
                                        <p:cTn id="46" dur="1" fill="hold"/>
                                        <p:tgtEl>
                                          <p:spTgt spid="204"/>
                                        </p:tgtEl>
                                      </p:cBhvr>
                                    </p:cmd>
                                  </p:childTnLst>
                                </p:cTn>
                              </p:par>
                            </p:childTnLst>
                          </p:cTn>
                        </p:par>
                      </p:childTnLst>
                    </p:cTn>
                  </p:par>
                </p:childTnLst>
              </p:cTn>
              <p:nextCondLst>
                <p:cond delay="0" evt="onClick">
                  <p:tgtEl>
                    <p:spTgt spid="204"/>
                  </p:tgtEl>
                </p:cond>
              </p:nextCondLst>
            </p:seq>
          </p:childTnLst>
        </p:cTn>
      </p:par>
    </p:tnLst>
    <p:bldLst>
      <p:bldP build="whole" bldLvl="1" animBg="1" rev="0" advAuto="0" spid="242" grpId="6"/>
      <p:bldP build="whole" bldLvl="1" animBg="1" rev="0" advAuto="0" spid="228" grpId="4"/>
      <p:bldP build="whole" bldLvl="1" animBg="1" rev="0" advAuto="0" spid="214" grpId="2"/>
      <p:bldP build="whole" bldLvl="1" animBg="1" rev="0" advAuto="0" spid="249" grpId="7"/>
      <p:bldP build="whole" bldLvl="1" animBg="1" rev="0" advAuto="0" spid="235" grpId="5"/>
      <p:bldP build="whole" bldLvl="1" animBg="1" rev="0" advAuto="0" spid="221"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6FB"/>
        </a:solidFill>
      </p:bgPr>
    </p:bg>
    <p:spTree>
      <p:nvGrpSpPr>
        <p:cNvPr id="1" name=""/>
        <p:cNvGrpSpPr/>
        <p:nvPr/>
      </p:nvGrpSpPr>
      <p:grpSpPr>
        <a:xfrm>
          <a:off x="0" y="0"/>
          <a:ext cx="0" cy="0"/>
          <a:chOff x="0" y="0"/>
          <a:chExt cx="0" cy="0"/>
        </a:xfrm>
      </p:grpSpPr>
      <p:pic>
        <p:nvPicPr>
          <p:cNvPr id="25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56" name="phase_pill"/>
          <p:cNvGrpSpPr/>
          <p:nvPr/>
        </p:nvGrpSpPr>
        <p:grpSpPr>
          <a:xfrm>
            <a:off x="1170432" y="310894"/>
            <a:ext cx="1892809" cy="329188"/>
            <a:chOff x="0" y="0"/>
            <a:chExt cx="1892808" cy="329186"/>
          </a:xfrm>
        </p:grpSpPr>
        <p:sp>
          <p:nvSpPr>
            <p:cNvPr id="254" name="Rounded Rectangle"/>
            <p:cNvSpPr/>
            <p:nvPr/>
          </p:nvSpPr>
          <p:spPr>
            <a:xfrm>
              <a:off x="0" y="-1"/>
              <a:ext cx="1892809" cy="329188"/>
            </a:xfrm>
            <a:prstGeom prst="roundRect">
              <a:avLst>
                <a:gd name="adj" fmla="val 44444"/>
              </a:avLst>
            </a:prstGeom>
            <a:solidFill>
              <a:srgbClr val="15395C"/>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255" name="YOU DO · 17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17 MIN</a:t>
              </a:r>
            </a:p>
          </p:txBody>
        </p:sp>
      </p:grpSp>
      <p:sp>
        <p:nvSpPr>
          <p:cNvPr id="257" name="slide_title"/>
          <p:cNvSpPr txBox="1"/>
          <p:nvPr/>
        </p:nvSpPr>
        <p:spPr>
          <a:xfrm>
            <a:off x="1170432" y="928622"/>
            <a:ext cx="10472623"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5395C"/>
                </a:solidFill>
                <a:latin typeface="Georgia"/>
                <a:ea typeface="Georgia"/>
                <a:cs typeface="Georgia"/>
                <a:sym typeface="Georgia"/>
              </a:defRPr>
            </a:lvl1pPr>
          </a:lstStyle>
          <a:p>
            <a:pPr/>
            <a:r>
              <a:t>Plot the ramp results</a:t>
            </a:r>
          </a:p>
        </p:txBody>
      </p:sp>
      <p:sp>
        <p:nvSpPr>
          <p:cNvPr id="258" name="slide_sub"/>
          <p:cNvSpPr txBox="1"/>
          <p:nvPr/>
        </p:nvSpPr>
        <p:spPr>
          <a:xfrm>
            <a:off x="1170432" y="1449299"/>
            <a:ext cx="10472623"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D312F"/>
                </a:solidFill>
                <a:latin typeface="Arial"/>
                <a:ea typeface="Arial"/>
                <a:cs typeface="Arial"/>
                <a:sym typeface="Arial"/>
              </a:defRPr>
            </a:lvl1pPr>
          </a:lstStyle>
          <a:p>
            <a:pPr/>
            <a:r>
              <a:t>On the worksheet.</a:t>
            </a:r>
          </a:p>
        </p:txBody>
      </p:sp>
      <p:sp>
        <p:nvSpPr>
          <p:cNvPr id="259" name="res_bg"/>
          <p:cNvSpPr/>
          <p:nvPr/>
        </p:nvSpPr>
        <p:spPr>
          <a:xfrm>
            <a:off x="1170432" y="1920238"/>
            <a:ext cx="5120641" cy="2852930"/>
          </a:xfrm>
          <a:prstGeom prst="roundRect">
            <a:avLst>
              <a:gd name="adj" fmla="val 3205"/>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260" name="res_h"/>
          <p:cNvSpPr txBox="1"/>
          <p:nvPr/>
        </p:nvSpPr>
        <p:spPr>
          <a:xfrm>
            <a:off x="1371598" y="2109215"/>
            <a:ext cx="4718308"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 sz="1100">
                <a:solidFill>
                  <a:srgbClr val="15395C"/>
                </a:solidFill>
                <a:latin typeface="Georgia"/>
                <a:ea typeface="Georgia"/>
                <a:cs typeface="Georgia"/>
                <a:sym typeface="Georgia"/>
              </a:defRPr>
            </a:lvl1pPr>
          </a:lstStyle>
          <a:p>
            <a:pPr/>
            <a:r>
              <a:t>DISTANCE A TOY CAR ROLLED (cm)</a:t>
            </a:r>
          </a:p>
        </p:txBody>
      </p:sp>
      <p:grpSp>
        <p:nvGrpSpPr>
          <p:cNvPr id="263" name="res_h0"/>
          <p:cNvGrpSpPr/>
          <p:nvPr/>
        </p:nvGrpSpPr>
        <p:grpSpPr>
          <a:xfrm>
            <a:off x="1371600" y="2395726"/>
            <a:ext cx="1371600" cy="329188"/>
            <a:chOff x="0" y="-1"/>
            <a:chExt cx="1371600" cy="329187"/>
          </a:xfrm>
        </p:grpSpPr>
        <p:sp>
          <p:nvSpPr>
            <p:cNvPr id="261" name="Rectangle"/>
            <p:cNvSpPr/>
            <p:nvPr/>
          </p:nvSpPr>
          <p:spPr>
            <a:xfrm>
              <a:off x="0" y="-2"/>
              <a:ext cx="1371600" cy="329188"/>
            </a:xfrm>
            <a:prstGeom prst="rect">
              <a:avLst/>
            </a:prstGeom>
            <a:solidFill>
              <a:srgbClr val="15395C"/>
            </a:solidFill>
            <a:ln w="12700" cap="flat">
              <a:noFill/>
              <a:miter lim="400000"/>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262" name="Ramp height (cm)"/>
            <p:cNvSpPr txBox="1"/>
            <p:nvPr/>
          </p:nvSpPr>
          <p:spPr>
            <a:xfrm>
              <a:off x="0" y="78184"/>
              <a:ext cx="1371600"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solidFill>
                    <a:srgbClr val="FFFFFF"/>
                  </a:solidFill>
                  <a:latin typeface="Arial"/>
                  <a:ea typeface="Arial"/>
                  <a:cs typeface="Arial"/>
                  <a:sym typeface="Arial"/>
                </a:defRPr>
              </a:lvl1pPr>
            </a:lstStyle>
            <a:p>
              <a:pPr/>
              <a:r>
                <a:t>Ramp height (cm)</a:t>
              </a:r>
            </a:p>
          </p:txBody>
        </p:sp>
      </p:grpSp>
      <p:grpSp>
        <p:nvGrpSpPr>
          <p:cNvPr id="266" name="res_h1"/>
          <p:cNvGrpSpPr/>
          <p:nvPr/>
        </p:nvGrpSpPr>
        <p:grpSpPr>
          <a:xfrm>
            <a:off x="2743198" y="2395726"/>
            <a:ext cx="1097284" cy="329188"/>
            <a:chOff x="0" y="-1"/>
            <a:chExt cx="1097283" cy="329187"/>
          </a:xfrm>
        </p:grpSpPr>
        <p:sp>
          <p:nvSpPr>
            <p:cNvPr id="264" name="Rectangle"/>
            <p:cNvSpPr/>
            <p:nvPr/>
          </p:nvSpPr>
          <p:spPr>
            <a:xfrm>
              <a:off x="-1" y="-2"/>
              <a:ext cx="1097284" cy="329188"/>
            </a:xfrm>
            <a:prstGeom prst="rect">
              <a:avLst/>
            </a:prstGeom>
            <a:solidFill>
              <a:srgbClr val="15395C"/>
            </a:solidFill>
            <a:ln w="12700" cap="flat">
              <a:noFill/>
              <a:miter lim="400000"/>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265" name="Trial 1"/>
            <p:cNvSpPr txBox="1"/>
            <p:nvPr/>
          </p:nvSpPr>
          <p:spPr>
            <a:xfrm>
              <a:off x="-1" y="78184"/>
              <a:ext cx="1097284"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solidFill>
                    <a:srgbClr val="FFFFFF"/>
                  </a:solidFill>
                  <a:latin typeface="Arial"/>
                  <a:ea typeface="Arial"/>
                  <a:cs typeface="Arial"/>
                  <a:sym typeface="Arial"/>
                </a:defRPr>
              </a:lvl1pPr>
            </a:lstStyle>
            <a:p>
              <a:pPr/>
              <a:r>
                <a:t>Trial 1</a:t>
              </a:r>
            </a:p>
          </p:txBody>
        </p:sp>
      </p:grpSp>
      <p:grpSp>
        <p:nvGrpSpPr>
          <p:cNvPr id="269" name="res_h2"/>
          <p:cNvGrpSpPr/>
          <p:nvPr/>
        </p:nvGrpSpPr>
        <p:grpSpPr>
          <a:xfrm>
            <a:off x="3840478" y="2395726"/>
            <a:ext cx="1097284" cy="329188"/>
            <a:chOff x="-1" y="-1"/>
            <a:chExt cx="1097283" cy="329187"/>
          </a:xfrm>
        </p:grpSpPr>
        <p:sp>
          <p:nvSpPr>
            <p:cNvPr id="267" name="Rectangle"/>
            <p:cNvSpPr/>
            <p:nvPr/>
          </p:nvSpPr>
          <p:spPr>
            <a:xfrm>
              <a:off x="-2" y="-2"/>
              <a:ext cx="1097284" cy="329188"/>
            </a:xfrm>
            <a:prstGeom prst="rect">
              <a:avLst/>
            </a:prstGeom>
            <a:solidFill>
              <a:srgbClr val="15395C"/>
            </a:solidFill>
            <a:ln w="12700" cap="flat">
              <a:noFill/>
              <a:miter lim="400000"/>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268" name="Trial 2"/>
            <p:cNvSpPr txBox="1"/>
            <p:nvPr/>
          </p:nvSpPr>
          <p:spPr>
            <a:xfrm>
              <a:off x="-2" y="78184"/>
              <a:ext cx="1097284"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solidFill>
                    <a:srgbClr val="FFFFFF"/>
                  </a:solidFill>
                  <a:latin typeface="Arial"/>
                  <a:ea typeface="Arial"/>
                  <a:cs typeface="Arial"/>
                  <a:sym typeface="Arial"/>
                </a:defRPr>
              </a:lvl1pPr>
            </a:lstStyle>
            <a:p>
              <a:pPr/>
              <a:r>
                <a:t>Trial 2</a:t>
              </a:r>
            </a:p>
          </p:txBody>
        </p:sp>
      </p:grpSp>
      <p:grpSp>
        <p:nvGrpSpPr>
          <p:cNvPr id="272" name="res_h3"/>
          <p:cNvGrpSpPr/>
          <p:nvPr/>
        </p:nvGrpSpPr>
        <p:grpSpPr>
          <a:xfrm>
            <a:off x="4937758" y="2395726"/>
            <a:ext cx="1097284" cy="329188"/>
            <a:chOff x="-1" y="-1"/>
            <a:chExt cx="1097283" cy="329187"/>
          </a:xfrm>
        </p:grpSpPr>
        <p:sp>
          <p:nvSpPr>
            <p:cNvPr id="270" name="Rectangle"/>
            <p:cNvSpPr/>
            <p:nvPr/>
          </p:nvSpPr>
          <p:spPr>
            <a:xfrm>
              <a:off x="-2" y="-2"/>
              <a:ext cx="1097284" cy="329188"/>
            </a:xfrm>
            <a:prstGeom prst="rect">
              <a:avLst/>
            </a:prstGeom>
            <a:solidFill>
              <a:srgbClr val="15395C"/>
            </a:solidFill>
            <a:ln w="12700" cap="flat">
              <a:noFill/>
              <a:miter lim="400000"/>
            </a:ln>
            <a:effectLst/>
          </p:spPr>
          <p:txBody>
            <a:bodyPr wrap="square" lIns="45718" tIns="45718" rIns="45718" bIns="45718" numCol="1" anchor="ctr">
              <a:noAutofit/>
            </a:bodyPr>
            <a:lstStyle/>
            <a:p>
              <a:pPr algn="ctr">
                <a:defRPr sz="1200">
                  <a:latin typeface="+mn-lt"/>
                  <a:ea typeface="+mn-ea"/>
                  <a:cs typeface="+mn-cs"/>
                  <a:sym typeface="Calibri"/>
                </a:defRPr>
              </a:pPr>
            </a:p>
          </p:txBody>
        </p:sp>
        <p:sp>
          <p:nvSpPr>
            <p:cNvPr id="271" name="Trial 3"/>
            <p:cNvSpPr txBox="1"/>
            <p:nvPr/>
          </p:nvSpPr>
          <p:spPr>
            <a:xfrm>
              <a:off x="-2" y="78184"/>
              <a:ext cx="1097284"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solidFill>
                    <a:srgbClr val="FFFFFF"/>
                  </a:solidFill>
                  <a:latin typeface="Arial"/>
                  <a:ea typeface="Arial"/>
                  <a:cs typeface="Arial"/>
                  <a:sym typeface="Arial"/>
                </a:defRPr>
              </a:lvl1pPr>
            </a:lstStyle>
            <a:p>
              <a:pPr/>
              <a:r>
                <a:t>Trial 3</a:t>
              </a:r>
            </a:p>
          </p:txBody>
        </p:sp>
      </p:grpSp>
      <p:grpSp>
        <p:nvGrpSpPr>
          <p:cNvPr id="275" name="res_0_0"/>
          <p:cNvGrpSpPr/>
          <p:nvPr/>
        </p:nvGrpSpPr>
        <p:grpSpPr>
          <a:xfrm>
            <a:off x="1371600" y="2761487"/>
            <a:ext cx="1371600" cy="347476"/>
            <a:chOff x="0" y="-1"/>
            <a:chExt cx="1371600" cy="347475"/>
          </a:xfrm>
        </p:grpSpPr>
        <p:sp>
          <p:nvSpPr>
            <p:cNvPr id="273" name="Rectangle"/>
            <p:cNvSpPr/>
            <p:nvPr/>
          </p:nvSpPr>
          <p:spPr>
            <a:xfrm>
              <a:off x="0" y="-2"/>
              <a:ext cx="1371600"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74" name="10"/>
            <p:cNvSpPr txBox="1"/>
            <p:nvPr/>
          </p:nvSpPr>
          <p:spPr>
            <a:xfrm>
              <a:off x="4762" y="75044"/>
              <a:ext cx="13620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E2A40"/>
                  </a:solidFill>
                  <a:latin typeface="Arial"/>
                  <a:ea typeface="Arial"/>
                  <a:cs typeface="Arial"/>
                  <a:sym typeface="Arial"/>
                </a:defRPr>
              </a:lvl1pPr>
            </a:lstStyle>
            <a:p>
              <a:pPr/>
              <a:r>
                <a:t>10</a:t>
              </a:r>
            </a:p>
          </p:txBody>
        </p:sp>
      </p:grpSp>
      <p:grpSp>
        <p:nvGrpSpPr>
          <p:cNvPr id="278" name="res_0_1"/>
          <p:cNvGrpSpPr/>
          <p:nvPr/>
        </p:nvGrpSpPr>
        <p:grpSpPr>
          <a:xfrm>
            <a:off x="2743198" y="2761487"/>
            <a:ext cx="1097284" cy="347476"/>
            <a:chOff x="0" y="-1"/>
            <a:chExt cx="1097283" cy="347475"/>
          </a:xfrm>
        </p:grpSpPr>
        <p:sp>
          <p:nvSpPr>
            <p:cNvPr id="276" name="Rectangle"/>
            <p:cNvSpPr/>
            <p:nvPr/>
          </p:nvSpPr>
          <p:spPr>
            <a:xfrm>
              <a:off x="-1"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77" name="45"/>
            <p:cNvSpPr txBox="1"/>
            <p:nvPr/>
          </p:nvSpPr>
          <p:spPr>
            <a:xfrm>
              <a:off x="4761" y="75044"/>
              <a:ext cx="108775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45</a:t>
              </a:r>
            </a:p>
          </p:txBody>
        </p:sp>
      </p:grpSp>
      <p:grpSp>
        <p:nvGrpSpPr>
          <p:cNvPr id="281" name="res_0_2"/>
          <p:cNvGrpSpPr/>
          <p:nvPr/>
        </p:nvGrpSpPr>
        <p:grpSpPr>
          <a:xfrm>
            <a:off x="3840478" y="2761487"/>
            <a:ext cx="1097284" cy="347476"/>
            <a:chOff x="-1" y="-1"/>
            <a:chExt cx="1097283" cy="347475"/>
          </a:xfrm>
        </p:grpSpPr>
        <p:sp>
          <p:nvSpPr>
            <p:cNvPr id="279" name="Rectangle"/>
            <p:cNvSpPr/>
            <p:nvPr/>
          </p:nvSpPr>
          <p:spPr>
            <a:xfrm>
              <a:off x="-2"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80" name="42"/>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42</a:t>
              </a:r>
            </a:p>
          </p:txBody>
        </p:sp>
      </p:grpSp>
      <p:grpSp>
        <p:nvGrpSpPr>
          <p:cNvPr id="284" name="res_0_3"/>
          <p:cNvGrpSpPr/>
          <p:nvPr/>
        </p:nvGrpSpPr>
        <p:grpSpPr>
          <a:xfrm>
            <a:off x="4937758" y="2761487"/>
            <a:ext cx="1097284" cy="347476"/>
            <a:chOff x="-1" y="-1"/>
            <a:chExt cx="1097283" cy="347475"/>
          </a:xfrm>
        </p:grpSpPr>
        <p:sp>
          <p:nvSpPr>
            <p:cNvPr id="282" name="Rectangle"/>
            <p:cNvSpPr/>
            <p:nvPr/>
          </p:nvSpPr>
          <p:spPr>
            <a:xfrm>
              <a:off x="-2"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83" name="45"/>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45</a:t>
              </a:r>
            </a:p>
          </p:txBody>
        </p:sp>
      </p:grpSp>
      <p:grpSp>
        <p:nvGrpSpPr>
          <p:cNvPr id="287" name="res_1_0"/>
          <p:cNvGrpSpPr/>
          <p:nvPr/>
        </p:nvGrpSpPr>
        <p:grpSpPr>
          <a:xfrm>
            <a:off x="1371600" y="3145533"/>
            <a:ext cx="1371600" cy="347476"/>
            <a:chOff x="0" y="-1"/>
            <a:chExt cx="1371600" cy="347475"/>
          </a:xfrm>
        </p:grpSpPr>
        <p:sp>
          <p:nvSpPr>
            <p:cNvPr id="285" name="Rectangle"/>
            <p:cNvSpPr/>
            <p:nvPr/>
          </p:nvSpPr>
          <p:spPr>
            <a:xfrm>
              <a:off x="0" y="-2"/>
              <a:ext cx="1371600"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86" name="20"/>
            <p:cNvSpPr txBox="1"/>
            <p:nvPr/>
          </p:nvSpPr>
          <p:spPr>
            <a:xfrm>
              <a:off x="4762" y="75044"/>
              <a:ext cx="13620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E2A40"/>
                  </a:solidFill>
                  <a:latin typeface="Arial"/>
                  <a:ea typeface="Arial"/>
                  <a:cs typeface="Arial"/>
                  <a:sym typeface="Arial"/>
                </a:defRPr>
              </a:lvl1pPr>
            </a:lstStyle>
            <a:p>
              <a:pPr/>
              <a:r>
                <a:t>20</a:t>
              </a:r>
            </a:p>
          </p:txBody>
        </p:sp>
      </p:grpSp>
      <p:grpSp>
        <p:nvGrpSpPr>
          <p:cNvPr id="290" name="res_1_1"/>
          <p:cNvGrpSpPr/>
          <p:nvPr/>
        </p:nvGrpSpPr>
        <p:grpSpPr>
          <a:xfrm>
            <a:off x="2743198" y="3145533"/>
            <a:ext cx="1097284" cy="347476"/>
            <a:chOff x="0" y="-1"/>
            <a:chExt cx="1097283" cy="347475"/>
          </a:xfrm>
        </p:grpSpPr>
        <p:sp>
          <p:nvSpPr>
            <p:cNvPr id="288" name="Rectangle"/>
            <p:cNvSpPr/>
            <p:nvPr/>
          </p:nvSpPr>
          <p:spPr>
            <a:xfrm>
              <a:off x="-1" y="-2"/>
              <a:ext cx="1097284"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89" name="79"/>
            <p:cNvSpPr txBox="1"/>
            <p:nvPr/>
          </p:nvSpPr>
          <p:spPr>
            <a:xfrm>
              <a:off x="4761" y="75044"/>
              <a:ext cx="108775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79</a:t>
              </a:r>
            </a:p>
          </p:txBody>
        </p:sp>
      </p:grpSp>
      <p:grpSp>
        <p:nvGrpSpPr>
          <p:cNvPr id="293" name="res_1_2"/>
          <p:cNvGrpSpPr/>
          <p:nvPr/>
        </p:nvGrpSpPr>
        <p:grpSpPr>
          <a:xfrm>
            <a:off x="3840478" y="3145533"/>
            <a:ext cx="1097284" cy="347476"/>
            <a:chOff x="-1" y="-1"/>
            <a:chExt cx="1097283" cy="347475"/>
          </a:xfrm>
        </p:grpSpPr>
        <p:sp>
          <p:nvSpPr>
            <p:cNvPr id="291" name="Rectangle"/>
            <p:cNvSpPr/>
            <p:nvPr/>
          </p:nvSpPr>
          <p:spPr>
            <a:xfrm>
              <a:off x="-2" y="-2"/>
              <a:ext cx="1097284"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92" name="83"/>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83</a:t>
              </a:r>
            </a:p>
          </p:txBody>
        </p:sp>
      </p:grpSp>
      <p:grpSp>
        <p:nvGrpSpPr>
          <p:cNvPr id="296" name="res_1_3"/>
          <p:cNvGrpSpPr/>
          <p:nvPr/>
        </p:nvGrpSpPr>
        <p:grpSpPr>
          <a:xfrm>
            <a:off x="4937758" y="3145533"/>
            <a:ext cx="1097284" cy="347476"/>
            <a:chOff x="-1" y="-1"/>
            <a:chExt cx="1097283" cy="347475"/>
          </a:xfrm>
        </p:grpSpPr>
        <p:sp>
          <p:nvSpPr>
            <p:cNvPr id="294" name="Rectangle"/>
            <p:cNvSpPr/>
            <p:nvPr/>
          </p:nvSpPr>
          <p:spPr>
            <a:xfrm>
              <a:off x="-2" y="-2"/>
              <a:ext cx="1097284"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95" name="78"/>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78</a:t>
              </a:r>
            </a:p>
          </p:txBody>
        </p:sp>
      </p:grpSp>
      <p:grpSp>
        <p:nvGrpSpPr>
          <p:cNvPr id="299" name="res_2_0"/>
          <p:cNvGrpSpPr/>
          <p:nvPr/>
        </p:nvGrpSpPr>
        <p:grpSpPr>
          <a:xfrm>
            <a:off x="1371600" y="3529583"/>
            <a:ext cx="1371600" cy="347476"/>
            <a:chOff x="0" y="-1"/>
            <a:chExt cx="1371600" cy="347475"/>
          </a:xfrm>
        </p:grpSpPr>
        <p:sp>
          <p:nvSpPr>
            <p:cNvPr id="297" name="Rectangle"/>
            <p:cNvSpPr/>
            <p:nvPr/>
          </p:nvSpPr>
          <p:spPr>
            <a:xfrm>
              <a:off x="0" y="-2"/>
              <a:ext cx="1371600"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298" name="30"/>
            <p:cNvSpPr txBox="1"/>
            <p:nvPr/>
          </p:nvSpPr>
          <p:spPr>
            <a:xfrm>
              <a:off x="4762" y="75044"/>
              <a:ext cx="13620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E2A40"/>
                  </a:solidFill>
                  <a:latin typeface="Arial"/>
                  <a:ea typeface="Arial"/>
                  <a:cs typeface="Arial"/>
                  <a:sym typeface="Arial"/>
                </a:defRPr>
              </a:lvl1pPr>
            </a:lstStyle>
            <a:p>
              <a:pPr/>
              <a:r>
                <a:t>30</a:t>
              </a:r>
            </a:p>
          </p:txBody>
        </p:sp>
      </p:grpSp>
      <p:grpSp>
        <p:nvGrpSpPr>
          <p:cNvPr id="302" name="res_2_1"/>
          <p:cNvGrpSpPr/>
          <p:nvPr/>
        </p:nvGrpSpPr>
        <p:grpSpPr>
          <a:xfrm>
            <a:off x="2743198" y="3529583"/>
            <a:ext cx="1097284" cy="347476"/>
            <a:chOff x="0" y="-1"/>
            <a:chExt cx="1097283" cy="347475"/>
          </a:xfrm>
        </p:grpSpPr>
        <p:sp>
          <p:nvSpPr>
            <p:cNvPr id="300" name="Rectangle"/>
            <p:cNvSpPr/>
            <p:nvPr/>
          </p:nvSpPr>
          <p:spPr>
            <a:xfrm>
              <a:off x="-1"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01" name="118"/>
            <p:cNvSpPr txBox="1"/>
            <p:nvPr/>
          </p:nvSpPr>
          <p:spPr>
            <a:xfrm>
              <a:off x="4761" y="75044"/>
              <a:ext cx="108775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118</a:t>
              </a:r>
            </a:p>
          </p:txBody>
        </p:sp>
      </p:grpSp>
      <p:grpSp>
        <p:nvGrpSpPr>
          <p:cNvPr id="305" name="res_2_2"/>
          <p:cNvGrpSpPr/>
          <p:nvPr/>
        </p:nvGrpSpPr>
        <p:grpSpPr>
          <a:xfrm>
            <a:off x="3840478" y="3529583"/>
            <a:ext cx="1097284" cy="347476"/>
            <a:chOff x="-1" y="-1"/>
            <a:chExt cx="1097283" cy="347475"/>
          </a:xfrm>
        </p:grpSpPr>
        <p:sp>
          <p:nvSpPr>
            <p:cNvPr id="303" name="Rectangle"/>
            <p:cNvSpPr/>
            <p:nvPr/>
          </p:nvSpPr>
          <p:spPr>
            <a:xfrm>
              <a:off x="-2"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04" name="112"/>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112</a:t>
              </a:r>
            </a:p>
          </p:txBody>
        </p:sp>
      </p:grpSp>
      <p:grpSp>
        <p:nvGrpSpPr>
          <p:cNvPr id="308" name="res_2_3"/>
          <p:cNvGrpSpPr/>
          <p:nvPr/>
        </p:nvGrpSpPr>
        <p:grpSpPr>
          <a:xfrm>
            <a:off x="4937758" y="3529583"/>
            <a:ext cx="1097284" cy="347476"/>
            <a:chOff x="-1" y="-1"/>
            <a:chExt cx="1097283" cy="347475"/>
          </a:xfrm>
        </p:grpSpPr>
        <p:sp>
          <p:nvSpPr>
            <p:cNvPr id="306" name="Rectangle"/>
            <p:cNvSpPr/>
            <p:nvPr/>
          </p:nvSpPr>
          <p:spPr>
            <a:xfrm>
              <a:off x="-2"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07" name="115"/>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115</a:t>
              </a:r>
            </a:p>
          </p:txBody>
        </p:sp>
      </p:grpSp>
      <p:grpSp>
        <p:nvGrpSpPr>
          <p:cNvPr id="311" name="res_3_0"/>
          <p:cNvGrpSpPr/>
          <p:nvPr/>
        </p:nvGrpSpPr>
        <p:grpSpPr>
          <a:xfrm>
            <a:off x="1371600" y="3913631"/>
            <a:ext cx="1371600" cy="347476"/>
            <a:chOff x="0" y="-1"/>
            <a:chExt cx="1371600" cy="347475"/>
          </a:xfrm>
        </p:grpSpPr>
        <p:sp>
          <p:nvSpPr>
            <p:cNvPr id="309" name="Rectangle"/>
            <p:cNvSpPr/>
            <p:nvPr/>
          </p:nvSpPr>
          <p:spPr>
            <a:xfrm>
              <a:off x="0" y="-2"/>
              <a:ext cx="1371600"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10" name="40"/>
            <p:cNvSpPr txBox="1"/>
            <p:nvPr/>
          </p:nvSpPr>
          <p:spPr>
            <a:xfrm>
              <a:off x="4762" y="75044"/>
              <a:ext cx="13620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E2A40"/>
                  </a:solidFill>
                  <a:latin typeface="Arial"/>
                  <a:ea typeface="Arial"/>
                  <a:cs typeface="Arial"/>
                  <a:sym typeface="Arial"/>
                </a:defRPr>
              </a:lvl1pPr>
            </a:lstStyle>
            <a:p>
              <a:pPr/>
              <a:r>
                <a:t>40</a:t>
              </a:r>
            </a:p>
          </p:txBody>
        </p:sp>
      </p:grpSp>
      <p:grpSp>
        <p:nvGrpSpPr>
          <p:cNvPr id="314" name="res_3_1"/>
          <p:cNvGrpSpPr/>
          <p:nvPr/>
        </p:nvGrpSpPr>
        <p:grpSpPr>
          <a:xfrm>
            <a:off x="2743198" y="3913631"/>
            <a:ext cx="1097284" cy="347476"/>
            <a:chOff x="0" y="-1"/>
            <a:chExt cx="1097283" cy="347475"/>
          </a:xfrm>
        </p:grpSpPr>
        <p:sp>
          <p:nvSpPr>
            <p:cNvPr id="312" name="Rectangle"/>
            <p:cNvSpPr/>
            <p:nvPr/>
          </p:nvSpPr>
          <p:spPr>
            <a:xfrm>
              <a:off x="-1" y="-2"/>
              <a:ext cx="1097284"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13" name="154"/>
            <p:cNvSpPr txBox="1"/>
            <p:nvPr/>
          </p:nvSpPr>
          <p:spPr>
            <a:xfrm>
              <a:off x="4761" y="75044"/>
              <a:ext cx="108775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154</a:t>
              </a:r>
            </a:p>
          </p:txBody>
        </p:sp>
      </p:grpSp>
      <p:grpSp>
        <p:nvGrpSpPr>
          <p:cNvPr id="317" name="res_3_2"/>
          <p:cNvGrpSpPr/>
          <p:nvPr/>
        </p:nvGrpSpPr>
        <p:grpSpPr>
          <a:xfrm>
            <a:off x="3840478" y="3913631"/>
            <a:ext cx="1097284" cy="347476"/>
            <a:chOff x="-1" y="-1"/>
            <a:chExt cx="1097283" cy="347475"/>
          </a:xfrm>
        </p:grpSpPr>
        <p:sp>
          <p:nvSpPr>
            <p:cNvPr id="315" name="Rectangle"/>
            <p:cNvSpPr/>
            <p:nvPr/>
          </p:nvSpPr>
          <p:spPr>
            <a:xfrm>
              <a:off x="-2" y="-2"/>
              <a:ext cx="1097284"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16" name="158"/>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158</a:t>
              </a:r>
            </a:p>
          </p:txBody>
        </p:sp>
      </p:grpSp>
      <p:grpSp>
        <p:nvGrpSpPr>
          <p:cNvPr id="320" name="res_3_3"/>
          <p:cNvGrpSpPr/>
          <p:nvPr/>
        </p:nvGrpSpPr>
        <p:grpSpPr>
          <a:xfrm>
            <a:off x="4937758" y="3913631"/>
            <a:ext cx="1097284" cy="347476"/>
            <a:chOff x="-1" y="-1"/>
            <a:chExt cx="1097283" cy="347475"/>
          </a:xfrm>
        </p:grpSpPr>
        <p:sp>
          <p:nvSpPr>
            <p:cNvPr id="318" name="Rectangle"/>
            <p:cNvSpPr/>
            <p:nvPr/>
          </p:nvSpPr>
          <p:spPr>
            <a:xfrm>
              <a:off x="-2" y="-2"/>
              <a:ext cx="1097284" cy="347477"/>
            </a:xfrm>
            <a:prstGeom prst="rect">
              <a:avLst/>
            </a:prstGeom>
            <a:solidFill>
              <a:srgbClr val="F2F6FB"/>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19" name="150"/>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150</a:t>
              </a:r>
            </a:p>
          </p:txBody>
        </p:sp>
      </p:grpSp>
      <p:grpSp>
        <p:nvGrpSpPr>
          <p:cNvPr id="323" name="res_4_0"/>
          <p:cNvGrpSpPr/>
          <p:nvPr/>
        </p:nvGrpSpPr>
        <p:grpSpPr>
          <a:xfrm>
            <a:off x="1371600" y="4297678"/>
            <a:ext cx="1371600" cy="347476"/>
            <a:chOff x="0" y="-1"/>
            <a:chExt cx="1371600" cy="347475"/>
          </a:xfrm>
        </p:grpSpPr>
        <p:sp>
          <p:nvSpPr>
            <p:cNvPr id="321" name="Rectangle"/>
            <p:cNvSpPr/>
            <p:nvPr/>
          </p:nvSpPr>
          <p:spPr>
            <a:xfrm>
              <a:off x="0" y="-2"/>
              <a:ext cx="1371600"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22" name="50"/>
            <p:cNvSpPr txBox="1"/>
            <p:nvPr/>
          </p:nvSpPr>
          <p:spPr>
            <a:xfrm>
              <a:off x="4762" y="75044"/>
              <a:ext cx="136207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E2A40"/>
                  </a:solidFill>
                  <a:latin typeface="Arial"/>
                  <a:ea typeface="Arial"/>
                  <a:cs typeface="Arial"/>
                  <a:sym typeface="Arial"/>
                </a:defRPr>
              </a:lvl1pPr>
            </a:lstStyle>
            <a:p>
              <a:pPr/>
              <a:r>
                <a:t>50</a:t>
              </a:r>
            </a:p>
          </p:txBody>
        </p:sp>
      </p:grpSp>
      <p:grpSp>
        <p:nvGrpSpPr>
          <p:cNvPr id="326" name="res_4_1"/>
          <p:cNvGrpSpPr/>
          <p:nvPr/>
        </p:nvGrpSpPr>
        <p:grpSpPr>
          <a:xfrm>
            <a:off x="2743198" y="4297678"/>
            <a:ext cx="1097284" cy="347476"/>
            <a:chOff x="0" y="-1"/>
            <a:chExt cx="1097283" cy="347475"/>
          </a:xfrm>
        </p:grpSpPr>
        <p:sp>
          <p:nvSpPr>
            <p:cNvPr id="324" name="Rectangle"/>
            <p:cNvSpPr/>
            <p:nvPr/>
          </p:nvSpPr>
          <p:spPr>
            <a:xfrm>
              <a:off x="-1"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25" name="190"/>
            <p:cNvSpPr txBox="1"/>
            <p:nvPr/>
          </p:nvSpPr>
          <p:spPr>
            <a:xfrm>
              <a:off x="4761" y="75044"/>
              <a:ext cx="1087759"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190</a:t>
              </a:r>
            </a:p>
          </p:txBody>
        </p:sp>
      </p:grpSp>
      <p:grpSp>
        <p:nvGrpSpPr>
          <p:cNvPr id="329" name="res_4_2"/>
          <p:cNvGrpSpPr/>
          <p:nvPr/>
        </p:nvGrpSpPr>
        <p:grpSpPr>
          <a:xfrm>
            <a:off x="3840478" y="4297678"/>
            <a:ext cx="1097284" cy="347476"/>
            <a:chOff x="-1" y="-1"/>
            <a:chExt cx="1097283" cy="347475"/>
          </a:xfrm>
        </p:grpSpPr>
        <p:sp>
          <p:nvSpPr>
            <p:cNvPr id="327" name="Rectangle"/>
            <p:cNvSpPr/>
            <p:nvPr/>
          </p:nvSpPr>
          <p:spPr>
            <a:xfrm>
              <a:off x="-2"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28" name="195"/>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195</a:t>
              </a:r>
            </a:p>
          </p:txBody>
        </p:sp>
      </p:grpSp>
      <p:grpSp>
        <p:nvGrpSpPr>
          <p:cNvPr id="332" name="res_4_3"/>
          <p:cNvGrpSpPr/>
          <p:nvPr/>
        </p:nvGrpSpPr>
        <p:grpSpPr>
          <a:xfrm>
            <a:off x="4937758" y="4297678"/>
            <a:ext cx="1097284" cy="347476"/>
            <a:chOff x="-1" y="-1"/>
            <a:chExt cx="1097283" cy="347475"/>
          </a:xfrm>
        </p:grpSpPr>
        <p:sp>
          <p:nvSpPr>
            <p:cNvPr id="330" name="Rectangle"/>
            <p:cNvSpPr/>
            <p:nvPr/>
          </p:nvSpPr>
          <p:spPr>
            <a:xfrm>
              <a:off x="-2" y="-2"/>
              <a:ext cx="1097284" cy="347477"/>
            </a:xfrm>
            <a:prstGeom prst="rect">
              <a:avLst/>
            </a:prstGeom>
            <a:solidFill>
              <a:srgbClr val="FFFFFF"/>
            </a:solidFill>
            <a:ln w="9525" cap="flat">
              <a:solidFill>
                <a:srgbClr val="C7D9EA"/>
              </a:solidFill>
              <a:prstDash val="solid"/>
              <a:round/>
            </a:ln>
            <a:effectLst/>
          </p:spPr>
          <p:txBody>
            <a:bodyPr wrap="square" lIns="45718" tIns="45718" rIns="45718" bIns="45718" numCol="1" anchor="ctr">
              <a:noAutofit/>
            </a:bodyPr>
            <a:lstStyle/>
            <a:p>
              <a:pPr algn="ctr">
                <a:defRPr sz="1400">
                  <a:latin typeface="+mn-lt"/>
                  <a:ea typeface="+mn-ea"/>
                  <a:cs typeface="+mn-cs"/>
                  <a:sym typeface="Calibri"/>
                </a:defRPr>
              </a:pPr>
            </a:p>
          </p:txBody>
        </p:sp>
        <p:sp>
          <p:nvSpPr>
            <p:cNvPr id="331" name="188"/>
            <p:cNvSpPr txBox="1"/>
            <p:nvPr/>
          </p:nvSpPr>
          <p:spPr>
            <a:xfrm>
              <a:off x="4761" y="75044"/>
              <a:ext cx="1087758"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0E2A40"/>
                  </a:solidFill>
                  <a:latin typeface="Arial"/>
                  <a:ea typeface="Arial"/>
                  <a:cs typeface="Arial"/>
                  <a:sym typeface="Arial"/>
                </a:defRPr>
              </a:lvl1pPr>
            </a:lstStyle>
            <a:p>
              <a:pPr/>
              <a:r>
                <a:t>188</a:t>
              </a:r>
            </a:p>
          </p:txBody>
        </p:sp>
      </p:grpSp>
      <p:sp>
        <p:nvSpPr>
          <p:cNvPr id="333" name="t0_bg"/>
          <p:cNvSpPr/>
          <p:nvPr/>
        </p:nvSpPr>
        <p:spPr>
          <a:xfrm>
            <a:off x="6565392" y="1920238"/>
            <a:ext cx="5077665" cy="859538"/>
          </a:xfrm>
          <a:prstGeom prst="roundRect">
            <a:avLst>
              <a:gd name="adj" fmla="val 10638"/>
            </a:avLst>
          </a:prstGeom>
          <a:solidFill>
            <a:srgbClr val="FBE4E3"/>
          </a:solidFill>
          <a:ln w="20320">
            <a:solidFill>
              <a:srgbClr val="CD312F"/>
            </a:solidFill>
          </a:ln>
        </p:spPr>
        <p:txBody>
          <a:bodyPr lIns="45718" tIns="45718" rIns="45718" bIns="45718"/>
          <a:lstStyle/>
          <a:p>
            <a:pPr>
              <a:defRPr>
                <a:latin typeface="+mn-lt"/>
                <a:ea typeface="+mn-ea"/>
                <a:cs typeface="+mn-cs"/>
                <a:sym typeface="Calibri"/>
              </a:defRPr>
            </a:pPr>
          </a:p>
        </p:txBody>
      </p:sp>
      <p:sp>
        <p:nvSpPr>
          <p:cNvPr id="334" name="t0_h"/>
          <p:cNvSpPr txBox="1"/>
          <p:nvPr/>
        </p:nvSpPr>
        <p:spPr>
          <a:xfrm>
            <a:off x="6766559" y="2047145"/>
            <a:ext cx="109728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300">
                <a:solidFill>
                  <a:srgbClr val="CD312F"/>
                </a:solidFill>
                <a:latin typeface="Arial"/>
                <a:ea typeface="Arial"/>
                <a:cs typeface="Arial"/>
                <a:sym typeface="Arial"/>
              </a:defRPr>
            </a:lvl1pPr>
          </a:lstStyle>
          <a:p>
            <a:pPr/>
            <a:r>
              <a:t>BRONZE</a:t>
            </a:r>
          </a:p>
        </p:txBody>
      </p:sp>
      <p:sp>
        <p:nvSpPr>
          <p:cNvPr id="335" name="t0_s"/>
          <p:cNvSpPr txBox="1"/>
          <p:nvPr/>
        </p:nvSpPr>
        <p:spPr>
          <a:xfrm>
            <a:off x="7845552" y="2034862"/>
            <a:ext cx="361462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5395C"/>
                </a:solidFill>
                <a:latin typeface="Arial"/>
                <a:ea typeface="Arial"/>
                <a:cs typeface="Arial"/>
                <a:sym typeface="Arial"/>
              </a:defRPr>
            </a:lvl1pPr>
          </a:lstStyle>
          <a:p>
            <a:pPr/>
            <a:r>
              <a:t>Mean and range</a:t>
            </a:r>
          </a:p>
        </p:txBody>
      </p:sp>
      <p:sp>
        <p:nvSpPr>
          <p:cNvPr id="336" name="t0_b"/>
          <p:cNvSpPr txBox="1"/>
          <p:nvPr/>
        </p:nvSpPr>
        <p:spPr>
          <a:xfrm>
            <a:off x="6766558" y="2304288"/>
            <a:ext cx="4675330" cy="1975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300">
                <a:solidFill>
                  <a:srgbClr val="55708A"/>
                </a:solidFill>
                <a:latin typeface="Arial"/>
                <a:ea typeface="Arial"/>
                <a:cs typeface="Arial"/>
                <a:sym typeface="Arial"/>
              </a:defRPr>
            </a:lvl1pPr>
          </a:lstStyle>
          <a:p>
            <a:pPr/>
            <a:r>
              <a:t>Work out the mean and the range for every ramp height.</a:t>
            </a:r>
          </a:p>
        </p:txBody>
      </p:sp>
      <p:sp>
        <p:nvSpPr>
          <p:cNvPr id="337" name="t1_bg"/>
          <p:cNvSpPr/>
          <p:nvPr/>
        </p:nvSpPr>
        <p:spPr>
          <a:xfrm>
            <a:off x="6565392" y="2916934"/>
            <a:ext cx="5077665" cy="859538"/>
          </a:xfrm>
          <a:prstGeom prst="roundRect">
            <a:avLst>
              <a:gd name="adj" fmla="val 10638"/>
            </a:avLst>
          </a:prstGeom>
          <a:solidFill>
            <a:srgbClr val="DDF3E5"/>
          </a:solidFill>
          <a:ln w="20320">
            <a:solidFill>
              <a:srgbClr val="00A33E"/>
            </a:solidFill>
          </a:ln>
        </p:spPr>
        <p:txBody>
          <a:bodyPr lIns="45718" tIns="45718" rIns="45718" bIns="45718"/>
          <a:lstStyle/>
          <a:p>
            <a:pPr>
              <a:defRPr>
                <a:latin typeface="+mn-lt"/>
                <a:ea typeface="+mn-ea"/>
                <a:cs typeface="+mn-cs"/>
                <a:sym typeface="Calibri"/>
              </a:defRPr>
            </a:pPr>
          </a:p>
        </p:txBody>
      </p:sp>
      <p:sp>
        <p:nvSpPr>
          <p:cNvPr id="338" name="t1_h"/>
          <p:cNvSpPr txBox="1"/>
          <p:nvPr/>
        </p:nvSpPr>
        <p:spPr>
          <a:xfrm>
            <a:off x="6766559" y="3043841"/>
            <a:ext cx="109728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300">
                <a:solidFill>
                  <a:srgbClr val="00A33E"/>
                </a:solidFill>
                <a:latin typeface="Arial"/>
                <a:ea typeface="Arial"/>
                <a:cs typeface="Arial"/>
                <a:sym typeface="Arial"/>
              </a:defRPr>
            </a:lvl1pPr>
          </a:lstStyle>
          <a:p>
            <a:pPr/>
            <a:r>
              <a:t>SILVER</a:t>
            </a:r>
          </a:p>
        </p:txBody>
      </p:sp>
      <p:sp>
        <p:nvSpPr>
          <p:cNvPr id="339" name="t1_s"/>
          <p:cNvSpPr txBox="1"/>
          <p:nvPr/>
        </p:nvSpPr>
        <p:spPr>
          <a:xfrm>
            <a:off x="7845552" y="3031557"/>
            <a:ext cx="3614625"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5395C"/>
                </a:solidFill>
                <a:latin typeface="Arial"/>
                <a:ea typeface="Arial"/>
                <a:cs typeface="Arial"/>
                <a:sym typeface="Arial"/>
              </a:defRPr>
            </a:lvl1pPr>
          </a:lstStyle>
          <a:p>
            <a:pPr/>
            <a:r>
              <a:t>Plot it</a:t>
            </a:r>
          </a:p>
        </p:txBody>
      </p:sp>
      <p:sp>
        <p:nvSpPr>
          <p:cNvPr id="340" name="t1_b"/>
          <p:cNvSpPr txBox="1"/>
          <p:nvPr/>
        </p:nvSpPr>
        <p:spPr>
          <a:xfrm>
            <a:off x="6766558" y="3300984"/>
            <a:ext cx="4675330" cy="1975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300">
                <a:solidFill>
                  <a:srgbClr val="55708A"/>
                </a:solidFill>
                <a:latin typeface="Arial"/>
                <a:ea typeface="Arial"/>
                <a:cs typeface="Arial"/>
                <a:sym typeface="Arial"/>
              </a:defRPr>
            </a:lvl1pPr>
          </a:lstStyle>
          <a:p>
            <a:pPr/>
            <a:r>
              <a:t>Choose the graph. Plot the means. Draw a line of best fit.</a:t>
            </a:r>
          </a:p>
        </p:txBody>
      </p:sp>
      <p:sp>
        <p:nvSpPr>
          <p:cNvPr id="341" name="t2_bg"/>
          <p:cNvSpPr/>
          <p:nvPr/>
        </p:nvSpPr>
        <p:spPr>
          <a:xfrm>
            <a:off x="6565392" y="3913632"/>
            <a:ext cx="5077665" cy="859538"/>
          </a:xfrm>
          <a:prstGeom prst="roundRect">
            <a:avLst>
              <a:gd name="adj" fmla="val 10638"/>
            </a:avLst>
          </a:prstGeom>
          <a:solidFill>
            <a:srgbClr val="FFF6CC"/>
          </a:solidFill>
          <a:ln w="20320">
            <a:solidFill>
              <a:srgbClr val="957D11"/>
            </a:solidFill>
          </a:ln>
        </p:spPr>
        <p:txBody>
          <a:bodyPr lIns="45718" tIns="45718" rIns="45718" bIns="45718"/>
          <a:lstStyle/>
          <a:p>
            <a:pPr>
              <a:defRPr>
                <a:latin typeface="+mn-lt"/>
                <a:ea typeface="+mn-ea"/>
                <a:cs typeface="+mn-cs"/>
                <a:sym typeface="Calibri"/>
              </a:defRPr>
            </a:pPr>
          </a:p>
        </p:txBody>
      </p:sp>
      <p:sp>
        <p:nvSpPr>
          <p:cNvPr id="342" name="t2_h"/>
          <p:cNvSpPr txBox="1"/>
          <p:nvPr/>
        </p:nvSpPr>
        <p:spPr>
          <a:xfrm>
            <a:off x="6766559" y="4040537"/>
            <a:ext cx="109728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20" sz="1300">
                <a:solidFill>
                  <a:srgbClr val="957D11"/>
                </a:solidFill>
                <a:latin typeface="Arial"/>
                <a:ea typeface="Arial"/>
                <a:cs typeface="Arial"/>
                <a:sym typeface="Arial"/>
              </a:defRPr>
            </a:lvl1pPr>
          </a:lstStyle>
          <a:p>
            <a:pPr/>
            <a:r>
              <a:t>GOLD</a:t>
            </a:r>
          </a:p>
        </p:txBody>
      </p:sp>
      <p:sp>
        <p:nvSpPr>
          <p:cNvPr id="343" name="t2_s"/>
          <p:cNvSpPr txBox="1"/>
          <p:nvPr/>
        </p:nvSpPr>
        <p:spPr>
          <a:xfrm>
            <a:off x="7845552" y="4028254"/>
            <a:ext cx="361462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5395C"/>
                </a:solidFill>
                <a:latin typeface="Arial"/>
                <a:ea typeface="Arial"/>
                <a:cs typeface="Arial"/>
                <a:sym typeface="Arial"/>
              </a:defRPr>
            </a:lvl1pPr>
          </a:lstStyle>
          <a:p>
            <a:pPr/>
            <a:r>
              <a:t>Use your model</a:t>
            </a:r>
          </a:p>
        </p:txBody>
      </p:sp>
      <p:sp>
        <p:nvSpPr>
          <p:cNvPr id="344" name="t2_b"/>
          <p:cNvSpPr txBox="1"/>
          <p:nvPr/>
        </p:nvSpPr>
        <p:spPr>
          <a:xfrm>
            <a:off x="6766558" y="4297679"/>
            <a:ext cx="4675330" cy="1975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300">
                <a:solidFill>
                  <a:srgbClr val="55708A"/>
                </a:solidFill>
                <a:latin typeface="Arial"/>
                <a:ea typeface="Arial"/>
                <a:cs typeface="Arial"/>
                <a:sym typeface="Arial"/>
              </a:defRPr>
            </a:lvl1pPr>
          </a:lstStyle>
          <a:p>
            <a:pPr/>
            <a:r>
              <a:t>Predict a result you did not measure, and say how far to trust it.</a:t>
            </a:r>
          </a:p>
        </p:txBody>
      </p:sp>
      <p:sp>
        <p:nvSpPr>
          <p:cNvPr id="345" name="steps_bg"/>
          <p:cNvSpPr/>
          <p:nvPr/>
        </p:nvSpPr>
        <p:spPr>
          <a:xfrm>
            <a:off x="1170432" y="5010910"/>
            <a:ext cx="10472623" cy="1188722"/>
          </a:xfrm>
          <a:prstGeom prst="roundRect">
            <a:avLst>
              <a:gd name="adj" fmla="val 7692"/>
            </a:avLst>
          </a:prstGeom>
          <a:solidFill>
            <a:srgbClr val="FFFFFF"/>
          </a:solidFill>
          <a:ln w="16510">
            <a:solidFill>
              <a:srgbClr val="D9C9A8"/>
            </a:solidFill>
          </a:ln>
        </p:spPr>
        <p:txBody>
          <a:bodyPr lIns="45718" tIns="45718" rIns="45718" bIns="45718"/>
          <a:lstStyle/>
          <a:p>
            <a:pPr>
              <a:defRPr>
                <a:latin typeface="+mn-lt"/>
                <a:ea typeface="+mn-ea"/>
                <a:cs typeface="+mn-cs"/>
                <a:sym typeface="Calibri"/>
              </a:defRPr>
            </a:pPr>
          </a:p>
        </p:txBody>
      </p:sp>
      <p:sp>
        <p:nvSpPr>
          <p:cNvPr id="346" name="steps_h"/>
          <p:cNvSpPr txBox="1"/>
          <p:nvPr/>
        </p:nvSpPr>
        <p:spPr>
          <a:xfrm>
            <a:off x="1389887" y="5150611"/>
            <a:ext cx="365760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200">
                <a:solidFill>
                  <a:srgbClr val="15395C"/>
                </a:solidFill>
                <a:latin typeface="Georgia"/>
                <a:ea typeface="Georgia"/>
                <a:cs typeface="Georgia"/>
                <a:sym typeface="Georgia"/>
              </a:defRPr>
            </a:lvl1pPr>
          </a:lstStyle>
          <a:p>
            <a:pPr/>
            <a:r>
              <a:t>PLOT LIKE A SCIENTIST</a:t>
            </a:r>
          </a:p>
        </p:txBody>
      </p:sp>
      <p:sp>
        <p:nvSpPr>
          <p:cNvPr id="347" name="steps_b0"/>
          <p:cNvSpPr/>
          <p:nvPr/>
        </p:nvSpPr>
        <p:spPr>
          <a:xfrm>
            <a:off x="1389888" y="5468110"/>
            <a:ext cx="310899" cy="310899"/>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348" name="steps_n0"/>
          <p:cNvSpPr txBox="1"/>
          <p:nvPr/>
        </p:nvSpPr>
        <p:spPr>
          <a:xfrm>
            <a:off x="1389888" y="5534659"/>
            <a:ext cx="310898"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15395C"/>
                </a:solidFill>
                <a:latin typeface="Georgia"/>
                <a:ea typeface="Georgia"/>
                <a:cs typeface="Georgia"/>
                <a:sym typeface="Georgia"/>
              </a:defRPr>
            </a:lvl1pPr>
          </a:lstStyle>
          <a:p>
            <a:pPr/>
            <a:r>
              <a:t>1</a:t>
            </a:r>
          </a:p>
        </p:txBody>
      </p:sp>
      <p:sp>
        <p:nvSpPr>
          <p:cNvPr id="349" name="steps_t0"/>
          <p:cNvSpPr txBox="1"/>
          <p:nvPr/>
        </p:nvSpPr>
        <p:spPr>
          <a:xfrm>
            <a:off x="1773934" y="5413247"/>
            <a:ext cx="1501995" cy="6395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Independent variable on the x‑axis.</a:t>
            </a:r>
          </a:p>
        </p:txBody>
      </p:sp>
      <p:sp>
        <p:nvSpPr>
          <p:cNvPr id="350" name="steps_b1"/>
          <p:cNvSpPr/>
          <p:nvPr/>
        </p:nvSpPr>
        <p:spPr>
          <a:xfrm>
            <a:off x="3422231" y="5468110"/>
            <a:ext cx="310899" cy="310899"/>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351" name="steps_n1"/>
          <p:cNvSpPr txBox="1"/>
          <p:nvPr/>
        </p:nvSpPr>
        <p:spPr>
          <a:xfrm>
            <a:off x="3422231" y="5534659"/>
            <a:ext cx="310898"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15395C"/>
                </a:solidFill>
                <a:latin typeface="Georgia"/>
                <a:ea typeface="Georgia"/>
                <a:cs typeface="Georgia"/>
                <a:sym typeface="Georgia"/>
              </a:defRPr>
            </a:lvl1pPr>
          </a:lstStyle>
          <a:p>
            <a:pPr/>
            <a:r>
              <a:t>2</a:t>
            </a:r>
          </a:p>
        </p:txBody>
      </p:sp>
      <p:sp>
        <p:nvSpPr>
          <p:cNvPr id="352" name="steps_t1"/>
          <p:cNvSpPr txBox="1"/>
          <p:nvPr/>
        </p:nvSpPr>
        <p:spPr>
          <a:xfrm>
            <a:off x="3806280" y="5413247"/>
            <a:ext cx="1501995"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Label both axes, with units.</a:t>
            </a:r>
          </a:p>
        </p:txBody>
      </p:sp>
      <p:sp>
        <p:nvSpPr>
          <p:cNvPr id="353" name="steps_b2"/>
          <p:cNvSpPr/>
          <p:nvPr/>
        </p:nvSpPr>
        <p:spPr>
          <a:xfrm>
            <a:off x="5454579" y="5468110"/>
            <a:ext cx="310899" cy="310899"/>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354" name="steps_n2"/>
          <p:cNvSpPr txBox="1"/>
          <p:nvPr/>
        </p:nvSpPr>
        <p:spPr>
          <a:xfrm>
            <a:off x="5454579" y="5534659"/>
            <a:ext cx="310898"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15395C"/>
                </a:solidFill>
                <a:latin typeface="Georgia"/>
                <a:ea typeface="Georgia"/>
                <a:cs typeface="Georgia"/>
                <a:sym typeface="Georgia"/>
              </a:defRPr>
            </a:lvl1pPr>
          </a:lstStyle>
          <a:p>
            <a:pPr/>
            <a:r>
              <a:t>3</a:t>
            </a:r>
          </a:p>
        </p:txBody>
      </p:sp>
      <p:sp>
        <p:nvSpPr>
          <p:cNvPr id="355" name="steps_t2"/>
          <p:cNvSpPr txBox="1"/>
          <p:nvPr/>
        </p:nvSpPr>
        <p:spPr>
          <a:xfrm>
            <a:off x="5838626" y="5413247"/>
            <a:ext cx="1501995"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Plot each MEAN with a small cross.</a:t>
            </a:r>
          </a:p>
        </p:txBody>
      </p:sp>
      <p:sp>
        <p:nvSpPr>
          <p:cNvPr id="356" name="steps_b3"/>
          <p:cNvSpPr/>
          <p:nvPr/>
        </p:nvSpPr>
        <p:spPr>
          <a:xfrm>
            <a:off x="7486922" y="5468110"/>
            <a:ext cx="310899" cy="310899"/>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357" name="steps_n3"/>
          <p:cNvSpPr txBox="1"/>
          <p:nvPr/>
        </p:nvSpPr>
        <p:spPr>
          <a:xfrm>
            <a:off x="7486922" y="5534659"/>
            <a:ext cx="310898"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15395C"/>
                </a:solidFill>
                <a:latin typeface="Georgia"/>
                <a:ea typeface="Georgia"/>
                <a:cs typeface="Georgia"/>
                <a:sym typeface="Georgia"/>
              </a:defRPr>
            </a:lvl1pPr>
          </a:lstStyle>
          <a:p>
            <a:pPr/>
            <a:r>
              <a:t>4</a:t>
            </a:r>
          </a:p>
        </p:txBody>
      </p:sp>
      <p:sp>
        <p:nvSpPr>
          <p:cNvPr id="358" name="steps_t3"/>
          <p:cNvSpPr txBox="1"/>
          <p:nvPr/>
        </p:nvSpPr>
        <p:spPr>
          <a:xfrm>
            <a:off x="7870972" y="5413247"/>
            <a:ext cx="1501995"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Ruler line of best fit, through the middle.</a:t>
            </a:r>
          </a:p>
        </p:txBody>
      </p:sp>
      <p:sp>
        <p:nvSpPr>
          <p:cNvPr id="359" name="steps_b4"/>
          <p:cNvSpPr/>
          <p:nvPr/>
        </p:nvSpPr>
        <p:spPr>
          <a:xfrm>
            <a:off x="9519270" y="5468110"/>
            <a:ext cx="310899" cy="310899"/>
          </a:xfrm>
          <a:prstGeom prst="ellipse">
            <a:avLst/>
          </a:prstGeom>
          <a:solidFill>
            <a:srgbClr val="FFD921"/>
          </a:solidFill>
          <a:ln w="12700">
            <a:solidFill>
              <a:srgbClr val="FFD921"/>
            </a:solidFill>
          </a:ln>
        </p:spPr>
        <p:txBody>
          <a:bodyPr lIns="45718" tIns="45718" rIns="45718" bIns="45718"/>
          <a:lstStyle/>
          <a:p>
            <a:pPr>
              <a:defRPr>
                <a:latin typeface="+mn-lt"/>
                <a:ea typeface="+mn-ea"/>
                <a:cs typeface="+mn-cs"/>
                <a:sym typeface="Calibri"/>
              </a:defRPr>
            </a:pPr>
          </a:p>
        </p:txBody>
      </p:sp>
      <p:sp>
        <p:nvSpPr>
          <p:cNvPr id="360" name="steps_n4"/>
          <p:cNvSpPr txBox="1"/>
          <p:nvPr/>
        </p:nvSpPr>
        <p:spPr>
          <a:xfrm>
            <a:off x="9519270" y="5534659"/>
            <a:ext cx="310898"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15395C"/>
                </a:solidFill>
                <a:latin typeface="Georgia"/>
                <a:ea typeface="Georgia"/>
                <a:cs typeface="Georgia"/>
                <a:sym typeface="Georgia"/>
              </a:defRPr>
            </a:lvl1pPr>
          </a:lstStyle>
          <a:p>
            <a:pPr/>
            <a:r>
              <a:t>5</a:t>
            </a:r>
          </a:p>
        </p:txBody>
      </p:sp>
      <p:sp>
        <p:nvSpPr>
          <p:cNvPr id="361" name="steps_t4"/>
          <p:cNvSpPr txBox="1"/>
          <p:nvPr/>
        </p:nvSpPr>
        <p:spPr>
          <a:xfrm>
            <a:off x="9903317" y="5413247"/>
            <a:ext cx="1501995"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300">
                <a:solidFill>
                  <a:srgbClr val="0E2A40"/>
                </a:solidFill>
                <a:latin typeface="Arial"/>
                <a:ea typeface="Arial"/>
                <a:cs typeface="Arial"/>
                <a:sym typeface="Arial"/>
              </a:defRPr>
            </a:lvl1pPr>
          </a:lstStyle>
          <a:p>
            <a:pPr/>
            <a:r>
              <a:t>Never dot to dot.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020000" fill="hold"/>
                                        <p:tgtEl>
                                          <p:spTgt spid="253"/>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3" grpId="1" fill="hold">
                                  <p:stCondLst>
                                    <p:cond delay="0"/>
                                  </p:stCondLst>
                                  <p:childTnLst>
                                    <p:cmd type="call" cmd="stop">
                                      <p:cBhvr>
                                        <p:cTn id="10" dur="1000" fill="hold"/>
                                        <p:tgtEl>
                                          <p:spTgt spid="253"/>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11" fill="hold" display="0">
                  <p:stCondLst>
                    <p:cond delay="indefinite"/>
                  </p:stCondLst>
                </p:cTn>
                <p:tgtEl>
                  <p:spTgt spid="253"/>
                </p:tgtEl>
              </p:cMediaNode>
            </p:video>
            <p:seq concurrent="1" prevAc="none" nextAc="seek">
              <p:cTn id="12" evtFilter="cancelBubble" nodeType="interactiveSeq" restart="whenNotActive" fill="hold">
                <p:stCondLst>
                  <p:cond delay="0" evt="onClick">
                    <p:tgtEl>
                      <p:spTgt spid="253"/>
                    </p:tgtEl>
                  </p:cond>
                </p:stCondLst>
                <p:endSync delay="0" evt="end">
                  <p:rtn val="all"/>
                </p:endSync>
                <p:childTnLst>
                  <p:par>
                    <p:cTn id="13" fill="hold">
                      <p:stCondLst>
                        <p:cond delay="0"/>
                      </p:stCondLst>
                      <p:childTnLst>
                        <p:par>
                          <p:cTn id="14" fill="hold">
                            <p:stCondLst>
                              <p:cond delay="0"/>
                            </p:stCondLst>
                            <p:childTnLst>
                              <p:par>
                                <p:cTn id="15" presetClass="mediacall" nodeType="clickEffect" presetSubtype="0" presetID="2" fill="hold">
                                  <p:stCondLst>
                                    <p:cond delay="0"/>
                                  </p:stCondLst>
                                  <p:childTnLst>
                                    <p:cmd type="call" cmd="togglePause">
                                      <p:cBhvr>
                                        <p:cTn id="16" dur="1" fill="hold"/>
                                        <p:tgtEl>
                                          <p:spTgt spid="253"/>
                                        </p:tgtEl>
                                      </p:cBhvr>
                                    </p:cmd>
                                  </p:childTnLst>
                                </p:cTn>
                              </p:par>
                            </p:childTnLst>
                          </p:cTn>
                        </p:par>
                      </p:childTnLst>
                    </p:cTn>
                  </p:par>
                </p:childTnLst>
              </p:cTn>
              <p:nextCondLst>
                <p:cond delay="0" evt="onClick">
                  <p:tgtEl>
                    <p:spTgt spid="25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5395C"/>
        </a:solidFill>
      </p:bgPr>
    </p:bg>
    <p:spTree>
      <p:nvGrpSpPr>
        <p:cNvPr id="1" name=""/>
        <p:cNvGrpSpPr/>
        <p:nvPr/>
      </p:nvGrpSpPr>
      <p:grpSpPr>
        <a:xfrm>
          <a:off x="0" y="0"/>
          <a:ext cx="0" cy="0"/>
          <a:chOff x="0" y="0"/>
          <a:chExt cx="0" cy="0"/>
        </a:xfrm>
      </p:grpSpPr>
      <p:pic>
        <p:nvPicPr>
          <p:cNvPr id="36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368" name="phase_pill"/>
          <p:cNvGrpSpPr/>
          <p:nvPr/>
        </p:nvGrpSpPr>
        <p:grpSpPr>
          <a:xfrm>
            <a:off x="1170432" y="310894"/>
            <a:ext cx="1892809" cy="329188"/>
            <a:chOff x="0" y="0"/>
            <a:chExt cx="1892808" cy="329186"/>
          </a:xfrm>
        </p:grpSpPr>
        <p:sp>
          <p:nvSpPr>
            <p:cNvPr id="366" name="Rounded Rectangle"/>
            <p:cNvSpPr/>
            <p:nvPr/>
          </p:nvSpPr>
          <p:spPr>
            <a:xfrm>
              <a:off x="0" y="-1"/>
              <a:ext cx="1892809" cy="329188"/>
            </a:xfrm>
            <a:prstGeom prst="roundRect">
              <a:avLst>
                <a:gd name="adj" fmla="val 44444"/>
              </a:avLst>
            </a:prstGeom>
            <a:solidFill>
              <a:srgbClr val="FFD921"/>
            </a:solidFill>
            <a:ln w="12700" cap="flat">
              <a:noFill/>
              <a:miter lim="400000"/>
            </a:ln>
            <a:effectLst/>
          </p:spPr>
          <p:txBody>
            <a:bodyPr wrap="square" lIns="45718" tIns="45718" rIns="45718" bIns="45718" numCol="1" anchor="ctr">
              <a:noAutofit/>
            </a:bodyPr>
            <a:lstStyle/>
            <a:p>
              <a:pPr algn="ctr">
                <a:defRPr sz="1100">
                  <a:latin typeface="+mn-lt"/>
                  <a:ea typeface="+mn-ea"/>
                  <a:cs typeface="+mn-cs"/>
                  <a:sym typeface="Calibri"/>
                </a:defRPr>
              </a:pPr>
            </a:p>
          </p:txBody>
        </p:sp>
        <p:sp>
          <p:nvSpPr>
            <p:cNvPr id="367" name="PLENARY · 3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5395C"/>
                  </a:solidFill>
                  <a:latin typeface="Arial"/>
                  <a:ea typeface="Arial"/>
                  <a:cs typeface="Arial"/>
                  <a:sym typeface="Arial"/>
                </a:defRPr>
              </a:lvl1pPr>
            </a:lstStyle>
            <a:p>
              <a:pPr/>
              <a:r>
                <a:t>PLENARY · 3 MIN</a:t>
              </a:r>
            </a:p>
          </p:txBody>
        </p:sp>
      </p:grpSp>
      <p:sp>
        <p:nvSpPr>
          <p:cNvPr id="369"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2F6FB"/>
                </a:solidFill>
                <a:latin typeface="Georgia"/>
                <a:ea typeface="Georgia"/>
                <a:cs typeface="Georgia"/>
                <a:sym typeface="Georgia"/>
              </a:defRPr>
            </a:lvl1pPr>
          </a:lstStyle>
          <a:p>
            <a:pPr/>
            <a:r>
              <a:t>True or false?</a:t>
            </a:r>
          </a:p>
        </p:txBody>
      </p:sp>
      <p:sp>
        <p:nvSpPr>
          <p:cNvPr id="370" name="p0_bg"/>
          <p:cNvSpPr/>
          <p:nvPr/>
        </p:nvSpPr>
        <p:spPr>
          <a:xfrm>
            <a:off x="1170432" y="2194560"/>
            <a:ext cx="8552383" cy="640082"/>
          </a:xfrm>
          <a:prstGeom prst="roundRect">
            <a:avLst>
              <a:gd name="adj" fmla="val 14286"/>
            </a:avLst>
          </a:prstGeom>
          <a:solidFill>
            <a:srgbClr val="2C5C82"/>
          </a:solidFill>
          <a:ln w="12700">
            <a:solidFill>
              <a:srgbClr val="2C5C82"/>
            </a:solidFill>
          </a:ln>
        </p:spPr>
        <p:txBody>
          <a:bodyPr lIns="45718" tIns="45718" rIns="45718" bIns="45718"/>
          <a:lstStyle/>
          <a:p>
            <a:pPr>
              <a:defRPr>
                <a:latin typeface="+mn-lt"/>
                <a:ea typeface="+mn-ea"/>
                <a:cs typeface="+mn-cs"/>
                <a:sym typeface="Calibri"/>
              </a:defRPr>
            </a:pPr>
          </a:p>
        </p:txBody>
      </p:sp>
      <p:sp>
        <p:nvSpPr>
          <p:cNvPr id="371" name="p0_q"/>
          <p:cNvSpPr txBox="1"/>
          <p:nvPr/>
        </p:nvSpPr>
        <p:spPr>
          <a:xfrm>
            <a:off x="1426464" y="2409766"/>
            <a:ext cx="8186623"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2F6FB"/>
                </a:solidFill>
                <a:latin typeface="Arial"/>
                <a:ea typeface="Arial"/>
                <a:cs typeface="Arial"/>
                <a:sym typeface="Arial"/>
              </a:defRPr>
            </a:lvl1pPr>
          </a:lstStyle>
          <a:p>
            <a:pPr/>
            <a:r>
              <a:t>To find the mean, add the results and divide by how many there are.</a:t>
            </a:r>
          </a:p>
        </p:txBody>
      </p:sp>
      <p:sp>
        <p:nvSpPr>
          <p:cNvPr id="372" name="p0_v"/>
          <p:cNvSpPr txBox="1"/>
          <p:nvPr/>
        </p:nvSpPr>
        <p:spPr>
          <a:xfrm>
            <a:off x="9905695" y="2391130"/>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sp>
        <p:nvSpPr>
          <p:cNvPr id="373" name="p1_bg"/>
          <p:cNvSpPr/>
          <p:nvPr/>
        </p:nvSpPr>
        <p:spPr>
          <a:xfrm>
            <a:off x="1170432" y="2999232"/>
            <a:ext cx="8552383" cy="640082"/>
          </a:xfrm>
          <a:prstGeom prst="roundRect">
            <a:avLst>
              <a:gd name="adj" fmla="val 14286"/>
            </a:avLst>
          </a:prstGeom>
          <a:solidFill>
            <a:srgbClr val="2C5C82"/>
          </a:solidFill>
          <a:ln w="12700">
            <a:solidFill>
              <a:srgbClr val="2C5C82"/>
            </a:solidFill>
          </a:ln>
        </p:spPr>
        <p:txBody>
          <a:bodyPr lIns="45718" tIns="45718" rIns="45718" bIns="45718"/>
          <a:lstStyle/>
          <a:p>
            <a:pPr>
              <a:defRPr>
                <a:latin typeface="+mn-lt"/>
                <a:ea typeface="+mn-ea"/>
                <a:cs typeface="+mn-cs"/>
                <a:sym typeface="Calibri"/>
              </a:defRPr>
            </a:pPr>
          </a:p>
        </p:txBody>
      </p:sp>
      <p:sp>
        <p:nvSpPr>
          <p:cNvPr id="374" name="p1_q"/>
          <p:cNvSpPr txBox="1"/>
          <p:nvPr/>
        </p:nvSpPr>
        <p:spPr>
          <a:xfrm>
            <a:off x="1426464" y="3214438"/>
            <a:ext cx="8186623"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2F6FB"/>
                </a:solidFill>
                <a:latin typeface="Arial"/>
                <a:ea typeface="Arial"/>
                <a:cs typeface="Arial"/>
                <a:sym typeface="Arial"/>
              </a:defRPr>
            </a:lvl1pPr>
          </a:lstStyle>
          <a:p>
            <a:pPr/>
            <a:r>
              <a:t>Results that are close together must also be accurate.</a:t>
            </a:r>
          </a:p>
        </p:txBody>
      </p:sp>
      <p:sp>
        <p:nvSpPr>
          <p:cNvPr id="375" name="p1_v"/>
          <p:cNvSpPr txBox="1"/>
          <p:nvPr/>
        </p:nvSpPr>
        <p:spPr>
          <a:xfrm>
            <a:off x="9905695" y="3195802"/>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sp>
        <p:nvSpPr>
          <p:cNvPr id="376" name="p2_bg"/>
          <p:cNvSpPr/>
          <p:nvPr/>
        </p:nvSpPr>
        <p:spPr>
          <a:xfrm>
            <a:off x="1170432" y="3803903"/>
            <a:ext cx="8552383" cy="640082"/>
          </a:xfrm>
          <a:prstGeom prst="roundRect">
            <a:avLst>
              <a:gd name="adj" fmla="val 14286"/>
            </a:avLst>
          </a:prstGeom>
          <a:solidFill>
            <a:srgbClr val="2C5C82"/>
          </a:solidFill>
          <a:ln w="12700">
            <a:solidFill>
              <a:srgbClr val="2C5C82"/>
            </a:solidFill>
          </a:ln>
        </p:spPr>
        <p:txBody>
          <a:bodyPr lIns="45718" tIns="45718" rIns="45718" bIns="45718"/>
          <a:lstStyle/>
          <a:p>
            <a:pPr>
              <a:defRPr>
                <a:latin typeface="+mn-lt"/>
                <a:ea typeface="+mn-ea"/>
                <a:cs typeface="+mn-cs"/>
                <a:sym typeface="Calibri"/>
              </a:defRPr>
            </a:pPr>
          </a:p>
        </p:txBody>
      </p:sp>
      <p:sp>
        <p:nvSpPr>
          <p:cNvPr id="377" name="p2_q"/>
          <p:cNvSpPr txBox="1"/>
          <p:nvPr/>
        </p:nvSpPr>
        <p:spPr>
          <a:xfrm>
            <a:off x="1426464" y="4019108"/>
            <a:ext cx="8186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2F6FB"/>
                </a:solidFill>
                <a:latin typeface="Arial"/>
                <a:ea typeface="Arial"/>
                <a:cs typeface="Arial"/>
                <a:sym typeface="Arial"/>
              </a:defRPr>
            </a:lvl1pPr>
          </a:lstStyle>
          <a:p>
            <a:pPr/>
            <a:r>
              <a:t>A bar chart is the best graph for time and temperature.</a:t>
            </a:r>
          </a:p>
        </p:txBody>
      </p:sp>
      <p:sp>
        <p:nvSpPr>
          <p:cNvPr id="378" name="p2_v"/>
          <p:cNvSpPr txBox="1"/>
          <p:nvPr/>
        </p:nvSpPr>
        <p:spPr>
          <a:xfrm>
            <a:off x="9905695" y="4000474"/>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sp>
        <p:nvSpPr>
          <p:cNvPr id="379" name="p3_bg"/>
          <p:cNvSpPr/>
          <p:nvPr/>
        </p:nvSpPr>
        <p:spPr>
          <a:xfrm>
            <a:off x="1170432" y="4608576"/>
            <a:ext cx="8552383" cy="640082"/>
          </a:xfrm>
          <a:prstGeom prst="roundRect">
            <a:avLst>
              <a:gd name="adj" fmla="val 14286"/>
            </a:avLst>
          </a:prstGeom>
          <a:solidFill>
            <a:srgbClr val="2C5C82"/>
          </a:solidFill>
          <a:ln w="12700">
            <a:solidFill>
              <a:srgbClr val="2C5C82"/>
            </a:solidFill>
          </a:ln>
        </p:spPr>
        <p:txBody>
          <a:bodyPr lIns="45718" tIns="45718" rIns="45718" bIns="45718"/>
          <a:lstStyle/>
          <a:p>
            <a:pPr>
              <a:defRPr>
                <a:latin typeface="+mn-lt"/>
                <a:ea typeface="+mn-ea"/>
                <a:cs typeface="+mn-cs"/>
                <a:sym typeface="Calibri"/>
              </a:defRPr>
            </a:pPr>
          </a:p>
        </p:txBody>
      </p:sp>
      <p:sp>
        <p:nvSpPr>
          <p:cNvPr id="380" name="p3_q"/>
          <p:cNvSpPr txBox="1"/>
          <p:nvPr/>
        </p:nvSpPr>
        <p:spPr>
          <a:xfrm>
            <a:off x="1426464" y="4823781"/>
            <a:ext cx="8186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2F6FB"/>
                </a:solidFill>
                <a:latin typeface="Arial"/>
                <a:ea typeface="Arial"/>
                <a:cs typeface="Arial"/>
                <a:sym typeface="Arial"/>
              </a:defRPr>
            </a:lvl1pPr>
          </a:lstStyle>
          <a:p>
            <a:pPr/>
            <a:r>
              <a:t>A model has to be exactly like the real thing to be useful.</a:t>
            </a:r>
          </a:p>
        </p:txBody>
      </p:sp>
      <p:sp>
        <p:nvSpPr>
          <p:cNvPr id="381" name="p3_v"/>
          <p:cNvSpPr txBox="1"/>
          <p:nvPr/>
        </p:nvSpPr>
        <p:spPr>
          <a:xfrm>
            <a:off x="9905695" y="4805147"/>
            <a:ext cx="1737362"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D921"/>
                </a:solidFill>
                <a:latin typeface="Arial"/>
                <a:ea typeface="Arial"/>
                <a:cs typeface="Arial"/>
                <a:sym typeface="Arial"/>
              </a:defRPr>
            </a:lvl1pPr>
          </a:lstStyle>
          <a:p>
            <a:pPr/>
            <a:r>
              <a:t>FALSE</a:t>
            </a:r>
          </a:p>
        </p:txBody>
      </p:sp>
      <p:sp>
        <p:nvSpPr>
          <p:cNvPr id="382" name="p4_bg"/>
          <p:cNvSpPr/>
          <p:nvPr/>
        </p:nvSpPr>
        <p:spPr>
          <a:xfrm>
            <a:off x="1170432" y="5413247"/>
            <a:ext cx="8552383" cy="640082"/>
          </a:xfrm>
          <a:prstGeom prst="roundRect">
            <a:avLst>
              <a:gd name="adj" fmla="val 14286"/>
            </a:avLst>
          </a:prstGeom>
          <a:solidFill>
            <a:srgbClr val="2C5C82"/>
          </a:solidFill>
          <a:ln w="12700">
            <a:solidFill>
              <a:srgbClr val="2C5C82"/>
            </a:solidFill>
          </a:ln>
        </p:spPr>
        <p:txBody>
          <a:bodyPr lIns="45718" tIns="45718" rIns="45718" bIns="45718"/>
          <a:lstStyle/>
          <a:p>
            <a:pPr>
              <a:defRPr>
                <a:latin typeface="+mn-lt"/>
                <a:ea typeface="+mn-ea"/>
                <a:cs typeface="+mn-cs"/>
                <a:sym typeface="Calibri"/>
              </a:defRPr>
            </a:pPr>
          </a:p>
        </p:txBody>
      </p:sp>
      <p:sp>
        <p:nvSpPr>
          <p:cNvPr id="383" name="p4_q"/>
          <p:cNvSpPr txBox="1"/>
          <p:nvPr/>
        </p:nvSpPr>
        <p:spPr>
          <a:xfrm>
            <a:off x="1426464" y="5628452"/>
            <a:ext cx="8186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2F6FB"/>
                </a:solidFill>
                <a:latin typeface="Arial"/>
                <a:ea typeface="Arial"/>
                <a:cs typeface="Arial"/>
                <a:sym typeface="Arial"/>
              </a:defRPr>
            </a:lvl1pPr>
          </a:lstStyle>
          <a:p>
            <a:pPr/>
            <a:r>
              <a:t>A line of best fit can predict a value you did not measure.</a:t>
            </a:r>
          </a:p>
        </p:txBody>
      </p:sp>
      <p:sp>
        <p:nvSpPr>
          <p:cNvPr id="384" name="p4_v"/>
          <p:cNvSpPr txBox="1"/>
          <p:nvPr/>
        </p:nvSpPr>
        <p:spPr>
          <a:xfrm>
            <a:off x="9905695" y="5609818"/>
            <a:ext cx="1737362"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00A33E"/>
                </a:solidFill>
                <a:latin typeface="Arial"/>
                <a:ea typeface="Arial"/>
                <a:cs typeface="Arial"/>
                <a:sym typeface="Arial"/>
              </a:defRPr>
            </a:lvl1pPr>
          </a:lstStyle>
          <a:p>
            <a:pPr/>
            <a:r>
              <a:t>TRUE</a:t>
            </a:r>
          </a:p>
        </p:txBody>
      </p:sp>
      <p:sp>
        <p:nvSpPr>
          <p:cNvPr id="385" name="pl_next"/>
          <p:cNvSpPr txBox="1"/>
          <p:nvPr/>
        </p:nvSpPr>
        <p:spPr>
          <a:xfrm>
            <a:off x="1170432" y="6195381"/>
            <a:ext cx="10472623"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FFD921"/>
                </a:solidFill>
                <a:latin typeface="Arial"/>
                <a:ea typeface="Arial"/>
                <a:cs typeface="Arial"/>
                <a:sym typeface="Arial"/>
              </a:defRPr>
            </a:lvl1pPr>
          </a:lstStyle>
          <a:p>
            <a:pPr/>
            <a:r>
              <a:t>The mean gives the typical result, a graph shows the pattern, and a model predicts.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65"/>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3" grpId="1" fill="hold">
                                  <p:stCondLst>
                                    <p:cond delay="0"/>
                                  </p:stCondLst>
                                  <p:childTnLst>
                                    <p:cmd type="call" cmd="stop">
                                      <p:cBhvr>
                                        <p:cTn id="10" dur="1000" fill="hold"/>
                                        <p:tgtEl>
                                          <p:spTgt spid="365"/>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100000">
                <p:cTn id="11" fill="hold" display="0">
                  <p:stCondLst>
                    <p:cond delay="indefinite"/>
                  </p:stCondLst>
                </p:cTn>
                <p:tgtEl>
                  <p:spTgt spid="365"/>
                </p:tgtEl>
              </p:cMediaNode>
            </p:video>
            <p:seq concurrent="1" prevAc="none" nextAc="seek">
              <p:cTn id="12" evtFilter="cancelBubble" nodeType="interactiveSeq" restart="whenNotActive" fill="hold">
                <p:stCondLst>
                  <p:cond delay="0" evt="onClick">
                    <p:tgtEl>
                      <p:spTgt spid="365"/>
                    </p:tgtEl>
                  </p:cond>
                </p:stCondLst>
                <p:endSync delay="0" evt="end">
                  <p:rtn val="all"/>
                </p:endSync>
                <p:childTnLst>
                  <p:par>
                    <p:cTn id="13" fill="hold">
                      <p:stCondLst>
                        <p:cond delay="0"/>
                      </p:stCondLst>
                      <p:childTnLst>
                        <p:par>
                          <p:cTn id="14" fill="hold">
                            <p:stCondLst>
                              <p:cond delay="0"/>
                            </p:stCondLst>
                            <p:childTnLst>
                              <p:par>
                                <p:cTn id="15" presetClass="mediacall" nodeType="clickEffect" presetSubtype="0" presetID="2" fill="hold">
                                  <p:stCondLst>
                                    <p:cond delay="0"/>
                                  </p:stCondLst>
                                  <p:childTnLst>
                                    <p:cmd type="call" cmd="togglePause">
                                      <p:cBhvr>
                                        <p:cTn id="16" dur="1" fill="hold"/>
                                        <p:tgtEl>
                                          <p:spTgt spid="365"/>
                                        </p:tgtEl>
                                      </p:cBhvr>
                                    </p:cmd>
                                  </p:childTnLst>
                                </p:cTn>
                              </p:par>
                            </p:childTnLst>
                          </p:cTn>
                        </p:par>
                      </p:childTnLst>
                    </p:cTn>
                  </p:par>
                </p:childTnLst>
              </p:cTn>
              <p:nextCondLst>
                <p:cond delay="0" evt="onClick">
                  <p:tgtEl>
                    <p:spTgt spid="365"/>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