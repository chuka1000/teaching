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media/media1.mp4" ContentType="video/unknown"/>
  <Override PartName="/ppt/notesSlides/notesSlide2.xml" ContentType="application/vnd.openxmlformats-officedocument.presentationml.notesSlide+xml"/>
  <Override PartName="/ppt/media/media2.mp4" ContentType="video/unknown"/>
  <Override PartName="/ppt/notesSlides/notesSlide3.xml" ContentType="application/vnd.openxmlformats-officedocument.presentationml.notesSlide+xml"/>
  <Override PartName="/ppt/media/media3.mp4" ContentType="video/unknown"/>
  <Override PartName="/ppt/notesSlides/notesSlide4.xml" ContentType="application/vnd.openxmlformats-officedocument.presentationml.notesSlide+xml"/>
  <Override PartName="/ppt/media/media4.mp4" ContentType="video/unknown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media/media5.mp4" ContentType="video/unknown"/>
  <Override PartName="/ppt/notesSlides/notesSlide7.xml" ContentType="application/vnd.openxmlformats-officedocument.presentationml.notesSlide+xml"/>
  <Override PartName="/ppt/media/media6.mp4" ContentType="video/unknown"/>
  <Override PartName="/ppt/notesSlides/notesSlide8.xml" ContentType="application/vnd.openxmlformats-officedocument.presentationml.notesSlide+xml"/>
  <Override PartName="/ppt/media/media7.mp4" ContentType="video/unknown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media/media8.mp4" ContentType="video/unknown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793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D4EA"/>
          </a:solidFill>
        </a:fill>
      </a:tcStyle>
    </a:wholeTbl>
    <a:band2H>
      <a:tcTxStyle b="def" i="def"/>
      <a:tcStyle>
        <a:tcBdr/>
        <a:fill>
          <a:solidFill>
            <a:srgbClr val="E8EBF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0E0E0"/>
          </a:solidFill>
        </a:fill>
      </a:tcStyle>
    </a:wholeTbl>
    <a:band2H>
      <a:tcTxStyle b="def" i="def"/>
      <a:tcStyle>
        <a:tcBdr/>
        <a:fill>
          <a:solidFill>
            <a:srgbClr val="F0F0F0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4E2CE"/>
          </a:solidFill>
        </a:fill>
      </a:tcStyle>
    </a:wholeTbl>
    <a:band2H>
      <a:tcTxStyle b="def" i="def"/>
      <a:tcStyle>
        <a:tcBdr/>
        <a:fill>
          <a:solidFill>
            <a:srgbClr val="EBF1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17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8" name="Shape 18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n-lt"/>
        <a:ea typeface="+mn-ea"/>
        <a:cs typeface="+mn-cs"/>
        <a:sym typeface="Calibri"/>
      </a:defRPr>
    </a:lvl1pPr>
    <a:lvl2pPr indent="228600" latinLnBrk="0">
      <a:defRPr sz="1200">
        <a:latin typeface="+mn-lt"/>
        <a:ea typeface="+mn-ea"/>
        <a:cs typeface="+mn-cs"/>
        <a:sym typeface="Calibri"/>
      </a:defRPr>
    </a:lvl2pPr>
    <a:lvl3pPr indent="457200" latinLnBrk="0">
      <a:defRPr sz="1200">
        <a:latin typeface="+mn-lt"/>
        <a:ea typeface="+mn-ea"/>
        <a:cs typeface="+mn-cs"/>
        <a:sym typeface="Calibri"/>
      </a:defRPr>
    </a:lvl3pPr>
    <a:lvl4pPr indent="685800" latinLnBrk="0">
      <a:defRPr sz="1200">
        <a:latin typeface="+mn-lt"/>
        <a:ea typeface="+mn-ea"/>
        <a:cs typeface="+mn-cs"/>
        <a:sym typeface="Calibri"/>
      </a:defRPr>
    </a:lvl4pPr>
    <a:lvl5pPr indent="914400" latinLnBrk="0">
      <a:defRPr sz="1200">
        <a:latin typeface="+mn-lt"/>
        <a:ea typeface="+mn-ea"/>
        <a:cs typeface="+mn-cs"/>
        <a:sym typeface="Calibri"/>
      </a:defRPr>
    </a:lvl5pPr>
    <a:lvl6pPr indent="1143000" latinLnBrk="0">
      <a:defRPr sz="1200">
        <a:latin typeface="+mn-lt"/>
        <a:ea typeface="+mn-ea"/>
        <a:cs typeface="+mn-cs"/>
        <a:sym typeface="Calibri"/>
      </a:defRPr>
    </a:lvl6pPr>
    <a:lvl7pPr indent="1371600" latinLnBrk="0">
      <a:defRPr sz="1200">
        <a:latin typeface="+mn-lt"/>
        <a:ea typeface="+mn-ea"/>
        <a:cs typeface="+mn-cs"/>
        <a:sym typeface="Calibri"/>
      </a:defRPr>
    </a:lvl7pPr>
    <a:lvl8pPr indent="1600200" latinLnBrk="0">
      <a:defRPr sz="1200">
        <a:latin typeface="+mn-lt"/>
        <a:ea typeface="+mn-ea"/>
        <a:cs typeface="+mn-cs"/>
        <a:sym typeface="Calibri"/>
      </a:defRPr>
    </a:lvl8pPr>
    <a:lvl9pPr indent="1828800" latinLnBrk="0">
      <a:defRPr sz="1200">
        <a:latin typeface="+mn-lt"/>
        <a:ea typeface="+mn-ea"/>
        <a:cs typeface="+mn-cs"/>
        <a:sym typeface="Calibri"/>
      </a:defRPr>
    </a:lvl9pPr>
  </p:notesStyle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/Relationships>
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</Relationships>
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</Relationships>
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69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70" name="Shape 70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DO NOW — 10 minutes. Six clicks.</a:t>
            </a:r>
          </a:p>
          <a:p>
            <a:pPr/>
          </a:p>
          <a:p>
            <a:pPr/>
            <a:r>
              <a:t>Q1, Q3 AND Q6 are direct retrieval from Equations of Motion — same wording, same graph. Point that out: today reuses "gradient" for something new.</a:t>
            </a:r>
          </a:p>
          <a:p>
            <a:pPr/>
          </a:p>
          <a:p>
            <a:pPr/>
            <a:r>
              <a:t>Q4 AND Q5 bridge into today’s practical. If "newtonmeter" gets no response, that is worth knowing before the demo.</a:t>
            </a:r>
          </a:p>
          <a:p>
            <a:pPr/>
          </a:p>
          <a:p>
            <a:pPr/>
            <a:r>
              <a:t>CHANGE THE DATE before you teach.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Shape 95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96" name="Shape 96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TODAY — 1 minute. Four clicks. The banner is the misconception the whole lesson is aimed at: mass and weight get treated as the same thing measured two ways. They are not.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Shape 116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17" name="Shape 117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HOOK — 2 minutes. Four clicks.</a:t>
            </a:r>
          </a:p>
          <a:p>
            <a:pPr/>
          </a:p>
          <a:p>
            <a:pPr/>
            <a:r>
              <a:t>Hands up for each. Tally on the board.</a:t>
            </a:r>
          </a:p>
          <a:p>
            <a:pPr/>
          </a:p>
          <a:p>
            <a:pPr/>
            <a:r>
              <a:t>ANSWER: B. 60 kg is a mass. Their weight is 60 × 9.8 = 588 N — say the number, do not reveal how yet, I Do 2 gets there.</a:t>
            </a:r>
          </a:p>
          <a:p>
            <a:pPr/>
          </a:p>
          <a:p>
            <a:pPr/>
            <a:r>
              <a:t>C IS A DISTRACTOR, not the point — "I weigh 60" without units would be the real problem with C’s reasoning; the sentence as given does have units, they are just the wrong quantity’s units.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Shape 140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41" name="Shape 141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I DO — 3 minutes. Four clicks: mass row, weight row, then talk through the demo.</a:t>
            </a:r>
          </a:p>
          <a:p>
            <a:pPr/>
          </a:p>
          <a:p>
            <a:pPr/>
            <a:r>
              <a:t>DEMO NOW: hang 100 g, then 200 g, then 500 g from a newtonmeter. Expect readings of about 1 N, 2 N and 5 N. Say the numbers out loud as you read them — do not just show the meter.</a:t>
            </a:r>
          </a:p>
          <a:p>
            <a:pPr/>
          </a:p>
          <a:p>
            <a:pPr/>
            <a:r>
              <a:t>THE POINT OF THE DEMO: mass goes up, weight goes up, but they are never the same number — 100 g gives about 1 N, not 100 N and not 0.1 N. That gap IS gravity.</a:t>
            </a:r>
          </a:p>
          <a:p>
            <a:pPr/>
          </a:p>
          <a:p>
            <a:pPr/>
            <a:r>
              <a:t>IF NO NEWTONMETER IS AVAILABLE: use the numbers anyway and say so — "these are real readings from this experiment" is worth more than a video, but a description with real numbers still beats skipping it.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Shape 178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79" name="Shape 179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I DO — 3 minutes. Six clicks: the graph, then the four steps.</a:t>
            </a:r>
          </a:p>
          <a:p>
            <a:pPr/>
          </a:p>
          <a:p>
            <a:pPr/>
            <a:r>
              <a:t>PLOT THE DEMO’S OWN THREE POINTS if you have time — (0.1, 0.98), (0.2, 1.96), (0.5, 4.9). They sit on a straight line through the origin, and that line’s gradient is g.</a:t>
            </a:r>
          </a:p>
          <a:p>
            <a:pPr/>
          </a:p>
          <a:p>
            <a:pPr/>
            <a:r>
              <a:t>THIS IS THE SAME SKILL AS EQUATIONS OF MOTION SLIDE 4. Say so directly: "you already know how to read a gradient off a graph — today it gives you g instead of a."</a:t>
            </a:r>
          </a:p>
          <a:p>
            <a:pPr/>
          </a:p>
          <a:p>
            <a:pPr/>
            <a:r>
              <a:t>STEP 3 IS THE ONE TO BE STRICT ABOUT. g ≈ 9.8 N/kg, never 10 — 10 is a shortcut some students bring from other resources. Correct it every time it appears today.</a:t>
            </a:r>
          </a:p>
          <a:p>
            <a:pPr/>
          </a:p>
          <a:p>
            <a:pPr/>
            <a:r>
              <a:t>CHECK AGAINST THE HOOK: 60 kg × 9.8 = 588 N. That is where that number came from.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Shape 207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08" name="Shape 208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WE DO — 5 minutes. Four clicks. Take answers from the room first.</a:t>
            </a:r>
          </a:p>
          <a:p>
            <a:pPr/>
          </a:p>
          <a:p>
            <a:pPr/>
            <a:r>
              <a:t>ROW 1 AND ROW 4 ARE THE UNITS ROWS — kg for mass, N for weight, every time. This is the single most common exam slip at this level: writing "kg" where "N" belongs, or the reverse.</a:t>
            </a:r>
          </a:p>
          <a:p>
            <a:pPr/>
          </a:p>
          <a:p>
            <a:pPr/>
            <a:r>
              <a:t>ROW 2 IS THE g = 10 TRAP. Some students will insist this is what they were taught elsewhere. Hold the line: 9.8 here, always.</a:t>
            </a:r>
          </a:p>
          <a:p>
            <a:pPr/>
          </a:p>
          <a:p>
            <a:pPr/>
            <a:r>
              <a:t>ROW 3: 2 × 9.8 = 19.6 N, not 2 N. This is the Hook misconception again, with numbers.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Shape 256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57" name="Shape 257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COLD CALL — 6 minutes. Six clicks. Name a student, then ask. Thinking time before the answer.</a:t>
            </a:r>
          </a:p>
          <a:p>
            <a:pPr/>
          </a:p>
          <a:p>
            <a:pPr/>
            <a:r>
              <a:t>Q1 AND Q2 want the DEFINITION, not the unit — if a student answers "kg" to Q1, that is the unit, not the definition. Push once: "what does mass actually measure?"</a:t>
            </a:r>
          </a:p>
          <a:p>
            <a:pPr/>
          </a:p>
          <a:p>
            <a:pPr/>
            <a:r>
              <a:t>Q5 IS THE FIRST TIMED CALCULATION. If they reach for 10 instead of 9.8, that is the moment to correct it, not later.</a:t>
            </a:r>
          </a:p>
          <a:p>
            <a:pPr/>
          </a:p>
          <a:p>
            <a:pPr/>
            <a:r>
              <a:t>Q6 checks the equation both ways — they need this rearranged on the worksheet.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Shape 282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83" name="Shape 283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YOU DO — 14 minutes. Four clicks.</a:t>
            </a:r>
          </a:p>
          <a:p>
            <a:pPr/>
          </a:p>
          <a:p>
            <a:pPr/>
            <a:r>
              <a:t>CIRCULATE WITH ONE QUESTION: "is that a mass or a weight, and how do you know?"</a:t>
            </a:r>
          </a:p>
          <a:p>
            <a:pPr/>
          </a:p>
          <a:p>
            <a:pPr/>
            <a:r>
              <a:t>WHERE THEY WILL STALL: the Gold plot — reading a gradient off their own axes rather than a printed graph. Point them back to I Do 2 if they freeze.</a:t>
            </a:r>
          </a:p>
          <a:p>
            <a:pPr/>
          </a:p>
          <a:p>
            <a:pPr/>
            <a:r>
              <a:t>AT 3 MINUTES REMAINING, stop them. Answers are on the next slide.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Shape 330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331" name="Shape 331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ANSWERS — 3 minutes. Five clicks, two at a time. They mark their own in a different colour.</a:t>
            </a:r>
          </a:p>
          <a:p>
            <a:pPr/>
          </a:p>
          <a:p>
            <a:pPr/>
            <a:r>
              <a:t>Q6 AND Q7 use the Gold data table — both should land on 9.8, within rounding from reading the graph by eye.</a:t>
            </a:r>
          </a:p>
          <a:p>
            <a:pPr/>
          </a:p>
          <a:p>
            <a:pPr/>
            <a:r>
              <a:t>Q9 IS THE CONCEPTUAL ONE. If they can say this without you prompting, the lesson has landed.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Shape 359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360" name="Shape 360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PLENARY — 3 minutes. Six clicks.</a:t>
            </a:r>
          </a:p>
          <a:p>
            <a:pPr/>
          </a:p>
          <a:p>
            <a:pPr/>
            <a:r>
              <a:t>Q3 IS THE AVOID POINT, asked directly. If this one is wrong, five minutes of retrieval next lesson before anything new.</a:t>
            </a:r>
          </a:p>
          <a:p>
            <a:pPr/>
          </a:p>
          <a:p>
            <a:pPr/>
            <a:r>
              <a:t>Q5 IS THE HONEST TEST of whether "mass vs weight" actually landed, not just the arithmetic. Ask a follow-up: "so what WOULD change?" — weight, because gravity is different.</a:t>
            </a:r>
          </a:p>
          <a:p>
            <a:pPr/>
          </a:p>
          <a:p>
            <a:pPr/>
            <a:r>
              <a:t>The closing line is the habit to leave them with.</a:t>
            </a:r>
          </a:p>
        </p:txBody>
      </p:sp>
    </p:spTree>
  </p:cSld>
  <p:clrMapOvr>
    <a:masterClrMapping/>
  </p:clrMapOvr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608965" y="92074"/>
            <a:ext cx="10961370" cy="15081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/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608965" y="1600200"/>
            <a:ext cx="10961370" cy="5257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5886661" y="6172200"/>
            <a:ext cx="2841838" cy="36830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/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  <p:transition xmlns:p14="http://schemas.microsoft.com/office/powerpoint/2010/main" spd="med" advClick="1"/>
  <p:txStyles>
    <p:titleStyle>
      <a:lvl1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1pPr>
      <a:lvl2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2pPr>
      <a:lvl3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3pPr>
      <a:lvl4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4pPr>
      <a:lvl5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5pPr>
      <a:lvl6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6pPr>
      <a:lvl7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7pPr>
      <a:lvl8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8pPr>
      <a:lvl9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9pPr>
    </p:titleStyle>
    <p:bodyStyle>
      <a:lvl1pPr marL="342900" marR="0" indent="-3429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1pPr>
      <a:lvl2pPr marL="783771" marR="0" indent="-326571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2pPr>
      <a:lvl3pPr marL="1219200" marR="0" indent="-3048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3pPr>
      <a:lvl4pPr marL="17373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4pPr>
      <a:lvl5pPr marL="21945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5pPr>
      <a:lvl6pPr marL="26517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6pPr>
      <a:lvl7pPr marL="31089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7pPr>
      <a:lvl8pPr marL="35661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8pPr>
      <a:lvl9pPr marL="40233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video" Target="../media/media1.mp4"/><Relationship Id="rId4" Type="http://schemas.microsoft.com/office/2007/relationships/media" Target="../media/media1.mp4"/><Relationship Id="rId5" Type="http://schemas.openxmlformats.org/officeDocument/2006/relationships/image" Target="../media/image1.png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video" Target="../media/media2.mp4"/><Relationship Id="rId4" Type="http://schemas.microsoft.com/office/2007/relationships/media" Target="../media/media2.mp4"/><Relationship Id="rId5" Type="http://schemas.openxmlformats.org/officeDocument/2006/relationships/image" Target="../media/image1.png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video" Target="../media/media3.mp4"/><Relationship Id="rId4" Type="http://schemas.microsoft.com/office/2007/relationships/media" Target="../media/media3.mp4"/><Relationship Id="rId5" Type="http://schemas.openxmlformats.org/officeDocument/2006/relationships/image" Target="../media/image1.png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video" Target="../media/media4.mp4"/><Relationship Id="rId4" Type="http://schemas.microsoft.com/office/2007/relationships/media" Target="../media/media4.mp4"/><Relationship Id="rId5" Type="http://schemas.openxmlformats.org/officeDocument/2006/relationships/image" Target="../media/image1.png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video" Target="../media/media4.mp4"/><Relationship Id="rId4" Type="http://schemas.microsoft.com/office/2007/relationships/media" Target="../media/media4.mp4"/><Relationship Id="rId5" Type="http://schemas.openxmlformats.org/officeDocument/2006/relationships/image" Target="../media/image1.png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video" Target="../media/media5.mp4"/><Relationship Id="rId4" Type="http://schemas.microsoft.com/office/2007/relationships/media" Target="../media/media5.mp4"/><Relationship Id="rId5" Type="http://schemas.openxmlformats.org/officeDocument/2006/relationships/image" Target="../media/image1.png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video" Target="../media/media6.mp4"/><Relationship Id="rId4" Type="http://schemas.microsoft.com/office/2007/relationships/media" Target="../media/media6.mp4"/><Relationship Id="rId5" Type="http://schemas.openxmlformats.org/officeDocument/2006/relationships/image" Target="../media/image1.png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video" Target="../media/media7.mp4"/><Relationship Id="rId4" Type="http://schemas.microsoft.com/office/2007/relationships/media" Target="../media/media7.mp4"/><Relationship Id="rId5" Type="http://schemas.openxmlformats.org/officeDocument/2006/relationships/image" Target="../media/image1.png"/><Relationship Id="rId6" Type="http://schemas.openxmlformats.org/officeDocument/2006/relationships/image" Target="../media/image2.png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video" Target="../media/media4.mp4"/><Relationship Id="rId4" Type="http://schemas.microsoft.com/office/2007/relationships/media" Target="../media/media4.mp4"/><Relationship Id="rId5" Type="http://schemas.openxmlformats.org/officeDocument/2006/relationships/image" Target="../media/image1.png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video" Target="../media/media8.mp4"/><Relationship Id="rId4" Type="http://schemas.microsoft.com/office/2007/relationships/media" Target="../media/media8.mp4"/><Relationship Id="rId5" Type="http://schemas.openxmlformats.org/officeDocument/2006/relationships/image" Target="../media/image3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2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timer_video" descr="timer_video"/>
          <p:cNvPicPr>
            <a:picLocks noChangeAspect="0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5">
            <a:extLst/>
          </a:blip>
          <a:stretch>
            <a:fillRect/>
          </a:stretch>
        </p:blipFill>
        <p:spPr>
          <a:xfrm>
            <a:off x="310895" y="310895"/>
            <a:ext cx="457201" cy="6236210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23" name="phase_pill"/>
          <p:cNvGrpSpPr/>
          <p:nvPr/>
        </p:nvGrpSpPr>
        <p:grpSpPr>
          <a:xfrm>
            <a:off x="1170432" y="310895"/>
            <a:ext cx="1892808" cy="329185"/>
            <a:chOff x="0" y="0"/>
            <a:chExt cx="1892807" cy="329184"/>
          </a:xfrm>
        </p:grpSpPr>
        <p:sp>
          <p:nvSpPr>
            <p:cNvPr id="21" name="Rounded Rectangle"/>
            <p:cNvSpPr/>
            <p:nvPr/>
          </p:nvSpPr>
          <p:spPr>
            <a:xfrm>
              <a:off x="0" y="0"/>
              <a:ext cx="1892808" cy="329185"/>
            </a:xfrm>
            <a:prstGeom prst="roundRect">
              <a:avLst>
                <a:gd name="adj" fmla="val 44444"/>
              </a:avLst>
            </a:prstGeom>
            <a:solidFill>
              <a:srgbClr val="17203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1100"/>
              </a:pPr>
            </a:p>
          </p:txBody>
        </p:sp>
        <p:sp>
          <p:nvSpPr>
            <p:cNvPr id="22" name="DO NOW · 10 MIN"/>
            <p:cNvSpPr txBox="1"/>
            <p:nvPr/>
          </p:nvSpPr>
          <p:spPr>
            <a:xfrm>
              <a:off x="42850" y="90677"/>
              <a:ext cx="1807107" cy="14783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>
                <a:defRPr b="1" spc="120" sz="11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DO NOW · 10 MIN</a:t>
              </a:r>
            </a:p>
          </p:txBody>
        </p:sp>
      </p:grpSp>
      <p:sp>
        <p:nvSpPr>
          <p:cNvPr id="24" name="lesson_title"/>
          <p:cNvSpPr txBox="1"/>
          <p:nvPr/>
        </p:nvSpPr>
        <p:spPr>
          <a:xfrm>
            <a:off x="3840479" y="312419"/>
            <a:ext cx="4754881" cy="381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2600">
                <a:solidFill>
                  <a:srgbClr val="17203F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Mass and Weight</a:t>
            </a:r>
          </a:p>
        </p:txBody>
      </p:sp>
      <p:sp>
        <p:nvSpPr>
          <p:cNvPr id="25" name="lesson_date"/>
          <p:cNvSpPr txBox="1"/>
          <p:nvPr/>
        </p:nvSpPr>
        <p:spPr>
          <a:xfrm>
            <a:off x="8534095" y="382938"/>
            <a:ext cx="3108961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1300">
                <a:solidFill>
                  <a:srgbClr val="5A64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Tuesday 22 September 2026</a:t>
            </a:r>
          </a:p>
        </p:txBody>
      </p:sp>
      <p:sp>
        <p:nvSpPr>
          <p:cNvPr id="26" name="rule"/>
          <p:cNvSpPr/>
          <p:nvPr/>
        </p:nvSpPr>
        <p:spPr>
          <a:xfrm>
            <a:off x="1170432" y="896111"/>
            <a:ext cx="10472623" cy="36577"/>
          </a:xfrm>
          <a:prstGeom prst="rect">
            <a:avLst/>
          </a:prstGeom>
          <a:solidFill>
            <a:srgbClr val="FF8A3D"/>
          </a:solidFill>
          <a:ln w="12700">
            <a:solidFill>
              <a:srgbClr val="FF8A3D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7" name="d0_bg"/>
          <p:cNvSpPr/>
          <p:nvPr/>
        </p:nvSpPr>
        <p:spPr>
          <a:xfrm>
            <a:off x="1170432" y="1133855"/>
            <a:ext cx="5099152" cy="1481329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 w="16510">
            <a:solidFill>
              <a:srgbClr val="D8DEE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8" name="d0_badge"/>
          <p:cNvSpPr/>
          <p:nvPr/>
        </p:nvSpPr>
        <p:spPr>
          <a:xfrm>
            <a:off x="1371600" y="1298447"/>
            <a:ext cx="384048" cy="384049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9" name="d0_num"/>
          <p:cNvSpPr txBox="1"/>
          <p:nvPr/>
        </p:nvSpPr>
        <p:spPr>
          <a:xfrm>
            <a:off x="1371600" y="1388871"/>
            <a:ext cx="384048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400">
                <a:solidFill>
                  <a:srgbClr val="17203F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30" name="d0_q"/>
          <p:cNvSpPr txBox="1"/>
          <p:nvPr/>
        </p:nvSpPr>
        <p:spPr>
          <a:xfrm>
            <a:off x="1901951" y="1356927"/>
            <a:ext cx="4166465" cy="5231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ts val="2100"/>
              </a:lnSpc>
              <a:defRPr sz="1600">
                <a:solidFill>
                  <a:srgbClr val="141A3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What does the gradient of a velocity–time graph give you?</a:t>
            </a:r>
          </a:p>
        </p:txBody>
      </p:sp>
      <p:grpSp>
        <p:nvGrpSpPr>
          <p:cNvPr id="33" name="d0_a"/>
          <p:cNvGrpSpPr/>
          <p:nvPr/>
        </p:nvGrpSpPr>
        <p:grpSpPr>
          <a:xfrm>
            <a:off x="1371600" y="2048255"/>
            <a:ext cx="4696817" cy="438914"/>
            <a:chOff x="0" y="0"/>
            <a:chExt cx="4696816" cy="438912"/>
          </a:xfrm>
        </p:grpSpPr>
        <p:sp>
          <p:nvSpPr>
            <p:cNvPr id="31" name="Rounded Rectangle"/>
            <p:cNvSpPr/>
            <p:nvPr/>
          </p:nvSpPr>
          <p:spPr>
            <a:xfrm>
              <a:off x="0" y="0"/>
              <a:ext cx="4696817" cy="438913"/>
            </a:xfrm>
            <a:prstGeom prst="roundRect">
              <a:avLst>
                <a:gd name="adj" fmla="val 20833"/>
              </a:avLst>
            </a:prstGeom>
            <a:solidFill>
              <a:srgbClr val="FFEFE2"/>
            </a:solidFill>
            <a:ln w="16510" cap="flat">
              <a:solidFill>
                <a:srgbClr val="FF8A3D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1500"/>
              </a:pPr>
            </a:p>
          </p:txBody>
        </p:sp>
        <p:sp>
          <p:nvSpPr>
            <p:cNvPr id="32" name="The acceleration."/>
            <p:cNvSpPr txBox="1"/>
            <p:nvPr/>
          </p:nvSpPr>
          <p:spPr>
            <a:xfrm>
              <a:off x="35035" y="113606"/>
              <a:ext cx="4626746" cy="2117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1015" tIns="1015" rIns="1015" bIns="1015" numCol="1" anchor="ctr">
              <a:spAutoFit/>
            </a:bodyPr>
            <a:lstStyle>
              <a:lvl1pPr>
                <a:defRPr b="1" sz="1500">
                  <a:solidFill>
                    <a:srgbClr val="17203F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The acceleration.</a:t>
              </a:r>
            </a:p>
          </p:txBody>
        </p:sp>
      </p:grpSp>
      <p:sp>
        <p:nvSpPr>
          <p:cNvPr id="34" name="d1_bg"/>
          <p:cNvSpPr/>
          <p:nvPr/>
        </p:nvSpPr>
        <p:spPr>
          <a:xfrm>
            <a:off x="6543903" y="1133855"/>
            <a:ext cx="5099153" cy="1481329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 w="16510">
            <a:solidFill>
              <a:srgbClr val="D8DEE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5" name="d1_badge"/>
          <p:cNvSpPr/>
          <p:nvPr/>
        </p:nvSpPr>
        <p:spPr>
          <a:xfrm>
            <a:off x="6745072" y="1298447"/>
            <a:ext cx="384049" cy="384049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6" name="d1_num"/>
          <p:cNvSpPr txBox="1"/>
          <p:nvPr/>
        </p:nvSpPr>
        <p:spPr>
          <a:xfrm>
            <a:off x="6745072" y="1388871"/>
            <a:ext cx="384049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400">
                <a:solidFill>
                  <a:srgbClr val="17203F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37" name="d1_q"/>
          <p:cNvSpPr txBox="1"/>
          <p:nvPr/>
        </p:nvSpPr>
        <p:spPr>
          <a:xfrm>
            <a:off x="7275424" y="1490277"/>
            <a:ext cx="4166465" cy="2564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ts val="2100"/>
              </a:lnSpc>
              <a:defRPr sz="1600">
                <a:solidFill>
                  <a:srgbClr val="141A3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What is the unit of acceleration?</a:t>
            </a:r>
          </a:p>
        </p:txBody>
      </p:sp>
      <p:grpSp>
        <p:nvGrpSpPr>
          <p:cNvPr id="40" name="d1_a"/>
          <p:cNvGrpSpPr/>
          <p:nvPr/>
        </p:nvGrpSpPr>
        <p:grpSpPr>
          <a:xfrm>
            <a:off x="6745072" y="2048255"/>
            <a:ext cx="4696817" cy="438914"/>
            <a:chOff x="0" y="0"/>
            <a:chExt cx="4696816" cy="438912"/>
          </a:xfrm>
        </p:grpSpPr>
        <p:sp>
          <p:nvSpPr>
            <p:cNvPr id="38" name="Rounded Rectangle"/>
            <p:cNvSpPr/>
            <p:nvPr/>
          </p:nvSpPr>
          <p:spPr>
            <a:xfrm>
              <a:off x="0" y="0"/>
              <a:ext cx="4696817" cy="438913"/>
            </a:xfrm>
            <a:prstGeom prst="roundRect">
              <a:avLst>
                <a:gd name="adj" fmla="val 20833"/>
              </a:avLst>
            </a:prstGeom>
            <a:solidFill>
              <a:srgbClr val="FFEFE2"/>
            </a:solidFill>
            <a:ln w="16510" cap="flat">
              <a:solidFill>
                <a:srgbClr val="FF8A3D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1500"/>
              </a:pPr>
            </a:p>
          </p:txBody>
        </p:sp>
        <p:sp>
          <p:nvSpPr>
            <p:cNvPr id="39" name="m s⁻²"/>
            <p:cNvSpPr txBox="1"/>
            <p:nvPr/>
          </p:nvSpPr>
          <p:spPr>
            <a:xfrm>
              <a:off x="35035" y="104139"/>
              <a:ext cx="4626746" cy="2306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1015" tIns="1015" rIns="1015" bIns="1015" numCol="1" anchor="ctr">
              <a:spAutoFit/>
            </a:bodyPr>
            <a:lstStyle>
              <a:lvl1pPr>
                <a:defRPr b="1" sz="1500">
                  <a:solidFill>
                    <a:srgbClr val="17203F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m s⁻²</a:t>
              </a:r>
            </a:p>
          </p:txBody>
        </p:sp>
      </p:grpSp>
      <p:sp>
        <p:nvSpPr>
          <p:cNvPr id="41" name="d2_bg"/>
          <p:cNvSpPr/>
          <p:nvPr/>
        </p:nvSpPr>
        <p:spPr>
          <a:xfrm>
            <a:off x="1170432" y="2798064"/>
            <a:ext cx="5099152" cy="1481329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 w="16510">
            <a:solidFill>
              <a:srgbClr val="D8DEE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2" name="d2_badge"/>
          <p:cNvSpPr/>
          <p:nvPr/>
        </p:nvSpPr>
        <p:spPr>
          <a:xfrm>
            <a:off x="1371600" y="2962655"/>
            <a:ext cx="384048" cy="384049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3" name="d2_num"/>
          <p:cNvSpPr txBox="1"/>
          <p:nvPr/>
        </p:nvSpPr>
        <p:spPr>
          <a:xfrm>
            <a:off x="1371600" y="3053079"/>
            <a:ext cx="384048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400">
                <a:solidFill>
                  <a:srgbClr val="17203F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44" name="d2_q"/>
          <p:cNvSpPr txBox="1"/>
          <p:nvPr/>
        </p:nvSpPr>
        <p:spPr>
          <a:xfrm>
            <a:off x="1901951" y="3021135"/>
            <a:ext cx="4166465" cy="5231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ts val="2100"/>
              </a:lnSpc>
              <a:defRPr sz="1600">
                <a:solidFill>
                  <a:srgbClr val="141A3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 car accelerates at 4 m s⁻² for 3 s from rest. Find the final velocity.</a:t>
            </a:r>
          </a:p>
        </p:txBody>
      </p:sp>
      <p:grpSp>
        <p:nvGrpSpPr>
          <p:cNvPr id="47" name="d2_a"/>
          <p:cNvGrpSpPr/>
          <p:nvPr/>
        </p:nvGrpSpPr>
        <p:grpSpPr>
          <a:xfrm>
            <a:off x="1371600" y="3712464"/>
            <a:ext cx="4696817" cy="438913"/>
            <a:chOff x="0" y="0"/>
            <a:chExt cx="4696816" cy="438912"/>
          </a:xfrm>
        </p:grpSpPr>
        <p:sp>
          <p:nvSpPr>
            <p:cNvPr id="45" name="Rounded Rectangle"/>
            <p:cNvSpPr/>
            <p:nvPr/>
          </p:nvSpPr>
          <p:spPr>
            <a:xfrm>
              <a:off x="0" y="0"/>
              <a:ext cx="4696817" cy="438913"/>
            </a:xfrm>
            <a:prstGeom prst="roundRect">
              <a:avLst>
                <a:gd name="adj" fmla="val 20833"/>
              </a:avLst>
            </a:prstGeom>
            <a:solidFill>
              <a:srgbClr val="FFEFE2"/>
            </a:solidFill>
            <a:ln w="16510" cap="flat">
              <a:solidFill>
                <a:srgbClr val="FF8A3D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1500"/>
              </a:pPr>
            </a:p>
          </p:txBody>
        </p:sp>
        <p:sp>
          <p:nvSpPr>
            <p:cNvPr id="46" name="12 m s⁻¹"/>
            <p:cNvSpPr txBox="1"/>
            <p:nvPr/>
          </p:nvSpPr>
          <p:spPr>
            <a:xfrm>
              <a:off x="35035" y="104139"/>
              <a:ext cx="4626746" cy="2306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1015" tIns="1015" rIns="1015" bIns="1015" numCol="1" anchor="ctr">
              <a:spAutoFit/>
            </a:bodyPr>
            <a:lstStyle>
              <a:lvl1pPr>
                <a:defRPr b="1" sz="1500">
                  <a:solidFill>
                    <a:srgbClr val="17203F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12 m s⁻¹</a:t>
              </a:r>
            </a:p>
          </p:txBody>
        </p:sp>
      </p:grpSp>
      <p:sp>
        <p:nvSpPr>
          <p:cNvPr id="48" name="d3_bg"/>
          <p:cNvSpPr/>
          <p:nvPr/>
        </p:nvSpPr>
        <p:spPr>
          <a:xfrm>
            <a:off x="6543903" y="2798064"/>
            <a:ext cx="5099153" cy="1481329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 w="16510">
            <a:solidFill>
              <a:srgbClr val="D8DEE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9" name="d3_badge"/>
          <p:cNvSpPr/>
          <p:nvPr/>
        </p:nvSpPr>
        <p:spPr>
          <a:xfrm>
            <a:off x="6745072" y="2962655"/>
            <a:ext cx="384049" cy="384049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0" name="d3_num"/>
          <p:cNvSpPr txBox="1"/>
          <p:nvPr/>
        </p:nvSpPr>
        <p:spPr>
          <a:xfrm>
            <a:off x="6745072" y="3053079"/>
            <a:ext cx="384049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400">
                <a:solidFill>
                  <a:srgbClr val="17203F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51" name="d3_q"/>
          <p:cNvSpPr txBox="1"/>
          <p:nvPr/>
        </p:nvSpPr>
        <p:spPr>
          <a:xfrm>
            <a:off x="7275424" y="3154485"/>
            <a:ext cx="4166465" cy="2564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ts val="2100"/>
              </a:lnSpc>
              <a:defRPr sz="1600">
                <a:solidFill>
                  <a:srgbClr val="141A3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What is the unit of force?</a:t>
            </a:r>
          </a:p>
        </p:txBody>
      </p:sp>
      <p:grpSp>
        <p:nvGrpSpPr>
          <p:cNvPr id="54" name="d3_a"/>
          <p:cNvGrpSpPr/>
          <p:nvPr/>
        </p:nvGrpSpPr>
        <p:grpSpPr>
          <a:xfrm>
            <a:off x="6745072" y="3712464"/>
            <a:ext cx="4696817" cy="438913"/>
            <a:chOff x="0" y="0"/>
            <a:chExt cx="4696816" cy="438912"/>
          </a:xfrm>
        </p:grpSpPr>
        <p:sp>
          <p:nvSpPr>
            <p:cNvPr id="52" name="Rounded Rectangle"/>
            <p:cNvSpPr/>
            <p:nvPr/>
          </p:nvSpPr>
          <p:spPr>
            <a:xfrm>
              <a:off x="0" y="0"/>
              <a:ext cx="4696817" cy="438913"/>
            </a:xfrm>
            <a:prstGeom prst="roundRect">
              <a:avLst>
                <a:gd name="adj" fmla="val 20833"/>
              </a:avLst>
            </a:prstGeom>
            <a:solidFill>
              <a:srgbClr val="FFEFE2"/>
            </a:solidFill>
            <a:ln w="16510" cap="flat">
              <a:solidFill>
                <a:srgbClr val="FF8A3D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1500"/>
              </a:pPr>
            </a:p>
          </p:txBody>
        </p:sp>
        <p:sp>
          <p:nvSpPr>
            <p:cNvPr id="53" name="The newton (N)."/>
            <p:cNvSpPr txBox="1"/>
            <p:nvPr/>
          </p:nvSpPr>
          <p:spPr>
            <a:xfrm>
              <a:off x="35035" y="113606"/>
              <a:ext cx="4626746" cy="2117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1015" tIns="1015" rIns="1015" bIns="1015" numCol="1" anchor="ctr">
              <a:spAutoFit/>
            </a:bodyPr>
            <a:lstStyle>
              <a:lvl1pPr>
                <a:defRPr b="1" sz="1500">
                  <a:solidFill>
                    <a:srgbClr val="17203F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The newton (N).</a:t>
              </a:r>
            </a:p>
          </p:txBody>
        </p:sp>
      </p:grpSp>
      <p:sp>
        <p:nvSpPr>
          <p:cNvPr id="55" name="d4_bg"/>
          <p:cNvSpPr/>
          <p:nvPr/>
        </p:nvSpPr>
        <p:spPr>
          <a:xfrm>
            <a:off x="1170432" y="4462271"/>
            <a:ext cx="5099152" cy="1481329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 w="16510">
            <a:solidFill>
              <a:srgbClr val="D8DEE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6" name="d4_badge"/>
          <p:cNvSpPr/>
          <p:nvPr/>
        </p:nvSpPr>
        <p:spPr>
          <a:xfrm>
            <a:off x="1371600" y="4626864"/>
            <a:ext cx="384048" cy="384049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7" name="d4_num"/>
          <p:cNvSpPr txBox="1"/>
          <p:nvPr/>
        </p:nvSpPr>
        <p:spPr>
          <a:xfrm>
            <a:off x="1371600" y="4717288"/>
            <a:ext cx="384048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400">
                <a:solidFill>
                  <a:srgbClr val="17203F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5</a:t>
            </a:r>
          </a:p>
        </p:txBody>
      </p:sp>
      <p:sp>
        <p:nvSpPr>
          <p:cNvPr id="58" name="d4_q"/>
          <p:cNvSpPr txBox="1"/>
          <p:nvPr/>
        </p:nvSpPr>
        <p:spPr>
          <a:xfrm>
            <a:off x="1901951" y="4818693"/>
            <a:ext cx="4166465" cy="2564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ts val="2100"/>
              </a:lnSpc>
              <a:defRPr sz="1600">
                <a:solidFill>
                  <a:srgbClr val="141A3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What tool measures force directly?</a:t>
            </a:r>
          </a:p>
        </p:txBody>
      </p:sp>
      <p:grpSp>
        <p:nvGrpSpPr>
          <p:cNvPr id="61" name="d4_a"/>
          <p:cNvGrpSpPr/>
          <p:nvPr/>
        </p:nvGrpSpPr>
        <p:grpSpPr>
          <a:xfrm>
            <a:off x="1371600" y="5376671"/>
            <a:ext cx="4696817" cy="438913"/>
            <a:chOff x="0" y="0"/>
            <a:chExt cx="4696816" cy="438912"/>
          </a:xfrm>
        </p:grpSpPr>
        <p:sp>
          <p:nvSpPr>
            <p:cNvPr id="59" name="Rounded Rectangle"/>
            <p:cNvSpPr/>
            <p:nvPr/>
          </p:nvSpPr>
          <p:spPr>
            <a:xfrm>
              <a:off x="0" y="0"/>
              <a:ext cx="4696817" cy="438913"/>
            </a:xfrm>
            <a:prstGeom prst="roundRect">
              <a:avLst>
                <a:gd name="adj" fmla="val 20833"/>
              </a:avLst>
            </a:prstGeom>
            <a:solidFill>
              <a:srgbClr val="FFEFE2"/>
            </a:solidFill>
            <a:ln w="16510" cap="flat">
              <a:solidFill>
                <a:srgbClr val="FF8A3D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1500"/>
              </a:pPr>
            </a:p>
          </p:txBody>
        </p:sp>
        <p:sp>
          <p:nvSpPr>
            <p:cNvPr id="60" name="A newtonmeter."/>
            <p:cNvSpPr txBox="1"/>
            <p:nvPr/>
          </p:nvSpPr>
          <p:spPr>
            <a:xfrm>
              <a:off x="35035" y="113606"/>
              <a:ext cx="4626746" cy="2117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1015" tIns="1015" rIns="1015" bIns="1015" numCol="1" anchor="ctr">
              <a:spAutoFit/>
            </a:bodyPr>
            <a:lstStyle>
              <a:lvl1pPr>
                <a:defRPr b="1" sz="1500">
                  <a:solidFill>
                    <a:srgbClr val="17203F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A newtonmeter.</a:t>
              </a:r>
            </a:p>
          </p:txBody>
        </p:sp>
      </p:grpSp>
      <p:sp>
        <p:nvSpPr>
          <p:cNvPr id="62" name="d5_bg"/>
          <p:cNvSpPr/>
          <p:nvPr/>
        </p:nvSpPr>
        <p:spPr>
          <a:xfrm>
            <a:off x="6543903" y="4462271"/>
            <a:ext cx="5099153" cy="1481329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 w="16510">
            <a:solidFill>
              <a:srgbClr val="D8DEE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63" name="d5_badge"/>
          <p:cNvSpPr/>
          <p:nvPr/>
        </p:nvSpPr>
        <p:spPr>
          <a:xfrm>
            <a:off x="6745072" y="4626864"/>
            <a:ext cx="384049" cy="384049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64" name="d5_num"/>
          <p:cNvSpPr txBox="1"/>
          <p:nvPr/>
        </p:nvSpPr>
        <p:spPr>
          <a:xfrm>
            <a:off x="6745072" y="4717288"/>
            <a:ext cx="384049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400">
                <a:solidFill>
                  <a:srgbClr val="17203F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6</a:t>
            </a:r>
          </a:p>
        </p:txBody>
      </p:sp>
      <p:sp>
        <p:nvSpPr>
          <p:cNvPr id="65" name="d5_q"/>
          <p:cNvSpPr txBox="1"/>
          <p:nvPr/>
        </p:nvSpPr>
        <p:spPr>
          <a:xfrm>
            <a:off x="7275424" y="4685343"/>
            <a:ext cx="4166465" cy="5231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ts val="2100"/>
              </a:lnSpc>
              <a:defRPr sz="1600">
                <a:solidFill>
                  <a:srgbClr val="141A3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 = u + at came from the gradient of which graph?</a:t>
            </a:r>
          </a:p>
        </p:txBody>
      </p:sp>
      <p:grpSp>
        <p:nvGrpSpPr>
          <p:cNvPr id="68" name="d5_a"/>
          <p:cNvGrpSpPr/>
          <p:nvPr/>
        </p:nvGrpSpPr>
        <p:grpSpPr>
          <a:xfrm>
            <a:off x="6745072" y="5376671"/>
            <a:ext cx="4696817" cy="438913"/>
            <a:chOff x="0" y="0"/>
            <a:chExt cx="4696816" cy="438912"/>
          </a:xfrm>
        </p:grpSpPr>
        <p:sp>
          <p:nvSpPr>
            <p:cNvPr id="66" name="Rounded Rectangle"/>
            <p:cNvSpPr/>
            <p:nvPr/>
          </p:nvSpPr>
          <p:spPr>
            <a:xfrm>
              <a:off x="0" y="0"/>
              <a:ext cx="4696817" cy="438913"/>
            </a:xfrm>
            <a:prstGeom prst="roundRect">
              <a:avLst>
                <a:gd name="adj" fmla="val 20833"/>
              </a:avLst>
            </a:prstGeom>
            <a:solidFill>
              <a:srgbClr val="FFEFE2"/>
            </a:solidFill>
            <a:ln w="16510" cap="flat">
              <a:solidFill>
                <a:srgbClr val="FF8A3D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1500"/>
              </a:pPr>
            </a:p>
          </p:txBody>
        </p:sp>
        <p:sp>
          <p:nvSpPr>
            <p:cNvPr id="67" name="A velocity–time graph."/>
            <p:cNvSpPr txBox="1"/>
            <p:nvPr/>
          </p:nvSpPr>
          <p:spPr>
            <a:xfrm>
              <a:off x="35035" y="113606"/>
              <a:ext cx="4626746" cy="2117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1015" tIns="1015" rIns="1015" bIns="1015" numCol="1" anchor="ctr">
              <a:spAutoFit/>
            </a:bodyPr>
            <a:lstStyle>
              <a:lvl1pPr>
                <a:defRPr b="1" sz="1500">
                  <a:solidFill>
                    <a:srgbClr val="17203F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A velocity–time graph.</a:t>
              </a:r>
            </a:p>
          </p:txBody>
        </p:sp>
      </p:grp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  <p:cond evt="onBegin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mediacall" nodeType="afterEffect" presetSubtype="0" presetID="1" grpId="1" fill="hold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00000" fill="hold"/>
                                        <p:tgtEl>
                                          <p:spTgt spid="2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Class="entr" nodeType="clickEffect" presetSubtype="8" presetID="22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>
                                        <p:cTn id="11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Class="entr" nodeType="clickEffect" presetSubtype="8" presetID="22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5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>
                                        <p:cTn id="16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Class="entr" nodeType="clickEffect" presetSubtype="8" presetID="22" grpId="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>
                                        <p:cTn id="21" dur="4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Class="entr" nodeType="clickEffect" presetSubtype="8" presetID="22" grpId="5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5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>
                                        <p:cTn id="26" dur="4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Class="entr" nodeType="clickEffect" presetSubtype="8" presetID="22" grpId="6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>
                                        <p:cTn id="31" dur="4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Class="entr" nodeType="clickEffect" presetSubtype="8" presetID="22" grpId="7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5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>
                                        <p:cTn id="36" dur="4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  <p:video fullScrn="0">
              <p:cMediaNode mute="0" showWhenStopped="1" numSld="1" vol="0">
                <p:cTn id="37" fill="hold" display="0">
                  <p:stCondLst>
                    <p:cond delay="indefinite"/>
                  </p:stCondLst>
                </p:cTn>
                <p:tgtEl>
                  <p:spTgt spid="20"/>
                </p:tgtEl>
              </p:cMediaNode>
            </p:video>
            <p:seq concurrent="1" prevAc="none" nextAc="seek">
              <p:cTn id="38" evtFilter="cancelBubble" nodeType="interactiveSeq" restart="whenNotActive" fill="hold">
                <p:stCondLst>
                  <p:cond delay="0" evt="onClick">
                    <p:tgtEl>
                      <p:spTgt spid="20"/>
                    </p:tgtEl>
                  </p:cond>
                </p:stCondLst>
                <p:endSync delay="0" evt="end">
                  <p:rtn val="all"/>
                </p:endSync>
                <p:childTnLst>
                  <p:par>
                    <p:cTn id="39" fill="hold">
                      <p:stCondLst>
                        <p:cond delay="0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Class="mediacall" nodeType="clickEffect" presetSubtype="0" presetID="2" fill="hold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42" dur="1" fill="hold"/>
                                        <p:tgtEl>
                                          <p:spTgt spid="2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delay="0" evt="onClick">
                  <p:tgtEl>
                    <p:spTgt spid="20"/>
                  </p:tgtEl>
                </p:cond>
              </p:nextCondLst>
            </p:seq>
          </p:childTnLst>
        </p:cTn>
      </p:par>
    </p:tnLst>
    <p:bldLst>
      <p:bldP build="whole" bldLvl="1" animBg="1" rev="0" advAuto="0" spid="68" grpId="7"/>
      <p:bldP build="whole" bldLvl="1" animBg="1" rev="0" advAuto="0" spid="54" grpId="5"/>
      <p:bldP build="whole" bldLvl="1" animBg="1" rev="0" advAuto="0" spid="33" grpId="2"/>
      <p:bldP build="whole" bldLvl="1" animBg="1" rev="0" advAuto="0" spid="47" grpId="4"/>
      <p:bldP build="whole" bldLvl="1" animBg="1" rev="0" advAuto="0" spid="40" grpId="3"/>
      <p:bldP build="whole" bldLvl="1" animBg="1" rev="0" advAuto="0" spid="61" grpId="6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2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timer_video" descr="timer_video"/>
          <p:cNvPicPr>
            <a:picLocks noChangeAspect="0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5">
            <a:extLst/>
          </a:blip>
          <a:stretch>
            <a:fillRect/>
          </a:stretch>
        </p:blipFill>
        <p:spPr>
          <a:xfrm>
            <a:off x="310895" y="310895"/>
            <a:ext cx="457201" cy="6236210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75" name="phase_pill"/>
          <p:cNvGrpSpPr/>
          <p:nvPr/>
        </p:nvGrpSpPr>
        <p:grpSpPr>
          <a:xfrm>
            <a:off x="1170432" y="310895"/>
            <a:ext cx="1713586" cy="329185"/>
            <a:chOff x="0" y="0"/>
            <a:chExt cx="1713585" cy="329184"/>
          </a:xfrm>
        </p:grpSpPr>
        <p:sp>
          <p:nvSpPr>
            <p:cNvPr id="73" name="Rounded Rectangle"/>
            <p:cNvSpPr/>
            <p:nvPr/>
          </p:nvSpPr>
          <p:spPr>
            <a:xfrm>
              <a:off x="0" y="0"/>
              <a:ext cx="1713586" cy="329185"/>
            </a:xfrm>
            <a:prstGeom prst="roundRect">
              <a:avLst>
                <a:gd name="adj" fmla="val 44444"/>
              </a:avLst>
            </a:prstGeom>
            <a:solidFill>
              <a:srgbClr val="17203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1100"/>
              </a:pPr>
            </a:p>
          </p:txBody>
        </p:sp>
        <p:sp>
          <p:nvSpPr>
            <p:cNvPr id="74" name="TODAY · 1 MIN"/>
            <p:cNvSpPr txBox="1"/>
            <p:nvPr/>
          </p:nvSpPr>
          <p:spPr>
            <a:xfrm>
              <a:off x="42850" y="90677"/>
              <a:ext cx="1627885" cy="14783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>
                <a:defRPr b="1" spc="120" sz="11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TODAY · 1 MIN</a:t>
              </a:r>
            </a:p>
          </p:txBody>
        </p:sp>
      </p:grpSp>
      <p:sp>
        <p:nvSpPr>
          <p:cNvPr id="76" name="slide_title"/>
          <p:cNvSpPr txBox="1"/>
          <p:nvPr/>
        </p:nvSpPr>
        <p:spPr>
          <a:xfrm>
            <a:off x="1170432" y="965707"/>
            <a:ext cx="10472623" cy="482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3400">
                <a:solidFill>
                  <a:srgbClr val="17203F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Learning Objectives</a:t>
            </a:r>
          </a:p>
        </p:txBody>
      </p:sp>
      <p:grpSp>
        <p:nvGrpSpPr>
          <p:cNvPr id="81" name="o0"/>
          <p:cNvGrpSpPr/>
          <p:nvPr/>
        </p:nvGrpSpPr>
        <p:grpSpPr>
          <a:xfrm>
            <a:off x="1170432" y="2194560"/>
            <a:ext cx="3307994" cy="1792224"/>
            <a:chOff x="0" y="0"/>
            <a:chExt cx="3307993" cy="1792223"/>
          </a:xfrm>
        </p:grpSpPr>
        <p:sp>
          <p:nvSpPr>
            <p:cNvPr id="77" name="o0_bg"/>
            <p:cNvSpPr/>
            <p:nvPr/>
          </p:nvSpPr>
          <p:spPr>
            <a:xfrm>
              <a:off x="0" y="0"/>
              <a:ext cx="3307994" cy="1792224"/>
            </a:xfrm>
            <a:prstGeom prst="roundRect">
              <a:avLst>
                <a:gd name="adj" fmla="val 5102"/>
              </a:avLst>
            </a:prstGeom>
            <a:solidFill>
              <a:srgbClr val="FFFFFF"/>
            </a:solidFill>
            <a:ln w="16510" cap="flat">
              <a:solidFill>
                <a:srgbClr val="D8DEEC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78" name="o0_badge"/>
            <p:cNvSpPr/>
            <p:nvPr/>
          </p:nvSpPr>
          <p:spPr>
            <a:xfrm>
              <a:off x="237744" y="201168"/>
              <a:ext cx="384049" cy="384049"/>
            </a:xfrm>
            <a:prstGeom prst="ellipse">
              <a:avLst/>
            </a:prstGeom>
            <a:solidFill>
              <a:srgbClr val="FF8A3D"/>
            </a:solidFill>
            <a:ln w="12700" cap="flat">
              <a:solidFill>
                <a:srgbClr val="FF8A3D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79" name="o0_num"/>
            <p:cNvSpPr txBox="1"/>
            <p:nvPr/>
          </p:nvSpPr>
          <p:spPr>
            <a:xfrm>
              <a:off x="237744" y="291591"/>
              <a:ext cx="384048" cy="2032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>
                <a:defRPr b="1" sz="1400">
                  <a:solidFill>
                    <a:srgbClr val="17203F"/>
                  </a:solidFill>
                  <a:latin typeface="Georgia"/>
                  <a:ea typeface="Georgia"/>
                  <a:cs typeface="Georgia"/>
                  <a:sym typeface="Georgia"/>
                </a:defRPr>
              </a:lvl1pPr>
            </a:lstStyle>
            <a:p>
              <a:pPr/>
              <a:r>
                <a:t>1</a:t>
              </a:r>
            </a:p>
          </p:txBody>
        </p:sp>
        <p:sp>
          <p:nvSpPr>
            <p:cNvPr id="80" name="o0_t"/>
            <p:cNvSpPr txBox="1"/>
            <p:nvPr/>
          </p:nvSpPr>
          <p:spPr>
            <a:xfrm>
              <a:off x="237744" y="713231"/>
              <a:ext cx="2832506" cy="25642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lnSpc>
                  <a:spcPts val="2100"/>
                </a:lnSpc>
                <a:defRPr b="1" sz="1600">
                  <a:solidFill>
                    <a:srgbClr val="141A3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Say what mass measures.</a:t>
              </a:r>
            </a:p>
          </p:txBody>
        </p:sp>
      </p:grpSp>
      <p:grpSp>
        <p:nvGrpSpPr>
          <p:cNvPr id="86" name="o1"/>
          <p:cNvGrpSpPr/>
          <p:nvPr/>
        </p:nvGrpSpPr>
        <p:grpSpPr>
          <a:xfrm>
            <a:off x="4752745" y="2194560"/>
            <a:ext cx="3307995" cy="1792224"/>
            <a:chOff x="0" y="0"/>
            <a:chExt cx="3307993" cy="1792223"/>
          </a:xfrm>
        </p:grpSpPr>
        <p:sp>
          <p:nvSpPr>
            <p:cNvPr id="82" name="o1_bg"/>
            <p:cNvSpPr/>
            <p:nvPr/>
          </p:nvSpPr>
          <p:spPr>
            <a:xfrm>
              <a:off x="0" y="0"/>
              <a:ext cx="3307994" cy="1792224"/>
            </a:xfrm>
            <a:prstGeom prst="roundRect">
              <a:avLst>
                <a:gd name="adj" fmla="val 5102"/>
              </a:avLst>
            </a:prstGeom>
            <a:solidFill>
              <a:srgbClr val="FFFFFF"/>
            </a:solidFill>
            <a:ln w="16510" cap="flat">
              <a:solidFill>
                <a:srgbClr val="D8DEEC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83" name="o1_badge"/>
            <p:cNvSpPr/>
            <p:nvPr/>
          </p:nvSpPr>
          <p:spPr>
            <a:xfrm>
              <a:off x="237744" y="201168"/>
              <a:ext cx="384049" cy="384049"/>
            </a:xfrm>
            <a:prstGeom prst="ellipse">
              <a:avLst/>
            </a:prstGeom>
            <a:solidFill>
              <a:srgbClr val="FF8A3D"/>
            </a:solidFill>
            <a:ln w="12700" cap="flat">
              <a:solidFill>
                <a:srgbClr val="FF8A3D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84" name="o1_num"/>
            <p:cNvSpPr txBox="1"/>
            <p:nvPr/>
          </p:nvSpPr>
          <p:spPr>
            <a:xfrm>
              <a:off x="237744" y="291591"/>
              <a:ext cx="384048" cy="2032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>
                <a:defRPr b="1" sz="1400">
                  <a:solidFill>
                    <a:srgbClr val="17203F"/>
                  </a:solidFill>
                  <a:latin typeface="Georgia"/>
                  <a:ea typeface="Georgia"/>
                  <a:cs typeface="Georgia"/>
                  <a:sym typeface="Georgia"/>
                </a:defRPr>
              </a:lvl1pPr>
            </a:lstStyle>
            <a:p>
              <a:pPr/>
              <a:r>
                <a:t>2</a:t>
              </a:r>
            </a:p>
          </p:txBody>
        </p:sp>
        <p:sp>
          <p:nvSpPr>
            <p:cNvPr id="85" name="o1_t"/>
            <p:cNvSpPr txBox="1"/>
            <p:nvPr/>
          </p:nvSpPr>
          <p:spPr>
            <a:xfrm>
              <a:off x="237744" y="713231"/>
              <a:ext cx="2832506" cy="25642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lnSpc>
                  <a:spcPts val="2100"/>
                </a:lnSpc>
                <a:defRPr b="1" sz="1600">
                  <a:solidFill>
                    <a:srgbClr val="141A3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Say what weight measures.</a:t>
              </a:r>
            </a:p>
          </p:txBody>
        </p:sp>
      </p:grpSp>
      <p:grpSp>
        <p:nvGrpSpPr>
          <p:cNvPr id="91" name="o2"/>
          <p:cNvGrpSpPr/>
          <p:nvPr/>
        </p:nvGrpSpPr>
        <p:grpSpPr>
          <a:xfrm>
            <a:off x="8335061" y="2194560"/>
            <a:ext cx="3307994" cy="1792224"/>
            <a:chOff x="0" y="0"/>
            <a:chExt cx="3307993" cy="1792223"/>
          </a:xfrm>
        </p:grpSpPr>
        <p:sp>
          <p:nvSpPr>
            <p:cNvPr id="87" name="o2_bg"/>
            <p:cNvSpPr/>
            <p:nvPr/>
          </p:nvSpPr>
          <p:spPr>
            <a:xfrm>
              <a:off x="0" y="0"/>
              <a:ext cx="3307994" cy="1792224"/>
            </a:xfrm>
            <a:prstGeom prst="roundRect">
              <a:avLst>
                <a:gd name="adj" fmla="val 5102"/>
              </a:avLst>
            </a:prstGeom>
            <a:solidFill>
              <a:srgbClr val="FFFFFF"/>
            </a:solidFill>
            <a:ln w="16510" cap="flat">
              <a:solidFill>
                <a:srgbClr val="D8DEEC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88" name="o2_badge"/>
            <p:cNvSpPr/>
            <p:nvPr/>
          </p:nvSpPr>
          <p:spPr>
            <a:xfrm>
              <a:off x="237744" y="201168"/>
              <a:ext cx="384049" cy="384049"/>
            </a:xfrm>
            <a:prstGeom prst="ellipse">
              <a:avLst/>
            </a:prstGeom>
            <a:solidFill>
              <a:srgbClr val="FF8A3D"/>
            </a:solidFill>
            <a:ln w="12700" cap="flat">
              <a:solidFill>
                <a:srgbClr val="FF8A3D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89" name="o2_num"/>
            <p:cNvSpPr txBox="1"/>
            <p:nvPr/>
          </p:nvSpPr>
          <p:spPr>
            <a:xfrm>
              <a:off x="237744" y="291591"/>
              <a:ext cx="384048" cy="2032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>
                <a:defRPr b="1" sz="1400">
                  <a:solidFill>
                    <a:srgbClr val="17203F"/>
                  </a:solidFill>
                  <a:latin typeface="Georgia"/>
                  <a:ea typeface="Georgia"/>
                  <a:cs typeface="Georgia"/>
                  <a:sym typeface="Georgia"/>
                </a:defRPr>
              </a:lvl1pPr>
            </a:lstStyle>
            <a:p>
              <a:pPr/>
              <a:r>
                <a:t>3</a:t>
              </a:r>
            </a:p>
          </p:txBody>
        </p:sp>
        <p:sp>
          <p:nvSpPr>
            <p:cNvPr id="90" name="o2_t"/>
            <p:cNvSpPr txBox="1"/>
            <p:nvPr/>
          </p:nvSpPr>
          <p:spPr>
            <a:xfrm>
              <a:off x="237744" y="713231"/>
              <a:ext cx="2832506" cy="52312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lnSpc>
                  <a:spcPts val="2100"/>
                </a:lnSpc>
                <a:defRPr b="1" sz="1600">
                  <a:solidFill>
                    <a:srgbClr val="141A3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Use g = W ÷ m, with g ≈ 9.8 N/kg.</a:t>
              </a:r>
            </a:p>
          </p:txBody>
        </p:sp>
      </p:grpSp>
      <p:grpSp>
        <p:nvGrpSpPr>
          <p:cNvPr id="94" name="obj_banner"/>
          <p:cNvGrpSpPr/>
          <p:nvPr/>
        </p:nvGrpSpPr>
        <p:grpSpPr>
          <a:xfrm>
            <a:off x="1170432" y="4279391"/>
            <a:ext cx="10472623" cy="640081"/>
            <a:chOff x="0" y="0"/>
            <a:chExt cx="10472622" cy="640080"/>
          </a:xfrm>
        </p:grpSpPr>
        <p:sp>
          <p:nvSpPr>
            <p:cNvPr id="92" name="Rounded Rectangle"/>
            <p:cNvSpPr/>
            <p:nvPr/>
          </p:nvSpPr>
          <p:spPr>
            <a:xfrm>
              <a:off x="0" y="0"/>
              <a:ext cx="10472623" cy="640081"/>
            </a:xfrm>
            <a:prstGeom prst="roundRect">
              <a:avLst>
                <a:gd name="adj" fmla="val 17143"/>
              </a:avLst>
            </a:prstGeom>
            <a:solidFill>
              <a:srgbClr val="17203F"/>
            </a:solidFill>
            <a:ln w="9525" cap="flat">
              <a:solidFill>
                <a:srgbClr val="17203F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1600"/>
              </a:pPr>
            </a:p>
          </p:txBody>
        </p:sp>
        <p:sp>
          <p:nvSpPr>
            <p:cNvPr id="93" name="Same amount of stuff, different amount of pull."/>
            <p:cNvSpPr txBox="1"/>
            <p:nvPr/>
          </p:nvSpPr>
          <p:spPr>
            <a:xfrm>
              <a:off x="36901" y="209063"/>
              <a:ext cx="10398821" cy="22195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>
                <a:defRPr b="1" sz="1600">
                  <a:solidFill>
                    <a:srgbClr val="FF8A3D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Same amount of stuff, different amount of pull.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  <p:cond evt="onBegin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mediacall" nodeType="afterEffect" presetSubtype="0" presetID="1" grpId="1" fill="hold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0000" fill="hold"/>
                                        <p:tgtEl>
                                          <p:spTgt spid="7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Class="entr" nodeType="clickEffect" presetID="10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1" dur="4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Class="entr" nodeType="clickEffect" presetID="10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5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6" dur="4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Class="entr" nodeType="clickEffect" presetID="10" grpId="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21" dur="4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Class="entr" nodeType="clickEffect" presetSubtype="16" presetID="23" grpId="5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5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4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4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  <p:video fullScrn="0">
              <p:cMediaNode mute="0" showWhenStopped="1" numSld="1" vol="0">
                <p:cTn id="28" fill="hold" display="0">
                  <p:stCondLst>
                    <p:cond delay="indefinite"/>
                  </p:stCondLst>
                </p:cTn>
                <p:tgtEl>
                  <p:spTgt spid="72"/>
                </p:tgtEl>
              </p:cMediaNode>
            </p:video>
            <p:seq concurrent="1" prevAc="none" nextAc="seek">
              <p:cTn id="29" evtFilter="cancelBubble" nodeType="interactiveSeq" restart="whenNotActive" fill="hold">
                <p:stCondLst>
                  <p:cond delay="0" evt="onClick">
                    <p:tgtEl>
                      <p:spTgt spid="72"/>
                    </p:tgtEl>
                  </p:cond>
                </p:stCondLst>
                <p:endSync delay="0" evt="end">
                  <p:rtn val="all"/>
                </p:endSync>
                <p:childTnLst>
                  <p:par>
                    <p:cTn id="30" fill="hold">
                      <p:stCondLst>
                        <p:cond delay="0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Class="mediacall" nodeType="clickEffect" presetSubtype="0" presetID="2" fill="hold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33" dur="1" fill="hold"/>
                                        <p:tgtEl>
                                          <p:spTgt spid="7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delay="0" evt="onClick">
                  <p:tgtEl>
                    <p:spTgt spid="72"/>
                  </p:tgtEl>
                </p:cond>
              </p:nextCondLst>
            </p:seq>
          </p:childTnLst>
        </p:cTn>
      </p:par>
    </p:tnLst>
    <p:bldLst>
      <p:bldP build="whole" bldLvl="1" animBg="1" rev="0" advAuto="0" spid="94" grpId="5"/>
      <p:bldP build="whole" bldLvl="1" animBg="1" rev="0" advAuto="0" spid="81" grpId="2"/>
      <p:bldP build="whole" bldLvl="1" animBg="1" rev="0" advAuto="0" spid="86" grpId="3"/>
      <p:bldP build="whole" bldLvl="1" animBg="1" rev="0" advAuto="0" spid="91" grpId="4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2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timer_video" descr="timer_video"/>
          <p:cNvPicPr>
            <a:picLocks noChangeAspect="0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5">
            <a:extLst/>
          </a:blip>
          <a:stretch>
            <a:fillRect/>
          </a:stretch>
        </p:blipFill>
        <p:spPr>
          <a:xfrm>
            <a:off x="310895" y="310895"/>
            <a:ext cx="457201" cy="6236210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101" name="phase_pill"/>
          <p:cNvGrpSpPr/>
          <p:nvPr/>
        </p:nvGrpSpPr>
        <p:grpSpPr>
          <a:xfrm>
            <a:off x="1170432" y="310895"/>
            <a:ext cx="1623975" cy="329185"/>
            <a:chOff x="0" y="0"/>
            <a:chExt cx="1623974" cy="329184"/>
          </a:xfrm>
        </p:grpSpPr>
        <p:sp>
          <p:nvSpPr>
            <p:cNvPr id="99" name="Rounded Rectangle"/>
            <p:cNvSpPr/>
            <p:nvPr/>
          </p:nvSpPr>
          <p:spPr>
            <a:xfrm>
              <a:off x="0" y="0"/>
              <a:ext cx="1623975" cy="329185"/>
            </a:xfrm>
            <a:prstGeom prst="roundRect">
              <a:avLst>
                <a:gd name="adj" fmla="val 44444"/>
              </a:avLst>
            </a:prstGeom>
            <a:solidFill>
              <a:srgbClr val="17203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1100"/>
              </a:pPr>
            </a:p>
          </p:txBody>
        </p:sp>
        <p:sp>
          <p:nvSpPr>
            <p:cNvPr id="100" name="HOOK · 2 MIN"/>
            <p:cNvSpPr txBox="1"/>
            <p:nvPr/>
          </p:nvSpPr>
          <p:spPr>
            <a:xfrm>
              <a:off x="42851" y="90677"/>
              <a:ext cx="1538272" cy="14783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>
                <a:defRPr b="1" spc="120" sz="11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HOOK · 2 MIN</a:t>
              </a:r>
            </a:p>
          </p:txBody>
        </p:sp>
      </p:grpSp>
      <p:sp>
        <p:nvSpPr>
          <p:cNvPr id="102" name="slide_title"/>
          <p:cNvSpPr txBox="1"/>
          <p:nvPr/>
        </p:nvSpPr>
        <p:spPr>
          <a:xfrm>
            <a:off x="1170432" y="1015666"/>
            <a:ext cx="10472623" cy="5472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ts val="4400"/>
              </a:lnSpc>
              <a:defRPr b="1" sz="3600">
                <a:solidFill>
                  <a:srgbClr val="17203F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"I weigh 60 kg."</a:t>
            </a:r>
          </a:p>
        </p:txBody>
      </p:sp>
      <p:sp>
        <p:nvSpPr>
          <p:cNvPr id="103" name="slide_sub"/>
          <p:cNvSpPr txBox="1"/>
          <p:nvPr/>
        </p:nvSpPr>
        <p:spPr>
          <a:xfrm>
            <a:off x="1170432" y="1872925"/>
            <a:ext cx="10472623" cy="2592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>
                <a:solidFill>
                  <a:srgbClr val="5A64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What is wrong with this sentence?</a:t>
            </a:r>
          </a:p>
        </p:txBody>
      </p:sp>
      <p:grpSp>
        <p:nvGrpSpPr>
          <p:cNvPr id="107" name="h0"/>
          <p:cNvGrpSpPr/>
          <p:nvPr/>
        </p:nvGrpSpPr>
        <p:grpSpPr>
          <a:xfrm>
            <a:off x="1170432" y="2487167"/>
            <a:ext cx="3307994" cy="1554481"/>
            <a:chOff x="0" y="0"/>
            <a:chExt cx="3307993" cy="1554480"/>
          </a:xfrm>
        </p:grpSpPr>
        <p:sp>
          <p:nvSpPr>
            <p:cNvPr id="104" name="h0_bg"/>
            <p:cNvSpPr/>
            <p:nvPr/>
          </p:nvSpPr>
          <p:spPr>
            <a:xfrm>
              <a:off x="0" y="0"/>
              <a:ext cx="3307994" cy="1554481"/>
            </a:xfrm>
            <a:prstGeom prst="roundRect">
              <a:avLst>
                <a:gd name="adj" fmla="val 5882"/>
              </a:avLst>
            </a:prstGeom>
            <a:solidFill>
              <a:srgbClr val="FFFFFF"/>
            </a:solidFill>
            <a:ln w="16510" cap="flat">
              <a:solidFill>
                <a:srgbClr val="D8DEEC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05" name="h0_k"/>
            <p:cNvSpPr txBox="1"/>
            <p:nvPr/>
          </p:nvSpPr>
          <p:spPr>
            <a:xfrm>
              <a:off x="256032" y="239268"/>
              <a:ext cx="548640" cy="3810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>
                <a:defRPr b="1" sz="2600">
                  <a:solidFill>
                    <a:srgbClr val="E03D6B"/>
                  </a:solidFill>
                  <a:latin typeface="Georgia"/>
                  <a:ea typeface="Georgia"/>
                  <a:cs typeface="Georgia"/>
                  <a:sym typeface="Georgia"/>
                </a:defRPr>
              </a:lvl1pPr>
            </a:lstStyle>
            <a:p>
              <a:pPr/>
              <a:r>
                <a:t>A</a:t>
              </a:r>
            </a:p>
          </p:txBody>
        </p:sp>
        <p:sp>
          <p:nvSpPr>
            <p:cNvPr id="106" name="h0_t"/>
            <p:cNvSpPr txBox="1"/>
            <p:nvPr/>
          </p:nvSpPr>
          <p:spPr>
            <a:xfrm>
              <a:off x="256032" y="848061"/>
              <a:ext cx="2795930" cy="26069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>
                <a:lnSpc>
                  <a:spcPts val="2100"/>
                </a:lnSpc>
                <a:defRPr b="1" sz="1700">
                  <a:solidFill>
                    <a:srgbClr val="17203F"/>
                  </a:solidFill>
                  <a:latin typeface="Georgia"/>
                  <a:ea typeface="Georgia"/>
                  <a:cs typeface="Georgia"/>
                  <a:sym typeface="Georgia"/>
                </a:defRPr>
              </a:lvl1pPr>
            </a:lstStyle>
            <a:p>
              <a:pPr/>
              <a:r>
                <a:t>Nothing.</a:t>
              </a:r>
            </a:p>
          </p:txBody>
        </p:sp>
      </p:grpSp>
      <p:grpSp>
        <p:nvGrpSpPr>
          <p:cNvPr id="111" name="h1"/>
          <p:cNvGrpSpPr/>
          <p:nvPr/>
        </p:nvGrpSpPr>
        <p:grpSpPr>
          <a:xfrm>
            <a:off x="4752745" y="2487167"/>
            <a:ext cx="3307995" cy="1554481"/>
            <a:chOff x="0" y="0"/>
            <a:chExt cx="3307993" cy="1554480"/>
          </a:xfrm>
        </p:grpSpPr>
        <p:sp>
          <p:nvSpPr>
            <p:cNvPr id="108" name="h1_bg"/>
            <p:cNvSpPr/>
            <p:nvPr/>
          </p:nvSpPr>
          <p:spPr>
            <a:xfrm>
              <a:off x="0" y="0"/>
              <a:ext cx="3307994" cy="1554481"/>
            </a:xfrm>
            <a:prstGeom prst="roundRect">
              <a:avLst>
                <a:gd name="adj" fmla="val 5882"/>
              </a:avLst>
            </a:prstGeom>
            <a:solidFill>
              <a:srgbClr val="FFFFFF"/>
            </a:solidFill>
            <a:ln w="16510" cap="flat">
              <a:solidFill>
                <a:srgbClr val="D8DEEC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09" name="h1_k"/>
            <p:cNvSpPr txBox="1"/>
            <p:nvPr/>
          </p:nvSpPr>
          <p:spPr>
            <a:xfrm>
              <a:off x="256032" y="239268"/>
              <a:ext cx="548640" cy="3810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>
                <a:defRPr b="1" sz="2600">
                  <a:solidFill>
                    <a:srgbClr val="E03D6B"/>
                  </a:solidFill>
                  <a:latin typeface="Georgia"/>
                  <a:ea typeface="Georgia"/>
                  <a:cs typeface="Georgia"/>
                  <a:sym typeface="Georgia"/>
                </a:defRPr>
              </a:lvl1pPr>
            </a:lstStyle>
            <a:p>
              <a:pPr/>
              <a:r>
                <a:t>B</a:t>
              </a:r>
            </a:p>
          </p:txBody>
        </p:sp>
        <p:sp>
          <p:nvSpPr>
            <p:cNvPr id="110" name="h1_t"/>
            <p:cNvSpPr txBox="1"/>
            <p:nvPr/>
          </p:nvSpPr>
          <p:spPr>
            <a:xfrm>
              <a:off x="256032" y="714711"/>
              <a:ext cx="2795930" cy="52739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>
                <a:lnSpc>
                  <a:spcPts val="2100"/>
                </a:lnSpc>
                <a:defRPr b="1" sz="1700">
                  <a:solidFill>
                    <a:srgbClr val="17203F"/>
                  </a:solidFill>
                  <a:latin typeface="Georgia"/>
                  <a:ea typeface="Georgia"/>
                  <a:cs typeface="Georgia"/>
                  <a:sym typeface="Georgia"/>
                </a:defRPr>
              </a:lvl1pPr>
            </a:lstStyle>
            <a:p>
              <a:pPr/>
              <a:r>
                <a:t>Weight is not measured in kilograms.</a:t>
              </a:r>
            </a:p>
          </p:txBody>
        </p:sp>
      </p:grpSp>
      <p:grpSp>
        <p:nvGrpSpPr>
          <p:cNvPr id="115" name="h2"/>
          <p:cNvGrpSpPr/>
          <p:nvPr/>
        </p:nvGrpSpPr>
        <p:grpSpPr>
          <a:xfrm>
            <a:off x="8335061" y="2487167"/>
            <a:ext cx="3307994" cy="1554481"/>
            <a:chOff x="0" y="0"/>
            <a:chExt cx="3307993" cy="1554480"/>
          </a:xfrm>
        </p:grpSpPr>
        <p:sp>
          <p:nvSpPr>
            <p:cNvPr id="112" name="h2_bg"/>
            <p:cNvSpPr/>
            <p:nvPr/>
          </p:nvSpPr>
          <p:spPr>
            <a:xfrm>
              <a:off x="0" y="0"/>
              <a:ext cx="3307994" cy="1554481"/>
            </a:xfrm>
            <a:prstGeom prst="roundRect">
              <a:avLst>
                <a:gd name="adj" fmla="val 5882"/>
              </a:avLst>
            </a:prstGeom>
            <a:solidFill>
              <a:srgbClr val="FFFFFF"/>
            </a:solidFill>
            <a:ln w="16510" cap="flat">
              <a:solidFill>
                <a:srgbClr val="D8DEEC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13" name="h2_k"/>
            <p:cNvSpPr txBox="1"/>
            <p:nvPr/>
          </p:nvSpPr>
          <p:spPr>
            <a:xfrm>
              <a:off x="256032" y="239268"/>
              <a:ext cx="548640" cy="3810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>
                <a:defRPr b="1" sz="2600">
                  <a:solidFill>
                    <a:srgbClr val="E03D6B"/>
                  </a:solidFill>
                  <a:latin typeface="Georgia"/>
                  <a:ea typeface="Georgia"/>
                  <a:cs typeface="Georgia"/>
                  <a:sym typeface="Georgia"/>
                </a:defRPr>
              </a:lvl1pPr>
            </a:lstStyle>
            <a:p>
              <a:pPr/>
              <a:r>
                <a:t>C</a:t>
              </a:r>
            </a:p>
          </p:txBody>
        </p:sp>
        <p:sp>
          <p:nvSpPr>
            <p:cNvPr id="114" name="h2_t"/>
            <p:cNvSpPr txBox="1"/>
            <p:nvPr/>
          </p:nvSpPr>
          <p:spPr>
            <a:xfrm>
              <a:off x="256032" y="848061"/>
              <a:ext cx="2795930" cy="26069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>
                <a:lnSpc>
                  <a:spcPts val="2100"/>
                </a:lnSpc>
                <a:defRPr b="1" sz="1700">
                  <a:solidFill>
                    <a:srgbClr val="17203F"/>
                  </a:solidFill>
                  <a:latin typeface="Georgia"/>
                  <a:ea typeface="Georgia"/>
                  <a:cs typeface="Georgia"/>
                  <a:sym typeface="Georgia"/>
                </a:defRPr>
              </a:lvl1pPr>
            </a:lstStyle>
            <a:p>
              <a:pPr/>
              <a:r>
                <a:t>It’s not specific enough.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  <p:cond evt="onBegin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mediacall" nodeType="afterEffect" presetSubtype="0" presetID="1" grpId="1" fill="hold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20000" fill="hold"/>
                                        <p:tgtEl>
                                          <p:spTgt spid="9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Class="entr" nodeType="clickEffect" presetID="10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1" dur="4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400"/>
                            </p:stCondLst>
                            <p:childTnLst>
                              <p:par>
                                <p:cTn id="13" presetClass="entr" nodeType="afterEffect" presetID="10" grpId="3" fill="hold">
                                  <p:stCondLst>
                                    <p:cond delay="15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5" dur="4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950"/>
                            </p:stCondLst>
                            <p:childTnLst>
                              <p:par>
                                <p:cTn id="17" presetClass="entr" nodeType="afterEffect" presetID="10" grpId="4" fill="hold">
                                  <p:stCondLst>
                                    <p:cond delay="30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9" dur="4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  <p:video fullScrn="0">
              <p:cMediaNode mute="0" showWhenStopped="1" numSld="1" vol="0">
                <p:cTn id="20" fill="hold" display="0">
                  <p:stCondLst>
                    <p:cond delay="indefinite"/>
                  </p:stCondLst>
                </p:cTn>
                <p:tgtEl>
                  <p:spTgt spid="98"/>
                </p:tgtEl>
              </p:cMediaNode>
            </p:video>
            <p:seq concurrent="1" prevAc="none" nextAc="seek">
              <p:cTn id="21" evtFilter="cancelBubble" nodeType="interactiveSeq" restart="whenNotActive" fill="hold">
                <p:stCondLst>
                  <p:cond delay="0" evt="onClick">
                    <p:tgtEl>
                      <p:spTgt spid="98"/>
                    </p:tgtEl>
                  </p:cond>
                </p:stCondLst>
                <p:endSync delay="0" evt="end">
                  <p:rtn val="all"/>
                </p:endSync>
                <p:childTnLst>
                  <p:par>
                    <p:cTn id="22" fill="hold">
                      <p:stCondLst>
                        <p:cond delay="0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Class="mediacall" nodeType="clickEffect" presetSubtype="0" presetID="2" fill="hold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25" dur="1" fill="hold"/>
                                        <p:tgtEl>
                                          <p:spTgt spid="9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delay="0" evt="onClick">
                  <p:tgtEl>
                    <p:spTgt spid="98"/>
                  </p:tgtEl>
                </p:cond>
              </p:nextCondLst>
            </p:seq>
          </p:childTnLst>
        </p:cTn>
      </p:par>
    </p:tnLst>
    <p:bldLst>
      <p:bldP build="whole" bldLvl="1" animBg="1" rev="0" advAuto="0" spid="115" grpId="4"/>
      <p:bldP build="whole" bldLvl="1" animBg="1" rev="0" advAuto="0" spid="107" grpId="2"/>
      <p:bldP build="whole" bldLvl="1" animBg="1" rev="0" advAuto="0" spid="111" grpId="3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2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timer_video" descr="timer_video"/>
          <p:cNvPicPr>
            <a:picLocks noChangeAspect="0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5">
            <a:extLst/>
          </a:blip>
          <a:stretch>
            <a:fillRect/>
          </a:stretch>
        </p:blipFill>
        <p:spPr>
          <a:xfrm>
            <a:off x="310895" y="310895"/>
            <a:ext cx="457201" cy="6236210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122" name="phase_pill"/>
          <p:cNvGrpSpPr/>
          <p:nvPr/>
        </p:nvGrpSpPr>
        <p:grpSpPr>
          <a:xfrm>
            <a:off x="1170432" y="310895"/>
            <a:ext cx="1623975" cy="329185"/>
            <a:chOff x="0" y="0"/>
            <a:chExt cx="1623974" cy="329184"/>
          </a:xfrm>
        </p:grpSpPr>
        <p:sp>
          <p:nvSpPr>
            <p:cNvPr id="120" name="Rounded Rectangle"/>
            <p:cNvSpPr/>
            <p:nvPr/>
          </p:nvSpPr>
          <p:spPr>
            <a:xfrm>
              <a:off x="0" y="0"/>
              <a:ext cx="1623975" cy="329185"/>
            </a:xfrm>
            <a:prstGeom prst="roundRect">
              <a:avLst>
                <a:gd name="adj" fmla="val 44444"/>
              </a:avLst>
            </a:prstGeom>
            <a:solidFill>
              <a:srgbClr val="17203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1100"/>
              </a:pPr>
            </a:p>
          </p:txBody>
        </p:sp>
        <p:sp>
          <p:nvSpPr>
            <p:cNvPr id="121" name="I DO · 3 MIN"/>
            <p:cNvSpPr txBox="1"/>
            <p:nvPr/>
          </p:nvSpPr>
          <p:spPr>
            <a:xfrm>
              <a:off x="42851" y="90677"/>
              <a:ext cx="1538272" cy="14783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>
                <a:defRPr b="1" spc="120" sz="11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I DO · 3 MIN</a:t>
              </a:r>
            </a:p>
          </p:txBody>
        </p:sp>
      </p:grpSp>
      <p:sp>
        <p:nvSpPr>
          <p:cNvPr id="123" name="slide_title"/>
          <p:cNvSpPr txBox="1"/>
          <p:nvPr/>
        </p:nvSpPr>
        <p:spPr>
          <a:xfrm>
            <a:off x="1170432" y="965707"/>
            <a:ext cx="10472623" cy="482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3400">
                <a:solidFill>
                  <a:srgbClr val="17203F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Mass and weight are not the same thing</a:t>
            </a:r>
          </a:p>
        </p:txBody>
      </p:sp>
      <p:grpSp>
        <p:nvGrpSpPr>
          <p:cNvPr id="131" name="mw0"/>
          <p:cNvGrpSpPr/>
          <p:nvPr/>
        </p:nvGrpSpPr>
        <p:grpSpPr>
          <a:xfrm>
            <a:off x="1170432" y="2103120"/>
            <a:ext cx="10472623" cy="1234441"/>
            <a:chOff x="0" y="0"/>
            <a:chExt cx="10472622" cy="1234440"/>
          </a:xfrm>
        </p:grpSpPr>
        <p:sp>
          <p:nvSpPr>
            <p:cNvPr id="124" name="mw0_bg"/>
            <p:cNvSpPr/>
            <p:nvPr/>
          </p:nvSpPr>
          <p:spPr>
            <a:xfrm>
              <a:off x="0" y="-1"/>
              <a:ext cx="10472623" cy="1234442"/>
            </a:xfrm>
            <a:prstGeom prst="roundRect">
              <a:avLst>
                <a:gd name="adj" fmla="val 7407"/>
              </a:avLst>
            </a:prstGeom>
            <a:solidFill>
              <a:srgbClr val="FFFFFF"/>
            </a:solidFill>
            <a:ln w="16510" cap="flat">
              <a:solidFill>
                <a:srgbClr val="D8DEEC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25" name="mw0_n"/>
            <p:cNvSpPr txBox="1"/>
            <p:nvPr/>
          </p:nvSpPr>
          <p:spPr>
            <a:xfrm>
              <a:off x="219455" y="197865"/>
              <a:ext cx="2011681" cy="3175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>
                <a:defRPr b="1" sz="2200">
                  <a:solidFill>
                    <a:srgbClr val="17203F"/>
                  </a:solidFill>
                  <a:latin typeface="Georgia"/>
                  <a:ea typeface="Georgia"/>
                  <a:cs typeface="Georgia"/>
                  <a:sym typeface="Georgia"/>
                </a:defRPr>
              </a:lvl1pPr>
            </a:lstStyle>
            <a:p>
              <a:pPr/>
              <a:r>
                <a:t>Mass</a:t>
              </a:r>
            </a:p>
          </p:txBody>
        </p:sp>
        <p:sp>
          <p:nvSpPr>
            <p:cNvPr id="126" name="mw0_d"/>
            <p:cNvSpPr txBox="1"/>
            <p:nvPr/>
          </p:nvSpPr>
          <p:spPr>
            <a:xfrm>
              <a:off x="2285999" y="251782"/>
              <a:ext cx="5120641" cy="20966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>
                <a:defRPr sz="1500">
                  <a:solidFill>
                    <a:srgbClr val="141A3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The amount of matter in something.</a:t>
              </a:r>
            </a:p>
          </p:txBody>
        </p:sp>
        <p:grpSp>
          <p:nvGrpSpPr>
            <p:cNvPr id="129" name="mw0_u"/>
            <p:cNvGrpSpPr/>
            <p:nvPr/>
          </p:nvGrpSpPr>
          <p:grpSpPr>
            <a:xfrm>
              <a:off x="8095182" y="146303"/>
              <a:ext cx="1280161" cy="420625"/>
              <a:chOff x="0" y="0"/>
              <a:chExt cx="1280160" cy="420623"/>
            </a:xfrm>
          </p:grpSpPr>
          <p:sp>
            <p:nvSpPr>
              <p:cNvPr id="127" name="Rounded Rectangle"/>
              <p:cNvSpPr/>
              <p:nvPr/>
            </p:nvSpPr>
            <p:spPr>
              <a:xfrm>
                <a:off x="0" y="0"/>
                <a:ext cx="1280161" cy="420624"/>
              </a:xfrm>
              <a:prstGeom prst="roundRect">
                <a:avLst>
                  <a:gd name="adj" fmla="val 17391"/>
                </a:avLst>
              </a:prstGeom>
              <a:solidFill>
                <a:srgbClr val="17203F"/>
              </a:solidFill>
              <a:ln w="9525" cap="flat">
                <a:solidFill>
                  <a:srgbClr val="17203F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 sz="1400"/>
                </a:pPr>
              </a:p>
            </p:txBody>
          </p:sp>
          <p:sp>
            <p:nvSpPr>
              <p:cNvPr id="128" name="kilograms (kg)"/>
              <p:cNvSpPr txBox="1"/>
              <p:nvPr/>
            </p:nvSpPr>
            <p:spPr>
              <a:xfrm>
                <a:off x="26187" y="111620"/>
                <a:ext cx="1227786" cy="197384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0" tIns="0" rIns="0" bIns="0" numCol="1" anchor="ctr">
                <a:spAutoFit/>
              </a:bodyPr>
              <a:lstStyle>
                <a:lvl1pPr algn="ctr">
                  <a:defRPr b="1" sz="1400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</a:lstStyle>
              <a:p>
                <a:pPr/>
                <a:r>
                  <a:t>kilograms (kg)</a:t>
                </a:r>
              </a:p>
            </p:txBody>
          </p:sp>
        </p:grpSp>
        <p:sp>
          <p:nvSpPr>
            <p:cNvPr id="130" name="mw0_note"/>
            <p:cNvSpPr txBox="1"/>
            <p:nvPr/>
          </p:nvSpPr>
          <p:spPr>
            <a:xfrm>
              <a:off x="219456" y="785274"/>
              <a:ext cx="10033711" cy="1851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>
                <a:defRPr i="1" sz="1300">
                  <a:solidFill>
                    <a:srgbClr val="5A648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Same everywhere — Earth, Moon, the vacuum of space.</a:t>
              </a:r>
            </a:p>
          </p:txBody>
        </p:sp>
      </p:grpSp>
      <p:grpSp>
        <p:nvGrpSpPr>
          <p:cNvPr id="139" name="mw1"/>
          <p:cNvGrpSpPr/>
          <p:nvPr/>
        </p:nvGrpSpPr>
        <p:grpSpPr>
          <a:xfrm>
            <a:off x="1170432" y="3520440"/>
            <a:ext cx="10472623" cy="1234441"/>
            <a:chOff x="0" y="0"/>
            <a:chExt cx="10472622" cy="1234440"/>
          </a:xfrm>
        </p:grpSpPr>
        <p:sp>
          <p:nvSpPr>
            <p:cNvPr id="132" name="mw1_bg"/>
            <p:cNvSpPr/>
            <p:nvPr/>
          </p:nvSpPr>
          <p:spPr>
            <a:xfrm>
              <a:off x="0" y="-1"/>
              <a:ext cx="10472623" cy="1234442"/>
            </a:xfrm>
            <a:prstGeom prst="roundRect">
              <a:avLst>
                <a:gd name="adj" fmla="val 7407"/>
              </a:avLst>
            </a:prstGeom>
            <a:solidFill>
              <a:srgbClr val="FFEFE2"/>
            </a:solidFill>
            <a:ln w="16510" cap="flat">
              <a:solidFill>
                <a:srgbClr val="FF8A3D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33" name="mw1_n"/>
            <p:cNvSpPr txBox="1"/>
            <p:nvPr/>
          </p:nvSpPr>
          <p:spPr>
            <a:xfrm>
              <a:off x="219455" y="197865"/>
              <a:ext cx="2011681" cy="3175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>
                <a:defRPr b="1" sz="2200">
                  <a:solidFill>
                    <a:srgbClr val="17203F"/>
                  </a:solidFill>
                  <a:latin typeface="Georgia"/>
                  <a:ea typeface="Georgia"/>
                  <a:cs typeface="Georgia"/>
                  <a:sym typeface="Georgia"/>
                </a:defRPr>
              </a:lvl1pPr>
            </a:lstStyle>
            <a:p>
              <a:pPr/>
              <a:r>
                <a:t>Weight</a:t>
              </a:r>
            </a:p>
          </p:txBody>
        </p:sp>
        <p:sp>
          <p:nvSpPr>
            <p:cNvPr id="134" name="mw1_d"/>
            <p:cNvSpPr txBox="1"/>
            <p:nvPr/>
          </p:nvSpPr>
          <p:spPr>
            <a:xfrm>
              <a:off x="2285999" y="251782"/>
              <a:ext cx="5120641" cy="20966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>
                <a:defRPr sz="1500">
                  <a:solidFill>
                    <a:srgbClr val="141A3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The gravitational force pulling on that mass.</a:t>
              </a:r>
            </a:p>
          </p:txBody>
        </p:sp>
        <p:grpSp>
          <p:nvGrpSpPr>
            <p:cNvPr id="137" name="mw1_u"/>
            <p:cNvGrpSpPr/>
            <p:nvPr/>
          </p:nvGrpSpPr>
          <p:grpSpPr>
            <a:xfrm>
              <a:off x="8095182" y="146303"/>
              <a:ext cx="1280161" cy="420625"/>
              <a:chOff x="0" y="0"/>
              <a:chExt cx="1280160" cy="420623"/>
            </a:xfrm>
          </p:grpSpPr>
          <p:sp>
            <p:nvSpPr>
              <p:cNvPr id="135" name="Rounded Rectangle"/>
              <p:cNvSpPr/>
              <p:nvPr/>
            </p:nvSpPr>
            <p:spPr>
              <a:xfrm>
                <a:off x="0" y="0"/>
                <a:ext cx="1280161" cy="420624"/>
              </a:xfrm>
              <a:prstGeom prst="roundRect">
                <a:avLst>
                  <a:gd name="adj" fmla="val 17391"/>
                </a:avLst>
              </a:prstGeom>
              <a:solidFill>
                <a:srgbClr val="17203F"/>
              </a:solidFill>
              <a:ln w="9525" cap="flat">
                <a:solidFill>
                  <a:srgbClr val="17203F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 sz="1400"/>
                </a:pPr>
              </a:p>
            </p:txBody>
          </p:sp>
          <p:sp>
            <p:nvSpPr>
              <p:cNvPr id="136" name="newtons (N)"/>
              <p:cNvSpPr txBox="1"/>
              <p:nvPr/>
            </p:nvSpPr>
            <p:spPr>
              <a:xfrm>
                <a:off x="26187" y="111620"/>
                <a:ext cx="1227786" cy="197384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0" tIns="0" rIns="0" bIns="0" numCol="1" anchor="ctr">
                <a:spAutoFit/>
              </a:bodyPr>
              <a:lstStyle>
                <a:lvl1pPr algn="ctr">
                  <a:defRPr b="1" sz="1400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</a:lstStyle>
              <a:p>
                <a:pPr/>
                <a:r>
                  <a:t>newtons (N)</a:t>
                </a:r>
              </a:p>
            </p:txBody>
          </p:sp>
        </p:grpSp>
        <p:sp>
          <p:nvSpPr>
            <p:cNvPr id="138" name="mw1_note"/>
            <p:cNvSpPr txBox="1"/>
            <p:nvPr/>
          </p:nvSpPr>
          <p:spPr>
            <a:xfrm>
              <a:off x="219456" y="785274"/>
              <a:ext cx="10033711" cy="1851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>
                <a:defRPr i="1" sz="1300">
                  <a:solidFill>
                    <a:srgbClr val="5A648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Changes with gravity — less on the Moon than on Earth.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  <p:cond evt="onBegin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mediacall" nodeType="afterEffect" presetSubtype="0" presetID="1" grpId="1" fill="hold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80000" fill="hold"/>
                                        <p:tgtEl>
                                          <p:spTgt spid="11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Class="entr" nodeType="clickEffect" presetID="10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1" dur="4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Class="entr" nodeType="clickEffect" presetID="10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5" fill="hold"/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6" dur="4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  <p:video fullScrn="0">
              <p:cMediaNode mute="0" showWhenStopped="1" numSld="1" vol="0">
                <p:cTn id="17" fill="hold" display="0">
                  <p:stCondLst>
                    <p:cond delay="indefinite"/>
                  </p:stCondLst>
                </p:cTn>
                <p:tgtEl>
                  <p:spTgt spid="119"/>
                </p:tgtEl>
              </p:cMediaNode>
            </p:video>
            <p:seq concurrent="1" prevAc="none" nextAc="seek">
              <p:cTn id="18" evtFilter="cancelBubble" nodeType="interactiveSeq" restart="whenNotActive" fill="hold">
                <p:stCondLst>
                  <p:cond delay="0" evt="onClick">
                    <p:tgtEl>
                      <p:spTgt spid="119"/>
                    </p:tgtEl>
                  </p:cond>
                </p:stCondLst>
                <p:endSync delay="0" evt="end">
                  <p:rtn val="all"/>
                </p:endSync>
                <p:childTnLst>
                  <p:par>
                    <p:cTn id="19" fill="hold">
                      <p:stCondLst>
                        <p:cond delay="0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Class="mediacall" nodeType="clickEffect" presetSubtype="0" presetID="2" fill="hold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22" dur="1" fill="hold"/>
                                        <p:tgtEl>
                                          <p:spTgt spid="11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delay="0" evt="onClick">
                  <p:tgtEl>
                    <p:spTgt spid="119"/>
                  </p:tgtEl>
                </p:cond>
              </p:nextCondLst>
            </p:seq>
          </p:childTnLst>
        </p:cTn>
      </p:par>
    </p:tnLst>
    <p:bldLst>
      <p:bldP build="whole" bldLvl="1" animBg="1" rev="0" advAuto="0" spid="131" grpId="2"/>
      <p:bldP build="whole" bldLvl="1" animBg="1" rev="0" advAuto="0" spid="139" grpId="3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2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" name="timer_video" descr="timer_video"/>
          <p:cNvPicPr>
            <a:picLocks noChangeAspect="0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5">
            <a:extLst/>
          </a:blip>
          <a:stretch>
            <a:fillRect/>
          </a:stretch>
        </p:blipFill>
        <p:spPr>
          <a:xfrm>
            <a:off x="310895" y="310895"/>
            <a:ext cx="457201" cy="6236210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146" name="phase_pill"/>
          <p:cNvGrpSpPr/>
          <p:nvPr/>
        </p:nvGrpSpPr>
        <p:grpSpPr>
          <a:xfrm>
            <a:off x="1170432" y="310895"/>
            <a:ext cx="1623975" cy="329185"/>
            <a:chOff x="0" y="0"/>
            <a:chExt cx="1623974" cy="329184"/>
          </a:xfrm>
        </p:grpSpPr>
        <p:sp>
          <p:nvSpPr>
            <p:cNvPr id="144" name="Rounded Rectangle"/>
            <p:cNvSpPr/>
            <p:nvPr/>
          </p:nvSpPr>
          <p:spPr>
            <a:xfrm>
              <a:off x="0" y="0"/>
              <a:ext cx="1623975" cy="329185"/>
            </a:xfrm>
            <a:prstGeom prst="roundRect">
              <a:avLst>
                <a:gd name="adj" fmla="val 44444"/>
              </a:avLst>
            </a:prstGeom>
            <a:solidFill>
              <a:srgbClr val="17203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1100"/>
              </a:pPr>
            </a:p>
          </p:txBody>
        </p:sp>
        <p:sp>
          <p:nvSpPr>
            <p:cNvPr id="145" name="I DO · 3 MIN"/>
            <p:cNvSpPr txBox="1"/>
            <p:nvPr/>
          </p:nvSpPr>
          <p:spPr>
            <a:xfrm>
              <a:off x="42851" y="90677"/>
              <a:ext cx="1538272" cy="14783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>
                <a:defRPr b="1" spc="120" sz="11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I DO · 3 MIN</a:t>
              </a:r>
            </a:p>
          </p:txBody>
        </p:sp>
      </p:grpSp>
      <p:sp>
        <p:nvSpPr>
          <p:cNvPr id="147" name="slide_title"/>
          <p:cNvSpPr txBox="1"/>
          <p:nvPr/>
        </p:nvSpPr>
        <p:spPr>
          <a:xfrm>
            <a:off x="1170432" y="965707"/>
            <a:ext cx="10472623" cy="482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3400">
                <a:solidFill>
                  <a:srgbClr val="17203F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The gradient gives you g</a:t>
            </a:r>
          </a:p>
        </p:txBody>
      </p:sp>
      <p:grpSp>
        <p:nvGrpSpPr>
          <p:cNvPr id="157" name="g1_graph"/>
          <p:cNvGrpSpPr/>
          <p:nvPr/>
        </p:nvGrpSpPr>
        <p:grpSpPr>
          <a:xfrm>
            <a:off x="1261871" y="2495202"/>
            <a:ext cx="4297681" cy="3019740"/>
            <a:chOff x="0" y="0"/>
            <a:chExt cx="4297680" cy="3019738"/>
          </a:xfrm>
        </p:grpSpPr>
        <p:sp>
          <p:nvSpPr>
            <p:cNvPr id="148" name="g1_panel"/>
            <p:cNvSpPr/>
            <p:nvPr/>
          </p:nvSpPr>
          <p:spPr>
            <a:xfrm>
              <a:off x="91439" y="339437"/>
              <a:ext cx="4206242" cy="2377441"/>
            </a:xfrm>
            <a:prstGeom prst="rect">
              <a:avLst/>
            </a:prstGeom>
            <a:solidFill>
              <a:srgbClr val="FFFFFF"/>
            </a:solidFill>
            <a:ln w="15240" cap="flat">
              <a:solidFill>
                <a:srgbClr val="D8DEEC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49" name="g1_ay"/>
            <p:cNvSpPr/>
            <p:nvPr/>
          </p:nvSpPr>
          <p:spPr>
            <a:xfrm flipH="1">
              <a:off x="91440" y="339437"/>
              <a:ext cx="1" cy="2377441"/>
            </a:xfrm>
            <a:prstGeom prst="line">
              <a:avLst/>
            </a:prstGeom>
            <a:noFill/>
            <a:ln w="20320" cap="flat">
              <a:solidFill>
                <a:srgbClr val="5A648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50" name="g1_ax"/>
            <p:cNvSpPr/>
            <p:nvPr/>
          </p:nvSpPr>
          <p:spPr>
            <a:xfrm>
              <a:off x="91439" y="2716877"/>
              <a:ext cx="4206241" cy="1"/>
            </a:xfrm>
            <a:prstGeom prst="line">
              <a:avLst/>
            </a:prstGeom>
            <a:noFill/>
            <a:ln w="20320" cap="flat">
              <a:solidFill>
                <a:srgbClr val="5A648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51" name="g1_yl"/>
            <p:cNvSpPr txBox="1"/>
            <p:nvPr/>
          </p:nvSpPr>
          <p:spPr>
            <a:xfrm>
              <a:off x="0" y="0"/>
              <a:ext cx="2194561" cy="1850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>
                <a:defRPr b="1" sz="1300">
                  <a:solidFill>
                    <a:srgbClr val="5A648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W / N</a:t>
              </a:r>
            </a:p>
          </p:txBody>
        </p:sp>
        <p:sp>
          <p:nvSpPr>
            <p:cNvPr id="152" name="g1_xl"/>
            <p:cNvSpPr txBox="1"/>
            <p:nvPr/>
          </p:nvSpPr>
          <p:spPr>
            <a:xfrm>
              <a:off x="3108960" y="2834640"/>
              <a:ext cx="1188721" cy="1850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r">
                <a:defRPr sz="1300">
                  <a:solidFill>
                    <a:srgbClr val="5A648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m / kg</a:t>
              </a:r>
            </a:p>
          </p:txBody>
        </p:sp>
        <p:sp>
          <p:nvSpPr>
            <p:cNvPr id="153" name="g1_g1"/>
            <p:cNvSpPr/>
            <p:nvPr/>
          </p:nvSpPr>
          <p:spPr>
            <a:xfrm>
              <a:off x="91439" y="2122517"/>
              <a:ext cx="4206241" cy="1"/>
            </a:xfrm>
            <a:prstGeom prst="line">
              <a:avLst/>
            </a:prstGeom>
            <a:noFill/>
            <a:ln w="12700" cap="flat">
              <a:solidFill>
                <a:srgbClr val="EDF0F7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54" name="g1_g2"/>
            <p:cNvSpPr/>
            <p:nvPr/>
          </p:nvSpPr>
          <p:spPr>
            <a:xfrm>
              <a:off x="91439" y="1528157"/>
              <a:ext cx="4206241" cy="1"/>
            </a:xfrm>
            <a:prstGeom prst="line">
              <a:avLst/>
            </a:prstGeom>
            <a:noFill/>
            <a:ln w="12700" cap="flat">
              <a:solidFill>
                <a:srgbClr val="EDF0F7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55" name="g1_g3"/>
            <p:cNvSpPr/>
            <p:nvPr/>
          </p:nvSpPr>
          <p:spPr>
            <a:xfrm>
              <a:off x="91439" y="933797"/>
              <a:ext cx="4206241" cy="1"/>
            </a:xfrm>
            <a:prstGeom prst="line">
              <a:avLst/>
            </a:prstGeom>
            <a:noFill/>
            <a:ln w="12700" cap="flat">
              <a:solidFill>
                <a:srgbClr val="EDF0F7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56" name="g1_s0"/>
            <p:cNvSpPr/>
            <p:nvPr/>
          </p:nvSpPr>
          <p:spPr>
            <a:xfrm flipV="1">
              <a:off x="102029" y="420212"/>
              <a:ext cx="4088482" cy="2288667"/>
            </a:xfrm>
            <a:prstGeom prst="line">
              <a:avLst/>
            </a:prstGeom>
            <a:noFill/>
            <a:ln w="50800" cap="flat">
              <a:solidFill>
                <a:srgbClr val="1FB6BC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</p:grpSp>
      <p:grpSp>
        <p:nvGrpSpPr>
          <p:cNvPr id="162" name="gr_0"/>
          <p:cNvGrpSpPr/>
          <p:nvPr/>
        </p:nvGrpSpPr>
        <p:grpSpPr>
          <a:xfrm>
            <a:off x="6016752" y="2194560"/>
            <a:ext cx="5626304" cy="786385"/>
            <a:chOff x="0" y="0"/>
            <a:chExt cx="5626303" cy="786384"/>
          </a:xfrm>
        </p:grpSpPr>
        <p:sp>
          <p:nvSpPr>
            <p:cNvPr id="158" name="gr_0_bg"/>
            <p:cNvSpPr/>
            <p:nvPr/>
          </p:nvSpPr>
          <p:spPr>
            <a:xfrm>
              <a:off x="0" y="-1"/>
              <a:ext cx="5626304" cy="786386"/>
            </a:xfrm>
            <a:prstGeom prst="roundRect">
              <a:avLst>
                <a:gd name="adj" fmla="val 11628"/>
              </a:avLst>
            </a:prstGeom>
            <a:solidFill>
              <a:srgbClr val="FFFFFF"/>
            </a:solidFill>
            <a:ln w="16510" cap="flat">
              <a:solidFill>
                <a:srgbClr val="D8DEEC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59" name="gr_0_n"/>
            <p:cNvSpPr txBox="1"/>
            <p:nvPr/>
          </p:nvSpPr>
          <p:spPr>
            <a:xfrm>
              <a:off x="201168" y="259841"/>
              <a:ext cx="310897" cy="2667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>
                <a:defRPr b="1">
                  <a:solidFill>
                    <a:srgbClr val="C25A16"/>
                  </a:solidFill>
                  <a:latin typeface="Georgia"/>
                  <a:ea typeface="Georgia"/>
                  <a:cs typeface="Georgia"/>
                  <a:sym typeface="Georgia"/>
                </a:defRPr>
              </a:lvl1pPr>
            </a:lstStyle>
            <a:p>
              <a:pPr/>
              <a:r>
                <a:t>1</a:t>
              </a:r>
            </a:p>
          </p:txBody>
        </p:sp>
        <p:sp>
          <p:nvSpPr>
            <p:cNvPr id="160" name="gr_0_e"/>
            <p:cNvSpPr txBox="1"/>
            <p:nvPr/>
          </p:nvSpPr>
          <p:spPr>
            <a:xfrm>
              <a:off x="585216" y="138175"/>
              <a:ext cx="4821632" cy="2540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>
                <a:defRPr b="1" sz="1700">
                  <a:solidFill>
                    <a:srgbClr val="17203F"/>
                  </a:solidFill>
                  <a:latin typeface="Georgia"/>
                  <a:ea typeface="Georgia"/>
                  <a:cs typeface="Georgia"/>
                  <a:sym typeface="Georgia"/>
                </a:defRPr>
              </a:lvl1pPr>
            </a:lstStyle>
            <a:p>
              <a:pPr/>
              <a:r>
                <a:t>gradient of a W–m graph = W ÷ m</a:t>
              </a:r>
            </a:p>
          </p:txBody>
        </p:sp>
        <p:sp>
          <p:nvSpPr>
            <p:cNvPr id="161" name="gr_0_t"/>
            <p:cNvSpPr txBox="1"/>
            <p:nvPr/>
          </p:nvSpPr>
          <p:spPr>
            <a:xfrm>
              <a:off x="585216" y="492666"/>
              <a:ext cx="4821632" cy="1851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>
                <a:defRPr sz="1300">
                  <a:solidFill>
                    <a:srgbClr val="5A648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Same gradient skill as v = u + at.</a:t>
              </a:r>
            </a:p>
          </p:txBody>
        </p:sp>
      </p:grpSp>
      <p:grpSp>
        <p:nvGrpSpPr>
          <p:cNvPr id="167" name="gr_1"/>
          <p:cNvGrpSpPr/>
          <p:nvPr/>
        </p:nvGrpSpPr>
        <p:grpSpPr>
          <a:xfrm>
            <a:off x="6016752" y="3127248"/>
            <a:ext cx="5626304" cy="786385"/>
            <a:chOff x="0" y="0"/>
            <a:chExt cx="5626303" cy="786384"/>
          </a:xfrm>
        </p:grpSpPr>
        <p:sp>
          <p:nvSpPr>
            <p:cNvPr id="163" name="gr_1_bg"/>
            <p:cNvSpPr/>
            <p:nvPr/>
          </p:nvSpPr>
          <p:spPr>
            <a:xfrm>
              <a:off x="0" y="-1"/>
              <a:ext cx="5626304" cy="786386"/>
            </a:xfrm>
            <a:prstGeom prst="roundRect">
              <a:avLst>
                <a:gd name="adj" fmla="val 11628"/>
              </a:avLst>
            </a:prstGeom>
            <a:solidFill>
              <a:srgbClr val="FFFFFF"/>
            </a:solidFill>
            <a:ln w="16510" cap="flat">
              <a:solidFill>
                <a:srgbClr val="D8DEEC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64" name="gr_1_n"/>
            <p:cNvSpPr txBox="1"/>
            <p:nvPr/>
          </p:nvSpPr>
          <p:spPr>
            <a:xfrm>
              <a:off x="201168" y="259841"/>
              <a:ext cx="310897" cy="2667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>
                <a:defRPr b="1">
                  <a:solidFill>
                    <a:srgbClr val="C25A16"/>
                  </a:solidFill>
                  <a:latin typeface="Georgia"/>
                  <a:ea typeface="Georgia"/>
                  <a:cs typeface="Georgia"/>
                  <a:sym typeface="Georgia"/>
                </a:defRPr>
              </a:lvl1pPr>
            </a:lstStyle>
            <a:p>
              <a:pPr/>
              <a:r>
                <a:t>2</a:t>
              </a:r>
            </a:p>
          </p:txBody>
        </p:sp>
        <p:sp>
          <p:nvSpPr>
            <p:cNvPr id="165" name="gr_1_e"/>
            <p:cNvSpPr txBox="1"/>
            <p:nvPr/>
          </p:nvSpPr>
          <p:spPr>
            <a:xfrm>
              <a:off x="585216" y="138175"/>
              <a:ext cx="4821632" cy="2540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>
                <a:defRPr b="1" sz="1700">
                  <a:solidFill>
                    <a:srgbClr val="17203F"/>
                  </a:solidFill>
                  <a:latin typeface="Georgia"/>
                  <a:ea typeface="Georgia"/>
                  <a:cs typeface="Georgia"/>
                  <a:sym typeface="Georgia"/>
                </a:defRPr>
              </a:lvl1pPr>
            </a:lstStyle>
            <a:p>
              <a:pPr/>
              <a:r>
                <a:t>W ÷ m is called g</a:t>
              </a:r>
            </a:p>
          </p:txBody>
        </p:sp>
        <p:sp>
          <p:nvSpPr>
            <p:cNvPr id="166" name="gr_1_t"/>
            <p:cNvSpPr txBox="1"/>
            <p:nvPr/>
          </p:nvSpPr>
          <p:spPr>
            <a:xfrm>
              <a:off x="585216" y="492666"/>
              <a:ext cx="4821632" cy="1851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>
                <a:defRPr sz="1300">
                  <a:solidFill>
                    <a:srgbClr val="5A648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Weight per unit mass.</a:t>
              </a:r>
            </a:p>
          </p:txBody>
        </p:sp>
      </p:grpSp>
      <p:grpSp>
        <p:nvGrpSpPr>
          <p:cNvPr id="172" name="gr_2"/>
          <p:cNvGrpSpPr/>
          <p:nvPr/>
        </p:nvGrpSpPr>
        <p:grpSpPr>
          <a:xfrm>
            <a:off x="6016752" y="4059935"/>
            <a:ext cx="5626304" cy="786385"/>
            <a:chOff x="0" y="0"/>
            <a:chExt cx="5626303" cy="786384"/>
          </a:xfrm>
        </p:grpSpPr>
        <p:sp>
          <p:nvSpPr>
            <p:cNvPr id="168" name="gr_2_bg"/>
            <p:cNvSpPr/>
            <p:nvPr/>
          </p:nvSpPr>
          <p:spPr>
            <a:xfrm>
              <a:off x="0" y="-1"/>
              <a:ext cx="5626304" cy="786386"/>
            </a:xfrm>
            <a:prstGeom prst="roundRect">
              <a:avLst>
                <a:gd name="adj" fmla="val 11628"/>
              </a:avLst>
            </a:prstGeom>
            <a:solidFill>
              <a:srgbClr val="FFFFFF"/>
            </a:solidFill>
            <a:ln w="16510" cap="flat">
              <a:solidFill>
                <a:srgbClr val="D8DEEC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69" name="gr_2_n"/>
            <p:cNvSpPr txBox="1"/>
            <p:nvPr/>
          </p:nvSpPr>
          <p:spPr>
            <a:xfrm>
              <a:off x="201168" y="259841"/>
              <a:ext cx="310897" cy="2667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>
                <a:defRPr b="1">
                  <a:solidFill>
                    <a:srgbClr val="C25A16"/>
                  </a:solidFill>
                  <a:latin typeface="Georgia"/>
                  <a:ea typeface="Georgia"/>
                  <a:cs typeface="Georgia"/>
                  <a:sym typeface="Georgia"/>
                </a:defRPr>
              </a:lvl1pPr>
            </a:lstStyle>
            <a:p>
              <a:pPr/>
              <a:r>
                <a:t>3</a:t>
              </a:r>
            </a:p>
          </p:txBody>
        </p:sp>
        <p:sp>
          <p:nvSpPr>
            <p:cNvPr id="170" name="gr_2_e"/>
            <p:cNvSpPr txBox="1"/>
            <p:nvPr/>
          </p:nvSpPr>
          <p:spPr>
            <a:xfrm>
              <a:off x="585216" y="138175"/>
              <a:ext cx="4821632" cy="2540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>
                <a:defRPr b="1" sz="1700">
                  <a:solidFill>
                    <a:srgbClr val="17203F"/>
                  </a:solidFill>
                  <a:latin typeface="Georgia"/>
                  <a:ea typeface="Georgia"/>
                  <a:cs typeface="Georgia"/>
                  <a:sym typeface="Georgia"/>
                </a:defRPr>
              </a:lvl1pPr>
            </a:lstStyle>
            <a:p>
              <a:pPr/>
              <a:r>
                <a:t>g ≈ 9.8 N/kg</a:t>
              </a:r>
            </a:p>
          </p:txBody>
        </p:sp>
        <p:sp>
          <p:nvSpPr>
            <p:cNvPr id="171" name="gr_2_t"/>
            <p:cNvSpPr txBox="1"/>
            <p:nvPr/>
          </p:nvSpPr>
          <p:spPr>
            <a:xfrm>
              <a:off x="585216" y="492666"/>
              <a:ext cx="4821632" cy="1851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>
                <a:defRPr sz="1300">
                  <a:solidFill>
                    <a:srgbClr val="5A648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Not 10. Near the Earth’s surface.</a:t>
              </a:r>
            </a:p>
          </p:txBody>
        </p:sp>
      </p:grpSp>
      <p:grpSp>
        <p:nvGrpSpPr>
          <p:cNvPr id="177" name="gr_3"/>
          <p:cNvGrpSpPr/>
          <p:nvPr/>
        </p:nvGrpSpPr>
        <p:grpSpPr>
          <a:xfrm>
            <a:off x="6016752" y="4992623"/>
            <a:ext cx="5626304" cy="786385"/>
            <a:chOff x="0" y="0"/>
            <a:chExt cx="5626303" cy="786384"/>
          </a:xfrm>
        </p:grpSpPr>
        <p:sp>
          <p:nvSpPr>
            <p:cNvPr id="173" name="gr_3_bg"/>
            <p:cNvSpPr/>
            <p:nvPr/>
          </p:nvSpPr>
          <p:spPr>
            <a:xfrm>
              <a:off x="0" y="-1"/>
              <a:ext cx="5626304" cy="786386"/>
            </a:xfrm>
            <a:prstGeom prst="roundRect">
              <a:avLst>
                <a:gd name="adj" fmla="val 11628"/>
              </a:avLst>
            </a:prstGeom>
            <a:solidFill>
              <a:srgbClr val="FFEFE2"/>
            </a:solidFill>
            <a:ln w="21590" cap="flat">
              <a:solidFill>
                <a:srgbClr val="FF8A3D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74" name="gr_3_n"/>
            <p:cNvSpPr txBox="1"/>
            <p:nvPr/>
          </p:nvSpPr>
          <p:spPr>
            <a:xfrm>
              <a:off x="201168" y="259841"/>
              <a:ext cx="310897" cy="2667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>
                <a:defRPr b="1">
                  <a:solidFill>
                    <a:srgbClr val="C25A16"/>
                  </a:solidFill>
                  <a:latin typeface="Georgia"/>
                  <a:ea typeface="Georgia"/>
                  <a:cs typeface="Georgia"/>
                  <a:sym typeface="Georgia"/>
                </a:defRPr>
              </a:lvl1pPr>
            </a:lstStyle>
            <a:p>
              <a:pPr/>
              <a:r>
                <a:t>4</a:t>
              </a:r>
            </a:p>
          </p:txBody>
        </p:sp>
        <p:sp>
          <p:nvSpPr>
            <p:cNvPr id="175" name="gr_3_e"/>
            <p:cNvSpPr txBox="1"/>
            <p:nvPr/>
          </p:nvSpPr>
          <p:spPr>
            <a:xfrm>
              <a:off x="585216" y="138175"/>
              <a:ext cx="4821632" cy="2540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>
                <a:defRPr b="1" sz="1700">
                  <a:solidFill>
                    <a:srgbClr val="17203F"/>
                  </a:solidFill>
                  <a:latin typeface="Georgia"/>
                  <a:ea typeface="Georgia"/>
                  <a:cs typeface="Georgia"/>
                  <a:sym typeface="Georgia"/>
                </a:defRPr>
              </a:lvl1pPr>
            </a:lstStyle>
            <a:p>
              <a:pPr/>
              <a:r>
                <a:t>g = W ÷ m,   so   W = mg</a:t>
              </a:r>
            </a:p>
          </p:txBody>
        </p:sp>
        <p:sp>
          <p:nvSpPr>
            <p:cNvPr id="176" name="gr_3_t"/>
            <p:cNvSpPr txBox="1"/>
            <p:nvPr/>
          </p:nvSpPr>
          <p:spPr>
            <a:xfrm>
              <a:off x="585216" y="492666"/>
              <a:ext cx="4821632" cy="1851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>
                <a:defRPr sz="1300">
                  <a:solidFill>
                    <a:srgbClr val="5A648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Both forms, same equation.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  <p:cond evt="onBegin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mediacall" nodeType="afterEffect" presetSubtype="0" presetID="1" grpId="1" fill="hold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80000" fill="hold"/>
                                        <p:tgtEl>
                                          <p:spTgt spid="14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Class="entr" nodeType="clickEffect" presetID="10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1" dur="400"/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Class="entr" nodeType="clickEffect" presetID="10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5" fill="hold"/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6" dur="400"/>
                                        <p:tgtEl>
                                          <p:spTgt spid="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Class="entr" nodeType="clickEffect" presetID="10" grpId="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0" fill="hold"/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21" dur="400"/>
                                        <p:tgtEl>
                                          <p:spTgt spid="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Class="entr" nodeType="clickEffect" presetID="10" grpId="5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5" fill="hold"/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26" dur="400"/>
                                        <p:tgtEl>
                                          <p:spTgt spid="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Class="entr" nodeType="clickEffect" presetID="10" grpId="6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0" fill="hold"/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31" dur="4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  <p:video fullScrn="0">
              <p:cMediaNode mute="0" showWhenStopped="1" numSld="1" vol="0">
                <p:cTn id="32" fill="hold" display="0">
                  <p:stCondLst>
                    <p:cond delay="indefinite"/>
                  </p:stCondLst>
                </p:cTn>
                <p:tgtEl>
                  <p:spTgt spid="143"/>
                </p:tgtEl>
              </p:cMediaNode>
            </p:video>
            <p:seq concurrent="1" prevAc="none" nextAc="seek">
              <p:cTn id="33" evtFilter="cancelBubble" nodeType="interactiveSeq" restart="whenNotActive" fill="hold">
                <p:stCondLst>
                  <p:cond delay="0" evt="onClick">
                    <p:tgtEl>
                      <p:spTgt spid="143"/>
                    </p:tgtEl>
                  </p:cond>
                </p:stCondLst>
                <p:endSync delay="0" evt="end">
                  <p:rtn val="all"/>
                </p:endSync>
                <p:childTnLst>
                  <p:par>
                    <p:cTn id="34" fill="hold">
                      <p:stCondLst>
                        <p:cond delay="0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Class="mediacall" nodeType="clickEffect" presetSubtype="0" presetID="2" fill="hold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37" dur="1" fill="hold"/>
                                        <p:tgtEl>
                                          <p:spTgt spid="14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delay="0" evt="onClick">
                  <p:tgtEl>
                    <p:spTgt spid="143"/>
                  </p:tgtEl>
                </p:cond>
              </p:nextCondLst>
            </p:seq>
          </p:childTnLst>
        </p:cTn>
      </p:par>
    </p:tnLst>
    <p:bldLst>
      <p:bldP build="whole" bldLvl="1" animBg="1" rev="0" advAuto="0" spid="157" grpId="2"/>
      <p:bldP build="whole" bldLvl="1" animBg="1" rev="0" advAuto="0" spid="167" grpId="4"/>
      <p:bldP build="whole" bldLvl="1" animBg="1" rev="0" advAuto="0" spid="177" grpId="6"/>
      <p:bldP build="whole" bldLvl="1" animBg="1" rev="0" advAuto="0" spid="162" grpId="3"/>
      <p:bldP build="whole" bldLvl="1" animBg="1" rev="0" advAuto="0" spid="172" grpId="5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2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1" name="timer_video" descr="timer_video"/>
          <p:cNvPicPr>
            <a:picLocks noChangeAspect="0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5">
            <a:extLst/>
          </a:blip>
          <a:stretch>
            <a:fillRect/>
          </a:stretch>
        </p:blipFill>
        <p:spPr>
          <a:xfrm>
            <a:off x="310895" y="310895"/>
            <a:ext cx="457201" cy="6236210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184" name="phase_pill"/>
          <p:cNvGrpSpPr/>
          <p:nvPr/>
        </p:nvGrpSpPr>
        <p:grpSpPr>
          <a:xfrm>
            <a:off x="1170432" y="310895"/>
            <a:ext cx="1713586" cy="329185"/>
            <a:chOff x="0" y="0"/>
            <a:chExt cx="1713585" cy="329184"/>
          </a:xfrm>
        </p:grpSpPr>
        <p:sp>
          <p:nvSpPr>
            <p:cNvPr id="182" name="Rounded Rectangle"/>
            <p:cNvSpPr/>
            <p:nvPr/>
          </p:nvSpPr>
          <p:spPr>
            <a:xfrm>
              <a:off x="0" y="0"/>
              <a:ext cx="1713586" cy="329185"/>
            </a:xfrm>
            <a:prstGeom prst="roundRect">
              <a:avLst>
                <a:gd name="adj" fmla="val 44444"/>
              </a:avLst>
            </a:prstGeom>
            <a:solidFill>
              <a:srgbClr val="17203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1100"/>
              </a:pPr>
            </a:p>
          </p:txBody>
        </p:sp>
        <p:sp>
          <p:nvSpPr>
            <p:cNvPr id="183" name="WE DO · 5 MIN"/>
            <p:cNvSpPr txBox="1"/>
            <p:nvPr/>
          </p:nvSpPr>
          <p:spPr>
            <a:xfrm>
              <a:off x="42850" y="90677"/>
              <a:ext cx="1627885" cy="14783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>
                <a:defRPr b="1" spc="120" sz="11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WE DO · 5 MIN</a:t>
              </a:r>
            </a:p>
          </p:txBody>
        </p:sp>
      </p:grpSp>
      <p:sp>
        <p:nvSpPr>
          <p:cNvPr id="185" name="slide_title"/>
          <p:cNvSpPr txBox="1"/>
          <p:nvPr/>
        </p:nvSpPr>
        <p:spPr>
          <a:xfrm>
            <a:off x="1170432" y="965707"/>
            <a:ext cx="10472623" cy="482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3400">
                <a:solidFill>
                  <a:srgbClr val="17203F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What should be the correct answer?</a:t>
            </a:r>
          </a:p>
        </p:txBody>
      </p:sp>
      <p:sp>
        <p:nvSpPr>
          <p:cNvPr id="186" name="slide_sub"/>
          <p:cNvSpPr txBox="1"/>
          <p:nvPr/>
        </p:nvSpPr>
        <p:spPr>
          <a:xfrm>
            <a:off x="1170432" y="1644671"/>
            <a:ext cx="10472623" cy="2219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600">
                <a:solidFill>
                  <a:srgbClr val="5A64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Spot the mistake.</a:t>
            </a:r>
          </a:p>
        </p:txBody>
      </p:sp>
      <p:sp>
        <p:nvSpPr>
          <p:cNvPr id="187" name="wd0_bg"/>
          <p:cNvSpPr/>
          <p:nvPr/>
        </p:nvSpPr>
        <p:spPr>
          <a:xfrm>
            <a:off x="1170432" y="2322576"/>
            <a:ext cx="10472623" cy="841249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6510">
            <a:solidFill>
              <a:srgbClr val="D8DEE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88" name="wd0_q"/>
          <p:cNvSpPr txBox="1"/>
          <p:nvPr/>
        </p:nvSpPr>
        <p:spPr>
          <a:xfrm>
            <a:off x="1426463" y="2614989"/>
            <a:ext cx="6035042" cy="2564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ts val="2100"/>
              </a:lnSpc>
              <a:defRPr sz="1600">
                <a:solidFill>
                  <a:srgbClr val="141A3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"My weight is 60 kg.”</a:t>
            </a:r>
          </a:p>
        </p:txBody>
      </p:sp>
      <p:grpSp>
        <p:nvGrpSpPr>
          <p:cNvPr id="191" name="wd0_a"/>
          <p:cNvGrpSpPr/>
          <p:nvPr/>
        </p:nvGrpSpPr>
        <p:grpSpPr>
          <a:xfrm>
            <a:off x="7662671" y="2414016"/>
            <a:ext cx="3888944" cy="658369"/>
            <a:chOff x="0" y="0"/>
            <a:chExt cx="3888942" cy="658368"/>
          </a:xfrm>
        </p:grpSpPr>
        <p:sp>
          <p:nvSpPr>
            <p:cNvPr id="189" name="Rounded Rectangle"/>
            <p:cNvSpPr/>
            <p:nvPr/>
          </p:nvSpPr>
          <p:spPr>
            <a:xfrm>
              <a:off x="0" y="0"/>
              <a:ext cx="3888943" cy="658369"/>
            </a:xfrm>
            <a:prstGeom prst="roundRect">
              <a:avLst>
                <a:gd name="adj" fmla="val 13889"/>
              </a:avLst>
            </a:prstGeom>
            <a:solidFill>
              <a:srgbClr val="FFEFE2"/>
            </a:solidFill>
            <a:ln w="19050" cap="flat">
              <a:solidFill>
                <a:srgbClr val="E03D6B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1400"/>
              </a:pPr>
            </a:p>
          </p:txBody>
        </p:sp>
        <p:sp>
          <p:nvSpPr>
            <p:cNvPr id="190" name="My mass is 60 kg."/>
            <p:cNvSpPr txBox="1"/>
            <p:nvPr/>
          </p:nvSpPr>
          <p:spPr>
            <a:xfrm>
              <a:off x="36307" y="229730"/>
              <a:ext cx="3816328" cy="19890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761" tIns="761" rIns="761" bIns="761" numCol="1" anchor="ctr">
              <a:spAutoFit/>
            </a:bodyPr>
            <a:lstStyle>
              <a:lvl1pPr algn="ctr">
                <a:defRPr b="1" sz="1400">
                  <a:solidFill>
                    <a:srgbClr val="17203F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My mass is 60 kg.</a:t>
              </a:r>
            </a:p>
          </p:txBody>
        </p:sp>
      </p:grpSp>
      <p:sp>
        <p:nvSpPr>
          <p:cNvPr id="192" name="wd1_bg"/>
          <p:cNvSpPr/>
          <p:nvPr/>
        </p:nvSpPr>
        <p:spPr>
          <a:xfrm>
            <a:off x="1170432" y="3346703"/>
            <a:ext cx="10472623" cy="841249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6510">
            <a:solidFill>
              <a:srgbClr val="D8DEE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93" name="wd1_q"/>
          <p:cNvSpPr txBox="1"/>
          <p:nvPr/>
        </p:nvSpPr>
        <p:spPr>
          <a:xfrm>
            <a:off x="1426463" y="3639117"/>
            <a:ext cx="6035042" cy="2564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ts val="2100"/>
              </a:lnSpc>
              <a:defRPr sz="1600">
                <a:solidFill>
                  <a:srgbClr val="141A3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g = 10 N/kg</a:t>
            </a:r>
          </a:p>
        </p:txBody>
      </p:sp>
      <p:grpSp>
        <p:nvGrpSpPr>
          <p:cNvPr id="196" name="wd1_a"/>
          <p:cNvGrpSpPr/>
          <p:nvPr/>
        </p:nvGrpSpPr>
        <p:grpSpPr>
          <a:xfrm>
            <a:off x="7662671" y="3438144"/>
            <a:ext cx="3888944" cy="658369"/>
            <a:chOff x="0" y="0"/>
            <a:chExt cx="3888942" cy="658368"/>
          </a:xfrm>
        </p:grpSpPr>
        <p:sp>
          <p:nvSpPr>
            <p:cNvPr id="194" name="Rounded Rectangle"/>
            <p:cNvSpPr/>
            <p:nvPr/>
          </p:nvSpPr>
          <p:spPr>
            <a:xfrm>
              <a:off x="0" y="0"/>
              <a:ext cx="3888943" cy="658369"/>
            </a:xfrm>
            <a:prstGeom prst="roundRect">
              <a:avLst>
                <a:gd name="adj" fmla="val 13889"/>
              </a:avLst>
            </a:prstGeom>
            <a:solidFill>
              <a:srgbClr val="FFEFE2"/>
            </a:solidFill>
            <a:ln w="19050" cap="flat">
              <a:solidFill>
                <a:srgbClr val="E03D6B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1400"/>
              </a:pPr>
            </a:p>
          </p:txBody>
        </p:sp>
        <p:sp>
          <p:nvSpPr>
            <p:cNvPr id="195" name="g ≈ 9.8 N/kg or g ≈ 10 N/kg"/>
            <p:cNvSpPr txBox="1"/>
            <p:nvPr/>
          </p:nvSpPr>
          <p:spPr>
            <a:xfrm>
              <a:off x="36307" y="229730"/>
              <a:ext cx="3816328" cy="19890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761" tIns="761" rIns="761" bIns="761" numCol="1" anchor="ctr">
              <a:spAutoFit/>
            </a:bodyPr>
            <a:lstStyle>
              <a:lvl1pPr algn="ctr">
                <a:defRPr b="1" sz="1400">
                  <a:solidFill>
                    <a:srgbClr val="17203F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g ≈ 9.8 N/kg or g ≈ 10 N/kg</a:t>
              </a:r>
            </a:p>
          </p:txBody>
        </p:sp>
      </p:grpSp>
      <p:sp>
        <p:nvSpPr>
          <p:cNvPr id="197" name="wd2_bg"/>
          <p:cNvSpPr/>
          <p:nvPr/>
        </p:nvSpPr>
        <p:spPr>
          <a:xfrm>
            <a:off x="1170432" y="4370832"/>
            <a:ext cx="10472623" cy="841249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6510">
            <a:solidFill>
              <a:srgbClr val="D8DEE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98" name="wd2_q"/>
          <p:cNvSpPr txBox="1"/>
          <p:nvPr/>
        </p:nvSpPr>
        <p:spPr>
          <a:xfrm>
            <a:off x="1426463" y="4663245"/>
            <a:ext cx="6035042" cy="2564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ts val="2100"/>
              </a:lnSpc>
              <a:defRPr sz="1600">
                <a:solidFill>
                  <a:srgbClr val="141A3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"A 2 kg mass weighs 2 N."</a:t>
            </a:r>
          </a:p>
        </p:txBody>
      </p:sp>
      <p:grpSp>
        <p:nvGrpSpPr>
          <p:cNvPr id="201" name="wd2_a"/>
          <p:cNvGrpSpPr/>
          <p:nvPr/>
        </p:nvGrpSpPr>
        <p:grpSpPr>
          <a:xfrm>
            <a:off x="7662671" y="4462271"/>
            <a:ext cx="3888944" cy="658369"/>
            <a:chOff x="0" y="0"/>
            <a:chExt cx="3888942" cy="658368"/>
          </a:xfrm>
        </p:grpSpPr>
        <p:sp>
          <p:nvSpPr>
            <p:cNvPr id="199" name="Rounded Rectangle"/>
            <p:cNvSpPr/>
            <p:nvPr/>
          </p:nvSpPr>
          <p:spPr>
            <a:xfrm>
              <a:off x="0" y="0"/>
              <a:ext cx="3888943" cy="658369"/>
            </a:xfrm>
            <a:prstGeom prst="roundRect">
              <a:avLst>
                <a:gd name="adj" fmla="val 13889"/>
              </a:avLst>
            </a:prstGeom>
            <a:solidFill>
              <a:srgbClr val="FFEFE2"/>
            </a:solidFill>
            <a:ln w="19050" cap="flat">
              <a:solidFill>
                <a:srgbClr val="E03D6B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1400"/>
              </a:pPr>
            </a:p>
          </p:txBody>
        </p:sp>
        <p:sp>
          <p:nvSpPr>
            <p:cNvPr id="200" name="A 2 kg mass weighs about 19.6 N."/>
            <p:cNvSpPr txBox="1"/>
            <p:nvPr/>
          </p:nvSpPr>
          <p:spPr>
            <a:xfrm>
              <a:off x="36307" y="229730"/>
              <a:ext cx="3816328" cy="19890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761" tIns="761" rIns="761" bIns="761" numCol="1" anchor="ctr">
              <a:spAutoFit/>
            </a:bodyPr>
            <a:lstStyle>
              <a:lvl1pPr algn="ctr">
                <a:defRPr b="1" sz="1400">
                  <a:solidFill>
                    <a:srgbClr val="17203F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A 2 kg mass weighs about 19.6 N.</a:t>
              </a:r>
            </a:p>
          </p:txBody>
        </p:sp>
      </p:grpSp>
      <p:sp>
        <p:nvSpPr>
          <p:cNvPr id="202" name="wd3_bg"/>
          <p:cNvSpPr/>
          <p:nvPr/>
        </p:nvSpPr>
        <p:spPr>
          <a:xfrm>
            <a:off x="1170432" y="5394959"/>
            <a:ext cx="10472623" cy="841249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6510">
            <a:solidFill>
              <a:srgbClr val="D8DEE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03" name="wd3_q"/>
          <p:cNvSpPr txBox="1"/>
          <p:nvPr/>
        </p:nvSpPr>
        <p:spPr>
          <a:xfrm>
            <a:off x="1426463" y="5687373"/>
            <a:ext cx="6035042" cy="2564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ts val="2100"/>
              </a:lnSpc>
              <a:defRPr sz="1600">
                <a:solidFill>
                  <a:srgbClr val="141A3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“My mass would decrease on the Moon.”</a:t>
            </a:r>
          </a:p>
        </p:txBody>
      </p:sp>
      <p:grpSp>
        <p:nvGrpSpPr>
          <p:cNvPr id="206" name="wd3_a"/>
          <p:cNvGrpSpPr/>
          <p:nvPr/>
        </p:nvGrpSpPr>
        <p:grpSpPr>
          <a:xfrm>
            <a:off x="7662671" y="5486400"/>
            <a:ext cx="3888944" cy="658369"/>
            <a:chOff x="0" y="0"/>
            <a:chExt cx="3888942" cy="658368"/>
          </a:xfrm>
        </p:grpSpPr>
        <p:sp>
          <p:nvSpPr>
            <p:cNvPr id="204" name="Rounded Rectangle"/>
            <p:cNvSpPr/>
            <p:nvPr/>
          </p:nvSpPr>
          <p:spPr>
            <a:xfrm>
              <a:off x="0" y="0"/>
              <a:ext cx="3888943" cy="658369"/>
            </a:xfrm>
            <a:prstGeom prst="roundRect">
              <a:avLst>
                <a:gd name="adj" fmla="val 13889"/>
              </a:avLst>
            </a:prstGeom>
            <a:solidFill>
              <a:srgbClr val="FFEFE2"/>
            </a:solidFill>
            <a:ln w="19050" cap="flat">
              <a:solidFill>
                <a:srgbClr val="E03D6B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1400"/>
              </a:pPr>
            </a:p>
          </p:txBody>
        </p:sp>
        <p:sp>
          <p:nvSpPr>
            <p:cNvPr id="205" name="My mass would stay the same everywhere."/>
            <p:cNvSpPr txBox="1"/>
            <p:nvPr/>
          </p:nvSpPr>
          <p:spPr>
            <a:xfrm>
              <a:off x="36307" y="229730"/>
              <a:ext cx="3816328" cy="19890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761" tIns="761" rIns="761" bIns="761" numCol="1" anchor="ctr">
              <a:spAutoFit/>
            </a:bodyPr>
            <a:lstStyle>
              <a:lvl1pPr algn="ctr">
                <a:defRPr b="1" sz="1400">
                  <a:solidFill>
                    <a:srgbClr val="17203F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My mass would stay the same everywhere.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  <p:cond evt="onBegin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mediacall" nodeType="afterEffect" presetSubtype="0" presetID="1" grpId="1" fill="hold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00000" fill="hold"/>
                                        <p:tgtEl>
                                          <p:spTgt spid="18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Class="entr" nodeType="clickEffect" presetSubtype="16" presetID="23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400" fill="hold"/>
                                        <p:tgtEl>
                                          <p:spTgt spid="19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400" fill="hold"/>
                                        <p:tgtEl>
                                          <p:spTgt spid="19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Class="entr" nodeType="clickEffect" presetSubtype="16" presetID="23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400" fill="hold"/>
                                        <p:tgtEl>
                                          <p:spTgt spid="19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400" fill="hold"/>
                                        <p:tgtEl>
                                          <p:spTgt spid="19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Class="entr" nodeType="clickEffect" presetSubtype="16" presetID="23" grpId="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" fill="hold"/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400" fill="hold"/>
                                        <p:tgtEl>
                                          <p:spTgt spid="20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400" fill="hold"/>
                                        <p:tgtEl>
                                          <p:spTgt spid="20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Class="entr" nodeType="clickEffect" presetSubtype="16" presetID="23" grpId="5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8" fill="hold"/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400" fill="hold"/>
                                        <p:tgtEl>
                                          <p:spTgt spid="20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400" fill="hold"/>
                                        <p:tgtEl>
                                          <p:spTgt spid="20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  <p:video fullScrn="0">
              <p:cMediaNode mute="0" showWhenStopped="1" numSld="1" vol="0">
                <p:cTn id="31" fill="hold" display="0">
                  <p:stCondLst>
                    <p:cond delay="indefinite"/>
                  </p:stCondLst>
                </p:cTn>
                <p:tgtEl>
                  <p:spTgt spid="181"/>
                </p:tgtEl>
              </p:cMediaNode>
            </p:video>
            <p:seq concurrent="1" prevAc="none" nextAc="seek">
              <p:cTn id="32" evtFilter="cancelBubble" nodeType="interactiveSeq" restart="whenNotActive" fill="hold">
                <p:stCondLst>
                  <p:cond delay="0" evt="onClick">
                    <p:tgtEl>
                      <p:spTgt spid="181"/>
                    </p:tgtEl>
                  </p:cond>
                </p:stCondLst>
                <p:endSync delay="0" evt="end">
                  <p:rtn val="all"/>
                </p:endSync>
                <p:childTnLst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Class="mediacall" nodeType="clickEffect" presetSubtype="0" presetID="2" fill="hold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36" dur="1" fill="hold"/>
                                        <p:tgtEl>
                                          <p:spTgt spid="18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delay="0" evt="onClick">
                  <p:tgtEl>
                    <p:spTgt spid="181"/>
                  </p:tgtEl>
                </p:cond>
              </p:nextCondLst>
            </p:seq>
          </p:childTnLst>
        </p:cTn>
      </p:par>
    </p:tnLst>
    <p:bldLst>
      <p:bldP build="whole" bldLvl="1" animBg="1" rev="0" advAuto="0" spid="196" grpId="3"/>
      <p:bldP build="whole" bldLvl="1" animBg="1" rev="0" advAuto="0" spid="206" grpId="5"/>
      <p:bldP build="whole" bldLvl="1" animBg="1" rev="0" advAuto="0" spid="191" grpId="2"/>
      <p:bldP build="whole" bldLvl="1" animBg="1" rev="0" advAuto="0" spid="201" grpId="4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2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0" name="timer_video" descr="timer_video"/>
          <p:cNvPicPr>
            <a:picLocks noChangeAspect="0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5">
            <a:extLst/>
          </a:blip>
          <a:stretch>
            <a:fillRect/>
          </a:stretch>
        </p:blipFill>
        <p:spPr>
          <a:xfrm>
            <a:off x="310895" y="310895"/>
            <a:ext cx="457201" cy="6236210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213" name="phase_pill"/>
          <p:cNvGrpSpPr/>
          <p:nvPr/>
        </p:nvGrpSpPr>
        <p:grpSpPr>
          <a:xfrm>
            <a:off x="1170432" y="310895"/>
            <a:ext cx="2072030" cy="329185"/>
            <a:chOff x="0" y="0"/>
            <a:chExt cx="2072029" cy="329184"/>
          </a:xfrm>
        </p:grpSpPr>
        <p:sp>
          <p:nvSpPr>
            <p:cNvPr id="211" name="Rounded Rectangle"/>
            <p:cNvSpPr/>
            <p:nvPr/>
          </p:nvSpPr>
          <p:spPr>
            <a:xfrm>
              <a:off x="0" y="0"/>
              <a:ext cx="2072030" cy="329185"/>
            </a:xfrm>
            <a:prstGeom prst="roundRect">
              <a:avLst>
                <a:gd name="adj" fmla="val 44444"/>
              </a:avLst>
            </a:prstGeom>
            <a:solidFill>
              <a:srgbClr val="17203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1100"/>
              </a:pPr>
            </a:p>
          </p:txBody>
        </p:sp>
        <p:sp>
          <p:nvSpPr>
            <p:cNvPr id="212" name="COLD CALL · 6 MIN"/>
            <p:cNvSpPr txBox="1"/>
            <p:nvPr/>
          </p:nvSpPr>
          <p:spPr>
            <a:xfrm>
              <a:off x="42850" y="90677"/>
              <a:ext cx="1986329" cy="14783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>
                <a:defRPr b="1" spc="120" sz="11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COLD CALL · 6 MIN</a:t>
              </a:r>
            </a:p>
          </p:txBody>
        </p:sp>
      </p:grpSp>
      <p:sp>
        <p:nvSpPr>
          <p:cNvPr id="214" name="c0_bg"/>
          <p:cNvSpPr/>
          <p:nvPr/>
        </p:nvSpPr>
        <p:spPr>
          <a:xfrm>
            <a:off x="1170432" y="969263"/>
            <a:ext cx="5117441" cy="1389890"/>
          </a:xfrm>
          <a:prstGeom prst="roundRect">
            <a:avLst>
              <a:gd name="adj" fmla="val 6579"/>
            </a:avLst>
          </a:prstGeom>
          <a:solidFill>
            <a:srgbClr val="FFFFFF"/>
          </a:solidFill>
          <a:ln w="16510">
            <a:solidFill>
              <a:srgbClr val="D8DEE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15" name="c0_badge"/>
          <p:cNvSpPr/>
          <p:nvPr/>
        </p:nvSpPr>
        <p:spPr>
          <a:xfrm>
            <a:off x="1371600" y="1133855"/>
            <a:ext cx="384048" cy="384049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16" name="c0_num"/>
          <p:cNvSpPr txBox="1"/>
          <p:nvPr/>
        </p:nvSpPr>
        <p:spPr>
          <a:xfrm>
            <a:off x="1371600" y="1224279"/>
            <a:ext cx="384048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400">
                <a:solidFill>
                  <a:srgbClr val="17203F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217" name="c0_q"/>
          <p:cNvSpPr txBox="1"/>
          <p:nvPr/>
        </p:nvSpPr>
        <p:spPr>
          <a:xfrm>
            <a:off x="1901951" y="1289109"/>
            <a:ext cx="4184753" cy="2564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ts val="2100"/>
              </a:lnSpc>
              <a:defRPr sz="1600">
                <a:solidFill>
                  <a:srgbClr val="141A3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What is mass?</a:t>
            </a:r>
          </a:p>
        </p:txBody>
      </p:sp>
      <p:grpSp>
        <p:nvGrpSpPr>
          <p:cNvPr id="220" name="c0_a"/>
          <p:cNvGrpSpPr/>
          <p:nvPr/>
        </p:nvGrpSpPr>
        <p:grpSpPr>
          <a:xfrm>
            <a:off x="1371600" y="1810511"/>
            <a:ext cx="4715105" cy="402337"/>
            <a:chOff x="0" y="0"/>
            <a:chExt cx="4715104" cy="402336"/>
          </a:xfrm>
        </p:grpSpPr>
        <p:sp>
          <p:nvSpPr>
            <p:cNvPr id="218" name="Rounded Rectangle"/>
            <p:cNvSpPr/>
            <p:nvPr/>
          </p:nvSpPr>
          <p:spPr>
            <a:xfrm>
              <a:off x="0" y="0"/>
              <a:ext cx="4715105" cy="402337"/>
            </a:xfrm>
            <a:prstGeom prst="roundRect">
              <a:avLst>
                <a:gd name="adj" fmla="val 22727"/>
              </a:avLst>
            </a:prstGeom>
            <a:solidFill>
              <a:srgbClr val="FFEFE2"/>
            </a:solidFill>
            <a:ln w="16510" cap="flat">
              <a:solidFill>
                <a:srgbClr val="FF8A3D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1600"/>
              </a:pPr>
            </a:p>
          </p:txBody>
        </p:sp>
        <p:sp>
          <p:nvSpPr>
            <p:cNvPr id="219" name="The amount of matter in something."/>
            <p:cNvSpPr txBox="1"/>
            <p:nvPr/>
          </p:nvSpPr>
          <p:spPr>
            <a:xfrm>
              <a:off x="35037" y="89175"/>
              <a:ext cx="4645030" cy="22398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1015" tIns="1015" rIns="1015" bIns="1015" numCol="1" anchor="ctr">
              <a:spAutoFit/>
            </a:bodyPr>
            <a:lstStyle>
              <a:lvl1pPr>
                <a:defRPr b="1" sz="1600">
                  <a:solidFill>
                    <a:srgbClr val="17203F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The amount of matter in something.</a:t>
              </a:r>
            </a:p>
          </p:txBody>
        </p:sp>
      </p:grpSp>
      <p:sp>
        <p:nvSpPr>
          <p:cNvPr id="221" name="c1_bg"/>
          <p:cNvSpPr/>
          <p:nvPr/>
        </p:nvSpPr>
        <p:spPr>
          <a:xfrm>
            <a:off x="6525615" y="969263"/>
            <a:ext cx="5117441" cy="1389890"/>
          </a:xfrm>
          <a:prstGeom prst="roundRect">
            <a:avLst>
              <a:gd name="adj" fmla="val 6579"/>
            </a:avLst>
          </a:prstGeom>
          <a:solidFill>
            <a:srgbClr val="FFFFFF"/>
          </a:solidFill>
          <a:ln w="16510">
            <a:solidFill>
              <a:srgbClr val="D8DEE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22" name="c1_badge"/>
          <p:cNvSpPr/>
          <p:nvPr/>
        </p:nvSpPr>
        <p:spPr>
          <a:xfrm>
            <a:off x="6726783" y="1133855"/>
            <a:ext cx="384049" cy="384049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23" name="c1_num"/>
          <p:cNvSpPr txBox="1"/>
          <p:nvPr/>
        </p:nvSpPr>
        <p:spPr>
          <a:xfrm>
            <a:off x="6726783" y="1224279"/>
            <a:ext cx="384049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400">
                <a:solidFill>
                  <a:srgbClr val="17203F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224" name="c1_q"/>
          <p:cNvSpPr txBox="1"/>
          <p:nvPr/>
        </p:nvSpPr>
        <p:spPr>
          <a:xfrm>
            <a:off x="7257136" y="1289109"/>
            <a:ext cx="4184753" cy="2564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ts val="2100"/>
              </a:lnSpc>
              <a:defRPr sz="1600">
                <a:solidFill>
                  <a:srgbClr val="141A3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What is weight?</a:t>
            </a:r>
          </a:p>
        </p:txBody>
      </p:sp>
      <p:grpSp>
        <p:nvGrpSpPr>
          <p:cNvPr id="227" name="c1_a"/>
          <p:cNvGrpSpPr/>
          <p:nvPr/>
        </p:nvGrpSpPr>
        <p:grpSpPr>
          <a:xfrm>
            <a:off x="6726783" y="1810511"/>
            <a:ext cx="4715106" cy="402337"/>
            <a:chOff x="0" y="0"/>
            <a:chExt cx="4715104" cy="402336"/>
          </a:xfrm>
        </p:grpSpPr>
        <p:sp>
          <p:nvSpPr>
            <p:cNvPr id="225" name="Rounded Rectangle"/>
            <p:cNvSpPr/>
            <p:nvPr/>
          </p:nvSpPr>
          <p:spPr>
            <a:xfrm>
              <a:off x="0" y="0"/>
              <a:ext cx="4715105" cy="402337"/>
            </a:xfrm>
            <a:prstGeom prst="roundRect">
              <a:avLst>
                <a:gd name="adj" fmla="val 22727"/>
              </a:avLst>
            </a:prstGeom>
            <a:solidFill>
              <a:srgbClr val="FFEFE2"/>
            </a:solidFill>
            <a:ln w="16510" cap="flat">
              <a:solidFill>
                <a:srgbClr val="FF8A3D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1600"/>
              </a:pPr>
            </a:p>
          </p:txBody>
        </p:sp>
        <p:sp>
          <p:nvSpPr>
            <p:cNvPr id="226" name="The gravitational force on a mass."/>
            <p:cNvSpPr txBox="1"/>
            <p:nvPr/>
          </p:nvSpPr>
          <p:spPr>
            <a:xfrm>
              <a:off x="35037" y="89175"/>
              <a:ext cx="4645030" cy="22398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1015" tIns="1015" rIns="1015" bIns="1015" numCol="1" anchor="ctr">
              <a:spAutoFit/>
            </a:bodyPr>
            <a:lstStyle>
              <a:lvl1pPr>
                <a:defRPr b="1" sz="1600">
                  <a:solidFill>
                    <a:srgbClr val="17203F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The gravitational force on a mass.</a:t>
              </a:r>
            </a:p>
          </p:txBody>
        </p:sp>
      </p:grpSp>
      <p:sp>
        <p:nvSpPr>
          <p:cNvPr id="228" name="c2_bg"/>
          <p:cNvSpPr/>
          <p:nvPr/>
        </p:nvSpPr>
        <p:spPr>
          <a:xfrm>
            <a:off x="1170432" y="2560320"/>
            <a:ext cx="5117441" cy="1389889"/>
          </a:xfrm>
          <a:prstGeom prst="roundRect">
            <a:avLst>
              <a:gd name="adj" fmla="val 6579"/>
            </a:avLst>
          </a:prstGeom>
          <a:solidFill>
            <a:srgbClr val="FFFFFF"/>
          </a:solidFill>
          <a:ln w="16510">
            <a:solidFill>
              <a:srgbClr val="D8DEE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29" name="c2_badge"/>
          <p:cNvSpPr/>
          <p:nvPr/>
        </p:nvSpPr>
        <p:spPr>
          <a:xfrm>
            <a:off x="1371600" y="2724911"/>
            <a:ext cx="384048" cy="384049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30" name="c2_num"/>
          <p:cNvSpPr txBox="1"/>
          <p:nvPr/>
        </p:nvSpPr>
        <p:spPr>
          <a:xfrm>
            <a:off x="1371600" y="2815335"/>
            <a:ext cx="384048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400">
                <a:solidFill>
                  <a:srgbClr val="17203F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231" name="c2_q"/>
          <p:cNvSpPr txBox="1"/>
          <p:nvPr/>
        </p:nvSpPr>
        <p:spPr>
          <a:xfrm>
            <a:off x="1901951" y="2880165"/>
            <a:ext cx="4184753" cy="2564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ts val="2100"/>
              </a:lnSpc>
              <a:defRPr sz="1600">
                <a:solidFill>
                  <a:srgbClr val="141A3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What is the unit of mass?</a:t>
            </a:r>
          </a:p>
        </p:txBody>
      </p:sp>
      <p:grpSp>
        <p:nvGrpSpPr>
          <p:cNvPr id="234" name="c2_a"/>
          <p:cNvGrpSpPr/>
          <p:nvPr/>
        </p:nvGrpSpPr>
        <p:grpSpPr>
          <a:xfrm>
            <a:off x="1371600" y="3401567"/>
            <a:ext cx="4715105" cy="402337"/>
            <a:chOff x="0" y="0"/>
            <a:chExt cx="4715104" cy="402336"/>
          </a:xfrm>
        </p:grpSpPr>
        <p:sp>
          <p:nvSpPr>
            <p:cNvPr id="232" name="Rounded Rectangle"/>
            <p:cNvSpPr/>
            <p:nvPr/>
          </p:nvSpPr>
          <p:spPr>
            <a:xfrm>
              <a:off x="0" y="0"/>
              <a:ext cx="4715105" cy="402337"/>
            </a:xfrm>
            <a:prstGeom prst="roundRect">
              <a:avLst>
                <a:gd name="adj" fmla="val 22727"/>
              </a:avLst>
            </a:prstGeom>
            <a:solidFill>
              <a:srgbClr val="FFEFE2"/>
            </a:solidFill>
            <a:ln w="16510" cap="flat">
              <a:solidFill>
                <a:srgbClr val="FF8A3D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1600"/>
              </a:pPr>
            </a:p>
          </p:txBody>
        </p:sp>
        <p:sp>
          <p:nvSpPr>
            <p:cNvPr id="233" name="kg"/>
            <p:cNvSpPr txBox="1"/>
            <p:nvPr/>
          </p:nvSpPr>
          <p:spPr>
            <a:xfrm>
              <a:off x="35037" y="89175"/>
              <a:ext cx="4645030" cy="22398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1015" tIns="1015" rIns="1015" bIns="1015" numCol="1" anchor="ctr">
              <a:spAutoFit/>
            </a:bodyPr>
            <a:lstStyle>
              <a:lvl1pPr>
                <a:defRPr b="1" sz="1600">
                  <a:solidFill>
                    <a:srgbClr val="17203F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kg</a:t>
              </a:r>
            </a:p>
          </p:txBody>
        </p:sp>
      </p:grpSp>
      <p:sp>
        <p:nvSpPr>
          <p:cNvPr id="235" name="c3_bg"/>
          <p:cNvSpPr/>
          <p:nvPr/>
        </p:nvSpPr>
        <p:spPr>
          <a:xfrm>
            <a:off x="6525615" y="2560320"/>
            <a:ext cx="5117441" cy="1389889"/>
          </a:xfrm>
          <a:prstGeom prst="roundRect">
            <a:avLst>
              <a:gd name="adj" fmla="val 6579"/>
            </a:avLst>
          </a:prstGeom>
          <a:solidFill>
            <a:srgbClr val="FFFFFF"/>
          </a:solidFill>
          <a:ln w="16510">
            <a:solidFill>
              <a:srgbClr val="D8DEE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36" name="c3_badge"/>
          <p:cNvSpPr/>
          <p:nvPr/>
        </p:nvSpPr>
        <p:spPr>
          <a:xfrm>
            <a:off x="6726783" y="2724911"/>
            <a:ext cx="384049" cy="384049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37" name="c3_num"/>
          <p:cNvSpPr txBox="1"/>
          <p:nvPr/>
        </p:nvSpPr>
        <p:spPr>
          <a:xfrm>
            <a:off x="6726783" y="2815335"/>
            <a:ext cx="384049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400">
                <a:solidFill>
                  <a:srgbClr val="17203F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238" name="c3_q"/>
          <p:cNvSpPr txBox="1"/>
          <p:nvPr/>
        </p:nvSpPr>
        <p:spPr>
          <a:xfrm>
            <a:off x="7257136" y="2880165"/>
            <a:ext cx="4184753" cy="2564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ts val="2100"/>
              </a:lnSpc>
              <a:defRPr sz="1600">
                <a:solidFill>
                  <a:srgbClr val="141A3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What is the unit of weight?</a:t>
            </a:r>
          </a:p>
        </p:txBody>
      </p:sp>
      <p:grpSp>
        <p:nvGrpSpPr>
          <p:cNvPr id="241" name="c3_a"/>
          <p:cNvGrpSpPr/>
          <p:nvPr/>
        </p:nvGrpSpPr>
        <p:grpSpPr>
          <a:xfrm>
            <a:off x="6726783" y="3401567"/>
            <a:ext cx="4715106" cy="402337"/>
            <a:chOff x="0" y="0"/>
            <a:chExt cx="4715104" cy="402336"/>
          </a:xfrm>
        </p:grpSpPr>
        <p:sp>
          <p:nvSpPr>
            <p:cNvPr id="239" name="Rounded Rectangle"/>
            <p:cNvSpPr/>
            <p:nvPr/>
          </p:nvSpPr>
          <p:spPr>
            <a:xfrm>
              <a:off x="0" y="0"/>
              <a:ext cx="4715105" cy="402337"/>
            </a:xfrm>
            <a:prstGeom prst="roundRect">
              <a:avLst>
                <a:gd name="adj" fmla="val 22727"/>
              </a:avLst>
            </a:prstGeom>
            <a:solidFill>
              <a:srgbClr val="FFEFE2"/>
            </a:solidFill>
            <a:ln w="16510" cap="flat">
              <a:solidFill>
                <a:srgbClr val="FF8A3D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1600"/>
              </a:pPr>
            </a:p>
          </p:txBody>
        </p:sp>
        <p:sp>
          <p:nvSpPr>
            <p:cNvPr id="240" name="N"/>
            <p:cNvSpPr txBox="1"/>
            <p:nvPr/>
          </p:nvSpPr>
          <p:spPr>
            <a:xfrm>
              <a:off x="35037" y="89175"/>
              <a:ext cx="4645030" cy="22398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1015" tIns="1015" rIns="1015" bIns="1015" numCol="1" anchor="ctr">
              <a:spAutoFit/>
            </a:bodyPr>
            <a:lstStyle>
              <a:lvl1pPr>
                <a:defRPr b="1" sz="1600">
                  <a:solidFill>
                    <a:srgbClr val="17203F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N</a:t>
              </a:r>
            </a:p>
          </p:txBody>
        </p:sp>
      </p:grpSp>
      <p:sp>
        <p:nvSpPr>
          <p:cNvPr id="242" name="c4_bg"/>
          <p:cNvSpPr/>
          <p:nvPr/>
        </p:nvSpPr>
        <p:spPr>
          <a:xfrm>
            <a:off x="1170432" y="4151376"/>
            <a:ext cx="5117441" cy="1389889"/>
          </a:xfrm>
          <a:prstGeom prst="roundRect">
            <a:avLst>
              <a:gd name="adj" fmla="val 6579"/>
            </a:avLst>
          </a:prstGeom>
          <a:solidFill>
            <a:srgbClr val="FFFFFF"/>
          </a:solidFill>
          <a:ln w="16510">
            <a:solidFill>
              <a:srgbClr val="D8DEE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43" name="c4_badge"/>
          <p:cNvSpPr/>
          <p:nvPr/>
        </p:nvSpPr>
        <p:spPr>
          <a:xfrm>
            <a:off x="1371600" y="4315967"/>
            <a:ext cx="384048" cy="384049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44" name="c4_num"/>
          <p:cNvSpPr txBox="1"/>
          <p:nvPr/>
        </p:nvSpPr>
        <p:spPr>
          <a:xfrm>
            <a:off x="1371600" y="4406391"/>
            <a:ext cx="384048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400">
                <a:solidFill>
                  <a:srgbClr val="17203F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5</a:t>
            </a:r>
          </a:p>
        </p:txBody>
      </p:sp>
      <p:sp>
        <p:nvSpPr>
          <p:cNvPr id="245" name="c4_q"/>
          <p:cNvSpPr txBox="1"/>
          <p:nvPr/>
        </p:nvSpPr>
        <p:spPr>
          <a:xfrm>
            <a:off x="1901951" y="4471221"/>
            <a:ext cx="4184753" cy="2564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ts val="2100"/>
              </a:lnSpc>
              <a:defRPr sz="1600">
                <a:solidFill>
                  <a:srgbClr val="141A3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Complete: g = ______</a:t>
            </a:r>
          </a:p>
        </p:txBody>
      </p:sp>
      <p:grpSp>
        <p:nvGrpSpPr>
          <p:cNvPr id="248" name="c4_a"/>
          <p:cNvGrpSpPr/>
          <p:nvPr/>
        </p:nvGrpSpPr>
        <p:grpSpPr>
          <a:xfrm>
            <a:off x="1371600" y="4992623"/>
            <a:ext cx="4715105" cy="402337"/>
            <a:chOff x="0" y="0"/>
            <a:chExt cx="4715104" cy="402336"/>
          </a:xfrm>
        </p:grpSpPr>
        <p:sp>
          <p:nvSpPr>
            <p:cNvPr id="246" name="Rounded Rectangle"/>
            <p:cNvSpPr/>
            <p:nvPr/>
          </p:nvSpPr>
          <p:spPr>
            <a:xfrm>
              <a:off x="0" y="0"/>
              <a:ext cx="4715105" cy="402337"/>
            </a:xfrm>
            <a:prstGeom prst="roundRect">
              <a:avLst>
                <a:gd name="adj" fmla="val 22727"/>
              </a:avLst>
            </a:prstGeom>
            <a:solidFill>
              <a:srgbClr val="FFEFE2"/>
            </a:solidFill>
            <a:ln w="16510" cap="flat">
              <a:solidFill>
                <a:srgbClr val="FF8A3D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1600"/>
              </a:pPr>
            </a:p>
          </p:txBody>
        </p:sp>
        <p:sp>
          <p:nvSpPr>
            <p:cNvPr id="247" name="W ÷ m"/>
            <p:cNvSpPr txBox="1"/>
            <p:nvPr/>
          </p:nvSpPr>
          <p:spPr>
            <a:xfrm>
              <a:off x="35037" y="89175"/>
              <a:ext cx="4645030" cy="22398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1015" tIns="1015" rIns="1015" bIns="1015" numCol="1" anchor="ctr">
              <a:spAutoFit/>
            </a:bodyPr>
            <a:lstStyle>
              <a:lvl1pPr>
                <a:defRPr b="1" sz="1600">
                  <a:solidFill>
                    <a:srgbClr val="17203F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W ÷ m</a:t>
              </a:r>
            </a:p>
          </p:txBody>
        </p:sp>
      </p:grpSp>
      <p:sp>
        <p:nvSpPr>
          <p:cNvPr id="249" name="c5_bg"/>
          <p:cNvSpPr/>
          <p:nvPr/>
        </p:nvSpPr>
        <p:spPr>
          <a:xfrm>
            <a:off x="6525615" y="4151376"/>
            <a:ext cx="5117441" cy="1389889"/>
          </a:xfrm>
          <a:prstGeom prst="roundRect">
            <a:avLst>
              <a:gd name="adj" fmla="val 6579"/>
            </a:avLst>
          </a:prstGeom>
          <a:solidFill>
            <a:srgbClr val="FFFFFF"/>
          </a:solidFill>
          <a:ln w="16510">
            <a:solidFill>
              <a:srgbClr val="D8DEE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50" name="c5_badge"/>
          <p:cNvSpPr/>
          <p:nvPr/>
        </p:nvSpPr>
        <p:spPr>
          <a:xfrm>
            <a:off x="6726783" y="4315967"/>
            <a:ext cx="384049" cy="384049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51" name="c5_num"/>
          <p:cNvSpPr txBox="1"/>
          <p:nvPr/>
        </p:nvSpPr>
        <p:spPr>
          <a:xfrm>
            <a:off x="6726783" y="4406391"/>
            <a:ext cx="384049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400">
                <a:solidFill>
                  <a:srgbClr val="17203F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6</a:t>
            </a:r>
          </a:p>
        </p:txBody>
      </p:sp>
      <p:sp>
        <p:nvSpPr>
          <p:cNvPr id="252" name="c5_q"/>
          <p:cNvSpPr txBox="1"/>
          <p:nvPr/>
        </p:nvSpPr>
        <p:spPr>
          <a:xfrm>
            <a:off x="7257136" y="4471221"/>
            <a:ext cx="4184753" cy="2564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ts val="2100"/>
              </a:lnSpc>
              <a:defRPr sz="1600">
                <a:solidFill>
                  <a:srgbClr val="141A3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How much does a mass of 3 kg weigh?</a:t>
            </a:r>
          </a:p>
        </p:txBody>
      </p:sp>
      <p:grpSp>
        <p:nvGrpSpPr>
          <p:cNvPr id="255" name="c5_a"/>
          <p:cNvGrpSpPr/>
          <p:nvPr/>
        </p:nvGrpSpPr>
        <p:grpSpPr>
          <a:xfrm>
            <a:off x="6726783" y="4992623"/>
            <a:ext cx="4715106" cy="402337"/>
            <a:chOff x="0" y="0"/>
            <a:chExt cx="4715104" cy="402336"/>
          </a:xfrm>
        </p:grpSpPr>
        <p:sp>
          <p:nvSpPr>
            <p:cNvPr id="253" name="Rounded Rectangle"/>
            <p:cNvSpPr/>
            <p:nvPr/>
          </p:nvSpPr>
          <p:spPr>
            <a:xfrm>
              <a:off x="0" y="0"/>
              <a:ext cx="4715105" cy="402337"/>
            </a:xfrm>
            <a:prstGeom prst="roundRect">
              <a:avLst>
                <a:gd name="adj" fmla="val 22727"/>
              </a:avLst>
            </a:prstGeom>
            <a:solidFill>
              <a:srgbClr val="FFEFE2"/>
            </a:solidFill>
            <a:ln w="16510" cap="flat">
              <a:solidFill>
                <a:srgbClr val="FF8A3D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1600"/>
              </a:pPr>
            </a:p>
          </p:txBody>
        </p:sp>
        <p:sp>
          <p:nvSpPr>
            <p:cNvPr id="254" name="3 × 9.8 = 29.4 N"/>
            <p:cNvSpPr txBox="1"/>
            <p:nvPr/>
          </p:nvSpPr>
          <p:spPr>
            <a:xfrm>
              <a:off x="35037" y="89175"/>
              <a:ext cx="4645030" cy="22398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1015" tIns="1015" rIns="1015" bIns="1015" numCol="1" anchor="ctr">
              <a:spAutoFit/>
            </a:bodyPr>
            <a:lstStyle>
              <a:lvl1pPr>
                <a:defRPr b="1" sz="1600">
                  <a:solidFill>
                    <a:srgbClr val="17203F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3 × 9.8 = 29.4 N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  <p:cond evt="onBegin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mediacall" nodeType="afterEffect" presetSubtype="0" presetID="1" grpId="1" fill="hold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60000" fill="hold"/>
                                        <p:tgtEl>
                                          <p:spTgt spid="21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Class="entr" nodeType="clickEffect" presetSubtype="8" presetID="22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>
                                        <p:cTn id="11" dur="400"/>
                                        <p:tgtEl>
                                          <p:spTgt spid="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Class="entr" nodeType="clickEffect" presetSubtype="8" presetID="22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5" fill="hold"/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>
                                        <p:cTn id="16" dur="400"/>
                                        <p:tgtEl>
                                          <p:spTgt spid="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Class="entr" nodeType="clickEffect" presetSubtype="8" presetID="22" grpId="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0" fill="hold"/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>
                                        <p:cTn id="21" dur="400"/>
                                        <p:tgtEl>
                                          <p:spTgt spid="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Class="entr" nodeType="clickEffect" presetSubtype="8" presetID="22" grpId="5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5" fill="hold"/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>
                                        <p:cTn id="26" dur="400"/>
                                        <p:tgtEl>
                                          <p:spTgt spid="2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Class="entr" nodeType="clickEffect" presetSubtype="8" presetID="22" grpId="6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0" fill="hold"/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>
                                        <p:cTn id="31" dur="400"/>
                                        <p:tgtEl>
                                          <p:spTgt spid="2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Class="entr" nodeType="clickEffect" presetSubtype="8" presetID="22" grpId="7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5" fill="hold"/>
                                        <p:tgtEl>
                                          <p:spTgt spid="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>
                                        <p:cTn id="36" dur="400"/>
                                        <p:tgtEl>
                                          <p:spTgt spid="2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  <p:video fullScrn="0">
              <p:cMediaNode mute="0" showWhenStopped="1" numSld="1" vol="0">
                <p:cTn id="37" fill="hold" display="0">
                  <p:stCondLst>
                    <p:cond delay="indefinite"/>
                  </p:stCondLst>
                </p:cTn>
                <p:tgtEl>
                  <p:spTgt spid="210"/>
                </p:tgtEl>
              </p:cMediaNode>
            </p:video>
            <p:seq concurrent="1" prevAc="none" nextAc="seek">
              <p:cTn id="38" evtFilter="cancelBubble" nodeType="interactiveSeq" restart="whenNotActive" fill="hold">
                <p:stCondLst>
                  <p:cond delay="0" evt="onClick">
                    <p:tgtEl>
                      <p:spTgt spid="210"/>
                    </p:tgtEl>
                  </p:cond>
                </p:stCondLst>
                <p:endSync delay="0" evt="end">
                  <p:rtn val="all"/>
                </p:endSync>
                <p:childTnLst>
                  <p:par>
                    <p:cTn id="39" fill="hold">
                      <p:stCondLst>
                        <p:cond delay="0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Class="mediacall" nodeType="clickEffect" presetSubtype="0" presetID="2" fill="hold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42" dur="1" fill="hold"/>
                                        <p:tgtEl>
                                          <p:spTgt spid="21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delay="0" evt="onClick">
                  <p:tgtEl>
                    <p:spTgt spid="210"/>
                  </p:tgtEl>
                </p:cond>
              </p:nextCondLst>
            </p:seq>
          </p:childTnLst>
        </p:cTn>
      </p:par>
    </p:tnLst>
    <p:bldLst>
      <p:bldP build="whole" bldLvl="1" animBg="1" rev="0" advAuto="0" spid="220" grpId="2"/>
      <p:bldP build="whole" bldLvl="1" animBg="1" rev="0" advAuto="0" spid="234" grpId="4"/>
      <p:bldP build="whole" bldLvl="1" animBg="1" rev="0" advAuto="0" spid="248" grpId="6"/>
      <p:bldP build="whole" bldLvl="1" animBg="1" rev="0" advAuto="0" spid="255" grpId="7"/>
      <p:bldP build="whole" bldLvl="1" animBg="1" rev="0" advAuto="0" spid="241" grpId="5"/>
      <p:bldP build="whole" bldLvl="1" animBg="1" rev="0" advAuto="0" spid="227" grpId="3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2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9" name="timer_video" descr="timer_video"/>
          <p:cNvPicPr>
            <a:picLocks noChangeAspect="0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5">
            <a:extLst/>
          </a:blip>
          <a:stretch>
            <a:fillRect/>
          </a:stretch>
        </p:blipFill>
        <p:spPr>
          <a:xfrm>
            <a:off x="310895" y="310895"/>
            <a:ext cx="457201" cy="6236210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262" name="phase_pill"/>
          <p:cNvGrpSpPr/>
          <p:nvPr/>
        </p:nvGrpSpPr>
        <p:grpSpPr>
          <a:xfrm>
            <a:off x="1170432" y="310895"/>
            <a:ext cx="1892808" cy="329185"/>
            <a:chOff x="0" y="0"/>
            <a:chExt cx="1892807" cy="329184"/>
          </a:xfrm>
        </p:grpSpPr>
        <p:sp>
          <p:nvSpPr>
            <p:cNvPr id="260" name="Rounded Rectangle"/>
            <p:cNvSpPr/>
            <p:nvPr/>
          </p:nvSpPr>
          <p:spPr>
            <a:xfrm>
              <a:off x="0" y="0"/>
              <a:ext cx="1892808" cy="329185"/>
            </a:xfrm>
            <a:prstGeom prst="roundRect">
              <a:avLst>
                <a:gd name="adj" fmla="val 44444"/>
              </a:avLst>
            </a:prstGeom>
            <a:solidFill>
              <a:srgbClr val="17203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1100"/>
              </a:pPr>
            </a:p>
          </p:txBody>
        </p:sp>
        <p:sp>
          <p:nvSpPr>
            <p:cNvPr id="261" name="YOU DO · 14 MIN"/>
            <p:cNvSpPr txBox="1"/>
            <p:nvPr/>
          </p:nvSpPr>
          <p:spPr>
            <a:xfrm>
              <a:off x="42850" y="90677"/>
              <a:ext cx="1807107" cy="14783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>
                <a:defRPr b="1" spc="120" sz="11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YOU DO · 14 MIN</a:t>
              </a:r>
            </a:p>
          </p:txBody>
        </p:sp>
      </p:grpSp>
      <p:pic>
        <p:nvPicPr>
          <p:cNvPr id="263" name="gc_logo" descr="gc_logo"/>
          <p:cNvPicPr>
            <a:picLocks noChangeAspect="1"/>
          </p:cNvPicPr>
          <p:nvPr/>
        </p:nvPicPr>
        <p:blipFill>
          <a:blip r:embed="rId6">
            <a:alphaModFix amt="38000"/>
            <a:extLst/>
          </a:blip>
          <a:stretch>
            <a:fillRect/>
          </a:stretch>
        </p:blipFill>
        <p:spPr>
          <a:xfrm>
            <a:off x="10088574" y="786383"/>
            <a:ext cx="1554481" cy="1344169"/>
          </a:xfrm>
          <a:prstGeom prst="rect">
            <a:avLst/>
          </a:prstGeom>
          <a:ln w="12700">
            <a:miter lim="400000"/>
          </a:ln>
        </p:spPr>
      </p:pic>
      <p:sp>
        <p:nvSpPr>
          <p:cNvPr id="264" name="slide_title"/>
          <p:cNvSpPr txBox="1"/>
          <p:nvPr/>
        </p:nvSpPr>
        <p:spPr>
          <a:xfrm>
            <a:off x="1170432" y="1082947"/>
            <a:ext cx="8643823" cy="4492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ts val="3600"/>
              </a:lnSpc>
              <a:defRPr b="1" sz="3000">
                <a:solidFill>
                  <a:srgbClr val="17203F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Mass and Weight worksheet</a:t>
            </a:r>
          </a:p>
        </p:txBody>
      </p:sp>
      <p:sp>
        <p:nvSpPr>
          <p:cNvPr id="265" name="slide_sub"/>
          <p:cNvSpPr txBox="1"/>
          <p:nvPr/>
        </p:nvSpPr>
        <p:spPr>
          <a:xfrm>
            <a:off x="1170432" y="1924787"/>
            <a:ext cx="8643823" cy="2469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700">
                <a:solidFill>
                  <a:srgbClr val="E03D6B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Open Google Classroom now.</a:t>
            </a:r>
          </a:p>
        </p:txBody>
      </p:sp>
      <p:grpSp>
        <p:nvGrpSpPr>
          <p:cNvPr id="270" name="t0"/>
          <p:cNvGrpSpPr/>
          <p:nvPr/>
        </p:nvGrpSpPr>
        <p:grpSpPr>
          <a:xfrm>
            <a:off x="1170432" y="2322576"/>
            <a:ext cx="3307994" cy="1828801"/>
            <a:chOff x="0" y="0"/>
            <a:chExt cx="3307993" cy="1828800"/>
          </a:xfrm>
        </p:grpSpPr>
        <p:sp>
          <p:nvSpPr>
            <p:cNvPr id="266" name="t0_bg"/>
            <p:cNvSpPr/>
            <p:nvPr/>
          </p:nvSpPr>
          <p:spPr>
            <a:xfrm>
              <a:off x="0" y="0"/>
              <a:ext cx="3307994" cy="1828800"/>
            </a:xfrm>
            <a:prstGeom prst="roundRect">
              <a:avLst>
                <a:gd name="adj" fmla="val 5000"/>
              </a:avLst>
            </a:prstGeom>
            <a:solidFill>
              <a:srgbClr val="FFE9E0"/>
            </a:solidFill>
            <a:ln w="20320" cap="flat">
              <a:solidFill>
                <a:srgbClr val="E03D6B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267" name="t0_h"/>
            <p:cNvSpPr txBox="1"/>
            <p:nvPr/>
          </p:nvSpPr>
          <p:spPr>
            <a:xfrm>
              <a:off x="237744" y="242638"/>
              <a:ext cx="2832506" cy="20966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>
                <a:defRPr b="1" spc="120" sz="1500">
                  <a:solidFill>
                    <a:srgbClr val="E03D6B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BRONZE</a:t>
              </a:r>
            </a:p>
          </p:txBody>
        </p:sp>
        <p:sp>
          <p:nvSpPr>
            <p:cNvPr id="268" name="t0_s"/>
            <p:cNvSpPr txBox="1"/>
            <p:nvPr/>
          </p:nvSpPr>
          <p:spPr>
            <a:xfrm>
              <a:off x="237744" y="571475"/>
              <a:ext cx="2832506" cy="24693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>
                <a:defRPr b="1" sz="1700">
                  <a:solidFill>
                    <a:srgbClr val="17203F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Substitute</a:t>
              </a:r>
            </a:p>
          </p:txBody>
        </p:sp>
        <p:sp>
          <p:nvSpPr>
            <p:cNvPr id="269" name="t0_b"/>
            <p:cNvSpPr txBox="1"/>
            <p:nvPr/>
          </p:nvSpPr>
          <p:spPr>
            <a:xfrm>
              <a:off x="237744" y="877823"/>
              <a:ext cx="2832506" cy="47202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lnSpc>
                  <a:spcPts val="1900"/>
                </a:lnSpc>
                <a:defRPr sz="1400">
                  <a:solidFill>
                    <a:srgbClr val="5A648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Use W = mg. g ≈ 9.8 N/kg, never 10.</a:t>
              </a:r>
            </a:p>
          </p:txBody>
        </p:sp>
      </p:grpSp>
      <p:grpSp>
        <p:nvGrpSpPr>
          <p:cNvPr id="275" name="t1"/>
          <p:cNvGrpSpPr/>
          <p:nvPr/>
        </p:nvGrpSpPr>
        <p:grpSpPr>
          <a:xfrm>
            <a:off x="4752745" y="2322576"/>
            <a:ext cx="3307995" cy="1828801"/>
            <a:chOff x="0" y="0"/>
            <a:chExt cx="3307993" cy="1828800"/>
          </a:xfrm>
        </p:grpSpPr>
        <p:sp>
          <p:nvSpPr>
            <p:cNvPr id="271" name="t1_bg"/>
            <p:cNvSpPr/>
            <p:nvPr/>
          </p:nvSpPr>
          <p:spPr>
            <a:xfrm>
              <a:off x="0" y="0"/>
              <a:ext cx="3307994" cy="1828800"/>
            </a:xfrm>
            <a:prstGeom prst="roundRect">
              <a:avLst>
                <a:gd name="adj" fmla="val 5000"/>
              </a:avLst>
            </a:prstGeom>
            <a:solidFill>
              <a:srgbClr val="F1F2F6"/>
            </a:solidFill>
            <a:ln w="20320" cap="flat">
              <a:solidFill>
                <a:srgbClr val="5A648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272" name="t1_h"/>
            <p:cNvSpPr txBox="1"/>
            <p:nvPr/>
          </p:nvSpPr>
          <p:spPr>
            <a:xfrm>
              <a:off x="237744" y="242638"/>
              <a:ext cx="2832506" cy="20966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>
                <a:defRPr b="1" spc="120" sz="1500">
                  <a:solidFill>
                    <a:srgbClr val="5A648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SILVER</a:t>
              </a:r>
            </a:p>
          </p:txBody>
        </p:sp>
        <p:sp>
          <p:nvSpPr>
            <p:cNvPr id="273" name="t1_s"/>
            <p:cNvSpPr txBox="1"/>
            <p:nvPr/>
          </p:nvSpPr>
          <p:spPr>
            <a:xfrm>
              <a:off x="237744" y="571475"/>
              <a:ext cx="2832506" cy="24693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>
                <a:defRPr b="1" sz="1700">
                  <a:solidFill>
                    <a:srgbClr val="17203F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Rearrange</a:t>
              </a:r>
            </a:p>
          </p:txBody>
        </p:sp>
        <p:sp>
          <p:nvSpPr>
            <p:cNvPr id="274" name="t1_b"/>
            <p:cNvSpPr txBox="1"/>
            <p:nvPr/>
          </p:nvSpPr>
          <p:spPr>
            <a:xfrm>
              <a:off x="237744" y="877823"/>
              <a:ext cx="2832506" cy="23072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lnSpc>
                  <a:spcPts val="1900"/>
                </a:lnSpc>
                <a:defRPr sz="1400">
                  <a:solidFill>
                    <a:srgbClr val="5A648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Find m or g when W is given.</a:t>
              </a:r>
            </a:p>
          </p:txBody>
        </p:sp>
      </p:grpSp>
      <p:grpSp>
        <p:nvGrpSpPr>
          <p:cNvPr id="280" name="t2"/>
          <p:cNvGrpSpPr/>
          <p:nvPr/>
        </p:nvGrpSpPr>
        <p:grpSpPr>
          <a:xfrm>
            <a:off x="8335061" y="2322576"/>
            <a:ext cx="3307994" cy="1828801"/>
            <a:chOff x="0" y="0"/>
            <a:chExt cx="3307993" cy="1828800"/>
          </a:xfrm>
        </p:grpSpPr>
        <p:sp>
          <p:nvSpPr>
            <p:cNvPr id="276" name="t2_bg"/>
            <p:cNvSpPr/>
            <p:nvPr/>
          </p:nvSpPr>
          <p:spPr>
            <a:xfrm>
              <a:off x="0" y="0"/>
              <a:ext cx="3307994" cy="1828800"/>
            </a:xfrm>
            <a:prstGeom prst="roundRect">
              <a:avLst>
                <a:gd name="adj" fmla="val 5000"/>
              </a:avLst>
            </a:prstGeom>
            <a:solidFill>
              <a:srgbClr val="FFEFE2"/>
            </a:solidFill>
            <a:ln w="20320" cap="flat">
              <a:solidFill>
                <a:srgbClr val="C25A16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277" name="t2_h"/>
            <p:cNvSpPr txBox="1"/>
            <p:nvPr/>
          </p:nvSpPr>
          <p:spPr>
            <a:xfrm>
              <a:off x="237744" y="242638"/>
              <a:ext cx="2832506" cy="20966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>
                <a:defRPr b="1" spc="120" sz="1500">
                  <a:solidFill>
                    <a:srgbClr val="C25A16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GOLD</a:t>
              </a:r>
            </a:p>
          </p:txBody>
        </p:sp>
        <p:sp>
          <p:nvSpPr>
            <p:cNvPr id="278" name="t2_s"/>
            <p:cNvSpPr txBox="1"/>
            <p:nvPr/>
          </p:nvSpPr>
          <p:spPr>
            <a:xfrm>
              <a:off x="237744" y="571475"/>
              <a:ext cx="2832506" cy="24693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>
                <a:defRPr b="1" sz="1700">
                  <a:solidFill>
                    <a:srgbClr val="17203F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Plot it</a:t>
              </a:r>
            </a:p>
          </p:txBody>
        </p:sp>
        <p:sp>
          <p:nvSpPr>
            <p:cNvPr id="279" name="t2_b"/>
            <p:cNvSpPr txBox="1"/>
            <p:nvPr/>
          </p:nvSpPr>
          <p:spPr>
            <a:xfrm>
              <a:off x="237744" y="877823"/>
              <a:ext cx="2832506" cy="47202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lnSpc>
                  <a:spcPts val="1900"/>
                </a:lnSpc>
                <a:defRPr sz="1400">
                  <a:solidFill>
                    <a:srgbClr val="5A648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A data table of mass and weight — plot it, read off g from the gradient.</a:t>
              </a:r>
            </a:p>
          </p:txBody>
        </p:sp>
      </p:grpSp>
      <p:sp>
        <p:nvSpPr>
          <p:cNvPr id="281" name="yd_note"/>
          <p:cNvSpPr txBox="1"/>
          <p:nvPr/>
        </p:nvSpPr>
        <p:spPr>
          <a:xfrm>
            <a:off x="1170432" y="4543319"/>
            <a:ext cx="10472623" cy="2219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600">
                <a:solidFill>
                  <a:srgbClr val="17203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Units: kg for mass, N for weight. g ≈ 9.8 N/kg.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  <p:cond evt="onBegin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mediacall" nodeType="afterEffect" presetSubtype="0" presetID="1" grpId="1" fill="hold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840000" fill="hold"/>
                                        <p:tgtEl>
                                          <p:spTgt spid="25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Class="entr" nodeType="clickEffect" presetID="10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1" dur="400"/>
                                        <p:tgtEl>
                                          <p:spTgt spid="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Class="entr" nodeType="clickEffect" presetID="10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5" fill="hold"/>
                                        <p:tgtEl>
                                          <p:spTgt spid="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6" dur="400"/>
                                        <p:tgtEl>
                                          <p:spTgt spid="2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Class="entr" nodeType="clickEffect" presetID="10" grpId="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0" fill="hold"/>
                                        <p:tgtEl>
                                          <p:spTgt spid="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21" dur="400"/>
                                        <p:tgtEl>
                                          <p:spTgt spid="2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Class="entr" nodeType="clickEffect" presetID="10" grpId="5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5" fill="hold"/>
                                        <p:tgtEl>
                                          <p:spTgt spid="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26" dur="400"/>
                                        <p:tgtEl>
                                          <p:spTgt spid="2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  <p:video fullScrn="0">
              <p:cMediaNode mute="0" showWhenStopped="1" numSld="1" vol="0">
                <p:cTn id="27" fill="hold" display="0">
                  <p:stCondLst>
                    <p:cond delay="indefinite"/>
                  </p:stCondLst>
                </p:cTn>
                <p:tgtEl>
                  <p:spTgt spid="259"/>
                </p:tgtEl>
              </p:cMediaNode>
            </p:video>
            <p:seq concurrent="1" prevAc="none" nextAc="seek">
              <p:cTn id="28" evtFilter="cancelBubble" nodeType="interactiveSeq" restart="whenNotActive" fill="hold">
                <p:stCondLst>
                  <p:cond delay="0" evt="onClick">
                    <p:tgtEl>
                      <p:spTgt spid="259"/>
                    </p:tgtEl>
                  </p:cond>
                </p:stCondLst>
                <p:endSync delay="0" evt="end">
                  <p:rtn val="all"/>
                </p:endSync>
                <p:childTnLst>
                  <p:par>
                    <p:cTn id="29" fill="hold">
                      <p:stCondLst>
                        <p:cond delay="0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Class="mediacall" nodeType="clickEffect" presetSubtype="0" presetID="2" fill="hold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32" dur="1" fill="hold"/>
                                        <p:tgtEl>
                                          <p:spTgt spid="25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delay="0" evt="onClick">
                  <p:tgtEl>
                    <p:spTgt spid="259"/>
                  </p:tgtEl>
                </p:cond>
              </p:nextCondLst>
            </p:seq>
          </p:childTnLst>
        </p:cTn>
      </p:par>
    </p:tnLst>
    <p:bldLst>
      <p:bldP build="whole" bldLvl="1" animBg="1" rev="0" advAuto="0" spid="280" grpId="4"/>
      <p:bldP build="whole" bldLvl="1" animBg="1" rev="0" advAuto="0" spid="275" grpId="3"/>
      <p:bldP build="whole" bldLvl="1" animBg="1" rev="0" advAuto="0" spid="281" grpId="5"/>
      <p:bldP build="whole" bldLvl="1" animBg="1" rev="0" advAuto="0" spid="270" grpId="2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2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5" name="timer_video" descr="timer_video"/>
          <p:cNvPicPr>
            <a:picLocks noChangeAspect="0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5">
            <a:extLst/>
          </a:blip>
          <a:stretch>
            <a:fillRect/>
          </a:stretch>
        </p:blipFill>
        <p:spPr>
          <a:xfrm>
            <a:off x="310895" y="310895"/>
            <a:ext cx="457201" cy="6236210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288" name="phase_pill"/>
          <p:cNvGrpSpPr/>
          <p:nvPr/>
        </p:nvGrpSpPr>
        <p:grpSpPr>
          <a:xfrm>
            <a:off x="1170432" y="310895"/>
            <a:ext cx="1892808" cy="329185"/>
            <a:chOff x="0" y="0"/>
            <a:chExt cx="1892807" cy="329184"/>
          </a:xfrm>
        </p:grpSpPr>
        <p:sp>
          <p:nvSpPr>
            <p:cNvPr id="286" name="Rounded Rectangle"/>
            <p:cNvSpPr/>
            <p:nvPr/>
          </p:nvSpPr>
          <p:spPr>
            <a:xfrm>
              <a:off x="0" y="0"/>
              <a:ext cx="1892808" cy="329185"/>
            </a:xfrm>
            <a:prstGeom prst="roundRect">
              <a:avLst>
                <a:gd name="adj" fmla="val 44444"/>
              </a:avLst>
            </a:prstGeom>
            <a:solidFill>
              <a:srgbClr val="17203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1100"/>
              </a:pPr>
            </a:p>
          </p:txBody>
        </p:sp>
        <p:sp>
          <p:nvSpPr>
            <p:cNvPr id="287" name="ANSWERS · 3 MIN"/>
            <p:cNvSpPr txBox="1"/>
            <p:nvPr/>
          </p:nvSpPr>
          <p:spPr>
            <a:xfrm>
              <a:off x="42850" y="90677"/>
              <a:ext cx="1807107" cy="14783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>
                <a:defRPr b="1" spc="120" sz="11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ANSWERS · 3 MIN</a:t>
              </a:r>
            </a:p>
          </p:txBody>
        </p:sp>
      </p:grpSp>
      <p:sp>
        <p:nvSpPr>
          <p:cNvPr id="289" name="slide_title"/>
          <p:cNvSpPr txBox="1"/>
          <p:nvPr/>
        </p:nvSpPr>
        <p:spPr>
          <a:xfrm>
            <a:off x="1170432" y="965707"/>
            <a:ext cx="10472623" cy="482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3400">
                <a:solidFill>
                  <a:srgbClr val="17203F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Answers</a:t>
            </a:r>
          </a:p>
        </p:txBody>
      </p:sp>
      <p:grpSp>
        <p:nvGrpSpPr>
          <p:cNvPr id="293" name="a0"/>
          <p:cNvGrpSpPr/>
          <p:nvPr/>
        </p:nvGrpSpPr>
        <p:grpSpPr>
          <a:xfrm>
            <a:off x="1170432" y="1828800"/>
            <a:ext cx="5117441" cy="658369"/>
            <a:chOff x="0" y="0"/>
            <a:chExt cx="5117439" cy="658368"/>
          </a:xfrm>
        </p:grpSpPr>
        <p:sp>
          <p:nvSpPr>
            <p:cNvPr id="290" name="a0_bg"/>
            <p:cNvSpPr/>
            <p:nvPr/>
          </p:nvSpPr>
          <p:spPr>
            <a:xfrm>
              <a:off x="0" y="0"/>
              <a:ext cx="5117440" cy="658369"/>
            </a:xfrm>
            <a:prstGeom prst="roundRect">
              <a:avLst>
                <a:gd name="adj" fmla="val 13889"/>
              </a:avLst>
            </a:prstGeom>
            <a:solidFill>
              <a:srgbClr val="FFFFFF"/>
            </a:solidFill>
            <a:ln w="16510" cap="flat">
              <a:solidFill>
                <a:srgbClr val="D8DEEC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291" name="a0_n"/>
            <p:cNvSpPr txBox="1"/>
            <p:nvPr/>
          </p:nvSpPr>
          <p:spPr>
            <a:xfrm>
              <a:off x="219455" y="195833"/>
              <a:ext cx="457201" cy="2667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>
                <a:defRPr b="1">
                  <a:solidFill>
                    <a:srgbClr val="C25A16"/>
                  </a:solidFill>
                  <a:latin typeface="Georgia"/>
                  <a:ea typeface="Georgia"/>
                  <a:cs typeface="Georgia"/>
                  <a:sym typeface="Georgia"/>
                </a:defRPr>
              </a:lvl1pPr>
            </a:lstStyle>
            <a:p>
              <a:pPr/>
              <a:r>
                <a:t>1</a:t>
              </a:r>
            </a:p>
          </p:txBody>
        </p:sp>
        <p:sp>
          <p:nvSpPr>
            <p:cNvPr id="292" name="a0_t"/>
            <p:cNvSpPr txBox="1"/>
            <p:nvPr/>
          </p:nvSpPr>
          <p:spPr>
            <a:xfrm>
              <a:off x="749808" y="218904"/>
              <a:ext cx="4166464" cy="22056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>
                <a:lnSpc>
                  <a:spcPts val="1800"/>
                </a:lnSpc>
                <a:defRPr sz="1400">
                  <a:solidFill>
                    <a:srgbClr val="141A3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W = 0.5 × 9.8 = 4.9 N</a:t>
              </a:r>
            </a:p>
          </p:txBody>
        </p:sp>
      </p:grpSp>
      <p:grpSp>
        <p:nvGrpSpPr>
          <p:cNvPr id="297" name="a1"/>
          <p:cNvGrpSpPr/>
          <p:nvPr/>
        </p:nvGrpSpPr>
        <p:grpSpPr>
          <a:xfrm>
            <a:off x="6525615" y="1828800"/>
            <a:ext cx="5117441" cy="658369"/>
            <a:chOff x="0" y="0"/>
            <a:chExt cx="5117439" cy="658368"/>
          </a:xfrm>
        </p:grpSpPr>
        <p:sp>
          <p:nvSpPr>
            <p:cNvPr id="294" name="a1_bg"/>
            <p:cNvSpPr/>
            <p:nvPr/>
          </p:nvSpPr>
          <p:spPr>
            <a:xfrm>
              <a:off x="0" y="0"/>
              <a:ext cx="5117440" cy="658369"/>
            </a:xfrm>
            <a:prstGeom prst="roundRect">
              <a:avLst>
                <a:gd name="adj" fmla="val 13889"/>
              </a:avLst>
            </a:prstGeom>
            <a:solidFill>
              <a:srgbClr val="FFFFFF"/>
            </a:solidFill>
            <a:ln w="16510" cap="flat">
              <a:solidFill>
                <a:srgbClr val="D8DEEC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295" name="a1_n"/>
            <p:cNvSpPr txBox="1"/>
            <p:nvPr/>
          </p:nvSpPr>
          <p:spPr>
            <a:xfrm>
              <a:off x="219455" y="195833"/>
              <a:ext cx="457201" cy="2667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>
                <a:defRPr b="1">
                  <a:solidFill>
                    <a:srgbClr val="C25A16"/>
                  </a:solidFill>
                  <a:latin typeface="Georgia"/>
                  <a:ea typeface="Georgia"/>
                  <a:cs typeface="Georgia"/>
                  <a:sym typeface="Georgia"/>
                </a:defRPr>
              </a:lvl1pPr>
            </a:lstStyle>
            <a:p>
              <a:pPr/>
              <a:r>
                <a:t>2</a:t>
              </a:r>
            </a:p>
          </p:txBody>
        </p:sp>
        <p:sp>
          <p:nvSpPr>
            <p:cNvPr id="296" name="a1_t"/>
            <p:cNvSpPr txBox="1"/>
            <p:nvPr/>
          </p:nvSpPr>
          <p:spPr>
            <a:xfrm>
              <a:off x="749808" y="218904"/>
              <a:ext cx="4166464" cy="22056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>
                <a:lnSpc>
                  <a:spcPts val="1800"/>
                </a:lnSpc>
                <a:defRPr sz="1400">
                  <a:solidFill>
                    <a:srgbClr val="141A3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W = 8 × 9.8 = 78.4 N</a:t>
              </a:r>
            </a:p>
          </p:txBody>
        </p:sp>
      </p:grpSp>
      <p:grpSp>
        <p:nvGrpSpPr>
          <p:cNvPr id="301" name="a2"/>
          <p:cNvGrpSpPr/>
          <p:nvPr/>
        </p:nvGrpSpPr>
        <p:grpSpPr>
          <a:xfrm>
            <a:off x="1170432" y="2578607"/>
            <a:ext cx="5117441" cy="658369"/>
            <a:chOff x="0" y="0"/>
            <a:chExt cx="5117439" cy="658368"/>
          </a:xfrm>
        </p:grpSpPr>
        <p:sp>
          <p:nvSpPr>
            <p:cNvPr id="298" name="a2_bg"/>
            <p:cNvSpPr/>
            <p:nvPr/>
          </p:nvSpPr>
          <p:spPr>
            <a:xfrm>
              <a:off x="0" y="0"/>
              <a:ext cx="5117440" cy="658369"/>
            </a:xfrm>
            <a:prstGeom prst="roundRect">
              <a:avLst>
                <a:gd name="adj" fmla="val 13889"/>
              </a:avLst>
            </a:prstGeom>
            <a:solidFill>
              <a:srgbClr val="FFFFFF"/>
            </a:solidFill>
            <a:ln w="16510" cap="flat">
              <a:solidFill>
                <a:srgbClr val="D8DEEC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299" name="a2_n"/>
            <p:cNvSpPr txBox="1"/>
            <p:nvPr/>
          </p:nvSpPr>
          <p:spPr>
            <a:xfrm>
              <a:off x="219455" y="195833"/>
              <a:ext cx="457201" cy="2667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>
                <a:defRPr b="1">
                  <a:solidFill>
                    <a:srgbClr val="C25A16"/>
                  </a:solidFill>
                  <a:latin typeface="Georgia"/>
                  <a:ea typeface="Georgia"/>
                  <a:cs typeface="Georgia"/>
                  <a:sym typeface="Georgia"/>
                </a:defRPr>
              </a:lvl1pPr>
            </a:lstStyle>
            <a:p>
              <a:pPr/>
              <a:r>
                <a:t>3</a:t>
              </a:r>
            </a:p>
          </p:txBody>
        </p:sp>
        <p:sp>
          <p:nvSpPr>
            <p:cNvPr id="300" name="a2_t"/>
            <p:cNvSpPr txBox="1"/>
            <p:nvPr/>
          </p:nvSpPr>
          <p:spPr>
            <a:xfrm>
              <a:off x="749808" y="218904"/>
              <a:ext cx="4166464" cy="22056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>
                <a:lnSpc>
                  <a:spcPts val="1800"/>
                </a:lnSpc>
                <a:defRPr sz="1400">
                  <a:solidFill>
                    <a:srgbClr val="141A3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kg for mass, N for weight</a:t>
              </a:r>
            </a:p>
          </p:txBody>
        </p:sp>
      </p:grpSp>
      <p:grpSp>
        <p:nvGrpSpPr>
          <p:cNvPr id="305" name="a3"/>
          <p:cNvGrpSpPr/>
          <p:nvPr/>
        </p:nvGrpSpPr>
        <p:grpSpPr>
          <a:xfrm>
            <a:off x="6525615" y="2578607"/>
            <a:ext cx="5117441" cy="658369"/>
            <a:chOff x="0" y="0"/>
            <a:chExt cx="5117439" cy="658368"/>
          </a:xfrm>
        </p:grpSpPr>
        <p:sp>
          <p:nvSpPr>
            <p:cNvPr id="302" name="a3_bg"/>
            <p:cNvSpPr/>
            <p:nvPr/>
          </p:nvSpPr>
          <p:spPr>
            <a:xfrm>
              <a:off x="0" y="0"/>
              <a:ext cx="5117440" cy="658369"/>
            </a:xfrm>
            <a:prstGeom prst="roundRect">
              <a:avLst>
                <a:gd name="adj" fmla="val 13889"/>
              </a:avLst>
            </a:prstGeom>
            <a:solidFill>
              <a:srgbClr val="FFFFFF"/>
            </a:solidFill>
            <a:ln w="16510" cap="flat">
              <a:solidFill>
                <a:srgbClr val="D8DEEC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303" name="a3_n"/>
            <p:cNvSpPr txBox="1"/>
            <p:nvPr/>
          </p:nvSpPr>
          <p:spPr>
            <a:xfrm>
              <a:off x="219455" y="195833"/>
              <a:ext cx="457201" cy="2667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>
                <a:defRPr b="1">
                  <a:solidFill>
                    <a:srgbClr val="C25A16"/>
                  </a:solidFill>
                  <a:latin typeface="Georgia"/>
                  <a:ea typeface="Georgia"/>
                  <a:cs typeface="Georgia"/>
                  <a:sym typeface="Georgia"/>
                </a:defRPr>
              </a:lvl1pPr>
            </a:lstStyle>
            <a:p>
              <a:pPr/>
              <a:r>
                <a:t>4</a:t>
              </a:r>
            </a:p>
          </p:txBody>
        </p:sp>
        <p:sp>
          <p:nvSpPr>
            <p:cNvPr id="304" name="a3_t"/>
            <p:cNvSpPr txBox="1"/>
            <p:nvPr/>
          </p:nvSpPr>
          <p:spPr>
            <a:xfrm>
              <a:off x="749808" y="218904"/>
              <a:ext cx="4166464" cy="22056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>
                <a:lnSpc>
                  <a:spcPts val="1800"/>
                </a:lnSpc>
                <a:defRPr sz="1400">
                  <a:solidFill>
                    <a:srgbClr val="141A3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m = 19.6 ÷ 9.8 = 2 kg</a:t>
              </a:r>
            </a:p>
          </p:txBody>
        </p:sp>
      </p:grpSp>
      <p:grpSp>
        <p:nvGrpSpPr>
          <p:cNvPr id="309" name="a4"/>
          <p:cNvGrpSpPr/>
          <p:nvPr/>
        </p:nvGrpSpPr>
        <p:grpSpPr>
          <a:xfrm>
            <a:off x="1170432" y="3328415"/>
            <a:ext cx="5117441" cy="658369"/>
            <a:chOff x="0" y="0"/>
            <a:chExt cx="5117439" cy="658368"/>
          </a:xfrm>
        </p:grpSpPr>
        <p:sp>
          <p:nvSpPr>
            <p:cNvPr id="306" name="a4_bg"/>
            <p:cNvSpPr/>
            <p:nvPr/>
          </p:nvSpPr>
          <p:spPr>
            <a:xfrm>
              <a:off x="0" y="0"/>
              <a:ext cx="5117440" cy="658369"/>
            </a:xfrm>
            <a:prstGeom prst="roundRect">
              <a:avLst>
                <a:gd name="adj" fmla="val 13889"/>
              </a:avLst>
            </a:prstGeom>
            <a:solidFill>
              <a:srgbClr val="FFFFFF"/>
            </a:solidFill>
            <a:ln w="16510" cap="flat">
              <a:solidFill>
                <a:srgbClr val="D8DEEC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307" name="a4_n"/>
            <p:cNvSpPr txBox="1"/>
            <p:nvPr/>
          </p:nvSpPr>
          <p:spPr>
            <a:xfrm>
              <a:off x="219455" y="195833"/>
              <a:ext cx="457201" cy="2667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>
                <a:defRPr b="1">
                  <a:solidFill>
                    <a:srgbClr val="C25A16"/>
                  </a:solidFill>
                  <a:latin typeface="Georgia"/>
                  <a:ea typeface="Georgia"/>
                  <a:cs typeface="Georgia"/>
                  <a:sym typeface="Georgia"/>
                </a:defRPr>
              </a:lvl1pPr>
            </a:lstStyle>
            <a:p>
              <a:pPr/>
              <a:r>
                <a:t>5</a:t>
              </a:r>
            </a:p>
          </p:txBody>
        </p:sp>
        <p:sp>
          <p:nvSpPr>
            <p:cNvPr id="308" name="a4_t"/>
            <p:cNvSpPr txBox="1"/>
            <p:nvPr/>
          </p:nvSpPr>
          <p:spPr>
            <a:xfrm>
              <a:off x="749808" y="218904"/>
              <a:ext cx="4166464" cy="22056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>
                <a:lnSpc>
                  <a:spcPts val="1800"/>
                </a:lnSpc>
                <a:defRPr sz="1400">
                  <a:solidFill>
                    <a:srgbClr val="141A3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m = 4.9 ÷ 9.8 = 0.5 kg</a:t>
              </a:r>
            </a:p>
          </p:txBody>
        </p:sp>
      </p:grpSp>
      <p:grpSp>
        <p:nvGrpSpPr>
          <p:cNvPr id="313" name="a5"/>
          <p:cNvGrpSpPr/>
          <p:nvPr/>
        </p:nvGrpSpPr>
        <p:grpSpPr>
          <a:xfrm>
            <a:off x="6525615" y="3328415"/>
            <a:ext cx="5117441" cy="658369"/>
            <a:chOff x="0" y="0"/>
            <a:chExt cx="5117439" cy="658368"/>
          </a:xfrm>
        </p:grpSpPr>
        <p:sp>
          <p:nvSpPr>
            <p:cNvPr id="310" name="a5_bg"/>
            <p:cNvSpPr/>
            <p:nvPr/>
          </p:nvSpPr>
          <p:spPr>
            <a:xfrm>
              <a:off x="0" y="0"/>
              <a:ext cx="5117440" cy="658369"/>
            </a:xfrm>
            <a:prstGeom prst="roundRect">
              <a:avLst>
                <a:gd name="adj" fmla="val 13889"/>
              </a:avLst>
            </a:prstGeom>
            <a:solidFill>
              <a:srgbClr val="FFFFFF"/>
            </a:solidFill>
            <a:ln w="16510" cap="flat">
              <a:solidFill>
                <a:srgbClr val="D8DEEC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311" name="a5_n"/>
            <p:cNvSpPr txBox="1"/>
            <p:nvPr/>
          </p:nvSpPr>
          <p:spPr>
            <a:xfrm>
              <a:off x="219455" y="195833"/>
              <a:ext cx="457201" cy="2667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>
                <a:defRPr b="1">
                  <a:solidFill>
                    <a:srgbClr val="C25A16"/>
                  </a:solidFill>
                  <a:latin typeface="Georgia"/>
                  <a:ea typeface="Georgia"/>
                  <a:cs typeface="Georgia"/>
                  <a:sym typeface="Georgia"/>
                </a:defRPr>
              </a:lvl1pPr>
            </a:lstStyle>
            <a:p>
              <a:pPr/>
              <a:r>
                <a:t>6</a:t>
              </a:r>
            </a:p>
          </p:txBody>
        </p:sp>
        <p:sp>
          <p:nvSpPr>
            <p:cNvPr id="312" name="a5_t"/>
            <p:cNvSpPr txBox="1"/>
            <p:nvPr/>
          </p:nvSpPr>
          <p:spPr>
            <a:xfrm>
              <a:off x="749808" y="218904"/>
              <a:ext cx="4166464" cy="22056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>
                <a:lnSpc>
                  <a:spcPts val="1800"/>
                </a:lnSpc>
                <a:defRPr sz="1400">
                  <a:solidFill>
                    <a:srgbClr val="141A3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g = 14.7 ÷ 1.5 = 9.8 N/kg</a:t>
              </a:r>
            </a:p>
          </p:txBody>
        </p:sp>
      </p:grpSp>
      <p:grpSp>
        <p:nvGrpSpPr>
          <p:cNvPr id="317" name="a6"/>
          <p:cNvGrpSpPr/>
          <p:nvPr/>
        </p:nvGrpSpPr>
        <p:grpSpPr>
          <a:xfrm>
            <a:off x="1170432" y="4078223"/>
            <a:ext cx="5117441" cy="658369"/>
            <a:chOff x="0" y="0"/>
            <a:chExt cx="5117439" cy="658368"/>
          </a:xfrm>
        </p:grpSpPr>
        <p:sp>
          <p:nvSpPr>
            <p:cNvPr id="314" name="a6_bg"/>
            <p:cNvSpPr/>
            <p:nvPr/>
          </p:nvSpPr>
          <p:spPr>
            <a:xfrm>
              <a:off x="0" y="0"/>
              <a:ext cx="5117440" cy="658369"/>
            </a:xfrm>
            <a:prstGeom prst="roundRect">
              <a:avLst>
                <a:gd name="adj" fmla="val 13889"/>
              </a:avLst>
            </a:prstGeom>
            <a:solidFill>
              <a:srgbClr val="FFFFFF"/>
            </a:solidFill>
            <a:ln w="16510" cap="flat">
              <a:solidFill>
                <a:srgbClr val="D8DEEC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315" name="a6_n"/>
            <p:cNvSpPr txBox="1"/>
            <p:nvPr/>
          </p:nvSpPr>
          <p:spPr>
            <a:xfrm>
              <a:off x="219455" y="195833"/>
              <a:ext cx="457201" cy="2667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>
                <a:defRPr b="1">
                  <a:solidFill>
                    <a:srgbClr val="C25A16"/>
                  </a:solidFill>
                  <a:latin typeface="Georgia"/>
                  <a:ea typeface="Georgia"/>
                  <a:cs typeface="Georgia"/>
                  <a:sym typeface="Georgia"/>
                </a:defRPr>
              </a:lvl1pPr>
            </a:lstStyle>
            <a:p>
              <a:pPr/>
              <a:r>
                <a:t>7</a:t>
              </a:r>
            </a:p>
          </p:txBody>
        </p:sp>
        <p:sp>
          <p:nvSpPr>
            <p:cNvPr id="316" name="a6_t"/>
            <p:cNvSpPr txBox="1"/>
            <p:nvPr/>
          </p:nvSpPr>
          <p:spPr>
            <a:xfrm>
              <a:off x="749808" y="218904"/>
              <a:ext cx="4166464" cy="22056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>
                <a:lnSpc>
                  <a:spcPts val="1800"/>
                </a:lnSpc>
                <a:defRPr sz="1400">
                  <a:solidFill>
                    <a:srgbClr val="141A3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g ≈ 9.8 N/kg (from the graph’s gradient)</a:t>
              </a:r>
            </a:p>
          </p:txBody>
        </p:sp>
      </p:grpSp>
      <p:grpSp>
        <p:nvGrpSpPr>
          <p:cNvPr id="321" name="a7"/>
          <p:cNvGrpSpPr/>
          <p:nvPr/>
        </p:nvGrpSpPr>
        <p:grpSpPr>
          <a:xfrm>
            <a:off x="6525615" y="4078223"/>
            <a:ext cx="5117441" cy="658369"/>
            <a:chOff x="0" y="0"/>
            <a:chExt cx="5117439" cy="658368"/>
          </a:xfrm>
        </p:grpSpPr>
        <p:sp>
          <p:nvSpPr>
            <p:cNvPr id="318" name="a7_bg"/>
            <p:cNvSpPr/>
            <p:nvPr/>
          </p:nvSpPr>
          <p:spPr>
            <a:xfrm>
              <a:off x="0" y="0"/>
              <a:ext cx="5117440" cy="658369"/>
            </a:xfrm>
            <a:prstGeom prst="roundRect">
              <a:avLst>
                <a:gd name="adj" fmla="val 13889"/>
              </a:avLst>
            </a:prstGeom>
            <a:solidFill>
              <a:srgbClr val="FFFFFF"/>
            </a:solidFill>
            <a:ln w="16510" cap="flat">
              <a:solidFill>
                <a:srgbClr val="D8DEEC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319" name="a7_n"/>
            <p:cNvSpPr txBox="1"/>
            <p:nvPr/>
          </p:nvSpPr>
          <p:spPr>
            <a:xfrm>
              <a:off x="219455" y="195833"/>
              <a:ext cx="457201" cy="2667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>
                <a:defRPr b="1">
                  <a:solidFill>
                    <a:srgbClr val="C25A16"/>
                  </a:solidFill>
                  <a:latin typeface="Georgia"/>
                  <a:ea typeface="Georgia"/>
                  <a:cs typeface="Georgia"/>
                  <a:sym typeface="Georgia"/>
                </a:defRPr>
              </a:lvl1pPr>
            </a:lstStyle>
            <a:p>
              <a:pPr/>
              <a:r>
                <a:t>8</a:t>
              </a:r>
            </a:p>
          </p:txBody>
        </p:sp>
        <p:sp>
          <p:nvSpPr>
            <p:cNvPr id="320" name="a7_t"/>
            <p:cNvSpPr txBox="1"/>
            <p:nvPr/>
          </p:nvSpPr>
          <p:spPr>
            <a:xfrm>
              <a:off x="749808" y="104604"/>
              <a:ext cx="4166464" cy="44916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>
                <a:lnSpc>
                  <a:spcPts val="1800"/>
                </a:lnSpc>
                <a:defRPr sz="1400">
                  <a:solidFill>
                    <a:srgbClr val="141A3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W = mg, so the graph is a straight line through the origin</a:t>
              </a:r>
            </a:p>
          </p:txBody>
        </p:sp>
      </p:grpSp>
      <p:grpSp>
        <p:nvGrpSpPr>
          <p:cNvPr id="325" name="a8"/>
          <p:cNvGrpSpPr/>
          <p:nvPr/>
        </p:nvGrpSpPr>
        <p:grpSpPr>
          <a:xfrm>
            <a:off x="1170432" y="4828032"/>
            <a:ext cx="5117441" cy="658369"/>
            <a:chOff x="0" y="0"/>
            <a:chExt cx="5117439" cy="658368"/>
          </a:xfrm>
        </p:grpSpPr>
        <p:sp>
          <p:nvSpPr>
            <p:cNvPr id="322" name="a8_bg"/>
            <p:cNvSpPr/>
            <p:nvPr/>
          </p:nvSpPr>
          <p:spPr>
            <a:xfrm>
              <a:off x="0" y="0"/>
              <a:ext cx="5117440" cy="658369"/>
            </a:xfrm>
            <a:prstGeom prst="roundRect">
              <a:avLst>
                <a:gd name="adj" fmla="val 13889"/>
              </a:avLst>
            </a:prstGeom>
            <a:solidFill>
              <a:srgbClr val="FFFFFF"/>
            </a:solidFill>
            <a:ln w="16510" cap="flat">
              <a:solidFill>
                <a:srgbClr val="D8DEEC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323" name="a8_n"/>
            <p:cNvSpPr txBox="1"/>
            <p:nvPr/>
          </p:nvSpPr>
          <p:spPr>
            <a:xfrm>
              <a:off x="219455" y="195833"/>
              <a:ext cx="457201" cy="2667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>
                <a:defRPr b="1">
                  <a:solidFill>
                    <a:srgbClr val="C25A16"/>
                  </a:solidFill>
                  <a:latin typeface="Georgia"/>
                  <a:ea typeface="Georgia"/>
                  <a:cs typeface="Georgia"/>
                  <a:sym typeface="Georgia"/>
                </a:defRPr>
              </a:lvl1pPr>
            </a:lstStyle>
            <a:p>
              <a:pPr/>
              <a:r>
                <a:t>9</a:t>
              </a:r>
            </a:p>
          </p:txBody>
        </p:sp>
        <p:sp>
          <p:nvSpPr>
            <p:cNvPr id="324" name="a8_t"/>
            <p:cNvSpPr txBox="1"/>
            <p:nvPr/>
          </p:nvSpPr>
          <p:spPr>
            <a:xfrm>
              <a:off x="749808" y="218904"/>
              <a:ext cx="4166464" cy="22056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>
                <a:lnSpc>
                  <a:spcPts val="1800"/>
                </a:lnSpc>
                <a:defRPr sz="1400">
                  <a:solidFill>
                    <a:srgbClr val="141A3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Mass stays the same — weight changes with gravity</a:t>
              </a:r>
            </a:p>
          </p:txBody>
        </p:sp>
      </p:grpSp>
      <p:grpSp>
        <p:nvGrpSpPr>
          <p:cNvPr id="329" name="a9"/>
          <p:cNvGrpSpPr/>
          <p:nvPr/>
        </p:nvGrpSpPr>
        <p:grpSpPr>
          <a:xfrm>
            <a:off x="6525615" y="4828032"/>
            <a:ext cx="5117441" cy="658369"/>
            <a:chOff x="0" y="0"/>
            <a:chExt cx="5117439" cy="658368"/>
          </a:xfrm>
        </p:grpSpPr>
        <p:sp>
          <p:nvSpPr>
            <p:cNvPr id="326" name="a9_bg"/>
            <p:cNvSpPr/>
            <p:nvPr/>
          </p:nvSpPr>
          <p:spPr>
            <a:xfrm>
              <a:off x="0" y="0"/>
              <a:ext cx="5117440" cy="658369"/>
            </a:xfrm>
            <a:prstGeom prst="roundRect">
              <a:avLst>
                <a:gd name="adj" fmla="val 13889"/>
              </a:avLst>
            </a:prstGeom>
            <a:solidFill>
              <a:srgbClr val="FFFFFF"/>
            </a:solidFill>
            <a:ln w="16510" cap="flat">
              <a:solidFill>
                <a:srgbClr val="D8DEEC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327" name="a9_n"/>
            <p:cNvSpPr txBox="1"/>
            <p:nvPr/>
          </p:nvSpPr>
          <p:spPr>
            <a:xfrm>
              <a:off x="219455" y="195833"/>
              <a:ext cx="457201" cy="2667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>
                <a:defRPr b="1">
                  <a:solidFill>
                    <a:srgbClr val="C25A16"/>
                  </a:solidFill>
                  <a:latin typeface="Georgia"/>
                  <a:ea typeface="Georgia"/>
                  <a:cs typeface="Georgia"/>
                  <a:sym typeface="Georgia"/>
                </a:defRPr>
              </a:lvl1pPr>
            </a:lstStyle>
            <a:p>
              <a:pPr/>
              <a:r>
                <a:t>10</a:t>
              </a:r>
            </a:p>
          </p:txBody>
        </p:sp>
        <p:sp>
          <p:nvSpPr>
            <p:cNvPr id="328" name="a9_t"/>
            <p:cNvSpPr txBox="1"/>
            <p:nvPr/>
          </p:nvSpPr>
          <p:spPr>
            <a:xfrm>
              <a:off x="749808" y="218904"/>
              <a:ext cx="4166464" cy="22056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>
                <a:lnSpc>
                  <a:spcPts val="1800"/>
                </a:lnSpc>
                <a:defRPr sz="1400">
                  <a:solidFill>
                    <a:srgbClr val="141A3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Any correct pair, e.g. 0.4 kg → 3.92 N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  <p:cond evt="onBegin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mediacall" nodeType="afterEffect" presetSubtype="0" presetID="1" grpId="1" fill="hold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80000" fill="hold"/>
                                        <p:tgtEl>
                                          <p:spTgt spid="28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Class="entr" nodeType="clickEffect" presetID="10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1" dur="400"/>
                                        <p:tgtEl>
                                          <p:spTgt spid="2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400"/>
                            </p:stCondLst>
                            <p:childTnLst>
                              <p:par>
                                <p:cTn id="13" presetClass="entr" nodeType="afterEffect" presetID="10" grpId="3" fill="hold">
                                  <p:stCondLst>
                                    <p:cond delay="15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5" dur="400"/>
                                        <p:tgtEl>
                                          <p:spTgt spid="2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Class="entr" nodeType="clickEffect" presetID="10" grpId="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9" fill="hold"/>
                                        <p:tgtEl>
                                          <p:spTgt spid="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20" dur="400"/>
                                        <p:tgtEl>
                                          <p:spTgt spid="3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400"/>
                            </p:stCondLst>
                            <p:childTnLst>
                              <p:par>
                                <p:cTn id="22" presetClass="entr" nodeType="afterEffect" presetID="10" grpId="5" fill="hold">
                                  <p:stCondLst>
                                    <p:cond delay="15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3" fill="hold"/>
                                        <p:tgtEl>
                                          <p:spTgt spid="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24" dur="400"/>
                                        <p:tgtEl>
                                          <p:spTgt spid="3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Class="entr" nodeType="clickEffect" presetID="10" grpId="6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8" fill="hold"/>
                                        <p:tgtEl>
                                          <p:spTgt spid="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29" dur="400"/>
                                        <p:tgtEl>
                                          <p:spTgt spid="3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400"/>
                            </p:stCondLst>
                            <p:childTnLst>
                              <p:par>
                                <p:cTn id="31" presetClass="entr" nodeType="afterEffect" presetID="10" grpId="7" fill="hold">
                                  <p:stCondLst>
                                    <p:cond delay="15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2" fill="hold"/>
                                        <p:tgtEl>
                                          <p:spTgt spid="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33" dur="400"/>
                                        <p:tgtEl>
                                          <p:spTgt spid="3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Class="entr" nodeType="clickEffect" presetID="10" grpId="8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7" fill="hold"/>
                                        <p:tgtEl>
                                          <p:spTgt spid="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38" dur="400"/>
                                        <p:tgtEl>
                                          <p:spTgt spid="3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400"/>
                            </p:stCondLst>
                            <p:childTnLst>
                              <p:par>
                                <p:cTn id="40" presetClass="entr" nodeType="afterEffect" presetID="10" grpId="9" fill="hold">
                                  <p:stCondLst>
                                    <p:cond delay="15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1" fill="hold"/>
                                        <p:tgtEl>
                                          <p:spTgt spid="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42" dur="400"/>
                                        <p:tgtEl>
                                          <p:spTgt spid="3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Class="entr" nodeType="clickEffect" presetID="10" grpId="10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6" fill="hold"/>
                                        <p:tgtEl>
                                          <p:spTgt spid="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47" dur="400"/>
                                        <p:tgtEl>
                                          <p:spTgt spid="3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400"/>
                            </p:stCondLst>
                            <p:childTnLst>
                              <p:par>
                                <p:cTn id="49" presetClass="entr" nodeType="afterEffect" presetID="10" grpId="11" fill="hold">
                                  <p:stCondLst>
                                    <p:cond delay="15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0" fill="hold"/>
                                        <p:tgtEl>
                                          <p:spTgt spid="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51" dur="400"/>
                                        <p:tgtEl>
                                          <p:spTgt spid="3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  <p:video fullScrn="0">
              <p:cMediaNode mute="0" showWhenStopped="1" numSld="1" vol="0">
                <p:cTn id="52" fill="hold" display="0">
                  <p:stCondLst>
                    <p:cond delay="indefinite"/>
                  </p:stCondLst>
                </p:cTn>
                <p:tgtEl>
                  <p:spTgt spid="285"/>
                </p:tgtEl>
              </p:cMediaNode>
            </p:video>
            <p:seq concurrent="1" prevAc="none" nextAc="seek">
              <p:cTn id="53" evtFilter="cancelBubble" nodeType="interactiveSeq" restart="whenNotActive" fill="hold">
                <p:stCondLst>
                  <p:cond delay="0" evt="onClick">
                    <p:tgtEl>
                      <p:spTgt spid="285"/>
                    </p:tgtEl>
                  </p:cond>
                </p:stCondLst>
                <p:endSync delay="0" evt="end">
                  <p:rtn val="all"/>
                </p:endSync>
                <p:childTnLst>
                  <p:par>
                    <p:cTn id="54" fill="hold">
                      <p:stCondLst>
                        <p:cond delay="0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Class="mediacall" nodeType="clickEffect" presetSubtype="0" presetID="2" fill="hold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57" dur="1" fill="hold"/>
                                        <p:tgtEl>
                                          <p:spTgt spid="28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delay="0" evt="onClick">
                  <p:tgtEl>
                    <p:spTgt spid="285"/>
                  </p:tgtEl>
                </p:cond>
              </p:nextCondLst>
            </p:seq>
          </p:childTnLst>
        </p:cTn>
      </p:par>
    </p:tnLst>
    <p:bldLst>
      <p:bldP build="whole" bldLvl="1" animBg="1" rev="0" advAuto="0" spid="305" grpId="5"/>
      <p:bldP build="whole" bldLvl="1" animBg="1" rev="0" advAuto="0" spid="325" grpId="10"/>
      <p:bldP build="whole" bldLvl="1" animBg="1" rev="0" advAuto="0" spid="301" grpId="4"/>
      <p:bldP build="whole" bldLvl="1" animBg="1" rev="0" advAuto="0" spid="321" grpId="9"/>
      <p:bldP build="whole" bldLvl="1" animBg="1" rev="0" advAuto="0" spid="317" grpId="8"/>
      <p:bldP build="whole" bldLvl="1" animBg="1" rev="0" advAuto="0" spid="313" grpId="7"/>
      <p:bldP build="whole" bldLvl="1" animBg="1" rev="0" advAuto="0" spid="297" grpId="3"/>
      <p:bldP build="whole" bldLvl="1" animBg="1" rev="0" advAuto="0" spid="293" grpId="2"/>
      <p:bldP build="whole" bldLvl="1" animBg="1" rev="0" advAuto="0" spid="309" grpId="6"/>
      <p:bldP build="whole" bldLvl="1" animBg="1" rev="0" advAuto="0" spid="329" grpId="1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720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3" name="timer_video" descr="timer_video"/>
          <p:cNvPicPr>
            <a:picLocks noChangeAspect="0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5">
            <a:extLst/>
          </a:blip>
          <a:stretch>
            <a:fillRect/>
          </a:stretch>
        </p:blipFill>
        <p:spPr>
          <a:xfrm>
            <a:off x="310895" y="310895"/>
            <a:ext cx="457201" cy="6236210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336" name="phase_pill"/>
          <p:cNvGrpSpPr/>
          <p:nvPr/>
        </p:nvGrpSpPr>
        <p:grpSpPr>
          <a:xfrm>
            <a:off x="1170432" y="310895"/>
            <a:ext cx="1892808" cy="329185"/>
            <a:chOff x="0" y="0"/>
            <a:chExt cx="1892807" cy="329184"/>
          </a:xfrm>
        </p:grpSpPr>
        <p:sp>
          <p:nvSpPr>
            <p:cNvPr id="334" name="Rounded Rectangle"/>
            <p:cNvSpPr/>
            <p:nvPr/>
          </p:nvSpPr>
          <p:spPr>
            <a:xfrm>
              <a:off x="0" y="0"/>
              <a:ext cx="1892808" cy="329185"/>
            </a:xfrm>
            <a:prstGeom prst="roundRect">
              <a:avLst>
                <a:gd name="adj" fmla="val 44444"/>
              </a:avLst>
            </a:prstGeom>
            <a:solidFill>
              <a:srgbClr val="FF8A3D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1100"/>
              </a:pPr>
            </a:p>
          </p:txBody>
        </p:sp>
        <p:sp>
          <p:nvSpPr>
            <p:cNvPr id="335" name="PLENARY · 3 MIN"/>
            <p:cNvSpPr txBox="1"/>
            <p:nvPr/>
          </p:nvSpPr>
          <p:spPr>
            <a:xfrm>
              <a:off x="42850" y="90677"/>
              <a:ext cx="1807107" cy="14783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>
                <a:defRPr b="1" spc="120" sz="1100">
                  <a:solidFill>
                    <a:srgbClr val="17203F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PLENARY · 3 MIN</a:t>
              </a:r>
            </a:p>
          </p:txBody>
        </p:sp>
      </p:grpSp>
      <p:sp>
        <p:nvSpPr>
          <p:cNvPr id="337" name="slide_title"/>
          <p:cNvSpPr txBox="1"/>
          <p:nvPr/>
        </p:nvSpPr>
        <p:spPr>
          <a:xfrm>
            <a:off x="1170432" y="965707"/>
            <a:ext cx="10472623" cy="482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3400">
                <a:solidFill>
                  <a:srgbClr val="F2F4FA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True or false?</a:t>
            </a:r>
          </a:p>
        </p:txBody>
      </p:sp>
      <p:grpSp>
        <p:nvGrpSpPr>
          <p:cNvPr id="340" name="p0_stmt"/>
          <p:cNvGrpSpPr/>
          <p:nvPr/>
        </p:nvGrpSpPr>
        <p:grpSpPr>
          <a:xfrm>
            <a:off x="1170432" y="2194560"/>
            <a:ext cx="8552383" cy="640081"/>
            <a:chOff x="0" y="0"/>
            <a:chExt cx="8552382" cy="640080"/>
          </a:xfrm>
        </p:grpSpPr>
        <p:sp>
          <p:nvSpPr>
            <p:cNvPr id="338" name="p0_bg"/>
            <p:cNvSpPr/>
            <p:nvPr/>
          </p:nvSpPr>
          <p:spPr>
            <a:xfrm>
              <a:off x="0" y="0"/>
              <a:ext cx="8552383" cy="640081"/>
            </a:xfrm>
            <a:prstGeom prst="roundRect">
              <a:avLst>
                <a:gd name="adj" fmla="val 14286"/>
              </a:avLst>
            </a:prstGeom>
            <a:solidFill>
              <a:srgbClr val="1F2A52"/>
            </a:solidFill>
            <a:ln w="12700" cap="flat">
              <a:solidFill>
                <a:srgbClr val="2C3966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339" name="p0_q"/>
            <p:cNvSpPr txBox="1"/>
            <p:nvPr/>
          </p:nvSpPr>
          <p:spPr>
            <a:xfrm>
              <a:off x="256032" y="209063"/>
              <a:ext cx="8186623" cy="22195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>
                <a:defRPr sz="1600">
                  <a:solidFill>
                    <a:srgbClr val="F2F4FA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Mass and weight are the same thing.</a:t>
              </a:r>
            </a:p>
          </p:txBody>
        </p:sp>
      </p:grpSp>
      <p:sp>
        <p:nvSpPr>
          <p:cNvPr id="341" name="p0_v"/>
          <p:cNvSpPr txBox="1"/>
          <p:nvPr/>
        </p:nvSpPr>
        <p:spPr>
          <a:xfrm>
            <a:off x="9905695" y="2391131"/>
            <a:ext cx="1737361" cy="2469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100" sz="1700">
                <a:solidFill>
                  <a:srgbClr val="FF8A3D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FALSE</a:t>
            </a:r>
          </a:p>
        </p:txBody>
      </p:sp>
      <p:grpSp>
        <p:nvGrpSpPr>
          <p:cNvPr id="344" name="p1_stmt"/>
          <p:cNvGrpSpPr/>
          <p:nvPr/>
        </p:nvGrpSpPr>
        <p:grpSpPr>
          <a:xfrm>
            <a:off x="1170432" y="2999232"/>
            <a:ext cx="8552383" cy="640081"/>
            <a:chOff x="0" y="0"/>
            <a:chExt cx="8552382" cy="640080"/>
          </a:xfrm>
        </p:grpSpPr>
        <p:sp>
          <p:nvSpPr>
            <p:cNvPr id="342" name="p1_bg"/>
            <p:cNvSpPr/>
            <p:nvPr/>
          </p:nvSpPr>
          <p:spPr>
            <a:xfrm>
              <a:off x="0" y="0"/>
              <a:ext cx="8552383" cy="640081"/>
            </a:xfrm>
            <a:prstGeom prst="roundRect">
              <a:avLst>
                <a:gd name="adj" fmla="val 14286"/>
              </a:avLst>
            </a:prstGeom>
            <a:solidFill>
              <a:srgbClr val="1F2A52"/>
            </a:solidFill>
            <a:ln w="12700" cap="flat">
              <a:solidFill>
                <a:srgbClr val="2C3966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343" name="p1_q"/>
            <p:cNvSpPr txBox="1"/>
            <p:nvPr/>
          </p:nvSpPr>
          <p:spPr>
            <a:xfrm>
              <a:off x="256032" y="209063"/>
              <a:ext cx="8186623" cy="22195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>
                <a:defRPr sz="1600">
                  <a:solidFill>
                    <a:srgbClr val="F2F4FA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Weight is measured in newtons.</a:t>
              </a:r>
            </a:p>
          </p:txBody>
        </p:sp>
      </p:grpSp>
      <p:sp>
        <p:nvSpPr>
          <p:cNvPr id="345" name="p1_v"/>
          <p:cNvSpPr txBox="1"/>
          <p:nvPr/>
        </p:nvSpPr>
        <p:spPr>
          <a:xfrm>
            <a:off x="9905695" y="3195803"/>
            <a:ext cx="1737361" cy="2469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100" sz="1700">
                <a:solidFill>
                  <a:srgbClr val="1FB6BC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TRUE</a:t>
            </a:r>
          </a:p>
        </p:txBody>
      </p:sp>
      <p:grpSp>
        <p:nvGrpSpPr>
          <p:cNvPr id="348" name="p2_stmt"/>
          <p:cNvGrpSpPr/>
          <p:nvPr/>
        </p:nvGrpSpPr>
        <p:grpSpPr>
          <a:xfrm>
            <a:off x="1170432" y="3803903"/>
            <a:ext cx="8552383" cy="640081"/>
            <a:chOff x="0" y="0"/>
            <a:chExt cx="8552382" cy="640080"/>
          </a:xfrm>
        </p:grpSpPr>
        <p:sp>
          <p:nvSpPr>
            <p:cNvPr id="346" name="p2_bg"/>
            <p:cNvSpPr/>
            <p:nvPr/>
          </p:nvSpPr>
          <p:spPr>
            <a:xfrm>
              <a:off x="0" y="0"/>
              <a:ext cx="8552383" cy="640081"/>
            </a:xfrm>
            <a:prstGeom prst="roundRect">
              <a:avLst>
                <a:gd name="adj" fmla="val 14286"/>
              </a:avLst>
            </a:prstGeom>
            <a:solidFill>
              <a:srgbClr val="1F2A52"/>
            </a:solidFill>
            <a:ln w="12700" cap="flat">
              <a:solidFill>
                <a:srgbClr val="2C3966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347" name="p2_q"/>
            <p:cNvSpPr txBox="1"/>
            <p:nvPr/>
          </p:nvSpPr>
          <p:spPr>
            <a:xfrm>
              <a:off x="256032" y="209063"/>
              <a:ext cx="8186623" cy="22195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>
                <a:defRPr sz="1600">
                  <a:solidFill>
                    <a:srgbClr val="F2F4FA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g ≈ 10 N/kg near the Earth’s surface.</a:t>
              </a:r>
            </a:p>
          </p:txBody>
        </p:sp>
      </p:grpSp>
      <p:sp>
        <p:nvSpPr>
          <p:cNvPr id="349" name="p2_v"/>
          <p:cNvSpPr txBox="1"/>
          <p:nvPr/>
        </p:nvSpPr>
        <p:spPr>
          <a:xfrm>
            <a:off x="9905695" y="4000475"/>
            <a:ext cx="1737361" cy="2469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100" sz="1700">
                <a:solidFill>
                  <a:srgbClr val="FF8A3D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FALSE</a:t>
            </a:r>
          </a:p>
        </p:txBody>
      </p:sp>
      <p:grpSp>
        <p:nvGrpSpPr>
          <p:cNvPr id="352" name="p3_stmt"/>
          <p:cNvGrpSpPr/>
          <p:nvPr/>
        </p:nvGrpSpPr>
        <p:grpSpPr>
          <a:xfrm>
            <a:off x="1170432" y="4608576"/>
            <a:ext cx="8552383" cy="640081"/>
            <a:chOff x="0" y="0"/>
            <a:chExt cx="8552382" cy="640080"/>
          </a:xfrm>
        </p:grpSpPr>
        <p:sp>
          <p:nvSpPr>
            <p:cNvPr id="350" name="p3_bg"/>
            <p:cNvSpPr/>
            <p:nvPr/>
          </p:nvSpPr>
          <p:spPr>
            <a:xfrm>
              <a:off x="0" y="0"/>
              <a:ext cx="8552383" cy="640081"/>
            </a:xfrm>
            <a:prstGeom prst="roundRect">
              <a:avLst>
                <a:gd name="adj" fmla="val 14286"/>
              </a:avLst>
            </a:prstGeom>
            <a:solidFill>
              <a:srgbClr val="1F2A52"/>
            </a:solidFill>
            <a:ln w="12700" cap="flat">
              <a:solidFill>
                <a:srgbClr val="2C3966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351" name="p3_q"/>
            <p:cNvSpPr txBox="1"/>
            <p:nvPr/>
          </p:nvSpPr>
          <p:spPr>
            <a:xfrm>
              <a:off x="256032" y="209063"/>
              <a:ext cx="8186623" cy="22195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>
                <a:defRPr sz="1600">
                  <a:solidFill>
                    <a:srgbClr val="F2F4FA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A 5 kg mass has a weight of 49 N.</a:t>
              </a:r>
            </a:p>
          </p:txBody>
        </p:sp>
      </p:grpSp>
      <p:sp>
        <p:nvSpPr>
          <p:cNvPr id="353" name="p3_v"/>
          <p:cNvSpPr txBox="1"/>
          <p:nvPr/>
        </p:nvSpPr>
        <p:spPr>
          <a:xfrm>
            <a:off x="9905695" y="4805147"/>
            <a:ext cx="1737361" cy="2469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100" sz="1700">
                <a:solidFill>
                  <a:srgbClr val="1FB6BC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TRUE</a:t>
            </a:r>
          </a:p>
        </p:txBody>
      </p:sp>
      <p:grpSp>
        <p:nvGrpSpPr>
          <p:cNvPr id="356" name="p4_stmt"/>
          <p:cNvGrpSpPr/>
          <p:nvPr/>
        </p:nvGrpSpPr>
        <p:grpSpPr>
          <a:xfrm>
            <a:off x="1170432" y="5413247"/>
            <a:ext cx="8552383" cy="640081"/>
            <a:chOff x="0" y="0"/>
            <a:chExt cx="8552382" cy="640080"/>
          </a:xfrm>
        </p:grpSpPr>
        <p:sp>
          <p:nvSpPr>
            <p:cNvPr id="354" name="p4_bg"/>
            <p:cNvSpPr/>
            <p:nvPr/>
          </p:nvSpPr>
          <p:spPr>
            <a:xfrm>
              <a:off x="0" y="0"/>
              <a:ext cx="8552383" cy="640081"/>
            </a:xfrm>
            <a:prstGeom prst="roundRect">
              <a:avLst>
                <a:gd name="adj" fmla="val 14286"/>
              </a:avLst>
            </a:prstGeom>
            <a:solidFill>
              <a:srgbClr val="1F2A52"/>
            </a:solidFill>
            <a:ln w="12700" cap="flat">
              <a:solidFill>
                <a:srgbClr val="2C3966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355" name="p4_q"/>
            <p:cNvSpPr txBox="1"/>
            <p:nvPr/>
          </p:nvSpPr>
          <p:spPr>
            <a:xfrm>
              <a:off x="256032" y="209063"/>
              <a:ext cx="8186623" cy="22195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>
                <a:defRPr sz="1600">
                  <a:solidFill>
                    <a:srgbClr val="F2F4FA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Your mass would change if you went to the Moon.</a:t>
              </a:r>
            </a:p>
          </p:txBody>
        </p:sp>
      </p:grpSp>
      <p:sp>
        <p:nvSpPr>
          <p:cNvPr id="357" name="p4_v"/>
          <p:cNvSpPr txBox="1"/>
          <p:nvPr/>
        </p:nvSpPr>
        <p:spPr>
          <a:xfrm>
            <a:off x="9905695" y="5609819"/>
            <a:ext cx="1737361" cy="2469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100" sz="1700">
                <a:solidFill>
                  <a:srgbClr val="FF8A3D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FALSE</a:t>
            </a:r>
          </a:p>
        </p:txBody>
      </p:sp>
      <p:sp>
        <p:nvSpPr>
          <p:cNvPr id="358" name="pl_next"/>
          <p:cNvSpPr txBox="1"/>
          <p:nvPr/>
        </p:nvSpPr>
        <p:spPr>
          <a:xfrm>
            <a:off x="1170432" y="6189239"/>
            <a:ext cx="10472623" cy="2219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i="1" sz="1600">
                <a:solidFill>
                  <a:srgbClr val="FF8A3D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Same mass everywhere. Different weight wherever gravity is different.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push dir="u"/>
      </p:transition>
    </mc:Choice>
    <mc:Fallback>
      <p:transition spd="med">
        <p:fade/>
      </p:transition>
    </mc:Fallback>
  </mc:AlternateContent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  <p:cond evt="onBegin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mediacall" nodeType="afterEffect" presetSubtype="0" presetID="1" grpId="1" fill="hold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80000" fill="hold"/>
                                        <p:tgtEl>
                                          <p:spTgt spid="33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Class="entr" nodeType="clickEffect" presetID="10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1" dur="400"/>
                                        <p:tgtEl>
                                          <p:spTgt spid="3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Class="entr" nodeType="clickEffect" presetSubtype="16" presetID="23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5" fill="hold"/>
                                        <p:tgtEl>
                                          <p:spTgt spid="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3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400" fill="hold"/>
                                        <p:tgtEl>
                                          <p:spTgt spid="3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Class="entr" nodeType="clickEffect" presetID="10" grpId="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1" fill="hold"/>
                                        <p:tgtEl>
                                          <p:spTgt spid="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22" dur="400"/>
                                        <p:tgtEl>
                                          <p:spTgt spid="3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Class="entr" nodeType="clickEffect" presetSubtype="16" presetID="23" grpId="5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6" fill="hold"/>
                                        <p:tgtEl>
                                          <p:spTgt spid="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400" fill="hold"/>
                                        <p:tgtEl>
                                          <p:spTgt spid="3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400" fill="hold"/>
                                        <p:tgtEl>
                                          <p:spTgt spid="3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Class="entr" nodeType="clickEffect" presetID="10" grpId="6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2" fill="hold"/>
                                        <p:tgtEl>
                                          <p:spTgt spid="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33" dur="400"/>
                                        <p:tgtEl>
                                          <p:spTgt spid="3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Class="entr" nodeType="clickEffect" presetSubtype="16" presetID="23" grpId="7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7" fill="hold"/>
                                        <p:tgtEl>
                                          <p:spTgt spid="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400" fill="hold"/>
                                        <p:tgtEl>
                                          <p:spTgt spid="3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400" fill="hold"/>
                                        <p:tgtEl>
                                          <p:spTgt spid="3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Class="entr" nodeType="clickEffect" presetID="10" grpId="8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3" fill="hold"/>
                                        <p:tgtEl>
                                          <p:spTgt spid="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44" dur="400"/>
                                        <p:tgtEl>
                                          <p:spTgt spid="3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Class="entr" nodeType="clickEffect" presetSubtype="16" presetID="23" grpId="9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8" fill="hold"/>
                                        <p:tgtEl>
                                          <p:spTgt spid="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400" fill="hold"/>
                                        <p:tgtEl>
                                          <p:spTgt spid="3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400" fill="hold"/>
                                        <p:tgtEl>
                                          <p:spTgt spid="3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Class="entr" nodeType="clickEffect" presetID="10" grpId="10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4" fill="hold"/>
                                        <p:tgtEl>
                                          <p:spTgt spid="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55" dur="400"/>
                                        <p:tgtEl>
                                          <p:spTgt spid="3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Class="entr" nodeType="clickEffect" presetSubtype="16" presetID="23" grpId="1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9" fill="hold"/>
                                        <p:tgtEl>
                                          <p:spTgt spid="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400" fill="hold"/>
                                        <p:tgtEl>
                                          <p:spTgt spid="3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400" fill="hold"/>
                                        <p:tgtEl>
                                          <p:spTgt spid="3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Class="entr" nodeType="clickEffect" presetID="10" grpId="1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5" fill="hold"/>
                                        <p:tgtEl>
                                          <p:spTgt spid="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66" dur="400"/>
                                        <p:tgtEl>
                                          <p:spTgt spid="3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  <p:video fullScrn="0">
              <p:cMediaNode mute="0" showWhenStopped="1" numSld="1" vol="0">
                <p:cTn id="67" fill="hold" display="0">
                  <p:stCondLst>
                    <p:cond delay="indefinite"/>
                  </p:stCondLst>
                </p:cTn>
                <p:tgtEl>
                  <p:spTgt spid="333"/>
                </p:tgtEl>
              </p:cMediaNode>
            </p:video>
            <p:seq concurrent="1" prevAc="none" nextAc="seek">
              <p:cTn id="68" evtFilter="cancelBubble" nodeType="interactiveSeq" restart="whenNotActive" fill="hold">
                <p:stCondLst>
                  <p:cond delay="0" evt="onClick">
                    <p:tgtEl>
                      <p:spTgt spid="333"/>
                    </p:tgtEl>
                  </p:cond>
                </p:stCondLst>
                <p:endSync delay="0" evt="end">
                  <p:rtn val="all"/>
                </p:endSync>
                <p:childTnLst>
                  <p:par>
                    <p:cTn id="69" fill="hold">
                      <p:stCondLst>
                        <p:cond delay="0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Class="mediacall" nodeType="clickEffect" presetSubtype="0" presetID="2" fill="hold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72" dur="1" fill="hold"/>
                                        <p:tgtEl>
                                          <p:spTgt spid="33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delay="0" evt="onClick">
                  <p:tgtEl>
                    <p:spTgt spid="333"/>
                  </p:tgtEl>
                </p:cond>
              </p:nextCondLst>
            </p:seq>
          </p:childTnLst>
        </p:cTn>
      </p:par>
    </p:tnLst>
    <p:bldLst>
      <p:bldP build="whole" bldLvl="1" animBg="1" rev="0" advAuto="0" spid="353" grpId="9"/>
      <p:bldP build="whole" bldLvl="1" animBg="1" rev="0" advAuto="0" spid="345" grpId="5"/>
      <p:bldP build="whole" bldLvl="1" animBg="1" rev="0" advAuto="0" spid="352" grpId="8"/>
      <p:bldP build="whole" bldLvl="1" animBg="1" rev="0" advAuto="0" spid="341" grpId="3"/>
      <p:bldP build="whole" bldLvl="1" animBg="1" rev="0" advAuto="0" spid="348" grpId="6"/>
      <p:bldP build="whole" bldLvl="1" animBg="1" rev="0" advAuto="0" spid="356" grpId="10"/>
      <p:bldP build="whole" bldLvl="1" animBg="1" rev="0" advAuto="0" spid="344" grpId="4"/>
      <p:bldP build="whole" bldLvl="1" animBg="1" rev="0" advAuto="0" spid="358" grpId="12"/>
      <p:bldP build="whole" bldLvl="1" animBg="1" rev="0" advAuto="0" spid="340" grpId="2"/>
      <p:bldP build="whole" bldLvl="1" animBg="1" rev="0" advAuto="0" spid="357" grpId="11"/>
      <p:bldP build="whole" bldLvl="1" animBg="1" rev="0" advAuto="0" spid="349" grpId="7"/>
    </p:bldLst>
  </p:timing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