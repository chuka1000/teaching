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2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C2230"/>
                </a:solidFill>
                <a:latin typeface="Arial"/>
              </a:rPr>
              <a:t>Turkey’s confidence it will be fed tomorrow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 (%)</c:v>
                </c:pt>
              </c:strCache>
            </c:strRef>
          </c:tx>
          <c:spPr>
            <a:solidFill>
              <a:srgbClr val="E8672B"/>
            </a:solidFill>
            <a:ln w="38100" cap="flat">
              <a:solidFill>
                <a:srgbClr val="E867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672B"/>
              </a:solidFill>
              <a:ln w="9525" cap="flat">
                <a:solidFill>
                  <a:srgbClr val="E867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40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50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60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>70</c:v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80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>90</c:v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100</c:v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50</c:v>
                </c:pt>
                <c:pt idx="1">
                  <c:v>66.7</c:v>
                </c:pt>
                <c:pt idx="2">
                  <c:v>75</c:v>
                </c:pt>
                <c:pt idx="3">
                  <c:v>80</c:v>
                </c:pt>
                <c:pt idx="4">
                  <c:v>83.3</c:v>
                </c:pt>
                <c:pt idx="5">
                  <c:v>85.7</c:v>
                </c:pt>
                <c:pt idx="6">
                  <c:v>87.5</c:v>
                </c:pt>
                <c:pt idx="7">
                  <c:v>88.9</c:v>
                </c:pt>
                <c:pt idx="8">
                  <c:v>90</c:v>
                </c:pt>
                <c:pt idx="9">
                  <c:v>90.9</c:v>
                </c:pt>
                <c:pt idx="10">
                  <c:v>91.7</c:v>
                </c:pt>
                <c:pt idx="11">
                  <c:v>92.3</c:v>
                </c:pt>
                <c:pt idx="12">
                  <c:v>92.9</c:v>
                </c:pt>
                <c:pt idx="13">
                  <c:v>93.3</c:v>
                </c:pt>
                <c:pt idx="14">
                  <c:v>93.8</c:v>
                </c:pt>
                <c:pt idx="15">
                  <c:v>94.1</c:v>
                </c:pt>
                <c:pt idx="16">
                  <c:v>94.4</c:v>
                </c:pt>
                <c:pt idx="17">
                  <c:v>94.7</c:v>
                </c:pt>
                <c:pt idx="18">
                  <c:v>95</c:v>
                </c:pt>
                <c:pt idx="19">
                  <c:v>95.2</c:v>
                </c:pt>
                <c:pt idx="20">
                  <c:v>95.5</c:v>
                </c:pt>
                <c:pt idx="21">
                  <c:v>95.7</c:v>
                </c:pt>
                <c:pt idx="22">
                  <c:v>95.8</c:v>
                </c:pt>
                <c:pt idx="23">
                  <c:v>96</c:v>
                </c:pt>
                <c:pt idx="24">
                  <c:v>96.2</c:v>
                </c:pt>
                <c:pt idx="25">
                  <c:v>96.3</c:v>
                </c:pt>
                <c:pt idx="26">
                  <c:v>96.4</c:v>
                </c:pt>
                <c:pt idx="27">
                  <c:v>96.6</c:v>
                </c:pt>
                <c:pt idx="28">
                  <c:v>96.7</c:v>
                </c:pt>
                <c:pt idx="29">
                  <c:v>96.8</c:v>
                </c:pt>
                <c:pt idx="30">
                  <c:v>96.9</c:v>
                </c:pt>
                <c:pt idx="31">
                  <c:v>97</c:v>
                </c:pt>
                <c:pt idx="32">
                  <c:v>97.1</c:v>
                </c:pt>
                <c:pt idx="33">
                  <c:v>97.1</c:v>
                </c:pt>
                <c:pt idx="34">
                  <c:v>97.2</c:v>
                </c:pt>
                <c:pt idx="35">
                  <c:v>97.3</c:v>
                </c:pt>
                <c:pt idx="36">
                  <c:v>97.4</c:v>
                </c:pt>
                <c:pt idx="37">
                  <c:v>97.4</c:v>
                </c:pt>
                <c:pt idx="38">
                  <c:v>97.5</c:v>
                </c:pt>
                <c:pt idx="39">
                  <c:v>97.6</c:v>
                </c:pt>
                <c:pt idx="40">
                  <c:v>97.6</c:v>
                </c:pt>
                <c:pt idx="41">
                  <c:v>97.7</c:v>
                </c:pt>
                <c:pt idx="42">
                  <c:v>97.7</c:v>
                </c:pt>
                <c:pt idx="43">
                  <c:v>97.8</c:v>
                </c:pt>
                <c:pt idx="44">
                  <c:v>97.8</c:v>
                </c:pt>
                <c:pt idx="45">
                  <c:v>97.9</c:v>
                </c:pt>
                <c:pt idx="46">
                  <c:v>97.9</c:v>
                </c:pt>
                <c:pt idx="47">
                  <c:v>98</c:v>
                </c:pt>
                <c:pt idx="48">
                  <c:v>98</c:v>
                </c:pt>
                <c:pt idx="49">
                  <c:v>98</c:v>
                </c:pt>
                <c:pt idx="50">
                  <c:v>98.1</c:v>
                </c:pt>
                <c:pt idx="51">
                  <c:v>98.1</c:v>
                </c:pt>
                <c:pt idx="52">
                  <c:v>98.1</c:v>
                </c:pt>
                <c:pt idx="53">
                  <c:v>98.2</c:v>
                </c:pt>
                <c:pt idx="54">
                  <c:v>98.2</c:v>
                </c:pt>
                <c:pt idx="55">
                  <c:v>98.2</c:v>
                </c:pt>
                <c:pt idx="56">
                  <c:v>98.3</c:v>
                </c:pt>
                <c:pt idx="57">
                  <c:v>98.3</c:v>
                </c:pt>
                <c:pt idx="58">
                  <c:v>98.3</c:v>
                </c:pt>
                <c:pt idx="59">
                  <c:v>98.4</c:v>
                </c:pt>
                <c:pt idx="60">
                  <c:v>98.4</c:v>
                </c:pt>
                <c:pt idx="61">
                  <c:v>98.4</c:v>
                </c:pt>
                <c:pt idx="62">
                  <c:v>98.4</c:v>
                </c:pt>
                <c:pt idx="63">
                  <c:v>98.5</c:v>
                </c:pt>
                <c:pt idx="64">
                  <c:v>98.5</c:v>
                </c:pt>
                <c:pt idx="65">
                  <c:v>98.5</c:v>
                </c:pt>
                <c:pt idx="66">
                  <c:v>98.5</c:v>
                </c:pt>
                <c:pt idx="67">
                  <c:v>98.6</c:v>
                </c:pt>
                <c:pt idx="68">
                  <c:v>98.6</c:v>
                </c:pt>
                <c:pt idx="69">
                  <c:v>98.6</c:v>
                </c:pt>
                <c:pt idx="70">
                  <c:v>98.6</c:v>
                </c:pt>
                <c:pt idx="71">
                  <c:v>98.6</c:v>
                </c:pt>
                <c:pt idx="72">
                  <c:v>98.6</c:v>
                </c:pt>
                <c:pt idx="73">
                  <c:v>98.7</c:v>
                </c:pt>
                <c:pt idx="74">
                  <c:v>98.7</c:v>
                </c:pt>
                <c:pt idx="75">
                  <c:v>98.7</c:v>
                </c:pt>
                <c:pt idx="76">
                  <c:v>98.7</c:v>
                </c:pt>
                <c:pt idx="77">
                  <c:v>98.7</c:v>
                </c:pt>
                <c:pt idx="78">
                  <c:v>98.8</c:v>
                </c:pt>
                <c:pt idx="79">
                  <c:v>98.8</c:v>
                </c:pt>
                <c:pt idx="80">
                  <c:v>98.8</c:v>
                </c:pt>
                <c:pt idx="81">
                  <c:v>98.8</c:v>
                </c:pt>
                <c:pt idx="82">
                  <c:v>98.8</c:v>
                </c:pt>
                <c:pt idx="83">
                  <c:v>98.8</c:v>
                </c:pt>
                <c:pt idx="84">
                  <c:v>98.8</c:v>
                </c:pt>
                <c:pt idx="85">
                  <c:v>98.9</c:v>
                </c:pt>
                <c:pt idx="86">
                  <c:v>98.9</c:v>
                </c:pt>
                <c:pt idx="87">
                  <c:v>98.9</c:v>
                </c:pt>
                <c:pt idx="88">
                  <c:v>98.9</c:v>
                </c:pt>
                <c:pt idx="89">
                  <c:v>98.9</c:v>
                </c:pt>
                <c:pt idx="90">
                  <c:v>98.9</c:v>
                </c:pt>
                <c:pt idx="91">
                  <c:v>98.9</c:v>
                </c:pt>
                <c:pt idx="92">
                  <c:v>98.9</c:v>
                </c:pt>
                <c:pt idx="93">
                  <c:v>98.9</c:v>
                </c:pt>
                <c:pt idx="94">
                  <c:v>99</c:v>
                </c:pt>
                <c:pt idx="95">
                  <c:v>99</c:v>
                </c:pt>
                <c:pt idx="96">
                  <c:v>99</c:v>
                </c:pt>
                <c:pt idx="97">
                  <c:v>99</c:v>
                </c:pt>
                <c:pt idx="98">
                  <c:v>99</c:v>
                </c:pt>
                <c:pt idx="99">
                  <c:v>99</c:v>
                </c:pt>
                <c:pt idx="100">
                  <c:v>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75"/>
                    </a:solidFill>
                    <a:latin typeface="Arial"/>
                  </a:rPr>
                  <a:t>Days fed in a row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C9CFD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3E7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75"/>
                    </a:solidFill>
                    <a:latin typeface="Arial"/>
                  </a:rPr>
                  <a:t>Confidence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hidden, so it is skipped in the slideshow. It holds the teacher-facing plan: prior knowledge, misconceptions and timings. Pitched at Year 9 (KS3 Working Scientifically); easily stretched for Year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orange dot appears on its own after a moment: that is our black swan, and we will come back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objectives aloud. Point out that objective 3 is the one we are really aiming for: judging how strong an argument is, not just naming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answer silently in books (4 min). Then click to reveal each answer in turn and self-mark in green pen.
Q4 sets up today: a pattern in data is exactly what inductive reasoning starts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Circles 1 to 3 are on screen. Ask for predictions before each click.
Click 1: four dots, 8 regions. Click 2: five dots, 16 regions. Nearly everyone predicts 32.
Click 3: six dots appear. Get pupils to commit to a number (mini whiteboards).
Click 4: the answer is 31, and the takeaway line appears.
The general formula is 1 + C(n,2) + C(n,4), which happens to match powers of 2 for n = 1 to 5. (This is Moser’s circle problem.) The six dots are deliberately unevenly spaced: with a regular hexagon three chords cross at the centre and you only get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the observations fly in. Each is a single, specific fact.
Click 2: we climb from the facts to a general rule. That upward leap is induction.
Click 3: deduction runs the other way. If the rule is true, the conclusion must be true.
Click 4: the takeaway.
Key question: which side is certain? Deduction, but only if its starting rule is true. And where do the rules come from? Usually from induction.
Misconception check: pupils often think deduction means ‘working out who did it’, detective-style. Sherlock Holmes mostly reasons inductively.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first: how many white swans would you need to see to PROVE all swans are white? Take answers (100? a million?).
Click 1: the black swan and the 1697 sighting.
Click 2: the punchline. No number of confirming cases proves a general rule, but a single counterexample can disprove it.
Stretch: the philosopher Karl Popper argued that science advances by trying to falsify ideas, not just by collecting confirmations. David Hume called this the ‘problem of induction’.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through the graph: the turkey starts at 50% (no data, no idea), and its confidence climbs with every breakfast.
Click 1: Christmas Eve.
Click 2: the question. Think, pair, share (2 min).
Answers to draw out: it never asked WHY it was being fed (no mechanism); every observation came from the same situation (no variety); it never looked for counterexamples (what happened to last year’s turkeys?).
This sets up the next slide. The story comes from Bertrand Russell’s inductivist chicken, later turned into a turkey by Nassim Taleb.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one card per click and link each back to a lab habit: bigger samples and repeats; testing across a range; explaining with a model; actively trying to disprove your hypothesis.
Final click: the turkey scored 1 out of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Pairs, 8 minutes, then 3 minutes of feedback.
One defensible ranking, strongest first:
A: enormous, varied sample plus a known mechanism (Earth’s rotation).
B: small sample, but a mechanism (delocalised electrons) backs it up. It happens to be true.
E: decent sample, but correlation isn’t cause. Pupils who eat breakfast may differ in other ways, so it needs a controlled test.
D: small, unvaried sample, and a known counterexample exists.
C: tiny sample, and the mechanism says each flip is independent. The streak tells you nothing.
Accept other orders if the justification uses the four tests. B vs E is the best debate to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answer on a sticky note or in Google Classroom.
Q3 is the interesting one. 32 was a perfectly reasonable inductive guess from the evidence. It just wasn’t certain. Good induction means holding conclusions with the right amount of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703320" cy="292608"/>
          </a:xfrm>
          <a:prstGeom prst="roundRect">
            <a:avLst>
              <a:gd name="adj" fmla="val 50000"/>
            </a:avLst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NOTES · SKIPPED IN SLIDESHOW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lesson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knowledge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and predictions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Independent, dependent and control variables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measurements and spotting anomalies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patterns and correlations in graphs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Misconceptions to watch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116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“Enough examples proves it.” Induction supports a rule; it never proves it.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“Induction is just guessing.” Good induction is disciplined.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Mixing up inductive (specific → general) and deductive (general → specific).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“Correlation means cause.”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flow · 50 min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11680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Now retrieval · 6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Hook: the circle puzzle · 5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two ways to reason · 7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swans and turkeys · 11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stronger induction · 5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rank the claims · 11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Plenary: exit ticket · 5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9 · WORKING SCIENTIFICALLY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Inductive Reasoning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“it’s always happened” isn’t the same as “it always will”</a:t>
            </a:r>
            <a:endParaRPr lang="en-US" sz="1800" dirty="0"/>
          </a:p>
        </p:txBody>
      </p:sp>
      <p:sp>
        <p:nvSpPr>
          <p:cNvPr id="5" name="dot0"/>
          <p:cNvSpPr/>
          <p:nvPr/>
        </p:nvSpPr>
        <p:spPr>
          <a:xfrm>
            <a:off x="54864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dot1"/>
          <p:cNvSpPr/>
          <p:nvPr/>
        </p:nvSpPr>
        <p:spPr>
          <a:xfrm>
            <a:off x="105156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dot2"/>
          <p:cNvSpPr/>
          <p:nvPr/>
        </p:nvSpPr>
        <p:spPr>
          <a:xfrm>
            <a:off x="155448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dot3"/>
          <p:cNvSpPr/>
          <p:nvPr/>
        </p:nvSpPr>
        <p:spPr>
          <a:xfrm>
            <a:off x="205740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dot4"/>
          <p:cNvSpPr/>
          <p:nvPr/>
        </p:nvSpPr>
        <p:spPr>
          <a:xfrm>
            <a:off x="256032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dot5"/>
          <p:cNvSpPr/>
          <p:nvPr/>
        </p:nvSpPr>
        <p:spPr>
          <a:xfrm>
            <a:off x="306324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dot6"/>
          <p:cNvSpPr/>
          <p:nvPr/>
        </p:nvSpPr>
        <p:spPr>
          <a:xfrm>
            <a:off x="356616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dot7"/>
          <p:cNvSpPr/>
          <p:nvPr/>
        </p:nvSpPr>
        <p:spPr>
          <a:xfrm>
            <a:off x="406908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dot8"/>
          <p:cNvSpPr/>
          <p:nvPr/>
        </p:nvSpPr>
        <p:spPr>
          <a:xfrm>
            <a:off x="457200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dot9"/>
          <p:cNvSpPr/>
          <p:nvPr/>
        </p:nvSpPr>
        <p:spPr>
          <a:xfrm>
            <a:off x="507492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dot10"/>
          <p:cNvSpPr/>
          <p:nvPr/>
        </p:nvSpPr>
        <p:spPr>
          <a:xfrm>
            <a:off x="557784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dot11"/>
          <p:cNvSpPr/>
          <p:nvPr/>
        </p:nvSpPr>
        <p:spPr>
          <a:xfrm>
            <a:off x="608076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outlier"/>
          <p:cNvSpPr/>
          <p:nvPr/>
        </p:nvSpPr>
        <p:spPr>
          <a:xfrm>
            <a:off x="6583680" y="3977640"/>
            <a:ext cx="256032" cy="256032"/>
          </a:xfrm>
          <a:prstGeom prst="ellipse">
            <a:avLst/>
          </a:prstGeom>
          <a:solidFill>
            <a:srgbClr val="E8672B"/>
          </a:solidFill>
          <a:ln w="6350">
            <a:solidFill>
              <a:srgbClr val="E8672B"/>
            </a:solidFill>
            <a:prstDash val="solid"/>
          </a:ln>
        </p:spPr>
      </p:sp>
      <p:sp>
        <p:nvSpPr>
          <p:cNvPr id="18" name="dot13"/>
          <p:cNvSpPr/>
          <p:nvPr/>
        </p:nvSpPr>
        <p:spPr>
          <a:xfrm>
            <a:off x="708660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dot14"/>
          <p:cNvSpPr/>
          <p:nvPr/>
        </p:nvSpPr>
        <p:spPr>
          <a:xfrm>
            <a:off x="758952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dot15"/>
          <p:cNvSpPr/>
          <p:nvPr/>
        </p:nvSpPr>
        <p:spPr>
          <a:xfrm>
            <a:off x="809244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we will…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learning to…</a:t>
            </a:r>
            <a:endParaRPr lang="en-US" sz="1400" dirty="0"/>
          </a:p>
        </p:txBody>
      </p:sp>
      <p:sp>
        <p:nvSpPr>
          <p:cNvPr id="5" name="obj0num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inductive reasoning as moving from specific observations to a general rule.</a:t>
            </a:r>
            <a:endParaRPr lang="en-US" sz="1400" dirty="0"/>
          </a:p>
        </p:txBody>
      </p:sp>
      <p:sp>
        <p:nvSpPr>
          <p:cNvPr id="7" name="obj1num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697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induction can support a conclusion but never prove it.</a:t>
            </a:r>
            <a:endParaRPr lang="en-US" sz="1400" dirty="0"/>
          </a:p>
        </p:txBody>
      </p:sp>
      <p:sp>
        <p:nvSpPr>
          <p:cNvPr id="9" name="obj2num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5661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the strength of inductive arguments using scientific criteria.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3108960" cy="2468880"/>
          </a:xfrm>
          <a:prstGeom prst="roundRect">
            <a:avLst>
              <a:gd name="adj" fmla="val 296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looks like…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210312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define induction and give an everyday example.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explain how one counterexample breaks a general rule.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rank arguments and justify my ranking.</a:t>
            </a:r>
            <a:endParaRPr lang="en-US" sz="1300" dirty="0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NOW · 6 MIN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Retrieval: Working Scientifically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q0num"/>
          <p:cNvSpPr/>
          <p:nvPr/>
        </p:nvSpPr>
        <p:spPr>
          <a:xfrm>
            <a:off x="731520" y="1645920"/>
            <a:ext cx="365760" cy="365760"/>
          </a:xfrm>
          <a:prstGeom prst="ellipse">
            <a:avLst/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727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hypothesis?</a:t>
            </a:r>
            <a:endParaRPr lang="en-US" sz="1300" dirty="0"/>
          </a:p>
        </p:txBody>
      </p:sp>
      <p:sp>
        <p:nvSpPr>
          <p:cNvPr id="7" name="ans0"/>
          <p:cNvSpPr txBox="1"/>
          <p:nvPr/>
        </p:nvSpPr>
        <p:spPr>
          <a:xfrm>
            <a:off x="1234440" y="2286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testable prediction, ideally with a scientific reason behind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q1num"/>
          <p:cNvSpPr/>
          <p:nvPr/>
        </p:nvSpPr>
        <p:spPr>
          <a:xfrm>
            <a:off x="4846320" y="1645920"/>
            <a:ext cx="365760" cy="365760"/>
          </a:xfrm>
          <a:prstGeom prst="ellipse">
            <a:avLst/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5727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vs how fast sugar dissolves: which is the independent variable?</a:t>
            </a:r>
            <a:endParaRPr lang="en-US" sz="1300" dirty="0"/>
          </a:p>
        </p:txBody>
      </p:sp>
      <p:sp>
        <p:nvSpPr>
          <p:cNvPr id="11" name="ans1"/>
          <p:cNvSpPr txBox="1"/>
          <p:nvPr/>
        </p:nvSpPr>
        <p:spPr>
          <a:xfrm>
            <a:off x="5349240" y="2286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 the variable we change on purpose.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3" name="q2num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1868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scientists repeat measurements?</a:t>
            </a:r>
            <a:endParaRPr lang="en-US" sz="1300" dirty="0"/>
          </a:p>
        </p:txBody>
      </p:sp>
      <p:sp>
        <p:nvSpPr>
          <p:cNvPr id="15" name="ans2"/>
          <p:cNvSpPr txBox="1"/>
          <p:nvPr/>
        </p:nvSpPr>
        <p:spPr>
          <a:xfrm>
            <a:off x="1234440" y="3931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spot anomalies and check that results are repeatable.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7" name="q3num"/>
          <p:cNvSpPr/>
          <p:nvPr/>
        </p:nvSpPr>
        <p:spPr>
          <a:xfrm>
            <a:off x="4846320" y="3291840"/>
            <a:ext cx="365760" cy="365760"/>
          </a:xfrm>
          <a:prstGeom prst="ellipse">
            <a:avLst/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21868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 shows that as X increases, Y increases. What is this called?</a:t>
            </a:r>
            <a:endParaRPr lang="en-US" sz="1300" dirty="0"/>
          </a:p>
        </p:txBody>
      </p:sp>
      <p:sp>
        <p:nvSpPr>
          <p:cNvPr id="19" name="ans3"/>
          <p:cNvSpPr txBox="1"/>
          <p:nvPr/>
        </p:nvSpPr>
        <p:spPr>
          <a:xfrm>
            <a:off x="5349240" y="3931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positive correlation.</a:t>
            </a:r>
            <a:endParaRPr lang="en-US" sz="1250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5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· 5 MIN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the next number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dots on a circle and join every pair with a straight line. How many regions do you get?</a:t>
            </a:r>
            <a:endParaRPr lang="en-US" sz="1400" dirty="0"/>
          </a:p>
        </p:txBody>
      </p:sp>
      <p:grpSp>
        <p:nvGrpSpPr>
          <p:cNvPr id="81" name="g_m1"/>
          <p:cNvGrpSpPr/>
          <p:nvPr/>
        </p:nvGrpSpPr>
        <p:grpSpPr>
          <a:xfrm>
            <a:off x="672084" y="1847088"/>
            <a:ext cx="1097280" cy="1901952"/>
            <a:chOff x="672084" y="1847088"/>
            <a:chExt cx="1097280" cy="1901952"/>
          </a:xfrm>
        </p:grpSpPr>
        <p:sp>
          <p:nvSpPr>
            <p:cNvPr id="5" name="g_m1__circle"/>
            <p:cNvSpPr/>
            <p:nvPr/>
          </p:nvSpPr>
          <p:spPr>
            <a:xfrm>
              <a:off x="699516" y="2084832"/>
              <a:ext cx="1042416" cy="104241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C2230"/>
              </a:solidFill>
              <a:prstDash val="solid"/>
            </a:ln>
          </p:spPr>
        </p:sp>
        <p:sp>
          <p:nvSpPr>
            <p:cNvPr id="6" name="g_m1__pt0"/>
            <p:cNvSpPr/>
            <p:nvPr/>
          </p:nvSpPr>
          <p:spPr>
            <a:xfrm>
              <a:off x="1170432" y="2034540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7" name="g_m1__lab"/>
            <p:cNvSpPr txBox="1"/>
            <p:nvPr/>
          </p:nvSpPr>
          <p:spPr>
            <a:xfrm>
              <a:off x="672084" y="1847088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00" dirty="0">
                  <a:solidFill>
                    <a:srgbClr val="5B64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 dot</a:t>
              </a:r>
              <a:endParaRPr lang="en-US" sz="1100" dirty="0"/>
            </a:p>
          </p:txBody>
        </p:sp>
        <p:sp>
          <p:nvSpPr>
            <p:cNvPr id="8" name="g_m1__num"/>
            <p:cNvSpPr txBox="1"/>
            <p:nvPr/>
          </p:nvSpPr>
          <p:spPr>
            <a:xfrm>
              <a:off x="672084" y="3246120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3000" b="1" dirty="0">
                  <a:solidFill>
                    <a:srgbClr val="1C22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</a:t>
              </a:r>
              <a:endParaRPr lang="en-US" sz="3000" dirty="0"/>
            </a:p>
          </p:txBody>
        </p:sp>
      </p:grpSp>
      <p:grpSp>
        <p:nvGrpSpPr>
          <p:cNvPr id="82" name="g_m2"/>
          <p:cNvGrpSpPr/>
          <p:nvPr/>
        </p:nvGrpSpPr>
        <p:grpSpPr>
          <a:xfrm>
            <a:off x="2016252" y="1847088"/>
            <a:ext cx="1097280" cy="1901952"/>
            <a:chOff x="2016252" y="1847088"/>
            <a:chExt cx="1097280" cy="1901952"/>
          </a:xfrm>
        </p:grpSpPr>
        <p:sp>
          <p:nvSpPr>
            <p:cNvPr id="9" name="g_m2__circle"/>
            <p:cNvSpPr/>
            <p:nvPr/>
          </p:nvSpPr>
          <p:spPr>
            <a:xfrm>
              <a:off x="2043684" y="2084832"/>
              <a:ext cx="1042416" cy="104241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C2230"/>
              </a:solidFill>
              <a:prstDash val="solid"/>
            </a:ln>
          </p:spPr>
        </p:sp>
        <p:sp>
          <p:nvSpPr>
            <p:cNvPr id="10" name="g_m2__chord0"/>
            <p:cNvSpPr/>
            <p:nvPr/>
          </p:nvSpPr>
          <p:spPr>
            <a:xfrm>
              <a:off x="2564892" y="2084832"/>
              <a:ext cx="0" cy="1042416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11" name="g_m2__pt0"/>
            <p:cNvSpPr/>
            <p:nvPr/>
          </p:nvSpPr>
          <p:spPr>
            <a:xfrm>
              <a:off x="2514600" y="2034540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12" name="g_m2__pt1"/>
            <p:cNvSpPr/>
            <p:nvPr/>
          </p:nvSpPr>
          <p:spPr>
            <a:xfrm>
              <a:off x="2514600" y="3076956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13" name="g_m2__lab"/>
            <p:cNvSpPr txBox="1"/>
            <p:nvPr/>
          </p:nvSpPr>
          <p:spPr>
            <a:xfrm>
              <a:off x="2016252" y="1847088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00" dirty="0">
                  <a:solidFill>
                    <a:srgbClr val="5B64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 dots</a:t>
              </a:r>
              <a:endParaRPr lang="en-US" sz="1100" dirty="0"/>
            </a:p>
          </p:txBody>
        </p:sp>
        <p:sp>
          <p:nvSpPr>
            <p:cNvPr id="14" name="g_m2__num"/>
            <p:cNvSpPr txBox="1"/>
            <p:nvPr/>
          </p:nvSpPr>
          <p:spPr>
            <a:xfrm>
              <a:off x="2016252" y="3246120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3000" b="1" dirty="0">
                  <a:solidFill>
                    <a:srgbClr val="1C22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endParaRPr lang="en-US" sz="3000" dirty="0"/>
            </a:p>
          </p:txBody>
        </p:sp>
      </p:grpSp>
      <p:grpSp>
        <p:nvGrpSpPr>
          <p:cNvPr id="83" name="g_m3"/>
          <p:cNvGrpSpPr/>
          <p:nvPr/>
        </p:nvGrpSpPr>
        <p:grpSpPr>
          <a:xfrm>
            <a:off x="3360420" y="1847088"/>
            <a:ext cx="1097280" cy="1901952"/>
            <a:chOff x="3360420" y="1847088"/>
            <a:chExt cx="1097280" cy="1901952"/>
          </a:xfrm>
        </p:grpSpPr>
        <p:sp>
          <p:nvSpPr>
            <p:cNvPr id="15" name="g_m3__circle"/>
            <p:cNvSpPr/>
            <p:nvPr/>
          </p:nvSpPr>
          <p:spPr>
            <a:xfrm>
              <a:off x="3387852" y="2084832"/>
              <a:ext cx="1042416" cy="104241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C2230"/>
              </a:solidFill>
              <a:prstDash val="solid"/>
            </a:ln>
          </p:spPr>
        </p:sp>
        <p:sp>
          <p:nvSpPr>
            <p:cNvPr id="16" name="g_m3__chord0"/>
            <p:cNvSpPr/>
            <p:nvPr/>
          </p:nvSpPr>
          <p:spPr>
            <a:xfrm flipH="1">
              <a:off x="3457681" y="2084832"/>
              <a:ext cx="451379" cy="781812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17" name="g_m3__chord1"/>
            <p:cNvSpPr/>
            <p:nvPr/>
          </p:nvSpPr>
          <p:spPr>
            <a:xfrm>
              <a:off x="3909060" y="2084832"/>
              <a:ext cx="451379" cy="781812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18" name="g_m3__chord2"/>
            <p:cNvSpPr/>
            <p:nvPr/>
          </p:nvSpPr>
          <p:spPr>
            <a:xfrm>
              <a:off x="3457681" y="2866644"/>
              <a:ext cx="902759" cy="0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19" name="g_m3__pt0"/>
            <p:cNvSpPr/>
            <p:nvPr/>
          </p:nvSpPr>
          <p:spPr>
            <a:xfrm>
              <a:off x="3858768" y="2034540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20" name="g_m3__pt1"/>
            <p:cNvSpPr/>
            <p:nvPr/>
          </p:nvSpPr>
          <p:spPr>
            <a:xfrm>
              <a:off x="3407389" y="2816352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21" name="g_m3__pt2"/>
            <p:cNvSpPr/>
            <p:nvPr/>
          </p:nvSpPr>
          <p:spPr>
            <a:xfrm>
              <a:off x="4310147" y="2816352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22" name="g_m3__lab"/>
            <p:cNvSpPr txBox="1"/>
            <p:nvPr/>
          </p:nvSpPr>
          <p:spPr>
            <a:xfrm>
              <a:off x="3360420" y="1847088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00" dirty="0">
                  <a:solidFill>
                    <a:srgbClr val="5B64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 dots</a:t>
              </a:r>
              <a:endParaRPr lang="en-US" sz="1100" dirty="0"/>
            </a:p>
          </p:txBody>
        </p:sp>
        <p:sp>
          <p:nvSpPr>
            <p:cNvPr id="23" name="g_m3__num"/>
            <p:cNvSpPr txBox="1"/>
            <p:nvPr/>
          </p:nvSpPr>
          <p:spPr>
            <a:xfrm>
              <a:off x="3360420" y="3246120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3000" b="1" dirty="0">
                  <a:solidFill>
                    <a:srgbClr val="1C22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</a:t>
              </a:r>
              <a:endParaRPr lang="en-US" sz="3000" dirty="0"/>
            </a:p>
          </p:txBody>
        </p:sp>
      </p:grpSp>
      <p:grpSp>
        <p:nvGrpSpPr>
          <p:cNvPr id="84" name="g_m4"/>
          <p:cNvGrpSpPr/>
          <p:nvPr/>
        </p:nvGrpSpPr>
        <p:grpSpPr>
          <a:xfrm>
            <a:off x="4704588" y="1847088"/>
            <a:ext cx="1097280" cy="1901952"/>
            <a:chOff x="4704588" y="1847088"/>
            <a:chExt cx="1097280" cy="1901952"/>
          </a:xfrm>
        </p:grpSpPr>
        <p:sp>
          <p:nvSpPr>
            <p:cNvPr id="24" name="g_m4__circle"/>
            <p:cNvSpPr/>
            <p:nvPr/>
          </p:nvSpPr>
          <p:spPr>
            <a:xfrm>
              <a:off x="4732020" y="2084832"/>
              <a:ext cx="1042416" cy="104241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C2230"/>
              </a:solidFill>
              <a:prstDash val="solid"/>
            </a:ln>
          </p:spPr>
        </p:sp>
        <p:sp>
          <p:nvSpPr>
            <p:cNvPr id="25" name="g_m4__chord0"/>
            <p:cNvSpPr/>
            <p:nvPr/>
          </p:nvSpPr>
          <p:spPr>
            <a:xfrm>
              <a:off x="4884678" y="2237490"/>
              <a:ext cx="737099" cy="0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26" name="g_m4__chord1"/>
            <p:cNvSpPr/>
            <p:nvPr/>
          </p:nvSpPr>
          <p:spPr>
            <a:xfrm flipH="1">
              <a:off x="4884678" y="2237490"/>
              <a:ext cx="737099" cy="737099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27" name="g_m4__chord2"/>
            <p:cNvSpPr/>
            <p:nvPr/>
          </p:nvSpPr>
          <p:spPr>
            <a:xfrm>
              <a:off x="5621778" y="2237490"/>
              <a:ext cx="0" cy="737099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28" name="g_m4__chord3"/>
            <p:cNvSpPr/>
            <p:nvPr/>
          </p:nvSpPr>
          <p:spPr>
            <a:xfrm>
              <a:off x="4884678" y="2237490"/>
              <a:ext cx="0" cy="737099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29" name="g_m4__chord4"/>
            <p:cNvSpPr/>
            <p:nvPr/>
          </p:nvSpPr>
          <p:spPr>
            <a:xfrm>
              <a:off x="4884678" y="2237490"/>
              <a:ext cx="737099" cy="737099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30" name="g_m4__chord5"/>
            <p:cNvSpPr/>
            <p:nvPr/>
          </p:nvSpPr>
          <p:spPr>
            <a:xfrm>
              <a:off x="4884678" y="2974590"/>
              <a:ext cx="737099" cy="0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31" name="g_m4__pt0"/>
            <p:cNvSpPr/>
            <p:nvPr/>
          </p:nvSpPr>
          <p:spPr>
            <a:xfrm>
              <a:off x="5571486" y="2187198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32" name="g_m4__pt1"/>
            <p:cNvSpPr/>
            <p:nvPr/>
          </p:nvSpPr>
          <p:spPr>
            <a:xfrm>
              <a:off x="4834386" y="2187198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33" name="g_m4__pt2"/>
            <p:cNvSpPr/>
            <p:nvPr/>
          </p:nvSpPr>
          <p:spPr>
            <a:xfrm>
              <a:off x="4834386" y="2924298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34" name="g_m4__pt3"/>
            <p:cNvSpPr/>
            <p:nvPr/>
          </p:nvSpPr>
          <p:spPr>
            <a:xfrm>
              <a:off x="5571486" y="2924298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35" name="g_m4__lab"/>
            <p:cNvSpPr txBox="1"/>
            <p:nvPr/>
          </p:nvSpPr>
          <p:spPr>
            <a:xfrm>
              <a:off x="4704588" y="1847088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00" dirty="0">
                  <a:solidFill>
                    <a:srgbClr val="5B64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 dots</a:t>
              </a:r>
              <a:endParaRPr lang="en-US" sz="1100" dirty="0"/>
            </a:p>
          </p:txBody>
        </p:sp>
        <p:sp>
          <p:nvSpPr>
            <p:cNvPr id="36" name="g_m4__num"/>
            <p:cNvSpPr txBox="1"/>
            <p:nvPr/>
          </p:nvSpPr>
          <p:spPr>
            <a:xfrm>
              <a:off x="4704588" y="3246120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3000" b="1" dirty="0">
                  <a:solidFill>
                    <a:srgbClr val="1C22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8</a:t>
              </a:r>
              <a:endParaRPr lang="en-US" sz="3000" dirty="0"/>
            </a:p>
          </p:txBody>
        </p:sp>
      </p:grpSp>
      <p:grpSp>
        <p:nvGrpSpPr>
          <p:cNvPr id="85" name="g_m5"/>
          <p:cNvGrpSpPr/>
          <p:nvPr/>
        </p:nvGrpSpPr>
        <p:grpSpPr>
          <a:xfrm>
            <a:off x="6048756" y="1847088"/>
            <a:ext cx="1097280" cy="1901952"/>
            <a:chOff x="6048756" y="1847088"/>
            <a:chExt cx="1097280" cy="1901952"/>
          </a:xfrm>
        </p:grpSpPr>
        <p:sp>
          <p:nvSpPr>
            <p:cNvPr id="37" name="g_m5__circle"/>
            <p:cNvSpPr/>
            <p:nvPr/>
          </p:nvSpPr>
          <p:spPr>
            <a:xfrm>
              <a:off x="6076188" y="2084832"/>
              <a:ext cx="1042416" cy="104241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C2230"/>
              </a:solidFill>
              <a:prstDash val="solid"/>
            </a:ln>
          </p:spPr>
        </p:sp>
        <p:sp>
          <p:nvSpPr>
            <p:cNvPr id="38" name="g_m5__chord0"/>
            <p:cNvSpPr/>
            <p:nvPr/>
          </p:nvSpPr>
          <p:spPr>
            <a:xfrm flipH="1">
              <a:off x="6101698" y="2084832"/>
              <a:ext cx="495698" cy="360146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39" name="g_m5__chord1"/>
            <p:cNvSpPr/>
            <p:nvPr/>
          </p:nvSpPr>
          <p:spPr>
            <a:xfrm flipH="1">
              <a:off x="6291038" y="2084832"/>
              <a:ext cx="306358" cy="942874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40" name="g_m5__chord2"/>
            <p:cNvSpPr/>
            <p:nvPr/>
          </p:nvSpPr>
          <p:spPr>
            <a:xfrm>
              <a:off x="6597396" y="2084832"/>
              <a:ext cx="306358" cy="942874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41" name="g_m5__chord3"/>
            <p:cNvSpPr/>
            <p:nvPr/>
          </p:nvSpPr>
          <p:spPr>
            <a:xfrm>
              <a:off x="6597396" y="2084832"/>
              <a:ext cx="495698" cy="360146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42" name="g_m5__chord4"/>
            <p:cNvSpPr/>
            <p:nvPr/>
          </p:nvSpPr>
          <p:spPr>
            <a:xfrm>
              <a:off x="6101698" y="2444978"/>
              <a:ext cx="189340" cy="582728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43" name="g_m5__chord5"/>
            <p:cNvSpPr/>
            <p:nvPr/>
          </p:nvSpPr>
          <p:spPr>
            <a:xfrm>
              <a:off x="6101698" y="2444978"/>
              <a:ext cx="802057" cy="582728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44" name="g_m5__chord6"/>
            <p:cNvSpPr/>
            <p:nvPr/>
          </p:nvSpPr>
          <p:spPr>
            <a:xfrm>
              <a:off x="6101698" y="2444978"/>
              <a:ext cx="991397" cy="0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45" name="g_m5__chord7"/>
            <p:cNvSpPr/>
            <p:nvPr/>
          </p:nvSpPr>
          <p:spPr>
            <a:xfrm>
              <a:off x="6291038" y="3027706"/>
              <a:ext cx="612717" cy="0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46" name="g_m5__chord8"/>
            <p:cNvSpPr/>
            <p:nvPr/>
          </p:nvSpPr>
          <p:spPr>
            <a:xfrm flipH="1">
              <a:off x="6291038" y="2444978"/>
              <a:ext cx="802057" cy="582728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47" name="g_m5__chord9"/>
            <p:cNvSpPr/>
            <p:nvPr/>
          </p:nvSpPr>
          <p:spPr>
            <a:xfrm flipH="1">
              <a:off x="6903754" y="2444978"/>
              <a:ext cx="189340" cy="582728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48" name="g_m5__pt0"/>
            <p:cNvSpPr/>
            <p:nvPr/>
          </p:nvSpPr>
          <p:spPr>
            <a:xfrm>
              <a:off x="6547104" y="2034540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49" name="g_m5__pt1"/>
            <p:cNvSpPr/>
            <p:nvPr/>
          </p:nvSpPr>
          <p:spPr>
            <a:xfrm>
              <a:off x="6051406" y="2394686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50" name="g_m5__pt2"/>
            <p:cNvSpPr/>
            <p:nvPr/>
          </p:nvSpPr>
          <p:spPr>
            <a:xfrm>
              <a:off x="6240746" y="2977414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51" name="g_m5__pt3"/>
            <p:cNvSpPr/>
            <p:nvPr/>
          </p:nvSpPr>
          <p:spPr>
            <a:xfrm>
              <a:off x="6853462" y="2977414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52" name="g_m5__pt4"/>
            <p:cNvSpPr/>
            <p:nvPr/>
          </p:nvSpPr>
          <p:spPr>
            <a:xfrm>
              <a:off x="7042802" y="2394686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53" name="g_m5__lab"/>
            <p:cNvSpPr txBox="1"/>
            <p:nvPr/>
          </p:nvSpPr>
          <p:spPr>
            <a:xfrm>
              <a:off x="6048756" y="1847088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00" dirty="0">
                  <a:solidFill>
                    <a:srgbClr val="5B64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 dots</a:t>
              </a:r>
              <a:endParaRPr lang="en-US" sz="1100" dirty="0"/>
            </a:p>
          </p:txBody>
        </p:sp>
        <p:sp>
          <p:nvSpPr>
            <p:cNvPr id="54" name="g_m5__num"/>
            <p:cNvSpPr txBox="1"/>
            <p:nvPr/>
          </p:nvSpPr>
          <p:spPr>
            <a:xfrm>
              <a:off x="6048756" y="3246120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3000" b="1" dirty="0">
                  <a:solidFill>
                    <a:srgbClr val="1C223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16</a:t>
              </a:r>
              <a:endParaRPr lang="en-US" sz="3000" dirty="0"/>
            </a:p>
          </p:txBody>
        </p:sp>
      </p:grpSp>
      <p:grpSp>
        <p:nvGrpSpPr>
          <p:cNvPr id="86" name="g_m6"/>
          <p:cNvGrpSpPr/>
          <p:nvPr/>
        </p:nvGrpSpPr>
        <p:grpSpPr>
          <a:xfrm>
            <a:off x="7392924" y="1847088"/>
            <a:ext cx="1097280" cy="1312692"/>
            <a:chOff x="7392924" y="1847088"/>
            <a:chExt cx="1097280" cy="1312692"/>
          </a:xfrm>
        </p:grpSpPr>
        <p:sp>
          <p:nvSpPr>
            <p:cNvPr id="55" name="g_m6__circle"/>
            <p:cNvSpPr/>
            <p:nvPr/>
          </p:nvSpPr>
          <p:spPr>
            <a:xfrm>
              <a:off x="7420356" y="2084832"/>
              <a:ext cx="1042416" cy="104241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C2230"/>
              </a:solidFill>
              <a:prstDash val="solid"/>
            </a:ln>
          </p:spPr>
        </p:sp>
        <p:sp>
          <p:nvSpPr>
            <p:cNvPr id="56" name="g_m6__chord0"/>
            <p:cNvSpPr/>
            <p:nvPr/>
          </p:nvSpPr>
          <p:spPr>
            <a:xfrm flipH="1">
              <a:off x="7490185" y="2086815"/>
              <a:ext cx="405953" cy="258621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57" name="g_m6__chord1"/>
            <p:cNvSpPr/>
            <p:nvPr/>
          </p:nvSpPr>
          <p:spPr>
            <a:xfrm flipH="1">
              <a:off x="7451789" y="2086815"/>
              <a:ext cx="444349" cy="697488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58" name="g_m6__chord2"/>
            <p:cNvSpPr/>
            <p:nvPr/>
          </p:nvSpPr>
          <p:spPr>
            <a:xfrm flipH="1">
              <a:off x="7806665" y="2086815"/>
              <a:ext cx="89472" cy="1022673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59" name="g_m6__chord3"/>
            <p:cNvSpPr/>
            <p:nvPr/>
          </p:nvSpPr>
          <p:spPr>
            <a:xfrm>
              <a:off x="7896138" y="2086815"/>
              <a:ext cx="413976" cy="887774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60" name="g_m6__chord4"/>
            <p:cNvSpPr/>
            <p:nvPr/>
          </p:nvSpPr>
          <p:spPr>
            <a:xfrm>
              <a:off x="7896138" y="2086815"/>
              <a:ext cx="535202" cy="340961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61" name="g_m6__chord5"/>
            <p:cNvSpPr/>
            <p:nvPr/>
          </p:nvSpPr>
          <p:spPr>
            <a:xfrm flipH="1">
              <a:off x="7451789" y="2345436"/>
              <a:ext cx="38396" cy="438868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62" name="g_m6__chord6"/>
            <p:cNvSpPr/>
            <p:nvPr/>
          </p:nvSpPr>
          <p:spPr>
            <a:xfrm>
              <a:off x="7490185" y="2345436"/>
              <a:ext cx="316481" cy="764052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63" name="g_m6__chord7"/>
            <p:cNvSpPr/>
            <p:nvPr/>
          </p:nvSpPr>
          <p:spPr>
            <a:xfrm>
              <a:off x="7490185" y="2345436"/>
              <a:ext cx="819929" cy="629154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64" name="g_m6__chord8"/>
            <p:cNvSpPr/>
            <p:nvPr/>
          </p:nvSpPr>
          <p:spPr>
            <a:xfrm>
              <a:off x="7490185" y="2345436"/>
              <a:ext cx="941155" cy="82340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65" name="g_m6__chord9"/>
            <p:cNvSpPr/>
            <p:nvPr/>
          </p:nvSpPr>
          <p:spPr>
            <a:xfrm>
              <a:off x="7451789" y="2784304"/>
              <a:ext cx="354877" cy="325185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66" name="g_m6__chord10"/>
            <p:cNvSpPr/>
            <p:nvPr/>
          </p:nvSpPr>
          <p:spPr>
            <a:xfrm>
              <a:off x="7451789" y="2784304"/>
              <a:ext cx="858325" cy="190286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67" name="g_m6__chord11"/>
            <p:cNvSpPr/>
            <p:nvPr/>
          </p:nvSpPr>
          <p:spPr>
            <a:xfrm flipH="1">
              <a:off x="7451789" y="2427776"/>
              <a:ext cx="979551" cy="356527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68" name="g_m6__chord12"/>
            <p:cNvSpPr/>
            <p:nvPr/>
          </p:nvSpPr>
          <p:spPr>
            <a:xfrm flipH="1">
              <a:off x="7806665" y="2974590"/>
              <a:ext cx="503448" cy="134899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69" name="g_m6__chord13"/>
            <p:cNvSpPr/>
            <p:nvPr/>
          </p:nvSpPr>
          <p:spPr>
            <a:xfrm flipH="1">
              <a:off x="7806665" y="2427776"/>
              <a:ext cx="624674" cy="681712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70" name="g_m6__chord14"/>
            <p:cNvSpPr/>
            <p:nvPr/>
          </p:nvSpPr>
          <p:spPr>
            <a:xfrm flipH="1">
              <a:off x="8310114" y="2427776"/>
              <a:ext cx="121226" cy="546813"/>
            </a:xfrm>
            <a:prstGeom prst="line">
              <a:avLst/>
            </a:prstGeom>
            <a:noFill/>
            <a:ln w="12700">
              <a:solidFill>
                <a:srgbClr val="5B6475"/>
              </a:solidFill>
              <a:prstDash val="solid"/>
            </a:ln>
          </p:spPr>
        </p:sp>
        <p:sp>
          <p:nvSpPr>
            <p:cNvPr id="71" name="g_m6__pt0"/>
            <p:cNvSpPr/>
            <p:nvPr/>
          </p:nvSpPr>
          <p:spPr>
            <a:xfrm>
              <a:off x="7845846" y="2036523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72" name="g_m6__pt1"/>
            <p:cNvSpPr/>
            <p:nvPr/>
          </p:nvSpPr>
          <p:spPr>
            <a:xfrm>
              <a:off x="7439893" y="2295144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73" name="g_m6__pt2"/>
            <p:cNvSpPr/>
            <p:nvPr/>
          </p:nvSpPr>
          <p:spPr>
            <a:xfrm>
              <a:off x="7401497" y="2734012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74" name="g_m6__pt3"/>
            <p:cNvSpPr/>
            <p:nvPr/>
          </p:nvSpPr>
          <p:spPr>
            <a:xfrm>
              <a:off x="7756373" y="3059196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75" name="g_m6__pt4"/>
            <p:cNvSpPr/>
            <p:nvPr/>
          </p:nvSpPr>
          <p:spPr>
            <a:xfrm>
              <a:off x="8259822" y="2924298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76" name="g_m6__pt5"/>
            <p:cNvSpPr/>
            <p:nvPr/>
          </p:nvSpPr>
          <p:spPr>
            <a:xfrm>
              <a:off x="8381047" y="2377484"/>
              <a:ext cx="100584" cy="100584"/>
            </a:xfrm>
            <a:prstGeom prst="ellipse">
              <a:avLst/>
            </a:prstGeom>
            <a:solidFill>
              <a:srgbClr val="E8672B"/>
            </a:solidFill>
            <a:ln w="6350">
              <a:solidFill>
                <a:srgbClr val="E8672B"/>
              </a:solidFill>
              <a:prstDash val="solid"/>
            </a:ln>
          </p:spPr>
        </p:sp>
        <p:sp>
          <p:nvSpPr>
            <p:cNvPr id="77" name="g_m6__lab"/>
            <p:cNvSpPr txBox="1"/>
            <p:nvPr/>
          </p:nvSpPr>
          <p:spPr>
            <a:xfrm>
              <a:off x="7392924" y="1847088"/>
              <a:ext cx="1097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00" dirty="0">
                  <a:solidFill>
                    <a:srgbClr val="5B64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 dots</a:t>
              </a:r>
              <a:endParaRPr lang="en-US" sz="1100" dirty="0"/>
            </a:p>
          </p:txBody>
        </p:sp>
      </p:grpSp>
      <p:sp>
        <p:nvSpPr>
          <p:cNvPr id="78" name="qmark"/>
          <p:cNvSpPr txBox="1"/>
          <p:nvPr/>
        </p:nvSpPr>
        <p:spPr>
          <a:xfrm>
            <a:off x="7392924" y="3246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000" dirty="0"/>
          </a:p>
        </p:txBody>
      </p:sp>
      <p:sp>
        <p:nvSpPr>
          <p:cNvPr id="79" name="ans31"/>
          <p:cNvSpPr txBox="1"/>
          <p:nvPr/>
        </p:nvSpPr>
        <p:spPr>
          <a:xfrm>
            <a:off x="7392924" y="3246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3000" dirty="0"/>
          </a:p>
        </p:txBody>
      </p:sp>
      <p:sp>
        <p:nvSpPr>
          <p:cNvPr id="80" name="not32"/>
          <p:cNvSpPr txBox="1"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32. </a:t>
            </a:r>
            <a:pPr indent="0" marL="0">
              <a:buNone/>
            </a:pPr>
            <a:r>
              <a:rPr lang="en-US" sz="15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doubling pattern held five times, then broke. A pattern is evidence, not proof.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79" grpId="0" animBg="1"/>
      <p:bldP spid="8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 · 7 MIN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reason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INDUCTIVE  </a:t>
            </a:r>
            <a:pPr indent="0" marL="0">
              <a:buNone/>
            </a:pPr>
            <a:r>
              <a:rPr lang="en-US" sz="1300" spc="100" kern="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→ general</a:t>
            </a:r>
            <a:endParaRPr lang="en-US" sz="1300" dirty="0"/>
          </a:p>
        </p:txBody>
      </p:sp>
      <p:sp>
        <p:nvSpPr>
          <p:cNvPr id="6" name="indRule"/>
          <p:cNvSpPr/>
          <p:nvPr/>
        </p:nvSpPr>
        <p:spPr>
          <a:xfrm>
            <a:off x="1005840" y="201168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swans are white</a:t>
            </a:r>
            <a:endParaRPr lang="en-US" sz="1500" dirty="0"/>
          </a:p>
        </p:txBody>
      </p:sp>
      <p:sp>
        <p:nvSpPr>
          <p:cNvPr id="7" name="indArrow"/>
          <p:cNvSpPr/>
          <p:nvPr/>
        </p:nvSpPr>
        <p:spPr>
          <a:xfrm>
            <a:off x="2240280" y="2670048"/>
            <a:ext cx="457200" cy="731520"/>
          </a:xfrm>
          <a:prstGeom prst="upArrow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8" name="obs0"/>
          <p:cNvSpPr/>
          <p:nvPr/>
        </p:nvSpPr>
        <p:spPr>
          <a:xfrm>
            <a:off x="731520" y="3493008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9CF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Swan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100" dirty="0"/>
          </a:p>
        </p:txBody>
      </p:sp>
      <p:sp>
        <p:nvSpPr>
          <p:cNvPr id="9" name="obs1"/>
          <p:cNvSpPr/>
          <p:nvPr/>
        </p:nvSpPr>
        <p:spPr>
          <a:xfrm>
            <a:off x="1943100" y="3493008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9CF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Swan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100" dirty="0"/>
          </a:p>
        </p:txBody>
      </p:sp>
      <p:sp>
        <p:nvSpPr>
          <p:cNvPr id="10" name="obs2"/>
          <p:cNvSpPr/>
          <p:nvPr/>
        </p:nvSpPr>
        <p:spPr>
          <a:xfrm>
            <a:off x="3154680" y="3493008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9CF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Swan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DEDUCTIVE  </a:t>
            </a:r>
            <a:pPr indent="0" marL="0">
              <a:buNone/>
            </a:pPr>
            <a:r>
              <a:rPr lang="en-US" sz="1300" spc="100" kern="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→ specific</a:t>
            </a:r>
            <a:endParaRPr lang="en-US" sz="1300" dirty="0"/>
          </a:p>
        </p:txBody>
      </p:sp>
      <p:sp>
        <p:nvSpPr>
          <p:cNvPr id="13" name="dedRule"/>
          <p:cNvSpPr/>
          <p:nvPr/>
        </p:nvSpPr>
        <p:spPr>
          <a:xfrm>
            <a:off x="5212080" y="196596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2A7F8E"/>
          </a:solidFill>
          <a:ln w="12700">
            <a:solidFill>
              <a:srgbClr val="2A7F8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metals conduct electricity</a:t>
            </a:r>
            <a:endParaRPr lang="en-US" sz="1400" dirty="0"/>
          </a:p>
        </p:txBody>
      </p:sp>
      <p:sp>
        <p:nvSpPr>
          <p:cNvPr id="14" name="dedA1"/>
          <p:cNvSpPr/>
          <p:nvPr/>
        </p:nvSpPr>
        <p:spPr>
          <a:xfrm>
            <a:off x="6492240" y="2487168"/>
            <a:ext cx="365760" cy="256032"/>
          </a:xfrm>
          <a:prstGeom prst="downArrow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15" name="dedFact"/>
          <p:cNvSpPr/>
          <p:nvPr/>
        </p:nvSpPr>
        <p:spPr>
          <a:xfrm>
            <a:off x="5212080" y="2807208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CF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 is a metal</a:t>
            </a:r>
            <a:endParaRPr lang="en-US" sz="1400" dirty="0"/>
          </a:p>
        </p:txBody>
      </p:sp>
      <p:sp>
        <p:nvSpPr>
          <p:cNvPr id="16" name="dedA2"/>
          <p:cNvSpPr/>
          <p:nvPr/>
        </p:nvSpPr>
        <p:spPr>
          <a:xfrm>
            <a:off x="6492240" y="3282696"/>
            <a:ext cx="365760" cy="256032"/>
          </a:xfrm>
          <a:prstGeom prst="downArrow">
            <a:avLst/>
          </a:prstGeom>
          <a:solidFill>
            <a:srgbClr val="B9C2D0"/>
          </a:solidFill>
          <a:ln w="12700">
            <a:solidFill>
              <a:srgbClr val="B9C2D0"/>
            </a:solidFill>
            <a:prstDash val="solid"/>
          </a:ln>
        </p:spPr>
      </p:sp>
      <p:sp>
        <p:nvSpPr>
          <p:cNvPr id="17" name="dedConc"/>
          <p:cNvSpPr/>
          <p:nvPr/>
        </p:nvSpPr>
        <p:spPr>
          <a:xfrm>
            <a:off x="5212080" y="3602736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DCEEF0"/>
          </a:solidFill>
          <a:ln w="12700">
            <a:solidFill>
              <a:srgbClr val="DCEEF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copper conducts</a:t>
            </a:r>
            <a:endParaRPr lang="en-US" sz="1400" dirty="0"/>
          </a:p>
        </p:txBody>
      </p:sp>
      <p:sp>
        <p:nvSpPr>
          <p:cNvPr id="18" name="takeaway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uses both: </a:t>
            </a:r>
            <a:pPr indent="0" marL="0">
              <a:buNone/>
            </a:pPr>
            <a:r>
              <a:rPr lang="en-US" sz="1500" i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induction builds the rules, deduction tests them.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7" grpId="0" animBg="1"/>
      <p:bldP spid="6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· 5 MIN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swans prove the rule?</a:t>
            </a:r>
            <a:endParaRPr lang="en-US" sz="3200" dirty="0"/>
          </a:p>
        </p:txBody>
      </p:sp>
      <p:sp>
        <p:nvSpPr>
          <p:cNvPr id="4" name="swan00"/>
          <p:cNvSpPr/>
          <p:nvPr/>
        </p:nvSpPr>
        <p:spPr>
          <a:xfrm>
            <a:off x="731520" y="164592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5" name="swan01"/>
          <p:cNvSpPr/>
          <p:nvPr/>
        </p:nvSpPr>
        <p:spPr>
          <a:xfrm>
            <a:off x="1234440" y="164592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6" name="swan02"/>
          <p:cNvSpPr/>
          <p:nvPr/>
        </p:nvSpPr>
        <p:spPr>
          <a:xfrm>
            <a:off x="1737360" y="164592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7" name="swan03"/>
          <p:cNvSpPr/>
          <p:nvPr/>
        </p:nvSpPr>
        <p:spPr>
          <a:xfrm>
            <a:off x="2240280" y="164592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8" name="swan04"/>
          <p:cNvSpPr/>
          <p:nvPr/>
        </p:nvSpPr>
        <p:spPr>
          <a:xfrm>
            <a:off x="2743200" y="164592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9" name="swan05"/>
          <p:cNvSpPr/>
          <p:nvPr/>
        </p:nvSpPr>
        <p:spPr>
          <a:xfrm>
            <a:off x="3246120" y="164592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10" name="swan10"/>
          <p:cNvSpPr/>
          <p:nvPr/>
        </p:nvSpPr>
        <p:spPr>
          <a:xfrm>
            <a:off x="731520" y="214884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11" name="swan11"/>
          <p:cNvSpPr/>
          <p:nvPr/>
        </p:nvSpPr>
        <p:spPr>
          <a:xfrm>
            <a:off x="1234440" y="214884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12" name="swan12"/>
          <p:cNvSpPr/>
          <p:nvPr/>
        </p:nvSpPr>
        <p:spPr>
          <a:xfrm>
            <a:off x="1737360" y="214884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13" name="swan13"/>
          <p:cNvSpPr/>
          <p:nvPr/>
        </p:nvSpPr>
        <p:spPr>
          <a:xfrm>
            <a:off x="2240280" y="214884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14" name="swan14"/>
          <p:cNvSpPr/>
          <p:nvPr/>
        </p:nvSpPr>
        <p:spPr>
          <a:xfrm>
            <a:off x="2743200" y="214884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15" name="swan15"/>
          <p:cNvSpPr/>
          <p:nvPr/>
        </p:nvSpPr>
        <p:spPr>
          <a:xfrm>
            <a:off x="3246120" y="214884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16" name="swan20"/>
          <p:cNvSpPr/>
          <p:nvPr/>
        </p:nvSpPr>
        <p:spPr>
          <a:xfrm>
            <a:off x="731520" y="265176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17" name="swan21"/>
          <p:cNvSpPr/>
          <p:nvPr/>
        </p:nvSpPr>
        <p:spPr>
          <a:xfrm>
            <a:off x="1234440" y="265176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18" name="swan22"/>
          <p:cNvSpPr/>
          <p:nvPr/>
        </p:nvSpPr>
        <p:spPr>
          <a:xfrm>
            <a:off x="1737360" y="265176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19" name="swan23"/>
          <p:cNvSpPr/>
          <p:nvPr/>
        </p:nvSpPr>
        <p:spPr>
          <a:xfrm>
            <a:off x="2240280" y="265176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20" name="swan24"/>
          <p:cNvSpPr/>
          <p:nvPr/>
        </p:nvSpPr>
        <p:spPr>
          <a:xfrm>
            <a:off x="2743200" y="265176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21" name="swan25"/>
          <p:cNvSpPr/>
          <p:nvPr/>
        </p:nvSpPr>
        <p:spPr>
          <a:xfrm>
            <a:off x="3246120" y="265176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22" name="swan30"/>
          <p:cNvSpPr/>
          <p:nvPr/>
        </p:nvSpPr>
        <p:spPr>
          <a:xfrm>
            <a:off x="731520" y="315468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23" name="swan31"/>
          <p:cNvSpPr/>
          <p:nvPr/>
        </p:nvSpPr>
        <p:spPr>
          <a:xfrm>
            <a:off x="1234440" y="315468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24" name="swan32"/>
          <p:cNvSpPr/>
          <p:nvPr/>
        </p:nvSpPr>
        <p:spPr>
          <a:xfrm>
            <a:off x="1737360" y="315468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25" name="swan33"/>
          <p:cNvSpPr/>
          <p:nvPr/>
        </p:nvSpPr>
        <p:spPr>
          <a:xfrm>
            <a:off x="2240280" y="315468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26" name="swan34"/>
          <p:cNvSpPr/>
          <p:nvPr/>
        </p:nvSpPr>
        <p:spPr>
          <a:xfrm>
            <a:off x="2743200" y="3154680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FD8"/>
            </a:solidFill>
            <a:prstDash val="solid"/>
          </a:ln>
        </p:spPr>
      </p:sp>
      <p:sp>
        <p:nvSpPr>
          <p:cNvPr id="27" name="blackSwan"/>
          <p:cNvSpPr/>
          <p:nvPr/>
        </p:nvSpPr>
        <p:spPr>
          <a:xfrm>
            <a:off x="3246120" y="3154680"/>
            <a:ext cx="347472" cy="347472"/>
          </a:xfrm>
          <a:prstGeom prst="ellipse">
            <a:avLst/>
          </a:prstGeom>
          <a:solidFill>
            <a:srgbClr val="1C2230"/>
          </a:solidFill>
          <a:ln w="31750">
            <a:solidFill>
              <a:srgbClr val="E867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swan anyone in Europe had seen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15087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centuries, every swan seen in Europe was white. “All swans are white” seemed about as safe as a rule could be.</a:t>
            </a:r>
            <a:endParaRPr lang="en-US" sz="1500" dirty="0"/>
          </a:p>
        </p:txBody>
      </p:sp>
      <p:sp>
        <p:nvSpPr>
          <p:cNvPr id="30" name="vlamingh"/>
          <p:cNvSpPr txBox="1"/>
          <p:nvPr/>
        </p:nvSpPr>
        <p:spPr>
          <a:xfrm>
            <a:off x="4206240" y="24231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1697: </a:t>
            </a:r>
            <a:pPr indent="0" marL="0">
              <a:buNone/>
            </a:pPr>
            <a:r>
              <a:rPr lang="en-US" sz="15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 explorer Willem de Vlamingh’s crew recorded black swans in Western Australia.</a:t>
            </a:r>
            <a:endParaRPr lang="en-US" sz="1500" dirty="0"/>
          </a:p>
        </p:txBody>
      </p:sp>
      <p:sp>
        <p:nvSpPr>
          <p:cNvPr id="31" name="bigOne"/>
          <p:cNvSpPr txBox="1"/>
          <p:nvPr/>
        </p:nvSpPr>
        <p:spPr>
          <a:xfrm>
            <a:off x="4206240" y="32461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6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600" dirty="0"/>
          </a:p>
        </p:txBody>
      </p:sp>
      <p:sp>
        <p:nvSpPr>
          <p:cNvPr id="32" name="bigOneCap"/>
          <p:cNvSpPr txBox="1"/>
          <p:nvPr/>
        </p:nvSpPr>
        <p:spPr>
          <a:xfrm>
            <a:off x="4983480" y="33832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counterexample was enough to break a rule built on countless sightings.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· 6 MIN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Christmas turkey problem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2588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80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modelled with Laplace’s rule of succession: (n + 1) ÷ (n + 2), where n = days fed.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26480" y="13716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EEF1F5"/>
          </a:solidFill>
          <a:ln>
            <a:solidFill>
              <a:srgbClr val="EEF1F5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morning, food arrives. After 100 days, the turkey is 99% sure breakfast is coming tomorrow.</a:t>
            </a:r>
            <a:endParaRPr lang="en-US" sz="1300" dirty="0"/>
          </a:p>
        </p:txBody>
      </p:sp>
      <p:sp>
        <p:nvSpPr>
          <p:cNvPr id="7" name="xmas"/>
          <p:cNvSpPr/>
          <p:nvPr/>
        </p:nvSpPr>
        <p:spPr>
          <a:xfrm>
            <a:off x="6126480" y="27432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8672B"/>
          </a:solidFill>
          <a:ln>
            <a:solidFill>
              <a:srgbClr val="E8672B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101: Christmas Eve.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was perfect. The conclusion was not.</a:t>
            </a:r>
            <a:endParaRPr lang="en-US" sz="1300" dirty="0"/>
          </a:p>
        </p:txBody>
      </p:sp>
      <p:sp>
        <p:nvSpPr>
          <p:cNvPr id="8" name="turkeyQ"/>
          <p:cNvSpPr txBox="1"/>
          <p:nvPr/>
        </p:nvSpPr>
        <p:spPr>
          <a:xfrm>
            <a:off x="612648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missing from the turkey’s reasoning?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 · 5 MIN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make induction stronger</a:t>
            </a:r>
            <a:endParaRPr lang="en-US" sz="3200" dirty="0"/>
          </a:p>
        </p:txBody>
      </p:sp>
      <p:grpSp>
        <p:nvGrpSpPr>
          <p:cNvPr id="25" name="g_c0"/>
          <p:cNvGrpSpPr/>
          <p:nvPr/>
        </p:nvGrpSpPr>
        <p:grpSpPr>
          <a:xfrm>
            <a:off x="548640" y="1463040"/>
            <a:ext cx="3931920" cy="1188720"/>
            <a:chOff x="548640" y="1463040"/>
            <a:chExt cx="3931920" cy="1188720"/>
          </a:xfrm>
        </p:grpSpPr>
        <p:sp>
          <p:nvSpPr>
            <p:cNvPr id="4" name="g_c0__bg"/>
            <p:cNvSpPr/>
            <p:nvPr/>
          </p:nvSpPr>
          <p:spPr>
            <a:xfrm>
              <a:off x="548640" y="1463040"/>
              <a:ext cx="3931920" cy="1188720"/>
            </a:xfrm>
            <a:prstGeom prst="roundRect">
              <a:avLst>
                <a:gd name="adj" fmla="val 6154"/>
              </a:avLst>
            </a:prstGeom>
            <a:solidFill>
              <a:srgbClr val="EEF1F5"/>
            </a:solidFill>
            <a:ln w="12700">
              <a:solidFill>
                <a:srgbClr val="EEF1F5"/>
              </a:solidFill>
              <a:prstDash val="solid"/>
            </a:ln>
          </p:spPr>
        </p:sp>
        <p:sp>
          <p:nvSpPr>
            <p:cNvPr id="5" name="g_c0__ring"/>
            <p:cNvSpPr/>
            <p:nvPr/>
          </p:nvSpPr>
          <p:spPr>
            <a:xfrm>
              <a:off x="777240" y="1783080"/>
              <a:ext cx="548640" cy="548640"/>
            </a:xfrm>
            <a:prstGeom prst="ellipse">
              <a:avLst/>
            </a:prstGeom>
            <a:solidFill>
              <a:srgbClr val="E8672B"/>
            </a:solidFill>
            <a:ln w="12700">
              <a:solidFill>
                <a:srgbClr val="E8672B"/>
              </a:solidFill>
              <a:prstDash val="solid"/>
            </a:ln>
          </p:spPr>
        </p:sp>
        <p:pic>
          <p:nvPicPr>
            <p:cNvPr id="6" name="g_c0__icon" descr="preencoded.png">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05256" y="1911096"/>
              <a:ext cx="292608" cy="292608"/>
            </a:xfrm>
            <a:prstGeom prst="rect">
              <a:avLst/>
            </a:prstGeom>
          </p:spPr>
        </p:pic>
        <p:sp>
          <p:nvSpPr>
            <p:cNvPr id="7" name="g_c0__head"/>
            <p:cNvSpPr txBox="1"/>
            <p:nvPr/>
          </p:nvSpPr>
          <p:spPr>
            <a:xfrm>
              <a:off x="1554480" y="1664208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1C223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Big sample</a:t>
              </a:r>
              <a:endParaRPr lang="en-US" sz="1600" dirty="0"/>
            </a:p>
          </p:txBody>
        </p:sp>
        <p:sp>
          <p:nvSpPr>
            <p:cNvPr id="8" name="g_c0__desc"/>
            <p:cNvSpPr txBox="1"/>
            <p:nvPr/>
          </p:nvSpPr>
          <p:spPr>
            <a:xfrm>
              <a:off x="1554480" y="2029968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250" dirty="0">
                  <a:solidFill>
                    <a:srgbClr val="5B64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More observations make a pattern harder to fluke.</a:t>
              </a:r>
              <a:endParaRPr lang="en-US" sz="1250" dirty="0"/>
            </a:p>
          </p:txBody>
        </p:sp>
      </p:grpSp>
      <p:grpSp>
        <p:nvGrpSpPr>
          <p:cNvPr id="26" name="g_c1"/>
          <p:cNvGrpSpPr/>
          <p:nvPr/>
        </p:nvGrpSpPr>
        <p:grpSpPr>
          <a:xfrm>
            <a:off x="4663440" y="1463040"/>
            <a:ext cx="3931920" cy="1188720"/>
            <a:chOff x="4663440" y="1463040"/>
            <a:chExt cx="3931920" cy="1188720"/>
          </a:xfrm>
        </p:grpSpPr>
        <p:sp>
          <p:nvSpPr>
            <p:cNvPr id="9" name="g_c1__bg"/>
            <p:cNvSpPr/>
            <p:nvPr/>
          </p:nvSpPr>
          <p:spPr>
            <a:xfrm>
              <a:off x="4663440" y="1463040"/>
              <a:ext cx="3931920" cy="1188720"/>
            </a:xfrm>
            <a:prstGeom prst="roundRect">
              <a:avLst>
                <a:gd name="adj" fmla="val 6154"/>
              </a:avLst>
            </a:prstGeom>
            <a:solidFill>
              <a:srgbClr val="EEF1F5"/>
            </a:solidFill>
            <a:ln w="12700">
              <a:solidFill>
                <a:srgbClr val="EEF1F5"/>
              </a:solidFill>
              <a:prstDash val="solid"/>
            </a:ln>
          </p:spPr>
        </p:sp>
        <p:sp>
          <p:nvSpPr>
            <p:cNvPr id="10" name="g_c1__ring"/>
            <p:cNvSpPr/>
            <p:nvPr/>
          </p:nvSpPr>
          <p:spPr>
            <a:xfrm>
              <a:off x="4892040" y="1783080"/>
              <a:ext cx="548640" cy="548640"/>
            </a:xfrm>
            <a:prstGeom prst="ellipse">
              <a:avLst/>
            </a:prstGeom>
            <a:solidFill>
              <a:srgbClr val="E8672B"/>
            </a:solidFill>
            <a:ln w="12700">
              <a:solidFill>
                <a:srgbClr val="E8672B"/>
              </a:solidFill>
              <a:prstDash val="solid"/>
            </a:ln>
          </p:spPr>
        </p:sp>
        <p:pic>
          <p:nvPicPr>
            <p:cNvPr id="11" name="g_c1__icon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20056" y="1911096"/>
              <a:ext cx="292608" cy="292608"/>
            </a:xfrm>
            <a:prstGeom prst="rect">
              <a:avLst/>
            </a:prstGeom>
          </p:spPr>
        </p:pic>
        <p:sp>
          <p:nvSpPr>
            <p:cNvPr id="12" name="g_c1__head"/>
            <p:cNvSpPr txBox="1"/>
            <p:nvPr/>
          </p:nvSpPr>
          <p:spPr>
            <a:xfrm>
              <a:off x="5669280" y="1664208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1C223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Varied conditions</a:t>
              </a:r>
              <a:endParaRPr lang="en-US" sz="1600" dirty="0"/>
            </a:p>
          </p:txBody>
        </p:sp>
        <p:sp>
          <p:nvSpPr>
            <p:cNvPr id="13" name="g_c1__desc"/>
            <p:cNvSpPr txBox="1"/>
            <p:nvPr/>
          </p:nvSpPr>
          <p:spPr>
            <a:xfrm>
              <a:off x="5669280" y="2029968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250" dirty="0">
                  <a:solidFill>
                    <a:srgbClr val="5B64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Test in different places, times and situations.</a:t>
              </a:r>
              <a:endParaRPr lang="en-US" sz="1250" dirty="0"/>
            </a:p>
          </p:txBody>
        </p:sp>
      </p:grpSp>
      <p:grpSp>
        <p:nvGrpSpPr>
          <p:cNvPr id="27" name="g_c2"/>
          <p:cNvGrpSpPr/>
          <p:nvPr/>
        </p:nvGrpSpPr>
        <p:grpSpPr>
          <a:xfrm>
            <a:off x="548640" y="2834640"/>
            <a:ext cx="3931920" cy="1188720"/>
            <a:chOff x="548640" y="2834640"/>
            <a:chExt cx="3931920" cy="1188720"/>
          </a:xfrm>
        </p:grpSpPr>
        <p:sp>
          <p:nvSpPr>
            <p:cNvPr id="14" name="g_c2__bg"/>
            <p:cNvSpPr/>
            <p:nvPr/>
          </p:nvSpPr>
          <p:spPr>
            <a:xfrm>
              <a:off x="548640" y="2834640"/>
              <a:ext cx="3931920" cy="1188720"/>
            </a:xfrm>
            <a:prstGeom prst="roundRect">
              <a:avLst>
                <a:gd name="adj" fmla="val 6154"/>
              </a:avLst>
            </a:prstGeom>
            <a:solidFill>
              <a:srgbClr val="EEF1F5"/>
            </a:solidFill>
            <a:ln w="12700">
              <a:solidFill>
                <a:srgbClr val="EEF1F5"/>
              </a:solidFill>
              <a:prstDash val="solid"/>
            </a:ln>
          </p:spPr>
        </p:sp>
        <p:sp>
          <p:nvSpPr>
            <p:cNvPr id="15" name="g_c2__ring"/>
            <p:cNvSpPr/>
            <p:nvPr/>
          </p:nvSpPr>
          <p:spPr>
            <a:xfrm>
              <a:off x="777240" y="3154680"/>
              <a:ext cx="548640" cy="548640"/>
            </a:xfrm>
            <a:prstGeom prst="ellipse">
              <a:avLst/>
            </a:prstGeom>
            <a:solidFill>
              <a:srgbClr val="E8672B"/>
            </a:solidFill>
            <a:ln w="12700">
              <a:solidFill>
                <a:srgbClr val="E8672B"/>
              </a:solidFill>
              <a:prstDash val="solid"/>
            </a:ln>
          </p:spPr>
        </p:sp>
        <p:pic>
          <p:nvPicPr>
            <p:cNvPr id="16" name="g_c2__icon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256" y="3282696"/>
              <a:ext cx="292608" cy="292608"/>
            </a:xfrm>
            <a:prstGeom prst="rect">
              <a:avLst/>
            </a:prstGeom>
          </p:spPr>
        </p:pic>
        <p:sp>
          <p:nvSpPr>
            <p:cNvPr id="17" name="g_c2__head"/>
            <p:cNvSpPr txBox="1"/>
            <p:nvPr/>
          </p:nvSpPr>
          <p:spPr>
            <a:xfrm>
              <a:off x="1554480" y="3035808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1C223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mechanism</a:t>
              </a:r>
              <a:endParaRPr lang="en-US" sz="1600" dirty="0"/>
            </a:p>
          </p:txBody>
        </p:sp>
        <p:sp>
          <p:nvSpPr>
            <p:cNvPr id="18" name="g_c2__desc"/>
            <p:cNvSpPr txBox="1"/>
            <p:nvPr/>
          </p:nvSpPr>
          <p:spPr>
            <a:xfrm>
              <a:off x="1554480" y="3401568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250" dirty="0">
                  <a:solidFill>
                    <a:srgbClr val="5B64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Know why it happens, not just that it happens.</a:t>
              </a:r>
              <a:endParaRPr lang="en-US" sz="1250" dirty="0"/>
            </a:p>
          </p:txBody>
        </p:sp>
      </p:grpSp>
      <p:grpSp>
        <p:nvGrpSpPr>
          <p:cNvPr id="28" name="g_c3"/>
          <p:cNvGrpSpPr/>
          <p:nvPr/>
        </p:nvGrpSpPr>
        <p:grpSpPr>
          <a:xfrm>
            <a:off x="4663440" y="2834640"/>
            <a:ext cx="3931920" cy="1188720"/>
            <a:chOff x="4663440" y="2834640"/>
            <a:chExt cx="3931920" cy="1188720"/>
          </a:xfrm>
        </p:grpSpPr>
        <p:sp>
          <p:nvSpPr>
            <p:cNvPr id="19" name="g_c3__bg"/>
            <p:cNvSpPr/>
            <p:nvPr/>
          </p:nvSpPr>
          <p:spPr>
            <a:xfrm>
              <a:off x="4663440" y="2834640"/>
              <a:ext cx="3931920" cy="1188720"/>
            </a:xfrm>
            <a:prstGeom prst="roundRect">
              <a:avLst>
                <a:gd name="adj" fmla="val 6154"/>
              </a:avLst>
            </a:prstGeom>
            <a:solidFill>
              <a:srgbClr val="EEF1F5"/>
            </a:solidFill>
            <a:ln w="12700">
              <a:solidFill>
                <a:srgbClr val="EEF1F5"/>
              </a:solidFill>
              <a:prstDash val="solid"/>
            </a:ln>
          </p:spPr>
        </p:sp>
        <p:sp>
          <p:nvSpPr>
            <p:cNvPr id="20" name="g_c3__ring"/>
            <p:cNvSpPr/>
            <p:nvPr/>
          </p:nvSpPr>
          <p:spPr>
            <a:xfrm>
              <a:off x="4892040" y="3154680"/>
              <a:ext cx="548640" cy="548640"/>
            </a:xfrm>
            <a:prstGeom prst="ellipse">
              <a:avLst/>
            </a:prstGeom>
            <a:solidFill>
              <a:srgbClr val="E8672B"/>
            </a:solidFill>
            <a:ln w="12700">
              <a:solidFill>
                <a:srgbClr val="E8672B"/>
              </a:solidFill>
              <a:prstDash val="solid"/>
            </a:ln>
          </p:spPr>
        </p:sp>
        <p:pic>
          <p:nvPicPr>
            <p:cNvPr id="21" name="g_c3__icon" descr="preencoded.png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0056" y="3282696"/>
              <a:ext cx="292608" cy="292608"/>
            </a:xfrm>
            <a:prstGeom prst="rect">
              <a:avLst/>
            </a:prstGeom>
          </p:spPr>
        </p:pic>
        <p:sp>
          <p:nvSpPr>
            <p:cNvPr id="22" name="g_c3__head"/>
            <p:cNvSpPr txBox="1"/>
            <p:nvPr/>
          </p:nvSpPr>
          <p:spPr>
            <a:xfrm>
              <a:off x="5669280" y="3035808"/>
              <a:ext cx="27432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1C223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Hunt for counterexamples</a:t>
              </a:r>
              <a:endParaRPr lang="en-US" sz="1600" dirty="0"/>
            </a:p>
          </p:txBody>
        </p:sp>
        <p:sp>
          <p:nvSpPr>
            <p:cNvPr id="23" name="g_c3__desc"/>
            <p:cNvSpPr txBox="1"/>
            <p:nvPr/>
          </p:nvSpPr>
          <p:spPr>
            <a:xfrm>
              <a:off x="5669280" y="3401568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250" dirty="0">
                  <a:solidFill>
                    <a:srgbClr val="5B64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Try to break the rule. Rules that survive earn trust.</a:t>
              </a:r>
              <a:endParaRPr lang="en-US" sz="1250" dirty="0"/>
            </a:p>
          </p:txBody>
        </p:sp>
      </p:grpSp>
      <p:sp>
        <p:nvSpPr>
          <p:cNvPr id="24" name="turkeyFail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turkey had a huge sample. </a:t>
            </a:r>
            <a:pPr indent="0" marL="0">
              <a:buNone/>
            </a:pPr>
            <a:r>
              <a:rPr lang="en-US" sz="1500" b="1" i="1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failed the other three tests.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C22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· 11 MIN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the arguments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them from strongest to weakest using the four tests. Justify every placement in one sentence.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claim0"/>
          <p:cNvSpPr/>
          <p:nvPr/>
        </p:nvSpPr>
        <p:spPr>
          <a:xfrm>
            <a:off x="731520" y="1901952"/>
            <a:ext cx="365760" cy="365760"/>
          </a:xfrm>
          <a:prstGeom prst="ellipse">
            <a:avLst/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4086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Sun has risen every day in recorded history, so it will rise tomorrow.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9" name="claim1"/>
          <p:cNvSpPr/>
          <p:nvPr/>
        </p:nvSpPr>
        <p:spPr>
          <a:xfrm>
            <a:off x="3474720" y="1901952"/>
            <a:ext cx="365760" cy="365760"/>
          </a:xfrm>
          <a:prstGeom prst="ellipse">
            <a:avLst/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4086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metals we tested conducted electricity, so all metals conduct.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7373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claim2"/>
          <p:cNvSpPr/>
          <p:nvPr/>
        </p:nvSpPr>
        <p:spPr>
          <a:xfrm>
            <a:off x="6217920" y="1901952"/>
            <a:ext cx="365760" cy="365760"/>
          </a:xfrm>
          <a:prstGeom prst="ellipse">
            <a:avLst/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34086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flipped heads three times in a row, so the next flip will be heads.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5" name="claim3"/>
          <p:cNvSpPr/>
          <p:nvPr/>
        </p:nvSpPr>
        <p:spPr>
          <a:xfrm>
            <a:off x="731520" y="3456432"/>
            <a:ext cx="365760" cy="365760"/>
          </a:xfrm>
          <a:prstGeom prst="ellipse">
            <a:avLst/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89534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swan in our local park is white, so all swans are white.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32918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8" name="claim4"/>
          <p:cNvSpPr/>
          <p:nvPr/>
        </p:nvSpPr>
        <p:spPr>
          <a:xfrm>
            <a:off x="3474720" y="3456432"/>
            <a:ext cx="365760" cy="365760"/>
          </a:xfrm>
          <a:prstGeom prst="ellipse">
            <a:avLst/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89534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Pupils who ate breakfast got higher test scores, so breakfast improves scores.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32918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C2230"/>
          </a:solidFill>
          <a:ln w="12700">
            <a:solidFill>
              <a:srgbClr val="1C22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3429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6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STEMS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is stronger than D because…”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fails the ___ test because…”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counterexample would be…”</a:t>
            </a:r>
            <a:endParaRPr lang="en-US" sz="1150" dirty="0"/>
          </a:p>
        </p:txBody>
      </p:sp>
    </p:spTree>
  </p:cSld>
  <p:clrMapOvr>
    <a:masterClrMapping/>
  </p:clrMapOvr>
  <p:transition spd="med">
    <p:cover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PLENARY · 5 MIN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ticket</a:t>
            </a:r>
            <a:endParaRPr lang="en-US" sz="3600" dirty="0"/>
          </a:p>
        </p:txBody>
      </p:sp>
      <p:sp>
        <p:nvSpPr>
          <p:cNvPr id="4" name="exit0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5544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sentence, what is inductive reasoning?</a:t>
            </a:r>
            <a:endParaRPr lang="en-US" sz="1700" dirty="0"/>
          </a:p>
        </p:txBody>
      </p:sp>
      <p:sp>
        <p:nvSpPr>
          <p:cNvPr id="6" name="exit1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2402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can’t any number of white swans prove that all swans are white?</a:t>
            </a:r>
            <a:endParaRPr lang="en-US" sz="1700" dirty="0"/>
          </a:p>
        </p:txBody>
      </p:sp>
      <p:sp>
        <p:nvSpPr>
          <p:cNvPr id="8" name="exit2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E86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9260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circles: was predicting 32 a bad guess? Explain.</a:t>
            </a:r>
            <a:endParaRPr lang="en-US" sz="1700" dirty="0"/>
          </a:p>
        </p:txBody>
      </p:sp>
      <p:sp>
        <p:nvSpPr>
          <p:cNvPr id="10" name="dot0"/>
          <p:cNvSpPr/>
          <p:nvPr/>
        </p:nvSpPr>
        <p:spPr>
          <a:xfrm>
            <a:off x="54864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dot1"/>
          <p:cNvSpPr/>
          <p:nvPr/>
        </p:nvSpPr>
        <p:spPr>
          <a:xfrm>
            <a:off x="105156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dot2"/>
          <p:cNvSpPr/>
          <p:nvPr/>
        </p:nvSpPr>
        <p:spPr>
          <a:xfrm>
            <a:off x="155448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dot3"/>
          <p:cNvSpPr/>
          <p:nvPr/>
        </p:nvSpPr>
        <p:spPr>
          <a:xfrm>
            <a:off x="205740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dot4"/>
          <p:cNvSpPr/>
          <p:nvPr/>
        </p:nvSpPr>
        <p:spPr>
          <a:xfrm>
            <a:off x="256032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dot5"/>
          <p:cNvSpPr/>
          <p:nvPr/>
        </p:nvSpPr>
        <p:spPr>
          <a:xfrm>
            <a:off x="306324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dot6"/>
          <p:cNvSpPr/>
          <p:nvPr/>
        </p:nvSpPr>
        <p:spPr>
          <a:xfrm>
            <a:off x="356616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dot7"/>
          <p:cNvSpPr/>
          <p:nvPr/>
        </p:nvSpPr>
        <p:spPr>
          <a:xfrm>
            <a:off x="406908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dot8"/>
          <p:cNvSpPr/>
          <p:nvPr/>
        </p:nvSpPr>
        <p:spPr>
          <a:xfrm>
            <a:off x="457200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dot9"/>
          <p:cNvSpPr/>
          <p:nvPr/>
        </p:nvSpPr>
        <p:spPr>
          <a:xfrm>
            <a:off x="507492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dot10"/>
          <p:cNvSpPr/>
          <p:nvPr/>
        </p:nvSpPr>
        <p:spPr>
          <a:xfrm>
            <a:off x="557784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dot11"/>
          <p:cNvSpPr/>
          <p:nvPr/>
        </p:nvSpPr>
        <p:spPr>
          <a:xfrm>
            <a:off x="608076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outlier2"/>
          <p:cNvSpPr/>
          <p:nvPr/>
        </p:nvSpPr>
        <p:spPr>
          <a:xfrm>
            <a:off x="6583680" y="3977640"/>
            <a:ext cx="256032" cy="256032"/>
          </a:xfrm>
          <a:prstGeom prst="ellipse">
            <a:avLst/>
          </a:prstGeom>
          <a:solidFill>
            <a:srgbClr val="E8672B"/>
          </a:solidFill>
          <a:ln w="6350">
            <a:solidFill>
              <a:srgbClr val="E8672B"/>
            </a:solidFill>
            <a:prstDash val="solid"/>
          </a:ln>
        </p:spPr>
      </p:sp>
      <p:sp>
        <p:nvSpPr>
          <p:cNvPr id="23" name="dot13"/>
          <p:cNvSpPr/>
          <p:nvPr/>
        </p:nvSpPr>
        <p:spPr>
          <a:xfrm>
            <a:off x="708660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dot14"/>
          <p:cNvSpPr/>
          <p:nvPr/>
        </p:nvSpPr>
        <p:spPr>
          <a:xfrm>
            <a:off x="758952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dot15"/>
          <p:cNvSpPr/>
          <p:nvPr/>
        </p:nvSpPr>
        <p:spPr>
          <a:xfrm>
            <a:off x="8092440" y="3977640"/>
            <a:ext cx="256032" cy="256032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Inductive Reasoning</dc:title>
  <dc:subject>PptxGenJS Presentation</dc:subject>
  <dc:creator>PptxGenJS</dc:creator>
  <cp:lastModifiedBy>PptxGenJS</cp:lastModifiedBy>
  <cp:revision>1</cp:revision>
  <dcterms:created xsi:type="dcterms:W3CDTF">2026-09-10T06:54:26Z</dcterms:created>
  <dcterms:modified xsi:type="dcterms:W3CDTF">2026-09-10T06:54:26Z</dcterms:modified>
</cp:coreProperties>
</file>