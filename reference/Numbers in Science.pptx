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a:t>
            </a:r>
          </a:p>
          <a:p>
            <a:pPr/>
          </a:p>
          <a:p>
            <a:pPr/>
            <a:r>
              <a:t>I READ reference/Burning Food.pptx (the stated PREVIOUS lesson). It is a practical, so nothing here is repeated verbatim, but Q1 and Q2 retrieve its vocabulary and its checked arithmetic (14, 15, 13 average to 14) in a new shape.</a:t>
            </a:r>
          </a:p>
          <a:p>
            <a:pPr/>
          </a:p>
          <a:p>
            <a:pPr/>
            <a:r>
              <a:t>Q1 AND Q2 ARE RETRIEVAL. Q1 needs "the food", not just "food" vaguely; Q2 is replication, not fairness. If anyone says "to be fair", that is a live misconception from the same class Burning Food flagged — correct it now, gently, it will come back in We Do row 3's cousin next lesson if not.</a:t>
            </a:r>
          </a:p>
          <a:p>
            <a:pPr/>
          </a:p>
          <a:p>
            <a:pPr/>
            <a:r>
              <a:t>Q3 TO Q6 ARE INTUITIVE, NOT TAUGHT YET. Accept any reasonable working. Q3 primes rounding. Q4 primes magnitude, ahead of standard form. Q5 primes the Celsius scale, ahead of Kelvin. Q6 primes multiplying by a power of ten.</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Burning Food was a practical about doing an investigation fairly. Today is different: it is the numeracy every science measurement needs, whatever the investigation. Say "today has no practical. Today is about writing numbers the way scientists write them."</a:t>
            </a:r>
          </a:p>
          <a:p>
            <a:pPr/>
          </a:p>
          <a:p>
            <a:pPr/>
            <a:r>
              <a:t>THE THREE OBJECTIVES ARE CHUKA'S WORDING, TAUGHT IN ORDER: I Do 1 is significant figures, I Do 2 covers scientific notation and Kelvin together.</a:t>
            </a:r>
          </a:p>
          <a:p>
            <a:pPr/>
          </a:p>
          <a:p>
            <a:pPr/>
            <a:r>
              <a:t>THE BANNER IS THE THROUGHLINE. All three objectives are really one idea: a number in science has to be exact, not roughly right. Point back at it whenever a rounding or a unit gets sloppy.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tally on the board. Do not settle it: the next slide does.</a:t>
            </a:r>
          </a:p>
          <a:p>
            <a:pPr/>
          </a:p>
          <a:p>
            <a:pPr/>
            <a:r>
              <a:t>ANSWER, FOR YOU: B. 3.0 cm means measured to the nearest tenth of a centimetre. 3.00 cm means measured to the nearest hundredth: a more precise measurement, even though the value is the same. Expect A to attract most of the votes: most students have never been told a zero can carry real information.</a:t>
            </a:r>
          </a:p>
          <a:p>
            <a:pPr/>
          </a:p>
          <a:p>
            <a:pPr/>
            <a:r>
              <a:t>DO NOT EXPLAIN SIGNIFICANT FIGURES YET. Say "that zero on the end is not decoration. It is telling you something. Let's find out what." and move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I DO. 3 minutes. Four clicks: the definition, then the three rows.</a:t>
            </a:r>
          </a:p>
          <a:p>
            <a:pPr/>
          </a:p>
          <a:p>
            <a:pPr/>
            <a:r>
              <a:t>THE RULE FOR THIS LESSON, in plain words: count from the first non-zero digit. Leading zeros (before the first real digit) never count. Everything from the first real digit onwards counts, including zeros between other digits and zeros after the decimal point.</a:t>
            </a:r>
          </a:p>
          <a:p>
            <a:pPr/>
          </a:p>
          <a:p>
            <a:pPr/>
            <a:r>
              <a:t>ROW 1 IS THE ORDINARY CASE. ROW 2 IS WHY LEADING ZEROS DO NOT COUNT: 0.0526 has three real digits, 5, 2 and 6, and the two zeros in front are just holding the decimal point in place. ROW 3 IS A ROUNDS-DOWN CASE WHERE NOTHING VISIBLY CHANGES, worth including so students do not assume rounding always alters the digits.</a:t>
            </a:r>
          </a:p>
          <a:p>
            <a:pPr/>
          </a:p>
          <a:p>
            <a:pPr/>
            <a:r>
              <a:t>NONE OF THESE EXAMPLES END IN A ZERO THAT NEEDS TO BE A PLACEHOLDER. That is deliberate, per the brief: a number like 4500 to 2 s.f. is genuinely ambiguous, because you cannot tell whether the zeros are real or just holding the place value, and it is not worth that argument in Year 7. Every example today, on the worksheet and in the game, avoids it.</a:t>
            </a:r>
          </a:p>
          <a:p>
            <a:pPr/>
          </a:p>
          <a:p>
            <a:pPr/>
            <a:r>
              <a:t>IF ASKED ABOUT TRAILING ZEROS IN A WHOLE NUMBER (why is 4500 tricky?), say honestly that scientists usually solve it with standard form instead, which is exactly tomorrow's... today's next slide.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I DO. 3 minutes. Two clicks: the scientific notation card, then the Celsius and Kelvin card.</a:t>
            </a:r>
          </a:p>
          <a:p>
            <a:pPr/>
          </a:p>
          <a:p>
            <a:pPr/>
            <a:r>
              <a:t>SCIENTIFIC NOTATION FIXES THE PROBLEM FROM THE END OF THE LAST SLIDE. A big number like 8,200,000 or a small one like 0.000047 is awkward to write and awkward to compare. Scientific notation always has exactly one non-zero digit before the decimal point, so it is never ambiguous the way a big whole number with trailing zeros can be.</a:t>
            </a:r>
          </a:p>
          <a:p>
            <a:pPr/>
          </a:p>
          <a:p>
            <a:pPr/>
            <a:r>
              <a:t>THE COMMON MISTAKE IS THE SIGN OF THE POWER. A NEGATIVE power means a SMALL number, not a negative one: 4.7 × 10⁻⁵ is 0.000047, a tiny positive number. Say it plainly: "negative power, small number".</a:t>
            </a:r>
          </a:p>
          <a:p>
            <a:pPr/>
          </a:p>
          <a:p>
            <a:pPr/>
            <a:r>
              <a:t>KELVIN. Celsius is set by water: 0 at freezing, 100 at boiling. Kelvin starts at absolute zero instead, the coldest anything can ever be, so Kelvin has no negative numbers in ordinary use. THE RULE FOR THIS CLASS IS K = °C + 273 (not 273.15: that refinement is for later years).</a:t>
            </a:r>
          </a:p>
          <a:p>
            <a:pPr/>
          </a:p>
          <a:p>
            <a:pPr/>
            <a:r>
              <a:t>THE MISCONCEPTION TO WATCH: 0°C is NOT 0 K. 0°C is 273 K. This is the single most common error in the topic and it is We Do row 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WE DO. 5 minutes. Four clicks. Take answers from the room first, then click.</a:t>
            </a:r>
          </a:p>
          <a:p>
            <a:pPr/>
          </a:p>
          <a:p>
            <a:pPr/>
            <a:r>
              <a:t>ROW 1 IS OBJECTIVE 1. The rounding digit (4) is below 5, so it rounds down, not up. Ask "what is the digit AFTER the ones we keep?" every time this comes up.</a:t>
            </a:r>
          </a:p>
          <a:p>
            <a:pPr/>
          </a:p>
          <a:p>
            <a:pPr/>
            <a:r>
              <a:t>ROW 2 AND ROW 4 ARE BOTH OBJECTIVE 2, from opposite directions: row 2 is a big number with the wrong power, row 4 is a small number with the wrong SIGN on the power. Together they cover the two ways standard form goes wrong.</a:t>
            </a:r>
          </a:p>
          <a:p>
            <a:pPr/>
          </a:p>
          <a:p>
            <a:pPr/>
            <a:r>
              <a:t>ROW 3 IS OBJECTIVE 3 AND THE MOST IMPORTANT ROW ON THE SLIDE. This is the single most repeated mistake in the topic. Say the correction slowly: "zero degrees Celsius is two hundred and seventy-three kelvin". Ask a follow-up: "so what is zero kelvin, in Celsius?" (−273°C, absolute zero).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COLD CALL. 6 minutes. Six clicks. Name a student, then ask. Students have no mini whiteboards, so answers are spoken.</a:t>
            </a:r>
          </a:p>
          <a:p>
            <a:pPr/>
          </a:p>
          <a:p>
            <a:pPr/>
            <a:r>
              <a:t>Q1 AND Q2 ARE OBJECTIVE 1. Q1 needs the reason, not just "3": zeros between digits count, unlike leading zeros. Q2 checks the rounding direction on a genuine round-up.</a:t>
            </a:r>
          </a:p>
          <a:p>
            <a:pPr/>
          </a:p>
          <a:p>
            <a:pPr/>
            <a:r>
              <a:t>Q3 AND Q4 ARE OBJECTIVE 2, ONE BIG AND ONE SMALL. Both need the coefficient between 1 and 10; "52 × 10⁶" is a common wrong answer for Q3, worth naming if it comes up.</a:t>
            </a:r>
          </a:p>
          <a:p>
            <a:pPr/>
          </a:p>
          <a:p>
            <a:pPr/>
            <a:r>
              <a:t>Q5 AND Q6 ARE OBJECTIVE 3, real numbers either way. Q5 is body temperature, Q6 is the boiling point of water read backwards from Kelvin: a good check that they can go both directions, not just add 273.</a:t>
            </a:r>
          </a:p>
          <a:p>
            <a:pPr/>
          </a:p>
          <a:p>
            <a:pPr/>
            <a:r>
              <a:t>IF MOST OF THE ROOM IS RIGHT BY Q4, spend longer on Q5 and Q6, and ask "how would you check that answer?" (Add 273 back the other way.) IF SHORT OF TIME, cut Q1.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YOU DO. 17 minutes: the standard 14 and the 3 that used to be the Answers slide. Four clicks. THE GAME IS NUMBERS DRILL ("your call"), and the worksheet is the fallback, built every time.</a:t>
            </a:r>
          </a:p>
          <a:p>
            <a:pPr/>
          </a:p>
          <a:p>
            <a:pPr/>
            <a:r>
              <a:t>WHAT THEY DO. Open the file "Numbers In Science game" from Google Classroom. Three rounds of six questions, each on their own device, all multiple choice: tap or press 1 to 4. A wrong answer says what the mistake probably was. EVERY STUDENT GETS A DIFFERENT GAME: different numbers, in a different order. The skills and their order are the same for everyone. Each game has a six-character code, shown on the start and end screens; add #CODE to the file's address to see exactly what a student saw.</a:t>
            </a:r>
          </a:p>
          <a:p>
            <a:pPr/>
          </a:p>
          <a:p>
            <a:pPr/>
            <a:r>
              <a:t>THE DIFFICULTY RAMPS ON PURPOSE. Round 1 is rounding to significant figures, every one checked to avoid the trailing-zero ambiguity from the brief. Round 2 is standard form, converting in both directions (a plain number to standard form, and back). Round 3 is Celsius and Kelvin, and the last two questions are drawn from a small pool of genuinely hard templates that combine standard form, Kelvin and rounding in one question. Expect most students to fail those two. That is the design; tell them before they start.</a:t>
            </a:r>
          </a:p>
          <a:p>
            <a:pPr/>
          </a:p>
          <a:p>
            <a:pPr/>
            <a:r>
              <a:t>AT THE END OF EACH ROUND, and again on the last screen, there is a drop-down for every round with how long each question took and, for a wrong one, what the student wrote and how to get to the answer.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ten questions in Bronze, Silver and Gold, with the answers printed UPSIDE DOWN on its last page.</a:t>
            </a:r>
          </a:p>
          <a:p>
            <a:pPr/>
          </a:p>
          <a:p>
            <a:pPr/>
            <a:r>
              <a:t>CIRCULATE WITH ONE QUESTION: "is that answer definitely not ambiguous?" AT 3 MINUTES REMAINING, stop them. There is no Answers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PLENARY. 3 minutes. Eleven clicks: each statement, then its answer, then the closing line.</a:t>
            </a:r>
          </a:p>
          <a:p>
            <a:pPr/>
          </a:p>
          <a:p>
            <a:pPr/>
            <a:r>
              <a:t>Q1 IS THE HOOK, SETTLED. Point back at the tally: 3.00 cm carries more information than 3.0 cm, even though the value is the same.</a:t>
            </a:r>
          </a:p>
          <a:p>
            <a:pPr/>
          </a:p>
          <a:p>
            <a:pPr/>
            <a:r>
              <a:t>Q2 IS OBJECTIVE 2, PLAINLY TRUE. Q3 IS THE MISCONCEPTION AND OBJECTIVE 3 DIRECTLY. If this splits the room, that is the first five minutes of next lesson, not a footnote.</a:t>
            </a:r>
          </a:p>
          <a:p>
            <a:pPr/>
          </a:p>
          <a:p>
            <a:pPr/>
            <a:r>
              <a:t>Q4 IS THE DEFINITION OF STANDARD FORM, worth stating cleanly one more time before they go. Q5 IS THE SAME ROUNDING TRAP AS COLD CALL Q2, asked cold and in reverse: the honest answer is 9.4, not 9.3, because the digit after 6... after the 3 is a 6, which rounds UP.</a:t>
            </a:r>
          </a:p>
          <a:p>
            <a:pPr/>
          </a:p>
          <a:p>
            <a:pPr/>
            <a:r>
              <a:t>THE CLOSING LINE REPEATS THE OBJECTIVES BANNER WORD FOR WORD, on purpose. THIS LESSON MAKES NO FIRM PROMISE FOR THE NEXT ONE. If you want to lead on: Burning Food's own plenary flagged calculating the energy released from the practical's results as a natural next step, and today's numeracy (rounding, standard form) is exactly what that calculation would need. Your call whether that is the next lesson.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377439" y="344170"/>
            <a:ext cx="74066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5395C"/>
                </a:solidFill>
                <a:latin typeface="Georgia"/>
                <a:ea typeface="Georgia"/>
                <a:cs typeface="Georgia"/>
                <a:sym typeface="Georgia"/>
              </a:defRPr>
            </a:lvl1pPr>
          </a:lstStyle>
          <a:p>
            <a:pPr/>
            <a:r>
              <a:t>Numbers In Science</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5708A"/>
                </a:solidFill>
                <a:latin typeface="Arial"/>
                <a:ea typeface="Arial"/>
                <a:cs typeface="Arial"/>
                <a:sym typeface="Arial"/>
              </a:defRPr>
            </a:lvl1pPr>
          </a:lstStyle>
          <a:p>
            <a:pPr/>
            <a:r>
              <a:t>Thursday 8 October 2026</a:t>
            </a:r>
          </a:p>
        </p:txBody>
      </p:sp>
      <p:sp>
        <p:nvSpPr>
          <p:cNvPr id="26" name="rule"/>
          <p:cNvSpPr/>
          <p:nvPr/>
        </p:nvSpPr>
        <p:spPr>
          <a:xfrm>
            <a:off x="1170432" y="896111"/>
            <a:ext cx="10472623" cy="36577"/>
          </a:xfrm>
          <a:prstGeom prst="rect">
            <a:avLst/>
          </a:prstGeom>
          <a:solidFill>
            <a:srgbClr val="FFD921"/>
          </a:solidFill>
          <a:ln w="12700">
            <a:solidFill>
              <a:srgbClr val="FFD921"/>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28" name="d0_badge"/>
          <p:cNvSpPr/>
          <p:nvPr/>
        </p:nvSpPr>
        <p:spPr>
          <a:xfrm>
            <a:off x="1371600" y="1426463"/>
            <a:ext cx="384048" cy="384049"/>
          </a:xfrm>
          <a:prstGeom prst="ellipse">
            <a:avLst/>
          </a:prstGeom>
          <a:solidFill>
            <a:srgbClr val="FFD921"/>
          </a:solidFill>
          <a:ln w="12700">
            <a:solidFill>
              <a:srgbClr val="FFD921"/>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30" name="d0_q"/>
          <p:cNvSpPr txBox="1"/>
          <p:nvPr/>
        </p:nvSpPr>
        <p:spPr>
          <a:xfrm>
            <a:off x="1901951"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what the independent variable was in the food-burning test.</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32" name="The food: which food was burned."/>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food: which food was burned.</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35" name="d1_badge"/>
          <p:cNvSpPr/>
          <p:nvPr/>
        </p:nvSpPr>
        <p:spPr>
          <a:xfrm>
            <a:off x="6745072" y="1426463"/>
            <a:ext cx="384049" cy="384049"/>
          </a:xfrm>
          <a:prstGeom prst="ellipse">
            <a:avLst/>
          </a:prstGeom>
          <a:solidFill>
            <a:srgbClr val="FFD921"/>
          </a:solidFill>
          <a:ln w="12700">
            <a:solidFill>
              <a:srgbClr val="FFD921"/>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37" name="d1_q"/>
          <p:cNvSpPr txBox="1"/>
          <p:nvPr/>
        </p:nvSpPr>
        <p:spPr>
          <a:xfrm>
            <a:off x="7275424"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Three temperature rises were measured: 14°C, 15°C and 13°C. State why the test was repeated three times.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39" name="So one odd result does not mislead. It checks the results are reliable."/>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So one odd result does not mislead. It checks the results are reliable.</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42" name="d2_badge"/>
          <p:cNvSpPr/>
          <p:nvPr/>
        </p:nvSpPr>
        <p:spPr>
          <a:xfrm>
            <a:off x="1371600" y="3090672"/>
            <a:ext cx="384048" cy="384049"/>
          </a:xfrm>
          <a:prstGeom prst="ellipse">
            <a:avLst/>
          </a:prstGeom>
          <a:solidFill>
            <a:srgbClr val="FFD921"/>
          </a:solidFill>
          <a:ln w="12700">
            <a:solidFill>
              <a:srgbClr val="FFD921"/>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44" name="d2_q"/>
          <p:cNvSpPr txBox="1"/>
          <p:nvPr/>
        </p:nvSpPr>
        <p:spPr>
          <a:xfrm>
            <a:off x="1901951"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Round 7.8 to the nearest whole number.</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46" name="8."/>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8.</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49" name="d3_badge"/>
          <p:cNvSpPr/>
          <p:nvPr/>
        </p:nvSpPr>
        <p:spPr>
          <a:xfrm>
            <a:off x="6745072" y="3090672"/>
            <a:ext cx="384049" cy="384049"/>
          </a:xfrm>
          <a:prstGeom prst="ellipse">
            <a:avLst/>
          </a:prstGeom>
          <a:solidFill>
            <a:srgbClr val="FFD921"/>
          </a:solidFill>
          <a:ln w="12700">
            <a:solidFill>
              <a:srgbClr val="FFD921"/>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51" name="d3_q"/>
          <p:cNvSpPr txBox="1"/>
          <p:nvPr/>
        </p:nvSpPr>
        <p:spPr>
          <a:xfrm>
            <a:off x="7275424"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which is bigger: 4,000,000 or 400,000.</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53" name="4,000,000."/>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4,000,000.</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56" name="d4_badge"/>
          <p:cNvSpPr/>
          <p:nvPr/>
        </p:nvSpPr>
        <p:spPr>
          <a:xfrm>
            <a:off x="1371600" y="4754879"/>
            <a:ext cx="384048" cy="384049"/>
          </a:xfrm>
          <a:prstGeom prst="ellipse">
            <a:avLst/>
          </a:prstGeom>
          <a:solidFill>
            <a:srgbClr val="FFD921"/>
          </a:solidFill>
          <a:ln w="12700">
            <a:solidFill>
              <a:srgbClr val="FFD921"/>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State the freezing point of water, in degrees Celsius.</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60" name="0°C."/>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0°C.</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C7D9EA"/>
            </a:solidFill>
          </a:ln>
        </p:spPr>
        <p:txBody>
          <a:bodyPr lIns="45719" rIns="45719"/>
          <a:lstStyle/>
          <a:p>
            <a:pPr/>
          </a:p>
        </p:txBody>
      </p:sp>
      <p:sp>
        <p:nvSpPr>
          <p:cNvPr id="63" name="d5_badge"/>
          <p:cNvSpPr/>
          <p:nvPr/>
        </p:nvSpPr>
        <p:spPr>
          <a:xfrm>
            <a:off x="6745072" y="4754879"/>
            <a:ext cx="384049" cy="384049"/>
          </a:xfrm>
          <a:prstGeom prst="ellipse">
            <a:avLst/>
          </a:prstGeom>
          <a:solidFill>
            <a:srgbClr val="FFD921"/>
          </a:solidFill>
          <a:ln w="12700">
            <a:solidFill>
              <a:srgbClr val="FFD921"/>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number is written as 3 × 100. Work out its value.</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67" name="300."/>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300.</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0" grpId="3"/>
      <p:bldP build="whole" bldLvl="1" animBg="1" rev="0" advAuto="0" spid="47" grpId="4"/>
      <p:bldP build="whole" bldLvl="1" animBg="1" rev="0" advAuto="0" spid="61" grpId="6"/>
      <p:bldP build="whole" bldLvl="1" animBg="1" rev="0" advAuto="0" spid="33" grpId="2"/>
      <p:bldP build="whole" bldLvl="1" animBg="1" rev="0" advAuto="0" spid="54" grpId="5"/>
      <p:bldP build="whole" bldLvl="1" animBg="1" rev="0" advAuto="0" spid="68" grpId="7"/>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Write a number to a given number of significant figures.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Write a large or small number in scientific notation.</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FFD921"/>
            </a:solidFill>
            <a:ln w="12700" cap="flat">
              <a:solidFill>
                <a:srgbClr val="FFD921"/>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E2A40"/>
                  </a:solidFill>
                  <a:latin typeface="Arial"/>
                  <a:ea typeface="Arial"/>
                  <a:cs typeface="Arial"/>
                  <a:sym typeface="Arial"/>
                </a:defRPr>
              </a:lvl1pPr>
            </a:lstStyle>
            <a:p>
              <a:pPr/>
              <a:r>
                <a:t>Convert between the Celsius and Kelvin scales.</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5395C"/>
            </a:solidFill>
            <a:ln w="9525" cap="flat">
              <a:solidFill>
                <a:srgbClr val="15395C"/>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Significant figures, scientific notation and the Kelvin scale all make a number exact."/>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FFD921"/>
                  </a:solidFill>
                  <a:latin typeface="Arial"/>
                  <a:ea typeface="Arial"/>
                  <a:cs typeface="Arial"/>
                  <a:sym typeface="Arial"/>
                </a:defRPr>
              </a:pPr>
              <a:r>
                <a:t>Significant figures, scientific notation and the Kelvin scale all make a number </a:t>
              </a:r>
              <a:r>
                <a:rPr u="sng"/>
                <a:t>exact</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86" grpId="3"/>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15862"/>
            <a:ext cx="9055304" cy="7297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900"/>
              </a:lnSpc>
              <a:defRPr b="1" sz="2400">
                <a:solidFill>
                  <a:srgbClr val="15395C"/>
                </a:solidFill>
                <a:latin typeface="Georgia"/>
                <a:ea typeface="Georgia"/>
                <a:cs typeface="Georgia"/>
                <a:sym typeface="Georgia"/>
              </a:defRPr>
            </a:lvl1pPr>
          </a:lstStyle>
          <a:p>
            <a:pPr/>
            <a:r>
              <a:t>A scientist writes a measurement as 3.0 cm. Another writes 3.00 cm. Are these the same?</a:t>
            </a:r>
          </a:p>
        </p:txBody>
      </p:sp>
      <p:pic>
        <p:nvPicPr>
          <p:cNvPr id="103" name="hook_ruler" descr="hook_ruler"/>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1828801"/>
            <a:chOff x="0" y="0"/>
            <a:chExt cx="3307993" cy="1828800"/>
          </a:xfrm>
        </p:grpSpPr>
        <p:sp>
          <p:nvSpPr>
            <p:cNvPr id="104" name="h0_bg"/>
            <p:cNvSpPr/>
            <p:nvPr/>
          </p:nvSpPr>
          <p:spPr>
            <a:xfrm>
              <a:off x="0" y="0"/>
              <a:ext cx="3307994" cy="1828800"/>
            </a:xfrm>
            <a:prstGeom prst="roundRect">
              <a:avLst>
                <a:gd name="adj" fmla="val 500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A</a:t>
              </a:r>
            </a:p>
          </p:txBody>
        </p:sp>
        <p:sp>
          <p:nvSpPr>
            <p:cNvPr id="106" name="h0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5395C"/>
                  </a:solidFill>
                  <a:latin typeface="Georgia"/>
                  <a:ea typeface="Georgia"/>
                  <a:cs typeface="Georgia"/>
                  <a:sym typeface="Georgia"/>
                </a:defRPr>
              </a:lvl1pPr>
            </a:lstStyle>
            <a:p>
              <a:pPr/>
              <a:r>
                <a:t>Yes. Extra zeros do not change a number.</a:t>
              </a:r>
            </a:p>
          </p:txBody>
        </p:sp>
      </p:grpSp>
      <p:grpSp>
        <p:nvGrpSpPr>
          <p:cNvPr id="111" name="h1"/>
          <p:cNvGrpSpPr/>
          <p:nvPr/>
        </p:nvGrpSpPr>
        <p:grpSpPr>
          <a:xfrm>
            <a:off x="4752745" y="2487167"/>
            <a:ext cx="3307995" cy="1828801"/>
            <a:chOff x="0" y="0"/>
            <a:chExt cx="3307993" cy="1828800"/>
          </a:xfrm>
        </p:grpSpPr>
        <p:sp>
          <p:nvSpPr>
            <p:cNvPr id="108" name="h1_bg"/>
            <p:cNvSpPr/>
            <p:nvPr/>
          </p:nvSpPr>
          <p:spPr>
            <a:xfrm>
              <a:off x="0" y="0"/>
              <a:ext cx="3307994" cy="1828800"/>
            </a:xfrm>
            <a:prstGeom prst="roundRect">
              <a:avLst>
                <a:gd name="adj" fmla="val 500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B</a:t>
              </a:r>
            </a:p>
          </p:txBody>
        </p:sp>
        <p:sp>
          <p:nvSpPr>
            <p:cNvPr id="110" name="h1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5395C"/>
                  </a:solidFill>
                  <a:latin typeface="Georgia"/>
                  <a:ea typeface="Georgia"/>
                  <a:cs typeface="Georgia"/>
                  <a:sym typeface="Georgia"/>
                </a:defRPr>
              </a:lvl1pPr>
            </a:lstStyle>
            <a:p>
              <a:pPr/>
              <a:r>
                <a:t>No. 3.00 cm is more precise than 3.0 cm.</a:t>
              </a:r>
            </a:p>
          </p:txBody>
        </p:sp>
      </p:grpSp>
      <p:grpSp>
        <p:nvGrpSpPr>
          <p:cNvPr id="115" name="h2"/>
          <p:cNvGrpSpPr/>
          <p:nvPr/>
        </p:nvGrpSpPr>
        <p:grpSpPr>
          <a:xfrm>
            <a:off x="8335061" y="2487167"/>
            <a:ext cx="3307994" cy="1828801"/>
            <a:chOff x="0" y="0"/>
            <a:chExt cx="3307993" cy="1828800"/>
          </a:xfrm>
        </p:grpSpPr>
        <p:sp>
          <p:nvSpPr>
            <p:cNvPr id="112" name="h2_bg"/>
            <p:cNvSpPr/>
            <p:nvPr/>
          </p:nvSpPr>
          <p:spPr>
            <a:xfrm>
              <a:off x="0" y="0"/>
              <a:ext cx="3307994" cy="1828800"/>
            </a:xfrm>
            <a:prstGeom prst="roundRect">
              <a:avLst>
                <a:gd name="adj" fmla="val 500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D312F"/>
                  </a:solidFill>
                  <a:latin typeface="Georgia"/>
                  <a:ea typeface="Georgia"/>
                  <a:cs typeface="Georgia"/>
                  <a:sym typeface="Georgia"/>
                </a:defRPr>
              </a:lvl1pPr>
            </a:lstStyle>
            <a:p>
              <a:pPr/>
              <a:r>
                <a:t>C</a:t>
              </a:r>
            </a:p>
          </p:txBody>
        </p:sp>
        <p:sp>
          <p:nvSpPr>
            <p:cNvPr id="114" name="h2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5395C"/>
                  </a:solidFill>
                  <a:latin typeface="Georgia"/>
                  <a:ea typeface="Georgia"/>
                  <a:cs typeface="Georgia"/>
                  <a:sym typeface="Georgia"/>
                </a:defRPr>
              </a:lvl1pPr>
            </a:lstStyle>
            <a:p>
              <a:pPr/>
              <a:r>
                <a:t>No. 3.00 cm is more accurate than 3.0 cm.</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Significant figures</a:t>
            </a:r>
          </a:p>
        </p:txBody>
      </p:sp>
      <p:grpSp>
        <p:nvGrpSpPr>
          <p:cNvPr id="126" name="def"/>
          <p:cNvGrpSpPr/>
          <p:nvPr/>
        </p:nvGrpSpPr>
        <p:grpSpPr>
          <a:xfrm>
            <a:off x="1170432" y="1920239"/>
            <a:ext cx="10472623" cy="914401"/>
            <a:chOff x="0" y="0"/>
            <a:chExt cx="10472622" cy="914400"/>
          </a:xfrm>
        </p:grpSpPr>
        <p:sp>
          <p:nvSpPr>
            <p:cNvPr id="124" name="def_bg"/>
            <p:cNvSpPr/>
            <p:nvPr/>
          </p:nvSpPr>
          <p:spPr>
            <a:xfrm>
              <a:off x="0" y="0"/>
              <a:ext cx="10472623" cy="914400"/>
            </a:xfrm>
            <a:prstGeom prst="roundRect">
              <a:avLst>
                <a:gd name="adj" fmla="val 1000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25" name="def_t"/>
            <p:cNvSpPr txBox="1"/>
            <p:nvPr/>
          </p:nvSpPr>
          <p:spPr>
            <a:xfrm>
              <a:off x="274319" y="322563"/>
              <a:ext cx="9923984" cy="2692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sz="1700">
                  <a:solidFill>
                    <a:srgbClr val="0E2A40"/>
                  </a:solidFill>
                  <a:latin typeface="Arial"/>
                  <a:ea typeface="Arial"/>
                  <a:cs typeface="Arial"/>
                  <a:sym typeface="Arial"/>
                </a:defRPr>
              </a:pPr>
              <a:r>
                <a:t>Significant figures are the digits in a number that carry real meaning about how </a:t>
              </a:r>
              <a:r>
                <a:rPr b="1">
                  <a:solidFill>
                    <a:srgbClr val="957D11"/>
                  </a:solidFill>
                </a:rPr>
                <a:t>precise</a:t>
              </a:r>
              <a:r>
                <a:t> it is.</a:t>
              </a:r>
            </a:p>
          </p:txBody>
        </p:sp>
      </p:grpSp>
      <p:grpSp>
        <p:nvGrpSpPr>
          <p:cNvPr id="135" name="sf0"/>
          <p:cNvGrpSpPr/>
          <p:nvPr/>
        </p:nvGrpSpPr>
        <p:grpSpPr>
          <a:xfrm>
            <a:off x="1170432" y="3054095"/>
            <a:ext cx="10472623" cy="566929"/>
            <a:chOff x="0" y="0"/>
            <a:chExt cx="10472622" cy="566927"/>
          </a:xfrm>
        </p:grpSpPr>
        <p:sp>
          <p:nvSpPr>
            <p:cNvPr id="127" name="sf0_bg"/>
            <p:cNvSpPr/>
            <p:nvPr/>
          </p:nvSpPr>
          <p:spPr>
            <a:xfrm>
              <a:off x="0" y="0"/>
              <a:ext cx="10472623" cy="566928"/>
            </a:xfrm>
            <a:prstGeom prst="roundRect">
              <a:avLst>
                <a:gd name="adj" fmla="val 16129"/>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28" name="sf0_v"/>
            <p:cNvSpPr txBox="1"/>
            <p:nvPr/>
          </p:nvSpPr>
          <p:spPr>
            <a:xfrm>
              <a:off x="219455" y="156463"/>
              <a:ext cx="1417321"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E2A40"/>
                  </a:solidFill>
                  <a:latin typeface="Georgia"/>
                  <a:ea typeface="Georgia"/>
                  <a:cs typeface="Georgia"/>
                  <a:sym typeface="Georgia"/>
                </a:defRPr>
              </a:lvl1pPr>
            </a:lstStyle>
            <a:p>
              <a:pPr/>
              <a:r>
                <a:t>3.847</a:t>
              </a:r>
            </a:p>
          </p:txBody>
        </p:sp>
        <p:sp>
          <p:nvSpPr>
            <p:cNvPr id="129" name="sf0_s"/>
            <p:cNvSpPr txBox="1"/>
            <p:nvPr/>
          </p:nvSpPr>
          <p:spPr>
            <a:xfrm>
              <a:off x="1691639" y="190914"/>
              <a:ext cx="10058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5708A"/>
                  </a:solidFill>
                  <a:latin typeface="Arial"/>
                  <a:ea typeface="Arial"/>
                  <a:cs typeface="Arial"/>
                  <a:sym typeface="Arial"/>
                </a:defRPr>
              </a:lvl1pPr>
            </a:lstStyle>
            <a:p>
              <a:pPr/>
              <a:r>
                <a:t>2 s.f.</a:t>
              </a:r>
            </a:p>
          </p:txBody>
        </p:sp>
        <p:sp>
          <p:nvSpPr>
            <p:cNvPr id="130" name="sf0_arr"/>
            <p:cNvSpPr txBox="1"/>
            <p:nvPr/>
          </p:nvSpPr>
          <p:spPr>
            <a:xfrm>
              <a:off x="2697479" y="161049"/>
              <a:ext cx="411481" cy="244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957D11"/>
                  </a:solidFill>
                  <a:latin typeface="Georgia"/>
                  <a:ea typeface="Georgia"/>
                  <a:cs typeface="Georgia"/>
                  <a:sym typeface="Georgia"/>
                </a:defRPr>
              </a:lvl1pPr>
            </a:lstStyle>
            <a:p>
              <a:pPr/>
              <a:r>
                <a:t>→</a:t>
              </a:r>
            </a:p>
          </p:txBody>
        </p:sp>
        <p:grpSp>
          <p:nvGrpSpPr>
            <p:cNvPr id="133" name="sf0_a"/>
            <p:cNvGrpSpPr/>
            <p:nvPr/>
          </p:nvGrpSpPr>
          <p:grpSpPr>
            <a:xfrm>
              <a:off x="3163823" y="82295"/>
              <a:ext cx="960121" cy="402337"/>
              <a:chOff x="0" y="0"/>
              <a:chExt cx="960119" cy="402336"/>
            </a:xfrm>
          </p:grpSpPr>
          <p:sp>
            <p:nvSpPr>
              <p:cNvPr id="131" name="Rounded Rectangle"/>
              <p:cNvSpPr/>
              <p:nvPr/>
            </p:nvSpPr>
            <p:spPr>
              <a:xfrm>
                <a:off x="0" y="0"/>
                <a:ext cx="960120" cy="402337"/>
              </a:xfrm>
              <a:prstGeom prst="roundRect">
                <a:avLst>
                  <a:gd name="adj" fmla="val 18182"/>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lgn="ctr">
                  <a:defRPr sz="1500"/>
                </a:pPr>
              </a:p>
            </p:txBody>
          </p:sp>
          <p:sp>
            <p:nvSpPr>
              <p:cNvPr id="132" name="3.8"/>
              <p:cNvSpPr txBox="1"/>
              <p:nvPr/>
            </p:nvSpPr>
            <p:spPr>
              <a:xfrm>
                <a:off x="29680" y="93217"/>
                <a:ext cx="900760"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15395C"/>
                    </a:solidFill>
                    <a:latin typeface="Georgia"/>
                    <a:ea typeface="Georgia"/>
                    <a:cs typeface="Georgia"/>
                    <a:sym typeface="Georgia"/>
                  </a:defRPr>
                </a:lvl1pPr>
              </a:lstStyle>
              <a:p>
                <a:pPr/>
                <a:r>
                  <a:t>3.8</a:t>
                </a:r>
              </a:p>
            </p:txBody>
          </p:sp>
        </p:grpSp>
        <p:sp>
          <p:nvSpPr>
            <p:cNvPr id="134" name="sf0_w"/>
            <p:cNvSpPr txBox="1"/>
            <p:nvPr/>
          </p:nvSpPr>
          <p:spPr>
            <a:xfrm>
              <a:off x="4297679" y="191116"/>
              <a:ext cx="608350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55708A"/>
                  </a:solidFill>
                  <a:latin typeface="Arial"/>
                  <a:ea typeface="Arial"/>
                  <a:cs typeface="Arial"/>
                  <a:sym typeface="Arial"/>
                </a:defRPr>
              </a:lvl1pPr>
            </a:lstStyle>
            <a:p>
              <a:pPr/>
              <a:r>
                <a:t>Keep 3 and 8. The next digit, 4, rounds down.</a:t>
              </a:r>
            </a:p>
          </p:txBody>
        </p:sp>
      </p:grpSp>
      <p:grpSp>
        <p:nvGrpSpPr>
          <p:cNvPr id="144" name="sf1"/>
          <p:cNvGrpSpPr/>
          <p:nvPr/>
        </p:nvGrpSpPr>
        <p:grpSpPr>
          <a:xfrm>
            <a:off x="1170432" y="3730752"/>
            <a:ext cx="10472623" cy="566929"/>
            <a:chOff x="0" y="0"/>
            <a:chExt cx="10472622" cy="566927"/>
          </a:xfrm>
        </p:grpSpPr>
        <p:sp>
          <p:nvSpPr>
            <p:cNvPr id="136" name="sf1_bg"/>
            <p:cNvSpPr/>
            <p:nvPr/>
          </p:nvSpPr>
          <p:spPr>
            <a:xfrm>
              <a:off x="0" y="0"/>
              <a:ext cx="10472623" cy="566928"/>
            </a:xfrm>
            <a:prstGeom prst="roundRect">
              <a:avLst>
                <a:gd name="adj" fmla="val 16129"/>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37" name="sf1_v"/>
            <p:cNvSpPr txBox="1"/>
            <p:nvPr/>
          </p:nvSpPr>
          <p:spPr>
            <a:xfrm>
              <a:off x="219455" y="156463"/>
              <a:ext cx="1417321"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E2A40"/>
                  </a:solidFill>
                  <a:latin typeface="Georgia"/>
                  <a:ea typeface="Georgia"/>
                  <a:cs typeface="Georgia"/>
                  <a:sym typeface="Georgia"/>
                </a:defRPr>
              </a:lvl1pPr>
            </a:lstStyle>
            <a:p>
              <a:pPr/>
              <a:r>
                <a:t>0.0526</a:t>
              </a:r>
            </a:p>
          </p:txBody>
        </p:sp>
        <p:sp>
          <p:nvSpPr>
            <p:cNvPr id="138" name="sf1_s"/>
            <p:cNvSpPr txBox="1"/>
            <p:nvPr/>
          </p:nvSpPr>
          <p:spPr>
            <a:xfrm>
              <a:off x="1691639" y="190914"/>
              <a:ext cx="10058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5708A"/>
                  </a:solidFill>
                  <a:latin typeface="Arial"/>
                  <a:ea typeface="Arial"/>
                  <a:cs typeface="Arial"/>
                  <a:sym typeface="Arial"/>
                </a:defRPr>
              </a:lvl1pPr>
            </a:lstStyle>
            <a:p>
              <a:pPr/>
              <a:r>
                <a:t>1 s.f.</a:t>
              </a:r>
            </a:p>
          </p:txBody>
        </p:sp>
        <p:sp>
          <p:nvSpPr>
            <p:cNvPr id="139" name="sf1_arr"/>
            <p:cNvSpPr txBox="1"/>
            <p:nvPr/>
          </p:nvSpPr>
          <p:spPr>
            <a:xfrm>
              <a:off x="2697479" y="161049"/>
              <a:ext cx="411481" cy="244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957D11"/>
                  </a:solidFill>
                  <a:latin typeface="Georgia"/>
                  <a:ea typeface="Georgia"/>
                  <a:cs typeface="Georgia"/>
                  <a:sym typeface="Georgia"/>
                </a:defRPr>
              </a:lvl1pPr>
            </a:lstStyle>
            <a:p>
              <a:pPr/>
              <a:r>
                <a:t>→</a:t>
              </a:r>
            </a:p>
          </p:txBody>
        </p:sp>
        <p:grpSp>
          <p:nvGrpSpPr>
            <p:cNvPr id="142" name="sf1_a"/>
            <p:cNvGrpSpPr/>
            <p:nvPr/>
          </p:nvGrpSpPr>
          <p:grpSpPr>
            <a:xfrm>
              <a:off x="3163823" y="82295"/>
              <a:ext cx="960121" cy="402337"/>
              <a:chOff x="0" y="0"/>
              <a:chExt cx="960119" cy="402336"/>
            </a:xfrm>
          </p:grpSpPr>
          <p:sp>
            <p:nvSpPr>
              <p:cNvPr id="140" name="Rounded Rectangle"/>
              <p:cNvSpPr/>
              <p:nvPr/>
            </p:nvSpPr>
            <p:spPr>
              <a:xfrm>
                <a:off x="0" y="0"/>
                <a:ext cx="960120" cy="402337"/>
              </a:xfrm>
              <a:prstGeom prst="roundRect">
                <a:avLst>
                  <a:gd name="adj" fmla="val 18182"/>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lgn="ctr">
                  <a:defRPr sz="1500"/>
                </a:pPr>
              </a:p>
            </p:txBody>
          </p:sp>
          <p:sp>
            <p:nvSpPr>
              <p:cNvPr id="141" name="0.05"/>
              <p:cNvSpPr txBox="1"/>
              <p:nvPr/>
            </p:nvSpPr>
            <p:spPr>
              <a:xfrm>
                <a:off x="29680" y="93217"/>
                <a:ext cx="900760"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15395C"/>
                    </a:solidFill>
                    <a:latin typeface="Georgia"/>
                    <a:ea typeface="Georgia"/>
                    <a:cs typeface="Georgia"/>
                    <a:sym typeface="Georgia"/>
                  </a:defRPr>
                </a:lvl1pPr>
              </a:lstStyle>
              <a:p>
                <a:pPr/>
                <a:r>
                  <a:t>0.05</a:t>
                </a:r>
              </a:p>
            </p:txBody>
          </p:sp>
        </p:grpSp>
        <p:sp>
          <p:nvSpPr>
            <p:cNvPr id="143" name="sf1_w"/>
            <p:cNvSpPr txBox="1"/>
            <p:nvPr/>
          </p:nvSpPr>
          <p:spPr>
            <a:xfrm>
              <a:off x="4297679" y="191116"/>
              <a:ext cx="608350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55708A"/>
                  </a:solidFill>
                  <a:latin typeface="Arial"/>
                  <a:ea typeface="Arial"/>
                  <a:cs typeface="Arial"/>
                  <a:sym typeface="Arial"/>
                </a:defRPr>
              </a:lvl1pPr>
            </a:lstStyle>
            <a:p>
              <a:pPr/>
              <a:r>
                <a:t>Leading zeros never count. The first real figure is 5.</a:t>
              </a:r>
            </a:p>
          </p:txBody>
        </p:sp>
      </p:grpSp>
      <p:grpSp>
        <p:nvGrpSpPr>
          <p:cNvPr id="153" name="sf2"/>
          <p:cNvGrpSpPr/>
          <p:nvPr/>
        </p:nvGrpSpPr>
        <p:grpSpPr>
          <a:xfrm>
            <a:off x="1170432" y="4407408"/>
            <a:ext cx="10472623" cy="566929"/>
            <a:chOff x="0" y="0"/>
            <a:chExt cx="10472622" cy="566927"/>
          </a:xfrm>
        </p:grpSpPr>
        <p:sp>
          <p:nvSpPr>
            <p:cNvPr id="145" name="sf2_bg"/>
            <p:cNvSpPr/>
            <p:nvPr/>
          </p:nvSpPr>
          <p:spPr>
            <a:xfrm>
              <a:off x="0" y="0"/>
              <a:ext cx="10472623" cy="566928"/>
            </a:xfrm>
            <a:prstGeom prst="roundRect">
              <a:avLst>
                <a:gd name="adj" fmla="val 16129"/>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sp>
          <p:nvSpPr>
            <p:cNvPr id="146" name="sf2_v"/>
            <p:cNvSpPr txBox="1"/>
            <p:nvPr/>
          </p:nvSpPr>
          <p:spPr>
            <a:xfrm>
              <a:off x="219455" y="156463"/>
              <a:ext cx="1417321"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E2A40"/>
                  </a:solidFill>
                  <a:latin typeface="Georgia"/>
                  <a:ea typeface="Georgia"/>
                  <a:cs typeface="Georgia"/>
                  <a:sym typeface="Georgia"/>
                </a:defRPr>
              </a:lvl1pPr>
            </a:lstStyle>
            <a:p>
              <a:pPr/>
              <a:r>
                <a:t>128.4</a:t>
              </a:r>
            </a:p>
          </p:txBody>
        </p:sp>
        <p:sp>
          <p:nvSpPr>
            <p:cNvPr id="147" name="sf2_s"/>
            <p:cNvSpPr txBox="1"/>
            <p:nvPr/>
          </p:nvSpPr>
          <p:spPr>
            <a:xfrm>
              <a:off x="1691639" y="190914"/>
              <a:ext cx="10058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55708A"/>
                  </a:solidFill>
                  <a:latin typeface="Arial"/>
                  <a:ea typeface="Arial"/>
                  <a:cs typeface="Arial"/>
                  <a:sym typeface="Arial"/>
                </a:defRPr>
              </a:lvl1pPr>
            </a:lstStyle>
            <a:p>
              <a:pPr/>
              <a:r>
                <a:t>3 s.f.</a:t>
              </a:r>
            </a:p>
          </p:txBody>
        </p:sp>
        <p:sp>
          <p:nvSpPr>
            <p:cNvPr id="148" name="sf2_arr"/>
            <p:cNvSpPr txBox="1"/>
            <p:nvPr/>
          </p:nvSpPr>
          <p:spPr>
            <a:xfrm>
              <a:off x="2697479" y="161049"/>
              <a:ext cx="411481" cy="244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957D11"/>
                  </a:solidFill>
                  <a:latin typeface="Georgia"/>
                  <a:ea typeface="Georgia"/>
                  <a:cs typeface="Georgia"/>
                  <a:sym typeface="Georgia"/>
                </a:defRPr>
              </a:lvl1pPr>
            </a:lstStyle>
            <a:p>
              <a:pPr/>
              <a:r>
                <a:t>→</a:t>
              </a:r>
            </a:p>
          </p:txBody>
        </p:sp>
        <p:grpSp>
          <p:nvGrpSpPr>
            <p:cNvPr id="151" name="sf2_a"/>
            <p:cNvGrpSpPr/>
            <p:nvPr/>
          </p:nvGrpSpPr>
          <p:grpSpPr>
            <a:xfrm>
              <a:off x="3163823" y="82295"/>
              <a:ext cx="960121" cy="402337"/>
              <a:chOff x="0" y="0"/>
              <a:chExt cx="960119" cy="402336"/>
            </a:xfrm>
          </p:grpSpPr>
          <p:sp>
            <p:nvSpPr>
              <p:cNvPr id="149" name="Rounded Rectangle"/>
              <p:cNvSpPr/>
              <p:nvPr/>
            </p:nvSpPr>
            <p:spPr>
              <a:xfrm>
                <a:off x="0" y="0"/>
                <a:ext cx="960120" cy="402337"/>
              </a:xfrm>
              <a:prstGeom prst="roundRect">
                <a:avLst>
                  <a:gd name="adj" fmla="val 18182"/>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lgn="ctr">
                  <a:defRPr sz="1500"/>
                </a:pPr>
              </a:p>
            </p:txBody>
          </p:sp>
          <p:sp>
            <p:nvSpPr>
              <p:cNvPr id="150" name="128"/>
              <p:cNvSpPr txBox="1"/>
              <p:nvPr/>
            </p:nvSpPr>
            <p:spPr>
              <a:xfrm>
                <a:off x="29680" y="93217"/>
                <a:ext cx="900760"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15395C"/>
                    </a:solidFill>
                    <a:latin typeface="Georgia"/>
                    <a:ea typeface="Georgia"/>
                    <a:cs typeface="Georgia"/>
                    <a:sym typeface="Georgia"/>
                  </a:defRPr>
                </a:lvl1pPr>
              </a:lstStyle>
              <a:p>
                <a:pPr/>
                <a:r>
                  <a:t>128</a:t>
                </a:r>
              </a:p>
            </p:txBody>
          </p:sp>
        </p:grpSp>
        <p:sp>
          <p:nvSpPr>
            <p:cNvPr id="152" name="sf2_w"/>
            <p:cNvSpPr txBox="1"/>
            <p:nvPr/>
          </p:nvSpPr>
          <p:spPr>
            <a:xfrm>
              <a:off x="4297679" y="191116"/>
              <a:ext cx="608350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55708A"/>
                  </a:solidFill>
                  <a:latin typeface="Arial"/>
                  <a:ea typeface="Arial"/>
                  <a:cs typeface="Arial"/>
                  <a:sym typeface="Arial"/>
                </a:defRPr>
              </a:lvl1pPr>
            </a:lstStyle>
            <a:p>
              <a:pPr/>
              <a:r>
                <a:t>Keep 1, 2 and 8. The next digit, 4, rounds down: nothing changes.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6"/>
                                        </p:tgtEl>
                                        <p:attrNameLst>
                                          <p:attrName>style.visibility</p:attrName>
                                        </p:attrNameLst>
                                      </p:cBhvr>
                                      <p:to>
                                        <p:strVal val="visible"/>
                                      </p:to>
                                    </p:set>
                                    <p:animEffect filter="fade" transition="in">
                                      <p:cBhvr>
                                        <p:cTn id="11" dur="400"/>
                                        <p:tgtEl>
                                          <p:spTgt spid="12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5"/>
                                        </p:tgtEl>
                                        <p:attrNameLst>
                                          <p:attrName>style.visibility</p:attrName>
                                        </p:attrNameLst>
                                      </p:cBhvr>
                                      <p:to>
                                        <p:strVal val="visible"/>
                                      </p:to>
                                    </p:set>
                                    <p:animEffect filter="fade" transition="in">
                                      <p:cBhvr>
                                        <p:cTn id="16" dur="400"/>
                                        <p:tgtEl>
                                          <p:spTgt spid="13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44"/>
                                        </p:tgtEl>
                                        <p:attrNameLst>
                                          <p:attrName>style.visibility</p:attrName>
                                        </p:attrNameLst>
                                      </p:cBhvr>
                                      <p:to>
                                        <p:strVal val="visible"/>
                                      </p:to>
                                    </p:set>
                                    <p:animEffect filter="fade" transition="in">
                                      <p:cBhvr>
                                        <p:cTn id="21" dur="400"/>
                                        <p:tgtEl>
                                          <p:spTgt spid="14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53"/>
                                        </p:tgtEl>
                                        <p:attrNameLst>
                                          <p:attrName>style.visibility</p:attrName>
                                        </p:attrNameLst>
                                      </p:cBhvr>
                                      <p:to>
                                        <p:strVal val="visible"/>
                                      </p:to>
                                    </p:set>
                                    <p:animEffect filter="fade" transition="in">
                                      <p:cBhvr>
                                        <p:cTn id="26" dur="4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19"/>
                </p:tgtEl>
              </p:cMediaNode>
            </p:video>
            <p:seq concurrent="1" prevAc="none" nextAc="seek">
              <p:cTn id="28" evtFilter="cancelBubble" nodeType="interactiveSeq" restart="whenNotActive" fill="hold">
                <p:stCondLst>
                  <p:cond delay="0" evt="onClick">
                    <p:tgtEl>
                      <p:spTgt spid="119"/>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26" grpId="2"/>
      <p:bldP build="whole" bldLvl="1" animBg="1" rev="0" advAuto="0" spid="135" grpId="3"/>
      <p:bldP build="whole" bldLvl="1" animBg="1" rev="0" advAuto="0" spid="153" grpId="5"/>
      <p:bldP build="whole" bldLvl="1" animBg="1" rev="0" advAuto="0" spid="144"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5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60" name="phase_pill"/>
          <p:cNvGrpSpPr/>
          <p:nvPr/>
        </p:nvGrpSpPr>
        <p:grpSpPr>
          <a:xfrm>
            <a:off x="1170432" y="310895"/>
            <a:ext cx="1623975" cy="329185"/>
            <a:chOff x="0" y="0"/>
            <a:chExt cx="1623974" cy="329184"/>
          </a:xfrm>
        </p:grpSpPr>
        <p:sp>
          <p:nvSpPr>
            <p:cNvPr id="158" name="Rounded Rectangle"/>
            <p:cNvSpPr/>
            <p:nvPr/>
          </p:nvSpPr>
          <p:spPr>
            <a:xfrm>
              <a:off x="0" y="0"/>
              <a:ext cx="1623975"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59"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61"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Scientific notation, and the Kelvin scale</a:t>
            </a:r>
          </a:p>
        </p:txBody>
      </p:sp>
      <p:grpSp>
        <p:nvGrpSpPr>
          <p:cNvPr id="167" name="sng"/>
          <p:cNvGrpSpPr/>
          <p:nvPr/>
        </p:nvGrpSpPr>
        <p:grpSpPr>
          <a:xfrm>
            <a:off x="1170432" y="1920239"/>
            <a:ext cx="5099152" cy="3017522"/>
            <a:chOff x="0" y="0"/>
            <a:chExt cx="5099151" cy="3017520"/>
          </a:xfrm>
        </p:grpSpPr>
        <p:sp>
          <p:nvSpPr>
            <p:cNvPr id="162" name="sn_bg"/>
            <p:cNvSpPr/>
            <p:nvPr/>
          </p:nvSpPr>
          <p:spPr>
            <a:xfrm>
              <a:off x="0" y="0"/>
              <a:ext cx="5099152" cy="3017521"/>
            </a:xfrm>
            <a:prstGeom prst="roundRect">
              <a:avLst>
                <a:gd name="adj" fmla="val 303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pic>
          <p:nvPicPr>
            <p:cNvPr id="163" name="sn_icon" descr="sn_icon"/>
            <p:cNvPicPr>
              <a:picLocks noChangeAspect="1"/>
            </p:cNvPicPr>
            <p:nvPr/>
          </p:nvPicPr>
          <p:blipFill>
            <a:blip r:embed="rId6">
              <a:extLst/>
            </a:blip>
            <a:stretch>
              <a:fillRect/>
            </a:stretch>
          </p:blipFill>
          <p:spPr>
            <a:xfrm>
              <a:off x="4459071" y="182880"/>
              <a:ext cx="457201" cy="457201"/>
            </a:xfrm>
            <a:prstGeom prst="rect">
              <a:avLst/>
            </a:prstGeom>
            <a:ln w="12700" cap="flat">
              <a:noFill/>
              <a:miter lim="400000"/>
            </a:ln>
            <a:effectLst/>
          </p:spPr>
        </p:pic>
        <p:sp>
          <p:nvSpPr>
            <p:cNvPr id="164" name="sn_h"/>
            <p:cNvSpPr txBox="1"/>
            <p:nvPr/>
          </p:nvSpPr>
          <p:spPr>
            <a:xfrm>
              <a:off x="237743" y="209296"/>
              <a:ext cx="427619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400">
                  <a:solidFill>
                    <a:srgbClr val="15395C"/>
                  </a:solidFill>
                  <a:latin typeface="Georgia"/>
                  <a:ea typeface="Georgia"/>
                  <a:cs typeface="Georgia"/>
                  <a:sym typeface="Georgia"/>
                </a:defRPr>
              </a:lvl1pPr>
            </a:lstStyle>
            <a:p>
              <a:pPr/>
              <a:r>
                <a:t>SCIENTIFIC NOTATION</a:t>
              </a:r>
            </a:p>
          </p:txBody>
        </p:sp>
        <p:sp>
          <p:nvSpPr>
            <p:cNvPr id="165" name="sn_rule"/>
            <p:cNvSpPr txBox="1"/>
            <p:nvPr/>
          </p:nvSpPr>
          <p:spPr>
            <a:xfrm>
              <a:off x="237744" y="608536"/>
              <a:ext cx="46236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55708A"/>
                  </a:solidFill>
                  <a:latin typeface="Arial"/>
                  <a:ea typeface="Arial"/>
                  <a:cs typeface="Arial"/>
                  <a:sym typeface="Arial"/>
                </a:defRPr>
              </a:lvl1pPr>
            </a:lstStyle>
            <a:p>
              <a:pPr/>
              <a:r>
                <a:t>A × 10ⁿ, where A is between 1 and 10.</a:t>
              </a:r>
            </a:p>
          </p:txBody>
        </p:sp>
        <p:sp>
          <p:nvSpPr>
            <p:cNvPr id="166" name="sn_t"/>
            <p:cNvSpPr txBox="1"/>
            <p:nvPr/>
          </p:nvSpPr>
          <p:spPr>
            <a:xfrm>
              <a:off x="237744" y="932688"/>
              <a:ext cx="4623664" cy="1058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700"/>
                </a:lnSpc>
                <a:spcBef>
                  <a:spcPts val="800"/>
                </a:spcBef>
                <a:buSzPct val="100000"/>
                <a:buChar char="•"/>
                <a:defRPr b="1" sz="1300">
                  <a:solidFill>
                    <a:srgbClr val="0E2A40"/>
                  </a:solidFill>
                  <a:latin typeface="Arial"/>
                  <a:ea typeface="Arial"/>
                  <a:cs typeface="Arial"/>
                  <a:sym typeface="Arial"/>
                </a:defRPr>
              </a:pPr>
              <a:r>
                <a:t>Large number: 8,200,000 = 8.2 × 10⁶</a:t>
              </a:r>
            </a:p>
            <a:p>
              <a:pPr marL="342900" indent="-342900">
                <a:lnSpc>
                  <a:spcPts val="1700"/>
                </a:lnSpc>
                <a:spcBef>
                  <a:spcPts val="800"/>
                </a:spcBef>
                <a:buSzPct val="100000"/>
                <a:buChar char="•"/>
                <a:defRPr b="1" sz="1300">
                  <a:solidFill>
                    <a:srgbClr val="0E2A40"/>
                  </a:solidFill>
                  <a:latin typeface="Arial"/>
                  <a:ea typeface="Arial"/>
                  <a:cs typeface="Arial"/>
                  <a:sym typeface="Arial"/>
                </a:defRPr>
              </a:pPr>
              <a:r>
                <a:t>Small number: 0.000047 = 4.7 × 10⁻⁵</a:t>
              </a:r>
            </a:p>
            <a:p>
              <a:pPr marL="342900" indent="-342900">
                <a:lnSpc>
                  <a:spcPts val="1700"/>
                </a:lnSpc>
                <a:buSzPct val="100000"/>
                <a:buChar char="•"/>
                <a:defRPr sz="1300">
                  <a:solidFill>
                    <a:srgbClr val="0E2A40"/>
                  </a:solidFill>
                  <a:latin typeface="Arial"/>
                  <a:ea typeface="Arial"/>
                  <a:cs typeface="Arial"/>
                  <a:sym typeface="Arial"/>
                </a:defRPr>
              </a:pPr>
              <a:r>
                <a:t>A negative power of 10 means the number is small, not negative.</a:t>
              </a:r>
            </a:p>
          </p:txBody>
        </p:sp>
      </p:grpSp>
      <p:grpSp>
        <p:nvGrpSpPr>
          <p:cNvPr id="173" name="kvg"/>
          <p:cNvGrpSpPr/>
          <p:nvPr/>
        </p:nvGrpSpPr>
        <p:grpSpPr>
          <a:xfrm>
            <a:off x="6543903" y="1920239"/>
            <a:ext cx="5099153" cy="3017522"/>
            <a:chOff x="0" y="0"/>
            <a:chExt cx="5099151" cy="3017520"/>
          </a:xfrm>
        </p:grpSpPr>
        <p:sp>
          <p:nvSpPr>
            <p:cNvPr id="168" name="kv_bg"/>
            <p:cNvSpPr/>
            <p:nvPr/>
          </p:nvSpPr>
          <p:spPr>
            <a:xfrm>
              <a:off x="0" y="0"/>
              <a:ext cx="5099152" cy="3017521"/>
            </a:xfrm>
            <a:prstGeom prst="roundRect">
              <a:avLst>
                <a:gd name="adj" fmla="val 3030"/>
              </a:avLst>
            </a:prstGeom>
            <a:solidFill>
              <a:srgbClr val="FFFFFF"/>
            </a:solidFill>
            <a:ln w="16510" cap="flat">
              <a:solidFill>
                <a:srgbClr val="C7D9EA"/>
              </a:solidFill>
              <a:prstDash val="solid"/>
              <a:round/>
            </a:ln>
            <a:effectLst/>
          </p:spPr>
          <p:txBody>
            <a:bodyPr wrap="square" lIns="45719" tIns="45719" rIns="45719" bIns="45719" numCol="1" anchor="t">
              <a:noAutofit/>
            </a:bodyPr>
            <a:lstStyle/>
            <a:p>
              <a:pPr/>
            </a:p>
          </p:txBody>
        </p:sp>
        <p:pic>
          <p:nvPicPr>
            <p:cNvPr id="169" name="kv_icon" descr="kv_icon"/>
            <p:cNvPicPr>
              <a:picLocks noChangeAspect="1"/>
            </p:cNvPicPr>
            <p:nvPr/>
          </p:nvPicPr>
          <p:blipFill>
            <a:blip r:embed="rId7">
              <a:extLst/>
            </a:blip>
            <a:stretch>
              <a:fillRect/>
            </a:stretch>
          </p:blipFill>
          <p:spPr>
            <a:xfrm>
              <a:off x="4459070" y="182880"/>
              <a:ext cx="457201" cy="457201"/>
            </a:xfrm>
            <a:prstGeom prst="rect">
              <a:avLst/>
            </a:prstGeom>
            <a:ln w="12700" cap="flat">
              <a:noFill/>
              <a:miter lim="400000"/>
            </a:ln>
            <a:effectLst/>
          </p:spPr>
        </p:pic>
        <p:sp>
          <p:nvSpPr>
            <p:cNvPr id="170" name="kv_h"/>
            <p:cNvSpPr txBox="1"/>
            <p:nvPr/>
          </p:nvSpPr>
          <p:spPr>
            <a:xfrm>
              <a:off x="237743" y="209296"/>
              <a:ext cx="4276193"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400">
                  <a:solidFill>
                    <a:srgbClr val="15395C"/>
                  </a:solidFill>
                  <a:latin typeface="Georgia"/>
                  <a:ea typeface="Georgia"/>
                  <a:cs typeface="Georgia"/>
                  <a:sym typeface="Georgia"/>
                </a:defRPr>
              </a:lvl1pPr>
            </a:lstStyle>
            <a:p>
              <a:pPr/>
              <a:r>
                <a:t>CELSIUS AND KELVIN</a:t>
              </a:r>
            </a:p>
          </p:txBody>
        </p:sp>
        <p:sp>
          <p:nvSpPr>
            <p:cNvPr id="171" name="kv_rule"/>
            <p:cNvSpPr txBox="1"/>
            <p:nvPr/>
          </p:nvSpPr>
          <p:spPr>
            <a:xfrm>
              <a:off x="237744" y="608536"/>
              <a:ext cx="462366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55708A"/>
                  </a:solidFill>
                  <a:latin typeface="Arial"/>
                  <a:ea typeface="Arial"/>
                  <a:cs typeface="Arial"/>
                  <a:sym typeface="Arial"/>
                </a:defRPr>
              </a:lvl1pPr>
            </a:lstStyle>
            <a:p>
              <a:pPr/>
              <a:r>
                <a:t>K = °C + 273</a:t>
              </a:r>
            </a:p>
          </p:txBody>
        </p:sp>
        <p:sp>
          <p:nvSpPr>
            <p:cNvPr id="172" name="kv_t"/>
            <p:cNvSpPr txBox="1"/>
            <p:nvPr/>
          </p:nvSpPr>
          <p:spPr>
            <a:xfrm>
              <a:off x="237744" y="932688"/>
              <a:ext cx="4623664" cy="1238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600"/>
                </a:lnSpc>
                <a:spcBef>
                  <a:spcPts val="600"/>
                </a:spcBef>
                <a:buSzPct val="100000"/>
                <a:buChar char="•"/>
                <a:defRPr b="1" sz="1300">
                  <a:solidFill>
                    <a:srgbClr val="0E2A40"/>
                  </a:solidFill>
                  <a:latin typeface="Arial"/>
                  <a:ea typeface="Arial"/>
                  <a:cs typeface="Arial"/>
                  <a:sym typeface="Arial"/>
                </a:defRPr>
              </a:pPr>
              <a:r>
                <a:t>Water freezes: 0°C = 273 K</a:t>
              </a:r>
            </a:p>
            <a:p>
              <a:pPr marL="342900" indent="-342900">
                <a:lnSpc>
                  <a:spcPts val="1600"/>
                </a:lnSpc>
                <a:spcBef>
                  <a:spcPts val="600"/>
                </a:spcBef>
                <a:buSzPct val="100000"/>
                <a:buChar char="•"/>
                <a:defRPr b="1" sz="1300">
                  <a:solidFill>
                    <a:srgbClr val="0E2A40"/>
                  </a:solidFill>
                  <a:latin typeface="Arial"/>
                  <a:ea typeface="Arial"/>
                  <a:cs typeface="Arial"/>
                  <a:sym typeface="Arial"/>
                </a:defRPr>
              </a:pPr>
              <a:r>
                <a:t>A warm room: 25°C = 298 K</a:t>
              </a:r>
            </a:p>
            <a:p>
              <a:pPr marL="342900" indent="-342900">
                <a:lnSpc>
                  <a:spcPts val="1600"/>
                </a:lnSpc>
                <a:spcBef>
                  <a:spcPts val="600"/>
                </a:spcBef>
                <a:buSzPct val="100000"/>
                <a:buChar char="•"/>
                <a:defRPr b="1" sz="1300">
                  <a:solidFill>
                    <a:srgbClr val="0E2A40"/>
                  </a:solidFill>
                  <a:latin typeface="Arial"/>
                  <a:ea typeface="Arial"/>
                  <a:cs typeface="Arial"/>
                  <a:sym typeface="Arial"/>
                </a:defRPr>
              </a:pPr>
              <a:r>
                <a:t>A cold night: −10°C = 263 K</a:t>
              </a:r>
            </a:p>
            <a:p>
              <a:pPr marL="342900" indent="-342900">
                <a:lnSpc>
                  <a:spcPts val="1600"/>
                </a:lnSpc>
                <a:buSzPct val="100000"/>
                <a:buChar char="•"/>
                <a:defRPr sz="1300">
                  <a:solidFill>
                    <a:srgbClr val="0E2A40"/>
                  </a:solidFill>
                  <a:latin typeface="Arial"/>
                  <a:ea typeface="Arial"/>
                  <a:cs typeface="Arial"/>
                  <a:sym typeface="Arial"/>
                </a:defRPr>
              </a:pPr>
              <a:r>
                <a:t>0 K is called absolute zero: the coldest anything can ever be, −273°C.</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7"/>
                                        </p:tgtEl>
                                        <p:attrNameLst>
                                          <p:attrName>style.visibility</p:attrName>
                                        </p:attrNameLst>
                                      </p:cBhvr>
                                      <p:to>
                                        <p:strVal val="visible"/>
                                      </p:to>
                                    </p:set>
                                    <p:animEffect filter="fade" transition="in">
                                      <p:cBhvr>
                                        <p:cTn id="11" dur="400"/>
                                        <p:tgtEl>
                                          <p:spTgt spid="16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73"/>
                                        </p:tgtEl>
                                        <p:attrNameLst>
                                          <p:attrName>style.visibility</p:attrName>
                                        </p:attrNameLst>
                                      </p:cBhvr>
                                      <p:to>
                                        <p:strVal val="visible"/>
                                      </p:to>
                                    </p:set>
                                    <p:animEffect filter="fade" transition="in">
                                      <p:cBhvr>
                                        <p:cTn id="16" dur="4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157"/>
                </p:tgtEl>
              </p:cMediaNode>
            </p:video>
            <p:seq concurrent="1" prevAc="none" nextAc="seek">
              <p:cTn id="18" evtFilter="cancelBubble" nodeType="interactiveSeq" restart="whenNotActive" fill="hold">
                <p:stCondLst>
                  <p:cond delay="0" evt="onClick">
                    <p:tgtEl>
                      <p:spTgt spid="157"/>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157"/>
                                        </p:tgtEl>
                                      </p:cBhvr>
                                    </p:cmd>
                                  </p:childTnLst>
                                </p:cTn>
                              </p:par>
                            </p:childTnLst>
                          </p:cTn>
                        </p:par>
                      </p:childTnLst>
                    </p:cTn>
                  </p:par>
                </p:childTnLst>
              </p:cTn>
              <p:nextCondLst>
                <p:cond delay="0" evt="onClick">
                  <p:tgtEl>
                    <p:spTgt spid="157"/>
                  </p:tgtEl>
                </p:cond>
              </p:nextCondLst>
            </p:seq>
          </p:childTnLst>
        </p:cTn>
      </p:par>
    </p:tnLst>
    <p:bldLst>
      <p:bldP build="whole" bldLvl="1" animBg="1" rev="0" advAuto="0" spid="173" grpId="3"/>
      <p:bldP build="whole" bldLvl="1" animBg="1" rev="0" advAuto="0" spid="167"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7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0" name="phase_pill"/>
          <p:cNvGrpSpPr/>
          <p:nvPr/>
        </p:nvGrpSpPr>
        <p:grpSpPr>
          <a:xfrm>
            <a:off x="1170432" y="310895"/>
            <a:ext cx="1713586" cy="329185"/>
            <a:chOff x="0" y="0"/>
            <a:chExt cx="1713585" cy="329184"/>
          </a:xfrm>
        </p:grpSpPr>
        <p:sp>
          <p:nvSpPr>
            <p:cNvPr id="178" name="Rounded Rectangle"/>
            <p:cNvSpPr/>
            <p:nvPr/>
          </p:nvSpPr>
          <p:spPr>
            <a:xfrm>
              <a:off x="0" y="0"/>
              <a:ext cx="1713586"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179"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1"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What should be the correct answer?</a:t>
            </a:r>
          </a:p>
        </p:txBody>
      </p:sp>
      <p:sp>
        <p:nvSpPr>
          <p:cNvPr id="182"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5708A"/>
                </a:solidFill>
                <a:latin typeface="Arial"/>
                <a:ea typeface="Arial"/>
                <a:cs typeface="Arial"/>
                <a:sym typeface="Arial"/>
              </a:defRPr>
            </a:lvl1pPr>
          </a:lstStyle>
          <a:p>
            <a:pPr/>
            <a:r>
              <a:t>Spot the mistake.</a:t>
            </a:r>
          </a:p>
        </p:txBody>
      </p:sp>
      <p:sp>
        <p:nvSpPr>
          <p:cNvPr id="183" name="wd0_bg"/>
          <p:cNvSpPr/>
          <p:nvPr/>
        </p:nvSpPr>
        <p:spPr>
          <a:xfrm>
            <a:off x="1170432" y="2322576"/>
            <a:ext cx="10472623" cy="841249"/>
          </a:xfrm>
          <a:prstGeom prst="roundRect">
            <a:avLst>
              <a:gd name="adj" fmla="val 10870"/>
            </a:avLst>
          </a:prstGeom>
          <a:solidFill>
            <a:srgbClr val="FFFFFF"/>
          </a:solidFill>
          <a:ln w="16510">
            <a:solidFill>
              <a:srgbClr val="C7D9EA"/>
            </a:solidFill>
          </a:ln>
        </p:spPr>
        <p:txBody>
          <a:bodyPr lIns="45719" rIns="45719"/>
          <a:lstStyle/>
          <a:p>
            <a:pPr/>
          </a:p>
        </p:txBody>
      </p:sp>
      <p:sp>
        <p:nvSpPr>
          <p:cNvPr id="184" name="wd0_q"/>
          <p:cNvSpPr txBox="1"/>
          <p:nvPr/>
        </p:nvSpPr>
        <p:spPr>
          <a:xfrm>
            <a:off x="1426463" y="2626495"/>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"3.847 rounded to 2 significant figures is 3.9."</a:t>
            </a:r>
          </a:p>
        </p:txBody>
      </p:sp>
      <p:grpSp>
        <p:nvGrpSpPr>
          <p:cNvPr id="187" name="wd0_a"/>
          <p:cNvGrpSpPr/>
          <p:nvPr/>
        </p:nvGrpSpPr>
        <p:grpSpPr>
          <a:xfrm>
            <a:off x="6748271" y="2404872"/>
            <a:ext cx="4803344" cy="676656"/>
            <a:chOff x="0" y="0"/>
            <a:chExt cx="4803342" cy="676655"/>
          </a:xfrm>
        </p:grpSpPr>
        <p:sp>
          <p:nvSpPr>
            <p:cNvPr id="185" name="Rounded Rectangle"/>
            <p:cNvSpPr/>
            <p:nvPr/>
          </p:nvSpPr>
          <p:spPr>
            <a:xfrm>
              <a:off x="0" y="0"/>
              <a:ext cx="4803343" cy="676656"/>
            </a:xfrm>
            <a:prstGeom prst="roundRect">
              <a:avLst>
                <a:gd name="adj" fmla="val 13514"/>
              </a:avLst>
            </a:prstGeom>
            <a:solidFill>
              <a:srgbClr val="E3EDF6"/>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186" name="The next digit is 4, which rounds down. The answer is 3.8."/>
            <p:cNvSpPr txBox="1"/>
            <p:nvPr/>
          </p:nvSpPr>
          <p:spPr>
            <a:xfrm>
              <a:off x="36307" y="251158"/>
              <a:ext cx="473072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 next digit is 4, which rounds down. The answer is 3.8.</a:t>
              </a:r>
            </a:p>
          </p:txBody>
        </p:sp>
      </p:grpSp>
      <p:sp>
        <p:nvSpPr>
          <p:cNvPr id="188" name="wd1_bg"/>
          <p:cNvSpPr/>
          <p:nvPr/>
        </p:nvSpPr>
        <p:spPr>
          <a:xfrm>
            <a:off x="1170432" y="3346703"/>
            <a:ext cx="10472623" cy="841249"/>
          </a:xfrm>
          <a:prstGeom prst="roundRect">
            <a:avLst>
              <a:gd name="adj" fmla="val 10870"/>
            </a:avLst>
          </a:prstGeom>
          <a:solidFill>
            <a:srgbClr val="FFFFFF"/>
          </a:solidFill>
          <a:ln w="16510">
            <a:solidFill>
              <a:srgbClr val="C7D9EA"/>
            </a:solidFill>
          </a:ln>
        </p:spPr>
        <p:txBody>
          <a:bodyPr lIns="45719" rIns="45719"/>
          <a:lstStyle/>
          <a:p>
            <a:pPr/>
          </a:p>
        </p:txBody>
      </p:sp>
      <p:sp>
        <p:nvSpPr>
          <p:cNvPr id="189" name="wd1_q"/>
          <p:cNvSpPr txBox="1"/>
          <p:nvPr/>
        </p:nvSpPr>
        <p:spPr>
          <a:xfrm>
            <a:off x="1426463" y="3648902"/>
            <a:ext cx="5120642" cy="2368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"670,000 in standard form is 6.7 × 10⁴."</a:t>
            </a:r>
          </a:p>
        </p:txBody>
      </p:sp>
      <p:grpSp>
        <p:nvGrpSpPr>
          <p:cNvPr id="192" name="wd1_a"/>
          <p:cNvGrpSpPr/>
          <p:nvPr/>
        </p:nvGrpSpPr>
        <p:grpSpPr>
          <a:xfrm>
            <a:off x="6748271" y="3429000"/>
            <a:ext cx="4803344" cy="676656"/>
            <a:chOff x="0" y="0"/>
            <a:chExt cx="4803342" cy="676655"/>
          </a:xfrm>
        </p:grpSpPr>
        <p:sp>
          <p:nvSpPr>
            <p:cNvPr id="190" name="Rounded Rectangle"/>
            <p:cNvSpPr/>
            <p:nvPr/>
          </p:nvSpPr>
          <p:spPr>
            <a:xfrm>
              <a:off x="0" y="0"/>
              <a:ext cx="4803343" cy="676656"/>
            </a:xfrm>
            <a:prstGeom prst="roundRect">
              <a:avLst>
                <a:gd name="adj" fmla="val 13514"/>
              </a:avLst>
            </a:prstGeom>
            <a:solidFill>
              <a:srgbClr val="E3EDF6"/>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191" name="Count the places: 670,000 = 6.7 × 10⁵, not 10⁴."/>
            <p:cNvSpPr txBox="1"/>
            <p:nvPr/>
          </p:nvSpPr>
          <p:spPr>
            <a:xfrm>
              <a:off x="36307" y="248665"/>
              <a:ext cx="4730729" cy="179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Count the places: 670,000 = 6.7 × 10⁵, not 10⁴.</a:t>
              </a:r>
            </a:p>
          </p:txBody>
        </p:sp>
      </p:grpSp>
      <p:sp>
        <p:nvSpPr>
          <p:cNvPr id="193" name="wd2_bg"/>
          <p:cNvSpPr/>
          <p:nvPr/>
        </p:nvSpPr>
        <p:spPr>
          <a:xfrm>
            <a:off x="1170432" y="4370832"/>
            <a:ext cx="10472623" cy="841249"/>
          </a:xfrm>
          <a:prstGeom prst="roundRect">
            <a:avLst>
              <a:gd name="adj" fmla="val 10870"/>
            </a:avLst>
          </a:prstGeom>
          <a:solidFill>
            <a:srgbClr val="FFFFFF"/>
          </a:solidFill>
          <a:ln w="16510">
            <a:solidFill>
              <a:srgbClr val="C7D9EA"/>
            </a:solidFill>
          </a:ln>
        </p:spPr>
        <p:txBody>
          <a:bodyPr lIns="45719" rIns="45719"/>
          <a:lstStyle/>
          <a:p>
            <a:pPr/>
          </a:p>
        </p:txBody>
      </p:sp>
      <p:sp>
        <p:nvSpPr>
          <p:cNvPr id="194" name="wd2_q"/>
          <p:cNvSpPr txBox="1"/>
          <p:nvPr/>
        </p:nvSpPr>
        <p:spPr>
          <a:xfrm>
            <a:off x="1426463" y="4674751"/>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"0°C is the same temperature as 0 K."</a:t>
            </a:r>
          </a:p>
        </p:txBody>
      </p:sp>
      <p:grpSp>
        <p:nvGrpSpPr>
          <p:cNvPr id="197" name="wd2_a"/>
          <p:cNvGrpSpPr/>
          <p:nvPr/>
        </p:nvGrpSpPr>
        <p:grpSpPr>
          <a:xfrm>
            <a:off x="6748271" y="4453128"/>
            <a:ext cx="4803344" cy="676657"/>
            <a:chOff x="0" y="0"/>
            <a:chExt cx="4803342" cy="676655"/>
          </a:xfrm>
        </p:grpSpPr>
        <p:sp>
          <p:nvSpPr>
            <p:cNvPr id="195" name="Rounded Rectangle"/>
            <p:cNvSpPr/>
            <p:nvPr/>
          </p:nvSpPr>
          <p:spPr>
            <a:xfrm>
              <a:off x="0" y="0"/>
              <a:ext cx="4803343" cy="676656"/>
            </a:xfrm>
            <a:prstGeom prst="roundRect">
              <a:avLst>
                <a:gd name="adj" fmla="val 13514"/>
              </a:avLst>
            </a:prstGeom>
            <a:solidFill>
              <a:srgbClr val="E3EDF6"/>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196" name="0°C is 273 K. 0 K is −273°C, absolute zero."/>
            <p:cNvSpPr txBox="1"/>
            <p:nvPr/>
          </p:nvSpPr>
          <p:spPr>
            <a:xfrm>
              <a:off x="36307" y="251158"/>
              <a:ext cx="473072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0°C is 273 K. 0 K is −273°C, absolute zero.</a:t>
              </a:r>
            </a:p>
          </p:txBody>
        </p:sp>
      </p:grpSp>
      <p:sp>
        <p:nvSpPr>
          <p:cNvPr id="198" name="wd3_bg"/>
          <p:cNvSpPr/>
          <p:nvPr/>
        </p:nvSpPr>
        <p:spPr>
          <a:xfrm>
            <a:off x="1170432" y="5394959"/>
            <a:ext cx="10472623" cy="841249"/>
          </a:xfrm>
          <a:prstGeom prst="roundRect">
            <a:avLst>
              <a:gd name="adj" fmla="val 10870"/>
            </a:avLst>
          </a:prstGeom>
          <a:solidFill>
            <a:srgbClr val="FFFFFF"/>
          </a:solidFill>
          <a:ln w="16510">
            <a:solidFill>
              <a:srgbClr val="C7D9EA"/>
            </a:solidFill>
          </a:ln>
        </p:spPr>
        <p:txBody>
          <a:bodyPr lIns="45719" rIns="45719"/>
          <a:lstStyle/>
          <a:p>
            <a:pPr/>
          </a:p>
        </p:txBody>
      </p:sp>
      <p:sp>
        <p:nvSpPr>
          <p:cNvPr id="199" name="wd3_q"/>
          <p:cNvSpPr txBox="1"/>
          <p:nvPr/>
        </p:nvSpPr>
        <p:spPr>
          <a:xfrm>
            <a:off x="1426463" y="5698879"/>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"0.0038 in standard form is 3.8 × 10³."</a:t>
            </a:r>
          </a:p>
        </p:txBody>
      </p:sp>
      <p:grpSp>
        <p:nvGrpSpPr>
          <p:cNvPr id="202" name="wd3_a"/>
          <p:cNvGrpSpPr/>
          <p:nvPr/>
        </p:nvGrpSpPr>
        <p:grpSpPr>
          <a:xfrm>
            <a:off x="6748271" y="5477255"/>
            <a:ext cx="4803344" cy="676657"/>
            <a:chOff x="0" y="0"/>
            <a:chExt cx="4803342" cy="676655"/>
          </a:xfrm>
        </p:grpSpPr>
        <p:sp>
          <p:nvSpPr>
            <p:cNvPr id="200" name="Rounded Rectangle"/>
            <p:cNvSpPr/>
            <p:nvPr/>
          </p:nvSpPr>
          <p:spPr>
            <a:xfrm>
              <a:off x="0" y="0"/>
              <a:ext cx="4803343" cy="676656"/>
            </a:xfrm>
            <a:prstGeom prst="roundRect">
              <a:avLst>
                <a:gd name="adj" fmla="val 13514"/>
              </a:avLst>
            </a:prstGeom>
            <a:solidFill>
              <a:srgbClr val="E3EDF6"/>
            </a:solidFill>
            <a:ln w="19050" cap="flat">
              <a:solidFill>
                <a:srgbClr val="CD312F"/>
              </a:solidFill>
              <a:prstDash val="solid"/>
              <a:round/>
            </a:ln>
            <a:effectLst/>
          </p:spPr>
          <p:txBody>
            <a:bodyPr wrap="square" lIns="45719" tIns="45719" rIns="45719" bIns="45719" numCol="1" anchor="ctr">
              <a:noAutofit/>
            </a:bodyPr>
            <a:lstStyle/>
            <a:p>
              <a:pPr algn="ctr">
                <a:defRPr sz="1200"/>
              </a:pPr>
            </a:p>
          </p:txBody>
        </p:sp>
        <p:sp>
          <p:nvSpPr>
            <p:cNvPr id="201" name="The number is small, so the power is negative: 3.8 × 10⁻³."/>
            <p:cNvSpPr txBox="1"/>
            <p:nvPr/>
          </p:nvSpPr>
          <p:spPr>
            <a:xfrm>
              <a:off x="36307" y="248665"/>
              <a:ext cx="4730729" cy="179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 number is small, so the power is negative: 3.8 × 10⁻³.</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87"/>
                                        </p:tgtEl>
                                        <p:attrNameLst>
                                          <p:attrName>style.visibility</p:attrName>
                                        </p:attrNameLst>
                                      </p:cBhvr>
                                      <p:to>
                                        <p:strVal val="visible"/>
                                      </p:to>
                                    </p:set>
                                    <p:anim calcmode="lin" valueType="num">
                                      <p:cBhvr>
                                        <p:cTn id="11" dur="400" fill="hold"/>
                                        <p:tgtEl>
                                          <p:spTgt spid="187"/>
                                        </p:tgtEl>
                                        <p:attrNameLst>
                                          <p:attrName>ppt_w</p:attrName>
                                        </p:attrNameLst>
                                      </p:cBhvr>
                                      <p:tavLst>
                                        <p:tav tm="0">
                                          <p:val>
                                            <p:fltVal val="0"/>
                                          </p:val>
                                        </p:tav>
                                        <p:tav tm="100000">
                                          <p:val>
                                            <p:strVal val="#ppt_w"/>
                                          </p:val>
                                        </p:tav>
                                      </p:tavLst>
                                    </p:anim>
                                    <p:anim calcmode="lin" valueType="num">
                                      <p:cBhvr>
                                        <p:cTn id="12" dur="400" fill="hold"/>
                                        <p:tgtEl>
                                          <p:spTgt spid="187"/>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2"/>
                                        </p:tgtEl>
                                        <p:attrNameLst>
                                          <p:attrName>style.visibility</p:attrName>
                                        </p:attrNameLst>
                                      </p:cBhvr>
                                      <p:to>
                                        <p:strVal val="visible"/>
                                      </p:to>
                                    </p:set>
                                    <p:anim calcmode="lin" valueType="num">
                                      <p:cBhvr>
                                        <p:cTn id="17" dur="400" fill="hold"/>
                                        <p:tgtEl>
                                          <p:spTgt spid="192"/>
                                        </p:tgtEl>
                                        <p:attrNameLst>
                                          <p:attrName>ppt_w</p:attrName>
                                        </p:attrNameLst>
                                      </p:cBhvr>
                                      <p:tavLst>
                                        <p:tav tm="0">
                                          <p:val>
                                            <p:fltVal val="0"/>
                                          </p:val>
                                        </p:tav>
                                        <p:tav tm="100000">
                                          <p:val>
                                            <p:strVal val="#ppt_w"/>
                                          </p:val>
                                        </p:tav>
                                      </p:tavLst>
                                    </p:anim>
                                    <p:anim calcmode="lin" valueType="num">
                                      <p:cBhvr>
                                        <p:cTn id="18" dur="400" fill="hold"/>
                                        <p:tgtEl>
                                          <p:spTgt spid="19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97"/>
                                        </p:tgtEl>
                                        <p:attrNameLst>
                                          <p:attrName>style.visibility</p:attrName>
                                        </p:attrNameLst>
                                      </p:cBhvr>
                                      <p:to>
                                        <p:strVal val="visible"/>
                                      </p:to>
                                    </p:set>
                                    <p:anim calcmode="lin" valueType="num">
                                      <p:cBhvr>
                                        <p:cTn id="23" dur="400" fill="hold"/>
                                        <p:tgtEl>
                                          <p:spTgt spid="197"/>
                                        </p:tgtEl>
                                        <p:attrNameLst>
                                          <p:attrName>ppt_w</p:attrName>
                                        </p:attrNameLst>
                                      </p:cBhvr>
                                      <p:tavLst>
                                        <p:tav tm="0">
                                          <p:val>
                                            <p:fltVal val="0"/>
                                          </p:val>
                                        </p:tav>
                                        <p:tav tm="100000">
                                          <p:val>
                                            <p:strVal val="#ppt_w"/>
                                          </p:val>
                                        </p:tav>
                                      </p:tavLst>
                                    </p:anim>
                                    <p:anim calcmode="lin" valueType="num">
                                      <p:cBhvr>
                                        <p:cTn id="24" dur="400" fill="hold"/>
                                        <p:tgtEl>
                                          <p:spTgt spid="197"/>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02"/>
                                        </p:tgtEl>
                                        <p:attrNameLst>
                                          <p:attrName>style.visibility</p:attrName>
                                        </p:attrNameLst>
                                      </p:cBhvr>
                                      <p:to>
                                        <p:strVal val="visible"/>
                                      </p:to>
                                    </p:set>
                                    <p:anim calcmode="lin" valueType="num">
                                      <p:cBhvr>
                                        <p:cTn id="29" dur="400" fill="hold"/>
                                        <p:tgtEl>
                                          <p:spTgt spid="202"/>
                                        </p:tgtEl>
                                        <p:attrNameLst>
                                          <p:attrName>ppt_w</p:attrName>
                                        </p:attrNameLst>
                                      </p:cBhvr>
                                      <p:tavLst>
                                        <p:tav tm="0">
                                          <p:val>
                                            <p:fltVal val="0"/>
                                          </p:val>
                                        </p:tav>
                                        <p:tav tm="100000">
                                          <p:val>
                                            <p:strVal val="#ppt_w"/>
                                          </p:val>
                                        </p:tav>
                                      </p:tavLst>
                                    </p:anim>
                                    <p:anim calcmode="lin" valueType="num">
                                      <p:cBhvr>
                                        <p:cTn id="30" dur="400" fill="hold"/>
                                        <p:tgtEl>
                                          <p:spTgt spid="2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77"/>
                </p:tgtEl>
              </p:cMediaNode>
            </p:video>
            <p:seq concurrent="1" prevAc="none" nextAc="seek">
              <p:cTn id="32" evtFilter="cancelBubble" nodeType="interactiveSeq" restart="whenNotActive" fill="hold">
                <p:stCondLst>
                  <p:cond delay="0" evt="onClick">
                    <p:tgtEl>
                      <p:spTgt spid="177"/>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77"/>
                                        </p:tgtEl>
                                      </p:cBhvr>
                                    </p:cmd>
                                  </p:childTnLst>
                                </p:cTn>
                              </p:par>
                            </p:childTnLst>
                          </p:cTn>
                        </p:par>
                      </p:childTnLst>
                    </p:cTn>
                  </p:par>
                </p:childTnLst>
              </p:cTn>
              <p:nextCondLst>
                <p:cond delay="0" evt="onClick">
                  <p:tgtEl>
                    <p:spTgt spid="177"/>
                  </p:tgtEl>
                </p:cond>
              </p:nextCondLst>
            </p:seq>
          </p:childTnLst>
        </p:cTn>
      </p:par>
    </p:tnLst>
    <p:bldLst>
      <p:bldP build="whole" bldLvl="1" animBg="1" rev="0" advAuto="0" spid="192" grpId="3"/>
      <p:bldP build="whole" bldLvl="1" animBg="1" rev="0" advAuto="0" spid="202" grpId="5"/>
      <p:bldP build="whole" bldLvl="1" animBg="1" rev="0" advAuto="0" spid="187" grpId="2"/>
      <p:bldP build="whole" bldLvl="1" animBg="1" rev="0" advAuto="0" spid="197"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9" name="phase_pill"/>
          <p:cNvGrpSpPr/>
          <p:nvPr/>
        </p:nvGrpSpPr>
        <p:grpSpPr>
          <a:xfrm>
            <a:off x="1170432" y="310895"/>
            <a:ext cx="2072030" cy="329185"/>
            <a:chOff x="0" y="0"/>
            <a:chExt cx="2072029" cy="329184"/>
          </a:xfrm>
        </p:grpSpPr>
        <p:sp>
          <p:nvSpPr>
            <p:cNvPr id="207" name="Rounded Rectangle"/>
            <p:cNvSpPr/>
            <p:nvPr/>
          </p:nvSpPr>
          <p:spPr>
            <a:xfrm>
              <a:off x="0" y="0"/>
              <a:ext cx="2072030"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08"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0" name="c0_bg"/>
          <p:cNvSpPr/>
          <p:nvPr/>
        </p:nvSpPr>
        <p:spPr>
          <a:xfrm>
            <a:off x="1170432" y="960119"/>
            <a:ext cx="5099152"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11" name="c0_badge"/>
          <p:cNvSpPr/>
          <p:nvPr/>
        </p:nvSpPr>
        <p:spPr>
          <a:xfrm>
            <a:off x="1371600" y="1307591"/>
            <a:ext cx="384048" cy="384049"/>
          </a:xfrm>
          <a:prstGeom prst="ellipse">
            <a:avLst/>
          </a:prstGeom>
          <a:solidFill>
            <a:srgbClr val="FFD921"/>
          </a:solidFill>
          <a:ln w="12700">
            <a:solidFill>
              <a:srgbClr val="FFD921"/>
            </a:solidFill>
          </a:ln>
        </p:spPr>
        <p:txBody>
          <a:bodyPr lIns="45719" rIns="45719"/>
          <a:lstStyle/>
          <a:p>
            <a:pPr/>
          </a:p>
        </p:txBody>
      </p:sp>
      <p:sp>
        <p:nvSpPr>
          <p:cNvPr id="212"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213"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State how many significant figures are in the number 4.06.</a:t>
            </a:r>
          </a:p>
        </p:txBody>
      </p:sp>
      <p:grpSp>
        <p:nvGrpSpPr>
          <p:cNvPr id="216" name="c0_a"/>
          <p:cNvGrpSpPr/>
          <p:nvPr/>
        </p:nvGrpSpPr>
        <p:grpSpPr>
          <a:xfrm>
            <a:off x="1371600" y="1965960"/>
            <a:ext cx="4696817" cy="438913"/>
            <a:chOff x="0" y="0"/>
            <a:chExt cx="4696816" cy="438912"/>
          </a:xfrm>
        </p:grpSpPr>
        <p:sp>
          <p:nvSpPr>
            <p:cNvPr id="214"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15" name="3. Zeros between other digits always count."/>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3. Zeros between other digits always count.</a:t>
              </a:r>
            </a:p>
          </p:txBody>
        </p:sp>
      </p:grpSp>
      <p:sp>
        <p:nvSpPr>
          <p:cNvPr id="217" name="c1_bg"/>
          <p:cNvSpPr/>
          <p:nvPr/>
        </p:nvSpPr>
        <p:spPr>
          <a:xfrm>
            <a:off x="6543903" y="960119"/>
            <a:ext cx="5099153"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18" name="c1_badge"/>
          <p:cNvSpPr/>
          <p:nvPr/>
        </p:nvSpPr>
        <p:spPr>
          <a:xfrm>
            <a:off x="6745072" y="1307591"/>
            <a:ext cx="384049" cy="384049"/>
          </a:xfrm>
          <a:prstGeom prst="ellipse">
            <a:avLst/>
          </a:prstGeom>
          <a:solidFill>
            <a:srgbClr val="FFD921"/>
          </a:solidFill>
          <a:ln w="12700">
            <a:solidFill>
              <a:srgbClr val="FFD921"/>
            </a:solidFill>
          </a:ln>
        </p:spPr>
        <p:txBody>
          <a:bodyPr lIns="45719" rIns="45719"/>
          <a:lstStyle/>
          <a:p>
            <a:pPr/>
          </a:p>
        </p:txBody>
      </p:sp>
      <p:sp>
        <p:nvSpPr>
          <p:cNvPr id="219"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220" name="c1_q"/>
          <p:cNvSpPr txBox="1"/>
          <p:nvPr/>
        </p:nvSpPr>
        <p:spPr>
          <a:xfrm>
            <a:off x="7275424"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Round 9.362 to 2 significant figures.</a:t>
            </a:r>
          </a:p>
        </p:txBody>
      </p:sp>
      <p:grpSp>
        <p:nvGrpSpPr>
          <p:cNvPr id="223" name="c1_a"/>
          <p:cNvGrpSpPr/>
          <p:nvPr/>
        </p:nvGrpSpPr>
        <p:grpSpPr>
          <a:xfrm>
            <a:off x="6745072" y="1965960"/>
            <a:ext cx="4696817" cy="438913"/>
            <a:chOff x="0" y="0"/>
            <a:chExt cx="4696816" cy="438912"/>
          </a:xfrm>
        </p:grpSpPr>
        <p:sp>
          <p:nvSpPr>
            <p:cNvPr id="221"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22" name="9.4. The next digit, 6, rounds up."/>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9.4. The next digit, 6, rounds up.</a:t>
              </a:r>
            </a:p>
          </p:txBody>
        </p:sp>
      </p:grpSp>
      <p:sp>
        <p:nvSpPr>
          <p:cNvPr id="224" name="c2_bg"/>
          <p:cNvSpPr/>
          <p:nvPr/>
        </p:nvSpPr>
        <p:spPr>
          <a:xfrm>
            <a:off x="1170432" y="2679192"/>
            <a:ext cx="5099152"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25" name="c2_badge"/>
          <p:cNvSpPr/>
          <p:nvPr/>
        </p:nvSpPr>
        <p:spPr>
          <a:xfrm>
            <a:off x="1371600" y="3026664"/>
            <a:ext cx="384048" cy="384049"/>
          </a:xfrm>
          <a:prstGeom prst="ellipse">
            <a:avLst/>
          </a:prstGeom>
          <a:solidFill>
            <a:srgbClr val="FFD921"/>
          </a:solidFill>
          <a:ln w="12700">
            <a:solidFill>
              <a:srgbClr val="FFD921"/>
            </a:solidFill>
          </a:ln>
        </p:spPr>
        <p:txBody>
          <a:bodyPr lIns="45719" rIns="45719"/>
          <a:lstStyle/>
          <a:p>
            <a:pPr/>
          </a:p>
        </p:txBody>
      </p:sp>
      <p:sp>
        <p:nvSpPr>
          <p:cNvPr id="226"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227" name="c2_q"/>
          <p:cNvSpPr txBox="1"/>
          <p:nvPr/>
        </p:nvSpPr>
        <p:spPr>
          <a:xfrm>
            <a:off x="1901951" y="3095557"/>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Write 52,000,000 in standard form.</a:t>
            </a:r>
          </a:p>
        </p:txBody>
      </p:sp>
      <p:grpSp>
        <p:nvGrpSpPr>
          <p:cNvPr id="230" name="c2_a"/>
          <p:cNvGrpSpPr/>
          <p:nvPr/>
        </p:nvGrpSpPr>
        <p:grpSpPr>
          <a:xfrm>
            <a:off x="1371600" y="3685032"/>
            <a:ext cx="4696817" cy="438913"/>
            <a:chOff x="0" y="0"/>
            <a:chExt cx="4696816" cy="438912"/>
          </a:xfrm>
        </p:grpSpPr>
        <p:sp>
          <p:nvSpPr>
            <p:cNvPr id="228"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29" name="5.2 × 10⁷."/>
            <p:cNvSpPr txBox="1"/>
            <p:nvPr/>
          </p:nvSpPr>
          <p:spPr>
            <a:xfrm>
              <a:off x="35035" y="116840"/>
              <a:ext cx="4626746" cy="2052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5.2 × 10⁷.</a:t>
              </a:r>
            </a:p>
          </p:txBody>
        </p:sp>
      </p:grpSp>
      <p:sp>
        <p:nvSpPr>
          <p:cNvPr id="231" name="c3_bg"/>
          <p:cNvSpPr/>
          <p:nvPr/>
        </p:nvSpPr>
        <p:spPr>
          <a:xfrm>
            <a:off x="6543903" y="2679192"/>
            <a:ext cx="5099153"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32" name="c3_badge"/>
          <p:cNvSpPr/>
          <p:nvPr/>
        </p:nvSpPr>
        <p:spPr>
          <a:xfrm>
            <a:off x="6745072" y="3026664"/>
            <a:ext cx="384049" cy="384049"/>
          </a:xfrm>
          <a:prstGeom prst="ellipse">
            <a:avLst/>
          </a:prstGeom>
          <a:solidFill>
            <a:srgbClr val="FFD921"/>
          </a:solidFill>
          <a:ln w="12700">
            <a:solidFill>
              <a:srgbClr val="FFD921"/>
            </a:solidFill>
          </a:ln>
        </p:spPr>
        <p:txBody>
          <a:bodyPr lIns="45719" rIns="45719"/>
          <a:lstStyle/>
          <a:p>
            <a:pPr/>
          </a:p>
        </p:txBody>
      </p:sp>
      <p:sp>
        <p:nvSpPr>
          <p:cNvPr id="233"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234" name="c3_q"/>
          <p:cNvSpPr txBox="1"/>
          <p:nvPr/>
        </p:nvSpPr>
        <p:spPr>
          <a:xfrm>
            <a:off x="7275424" y="3095557"/>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Write 0.0091 in standard form.</a:t>
            </a:r>
          </a:p>
        </p:txBody>
      </p:sp>
      <p:grpSp>
        <p:nvGrpSpPr>
          <p:cNvPr id="237" name="c3_a"/>
          <p:cNvGrpSpPr/>
          <p:nvPr/>
        </p:nvGrpSpPr>
        <p:grpSpPr>
          <a:xfrm>
            <a:off x="6745072" y="3685032"/>
            <a:ext cx="4696817" cy="438913"/>
            <a:chOff x="0" y="0"/>
            <a:chExt cx="4696816" cy="438912"/>
          </a:xfrm>
        </p:grpSpPr>
        <p:sp>
          <p:nvSpPr>
            <p:cNvPr id="235"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36" name="9.1 × 10⁻³."/>
            <p:cNvSpPr txBox="1"/>
            <p:nvPr/>
          </p:nvSpPr>
          <p:spPr>
            <a:xfrm>
              <a:off x="35035" y="116840"/>
              <a:ext cx="4626746" cy="2052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9.1 × 10⁻³.</a:t>
              </a:r>
            </a:p>
          </p:txBody>
        </p:sp>
      </p:grpSp>
      <p:sp>
        <p:nvSpPr>
          <p:cNvPr id="238" name="c4_bg"/>
          <p:cNvSpPr/>
          <p:nvPr/>
        </p:nvSpPr>
        <p:spPr>
          <a:xfrm>
            <a:off x="1170432" y="4398264"/>
            <a:ext cx="5099152"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39" name="c4_badge"/>
          <p:cNvSpPr/>
          <p:nvPr/>
        </p:nvSpPr>
        <p:spPr>
          <a:xfrm>
            <a:off x="1371600" y="4745735"/>
            <a:ext cx="384048" cy="384049"/>
          </a:xfrm>
          <a:prstGeom prst="ellipse">
            <a:avLst/>
          </a:prstGeom>
          <a:solidFill>
            <a:srgbClr val="FFD921"/>
          </a:solidFill>
          <a:ln w="12700">
            <a:solidFill>
              <a:srgbClr val="FFD921"/>
            </a:solidFill>
          </a:ln>
        </p:spPr>
        <p:txBody>
          <a:bodyPr lIns="45719" rIns="45719"/>
          <a:lstStyle/>
          <a:p>
            <a:pPr/>
          </a:p>
        </p:txBody>
      </p:sp>
      <p:sp>
        <p:nvSpPr>
          <p:cNvPr id="240"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241"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Convert 37°C, human body temperature, to kelvin.</a:t>
            </a:r>
          </a:p>
        </p:txBody>
      </p:sp>
      <p:grpSp>
        <p:nvGrpSpPr>
          <p:cNvPr id="244" name="c4_a"/>
          <p:cNvGrpSpPr/>
          <p:nvPr/>
        </p:nvGrpSpPr>
        <p:grpSpPr>
          <a:xfrm>
            <a:off x="1371600" y="5404103"/>
            <a:ext cx="4696817" cy="438913"/>
            <a:chOff x="0" y="0"/>
            <a:chExt cx="4696816" cy="438912"/>
          </a:xfrm>
        </p:grpSpPr>
        <p:sp>
          <p:nvSpPr>
            <p:cNvPr id="242"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43" name="310 K."/>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310 K.</a:t>
              </a:r>
            </a:p>
          </p:txBody>
        </p:sp>
      </p:grpSp>
      <p:sp>
        <p:nvSpPr>
          <p:cNvPr id="245" name="c5_bg"/>
          <p:cNvSpPr/>
          <p:nvPr/>
        </p:nvSpPr>
        <p:spPr>
          <a:xfrm>
            <a:off x="6543903" y="4398264"/>
            <a:ext cx="5099153" cy="1572769"/>
          </a:xfrm>
          <a:prstGeom prst="roundRect">
            <a:avLst>
              <a:gd name="adj" fmla="val 5814"/>
            </a:avLst>
          </a:prstGeom>
          <a:solidFill>
            <a:srgbClr val="FFFFFF"/>
          </a:solidFill>
          <a:ln w="16510">
            <a:solidFill>
              <a:srgbClr val="C7D9EA"/>
            </a:solidFill>
          </a:ln>
        </p:spPr>
        <p:txBody>
          <a:bodyPr lIns="45719" rIns="45719"/>
          <a:lstStyle/>
          <a:p>
            <a:pPr/>
          </a:p>
        </p:txBody>
      </p:sp>
      <p:sp>
        <p:nvSpPr>
          <p:cNvPr id="246" name="c5_badge"/>
          <p:cNvSpPr/>
          <p:nvPr/>
        </p:nvSpPr>
        <p:spPr>
          <a:xfrm>
            <a:off x="6745072" y="4745735"/>
            <a:ext cx="384049" cy="384049"/>
          </a:xfrm>
          <a:prstGeom prst="ellipse">
            <a:avLst/>
          </a:prstGeom>
          <a:solidFill>
            <a:srgbClr val="FFD921"/>
          </a:solidFill>
          <a:ln w="12700">
            <a:solidFill>
              <a:srgbClr val="FFD921"/>
            </a:solidFill>
          </a:ln>
        </p:spPr>
        <p:txBody>
          <a:bodyPr lIns="45719" rIns="45719"/>
          <a:lstStyle/>
          <a:p>
            <a:pPr/>
          </a:p>
        </p:txBody>
      </p:sp>
      <p:sp>
        <p:nvSpPr>
          <p:cNvPr id="247"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248"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Convert 373 K, the boiling point of water, to Celsius.</a:t>
            </a:r>
          </a:p>
        </p:txBody>
      </p:sp>
      <p:grpSp>
        <p:nvGrpSpPr>
          <p:cNvPr id="251" name="c5_a"/>
          <p:cNvGrpSpPr/>
          <p:nvPr/>
        </p:nvGrpSpPr>
        <p:grpSpPr>
          <a:xfrm>
            <a:off x="6745072" y="5404103"/>
            <a:ext cx="4696817" cy="438913"/>
            <a:chOff x="0" y="0"/>
            <a:chExt cx="4696816" cy="438912"/>
          </a:xfrm>
        </p:grpSpPr>
        <p:sp>
          <p:nvSpPr>
            <p:cNvPr id="249" name="Rounded Rectangle"/>
            <p:cNvSpPr/>
            <p:nvPr/>
          </p:nvSpPr>
          <p:spPr>
            <a:xfrm>
              <a:off x="0" y="0"/>
              <a:ext cx="4696817" cy="438913"/>
            </a:xfrm>
            <a:prstGeom prst="roundRect">
              <a:avLst>
                <a:gd name="adj" fmla="val 20833"/>
              </a:avLst>
            </a:prstGeom>
            <a:solidFill>
              <a:srgbClr val="E3EDF6"/>
            </a:solidFill>
            <a:ln w="16510" cap="flat">
              <a:solidFill>
                <a:srgbClr val="FFD921"/>
              </a:solidFill>
              <a:prstDash val="solid"/>
              <a:round/>
            </a:ln>
            <a:effectLst/>
          </p:spPr>
          <p:txBody>
            <a:bodyPr wrap="square" lIns="45719" tIns="45719" rIns="45719" bIns="45719" numCol="1" anchor="ctr">
              <a:noAutofit/>
            </a:bodyPr>
            <a:lstStyle/>
            <a:p>
              <a:pPr>
                <a:defRPr sz="1300"/>
              </a:pPr>
            </a:p>
          </p:txBody>
        </p:sp>
        <p:sp>
          <p:nvSpPr>
            <p:cNvPr id="250" name="100°C."/>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100°C.</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6"/>
                                        </p:tgtEl>
                                        <p:attrNameLst>
                                          <p:attrName>style.visibility</p:attrName>
                                        </p:attrNameLst>
                                      </p:cBhvr>
                                      <p:to>
                                        <p:strVal val="visible"/>
                                      </p:to>
                                    </p:set>
                                    <p:animEffect filter="wipe(left)" transition="in">
                                      <p:cBhvr>
                                        <p:cTn id="11" dur="400"/>
                                        <p:tgtEl>
                                          <p:spTgt spid="21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23"/>
                                        </p:tgtEl>
                                        <p:attrNameLst>
                                          <p:attrName>style.visibility</p:attrName>
                                        </p:attrNameLst>
                                      </p:cBhvr>
                                      <p:to>
                                        <p:strVal val="visible"/>
                                      </p:to>
                                    </p:set>
                                    <p:animEffect filter="wipe(left)" transition="in">
                                      <p:cBhvr>
                                        <p:cTn id="16" dur="400"/>
                                        <p:tgtEl>
                                          <p:spTgt spid="22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0"/>
                                        </p:tgtEl>
                                        <p:attrNameLst>
                                          <p:attrName>style.visibility</p:attrName>
                                        </p:attrNameLst>
                                      </p:cBhvr>
                                      <p:to>
                                        <p:strVal val="visible"/>
                                      </p:to>
                                    </p:set>
                                    <p:animEffect filter="wipe(left)" transition="in">
                                      <p:cBhvr>
                                        <p:cTn id="21" dur="400"/>
                                        <p:tgtEl>
                                          <p:spTgt spid="23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37"/>
                                        </p:tgtEl>
                                        <p:attrNameLst>
                                          <p:attrName>style.visibility</p:attrName>
                                        </p:attrNameLst>
                                      </p:cBhvr>
                                      <p:to>
                                        <p:strVal val="visible"/>
                                      </p:to>
                                    </p:set>
                                    <p:animEffect filter="wipe(left)" transition="in">
                                      <p:cBhvr>
                                        <p:cTn id="26" dur="400"/>
                                        <p:tgtEl>
                                          <p:spTgt spid="237"/>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44"/>
                                        </p:tgtEl>
                                        <p:attrNameLst>
                                          <p:attrName>style.visibility</p:attrName>
                                        </p:attrNameLst>
                                      </p:cBhvr>
                                      <p:to>
                                        <p:strVal val="visible"/>
                                      </p:to>
                                    </p:set>
                                    <p:animEffect filter="wipe(left)" transition="in">
                                      <p:cBhvr>
                                        <p:cTn id="31" dur="400"/>
                                        <p:tgtEl>
                                          <p:spTgt spid="244"/>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1"/>
                                        </p:tgtEl>
                                        <p:attrNameLst>
                                          <p:attrName>style.visibility</p:attrName>
                                        </p:attrNameLst>
                                      </p:cBhvr>
                                      <p:to>
                                        <p:strVal val="visible"/>
                                      </p:to>
                                    </p:set>
                                    <p:animEffect filter="wipe(left)" transition="in">
                                      <p:cBhvr>
                                        <p:cTn id="36" dur="4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6"/>
                </p:tgtEl>
              </p:cMediaNode>
            </p:video>
            <p:seq concurrent="1" prevAc="none" nextAc="seek">
              <p:cTn id="38" evtFilter="cancelBubble" nodeType="interactiveSeq" restart="whenNotActive" fill="hold">
                <p:stCondLst>
                  <p:cond delay="0" evt="onClick">
                    <p:tgtEl>
                      <p:spTgt spid="206"/>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6"/>
                                        </p:tgtEl>
                                      </p:cBhvr>
                                    </p:cmd>
                                  </p:childTnLst>
                                </p:cTn>
                              </p:par>
                            </p:childTnLst>
                          </p:cTn>
                        </p:par>
                      </p:childTnLst>
                    </p:cTn>
                  </p:par>
                </p:childTnLst>
              </p:cTn>
              <p:nextCondLst>
                <p:cond delay="0" evt="onClick">
                  <p:tgtEl>
                    <p:spTgt spid="206"/>
                  </p:tgtEl>
                </p:cond>
              </p:nextCondLst>
            </p:seq>
          </p:childTnLst>
        </p:cTn>
      </p:par>
    </p:tnLst>
    <p:bldLst>
      <p:bldP build="whole" bldLvl="1" animBg="1" rev="0" advAuto="0" spid="223" grpId="3"/>
      <p:bldP build="whole" bldLvl="1" animBg="1" rev="0" advAuto="0" spid="230" grpId="4"/>
      <p:bldP build="whole" bldLvl="1" animBg="1" rev="0" advAuto="0" spid="251" grpId="7"/>
      <p:bldP build="whole" bldLvl="1" animBg="1" rev="0" advAuto="0" spid="216" grpId="2"/>
      <p:bldP build="whole" bldLvl="1" animBg="1" rev="0" advAuto="0" spid="244" grpId="6"/>
      <p:bldP build="whole" bldLvl="1" animBg="1" rev="0" advAuto="0" spid="237"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5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8" name="phase_pill"/>
          <p:cNvGrpSpPr/>
          <p:nvPr/>
        </p:nvGrpSpPr>
        <p:grpSpPr>
          <a:xfrm>
            <a:off x="1170432" y="310895"/>
            <a:ext cx="1892808" cy="329185"/>
            <a:chOff x="0" y="0"/>
            <a:chExt cx="1892807" cy="329184"/>
          </a:xfrm>
        </p:grpSpPr>
        <p:sp>
          <p:nvSpPr>
            <p:cNvPr id="256" name="Rounded Rectangle"/>
            <p:cNvSpPr/>
            <p:nvPr/>
          </p:nvSpPr>
          <p:spPr>
            <a:xfrm>
              <a:off x="0" y="0"/>
              <a:ext cx="1892808" cy="329185"/>
            </a:xfrm>
            <a:prstGeom prst="roundRect">
              <a:avLst>
                <a:gd name="adj" fmla="val 44444"/>
              </a:avLst>
            </a:prstGeom>
            <a:solidFill>
              <a:srgbClr val="15395C"/>
            </a:solidFill>
            <a:ln w="12700" cap="flat">
              <a:noFill/>
              <a:miter lim="400000"/>
            </a:ln>
            <a:effectLst/>
          </p:spPr>
          <p:txBody>
            <a:bodyPr wrap="square" lIns="45719" tIns="45719" rIns="45719" bIns="45719" numCol="1" anchor="ctr">
              <a:noAutofit/>
            </a:bodyPr>
            <a:lstStyle/>
            <a:p>
              <a:pPr algn="ctr">
                <a:defRPr sz="1100"/>
              </a:pPr>
            </a:p>
          </p:txBody>
        </p:sp>
        <p:sp>
          <p:nvSpPr>
            <p:cNvPr id="257" name="YOU DO · 17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17 MIN</a:t>
              </a:r>
            </a:p>
          </p:txBody>
        </p:sp>
      </p:grpSp>
      <p:pic>
        <p:nvPicPr>
          <p:cNvPr id="259"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0"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5395C"/>
                </a:solidFill>
                <a:latin typeface="Georgia"/>
                <a:ea typeface="Georgia"/>
                <a:cs typeface="Georgia"/>
                <a:sym typeface="Georgia"/>
              </a:defRPr>
            </a:lvl1pPr>
          </a:lstStyle>
          <a:p>
            <a:pPr/>
            <a:r>
              <a:t>Numbers In Science game</a:t>
            </a:r>
          </a:p>
        </p:txBody>
      </p:sp>
      <p:sp>
        <p:nvSpPr>
          <p:cNvPr id="261"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D312F"/>
                </a:solidFill>
                <a:latin typeface="Arial"/>
                <a:ea typeface="Arial"/>
                <a:cs typeface="Arial"/>
                <a:sym typeface="Arial"/>
              </a:defRPr>
            </a:lvl1pPr>
          </a:lstStyle>
          <a:p>
            <a:pPr/>
            <a:r>
              <a:t>Open Google Classroom now.</a:t>
            </a:r>
          </a:p>
        </p:txBody>
      </p:sp>
      <p:grpSp>
        <p:nvGrpSpPr>
          <p:cNvPr id="266" name="t0"/>
          <p:cNvGrpSpPr/>
          <p:nvPr/>
        </p:nvGrpSpPr>
        <p:grpSpPr>
          <a:xfrm>
            <a:off x="1170432" y="2322576"/>
            <a:ext cx="3307994" cy="1920241"/>
            <a:chOff x="0" y="0"/>
            <a:chExt cx="3307993" cy="1920239"/>
          </a:xfrm>
        </p:grpSpPr>
        <p:sp>
          <p:nvSpPr>
            <p:cNvPr id="262" name="t0_bg"/>
            <p:cNvSpPr/>
            <p:nvPr/>
          </p:nvSpPr>
          <p:spPr>
            <a:xfrm>
              <a:off x="0" y="0"/>
              <a:ext cx="3307994" cy="1920240"/>
            </a:xfrm>
            <a:prstGeom prst="roundRect">
              <a:avLst>
                <a:gd name="adj" fmla="val 4762"/>
              </a:avLst>
            </a:prstGeom>
            <a:solidFill>
              <a:srgbClr val="F5E3E2"/>
            </a:solidFill>
            <a:ln w="20320" cap="flat">
              <a:solidFill>
                <a:srgbClr val="CD312F"/>
              </a:solidFill>
              <a:prstDash val="solid"/>
              <a:round/>
            </a:ln>
            <a:effectLst/>
          </p:spPr>
          <p:txBody>
            <a:bodyPr wrap="square" lIns="45719" tIns="45719" rIns="45719" bIns="45719" numCol="1" anchor="t">
              <a:noAutofit/>
            </a:bodyPr>
            <a:lstStyle/>
            <a:p>
              <a:pPr/>
            </a:p>
          </p:txBody>
        </p:sp>
        <p:sp>
          <p:nvSpPr>
            <p:cNvPr id="263"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D312F"/>
                  </a:solidFill>
                  <a:latin typeface="Arial"/>
                  <a:ea typeface="Arial"/>
                  <a:cs typeface="Arial"/>
                  <a:sym typeface="Arial"/>
                </a:defRPr>
              </a:lvl1pPr>
            </a:lstStyle>
            <a:p>
              <a:pPr/>
              <a:r>
                <a:t>ROUND 1</a:t>
              </a:r>
            </a:p>
          </p:txBody>
        </p:sp>
        <p:sp>
          <p:nvSpPr>
            <p:cNvPr id="264"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Significant figures</a:t>
              </a:r>
            </a:p>
          </p:txBody>
        </p:sp>
        <p:sp>
          <p:nvSpPr>
            <p:cNvPr id="265" name="t0_b"/>
            <p:cNvSpPr txBox="1"/>
            <p:nvPr/>
          </p:nvSpPr>
          <p:spPr>
            <a:xfrm>
              <a:off x="237744" y="877823"/>
              <a:ext cx="2832506" cy="6395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5708A"/>
                  </a:solidFill>
                  <a:latin typeface="Arial"/>
                  <a:ea typeface="Arial"/>
                  <a:cs typeface="Arial"/>
                  <a:sym typeface="Arial"/>
                </a:defRPr>
              </a:lvl1pPr>
            </a:lstStyle>
            <a:p>
              <a:pPr/>
              <a:r>
                <a:t>Round each number. No trailing-zero traps: every answer is clear either way.</a:t>
              </a:r>
            </a:p>
          </p:txBody>
        </p:sp>
      </p:grpSp>
      <p:grpSp>
        <p:nvGrpSpPr>
          <p:cNvPr id="271" name="t1"/>
          <p:cNvGrpSpPr/>
          <p:nvPr/>
        </p:nvGrpSpPr>
        <p:grpSpPr>
          <a:xfrm>
            <a:off x="4752745" y="2322576"/>
            <a:ext cx="3307995" cy="1920241"/>
            <a:chOff x="0" y="0"/>
            <a:chExt cx="3307993" cy="1920239"/>
          </a:xfrm>
        </p:grpSpPr>
        <p:sp>
          <p:nvSpPr>
            <p:cNvPr id="267" name="t1_bg"/>
            <p:cNvSpPr/>
            <p:nvPr/>
          </p:nvSpPr>
          <p:spPr>
            <a:xfrm>
              <a:off x="0" y="0"/>
              <a:ext cx="3307994" cy="1920240"/>
            </a:xfrm>
            <a:prstGeom prst="roundRect">
              <a:avLst>
                <a:gd name="adj" fmla="val 4762"/>
              </a:avLst>
            </a:prstGeom>
            <a:solidFill>
              <a:srgbClr val="DFF0E6"/>
            </a:solidFill>
            <a:ln w="20320" cap="flat">
              <a:solidFill>
                <a:srgbClr val="00A33E"/>
              </a:solidFill>
              <a:prstDash val="solid"/>
              <a:round/>
            </a:ln>
            <a:effectLst/>
          </p:spPr>
          <p:txBody>
            <a:bodyPr wrap="square" lIns="45719" tIns="45719" rIns="45719" bIns="45719" numCol="1" anchor="t">
              <a:noAutofit/>
            </a:bodyPr>
            <a:lstStyle/>
            <a:p>
              <a:pPr/>
            </a:p>
          </p:txBody>
        </p:sp>
        <p:sp>
          <p:nvSpPr>
            <p:cNvPr id="268"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00A33E"/>
                  </a:solidFill>
                  <a:latin typeface="Arial"/>
                  <a:ea typeface="Arial"/>
                  <a:cs typeface="Arial"/>
                  <a:sym typeface="Arial"/>
                </a:defRPr>
              </a:lvl1pPr>
            </a:lstStyle>
            <a:p>
              <a:pPr/>
              <a:r>
                <a:t>ROUND 2</a:t>
              </a:r>
            </a:p>
          </p:txBody>
        </p:sp>
        <p:sp>
          <p:nvSpPr>
            <p:cNvPr id="269"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Standard form</a:t>
              </a:r>
            </a:p>
          </p:txBody>
        </p:sp>
        <p:sp>
          <p:nvSpPr>
            <p:cNvPr id="270" name="t1_b"/>
            <p:cNvSpPr txBox="1"/>
            <p:nvPr/>
          </p:nvSpPr>
          <p:spPr>
            <a:xfrm>
              <a:off x="237744" y="877823"/>
              <a:ext cx="283250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5708A"/>
                  </a:solidFill>
                  <a:latin typeface="Arial"/>
                  <a:ea typeface="Arial"/>
                  <a:cs typeface="Arial"/>
                  <a:sym typeface="Arial"/>
                </a:defRPr>
              </a:lvl1pPr>
            </a:lstStyle>
            <a:p>
              <a:pPr/>
              <a:r>
                <a:t>Convert big and small numbers, both directions.</a:t>
              </a:r>
            </a:p>
          </p:txBody>
        </p:sp>
      </p:grpSp>
      <p:grpSp>
        <p:nvGrpSpPr>
          <p:cNvPr id="276" name="t2"/>
          <p:cNvGrpSpPr/>
          <p:nvPr/>
        </p:nvGrpSpPr>
        <p:grpSpPr>
          <a:xfrm>
            <a:off x="8335061" y="2322576"/>
            <a:ext cx="3307994" cy="1920241"/>
            <a:chOff x="0" y="0"/>
            <a:chExt cx="3307993" cy="1920239"/>
          </a:xfrm>
        </p:grpSpPr>
        <p:sp>
          <p:nvSpPr>
            <p:cNvPr id="272" name="t2_bg"/>
            <p:cNvSpPr/>
            <p:nvPr/>
          </p:nvSpPr>
          <p:spPr>
            <a:xfrm>
              <a:off x="0" y="0"/>
              <a:ext cx="3307994" cy="1920240"/>
            </a:xfrm>
            <a:prstGeom prst="roundRect">
              <a:avLst>
                <a:gd name="adj" fmla="val 4762"/>
              </a:avLst>
            </a:prstGeom>
            <a:solidFill>
              <a:srgbClr val="E3EDF6"/>
            </a:solidFill>
            <a:ln w="20320" cap="flat">
              <a:solidFill>
                <a:srgbClr val="957D11"/>
              </a:solidFill>
              <a:prstDash val="solid"/>
              <a:round/>
            </a:ln>
            <a:effectLst/>
          </p:spPr>
          <p:txBody>
            <a:bodyPr wrap="square" lIns="45719" tIns="45719" rIns="45719" bIns="45719" numCol="1" anchor="t">
              <a:noAutofit/>
            </a:bodyPr>
            <a:lstStyle/>
            <a:p>
              <a:pPr/>
            </a:p>
          </p:txBody>
        </p:sp>
        <p:sp>
          <p:nvSpPr>
            <p:cNvPr id="273"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957D11"/>
                  </a:solidFill>
                  <a:latin typeface="Arial"/>
                  <a:ea typeface="Arial"/>
                  <a:cs typeface="Arial"/>
                  <a:sym typeface="Arial"/>
                </a:defRPr>
              </a:lvl1pPr>
            </a:lstStyle>
            <a:p>
              <a:pPr/>
              <a:r>
                <a:t>ROUND 3</a:t>
              </a:r>
            </a:p>
          </p:txBody>
        </p:sp>
        <p:sp>
          <p:nvSpPr>
            <p:cNvPr id="274"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5395C"/>
                  </a:solidFill>
                  <a:latin typeface="Arial"/>
                  <a:ea typeface="Arial"/>
                  <a:cs typeface="Arial"/>
                  <a:sym typeface="Arial"/>
                </a:defRPr>
              </a:lvl1pPr>
            </a:lstStyle>
            <a:p>
              <a:pPr/>
              <a:r>
                <a:t>Celsius and Kelvin</a:t>
              </a:r>
            </a:p>
          </p:txBody>
        </p:sp>
        <p:sp>
          <p:nvSpPr>
            <p:cNvPr id="275" name="t2_b"/>
            <p:cNvSpPr txBox="1"/>
            <p:nvPr/>
          </p:nvSpPr>
          <p:spPr>
            <a:xfrm>
              <a:off x="237744" y="877823"/>
              <a:ext cx="2832506" cy="6395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5708A"/>
                  </a:solidFill>
                  <a:latin typeface="Arial"/>
                  <a:ea typeface="Arial"/>
                  <a:cs typeface="Arial"/>
                  <a:sym typeface="Arial"/>
                </a:defRPr>
              </a:lvl1pPr>
            </a:lstStyle>
            <a:p>
              <a:pPr/>
              <a:r>
                <a:t>Convert the scale. Very hard. The last two questions are meant to be almost impossible.</a:t>
              </a:r>
            </a:p>
          </p:txBody>
        </p:sp>
      </p:grpSp>
      <p:sp>
        <p:nvSpPr>
          <p:cNvPr id="277" name="yd_note"/>
          <p:cNvSpPr txBox="1"/>
          <p:nvPr/>
        </p:nvSpPr>
        <p:spPr>
          <a:xfrm>
            <a:off x="1170432" y="453542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5395C"/>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020000" fill="hold"/>
                                        <p:tgtEl>
                                          <p:spTgt spid="25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6"/>
                                        </p:tgtEl>
                                        <p:attrNameLst>
                                          <p:attrName>style.visibility</p:attrName>
                                        </p:attrNameLst>
                                      </p:cBhvr>
                                      <p:to>
                                        <p:strVal val="visible"/>
                                      </p:to>
                                    </p:set>
                                    <p:animEffect filter="fade" transition="in">
                                      <p:cBhvr>
                                        <p:cTn id="11" dur="400"/>
                                        <p:tgtEl>
                                          <p:spTgt spid="26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1"/>
                                        </p:tgtEl>
                                        <p:attrNameLst>
                                          <p:attrName>style.visibility</p:attrName>
                                        </p:attrNameLst>
                                      </p:cBhvr>
                                      <p:to>
                                        <p:strVal val="visible"/>
                                      </p:to>
                                    </p:set>
                                    <p:animEffect filter="fade" transition="in">
                                      <p:cBhvr>
                                        <p:cTn id="16" dur="400"/>
                                        <p:tgtEl>
                                          <p:spTgt spid="27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6"/>
                                        </p:tgtEl>
                                        <p:attrNameLst>
                                          <p:attrName>style.visibility</p:attrName>
                                        </p:attrNameLst>
                                      </p:cBhvr>
                                      <p:to>
                                        <p:strVal val="visible"/>
                                      </p:to>
                                    </p:set>
                                    <p:animEffect filter="fade" transition="in">
                                      <p:cBhvr>
                                        <p:cTn id="21" dur="400"/>
                                        <p:tgtEl>
                                          <p:spTgt spid="27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7"/>
                                        </p:tgtEl>
                                        <p:attrNameLst>
                                          <p:attrName>style.visibility</p:attrName>
                                        </p:attrNameLst>
                                      </p:cBhvr>
                                      <p:to>
                                        <p:strVal val="visible"/>
                                      </p:to>
                                    </p:set>
                                    <p:animEffect filter="fade" transition="in">
                                      <p:cBhvr>
                                        <p:cTn id="26" dur="4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55"/>
                </p:tgtEl>
              </p:cMediaNode>
            </p:video>
            <p:seq concurrent="1" prevAc="none" nextAc="seek">
              <p:cTn id="28" evtFilter="cancelBubble" nodeType="interactiveSeq" restart="whenNotActive" fill="hold">
                <p:stCondLst>
                  <p:cond delay="0" evt="onClick">
                    <p:tgtEl>
                      <p:spTgt spid="255"/>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55"/>
                                        </p:tgtEl>
                                      </p:cBhvr>
                                    </p:cmd>
                                  </p:childTnLst>
                                </p:cTn>
                              </p:par>
                            </p:childTnLst>
                          </p:cTn>
                        </p:par>
                      </p:childTnLst>
                    </p:cTn>
                  </p:par>
                </p:childTnLst>
              </p:cTn>
              <p:nextCondLst>
                <p:cond delay="0" evt="onClick">
                  <p:tgtEl>
                    <p:spTgt spid="255"/>
                  </p:tgtEl>
                </p:cond>
              </p:nextCondLst>
            </p:seq>
          </p:childTnLst>
        </p:cTn>
      </p:par>
    </p:tnLst>
    <p:bldLst>
      <p:bldP build="whole" bldLvl="1" animBg="1" rev="0" advAuto="0" spid="271" grpId="3"/>
      <p:bldP build="whole" bldLvl="1" animBg="1" rev="0" advAuto="0" spid="276" grpId="4"/>
      <p:bldP build="whole" bldLvl="1" animBg="1" rev="0" advAuto="0" spid="277" grpId="5"/>
      <p:bldP build="whole" bldLvl="1" animBg="1" rev="0" advAuto="0" spid="266"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5395C"/>
        </a:solidFill>
      </p:bgPr>
    </p:bg>
    <p:spTree>
      <p:nvGrpSpPr>
        <p:cNvPr id="1" name=""/>
        <p:cNvGrpSpPr/>
        <p:nvPr/>
      </p:nvGrpSpPr>
      <p:grpSpPr>
        <a:xfrm>
          <a:off x="0" y="0"/>
          <a:ext cx="0" cy="0"/>
          <a:chOff x="0" y="0"/>
          <a:chExt cx="0" cy="0"/>
        </a:xfrm>
      </p:grpSpPr>
      <p:pic>
        <p:nvPicPr>
          <p:cNvPr id="28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4" name="phase_pill"/>
          <p:cNvGrpSpPr/>
          <p:nvPr/>
        </p:nvGrpSpPr>
        <p:grpSpPr>
          <a:xfrm>
            <a:off x="1170432" y="310895"/>
            <a:ext cx="1892808" cy="329185"/>
            <a:chOff x="0" y="0"/>
            <a:chExt cx="1892807" cy="329184"/>
          </a:xfrm>
        </p:grpSpPr>
        <p:sp>
          <p:nvSpPr>
            <p:cNvPr id="282" name="Rounded Rectangle"/>
            <p:cNvSpPr/>
            <p:nvPr/>
          </p:nvSpPr>
          <p:spPr>
            <a:xfrm>
              <a:off x="0" y="0"/>
              <a:ext cx="1892808" cy="329185"/>
            </a:xfrm>
            <a:prstGeom prst="roundRect">
              <a:avLst>
                <a:gd name="adj" fmla="val 44444"/>
              </a:avLst>
            </a:prstGeom>
            <a:solidFill>
              <a:srgbClr val="FFD921"/>
            </a:solidFill>
            <a:ln w="12700" cap="flat">
              <a:noFill/>
              <a:miter lim="400000"/>
            </a:ln>
            <a:effectLst/>
          </p:spPr>
          <p:txBody>
            <a:bodyPr wrap="square" lIns="45719" tIns="45719" rIns="45719" bIns="45719" numCol="1" anchor="ctr">
              <a:noAutofit/>
            </a:bodyPr>
            <a:lstStyle/>
            <a:p>
              <a:pPr algn="ctr">
                <a:defRPr sz="1100"/>
              </a:pPr>
            </a:p>
          </p:txBody>
        </p:sp>
        <p:sp>
          <p:nvSpPr>
            <p:cNvPr id="283"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5395C"/>
                  </a:solidFill>
                  <a:latin typeface="Arial"/>
                  <a:ea typeface="Arial"/>
                  <a:cs typeface="Arial"/>
                  <a:sym typeface="Arial"/>
                </a:defRPr>
              </a:lvl1pPr>
            </a:lstStyle>
            <a:p>
              <a:pPr/>
              <a:r>
                <a:t>PLENARY · 3 MIN</a:t>
              </a:r>
            </a:p>
          </p:txBody>
        </p:sp>
      </p:grpSp>
      <p:sp>
        <p:nvSpPr>
          <p:cNvPr id="28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F6FB"/>
                </a:solidFill>
                <a:latin typeface="Georgia"/>
                <a:ea typeface="Georgia"/>
                <a:cs typeface="Georgia"/>
                <a:sym typeface="Georgia"/>
              </a:defRPr>
            </a:lvl1pPr>
          </a:lstStyle>
          <a:p>
            <a:pPr/>
            <a:r>
              <a:t>True or false?</a:t>
            </a:r>
          </a:p>
        </p:txBody>
      </p:sp>
      <p:grpSp>
        <p:nvGrpSpPr>
          <p:cNvPr id="288" name="p0_stmt"/>
          <p:cNvGrpSpPr/>
          <p:nvPr/>
        </p:nvGrpSpPr>
        <p:grpSpPr>
          <a:xfrm>
            <a:off x="1170432" y="2194560"/>
            <a:ext cx="8552383" cy="640081"/>
            <a:chOff x="0" y="0"/>
            <a:chExt cx="8552382" cy="640080"/>
          </a:xfrm>
        </p:grpSpPr>
        <p:sp>
          <p:nvSpPr>
            <p:cNvPr id="286" name="p0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287"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3.0 and 3.00 mean exactly the same thing.</a:t>
              </a:r>
            </a:p>
          </p:txBody>
        </p:sp>
      </p:grpSp>
      <p:sp>
        <p:nvSpPr>
          <p:cNvPr id="289"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292" name="p1_stmt"/>
          <p:cNvGrpSpPr/>
          <p:nvPr/>
        </p:nvGrpSpPr>
        <p:grpSpPr>
          <a:xfrm>
            <a:off x="1170432" y="2999232"/>
            <a:ext cx="8552383" cy="640081"/>
            <a:chOff x="0" y="0"/>
            <a:chExt cx="8552382" cy="640080"/>
          </a:xfrm>
        </p:grpSpPr>
        <p:sp>
          <p:nvSpPr>
            <p:cNvPr id="290" name="p1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291" name="p1_q"/>
            <p:cNvSpPr txBox="1"/>
            <p:nvPr/>
          </p:nvSpPr>
          <p:spPr>
            <a:xfrm>
              <a:off x="256032" y="205740"/>
              <a:ext cx="8186623" cy="22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670,000 in standard form is 6.7 × 10⁵.</a:t>
              </a:r>
            </a:p>
          </p:txBody>
        </p:sp>
      </p:grpSp>
      <p:sp>
        <p:nvSpPr>
          <p:cNvPr id="293"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296" name="p2_stmt"/>
          <p:cNvGrpSpPr/>
          <p:nvPr/>
        </p:nvGrpSpPr>
        <p:grpSpPr>
          <a:xfrm>
            <a:off x="1170432" y="3803903"/>
            <a:ext cx="8552383" cy="640081"/>
            <a:chOff x="0" y="0"/>
            <a:chExt cx="8552382" cy="640080"/>
          </a:xfrm>
        </p:grpSpPr>
        <p:sp>
          <p:nvSpPr>
            <p:cNvPr id="294" name="p2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295"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0°C is the same temperature as 0 K.</a:t>
              </a:r>
            </a:p>
          </p:txBody>
        </p:sp>
      </p:grpSp>
      <p:sp>
        <p:nvSpPr>
          <p:cNvPr id="297"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grpSp>
        <p:nvGrpSpPr>
          <p:cNvPr id="300" name="p3_stmt"/>
          <p:cNvGrpSpPr/>
          <p:nvPr/>
        </p:nvGrpSpPr>
        <p:grpSpPr>
          <a:xfrm>
            <a:off x="1170432" y="4608576"/>
            <a:ext cx="8552383" cy="640081"/>
            <a:chOff x="0" y="0"/>
            <a:chExt cx="8552382" cy="640080"/>
          </a:xfrm>
        </p:grpSpPr>
        <p:sp>
          <p:nvSpPr>
            <p:cNvPr id="298" name="p3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299"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Standard form is always a number between 1 and 10, times a power of 10.</a:t>
              </a:r>
            </a:p>
          </p:txBody>
        </p:sp>
      </p:grpSp>
      <p:sp>
        <p:nvSpPr>
          <p:cNvPr id="301"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grpSp>
        <p:nvGrpSpPr>
          <p:cNvPr id="304" name="p4_stmt"/>
          <p:cNvGrpSpPr/>
          <p:nvPr/>
        </p:nvGrpSpPr>
        <p:grpSpPr>
          <a:xfrm>
            <a:off x="1170432" y="5413247"/>
            <a:ext cx="8552383" cy="640081"/>
            <a:chOff x="0" y="0"/>
            <a:chExt cx="8552382" cy="640080"/>
          </a:xfrm>
        </p:grpSpPr>
        <p:sp>
          <p:nvSpPr>
            <p:cNvPr id="302" name="p4_bg"/>
            <p:cNvSpPr/>
            <p:nvPr/>
          </p:nvSpPr>
          <p:spPr>
            <a:xfrm>
              <a:off x="0" y="0"/>
              <a:ext cx="8552383" cy="640081"/>
            </a:xfrm>
            <a:prstGeom prst="roundRect">
              <a:avLst>
                <a:gd name="adj" fmla="val 14286"/>
              </a:avLst>
            </a:prstGeom>
            <a:solidFill>
              <a:srgbClr val="2C5C82"/>
            </a:solidFill>
            <a:ln w="12700" cap="flat">
              <a:solidFill>
                <a:srgbClr val="2C5C82"/>
              </a:solidFill>
              <a:prstDash val="solid"/>
              <a:round/>
            </a:ln>
            <a:effectLst/>
          </p:spPr>
          <p:txBody>
            <a:bodyPr wrap="square" lIns="45719" tIns="45719" rIns="45719" bIns="45719" numCol="1" anchor="t">
              <a:noAutofit/>
            </a:bodyPr>
            <a:lstStyle/>
            <a:p>
              <a:pPr/>
            </a:p>
          </p:txBody>
        </p:sp>
        <p:sp>
          <p:nvSpPr>
            <p:cNvPr id="303"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F6FB"/>
                  </a:solidFill>
                  <a:latin typeface="Arial"/>
                  <a:ea typeface="Arial"/>
                  <a:cs typeface="Arial"/>
                  <a:sym typeface="Arial"/>
                </a:defRPr>
              </a:lvl1pPr>
            </a:lstStyle>
            <a:p>
              <a:pPr/>
              <a:r>
                <a:t>9.362 rounded to 2 significant figures is 9.3.</a:t>
              </a:r>
            </a:p>
          </p:txBody>
        </p:sp>
      </p:grpSp>
      <p:sp>
        <p:nvSpPr>
          <p:cNvPr id="305"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sp>
        <p:nvSpPr>
          <p:cNvPr id="306"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D921"/>
                </a:solidFill>
                <a:latin typeface="Arial"/>
                <a:ea typeface="Arial"/>
                <a:cs typeface="Arial"/>
                <a:sym typeface="Arial"/>
              </a:defRPr>
            </a:lvl1pPr>
          </a:lstStyle>
          <a:p>
            <a:pPr/>
            <a:r>
              <a:t>Significant figures, scientific notation and the Kelvin scale all make a number exact.</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8"/>
                                        </p:tgtEl>
                                        <p:attrNameLst>
                                          <p:attrName>style.visibility</p:attrName>
                                        </p:attrNameLst>
                                      </p:cBhvr>
                                      <p:to>
                                        <p:strVal val="visible"/>
                                      </p:to>
                                    </p:set>
                                    <p:animEffect filter="fade" transition="in">
                                      <p:cBhvr>
                                        <p:cTn id="11" dur="400"/>
                                        <p:tgtEl>
                                          <p:spTgt spid="28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89"/>
                                        </p:tgtEl>
                                        <p:attrNameLst>
                                          <p:attrName>style.visibility</p:attrName>
                                        </p:attrNameLst>
                                      </p:cBhvr>
                                      <p:to>
                                        <p:strVal val="visible"/>
                                      </p:to>
                                    </p:set>
                                    <p:anim calcmode="lin" valueType="num">
                                      <p:cBhvr>
                                        <p:cTn id="16" dur="400" fill="hold"/>
                                        <p:tgtEl>
                                          <p:spTgt spid="289"/>
                                        </p:tgtEl>
                                        <p:attrNameLst>
                                          <p:attrName>ppt_w</p:attrName>
                                        </p:attrNameLst>
                                      </p:cBhvr>
                                      <p:tavLst>
                                        <p:tav tm="0">
                                          <p:val>
                                            <p:fltVal val="0"/>
                                          </p:val>
                                        </p:tav>
                                        <p:tav tm="100000">
                                          <p:val>
                                            <p:strVal val="#ppt_w"/>
                                          </p:val>
                                        </p:tav>
                                      </p:tavLst>
                                    </p:anim>
                                    <p:anim calcmode="lin" valueType="num">
                                      <p:cBhvr>
                                        <p:cTn id="17" dur="400" fill="hold"/>
                                        <p:tgtEl>
                                          <p:spTgt spid="289"/>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92"/>
                                        </p:tgtEl>
                                        <p:attrNameLst>
                                          <p:attrName>style.visibility</p:attrName>
                                        </p:attrNameLst>
                                      </p:cBhvr>
                                      <p:to>
                                        <p:strVal val="visible"/>
                                      </p:to>
                                    </p:set>
                                    <p:animEffect filter="fade" transition="in">
                                      <p:cBhvr>
                                        <p:cTn id="22" dur="400"/>
                                        <p:tgtEl>
                                          <p:spTgt spid="29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93"/>
                                        </p:tgtEl>
                                        <p:attrNameLst>
                                          <p:attrName>style.visibility</p:attrName>
                                        </p:attrNameLst>
                                      </p:cBhvr>
                                      <p:to>
                                        <p:strVal val="visible"/>
                                      </p:to>
                                    </p:set>
                                    <p:anim calcmode="lin" valueType="num">
                                      <p:cBhvr>
                                        <p:cTn id="27" dur="400" fill="hold"/>
                                        <p:tgtEl>
                                          <p:spTgt spid="293"/>
                                        </p:tgtEl>
                                        <p:attrNameLst>
                                          <p:attrName>ppt_w</p:attrName>
                                        </p:attrNameLst>
                                      </p:cBhvr>
                                      <p:tavLst>
                                        <p:tav tm="0">
                                          <p:val>
                                            <p:fltVal val="0"/>
                                          </p:val>
                                        </p:tav>
                                        <p:tav tm="100000">
                                          <p:val>
                                            <p:strVal val="#ppt_w"/>
                                          </p:val>
                                        </p:tav>
                                      </p:tavLst>
                                    </p:anim>
                                    <p:anim calcmode="lin" valueType="num">
                                      <p:cBhvr>
                                        <p:cTn id="28" dur="400" fill="hold"/>
                                        <p:tgtEl>
                                          <p:spTgt spid="293"/>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296"/>
                                        </p:tgtEl>
                                        <p:attrNameLst>
                                          <p:attrName>style.visibility</p:attrName>
                                        </p:attrNameLst>
                                      </p:cBhvr>
                                      <p:to>
                                        <p:strVal val="visible"/>
                                      </p:to>
                                    </p:set>
                                    <p:animEffect filter="fade" transition="in">
                                      <p:cBhvr>
                                        <p:cTn id="33" dur="400"/>
                                        <p:tgtEl>
                                          <p:spTgt spid="296"/>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297"/>
                                        </p:tgtEl>
                                        <p:attrNameLst>
                                          <p:attrName>style.visibility</p:attrName>
                                        </p:attrNameLst>
                                      </p:cBhvr>
                                      <p:to>
                                        <p:strVal val="visible"/>
                                      </p:to>
                                    </p:set>
                                    <p:anim calcmode="lin" valueType="num">
                                      <p:cBhvr>
                                        <p:cTn id="38" dur="400" fill="hold"/>
                                        <p:tgtEl>
                                          <p:spTgt spid="297"/>
                                        </p:tgtEl>
                                        <p:attrNameLst>
                                          <p:attrName>ppt_w</p:attrName>
                                        </p:attrNameLst>
                                      </p:cBhvr>
                                      <p:tavLst>
                                        <p:tav tm="0">
                                          <p:val>
                                            <p:fltVal val="0"/>
                                          </p:val>
                                        </p:tav>
                                        <p:tav tm="100000">
                                          <p:val>
                                            <p:strVal val="#ppt_w"/>
                                          </p:val>
                                        </p:tav>
                                      </p:tavLst>
                                    </p:anim>
                                    <p:anim calcmode="lin" valueType="num">
                                      <p:cBhvr>
                                        <p:cTn id="39" dur="400" fill="hold"/>
                                        <p:tgtEl>
                                          <p:spTgt spid="297"/>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00"/>
                                        </p:tgtEl>
                                        <p:attrNameLst>
                                          <p:attrName>style.visibility</p:attrName>
                                        </p:attrNameLst>
                                      </p:cBhvr>
                                      <p:to>
                                        <p:strVal val="visible"/>
                                      </p:to>
                                    </p:set>
                                    <p:animEffect filter="fade" transition="in">
                                      <p:cBhvr>
                                        <p:cTn id="44" dur="400"/>
                                        <p:tgtEl>
                                          <p:spTgt spid="300"/>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01"/>
                                        </p:tgtEl>
                                        <p:attrNameLst>
                                          <p:attrName>style.visibility</p:attrName>
                                        </p:attrNameLst>
                                      </p:cBhvr>
                                      <p:to>
                                        <p:strVal val="visible"/>
                                      </p:to>
                                    </p:set>
                                    <p:anim calcmode="lin" valueType="num">
                                      <p:cBhvr>
                                        <p:cTn id="49" dur="400" fill="hold"/>
                                        <p:tgtEl>
                                          <p:spTgt spid="301"/>
                                        </p:tgtEl>
                                        <p:attrNameLst>
                                          <p:attrName>ppt_w</p:attrName>
                                        </p:attrNameLst>
                                      </p:cBhvr>
                                      <p:tavLst>
                                        <p:tav tm="0">
                                          <p:val>
                                            <p:fltVal val="0"/>
                                          </p:val>
                                        </p:tav>
                                        <p:tav tm="100000">
                                          <p:val>
                                            <p:strVal val="#ppt_w"/>
                                          </p:val>
                                        </p:tav>
                                      </p:tavLst>
                                    </p:anim>
                                    <p:anim calcmode="lin" valueType="num">
                                      <p:cBhvr>
                                        <p:cTn id="50" dur="400" fill="hold"/>
                                        <p:tgtEl>
                                          <p:spTgt spid="301"/>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04"/>
                                        </p:tgtEl>
                                        <p:attrNameLst>
                                          <p:attrName>style.visibility</p:attrName>
                                        </p:attrNameLst>
                                      </p:cBhvr>
                                      <p:to>
                                        <p:strVal val="visible"/>
                                      </p:to>
                                    </p:set>
                                    <p:animEffect filter="fade" transition="in">
                                      <p:cBhvr>
                                        <p:cTn id="55" dur="400"/>
                                        <p:tgtEl>
                                          <p:spTgt spid="304"/>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05"/>
                                        </p:tgtEl>
                                        <p:attrNameLst>
                                          <p:attrName>style.visibility</p:attrName>
                                        </p:attrNameLst>
                                      </p:cBhvr>
                                      <p:to>
                                        <p:strVal val="visible"/>
                                      </p:to>
                                    </p:set>
                                    <p:anim calcmode="lin" valueType="num">
                                      <p:cBhvr>
                                        <p:cTn id="60" dur="400" fill="hold"/>
                                        <p:tgtEl>
                                          <p:spTgt spid="305"/>
                                        </p:tgtEl>
                                        <p:attrNameLst>
                                          <p:attrName>ppt_w</p:attrName>
                                        </p:attrNameLst>
                                      </p:cBhvr>
                                      <p:tavLst>
                                        <p:tav tm="0">
                                          <p:val>
                                            <p:fltVal val="0"/>
                                          </p:val>
                                        </p:tav>
                                        <p:tav tm="100000">
                                          <p:val>
                                            <p:strVal val="#ppt_w"/>
                                          </p:val>
                                        </p:tav>
                                      </p:tavLst>
                                    </p:anim>
                                    <p:anim calcmode="lin" valueType="num">
                                      <p:cBhvr>
                                        <p:cTn id="61" dur="400" fill="hold"/>
                                        <p:tgtEl>
                                          <p:spTgt spid="305"/>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06"/>
                                        </p:tgtEl>
                                        <p:attrNameLst>
                                          <p:attrName>style.visibility</p:attrName>
                                        </p:attrNameLst>
                                      </p:cBhvr>
                                      <p:to>
                                        <p:strVal val="visible"/>
                                      </p:to>
                                    </p:set>
                                    <p:animEffect filter="fade" transition="in">
                                      <p:cBhvr>
                                        <p:cTn id="66" dur="4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81"/>
                </p:tgtEl>
              </p:cMediaNode>
            </p:video>
            <p:seq concurrent="1" prevAc="none" nextAc="seek">
              <p:cTn id="68" evtFilter="cancelBubble" nodeType="interactiveSeq" restart="whenNotActive" fill="hold">
                <p:stCondLst>
                  <p:cond delay="0" evt="onClick">
                    <p:tgtEl>
                      <p:spTgt spid="281"/>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81"/>
                                        </p:tgtEl>
                                      </p:cBhvr>
                                    </p:cmd>
                                  </p:childTnLst>
                                </p:cTn>
                              </p:par>
                            </p:childTnLst>
                          </p:cTn>
                        </p:par>
                      </p:childTnLst>
                    </p:cTn>
                  </p:par>
                </p:childTnLst>
              </p:cTn>
              <p:nextCondLst>
                <p:cond delay="0" evt="onClick">
                  <p:tgtEl>
                    <p:spTgt spid="281"/>
                  </p:tgtEl>
                </p:cond>
              </p:nextCondLst>
            </p:seq>
          </p:childTnLst>
        </p:cTn>
      </p:par>
    </p:tnLst>
    <p:bldLst>
      <p:bldP build="whole" bldLvl="1" animBg="1" rev="0" advAuto="0" spid="289" grpId="3"/>
      <p:bldP build="whole" bldLvl="1" animBg="1" rev="0" advAuto="0" spid="297" grpId="7"/>
      <p:bldP build="whole" bldLvl="1" animBg="1" rev="0" advAuto="0" spid="301" grpId="9"/>
      <p:bldP build="whole" bldLvl="1" animBg="1" rev="0" advAuto="0" spid="304" grpId="10"/>
      <p:bldP build="whole" bldLvl="1" animBg="1" rev="0" advAuto="0" spid="300" grpId="8"/>
      <p:bldP build="whole" bldLvl="1" animBg="1" rev="0" advAuto="0" spid="306" grpId="12"/>
      <p:bldP build="whole" bldLvl="1" animBg="1" rev="0" advAuto="0" spid="296" grpId="6"/>
      <p:bldP build="whole" bldLvl="1" animBg="1" rev="0" advAuto="0" spid="292" grpId="4"/>
      <p:bldP build="whole" bldLvl="1" animBg="1" rev="0" advAuto="0" spid="288" grpId="2"/>
      <p:bldP build="whole" bldLvl="1" animBg="1" rev="0" advAuto="0" spid="293" grpId="5"/>
      <p:bldP build="whole" bldLvl="1" animBg="1" rev="0" advAuto="0" spid="305" grpId="11"/>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