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10 minutes, the standard length: there is no practical today. Six clicks.
I READ reference/What The Land Gives Us.pptx (the stated PREVIOUS lesson) and checked every question against the last three Do Nows in the unit (Cities And What Can Be Done, Losing The Soil, What The Land Gives Us). Nothing repeats: soil formation time and coal formation time have each been asked twice already in the last two lessons, so neither is asked again directly, and "non-renewable on a human timescale" comes back in a new shape (Q3, spot-the-error) rather than as a straight repeat of Losing The Soil's Do Now Q4.
Q1 IS RETRIEVAL, a new shape of an idea from the I Do slide of What The Land Gives Us (soil is not just crushed rock). Q2 IS THE ONE CALCULATION, unrelated in content but keeping the skill in rotation: 45 − 30 = 15 percentage points. Watch for 50% (dividing 45 by 30 instead of subtracting).
Q3 IS THE HINGE QUESTION. It retrieves Losing The Soil's central idea in a new shape (spot-the-error, not recall) and is the whole of today's objective 3 in one sentence, stated before the lesson starts. If most of the room gets this right unprompted, today's job is showing it applies far beyond soil.
Q4 TO Q6 ARE INTUITIVE, NOT TAUGHT YET. Accept any reasonable answer. They prime today's three categories: things dug up (fossil fuels, ores), things that keep arriving (sunlight, wind), and a resource that can run out if used too fast (fish). Q6 IS THE HOOK'S OWN IDEA, asked in general terms before the Hook makes it concrete and shocking.
TAUGHT IDENTICALLY TO 9G AND 9I. CHANGE THE DATE before you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minute. Four clicks.
WHERE THIS SITS. The last three lessons narrowed in: land, then soil, then cities. Today widens back out. Say "we have spent three lessons on land and soil. Today is every natural resource: what counts as one, and how we decide if it can run out."
OBJECTIVE 3 IS WHY THIS LESSON EXISTS, exactly as with What The Land Gives Us. Objectives 1 and 2 set it up: you cannot sort resources until you can define one, and you cannot explain the rate idea until you have both bins to compare. Say objective 3 directly, once, up front.
THE BANNER IS THE LESSON, stated as a claim before the evidence for it. It is also Do Now Q3, restated as the objective. Point back at it if anyone remembers answering that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minutes. Three cards on one click.
Show of hands for each, and tally on the board. Do not settle it: the next slide does.
ANSWER, FOR YOU: C. About 110,000 tonnes, a fall of roughly 93% in thirty years. Canada closed the Grand Banks cod fishery in 1992, and it has still not recovered to anywhere near 1962 levels. The catch in 1962 alone was close to the entire 1992 stock. Expect A and B to attract most of the votes: a 93% fall in thirty years is far outside most students' intuition for how fast a "renewable" resource can be lost.
DO NOT EXPLAIN WHY YET. Say "cod can breed. Cod are not fossil fuel. So why did they nearly run out?" and move to I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minutes. Two clicks: the definition and its row of examples, then the banner.
THE DEFINITION HAS TWO PARTS: from the Earth, AND not made by people. Say both. Nothing on the row of eight was manufactured; every one of them is dug, grown, caught or arrives on its own (sunlight, wind).
THIS SLIDE IS DELIBERATELY THIN. Name the eight, spend about a minute on the row, and say so: "you do not need to memorise this list, you need to reason about them next."
THE BANNER IS THE SUBTLETY WORTH A SENTENCE. A phone, a chair, a road are not natural resources themselves, because people made them. But trace any of them back and there is always a natural resource underneath: plastic from oil, metal from ore, a wooden chair from a tree. If a keen student asks "so is everything a natural resource really", say yes, once you trace it back far enough, which is exactly why objective 2 matters: knowing which of those underlying resources can run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minutes. Four clicks: the renewable card, the non-renewable card, the aquifer card, then its two bars.
OBJECTIVES 2 AND 3 TOGETHER. The two cards give the categories (objective 2). The bottom card is objective 3, the whole point of the lesson: the SAME kind of resource, water, can be renewable in one place and non-renewable in another, because what decides it is the rate, not the kind of resource.
THE FOREST LINE IN THE RENEWABLE CARD is the example to point back to all lesson: cut no faster than it regrows, a forest is renewable. Do not resolve it further here; We Do row 2 does.
THE BARS ARE ILLUSTRATIVE, NOT TO SCALE ON THE SAME AXIS: they show pumping outpacing recharge, not an exact ratio. The numbers in the text (1.5 to 3 times faster, 500 to 1,300 years to refill) are the real figures, for the Ogallala Aquifer under the American Great Plains, used for irrigation. You do not need to name it unless asked.
THE HEADLINE TO SAY OUT LOUD: "it is not what the resource is, it is whether we take it faster than it comes back." That sentence is the Objectives banner, and it is the answer to the Hook: cod can breed, but they were caught faster than they could.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5 minutes. Four clicks. Take answers from the room first, then click.
ROW 1 IS OBJECTIVE 1. It is the same confusion the definition slide pre-empted with the phone example: made FROM a natural resource is not the same as made BY people. Coal was not manufactured; it was dug up.
ROWS 2 TO 4 ARE ALL OBJECTIVE 3, from three different resources, deliberately more airtime than objectives 1 and 2 combined, per the unit's own convention (see What The Land Gives Us).
ROW 2 IS THE FOREST LINE FROM I DO, RESOLVED. "Non-renewable because it is gone" confuses one tree with the resource. The resource is the forest, and whether IT is renewable depends on the cutting rate against the regrowth rate.
ROW 3 IS THE AQUIFER IDEA, restated for a general audience without the numbers. Ask a follow-up: "so is fresh water renewable or not?" Answer: depends which water, and how fast it is taken.
ROW 4 IS THE HOOK, WORKED. Point back at the tally: cod could breed, and nearly ran out anyway, because the catch outran the breeding.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CALL. 6 minutes. Six clicks. Name a student, then ask. Students have no mini whiteboards, so answers are spoken.
Q1 AND Q2 ARE OBJECTIVE 1. Q1 needs both halves: from the Earth, not made by people. Q2 has several right answers; take two or three.
Q3 AND Q4 ARE OBJECTIVE 2, ONE EACH WAY. Both need the reason, not just the label: "renewable" alone is half an answer.
Q5 AND Q6 ARE OBJECTIVE 3, COLD, IN TWO PHRASINGS. Q5 is the forest, the running example all lesson. Q6 IS THE LESSON'S THESIS, asked directly: this is the rehearsal for Gold on the worksheet and for the game's hardest round.
IF MOST OF THE ROOM IS RIGHT BY Q4, spend longer on Q5 and Q6, and ask "can you think of a resource that is renewable for one country and non-renewable for another?" (Fresh water is the easiest answer.) IF SHORT OF TIME, cut Q1 and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17 minutes: the standard 14 and the 3 that used to be the Answers slide. Four clicks. THE GAME IS WHAT'S WRONG WITH THIS?, a Spot The Error game (a first version sorted resources into bins; that felt thin and used "sort" where "categorise" would have read better, so it was rebuilt as this), and the worksheet is the fallback, built every time.
WHAT THEY DO. Open the file "What The Earth Gives Us game" from Google Classroom. Three rounds of six questions, each on their own device: a claim is shown ("A student says: ...") and they choose what is wrong with it from a fixed menu of named errors, or "Nothing is wrong with this claim." A wrong answer says what the mistake probably was. EVERY STUDENT GETS A DIFFERENT GAME: a different draw of claims, different numbers in round 3, in a different order. The skills and their order are the same for everyone. Each game has a six-character code, shown on the start and end screens; add #CODE to the file's address to see exactly what a student saw.
THE DIFFICULTY RAMPS ON PURPOSE. Round 1 is claims about the eight clear cases from I Do 1 and the two cards on I Do 2: everyone should finish this round green. Round 2 is harder claims, always including two that confuse one example (one tree, one catch) with the whole resource. About a third of the claims in rounds 1 and 2 are actually correct, so "nothing is wrong" is a real answer, not a trap to avoid.
ROUND 3 GIVES ACTUAL RATES: a student draws a conclusion (renewable or non-renewable) from two real numbers, and the game checks whether that conclusion actually follows. Once both rates are given, "ignores the rate" is the mistake if the conclusion is wrong, and the claim can genuinely be correct too. The last two questions (17 and 18) are numeric, drawn from a small pool: how far a catch or a cut exceeds what the resource can replace, and how many years an aquifer pumped faster than it recharges would take to lose half its water. Expect most students to fail these two. That is the design; tell them before they start. The numbers in round 3 are invented; the reasoning is the point.
AT THE END OF EACH ROUND, and again on the last screen, there is a drop-down for every round with how long each question took and, for a wrong one, what the student wrote and how to get to the answer. The "Your mistakes" summary groups by the misconception a question was testing, not by which wrong option was tapped, so "3 times" always means the same kind of mistake. There is a "Stop and see my results" button on every question.
ON AN iPAD, an HTML file attached in Google Classroom can be awkward to open. Check before relying on it. If a student cannot open it, finishes early or is absent, the worksheet is the fallback: ten questions in Bronze, Silver and Gold, with the answers printed UPSIDE DOWN on its last page.
CIRCULATE WITH ONE QUESTION: "does the reason given actually support the conclusion?" AT 3 MINUTES REMAINING, stop them. There is no Answers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PLENARY. 3 minutes. Eleven clicks: each statement, then its answer, then the closing line.
Q1 IS OBJECTIVE 1, PLAINLY. Coal, ore and oil are all dug up, not made; a phone is made, from resources.
Q2 IS OBJECTIVE 2, THE CLEAREST CASE. Q3 IS THE MISCONCEPTION AND OBJECTIVE 3 DIRECTLY: "can regrow" is not the same as "does regrow fast enough". If this splits the room, that is the first five minutes of next lesson, not a footnote.
Q4 SETTLES THE FOREST LINE from I Do and We Do, one last time. Q5 IS THE MOST COMMON REAL-WORLD VERSION OF THE MISCONCEPTION, the exact wrong claim We Do row 2 corrected, now asked cold.
THE CLOSING LINE REPEATS THE OBJECTIVES BANNER WORD FOR WORD, on purpose, the same pattern as the rest of the unit. THIS LESSON MAKES NO PROMISE FOR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892808"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DO NOW · 10 MIN</a:t>
            </a:r>
            <a:endParaRPr lang="en-US" sz="1100" dirty="0"/>
          </a:p>
        </p:txBody>
      </p:sp>
      <p:sp>
        <p:nvSpPr>
          <p:cNvPr id="4" name="lesson_title"/>
          <p:cNvSpPr txBox="1"/>
          <p:nvPr/>
        </p:nvSpPr>
        <p:spPr>
          <a:xfrm>
            <a:off x="2377440" y="201168"/>
            <a:ext cx="7406640" cy="603504"/>
          </a:xfrm>
          <a:prstGeom prst="rect">
            <a:avLst/>
          </a:prstGeom>
          <a:noFill/>
          <a:ln/>
        </p:spPr>
        <p:txBody>
          <a:bodyPr wrap="square" lIns="0" tIns="0" rIns="0" bIns="0" rtlCol="0" anchor="ctr"/>
          <a:lstStyle/>
          <a:p>
            <a:pPr algn="ctr" indent="0" marL="0">
              <a:buNone/>
            </a:pPr>
            <a:r>
              <a:rPr lang="en-US" sz="2200" b="1" dirty="0">
                <a:solidFill>
                  <a:srgbClr val="3D2B1F"/>
                </a:solidFill>
                <a:latin typeface="Georgia" pitchFamily="34" charset="0"/>
                <a:ea typeface="Georgia" pitchFamily="34" charset="-122"/>
                <a:cs typeface="Georgia" pitchFamily="34" charset="-120"/>
              </a:rPr>
              <a:t>What The Earth Gives Us</a:t>
            </a:r>
            <a:endParaRPr lang="en-US" sz="2200" dirty="0"/>
          </a:p>
        </p:txBody>
      </p:sp>
      <p:sp>
        <p:nvSpPr>
          <p:cNvPr id="5" name="lesson_date"/>
          <p:cNvSpPr txBox="1"/>
          <p:nvPr/>
        </p:nvSpPr>
        <p:spPr>
          <a:xfrm>
            <a:off x="8534095" y="310896"/>
            <a:ext cx="3108960" cy="329184"/>
          </a:xfrm>
          <a:prstGeom prst="rect">
            <a:avLst/>
          </a:prstGeom>
          <a:noFill/>
          <a:ln/>
        </p:spPr>
        <p:txBody>
          <a:bodyPr wrap="square" lIns="0" tIns="0" rIns="0" bIns="0" rtlCol="0" anchor="ctr"/>
          <a:lstStyle/>
          <a:p>
            <a:pPr algn="r" indent="0" marL="0">
              <a:buNone/>
            </a:pPr>
            <a:r>
              <a:rPr lang="en-US" sz="1300" dirty="0">
                <a:solidFill>
                  <a:srgbClr val="6B5A48"/>
                </a:solidFill>
                <a:latin typeface="Arial" pitchFamily="34" charset="0"/>
                <a:ea typeface="Arial" pitchFamily="34" charset="-122"/>
                <a:cs typeface="Arial" pitchFamily="34" charset="-120"/>
              </a:rPr>
              <a:t>Thursday 15 October 2026</a:t>
            </a:r>
            <a:endParaRPr lang="en-US" sz="1300" dirty="0"/>
          </a:p>
        </p:txBody>
      </p:sp>
      <p:sp>
        <p:nvSpPr>
          <p:cNvPr id="6" name="rule"/>
          <p:cNvSpPr/>
          <p:nvPr/>
        </p:nvSpPr>
        <p:spPr>
          <a:xfrm>
            <a:off x="1170432" y="896112"/>
            <a:ext cx="10472623" cy="36576"/>
          </a:xfrm>
          <a:prstGeom prst="rect">
            <a:avLst/>
          </a:prstGeom>
          <a:solidFill>
            <a:srgbClr val="C99A3D"/>
          </a:solidFill>
          <a:ln w="12700">
            <a:solidFill>
              <a:srgbClr val="C99A3D"/>
            </a:solidFill>
            <a:prstDash val="solid"/>
          </a:ln>
        </p:spPr>
      </p:sp>
      <p:sp>
        <p:nvSpPr>
          <p:cNvPr id="7" name="d0_bg"/>
          <p:cNvSpPr/>
          <p:nvPr/>
        </p:nvSpPr>
        <p:spPr>
          <a:xfrm>
            <a:off x="1170432" y="1133856"/>
            <a:ext cx="5099152" cy="1481328"/>
          </a:xfrm>
          <a:prstGeom prst="roundRect">
            <a:avLst>
              <a:gd name="adj" fmla="val 6173"/>
            </a:avLst>
          </a:prstGeom>
          <a:solidFill>
            <a:srgbClr val="FFFFFF"/>
          </a:solidFill>
          <a:ln w="16510">
            <a:solidFill>
              <a:srgbClr val="E4D8BE"/>
            </a:solidFill>
            <a:prstDash val="solid"/>
          </a:ln>
        </p:spPr>
      </p:sp>
      <p:sp>
        <p:nvSpPr>
          <p:cNvPr id="8" name="d0_badge"/>
          <p:cNvSpPr/>
          <p:nvPr/>
        </p:nvSpPr>
        <p:spPr>
          <a:xfrm>
            <a:off x="1371600" y="1426464"/>
            <a:ext cx="384048" cy="384048"/>
          </a:xfrm>
          <a:prstGeom prst="ellipse">
            <a:avLst/>
          </a:prstGeom>
          <a:solidFill>
            <a:srgbClr val="C99A3D"/>
          </a:solidFill>
          <a:ln w="12700">
            <a:solidFill>
              <a:srgbClr val="C99A3D"/>
            </a:solidFill>
            <a:prstDash val="solid"/>
          </a:ln>
        </p:spPr>
      </p:sp>
      <p:sp>
        <p:nvSpPr>
          <p:cNvPr id="9" name="d0_num"/>
          <p:cNvSpPr txBox="1"/>
          <p:nvPr/>
        </p:nvSpPr>
        <p:spPr>
          <a:xfrm>
            <a:off x="1371600" y="1426464"/>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1</a:t>
            </a:r>
            <a:endParaRPr lang="en-US" sz="1400" dirty="0"/>
          </a:p>
        </p:txBody>
      </p:sp>
      <p:sp>
        <p:nvSpPr>
          <p:cNvPr id="10" name="d0_q"/>
          <p:cNvSpPr txBox="1"/>
          <p:nvPr/>
        </p:nvSpPr>
        <p:spPr>
          <a:xfrm>
            <a:off x="1901952" y="1261872"/>
            <a:ext cx="4166464" cy="713232"/>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Name two things soil is made of, other than weathered rock.</a:t>
            </a:r>
            <a:endParaRPr lang="en-US" sz="1500" dirty="0"/>
          </a:p>
        </p:txBody>
      </p:sp>
      <p:sp>
        <p:nvSpPr>
          <p:cNvPr id="11" name="d0_a"/>
          <p:cNvSpPr/>
          <p:nvPr/>
        </p:nvSpPr>
        <p:spPr>
          <a:xfrm>
            <a:off x="1371600" y="2048256"/>
            <a:ext cx="4696816" cy="438912"/>
          </a:xfrm>
          <a:prstGeom prst="roundRect">
            <a:avLst>
              <a:gd name="adj" fmla="val 20833"/>
            </a:avLst>
          </a:prstGeom>
          <a:solidFill>
            <a:srgbClr val="F2EBDD"/>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Any two: organic matter (dead plant and animal remains), living organisms, water, air.</a:t>
            </a:r>
            <a:endParaRPr lang="en-US" sz="1350" dirty="0"/>
          </a:p>
        </p:txBody>
      </p:sp>
      <p:sp>
        <p:nvSpPr>
          <p:cNvPr id="12" name="d1_bg"/>
          <p:cNvSpPr/>
          <p:nvPr/>
        </p:nvSpPr>
        <p:spPr>
          <a:xfrm>
            <a:off x="6543904" y="1133856"/>
            <a:ext cx="5099152" cy="1481328"/>
          </a:xfrm>
          <a:prstGeom prst="roundRect">
            <a:avLst>
              <a:gd name="adj" fmla="val 6173"/>
            </a:avLst>
          </a:prstGeom>
          <a:solidFill>
            <a:srgbClr val="FFFFFF"/>
          </a:solidFill>
          <a:ln w="16510">
            <a:solidFill>
              <a:srgbClr val="E4D8BE"/>
            </a:solidFill>
            <a:prstDash val="solid"/>
          </a:ln>
        </p:spPr>
      </p:sp>
      <p:sp>
        <p:nvSpPr>
          <p:cNvPr id="13" name="d1_badge"/>
          <p:cNvSpPr/>
          <p:nvPr/>
        </p:nvSpPr>
        <p:spPr>
          <a:xfrm>
            <a:off x="6745072" y="1426464"/>
            <a:ext cx="384048" cy="384048"/>
          </a:xfrm>
          <a:prstGeom prst="ellipse">
            <a:avLst/>
          </a:prstGeom>
          <a:solidFill>
            <a:srgbClr val="C99A3D"/>
          </a:solidFill>
          <a:ln w="12700">
            <a:solidFill>
              <a:srgbClr val="C99A3D"/>
            </a:solidFill>
            <a:prstDash val="solid"/>
          </a:ln>
        </p:spPr>
      </p:sp>
      <p:sp>
        <p:nvSpPr>
          <p:cNvPr id="14" name="d1_num"/>
          <p:cNvSpPr txBox="1"/>
          <p:nvPr/>
        </p:nvSpPr>
        <p:spPr>
          <a:xfrm>
            <a:off x="6745072" y="1426464"/>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2</a:t>
            </a:r>
            <a:endParaRPr lang="en-US" sz="1400" dirty="0"/>
          </a:p>
        </p:txBody>
      </p:sp>
      <p:sp>
        <p:nvSpPr>
          <p:cNvPr id="15" name="d1_q"/>
          <p:cNvSpPr txBox="1"/>
          <p:nvPr/>
        </p:nvSpPr>
        <p:spPr>
          <a:xfrm>
            <a:off x="7275424" y="1261872"/>
            <a:ext cx="4166464" cy="713232"/>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A country clears land for farming so it grows from 30% to 45% of the country's area. Calculate the increase, in percentage points.</a:t>
            </a:r>
            <a:endParaRPr lang="en-US" sz="1500" dirty="0"/>
          </a:p>
        </p:txBody>
      </p:sp>
      <p:sp>
        <p:nvSpPr>
          <p:cNvPr id="16" name="d1_a"/>
          <p:cNvSpPr/>
          <p:nvPr/>
        </p:nvSpPr>
        <p:spPr>
          <a:xfrm>
            <a:off x="6745072" y="2048256"/>
            <a:ext cx="4696816" cy="438912"/>
          </a:xfrm>
          <a:prstGeom prst="roundRect">
            <a:avLst>
              <a:gd name="adj" fmla="val 20833"/>
            </a:avLst>
          </a:prstGeom>
          <a:solidFill>
            <a:srgbClr val="F2EBDD"/>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15 percentage points.</a:t>
            </a:r>
            <a:endParaRPr lang="en-US" sz="1350" dirty="0"/>
          </a:p>
        </p:txBody>
      </p:sp>
      <p:sp>
        <p:nvSpPr>
          <p:cNvPr id="17" name="d2_bg"/>
          <p:cNvSpPr/>
          <p:nvPr/>
        </p:nvSpPr>
        <p:spPr>
          <a:xfrm>
            <a:off x="1170432" y="2798064"/>
            <a:ext cx="5099152" cy="1481328"/>
          </a:xfrm>
          <a:prstGeom prst="roundRect">
            <a:avLst>
              <a:gd name="adj" fmla="val 6173"/>
            </a:avLst>
          </a:prstGeom>
          <a:solidFill>
            <a:srgbClr val="FFFFFF"/>
          </a:solidFill>
          <a:ln w="16510">
            <a:solidFill>
              <a:srgbClr val="E4D8BE"/>
            </a:solidFill>
            <a:prstDash val="solid"/>
          </a:ln>
        </p:spPr>
      </p:sp>
      <p:sp>
        <p:nvSpPr>
          <p:cNvPr id="18" name="d2_badge"/>
          <p:cNvSpPr/>
          <p:nvPr/>
        </p:nvSpPr>
        <p:spPr>
          <a:xfrm>
            <a:off x="1371600" y="3090672"/>
            <a:ext cx="384048" cy="384048"/>
          </a:xfrm>
          <a:prstGeom prst="ellipse">
            <a:avLst/>
          </a:prstGeom>
          <a:solidFill>
            <a:srgbClr val="C99A3D"/>
          </a:solidFill>
          <a:ln w="12700">
            <a:solidFill>
              <a:srgbClr val="C99A3D"/>
            </a:solidFill>
            <a:prstDash val="solid"/>
          </a:ln>
        </p:spPr>
      </p:sp>
      <p:sp>
        <p:nvSpPr>
          <p:cNvPr id="19" name="d2_num"/>
          <p:cNvSpPr txBox="1"/>
          <p:nvPr/>
        </p:nvSpPr>
        <p:spPr>
          <a:xfrm>
            <a:off x="1371600" y="3090672"/>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3</a:t>
            </a:r>
            <a:endParaRPr lang="en-US" sz="1400" dirty="0"/>
          </a:p>
        </p:txBody>
      </p:sp>
      <p:sp>
        <p:nvSpPr>
          <p:cNvPr id="20" name="d2_q"/>
          <p:cNvSpPr txBox="1"/>
          <p:nvPr/>
        </p:nvSpPr>
        <p:spPr>
          <a:xfrm>
            <a:off x="1901952" y="2926080"/>
            <a:ext cx="4166464" cy="713232"/>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A student says: "Soil is renewable, because new soil can form." Explain the mistake.</a:t>
            </a:r>
            <a:endParaRPr lang="en-US" sz="1500" dirty="0"/>
          </a:p>
        </p:txBody>
      </p:sp>
      <p:sp>
        <p:nvSpPr>
          <p:cNvPr id="21" name="d2_a"/>
          <p:cNvSpPr/>
          <p:nvPr/>
        </p:nvSpPr>
        <p:spPr>
          <a:xfrm>
            <a:off x="1371600" y="3712464"/>
            <a:ext cx="4696816" cy="438912"/>
          </a:xfrm>
          <a:prstGeom prst="roundRect">
            <a:avLst>
              <a:gd name="adj" fmla="val 20833"/>
            </a:avLst>
          </a:prstGeom>
          <a:solidFill>
            <a:srgbClr val="F2EBDD"/>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Soil can form again, but far slower than it is used or lost, so on a human timescale it counts as non-renewable.</a:t>
            </a:r>
            <a:endParaRPr lang="en-US" sz="1350" dirty="0"/>
          </a:p>
        </p:txBody>
      </p:sp>
      <p:sp>
        <p:nvSpPr>
          <p:cNvPr id="22" name="d3_bg"/>
          <p:cNvSpPr/>
          <p:nvPr/>
        </p:nvSpPr>
        <p:spPr>
          <a:xfrm>
            <a:off x="6543904" y="2798064"/>
            <a:ext cx="5099152" cy="1481328"/>
          </a:xfrm>
          <a:prstGeom prst="roundRect">
            <a:avLst>
              <a:gd name="adj" fmla="val 6173"/>
            </a:avLst>
          </a:prstGeom>
          <a:solidFill>
            <a:srgbClr val="FFFFFF"/>
          </a:solidFill>
          <a:ln w="16510">
            <a:solidFill>
              <a:srgbClr val="E4D8BE"/>
            </a:solidFill>
            <a:prstDash val="solid"/>
          </a:ln>
        </p:spPr>
      </p:sp>
      <p:sp>
        <p:nvSpPr>
          <p:cNvPr id="23" name="d3_badge"/>
          <p:cNvSpPr/>
          <p:nvPr/>
        </p:nvSpPr>
        <p:spPr>
          <a:xfrm>
            <a:off x="6745072" y="3090672"/>
            <a:ext cx="384048" cy="384048"/>
          </a:xfrm>
          <a:prstGeom prst="ellipse">
            <a:avLst/>
          </a:prstGeom>
          <a:solidFill>
            <a:srgbClr val="C99A3D"/>
          </a:solidFill>
          <a:ln w="12700">
            <a:solidFill>
              <a:srgbClr val="C99A3D"/>
            </a:solidFill>
            <a:prstDash val="solid"/>
          </a:ln>
        </p:spPr>
      </p:sp>
      <p:sp>
        <p:nvSpPr>
          <p:cNvPr id="24" name="d3_num"/>
          <p:cNvSpPr txBox="1"/>
          <p:nvPr/>
        </p:nvSpPr>
        <p:spPr>
          <a:xfrm>
            <a:off x="6745072" y="3090672"/>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4</a:t>
            </a:r>
            <a:endParaRPr lang="en-US" sz="1400" dirty="0"/>
          </a:p>
        </p:txBody>
      </p:sp>
      <p:sp>
        <p:nvSpPr>
          <p:cNvPr id="25" name="d3_q"/>
          <p:cNvSpPr txBox="1"/>
          <p:nvPr/>
        </p:nvSpPr>
        <p:spPr>
          <a:xfrm>
            <a:off x="7275424" y="2926080"/>
            <a:ext cx="4166464" cy="713232"/>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Name one thing you use today that came from under the ground.</a:t>
            </a:r>
            <a:endParaRPr lang="en-US" sz="1500" dirty="0"/>
          </a:p>
        </p:txBody>
      </p:sp>
      <p:sp>
        <p:nvSpPr>
          <p:cNvPr id="26" name="d3_a"/>
          <p:cNvSpPr/>
          <p:nvPr/>
        </p:nvSpPr>
        <p:spPr>
          <a:xfrm>
            <a:off x="6745072" y="3712464"/>
            <a:ext cx="4696816" cy="438912"/>
          </a:xfrm>
          <a:prstGeom prst="roundRect">
            <a:avLst>
              <a:gd name="adj" fmla="val 20833"/>
            </a:avLst>
          </a:prstGeom>
          <a:solidFill>
            <a:srgbClr val="F2EBDD"/>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Any reasonable answer: coal, oil, gas, a metal, a gemstone, water.</a:t>
            </a:r>
            <a:endParaRPr lang="en-US" sz="1350" dirty="0"/>
          </a:p>
        </p:txBody>
      </p:sp>
      <p:sp>
        <p:nvSpPr>
          <p:cNvPr id="27" name="d4_bg"/>
          <p:cNvSpPr/>
          <p:nvPr/>
        </p:nvSpPr>
        <p:spPr>
          <a:xfrm>
            <a:off x="1170432" y="4462272"/>
            <a:ext cx="5099152" cy="1481328"/>
          </a:xfrm>
          <a:prstGeom prst="roundRect">
            <a:avLst>
              <a:gd name="adj" fmla="val 6173"/>
            </a:avLst>
          </a:prstGeom>
          <a:solidFill>
            <a:srgbClr val="FFFFFF"/>
          </a:solidFill>
          <a:ln w="16510">
            <a:solidFill>
              <a:srgbClr val="E4D8BE"/>
            </a:solidFill>
            <a:prstDash val="solid"/>
          </a:ln>
        </p:spPr>
      </p:sp>
      <p:sp>
        <p:nvSpPr>
          <p:cNvPr id="28" name="d4_badge"/>
          <p:cNvSpPr/>
          <p:nvPr/>
        </p:nvSpPr>
        <p:spPr>
          <a:xfrm>
            <a:off x="1371600" y="4754880"/>
            <a:ext cx="384048" cy="384048"/>
          </a:xfrm>
          <a:prstGeom prst="ellipse">
            <a:avLst/>
          </a:prstGeom>
          <a:solidFill>
            <a:srgbClr val="C99A3D"/>
          </a:solidFill>
          <a:ln w="12700">
            <a:solidFill>
              <a:srgbClr val="C99A3D"/>
            </a:solidFill>
            <a:prstDash val="solid"/>
          </a:ln>
        </p:spPr>
      </p:sp>
      <p:sp>
        <p:nvSpPr>
          <p:cNvPr id="29" name="d4_num"/>
          <p:cNvSpPr txBox="1"/>
          <p:nvPr/>
        </p:nvSpPr>
        <p:spPr>
          <a:xfrm>
            <a:off x="1371600" y="4754880"/>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5</a:t>
            </a:r>
            <a:endParaRPr lang="en-US" sz="1400" dirty="0"/>
          </a:p>
        </p:txBody>
      </p:sp>
      <p:sp>
        <p:nvSpPr>
          <p:cNvPr id="30" name="d4_q"/>
          <p:cNvSpPr txBox="1"/>
          <p:nvPr/>
        </p:nvSpPr>
        <p:spPr>
          <a:xfrm>
            <a:off x="1901952" y="4590288"/>
            <a:ext cx="4166464" cy="713232"/>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Name one way we get energy from the Sun or the wind, without burning anything.</a:t>
            </a:r>
            <a:endParaRPr lang="en-US" sz="1500" dirty="0"/>
          </a:p>
        </p:txBody>
      </p:sp>
      <p:sp>
        <p:nvSpPr>
          <p:cNvPr id="31" name="d4_a"/>
          <p:cNvSpPr/>
          <p:nvPr/>
        </p:nvSpPr>
        <p:spPr>
          <a:xfrm>
            <a:off x="1371600" y="5376672"/>
            <a:ext cx="4696816" cy="438912"/>
          </a:xfrm>
          <a:prstGeom prst="roundRect">
            <a:avLst>
              <a:gd name="adj" fmla="val 20833"/>
            </a:avLst>
          </a:prstGeom>
          <a:solidFill>
            <a:srgbClr val="F2EBDD"/>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Any reasonable answer: solar panels, wind turbines.</a:t>
            </a:r>
            <a:endParaRPr lang="en-US" sz="1350" dirty="0"/>
          </a:p>
        </p:txBody>
      </p:sp>
      <p:sp>
        <p:nvSpPr>
          <p:cNvPr id="32" name="d5_bg"/>
          <p:cNvSpPr/>
          <p:nvPr/>
        </p:nvSpPr>
        <p:spPr>
          <a:xfrm>
            <a:off x="6543904" y="4462272"/>
            <a:ext cx="5099152" cy="1481328"/>
          </a:xfrm>
          <a:prstGeom prst="roundRect">
            <a:avLst>
              <a:gd name="adj" fmla="val 6173"/>
            </a:avLst>
          </a:prstGeom>
          <a:solidFill>
            <a:srgbClr val="FFFFFF"/>
          </a:solidFill>
          <a:ln w="16510">
            <a:solidFill>
              <a:srgbClr val="E4D8BE"/>
            </a:solidFill>
            <a:prstDash val="solid"/>
          </a:ln>
        </p:spPr>
      </p:sp>
      <p:sp>
        <p:nvSpPr>
          <p:cNvPr id="33" name="d5_badge"/>
          <p:cNvSpPr/>
          <p:nvPr/>
        </p:nvSpPr>
        <p:spPr>
          <a:xfrm>
            <a:off x="6745072" y="4754880"/>
            <a:ext cx="384048" cy="384048"/>
          </a:xfrm>
          <a:prstGeom prst="ellipse">
            <a:avLst/>
          </a:prstGeom>
          <a:solidFill>
            <a:srgbClr val="C99A3D"/>
          </a:solidFill>
          <a:ln w="12700">
            <a:solidFill>
              <a:srgbClr val="C99A3D"/>
            </a:solidFill>
            <a:prstDash val="solid"/>
          </a:ln>
        </p:spPr>
      </p:sp>
      <p:sp>
        <p:nvSpPr>
          <p:cNvPr id="34" name="d5_num"/>
          <p:cNvSpPr txBox="1"/>
          <p:nvPr/>
        </p:nvSpPr>
        <p:spPr>
          <a:xfrm>
            <a:off x="6745072" y="4754880"/>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6</a:t>
            </a:r>
            <a:endParaRPr lang="en-US" sz="1400" dirty="0"/>
          </a:p>
        </p:txBody>
      </p:sp>
      <p:sp>
        <p:nvSpPr>
          <p:cNvPr id="35" name="d5_q"/>
          <p:cNvSpPr txBox="1"/>
          <p:nvPr/>
        </p:nvSpPr>
        <p:spPr>
          <a:xfrm>
            <a:off x="7275424" y="4590288"/>
            <a:ext cx="4166464" cy="713232"/>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A fish population is caught faster than it can breed. Predict what happens to the number of fish over time.</a:t>
            </a:r>
            <a:endParaRPr lang="en-US" sz="1500" dirty="0"/>
          </a:p>
        </p:txBody>
      </p:sp>
      <p:sp>
        <p:nvSpPr>
          <p:cNvPr id="36" name="d5_a"/>
          <p:cNvSpPr/>
          <p:nvPr/>
        </p:nvSpPr>
        <p:spPr>
          <a:xfrm>
            <a:off x="6745072" y="5376672"/>
            <a:ext cx="4696816" cy="438912"/>
          </a:xfrm>
          <a:prstGeom prst="roundRect">
            <a:avLst>
              <a:gd name="adj" fmla="val 20833"/>
            </a:avLst>
          </a:prstGeom>
          <a:solidFill>
            <a:srgbClr val="F2EBDD"/>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It falls. Caught fast enough, it could run out.</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wipe(right)">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16"/>
                                        </p:tgtEl>
                                        <p:attrNameLst>
                                          <p:attrName>style.visibility</p:attrName>
                                        </p:attrNameLst>
                                      </p:cBhvr>
                                      <p:to>
                                        <p:strVal val="visible"/>
                                      </p:to>
                                    </p:set>
                                    <p:animEffect transition="in" filter="wipe(right)">
                                      <p:cBhvr>
                                        <p:cTn id="9" dur="4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right)">
                                      <p:cBhvr>
                                        <p:cTn id="14" dur="4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right)">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22" presetClass="entr" presetSubtype="8" fill="hold" grpId="0"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wipe(right)">
                                      <p:cBhvr>
                                        <p:cTn id="24" dur="400"/>
                                        <p:tgtEl>
                                          <p:spTgt spid="31"/>
                                        </p:tgtEl>
                                      </p:cBhvr>
                                    </p:animEffect>
                                  </p:childTnLst>
                                </p:cTn>
                              </p:par>
                            </p:childTnLst>
                          </p:cTn>
                        </p:par>
                      </p:childTnLst>
                    </p:cTn>
                  </p:par>
                  <p:par>
                    <p:cTn id="31" fill="hold">
                      <p:stCondLst>
                        <p:cond delay="indefinite"/>
                      </p:stCondLst>
                      <p:childTnLst>
                        <p:par>
                          <p:cTn id="32"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wipe(right)">
                                      <p:cBhvr>
                                        <p:cTn id="29"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33" fill="hold" display="0">
                  <p:stCondLst>
                    <p:cond delay="0"/>
                  </p:stCondLst>
                  <p:endCondLst>
                    <p:cond evt="onStopAudio" delay="0">
                      <p:tgtEl>
                        <p:sldTgt/>
                      </p:tgtEl>
                    </p:cond>
                  </p:endCondLst>
                </p:cTn>
                <p:tgtEl>
                  <p:spTgt spid="3"/>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713586"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TODAY · 1 MIN</a:t>
            </a:r>
            <a:endParaRPr lang="en-US" sz="1100" dirty="0"/>
          </a:p>
        </p:txBody>
      </p:sp>
      <p:sp>
        <p:nvSpPr>
          <p:cNvPr id="4"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000" b="1" dirty="0">
                <a:solidFill>
                  <a:srgbClr val="3D2B1F"/>
                </a:solidFill>
                <a:latin typeface="Georgia" pitchFamily="34" charset="0"/>
                <a:ea typeface="Georgia" pitchFamily="34" charset="-122"/>
                <a:cs typeface="Georgia" pitchFamily="34" charset="-120"/>
              </a:rPr>
              <a:t>Objectives</a:t>
            </a:r>
            <a:endParaRPr lang="en-US" sz="3000" dirty="0"/>
          </a:p>
        </p:txBody>
      </p:sp>
      <p:grpSp>
        <p:nvGrpSpPr>
          <p:cNvPr id="18" name="o0"/>
          <p:cNvGrpSpPr/>
          <p:nvPr/>
        </p:nvGrpSpPr>
        <p:grpSpPr>
          <a:xfrm>
            <a:off x="1170432" y="2194560"/>
            <a:ext cx="3307994" cy="1792224"/>
            <a:chOff x="1170432" y="2194560"/>
            <a:chExt cx="3307994" cy="1792224"/>
          </a:xfrm>
        </p:grpSpPr>
        <p:sp>
          <p:nvSpPr>
            <p:cNvPr id="5" name="o0_bg"/>
            <p:cNvSpPr/>
            <p:nvPr/>
          </p:nvSpPr>
          <p:spPr>
            <a:xfrm>
              <a:off x="1170432" y="2194560"/>
              <a:ext cx="3307994" cy="1792224"/>
            </a:xfrm>
            <a:prstGeom prst="roundRect">
              <a:avLst>
                <a:gd name="adj" fmla="val 5102"/>
              </a:avLst>
            </a:prstGeom>
            <a:solidFill>
              <a:srgbClr val="FFFFFF"/>
            </a:solidFill>
            <a:ln w="16510">
              <a:solidFill>
                <a:srgbClr val="E4D8BE"/>
              </a:solidFill>
              <a:prstDash val="solid"/>
            </a:ln>
          </p:spPr>
        </p:sp>
        <p:sp>
          <p:nvSpPr>
            <p:cNvPr id="6" name="o0_badge"/>
            <p:cNvSpPr/>
            <p:nvPr/>
          </p:nvSpPr>
          <p:spPr>
            <a:xfrm>
              <a:off x="1408176" y="2395728"/>
              <a:ext cx="384048" cy="384048"/>
            </a:xfrm>
            <a:prstGeom prst="ellipse">
              <a:avLst/>
            </a:prstGeom>
            <a:solidFill>
              <a:srgbClr val="C99A3D"/>
            </a:solidFill>
            <a:ln w="12700">
              <a:solidFill>
                <a:srgbClr val="C99A3D"/>
              </a:solidFill>
              <a:prstDash val="solid"/>
            </a:ln>
          </p:spPr>
        </p:sp>
        <p:sp>
          <p:nvSpPr>
            <p:cNvPr id="7" name="o0_num"/>
            <p:cNvSpPr txBox="1"/>
            <p:nvPr/>
          </p:nvSpPr>
          <p:spPr>
            <a:xfrm>
              <a:off x="1408176" y="2395728"/>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1</a:t>
              </a:r>
              <a:endParaRPr lang="en-US" sz="1400" dirty="0"/>
            </a:p>
          </p:txBody>
        </p:sp>
        <p:sp>
          <p:nvSpPr>
            <p:cNvPr id="8" name="o0_t"/>
            <p:cNvSpPr txBox="1"/>
            <p:nvPr/>
          </p:nvSpPr>
          <p:spPr>
            <a:xfrm>
              <a:off x="1408176" y="2907792"/>
              <a:ext cx="2832506" cy="914400"/>
            </a:xfrm>
            <a:prstGeom prst="rect">
              <a:avLst/>
            </a:prstGeom>
            <a:noFill/>
            <a:ln/>
          </p:spPr>
          <p:txBody>
            <a:bodyPr wrap="square" lIns="0" tIns="0" rIns="0" bIns="0" rtlCol="0" anchor="t"/>
            <a:lstStyle/>
            <a:p>
              <a:pPr indent="0" marL="0">
                <a:lnSpc>
                  <a:spcPts val="2000"/>
                </a:lnSpc>
                <a:buNone/>
              </a:pPr>
              <a:r>
                <a:rPr lang="en-US" sz="1550" b="1" dirty="0">
                  <a:solidFill>
                    <a:srgbClr val="2A1D14"/>
                  </a:solidFill>
                  <a:latin typeface="Arial" pitchFamily="34" charset="0"/>
                  <a:ea typeface="Arial" pitchFamily="34" charset="-122"/>
                  <a:cs typeface="Arial" pitchFamily="34" charset="-120"/>
                </a:rPr>
                <a:t>Define a natural resource.</a:t>
              </a:r>
              <a:endParaRPr lang="en-US" sz="1550" dirty="0"/>
            </a:p>
          </p:txBody>
        </p:sp>
      </p:grpSp>
      <p:grpSp>
        <p:nvGrpSpPr>
          <p:cNvPr id="19" name="o1"/>
          <p:cNvGrpSpPr/>
          <p:nvPr/>
        </p:nvGrpSpPr>
        <p:grpSpPr>
          <a:xfrm>
            <a:off x="4752746" y="2194560"/>
            <a:ext cx="3307994" cy="1792224"/>
            <a:chOff x="4752746" y="2194560"/>
            <a:chExt cx="3307994" cy="1792224"/>
          </a:xfrm>
        </p:grpSpPr>
        <p:sp>
          <p:nvSpPr>
            <p:cNvPr id="9" name="o1_bg"/>
            <p:cNvSpPr/>
            <p:nvPr/>
          </p:nvSpPr>
          <p:spPr>
            <a:xfrm>
              <a:off x="4752746" y="2194560"/>
              <a:ext cx="3307994" cy="1792224"/>
            </a:xfrm>
            <a:prstGeom prst="roundRect">
              <a:avLst>
                <a:gd name="adj" fmla="val 5102"/>
              </a:avLst>
            </a:prstGeom>
            <a:solidFill>
              <a:srgbClr val="FFFFFF"/>
            </a:solidFill>
            <a:ln w="16510">
              <a:solidFill>
                <a:srgbClr val="E4D8BE"/>
              </a:solidFill>
              <a:prstDash val="solid"/>
            </a:ln>
          </p:spPr>
        </p:sp>
        <p:sp>
          <p:nvSpPr>
            <p:cNvPr id="10" name="o1_badge"/>
            <p:cNvSpPr/>
            <p:nvPr/>
          </p:nvSpPr>
          <p:spPr>
            <a:xfrm>
              <a:off x="4990490" y="2395728"/>
              <a:ext cx="384048" cy="384048"/>
            </a:xfrm>
            <a:prstGeom prst="ellipse">
              <a:avLst/>
            </a:prstGeom>
            <a:solidFill>
              <a:srgbClr val="C99A3D"/>
            </a:solidFill>
            <a:ln w="12700">
              <a:solidFill>
                <a:srgbClr val="C99A3D"/>
              </a:solidFill>
              <a:prstDash val="solid"/>
            </a:ln>
          </p:spPr>
        </p:sp>
        <p:sp>
          <p:nvSpPr>
            <p:cNvPr id="11" name="o1_num"/>
            <p:cNvSpPr txBox="1"/>
            <p:nvPr/>
          </p:nvSpPr>
          <p:spPr>
            <a:xfrm>
              <a:off x="4990490" y="2395728"/>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2</a:t>
              </a:r>
              <a:endParaRPr lang="en-US" sz="1400" dirty="0"/>
            </a:p>
          </p:txBody>
        </p:sp>
        <p:sp>
          <p:nvSpPr>
            <p:cNvPr id="12" name="o1_t"/>
            <p:cNvSpPr txBox="1"/>
            <p:nvPr/>
          </p:nvSpPr>
          <p:spPr>
            <a:xfrm>
              <a:off x="4990490" y="2907792"/>
              <a:ext cx="2832506" cy="914400"/>
            </a:xfrm>
            <a:prstGeom prst="rect">
              <a:avLst/>
            </a:prstGeom>
            <a:noFill/>
            <a:ln/>
          </p:spPr>
          <p:txBody>
            <a:bodyPr wrap="square" lIns="0" tIns="0" rIns="0" bIns="0" rtlCol="0" anchor="t"/>
            <a:lstStyle/>
            <a:p>
              <a:pPr indent="0" marL="0">
                <a:lnSpc>
                  <a:spcPts val="2000"/>
                </a:lnSpc>
                <a:buNone/>
              </a:pPr>
              <a:r>
                <a:rPr lang="en-US" sz="1550" b="1" dirty="0">
                  <a:solidFill>
                    <a:srgbClr val="2A1D14"/>
                  </a:solidFill>
                  <a:latin typeface="Arial" pitchFamily="34" charset="0"/>
                  <a:ea typeface="Arial" pitchFamily="34" charset="-122"/>
                  <a:cs typeface="Arial" pitchFamily="34" charset="-120"/>
                </a:rPr>
                <a:t>Sort resources into renewable and non-renewable.</a:t>
              </a:r>
              <a:endParaRPr lang="en-US" sz="1550" dirty="0"/>
            </a:p>
          </p:txBody>
        </p:sp>
      </p:grpSp>
      <p:grpSp>
        <p:nvGrpSpPr>
          <p:cNvPr id="20" name="o2"/>
          <p:cNvGrpSpPr/>
          <p:nvPr/>
        </p:nvGrpSpPr>
        <p:grpSpPr>
          <a:xfrm>
            <a:off x="8335061" y="2194560"/>
            <a:ext cx="3307994" cy="1792224"/>
            <a:chOff x="8335061" y="2194560"/>
            <a:chExt cx="3307994" cy="1792224"/>
          </a:xfrm>
        </p:grpSpPr>
        <p:sp>
          <p:nvSpPr>
            <p:cNvPr id="13" name="o2_bg"/>
            <p:cNvSpPr/>
            <p:nvPr/>
          </p:nvSpPr>
          <p:spPr>
            <a:xfrm>
              <a:off x="8335061" y="2194560"/>
              <a:ext cx="3307994" cy="1792224"/>
            </a:xfrm>
            <a:prstGeom prst="roundRect">
              <a:avLst>
                <a:gd name="adj" fmla="val 5102"/>
              </a:avLst>
            </a:prstGeom>
            <a:solidFill>
              <a:srgbClr val="FFFFFF"/>
            </a:solidFill>
            <a:ln w="16510">
              <a:solidFill>
                <a:srgbClr val="E4D8BE"/>
              </a:solidFill>
              <a:prstDash val="solid"/>
            </a:ln>
          </p:spPr>
        </p:sp>
        <p:sp>
          <p:nvSpPr>
            <p:cNvPr id="14" name="o2_badge"/>
            <p:cNvSpPr/>
            <p:nvPr/>
          </p:nvSpPr>
          <p:spPr>
            <a:xfrm>
              <a:off x="8572805" y="2395728"/>
              <a:ext cx="384048" cy="384048"/>
            </a:xfrm>
            <a:prstGeom prst="ellipse">
              <a:avLst/>
            </a:prstGeom>
            <a:solidFill>
              <a:srgbClr val="C99A3D"/>
            </a:solidFill>
            <a:ln w="12700">
              <a:solidFill>
                <a:srgbClr val="C99A3D"/>
              </a:solidFill>
              <a:prstDash val="solid"/>
            </a:ln>
          </p:spPr>
        </p:sp>
        <p:sp>
          <p:nvSpPr>
            <p:cNvPr id="15" name="o2_num"/>
            <p:cNvSpPr txBox="1"/>
            <p:nvPr/>
          </p:nvSpPr>
          <p:spPr>
            <a:xfrm>
              <a:off x="8572805" y="2395728"/>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3</a:t>
              </a:r>
              <a:endParaRPr lang="en-US" sz="1400" dirty="0"/>
            </a:p>
          </p:txBody>
        </p:sp>
        <p:sp>
          <p:nvSpPr>
            <p:cNvPr id="16" name="o2_t"/>
            <p:cNvSpPr txBox="1"/>
            <p:nvPr/>
          </p:nvSpPr>
          <p:spPr>
            <a:xfrm>
              <a:off x="8572805" y="2907792"/>
              <a:ext cx="2832506" cy="914400"/>
            </a:xfrm>
            <a:prstGeom prst="rect">
              <a:avLst/>
            </a:prstGeom>
            <a:noFill/>
            <a:ln/>
          </p:spPr>
          <p:txBody>
            <a:bodyPr wrap="square" lIns="0" tIns="0" rIns="0" bIns="0" rtlCol="0" anchor="t"/>
            <a:lstStyle/>
            <a:p>
              <a:pPr indent="0" marL="0">
                <a:lnSpc>
                  <a:spcPts val="2000"/>
                </a:lnSpc>
                <a:buNone/>
              </a:pPr>
              <a:r>
                <a:rPr lang="en-US" sz="1550" b="1" dirty="0">
                  <a:solidFill>
                    <a:srgbClr val="2A1D14"/>
                  </a:solidFill>
                  <a:latin typeface="Arial" pitchFamily="34" charset="0"/>
                  <a:ea typeface="Arial" pitchFamily="34" charset="-122"/>
                  <a:cs typeface="Arial" pitchFamily="34" charset="-120"/>
                </a:rPr>
                <a:t>Explain why the difference is about rate, not category.</a:t>
              </a:r>
              <a:endParaRPr lang="en-US" sz="1550" dirty="0"/>
            </a:p>
          </p:txBody>
        </p:sp>
      </p:grpSp>
      <p:sp>
        <p:nvSpPr>
          <p:cNvPr id="17" name="obj_banner"/>
          <p:cNvSpPr/>
          <p:nvPr/>
        </p:nvSpPr>
        <p:spPr>
          <a:xfrm>
            <a:off x="1170432" y="4279392"/>
            <a:ext cx="10472623" cy="640080"/>
          </a:xfrm>
          <a:prstGeom prst="roundRect">
            <a:avLst>
              <a:gd name="adj" fmla="val 17143"/>
            </a:avLst>
          </a:prstGeom>
          <a:solidFill>
            <a:srgbClr val="3D2B1F"/>
          </a:solidFill>
          <a:ln>
            <a:solidFill>
              <a:srgbClr val="3D2B1F"/>
            </a:solidFill>
          </a:ln>
        </p:spPr>
        <p:txBody>
          <a:bodyPr wrap="square" lIns="1524" tIns="1524" rIns="1524" bIns="1524" rtlCol="0" anchor="ctr"/>
          <a:lstStyle/>
          <a:p>
            <a:pPr algn="ctr" indent="0" marL="0">
              <a:lnSpc>
                <a:spcPts val="2200"/>
              </a:lnSpc>
              <a:buNone/>
            </a:pPr>
            <a:r>
              <a:rPr lang="en-US" sz="1700" b="1" dirty="0">
                <a:solidFill>
                  <a:srgbClr val="C99A3D"/>
                </a:solidFill>
                <a:latin typeface="Arial" pitchFamily="34" charset="0"/>
                <a:ea typeface="Arial" pitchFamily="34" charset="-122"/>
                <a:cs typeface="Arial" pitchFamily="34" charset="-120"/>
              </a:rPr>
              <a:t>Renewable or not is not about the resource. It is about the </a:t>
            </a:r>
            <a:pPr algn="ctr" indent="0" marL="0">
              <a:lnSpc>
                <a:spcPts val="2200"/>
              </a:lnSpc>
              <a:buNone/>
            </a:pPr>
            <a:r>
              <a:rPr lang="en-US" sz="1700" b="1" u="sng" dirty="0">
                <a:solidFill>
                  <a:srgbClr val="C99A3D"/>
                </a:solidFill>
                <a:latin typeface="Arial" pitchFamily="34" charset="0"/>
                <a:ea typeface="Arial" pitchFamily="34" charset="-122"/>
                <a:cs typeface="Arial" pitchFamily="34" charset="-120"/>
              </a:rPr>
              <a:t>rate</a:t>
            </a:r>
            <a:pPr algn="ctr" indent="0" marL="0">
              <a:lnSpc>
                <a:spcPts val="2200"/>
              </a:lnSpc>
              <a:buNone/>
            </a:pPr>
            <a:r>
              <a:rPr lang="en-US" sz="1700" b="1" dirty="0">
                <a:solidFill>
                  <a:srgbClr val="C99A3D"/>
                </a:solidFill>
                <a:latin typeface="Arial" pitchFamily="34" charset="0"/>
                <a:ea typeface="Arial" pitchFamily="34" charset="-122"/>
                <a:cs typeface="Arial" pitchFamily="34" charset="-120"/>
              </a:rPr>
              <a: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8"/>
                                        </p:tgtEl>
                                        <p:attrNameLst>
                                          <p:attrName>style.visibility</p:attrName>
                                        </p:attrNameLst>
                                      </p:cBhvr>
                                      <p:to>
                                        <p:strVal val="visible"/>
                                      </p:to>
                                    </p:set>
                                    <p:animEffect transition="in" filter="fade">
                                      <p:cBhvr>
                                        <p:cTn id="4"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1" presetID="23" presetClass="entr" presetSubtype="16"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animScale>
                                      <p:cBhvr>
                                        <p:cTn id="20" dur="400" fill="hold"/>
                                        <p:tgtEl>
                                          <p:spTgt spid="17"/>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video>
              <p:cMediaNode vol="0">
                <p:cTn id="24" fill="hold" display="0">
                  <p:stCondLst>
                    <p:cond delay="0"/>
                  </p:stCondLst>
                  <p:endCondLst>
                    <p:cond evt="onStopAudio" delay="0">
                      <p:tgtEl>
                        <p:sldTgt/>
                      </p:tgtEl>
                    </p:cond>
                  </p:endCondLst>
                </p:cTn>
                <p:tgtEl>
                  <p:spTgt spid="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623974"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HOOK · 2 MIN</a:t>
            </a:r>
            <a:endParaRPr lang="en-US" sz="1100" dirty="0"/>
          </a:p>
        </p:txBody>
      </p:sp>
      <p:sp>
        <p:nvSpPr>
          <p:cNvPr id="4" name="slide_title"/>
          <p:cNvSpPr txBox="1"/>
          <p:nvPr/>
        </p:nvSpPr>
        <p:spPr>
          <a:xfrm>
            <a:off x="1170432" y="786384"/>
            <a:ext cx="9055303" cy="1188720"/>
          </a:xfrm>
          <a:prstGeom prst="rect">
            <a:avLst/>
          </a:prstGeom>
          <a:noFill/>
          <a:ln/>
        </p:spPr>
        <p:txBody>
          <a:bodyPr wrap="square" lIns="0" tIns="0" rIns="0" bIns="0" rtlCol="0" anchor="ctr"/>
          <a:lstStyle/>
          <a:p>
            <a:pPr indent="0" marL="0">
              <a:lnSpc>
                <a:spcPts val="2800"/>
              </a:lnSpc>
              <a:buNone/>
            </a:pPr>
            <a:r>
              <a:rPr lang="en-US" sz="2300" b="1" dirty="0">
                <a:solidFill>
                  <a:srgbClr val="3D2B1F"/>
                </a:solidFill>
                <a:latin typeface="Georgia" pitchFamily="34" charset="0"/>
                <a:ea typeface="Georgia" pitchFamily="34" charset="-122"/>
                <a:cs typeface="Georgia" pitchFamily="34" charset="-120"/>
              </a:rPr>
              <a:t>In 1962 there were about 1.6 million tonnes of cod off Newfoundland. About how many tonnes were left by 1992?</a:t>
            </a:r>
            <a:endParaRPr lang="en-US" sz="2300" dirty="0"/>
          </a:p>
        </p:txBody>
      </p:sp>
      <p:pic>
        <p:nvPicPr>
          <p:cNvPr id="5" name="hook_fish" descr="/Users/chukanwobodo/Desktop/lesson-toolkit/assets/icons/fish_topsoil_accentInk.png">    </p:cNvPr>
          <p:cNvPicPr>
            <a:picLocks noChangeAspect="1"/>
          </p:cNvPicPr>
          <p:nvPr/>
        </p:nvPicPr>
        <p:blipFill>
          <a:blip r:embed="rId4"/>
          <a:stretch>
            <a:fillRect/>
          </a:stretch>
        </p:blipFill>
        <p:spPr>
          <a:xfrm>
            <a:off x="10362895" y="822960"/>
            <a:ext cx="1188720" cy="1188720"/>
          </a:xfrm>
          <a:prstGeom prst="rect">
            <a:avLst/>
          </a:prstGeom>
        </p:spPr>
      </p:pic>
      <p:grpSp>
        <p:nvGrpSpPr>
          <p:cNvPr id="15" name="h0"/>
          <p:cNvGrpSpPr/>
          <p:nvPr/>
        </p:nvGrpSpPr>
        <p:grpSpPr>
          <a:xfrm>
            <a:off x="1170432" y="2487168"/>
            <a:ext cx="3307994" cy="1828800"/>
            <a:chOff x="1170432" y="2487168"/>
            <a:chExt cx="3307994" cy="1828800"/>
          </a:xfrm>
        </p:grpSpPr>
        <p:sp>
          <p:nvSpPr>
            <p:cNvPr id="6" name="h0_bg"/>
            <p:cNvSpPr/>
            <p:nvPr/>
          </p:nvSpPr>
          <p:spPr>
            <a:xfrm>
              <a:off x="1170432" y="2487168"/>
              <a:ext cx="3307994" cy="1828800"/>
            </a:xfrm>
            <a:prstGeom prst="roundRect">
              <a:avLst>
                <a:gd name="adj" fmla="val 5000"/>
              </a:avLst>
            </a:prstGeom>
            <a:solidFill>
              <a:srgbClr val="FFFFFF"/>
            </a:solidFill>
            <a:ln w="16510">
              <a:solidFill>
                <a:srgbClr val="E4D8BE"/>
              </a:solidFill>
              <a:prstDash val="solid"/>
            </a:ln>
          </p:spPr>
        </p:sp>
        <p:sp>
          <p:nvSpPr>
            <p:cNvPr id="7" name="h0_k"/>
            <p:cNvSpPr txBox="1"/>
            <p:nvPr/>
          </p:nvSpPr>
          <p:spPr>
            <a:xfrm>
              <a:off x="1426464" y="2688336"/>
              <a:ext cx="548640" cy="457200"/>
            </a:xfrm>
            <a:prstGeom prst="rect">
              <a:avLst/>
            </a:prstGeom>
            <a:noFill/>
            <a:ln/>
          </p:spPr>
          <p:txBody>
            <a:bodyPr wrap="square" lIns="0" tIns="0" rIns="0" bIns="0" rtlCol="0" anchor="ctr"/>
            <a:lstStyle/>
            <a:p>
              <a:pPr indent="0" marL="0">
                <a:buNone/>
              </a:pPr>
              <a:r>
                <a:rPr lang="en-US" sz="2600" b="1" dirty="0">
                  <a:solidFill>
                    <a:srgbClr val="B5482E"/>
                  </a:solidFill>
                  <a:latin typeface="Georgia" pitchFamily="34" charset="0"/>
                  <a:ea typeface="Georgia" pitchFamily="34" charset="-122"/>
                  <a:cs typeface="Georgia" pitchFamily="34" charset="-120"/>
                </a:rPr>
                <a:t>A</a:t>
              </a:r>
              <a:endParaRPr lang="en-US" sz="2600" dirty="0"/>
            </a:p>
          </p:txBody>
        </p:sp>
        <p:sp>
          <p:nvSpPr>
            <p:cNvPr id="8" name="h0_t"/>
            <p:cNvSpPr txBox="1"/>
            <p:nvPr/>
          </p:nvSpPr>
          <p:spPr>
            <a:xfrm>
              <a:off x="1426464" y="3163824"/>
              <a:ext cx="2795930" cy="1005840"/>
            </a:xfrm>
            <a:prstGeom prst="rect">
              <a:avLst/>
            </a:prstGeom>
            <a:noFill/>
            <a:ln/>
          </p:spPr>
          <p:txBody>
            <a:bodyPr wrap="square" lIns="0" tIns="0" rIns="0" bIns="0" rtlCol="0" anchor="t"/>
            <a:lstStyle/>
            <a:p>
              <a:pPr indent="0" marL="0">
                <a:lnSpc>
                  <a:spcPts val="2100"/>
                </a:lnSpc>
                <a:buNone/>
              </a:pPr>
              <a:r>
                <a:rPr lang="en-US" sz="1600" b="1" dirty="0">
                  <a:solidFill>
                    <a:srgbClr val="3D2B1F"/>
                  </a:solidFill>
                  <a:latin typeface="Georgia" pitchFamily="34" charset="0"/>
                  <a:ea typeface="Georgia" pitchFamily="34" charset="-122"/>
                  <a:cs typeface="Georgia" pitchFamily="34" charset="-120"/>
                </a:rPr>
                <a:t>About 1 million tonnes</a:t>
              </a:r>
              <a:endParaRPr lang="en-US" sz="1600" dirty="0"/>
            </a:p>
          </p:txBody>
        </p:sp>
      </p:grpSp>
      <p:grpSp>
        <p:nvGrpSpPr>
          <p:cNvPr id="16" name="h1"/>
          <p:cNvGrpSpPr/>
          <p:nvPr/>
        </p:nvGrpSpPr>
        <p:grpSpPr>
          <a:xfrm>
            <a:off x="4752746" y="2487168"/>
            <a:ext cx="3307994" cy="1828800"/>
            <a:chOff x="4752746" y="2487168"/>
            <a:chExt cx="3307994" cy="1828800"/>
          </a:xfrm>
        </p:grpSpPr>
        <p:sp>
          <p:nvSpPr>
            <p:cNvPr id="9" name="h1_bg"/>
            <p:cNvSpPr/>
            <p:nvPr/>
          </p:nvSpPr>
          <p:spPr>
            <a:xfrm>
              <a:off x="4752746" y="2487168"/>
              <a:ext cx="3307994" cy="1828800"/>
            </a:xfrm>
            <a:prstGeom prst="roundRect">
              <a:avLst>
                <a:gd name="adj" fmla="val 5000"/>
              </a:avLst>
            </a:prstGeom>
            <a:solidFill>
              <a:srgbClr val="FFFFFF"/>
            </a:solidFill>
            <a:ln w="16510">
              <a:solidFill>
                <a:srgbClr val="E4D8BE"/>
              </a:solidFill>
              <a:prstDash val="solid"/>
            </a:ln>
          </p:spPr>
        </p:sp>
        <p:sp>
          <p:nvSpPr>
            <p:cNvPr id="10" name="h1_k"/>
            <p:cNvSpPr txBox="1"/>
            <p:nvPr/>
          </p:nvSpPr>
          <p:spPr>
            <a:xfrm>
              <a:off x="5008778" y="2688336"/>
              <a:ext cx="548640" cy="457200"/>
            </a:xfrm>
            <a:prstGeom prst="rect">
              <a:avLst/>
            </a:prstGeom>
            <a:noFill/>
            <a:ln/>
          </p:spPr>
          <p:txBody>
            <a:bodyPr wrap="square" lIns="0" tIns="0" rIns="0" bIns="0" rtlCol="0" anchor="ctr"/>
            <a:lstStyle/>
            <a:p>
              <a:pPr indent="0" marL="0">
                <a:buNone/>
              </a:pPr>
              <a:r>
                <a:rPr lang="en-US" sz="2600" b="1" dirty="0">
                  <a:solidFill>
                    <a:srgbClr val="B5482E"/>
                  </a:solidFill>
                  <a:latin typeface="Georgia" pitchFamily="34" charset="0"/>
                  <a:ea typeface="Georgia" pitchFamily="34" charset="-122"/>
                  <a:cs typeface="Georgia" pitchFamily="34" charset="-120"/>
                </a:rPr>
                <a:t>B</a:t>
              </a:r>
              <a:endParaRPr lang="en-US" sz="2600" dirty="0"/>
            </a:p>
          </p:txBody>
        </p:sp>
        <p:sp>
          <p:nvSpPr>
            <p:cNvPr id="11" name="h1_t"/>
            <p:cNvSpPr txBox="1"/>
            <p:nvPr/>
          </p:nvSpPr>
          <p:spPr>
            <a:xfrm>
              <a:off x="5008778" y="3163824"/>
              <a:ext cx="2795930" cy="1005840"/>
            </a:xfrm>
            <a:prstGeom prst="rect">
              <a:avLst/>
            </a:prstGeom>
            <a:noFill/>
            <a:ln/>
          </p:spPr>
          <p:txBody>
            <a:bodyPr wrap="square" lIns="0" tIns="0" rIns="0" bIns="0" rtlCol="0" anchor="t"/>
            <a:lstStyle/>
            <a:p>
              <a:pPr indent="0" marL="0">
                <a:lnSpc>
                  <a:spcPts val="2100"/>
                </a:lnSpc>
                <a:buNone/>
              </a:pPr>
              <a:r>
                <a:rPr lang="en-US" sz="1600" b="1" dirty="0">
                  <a:solidFill>
                    <a:srgbClr val="3D2B1F"/>
                  </a:solidFill>
                  <a:latin typeface="Georgia" pitchFamily="34" charset="0"/>
                  <a:ea typeface="Georgia" pitchFamily="34" charset="-122"/>
                  <a:cs typeface="Georgia" pitchFamily="34" charset="-120"/>
                </a:rPr>
                <a:t>About 500,000 tonnes</a:t>
              </a:r>
              <a:endParaRPr lang="en-US" sz="1600" dirty="0"/>
            </a:p>
          </p:txBody>
        </p:sp>
      </p:grpSp>
      <p:grpSp>
        <p:nvGrpSpPr>
          <p:cNvPr id="17" name="h2"/>
          <p:cNvGrpSpPr/>
          <p:nvPr/>
        </p:nvGrpSpPr>
        <p:grpSpPr>
          <a:xfrm>
            <a:off x="8335061" y="2487168"/>
            <a:ext cx="3307994" cy="1828800"/>
            <a:chOff x="8335061" y="2487168"/>
            <a:chExt cx="3307994" cy="1828800"/>
          </a:xfrm>
        </p:grpSpPr>
        <p:sp>
          <p:nvSpPr>
            <p:cNvPr id="12" name="h2_bg"/>
            <p:cNvSpPr/>
            <p:nvPr/>
          </p:nvSpPr>
          <p:spPr>
            <a:xfrm>
              <a:off x="8335061" y="2487168"/>
              <a:ext cx="3307994" cy="1828800"/>
            </a:xfrm>
            <a:prstGeom prst="roundRect">
              <a:avLst>
                <a:gd name="adj" fmla="val 5000"/>
              </a:avLst>
            </a:prstGeom>
            <a:solidFill>
              <a:srgbClr val="FFFFFF"/>
            </a:solidFill>
            <a:ln w="16510">
              <a:solidFill>
                <a:srgbClr val="E4D8BE"/>
              </a:solidFill>
              <a:prstDash val="solid"/>
            </a:ln>
          </p:spPr>
        </p:sp>
        <p:sp>
          <p:nvSpPr>
            <p:cNvPr id="13" name="h2_k"/>
            <p:cNvSpPr txBox="1"/>
            <p:nvPr/>
          </p:nvSpPr>
          <p:spPr>
            <a:xfrm>
              <a:off x="8591093" y="2688336"/>
              <a:ext cx="548640" cy="457200"/>
            </a:xfrm>
            <a:prstGeom prst="rect">
              <a:avLst/>
            </a:prstGeom>
            <a:noFill/>
            <a:ln/>
          </p:spPr>
          <p:txBody>
            <a:bodyPr wrap="square" lIns="0" tIns="0" rIns="0" bIns="0" rtlCol="0" anchor="ctr"/>
            <a:lstStyle/>
            <a:p>
              <a:pPr indent="0" marL="0">
                <a:buNone/>
              </a:pPr>
              <a:r>
                <a:rPr lang="en-US" sz="2600" b="1" dirty="0">
                  <a:solidFill>
                    <a:srgbClr val="B5482E"/>
                  </a:solidFill>
                  <a:latin typeface="Georgia" pitchFamily="34" charset="0"/>
                  <a:ea typeface="Georgia" pitchFamily="34" charset="-122"/>
                  <a:cs typeface="Georgia" pitchFamily="34" charset="-120"/>
                </a:rPr>
                <a:t>C</a:t>
              </a:r>
              <a:endParaRPr lang="en-US" sz="2600" dirty="0"/>
            </a:p>
          </p:txBody>
        </p:sp>
        <p:sp>
          <p:nvSpPr>
            <p:cNvPr id="14" name="h2_t"/>
            <p:cNvSpPr txBox="1"/>
            <p:nvPr/>
          </p:nvSpPr>
          <p:spPr>
            <a:xfrm>
              <a:off x="8591093" y="3163824"/>
              <a:ext cx="2795930" cy="1005840"/>
            </a:xfrm>
            <a:prstGeom prst="rect">
              <a:avLst/>
            </a:prstGeom>
            <a:noFill/>
            <a:ln/>
          </p:spPr>
          <p:txBody>
            <a:bodyPr wrap="square" lIns="0" tIns="0" rIns="0" bIns="0" rtlCol="0" anchor="t"/>
            <a:lstStyle/>
            <a:p>
              <a:pPr indent="0" marL="0">
                <a:lnSpc>
                  <a:spcPts val="2100"/>
                </a:lnSpc>
                <a:buNone/>
              </a:pPr>
              <a:r>
                <a:rPr lang="en-US" sz="1600" b="1" dirty="0">
                  <a:solidFill>
                    <a:srgbClr val="3D2B1F"/>
                  </a:solidFill>
                  <a:latin typeface="Georgia" pitchFamily="34" charset="0"/>
                  <a:ea typeface="Georgia" pitchFamily="34" charset="-122"/>
                  <a:cs typeface="Georgia" pitchFamily="34" charset="-120"/>
                </a:rPr>
                <a:t>About 110,000 tonnes</a:t>
              </a:r>
              <a:endParaRPr lang="en-US" sz="16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400"/>
                                        <p:tgtEl>
                                          <p:spTgt spid="15"/>
                                        </p:tgtEl>
                                      </p:cBhvr>
                                    </p:animEffect>
                                  </p:childTnLst>
                                </p:cTn>
                              </p:par>
                              <p:par>
                                <p:cTn id="8" presetID="10" presetClass="entr" presetSubtype="0" fill="hold" grpId="0" nodeType="withEffect">
                                  <p:stCondLst>
                                    <p:cond delay="15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11" presetID="10" presetClass="entr" presetSubtype="0" fill="hold" grpId="0" nodeType="withEffect">
                                  <p:stCondLst>
                                    <p:cond delay="30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14" fill="hold" display="0">
                  <p:stCondLst>
                    <p:cond delay="0"/>
                  </p:stCondLst>
                  <p:endCondLst>
                    <p:cond evt="onStopAudio" delay="0">
                      <p:tgtEl>
                        <p:sldTgt/>
                      </p:tgtEl>
                    </p:cond>
                  </p:endCondLst>
                </p:cTn>
                <p:tgtEl>
                  <p:spTgt spid="3"/>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623974"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I DO · 3 MIN</a:t>
            </a:r>
            <a:endParaRPr lang="en-US" sz="1100" dirty="0"/>
          </a:p>
        </p:txBody>
      </p:sp>
      <p:sp>
        <p:nvSpPr>
          <p:cNvPr id="4"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000" b="1" dirty="0">
                <a:solidFill>
                  <a:srgbClr val="3D2B1F"/>
                </a:solidFill>
                <a:latin typeface="Georgia" pitchFamily="34" charset="0"/>
                <a:ea typeface="Georgia" pitchFamily="34" charset="-122"/>
                <a:cs typeface="Georgia" pitchFamily="34" charset="-120"/>
              </a:rPr>
              <a:t>What counts as a natural resource</a:t>
            </a:r>
            <a:endParaRPr lang="en-US" sz="3000" dirty="0"/>
          </a:p>
        </p:txBody>
      </p:sp>
      <p:grpSp>
        <p:nvGrpSpPr>
          <p:cNvPr id="32" name="def"/>
          <p:cNvGrpSpPr/>
          <p:nvPr/>
        </p:nvGrpSpPr>
        <p:grpSpPr>
          <a:xfrm>
            <a:off x="1170432" y="1920240"/>
            <a:ext cx="10472623" cy="1005840"/>
            <a:chOff x="1170432" y="1920240"/>
            <a:chExt cx="10472623" cy="1005840"/>
          </a:xfrm>
        </p:grpSpPr>
        <p:sp>
          <p:nvSpPr>
            <p:cNvPr id="5" name="def_bg"/>
            <p:cNvSpPr/>
            <p:nvPr/>
          </p:nvSpPr>
          <p:spPr>
            <a:xfrm>
              <a:off x="1170432" y="1920240"/>
              <a:ext cx="10472623" cy="1005840"/>
            </a:xfrm>
            <a:prstGeom prst="roundRect">
              <a:avLst>
                <a:gd name="adj" fmla="val 9091"/>
              </a:avLst>
            </a:prstGeom>
            <a:solidFill>
              <a:srgbClr val="FFFFFF"/>
            </a:solidFill>
            <a:ln w="16510">
              <a:solidFill>
                <a:srgbClr val="E4D8BE"/>
              </a:solidFill>
              <a:prstDash val="solid"/>
            </a:ln>
          </p:spPr>
        </p:sp>
        <p:sp>
          <p:nvSpPr>
            <p:cNvPr id="6" name="def_t"/>
            <p:cNvSpPr txBox="1"/>
            <p:nvPr/>
          </p:nvSpPr>
          <p:spPr>
            <a:xfrm>
              <a:off x="1444752" y="1920240"/>
              <a:ext cx="9923983" cy="1005840"/>
            </a:xfrm>
            <a:prstGeom prst="rect">
              <a:avLst/>
            </a:prstGeom>
            <a:noFill/>
            <a:ln/>
          </p:spPr>
          <p:txBody>
            <a:bodyPr wrap="square" lIns="0" tIns="0" rIns="0" bIns="0" rtlCol="0" anchor="ctr"/>
            <a:lstStyle/>
            <a:p>
              <a:pPr indent="0" marL="0">
                <a:lnSpc>
                  <a:spcPts val="2400"/>
                </a:lnSpc>
                <a:buNone/>
              </a:pPr>
              <a:r>
                <a:rPr lang="en-US" sz="1800" dirty="0">
                  <a:solidFill>
                    <a:srgbClr val="2A1D14"/>
                  </a:solidFill>
                  <a:latin typeface="Arial" pitchFamily="34" charset="0"/>
                  <a:ea typeface="Arial" pitchFamily="34" charset="-122"/>
                  <a:cs typeface="Arial" pitchFamily="34" charset="-120"/>
                </a:rPr>
                <a:t>A natural resource is </a:t>
              </a:r>
              <a:pPr indent="0" marL="0">
                <a:lnSpc>
                  <a:spcPts val="2400"/>
                </a:lnSpc>
                <a:buNone/>
              </a:pPr>
              <a:r>
                <a:rPr lang="en-US" sz="1800" b="1" dirty="0">
                  <a:solidFill>
                    <a:srgbClr val="8F6D2A"/>
                  </a:solidFill>
                  <a:latin typeface="Arial" pitchFamily="34" charset="0"/>
                  <a:ea typeface="Arial" pitchFamily="34" charset="-122"/>
                  <a:cs typeface="Arial" pitchFamily="34" charset="-120"/>
                </a:rPr>
                <a:t>anything from the Earth</a:t>
              </a:r>
              <a:pPr indent="0" marL="0">
                <a:lnSpc>
                  <a:spcPts val="2400"/>
                </a:lnSpc>
                <a:buNone/>
              </a:pPr>
              <a:r>
                <a:rPr lang="en-US" sz="1800" dirty="0">
                  <a:solidFill>
                    <a:srgbClr val="2A1D14"/>
                  </a:solidFill>
                  <a:latin typeface="Arial" pitchFamily="34" charset="0"/>
                  <a:ea typeface="Arial" pitchFamily="34" charset="-122"/>
                  <a:cs typeface="Arial" pitchFamily="34" charset="-120"/>
                </a:rPr>
                <a:t>, not made by people, that we use.</a:t>
              </a:r>
              <a:endParaRPr lang="en-US" sz="1800" dirty="0"/>
            </a:p>
          </p:txBody>
        </p:sp>
      </p:grpSp>
      <p:grpSp>
        <p:nvGrpSpPr>
          <p:cNvPr id="33" name="r0"/>
          <p:cNvGrpSpPr/>
          <p:nvPr/>
        </p:nvGrpSpPr>
        <p:grpSpPr>
          <a:xfrm>
            <a:off x="1170432" y="3200400"/>
            <a:ext cx="1181062" cy="1700784"/>
            <a:chOff x="1170432" y="3200400"/>
            <a:chExt cx="1181062" cy="1700784"/>
          </a:xfrm>
        </p:grpSpPr>
        <p:sp>
          <p:nvSpPr>
            <p:cNvPr id="7" name="r0_bg"/>
            <p:cNvSpPr/>
            <p:nvPr/>
          </p:nvSpPr>
          <p:spPr>
            <a:xfrm>
              <a:off x="1170432" y="3200400"/>
              <a:ext cx="1181062" cy="1700784"/>
            </a:xfrm>
            <a:prstGeom prst="roundRect">
              <a:avLst>
                <a:gd name="adj" fmla="val 7742"/>
              </a:avLst>
            </a:prstGeom>
            <a:solidFill>
              <a:srgbClr val="FFFFFF"/>
            </a:solidFill>
            <a:ln w="16510">
              <a:solidFill>
                <a:srgbClr val="E4D8BE"/>
              </a:solidFill>
              <a:prstDash val="solid"/>
            </a:ln>
          </p:spPr>
        </p:sp>
        <p:pic>
          <p:nvPicPr>
            <p:cNvPr id="8" name="r0_icon" descr="/Users/chukanwobodo/Desktop/lesson-toolkit/assets/icons/sun_topsoil_accentInk.png">    </p:cNvPr>
            <p:cNvPicPr>
              <a:picLocks noChangeAspect="1"/>
            </p:cNvPicPr>
            <p:nvPr/>
          </p:nvPicPr>
          <p:blipFill>
            <a:blip r:embed="rId4"/>
            <a:stretch>
              <a:fillRect/>
            </a:stretch>
          </p:blipFill>
          <p:spPr>
            <a:xfrm>
              <a:off x="1477499" y="3383280"/>
              <a:ext cx="566928" cy="566928"/>
            </a:xfrm>
            <a:prstGeom prst="rect">
              <a:avLst/>
            </a:prstGeom>
          </p:spPr>
        </p:pic>
        <p:sp>
          <p:nvSpPr>
            <p:cNvPr id="9" name="r0_t"/>
            <p:cNvSpPr txBox="1"/>
            <p:nvPr/>
          </p:nvSpPr>
          <p:spPr>
            <a:xfrm>
              <a:off x="1216152" y="4078224"/>
              <a:ext cx="1089622" cy="731520"/>
            </a:xfrm>
            <a:prstGeom prst="rect">
              <a:avLst/>
            </a:prstGeom>
            <a:noFill/>
            <a:ln/>
          </p:spPr>
          <p:txBody>
            <a:bodyPr wrap="square" lIns="0" tIns="0" rIns="0" bIns="0" rtlCol="0" anchor="t"/>
            <a:lstStyle/>
            <a:p>
              <a:pPr algn="ctr" indent="0" marL="0">
                <a:lnSpc>
                  <a:spcPts val="1400"/>
                </a:lnSpc>
                <a:buNone/>
              </a:pPr>
              <a:r>
                <a:rPr lang="en-US" sz="1200" b="1" dirty="0">
                  <a:solidFill>
                    <a:srgbClr val="3D2B1F"/>
                  </a:solidFill>
                  <a:latin typeface="Arial" pitchFamily="34" charset="0"/>
                  <a:ea typeface="Arial" pitchFamily="34" charset="-122"/>
                  <a:cs typeface="Arial" pitchFamily="34" charset="-120"/>
                </a:rPr>
                <a:t>Sunlight</a:t>
              </a:r>
              <a:endParaRPr lang="en-US" sz="1200" dirty="0"/>
            </a:p>
          </p:txBody>
        </p:sp>
      </p:grpSp>
      <p:grpSp>
        <p:nvGrpSpPr>
          <p:cNvPr id="34" name="r1"/>
          <p:cNvGrpSpPr/>
          <p:nvPr/>
        </p:nvGrpSpPr>
        <p:grpSpPr>
          <a:xfrm>
            <a:off x="2497798" y="3200400"/>
            <a:ext cx="1181062" cy="1700784"/>
            <a:chOff x="2497798" y="3200400"/>
            <a:chExt cx="1181062" cy="1700784"/>
          </a:xfrm>
        </p:grpSpPr>
        <p:sp>
          <p:nvSpPr>
            <p:cNvPr id="10" name="r1_bg"/>
            <p:cNvSpPr/>
            <p:nvPr/>
          </p:nvSpPr>
          <p:spPr>
            <a:xfrm>
              <a:off x="2497798" y="3200400"/>
              <a:ext cx="1181062" cy="1700784"/>
            </a:xfrm>
            <a:prstGeom prst="roundRect">
              <a:avLst>
                <a:gd name="adj" fmla="val 7742"/>
              </a:avLst>
            </a:prstGeom>
            <a:solidFill>
              <a:srgbClr val="FFFFFF"/>
            </a:solidFill>
            <a:ln w="16510">
              <a:solidFill>
                <a:srgbClr val="E4D8BE"/>
              </a:solidFill>
              <a:prstDash val="solid"/>
            </a:ln>
          </p:spPr>
        </p:sp>
        <p:pic>
          <p:nvPicPr>
            <p:cNvPr id="11" name="r1_icon" descr="/Users/chukanwobodo/Desktop/lesson-toolkit/assets/icons/wind_topsoil_accentInk.png">    </p:cNvPr>
            <p:cNvPicPr>
              <a:picLocks noChangeAspect="1"/>
            </p:cNvPicPr>
            <p:nvPr/>
          </p:nvPicPr>
          <p:blipFill>
            <a:blip r:embed="rId5"/>
            <a:stretch>
              <a:fillRect/>
            </a:stretch>
          </p:blipFill>
          <p:spPr>
            <a:xfrm>
              <a:off x="2804865" y="3383280"/>
              <a:ext cx="566928" cy="566928"/>
            </a:xfrm>
            <a:prstGeom prst="rect">
              <a:avLst/>
            </a:prstGeom>
          </p:spPr>
        </p:pic>
        <p:sp>
          <p:nvSpPr>
            <p:cNvPr id="12" name="r1_t"/>
            <p:cNvSpPr txBox="1"/>
            <p:nvPr/>
          </p:nvSpPr>
          <p:spPr>
            <a:xfrm>
              <a:off x="2543518" y="4078224"/>
              <a:ext cx="1089622" cy="731520"/>
            </a:xfrm>
            <a:prstGeom prst="rect">
              <a:avLst/>
            </a:prstGeom>
            <a:noFill/>
            <a:ln/>
          </p:spPr>
          <p:txBody>
            <a:bodyPr wrap="square" lIns="0" tIns="0" rIns="0" bIns="0" rtlCol="0" anchor="t"/>
            <a:lstStyle/>
            <a:p>
              <a:pPr algn="ctr" indent="0" marL="0">
                <a:lnSpc>
                  <a:spcPts val="1400"/>
                </a:lnSpc>
                <a:buNone/>
              </a:pPr>
              <a:r>
                <a:rPr lang="en-US" sz="1200" b="1" dirty="0">
                  <a:solidFill>
                    <a:srgbClr val="3D2B1F"/>
                  </a:solidFill>
                  <a:latin typeface="Arial" pitchFamily="34" charset="0"/>
                  <a:ea typeface="Arial" pitchFamily="34" charset="-122"/>
                  <a:cs typeface="Arial" pitchFamily="34" charset="-120"/>
                </a:rPr>
                <a:t>Wind</a:t>
              </a:r>
              <a:endParaRPr lang="en-US" sz="1200" dirty="0"/>
            </a:p>
          </p:txBody>
        </p:sp>
      </p:grpSp>
      <p:grpSp>
        <p:nvGrpSpPr>
          <p:cNvPr id="35" name="r2"/>
          <p:cNvGrpSpPr/>
          <p:nvPr/>
        </p:nvGrpSpPr>
        <p:grpSpPr>
          <a:xfrm>
            <a:off x="3825164" y="3200400"/>
            <a:ext cx="1181062" cy="1700784"/>
            <a:chOff x="3825164" y="3200400"/>
            <a:chExt cx="1181062" cy="1700784"/>
          </a:xfrm>
        </p:grpSpPr>
        <p:sp>
          <p:nvSpPr>
            <p:cNvPr id="13" name="r2_bg"/>
            <p:cNvSpPr/>
            <p:nvPr/>
          </p:nvSpPr>
          <p:spPr>
            <a:xfrm>
              <a:off x="3825164" y="3200400"/>
              <a:ext cx="1181062" cy="1700784"/>
            </a:xfrm>
            <a:prstGeom prst="roundRect">
              <a:avLst>
                <a:gd name="adj" fmla="val 7742"/>
              </a:avLst>
            </a:prstGeom>
            <a:solidFill>
              <a:srgbClr val="FFFFFF"/>
            </a:solidFill>
            <a:ln w="16510">
              <a:solidFill>
                <a:srgbClr val="E4D8BE"/>
              </a:solidFill>
              <a:prstDash val="solid"/>
            </a:ln>
          </p:spPr>
        </p:sp>
        <p:pic>
          <p:nvPicPr>
            <p:cNvPr id="14" name="r2_icon" descr="/Users/chukanwobodo/Desktop/lesson-toolkit/assets/icons/water_topsoil_accentInk.png">    </p:cNvPr>
            <p:cNvPicPr>
              <a:picLocks noChangeAspect="1"/>
            </p:cNvPicPr>
            <p:nvPr/>
          </p:nvPicPr>
          <p:blipFill>
            <a:blip r:embed="rId6"/>
            <a:stretch>
              <a:fillRect/>
            </a:stretch>
          </p:blipFill>
          <p:spPr>
            <a:xfrm>
              <a:off x="4132231" y="3383280"/>
              <a:ext cx="566928" cy="566928"/>
            </a:xfrm>
            <a:prstGeom prst="rect">
              <a:avLst/>
            </a:prstGeom>
          </p:spPr>
        </p:pic>
        <p:sp>
          <p:nvSpPr>
            <p:cNvPr id="15" name="r2_t"/>
            <p:cNvSpPr txBox="1"/>
            <p:nvPr/>
          </p:nvSpPr>
          <p:spPr>
            <a:xfrm>
              <a:off x="3870884" y="4078224"/>
              <a:ext cx="1089622" cy="731520"/>
            </a:xfrm>
            <a:prstGeom prst="rect">
              <a:avLst/>
            </a:prstGeom>
            <a:noFill/>
            <a:ln/>
          </p:spPr>
          <p:txBody>
            <a:bodyPr wrap="square" lIns="0" tIns="0" rIns="0" bIns="0" rtlCol="0" anchor="t"/>
            <a:lstStyle/>
            <a:p>
              <a:pPr algn="ctr" indent="0" marL="0">
                <a:lnSpc>
                  <a:spcPts val="1400"/>
                </a:lnSpc>
                <a:buNone/>
              </a:pPr>
              <a:r>
                <a:rPr lang="en-US" sz="1200" b="1" dirty="0">
                  <a:solidFill>
                    <a:srgbClr val="3D2B1F"/>
                  </a:solidFill>
                  <a:latin typeface="Arial" pitchFamily="34" charset="0"/>
                  <a:ea typeface="Arial" pitchFamily="34" charset="-122"/>
                  <a:cs typeface="Arial" pitchFamily="34" charset="-120"/>
                </a:rPr>
                <a:t>Fresh water</a:t>
              </a:r>
              <a:endParaRPr lang="en-US" sz="1200" dirty="0"/>
            </a:p>
          </p:txBody>
        </p:sp>
      </p:grpSp>
      <p:grpSp>
        <p:nvGrpSpPr>
          <p:cNvPr id="36" name="r3"/>
          <p:cNvGrpSpPr/>
          <p:nvPr/>
        </p:nvGrpSpPr>
        <p:grpSpPr>
          <a:xfrm>
            <a:off x="5152530" y="3200400"/>
            <a:ext cx="1181062" cy="1700784"/>
            <a:chOff x="5152530" y="3200400"/>
            <a:chExt cx="1181062" cy="1700784"/>
          </a:xfrm>
        </p:grpSpPr>
        <p:sp>
          <p:nvSpPr>
            <p:cNvPr id="16" name="r3_bg"/>
            <p:cNvSpPr/>
            <p:nvPr/>
          </p:nvSpPr>
          <p:spPr>
            <a:xfrm>
              <a:off x="5152530" y="3200400"/>
              <a:ext cx="1181062" cy="1700784"/>
            </a:xfrm>
            <a:prstGeom prst="roundRect">
              <a:avLst>
                <a:gd name="adj" fmla="val 7742"/>
              </a:avLst>
            </a:prstGeom>
            <a:solidFill>
              <a:srgbClr val="FFFFFF"/>
            </a:solidFill>
            <a:ln w="16510">
              <a:solidFill>
                <a:srgbClr val="E4D8BE"/>
              </a:solidFill>
              <a:prstDash val="solid"/>
            </a:ln>
          </p:spPr>
        </p:sp>
        <p:pic>
          <p:nvPicPr>
            <p:cNvPr id="17" name="r3_icon" descr="/Users/chukanwobodo/Desktop/lesson-toolkit/assets/icons/tree_topsoil_accentInk.png">    </p:cNvPr>
            <p:cNvPicPr>
              <a:picLocks noChangeAspect="1"/>
            </p:cNvPicPr>
            <p:nvPr/>
          </p:nvPicPr>
          <p:blipFill>
            <a:blip r:embed="rId7"/>
            <a:stretch>
              <a:fillRect/>
            </a:stretch>
          </p:blipFill>
          <p:spPr>
            <a:xfrm>
              <a:off x="5459597" y="3383280"/>
              <a:ext cx="566928" cy="566928"/>
            </a:xfrm>
            <a:prstGeom prst="rect">
              <a:avLst/>
            </a:prstGeom>
          </p:spPr>
        </p:pic>
        <p:sp>
          <p:nvSpPr>
            <p:cNvPr id="18" name="r3_t"/>
            <p:cNvSpPr txBox="1"/>
            <p:nvPr/>
          </p:nvSpPr>
          <p:spPr>
            <a:xfrm>
              <a:off x="5198250" y="4078224"/>
              <a:ext cx="1089622" cy="731520"/>
            </a:xfrm>
            <a:prstGeom prst="rect">
              <a:avLst/>
            </a:prstGeom>
            <a:noFill/>
            <a:ln/>
          </p:spPr>
          <p:txBody>
            <a:bodyPr wrap="square" lIns="0" tIns="0" rIns="0" bIns="0" rtlCol="0" anchor="t"/>
            <a:lstStyle/>
            <a:p>
              <a:pPr algn="ctr" indent="0" marL="0">
                <a:lnSpc>
                  <a:spcPts val="1400"/>
                </a:lnSpc>
                <a:buNone/>
              </a:pPr>
              <a:r>
                <a:rPr lang="en-US" sz="1200" b="1" dirty="0">
                  <a:solidFill>
                    <a:srgbClr val="3D2B1F"/>
                  </a:solidFill>
                  <a:latin typeface="Arial" pitchFamily="34" charset="0"/>
                  <a:ea typeface="Arial" pitchFamily="34" charset="-122"/>
                  <a:cs typeface="Arial" pitchFamily="34" charset="-120"/>
                </a:rPr>
                <a:t>Forests</a:t>
              </a:r>
              <a:endParaRPr lang="en-US" sz="1200" dirty="0"/>
            </a:p>
          </p:txBody>
        </p:sp>
      </p:grpSp>
      <p:grpSp>
        <p:nvGrpSpPr>
          <p:cNvPr id="37" name="r4"/>
          <p:cNvGrpSpPr/>
          <p:nvPr/>
        </p:nvGrpSpPr>
        <p:grpSpPr>
          <a:xfrm>
            <a:off x="6479896" y="3200400"/>
            <a:ext cx="1181062" cy="1700784"/>
            <a:chOff x="6479896" y="3200400"/>
            <a:chExt cx="1181062" cy="1700784"/>
          </a:xfrm>
        </p:grpSpPr>
        <p:sp>
          <p:nvSpPr>
            <p:cNvPr id="19" name="r4_bg"/>
            <p:cNvSpPr/>
            <p:nvPr/>
          </p:nvSpPr>
          <p:spPr>
            <a:xfrm>
              <a:off x="6479896" y="3200400"/>
              <a:ext cx="1181062" cy="1700784"/>
            </a:xfrm>
            <a:prstGeom prst="roundRect">
              <a:avLst>
                <a:gd name="adj" fmla="val 7742"/>
              </a:avLst>
            </a:prstGeom>
            <a:solidFill>
              <a:srgbClr val="FFFFFF"/>
            </a:solidFill>
            <a:ln w="16510">
              <a:solidFill>
                <a:srgbClr val="E4D8BE"/>
              </a:solidFill>
              <a:prstDash val="solid"/>
            </a:ln>
          </p:spPr>
        </p:sp>
        <p:pic>
          <p:nvPicPr>
            <p:cNvPr id="20" name="r4_icon" descr="/Users/chukanwobodo/Desktop/lesson-toolkit/assets/icons/coal_topsoil_accentInk.png">    </p:cNvPr>
            <p:cNvPicPr>
              <a:picLocks noChangeAspect="1"/>
            </p:cNvPicPr>
            <p:nvPr/>
          </p:nvPicPr>
          <p:blipFill>
            <a:blip r:embed="rId8"/>
            <a:stretch>
              <a:fillRect/>
            </a:stretch>
          </p:blipFill>
          <p:spPr>
            <a:xfrm>
              <a:off x="6786963" y="3383280"/>
              <a:ext cx="566928" cy="566928"/>
            </a:xfrm>
            <a:prstGeom prst="rect">
              <a:avLst/>
            </a:prstGeom>
          </p:spPr>
        </p:pic>
        <p:sp>
          <p:nvSpPr>
            <p:cNvPr id="21" name="r4_t"/>
            <p:cNvSpPr txBox="1"/>
            <p:nvPr/>
          </p:nvSpPr>
          <p:spPr>
            <a:xfrm>
              <a:off x="6525616" y="4078224"/>
              <a:ext cx="1089622" cy="731520"/>
            </a:xfrm>
            <a:prstGeom prst="rect">
              <a:avLst/>
            </a:prstGeom>
            <a:noFill/>
            <a:ln/>
          </p:spPr>
          <p:txBody>
            <a:bodyPr wrap="square" lIns="0" tIns="0" rIns="0" bIns="0" rtlCol="0" anchor="t"/>
            <a:lstStyle/>
            <a:p>
              <a:pPr algn="ctr" indent="0" marL="0">
                <a:lnSpc>
                  <a:spcPts val="1400"/>
                </a:lnSpc>
                <a:buNone/>
              </a:pPr>
              <a:r>
                <a:rPr lang="en-US" sz="1200" b="1" dirty="0">
                  <a:solidFill>
                    <a:srgbClr val="3D2B1F"/>
                  </a:solidFill>
                  <a:latin typeface="Arial" pitchFamily="34" charset="0"/>
                  <a:ea typeface="Arial" pitchFamily="34" charset="-122"/>
                  <a:cs typeface="Arial" pitchFamily="34" charset="-120"/>
                </a:rPr>
                <a:t>Coal</a:t>
              </a:r>
              <a:endParaRPr lang="en-US" sz="1200" dirty="0"/>
            </a:p>
          </p:txBody>
        </p:sp>
      </p:grpSp>
      <p:grpSp>
        <p:nvGrpSpPr>
          <p:cNvPr id="38" name="r5"/>
          <p:cNvGrpSpPr/>
          <p:nvPr/>
        </p:nvGrpSpPr>
        <p:grpSpPr>
          <a:xfrm>
            <a:off x="7807262" y="3200400"/>
            <a:ext cx="1181062" cy="1700784"/>
            <a:chOff x="7807262" y="3200400"/>
            <a:chExt cx="1181062" cy="1700784"/>
          </a:xfrm>
        </p:grpSpPr>
        <p:sp>
          <p:nvSpPr>
            <p:cNvPr id="22" name="r5_bg"/>
            <p:cNvSpPr/>
            <p:nvPr/>
          </p:nvSpPr>
          <p:spPr>
            <a:xfrm>
              <a:off x="7807262" y="3200400"/>
              <a:ext cx="1181062" cy="1700784"/>
            </a:xfrm>
            <a:prstGeom prst="roundRect">
              <a:avLst>
                <a:gd name="adj" fmla="val 7742"/>
              </a:avLst>
            </a:prstGeom>
            <a:solidFill>
              <a:srgbClr val="FFFFFF"/>
            </a:solidFill>
            <a:ln w="16510">
              <a:solidFill>
                <a:srgbClr val="E4D8BE"/>
              </a:solidFill>
              <a:prstDash val="solid"/>
            </a:ln>
          </p:spPr>
        </p:sp>
        <p:pic>
          <p:nvPicPr>
            <p:cNvPr id="23" name="r5_icon" descr="/Users/chukanwobodo/Desktop/lesson-toolkit/assets/icons/oilcan_topsoil_accentInk.png">    </p:cNvPr>
            <p:cNvPicPr>
              <a:picLocks noChangeAspect="1"/>
            </p:cNvPicPr>
            <p:nvPr/>
          </p:nvPicPr>
          <p:blipFill>
            <a:blip r:embed="rId9"/>
            <a:stretch>
              <a:fillRect/>
            </a:stretch>
          </p:blipFill>
          <p:spPr>
            <a:xfrm>
              <a:off x="8114328" y="3383280"/>
              <a:ext cx="566928" cy="566928"/>
            </a:xfrm>
            <a:prstGeom prst="rect">
              <a:avLst/>
            </a:prstGeom>
          </p:spPr>
        </p:pic>
        <p:sp>
          <p:nvSpPr>
            <p:cNvPr id="24" name="r5_t"/>
            <p:cNvSpPr txBox="1"/>
            <p:nvPr/>
          </p:nvSpPr>
          <p:spPr>
            <a:xfrm>
              <a:off x="7852982" y="4078224"/>
              <a:ext cx="1089622" cy="731520"/>
            </a:xfrm>
            <a:prstGeom prst="rect">
              <a:avLst/>
            </a:prstGeom>
            <a:noFill/>
            <a:ln/>
          </p:spPr>
          <p:txBody>
            <a:bodyPr wrap="square" lIns="0" tIns="0" rIns="0" bIns="0" rtlCol="0" anchor="t"/>
            <a:lstStyle/>
            <a:p>
              <a:pPr algn="ctr" indent="0" marL="0">
                <a:lnSpc>
                  <a:spcPts val="1400"/>
                </a:lnSpc>
                <a:buNone/>
              </a:pPr>
              <a:r>
                <a:rPr lang="en-US" sz="1200" b="1" dirty="0">
                  <a:solidFill>
                    <a:srgbClr val="3D2B1F"/>
                  </a:solidFill>
                  <a:latin typeface="Arial" pitchFamily="34" charset="0"/>
                  <a:ea typeface="Arial" pitchFamily="34" charset="-122"/>
                  <a:cs typeface="Arial" pitchFamily="34" charset="-120"/>
                </a:rPr>
                <a:t>Oil</a:t>
              </a:r>
              <a:endParaRPr lang="en-US" sz="1200" dirty="0"/>
            </a:p>
          </p:txBody>
        </p:sp>
      </p:grpSp>
      <p:grpSp>
        <p:nvGrpSpPr>
          <p:cNvPr id="39" name="r6"/>
          <p:cNvGrpSpPr/>
          <p:nvPr/>
        </p:nvGrpSpPr>
        <p:grpSpPr>
          <a:xfrm>
            <a:off x="9134627" y="3200400"/>
            <a:ext cx="1181062" cy="1700784"/>
            <a:chOff x="9134627" y="3200400"/>
            <a:chExt cx="1181062" cy="1700784"/>
          </a:xfrm>
        </p:grpSpPr>
        <p:sp>
          <p:nvSpPr>
            <p:cNvPr id="25" name="r6_bg"/>
            <p:cNvSpPr/>
            <p:nvPr/>
          </p:nvSpPr>
          <p:spPr>
            <a:xfrm>
              <a:off x="9134627" y="3200400"/>
              <a:ext cx="1181062" cy="1700784"/>
            </a:xfrm>
            <a:prstGeom prst="roundRect">
              <a:avLst>
                <a:gd name="adj" fmla="val 7742"/>
              </a:avLst>
            </a:prstGeom>
            <a:solidFill>
              <a:srgbClr val="FFFFFF"/>
            </a:solidFill>
            <a:ln w="16510">
              <a:solidFill>
                <a:srgbClr val="E4D8BE"/>
              </a:solidFill>
              <a:prstDash val="solid"/>
            </a:ln>
          </p:spPr>
        </p:sp>
        <p:pic>
          <p:nvPicPr>
            <p:cNvPr id="26" name="r6_icon" descr="/Users/chukanwobodo/Desktop/lesson-toolkit/assets/icons/gem_topsoil_accentInk.png">    </p:cNvPr>
            <p:cNvPicPr>
              <a:picLocks noChangeAspect="1"/>
            </p:cNvPicPr>
            <p:nvPr/>
          </p:nvPicPr>
          <p:blipFill>
            <a:blip r:embed="rId10"/>
            <a:stretch>
              <a:fillRect/>
            </a:stretch>
          </p:blipFill>
          <p:spPr>
            <a:xfrm>
              <a:off x="9441694" y="3383280"/>
              <a:ext cx="566928" cy="566928"/>
            </a:xfrm>
            <a:prstGeom prst="rect">
              <a:avLst/>
            </a:prstGeom>
          </p:spPr>
        </p:pic>
        <p:sp>
          <p:nvSpPr>
            <p:cNvPr id="27" name="r6_t"/>
            <p:cNvSpPr txBox="1"/>
            <p:nvPr/>
          </p:nvSpPr>
          <p:spPr>
            <a:xfrm>
              <a:off x="9180347" y="4078224"/>
              <a:ext cx="1089622" cy="731520"/>
            </a:xfrm>
            <a:prstGeom prst="rect">
              <a:avLst/>
            </a:prstGeom>
            <a:noFill/>
            <a:ln/>
          </p:spPr>
          <p:txBody>
            <a:bodyPr wrap="square" lIns="0" tIns="0" rIns="0" bIns="0" rtlCol="0" anchor="t"/>
            <a:lstStyle/>
            <a:p>
              <a:pPr algn="ctr" indent="0" marL="0">
                <a:lnSpc>
                  <a:spcPts val="1400"/>
                </a:lnSpc>
                <a:buNone/>
              </a:pPr>
              <a:r>
                <a:rPr lang="en-US" sz="1200" b="1" dirty="0">
                  <a:solidFill>
                    <a:srgbClr val="3D2B1F"/>
                  </a:solidFill>
                  <a:latin typeface="Arial" pitchFamily="34" charset="0"/>
                  <a:ea typeface="Arial" pitchFamily="34" charset="-122"/>
                  <a:cs typeface="Arial" pitchFamily="34" charset="-120"/>
                </a:rPr>
                <a:t>Minerals</a:t>
              </a:r>
              <a:endParaRPr lang="en-US" sz="1200" dirty="0"/>
            </a:p>
          </p:txBody>
        </p:sp>
      </p:grpSp>
      <p:grpSp>
        <p:nvGrpSpPr>
          <p:cNvPr id="40" name="r7"/>
          <p:cNvGrpSpPr/>
          <p:nvPr/>
        </p:nvGrpSpPr>
        <p:grpSpPr>
          <a:xfrm>
            <a:off x="10461993" y="3200400"/>
            <a:ext cx="1181062" cy="1700784"/>
            <a:chOff x="10461993" y="3200400"/>
            <a:chExt cx="1181062" cy="1700784"/>
          </a:xfrm>
        </p:grpSpPr>
        <p:sp>
          <p:nvSpPr>
            <p:cNvPr id="28" name="r7_bg"/>
            <p:cNvSpPr/>
            <p:nvPr/>
          </p:nvSpPr>
          <p:spPr>
            <a:xfrm>
              <a:off x="10461993" y="3200400"/>
              <a:ext cx="1181062" cy="1700784"/>
            </a:xfrm>
            <a:prstGeom prst="roundRect">
              <a:avLst>
                <a:gd name="adj" fmla="val 7742"/>
              </a:avLst>
            </a:prstGeom>
            <a:solidFill>
              <a:srgbClr val="FFFFFF"/>
            </a:solidFill>
            <a:ln w="16510">
              <a:solidFill>
                <a:srgbClr val="E4D8BE"/>
              </a:solidFill>
              <a:prstDash val="solid"/>
            </a:ln>
          </p:spPr>
        </p:sp>
        <p:pic>
          <p:nvPicPr>
            <p:cNvPr id="29" name="r7_icon" descr="/Users/chukanwobodo/Desktop/lesson-toolkit/assets/icons/fish_topsoil_accentInk.png">    </p:cNvPr>
            <p:cNvPicPr>
              <a:picLocks noChangeAspect="1"/>
            </p:cNvPicPr>
            <p:nvPr/>
          </p:nvPicPr>
          <p:blipFill>
            <a:blip r:embed="rId11"/>
            <a:stretch>
              <a:fillRect/>
            </a:stretch>
          </p:blipFill>
          <p:spPr>
            <a:xfrm>
              <a:off x="10769060" y="3383280"/>
              <a:ext cx="566928" cy="566928"/>
            </a:xfrm>
            <a:prstGeom prst="rect">
              <a:avLst/>
            </a:prstGeom>
          </p:spPr>
        </p:pic>
        <p:sp>
          <p:nvSpPr>
            <p:cNvPr id="30" name="r7_t"/>
            <p:cNvSpPr txBox="1"/>
            <p:nvPr/>
          </p:nvSpPr>
          <p:spPr>
            <a:xfrm>
              <a:off x="10507713" y="4078224"/>
              <a:ext cx="1089622" cy="731520"/>
            </a:xfrm>
            <a:prstGeom prst="rect">
              <a:avLst/>
            </a:prstGeom>
            <a:noFill/>
            <a:ln/>
          </p:spPr>
          <p:txBody>
            <a:bodyPr wrap="square" lIns="0" tIns="0" rIns="0" bIns="0" rtlCol="0" anchor="t"/>
            <a:lstStyle/>
            <a:p>
              <a:pPr algn="ctr" indent="0" marL="0">
                <a:lnSpc>
                  <a:spcPts val="1400"/>
                </a:lnSpc>
                <a:buNone/>
              </a:pPr>
              <a:r>
                <a:rPr lang="en-US" sz="1200" b="1" dirty="0">
                  <a:solidFill>
                    <a:srgbClr val="3D2B1F"/>
                  </a:solidFill>
                  <a:latin typeface="Arial" pitchFamily="34" charset="0"/>
                  <a:ea typeface="Arial" pitchFamily="34" charset="-122"/>
                  <a:cs typeface="Arial" pitchFamily="34" charset="-120"/>
                </a:rPr>
                <a:t>Fish</a:t>
              </a:r>
              <a:endParaRPr lang="en-US" sz="1200" dirty="0"/>
            </a:p>
          </p:txBody>
        </p:sp>
      </p:grpSp>
      <p:sp>
        <p:nvSpPr>
          <p:cNvPr id="31" name="nr_banner"/>
          <p:cNvSpPr/>
          <p:nvPr/>
        </p:nvSpPr>
        <p:spPr>
          <a:xfrm>
            <a:off x="1170432" y="5065776"/>
            <a:ext cx="10472623" cy="640080"/>
          </a:xfrm>
          <a:prstGeom prst="roundRect">
            <a:avLst>
              <a:gd name="adj" fmla="val 17143"/>
            </a:avLst>
          </a:prstGeom>
          <a:solidFill>
            <a:srgbClr val="3D2B1F"/>
          </a:solidFill>
          <a:ln>
            <a:solidFill>
              <a:srgbClr val="3D2B1F"/>
            </a:solidFill>
          </a:ln>
        </p:spPr>
        <p:txBody>
          <a:bodyPr wrap="square" lIns="1524" tIns="1524" rIns="1524" bIns="1524" rtlCol="0" anchor="ctr"/>
          <a:lstStyle/>
          <a:p>
            <a:pPr algn="ctr" indent="0" marL="0">
              <a:lnSpc>
                <a:spcPts val="2050"/>
              </a:lnSpc>
              <a:buNone/>
            </a:pPr>
            <a:r>
              <a:rPr lang="en-US" sz="1550" b="1" dirty="0">
                <a:solidFill>
                  <a:srgbClr val="C99A3D"/>
                </a:solidFill>
                <a:latin typeface="Arial" pitchFamily="34" charset="0"/>
                <a:ea typeface="Arial" pitchFamily="34" charset="-122"/>
                <a:cs typeface="Arial" pitchFamily="34" charset="-120"/>
              </a:rPr>
              <a:t>A phone is not a natural resource. The oil, metal and minerals </a:t>
            </a:r>
            <a:pPr algn="ctr" indent="0" marL="0">
              <a:lnSpc>
                <a:spcPts val="2050"/>
              </a:lnSpc>
              <a:buNone/>
            </a:pPr>
            <a:r>
              <a:rPr lang="en-US" sz="1550" b="1" u="sng" dirty="0">
                <a:solidFill>
                  <a:srgbClr val="C99A3D"/>
                </a:solidFill>
                <a:latin typeface="Arial" pitchFamily="34" charset="0"/>
                <a:ea typeface="Arial" pitchFamily="34" charset="-122"/>
                <a:cs typeface="Arial" pitchFamily="34" charset="-120"/>
              </a:rPr>
              <a:t>inside</a:t>
            </a:r>
            <a:pPr algn="ctr" indent="0" marL="0">
              <a:lnSpc>
                <a:spcPts val="2050"/>
              </a:lnSpc>
              <a:buNone/>
            </a:pPr>
            <a:r>
              <a:rPr lang="en-US" sz="1550" b="1" dirty="0">
                <a:solidFill>
                  <a:srgbClr val="C99A3D"/>
                </a:solidFill>
                <a:latin typeface="Arial" pitchFamily="34" charset="0"/>
                <a:ea typeface="Arial" pitchFamily="34" charset="-122"/>
                <a:cs typeface="Arial" pitchFamily="34" charset="-120"/>
              </a:rPr>
              <a:t> it are.</a:t>
            </a:r>
            <a:endParaRPr lang="en-US" sz="15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32"/>
                                        </p:tgtEl>
                                        <p:attrNameLst>
                                          <p:attrName>style.visibility</p:attrName>
                                        </p:attrNameLst>
                                      </p:cBhvr>
                                      <p:to>
                                        <p:strVal val="visible"/>
                                      </p:to>
                                    </p:set>
                                    <p:animEffect transition="in" filter="fade">
                                      <p:cBhvr>
                                        <p:cTn id="4" dur="400"/>
                                        <p:tgtEl>
                                          <p:spTgt spid="32"/>
                                        </p:tgtEl>
                                      </p:cBhvr>
                                    </p:animEffect>
                                  </p:childTnLst>
                                </p:cTn>
                              </p:par>
                            </p:childTnLst>
                          </p:cTn>
                        </p:par>
                      </p:childTnLst>
                    </p:cTn>
                  </p:par>
                  <p:par>
                    <p:cTn id="32" fill="hold">
                      <p:stCondLst>
                        <p:cond delay="indefinite"/>
                      </p:stCondLst>
                      <p:childTnLst>
                        <p:par>
                          <p:cTn id="33"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33"/>
                                        </p:tgtEl>
                                        <p:attrNameLst>
                                          <p:attrName>style.visibility</p:attrName>
                                        </p:attrNameLst>
                                      </p:cBhvr>
                                      <p:to>
                                        <p:strVal val="visible"/>
                                      </p:to>
                                    </p:set>
                                    <p:animEffect transition="in" filter="fade">
                                      <p:cBhvr>
                                        <p:cTn id="9" dur="400"/>
                                        <p:tgtEl>
                                          <p:spTgt spid="33"/>
                                        </p:tgtEl>
                                      </p:cBhvr>
                                    </p:animEffect>
                                  </p:childTnLst>
                                </p:cTn>
                              </p:par>
                              <p:par>
                                <p:cTn id="13" presetID="10" presetClass="entr" presetSubtype="0" fill="hold" grpId="0" nodeType="withEffect">
                                  <p:stCondLst>
                                    <p:cond delay="15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400"/>
                                        <p:tgtEl>
                                          <p:spTgt spid="34"/>
                                        </p:tgtEl>
                                      </p:cBhvr>
                                    </p:animEffect>
                                  </p:childTnLst>
                                </p:cTn>
                              </p:par>
                              <p:par>
                                <p:cTn id="16" presetID="10" presetClass="entr" presetSubtype="0" fill="hold" grpId="0" nodeType="withEffect">
                                  <p:stCondLst>
                                    <p:cond delay="30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par>
                                <p:cTn id="19" presetID="10" presetClass="entr" presetSubtype="0" fill="hold" grpId="0" nodeType="withEffect">
                                  <p:stCondLst>
                                    <p:cond delay="45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400"/>
                                        <p:tgtEl>
                                          <p:spTgt spid="36"/>
                                        </p:tgtEl>
                                      </p:cBhvr>
                                    </p:animEffect>
                                  </p:childTnLst>
                                </p:cTn>
                              </p:par>
                              <p:par>
                                <p:cTn id="22" presetID="10" presetClass="entr" presetSubtype="0" fill="hold" grpId="0" nodeType="withEffect">
                                  <p:stCondLst>
                                    <p:cond delay="60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400"/>
                                        <p:tgtEl>
                                          <p:spTgt spid="37"/>
                                        </p:tgtEl>
                                      </p:cBhvr>
                                    </p:animEffect>
                                  </p:childTnLst>
                                </p:cTn>
                              </p:par>
                              <p:par>
                                <p:cTn id="25" presetID="10" presetClass="entr" presetSubtype="0" fill="hold" grpId="0" nodeType="withEffect">
                                  <p:stCondLst>
                                    <p:cond delay="750"/>
                                  </p:stCondLst>
                                  <p:childTnLst>
                                    <p:set>
                                      <p:cBhvr>
                                        <p:cTn id="23" dur="1" fill="hold">
                                          <p:stCondLst>
                                            <p:cond delay="0"/>
                                          </p:stCondLst>
                                        </p:cTn>
                                        <p:tgtEl>
                                          <p:spTgt spid="38"/>
                                        </p:tgtEl>
                                        <p:attrNameLst>
                                          <p:attrName>style.visibility</p:attrName>
                                        </p:attrNameLst>
                                      </p:cBhvr>
                                      <p:to>
                                        <p:strVal val="visible"/>
                                      </p:to>
                                    </p:set>
                                    <p:animEffect transition="in" filter="fade">
                                      <p:cBhvr>
                                        <p:cTn id="24" dur="400"/>
                                        <p:tgtEl>
                                          <p:spTgt spid="38"/>
                                        </p:tgtEl>
                                      </p:cBhvr>
                                    </p:animEffect>
                                  </p:childTnLst>
                                </p:cTn>
                              </p:par>
                              <p:par>
                                <p:cTn id="28" presetID="10" presetClass="entr" presetSubtype="0" fill="hold" grpId="0" nodeType="withEffect">
                                  <p:stCondLst>
                                    <p:cond delay="90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400"/>
                                        <p:tgtEl>
                                          <p:spTgt spid="39"/>
                                        </p:tgtEl>
                                      </p:cBhvr>
                                    </p:animEffect>
                                  </p:childTnLst>
                                </p:cTn>
                              </p:par>
                              <p:par>
                                <p:cTn id="31" presetID="10" presetClass="entr" presetSubtype="0" fill="hold" grpId="0" nodeType="withEffect">
                                  <p:stCondLst>
                                    <p:cond delay="1050"/>
                                  </p:stCondLst>
                                  <p:childTnLst>
                                    <p:set>
                                      <p:cBhvr>
                                        <p:cTn id="29" dur="1" fill="hold">
                                          <p:stCondLst>
                                            <p:cond delay="0"/>
                                          </p:stCondLst>
                                        </p:cTn>
                                        <p:tgtEl>
                                          <p:spTgt spid="40"/>
                                        </p:tgtEl>
                                        <p:attrNameLst>
                                          <p:attrName>style.visibility</p:attrName>
                                        </p:attrNameLst>
                                      </p:cBhvr>
                                      <p:to>
                                        <p:strVal val="visible"/>
                                      </p:to>
                                    </p:set>
                                    <p:animEffect transition="in" filter="fade">
                                      <p:cBhvr>
                                        <p:cTn id="30"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37" presetID="23" presetClass="entr" presetSubtype="16"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animScale>
                                      <p:cBhvr>
                                        <p:cTn id="36" dur="400" fill="hold"/>
                                        <p:tgtEl>
                                          <p:spTgt spid="31"/>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video>
              <p:cMediaNode vol="0">
                <p:cTn id="40" fill="hold" display="0">
                  <p:stCondLst>
                    <p:cond delay="0"/>
                  </p:stCondLst>
                  <p:endCondLst>
                    <p:cond evt="onStopAudio" delay="0">
                      <p:tgtEl>
                        <p:sldTgt/>
                      </p:tgtEl>
                    </p:cond>
                  </p:endCondLst>
                </p:cTn>
                <p:tgtEl>
                  <p:spTgt spid="3"/>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623974"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I DO · 3 MIN</a:t>
            </a:r>
            <a:endParaRPr lang="en-US" sz="1100" dirty="0"/>
          </a:p>
        </p:txBody>
      </p:sp>
      <p:sp>
        <p:nvSpPr>
          <p:cNvPr id="4"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000" b="1" dirty="0">
                <a:solidFill>
                  <a:srgbClr val="3D2B1F"/>
                </a:solidFill>
                <a:latin typeface="Georgia" pitchFamily="34" charset="0"/>
                <a:ea typeface="Georgia" pitchFamily="34" charset="-122"/>
                <a:cs typeface="Georgia" pitchFamily="34" charset="-120"/>
              </a:rPr>
              <a:t>Renewable, non-renewable, and the rate</a:t>
            </a:r>
            <a:endParaRPr lang="en-US" sz="3000" dirty="0"/>
          </a:p>
        </p:txBody>
      </p:sp>
      <p:grpSp>
        <p:nvGrpSpPr>
          <p:cNvPr id="20" name="reng"/>
          <p:cNvGrpSpPr/>
          <p:nvPr/>
        </p:nvGrpSpPr>
        <p:grpSpPr>
          <a:xfrm>
            <a:off x="1170432" y="1920240"/>
            <a:ext cx="5099152" cy="2103120"/>
            <a:chOff x="1170432" y="1920240"/>
            <a:chExt cx="5099152" cy="2103120"/>
          </a:xfrm>
        </p:grpSpPr>
        <p:sp>
          <p:nvSpPr>
            <p:cNvPr id="5" name="ren_bg"/>
            <p:cNvSpPr/>
            <p:nvPr/>
          </p:nvSpPr>
          <p:spPr>
            <a:xfrm>
              <a:off x="1170432" y="1920240"/>
              <a:ext cx="5099152" cy="2103120"/>
            </a:xfrm>
            <a:prstGeom prst="roundRect">
              <a:avLst>
                <a:gd name="adj" fmla="val 4348"/>
              </a:avLst>
            </a:prstGeom>
            <a:solidFill>
              <a:srgbClr val="FFFFFF"/>
            </a:solidFill>
            <a:ln w="16510">
              <a:solidFill>
                <a:srgbClr val="E4D8BE"/>
              </a:solidFill>
              <a:prstDash val="solid"/>
            </a:ln>
          </p:spPr>
        </p:sp>
        <p:sp>
          <p:nvSpPr>
            <p:cNvPr id="6" name="ren_h"/>
            <p:cNvSpPr txBox="1"/>
            <p:nvPr/>
          </p:nvSpPr>
          <p:spPr>
            <a:xfrm>
              <a:off x="1408176" y="2066544"/>
              <a:ext cx="4623664" cy="329184"/>
            </a:xfrm>
            <a:prstGeom prst="rect">
              <a:avLst/>
            </a:prstGeom>
            <a:noFill/>
            <a:ln/>
          </p:spPr>
          <p:txBody>
            <a:bodyPr wrap="square" lIns="0" tIns="0" rIns="0" bIns="0" rtlCol="0" anchor="ctr"/>
            <a:lstStyle/>
            <a:p>
              <a:pPr indent="0" marL="0">
                <a:buNone/>
              </a:pPr>
              <a:r>
                <a:rPr lang="en-US" sz="1400" b="1" spc="100" kern="0" dirty="0">
                  <a:solidFill>
                    <a:srgbClr val="3D2B1F"/>
                  </a:solidFill>
                  <a:latin typeface="Georgia" pitchFamily="34" charset="0"/>
                  <a:ea typeface="Georgia" pitchFamily="34" charset="-122"/>
                  <a:cs typeface="Georgia" pitchFamily="34" charset="-120"/>
                </a:rPr>
                <a:t>RENEWABLE</a:t>
              </a:r>
              <a:endParaRPr lang="en-US" sz="1400" dirty="0"/>
            </a:p>
          </p:txBody>
        </p:sp>
        <p:sp>
          <p:nvSpPr>
            <p:cNvPr id="7" name="ren_t"/>
            <p:cNvSpPr txBox="1"/>
            <p:nvPr/>
          </p:nvSpPr>
          <p:spPr>
            <a:xfrm>
              <a:off x="1408176" y="2450592"/>
              <a:ext cx="4623664" cy="1517904"/>
            </a:xfrm>
            <a:prstGeom prst="rect">
              <a:avLst/>
            </a:prstGeom>
            <a:noFill/>
            <a:ln/>
          </p:spPr>
          <p:txBody>
            <a:bodyPr wrap="square" lIns="0" tIns="0" rIns="0" bIns="0" rtlCol="0" anchor="t"/>
            <a:lstStyle/>
            <a:p>
              <a:pPr marL="342900" indent="-342900">
                <a:lnSpc>
                  <a:spcPts val="1600"/>
                </a:lnSpc>
                <a:spcAft>
                  <a:spcPts val="400"/>
                </a:spcAft>
                <a:buSzPct val="100000"/>
                <a:buChar char="•"/>
              </a:pPr>
              <a:r>
                <a:rPr lang="en-US" sz="1250" b="1" dirty="0">
                  <a:solidFill>
                    <a:srgbClr val="2A1D14"/>
                  </a:solidFill>
                  <a:latin typeface="Arial" pitchFamily="34" charset="0"/>
                  <a:ea typeface="Arial" pitchFamily="34" charset="-122"/>
                  <a:cs typeface="Arial" pitchFamily="34" charset="-120"/>
                </a:rPr>
                <a:t>Nature replaces it as fast as, or faster than, we use it.</a:t>
              </a:r>
              <a:endParaRPr lang="en-US" sz="1250" dirty="0"/>
            </a:p>
            <a:p>
              <a:pPr marL="342900" indent="-342900">
                <a:lnSpc>
                  <a:spcPts val="1600"/>
                </a:lnSpc>
                <a:spcAft>
                  <a:spcPts val="400"/>
                </a:spcAft>
                <a:buSzPct val="100000"/>
                <a:buChar char="•"/>
              </a:pPr>
              <a:r>
                <a:rPr lang="en-US" sz="1250" b="1" dirty="0">
                  <a:solidFill>
                    <a:srgbClr val="2A1D14"/>
                  </a:solidFill>
                  <a:latin typeface="Arial" pitchFamily="34" charset="0"/>
                  <a:ea typeface="Arial" pitchFamily="34" charset="-122"/>
                  <a:cs typeface="Arial" pitchFamily="34" charset="-120"/>
                </a:rPr>
                <a:t>Sunlight, wind and waves: replaced far faster than we could ever use them up.</a:t>
              </a:r>
              <a:endParaRPr lang="en-US" sz="1250" dirty="0"/>
            </a:p>
            <a:p>
              <a:pPr marL="342900" indent="-342900">
                <a:lnSpc>
                  <a:spcPts val="1600"/>
                </a:lnSpc>
                <a:buSzPct val="100000"/>
                <a:buChar char="•"/>
              </a:pPr>
              <a:r>
                <a:rPr lang="en-US" sz="1250" b="1" dirty="0">
                  <a:solidFill>
                    <a:srgbClr val="2A1D14"/>
                  </a:solidFill>
                  <a:latin typeface="Arial" pitchFamily="34" charset="0"/>
                  <a:ea typeface="Arial" pitchFamily="34" charset="-122"/>
                  <a:cs typeface="Arial" pitchFamily="34" charset="-120"/>
                </a:rPr>
                <a:t>A forest, cut down no faster than it regrows.</a:t>
              </a:r>
              <a:endParaRPr lang="en-US" sz="1250" dirty="0"/>
            </a:p>
          </p:txBody>
        </p:sp>
      </p:grpSp>
      <p:grpSp>
        <p:nvGrpSpPr>
          <p:cNvPr id="21" name="nong"/>
          <p:cNvGrpSpPr/>
          <p:nvPr/>
        </p:nvGrpSpPr>
        <p:grpSpPr>
          <a:xfrm>
            <a:off x="6543904" y="1920240"/>
            <a:ext cx="5099152" cy="2103120"/>
            <a:chOff x="6543904" y="1920240"/>
            <a:chExt cx="5099152" cy="2103120"/>
          </a:xfrm>
        </p:grpSpPr>
        <p:sp>
          <p:nvSpPr>
            <p:cNvPr id="8" name="non_bg"/>
            <p:cNvSpPr/>
            <p:nvPr/>
          </p:nvSpPr>
          <p:spPr>
            <a:xfrm>
              <a:off x="6543904" y="1920240"/>
              <a:ext cx="5099152" cy="2103120"/>
            </a:xfrm>
            <a:prstGeom prst="roundRect">
              <a:avLst>
                <a:gd name="adj" fmla="val 4348"/>
              </a:avLst>
            </a:prstGeom>
            <a:solidFill>
              <a:srgbClr val="FFFFFF"/>
            </a:solidFill>
            <a:ln w="16510">
              <a:solidFill>
                <a:srgbClr val="E4D8BE"/>
              </a:solidFill>
              <a:prstDash val="solid"/>
            </a:ln>
          </p:spPr>
        </p:sp>
        <p:sp>
          <p:nvSpPr>
            <p:cNvPr id="9" name="non_h"/>
            <p:cNvSpPr txBox="1"/>
            <p:nvPr/>
          </p:nvSpPr>
          <p:spPr>
            <a:xfrm>
              <a:off x="6781648" y="2066544"/>
              <a:ext cx="4623664" cy="329184"/>
            </a:xfrm>
            <a:prstGeom prst="rect">
              <a:avLst/>
            </a:prstGeom>
            <a:noFill/>
            <a:ln/>
          </p:spPr>
          <p:txBody>
            <a:bodyPr wrap="square" lIns="0" tIns="0" rIns="0" bIns="0" rtlCol="0" anchor="ctr"/>
            <a:lstStyle/>
            <a:p>
              <a:pPr indent="0" marL="0">
                <a:buNone/>
              </a:pPr>
              <a:r>
                <a:rPr lang="en-US" sz="1400" b="1" spc="100" kern="0" dirty="0">
                  <a:solidFill>
                    <a:srgbClr val="3D2B1F"/>
                  </a:solidFill>
                  <a:latin typeface="Georgia" pitchFamily="34" charset="0"/>
                  <a:ea typeface="Georgia" pitchFamily="34" charset="-122"/>
                  <a:cs typeface="Georgia" pitchFamily="34" charset="-120"/>
                </a:rPr>
                <a:t>NON-RENEWABLE</a:t>
              </a:r>
              <a:endParaRPr lang="en-US" sz="1400" dirty="0"/>
            </a:p>
          </p:txBody>
        </p:sp>
        <p:sp>
          <p:nvSpPr>
            <p:cNvPr id="10" name="non_t"/>
            <p:cNvSpPr txBox="1"/>
            <p:nvPr/>
          </p:nvSpPr>
          <p:spPr>
            <a:xfrm>
              <a:off x="6781648" y="2450592"/>
              <a:ext cx="4623664" cy="1517904"/>
            </a:xfrm>
            <a:prstGeom prst="rect">
              <a:avLst/>
            </a:prstGeom>
            <a:noFill/>
            <a:ln/>
          </p:spPr>
          <p:txBody>
            <a:bodyPr wrap="square" lIns="0" tIns="0" rIns="0" bIns="0" rtlCol="0" anchor="t"/>
            <a:lstStyle/>
            <a:p>
              <a:pPr marL="342900" indent="-342900">
                <a:lnSpc>
                  <a:spcPts val="1600"/>
                </a:lnSpc>
                <a:spcAft>
                  <a:spcPts val="400"/>
                </a:spcAft>
                <a:buSzPct val="100000"/>
                <a:buChar char="•"/>
              </a:pPr>
              <a:r>
                <a:rPr lang="en-US" sz="1250" b="1" dirty="0">
                  <a:solidFill>
                    <a:srgbClr val="2A1D14"/>
                  </a:solidFill>
                  <a:latin typeface="Arial" pitchFamily="34" charset="0"/>
                  <a:ea typeface="Arial" pitchFamily="34" charset="-122"/>
                  <a:cs typeface="Arial" pitchFamily="34" charset="-120"/>
                </a:rPr>
                <a:t>It forms far slower than we use it, so on a human timescale the stock does not refill.</a:t>
              </a:r>
              <a:endParaRPr lang="en-US" sz="1250" dirty="0"/>
            </a:p>
            <a:p>
              <a:pPr marL="342900" indent="-342900">
                <a:lnSpc>
                  <a:spcPts val="1600"/>
                </a:lnSpc>
                <a:spcAft>
                  <a:spcPts val="400"/>
                </a:spcAft>
                <a:buSzPct val="100000"/>
                <a:buChar char="•"/>
              </a:pPr>
              <a:r>
                <a:rPr lang="en-US" sz="1250" b="1" dirty="0">
                  <a:solidFill>
                    <a:srgbClr val="2A1D14"/>
                  </a:solidFill>
                  <a:latin typeface="Arial" pitchFamily="34" charset="0"/>
                  <a:ea typeface="Arial" pitchFamily="34" charset="-122"/>
                  <a:cs typeface="Arial" pitchFamily="34" charset="-120"/>
                </a:rPr>
                <a:t>Coal, oil, gas and metal ores: they take millions of years, or do not form again at all.</a:t>
              </a:r>
              <a:endParaRPr lang="en-US" sz="1250" dirty="0"/>
            </a:p>
            <a:p>
              <a:pPr marL="342900" indent="-342900">
                <a:lnSpc>
                  <a:spcPts val="1600"/>
                </a:lnSpc>
                <a:buSzPct val="100000"/>
                <a:buChar char="•"/>
              </a:pPr>
              <a:r>
                <a:rPr lang="en-US" sz="1250" b="1" dirty="0">
                  <a:solidFill>
                    <a:srgbClr val="2A1D14"/>
                  </a:solidFill>
                  <a:latin typeface="Arial" pitchFamily="34" charset="0"/>
                  <a:ea typeface="Arial" pitchFamily="34" charset="-122"/>
                  <a:cs typeface="Arial" pitchFamily="34" charset="-120"/>
                </a:rPr>
                <a:t>Soil counts too, from last unit: it forms over centuries.</a:t>
              </a:r>
              <a:endParaRPr lang="en-US" sz="1250" dirty="0"/>
            </a:p>
          </p:txBody>
        </p:sp>
      </p:grpSp>
      <p:grpSp>
        <p:nvGrpSpPr>
          <p:cNvPr id="22" name="aqg"/>
          <p:cNvGrpSpPr/>
          <p:nvPr/>
        </p:nvGrpSpPr>
        <p:grpSpPr>
          <a:xfrm>
            <a:off x="1170432" y="4169664"/>
            <a:ext cx="10472623" cy="1463040"/>
            <a:chOff x="1170432" y="4169664"/>
            <a:chExt cx="10472623" cy="1463040"/>
          </a:xfrm>
        </p:grpSpPr>
        <p:sp>
          <p:nvSpPr>
            <p:cNvPr id="11" name="aq_bg"/>
            <p:cNvSpPr/>
            <p:nvPr/>
          </p:nvSpPr>
          <p:spPr>
            <a:xfrm>
              <a:off x="1170432" y="4169664"/>
              <a:ext cx="10472623" cy="1463040"/>
            </a:xfrm>
            <a:prstGeom prst="roundRect">
              <a:avLst>
                <a:gd name="adj" fmla="val 6250"/>
              </a:avLst>
            </a:prstGeom>
            <a:solidFill>
              <a:srgbClr val="FFFFFF"/>
            </a:solidFill>
            <a:ln w="16510">
              <a:solidFill>
                <a:srgbClr val="E4D8BE"/>
              </a:solidFill>
              <a:prstDash val="solid"/>
            </a:ln>
          </p:spPr>
        </p:sp>
        <p:sp>
          <p:nvSpPr>
            <p:cNvPr id="12" name="aq_h"/>
            <p:cNvSpPr txBox="1"/>
            <p:nvPr/>
          </p:nvSpPr>
          <p:spPr>
            <a:xfrm>
              <a:off x="1408176" y="4297680"/>
              <a:ext cx="9997135" cy="329184"/>
            </a:xfrm>
            <a:prstGeom prst="rect">
              <a:avLst/>
            </a:prstGeom>
            <a:noFill/>
            <a:ln/>
          </p:spPr>
          <p:txBody>
            <a:bodyPr wrap="square" lIns="0" tIns="0" rIns="0" bIns="0" rtlCol="0" anchor="ctr"/>
            <a:lstStyle/>
            <a:p>
              <a:pPr indent="0" marL="0">
                <a:buNone/>
              </a:pPr>
              <a:r>
                <a:rPr lang="en-US" sz="1300" b="1" spc="60" kern="0" dirty="0">
                  <a:solidFill>
                    <a:srgbClr val="3D2B1F"/>
                  </a:solidFill>
                  <a:latin typeface="Georgia" pitchFamily="34" charset="0"/>
                  <a:ea typeface="Georgia" pitchFamily="34" charset="-122"/>
                  <a:cs typeface="Georgia" pitchFamily="34" charset="-120"/>
                </a:rPr>
                <a:t>SAME KIND OF RESOURCE, DIFFERENT ANSWER</a:t>
              </a:r>
              <a:endParaRPr lang="en-US" sz="1300" dirty="0"/>
            </a:p>
          </p:txBody>
        </p:sp>
        <p:sp>
          <p:nvSpPr>
            <p:cNvPr id="13" name="aq_t"/>
            <p:cNvSpPr txBox="1"/>
            <p:nvPr/>
          </p:nvSpPr>
          <p:spPr>
            <a:xfrm>
              <a:off x="1408176" y="4645152"/>
              <a:ext cx="7637983" cy="877824"/>
            </a:xfrm>
            <a:prstGeom prst="rect">
              <a:avLst/>
            </a:prstGeom>
            <a:noFill/>
            <a:ln/>
          </p:spPr>
          <p:txBody>
            <a:bodyPr wrap="square" lIns="0" tIns="0" rIns="0" bIns="0" rtlCol="0" anchor="t"/>
            <a:lstStyle/>
            <a:p>
              <a:pPr indent="0" marL="0">
                <a:lnSpc>
                  <a:spcPts val="1600"/>
                </a:lnSpc>
                <a:buNone/>
              </a:pPr>
              <a:r>
                <a:rPr lang="en-US" sz="1250" b="1" dirty="0">
                  <a:solidFill>
                    <a:srgbClr val="2A1D14"/>
                  </a:solidFill>
                  <a:latin typeface="Arial" pitchFamily="34" charset="0"/>
                  <a:ea typeface="Arial" pitchFamily="34" charset="-122"/>
                  <a:cs typeface="Arial" pitchFamily="34" charset="-120"/>
                </a:rPr>
                <a:t>Rain refills an ordinary well quickly. But some deep, old groundwater barely refills at all: pumped 1.5 to 3 times faster than it recharges, in some places. Drained, it could take 500 to 1,300 years to refill.</a:t>
              </a:r>
              <a:endParaRPr lang="en-US" sz="1250" dirty="0"/>
            </a:p>
          </p:txBody>
        </p:sp>
      </p:grpSp>
      <p:grpSp>
        <p:nvGrpSpPr>
          <p:cNvPr id="23" name="bar0"/>
          <p:cNvGrpSpPr/>
          <p:nvPr/>
        </p:nvGrpSpPr>
        <p:grpSpPr>
          <a:xfrm>
            <a:off x="9265615" y="4663440"/>
            <a:ext cx="2011680" cy="512064"/>
            <a:chOff x="9265615" y="4663440"/>
            <a:chExt cx="2011680" cy="512064"/>
          </a:xfrm>
        </p:grpSpPr>
        <p:sp>
          <p:nvSpPr>
            <p:cNvPr id="14" name="aq_recharge_l"/>
            <p:cNvSpPr txBox="1"/>
            <p:nvPr/>
          </p:nvSpPr>
          <p:spPr>
            <a:xfrm>
              <a:off x="9265615" y="4663440"/>
              <a:ext cx="2011680" cy="256032"/>
            </a:xfrm>
            <a:prstGeom prst="rect">
              <a:avLst/>
            </a:prstGeom>
            <a:noFill/>
            <a:ln/>
          </p:spPr>
          <p:txBody>
            <a:bodyPr wrap="square" lIns="0" tIns="0" rIns="0" bIns="0" rtlCol="0" anchor="ctr"/>
            <a:lstStyle/>
            <a:p>
              <a:pPr indent="0" marL="0">
                <a:buNone/>
              </a:pPr>
              <a:r>
                <a:rPr lang="en-US" sz="1050" b="1" dirty="0">
                  <a:solidFill>
                    <a:srgbClr val="6B5A48"/>
                  </a:solidFill>
                  <a:latin typeface="Arial" pitchFamily="34" charset="0"/>
                  <a:ea typeface="Arial" pitchFamily="34" charset="-122"/>
                  <a:cs typeface="Arial" pitchFamily="34" charset="-120"/>
                </a:rPr>
                <a:t>Refills each year</a:t>
              </a:r>
              <a:endParaRPr lang="en-US" sz="1050" dirty="0"/>
            </a:p>
          </p:txBody>
        </p:sp>
        <p:sp>
          <p:nvSpPr>
            <p:cNvPr id="15" name="aq_recharge_track"/>
            <p:cNvSpPr/>
            <p:nvPr/>
          </p:nvSpPr>
          <p:spPr>
            <a:xfrm>
              <a:off x="9265615" y="4937760"/>
              <a:ext cx="2011680" cy="237744"/>
            </a:xfrm>
            <a:prstGeom prst="roundRect">
              <a:avLst>
                <a:gd name="adj" fmla="val 19231"/>
              </a:avLst>
            </a:prstGeom>
            <a:solidFill>
              <a:srgbClr val="E4D8BE"/>
            </a:solidFill>
            <a:ln w="12700">
              <a:solidFill>
                <a:srgbClr val="E4D8BE"/>
              </a:solidFill>
              <a:prstDash val="solid"/>
            </a:ln>
          </p:spPr>
        </p:sp>
        <p:sp>
          <p:nvSpPr>
            <p:cNvPr id="16" name="aq_recharge_fill"/>
            <p:cNvSpPr/>
            <p:nvPr/>
          </p:nvSpPr>
          <p:spPr>
            <a:xfrm>
              <a:off x="9265615" y="4937760"/>
              <a:ext cx="663854" cy="237744"/>
            </a:xfrm>
            <a:prstGeom prst="roundRect">
              <a:avLst>
                <a:gd name="adj" fmla="val 19231"/>
              </a:avLst>
            </a:prstGeom>
            <a:solidFill>
              <a:srgbClr val="6A8C9A"/>
            </a:solidFill>
            <a:ln w="12700">
              <a:solidFill>
                <a:srgbClr val="6A8C9A"/>
              </a:solidFill>
              <a:prstDash val="solid"/>
            </a:ln>
          </p:spPr>
        </p:sp>
      </p:grpSp>
      <p:grpSp>
        <p:nvGrpSpPr>
          <p:cNvPr id="24" name="bar1"/>
          <p:cNvGrpSpPr/>
          <p:nvPr/>
        </p:nvGrpSpPr>
        <p:grpSpPr>
          <a:xfrm>
            <a:off x="9265615" y="5102352"/>
            <a:ext cx="2011680" cy="512064"/>
            <a:chOff x="9265615" y="5102352"/>
            <a:chExt cx="2011680" cy="512064"/>
          </a:xfrm>
        </p:grpSpPr>
        <p:sp>
          <p:nvSpPr>
            <p:cNvPr id="17" name="aq_pump_l"/>
            <p:cNvSpPr txBox="1"/>
            <p:nvPr/>
          </p:nvSpPr>
          <p:spPr>
            <a:xfrm>
              <a:off x="9265615" y="5102352"/>
              <a:ext cx="2011680" cy="256032"/>
            </a:xfrm>
            <a:prstGeom prst="rect">
              <a:avLst/>
            </a:prstGeom>
            <a:noFill/>
            <a:ln/>
          </p:spPr>
          <p:txBody>
            <a:bodyPr wrap="square" lIns="0" tIns="0" rIns="0" bIns="0" rtlCol="0" anchor="ctr"/>
            <a:lstStyle/>
            <a:p>
              <a:pPr indent="0" marL="0">
                <a:buNone/>
              </a:pPr>
              <a:r>
                <a:rPr lang="en-US" sz="1050" b="1" dirty="0">
                  <a:solidFill>
                    <a:srgbClr val="6B5A48"/>
                  </a:solidFill>
                  <a:latin typeface="Arial" pitchFamily="34" charset="0"/>
                  <a:ea typeface="Arial" pitchFamily="34" charset="-122"/>
                  <a:cs typeface="Arial" pitchFamily="34" charset="-120"/>
                </a:rPr>
                <a:t>Pumped out each year</a:t>
              </a:r>
              <a:endParaRPr lang="en-US" sz="1050" dirty="0"/>
            </a:p>
          </p:txBody>
        </p:sp>
        <p:sp>
          <p:nvSpPr>
            <p:cNvPr id="18" name="aq_pump_track"/>
            <p:cNvSpPr/>
            <p:nvPr/>
          </p:nvSpPr>
          <p:spPr>
            <a:xfrm>
              <a:off x="9265615" y="5376672"/>
              <a:ext cx="2011680" cy="237744"/>
            </a:xfrm>
            <a:prstGeom prst="roundRect">
              <a:avLst>
                <a:gd name="adj" fmla="val 19231"/>
              </a:avLst>
            </a:prstGeom>
            <a:solidFill>
              <a:srgbClr val="E4D8BE"/>
            </a:solidFill>
            <a:ln w="12700">
              <a:solidFill>
                <a:srgbClr val="E4D8BE"/>
              </a:solidFill>
              <a:prstDash val="solid"/>
            </a:ln>
          </p:spPr>
        </p:sp>
        <p:sp>
          <p:nvSpPr>
            <p:cNvPr id="19" name="aq_pump_fill"/>
            <p:cNvSpPr/>
            <p:nvPr/>
          </p:nvSpPr>
          <p:spPr>
            <a:xfrm>
              <a:off x="9265615" y="5376672"/>
              <a:ext cx="2011680" cy="237744"/>
            </a:xfrm>
            <a:prstGeom prst="roundRect">
              <a:avLst>
                <a:gd name="adj" fmla="val 19231"/>
              </a:avLst>
            </a:prstGeom>
            <a:solidFill>
              <a:srgbClr val="6A8C9A"/>
            </a:solidFill>
            <a:ln w="12700">
              <a:solidFill>
                <a:srgbClr val="6A8C9A"/>
              </a:solidFill>
              <a:prstDash val="solid"/>
            </a:ln>
          </p:spPr>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0"/>
                                        </p:tgtEl>
                                        <p:attrNameLst>
                                          <p:attrName>style.visibility</p:attrName>
                                        </p:attrNameLst>
                                      </p:cBhvr>
                                      <p:to>
                                        <p:strVal val="visible"/>
                                      </p:to>
                                    </p:set>
                                    <p:animEffect transition="in" filter="fade">
                                      <p:cBhvr>
                                        <p:cTn id="4"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21"/>
                                        </p:tgtEl>
                                        <p:attrNameLst>
                                          <p:attrName>style.visibility</p:attrName>
                                        </p:attrNameLst>
                                      </p:cBhvr>
                                      <p:to>
                                        <p:strVal val="visible"/>
                                      </p:to>
                                    </p:set>
                                    <p:animEffect transition="in" filter="fade">
                                      <p:cBhvr>
                                        <p:cTn id="9" dur="4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28" fill="hold" display="0">
                  <p:stCondLst>
                    <p:cond delay="0"/>
                  </p:stCondLst>
                  <p:endCondLst>
                    <p:cond evt="onStopAudio" delay="0">
                      <p:tgtEl>
                        <p:sldTgt/>
                      </p:tgtEl>
                    </p:cond>
                  </p:endCondLst>
                </p:cTn>
                <p:tgtEl>
                  <p:spTgt spid="3"/>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713586"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WE DO · 5 MIN</a:t>
            </a:r>
            <a:endParaRPr lang="en-US" sz="1100" dirty="0"/>
          </a:p>
        </p:txBody>
      </p:sp>
      <p:sp>
        <p:nvSpPr>
          <p:cNvPr id="4"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000" b="1" dirty="0">
                <a:solidFill>
                  <a:srgbClr val="3D2B1F"/>
                </a:solidFill>
                <a:latin typeface="Georgia" pitchFamily="34" charset="0"/>
                <a:ea typeface="Georgia" pitchFamily="34" charset="-122"/>
                <a:cs typeface="Georgia" pitchFamily="34" charset="-120"/>
              </a:rPr>
              <a:t>What should be the correct answer?</a:t>
            </a:r>
            <a:endParaRPr lang="en-US" sz="3000" dirty="0"/>
          </a:p>
        </p:txBody>
      </p:sp>
      <p:sp>
        <p:nvSpPr>
          <p:cNvPr id="5" name="slide_sub"/>
          <p:cNvSpPr txBox="1"/>
          <p:nvPr/>
        </p:nvSpPr>
        <p:spPr>
          <a:xfrm>
            <a:off x="1170432" y="1572768"/>
            <a:ext cx="10472623" cy="365760"/>
          </a:xfrm>
          <a:prstGeom prst="rect">
            <a:avLst/>
          </a:prstGeom>
          <a:noFill/>
          <a:ln/>
        </p:spPr>
        <p:txBody>
          <a:bodyPr wrap="square" lIns="0" tIns="0" rIns="0" bIns="0" rtlCol="0" anchor="ctr"/>
          <a:lstStyle/>
          <a:p>
            <a:pPr indent="0" marL="0">
              <a:buNone/>
            </a:pPr>
            <a:r>
              <a:rPr lang="en-US" sz="1600" dirty="0">
                <a:solidFill>
                  <a:srgbClr val="6B5A48"/>
                </a:solidFill>
                <a:latin typeface="Arial" pitchFamily="34" charset="0"/>
                <a:ea typeface="Arial" pitchFamily="34" charset="-122"/>
                <a:cs typeface="Arial" pitchFamily="34" charset="-120"/>
              </a:rPr>
              <a:t>Spot the mistake.</a:t>
            </a:r>
            <a:endParaRPr lang="en-US" sz="1600" dirty="0"/>
          </a:p>
        </p:txBody>
      </p:sp>
      <p:sp>
        <p:nvSpPr>
          <p:cNvPr id="6" name="wd0_bg"/>
          <p:cNvSpPr/>
          <p:nvPr/>
        </p:nvSpPr>
        <p:spPr>
          <a:xfrm>
            <a:off x="1170432" y="2322576"/>
            <a:ext cx="10472623" cy="841248"/>
          </a:xfrm>
          <a:prstGeom prst="roundRect">
            <a:avLst>
              <a:gd name="adj" fmla="val 10870"/>
            </a:avLst>
          </a:prstGeom>
          <a:solidFill>
            <a:srgbClr val="FFFFFF"/>
          </a:solidFill>
          <a:ln w="16510">
            <a:solidFill>
              <a:srgbClr val="E4D8BE"/>
            </a:solidFill>
            <a:prstDash val="solid"/>
          </a:ln>
        </p:spPr>
      </p:sp>
      <p:sp>
        <p:nvSpPr>
          <p:cNvPr id="7" name="wd0_q"/>
          <p:cNvSpPr txBox="1"/>
          <p:nvPr/>
        </p:nvSpPr>
        <p:spPr>
          <a:xfrm>
            <a:off x="1426464" y="2322576"/>
            <a:ext cx="5120640" cy="841248"/>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"Coal is not a natural resource, because people have to mine it before we can use it."</a:t>
            </a:r>
            <a:endParaRPr lang="en-US" sz="1500" dirty="0"/>
          </a:p>
        </p:txBody>
      </p:sp>
      <p:sp>
        <p:nvSpPr>
          <p:cNvPr id="8" name="wd0_a"/>
          <p:cNvSpPr/>
          <p:nvPr/>
        </p:nvSpPr>
        <p:spPr>
          <a:xfrm>
            <a:off x="6748272" y="2404872"/>
            <a:ext cx="4803343" cy="676656"/>
          </a:xfrm>
          <a:prstGeom prst="roundRect">
            <a:avLst>
              <a:gd name="adj" fmla="val 13514"/>
            </a:avLst>
          </a:prstGeom>
          <a:solidFill>
            <a:srgbClr val="F2EBDD"/>
          </a:solidFill>
          <a:ln w="19050">
            <a:solidFill>
              <a:srgbClr val="B5482E"/>
            </a:solidFill>
          </a:ln>
        </p:spPr>
        <p:txBody>
          <a:bodyPr wrap="square" lIns="762" tIns="762" rIns="762" bIns="762" rtlCol="0" anchor="ctr"/>
          <a:lstStyle/>
          <a:p>
            <a:pPr algn="ctr" indent="0" marL="0">
              <a:buNone/>
            </a:pPr>
            <a:r>
              <a:rPr lang="en-US" sz="1250" b="1" dirty="0">
                <a:solidFill>
                  <a:srgbClr val="3D2B1F"/>
                </a:solidFill>
                <a:latin typeface="Arial" pitchFamily="34" charset="0"/>
                <a:ea typeface="Arial" pitchFamily="34" charset="-122"/>
                <a:cs typeface="Arial" pitchFamily="34" charset="-120"/>
              </a:rPr>
              <a:t>A natural resource comes from the Earth, not made by people. Coal is the resource; mining just gets it out.</a:t>
            </a:r>
            <a:endParaRPr lang="en-US" sz="1250" dirty="0"/>
          </a:p>
        </p:txBody>
      </p:sp>
      <p:sp>
        <p:nvSpPr>
          <p:cNvPr id="9" name="wd1_bg"/>
          <p:cNvSpPr/>
          <p:nvPr/>
        </p:nvSpPr>
        <p:spPr>
          <a:xfrm>
            <a:off x="1170432" y="3346704"/>
            <a:ext cx="10472623" cy="841248"/>
          </a:xfrm>
          <a:prstGeom prst="roundRect">
            <a:avLst>
              <a:gd name="adj" fmla="val 10870"/>
            </a:avLst>
          </a:prstGeom>
          <a:solidFill>
            <a:srgbClr val="FFFFFF"/>
          </a:solidFill>
          <a:ln w="16510">
            <a:solidFill>
              <a:srgbClr val="E4D8BE"/>
            </a:solidFill>
            <a:prstDash val="solid"/>
          </a:ln>
        </p:spPr>
      </p:sp>
      <p:sp>
        <p:nvSpPr>
          <p:cNvPr id="10" name="wd1_q"/>
          <p:cNvSpPr txBox="1"/>
          <p:nvPr/>
        </p:nvSpPr>
        <p:spPr>
          <a:xfrm>
            <a:off x="1426464" y="3346704"/>
            <a:ext cx="5120640" cy="841248"/>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"Wood is non-renewable, because once a tree is cut down, it is gone."</a:t>
            </a:r>
            <a:endParaRPr lang="en-US" sz="1500" dirty="0"/>
          </a:p>
        </p:txBody>
      </p:sp>
      <p:sp>
        <p:nvSpPr>
          <p:cNvPr id="11" name="wd1_a"/>
          <p:cNvSpPr/>
          <p:nvPr/>
        </p:nvSpPr>
        <p:spPr>
          <a:xfrm>
            <a:off x="6748272" y="3429000"/>
            <a:ext cx="4803343" cy="676656"/>
          </a:xfrm>
          <a:prstGeom prst="roundRect">
            <a:avLst>
              <a:gd name="adj" fmla="val 13514"/>
            </a:avLst>
          </a:prstGeom>
          <a:solidFill>
            <a:srgbClr val="F2EBDD"/>
          </a:solidFill>
          <a:ln w="19050">
            <a:solidFill>
              <a:srgbClr val="B5482E"/>
            </a:solidFill>
          </a:ln>
        </p:spPr>
        <p:txBody>
          <a:bodyPr wrap="square" lIns="762" tIns="762" rIns="762" bIns="762" rtlCol="0" anchor="ctr"/>
          <a:lstStyle/>
          <a:p>
            <a:pPr algn="ctr" indent="0" marL="0">
              <a:buNone/>
            </a:pPr>
            <a:r>
              <a:rPr lang="en-US" sz="1250" b="1" dirty="0">
                <a:solidFill>
                  <a:srgbClr val="3D2B1F"/>
                </a:solidFill>
                <a:latin typeface="Arial" pitchFamily="34" charset="0"/>
                <a:ea typeface="Arial" pitchFamily="34" charset="-122"/>
                <a:cs typeface="Arial" pitchFamily="34" charset="-120"/>
              </a:rPr>
              <a:t>That tree is gone, but the forest can regrow. Wood is renewable if cut no faster than the forest regrows.</a:t>
            </a:r>
            <a:endParaRPr lang="en-US" sz="1250" dirty="0"/>
          </a:p>
        </p:txBody>
      </p:sp>
      <p:sp>
        <p:nvSpPr>
          <p:cNvPr id="12" name="wd2_bg"/>
          <p:cNvSpPr/>
          <p:nvPr/>
        </p:nvSpPr>
        <p:spPr>
          <a:xfrm>
            <a:off x="1170432" y="4370832"/>
            <a:ext cx="10472623" cy="841248"/>
          </a:xfrm>
          <a:prstGeom prst="roundRect">
            <a:avLst>
              <a:gd name="adj" fmla="val 10870"/>
            </a:avLst>
          </a:prstGeom>
          <a:solidFill>
            <a:srgbClr val="FFFFFF"/>
          </a:solidFill>
          <a:ln w="16510">
            <a:solidFill>
              <a:srgbClr val="E4D8BE"/>
            </a:solidFill>
            <a:prstDash val="solid"/>
          </a:ln>
        </p:spPr>
      </p:sp>
      <p:sp>
        <p:nvSpPr>
          <p:cNvPr id="13" name="wd2_q"/>
          <p:cNvSpPr txBox="1"/>
          <p:nvPr/>
        </p:nvSpPr>
        <p:spPr>
          <a:xfrm>
            <a:off x="1426464" y="4370832"/>
            <a:ext cx="5120640" cy="841248"/>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"Fresh water is always renewable, because rain keeps falling."</a:t>
            </a:r>
            <a:endParaRPr lang="en-US" sz="1500" dirty="0"/>
          </a:p>
        </p:txBody>
      </p:sp>
      <p:sp>
        <p:nvSpPr>
          <p:cNvPr id="14" name="wd2_a"/>
          <p:cNvSpPr/>
          <p:nvPr/>
        </p:nvSpPr>
        <p:spPr>
          <a:xfrm>
            <a:off x="6748272" y="4453128"/>
            <a:ext cx="4803343" cy="676656"/>
          </a:xfrm>
          <a:prstGeom prst="roundRect">
            <a:avLst>
              <a:gd name="adj" fmla="val 13514"/>
            </a:avLst>
          </a:prstGeom>
          <a:solidFill>
            <a:srgbClr val="F2EBDD"/>
          </a:solidFill>
          <a:ln w="19050">
            <a:solidFill>
              <a:srgbClr val="B5482E"/>
            </a:solidFill>
          </a:ln>
        </p:spPr>
        <p:txBody>
          <a:bodyPr wrap="square" lIns="762" tIns="762" rIns="762" bIns="762" rtlCol="0" anchor="ctr"/>
          <a:lstStyle/>
          <a:p>
            <a:pPr algn="ctr" indent="0" marL="0">
              <a:buNone/>
            </a:pPr>
            <a:r>
              <a:rPr lang="en-US" sz="1250" b="1" dirty="0">
                <a:solidFill>
                  <a:srgbClr val="3D2B1F"/>
                </a:solidFill>
                <a:latin typeface="Arial" pitchFamily="34" charset="0"/>
                <a:ea typeface="Arial" pitchFamily="34" charset="-122"/>
                <a:cs typeface="Arial" pitchFamily="34" charset="-120"/>
              </a:rPr>
              <a:t>Rain refills an ordinary well or river quickly. Deep, old groundwater can be pumped out far faster than it refills.</a:t>
            </a:r>
            <a:endParaRPr lang="en-US" sz="1250" dirty="0"/>
          </a:p>
        </p:txBody>
      </p:sp>
      <p:sp>
        <p:nvSpPr>
          <p:cNvPr id="15" name="wd3_bg"/>
          <p:cNvSpPr/>
          <p:nvPr/>
        </p:nvSpPr>
        <p:spPr>
          <a:xfrm>
            <a:off x="1170432" y="5394960"/>
            <a:ext cx="10472623" cy="841248"/>
          </a:xfrm>
          <a:prstGeom prst="roundRect">
            <a:avLst>
              <a:gd name="adj" fmla="val 10870"/>
            </a:avLst>
          </a:prstGeom>
          <a:solidFill>
            <a:srgbClr val="FFFFFF"/>
          </a:solidFill>
          <a:ln w="16510">
            <a:solidFill>
              <a:srgbClr val="E4D8BE"/>
            </a:solidFill>
            <a:prstDash val="solid"/>
          </a:ln>
        </p:spPr>
      </p:sp>
      <p:sp>
        <p:nvSpPr>
          <p:cNvPr id="16" name="wd3_q"/>
          <p:cNvSpPr txBox="1"/>
          <p:nvPr/>
        </p:nvSpPr>
        <p:spPr>
          <a:xfrm>
            <a:off x="1426464" y="5394960"/>
            <a:ext cx="5120640" cy="841248"/>
          </a:xfrm>
          <a:prstGeom prst="rect">
            <a:avLst/>
          </a:prstGeom>
          <a:noFill/>
          <a:ln/>
        </p:spPr>
        <p:txBody>
          <a:bodyPr wrap="square" lIns="0" tIns="0" rIns="0" bIns="0" rtlCol="0" anchor="ctr"/>
          <a:lstStyle/>
          <a:p>
            <a:pPr indent="0" marL="0">
              <a:lnSpc>
                <a:spcPts val="1900"/>
              </a:lnSpc>
              <a:buNone/>
            </a:pPr>
            <a:r>
              <a:rPr lang="en-US" sz="1500" dirty="0">
                <a:solidFill>
                  <a:srgbClr val="2A1D14"/>
                </a:solidFill>
                <a:latin typeface="Arial" pitchFamily="34" charset="0"/>
                <a:ea typeface="Arial" pitchFamily="34" charset="-122"/>
                <a:cs typeface="Arial" pitchFamily="34" charset="-120"/>
              </a:rPr>
              <a:t>"Fish are a renewable resource, so a fishery can never run out."</a:t>
            </a:r>
            <a:endParaRPr lang="en-US" sz="1500" dirty="0"/>
          </a:p>
        </p:txBody>
      </p:sp>
      <p:sp>
        <p:nvSpPr>
          <p:cNvPr id="17" name="wd3_a"/>
          <p:cNvSpPr/>
          <p:nvPr/>
        </p:nvSpPr>
        <p:spPr>
          <a:xfrm>
            <a:off x="6748272" y="5477256"/>
            <a:ext cx="4803343" cy="676656"/>
          </a:xfrm>
          <a:prstGeom prst="roundRect">
            <a:avLst>
              <a:gd name="adj" fmla="val 13514"/>
            </a:avLst>
          </a:prstGeom>
          <a:solidFill>
            <a:srgbClr val="F2EBDD"/>
          </a:solidFill>
          <a:ln w="19050">
            <a:solidFill>
              <a:srgbClr val="B5482E"/>
            </a:solidFill>
          </a:ln>
        </p:spPr>
        <p:txBody>
          <a:bodyPr wrap="square" lIns="762" tIns="762" rIns="762" bIns="762" rtlCol="0" anchor="ctr"/>
          <a:lstStyle/>
          <a:p>
            <a:pPr algn="ctr" indent="0" marL="0">
              <a:buNone/>
            </a:pPr>
            <a:r>
              <a:rPr lang="en-US" sz="1250" b="1" dirty="0">
                <a:solidFill>
                  <a:srgbClr val="3D2B1F"/>
                </a:solidFill>
                <a:latin typeface="Arial" pitchFamily="34" charset="0"/>
                <a:ea typeface="Arial" pitchFamily="34" charset="-122"/>
                <a:cs typeface="Arial" pitchFamily="34" charset="-120"/>
              </a:rPr>
              <a:t>Renewable only if caught no faster than they breed and grow. Caught faster than that, a fishery can collapse.</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400"/>
                                        <p:tgtEl>
                                          <p:spTgt spid="8"/>
                                        </p:tgtEl>
                                      </p:cBhvr>
                                    </p:animEffect>
                                    <p:animScale>
                                      <p:cBhvr>
                                        <p:cTn id="5" dur="400" fill="hold"/>
                                        <p:tgtEl>
                                          <p:spTgt spid="8"/>
                                        </p:tgtEl>
                                      </p:cBhvr>
                                      <p:from x="0" y="0"/>
                                      <p:to x="100000" y="100000"/>
                                    </p:animScale>
                                  </p:childTnLst>
                                </p:cTn>
                              </p:par>
                            </p:childTnLst>
                          </p:cTn>
                        </p:par>
                      </p:childTnLst>
                    </p:cTn>
                  </p:par>
                  <p:par>
                    <p:cTn id="13" fill="hold">
                      <p:stCondLst>
                        <p:cond delay="indefinite"/>
                      </p:stCondLst>
                      <p:childTnLst>
                        <p:par>
                          <p:cTn id="14" fill="hold">
                            <p:stCondLst>
                              <p:cond delay="0"/>
                            </p:stCondLst>
                            <p:childTnLst>
                              <p:par>
                                <p:cTn id="12" presetID="23" presetClass="entr" presetSubtype="16"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animScale>
                                      <p:cBhvr>
                                        <p:cTn id="11" dur="400" fill="hold"/>
                                        <p:tgtEl>
                                          <p:spTgt spid="11"/>
                                        </p:tgtEl>
                                      </p:cBhvr>
                                      <p:from x="0" y="0"/>
                                      <p:to x="100000" y="100000"/>
                                    </p:animScale>
                                  </p:childTnLst>
                                </p:cTn>
                              </p:par>
                            </p:childTnLst>
                          </p:cTn>
                        </p:par>
                      </p:childTnLst>
                    </p:cTn>
                  </p:par>
                  <p:par>
                    <p:cTn id="19" fill="hold">
                      <p:stCondLst>
                        <p:cond delay="indefinite"/>
                      </p:stCondLst>
                      <p:childTnLst>
                        <p:par>
                          <p:cTn id="20" fill="hold">
                            <p:stCondLst>
                              <p:cond delay="0"/>
                            </p:stCondLst>
                            <p:childTnLst>
                              <p:par>
                                <p:cTn id="18" presetID="23" presetClass="entr" presetSubtype="16"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animScale>
                                      <p:cBhvr>
                                        <p:cTn id="17" dur="400" fill="hold"/>
                                        <p:tgtEl>
                                          <p:spTgt spid="14"/>
                                        </p:tgtEl>
                                      </p:cBhvr>
                                      <p:from x="0" y="0"/>
                                      <p:to x="100000" y="100000"/>
                                    </p:animScale>
                                  </p:childTnLst>
                                </p:cTn>
                              </p:par>
                            </p:childTnLst>
                          </p:cTn>
                        </p:par>
                      </p:childTnLst>
                    </p:cTn>
                  </p:par>
                  <p:par>
                    <p:cTn id="25" fill="hold">
                      <p:stCondLst>
                        <p:cond delay="indefinite"/>
                      </p:stCondLst>
                      <p:childTnLst>
                        <p:par>
                          <p:cTn id="26" fill="hold">
                            <p:stCondLst>
                              <p:cond delay="0"/>
                            </p:stCondLst>
                            <p:childTnLst>
                              <p:par>
                                <p:cTn id="24" presetID="23" presetClass="entr" presetSubtype="16"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animScale>
                                      <p:cBhvr>
                                        <p:cTn id="23" dur="400" fill="hold"/>
                                        <p:tgtEl>
                                          <p:spTgt spid="17"/>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video>
              <p:cMediaNode vol="0">
                <p:cTn id="27" fill="hold" display="0">
                  <p:stCondLst>
                    <p:cond delay="0"/>
                  </p:stCondLst>
                  <p:endCondLst>
                    <p:cond evt="onStopAudio" delay="0">
                      <p:tgtEl>
                        <p:sldTgt/>
                      </p:tgtEl>
                    </p:cond>
                  </p:endCondLst>
                </p:cTn>
                <p:tgtEl>
                  <p:spTgt spid="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2072030"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COLD CALL · 6 MIN</a:t>
            </a:r>
            <a:endParaRPr lang="en-US" sz="1100" dirty="0"/>
          </a:p>
        </p:txBody>
      </p:sp>
      <p:sp>
        <p:nvSpPr>
          <p:cNvPr id="4" name="c0_bg"/>
          <p:cNvSpPr/>
          <p:nvPr/>
        </p:nvSpPr>
        <p:spPr>
          <a:xfrm>
            <a:off x="1170432" y="960120"/>
            <a:ext cx="5099152" cy="1572768"/>
          </a:xfrm>
          <a:prstGeom prst="roundRect">
            <a:avLst>
              <a:gd name="adj" fmla="val 5814"/>
            </a:avLst>
          </a:prstGeom>
          <a:solidFill>
            <a:srgbClr val="FFFFFF"/>
          </a:solidFill>
          <a:ln w="16510">
            <a:solidFill>
              <a:srgbClr val="E4D8BE"/>
            </a:solidFill>
            <a:prstDash val="solid"/>
          </a:ln>
        </p:spPr>
      </p:sp>
      <p:sp>
        <p:nvSpPr>
          <p:cNvPr id="5" name="c0_badge"/>
          <p:cNvSpPr/>
          <p:nvPr/>
        </p:nvSpPr>
        <p:spPr>
          <a:xfrm>
            <a:off x="1371600" y="1307592"/>
            <a:ext cx="384048" cy="384048"/>
          </a:xfrm>
          <a:prstGeom prst="ellipse">
            <a:avLst/>
          </a:prstGeom>
          <a:solidFill>
            <a:srgbClr val="C99A3D"/>
          </a:solidFill>
          <a:ln w="12700">
            <a:solidFill>
              <a:srgbClr val="C99A3D"/>
            </a:solidFill>
            <a:prstDash val="solid"/>
          </a:ln>
        </p:spPr>
      </p:sp>
      <p:sp>
        <p:nvSpPr>
          <p:cNvPr id="6" name="c0_num"/>
          <p:cNvSpPr txBox="1"/>
          <p:nvPr/>
        </p:nvSpPr>
        <p:spPr>
          <a:xfrm>
            <a:off x="1371600" y="1307592"/>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1</a:t>
            </a:r>
            <a:endParaRPr lang="en-US" sz="1400" dirty="0"/>
          </a:p>
        </p:txBody>
      </p:sp>
      <p:sp>
        <p:nvSpPr>
          <p:cNvPr id="7" name="c0_q"/>
          <p:cNvSpPr txBox="1"/>
          <p:nvPr/>
        </p:nvSpPr>
        <p:spPr>
          <a:xfrm>
            <a:off x="1901952" y="1088136"/>
            <a:ext cx="4166464" cy="822960"/>
          </a:xfrm>
          <a:prstGeom prst="rect">
            <a:avLst/>
          </a:prstGeom>
          <a:noFill/>
          <a:ln/>
        </p:spPr>
        <p:txBody>
          <a:bodyPr wrap="square" lIns="0" tIns="0" rIns="0" bIns="0" rtlCol="0" anchor="ctr"/>
          <a:lstStyle/>
          <a:p>
            <a:pPr indent="0" marL="0">
              <a:lnSpc>
                <a:spcPts val="2000"/>
              </a:lnSpc>
              <a:buNone/>
            </a:pPr>
            <a:r>
              <a:rPr lang="en-US" sz="1600" dirty="0">
                <a:solidFill>
                  <a:srgbClr val="2A1D14"/>
                </a:solidFill>
                <a:latin typeface="Arial" pitchFamily="34" charset="0"/>
                <a:ea typeface="Arial" pitchFamily="34" charset="-122"/>
                <a:cs typeface="Arial" pitchFamily="34" charset="-120"/>
              </a:rPr>
              <a:t>State what a natural resource is.</a:t>
            </a:r>
            <a:endParaRPr lang="en-US" sz="1600" dirty="0"/>
          </a:p>
        </p:txBody>
      </p:sp>
      <p:sp>
        <p:nvSpPr>
          <p:cNvPr id="8" name="c0_a"/>
          <p:cNvSpPr/>
          <p:nvPr/>
        </p:nvSpPr>
        <p:spPr>
          <a:xfrm>
            <a:off x="1371600" y="1965960"/>
            <a:ext cx="4696816" cy="438912"/>
          </a:xfrm>
          <a:prstGeom prst="roundRect">
            <a:avLst>
              <a:gd name="adj" fmla="val 20833"/>
            </a:avLst>
          </a:prstGeom>
          <a:solidFill>
            <a:srgbClr val="F2EBDD"/>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Something that comes from the Earth, not made by people, that we use.</a:t>
            </a:r>
            <a:endParaRPr lang="en-US" sz="1350" dirty="0"/>
          </a:p>
        </p:txBody>
      </p:sp>
      <p:sp>
        <p:nvSpPr>
          <p:cNvPr id="9" name="c1_bg"/>
          <p:cNvSpPr/>
          <p:nvPr/>
        </p:nvSpPr>
        <p:spPr>
          <a:xfrm>
            <a:off x="6543904" y="960120"/>
            <a:ext cx="5099152" cy="1572768"/>
          </a:xfrm>
          <a:prstGeom prst="roundRect">
            <a:avLst>
              <a:gd name="adj" fmla="val 5814"/>
            </a:avLst>
          </a:prstGeom>
          <a:solidFill>
            <a:srgbClr val="FFFFFF"/>
          </a:solidFill>
          <a:ln w="16510">
            <a:solidFill>
              <a:srgbClr val="E4D8BE"/>
            </a:solidFill>
            <a:prstDash val="solid"/>
          </a:ln>
        </p:spPr>
      </p:sp>
      <p:sp>
        <p:nvSpPr>
          <p:cNvPr id="10" name="c1_badge"/>
          <p:cNvSpPr/>
          <p:nvPr/>
        </p:nvSpPr>
        <p:spPr>
          <a:xfrm>
            <a:off x="6745072" y="1307592"/>
            <a:ext cx="384048" cy="384048"/>
          </a:xfrm>
          <a:prstGeom prst="ellipse">
            <a:avLst/>
          </a:prstGeom>
          <a:solidFill>
            <a:srgbClr val="C99A3D"/>
          </a:solidFill>
          <a:ln w="12700">
            <a:solidFill>
              <a:srgbClr val="C99A3D"/>
            </a:solidFill>
            <a:prstDash val="solid"/>
          </a:ln>
        </p:spPr>
      </p:sp>
      <p:sp>
        <p:nvSpPr>
          <p:cNvPr id="11" name="c1_num"/>
          <p:cNvSpPr txBox="1"/>
          <p:nvPr/>
        </p:nvSpPr>
        <p:spPr>
          <a:xfrm>
            <a:off x="6745072" y="1307592"/>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2</a:t>
            </a:r>
            <a:endParaRPr lang="en-US" sz="1400" dirty="0"/>
          </a:p>
        </p:txBody>
      </p:sp>
      <p:sp>
        <p:nvSpPr>
          <p:cNvPr id="12" name="c1_q"/>
          <p:cNvSpPr txBox="1"/>
          <p:nvPr/>
        </p:nvSpPr>
        <p:spPr>
          <a:xfrm>
            <a:off x="7275424" y="1088136"/>
            <a:ext cx="4166464" cy="822960"/>
          </a:xfrm>
          <a:prstGeom prst="rect">
            <a:avLst/>
          </a:prstGeom>
          <a:noFill/>
          <a:ln/>
        </p:spPr>
        <p:txBody>
          <a:bodyPr wrap="square" lIns="0" tIns="0" rIns="0" bIns="0" rtlCol="0" anchor="ctr"/>
          <a:lstStyle/>
          <a:p>
            <a:pPr indent="0" marL="0">
              <a:lnSpc>
                <a:spcPts val="2000"/>
              </a:lnSpc>
              <a:buNone/>
            </a:pPr>
            <a:r>
              <a:rPr lang="en-US" sz="1600" dirty="0">
                <a:solidFill>
                  <a:srgbClr val="2A1D14"/>
                </a:solidFill>
                <a:latin typeface="Arial" pitchFamily="34" charset="0"/>
                <a:ea typeface="Arial" pitchFamily="34" charset="-122"/>
                <a:cs typeface="Arial" pitchFamily="34" charset="-120"/>
              </a:rPr>
              <a:t>Name one natural resource that comes from under the ground.</a:t>
            </a:r>
            <a:endParaRPr lang="en-US" sz="1600" dirty="0"/>
          </a:p>
        </p:txBody>
      </p:sp>
      <p:sp>
        <p:nvSpPr>
          <p:cNvPr id="13" name="c1_a"/>
          <p:cNvSpPr/>
          <p:nvPr/>
        </p:nvSpPr>
        <p:spPr>
          <a:xfrm>
            <a:off x="6745072" y="1965960"/>
            <a:ext cx="4696816" cy="438912"/>
          </a:xfrm>
          <a:prstGeom prst="roundRect">
            <a:avLst>
              <a:gd name="adj" fmla="val 20833"/>
            </a:avLst>
          </a:prstGeom>
          <a:solidFill>
            <a:srgbClr val="F2EBDD"/>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Any reasonable answer: coal, oil, natural gas, a metal ore.</a:t>
            </a:r>
            <a:endParaRPr lang="en-US" sz="1350" dirty="0"/>
          </a:p>
        </p:txBody>
      </p:sp>
      <p:sp>
        <p:nvSpPr>
          <p:cNvPr id="14" name="c2_bg"/>
          <p:cNvSpPr/>
          <p:nvPr/>
        </p:nvSpPr>
        <p:spPr>
          <a:xfrm>
            <a:off x="1170432" y="2679192"/>
            <a:ext cx="5099152" cy="1572768"/>
          </a:xfrm>
          <a:prstGeom prst="roundRect">
            <a:avLst>
              <a:gd name="adj" fmla="val 5814"/>
            </a:avLst>
          </a:prstGeom>
          <a:solidFill>
            <a:srgbClr val="FFFFFF"/>
          </a:solidFill>
          <a:ln w="16510">
            <a:solidFill>
              <a:srgbClr val="E4D8BE"/>
            </a:solidFill>
            <a:prstDash val="solid"/>
          </a:ln>
        </p:spPr>
      </p:sp>
      <p:sp>
        <p:nvSpPr>
          <p:cNvPr id="15" name="c2_badge"/>
          <p:cNvSpPr/>
          <p:nvPr/>
        </p:nvSpPr>
        <p:spPr>
          <a:xfrm>
            <a:off x="1371600" y="3026664"/>
            <a:ext cx="384048" cy="384048"/>
          </a:xfrm>
          <a:prstGeom prst="ellipse">
            <a:avLst/>
          </a:prstGeom>
          <a:solidFill>
            <a:srgbClr val="C99A3D"/>
          </a:solidFill>
          <a:ln w="12700">
            <a:solidFill>
              <a:srgbClr val="C99A3D"/>
            </a:solidFill>
            <a:prstDash val="solid"/>
          </a:ln>
        </p:spPr>
      </p:sp>
      <p:sp>
        <p:nvSpPr>
          <p:cNvPr id="16" name="c2_num"/>
          <p:cNvSpPr txBox="1"/>
          <p:nvPr/>
        </p:nvSpPr>
        <p:spPr>
          <a:xfrm>
            <a:off x="1371600" y="3026664"/>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3</a:t>
            </a:r>
            <a:endParaRPr lang="en-US" sz="1400" dirty="0"/>
          </a:p>
        </p:txBody>
      </p:sp>
      <p:sp>
        <p:nvSpPr>
          <p:cNvPr id="17" name="c2_q"/>
          <p:cNvSpPr txBox="1"/>
          <p:nvPr/>
        </p:nvSpPr>
        <p:spPr>
          <a:xfrm>
            <a:off x="1901952" y="2807208"/>
            <a:ext cx="4166464" cy="822960"/>
          </a:xfrm>
          <a:prstGeom prst="rect">
            <a:avLst/>
          </a:prstGeom>
          <a:noFill/>
          <a:ln/>
        </p:spPr>
        <p:txBody>
          <a:bodyPr wrap="square" lIns="0" tIns="0" rIns="0" bIns="0" rtlCol="0" anchor="ctr"/>
          <a:lstStyle/>
          <a:p>
            <a:pPr indent="0" marL="0">
              <a:lnSpc>
                <a:spcPts val="2000"/>
              </a:lnSpc>
              <a:buNone/>
            </a:pPr>
            <a:r>
              <a:rPr lang="en-US" sz="1600" dirty="0">
                <a:solidFill>
                  <a:srgbClr val="2A1D14"/>
                </a:solidFill>
                <a:latin typeface="Arial" pitchFamily="34" charset="0"/>
                <a:ea typeface="Arial" pitchFamily="34" charset="-122"/>
                <a:cs typeface="Arial" pitchFamily="34" charset="-120"/>
              </a:rPr>
              <a:t>Classify solar energy as renewable or non-renewable, and explain why.</a:t>
            </a:r>
            <a:endParaRPr lang="en-US" sz="1600" dirty="0"/>
          </a:p>
        </p:txBody>
      </p:sp>
      <p:sp>
        <p:nvSpPr>
          <p:cNvPr id="18" name="c2_a"/>
          <p:cNvSpPr/>
          <p:nvPr/>
        </p:nvSpPr>
        <p:spPr>
          <a:xfrm>
            <a:off x="1371600" y="3685032"/>
            <a:ext cx="4696816" cy="438912"/>
          </a:xfrm>
          <a:prstGeom prst="roundRect">
            <a:avLst>
              <a:gd name="adj" fmla="val 20833"/>
            </a:avLst>
          </a:prstGeom>
          <a:solidFill>
            <a:srgbClr val="F2EBDD"/>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Renewable: the Sun supplies energy far faster than we could ever use it up.</a:t>
            </a:r>
            <a:endParaRPr lang="en-US" sz="1350" dirty="0"/>
          </a:p>
        </p:txBody>
      </p:sp>
      <p:sp>
        <p:nvSpPr>
          <p:cNvPr id="19" name="c3_bg"/>
          <p:cNvSpPr/>
          <p:nvPr/>
        </p:nvSpPr>
        <p:spPr>
          <a:xfrm>
            <a:off x="6543904" y="2679192"/>
            <a:ext cx="5099152" cy="1572768"/>
          </a:xfrm>
          <a:prstGeom prst="roundRect">
            <a:avLst>
              <a:gd name="adj" fmla="val 5814"/>
            </a:avLst>
          </a:prstGeom>
          <a:solidFill>
            <a:srgbClr val="FFFFFF"/>
          </a:solidFill>
          <a:ln w="16510">
            <a:solidFill>
              <a:srgbClr val="E4D8BE"/>
            </a:solidFill>
            <a:prstDash val="solid"/>
          </a:ln>
        </p:spPr>
      </p:sp>
      <p:sp>
        <p:nvSpPr>
          <p:cNvPr id="20" name="c3_badge"/>
          <p:cNvSpPr/>
          <p:nvPr/>
        </p:nvSpPr>
        <p:spPr>
          <a:xfrm>
            <a:off x="6745072" y="3026664"/>
            <a:ext cx="384048" cy="384048"/>
          </a:xfrm>
          <a:prstGeom prst="ellipse">
            <a:avLst/>
          </a:prstGeom>
          <a:solidFill>
            <a:srgbClr val="C99A3D"/>
          </a:solidFill>
          <a:ln w="12700">
            <a:solidFill>
              <a:srgbClr val="C99A3D"/>
            </a:solidFill>
            <a:prstDash val="solid"/>
          </a:ln>
        </p:spPr>
      </p:sp>
      <p:sp>
        <p:nvSpPr>
          <p:cNvPr id="21" name="c3_num"/>
          <p:cNvSpPr txBox="1"/>
          <p:nvPr/>
        </p:nvSpPr>
        <p:spPr>
          <a:xfrm>
            <a:off x="6745072" y="3026664"/>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4</a:t>
            </a:r>
            <a:endParaRPr lang="en-US" sz="1400" dirty="0"/>
          </a:p>
        </p:txBody>
      </p:sp>
      <p:sp>
        <p:nvSpPr>
          <p:cNvPr id="22" name="c3_q"/>
          <p:cNvSpPr txBox="1"/>
          <p:nvPr/>
        </p:nvSpPr>
        <p:spPr>
          <a:xfrm>
            <a:off x="7275424" y="2807208"/>
            <a:ext cx="4166464" cy="822960"/>
          </a:xfrm>
          <a:prstGeom prst="rect">
            <a:avLst/>
          </a:prstGeom>
          <a:noFill/>
          <a:ln/>
        </p:spPr>
        <p:txBody>
          <a:bodyPr wrap="square" lIns="0" tIns="0" rIns="0" bIns="0" rtlCol="0" anchor="ctr"/>
          <a:lstStyle/>
          <a:p>
            <a:pPr indent="0" marL="0">
              <a:lnSpc>
                <a:spcPts val="2000"/>
              </a:lnSpc>
              <a:buNone/>
            </a:pPr>
            <a:r>
              <a:rPr lang="en-US" sz="1600" dirty="0">
                <a:solidFill>
                  <a:srgbClr val="2A1D14"/>
                </a:solidFill>
                <a:latin typeface="Arial" pitchFamily="34" charset="0"/>
                <a:ea typeface="Arial" pitchFamily="34" charset="-122"/>
                <a:cs typeface="Arial" pitchFamily="34" charset="-120"/>
              </a:rPr>
              <a:t>Classify oil as renewable or non-renewable, and explain why.</a:t>
            </a:r>
            <a:endParaRPr lang="en-US" sz="1600" dirty="0"/>
          </a:p>
        </p:txBody>
      </p:sp>
      <p:sp>
        <p:nvSpPr>
          <p:cNvPr id="23" name="c3_a"/>
          <p:cNvSpPr/>
          <p:nvPr/>
        </p:nvSpPr>
        <p:spPr>
          <a:xfrm>
            <a:off x="6745072" y="3685032"/>
            <a:ext cx="4696816" cy="438912"/>
          </a:xfrm>
          <a:prstGeom prst="roundRect">
            <a:avLst>
              <a:gd name="adj" fmla="val 20833"/>
            </a:avLst>
          </a:prstGeom>
          <a:solidFill>
            <a:srgbClr val="F2EBDD"/>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Non-renewable: it takes millions of years to form, far slower than we use it.</a:t>
            </a:r>
            <a:endParaRPr lang="en-US" sz="1350" dirty="0"/>
          </a:p>
        </p:txBody>
      </p:sp>
      <p:sp>
        <p:nvSpPr>
          <p:cNvPr id="24" name="c4_bg"/>
          <p:cNvSpPr/>
          <p:nvPr/>
        </p:nvSpPr>
        <p:spPr>
          <a:xfrm>
            <a:off x="1170432" y="4398264"/>
            <a:ext cx="5099152" cy="1572768"/>
          </a:xfrm>
          <a:prstGeom prst="roundRect">
            <a:avLst>
              <a:gd name="adj" fmla="val 5814"/>
            </a:avLst>
          </a:prstGeom>
          <a:solidFill>
            <a:srgbClr val="FFFFFF"/>
          </a:solidFill>
          <a:ln w="16510">
            <a:solidFill>
              <a:srgbClr val="E4D8BE"/>
            </a:solidFill>
            <a:prstDash val="solid"/>
          </a:ln>
        </p:spPr>
      </p:sp>
      <p:sp>
        <p:nvSpPr>
          <p:cNvPr id="25" name="c4_badge"/>
          <p:cNvSpPr/>
          <p:nvPr/>
        </p:nvSpPr>
        <p:spPr>
          <a:xfrm>
            <a:off x="1371600" y="4745736"/>
            <a:ext cx="384048" cy="384048"/>
          </a:xfrm>
          <a:prstGeom prst="ellipse">
            <a:avLst/>
          </a:prstGeom>
          <a:solidFill>
            <a:srgbClr val="C99A3D"/>
          </a:solidFill>
          <a:ln w="12700">
            <a:solidFill>
              <a:srgbClr val="C99A3D"/>
            </a:solidFill>
            <a:prstDash val="solid"/>
          </a:ln>
        </p:spPr>
      </p:sp>
      <p:sp>
        <p:nvSpPr>
          <p:cNvPr id="26" name="c4_num"/>
          <p:cNvSpPr txBox="1"/>
          <p:nvPr/>
        </p:nvSpPr>
        <p:spPr>
          <a:xfrm>
            <a:off x="1371600" y="4745736"/>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5</a:t>
            </a:r>
            <a:endParaRPr lang="en-US" sz="1400" dirty="0"/>
          </a:p>
        </p:txBody>
      </p:sp>
      <p:sp>
        <p:nvSpPr>
          <p:cNvPr id="27" name="c4_q"/>
          <p:cNvSpPr txBox="1"/>
          <p:nvPr/>
        </p:nvSpPr>
        <p:spPr>
          <a:xfrm>
            <a:off x="1901952" y="4526280"/>
            <a:ext cx="4166464" cy="822960"/>
          </a:xfrm>
          <a:prstGeom prst="rect">
            <a:avLst/>
          </a:prstGeom>
          <a:noFill/>
          <a:ln/>
        </p:spPr>
        <p:txBody>
          <a:bodyPr wrap="square" lIns="0" tIns="0" rIns="0" bIns="0" rtlCol="0" anchor="ctr"/>
          <a:lstStyle/>
          <a:p>
            <a:pPr indent="0" marL="0">
              <a:lnSpc>
                <a:spcPts val="2000"/>
              </a:lnSpc>
              <a:buNone/>
            </a:pPr>
            <a:r>
              <a:rPr lang="en-US" sz="1600" dirty="0">
                <a:solidFill>
                  <a:srgbClr val="2A1D14"/>
                </a:solidFill>
                <a:latin typeface="Arial" pitchFamily="34" charset="0"/>
                <a:ea typeface="Arial" pitchFamily="34" charset="-122"/>
                <a:cs typeface="Arial" pitchFamily="34" charset="-120"/>
              </a:rPr>
              <a:t>Explain why a forest can be renewable in one place and non-renewable in another.</a:t>
            </a:r>
            <a:endParaRPr lang="en-US" sz="1600" dirty="0"/>
          </a:p>
        </p:txBody>
      </p:sp>
      <p:sp>
        <p:nvSpPr>
          <p:cNvPr id="28" name="c4_a"/>
          <p:cNvSpPr/>
          <p:nvPr/>
        </p:nvSpPr>
        <p:spPr>
          <a:xfrm>
            <a:off x="1371600" y="5404104"/>
            <a:ext cx="4696816" cy="438912"/>
          </a:xfrm>
          <a:prstGeom prst="roundRect">
            <a:avLst>
              <a:gd name="adj" fmla="val 20833"/>
            </a:avLst>
          </a:prstGeom>
          <a:solidFill>
            <a:srgbClr val="F2EBDD"/>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Cut no faster than it regrows: renewable. Cut faster than that: non-renewable in practice.</a:t>
            </a:r>
            <a:endParaRPr lang="en-US" sz="1350" dirty="0"/>
          </a:p>
        </p:txBody>
      </p:sp>
      <p:sp>
        <p:nvSpPr>
          <p:cNvPr id="29" name="c5_bg"/>
          <p:cNvSpPr/>
          <p:nvPr/>
        </p:nvSpPr>
        <p:spPr>
          <a:xfrm>
            <a:off x="6543904" y="4398264"/>
            <a:ext cx="5099152" cy="1572768"/>
          </a:xfrm>
          <a:prstGeom prst="roundRect">
            <a:avLst>
              <a:gd name="adj" fmla="val 5814"/>
            </a:avLst>
          </a:prstGeom>
          <a:solidFill>
            <a:srgbClr val="FFFFFF"/>
          </a:solidFill>
          <a:ln w="16510">
            <a:solidFill>
              <a:srgbClr val="E4D8BE"/>
            </a:solidFill>
            <a:prstDash val="solid"/>
          </a:ln>
        </p:spPr>
      </p:sp>
      <p:sp>
        <p:nvSpPr>
          <p:cNvPr id="30" name="c5_badge"/>
          <p:cNvSpPr/>
          <p:nvPr/>
        </p:nvSpPr>
        <p:spPr>
          <a:xfrm>
            <a:off x="6745072" y="4745736"/>
            <a:ext cx="384048" cy="384048"/>
          </a:xfrm>
          <a:prstGeom prst="ellipse">
            <a:avLst/>
          </a:prstGeom>
          <a:solidFill>
            <a:srgbClr val="C99A3D"/>
          </a:solidFill>
          <a:ln w="12700">
            <a:solidFill>
              <a:srgbClr val="C99A3D"/>
            </a:solidFill>
            <a:prstDash val="solid"/>
          </a:ln>
        </p:spPr>
      </p:sp>
      <p:sp>
        <p:nvSpPr>
          <p:cNvPr id="31" name="c5_num"/>
          <p:cNvSpPr txBox="1"/>
          <p:nvPr/>
        </p:nvSpPr>
        <p:spPr>
          <a:xfrm>
            <a:off x="6745072" y="4745736"/>
            <a:ext cx="384048" cy="384048"/>
          </a:xfrm>
          <a:prstGeom prst="rect">
            <a:avLst/>
          </a:prstGeom>
          <a:noFill/>
          <a:ln/>
        </p:spPr>
        <p:txBody>
          <a:bodyPr wrap="square" lIns="0" tIns="0" rIns="0" bIns="0" rtlCol="0" anchor="ctr"/>
          <a:lstStyle/>
          <a:p>
            <a:pPr algn="ctr" indent="0" marL="0">
              <a:buNone/>
            </a:pPr>
            <a:r>
              <a:rPr lang="en-US" sz="1400" b="1" dirty="0">
                <a:solidFill>
                  <a:srgbClr val="3D2B1F"/>
                </a:solidFill>
                <a:latin typeface="Georgia" pitchFamily="34" charset="0"/>
                <a:ea typeface="Georgia" pitchFamily="34" charset="-122"/>
                <a:cs typeface="Georgia" pitchFamily="34" charset="-120"/>
              </a:rPr>
              <a:t>6</a:t>
            </a:r>
            <a:endParaRPr lang="en-US" sz="1400" dirty="0"/>
          </a:p>
        </p:txBody>
      </p:sp>
      <p:sp>
        <p:nvSpPr>
          <p:cNvPr id="32" name="c5_q"/>
          <p:cNvSpPr txBox="1"/>
          <p:nvPr/>
        </p:nvSpPr>
        <p:spPr>
          <a:xfrm>
            <a:off x="7275424" y="4526280"/>
            <a:ext cx="4166464" cy="822960"/>
          </a:xfrm>
          <a:prstGeom prst="rect">
            <a:avLst/>
          </a:prstGeom>
          <a:noFill/>
          <a:ln/>
        </p:spPr>
        <p:txBody>
          <a:bodyPr wrap="square" lIns="0" tIns="0" rIns="0" bIns="0" rtlCol="0" anchor="ctr"/>
          <a:lstStyle/>
          <a:p>
            <a:pPr indent="0" marL="0">
              <a:lnSpc>
                <a:spcPts val="2000"/>
              </a:lnSpc>
              <a:buNone/>
            </a:pPr>
            <a:r>
              <a:rPr lang="en-US" sz="1600" dirty="0">
                <a:solidFill>
                  <a:srgbClr val="2A1D14"/>
                </a:solidFill>
                <a:latin typeface="Arial" pitchFamily="34" charset="0"/>
                <a:ea typeface="Arial" pitchFamily="34" charset="-122"/>
                <a:cs typeface="Arial" pitchFamily="34" charset="-120"/>
              </a:rPr>
              <a:t>State what actually decides whether a resource counts as renewable.</a:t>
            </a:r>
            <a:endParaRPr lang="en-US" sz="1600" dirty="0"/>
          </a:p>
        </p:txBody>
      </p:sp>
      <p:sp>
        <p:nvSpPr>
          <p:cNvPr id="33" name="c5_a"/>
          <p:cNvSpPr/>
          <p:nvPr/>
        </p:nvSpPr>
        <p:spPr>
          <a:xfrm>
            <a:off x="6745072" y="5404104"/>
            <a:ext cx="4696816" cy="438912"/>
          </a:xfrm>
          <a:prstGeom prst="roundRect">
            <a:avLst>
              <a:gd name="adj" fmla="val 20833"/>
            </a:avLst>
          </a:prstGeom>
          <a:solidFill>
            <a:srgbClr val="F2EBDD"/>
          </a:solidFill>
          <a:ln w="16510">
            <a:solidFill>
              <a:srgbClr val="C99A3D"/>
            </a:solidFill>
          </a:ln>
        </p:spPr>
        <p:txBody>
          <a:bodyPr wrap="square" lIns="1016" tIns="1016" rIns="1016" bIns="1016" rtlCol="0" anchor="ctr"/>
          <a:lstStyle/>
          <a:p>
            <a:pPr algn="l" indent="0" marL="0">
              <a:buNone/>
            </a:pPr>
            <a:r>
              <a:rPr lang="en-US" sz="1350" b="1" dirty="0">
                <a:solidFill>
                  <a:srgbClr val="3D2B1F"/>
                </a:solidFill>
                <a:latin typeface="Arial" pitchFamily="34" charset="0"/>
                <a:ea typeface="Arial" pitchFamily="34" charset="-122"/>
                <a:cs typeface="Arial" pitchFamily="34" charset="-120"/>
              </a:rPr>
              <a:t>Not whether it CAN be replaced, but whether it is replaced as fast as, or faster than, it is used up.</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wipe(right)">
                                      <p:cBhvr>
                                        <p:cTn id="4"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wipe(right)">
                                      <p:cBhvr>
                                        <p:cTn id="9" dur="4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right)">
                                      <p:cBhvr>
                                        <p:cTn id="14" dur="4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right)">
                                      <p:cBhvr>
                                        <p:cTn id="19" dur="4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5" presetID="22" presetClass="entr" presetSubtype="8"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right)">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wipe(right)">
                                      <p:cBhvr>
                                        <p:cTn id="29"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33" fill="hold" display="0">
                  <p:stCondLst>
                    <p:cond delay="0"/>
                  </p:stCondLst>
                  <p:endCondLst>
                    <p:cond evt="onStopAudio" delay="0">
                      <p:tgtEl>
                        <p:sldTgt/>
                      </p:tgtEl>
                    </p:cond>
                  </p:end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BDD"/>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892808" cy="329184"/>
          </a:xfrm>
          <a:prstGeom prst="roundRect">
            <a:avLst>
              <a:gd name="adj" fmla="val 44444"/>
            </a:avLst>
          </a:prstGeom>
          <a:solidFill>
            <a:srgbClr val="3D2B1F"/>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YOU DO · 17 MIN</a:t>
            </a:r>
            <a:endParaRPr lang="en-US" sz="1100" dirty="0"/>
          </a:p>
        </p:txBody>
      </p:sp>
      <p:pic>
        <p:nvPicPr>
          <p:cNvPr id="4" name="gc_logo" descr="/Users/chukanwobodo/Desktop/lesson-toolkit/assets/classroom.png">    </p:cNvPr>
          <p:cNvPicPr>
            <a:picLocks noChangeAspect="1"/>
          </p:cNvPicPr>
          <p:nvPr/>
        </p:nvPicPr>
        <p:blipFill>
          <a:blip r:embed="rId4">
            <a:alphaModFix amt="38000"/>
          </a:blip>
          <a:stretch>
            <a:fillRect/>
          </a:stretch>
        </p:blipFill>
        <p:spPr>
          <a:xfrm>
            <a:off x="10088575" y="786384"/>
            <a:ext cx="1554480" cy="1344168"/>
          </a:xfrm>
          <a:prstGeom prst="rect">
            <a:avLst/>
          </a:prstGeom>
        </p:spPr>
      </p:pic>
      <p:sp>
        <p:nvSpPr>
          <p:cNvPr id="5" name="slide_title"/>
          <p:cNvSpPr txBox="1"/>
          <p:nvPr/>
        </p:nvSpPr>
        <p:spPr>
          <a:xfrm>
            <a:off x="1170432" y="786384"/>
            <a:ext cx="8643823" cy="1042416"/>
          </a:xfrm>
          <a:prstGeom prst="rect">
            <a:avLst/>
          </a:prstGeom>
          <a:noFill/>
          <a:ln/>
        </p:spPr>
        <p:txBody>
          <a:bodyPr wrap="square" lIns="0" tIns="0" rIns="0" bIns="0" rtlCol="0" anchor="ctr"/>
          <a:lstStyle/>
          <a:p>
            <a:pPr indent="0" marL="0">
              <a:lnSpc>
                <a:spcPts val="2800"/>
              </a:lnSpc>
              <a:buNone/>
            </a:pPr>
            <a:r>
              <a:rPr lang="en-US" sz="2300" b="1" dirty="0">
                <a:solidFill>
                  <a:srgbClr val="3D2B1F"/>
                </a:solidFill>
                <a:latin typeface="Georgia" pitchFamily="34" charset="0"/>
                <a:ea typeface="Georgia" pitchFamily="34" charset="-122"/>
                <a:cs typeface="Georgia" pitchFamily="34" charset="-120"/>
              </a:rPr>
              <a:t>What The Earth Gives Us game</a:t>
            </a:r>
            <a:endParaRPr lang="en-US" sz="2300" dirty="0"/>
          </a:p>
        </p:txBody>
      </p:sp>
      <p:sp>
        <p:nvSpPr>
          <p:cNvPr id="6" name="slide_sub"/>
          <p:cNvSpPr txBox="1"/>
          <p:nvPr/>
        </p:nvSpPr>
        <p:spPr>
          <a:xfrm>
            <a:off x="1170432" y="1865376"/>
            <a:ext cx="8643823" cy="365760"/>
          </a:xfrm>
          <a:prstGeom prst="rect">
            <a:avLst/>
          </a:prstGeom>
          <a:noFill/>
          <a:ln/>
        </p:spPr>
        <p:txBody>
          <a:bodyPr wrap="square" lIns="0" tIns="0" rIns="0" bIns="0" rtlCol="0" anchor="ctr"/>
          <a:lstStyle/>
          <a:p>
            <a:pPr indent="0" marL="0">
              <a:buNone/>
            </a:pPr>
            <a:r>
              <a:rPr lang="en-US" sz="1700" b="1" dirty="0">
                <a:solidFill>
                  <a:srgbClr val="B5482E"/>
                </a:solidFill>
                <a:latin typeface="Arial" pitchFamily="34" charset="0"/>
                <a:ea typeface="Arial" pitchFamily="34" charset="-122"/>
                <a:cs typeface="Arial" pitchFamily="34" charset="-120"/>
              </a:rPr>
              <a:t>Open Google Classroom now.</a:t>
            </a:r>
            <a:endParaRPr lang="en-US" sz="1700" dirty="0"/>
          </a:p>
        </p:txBody>
      </p:sp>
      <p:grpSp>
        <p:nvGrpSpPr>
          <p:cNvPr id="20" name="t0"/>
          <p:cNvGrpSpPr/>
          <p:nvPr/>
        </p:nvGrpSpPr>
        <p:grpSpPr>
          <a:xfrm>
            <a:off x="1170432" y="2322576"/>
            <a:ext cx="3307994" cy="1920240"/>
            <a:chOff x="1170432" y="2322576"/>
            <a:chExt cx="3307994" cy="1920240"/>
          </a:xfrm>
        </p:grpSpPr>
        <p:sp>
          <p:nvSpPr>
            <p:cNvPr id="7" name="t0_bg"/>
            <p:cNvSpPr/>
            <p:nvPr/>
          </p:nvSpPr>
          <p:spPr>
            <a:xfrm>
              <a:off x="1170432" y="2322576"/>
              <a:ext cx="3307994" cy="1920240"/>
            </a:xfrm>
            <a:prstGeom prst="roundRect">
              <a:avLst>
                <a:gd name="adj" fmla="val 4762"/>
              </a:avLst>
            </a:prstGeom>
            <a:solidFill>
              <a:srgbClr val="FBEAE2"/>
            </a:solidFill>
            <a:ln w="20320">
              <a:solidFill>
                <a:srgbClr val="B5482E"/>
              </a:solidFill>
              <a:prstDash val="solid"/>
            </a:ln>
          </p:spPr>
        </p:sp>
        <p:sp>
          <p:nvSpPr>
            <p:cNvPr id="8" name="t0_h"/>
            <p:cNvSpPr txBox="1"/>
            <p:nvPr/>
          </p:nvSpPr>
          <p:spPr>
            <a:xfrm>
              <a:off x="1408176" y="2487168"/>
              <a:ext cx="2832506" cy="365760"/>
            </a:xfrm>
            <a:prstGeom prst="rect">
              <a:avLst/>
            </a:prstGeom>
            <a:noFill/>
            <a:ln/>
          </p:spPr>
          <p:txBody>
            <a:bodyPr wrap="square" lIns="0" tIns="0" rIns="0" bIns="0" rtlCol="0" anchor="ctr"/>
            <a:lstStyle/>
            <a:p>
              <a:pPr indent="0" marL="0">
                <a:buNone/>
              </a:pPr>
              <a:r>
                <a:rPr lang="en-US" sz="1500" b="1" spc="120" kern="0" dirty="0">
                  <a:solidFill>
                    <a:srgbClr val="B5482E"/>
                  </a:solidFill>
                  <a:latin typeface="Arial" pitchFamily="34" charset="0"/>
                  <a:ea typeface="Arial" pitchFamily="34" charset="-122"/>
                  <a:cs typeface="Arial" pitchFamily="34" charset="-120"/>
                </a:rPr>
                <a:t>ROUND 1</a:t>
              </a:r>
              <a:endParaRPr lang="en-US" sz="1500" dirty="0"/>
            </a:p>
          </p:txBody>
        </p:sp>
        <p:sp>
          <p:nvSpPr>
            <p:cNvPr id="9" name="t0_s"/>
            <p:cNvSpPr txBox="1"/>
            <p:nvPr/>
          </p:nvSpPr>
          <p:spPr>
            <a:xfrm>
              <a:off x="1408176" y="2852928"/>
              <a:ext cx="2832506" cy="329184"/>
            </a:xfrm>
            <a:prstGeom prst="rect">
              <a:avLst/>
            </a:prstGeom>
            <a:noFill/>
            <a:ln/>
          </p:spPr>
          <p:txBody>
            <a:bodyPr wrap="square" lIns="0" tIns="0" rIns="0" bIns="0" rtlCol="0" anchor="ctr"/>
            <a:lstStyle/>
            <a:p>
              <a:pPr indent="0" marL="0">
                <a:buNone/>
              </a:pPr>
              <a:r>
                <a:rPr lang="en-US" sz="1700" b="1" dirty="0">
                  <a:solidFill>
                    <a:srgbClr val="3D2B1F"/>
                  </a:solidFill>
                  <a:latin typeface="Arial" pitchFamily="34" charset="0"/>
                  <a:ea typeface="Arial" pitchFamily="34" charset="-122"/>
                  <a:cs typeface="Arial" pitchFamily="34" charset="-120"/>
                </a:rPr>
                <a:t>Clear cases</a:t>
              </a:r>
              <a:endParaRPr lang="en-US" sz="1700" dirty="0"/>
            </a:p>
          </p:txBody>
        </p:sp>
        <p:sp>
          <p:nvSpPr>
            <p:cNvPr id="10" name="t0_b"/>
            <p:cNvSpPr txBox="1"/>
            <p:nvPr/>
          </p:nvSpPr>
          <p:spPr>
            <a:xfrm>
              <a:off x="1408176" y="3200400"/>
              <a:ext cx="2832506" cy="914400"/>
            </a:xfrm>
            <a:prstGeom prst="rect">
              <a:avLst/>
            </a:prstGeom>
            <a:noFill/>
            <a:ln/>
          </p:spPr>
          <p:txBody>
            <a:bodyPr wrap="square" lIns="0" tIns="0" rIns="0" bIns="0" rtlCol="0" anchor="t"/>
            <a:lstStyle/>
            <a:p>
              <a:pPr indent="0" marL="0">
                <a:lnSpc>
                  <a:spcPts val="1700"/>
                </a:lnSpc>
                <a:buNone/>
              </a:pPr>
              <a:r>
                <a:rPr lang="en-US" sz="1350" dirty="0">
                  <a:solidFill>
                    <a:srgbClr val="6B5A48"/>
                  </a:solidFill>
                  <a:latin typeface="Arial" pitchFamily="34" charset="0"/>
                  <a:ea typeface="Arial" pitchFamily="34" charset="-122"/>
                  <a:cs typeface="Arial" pitchFamily="34" charset="-120"/>
                </a:rPr>
                <a:t>A student makes a claim about a resource. Say what is wrong with it, or whether nothing is.</a:t>
              </a:r>
              <a:endParaRPr lang="en-US" sz="1350" dirty="0"/>
            </a:p>
          </p:txBody>
        </p:sp>
      </p:grpSp>
      <p:grpSp>
        <p:nvGrpSpPr>
          <p:cNvPr id="21" name="t1"/>
          <p:cNvGrpSpPr/>
          <p:nvPr/>
        </p:nvGrpSpPr>
        <p:grpSpPr>
          <a:xfrm>
            <a:off x="4752746" y="2322576"/>
            <a:ext cx="3307994" cy="1920240"/>
            <a:chOff x="4752746" y="2322576"/>
            <a:chExt cx="3307994" cy="1920240"/>
          </a:xfrm>
        </p:grpSpPr>
        <p:sp>
          <p:nvSpPr>
            <p:cNvPr id="11" name="t1_bg"/>
            <p:cNvSpPr/>
            <p:nvPr/>
          </p:nvSpPr>
          <p:spPr>
            <a:xfrm>
              <a:off x="4752746" y="2322576"/>
              <a:ext cx="3307994" cy="1920240"/>
            </a:xfrm>
            <a:prstGeom prst="roundRect">
              <a:avLst>
                <a:gd name="adj" fmla="val 4762"/>
              </a:avLst>
            </a:prstGeom>
            <a:solidFill>
              <a:srgbClr val="EAF0F1"/>
            </a:solidFill>
            <a:ln w="20320">
              <a:solidFill>
                <a:srgbClr val="6A8C9A"/>
              </a:solidFill>
              <a:prstDash val="solid"/>
            </a:ln>
          </p:spPr>
        </p:sp>
        <p:sp>
          <p:nvSpPr>
            <p:cNvPr id="12" name="t1_h"/>
            <p:cNvSpPr txBox="1"/>
            <p:nvPr/>
          </p:nvSpPr>
          <p:spPr>
            <a:xfrm>
              <a:off x="4990490" y="2487168"/>
              <a:ext cx="2832506" cy="365760"/>
            </a:xfrm>
            <a:prstGeom prst="rect">
              <a:avLst/>
            </a:prstGeom>
            <a:noFill/>
            <a:ln/>
          </p:spPr>
          <p:txBody>
            <a:bodyPr wrap="square" lIns="0" tIns="0" rIns="0" bIns="0" rtlCol="0" anchor="ctr"/>
            <a:lstStyle/>
            <a:p>
              <a:pPr indent="0" marL="0">
                <a:buNone/>
              </a:pPr>
              <a:r>
                <a:rPr lang="en-US" sz="1500" b="1" spc="120" kern="0" dirty="0">
                  <a:solidFill>
                    <a:srgbClr val="6A8C9A"/>
                  </a:solidFill>
                  <a:latin typeface="Arial" pitchFamily="34" charset="0"/>
                  <a:ea typeface="Arial" pitchFamily="34" charset="-122"/>
                  <a:cs typeface="Arial" pitchFamily="34" charset="-120"/>
                </a:rPr>
                <a:t>ROUND 2</a:t>
              </a:r>
              <a:endParaRPr lang="en-US" sz="1500" dirty="0"/>
            </a:p>
          </p:txBody>
        </p:sp>
        <p:sp>
          <p:nvSpPr>
            <p:cNvPr id="13" name="t1_s"/>
            <p:cNvSpPr txBox="1"/>
            <p:nvPr/>
          </p:nvSpPr>
          <p:spPr>
            <a:xfrm>
              <a:off x="4990490" y="2852928"/>
              <a:ext cx="2832506" cy="329184"/>
            </a:xfrm>
            <a:prstGeom prst="rect">
              <a:avLst/>
            </a:prstGeom>
            <a:noFill/>
            <a:ln/>
          </p:spPr>
          <p:txBody>
            <a:bodyPr wrap="square" lIns="0" tIns="0" rIns="0" bIns="0" rtlCol="0" anchor="ctr"/>
            <a:lstStyle/>
            <a:p>
              <a:pPr indent="0" marL="0">
                <a:buNone/>
              </a:pPr>
              <a:r>
                <a:rPr lang="en-US" sz="1700" b="1" dirty="0">
                  <a:solidFill>
                    <a:srgbClr val="3D2B1F"/>
                  </a:solidFill>
                  <a:latin typeface="Arial" pitchFamily="34" charset="0"/>
                  <a:ea typeface="Arial" pitchFamily="34" charset="-122"/>
                  <a:cs typeface="Arial" pitchFamily="34" charset="-120"/>
                </a:rPr>
                <a:t>Needs a reason</a:t>
              </a:r>
              <a:endParaRPr lang="en-US" sz="1700" dirty="0"/>
            </a:p>
          </p:txBody>
        </p:sp>
        <p:sp>
          <p:nvSpPr>
            <p:cNvPr id="14" name="t1_b"/>
            <p:cNvSpPr txBox="1"/>
            <p:nvPr/>
          </p:nvSpPr>
          <p:spPr>
            <a:xfrm>
              <a:off x="4990490" y="3200400"/>
              <a:ext cx="2832506" cy="914400"/>
            </a:xfrm>
            <a:prstGeom prst="rect">
              <a:avLst/>
            </a:prstGeom>
            <a:noFill/>
            <a:ln/>
          </p:spPr>
          <p:txBody>
            <a:bodyPr wrap="square" lIns="0" tIns="0" rIns="0" bIns="0" rtlCol="0" anchor="t"/>
            <a:lstStyle/>
            <a:p>
              <a:pPr indent="0" marL="0">
                <a:lnSpc>
                  <a:spcPts val="1700"/>
                </a:lnSpc>
                <a:buNone/>
              </a:pPr>
              <a:r>
                <a:rPr lang="en-US" sz="1350" dirty="0">
                  <a:solidFill>
                    <a:srgbClr val="6B5A48"/>
                  </a:solidFill>
                  <a:latin typeface="Arial" pitchFamily="34" charset="0"/>
                  <a:ea typeface="Arial" pitchFamily="34" charset="-122"/>
                  <a:cs typeface="Arial" pitchFamily="34" charset="-120"/>
                </a:rPr>
                <a:t>Harder claims. Two of them always confuse one example with the whole resource.</a:t>
              </a:r>
              <a:endParaRPr lang="en-US" sz="1350" dirty="0"/>
            </a:p>
          </p:txBody>
        </p:sp>
      </p:grpSp>
      <p:grpSp>
        <p:nvGrpSpPr>
          <p:cNvPr id="22" name="t2"/>
          <p:cNvGrpSpPr/>
          <p:nvPr/>
        </p:nvGrpSpPr>
        <p:grpSpPr>
          <a:xfrm>
            <a:off x="8335061" y="2322576"/>
            <a:ext cx="3307994" cy="1920240"/>
            <a:chOff x="8335061" y="2322576"/>
            <a:chExt cx="3307994" cy="1920240"/>
          </a:xfrm>
        </p:grpSpPr>
        <p:sp>
          <p:nvSpPr>
            <p:cNvPr id="15" name="t2_bg"/>
            <p:cNvSpPr/>
            <p:nvPr/>
          </p:nvSpPr>
          <p:spPr>
            <a:xfrm>
              <a:off x="8335061" y="2322576"/>
              <a:ext cx="3307994" cy="1920240"/>
            </a:xfrm>
            <a:prstGeom prst="roundRect">
              <a:avLst>
                <a:gd name="adj" fmla="val 4762"/>
              </a:avLst>
            </a:prstGeom>
            <a:solidFill>
              <a:srgbClr val="F2EBDD"/>
            </a:solidFill>
            <a:ln w="20320">
              <a:solidFill>
                <a:srgbClr val="8F6D2A"/>
              </a:solidFill>
              <a:prstDash val="solid"/>
            </a:ln>
          </p:spPr>
        </p:sp>
        <p:sp>
          <p:nvSpPr>
            <p:cNvPr id="16" name="t2_h"/>
            <p:cNvSpPr txBox="1"/>
            <p:nvPr/>
          </p:nvSpPr>
          <p:spPr>
            <a:xfrm>
              <a:off x="8572805" y="2487168"/>
              <a:ext cx="2832506" cy="365760"/>
            </a:xfrm>
            <a:prstGeom prst="rect">
              <a:avLst/>
            </a:prstGeom>
            <a:noFill/>
            <a:ln/>
          </p:spPr>
          <p:txBody>
            <a:bodyPr wrap="square" lIns="0" tIns="0" rIns="0" bIns="0" rtlCol="0" anchor="ctr"/>
            <a:lstStyle/>
            <a:p>
              <a:pPr indent="0" marL="0">
                <a:buNone/>
              </a:pPr>
              <a:r>
                <a:rPr lang="en-US" sz="1500" b="1" spc="120" kern="0" dirty="0">
                  <a:solidFill>
                    <a:srgbClr val="8F6D2A"/>
                  </a:solidFill>
                  <a:latin typeface="Arial" pitchFamily="34" charset="0"/>
                  <a:ea typeface="Arial" pitchFamily="34" charset="-122"/>
                  <a:cs typeface="Arial" pitchFamily="34" charset="-120"/>
                </a:rPr>
                <a:t>ROUND 3</a:t>
              </a:r>
              <a:endParaRPr lang="en-US" sz="1500" dirty="0"/>
            </a:p>
          </p:txBody>
        </p:sp>
        <p:sp>
          <p:nvSpPr>
            <p:cNvPr id="17" name="t2_s"/>
            <p:cNvSpPr txBox="1"/>
            <p:nvPr/>
          </p:nvSpPr>
          <p:spPr>
            <a:xfrm>
              <a:off x="8572805" y="2852928"/>
              <a:ext cx="2832506" cy="329184"/>
            </a:xfrm>
            <a:prstGeom prst="rect">
              <a:avLst/>
            </a:prstGeom>
            <a:noFill/>
            <a:ln/>
          </p:spPr>
          <p:txBody>
            <a:bodyPr wrap="square" lIns="0" tIns="0" rIns="0" bIns="0" rtlCol="0" anchor="ctr"/>
            <a:lstStyle/>
            <a:p>
              <a:pPr indent="0" marL="0">
                <a:buNone/>
              </a:pPr>
              <a:r>
                <a:rPr lang="en-US" sz="1700" b="1" dirty="0">
                  <a:solidFill>
                    <a:srgbClr val="3D2B1F"/>
                  </a:solidFill>
                  <a:latin typeface="Arial" pitchFamily="34" charset="0"/>
                  <a:ea typeface="Arial" pitchFamily="34" charset="-122"/>
                  <a:cs typeface="Arial" pitchFamily="34" charset="-120"/>
                </a:rPr>
                <a:t>It depends, with numbers</a:t>
              </a:r>
              <a:endParaRPr lang="en-US" sz="1700" dirty="0"/>
            </a:p>
          </p:txBody>
        </p:sp>
        <p:sp>
          <p:nvSpPr>
            <p:cNvPr id="18" name="t2_b"/>
            <p:cNvSpPr txBox="1"/>
            <p:nvPr/>
          </p:nvSpPr>
          <p:spPr>
            <a:xfrm>
              <a:off x="8572805" y="3200400"/>
              <a:ext cx="2832506" cy="914400"/>
            </a:xfrm>
            <a:prstGeom prst="rect">
              <a:avLst/>
            </a:prstGeom>
            <a:noFill/>
            <a:ln/>
          </p:spPr>
          <p:txBody>
            <a:bodyPr wrap="square" lIns="0" tIns="0" rIns="0" bIns="0" rtlCol="0" anchor="t"/>
            <a:lstStyle/>
            <a:p>
              <a:pPr indent="0" marL="0">
                <a:lnSpc>
                  <a:spcPts val="1700"/>
                </a:lnSpc>
                <a:buNone/>
              </a:pPr>
              <a:r>
                <a:rPr lang="en-US" sz="1350" dirty="0">
                  <a:solidFill>
                    <a:srgbClr val="6B5A48"/>
                  </a:solidFill>
                  <a:latin typeface="Arial" pitchFamily="34" charset="0"/>
                  <a:ea typeface="Arial" pitchFamily="34" charset="-122"/>
                  <a:cs typeface="Arial" pitchFamily="34" charset="-120"/>
                </a:rPr>
                <a:t>Given the actual rates. Very hard. The last two questions are meant to be almost impossible.</a:t>
              </a:r>
              <a:endParaRPr lang="en-US" sz="1350" dirty="0"/>
            </a:p>
          </p:txBody>
        </p:sp>
      </p:grpSp>
      <p:sp>
        <p:nvSpPr>
          <p:cNvPr id="19" name="yd_note"/>
          <p:cNvSpPr txBox="1"/>
          <p:nvPr/>
        </p:nvSpPr>
        <p:spPr>
          <a:xfrm>
            <a:off x="1170432" y="4535424"/>
            <a:ext cx="10472623" cy="731520"/>
          </a:xfrm>
          <a:prstGeom prst="rect">
            <a:avLst/>
          </a:prstGeom>
          <a:noFill/>
          <a:ln/>
        </p:spPr>
        <p:txBody>
          <a:bodyPr wrap="square" lIns="0" tIns="0" rIns="0" bIns="0" rtlCol="0" anchor="t"/>
          <a:lstStyle/>
          <a:p>
            <a:pPr indent="0" marL="0">
              <a:lnSpc>
                <a:spcPts val="2100"/>
              </a:lnSpc>
              <a:buNone/>
            </a:pPr>
            <a:r>
              <a:rPr lang="en-US" sz="1600" b="1" dirty="0">
                <a:solidFill>
                  <a:srgbClr val="3D2B1F"/>
                </a:solidFill>
                <a:latin typeface="Arial" pitchFamily="34" charset="0"/>
                <a:ea typeface="Arial" pitchFamily="34" charset="-122"/>
                <a:cs typeface="Arial" pitchFamily="34" charset="-120"/>
              </a:rPr>
              <a:t>No timer on the questions. Read the feedback. Stop and see your results any time. Finished? The worksheet is there too.</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0"/>
                                        </p:tgtEl>
                                        <p:attrNameLst>
                                          <p:attrName>style.visibility</p:attrName>
                                        </p:attrNameLst>
                                      </p:cBhvr>
                                      <p:to>
                                        <p:strVal val="visible"/>
                                      </p:to>
                                    </p:set>
                                    <p:animEffect transition="in" filter="fade">
                                      <p:cBhvr>
                                        <p:cTn id="4"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21"/>
                                        </p:tgtEl>
                                        <p:attrNameLst>
                                          <p:attrName>style.visibility</p:attrName>
                                        </p:attrNameLst>
                                      </p:cBhvr>
                                      <p:to>
                                        <p:strVal val="visible"/>
                                      </p:to>
                                    </p:set>
                                    <p:animEffect transition="in" filter="fade">
                                      <p:cBhvr>
                                        <p:cTn id="9" dur="4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23" fill="hold" display="0">
                  <p:stCondLst>
                    <p:cond delay="0"/>
                  </p:stCondLst>
                  <p:endCondLst>
                    <p:cond evt="onStopAudio" delay="0">
                      <p:tgtEl>
                        <p:sldTgt/>
                      </p:tgtEl>
                    </p:cond>
                  </p:end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D2B1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892808" cy="329184"/>
          </a:xfrm>
          <a:prstGeom prst="roundRect">
            <a:avLst>
              <a:gd name="adj" fmla="val 44444"/>
            </a:avLst>
          </a:prstGeom>
          <a:solidFill>
            <a:srgbClr val="C99A3D"/>
          </a:solidFill>
          <a:ln/>
        </p:spPr>
        <p:txBody>
          <a:bodyPr wrap="square" lIns="0" tIns="0" rIns="0" bIns="0" rtlCol="0" anchor="ctr"/>
          <a:lstStyle/>
          <a:p>
            <a:pPr algn="ctr" indent="0" marL="0">
              <a:buNone/>
            </a:pPr>
            <a:r>
              <a:rPr lang="en-US" sz="1100" b="1" spc="120" kern="0" dirty="0">
                <a:solidFill>
                  <a:srgbClr val="3D2B1F"/>
                </a:solidFill>
                <a:latin typeface="Arial" pitchFamily="34" charset="0"/>
                <a:ea typeface="Arial" pitchFamily="34" charset="-122"/>
                <a:cs typeface="Arial" pitchFamily="34" charset="-120"/>
              </a:rPr>
              <a:t>PLENARY · 3 MIN</a:t>
            </a:r>
            <a:endParaRPr lang="en-US" sz="1100" dirty="0"/>
          </a:p>
        </p:txBody>
      </p:sp>
      <p:sp>
        <p:nvSpPr>
          <p:cNvPr id="4"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000" b="1" dirty="0">
                <a:solidFill>
                  <a:srgbClr val="F2EBDD"/>
                </a:solidFill>
                <a:latin typeface="Georgia" pitchFamily="34" charset="0"/>
                <a:ea typeface="Georgia" pitchFamily="34" charset="-122"/>
                <a:cs typeface="Georgia" pitchFamily="34" charset="-120"/>
              </a:rPr>
              <a:t>True or false?</a:t>
            </a:r>
            <a:endParaRPr lang="en-US" sz="3000" dirty="0"/>
          </a:p>
        </p:txBody>
      </p:sp>
      <p:grpSp>
        <p:nvGrpSpPr>
          <p:cNvPr id="21" name="p0_stmt"/>
          <p:cNvGrpSpPr/>
          <p:nvPr/>
        </p:nvGrpSpPr>
        <p:grpSpPr>
          <a:xfrm>
            <a:off x="1170432" y="2194560"/>
            <a:ext cx="8552383" cy="640080"/>
            <a:chOff x="1170432" y="2194560"/>
            <a:chExt cx="8552383" cy="640080"/>
          </a:xfrm>
        </p:grpSpPr>
        <p:sp>
          <p:nvSpPr>
            <p:cNvPr id="5" name="p0_bg"/>
            <p:cNvSpPr/>
            <p:nvPr/>
          </p:nvSpPr>
          <p:spPr>
            <a:xfrm>
              <a:off x="1170432" y="2194560"/>
              <a:ext cx="8552383" cy="640080"/>
            </a:xfrm>
            <a:prstGeom prst="roundRect">
              <a:avLst>
                <a:gd name="adj" fmla="val 14286"/>
              </a:avLst>
            </a:prstGeom>
            <a:solidFill>
              <a:srgbClr val="5C4530"/>
            </a:solidFill>
            <a:ln w="12700">
              <a:solidFill>
                <a:srgbClr val="5C4530"/>
              </a:solidFill>
              <a:prstDash val="solid"/>
            </a:ln>
          </p:spPr>
        </p:sp>
        <p:sp>
          <p:nvSpPr>
            <p:cNvPr id="6" name="p0_q"/>
            <p:cNvSpPr txBox="1"/>
            <p:nvPr/>
          </p:nvSpPr>
          <p:spPr>
            <a:xfrm>
              <a:off x="1426464" y="2194560"/>
              <a:ext cx="8186623" cy="640080"/>
            </a:xfrm>
            <a:prstGeom prst="rect">
              <a:avLst/>
            </a:prstGeom>
            <a:noFill/>
            <a:ln/>
          </p:spPr>
          <p:txBody>
            <a:bodyPr wrap="square" lIns="0" tIns="0" rIns="0" bIns="0" rtlCol="0" anchor="ctr"/>
            <a:lstStyle/>
            <a:p>
              <a:pPr indent="0" marL="0">
                <a:buNone/>
              </a:pPr>
              <a:r>
                <a:rPr lang="en-US" sz="1500" dirty="0">
                  <a:solidFill>
                    <a:srgbClr val="F2EBDD"/>
                  </a:solidFill>
                  <a:latin typeface="Arial" pitchFamily="34" charset="0"/>
                  <a:ea typeface="Arial" pitchFamily="34" charset="-122"/>
                  <a:cs typeface="Arial" pitchFamily="34" charset="-120"/>
                </a:rPr>
                <a:t>A natural resource is something made in a factory.</a:t>
              </a:r>
              <a:endParaRPr lang="en-US" sz="1500" dirty="0"/>
            </a:p>
          </p:txBody>
        </p:sp>
      </p:grpSp>
      <p:sp>
        <p:nvSpPr>
          <p:cNvPr id="7" name="p0_v"/>
          <p:cNvSpPr txBox="1"/>
          <p:nvPr/>
        </p:nvSpPr>
        <p:spPr>
          <a:xfrm>
            <a:off x="9905695" y="2194560"/>
            <a:ext cx="1737360" cy="640080"/>
          </a:xfrm>
          <a:prstGeom prst="rect">
            <a:avLst/>
          </a:prstGeom>
          <a:noFill/>
          <a:ln/>
        </p:spPr>
        <p:txBody>
          <a:bodyPr wrap="square" lIns="0" tIns="0" rIns="0" bIns="0" rtlCol="0" anchor="ctr"/>
          <a:lstStyle/>
          <a:p>
            <a:pPr indent="0" marL="0">
              <a:buNone/>
            </a:pPr>
            <a:r>
              <a:rPr lang="en-US" sz="1700" b="1" spc="100" kern="0" dirty="0">
                <a:solidFill>
                  <a:srgbClr val="C99A3D"/>
                </a:solidFill>
                <a:latin typeface="Arial" pitchFamily="34" charset="0"/>
                <a:ea typeface="Arial" pitchFamily="34" charset="-122"/>
                <a:cs typeface="Arial" pitchFamily="34" charset="-120"/>
              </a:rPr>
              <a:t>FALSE</a:t>
            </a:r>
            <a:endParaRPr lang="en-US" sz="1700" dirty="0"/>
          </a:p>
        </p:txBody>
      </p:sp>
      <p:grpSp>
        <p:nvGrpSpPr>
          <p:cNvPr id="22" name="p1_stmt"/>
          <p:cNvGrpSpPr/>
          <p:nvPr/>
        </p:nvGrpSpPr>
        <p:grpSpPr>
          <a:xfrm>
            <a:off x="1170432" y="2999232"/>
            <a:ext cx="8552383" cy="640080"/>
            <a:chOff x="1170432" y="2999232"/>
            <a:chExt cx="8552383" cy="640080"/>
          </a:xfrm>
        </p:grpSpPr>
        <p:sp>
          <p:nvSpPr>
            <p:cNvPr id="8" name="p1_bg"/>
            <p:cNvSpPr/>
            <p:nvPr/>
          </p:nvSpPr>
          <p:spPr>
            <a:xfrm>
              <a:off x="1170432" y="2999232"/>
              <a:ext cx="8552383" cy="640080"/>
            </a:xfrm>
            <a:prstGeom prst="roundRect">
              <a:avLst>
                <a:gd name="adj" fmla="val 14286"/>
              </a:avLst>
            </a:prstGeom>
            <a:solidFill>
              <a:srgbClr val="5C4530"/>
            </a:solidFill>
            <a:ln w="12700">
              <a:solidFill>
                <a:srgbClr val="5C4530"/>
              </a:solidFill>
              <a:prstDash val="solid"/>
            </a:ln>
          </p:spPr>
        </p:sp>
        <p:sp>
          <p:nvSpPr>
            <p:cNvPr id="9" name="p1_q"/>
            <p:cNvSpPr txBox="1"/>
            <p:nvPr/>
          </p:nvSpPr>
          <p:spPr>
            <a:xfrm>
              <a:off x="1426464" y="2999232"/>
              <a:ext cx="8186623" cy="640080"/>
            </a:xfrm>
            <a:prstGeom prst="rect">
              <a:avLst/>
            </a:prstGeom>
            <a:noFill/>
            <a:ln/>
          </p:spPr>
          <p:txBody>
            <a:bodyPr wrap="square" lIns="0" tIns="0" rIns="0" bIns="0" rtlCol="0" anchor="ctr"/>
            <a:lstStyle/>
            <a:p>
              <a:pPr indent="0" marL="0">
                <a:buNone/>
              </a:pPr>
              <a:r>
                <a:rPr lang="en-US" sz="1500" dirty="0">
                  <a:solidFill>
                    <a:srgbClr val="F2EBDD"/>
                  </a:solidFill>
                  <a:latin typeface="Arial" pitchFamily="34" charset="0"/>
                  <a:ea typeface="Arial" pitchFamily="34" charset="-122"/>
                  <a:cs typeface="Arial" pitchFamily="34" charset="-120"/>
                </a:rPr>
                <a:t>Sunlight and wind are renewable resources.</a:t>
              </a:r>
              <a:endParaRPr lang="en-US" sz="1500" dirty="0"/>
            </a:p>
          </p:txBody>
        </p:sp>
      </p:grpSp>
      <p:sp>
        <p:nvSpPr>
          <p:cNvPr id="10" name="p1_v"/>
          <p:cNvSpPr txBox="1"/>
          <p:nvPr/>
        </p:nvSpPr>
        <p:spPr>
          <a:xfrm>
            <a:off x="9905695" y="2999232"/>
            <a:ext cx="1737360" cy="640080"/>
          </a:xfrm>
          <a:prstGeom prst="rect">
            <a:avLst/>
          </a:prstGeom>
          <a:noFill/>
          <a:ln/>
        </p:spPr>
        <p:txBody>
          <a:bodyPr wrap="square" lIns="0" tIns="0" rIns="0" bIns="0" rtlCol="0" anchor="ctr"/>
          <a:lstStyle/>
          <a:p>
            <a:pPr indent="0" marL="0">
              <a:buNone/>
            </a:pPr>
            <a:r>
              <a:rPr lang="en-US" sz="1700" b="1" spc="100" kern="0" dirty="0">
                <a:solidFill>
                  <a:srgbClr val="6A8C9A"/>
                </a:solidFill>
                <a:latin typeface="Arial" pitchFamily="34" charset="0"/>
                <a:ea typeface="Arial" pitchFamily="34" charset="-122"/>
                <a:cs typeface="Arial" pitchFamily="34" charset="-120"/>
              </a:rPr>
              <a:t>TRUE</a:t>
            </a:r>
            <a:endParaRPr lang="en-US" sz="1700" dirty="0"/>
          </a:p>
        </p:txBody>
      </p:sp>
      <p:grpSp>
        <p:nvGrpSpPr>
          <p:cNvPr id="23" name="p2_stmt"/>
          <p:cNvGrpSpPr/>
          <p:nvPr/>
        </p:nvGrpSpPr>
        <p:grpSpPr>
          <a:xfrm>
            <a:off x="1170432" y="3803904"/>
            <a:ext cx="8552383" cy="640080"/>
            <a:chOff x="1170432" y="3803904"/>
            <a:chExt cx="8552383" cy="640080"/>
          </a:xfrm>
        </p:grpSpPr>
        <p:sp>
          <p:nvSpPr>
            <p:cNvPr id="11" name="p2_bg"/>
            <p:cNvSpPr/>
            <p:nvPr/>
          </p:nvSpPr>
          <p:spPr>
            <a:xfrm>
              <a:off x="1170432" y="3803904"/>
              <a:ext cx="8552383" cy="640080"/>
            </a:xfrm>
            <a:prstGeom prst="roundRect">
              <a:avLst>
                <a:gd name="adj" fmla="val 14286"/>
              </a:avLst>
            </a:prstGeom>
            <a:solidFill>
              <a:srgbClr val="5C4530"/>
            </a:solidFill>
            <a:ln w="12700">
              <a:solidFill>
                <a:srgbClr val="5C4530"/>
              </a:solidFill>
              <a:prstDash val="solid"/>
            </a:ln>
          </p:spPr>
        </p:sp>
        <p:sp>
          <p:nvSpPr>
            <p:cNvPr id="12" name="p2_q"/>
            <p:cNvSpPr txBox="1"/>
            <p:nvPr/>
          </p:nvSpPr>
          <p:spPr>
            <a:xfrm>
              <a:off x="1426464" y="3803904"/>
              <a:ext cx="8186623" cy="640080"/>
            </a:xfrm>
            <a:prstGeom prst="rect">
              <a:avLst/>
            </a:prstGeom>
            <a:noFill/>
            <a:ln/>
          </p:spPr>
          <p:txBody>
            <a:bodyPr wrap="square" lIns="0" tIns="0" rIns="0" bIns="0" rtlCol="0" anchor="ctr"/>
            <a:lstStyle/>
            <a:p>
              <a:pPr indent="0" marL="0">
                <a:buNone/>
              </a:pPr>
              <a:r>
                <a:rPr lang="en-US" sz="1500" dirty="0">
                  <a:solidFill>
                    <a:srgbClr val="F2EBDD"/>
                  </a:solidFill>
                  <a:latin typeface="Arial" pitchFamily="34" charset="0"/>
                  <a:ea typeface="Arial" pitchFamily="34" charset="-122"/>
                  <a:cs typeface="Arial" pitchFamily="34" charset="-120"/>
                </a:rPr>
                <a:t>If a resource can regrow, it is always renewable.</a:t>
              </a:r>
              <a:endParaRPr lang="en-US" sz="1500" dirty="0"/>
            </a:p>
          </p:txBody>
        </p:sp>
      </p:grpSp>
      <p:sp>
        <p:nvSpPr>
          <p:cNvPr id="13" name="p2_v"/>
          <p:cNvSpPr txBox="1"/>
          <p:nvPr/>
        </p:nvSpPr>
        <p:spPr>
          <a:xfrm>
            <a:off x="9905695" y="3803904"/>
            <a:ext cx="1737360" cy="640080"/>
          </a:xfrm>
          <a:prstGeom prst="rect">
            <a:avLst/>
          </a:prstGeom>
          <a:noFill/>
          <a:ln/>
        </p:spPr>
        <p:txBody>
          <a:bodyPr wrap="square" lIns="0" tIns="0" rIns="0" bIns="0" rtlCol="0" anchor="ctr"/>
          <a:lstStyle/>
          <a:p>
            <a:pPr indent="0" marL="0">
              <a:buNone/>
            </a:pPr>
            <a:r>
              <a:rPr lang="en-US" sz="1700" b="1" spc="100" kern="0" dirty="0">
                <a:solidFill>
                  <a:srgbClr val="C99A3D"/>
                </a:solidFill>
                <a:latin typeface="Arial" pitchFamily="34" charset="0"/>
                <a:ea typeface="Arial" pitchFamily="34" charset="-122"/>
                <a:cs typeface="Arial" pitchFamily="34" charset="-120"/>
              </a:rPr>
              <a:t>FALSE</a:t>
            </a:r>
            <a:endParaRPr lang="en-US" sz="1700" dirty="0"/>
          </a:p>
        </p:txBody>
      </p:sp>
      <p:grpSp>
        <p:nvGrpSpPr>
          <p:cNvPr id="24" name="p3_stmt"/>
          <p:cNvGrpSpPr/>
          <p:nvPr/>
        </p:nvGrpSpPr>
        <p:grpSpPr>
          <a:xfrm>
            <a:off x="1170432" y="4608576"/>
            <a:ext cx="8552383" cy="640080"/>
            <a:chOff x="1170432" y="4608576"/>
            <a:chExt cx="8552383" cy="640080"/>
          </a:xfrm>
        </p:grpSpPr>
        <p:sp>
          <p:nvSpPr>
            <p:cNvPr id="14" name="p3_bg"/>
            <p:cNvSpPr/>
            <p:nvPr/>
          </p:nvSpPr>
          <p:spPr>
            <a:xfrm>
              <a:off x="1170432" y="4608576"/>
              <a:ext cx="8552383" cy="640080"/>
            </a:xfrm>
            <a:prstGeom prst="roundRect">
              <a:avLst>
                <a:gd name="adj" fmla="val 14286"/>
              </a:avLst>
            </a:prstGeom>
            <a:solidFill>
              <a:srgbClr val="5C4530"/>
            </a:solidFill>
            <a:ln w="12700">
              <a:solidFill>
                <a:srgbClr val="5C4530"/>
              </a:solidFill>
              <a:prstDash val="solid"/>
            </a:ln>
          </p:spPr>
        </p:sp>
        <p:sp>
          <p:nvSpPr>
            <p:cNvPr id="15" name="p3_q"/>
            <p:cNvSpPr txBox="1"/>
            <p:nvPr/>
          </p:nvSpPr>
          <p:spPr>
            <a:xfrm>
              <a:off x="1426464" y="4608576"/>
              <a:ext cx="8186623" cy="640080"/>
            </a:xfrm>
            <a:prstGeom prst="rect">
              <a:avLst/>
            </a:prstGeom>
            <a:noFill/>
            <a:ln/>
          </p:spPr>
          <p:txBody>
            <a:bodyPr wrap="square" lIns="0" tIns="0" rIns="0" bIns="0" rtlCol="0" anchor="ctr"/>
            <a:lstStyle/>
            <a:p>
              <a:pPr indent="0" marL="0">
                <a:buNone/>
              </a:pPr>
              <a:r>
                <a:rPr lang="en-US" sz="1500" dirty="0">
                  <a:solidFill>
                    <a:srgbClr val="F2EBDD"/>
                  </a:solidFill>
                  <a:latin typeface="Arial" pitchFamily="34" charset="0"/>
                  <a:ea typeface="Arial" pitchFamily="34" charset="-122"/>
                  <a:cs typeface="Arial" pitchFamily="34" charset="-120"/>
                </a:rPr>
                <a:t>A forest cut faster than it regrows behaves like a non-renewable resource.</a:t>
              </a:r>
              <a:endParaRPr lang="en-US" sz="1500" dirty="0"/>
            </a:p>
          </p:txBody>
        </p:sp>
      </p:grpSp>
      <p:sp>
        <p:nvSpPr>
          <p:cNvPr id="16" name="p3_v"/>
          <p:cNvSpPr txBox="1"/>
          <p:nvPr/>
        </p:nvSpPr>
        <p:spPr>
          <a:xfrm>
            <a:off x="9905695" y="4608576"/>
            <a:ext cx="1737360" cy="640080"/>
          </a:xfrm>
          <a:prstGeom prst="rect">
            <a:avLst/>
          </a:prstGeom>
          <a:noFill/>
          <a:ln/>
        </p:spPr>
        <p:txBody>
          <a:bodyPr wrap="square" lIns="0" tIns="0" rIns="0" bIns="0" rtlCol="0" anchor="ctr"/>
          <a:lstStyle/>
          <a:p>
            <a:pPr indent="0" marL="0">
              <a:buNone/>
            </a:pPr>
            <a:r>
              <a:rPr lang="en-US" sz="1700" b="1" spc="100" kern="0" dirty="0">
                <a:solidFill>
                  <a:srgbClr val="6A8C9A"/>
                </a:solidFill>
                <a:latin typeface="Arial" pitchFamily="34" charset="0"/>
                <a:ea typeface="Arial" pitchFamily="34" charset="-122"/>
                <a:cs typeface="Arial" pitchFamily="34" charset="-120"/>
              </a:rPr>
              <a:t>TRUE</a:t>
            </a:r>
            <a:endParaRPr lang="en-US" sz="1700" dirty="0"/>
          </a:p>
        </p:txBody>
      </p:sp>
      <p:grpSp>
        <p:nvGrpSpPr>
          <p:cNvPr id="25" name="p4_stmt"/>
          <p:cNvGrpSpPr/>
          <p:nvPr/>
        </p:nvGrpSpPr>
        <p:grpSpPr>
          <a:xfrm>
            <a:off x="1170432" y="5413248"/>
            <a:ext cx="8552383" cy="640080"/>
            <a:chOff x="1170432" y="5413248"/>
            <a:chExt cx="8552383" cy="640080"/>
          </a:xfrm>
        </p:grpSpPr>
        <p:sp>
          <p:nvSpPr>
            <p:cNvPr id="17" name="p4_bg"/>
            <p:cNvSpPr/>
            <p:nvPr/>
          </p:nvSpPr>
          <p:spPr>
            <a:xfrm>
              <a:off x="1170432" y="5413248"/>
              <a:ext cx="8552383" cy="640080"/>
            </a:xfrm>
            <a:prstGeom prst="roundRect">
              <a:avLst>
                <a:gd name="adj" fmla="val 14286"/>
              </a:avLst>
            </a:prstGeom>
            <a:solidFill>
              <a:srgbClr val="5C4530"/>
            </a:solidFill>
            <a:ln w="12700">
              <a:solidFill>
                <a:srgbClr val="5C4530"/>
              </a:solidFill>
              <a:prstDash val="solid"/>
            </a:ln>
          </p:spPr>
        </p:sp>
        <p:sp>
          <p:nvSpPr>
            <p:cNvPr id="18" name="p4_q"/>
            <p:cNvSpPr txBox="1"/>
            <p:nvPr/>
          </p:nvSpPr>
          <p:spPr>
            <a:xfrm>
              <a:off x="1426464" y="5413248"/>
              <a:ext cx="8186623" cy="640080"/>
            </a:xfrm>
            <a:prstGeom prst="rect">
              <a:avLst/>
            </a:prstGeom>
            <a:noFill/>
            <a:ln/>
          </p:spPr>
          <p:txBody>
            <a:bodyPr wrap="square" lIns="0" tIns="0" rIns="0" bIns="0" rtlCol="0" anchor="ctr"/>
            <a:lstStyle/>
            <a:p>
              <a:pPr indent="0" marL="0">
                <a:buNone/>
              </a:pPr>
              <a:r>
                <a:rPr lang="en-US" sz="1500" dirty="0">
                  <a:solidFill>
                    <a:srgbClr val="F2EBDD"/>
                  </a:solidFill>
                  <a:latin typeface="Arial" pitchFamily="34" charset="0"/>
                  <a:ea typeface="Arial" pitchFamily="34" charset="-122"/>
                  <a:cs typeface="Arial" pitchFamily="34" charset="-120"/>
                </a:rPr>
                <a:t>Coal is renewable, because plants can always grow again.</a:t>
              </a:r>
              <a:endParaRPr lang="en-US" sz="1500" dirty="0"/>
            </a:p>
          </p:txBody>
        </p:sp>
      </p:grpSp>
      <p:sp>
        <p:nvSpPr>
          <p:cNvPr id="19" name="p4_v"/>
          <p:cNvSpPr txBox="1"/>
          <p:nvPr/>
        </p:nvSpPr>
        <p:spPr>
          <a:xfrm>
            <a:off x="9905695" y="5413248"/>
            <a:ext cx="1737360" cy="640080"/>
          </a:xfrm>
          <a:prstGeom prst="rect">
            <a:avLst/>
          </a:prstGeom>
          <a:noFill/>
          <a:ln/>
        </p:spPr>
        <p:txBody>
          <a:bodyPr wrap="square" lIns="0" tIns="0" rIns="0" bIns="0" rtlCol="0" anchor="ctr"/>
          <a:lstStyle/>
          <a:p>
            <a:pPr indent="0" marL="0">
              <a:buNone/>
            </a:pPr>
            <a:r>
              <a:rPr lang="en-US" sz="1700" b="1" spc="100" kern="0" dirty="0">
                <a:solidFill>
                  <a:srgbClr val="C99A3D"/>
                </a:solidFill>
                <a:latin typeface="Arial" pitchFamily="34" charset="0"/>
                <a:ea typeface="Arial" pitchFamily="34" charset="-122"/>
                <a:cs typeface="Arial" pitchFamily="34" charset="-120"/>
              </a:rPr>
              <a:t>FALSE</a:t>
            </a:r>
            <a:endParaRPr lang="en-US" sz="1700" dirty="0"/>
          </a:p>
        </p:txBody>
      </p:sp>
      <p:sp>
        <p:nvSpPr>
          <p:cNvPr id="20" name="pl_next"/>
          <p:cNvSpPr txBox="1"/>
          <p:nvPr/>
        </p:nvSpPr>
        <p:spPr>
          <a:xfrm>
            <a:off x="1170432" y="6071616"/>
            <a:ext cx="10472623" cy="457200"/>
          </a:xfrm>
          <a:prstGeom prst="rect">
            <a:avLst/>
          </a:prstGeom>
          <a:noFill/>
          <a:ln/>
        </p:spPr>
        <p:txBody>
          <a:bodyPr wrap="square" lIns="0" tIns="0" rIns="0" bIns="0" rtlCol="0" anchor="ctr"/>
          <a:lstStyle/>
          <a:p>
            <a:pPr indent="0" marL="0">
              <a:buNone/>
            </a:pPr>
            <a:r>
              <a:rPr lang="en-US" sz="1500" b="1" i="1" dirty="0">
                <a:solidFill>
                  <a:srgbClr val="C99A3D"/>
                </a:solidFill>
                <a:latin typeface="Arial" pitchFamily="34" charset="0"/>
                <a:ea typeface="Arial" pitchFamily="34" charset="-122"/>
                <a:cs typeface="Arial" pitchFamily="34" charset="-120"/>
              </a:rPr>
              <a:t>Renewable or not is not about the resource. It is about the rate.</a:t>
            </a:r>
            <a:endParaRPr lang="en-US" sz="15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1" presetID="23" presetClass="entr" presetSubtype="16" fill="hold" grpId="0" nodeType="click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400"/>
                                        <p:tgtEl>
                                          <p:spTgt spid="7"/>
                                        </p:tgtEl>
                                      </p:cBhvr>
                                    </p:animEffect>
                                    <p:animScale>
                                      <p:cBhvr>
                                        <p:cTn id="10" dur="400" fill="hold"/>
                                        <p:tgtEl>
                                          <p:spTgt spid="7"/>
                                        </p:tgtEl>
                                      </p:cBhvr>
                                      <p:from x="0" y="0"/>
                                      <p:to x="100000" y="100000"/>
                                    </p:animScale>
                                  </p:childTnLst>
                                </p:cTn>
                              </p:par>
                            </p:childTnLst>
                          </p:cTn>
                        </p:par>
                      </p:childTnLst>
                    </p:cTn>
                  </p:par>
                  <p:par>
                    <p:cTn id="17" fill="hold">
                      <p:stCondLst>
                        <p:cond delay="indefinite"/>
                      </p:stCondLst>
                      <p:childTnLst>
                        <p:par>
                          <p:cTn id="18" fill="hold">
                            <p:stCondLst>
                              <p:cond delay="0"/>
                            </p:stCondLst>
                            <p:childTnLst>
                              <p:par>
                                <p:cTn id="16"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2" presetID="23" presetClass="entr" presetSubtype="16"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animScale>
                                      <p:cBhvr>
                                        <p:cTn id="21" dur="400" fill="hold"/>
                                        <p:tgtEl>
                                          <p:spTgt spid="10"/>
                                        </p:tgtEl>
                                      </p:cBhvr>
                                      <p:from x="0" y="0"/>
                                      <p:to x="100000" y="100000"/>
                                    </p:animScale>
                                  </p:childTnLst>
                                </p:cTn>
                              </p:par>
                            </p:childTnLst>
                          </p:cTn>
                        </p:par>
                      </p:childTnLst>
                    </p:cTn>
                  </p:par>
                  <p:par>
                    <p:cTn id="28" fill="hold">
                      <p:stCondLst>
                        <p:cond delay="indefinite"/>
                      </p:stCondLst>
                      <p:childTnLst>
                        <p:par>
                          <p:cTn id="29" fill="hold">
                            <p:stCondLst>
                              <p:cond delay="0"/>
                            </p:stCondLst>
                            <p:childTnLst>
                              <p:par>
                                <p:cTn id="27" presetID="10" presetClass="entr" presetSubtype="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3" presetID="23" presetClass="entr" presetSubtype="16"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animScale>
                                      <p:cBhvr>
                                        <p:cTn id="32" dur="400" fill="hold"/>
                                        <p:tgtEl>
                                          <p:spTgt spid="13"/>
                                        </p:tgtEl>
                                      </p:cBhvr>
                                      <p:from x="0" y="0"/>
                                      <p:to x="100000" y="100000"/>
                                    </p:animScale>
                                  </p:childTnLst>
                                </p:cTn>
                              </p:par>
                            </p:childTnLst>
                          </p:cTn>
                        </p:par>
                      </p:childTnLst>
                    </p:cTn>
                  </p:par>
                  <p:par>
                    <p:cTn id="39" fill="hold">
                      <p:stCondLst>
                        <p:cond delay="indefinite"/>
                      </p:stCondLst>
                      <p:childTnLst>
                        <p:par>
                          <p:cTn id="40" fill="hold">
                            <p:stCondLst>
                              <p:cond delay="0"/>
                            </p:stCondLst>
                            <p:childTnLst>
                              <p:par>
                                <p:cTn id="38"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4" presetID="23" presetClass="entr" presetSubtype="16"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animScale>
                                      <p:cBhvr>
                                        <p:cTn id="43" dur="400" fill="hold"/>
                                        <p:tgtEl>
                                          <p:spTgt spid="16"/>
                                        </p:tgtEl>
                                      </p:cBhvr>
                                      <p:from x="0" y="0"/>
                                      <p:to x="100000" y="100000"/>
                                    </p:animScale>
                                  </p:childTnLst>
                                </p:cTn>
                              </p:par>
                            </p:childTnLst>
                          </p:cTn>
                        </p:par>
                      </p:childTnLst>
                    </p:cTn>
                  </p:par>
                  <p:par>
                    <p:cTn id="50" fill="hold">
                      <p:stCondLst>
                        <p:cond delay="indefinite"/>
                      </p:stCondLst>
                      <p:childTnLst>
                        <p:par>
                          <p:cTn id="51" fill="hold">
                            <p:stCondLst>
                              <p:cond delay="0"/>
                            </p:stCondLst>
                            <p:childTnLst>
                              <p:par>
                                <p:cTn id="49" presetID="10" presetClass="entr" presetSubtype="0" fill="hold" grpId="0"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5" presetID="23" presetClass="entr" presetSubtype="16"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animScale>
                                      <p:cBhvr>
                                        <p:cTn id="54" dur="400" fill="hold"/>
                                        <p:tgtEl>
                                          <p:spTgt spid="19"/>
                                        </p:tgtEl>
                                      </p:cBhvr>
                                      <p:from x="0" y="0"/>
                                      <p:to x="100000" y="100000"/>
                                    </p:animScale>
                                  </p:childTnLst>
                                </p:cTn>
                              </p:par>
                            </p:childTnLst>
                          </p:cTn>
                        </p:par>
                      </p:childTnLst>
                    </p:cTn>
                  </p:par>
                  <p:par>
                    <p:cTn id="61" fill="hold">
                      <p:stCondLst>
                        <p:cond delay="indefinite"/>
                      </p:stCondLst>
                      <p:childTnLst>
                        <p:par>
                          <p:cTn id="62" fill="hold">
                            <p:stCondLst>
                              <p:cond delay="0"/>
                            </p:stCondLst>
                            <p:childTnLst>
                              <p:par>
                                <p:cTn id="60" presetID="10"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63" fill="hold" display="0">
                  <p:stCondLst>
                    <p:cond delay="0"/>
                  </p:stCondLst>
                  <p:endCondLst>
                    <p:cond evt="onStopAudio" delay="0">
                      <p:tgtEl>
                        <p:sldTgt/>
                      </p:tgtEl>
                    </p:cond>
                  </p:endCondLst>
                </p:cTn>
                <p:tgtEl>
                  <p:spTgt spid="3"/>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The Earth Gives Us</dc:title>
  <dc:subject>Y9 Science · 9G and 9I</dc:subject>
  <dc:creator>Chuka</dc:creator>
  <cp:lastModifiedBy>Chuka</cp:lastModifiedBy>
  <cp:revision>1</cp:revision>
  <dcterms:created xsi:type="dcterms:W3CDTF">2026-09-28T02:01:20Z</dcterms:created>
  <dcterms:modified xsi:type="dcterms:W3CDTF">2026-09-28T02:01:20Z</dcterms:modified>
</cp:coreProperties>
</file>