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media1.mp4" ContentType="video/unknown"/>
  <Override PartName="/ppt/notesSlides/notesSlide2.xml" ContentType="application/vnd.openxmlformats-officedocument.presentationml.notesSlide+xml"/>
  <Override PartName="/ppt/media/media2.mp4" ContentType="video/unknown"/>
  <Override PartName="/ppt/notesSlides/notesSlide3.xml" ContentType="application/vnd.openxmlformats-officedocument.presentationml.notesSlide+xml"/>
  <Override PartName="/ppt/media/media3.mp4" ContentType="video/unknown"/>
  <Override PartName="/ppt/notesSlides/notesSlide4.xml" ContentType="application/vnd.openxmlformats-officedocument.presentationml.notesSlide+xml"/>
  <Override PartName="/ppt/media/media4.mp4" ContentType="video/unknown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media5.mp4" ContentType="video/unknown"/>
  <Override PartName="/ppt/notesSlides/notesSlide7.xml" ContentType="application/vnd.openxmlformats-officedocument.presentationml.notesSlide+xml"/>
  <Override PartName="/ppt/media/media6.mp4" ContentType="video/unknown"/>
  <Override PartName="/ppt/notesSlides/notesSlide8.xml" ContentType="application/vnd.openxmlformats-officedocument.presentationml.notesSlide+xml"/>
  <Override PartName="/ppt/media/media7.mp4" ContentType="video/unknown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media/media8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PERIOD 2, DO NOW — 10 minutes. Six clicks.</a:t>
            </a:r>
          </a:p>
          <a:p>
            <a:pPr/>
          </a:p>
          <a:p>
            <a:pPr/>
            <a:r>
              <a:t>ALL SIX ARE DIRECT RETRIEVAL from Mass and Weight — same equation, same rounding discipline. Say so: "today builds on this, it does not replace it."</a:t>
            </a:r>
          </a:p>
          <a:p>
            <a:pPr/>
          </a:p>
          <a:p>
            <a:pPr/>
            <a:r>
              <a:t>Q4 IS THE REARRANGEMENT they will need again today. If it is shaky, do it on the board before moving on — do not just reveal the answer and continue.</a:t>
            </a:r>
          </a:p>
          <a:p>
            <a:pPr/>
          </a:p>
          <a:p>
            <a:pPr/>
            <a:r>
              <a:t>THIS IS A DOUBLE. Tell them now: two periods, real break in the middle, one deck, one worksheet finished at the end of Period 3.</a:t>
            </a:r>
          </a:p>
          <a:p>
            <a:pPr/>
          </a:p>
          <a:p>
            <a:pPr/>
            <a:r>
              <a:t>CHANGE THE DATE before you teach.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TODAY — 1 minute. Four clicks. Goal 3 is greyed out on purpose — it is this afternoon’s target, said out loud now so the whole double has a shape from the start.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HOOK — 2 minutes. Four clicks.</a:t>
            </a:r>
          </a:p>
          <a:p>
            <a:pPr/>
          </a:p>
          <a:p>
            <a:pPr/>
            <a:r>
              <a:t>ANSWER: B. Their mass on the Moon is identical. The Moon’s field is weaker, so the same mass feels less force — less weight, easier to jump.</a:t>
            </a:r>
          </a:p>
          <a:p>
            <a:pPr/>
          </a:p>
          <a:p>
            <a:pPr/>
            <a:r>
              <a:t>C IS A COMMON GUESS, worth taking seriously for a second: the Moon does have gravity, just a weaker field. That is exactly today’s idea.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1" name="Shape 1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Four clicks: the diagram, then three steps.</a:t>
            </a:r>
          </a:p>
          <a:p>
            <a:pPr/>
          </a:p>
          <a:p>
            <a:pPr/>
            <a:r>
              <a:t>POINT AT THE ARROWS. The field lines are not decoration — they are the reason the mass feels a force at all. No field, no weight, even with the same mass.</a:t>
            </a:r>
          </a:p>
          <a:p>
            <a:pPr/>
          </a:p>
          <a:p>
            <a:pPr/>
            <a:r>
              <a:t>THIS REFRAMES WHAT THEY ALREADY KNOW. W = mg is not new. What is new: g is not just "the number for Earth", it is the field’s own strength.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Four clicks.</a:t>
            </a:r>
          </a:p>
          <a:p>
            <a:pPr/>
          </a:p>
          <a:p>
            <a:pPr/>
            <a:r>
              <a:t>STEP 3 IS THE KEY IDEA of Period 2: g does not depend on the mass you put in the field. Double the mass, double the weight, but g itself is unchanged — it belongs to the field, not the object.</a:t>
            </a:r>
          </a:p>
          <a:p>
            <a:pPr/>
          </a:p>
          <a:p>
            <a:pPr/>
            <a:r>
              <a:t>STEP 4 (Moon) IS CONTEXT, not something to test them on today — no calculation is asked with it. It exists to make step 3 concrete: same idea, different field, different number.</a:t>
            </a:r>
          </a:p>
          <a:p>
            <a:pPr/>
          </a:p>
          <a:p>
            <a:pPr/>
            <a:r>
              <a:t>THIS ANSWERS THE HOOK. Go back to it: same mass on the Moon, weaker field, less weight, easier to jump.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Shape 2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DO — 5 minutes. Four clicks. Take answers from the room first.</a:t>
            </a:r>
          </a:p>
          <a:p>
            <a:pPr/>
          </a:p>
          <a:p>
            <a:pPr/>
            <a:r>
              <a:t>ROW 1 IS THE SUBSTITUTION SLIP TO WATCH FOR TODAY — adding where they should multiply. This is exactly the "multiple variables" struggle from Mass and Weight. Slow down here, do it on the board.</a:t>
            </a:r>
          </a:p>
          <a:p>
            <a:pPr/>
          </a:p>
          <a:p>
            <a:pPr/>
            <a:r>
              <a:t>ROW 2: the 9.8-not-10 rule, again. It will need repeating all double.</a:t>
            </a:r>
          </a:p>
          <a:p>
            <a:pPr/>
          </a:p>
          <a:p>
            <a:pPr/>
            <a:r>
              <a:t>ROW 4 IS NEW TODAY: confusing "weight increases with mass" (true) with "g increases with mass" (false). Draw the field diagram again if this splits the room.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7" name="Shape 2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COLD CALL — 6 minutes. Six clicks. Name a student, then ask. Thinking time before the answer.</a:t>
            </a:r>
          </a:p>
          <a:p>
            <a:pPr/>
          </a:p>
          <a:p>
            <a:pPr/>
            <a:r>
              <a:t>Q1 AND Q2 want definitions, not units — "N/kg" alone does not answer Q2, push once for "force per unit mass" if that is all you get.</a:t>
            </a:r>
          </a:p>
          <a:p>
            <a:pPr/>
          </a:p>
          <a:p>
            <a:pPr/>
            <a:r>
              <a:t>Q3 AND Q4 are deliberately mirror-images of each other — one substitutes, one rearranges. Both need the same equation used two ways.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3" name="Shape 2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DO — 14 minutes. Four clicks.</a:t>
            </a:r>
          </a:p>
          <a:p>
            <a:pPr/>
          </a:p>
          <a:p>
            <a:pPr/>
            <a:r>
              <a:t>BRONZE AND SILVER ONLY this period — Gold is free-fall content they do not have yet. Say so, so nobody skips ahead confused.</a:t>
            </a:r>
          </a:p>
          <a:p>
            <a:pPr/>
          </a:p>
          <a:p>
            <a:pPr/>
            <a:r>
              <a:t>CIRCULATE WITH ONE QUESTION: "is that a substitution or a rearrangement, and which one is this question asking for?"</a:t>
            </a:r>
          </a:p>
          <a:p>
            <a:pPr/>
          </a:p>
          <a:p>
            <a:pPr/>
            <a:r>
              <a:t>AT 3 MINUTES REMAINING, stop them. Answers for these two tiers are on the next slide.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5" name="Shape 3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ANSWERS — 3 minutes. Three clicks, two at a time. They mark their own in a different colour.</a:t>
            </a:r>
          </a:p>
          <a:p>
            <a:pPr/>
          </a:p>
          <a:p>
            <a:pPr/>
            <a:r>
              <a:t>ONLY BRONZE AND SILVER (worksheet Q1-6) are here. Gold answers come after the break, at the true end of the worksheet.</a:t>
            </a:r>
          </a:p>
          <a:p>
            <a:pPr/>
          </a:p>
          <a:p>
            <a:pPr/>
            <a:r>
              <a:t>Q6 has no number — mark it on reasoning: does it name the field, not the object, as what g belongs to?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5" name="Shape 3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RECAP — 3 minutes. Not the lesson’s plenary — that comes at the true end, after Period 3. This is a light checkpoint before a real break.</a:t>
            </a:r>
          </a:p>
          <a:p>
            <a:pPr/>
          </a:p>
          <a:p>
            <a:pPr/>
            <a:r>
              <a:t>Three quick answers, out loud, no writing. If any of these three is shaky, say so before they leave — Period 3’s Do Now retrieves all three anyway, but do not let a wrong answer sit uncorrected for 20 minutes.</a:t>
            </a:r>
          </a:p>
          <a:p>
            <a:pPr/>
          </a:p>
          <a:p>
            <a:pPr/>
            <a:r>
              <a:t>THEN: real break. Not a slide. Let them go.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6" name="Shape 3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PERIOD 3, DO NOW — 10 minutes. Six clicks.</a:t>
            </a:r>
          </a:p>
          <a:p>
            <a:pPr/>
          </a:p>
          <a:p>
            <a:pPr/>
            <a:r>
              <a:t>ALL SIX RETRIEVE PERIOD 2, on purpose — a real 20-minute break is enough to lose the thread. Do not skip this because "we just did it before break".</a:t>
            </a:r>
          </a:p>
          <a:p>
            <a:pPr/>
          </a:p>
          <a:p>
            <a:pPr/>
            <a:r>
              <a:t>IF Q4 (g does not depend on mass) IS SHAKY, reteach it here with the field diagram before starting free fall — everything this period assumes it landed.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2" name="Shape 4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TODAY — 1 minute. Four clicks. The banner is this afternoon’s whole argument, said up front.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4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3" name="Shape 4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HOOK — 2 minutes. Four clicks.</a:t>
            </a:r>
          </a:p>
          <a:p>
            <a:pPr/>
          </a:p>
          <a:p>
            <a:pPr/>
            <a:r>
              <a:t>ANSWER: C. Both feel the same downward acceleration g, regardless of any sideways motion. This is the Galileo result, and it only holds because we are ignoring air resistance — say that explicitly.</a:t>
            </a:r>
          </a:p>
          <a:p>
            <a:pPr/>
          </a:p>
          <a:p>
            <a:pPr/>
            <a:r>
              <a:t>DO NOT GET DRAWN INTO A DISCUSSION OF AIR RESISTANCE. "That is a real effect, and it is a different topic" is the whole answer if it comes up.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4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6" name="Shape 4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Four clicks.</a:t>
            </a:r>
          </a:p>
          <a:p>
            <a:pPr/>
          </a:p>
          <a:p>
            <a:pPr/>
            <a:r>
              <a:t>"IGNORE AIR RESISTANCE" goes on the board, said out loud, every single time free fall comes up today. It is not a throwaway phrase — it is the condition that makes step 3 true.</a:t>
            </a:r>
          </a:p>
          <a:p>
            <a:pPr/>
          </a:p>
          <a:p>
            <a:pPr/>
            <a:r>
              <a:t>STEP 3 ANSWERS THE HOOK properly: same g for both balls, so same vertical acceleration, so same time to fall, whatever the sideways speed.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4" name="Shape 4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Four clicks.</a:t>
            </a:r>
          </a:p>
          <a:p>
            <a:pPr/>
          </a:p>
          <a:p>
            <a:pPr/>
            <a:r>
              <a:t>THIS IS THE PROOF FOR OBJECTIVE 3. Write it on the board alongside the slide — the algebra is short enough that copying it themselves matters more than watching it appear.</a:t>
            </a:r>
          </a:p>
          <a:p>
            <a:pPr/>
          </a:p>
          <a:p>
            <a:pPr/>
            <a:r>
              <a:t>STEP 1 IS FROM AN EARLIER TOPIC (forces). If F = ma has not landed yet, this whole proof will not either — check before going further.</a:t>
            </a:r>
          </a:p>
          <a:p>
            <a:pPr/>
          </a:p>
          <a:p>
            <a:pPr/>
            <a:r>
              <a:t>THE PAYOFF: g can be written either way, and neither is "more correct". N/kg when talking about a field, m/s² when talking about an acceleration.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5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3" name="Shape 5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DO — 5 minutes. Four clicks. Take answers from the room first.</a:t>
            </a:r>
          </a:p>
          <a:p>
            <a:pPr/>
          </a:p>
          <a:p>
            <a:pPr/>
            <a:r>
              <a:t>ROW 2 IS TODAY’S SUBSTITUTION SLIP — the same "added instead of multiplied" mistake as Period 2’s We Do, now inside SUVAT instead of W = mg. Name the pattern: "this is the same kind of mistake as this morning, just in a new equation."</a:t>
            </a:r>
          </a:p>
          <a:p>
            <a:pPr/>
          </a:p>
          <a:p>
            <a:pPr/>
            <a:r>
              <a:t>ROW 3 EXTENDS PERIOD 2’S IDEA (g does not depend on mass) into motion: it is the reason free-fall time does not depend on mass either.</a:t>
            </a:r>
          </a:p>
          <a:p>
            <a:pPr/>
          </a:p>
          <a:p>
            <a:pPr/>
            <a:r>
              <a:t>ROW 4 IS A UNITS-ORDER SLIP, not a new idea — quick to fix, worth catching.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2" name="Shape 5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COLD CALL — 6 minutes. Six clicks. Name a student, then ask. Thinking time before the answer.</a:t>
            </a:r>
          </a:p>
          <a:p>
            <a:pPr/>
          </a:p>
          <a:p>
            <a:pPr/>
            <a:r>
              <a:t>Q3 AND Q4 ARE THE FIRST TIMED SUVAT-STYLE CALCULATIONS today — both use u = 0, so the substitution is as simple as it gets. Save the harder versions for the worksheet.</a:t>
            </a:r>
          </a:p>
          <a:p>
            <a:pPr/>
          </a:p>
          <a:p>
            <a:pPr/>
            <a:r>
              <a:t>Q5 CHECKS UNDERSTANDING, not just the phrase — accept anything that says real objects would fall differently without it.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3" name="Shape 5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DO — 14 minutes. Four clicks.</a:t>
            </a:r>
          </a:p>
          <a:p>
            <a:pPr/>
          </a:p>
          <a:p>
            <a:pPr/>
            <a:r>
              <a:t>GOLD ONLY — they should already have Bronze and Silver done from Period 2. Anyone who does not, give them the first five minutes to finish those instead; Gold can wait.</a:t>
            </a:r>
          </a:p>
          <a:p>
            <a:pPr/>
          </a:p>
          <a:p>
            <a:pPr/>
            <a:r>
              <a:t>CIRCULATE WITH ONE QUESTION: "is that a substitution or a two-step problem?" — same framing as Period 2, new content.</a:t>
            </a:r>
          </a:p>
          <a:p>
            <a:pPr/>
          </a:p>
          <a:p>
            <a:pPr/>
            <a:r>
              <a:t>AT 3 MINUTES REMAINING, stop them. Full answers, Bronze through Gold, are on the next slide.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6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7" name="Shape 6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ANSWERS — 3 minutes. Two clicks. They mark their own in a different colour — this is the second and final Answers slide, covering Q7-10.</a:t>
            </a:r>
          </a:p>
          <a:p>
            <a:pPr/>
          </a:p>
          <a:p>
            <a:pPr/>
            <a:r>
              <a:t>Q8 ASSUMES Q7’S v IS NOT NEEDED — s uses u, a, t directly. If someone used v to find s, the answer can still be right; the method just took a longer route.</a:t>
            </a:r>
          </a:p>
          <a:p>
            <a:pPr/>
          </a:p>
          <a:p>
            <a:pPr/>
            <a:r>
              <a:t>Q9 AND Q10 have no single wording. Mark on whether the physics is right, not whether it matches this card.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Shape 6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6" name="Shape 6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PLENARY — 3 minutes. Six clicks. This is the true close of the double, not Period 2’s Recap.</a:t>
            </a:r>
          </a:p>
          <a:p>
            <a:pPr/>
          </a:p>
          <a:p>
            <a:pPr/>
            <a:r>
              <a:t>Q2 AND Q3 ARE THE TWO IDEAS THE WHOLE DOUBLE WAS BUILT AROUND. If either is wrong, that is the first five minutes of next lesson, not a footnote.</a:t>
            </a:r>
          </a:p>
          <a:p>
            <a:pPr/>
          </a:p>
          <a:p>
            <a:pPr/>
            <a:r>
              <a:t>Q5 CHECKS THE HOOK LANDED PROPERLY, not just the vocabulary — "at the same time" is the only fully correct answer; "FALSE" alone without knowing why is not enough.</a:t>
            </a:r>
          </a:p>
          <a:p>
            <a:pPr/>
          </a:p>
          <a:p>
            <a:pPr/>
            <a:r>
              <a:t>The closing line is the whole double in one sentence.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ideo" Target="../media/media1.mp4"/><Relationship Id="rId4" Type="http://schemas.microsoft.com/office/2007/relationships/media" Target="../media/media1.mp4"/><Relationship Id="rId5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video" Target="../media/media2.mp4"/><Relationship Id="rId4" Type="http://schemas.microsoft.com/office/2007/relationships/media" Target="../media/media2.mp4"/><Relationship Id="rId5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video" Target="../media/media3.mp4"/><Relationship Id="rId4" Type="http://schemas.microsoft.com/office/2007/relationships/media" Target="../media/media3.mp4"/><Relationship Id="rId5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video" Target="../media/media5.mp4"/><Relationship Id="rId4" Type="http://schemas.microsoft.com/office/2007/relationships/media" Target="../media/media5.mp4"/><Relationship Id="rId5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video" Target="../media/media6.mp4"/><Relationship Id="rId4" Type="http://schemas.microsoft.com/office/2007/relationships/media" Target="../media/media6.mp4"/><Relationship Id="rId5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video" Target="../media/media7.mp4"/><Relationship Id="rId4" Type="http://schemas.microsoft.com/office/2007/relationships/media" Target="../media/media7.mp4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video" Target="../media/media1.mp4"/><Relationship Id="rId4" Type="http://schemas.microsoft.com/office/2007/relationships/media" Target="../media/media1.mp4"/><Relationship Id="rId5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video" Target="../media/media2.mp4"/><Relationship Id="rId4" Type="http://schemas.microsoft.com/office/2007/relationships/media" Target="../media/media2.mp4"/><Relationship Id="rId5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video" Target="../media/media3.mp4"/><Relationship Id="rId4" Type="http://schemas.microsoft.com/office/2007/relationships/media" Target="../media/media3.mp4"/><Relationship Id="rId5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video" Target="../media/media5.mp4"/><Relationship Id="rId4" Type="http://schemas.microsoft.com/office/2007/relationships/media" Target="../media/media5.mp4"/><Relationship Id="rId5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video" Target="../media/media6.mp4"/><Relationship Id="rId4" Type="http://schemas.microsoft.com/office/2007/relationships/media" Target="../media/media6.mp4"/><Relationship Id="rId5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video" Target="../media/media7.mp4"/><Relationship Id="rId4" Type="http://schemas.microsoft.com/office/2007/relationships/media" Target="../media/media7.mp4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video" Target="../media/media8.mp4"/><Relationship Id="rId4" Type="http://schemas.microsoft.com/office/2007/relationships/media" Target="../media/media8.mp4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1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2" name="DO NOW · 10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DO NOW · 10 MIN</a:t>
              </a:r>
            </a:p>
          </p:txBody>
        </p:sp>
      </p:grpSp>
      <p:sp>
        <p:nvSpPr>
          <p:cNvPr id="24" name="lesson_title"/>
          <p:cNvSpPr txBox="1"/>
          <p:nvPr/>
        </p:nvSpPr>
        <p:spPr>
          <a:xfrm>
            <a:off x="2926079" y="344170"/>
            <a:ext cx="630936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Gravitational Fields and Free Fall</a:t>
            </a:r>
          </a:p>
        </p:txBody>
      </p:sp>
      <p:sp>
        <p:nvSpPr>
          <p:cNvPr id="25" name="lesson_date"/>
          <p:cNvSpPr txBox="1"/>
          <p:nvPr/>
        </p:nvSpPr>
        <p:spPr>
          <a:xfrm>
            <a:off x="8534095" y="382938"/>
            <a:ext cx="310896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300">
                <a:solidFill>
                  <a:srgbClr val="5A64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Tuesday 22 September 2026</a:t>
            </a:r>
          </a:p>
        </p:txBody>
      </p:sp>
      <p:sp>
        <p:nvSpPr>
          <p:cNvPr id="26" name="rule"/>
          <p:cNvSpPr/>
          <p:nvPr/>
        </p:nvSpPr>
        <p:spPr>
          <a:xfrm>
            <a:off x="1170432" y="896111"/>
            <a:ext cx="10472623" cy="36577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d0_bg"/>
          <p:cNvSpPr/>
          <p:nvPr/>
        </p:nvSpPr>
        <p:spPr>
          <a:xfrm>
            <a:off x="1170432" y="1133855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d0_badge"/>
          <p:cNvSpPr/>
          <p:nvPr/>
        </p:nvSpPr>
        <p:spPr>
          <a:xfrm>
            <a:off x="1371600" y="1298447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d0_num"/>
          <p:cNvSpPr txBox="1"/>
          <p:nvPr/>
        </p:nvSpPr>
        <p:spPr>
          <a:xfrm>
            <a:off x="1371600" y="1388871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" name="d0_q"/>
          <p:cNvSpPr txBox="1"/>
          <p:nvPr/>
        </p:nvSpPr>
        <p:spPr>
          <a:xfrm>
            <a:off x="1901951" y="1356927"/>
            <a:ext cx="4166465" cy="52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the relationship between mass and weight?</a:t>
            </a:r>
          </a:p>
        </p:txBody>
      </p:sp>
      <p:grpSp>
        <p:nvGrpSpPr>
          <p:cNvPr id="33" name="d0_a"/>
          <p:cNvGrpSpPr/>
          <p:nvPr/>
        </p:nvGrpSpPr>
        <p:grpSpPr>
          <a:xfrm>
            <a:off x="1371600" y="2048255"/>
            <a:ext cx="4696817" cy="438914"/>
            <a:chOff x="0" y="0"/>
            <a:chExt cx="4696816" cy="438912"/>
          </a:xfrm>
        </p:grpSpPr>
        <p:sp>
          <p:nvSpPr>
            <p:cNvPr id="31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2" name="Weight = mass × g.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Weight = mass × g.</a:t>
              </a:r>
            </a:p>
          </p:txBody>
        </p:sp>
      </p:grpSp>
      <p:sp>
        <p:nvSpPr>
          <p:cNvPr id="34" name="d1_bg"/>
          <p:cNvSpPr/>
          <p:nvPr/>
        </p:nvSpPr>
        <p:spPr>
          <a:xfrm>
            <a:off x="6543903" y="1133855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d1_badge"/>
          <p:cNvSpPr/>
          <p:nvPr/>
        </p:nvSpPr>
        <p:spPr>
          <a:xfrm>
            <a:off x="6745072" y="1298447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d1_num"/>
          <p:cNvSpPr txBox="1"/>
          <p:nvPr/>
        </p:nvSpPr>
        <p:spPr>
          <a:xfrm>
            <a:off x="6745072" y="1388871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" name="d1_q"/>
          <p:cNvSpPr txBox="1"/>
          <p:nvPr/>
        </p:nvSpPr>
        <p:spPr>
          <a:xfrm>
            <a:off x="7275424" y="1490277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g near the Earth’s surface?</a:t>
            </a:r>
          </a:p>
        </p:txBody>
      </p:sp>
      <p:grpSp>
        <p:nvGrpSpPr>
          <p:cNvPr id="40" name="d1_a"/>
          <p:cNvGrpSpPr/>
          <p:nvPr/>
        </p:nvGrpSpPr>
        <p:grpSpPr>
          <a:xfrm>
            <a:off x="6745072" y="2048255"/>
            <a:ext cx="4696817" cy="438914"/>
            <a:chOff x="0" y="0"/>
            <a:chExt cx="4696816" cy="438912"/>
          </a:xfrm>
        </p:grpSpPr>
        <p:sp>
          <p:nvSpPr>
            <p:cNvPr id="38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9" name="About 9.8 N/kg.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About 9.8 N/kg.</a:t>
              </a:r>
            </a:p>
          </p:txBody>
        </p:sp>
      </p:grpSp>
      <p:sp>
        <p:nvSpPr>
          <p:cNvPr id="41" name="d2_bg"/>
          <p:cNvSpPr/>
          <p:nvPr/>
        </p:nvSpPr>
        <p:spPr>
          <a:xfrm>
            <a:off x="1170432" y="2798064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d2_badge"/>
          <p:cNvSpPr/>
          <p:nvPr/>
        </p:nvSpPr>
        <p:spPr>
          <a:xfrm>
            <a:off x="1371600" y="2962655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d2_num"/>
          <p:cNvSpPr txBox="1"/>
          <p:nvPr/>
        </p:nvSpPr>
        <p:spPr>
          <a:xfrm>
            <a:off x="1371600" y="3053079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" name="d2_q"/>
          <p:cNvSpPr txBox="1"/>
          <p:nvPr/>
        </p:nvSpPr>
        <p:spPr>
          <a:xfrm>
            <a:off x="1901951" y="3154485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Find the weight of a 5 kg mass.</a:t>
            </a:r>
          </a:p>
        </p:txBody>
      </p:sp>
      <p:grpSp>
        <p:nvGrpSpPr>
          <p:cNvPr id="47" name="d2_a"/>
          <p:cNvGrpSpPr/>
          <p:nvPr/>
        </p:nvGrpSpPr>
        <p:grpSpPr>
          <a:xfrm>
            <a:off x="1371600" y="3712464"/>
            <a:ext cx="4696817" cy="438913"/>
            <a:chOff x="0" y="0"/>
            <a:chExt cx="4696816" cy="438912"/>
          </a:xfrm>
        </p:grpSpPr>
        <p:sp>
          <p:nvSpPr>
            <p:cNvPr id="45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46" name="5 × 9.8 = 49 N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5 × 9.8 = 49 N</a:t>
              </a:r>
            </a:p>
          </p:txBody>
        </p:sp>
      </p:grpSp>
      <p:sp>
        <p:nvSpPr>
          <p:cNvPr id="48" name="d3_bg"/>
          <p:cNvSpPr/>
          <p:nvPr/>
        </p:nvSpPr>
        <p:spPr>
          <a:xfrm>
            <a:off x="6543903" y="2798064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d3_badge"/>
          <p:cNvSpPr/>
          <p:nvPr/>
        </p:nvSpPr>
        <p:spPr>
          <a:xfrm>
            <a:off x="6745072" y="2962655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d3_num"/>
          <p:cNvSpPr txBox="1"/>
          <p:nvPr/>
        </p:nvSpPr>
        <p:spPr>
          <a:xfrm>
            <a:off x="6745072" y="3053079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1" name="d3_q"/>
          <p:cNvSpPr txBox="1"/>
          <p:nvPr/>
        </p:nvSpPr>
        <p:spPr>
          <a:xfrm>
            <a:off x="7275424" y="3154485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Find the mass of a 78.4 N weight.</a:t>
            </a:r>
          </a:p>
        </p:txBody>
      </p:sp>
      <p:grpSp>
        <p:nvGrpSpPr>
          <p:cNvPr id="54" name="d3_a"/>
          <p:cNvGrpSpPr/>
          <p:nvPr/>
        </p:nvGrpSpPr>
        <p:grpSpPr>
          <a:xfrm>
            <a:off x="6745072" y="3712464"/>
            <a:ext cx="4696817" cy="438913"/>
            <a:chOff x="0" y="0"/>
            <a:chExt cx="4696816" cy="438912"/>
          </a:xfrm>
        </p:grpSpPr>
        <p:sp>
          <p:nvSpPr>
            <p:cNvPr id="52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53" name="78.4 ÷ 9.8 = 8 kg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78.4 ÷ 9.8 = 8 kg</a:t>
              </a:r>
            </a:p>
          </p:txBody>
        </p:sp>
      </p:grpSp>
      <p:sp>
        <p:nvSpPr>
          <p:cNvPr id="55" name="d4_bg"/>
          <p:cNvSpPr/>
          <p:nvPr/>
        </p:nvSpPr>
        <p:spPr>
          <a:xfrm>
            <a:off x="1170432" y="4462271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d4_badge"/>
          <p:cNvSpPr/>
          <p:nvPr/>
        </p:nvSpPr>
        <p:spPr>
          <a:xfrm>
            <a:off x="1371600" y="4626864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d4_num"/>
          <p:cNvSpPr txBox="1"/>
          <p:nvPr/>
        </p:nvSpPr>
        <p:spPr>
          <a:xfrm>
            <a:off x="1371600" y="4717288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8" name="d4_q"/>
          <p:cNvSpPr txBox="1"/>
          <p:nvPr/>
        </p:nvSpPr>
        <p:spPr>
          <a:xfrm>
            <a:off x="1901951" y="4818693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the unit of mass?</a:t>
            </a:r>
          </a:p>
        </p:txBody>
      </p:sp>
      <p:grpSp>
        <p:nvGrpSpPr>
          <p:cNvPr id="61" name="d4_a"/>
          <p:cNvGrpSpPr/>
          <p:nvPr/>
        </p:nvGrpSpPr>
        <p:grpSpPr>
          <a:xfrm>
            <a:off x="1371600" y="5376671"/>
            <a:ext cx="4696817" cy="438913"/>
            <a:chOff x="0" y="0"/>
            <a:chExt cx="4696816" cy="438912"/>
          </a:xfrm>
        </p:grpSpPr>
        <p:sp>
          <p:nvSpPr>
            <p:cNvPr id="59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60" name="kg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kg</a:t>
              </a:r>
            </a:p>
          </p:txBody>
        </p:sp>
      </p:grpSp>
      <p:sp>
        <p:nvSpPr>
          <p:cNvPr id="62" name="d5_bg"/>
          <p:cNvSpPr/>
          <p:nvPr/>
        </p:nvSpPr>
        <p:spPr>
          <a:xfrm>
            <a:off x="6543903" y="4462271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d5_badge"/>
          <p:cNvSpPr/>
          <p:nvPr/>
        </p:nvSpPr>
        <p:spPr>
          <a:xfrm>
            <a:off x="6745072" y="4626864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d5_num"/>
          <p:cNvSpPr txBox="1"/>
          <p:nvPr/>
        </p:nvSpPr>
        <p:spPr>
          <a:xfrm>
            <a:off x="6745072" y="4717288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5" name="d5_q"/>
          <p:cNvSpPr txBox="1"/>
          <p:nvPr/>
        </p:nvSpPr>
        <p:spPr>
          <a:xfrm>
            <a:off x="7275424" y="4818693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the unit of weight?</a:t>
            </a:r>
          </a:p>
        </p:txBody>
      </p:sp>
      <p:grpSp>
        <p:nvGrpSpPr>
          <p:cNvPr id="68" name="d5_a"/>
          <p:cNvGrpSpPr/>
          <p:nvPr/>
        </p:nvGrpSpPr>
        <p:grpSpPr>
          <a:xfrm>
            <a:off x="6745072" y="5376671"/>
            <a:ext cx="4696817" cy="438913"/>
            <a:chOff x="0" y="0"/>
            <a:chExt cx="4696816" cy="438912"/>
          </a:xfrm>
        </p:grpSpPr>
        <p:sp>
          <p:nvSpPr>
            <p:cNvPr id="66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67" name="N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prevAc="none" nextAc="seek">
              <p:cTn id="38" evtFilter="cancelBubble" nodeType="interactiveSeq" restart="whenNotActive" fill="hold">
                <p:stCondLst>
                  <p:cond delay="0" evt="onClick">
                    <p:tgtEl>
                      <p:spTgt spid="20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build="whole" bldLvl="1" animBg="1" rev="0" advAuto="0" spid="33" grpId="2"/>
      <p:bldP build="whole" bldLvl="1" animBg="1" rev="0" advAuto="0" spid="40" grpId="3"/>
      <p:bldP build="whole" bldLvl="1" animBg="1" rev="0" advAuto="0" spid="54" grpId="5"/>
      <p:bldP build="whole" bldLvl="1" animBg="1" rev="0" advAuto="0" spid="61" grpId="6"/>
      <p:bldP build="whole" bldLvl="1" animBg="1" rev="0" advAuto="0" spid="68" grpId="7"/>
      <p:bldP build="whole" bldLvl="1" animBg="1" rev="0" advAuto="0" spid="47" grpId="4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5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73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74" name="TODAY · 1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TODAY · 1 MIN</a:t>
              </a:r>
            </a:p>
          </p:txBody>
        </p:sp>
      </p:grpSp>
      <p:sp>
        <p:nvSpPr>
          <p:cNvPr id="76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Learning Objectives</a:t>
            </a:r>
          </a:p>
        </p:txBody>
      </p:sp>
      <p:grpSp>
        <p:nvGrpSpPr>
          <p:cNvPr id="81" name="o0"/>
          <p:cNvGrpSpPr/>
          <p:nvPr/>
        </p:nvGrpSpPr>
        <p:grpSpPr>
          <a:xfrm>
            <a:off x="1170432" y="2194560"/>
            <a:ext cx="3307994" cy="1792224"/>
            <a:chOff x="0" y="0"/>
            <a:chExt cx="3307993" cy="1792223"/>
          </a:xfrm>
        </p:grpSpPr>
        <p:sp>
          <p:nvSpPr>
            <p:cNvPr id="77" name="o0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8" name="o0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" name="o0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0" name="o0_t"/>
            <p:cNvSpPr txBox="1"/>
            <p:nvPr/>
          </p:nvSpPr>
          <p:spPr>
            <a:xfrm>
              <a:off x="237744" y="713231"/>
              <a:ext cx="2832506" cy="751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b="1"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Describe weight as the effect of a gravitational field on a mass.</a:t>
              </a:r>
            </a:p>
          </p:txBody>
        </p:sp>
      </p:grpSp>
      <p:grpSp>
        <p:nvGrpSpPr>
          <p:cNvPr id="86" name="o1"/>
          <p:cNvGrpSpPr/>
          <p:nvPr/>
        </p:nvGrpSpPr>
        <p:grpSpPr>
          <a:xfrm>
            <a:off x="4752745" y="2194560"/>
            <a:ext cx="3307995" cy="1792224"/>
            <a:chOff x="0" y="0"/>
            <a:chExt cx="3307993" cy="1792223"/>
          </a:xfrm>
        </p:grpSpPr>
        <p:sp>
          <p:nvSpPr>
            <p:cNvPr id="82" name="o1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3" name="o1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" name="o1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5" name="o1_t"/>
            <p:cNvSpPr txBox="1"/>
            <p:nvPr/>
          </p:nvSpPr>
          <p:spPr>
            <a:xfrm>
              <a:off x="237744" y="713231"/>
              <a:ext cx="2832506" cy="497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b="1"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Say what g actually measures — the strength of that field.</a:t>
              </a:r>
            </a:p>
          </p:txBody>
        </p:sp>
      </p:grpSp>
      <p:grpSp>
        <p:nvGrpSpPr>
          <p:cNvPr id="91" name="o2"/>
          <p:cNvGrpSpPr/>
          <p:nvPr/>
        </p:nvGrpSpPr>
        <p:grpSpPr>
          <a:xfrm>
            <a:off x="8335061" y="2194560"/>
            <a:ext cx="3307994" cy="1792224"/>
            <a:chOff x="0" y="0"/>
            <a:chExt cx="3307993" cy="1792223"/>
          </a:xfrm>
        </p:grpSpPr>
        <p:sp>
          <p:nvSpPr>
            <p:cNvPr id="87" name="o2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1F2F6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" name="o2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9" name="o2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0" name="o2_t"/>
            <p:cNvSpPr txBox="1"/>
            <p:nvPr/>
          </p:nvSpPr>
          <p:spPr>
            <a:xfrm>
              <a:off x="237744" y="713231"/>
              <a:ext cx="2832506" cy="751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i="1" sz="15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This afternoon: g is also an acceleration, and why N/kg = m/s².</a:t>
              </a:r>
            </a:p>
          </p:txBody>
        </p:sp>
      </p:grpSp>
      <p:grpSp>
        <p:nvGrpSpPr>
          <p:cNvPr id="94" name="obj_banner"/>
          <p:cNvGrpSpPr/>
          <p:nvPr/>
        </p:nvGrpSpPr>
        <p:grpSpPr>
          <a:xfrm>
            <a:off x="1170432" y="4279391"/>
            <a:ext cx="10472623" cy="640081"/>
            <a:chOff x="0" y="0"/>
            <a:chExt cx="10472622" cy="640080"/>
          </a:xfrm>
        </p:grpSpPr>
        <p:sp>
          <p:nvSpPr>
            <p:cNvPr id="92" name="Rounded Rectangle"/>
            <p:cNvSpPr/>
            <p:nvPr/>
          </p:nvSpPr>
          <p:spPr>
            <a:xfrm>
              <a:off x="0" y="0"/>
              <a:ext cx="10472623" cy="640081"/>
            </a:xfrm>
            <a:prstGeom prst="roundRect">
              <a:avLst>
                <a:gd name="adj" fmla="val 17143"/>
              </a:avLst>
            </a:prstGeom>
            <a:solidFill>
              <a:srgbClr val="17203F"/>
            </a:solidFill>
            <a:ln w="9525" cap="flat">
              <a:solidFill>
                <a:srgbClr val="1720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500"/>
              </a:pPr>
            </a:p>
          </p:txBody>
        </p:sp>
        <p:sp>
          <p:nvSpPr>
            <p:cNvPr id="93" name="A field is a region where force can be felt."/>
            <p:cNvSpPr txBox="1"/>
            <p:nvPr/>
          </p:nvSpPr>
          <p:spPr>
            <a:xfrm>
              <a:off x="36901" y="215206"/>
              <a:ext cx="10398821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500">
                  <a:solidFill>
                    <a:srgbClr val="FF8A3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field is a region where force can be felt.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8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seq concurrent="1" prevAc="none" nextAc="seek">
              <p:cTn id="29" evtFilter="cancelBubble" nodeType="interactiveSeq" restart="whenNotActive" fill="hold">
                <p:stCondLst>
                  <p:cond delay="0" evt="onClick">
                    <p:tgtEl>
                      <p:spTgt spid="7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3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build="whole" bldLvl="1" animBg="1" rev="0" advAuto="0" spid="81" grpId="2"/>
      <p:bldP build="whole" bldLvl="1" animBg="1" rev="0" advAuto="0" spid="86" grpId="3"/>
      <p:bldP build="whole" bldLvl="1" animBg="1" rev="0" advAuto="0" spid="91" grpId="4"/>
      <p:bldP build="whole" bldLvl="1" animBg="1" rev="0" advAuto="0" spid="94" grpId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1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99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00" name="HOOK · 2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HOOK · 2 MIN</a:t>
              </a:r>
            </a:p>
          </p:txBody>
        </p:sp>
      </p:grpSp>
      <p:sp>
        <p:nvSpPr>
          <p:cNvPr id="102" name="slide_title"/>
          <p:cNvSpPr txBox="1"/>
          <p:nvPr/>
        </p:nvSpPr>
        <p:spPr>
          <a:xfrm>
            <a:off x="1170432" y="838843"/>
            <a:ext cx="10472623" cy="900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600"/>
              </a:lnSpc>
              <a:defRPr b="1" sz="28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Astronauts on the Moon can jump much higher than on Earth.</a:t>
            </a:r>
          </a:p>
        </p:txBody>
      </p:sp>
      <p:sp>
        <p:nvSpPr>
          <p:cNvPr id="103" name="slide_sub"/>
          <p:cNvSpPr txBox="1"/>
          <p:nvPr/>
        </p:nvSpPr>
        <p:spPr>
          <a:xfrm>
            <a:off x="1170432" y="1872925"/>
            <a:ext cx="10472623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5A64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Why?</a:t>
            </a:r>
          </a:p>
        </p:txBody>
      </p:sp>
      <p:grpSp>
        <p:nvGrpSpPr>
          <p:cNvPr id="107" name="h0"/>
          <p:cNvGrpSpPr/>
          <p:nvPr/>
        </p:nvGrpSpPr>
        <p:grpSpPr>
          <a:xfrm>
            <a:off x="1170432" y="2487167"/>
            <a:ext cx="3307994" cy="1554481"/>
            <a:chOff x="0" y="0"/>
            <a:chExt cx="3307993" cy="1554480"/>
          </a:xfrm>
        </p:grpSpPr>
        <p:sp>
          <p:nvSpPr>
            <p:cNvPr id="104" name="h0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" name="h0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6" name="h0_t"/>
            <p:cNvSpPr txBox="1"/>
            <p:nvPr/>
          </p:nvSpPr>
          <p:spPr>
            <a:xfrm>
              <a:off x="256032" y="854533"/>
              <a:ext cx="2795930" cy="2477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000"/>
                </a:lnSpc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They are stronger there.</a:t>
              </a:r>
            </a:p>
          </p:txBody>
        </p:sp>
      </p:grpSp>
      <p:grpSp>
        <p:nvGrpSpPr>
          <p:cNvPr id="111" name="h1"/>
          <p:cNvGrpSpPr/>
          <p:nvPr/>
        </p:nvGrpSpPr>
        <p:grpSpPr>
          <a:xfrm>
            <a:off x="4752745" y="2487167"/>
            <a:ext cx="3307995" cy="1554481"/>
            <a:chOff x="0" y="0"/>
            <a:chExt cx="3307993" cy="1554480"/>
          </a:xfrm>
        </p:grpSpPr>
        <p:sp>
          <p:nvSpPr>
            <p:cNvPr id="108" name="h1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9" name="h1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0" name="h1_t"/>
            <p:cNvSpPr txBox="1"/>
            <p:nvPr/>
          </p:nvSpPr>
          <p:spPr>
            <a:xfrm>
              <a:off x="256032" y="854533"/>
              <a:ext cx="2795930" cy="2477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000"/>
                </a:lnSpc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Their weight is less.</a:t>
              </a:r>
            </a:p>
          </p:txBody>
        </p:sp>
      </p:grpSp>
      <p:grpSp>
        <p:nvGrpSpPr>
          <p:cNvPr id="115" name="h2"/>
          <p:cNvGrpSpPr/>
          <p:nvPr/>
        </p:nvGrpSpPr>
        <p:grpSpPr>
          <a:xfrm>
            <a:off x="8335061" y="2487167"/>
            <a:ext cx="3307994" cy="1554481"/>
            <a:chOff x="0" y="0"/>
            <a:chExt cx="3307993" cy="1554480"/>
          </a:xfrm>
        </p:grpSpPr>
        <p:sp>
          <p:nvSpPr>
            <p:cNvPr id="112" name="h2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3" name="h2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4" name="h2_t"/>
            <p:cNvSpPr txBox="1"/>
            <p:nvPr/>
          </p:nvSpPr>
          <p:spPr>
            <a:xfrm>
              <a:off x="256032" y="727533"/>
              <a:ext cx="2795930" cy="5017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000"/>
                </a:lnSpc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There is no gravity on the Moon.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0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0" fill="hold" display="0">
                  <p:stCondLst>
                    <p:cond delay="indefinite"/>
                  </p:stCondLst>
                </p:cTn>
                <p:tgtEl>
                  <p:spTgt spid="98"/>
                </p:tgtEl>
              </p:cMediaNode>
            </p:video>
            <p:seq concurrent="1" prevAc="none" nextAc="seek">
              <p:cTn id="21" evtFilter="cancelBubble" nodeType="interactiveSeq" restart="whenNotActive" fill="hold">
                <p:stCondLst>
                  <p:cond delay="0" evt="onClick">
                    <p:tgtEl>
                      <p:spTgt spid="9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" dur="1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98"/>
                  </p:tgtEl>
                </p:cond>
              </p:nextCondLst>
            </p:seq>
          </p:childTnLst>
        </p:cTn>
      </p:par>
    </p:tnLst>
    <p:bldLst>
      <p:bldP build="whole" bldLvl="1" animBg="1" rev="0" advAuto="0" spid="115" grpId="4"/>
      <p:bldP build="whole" bldLvl="1" animBg="1" rev="0" advAuto="0" spid="107" grpId="2"/>
      <p:bldP build="whole" bldLvl="1" animBg="1" rev="0" advAuto="0" spid="111" grpId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2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120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21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123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Weight is a field effect</a:t>
            </a:r>
          </a:p>
        </p:txBody>
      </p:sp>
      <p:grpSp>
        <p:nvGrpSpPr>
          <p:cNvPr id="134" name="fd1_diagram"/>
          <p:cNvGrpSpPr/>
          <p:nvPr/>
        </p:nvGrpSpPr>
        <p:grpSpPr>
          <a:xfrm>
            <a:off x="1170431" y="3246120"/>
            <a:ext cx="4206242" cy="2058164"/>
            <a:chOff x="0" y="0"/>
            <a:chExt cx="4206240" cy="2058162"/>
          </a:xfrm>
        </p:grpSpPr>
        <p:sp>
          <p:nvSpPr>
            <p:cNvPr id="124" name="fd1_ground"/>
            <p:cNvSpPr/>
            <p:nvPr/>
          </p:nvSpPr>
          <p:spPr>
            <a:xfrm>
              <a:off x="0" y="1737360"/>
              <a:ext cx="4206241" cy="91441"/>
            </a:xfrm>
            <a:prstGeom prst="rect">
              <a:avLst/>
            </a:prstGeom>
            <a:solidFill>
              <a:srgbClr val="5A6480"/>
            </a:solidFill>
            <a:ln w="12700" cap="flat">
              <a:solidFill>
                <a:srgbClr val="5A64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5" name="fd1_ground_lbl"/>
            <p:cNvSpPr txBox="1"/>
            <p:nvPr/>
          </p:nvSpPr>
          <p:spPr>
            <a:xfrm>
              <a:off x="0" y="1910333"/>
              <a:ext cx="420624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Earth’s surface</a:t>
              </a:r>
            </a:p>
          </p:txBody>
        </p:sp>
        <p:sp>
          <p:nvSpPr>
            <p:cNvPr id="126" name="fd1_fld0"/>
            <p:cNvSpPr/>
            <p:nvPr/>
          </p:nvSpPr>
          <p:spPr>
            <a:xfrm rot="5400000">
              <a:off x="68580" y="779525"/>
              <a:ext cx="1600201" cy="4115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DE2F0"/>
            </a:solidFill>
            <a:ln w="12700" cap="flat">
              <a:solidFill>
                <a:srgbClr val="DDE2F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7" name="fd1_fld1"/>
            <p:cNvSpPr/>
            <p:nvPr/>
          </p:nvSpPr>
          <p:spPr>
            <a:xfrm rot="5400000">
              <a:off x="525780" y="779525"/>
              <a:ext cx="1600201" cy="4115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DE2F0"/>
            </a:solidFill>
            <a:ln w="12700" cap="flat">
              <a:solidFill>
                <a:srgbClr val="DDE2F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8" name="fd1_fld2"/>
            <p:cNvSpPr/>
            <p:nvPr/>
          </p:nvSpPr>
          <p:spPr>
            <a:xfrm rot="5400000">
              <a:off x="2080260" y="779525"/>
              <a:ext cx="1600201" cy="4115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DE2F0"/>
            </a:solidFill>
            <a:ln w="12700" cap="flat">
              <a:solidFill>
                <a:srgbClr val="DDE2F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9" name="fd1_fld3"/>
            <p:cNvSpPr/>
            <p:nvPr/>
          </p:nvSpPr>
          <p:spPr>
            <a:xfrm rot="5400000">
              <a:off x="2537460" y="779525"/>
              <a:ext cx="1600201" cy="4115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DE2F0"/>
            </a:solidFill>
            <a:ln w="12700" cap="flat">
              <a:solidFill>
                <a:srgbClr val="DDE2F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0" name="fd1_mass"/>
            <p:cNvSpPr/>
            <p:nvPr/>
          </p:nvSpPr>
          <p:spPr>
            <a:xfrm>
              <a:off x="1600200" y="502920"/>
              <a:ext cx="1005841" cy="566928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20320" cap="flat">
              <a:solidFill>
                <a:srgbClr val="1720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1" name="fd1_mass_t"/>
            <p:cNvSpPr txBox="1"/>
            <p:nvPr/>
          </p:nvSpPr>
          <p:spPr>
            <a:xfrm>
              <a:off x="1600200" y="693834"/>
              <a:ext cx="1005841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mass</a:t>
              </a:r>
            </a:p>
          </p:txBody>
        </p:sp>
        <p:sp>
          <p:nvSpPr>
            <p:cNvPr id="132" name="fd1_weight"/>
            <p:cNvSpPr/>
            <p:nvPr/>
          </p:nvSpPr>
          <p:spPr>
            <a:xfrm rot="5400000">
              <a:off x="1805940" y="1353312"/>
              <a:ext cx="594361" cy="822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3" name="fd1_weight_lbl"/>
            <p:cNvSpPr txBox="1"/>
            <p:nvPr/>
          </p:nvSpPr>
          <p:spPr>
            <a:xfrm>
              <a:off x="2286000" y="1303480"/>
              <a:ext cx="1828801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200">
                  <a:solidFill>
                    <a:srgbClr val="C25A1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weight (the force)</a:t>
              </a:r>
            </a:p>
          </p:txBody>
        </p:sp>
      </p:grpSp>
      <p:grpSp>
        <p:nvGrpSpPr>
          <p:cNvPr id="139" name="fw_0"/>
          <p:cNvGrpSpPr/>
          <p:nvPr/>
        </p:nvGrpSpPr>
        <p:grpSpPr>
          <a:xfrm>
            <a:off x="6016752" y="2194560"/>
            <a:ext cx="5626304" cy="1005840"/>
            <a:chOff x="0" y="0"/>
            <a:chExt cx="5626303" cy="1005839"/>
          </a:xfrm>
        </p:grpSpPr>
        <p:sp>
          <p:nvSpPr>
            <p:cNvPr id="135" name="fw_0_bg"/>
            <p:cNvSpPr/>
            <p:nvPr/>
          </p:nvSpPr>
          <p:spPr>
            <a:xfrm>
              <a:off x="0" y="0"/>
              <a:ext cx="5626304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6" name="fw_0_n"/>
            <p:cNvSpPr txBox="1"/>
            <p:nvPr/>
          </p:nvSpPr>
          <p:spPr>
            <a:xfrm>
              <a:off x="201168" y="369569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37" name="fw_0_e"/>
            <p:cNvSpPr txBox="1"/>
            <p:nvPr/>
          </p:nvSpPr>
          <p:spPr>
            <a:xfrm>
              <a:off x="585216" y="201244"/>
              <a:ext cx="4821632" cy="2375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 gravitational field surrounds any mass.</a:t>
              </a:r>
            </a:p>
          </p:txBody>
        </p:sp>
        <p:sp>
          <p:nvSpPr>
            <p:cNvPr id="138" name="fw_0_t"/>
            <p:cNvSpPr txBox="1"/>
            <p:nvPr/>
          </p:nvSpPr>
          <p:spPr>
            <a:xfrm>
              <a:off x="585216" y="666402"/>
              <a:ext cx="4821632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Earth has one. So do you, albeit it is too weak to notice.</a:t>
              </a:r>
            </a:p>
          </p:txBody>
        </p:sp>
      </p:grpSp>
      <p:grpSp>
        <p:nvGrpSpPr>
          <p:cNvPr id="144" name="fw_1"/>
          <p:cNvGrpSpPr/>
          <p:nvPr/>
        </p:nvGrpSpPr>
        <p:grpSpPr>
          <a:xfrm>
            <a:off x="6016752" y="3383279"/>
            <a:ext cx="5626304" cy="1005841"/>
            <a:chOff x="0" y="0"/>
            <a:chExt cx="5626303" cy="1005839"/>
          </a:xfrm>
        </p:grpSpPr>
        <p:sp>
          <p:nvSpPr>
            <p:cNvPr id="140" name="fw_1_bg"/>
            <p:cNvSpPr/>
            <p:nvPr/>
          </p:nvSpPr>
          <p:spPr>
            <a:xfrm>
              <a:off x="0" y="0"/>
              <a:ext cx="5626304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1" name="fw_1_n"/>
            <p:cNvSpPr txBox="1"/>
            <p:nvPr/>
          </p:nvSpPr>
          <p:spPr>
            <a:xfrm>
              <a:off x="201168" y="369569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42" name="fw_1_e"/>
            <p:cNvSpPr txBox="1"/>
            <p:nvPr/>
          </p:nvSpPr>
          <p:spPr>
            <a:xfrm>
              <a:off x="585216" y="201244"/>
              <a:ext cx="4821632" cy="2375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Put a second mass in that field...</a:t>
              </a:r>
            </a:p>
          </p:txBody>
        </p:sp>
        <p:sp>
          <p:nvSpPr>
            <p:cNvPr id="143" name="fw_1_t"/>
            <p:cNvSpPr txBox="1"/>
            <p:nvPr/>
          </p:nvSpPr>
          <p:spPr>
            <a:xfrm>
              <a:off x="585216" y="666402"/>
              <a:ext cx="4821632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It feels a pull. That pull is a force.</a:t>
              </a:r>
            </a:p>
          </p:txBody>
        </p:sp>
      </p:grpSp>
      <p:grpSp>
        <p:nvGrpSpPr>
          <p:cNvPr id="149" name="fw_2"/>
          <p:cNvGrpSpPr/>
          <p:nvPr/>
        </p:nvGrpSpPr>
        <p:grpSpPr>
          <a:xfrm>
            <a:off x="6016752" y="4572000"/>
            <a:ext cx="5626304" cy="1005840"/>
            <a:chOff x="0" y="0"/>
            <a:chExt cx="5626303" cy="1005839"/>
          </a:xfrm>
        </p:grpSpPr>
        <p:sp>
          <p:nvSpPr>
            <p:cNvPr id="145" name="fw_2_bg"/>
            <p:cNvSpPr/>
            <p:nvPr/>
          </p:nvSpPr>
          <p:spPr>
            <a:xfrm>
              <a:off x="0" y="0"/>
              <a:ext cx="5626304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6" name="fw_2_n"/>
            <p:cNvSpPr txBox="1"/>
            <p:nvPr/>
          </p:nvSpPr>
          <p:spPr>
            <a:xfrm>
              <a:off x="201168" y="369569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47" name="fw_2_e"/>
            <p:cNvSpPr txBox="1"/>
            <p:nvPr/>
          </p:nvSpPr>
          <p:spPr>
            <a:xfrm>
              <a:off x="585216" y="201244"/>
              <a:ext cx="4821632" cy="2375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That force is called weight.</a:t>
              </a:r>
            </a:p>
          </p:txBody>
        </p:sp>
        <p:sp>
          <p:nvSpPr>
            <p:cNvPr id="148" name="fw_2_t"/>
            <p:cNvSpPr txBox="1"/>
            <p:nvPr/>
          </p:nvSpPr>
          <p:spPr>
            <a:xfrm>
              <a:off x="585216" y="666402"/>
              <a:ext cx="4821632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It can only be experienced in a suitable field.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7" fill="hold" display="0">
                  <p:stCondLst>
                    <p:cond delay="indefinite"/>
                  </p:stCondLst>
                </p:cTn>
                <p:tgtEl>
                  <p:spTgt spid="119"/>
                </p:tgtEl>
              </p:cMediaNode>
            </p:video>
            <p:seq concurrent="1" prevAc="none" nextAc="seek">
              <p:cTn id="28" evtFilter="cancelBubble" nodeType="interactiveSeq" restart="whenNotActive" fill="hold">
                <p:stCondLst>
                  <p:cond delay="0" evt="onClick">
                    <p:tgtEl>
                      <p:spTgt spid="11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19"/>
                  </p:tgtEl>
                </p:cond>
              </p:nextCondLst>
            </p:seq>
          </p:childTnLst>
        </p:cTn>
      </p:par>
    </p:tnLst>
    <p:bldLst>
      <p:bldP build="whole" bldLvl="1" animBg="1" rev="0" advAuto="0" spid="139" grpId="3"/>
      <p:bldP build="whole" bldLvl="1" animBg="1" rev="0" advAuto="0" spid="144" grpId="4"/>
      <p:bldP build="whole" bldLvl="1" animBg="1" rev="0" advAuto="0" spid="134" grpId="2"/>
      <p:bldP build="whole" bldLvl="1" animBg="1" rev="0" advAuto="0" spid="149" grpId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6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154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55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157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 is the strength of the field</a:t>
            </a:r>
          </a:p>
        </p:txBody>
      </p:sp>
      <p:grpSp>
        <p:nvGrpSpPr>
          <p:cNvPr id="162" name="gf_0"/>
          <p:cNvGrpSpPr/>
          <p:nvPr/>
        </p:nvGrpSpPr>
        <p:grpSpPr>
          <a:xfrm>
            <a:off x="1170432" y="2194560"/>
            <a:ext cx="10472623" cy="786385"/>
            <a:chOff x="0" y="0"/>
            <a:chExt cx="10472622" cy="786384"/>
          </a:xfrm>
        </p:grpSpPr>
        <p:sp>
          <p:nvSpPr>
            <p:cNvPr id="158" name="gf_0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9" name="gf_0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60" name="gf_0_e"/>
            <p:cNvSpPr txBox="1"/>
            <p:nvPr/>
          </p:nvSpPr>
          <p:spPr>
            <a:xfrm>
              <a:off x="585215" y="144525"/>
              <a:ext cx="9667952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g = W ÷ m</a:t>
              </a:r>
            </a:p>
          </p:txBody>
        </p:sp>
        <p:sp>
          <p:nvSpPr>
            <p:cNvPr id="161" name="gf_0_t"/>
            <p:cNvSpPr txBox="1"/>
            <p:nvPr/>
          </p:nvSpPr>
          <p:spPr>
            <a:xfrm>
              <a:off x="585215" y="498808"/>
              <a:ext cx="9667952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 already know this from last lesson.</a:t>
              </a:r>
            </a:p>
          </p:txBody>
        </p:sp>
      </p:grpSp>
      <p:grpSp>
        <p:nvGrpSpPr>
          <p:cNvPr id="167" name="gf_1"/>
          <p:cNvGrpSpPr/>
          <p:nvPr/>
        </p:nvGrpSpPr>
        <p:grpSpPr>
          <a:xfrm>
            <a:off x="1170432" y="3127248"/>
            <a:ext cx="10472623" cy="786385"/>
            <a:chOff x="0" y="0"/>
            <a:chExt cx="10472622" cy="786384"/>
          </a:xfrm>
        </p:grpSpPr>
        <p:sp>
          <p:nvSpPr>
            <p:cNvPr id="163" name="gf_1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4" name="gf_1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65" name="gf_1_e"/>
            <p:cNvSpPr txBox="1"/>
            <p:nvPr/>
          </p:nvSpPr>
          <p:spPr>
            <a:xfrm>
              <a:off x="585215" y="144525"/>
              <a:ext cx="9667952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g is newtons of force, per kilogram of mass.</a:t>
              </a:r>
            </a:p>
          </p:txBody>
        </p:sp>
        <p:sp>
          <p:nvSpPr>
            <p:cNvPr id="166" name="gf_1_t"/>
            <p:cNvSpPr txBox="1"/>
            <p:nvPr/>
          </p:nvSpPr>
          <p:spPr>
            <a:xfrm>
              <a:off x="585215" y="498808"/>
              <a:ext cx="9667952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It is a property of the field itself.</a:t>
              </a:r>
            </a:p>
          </p:txBody>
        </p:sp>
      </p:grpSp>
      <p:grpSp>
        <p:nvGrpSpPr>
          <p:cNvPr id="172" name="gf_2"/>
          <p:cNvGrpSpPr/>
          <p:nvPr/>
        </p:nvGrpSpPr>
        <p:grpSpPr>
          <a:xfrm>
            <a:off x="1170432" y="4059935"/>
            <a:ext cx="10472623" cy="786385"/>
            <a:chOff x="0" y="0"/>
            <a:chExt cx="10472622" cy="786384"/>
          </a:xfrm>
        </p:grpSpPr>
        <p:sp>
          <p:nvSpPr>
            <p:cNvPr id="168" name="gf_2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FEFE2"/>
            </a:solidFill>
            <a:ln w="2159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9" name="gf_2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70" name="gf_2_e"/>
            <p:cNvSpPr txBox="1"/>
            <p:nvPr/>
          </p:nvSpPr>
          <p:spPr>
            <a:xfrm>
              <a:off x="585215" y="144525"/>
              <a:ext cx="9667952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Near Earth’s surface, g ≈ 9.8 N/kg for every mass.</a:t>
              </a:r>
            </a:p>
          </p:txBody>
        </p:sp>
        <p:sp>
          <p:nvSpPr>
            <p:cNvPr id="171" name="gf_2_t"/>
            <p:cNvSpPr txBox="1"/>
            <p:nvPr/>
          </p:nvSpPr>
          <p:spPr>
            <a:xfrm>
              <a:off x="585215" y="498808"/>
              <a:ext cx="9667952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1 kg and a 50 kg object feel the same g here.</a:t>
              </a:r>
            </a:p>
          </p:txBody>
        </p:sp>
      </p:grpSp>
      <p:grpSp>
        <p:nvGrpSpPr>
          <p:cNvPr id="177" name="gf_3"/>
          <p:cNvGrpSpPr/>
          <p:nvPr/>
        </p:nvGrpSpPr>
        <p:grpSpPr>
          <a:xfrm>
            <a:off x="1170432" y="4992623"/>
            <a:ext cx="10472623" cy="786385"/>
            <a:chOff x="0" y="0"/>
            <a:chExt cx="10472622" cy="786384"/>
          </a:xfrm>
        </p:grpSpPr>
        <p:sp>
          <p:nvSpPr>
            <p:cNvPr id="173" name="gf_3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4" name="gf_3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75" name="gf_3_e"/>
            <p:cNvSpPr txBox="1"/>
            <p:nvPr/>
          </p:nvSpPr>
          <p:spPr>
            <a:xfrm>
              <a:off x="585215" y="144525"/>
              <a:ext cx="9667952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On the Moon, g ≈ 1.6 N/kg.</a:t>
              </a:r>
            </a:p>
          </p:txBody>
        </p:sp>
        <p:sp>
          <p:nvSpPr>
            <p:cNvPr id="176" name="gf_3_t"/>
            <p:cNvSpPr txBox="1"/>
            <p:nvPr/>
          </p:nvSpPr>
          <p:spPr>
            <a:xfrm>
              <a:off x="585215" y="498808"/>
              <a:ext cx="9667952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Weaker field. Same mass, much less weight.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1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7" fill="hold" display="0">
                  <p:stCondLst>
                    <p:cond delay="indefinite"/>
                  </p:stCondLst>
                </p:cTn>
                <p:tgtEl>
                  <p:spTgt spid="153"/>
                </p:tgtEl>
              </p:cMediaNode>
            </p:video>
            <p:seq concurrent="1" prevAc="none" nextAc="seek">
              <p:cTn id="28" evtFilter="cancelBubble" nodeType="interactiveSeq" restart="whenNotActive" fill="hold">
                <p:stCondLst>
                  <p:cond delay="0" evt="onClick">
                    <p:tgtEl>
                      <p:spTgt spid="153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53"/>
                  </p:tgtEl>
                </p:cond>
              </p:nextCondLst>
            </p:seq>
          </p:childTnLst>
        </p:cTn>
      </p:par>
    </p:tnLst>
    <p:bldLst>
      <p:bldP build="whole" bldLvl="1" animBg="1" rev="0" advAuto="0" spid="172" grpId="4"/>
      <p:bldP build="whole" bldLvl="1" animBg="1" rev="0" advAuto="0" spid="167" grpId="3"/>
      <p:bldP build="whole" bldLvl="1" animBg="1" rev="0" advAuto="0" spid="177" grpId="5"/>
      <p:bldP build="whole" bldLvl="1" animBg="1" rev="0" advAuto="0" spid="162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4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182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83" name="WE DO · 5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 DO · 5 MIN</a:t>
              </a:r>
            </a:p>
          </p:txBody>
        </p:sp>
      </p:grpSp>
      <p:sp>
        <p:nvSpPr>
          <p:cNvPr id="185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should be the correct answer?</a:t>
            </a:r>
          </a:p>
        </p:txBody>
      </p:sp>
      <p:sp>
        <p:nvSpPr>
          <p:cNvPr id="186" name="slide_sub"/>
          <p:cNvSpPr txBox="1"/>
          <p:nvPr/>
        </p:nvSpPr>
        <p:spPr>
          <a:xfrm>
            <a:off x="1170432" y="1644671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A64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Spot the mistake.</a:t>
            </a:r>
          </a:p>
        </p:txBody>
      </p:sp>
      <p:sp>
        <p:nvSpPr>
          <p:cNvPr id="187" name="wd0_bg"/>
          <p:cNvSpPr/>
          <p:nvPr/>
        </p:nvSpPr>
        <p:spPr>
          <a:xfrm>
            <a:off x="1170432" y="2322576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wd0_q"/>
          <p:cNvSpPr txBox="1"/>
          <p:nvPr/>
        </p:nvSpPr>
        <p:spPr>
          <a:xfrm>
            <a:off x="1426463" y="2621415"/>
            <a:ext cx="6035042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"W = m + g, so a 5 kg mass weighs 5 + 9.8 = 14.8."</a:t>
            </a:r>
          </a:p>
        </p:txBody>
      </p:sp>
      <p:grpSp>
        <p:nvGrpSpPr>
          <p:cNvPr id="191" name="wd0_a"/>
          <p:cNvGrpSpPr/>
          <p:nvPr/>
        </p:nvGrpSpPr>
        <p:grpSpPr>
          <a:xfrm>
            <a:off x="7662671" y="2414016"/>
            <a:ext cx="3888944" cy="658369"/>
            <a:chOff x="0" y="0"/>
            <a:chExt cx="3888942" cy="658368"/>
          </a:xfrm>
        </p:grpSpPr>
        <p:sp>
          <p:nvSpPr>
            <p:cNvPr id="189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190" name="W = m × g = 5 × 9.8 = 49 N"/>
            <p:cNvSpPr txBox="1"/>
            <p:nvPr/>
          </p:nvSpPr>
          <p:spPr>
            <a:xfrm>
              <a:off x="36307" y="229730"/>
              <a:ext cx="3816328" cy="1989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 = m × g = 5 × 9.8 = 49 N</a:t>
              </a:r>
            </a:p>
          </p:txBody>
        </p:sp>
      </p:grpSp>
      <p:sp>
        <p:nvSpPr>
          <p:cNvPr id="192" name="wd1_bg"/>
          <p:cNvSpPr/>
          <p:nvPr/>
        </p:nvSpPr>
        <p:spPr>
          <a:xfrm>
            <a:off x="1170432" y="3346703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wd1_q"/>
          <p:cNvSpPr txBox="1"/>
          <p:nvPr/>
        </p:nvSpPr>
        <p:spPr>
          <a:xfrm>
            <a:off x="1426463" y="3645543"/>
            <a:ext cx="6035042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 = 10 N/kg</a:t>
            </a:r>
          </a:p>
        </p:txBody>
      </p:sp>
      <p:grpSp>
        <p:nvGrpSpPr>
          <p:cNvPr id="196" name="wd1_a"/>
          <p:cNvGrpSpPr/>
          <p:nvPr/>
        </p:nvGrpSpPr>
        <p:grpSpPr>
          <a:xfrm>
            <a:off x="7662671" y="3438144"/>
            <a:ext cx="3888944" cy="658369"/>
            <a:chOff x="0" y="0"/>
            <a:chExt cx="3888942" cy="658368"/>
          </a:xfrm>
        </p:grpSpPr>
        <p:sp>
          <p:nvSpPr>
            <p:cNvPr id="194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195" name="g ≈ 9.8 N/kg"/>
            <p:cNvSpPr txBox="1"/>
            <p:nvPr/>
          </p:nvSpPr>
          <p:spPr>
            <a:xfrm>
              <a:off x="36307" y="229730"/>
              <a:ext cx="3816328" cy="1989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 ≈ 9.8 N/kg</a:t>
              </a:r>
            </a:p>
          </p:txBody>
        </p:sp>
      </p:grpSp>
      <p:sp>
        <p:nvSpPr>
          <p:cNvPr id="197" name="wd2_bg"/>
          <p:cNvSpPr/>
          <p:nvPr/>
        </p:nvSpPr>
        <p:spPr>
          <a:xfrm>
            <a:off x="1170432" y="4370832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wd2_q"/>
          <p:cNvSpPr txBox="1"/>
          <p:nvPr/>
        </p:nvSpPr>
        <p:spPr>
          <a:xfrm>
            <a:off x="1426463" y="4669671"/>
            <a:ext cx="6035042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"My weight is 8 kg."</a:t>
            </a:r>
          </a:p>
        </p:txBody>
      </p:sp>
      <p:grpSp>
        <p:nvGrpSpPr>
          <p:cNvPr id="201" name="wd2_a"/>
          <p:cNvGrpSpPr/>
          <p:nvPr/>
        </p:nvGrpSpPr>
        <p:grpSpPr>
          <a:xfrm>
            <a:off x="7662671" y="4462271"/>
            <a:ext cx="3888944" cy="658369"/>
            <a:chOff x="0" y="0"/>
            <a:chExt cx="3888942" cy="658368"/>
          </a:xfrm>
        </p:grpSpPr>
        <p:sp>
          <p:nvSpPr>
            <p:cNvPr id="199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00" name="My mass is 8 kg. My weight is 78.4 N."/>
            <p:cNvSpPr txBox="1"/>
            <p:nvPr/>
          </p:nvSpPr>
          <p:spPr>
            <a:xfrm>
              <a:off x="36307" y="229730"/>
              <a:ext cx="3816328" cy="1989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My mass is 8 kg. My weight is 78.4 N.</a:t>
              </a:r>
            </a:p>
          </p:txBody>
        </p:sp>
      </p:grpSp>
      <p:sp>
        <p:nvSpPr>
          <p:cNvPr id="202" name="wd3_bg"/>
          <p:cNvSpPr/>
          <p:nvPr/>
        </p:nvSpPr>
        <p:spPr>
          <a:xfrm>
            <a:off x="1170432" y="5394959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wd3_q"/>
          <p:cNvSpPr txBox="1"/>
          <p:nvPr/>
        </p:nvSpPr>
        <p:spPr>
          <a:xfrm>
            <a:off x="1426463" y="5693799"/>
            <a:ext cx="6035042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"A bigger mass always has a bigger g."</a:t>
            </a:r>
          </a:p>
        </p:txBody>
      </p:sp>
      <p:grpSp>
        <p:nvGrpSpPr>
          <p:cNvPr id="206" name="wd3_a"/>
          <p:cNvGrpSpPr/>
          <p:nvPr/>
        </p:nvGrpSpPr>
        <p:grpSpPr>
          <a:xfrm>
            <a:off x="7662671" y="5486400"/>
            <a:ext cx="3888944" cy="658369"/>
            <a:chOff x="0" y="0"/>
            <a:chExt cx="3888942" cy="658368"/>
          </a:xfrm>
        </p:grpSpPr>
        <p:sp>
          <p:nvSpPr>
            <p:cNvPr id="204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05" name="g stays about the same near Earth—only weight changes with mass."/>
            <p:cNvSpPr txBox="1"/>
            <p:nvPr/>
          </p:nvSpPr>
          <p:spPr>
            <a:xfrm>
              <a:off x="36307" y="128130"/>
              <a:ext cx="3816328" cy="402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 stays about the same near Earth—only weight changes with mass.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0" fill="hold"/>
                                        <p:tgtEl>
                                          <p:spTgt spid="1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16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1" fill="hold" display="0">
                  <p:stCondLst>
                    <p:cond delay="indefinite"/>
                  </p:stCondLst>
                </p:cTn>
                <p:tgtEl>
                  <p:spTgt spid="181"/>
                </p:tgtEl>
              </p:cMediaNode>
            </p:video>
            <p:seq concurrent="1" prevAc="none" nextAc="seek">
              <p:cTn id="32" evtFilter="cancelBubble" nodeType="interactiveSeq" restart="whenNotActive" fill="hold">
                <p:stCondLst>
                  <p:cond delay="0" evt="onClick">
                    <p:tgtEl>
                      <p:spTgt spid="181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81"/>
                  </p:tgtEl>
                </p:cond>
              </p:nextCondLst>
            </p:seq>
          </p:childTnLst>
        </p:cTn>
      </p:par>
    </p:tnLst>
    <p:bldLst>
      <p:bldP build="whole" bldLvl="1" animBg="1" rev="0" advAuto="0" spid="201" grpId="4"/>
      <p:bldP build="whole" bldLvl="1" animBg="1" rev="0" advAuto="0" spid="196" grpId="3"/>
      <p:bldP build="whole" bldLvl="1" animBg="1" rev="0" advAuto="0" spid="206" grpId="5"/>
      <p:bldP build="whole" bldLvl="1" animBg="1" rev="0" advAuto="0" spid="191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3" name="phase_pill"/>
          <p:cNvGrpSpPr/>
          <p:nvPr/>
        </p:nvGrpSpPr>
        <p:grpSpPr>
          <a:xfrm>
            <a:off x="1170432" y="310895"/>
            <a:ext cx="2072030" cy="329185"/>
            <a:chOff x="0" y="0"/>
            <a:chExt cx="2072029" cy="329184"/>
          </a:xfrm>
        </p:grpSpPr>
        <p:sp>
          <p:nvSpPr>
            <p:cNvPr id="211" name="Rounded Rectangle"/>
            <p:cNvSpPr/>
            <p:nvPr/>
          </p:nvSpPr>
          <p:spPr>
            <a:xfrm>
              <a:off x="0" y="0"/>
              <a:ext cx="2072030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12" name="COLD CALL · 6 MIN"/>
            <p:cNvSpPr txBox="1"/>
            <p:nvPr/>
          </p:nvSpPr>
          <p:spPr>
            <a:xfrm>
              <a:off x="42850" y="90677"/>
              <a:ext cx="1986329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COLD CALL · 6 MIN</a:t>
              </a:r>
            </a:p>
          </p:txBody>
        </p:sp>
      </p:grpSp>
      <p:sp>
        <p:nvSpPr>
          <p:cNvPr id="214" name="c0_bg"/>
          <p:cNvSpPr/>
          <p:nvPr/>
        </p:nvSpPr>
        <p:spPr>
          <a:xfrm>
            <a:off x="1170432" y="969263"/>
            <a:ext cx="5117441" cy="138989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c0_badge"/>
          <p:cNvSpPr/>
          <p:nvPr/>
        </p:nvSpPr>
        <p:spPr>
          <a:xfrm>
            <a:off x="1371600" y="1133855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c0_num"/>
          <p:cNvSpPr txBox="1"/>
          <p:nvPr/>
        </p:nvSpPr>
        <p:spPr>
          <a:xfrm>
            <a:off x="1371600" y="1224279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7" name="c0_q"/>
          <p:cNvSpPr txBox="1"/>
          <p:nvPr/>
        </p:nvSpPr>
        <p:spPr>
          <a:xfrm>
            <a:off x="1901951" y="1295535"/>
            <a:ext cx="4184753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a gravitational field?</a:t>
            </a:r>
          </a:p>
        </p:txBody>
      </p:sp>
      <p:grpSp>
        <p:nvGrpSpPr>
          <p:cNvPr id="220" name="c0_a"/>
          <p:cNvGrpSpPr/>
          <p:nvPr/>
        </p:nvGrpSpPr>
        <p:grpSpPr>
          <a:xfrm>
            <a:off x="1371600" y="1810511"/>
            <a:ext cx="4715105" cy="402337"/>
            <a:chOff x="0" y="0"/>
            <a:chExt cx="4715104" cy="402336"/>
          </a:xfrm>
        </p:grpSpPr>
        <p:sp>
          <p:nvSpPr>
            <p:cNvPr id="218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219" name="A region where a mass feels a force."/>
            <p:cNvSpPr txBox="1"/>
            <p:nvPr/>
          </p:nvSpPr>
          <p:spPr>
            <a:xfrm>
              <a:off x="35037" y="101460"/>
              <a:ext cx="4645030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region where a mass feels a force.</a:t>
              </a:r>
            </a:p>
          </p:txBody>
        </p:sp>
      </p:grpSp>
      <p:sp>
        <p:nvSpPr>
          <p:cNvPr id="221" name="c1_bg"/>
          <p:cNvSpPr/>
          <p:nvPr/>
        </p:nvSpPr>
        <p:spPr>
          <a:xfrm>
            <a:off x="6525615" y="969263"/>
            <a:ext cx="5117441" cy="138989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c1_badge"/>
          <p:cNvSpPr/>
          <p:nvPr/>
        </p:nvSpPr>
        <p:spPr>
          <a:xfrm>
            <a:off x="6726783" y="1133855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c1_num"/>
          <p:cNvSpPr txBox="1"/>
          <p:nvPr/>
        </p:nvSpPr>
        <p:spPr>
          <a:xfrm>
            <a:off x="6726783" y="1224279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4" name="c1_q"/>
          <p:cNvSpPr txBox="1"/>
          <p:nvPr/>
        </p:nvSpPr>
        <p:spPr>
          <a:xfrm>
            <a:off x="7257136" y="1295535"/>
            <a:ext cx="4184753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does g actually measure?</a:t>
            </a:r>
          </a:p>
        </p:txBody>
      </p:sp>
      <p:grpSp>
        <p:nvGrpSpPr>
          <p:cNvPr id="227" name="c1_a"/>
          <p:cNvGrpSpPr/>
          <p:nvPr/>
        </p:nvGrpSpPr>
        <p:grpSpPr>
          <a:xfrm>
            <a:off x="6726783" y="1810511"/>
            <a:ext cx="4715106" cy="402337"/>
            <a:chOff x="0" y="0"/>
            <a:chExt cx="4715104" cy="402336"/>
          </a:xfrm>
        </p:grpSpPr>
        <p:sp>
          <p:nvSpPr>
            <p:cNvPr id="225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226" name="The strength of the field OR force per unit mass."/>
            <p:cNvSpPr txBox="1"/>
            <p:nvPr/>
          </p:nvSpPr>
          <p:spPr>
            <a:xfrm>
              <a:off x="35037" y="101460"/>
              <a:ext cx="4645030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strength of the field OR force per unit mass.</a:t>
              </a:r>
            </a:p>
          </p:txBody>
        </p:sp>
      </p:grpSp>
      <p:sp>
        <p:nvSpPr>
          <p:cNvPr id="228" name="c2_bg"/>
          <p:cNvSpPr/>
          <p:nvPr/>
        </p:nvSpPr>
        <p:spPr>
          <a:xfrm>
            <a:off x="1170432" y="2560320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c2_badge"/>
          <p:cNvSpPr/>
          <p:nvPr/>
        </p:nvSpPr>
        <p:spPr>
          <a:xfrm>
            <a:off x="1371600" y="2724911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c2_num"/>
          <p:cNvSpPr txBox="1"/>
          <p:nvPr/>
        </p:nvSpPr>
        <p:spPr>
          <a:xfrm>
            <a:off x="1371600" y="2815335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1" name="c2_q"/>
          <p:cNvSpPr txBox="1"/>
          <p:nvPr/>
        </p:nvSpPr>
        <p:spPr>
          <a:xfrm>
            <a:off x="1901951" y="2886591"/>
            <a:ext cx="4184753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6 kg mass. Find its weight.</a:t>
            </a:r>
          </a:p>
        </p:txBody>
      </p:sp>
      <p:grpSp>
        <p:nvGrpSpPr>
          <p:cNvPr id="234" name="c2_a"/>
          <p:cNvGrpSpPr/>
          <p:nvPr/>
        </p:nvGrpSpPr>
        <p:grpSpPr>
          <a:xfrm>
            <a:off x="1371600" y="3401567"/>
            <a:ext cx="4715105" cy="402337"/>
            <a:chOff x="0" y="0"/>
            <a:chExt cx="4715104" cy="402336"/>
          </a:xfrm>
        </p:grpSpPr>
        <p:sp>
          <p:nvSpPr>
            <p:cNvPr id="232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233" name="6 × 9.8 = 58.8 N"/>
            <p:cNvSpPr txBox="1"/>
            <p:nvPr/>
          </p:nvSpPr>
          <p:spPr>
            <a:xfrm>
              <a:off x="35037" y="101460"/>
              <a:ext cx="4645030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6 × 9.8 = 58.8 N</a:t>
              </a:r>
            </a:p>
          </p:txBody>
        </p:sp>
      </p:grpSp>
      <p:sp>
        <p:nvSpPr>
          <p:cNvPr id="235" name="c3_bg"/>
          <p:cNvSpPr/>
          <p:nvPr/>
        </p:nvSpPr>
        <p:spPr>
          <a:xfrm>
            <a:off x="6525615" y="2560320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c3_badge"/>
          <p:cNvSpPr/>
          <p:nvPr/>
        </p:nvSpPr>
        <p:spPr>
          <a:xfrm>
            <a:off x="6726783" y="2724911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c3_num"/>
          <p:cNvSpPr txBox="1"/>
          <p:nvPr/>
        </p:nvSpPr>
        <p:spPr>
          <a:xfrm>
            <a:off x="6726783" y="2815335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38" name="c3_q"/>
          <p:cNvSpPr txBox="1"/>
          <p:nvPr/>
        </p:nvSpPr>
        <p:spPr>
          <a:xfrm>
            <a:off x="7257136" y="2886591"/>
            <a:ext cx="4184753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weight of 78.4 N. Find the mass.</a:t>
            </a:r>
          </a:p>
        </p:txBody>
      </p:sp>
      <p:grpSp>
        <p:nvGrpSpPr>
          <p:cNvPr id="241" name="c3_a"/>
          <p:cNvGrpSpPr/>
          <p:nvPr/>
        </p:nvGrpSpPr>
        <p:grpSpPr>
          <a:xfrm>
            <a:off x="6726783" y="3401567"/>
            <a:ext cx="4715106" cy="402337"/>
            <a:chOff x="0" y="0"/>
            <a:chExt cx="4715104" cy="402336"/>
          </a:xfrm>
        </p:grpSpPr>
        <p:sp>
          <p:nvSpPr>
            <p:cNvPr id="239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240" name="78.4 ÷ 9.8 = 8 kg"/>
            <p:cNvSpPr txBox="1"/>
            <p:nvPr/>
          </p:nvSpPr>
          <p:spPr>
            <a:xfrm>
              <a:off x="35037" y="101460"/>
              <a:ext cx="4645030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78.4 ÷ 9.8 = 8 kg</a:t>
              </a:r>
            </a:p>
          </p:txBody>
        </p:sp>
      </p:grpSp>
      <p:sp>
        <p:nvSpPr>
          <p:cNvPr id="242" name="c4_bg"/>
          <p:cNvSpPr/>
          <p:nvPr/>
        </p:nvSpPr>
        <p:spPr>
          <a:xfrm>
            <a:off x="1170432" y="4151376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c4_badge"/>
          <p:cNvSpPr/>
          <p:nvPr/>
        </p:nvSpPr>
        <p:spPr>
          <a:xfrm>
            <a:off x="1371600" y="4315967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c4_num"/>
          <p:cNvSpPr txBox="1"/>
          <p:nvPr/>
        </p:nvSpPr>
        <p:spPr>
          <a:xfrm>
            <a:off x="1371600" y="4406391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5" name="c4_q"/>
          <p:cNvSpPr txBox="1"/>
          <p:nvPr/>
        </p:nvSpPr>
        <p:spPr>
          <a:xfrm>
            <a:off x="1901951" y="4477647"/>
            <a:ext cx="4184753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 or false: a bigger mass has a bigger g.</a:t>
            </a:r>
          </a:p>
        </p:txBody>
      </p:sp>
      <p:grpSp>
        <p:nvGrpSpPr>
          <p:cNvPr id="248" name="c4_a"/>
          <p:cNvGrpSpPr/>
          <p:nvPr/>
        </p:nvGrpSpPr>
        <p:grpSpPr>
          <a:xfrm>
            <a:off x="1371600" y="4992623"/>
            <a:ext cx="4715105" cy="402337"/>
            <a:chOff x="0" y="0"/>
            <a:chExt cx="4715104" cy="402336"/>
          </a:xfrm>
        </p:grpSpPr>
        <p:sp>
          <p:nvSpPr>
            <p:cNvPr id="246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247" name="False."/>
            <p:cNvSpPr txBox="1"/>
            <p:nvPr/>
          </p:nvSpPr>
          <p:spPr>
            <a:xfrm>
              <a:off x="35037" y="101460"/>
              <a:ext cx="4645030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False.</a:t>
              </a:r>
            </a:p>
          </p:txBody>
        </p:sp>
      </p:grpSp>
      <p:sp>
        <p:nvSpPr>
          <p:cNvPr id="249" name="c5_bg"/>
          <p:cNvSpPr/>
          <p:nvPr/>
        </p:nvSpPr>
        <p:spPr>
          <a:xfrm>
            <a:off x="6525615" y="4151376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c5_badge"/>
          <p:cNvSpPr/>
          <p:nvPr/>
        </p:nvSpPr>
        <p:spPr>
          <a:xfrm>
            <a:off x="6726783" y="4315967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c5_num"/>
          <p:cNvSpPr txBox="1"/>
          <p:nvPr/>
        </p:nvSpPr>
        <p:spPr>
          <a:xfrm>
            <a:off x="6726783" y="4406391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52" name="c5_q"/>
          <p:cNvSpPr txBox="1"/>
          <p:nvPr/>
        </p:nvSpPr>
        <p:spPr>
          <a:xfrm>
            <a:off x="7257136" y="4477647"/>
            <a:ext cx="4184753" cy="24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sz="15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Complete: W = ___ × ___</a:t>
            </a:r>
          </a:p>
        </p:txBody>
      </p:sp>
      <p:grpSp>
        <p:nvGrpSpPr>
          <p:cNvPr id="255" name="c5_a"/>
          <p:cNvGrpSpPr/>
          <p:nvPr/>
        </p:nvGrpSpPr>
        <p:grpSpPr>
          <a:xfrm>
            <a:off x="6726783" y="4992623"/>
            <a:ext cx="4715106" cy="402337"/>
            <a:chOff x="0" y="0"/>
            <a:chExt cx="4715104" cy="402336"/>
          </a:xfrm>
        </p:grpSpPr>
        <p:sp>
          <p:nvSpPr>
            <p:cNvPr id="253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254" name="m × g"/>
            <p:cNvSpPr txBox="1"/>
            <p:nvPr/>
          </p:nvSpPr>
          <p:spPr>
            <a:xfrm>
              <a:off x="35037" y="101460"/>
              <a:ext cx="4645030" cy="1994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 × 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00" fill="hold"/>
                                        <p:tgtEl>
                                          <p:spTgt spid="2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4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4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4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4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4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7" fill="hold" display="0">
                  <p:stCondLst>
                    <p:cond delay="indefinite"/>
                  </p:stCondLst>
                </p:cTn>
                <p:tgtEl>
                  <p:spTgt spid="210"/>
                </p:tgtEl>
              </p:cMediaNode>
            </p:video>
            <p:seq concurrent="1" prevAc="none" nextAc="seek">
              <p:cTn id="38" evtFilter="cancelBubble" nodeType="interactiveSeq" restart="whenNotActive" fill="hold">
                <p:stCondLst>
                  <p:cond delay="0" evt="onClick">
                    <p:tgtEl>
                      <p:spTgt spid="210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10"/>
                  </p:tgtEl>
                </p:cond>
              </p:nextCondLst>
            </p:seq>
          </p:childTnLst>
        </p:cTn>
      </p:par>
    </p:tnLst>
    <p:bldLst>
      <p:bldP build="whole" bldLvl="1" animBg="1" rev="0" advAuto="0" spid="255" grpId="7"/>
      <p:bldP build="whole" bldLvl="1" animBg="1" rev="0" advAuto="0" spid="241" grpId="5"/>
      <p:bldP build="whole" bldLvl="1" animBg="1" rev="0" advAuto="0" spid="227" grpId="3"/>
      <p:bldP build="whole" bldLvl="1" animBg="1" rev="0" advAuto="0" spid="248" grpId="6"/>
      <p:bldP build="whole" bldLvl="1" animBg="1" rev="0" advAuto="0" spid="234" grpId="4"/>
      <p:bldP build="whole" bldLvl="1" animBg="1" rev="0" advAuto="0" spid="220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2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60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61" name="YOU DO · 14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 DO · 14 MIN</a:t>
              </a:r>
            </a:p>
          </p:txBody>
        </p:sp>
      </p:grpSp>
      <p:pic>
        <p:nvPicPr>
          <p:cNvPr id="263" name="gc_logo" descr="gc_logo"/>
          <p:cNvPicPr>
            <a:picLocks noChangeAspect="1"/>
          </p:cNvPicPr>
          <p:nvPr/>
        </p:nvPicPr>
        <p:blipFill>
          <a:blip r:embed="rId6">
            <a:alphaModFix amt="38000"/>
            <a:extLst/>
          </a:blip>
          <a:stretch>
            <a:fillRect/>
          </a:stretch>
        </p:blipFill>
        <p:spPr>
          <a:xfrm>
            <a:off x="10088574" y="786383"/>
            <a:ext cx="1554481" cy="1344169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slide_title"/>
          <p:cNvSpPr txBox="1"/>
          <p:nvPr/>
        </p:nvSpPr>
        <p:spPr>
          <a:xfrm>
            <a:off x="1170432" y="1121780"/>
            <a:ext cx="8643823" cy="37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000"/>
              </a:lnSpc>
              <a:defRPr b="1" sz="2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Gravitational Fields and Free Fall worksheet</a:t>
            </a:r>
          </a:p>
        </p:txBody>
      </p:sp>
      <p:sp>
        <p:nvSpPr>
          <p:cNvPr id="265" name="slide_sub"/>
          <p:cNvSpPr txBox="1"/>
          <p:nvPr/>
        </p:nvSpPr>
        <p:spPr>
          <a:xfrm>
            <a:off x="1170432" y="1937279"/>
            <a:ext cx="86438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E03D6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 Google Classroom now. Start with Bronze and Silver.</a:t>
            </a:r>
          </a:p>
        </p:txBody>
      </p:sp>
      <p:grpSp>
        <p:nvGrpSpPr>
          <p:cNvPr id="270" name="t0"/>
          <p:cNvGrpSpPr/>
          <p:nvPr/>
        </p:nvGrpSpPr>
        <p:grpSpPr>
          <a:xfrm>
            <a:off x="1170432" y="2322576"/>
            <a:ext cx="3307994" cy="1828801"/>
            <a:chOff x="0" y="0"/>
            <a:chExt cx="3307993" cy="1828800"/>
          </a:xfrm>
        </p:grpSpPr>
        <p:sp>
          <p:nvSpPr>
            <p:cNvPr id="266" name="t0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FE9E0"/>
            </a:solidFill>
            <a:ln w="2032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7" name="t0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E03D6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BRONZE</a:t>
              </a:r>
            </a:p>
          </p:txBody>
        </p:sp>
        <p:sp>
          <p:nvSpPr>
            <p:cNvPr id="268" name="t0_s"/>
            <p:cNvSpPr txBox="1"/>
            <p:nvPr/>
          </p:nvSpPr>
          <p:spPr>
            <a:xfrm>
              <a:off x="237744" y="583967"/>
              <a:ext cx="2832506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Substitute</a:t>
              </a:r>
            </a:p>
          </p:txBody>
        </p:sp>
        <p:sp>
          <p:nvSpPr>
            <p:cNvPr id="269" name="t0_b"/>
            <p:cNvSpPr txBox="1"/>
            <p:nvPr/>
          </p:nvSpPr>
          <p:spPr>
            <a:xfrm>
              <a:off x="237744" y="877823"/>
              <a:ext cx="2832506" cy="4491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Use W = mg. g ≈ 9.8 N/kg, never 10.</a:t>
              </a:r>
            </a:p>
          </p:txBody>
        </p:sp>
      </p:grpSp>
      <p:grpSp>
        <p:nvGrpSpPr>
          <p:cNvPr id="275" name="t1"/>
          <p:cNvGrpSpPr/>
          <p:nvPr/>
        </p:nvGrpSpPr>
        <p:grpSpPr>
          <a:xfrm>
            <a:off x="4752745" y="2322576"/>
            <a:ext cx="3307995" cy="1828801"/>
            <a:chOff x="0" y="0"/>
            <a:chExt cx="3307993" cy="1828800"/>
          </a:xfrm>
        </p:grpSpPr>
        <p:sp>
          <p:nvSpPr>
            <p:cNvPr id="271" name="t1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1F2F6"/>
            </a:solidFill>
            <a:ln w="20320" cap="flat">
              <a:solidFill>
                <a:srgbClr val="5A64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2" name="t1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SILVER</a:t>
              </a:r>
            </a:p>
          </p:txBody>
        </p:sp>
        <p:sp>
          <p:nvSpPr>
            <p:cNvPr id="273" name="t1_s"/>
            <p:cNvSpPr txBox="1"/>
            <p:nvPr/>
          </p:nvSpPr>
          <p:spPr>
            <a:xfrm>
              <a:off x="237744" y="583967"/>
              <a:ext cx="2832506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Rearrange</a:t>
              </a:r>
            </a:p>
          </p:txBody>
        </p:sp>
        <p:sp>
          <p:nvSpPr>
            <p:cNvPr id="274" name="t1_b"/>
            <p:cNvSpPr txBox="1"/>
            <p:nvPr/>
          </p:nvSpPr>
          <p:spPr>
            <a:xfrm>
              <a:off x="237744" y="877823"/>
              <a:ext cx="2832506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Find the mass when W is given.</a:t>
              </a:r>
            </a:p>
          </p:txBody>
        </p:sp>
      </p:grpSp>
      <p:grpSp>
        <p:nvGrpSpPr>
          <p:cNvPr id="280" name="t2"/>
          <p:cNvGrpSpPr/>
          <p:nvPr/>
        </p:nvGrpSpPr>
        <p:grpSpPr>
          <a:xfrm>
            <a:off x="8335061" y="2322576"/>
            <a:ext cx="3307994" cy="1828801"/>
            <a:chOff x="0" y="0"/>
            <a:chExt cx="3307993" cy="1828800"/>
          </a:xfrm>
        </p:grpSpPr>
        <p:sp>
          <p:nvSpPr>
            <p:cNvPr id="276" name="t2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1F2F6"/>
            </a:solidFill>
            <a:ln w="20320" cap="flat">
              <a:solidFill>
                <a:srgbClr val="C25A1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7" name="t2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C25A1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GOLD</a:t>
              </a:r>
            </a:p>
          </p:txBody>
        </p:sp>
        <p:sp>
          <p:nvSpPr>
            <p:cNvPr id="278" name="t2_s"/>
            <p:cNvSpPr txBox="1"/>
            <p:nvPr/>
          </p:nvSpPr>
          <p:spPr>
            <a:xfrm>
              <a:off x="237744" y="583967"/>
              <a:ext cx="2832506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This afternoon</a:t>
              </a:r>
            </a:p>
          </p:txBody>
        </p:sp>
        <p:sp>
          <p:nvSpPr>
            <p:cNvPr id="279" name="t2_b"/>
            <p:cNvSpPr txBox="1"/>
            <p:nvPr/>
          </p:nvSpPr>
          <p:spPr>
            <a:xfrm>
              <a:off x="237744" y="877823"/>
              <a:ext cx="2832506" cy="4491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800"/>
                </a:lnSpc>
                <a:defRPr i="1" sz="14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Free fall and the unit proof — after the break.</a:t>
              </a:r>
            </a:p>
          </p:txBody>
        </p:sp>
      </p:grpSp>
      <p:sp>
        <p:nvSpPr>
          <p:cNvPr id="281" name="yd_note"/>
          <p:cNvSpPr txBox="1"/>
          <p:nvPr/>
        </p:nvSpPr>
        <p:spPr>
          <a:xfrm>
            <a:off x="1170432" y="4549462"/>
            <a:ext cx="1047262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720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Units every time: kg for mass, N for weight. g ≈ 9.8 N/kg.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0000" fill="hold"/>
                                        <p:tgtEl>
                                          <p:spTgt spid="2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7" fill="hold" display="0">
                  <p:stCondLst>
                    <p:cond delay="indefinite"/>
                  </p:stCondLst>
                </p:cTn>
                <p:tgtEl>
                  <p:spTgt spid="259"/>
                </p:tgtEl>
              </p:cMediaNode>
            </p:video>
            <p:seq concurrent="1" prevAc="none" nextAc="seek">
              <p:cTn id="28" evtFilter="cancelBubble" nodeType="interactiveSeq" restart="whenNotActive" fill="hold">
                <p:stCondLst>
                  <p:cond delay="0" evt="onClick">
                    <p:tgtEl>
                      <p:spTgt spid="25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59"/>
                  </p:tgtEl>
                </p:cond>
              </p:nextCondLst>
            </p:seq>
          </p:childTnLst>
        </p:cTn>
      </p:par>
    </p:tnLst>
    <p:bldLst>
      <p:bldP build="whole" bldLvl="1" animBg="1" rev="0" advAuto="0" spid="270" grpId="2"/>
      <p:bldP build="whole" bldLvl="1" animBg="1" rev="0" advAuto="0" spid="281" grpId="5"/>
      <p:bldP build="whole" bldLvl="1" animBg="1" rev="0" advAuto="0" spid="275" grpId="3"/>
      <p:bldP build="whole" bldLvl="1" animBg="1" rev="0" advAuto="0" spid="280" grpId="4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88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86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87" name="ANSWERS · 3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ANSWERS · 3 MIN</a:t>
              </a:r>
            </a:p>
          </p:txBody>
        </p:sp>
      </p:grpSp>
      <p:sp>
        <p:nvSpPr>
          <p:cNvPr id="289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Answers — Bronze and Silver</a:t>
            </a:r>
          </a:p>
        </p:txBody>
      </p:sp>
      <p:grpSp>
        <p:nvGrpSpPr>
          <p:cNvPr id="293" name="a0"/>
          <p:cNvGrpSpPr/>
          <p:nvPr/>
        </p:nvGrpSpPr>
        <p:grpSpPr>
          <a:xfrm>
            <a:off x="1170432" y="1828800"/>
            <a:ext cx="5117441" cy="896112"/>
            <a:chOff x="0" y="0"/>
            <a:chExt cx="5117439" cy="896111"/>
          </a:xfrm>
        </p:grpSpPr>
        <p:sp>
          <p:nvSpPr>
            <p:cNvPr id="290" name="a0_bg"/>
            <p:cNvSpPr/>
            <p:nvPr/>
          </p:nvSpPr>
          <p:spPr>
            <a:xfrm>
              <a:off x="0" y="0"/>
              <a:ext cx="5117440" cy="896112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1" name="a0_n"/>
            <p:cNvSpPr txBox="1"/>
            <p:nvPr/>
          </p:nvSpPr>
          <p:spPr>
            <a:xfrm>
              <a:off x="219455" y="314706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92" name="a0_t"/>
            <p:cNvSpPr txBox="1"/>
            <p:nvPr/>
          </p:nvSpPr>
          <p:spPr>
            <a:xfrm>
              <a:off x="749808" y="337776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 = 0.5 × 9.8 = 4.9 N</a:t>
              </a:r>
            </a:p>
          </p:txBody>
        </p:sp>
      </p:grpSp>
      <p:grpSp>
        <p:nvGrpSpPr>
          <p:cNvPr id="297" name="a1"/>
          <p:cNvGrpSpPr/>
          <p:nvPr/>
        </p:nvGrpSpPr>
        <p:grpSpPr>
          <a:xfrm>
            <a:off x="6525615" y="1828800"/>
            <a:ext cx="5117441" cy="896112"/>
            <a:chOff x="0" y="0"/>
            <a:chExt cx="5117439" cy="896111"/>
          </a:xfrm>
        </p:grpSpPr>
        <p:sp>
          <p:nvSpPr>
            <p:cNvPr id="294" name="a1_bg"/>
            <p:cNvSpPr/>
            <p:nvPr/>
          </p:nvSpPr>
          <p:spPr>
            <a:xfrm>
              <a:off x="0" y="0"/>
              <a:ext cx="5117440" cy="896112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5" name="a1_n"/>
            <p:cNvSpPr txBox="1"/>
            <p:nvPr/>
          </p:nvSpPr>
          <p:spPr>
            <a:xfrm>
              <a:off x="219455" y="314706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96" name="a1_t"/>
            <p:cNvSpPr txBox="1"/>
            <p:nvPr/>
          </p:nvSpPr>
          <p:spPr>
            <a:xfrm>
              <a:off x="749808" y="337776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 = 12 × 9.8 = 117.6 N</a:t>
              </a:r>
            </a:p>
          </p:txBody>
        </p:sp>
      </p:grpSp>
      <p:grpSp>
        <p:nvGrpSpPr>
          <p:cNvPr id="301" name="a2"/>
          <p:cNvGrpSpPr/>
          <p:nvPr/>
        </p:nvGrpSpPr>
        <p:grpSpPr>
          <a:xfrm>
            <a:off x="1170432" y="2852927"/>
            <a:ext cx="5117441" cy="896113"/>
            <a:chOff x="0" y="0"/>
            <a:chExt cx="5117439" cy="896111"/>
          </a:xfrm>
        </p:grpSpPr>
        <p:sp>
          <p:nvSpPr>
            <p:cNvPr id="298" name="a2_bg"/>
            <p:cNvSpPr/>
            <p:nvPr/>
          </p:nvSpPr>
          <p:spPr>
            <a:xfrm>
              <a:off x="0" y="0"/>
              <a:ext cx="5117440" cy="896112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9" name="a2_n"/>
            <p:cNvSpPr txBox="1"/>
            <p:nvPr/>
          </p:nvSpPr>
          <p:spPr>
            <a:xfrm>
              <a:off x="219455" y="314706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300" name="a2_t"/>
            <p:cNvSpPr txBox="1"/>
            <p:nvPr/>
          </p:nvSpPr>
          <p:spPr>
            <a:xfrm>
              <a:off x="749808" y="337776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kg for mass, N for weight</a:t>
              </a:r>
            </a:p>
          </p:txBody>
        </p:sp>
      </p:grpSp>
      <p:grpSp>
        <p:nvGrpSpPr>
          <p:cNvPr id="305" name="a3"/>
          <p:cNvGrpSpPr/>
          <p:nvPr/>
        </p:nvGrpSpPr>
        <p:grpSpPr>
          <a:xfrm>
            <a:off x="6525615" y="2852927"/>
            <a:ext cx="5117441" cy="896113"/>
            <a:chOff x="0" y="0"/>
            <a:chExt cx="5117439" cy="896111"/>
          </a:xfrm>
        </p:grpSpPr>
        <p:sp>
          <p:nvSpPr>
            <p:cNvPr id="302" name="a3_bg"/>
            <p:cNvSpPr/>
            <p:nvPr/>
          </p:nvSpPr>
          <p:spPr>
            <a:xfrm>
              <a:off x="0" y="0"/>
              <a:ext cx="5117440" cy="896112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3" name="a3_n"/>
            <p:cNvSpPr txBox="1"/>
            <p:nvPr/>
          </p:nvSpPr>
          <p:spPr>
            <a:xfrm>
              <a:off x="219455" y="314706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304" name="a3_t"/>
            <p:cNvSpPr txBox="1"/>
            <p:nvPr/>
          </p:nvSpPr>
          <p:spPr>
            <a:xfrm>
              <a:off x="749808" y="337776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 = 19.6 ÷ 9.8 = 2 kg</a:t>
              </a:r>
            </a:p>
          </p:txBody>
        </p:sp>
      </p:grpSp>
      <p:grpSp>
        <p:nvGrpSpPr>
          <p:cNvPr id="309" name="a4"/>
          <p:cNvGrpSpPr/>
          <p:nvPr/>
        </p:nvGrpSpPr>
        <p:grpSpPr>
          <a:xfrm>
            <a:off x="1170432" y="3877055"/>
            <a:ext cx="5117441" cy="896113"/>
            <a:chOff x="0" y="0"/>
            <a:chExt cx="5117439" cy="896111"/>
          </a:xfrm>
        </p:grpSpPr>
        <p:sp>
          <p:nvSpPr>
            <p:cNvPr id="306" name="a4_bg"/>
            <p:cNvSpPr/>
            <p:nvPr/>
          </p:nvSpPr>
          <p:spPr>
            <a:xfrm>
              <a:off x="0" y="0"/>
              <a:ext cx="5117440" cy="896112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7" name="a4_n"/>
            <p:cNvSpPr txBox="1"/>
            <p:nvPr/>
          </p:nvSpPr>
          <p:spPr>
            <a:xfrm>
              <a:off x="219455" y="314706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308" name="a4_t"/>
            <p:cNvSpPr txBox="1"/>
            <p:nvPr/>
          </p:nvSpPr>
          <p:spPr>
            <a:xfrm>
              <a:off x="749808" y="337776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 = 88.2 ÷ 9.8 = 9 kg</a:t>
              </a:r>
            </a:p>
          </p:txBody>
        </p:sp>
      </p:grpSp>
      <p:grpSp>
        <p:nvGrpSpPr>
          <p:cNvPr id="313" name="a5"/>
          <p:cNvGrpSpPr/>
          <p:nvPr/>
        </p:nvGrpSpPr>
        <p:grpSpPr>
          <a:xfrm>
            <a:off x="6525615" y="3877055"/>
            <a:ext cx="5117441" cy="896113"/>
            <a:chOff x="0" y="0"/>
            <a:chExt cx="5117439" cy="896111"/>
          </a:xfrm>
        </p:grpSpPr>
        <p:sp>
          <p:nvSpPr>
            <p:cNvPr id="310" name="a5_bg"/>
            <p:cNvSpPr/>
            <p:nvPr/>
          </p:nvSpPr>
          <p:spPr>
            <a:xfrm>
              <a:off x="0" y="0"/>
              <a:ext cx="5117440" cy="896112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1" name="a5_n"/>
            <p:cNvSpPr txBox="1"/>
            <p:nvPr/>
          </p:nvSpPr>
          <p:spPr>
            <a:xfrm>
              <a:off x="219455" y="314706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312" name="a5_t"/>
            <p:cNvSpPr txBox="1"/>
            <p:nvPr/>
          </p:nvSpPr>
          <p:spPr>
            <a:xfrm>
              <a:off x="749808" y="223476"/>
              <a:ext cx="4166464" cy="4491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 does not depend on the mass — it is a property of the field, not the object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2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Class="entr" nodeType="afterEffect" presetID="10" grpId="5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4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4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"/>
                            </p:stCondLst>
                            <p:childTnLst>
                              <p:par>
                                <p:cTn id="31" presetClass="entr" nodeType="afterEffect" presetID="10" grpId="7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4" fill="hold" display="0">
                  <p:stCondLst>
                    <p:cond delay="indefinite"/>
                  </p:stCondLst>
                </p:cTn>
                <p:tgtEl>
                  <p:spTgt spid="285"/>
                </p:tgtEl>
              </p:cMediaNode>
            </p:video>
            <p:seq concurrent="1" prevAc="none" nextAc="seek">
              <p:cTn id="35" evtFilter="cancelBubble" nodeType="interactiveSeq" restart="whenNotActive" fill="hold">
                <p:stCondLst>
                  <p:cond delay="0" evt="onClick">
                    <p:tgtEl>
                      <p:spTgt spid="285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9" dur="1" fill="hold"/>
                                        <p:tgtEl>
                                          <p:spTgt spid="2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85"/>
                  </p:tgtEl>
                </p:cond>
              </p:nextCondLst>
            </p:seq>
          </p:childTnLst>
        </p:cTn>
      </p:par>
    </p:tnLst>
    <p:bldLst>
      <p:bldP build="whole" bldLvl="1" animBg="1" rev="0" advAuto="0" spid="313" grpId="7"/>
      <p:bldP build="whole" bldLvl="1" animBg="1" rev="0" advAuto="0" spid="293" grpId="2"/>
      <p:bldP build="whole" bldLvl="1" animBg="1" rev="0" advAuto="0" spid="297" grpId="3"/>
      <p:bldP build="whole" bldLvl="1" animBg="1" rev="0" advAuto="0" spid="301" grpId="4"/>
      <p:bldP build="whole" bldLvl="1" animBg="1" rev="0" advAuto="0" spid="305" grpId="5"/>
      <p:bldP build="whole" bldLvl="1" animBg="1" rev="0" advAuto="0" spid="309" grpId="6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20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318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319" name="RECAP · 3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RECAP · 3 MIN</a:t>
              </a:r>
            </a:p>
          </p:txBody>
        </p:sp>
      </p:grpSp>
      <p:sp>
        <p:nvSpPr>
          <p:cNvPr id="321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Quick check before the break</a:t>
            </a:r>
          </a:p>
        </p:txBody>
      </p:sp>
      <p:grpSp>
        <p:nvGrpSpPr>
          <p:cNvPr id="325" name="rc0"/>
          <p:cNvGrpSpPr/>
          <p:nvPr/>
        </p:nvGrpSpPr>
        <p:grpSpPr>
          <a:xfrm>
            <a:off x="1170432" y="2194560"/>
            <a:ext cx="10472623" cy="1005840"/>
            <a:chOff x="0" y="0"/>
            <a:chExt cx="10472622" cy="1005839"/>
          </a:xfrm>
        </p:grpSpPr>
        <p:sp>
          <p:nvSpPr>
            <p:cNvPr id="322" name="rc0_bg"/>
            <p:cNvSpPr/>
            <p:nvPr/>
          </p:nvSpPr>
          <p:spPr>
            <a:xfrm>
              <a:off x="0" y="0"/>
              <a:ext cx="10472623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3" name="rc0_q"/>
            <p:cNvSpPr txBox="1"/>
            <p:nvPr/>
          </p:nvSpPr>
          <p:spPr>
            <a:xfrm>
              <a:off x="256031" y="209063"/>
              <a:ext cx="996056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What does g actually measure?</a:t>
              </a:r>
            </a:p>
          </p:txBody>
        </p:sp>
        <p:sp>
          <p:nvSpPr>
            <p:cNvPr id="324" name="rc0_a"/>
            <p:cNvSpPr txBox="1"/>
            <p:nvPr/>
          </p:nvSpPr>
          <p:spPr>
            <a:xfrm>
              <a:off x="256031" y="608397"/>
              <a:ext cx="9960560" cy="2096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i="1" sz="1500">
                  <a:solidFill>
                    <a:srgbClr val="C25A1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strength of a gravitational field.</a:t>
              </a:r>
            </a:p>
          </p:txBody>
        </p:sp>
      </p:grpSp>
      <p:grpSp>
        <p:nvGrpSpPr>
          <p:cNvPr id="329" name="rc1"/>
          <p:cNvGrpSpPr/>
          <p:nvPr/>
        </p:nvGrpSpPr>
        <p:grpSpPr>
          <a:xfrm>
            <a:off x="1170432" y="3401567"/>
            <a:ext cx="10472623" cy="1005841"/>
            <a:chOff x="0" y="0"/>
            <a:chExt cx="10472622" cy="1005839"/>
          </a:xfrm>
        </p:grpSpPr>
        <p:sp>
          <p:nvSpPr>
            <p:cNvPr id="326" name="rc1_bg"/>
            <p:cNvSpPr/>
            <p:nvPr/>
          </p:nvSpPr>
          <p:spPr>
            <a:xfrm>
              <a:off x="0" y="0"/>
              <a:ext cx="10472623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7" name="rc1_q"/>
            <p:cNvSpPr txBox="1"/>
            <p:nvPr/>
          </p:nvSpPr>
          <p:spPr>
            <a:xfrm>
              <a:off x="256031" y="209063"/>
              <a:ext cx="996056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Complete: W = ___</a:t>
              </a:r>
            </a:p>
          </p:txBody>
        </p:sp>
        <p:sp>
          <p:nvSpPr>
            <p:cNvPr id="328" name="rc1_a"/>
            <p:cNvSpPr txBox="1"/>
            <p:nvPr/>
          </p:nvSpPr>
          <p:spPr>
            <a:xfrm>
              <a:off x="256031" y="608397"/>
              <a:ext cx="9960560" cy="2096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i="1" sz="1500">
                  <a:solidFill>
                    <a:srgbClr val="C25A1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 × g</a:t>
              </a:r>
            </a:p>
          </p:txBody>
        </p:sp>
      </p:grpSp>
      <p:grpSp>
        <p:nvGrpSpPr>
          <p:cNvPr id="333" name="rc2"/>
          <p:cNvGrpSpPr/>
          <p:nvPr/>
        </p:nvGrpSpPr>
        <p:grpSpPr>
          <a:xfrm>
            <a:off x="1170432" y="4608576"/>
            <a:ext cx="10472623" cy="1005841"/>
            <a:chOff x="0" y="0"/>
            <a:chExt cx="10472622" cy="1005839"/>
          </a:xfrm>
        </p:grpSpPr>
        <p:sp>
          <p:nvSpPr>
            <p:cNvPr id="330" name="rc2_bg"/>
            <p:cNvSpPr/>
            <p:nvPr/>
          </p:nvSpPr>
          <p:spPr>
            <a:xfrm>
              <a:off x="0" y="0"/>
              <a:ext cx="10472623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1" name="rc2_q"/>
            <p:cNvSpPr txBox="1"/>
            <p:nvPr/>
          </p:nvSpPr>
          <p:spPr>
            <a:xfrm>
              <a:off x="256031" y="209063"/>
              <a:ext cx="996056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True or false: a bigger mass has a bigger g.</a:t>
              </a:r>
            </a:p>
          </p:txBody>
        </p:sp>
        <p:sp>
          <p:nvSpPr>
            <p:cNvPr id="332" name="rc2_a"/>
            <p:cNvSpPr txBox="1"/>
            <p:nvPr/>
          </p:nvSpPr>
          <p:spPr>
            <a:xfrm>
              <a:off x="256031" y="608397"/>
              <a:ext cx="9960560" cy="2096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i="1" sz="1500">
                  <a:solidFill>
                    <a:srgbClr val="C25A1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False — g belongs to the field.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3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2" fill="hold" display="0">
                  <p:stCondLst>
                    <p:cond delay="indefinite"/>
                  </p:stCondLst>
                </p:cTn>
                <p:tgtEl>
                  <p:spTgt spid="317"/>
                </p:tgtEl>
              </p:cMediaNode>
            </p:video>
            <p:seq concurrent="1" prevAc="none" nextAc="seek">
              <p:cTn id="23" evtFilter="cancelBubble" nodeType="interactiveSeq" restart="whenNotActive" fill="hold">
                <p:stCondLst>
                  <p:cond delay="0" evt="onClick">
                    <p:tgtEl>
                      <p:spTgt spid="317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3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317"/>
                  </p:tgtEl>
                </p:cond>
              </p:nextCondLst>
            </p:seq>
          </p:childTnLst>
        </p:cTn>
      </p:par>
    </p:tnLst>
    <p:bldLst>
      <p:bldP build="whole" bldLvl="1" animBg="1" rev="0" advAuto="0" spid="333" grpId="4"/>
      <p:bldP build="whole" bldLvl="1" animBg="1" rev="0" advAuto="0" spid="329" grpId="3"/>
      <p:bldP build="whole" bldLvl="1" animBg="1" rev="0" advAuto="0" spid="325" grpId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40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338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339" name="DO NOW · 10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DO NOW · 10 MIN</a:t>
              </a:r>
            </a:p>
          </p:txBody>
        </p:sp>
      </p:grpSp>
      <p:sp>
        <p:nvSpPr>
          <p:cNvPr id="341" name="lesson_title"/>
          <p:cNvSpPr txBox="1"/>
          <p:nvPr/>
        </p:nvSpPr>
        <p:spPr>
          <a:xfrm>
            <a:off x="3291840" y="344170"/>
            <a:ext cx="557784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Welcome back — Period 3</a:t>
            </a:r>
          </a:p>
        </p:txBody>
      </p:sp>
      <p:sp>
        <p:nvSpPr>
          <p:cNvPr id="342" name="rule"/>
          <p:cNvSpPr/>
          <p:nvPr/>
        </p:nvSpPr>
        <p:spPr>
          <a:xfrm>
            <a:off x="1170432" y="896111"/>
            <a:ext cx="10472623" cy="36577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e0_bg"/>
          <p:cNvSpPr/>
          <p:nvPr/>
        </p:nvSpPr>
        <p:spPr>
          <a:xfrm>
            <a:off x="1170432" y="1133855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e0_badge"/>
          <p:cNvSpPr/>
          <p:nvPr/>
        </p:nvSpPr>
        <p:spPr>
          <a:xfrm>
            <a:off x="1371600" y="1298447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e0_num"/>
          <p:cNvSpPr txBox="1"/>
          <p:nvPr/>
        </p:nvSpPr>
        <p:spPr>
          <a:xfrm>
            <a:off x="1371600" y="1388871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46" name="e0_q"/>
          <p:cNvSpPr txBox="1"/>
          <p:nvPr/>
        </p:nvSpPr>
        <p:spPr>
          <a:xfrm>
            <a:off x="1901951" y="1490277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does g actually measure?</a:t>
            </a:r>
          </a:p>
        </p:txBody>
      </p:sp>
      <p:grpSp>
        <p:nvGrpSpPr>
          <p:cNvPr id="349" name="e0_a"/>
          <p:cNvGrpSpPr/>
          <p:nvPr/>
        </p:nvGrpSpPr>
        <p:grpSpPr>
          <a:xfrm>
            <a:off x="1371600" y="2048255"/>
            <a:ext cx="4696817" cy="438914"/>
            <a:chOff x="0" y="0"/>
            <a:chExt cx="4696816" cy="438912"/>
          </a:xfrm>
        </p:grpSpPr>
        <p:sp>
          <p:nvSpPr>
            <p:cNvPr id="347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48" name="The strength of a gravitational field.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strength of a gravitational field.</a:t>
              </a:r>
            </a:p>
          </p:txBody>
        </p:sp>
      </p:grpSp>
      <p:sp>
        <p:nvSpPr>
          <p:cNvPr id="350" name="e1_bg"/>
          <p:cNvSpPr/>
          <p:nvPr/>
        </p:nvSpPr>
        <p:spPr>
          <a:xfrm>
            <a:off x="6543903" y="1133855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e1_badge"/>
          <p:cNvSpPr/>
          <p:nvPr/>
        </p:nvSpPr>
        <p:spPr>
          <a:xfrm>
            <a:off x="6745072" y="1298447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e1_num"/>
          <p:cNvSpPr txBox="1"/>
          <p:nvPr/>
        </p:nvSpPr>
        <p:spPr>
          <a:xfrm>
            <a:off x="6745072" y="1388871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53" name="e1_q"/>
          <p:cNvSpPr txBox="1"/>
          <p:nvPr/>
        </p:nvSpPr>
        <p:spPr>
          <a:xfrm>
            <a:off x="7275424" y="1490277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 ≈ ___ N/kg near the Earth’s surface.</a:t>
            </a:r>
          </a:p>
        </p:txBody>
      </p:sp>
      <p:grpSp>
        <p:nvGrpSpPr>
          <p:cNvPr id="356" name="e1_a"/>
          <p:cNvGrpSpPr/>
          <p:nvPr/>
        </p:nvGrpSpPr>
        <p:grpSpPr>
          <a:xfrm>
            <a:off x="6745072" y="2048255"/>
            <a:ext cx="4696817" cy="438914"/>
            <a:chOff x="0" y="0"/>
            <a:chExt cx="4696816" cy="438912"/>
          </a:xfrm>
        </p:grpSpPr>
        <p:sp>
          <p:nvSpPr>
            <p:cNvPr id="354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55" name="9.8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9.8</a:t>
              </a:r>
            </a:p>
          </p:txBody>
        </p:sp>
      </p:grpSp>
      <p:sp>
        <p:nvSpPr>
          <p:cNvPr id="357" name="e2_bg"/>
          <p:cNvSpPr/>
          <p:nvPr/>
        </p:nvSpPr>
        <p:spPr>
          <a:xfrm>
            <a:off x="1170432" y="2798064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e2_badge"/>
          <p:cNvSpPr/>
          <p:nvPr/>
        </p:nvSpPr>
        <p:spPr>
          <a:xfrm>
            <a:off x="1371600" y="2962655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e2_num"/>
          <p:cNvSpPr txBox="1"/>
          <p:nvPr/>
        </p:nvSpPr>
        <p:spPr>
          <a:xfrm>
            <a:off x="1371600" y="3053079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60" name="e2_q"/>
          <p:cNvSpPr txBox="1"/>
          <p:nvPr/>
        </p:nvSpPr>
        <p:spPr>
          <a:xfrm>
            <a:off x="1901951" y="3154485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6 kg mass. Find its weight.</a:t>
            </a:r>
          </a:p>
        </p:txBody>
      </p:sp>
      <p:grpSp>
        <p:nvGrpSpPr>
          <p:cNvPr id="363" name="e2_a"/>
          <p:cNvGrpSpPr/>
          <p:nvPr/>
        </p:nvGrpSpPr>
        <p:grpSpPr>
          <a:xfrm>
            <a:off x="1371600" y="3712464"/>
            <a:ext cx="4696817" cy="438913"/>
            <a:chOff x="0" y="0"/>
            <a:chExt cx="4696816" cy="438912"/>
          </a:xfrm>
        </p:grpSpPr>
        <p:sp>
          <p:nvSpPr>
            <p:cNvPr id="361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62" name="6 × 9.8 = 58.8 N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6 × 9.8 = 58.8 N</a:t>
              </a:r>
            </a:p>
          </p:txBody>
        </p:sp>
      </p:grpSp>
      <p:sp>
        <p:nvSpPr>
          <p:cNvPr id="364" name="e3_bg"/>
          <p:cNvSpPr/>
          <p:nvPr/>
        </p:nvSpPr>
        <p:spPr>
          <a:xfrm>
            <a:off x="6543903" y="2798064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e3_badge"/>
          <p:cNvSpPr/>
          <p:nvPr/>
        </p:nvSpPr>
        <p:spPr>
          <a:xfrm>
            <a:off x="6745072" y="2962655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e3_num"/>
          <p:cNvSpPr txBox="1"/>
          <p:nvPr/>
        </p:nvSpPr>
        <p:spPr>
          <a:xfrm>
            <a:off x="6745072" y="3053079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67" name="e3_q"/>
          <p:cNvSpPr txBox="1"/>
          <p:nvPr/>
        </p:nvSpPr>
        <p:spPr>
          <a:xfrm>
            <a:off x="7275424" y="3154485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 or false: a bigger mass has a bigger g.</a:t>
            </a:r>
          </a:p>
        </p:txBody>
      </p:sp>
      <p:grpSp>
        <p:nvGrpSpPr>
          <p:cNvPr id="370" name="e3_a"/>
          <p:cNvGrpSpPr/>
          <p:nvPr/>
        </p:nvGrpSpPr>
        <p:grpSpPr>
          <a:xfrm>
            <a:off x="6745072" y="3712464"/>
            <a:ext cx="4696817" cy="438913"/>
            <a:chOff x="0" y="0"/>
            <a:chExt cx="4696816" cy="438912"/>
          </a:xfrm>
        </p:grpSpPr>
        <p:sp>
          <p:nvSpPr>
            <p:cNvPr id="368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69" name="False.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False.</a:t>
              </a:r>
            </a:p>
          </p:txBody>
        </p:sp>
      </p:grpSp>
      <p:sp>
        <p:nvSpPr>
          <p:cNvPr id="371" name="e4_bg"/>
          <p:cNvSpPr/>
          <p:nvPr/>
        </p:nvSpPr>
        <p:spPr>
          <a:xfrm>
            <a:off x="1170432" y="4462271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e4_badge"/>
          <p:cNvSpPr/>
          <p:nvPr/>
        </p:nvSpPr>
        <p:spPr>
          <a:xfrm>
            <a:off x="1371600" y="4626864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3" name="e4_num"/>
          <p:cNvSpPr txBox="1"/>
          <p:nvPr/>
        </p:nvSpPr>
        <p:spPr>
          <a:xfrm>
            <a:off x="1371600" y="4717288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74" name="e4_q"/>
          <p:cNvSpPr txBox="1"/>
          <p:nvPr/>
        </p:nvSpPr>
        <p:spPr>
          <a:xfrm>
            <a:off x="1901951" y="4818693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the unit of weight?</a:t>
            </a:r>
          </a:p>
        </p:txBody>
      </p:sp>
      <p:grpSp>
        <p:nvGrpSpPr>
          <p:cNvPr id="377" name="e4_a"/>
          <p:cNvGrpSpPr/>
          <p:nvPr/>
        </p:nvGrpSpPr>
        <p:grpSpPr>
          <a:xfrm>
            <a:off x="1371600" y="5376671"/>
            <a:ext cx="4696817" cy="438913"/>
            <a:chOff x="0" y="0"/>
            <a:chExt cx="4696816" cy="438912"/>
          </a:xfrm>
        </p:grpSpPr>
        <p:sp>
          <p:nvSpPr>
            <p:cNvPr id="375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76" name="N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</a:t>
              </a:r>
            </a:p>
          </p:txBody>
        </p:sp>
      </p:grpSp>
      <p:sp>
        <p:nvSpPr>
          <p:cNvPr id="378" name="e5_bg"/>
          <p:cNvSpPr/>
          <p:nvPr/>
        </p:nvSpPr>
        <p:spPr>
          <a:xfrm>
            <a:off x="6543903" y="4462271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9" name="e5_badge"/>
          <p:cNvSpPr/>
          <p:nvPr/>
        </p:nvSpPr>
        <p:spPr>
          <a:xfrm>
            <a:off x="6745072" y="4626864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e5_num"/>
          <p:cNvSpPr txBox="1"/>
          <p:nvPr/>
        </p:nvSpPr>
        <p:spPr>
          <a:xfrm>
            <a:off x="6745072" y="4717288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81" name="e5_q"/>
          <p:cNvSpPr txBox="1"/>
          <p:nvPr/>
        </p:nvSpPr>
        <p:spPr>
          <a:xfrm>
            <a:off x="7275424" y="4818693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Complete: W = ___</a:t>
            </a:r>
          </a:p>
        </p:txBody>
      </p:sp>
      <p:grpSp>
        <p:nvGrpSpPr>
          <p:cNvPr id="384" name="e5_a"/>
          <p:cNvGrpSpPr/>
          <p:nvPr/>
        </p:nvGrpSpPr>
        <p:grpSpPr>
          <a:xfrm>
            <a:off x="6745072" y="5376671"/>
            <a:ext cx="4696817" cy="438913"/>
            <a:chOff x="0" y="0"/>
            <a:chExt cx="4696816" cy="438912"/>
          </a:xfrm>
        </p:grpSpPr>
        <p:sp>
          <p:nvSpPr>
            <p:cNvPr id="382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83" name="m × g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 × 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0" fill="hold"/>
                                        <p:tgtEl>
                                          <p:spTgt spid="3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4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4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4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4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4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4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7" fill="hold" display="0">
                  <p:stCondLst>
                    <p:cond delay="indefinite"/>
                  </p:stCondLst>
                </p:cTn>
                <p:tgtEl>
                  <p:spTgt spid="337"/>
                </p:tgtEl>
              </p:cMediaNode>
            </p:video>
            <p:seq concurrent="1" prevAc="none" nextAc="seek">
              <p:cTn id="38" evtFilter="cancelBubble" nodeType="interactiveSeq" restart="whenNotActive" fill="hold">
                <p:stCondLst>
                  <p:cond delay="0" evt="onClick">
                    <p:tgtEl>
                      <p:spTgt spid="337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3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337"/>
                  </p:tgtEl>
                </p:cond>
              </p:nextCondLst>
            </p:seq>
          </p:childTnLst>
        </p:cTn>
      </p:par>
    </p:tnLst>
    <p:bldLst>
      <p:bldP build="whole" bldLvl="1" animBg="1" rev="0" advAuto="0" spid="363" grpId="4"/>
      <p:bldP build="whole" bldLvl="1" animBg="1" rev="0" advAuto="0" spid="384" grpId="7"/>
      <p:bldP build="whole" bldLvl="1" animBg="1" rev="0" advAuto="0" spid="370" grpId="5"/>
      <p:bldP build="whole" bldLvl="1" animBg="1" rev="0" advAuto="0" spid="356" grpId="3"/>
      <p:bldP build="whole" bldLvl="1" animBg="1" rev="0" advAuto="0" spid="349" grpId="2"/>
      <p:bldP build="whole" bldLvl="1" animBg="1" rev="0" advAuto="0" spid="377" grpId="6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91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389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390" name="TODAY · 1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TODAY · 1 MIN</a:t>
              </a:r>
            </a:p>
          </p:txBody>
        </p:sp>
      </p:grpSp>
      <p:sp>
        <p:nvSpPr>
          <p:cNvPr id="392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Learning Objectives</a:t>
            </a:r>
          </a:p>
        </p:txBody>
      </p:sp>
      <p:grpSp>
        <p:nvGrpSpPr>
          <p:cNvPr id="397" name="p2o0"/>
          <p:cNvGrpSpPr/>
          <p:nvPr/>
        </p:nvGrpSpPr>
        <p:grpSpPr>
          <a:xfrm>
            <a:off x="1170432" y="2194560"/>
            <a:ext cx="3307994" cy="1792224"/>
            <a:chOff x="0" y="0"/>
            <a:chExt cx="3307993" cy="1792223"/>
          </a:xfrm>
        </p:grpSpPr>
        <p:sp>
          <p:nvSpPr>
            <p:cNvPr id="393" name="p2o0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4" name="p2o0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5" name="p2o0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96" name="p2o0_t"/>
            <p:cNvSpPr txBox="1"/>
            <p:nvPr/>
          </p:nvSpPr>
          <p:spPr>
            <a:xfrm>
              <a:off x="237744" y="713231"/>
              <a:ext cx="2832506" cy="497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b="1"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Say that g is also the acceleration of free fall.</a:t>
              </a:r>
            </a:p>
          </p:txBody>
        </p:sp>
      </p:grpSp>
      <p:grpSp>
        <p:nvGrpSpPr>
          <p:cNvPr id="402" name="p2o1"/>
          <p:cNvGrpSpPr/>
          <p:nvPr/>
        </p:nvGrpSpPr>
        <p:grpSpPr>
          <a:xfrm>
            <a:off x="4752745" y="2194560"/>
            <a:ext cx="3307995" cy="1792224"/>
            <a:chOff x="0" y="0"/>
            <a:chExt cx="3307993" cy="1792223"/>
          </a:xfrm>
        </p:grpSpPr>
        <p:sp>
          <p:nvSpPr>
            <p:cNvPr id="398" name="p2o1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9" name="p2o1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0" name="p2o1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401" name="p2o1_t"/>
            <p:cNvSpPr txBox="1"/>
            <p:nvPr/>
          </p:nvSpPr>
          <p:spPr>
            <a:xfrm>
              <a:off x="237744" y="713231"/>
              <a:ext cx="2832506" cy="497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b="1"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Show that N/kg and m/s² are the same unit.</a:t>
              </a:r>
            </a:p>
          </p:txBody>
        </p:sp>
      </p:grpSp>
      <p:grpSp>
        <p:nvGrpSpPr>
          <p:cNvPr id="407" name="p2o2"/>
          <p:cNvGrpSpPr/>
          <p:nvPr/>
        </p:nvGrpSpPr>
        <p:grpSpPr>
          <a:xfrm>
            <a:off x="8335061" y="2194560"/>
            <a:ext cx="3307994" cy="1792224"/>
            <a:chOff x="0" y="0"/>
            <a:chExt cx="3307993" cy="1792223"/>
          </a:xfrm>
        </p:grpSpPr>
        <p:sp>
          <p:nvSpPr>
            <p:cNvPr id="403" name="p2o2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4" name="p2o2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5" name="p2o2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406" name="p2o2_t"/>
            <p:cNvSpPr txBox="1"/>
            <p:nvPr/>
          </p:nvSpPr>
          <p:spPr>
            <a:xfrm>
              <a:off x="237744" y="713231"/>
              <a:ext cx="2832506" cy="497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b="1"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Use SUVAT for free fall — ignoring air resistance.</a:t>
              </a:r>
            </a:p>
          </p:txBody>
        </p:sp>
      </p:grpSp>
      <p:grpSp>
        <p:nvGrpSpPr>
          <p:cNvPr id="410" name="obj_banner2"/>
          <p:cNvGrpSpPr/>
          <p:nvPr/>
        </p:nvGrpSpPr>
        <p:grpSpPr>
          <a:xfrm>
            <a:off x="1170432" y="4279391"/>
            <a:ext cx="10472623" cy="640081"/>
            <a:chOff x="0" y="0"/>
            <a:chExt cx="10472622" cy="640080"/>
          </a:xfrm>
        </p:grpSpPr>
        <p:sp>
          <p:nvSpPr>
            <p:cNvPr id="408" name="Rounded Rectangle"/>
            <p:cNvSpPr/>
            <p:nvPr/>
          </p:nvSpPr>
          <p:spPr>
            <a:xfrm>
              <a:off x="0" y="0"/>
              <a:ext cx="10472623" cy="640081"/>
            </a:xfrm>
            <a:prstGeom prst="roundRect">
              <a:avLst>
                <a:gd name="adj" fmla="val 17143"/>
              </a:avLst>
            </a:prstGeom>
            <a:solidFill>
              <a:srgbClr val="17203F"/>
            </a:solidFill>
            <a:ln w="9525" cap="flat">
              <a:solidFill>
                <a:srgbClr val="1720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500"/>
              </a:pPr>
            </a:p>
          </p:txBody>
        </p:sp>
        <p:sp>
          <p:nvSpPr>
            <p:cNvPr id="409" name="9.8 N/kg and 9.8 m/s² are not two coincidences. They are the same fact."/>
            <p:cNvSpPr txBox="1"/>
            <p:nvPr/>
          </p:nvSpPr>
          <p:spPr>
            <a:xfrm>
              <a:off x="36901" y="215206"/>
              <a:ext cx="10398821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500">
                  <a:solidFill>
                    <a:srgbClr val="FF8A3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9.8 N/kg and 9.8 m/s² are not two coincidences. They are the same fact.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3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8" fill="hold" display="0">
                  <p:stCondLst>
                    <p:cond delay="indefinite"/>
                  </p:stCondLst>
                </p:cTn>
                <p:tgtEl>
                  <p:spTgt spid="388"/>
                </p:tgtEl>
              </p:cMediaNode>
            </p:video>
            <p:seq concurrent="1" prevAc="none" nextAc="seek">
              <p:cTn id="29" evtFilter="cancelBubble" nodeType="interactiveSeq" restart="whenNotActive" fill="hold">
                <p:stCondLst>
                  <p:cond delay="0" evt="onClick">
                    <p:tgtEl>
                      <p:spTgt spid="38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3" dur="1" fill="hold"/>
                                        <p:tgtEl>
                                          <p:spTgt spid="3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388"/>
                  </p:tgtEl>
                </p:cond>
              </p:nextCondLst>
            </p:seq>
          </p:childTnLst>
        </p:cTn>
      </p:par>
    </p:tnLst>
    <p:bldLst>
      <p:bldP build="whole" bldLvl="1" animBg="1" rev="0" advAuto="0" spid="402" grpId="3"/>
      <p:bldP build="whole" bldLvl="1" animBg="1" rev="0" advAuto="0" spid="397" grpId="2"/>
      <p:bldP build="whole" bldLvl="1" animBg="1" rev="0" advAuto="0" spid="407" grpId="4"/>
      <p:bldP build="whole" bldLvl="1" animBg="1" rev="0" advAuto="0" spid="410" grpId="5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17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415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416" name="HOOK · 2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HOOK · 2 MIN</a:t>
              </a:r>
            </a:p>
          </p:txBody>
        </p:sp>
      </p:grpSp>
      <p:sp>
        <p:nvSpPr>
          <p:cNvPr id="418" name="slide_title"/>
          <p:cNvSpPr txBox="1"/>
          <p:nvPr/>
        </p:nvSpPr>
        <p:spPr>
          <a:xfrm>
            <a:off x="1170432" y="887347"/>
            <a:ext cx="10472623" cy="803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200"/>
              </a:lnSpc>
              <a:defRPr b="1" sz="26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One ball is dropped. A second is thrown sideways from the same height, at the same moment.</a:t>
            </a:r>
          </a:p>
        </p:txBody>
      </p:sp>
      <p:sp>
        <p:nvSpPr>
          <p:cNvPr id="419" name="slide_sub"/>
          <p:cNvSpPr txBox="1"/>
          <p:nvPr/>
        </p:nvSpPr>
        <p:spPr>
          <a:xfrm>
            <a:off x="1170432" y="1879067"/>
            <a:ext cx="1047262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5A64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Which one hits the ground first? (Ignore air resistance.)</a:t>
            </a:r>
          </a:p>
        </p:txBody>
      </p:sp>
      <p:grpSp>
        <p:nvGrpSpPr>
          <p:cNvPr id="423" name="hk0"/>
          <p:cNvGrpSpPr/>
          <p:nvPr/>
        </p:nvGrpSpPr>
        <p:grpSpPr>
          <a:xfrm>
            <a:off x="1170432" y="2487167"/>
            <a:ext cx="3307994" cy="1554481"/>
            <a:chOff x="0" y="0"/>
            <a:chExt cx="3307993" cy="1554480"/>
          </a:xfrm>
        </p:grpSpPr>
        <p:sp>
          <p:nvSpPr>
            <p:cNvPr id="420" name="hk0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1" name="hk0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422" name="hk0_t"/>
            <p:cNvSpPr txBox="1"/>
            <p:nvPr/>
          </p:nvSpPr>
          <p:spPr>
            <a:xfrm>
              <a:off x="256032" y="848061"/>
              <a:ext cx="2795930" cy="2606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100"/>
                </a:lnSpc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The dropped one.</a:t>
              </a:r>
            </a:p>
          </p:txBody>
        </p:sp>
      </p:grpSp>
      <p:grpSp>
        <p:nvGrpSpPr>
          <p:cNvPr id="427" name="hk1"/>
          <p:cNvGrpSpPr/>
          <p:nvPr/>
        </p:nvGrpSpPr>
        <p:grpSpPr>
          <a:xfrm>
            <a:off x="4752745" y="2487167"/>
            <a:ext cx="3307995" cy="1554481"/>
            <a:chOff x="0" y="0"/>
            <a:chExt cx="3307993" cy="1554480"/>
          </a:xfrm>
        </p:grpSpPr>
        <p:sp>
          <p:nvSpPr>
            <p:cNvPr id="424" name="hk1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5" name="hk1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426" name="hk1_t"/>
            <p:cNvSpPr txBox="1"/>
            <p:nvPr/>
          </p:nvSpPr>
          <p:spPr>
            <a:xfrm>
              <a:off x="256032" y="848061"/>
              <a:ext cx="2795930" cy="2606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100"/>
                </a:lnSpc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The thrown one.</a:t>
              </a:r>
            </a:p>
          </p:txBody>
        </p:sp>
      </p:grpSp>
      <p:grpSp>
        <p:nvGrpSpPr>
          <p:cNvPr id="431" name="hk2"/>
          <p:cNvGrpSpPr/>
          <p:nvPr/>
        </p:nvGrpSpPr>
        <p:grpSpPr>
          <a:xfrm>
            <a:off x="8335061" y="2487167"/>
            <a:ext cx="3307994" cy="1554481"/>
            <a:chOff x="0" y="0"/>
            <a:chExt cx="3307993" cy="1554480"/>
          </a:xfrm>
        </p:grpSpPr>
        <p:sp>
          <p:nvSpPr>
            <p:cNvPr id="428" name="hk2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9" name="hk2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430" name="hk2_t"/>
            <p:cNvSpPr txBox="1"/>
            <p:nvPr/>
          </p:nvSpPr>
          <p:spPr>
            <a:xfrm>
              <a:off x="256032" y="848061"/>
              <a:ext cx="2795930" cy="2606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100"/>
                </a:lnSpc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Both, at the same time.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0" fill="hold"/>
                                        <p:tgtEl>
                                          <p:spTgt spid="4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4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0" fill="hold" display="0">
                  <p:stCondLst>
                    <p:cond delay="indefinite"/>
                  </p:stCondLst>
                </p:cTn>
                <p:tgtEl>
                  <p:spTgt spid="414"/>
                </p:tgtEl>
              </p:cMediaNode>
            </p:video>
            <p:seq concurrent="1" prevAc="none" nextAc="seek">
              <p:cTn id="21" evtFilter="cancelBubble" nodeType="interactiveSeq" restart="whenNotActive" fill="hold">
                <p:stCondLst>
                  <p:cond delay="0" evt="onClick">
                    <p:tgtEl>
                      <p:spTgt spid="414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" dur="1" fill="hold"/>
                                        <p:tgtEl>
                                          <p:spTgt spid="4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14"/>
                  </p:tgtEl>
                </p:cond>
              </p:nextCondLst>
            </p:seq>
          </p:childTnLst>
        </p:cTn>
      </p:par>
    </p:tnLst>
    <p:bldLst>
      <p:bldP build="whole" bldLvl="1" animBg="1" rev="0" advAuto="0" spid="431" grpId="4"/>
      <p:bldP build="whole" bldLvl="1" animBg="1" rev="0" advAuto="0" spid="423" grpId="2"/>
      <p:bldP build="whole" bldLvl="1" animBg="1" rev="0" advAuto="0" spid="427" grpId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38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436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437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439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 is also an acceleration</a:t>
            </a:r>
          </a:p>
        </p:txBody>
      </p:sp>
      <p:grpSp>
        <p:nvGrpSpPr>
          <p:cNvPr id="444" name="ff_0"/>
          <p:cNvGrpSpPr/>
          <p:nvPr/>
        </p:nvGrpSpPr>
        <p:grpSpPr>
          <a:xfrm>
            <a:off x="1170432" y="2286000"/>
            <a:ext cx="10472623" cy="1005840"/>
            <a:chOff x="0" y="0"/>
            <a:chExt cx="10472622" cy="1005839"/>
          </a:xfrm>
        </p:grpSpPr>
        <p:sp>
          <p:nvSpPr>
            <p:cNvPr id="440" name="ff_0_bg"/>
            <p:cNvSpPr/>
            <p:nvPr/>
          </p:nvSpPr>
          <p:spPr>
            <a:xfrm>
              <a:off x="0" y="0"/>
              <a:ext cx="10472623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1" name="ff_0_n"/>
            <p:cNvSpPr txBox="1"/>
            <p:nvPr/>
          </p:nvSpPr>
          <p:spPr>
            <a:xfrm>
              <a:off x="201167" y="369569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42" name="ff_0_e"/>
            <p:cNvSpPr txBox="1"/>
            <p:nvPr/>
          </p:nvSpPr>
          <p:spPr>
            <a:xfrm>
              <a:off x="585215" y="194772"/>
              <a:ext cx="9667952" cy="2505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000"/>
                </a:lnSpc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Drop something. Ignore air resistance.</a:t>
              </a:r>
            </a:p>
          </p:txBody>
        </p:sp>
        <p:sp>
          <p:nvSpPr>
            <p:cNvPr id="443" name="ff_0_t"/>
            <p:cNvSpPr txBox="1"/>
            <p:nvPr/>
          </p:nvSpPr>
          <p:spPr>
            <a:xfrm>
              <a:off x="585215" y="666402"/>
              <a:ext cx="9667952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It speeds up as it falls — it accelerates.</a:t>
              </a:r>
            </a:p>
          </p:txBody>
        </p:sp>
      </p:grpSp>
      <p:grpSp>
        <p:nvGrpSpPr>
          <p:cNvPr id="449" name="ff_1"/>
          <p:cNvGrpSpPr/>
          <p:nvPr/>
        </p:nvGrpSpPr>
        <p:grpSpPr>
          <a:xfrm>
            <a:off x="1170432" y="3474720"/>
            <a:ext cx="10472623" cy="1005841"/>
            <a:chOff x="0" y="0"/>
            <a:chExt cx="10472622" cy="1005839"/>
          </a:xfrm>
        </p:grpSpPr>
        <p:sp>
          <p:nvSpPr>
            <p:cNvPr id="445" name="ff_1_bg"/>
            <p:cNvSpPr/>
            <p:nvPr/>
          </p:nvSpPr>
          <p:spPr>
            <a:xfrm>
              <a:off x="0" y="0"/>
              <a:ext cx="10472623" cy="1005840"/>
            </a:xfrm>
            <a:prstGeom prst="roundRect">
              <a:avLst>
                <a:gd name="adj" fmla="val 9091"/>
              </a:avLst>
            </a:prstGeom>
            <a:solidFill>
              <a:srgbClr val="FFEFE2"/>
            </a:solidFill>
            <a:ln w="2159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6" name="ff_1_n"/>
            <p:cNvSpPr txBox="1"/>
            <p:nvPr/>
          </p:nvSpPr>
          <p:spPr>
            <a:xfrm>
              <a:off x="201167" y="369569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447" name="ff_1_e"/>
            <p:cNvSpPr txBox="1"/>
            <p:nvPr/>
          </p:nvSpPr>
          <p:spPr>
            <a:xfrm>
              <a:off x="585215" y="194772"/>
              <a:ext cx="9667952" cy="2505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000"/>
                </a:lnSpc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That acceleration is g ≈ 9.8 m/s².</a:t>
              </a:r>
            </a:p>
          </p:txBody>
        </p:sp>
        <p:sp>
          <p:nvSpPr>
            <p:cNvPr id="448" name="ff_1_t"/>
            <p:cNvSpPr txBox="1"/>
            <p:nvPr/>
          </p:nvSpPr>
          <p:spPr>
            <a:xfrm>
              <a:off x="585215" y="666402"/>
              <a:ext cx="9667952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same number as the field strength.</a:t>
              </a:r>
            </a:p>
          </p:txBody>
        </p:sp>
      </p:grpSp>
      <p:grpSp>
        <p:nvGrpSpPr>
          <p:cNvPr id="454" name="ff_2"/>
          <p:cNvGrpSpPr/>
          <p:nvPr/>
        </p:nvGrpSpPr>
        <p:grpSpPr>
          <a:xfrm>
            <a:off x="1170432" y="4663440"/>
            <a:ext cx="10472623" cy="1005841"/>
            <a:chOff x="0" y="0"/>
            <a:chExt cx="10472622" cy="1005839"/>
          </a:xfrm>
        </p:grpSpPr>
        <p:sp>
          <p:nvSpPr>
            <p:cNvPr id="450" name="ff_2_bg"/>
            <p:cNvSpPr/>
            <p:nvPr/>
          </p:nvSpPr>
          <p:spPr>
            <a:xfrm>
              <a:off x="0" y="0"/>
              <a:ext cx="10472623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51" name="ff_2_n"/>
            <p:cNvSpPr txBox="1"/>
            <p:nvPr/>
          </p:nvSpPr>
          <p:spPr>
            <a:xfrm>
              <a:off x="201167" y="369569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452" name="ff_2_e"/>
            <p:cNvSpPr txBox="1"/>
            <p:nvPr/>
          </p:nvSpPr>
          <p:spPr>
            <a:xfrm>
              <a:off x="585215" y="194772"/>
              <a:ext cx="9667952" cy="2505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000"/>
                </a:lnSpc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This works for ANY falling object.</a:t>
              </a:r>
            </a:p>
          </p:txBody>
        </p:sp>
        <p:sp>
          <p:nvSpPr>
            <p:cNvPr id="453" name="ff_2_t"/>
            <p:cNvSpPr txBox="1"/>
            <p:nvPr/>
          </p:nvSpPr>
          <p:spPr>
            <a:xfrm>
              <a:off x="585215" y="666402"/>
              <a:ext cx="9667952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pebble and a brick fall at the same rate.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4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2" fill="hold" display="0">
                  <p:stCondLst>
                    <p:cond delay="indefinite"/>
                  </p:stCondLst>
                </p:cTn>
                <p:tgtEl>
                  <p:spTgt spid="435"/>
                </p:tgtEl>
              </p:cMediaNode>
            </p:video>
            <p:seq concurrent="1" prevAc="none" nextAc="seek">
              <p:cTn id="23" evtFilter="cancelBubble" nodeType="interactiveSeq" restart="whenNotActive" fill="hold">
                <p:stCondLst>
                  <p:cond delay="0" evt="onClick">
                    <p:tgtEl>
                      <p:spTgt spid="435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4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35"/>
                  </p:tgtEl>
                </p:cond>
              </p:nextCondLst>
            </p:seq>
          </p:childTnLst>
        </p:cTn>
      </p:par>
    </p:tnLst>
    <p:bldLst>
      <p:bldP build="whole" bldLvl="1" animBg="1" rev="0" advAuto="0" spid="454" grpId="4"/>
      <p:bldP build="whole" bldLvl="1" animBg="1" rev="0" advAuto="0" spid="444" grpId="2"/>
      <p:bldP build="whole" bldLvl="1" animBg="1" rev="0" advAuto="0" spid="449" grpId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1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459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460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462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Why N/kg = m/s²</a:t>
            </a:r>
          </a:p>
        </p:txBody>
      </p:sp>
      <p:grpSp>
        <p:nvGrpSpPr>
          <p:cNvPr id="467" name="up_0"/>
          <p:cNvGrpSpPr/>
          <p:nvPr/>
        </p:nvGrpSpPr>
        <p:grpSpPr>
          <a:xfrm>
            <a:off x="1170432" y="2194560"/>
            <a:ext cx="10472623" cy="786385"/>
            <a:chOff x="0" y="0"/>
            <a:chExt cx="10472622" cy="786384"/>
          </a:xfrm>
        </p:grpSpPr>
        <p:sp>
          <p:nvSpPr>
            <p:cNvPr id="463" name="up_0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4" name="up_0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65" name="up_0_e"/>
            <p:cNvSpPr txBox="1"/>
            <p:nvPr/>
          </p:nvSpPr>
          <p:spPr>
            <a:xfrm>
              <a:off x="585215" y="144525"/>
              <a:ext cx="9667952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F = ma</a:t>
              </a:r>
            </a:p>
          </p:txBody>
        </p:sp>
        <p:sp>
          <p:nvSpPr>
            <p:cNvPr id="466" name="up_0_t"/>
            <p:cNvSpPr txBox="1"/>
            <p:nvPr/>
          </p:nvSpPr>
          <p:spPr>
            <a:xfrm>
              <a:off x="585215" y="498808"/>
              <a:ext cx="9667952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Force = mass × acceleration.</a:t>
              </a:r>
            </a:p>
          </p:txBody>
        </p:sp>
      </p:grpSp>
      <p:grpSp>
        <p:nvGrpSpPr>
          <p:cNvPr id="472" name="up_1"/>
          <p:cNvGrpSpPr/>
          <p:nvPr/>
        </p:nvGrpSpPr>
        <p:grpSpPr>
          <a:xfrm>
            <a:off x="1170432" y="3127248"/>
            <a:ext cx="10472623" cy="786385"/>
            <a:chOff x="0" y="0"/>
            <a:chExt cx="10472622" cy="786384"/>
          </a:xfrm>
        </p:grpSpPr>
        <p:sp>
          <p:nvSpPr>
            <p:cNvPr id="468" name="up_1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9" name="up_1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470" name="up_1_e"/>
            <p:cNvSpPr txBox="1"/>
            <p:nvPr/>
          </p:nvSpPr>
          <p:spPr>
            <a:xfrm>
              <a:off x="585215" y="144525"/>
              <a:ext cx="9667952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So N = kg × m/s²</a:t>
              </a:r>
            </a:p>
          </p:txBody>
        </p:sp>
        <p:sp>
          <p:nvSpPr>
            <p:cNvPr id="471" name="up_1_t"/>
            <p:cNvSpPr txBox="1"/>
            <p:nvPr/>
          </p:nvSpPr>
          <p:spPr>
            <a:xfrm>
              <a:off x="585215" y="498808"/>
              <a:ext cx="9667952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newton, written out in base units.</a:t>
              </a:r>
            </a:p>
          </p:txBody>
        </p:sp>
      </p:grpSp>
      <p:grpSp>
        <p:nvGrpSpPr>
          <p:cNvPr id="477" name="up_2"/>
          <p:cNvGrpSpPr/>
          <p:nvPr/>
        </p:nvGrpSpPr>
        <p:grpSpPr>
          <a:xfrm>
            <a:off x="1170432" y="4059935"/>
            <a:ext cx="10472623" cy="786385"/>
            <a:chOff x="0" y="0"/>
            <a:chExt cx="10472622" cy="786384"/>
          </a:xfrm>
        </p:grpSpPr>
        <p:sp>
          <p:nvSpPr>
            <p:cNvPr id="473" name="up_2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4" name="up_2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475" name="up_2_e"/>
            <p:cNvSpPr txBox="1"/>
            <p:nvPr/>
          </p:nvSpPr>
          <p:spPr>
            <a:xfrm>
              <a:off x="585215" y="144525"/>
              <a:ext cx="9667952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Divide both sides by kg:</a:t>
              </a:r>
            </a:p>
          </p:txBody>
        </p:sp>
        <p:sp>
          <p:nvSpPr>
            <p:cNvPr id="476" name="up_2_t"/>
            <p:cNvSpPr txBox="1"/>
            <p:nvPr/>
          </p:nvSpPr>
          <p:spPr>
            <a:xfrm>
              <a:off x="585215" y="498808"/>
              <a:ext cx="9667952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 ÷ kg = m/s²</a:t>
              </a:r>
            </a:p>
          </p:txBody>
        </p:sp>
      </p:grpSp>
      <p:grpSp>
        <p:nvGrpSpPr>
          <p:cNvPr id="482" name="up_3"/>
          <p:cNvGrpSpPr/>
          <p:nvPr/>
        </p:nvGrpSpPr>
        <p:grpSpPr>
          <a:xfrm>
            <a:off x="1170432" y="4992623"/>
            <a:ext cx="10472623" cy="786385"/>
            <a:chOff x="0" y="0"/>
            <a:chExt cx="10472622" cy="786384"/>
          </a:xfrm>
        </p:grpSpPr>
        <p:sp>
          <p:nvSpPr>
            <p:cNvPr id="478" name="up_3_bg"/>
            <p:cNvSpPr/>
            <p:nvPr/>
          </p:nvSpPr>
          <p:spPr>
            <a:xfrm>
              <a:off x="0" y="-1"/>
              <a:ext cx="10472623" cy="786386"/>
            </a:xfrm>
            <a:prstGeom prst="roundRect">
              <a:avLst>
                <a:gd name="adj" fmla="val 11628"/>
              </a:avLst>
            </a:prstGeom>
            <a:solidFill>
              <a:srgbClr val="FFEFE2"/>
            </a:solidFill>
            <a:ln w="2159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9" name="up_3_n"/>
            <p:cNvSpPr txBox="1"/>
            <p:nvPr/>
          </p:nvSpPr>
          <p:spPr>
            <a:xfrm>
              <a:off x="201167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480" name="up_3_e"/>
            <p:cNvSpPr txBox="1"/>
            <p:nvPr/>
          </p:nvSpPr>
          <p:spPr>
            <a:xfrm>
              <a:off x="585215" y="144525"/>
              <a:ext cx="9667952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g ≈ 9.8 N/kg = 9.8 m/s²</a:t>
              </a:r>
            </a:p>
          </p:txBody>
        </p:sp>
        <p:sp>
          <p:nvSpPr>
            <p:cNvPr id="481" name="up_3_t"/>
            <p:cNvSpPr txBox="1"/>
            <p:nvPr/>
          </p:nvSpPr>
          <p:spPr>
            <a:xfrm>
              <a:off x="585215" y="498808"/>
              <a:ext cx="9667952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Same number. Same fact. Two units for it.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4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7" fill="hold" display="0">
                  <p:stCondLst>
                    <p:cond delay="indefinite"/>
                  </p:stCondLst>
                </p:cTn>
                <p:tgtEl>
                  <p:spTgt spid="458"/>
                </p:tgtEl>
              </p:cMediaNode>
            </p:video>
            <p:seq concurrent="1" prevAc="none" nextAc="seek">
              <p:cTn id="28" evtFilter="cancelBubble" nodeType="interactiveSeq" restart="whenNotActive" fill="hold">
                <p:stCondLst>
                  <p:cond delay="0" evt="onClick">
                    <p:tgtEl>
                      <p:spTgt spid="45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4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58"/>
                  </p:tgtEl>
                </p:cond>
              </p:nextCondLst>
            </p:seq>
          </p:childTnLst>
        </p:cTn>
      </p:par>
    </p:tnLst>
    <p:bldLst>
      <p:bldP build="whole" bldLvl="1" animBg="1" rev="0" advAuto="0" spid="472" grpId="3"/>
      <p:bldP build="whole" bldLvl="1" animBg="1" rev="0" advAuto="0" spid="482" grpId="5"/>
      <p:bldP build="whole" bldLvl="1" animBg="1" rev="0" advAuto="0" spid="467" grpId="2"/>
      <p:bldP build="whole" bldLvl="1" animBg="1" rev="0" advAuto="0" spid="477" grpId="4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89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487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488" name="WE DO · 5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 DO · 5 MIN</a:t>
              </a:r>
            </a:p>
          </p:txBody>
        </p:sp>
      </p:grpSp>
      <p:sp>
        <p:nvSpPr>
          <p:cNvPr id="490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should be the correct answer?</a:t>
            </a:r>
          </a:p>
        </p:txBody>
      </p:sp>
      <p:sp>
        <p:nvSpPr>
          <p:cNvPr id="491" name="slide_sub"/>
          <p:cNvSpPr txBox="1"/>
          <p:nvPr/>
        </p:nvSpPr>
        <p:spPr>
          <a:xfrm>
            <a:off x="1170432" y="1644671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A64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Spot the mistake.</a:t>
            </a:r>
          </a:p>
        </p:txBody>
      </p:sp>
      <p:sp>
        <p:nvSpPr>
          <p:cNvPr id="492" name="we0_bg"/>
          <p:cNvSpPr/>
          <p:nvPr/>
        </p:nvSpPr>
        <p:spPr>
          <a:xfrm>
            <a:off x="1170432" y="2322576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3" name="we0_q"/>
          <p:cNvSpPr txBox="1"/>
          <p:nvPr/>
        </p:nvSpPr>
        <p:spPr>
          <a:xfrm>
            <a:off x="1426463" y="2627840"/>
            <a:ext cx="6035042" cy="2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"N/kg and m/s² are different units for different things."</a:t>
            </a:r>
          </a:p>
        </p:txBody>
      </p:sp>
      <p:grpSp>
        <p:nvGrpSpPr>
          <p:cNvPr id="496" name="we0_a"/>
          <p:cNvGrpSpPr/>
          <p:nvPr/>
        </p:nvGrpSpPr>
        <p:grpSpPr>
          <a:xfrm>
            <a:off x="7662671" y="2414016"/>
            <a:ext cx="3888944" cy="658369"/>
            <a:chOff x="0" y="0"/>
            <a:chExt cx="3888942" cy="658368"/>
          </a:xfrm>
        </p:grpSpPr>
        <p:sp>
          <p:nvSpPr>
            <p:cNvPr id="494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495" name="They are the same unit. g can be written either way."/>
            <p:cNvSpPr txBox="1"/>
            <p:nvPr/>
          </p:nvSpPr>
          <p:spPr>
            <a:xfrm>
              <a:off x="36307" y="140622"/>
              <a:ext cx="3816328" cy="3771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They are the same unit. g can be written either way.</a:t>
              </a:r>
            </a:p>
          </p:txBody>
        </p:sp>
      </p:grpSp>
      <p:sp>
        <p:nvSpPr>
          <p:cNvPr id="497" name="we1_bg"/>
          <p:cNvSpPr/>
          <p:nvPr/>
        </p:nvSpPr>
        <p:spPr>
          <a:xfrm>
            <a:off x="1170432" y="3346703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8" name="we1_q"/>
          <p:cNvSpPr txBox="1"/>
          <p:nvPr/>
        </p:nvSpPr>
        <p:spPr>
          <a:xfrm>
            <a:off x="1426463" y="3651968"/>
            <a:ext cx="6035042" cy="2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"v = u + at, so v = 0 + 9.8 + 3 = 12.8."</a:t>
            </a:r>
          </a:p>
        </p:txBody>
      </p:sp>
      <p:grpSp>
        <p:nvGrpSpPr>
          <p:cNvPr id="501" name="we1_a"/>
          <p:cNvGrpSpPr/>
          <p:nvPr/>
        </p:nvGrpSpPr>
        <p:grpSpPr>
          <a:xfrm>
            <a:off x="7662671" y="3438144"/>
            <a:ext cx="3888944" cy="658369"/>
            <a:chOff x="0" y="0"/>
            <a:chExt cx="3888942" cy="658368"/>
          </a:xfrm>
        </p:grpSpPr>
        <p:sp>
          <p:nvSpPr>
            <p:cNvPr id="499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500" name="v = 0 + 9.8 × 3 = 29.4 m/s"/>
            <p:cNvSpPr txBox="1"/>
            <p:nvPr/>
          </p:nvSpPr>
          <p:spPr>
            <a:xfrm>
              <a:off x="36307" y="235872"/>
              <a:ext cx="3816328" cy="1866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 = 0 + 9.8 × 3 = 29.4 m/s</a:t>
              </a:r>
            </a:p>
          </p:txBody>
        </p:sp>
      </p:grpSp>
      <p:sp>
        <p:nvSpPr>
          <p:cNvPr id="502" name="we2_bg"/>
          <p:cNvSpPr/>
          <p:nvPr/>
        </p:nvSpPr>
        <p:spPr>
          <a:xfrm>
            <a:off x="1170432" y="4370832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3" name="we2_q"/>
          <p:cNvSpPr txBox="1"/>
          <p:nvPr/>
        </p:nvSpPr>
        <p:spPr>
          <a:xfrm>
            <a:off x="1426463" y="4676096"/>
            <a:ext cx="6035042" cy="2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"A heavier object falls faster (ignoring air resistance)."</a:t>
            </a:r>
          </a:p>
        </p:txBody>
      </p:sp>
      <p:grpSp>
        <p:nvGrpSpPr>
          <p:cNvPr id="506" name="we2_a"/>
          <p:cNvGrpSpPr/>
          <p:nvPr/>
        </p:nvGrpSpPr>
        <p:grpSpPr>
          <a:xfrm>
            <a:off x="7662671" y="4462271"/>
            <a:ext cx="3888944" cy="658369"/>
            <a:chOff x="0" y="0"/>
            <a:chExt cx="3888942" cy="658368"/>
          </a:xfrm>
        </p:grpSpPr>
        <p:sp>
          <p:nvSpPr>
            <p:cNvPr id="504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505" name="They fall at the same rate — g does not depend on mass."/>
            <p:cNvSpPr txBox="1"/>
            <p:nvPr/>
          </p:nvSpPr>
          <p:spPr>
            <a:xfrm>
              <a:off x="36307" y="140622"/>
              <a:ext cx="3816328" cy="3771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They fall at the same rate — g does not depend on mass.</a:t>
              </a:r>
            </a:p>
          </p:txBody>
        </p:sp>
      </p:grpSp>
      <p:sp>
        <p:nvSpPr>
          <p:cNvPr id="507" name="we3_bg"/>
          <p:cNvSpPr/>
          <p:nvPr/>
        </p:nvSpPr>
        <p:spPr>
          <a:xfrm>
            <a:off x="1170432" y="5394959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8" name="we3_q"/>
          <p:cNvSpPr txBox="1"/>
          <p:nvPr/>
        </p:nvSpPr>
        <p:spPr>
          <a:xfrm>
            <a:off x="1426463" y="5700224"/>
            <a:ext cx="6035042" cy="2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 = 9.8 kg/N</a:t>
            </a:r>
          </a:p>
        </p:txBody>
      </p:sp>
      <p:grpSp>
        <p:nvGrpSpPr>
          <p:cNvPr id="511" name="we3_a"/>
          <p:cNvGrpSpPr/>
          <p:nvPr/>
        </p:nvGrpSpPr>
        <p:grpSpPr>
          <a:xfrm>
            <a:off x="7662671" y="5486400"/>
            <a:ext cx="3888944" cy="658369"/>
            <a:chOff x="0" y="0"/>
            <a:chExt cx="3888942" cy="658368"/>
          </a:xfrm>
        </p:grpSpPr>
        <p:sp>
          <p:nvSpPr>
            <p:cNvPr id="509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510" name="g ≈ 9.8 N/kg, or equivalently 9.8 m/s²"/>
            <p:cNvSpPr txBox="1"/>
            <p:nvPr/>
          </p:nvSpPr>
          <p:spPr>
            <a:xfrm>
              <a:off x="36307" y="235872"/>
              <a:ext cx="3816328" cy="1866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 ≈ 9.8 N/kg, or equivalently 9.8 m/s²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0" fill="hold"/>
                                        <p:tgtEl>
                                          <p:spTgt spid="4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16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1" fill="hold" display="0">
                  <p:stCondLst>
                    <p:cond delay="indefinite"/>
                  </p:stCondLst>
                </p:cTn>
                <p:tgtEl>
                  <p:spTgt spid="486"/>
                </p:tgtEl>
              </p:cMediaNode>
            </p:video>
            <p:seq concurrent="1" prevAc="none" nextAc="seek">
              <p:cTn id="32" evtFilter="cancelBubble" nodeType="interactiveSeq" restart="whenNotActive" fill="hold">
                <p:stCondLst>
                  <p:cond delay="0" evt="onClick">
                    <p:tgtEl>
                      <p:spTgt spid="486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4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86"/>
                  </p:tgtEl>
                </p:cond>
              </p:nextCondLst>
            </p:seq>
          </p:childTnLst>
        </p:cTn>
      </p:par>
    </p:tnLst>
    <p:bldLst>
      <p:bldP build="whole" bldLvl="1" animBg="1" rev="0" advAuto="0" spid="496" grpId="2"/>
      <p:bldP build="whole" bldLvl="1" animBg="1" rev="0" advAuto="0" spid="501" grpId="3"/>
      <p:bldP build="whole" bldLvl="1" animBg="1" rev="0" advAuto="0" spid="511" grpId="5"/>
      <p:bldP build="whole" bldLvl="1" animBg="1" rev="0" advAuto="0" spid="506" grpId="4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18" name="phase_pill"/>
          <p:cNvGrpSpPr/>
          <p:nvPr/>
        </p:nvGrpSpPr>
        <p:grpSpPr>
          <a:xfrm>
            <a:off x="1170432" y="310895"/>
            <a:ext cx="2072030" cy="329185"/>
            <a:chOff x="0" y="0"/>
            <a:chExt cx="2072029" cy="329184"/>
          </a:xfrm>
        </p:grpSpPr>
        <p:sp>
          <p:nvSpPr>
            <p:cNvPr id="516" name="Rounded Rectangle"/>
            <p:cNvSpPr/>
            <p:nvPr/>
          </p:nvSpPr>
          <p:spPr>
            <a:xfrm>
              <a:off x="0" y="0"/>
              <a:ext cx="2072030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517" name="COLD CALL · 6 MIN"/>
            <p:cNvSpPr txBox="1"/>
            <p:nvPr/>
          </p:nvSpPr>
          <p:spPr>
            <a:xfrm>
              <a:off x="42850" y="90677"/>
              <a:ext cx="1986329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COLD CALL · 6 MIN</a:t>
              </a:r>
            </a:p>
          </p:txBody>
        </p:sp>
      </p:grpSp>
      <p:sp>
        <p:nvSpPr>
          <p:cNvPr id="519" name="cc0_bg"/>
          <p:cNvSpPr/>
          <p:nvPr/>
        </p:nvSpPr>
        <p:spPr>
          <a:xfrm>
            <a:off x="1170432" y="969263"/>
            <a:ext cx="5117441" cy="138989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0" name="cc0_badge"/>
          <p:cNvSpPr/>
          <p:nvPr/>
        </p:nvSpPr>
        <p:spPr>
          <a:xfrm>
            <a:off x="1371600" y="1133855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1" name="cc0_num"/>
          <p:cNvSpPr txBox="1"/>
          <p:nvPr/>
        </p:nvSpPr>
        <p:spPr>
          <a:xfrm>
            <a:off x="1371600" y="1224279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22" name="cc0_q"/>
          <p:cNvSpPr txBox="1"/>
          <p:nvPr/>
        </p:nvSpPr>
        <p:spPr>
          <a:xfrm>
            <a:off x="1901951" y="1301960"/>
            <a:ext cx="4184753" cy="2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g equivalent to, in terms of motion?</a:t>
            </a:r>
          </a:p>
        </p:txBody>
      </p:sp>
      <p:grpSp>
        <p:nvGrpSpPr>
          <p:cNvPr id="525" name="cc0_a"/>
          <p:cNvGrpSpPr/>
          <p:nvPr/>
        </p:nvGrpSpPr>
        <p:grpSpPr>
          <a:xfrm>
            <a:off x="1371600" y="1810511"/>
            <a:ext cx="4715105" cy="402337"/>
            <a:chOff x="0" y="0"/>
            <a:chExt cx="4715104" cy="402336"/>
          </a:xfrm>
        </p:grpSpPr>
        <p:sp>
          <p:nvSpPr>
            <p:cNvPr id="523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524" name="The acceleration of free fall."/>
            <p:cNvSpPr txBox="1"/>
            <p:nvPr/>
          </p:nvSpPr>
          <p:spPr>
            <a:xfrm>
              <a:off x="35037" y="107602"/>
              <a:ext cx="4645030" cy="1871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acceleration of free fall.</a:t>
              </a:r>
            </a:p>
          </p:txBody>
        </p:sp>
      </p:grpSp>
      <p:sp>
        <p:nvSpPr>
          <p:cNvPr id="526" name="cc1_bg"/>
          <p:cNvSpPr/>
          <p:nvPr/>
        </p:nvSpPr>
        <p:spPr>
          <a:xfrm>
            <a:off x="6525615" y="969263"/>
            <a:ext cx="5117441" cy="138989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7" name="cc1_badge"/>
          <p:cNvSpPr/>
          <p:nvPr/>
        </p:nvSpPr>
        <p:spPr>
          <a:xfrm>
            <a:off x="6726783" y="1133855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8" name="cc1_num"/>
          <p:cNvSpPr txBox="1"/>
          <p:nvPr/>
        </p:nvSpPr>
        <p:spPr>
          <a:xfrm>
            <a:off x="6726783" y="1224279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29" name="cc1_q"/>
          <p:cNvSpPr txBox="1"/>
          <p:nvPr/>
        </p:nvSpPr>
        <p:spPr>
          <a:xfrm>
            <a:off x="7257136" y="1301960"/>
            <a:ext cx="4184753" cy="2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 one sentence, why does N/kg = m/s²?</a:t>
            </a:r>
          </a:p>
        </p:txBody>
      </p:sp>
      <p:grpSp>
        <p:nvGrpSpPr>
          <p:cNvPr id="532" name="cc1_a"/>
          <p:cNvGrpSpPr/>
          <p:nvPr/>
        </p:nvGrpSpPr>
        <p:grpSpPr>
          <a:xfrm>
            <a:off x="6726783" y="1810511"/>
            <a:ext cx="4715106" cy="402337"/>
            <a:chOff x="0" y="0"/>
            <a:chExt cx="4715104" cy="402336"/>
          </a:xfrm>
        </p:grpSpPr>
        <p:sp>
          <p:nvSpPr>
            <p:cNvPr id="530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531" name="Because N = kg × m/s², from F = ma."/>
            <p:cNvSpPr txBox="1"/>
            <p:nvPr/>
          </p:nvSpPr>
          <p:spPr>
            <a:xfrm>
              <a:off x="35037" y="107602"/>
              <a:ext cx="4645030" cy="1871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Because N = kg × m/s², from F = ma.</a:t>
              </a:r>
            </a:p>
          </p:txBody>
        </p:sp>
      </p:grpSp>
      <p:sp>
        <p:nvSpPr>
          <p:cNvPr id="533" name="cc2_bg"/>
          <p:cNvSpPr/>
          <p:nvPr/>
        </p:nvSpPr>
        <p:spPr>
          <a:xfrm>
            <a:off x="1170432" y="2560320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4" name="cc2_badge"/>
          <p:cNvSpPr/>
          <p:nvPr/>
        </p:nvSpPr>
        <p:spPr>
          <a:xfrm>
            <a:off x="1371600" y="2724911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5" name="cc2_num"/>
          <p:cNvSpPr txBox="1"/>
          <p:nvPr/>
        </p:nvSpPr>
        <p:spPr>
          <a:xfrm>
            <a:off x="1371600" y="2815335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36" name="cc2_q"/>
          <p:cNvSpPr txBox="1"/>
          <p:nvPr/>
        </p:nvSpPr>
        <p:spPr>
          <a:xfrm>
            <a:off x="1901951" y="2893016"/>
            <a:ext cx="4184753" cy="2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Dropped from rest. Falls for 1 s. Find v.</a:t>
            </a:r>
          </a:p>
        </p:txBody>
      </p:sp>
      <p:grpSp>
        <p:nvGrpSpPr>
          <p:cNvPr id="539" name="cc2_a"/>
          <p:cNvGrpSpPr/>
          <p:nvPr/>
        </p:nvGrpSpPr>
        <p:grpSpPr>
          <a:xfrm>
            <a:off x="1371600" y="3401567"/>
            <a:ext cx="4715105" cy="402337"/>
            <a:chOff x="0" y="0"/>
            <a:chExt cx="4715104" cy="402336"/>
          </a:xfrm>
        </p:grpSpPr>
        <p:sp>
          <p:nvSpPr>
            <p:cNvPr id="537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538" name="v = 9.8 × 1 = 9.8 m/s"/>
            <p:cNvSpPr txBox="1"/>
            <p:nvPr/>
          </p:nvSpPr>
          <p:spPr>
            <a:xfrm>
              <a:off x="35037" y="107602"/>
              <a:ext cx="4645030" cy="1871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 = 9.8 × 1 = 9.8 m/s</a:t>
              </a:r>
            </a:p>
          </p:txBody>
        </p:sp>
      </p:grpSp>
      <p:sp>
        <p:nvSpPr>
          <p:cNvPr id="540" name="cc3_bg"/>
          <p:cNvSpPr/>
          <p:nvPr/>
        </p:nvSpPr>
        <p:spPr>
          <a:xfrm>
            <a:off x="6525615" y="2560320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1" name="cc3_badge"/>
          <p:cNvSpPr/>
          <p:nvPr/>
        </p:nvSpPr>
        <p:spPr>
          <a:xfrm>
            <a:off x="6726783" y="2724911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2" name="cc3_num"/>
          <p:cNvSpPr txBox="1"/>
          <p:nvPr/>
        </p:nvSpPr>
        <p:spPr>
          <a:xfrm>
            <a:off x="6726783" y="2815335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43" name="cc3_q"/>
          <p:cNvSpPr txBox="1"/>
          <p:nvPr/>
        </p:nvSpPr>
        <p:spPr>
          <a:xfrm>
            <a:off x="7257136" y="2893016"/>
            <a:ext cx="4184753" cy="2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Same ball. Find how far it has fallen.</a:t>
            </a:r>
          </a:p>
        </p:txBody>
      </p:sp>
      <p:grpSp>
        <p:nvGrpSpPr>
          <p:cNvPr id="546" name="cc3_a"/>
          <p:cNvGrpSpPr/>
          <p:nvPr/>
        </p:nvGrpSpPr>
        <p:grpSpPr>
          <a:xfrm>
            <a:off x="6726783" y="3401567"/>
            <a:ext cx="4715106" cy="402337"/>
            <a:chOff x="0" y="0"/>
            <a:chExt cx="4715104" cy="402336"/>
          </a:xfrm>
        </p:grpSpPr>
        <p:sp>
          <p:nvSpPr>
            <p:cNvPr id="544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545" name="s = ½ × 9.8 × 1² = 4.9 m"/>
            <p:cNvSpPr txBox="1"/>
            <p:nvPr/>
          </p:nvSpPr>
          <p:spPr>
            <a:xfrm>
              <a:off x="35037" y="107602"/>
              <a:ext cx="4645030" cy="1871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 = ½ × 9.8 × 1² = 4.9 m</a:t>
              </a:r>
            </a:p>
          </p:txBody>
        </p:sp>
      </p:grpSp>
      <p:sp>
        <p:nvSpPr>
          <p:cNvPr id="547" name="cc4_bg"/>
          <p:cNvSpPr/>
          <p:nvPr/>
        </p:nvSpPr>
        <p:spPr>
          <a:xfrm>
            <a:off x="1170432" y="4151376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8" name="cc4_badge"/>
          <p:cNvSpPr/>
          <p:nvPr/>
        </p:nvSpPr>
        <p:spPr>
          <a:xfrm>
            <a:off x="1371600" y="4315967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9" name="cc4_num"/>
          <p:cNvSpPr txBox="1"/>
          <p:nvPr/>
        </p:nvSpPr>
        <p:spPr>
          <a:xfrm>
            <a:off x="1371600" y="4406391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50" name="cc4_q"/>
          <p:cNvSpPr txBox="1"/>
          <p:nvPr/>
        </p:nvSpPr>
        <p:spPr>
          <a:xfrm>
            <a:off x="1901951" y="4484072"/>
            <a:ext cx="4184753" cy="2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do we say "ignore air resistance"?</a:t>
            </a:r>
          </a:p>
        </p:txBody>
      </p:sp>
      <p:grpSp>
        <p:nvGrpSpPr>
          <p:cNvPr id="553" name="cc4_a"/>
          <p:cNvGrpSpPr/>
          <p:nvPr/>
        </p:nvGrpSpPr>
        <p:grpSpPr>
          <a:xfrm>
            <a:off x="1371600" y="4992623"/>
            <a:ext cx="4715105" cy="402337"/>
            <a:chOff x="0" y="0"/>
            <a:chExt cx="4715104" cy="402336"/>
          </a:xfrm>
        </p:grpSpPr>
        <p:sp>
          <p:nvSpPr>
            <p:cNvPr id="551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552" name="So every object falls with the same g — otherwise it is a different, harder problem."/>
            <p:cNvSpPr txBox="1"/>
            <p:nvPr/>
          </p:nvSpPr>
          <p:spPr>
            <a:xfrm>
              <a:off x="35037" y="12352"/>
              <a:ext cx="4645030" cy="3776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So every object falls with the same g — otherwise it is a different, harder problem.</a:t>
              </a:r>
            </a:p>
          </p:txBody>
        </p:sp>
      </p:grpSp>
      <p:sp>
        <p:nvSpPr>
          <p:cNvPr id="554" name="cc5_bg"/>
          <p:cNvSpPr/>
          <p:nvPr/>
        </p:nvSpPr>
        <p:spPr>
          <a:xfrm>
            <a:off x="6525615" y="4151376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5" name="cc5_badge"/>
          <p:cNvSpPr/>
          <p:nvPr/>
        </p:nvSpPr>
        <p:spPr>
          <a:xfrm>
            <a:off x="6726783" y="4315967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6" name="cc5_num"/>
          <p:cNvSpPr txBox="1"/>
          <p:nvPr/>
        </p:nvSpPr>
        <p:spPr>
          <a:xfrm>
            <a:off x="6726783" y="4406391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57" name="cc5_q"/>
          <p:cNvSpPr txBox="1"/>
          <p:nvPr/>
        </p:nvSpPr>
        <p:spPr>
          <a:xfrm>
            <a:off x="7257136" y="4484072"/>
            <a:ext cx="4184753" cy="2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4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Complete: g ≈ 9.8 ___ or 9.8 ___</a:t>
            </a:r>
          </a:p>
        </p:txBody>
      </p:sp>
      <p:grpSp>
        <p:nvGrpSpPr>
          <p:cNvPr id="560" name="cc5_a"/>
          <p:cNvGrpSpPr/>
          <p:nvPr/>
        </p:nvGrpSpPr>
        <p:grpSpPr>
          <a:xfrm>
            <a:off x="6726783" y="4992623"/>
            <a:ext cx="4715106" cy="402337"/>
            <a:chOff x="0" y="0"/>
            <a:chExt cx="4715104" cy="402336"/>
          </a:xfrm>
        </p:grpSpPr>
        <p:sp>
          <p:nvSpPr>
            <p:cNvPr id="558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559" name="N/kg or m/s²"/>
            <p:cNvSpPr txBox="1"/>
            <p:nvPr/>
          </p:nvSpPr>
          <p:spPr>
            <a:xfrm>
              <a:off x="35037" y="107602"/>
              <a:ext cx="4645030" cy="1871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N/kg or m/s²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00" fill="hold"/>
                                        <p:tgtEl>
                                          <p:spTgt spid="5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4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4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4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4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4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4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7" fill="hold" display="0">
                  <p:stCondLst>
                    <p:cond delay="indefinite"/>
                  </p:stCondLst>
                </p:cTn>
                <p:tgtEl>
                  <p:spTgt spid="515"/>
                </p:tgtEl>
              </p:cMediaNode>
            </p:video>
            <p:seq concurrent="1" prevAc="none" nextAc="seek">
              <p:cTn id="38" evtFilter="cancelBubble" nodeType="interactiveSeq" restart="whenNotActive" fill="hold">
                <p:stCondLst>
                  <p:cond delay="0" evt="onClick">
                    <p:tgtEl>
                      <p:spTgt spid="515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5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515"/>
                  </p:tgtEl>
                </p:cond>
              </p:nextCondLst>
            </p:seq>
          </p:childTnLst>
        </p:cTn>
      </p:par>
    </p:tnLst>
    <p:bldLst>
      <p:bldP build="whole" bldLvl="1" animBg="1" rev="0" advAuto="0" spid="525" grpId="2"/>
      <p:bldP build="whole" bldLvl="1" animBg="1" rev="0" advAuto="0" spid="560" grpId="7"/>
      <p:bldP build="whole" bldLvl="1" animBg="1" rev="0" advAuto="0" spid="532" grpId="3"/>
      <p:bldP build="whole" bldLvl="1" animBg="1" rev="0" advAuto="0" spid="546" grpId="5"/>
      <p:bldP build="whole" bldLvl="1" animBg="1" rev="0" advAuto="0" spid="553" grpId="6"/>
      <p:bldP build="whole" bldLvl="1" animBg="1" rev="0" advAuto="0" spid="539" grpId="4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67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565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566" name="YOU DO · 14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 DO · 14 MIN</a:t>
              </a:r>
            </a:p>
          </p:txBody>
        </p:sp>
      </p:grpSp>
      <p:pic>
        <p:nvPicPr>
          <p:cNvPr id="568" name="gc_logo2" descr="gc_logo2"/>
          <p:cNvPicPr>
            <a:picLocks noChangeAspect="1"/>
          </p:cNvPicPr>
          <p:nvPr/>
        </p:nvPicPr>
        <p:blipFill>
          <a:blip r:embed="rId6">
            <a:alphaModFix amt="38000"/>
            <a:extLst/>
          </a:blip>
          <a:stretch>
            <a:fillRect/>
          </a:stretch>
        </p:blipFill>
        <p:spPr>
          <a:xfrm>
            <a:off x="10088574" y="786383"/>
            <a:ext cx="1554481" cy="1344169"/>
          </a:xfrm>
          <a:prstGeom prst="rect">
            <a:avLst/>
          </a:prstGeom>
          <a:ln w="12700">
            <a:miter lim="400000"/>
          </a:ln>
        </p:spPr>
      </p:pic>
      <p:sp>
        <p:nvSpPr>
          <p:cNvPr id="569" name="slide_title2"/>
          <p:cNvSpPr txBox="1"/>
          <p:nvPr/>
        </p:nvSpPr>
        <p:spPr>
          <a:xfrm>
            <a:off x="1170432" y="1095891"/>
            <a:ext cx="8643823" cy="423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400"/>
              </a:lnSpc>
              <a:defRPr b="1" sz="28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Finish the worksheet: Gold</a:t>
            </a:r>
          </a:p>
        </p:txBody>
      </p:sp>
      <p:sp>
        <p:nvSpPr>
          <p:cNvPr id="570" name="slide_sub2"/>
          <p:cNvSpPr txBox="1"/>
          <p:nvPr/>
        </p:nvSpPr>
        <p:spPr>
          <a:xfrm>
            <a:off x="1170432" y="1937279"/>
            <a:ext cx="86438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E03D6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Same worksheet as this morning. Same Google Classroom.</a:t>
            </a:r>
          </a:p>
        </p:txBody>
      </p:sp>
      <p:grpSp>
        <p:nvGrpSpPr>
          <p:cNvPr id="575" name="gd0"/>
          <p:cNvGrpSpPr/>
          <p:nvPr/>
        </p:nvGrpSpPr>
        <p:grpSpPr>
          <a:xfrm>
            <a:off x="1170432" y="2194560"/>
            <a:ext cx="2480997" cy="2103121"/>
            <a:chOff x="0" y="0"/>
            <a:chExt cx="2480996" cy="2103120"/>
          </a:xfrm>
        </p:grpSpPr>
        <p:sp>
          <p:nvSpPr>
            <p:cNvPr id="571" name="gd0_bg"/>
            <p:cNvSpPr/>
            <p:nvPr/>
          </p:nvSpPr>
          <p:spPr>
            <a:xfrm>
              <a:off x="0" y="0"/>
              <a:ext cx="2480997" cy="2103121"/>
            </a:xfrm>
            <a:prstGeom prst="roundRect">
              <a:avLst>
                <a:gd name="adj" fmla="val 4348"/>
              </a:avLst>
            </a:prstGeom>
            <a:solidFill>
              <a:srgbClr val="FFEFE2"/>
            </a:solidFill>
            <a:ln w="17780" cap="flat">
              <a:solidFill>
                <a:srgbClr val="C25A1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72" name="gd0_n"/>
            <p:cNvSpPr txBox="1"/>
            <p:nvPr/>
          </p:nvSpPr>
          <p:spPr>
            <a:xfrm>
              <a:off x="164592" y="198628"/>
              <a:ext cx="457201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000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573" name="gd0_h"/>
            <p:cNvSpPr txBox="1"/>
            <p:nvPr/>
          </p:nvSpPr>
          <p:spPr>
            <a:xfrm>
              <a:off x="164591" y="603504"/>
              <a:ext cx="2151814" cy="20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700"/>
                </a:lnSpc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Free fall, one variable.</a:t>
              </a:r>
            </a:p>
          </p:txBody>
        </p:sp>
        <p:sp>
          <p:nvSpPr>
            <p:cNvPr id="574" name="gd0_b"/>
            <p:cNvSpPr txBox="1"/>
            <p:nvPr/>
          </p:nvSpPr>
          <p:spPr>
            <a:xfrm>
              <a:off x="164591" y="1152144"/>
              <a:ext cx="2151814" cy="1948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600"/>
                </a:lnSpc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Find v or s from u, a = g and t.</a:t>
              </a:r>
            </a:p>
          </p:txBody>
        </p:sp>
      </p:grpSp>
      <p:grpSp>
        <p:nvGrpSpPr>
          <p:cNvPr id="580" name="gd1"/>
          <p:cNvGrpSpPr/>
          <p:nvPr/>
        </p:nvGrpSpPr>
        <p:grpSpPr>
          <a:xfrm>
            <a:off x="3834307" y="2194560"/>
            <a:ext cx="2480997" cy="2103121"/>
            <a:chOff x="0" y="0"/>
            <a:chExt cx="2480996" cy="2103120"/>
          </a:xfrm>
        </p:grpSpPr>
        <p:sp>
          <p:nvSpPr>
            <p:cNvPr id="576" name="gd1_bg"/>
            <p:cNvSpPr/>
            <p:nvPr/>
          </p:nvSpPr>
          <p:spPr>
            <a:xfrm>
              <a:off x="0" y="0"/>
              <a:ext cx="2480997" cy="2103121"/>
            </a:xfrm>
            <a:prstGeom prst="roundRect">
              <a:avLst>
                <a:gd name="adj" fmla="val 4348"/>
              </a:avLst>
            </a:prstGeom>
            <a:solidFill>
              <a:srgbClr val="FFEFE2"/>
            </a:solidFill>
            <a:ln w="17780" cap="flat">
              <a:solidFill>
                <a:srgbClr val="C25A1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77" name="gd1_n"/>
            <p:cNvSpPr txBox="1"/>
            <p:nvPr/>
          </p:nvSpPr>
          <p:spPr>
            <a:xfrm>
              <a:off x="164592" y="198628"/>
              <a:ext cx="457201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000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578" name="gd1_h"/>
            <p:cNvSpPr txBox="1"/>
            <p:nvPr/>
          </p:nvSpPr>
          <p:spPr>
            <a:xfrm>
              <a:off x="164591" y="603504"/>
              <a:ext cx="2151814" cy="20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700"/>
                </a:lnSpc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Free fall, two steps.</a:t>
              </a:r>
            </a:p>
          </p:txBody>
        </p:sp>
        <p:sp>
          <p:nvSpPr>
            <p:cNvPr id="579" name="gd1_b"/>
            <p:cNvSpPr txBox="1"/>
            <p:nvPr/>
          </p:nvSpPr>
          <p:spPr>
            <a:xfrm>
              <a:off x="164591" y="1152144"/>
              <a:ext cx="2151814" cy="3980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600"/>
                </a:lnSpc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Find v first, then use it — or the reverse.</a:t>
              </a:r>
            </a:p>
          </p:txBody>
        </p:sp>
      </p:grpSp>
      <p:grpSp>
        <p:nvGrpSpPr>
          <p:cNvPr id="585" name="gd2"/>
          <p:cNvGrpSpPr/>
          <p:nvPr/>
        </p:nvGrpSpPr>
        <p:grpSpPr>
          <a:xfrm>
            <a:off x="6498183" y="2194560"/>
            <a:ext cx="2480998" cy="2103121"/>
            <a:chOff x="0" y="0"/>
            <a:chExt cx="2480996" cy="2103120"/>
          </a:xfrm>
        </p:grpSpPr>
        <p:sp>
          <p:nvSpPr>
            <p:cNvPr id="581" name="gd2_bg"/>
            <p:cNvSpPr/>
            <p:nvPr/>
          </p:nvSpPr>
          <p:spPr>
            <a:xfrm>
              <a:off x="0" y="0"/>
              <a:ext cx="2480997" cy="2103121"/>
            </a:xfrm>
            <a:prstGeom prst="roundRect">
              <a:avLst>
                <a:gd name="adj" fmla="val 4348"/>
              </a:avLst>
            </a:prstGeom>
            <a:solidFill>
              <a:srgbClr val="FFEFE2"/>
            </a:solidFill>
            <a:ln w="17780" cap="flat">
              <a:solidFill>
                <a:srgbClr val="C25A1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82" name="gd2_n"/>
            <p:cNvSpPr txBox="1"/>
            <p:nvPr/>
          </p:nvSpPr>
          <p:spPr>
            <a:xfrm>
              <a:off x="164592" y="198628"/>
              <a:ext cx="457201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000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583" name="gd2_h"/>
            <p:cNvSpPr txBox="1"/>
            <p:nvPr/>
          </p:nvSpPr>
          <p:spPr>
            <a:xfrm>
              <a:off x="164591" y="603504"/>
              <a:ext cx="2151814" cy="20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700"/>
                </a:lnSpc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Show N/kg = m/s² yourself.</a:t>
              </a:r>
            </a:p>
          </p:txBody>
        </p:sp>
        <p:sp>
          <p:nvSpPr>
            <p:cNvPr id="584" name="gd2_b"/>
            <p:cNvSpPr txBox="1"/>
            <p:nvPr/>
          </p:nvSpPr>
          <p:spPr>
            <a:xfrm>
              <a:off x="164591" y="1152144"/>
              <a:ext cx="2151814" cy="3980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600"/>
                </a:lnSpc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In your own words, starting from F = ma.</a:t>
              </a:r>
            </a:p>
          </p:txBody>
        </p:sp>
      </p:grpSp>
      <p:grpSp>
        <p:nvGrpSpPr>
          <p:cNvPr id="590" name="gd3"/>
          <p:cNvGrpSpPr/>
          <p:nvPr/>
        </p:nvGrpSpPr>
        <p:grpSpPr>
          <a:xfrm>
            <a:off x="9162059" y="2194560"/>
            <a:ext cx="2480997" cy="2103121"/>
            <a:chOff x="0" y="0"/>
            <a:chExt cx="2480996" cy="2103120"/>
          </a:xfrm>
        </p:grpSpPr>
        <p:sp>
          <p:nvSpPr>
            <p:cNvPr id="586" name="gd3_bg"/>
            <p:cNvSpPr/>
            <p:nvPr/>
          </p:nvSpPr>
          <p:spPr>
            <a:xfrm>
              <a:off x="0" y="0"/>
              <a:ext cx="2480997" cy="2103121"/>
            </a:xfrm>
            <a:prstGeom prst="roundRect">
              <a:avLst>
                <a:gd name="adj" fmla="val 4348"/>
              </a:avLst>
            </a:prstGeom>
            <a:solidFill>
              <a:srgbClr val="FFEFE2"/>
            </a:solidFill>
            <a:ln w="17780" cap="flat">
              <a:solidFill>
                <a:srgbClr val="C25A1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87" name="gd3_n"/>
            <p:cNvSpPr txBox="1"/>
            <p:nvPr/>
          </p:nvSpPr>
          <p:spPr>
            <a:xfrm>
              <a:off x="164592" y="198628"/>
              <a:ext cx="457201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000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588" name="gd3_h"/>
            <p:cNvSpPr txBox="1"/>
            <p:nvPr/>
          </p:nvSpPr>
          <p:spPr>
            <a:xfrm>
              <a:off x="164591" y="603504"/>
              <a:ext cx="2151814" cy="4236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700"/>
                </a:lnSpc>
                <a:defRPr b="1" sz="13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Explain why g does not depend on mass.</a:t>
              </a:r>
            </a:p>
          </p:txBody>
        </p:sp>
        <p:sp>
          <p:nvSpPr>
            <p:cNvPr id="589" name="gd3_b"/>
            <p:cNvSpPr txBox="1"/>
            <p:nvPr/>
          </p:nvSpPr>
          <p:spPr>
            <a:xfrm>
              <a:off x="164591" y="1152144"/>
              <a:ext cx="2151814" cy="3980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600"/>
                </a:lnSpc>
                <a:defRPr sz="12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One or two sentences. Use the field idea.</a:t>
              </a:r>
            </a:p>
          </p:txBody>
        </p:sp>
      </p:grpSp>
      <p:sp>
        <p:nvSpPr>
          <p:cNvPr id="591" name="yd_note2"/>
          <p:cNvSpPr txBox="1"/>
          <p:nvPr/>
        </p:nvSpPr>
        <p:spPr>
          <a:xfrm>
            <a:off x="1170432" y="4677478"/>
            <a:ext cx="1047262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720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Ignore air resistance in every question. g ≈ 9.8 N/kg = 9.8 m/s².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0000" fill="hold"/>
                                        <p:tgtEl>
                                          <p:spTgt spid="5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4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2" fill="hold" display="0">
                  <p:stCondLst>
                    <p:cond delay="indefinite"/>
                  </p:stCondLst>
                </p:cTn>
                <p:tgtEl>
                  <p:spTgt spid="564"/>
                </p:tgtEl>
              </p:cMediaNode>
            </p:video>
            <p:seq concurrent="1" prevAc="none" nextAc="seek">
              <p:cTn id="33" evtFilter="cancelBubble" nodeType="interactiveSeq" restart="whenNotActive" fill="hold">
                <p:stCondLst>
                  <p:cond delay="0" evt="onClick">
                    <p:tgtEl>
                      <p:spTgt spid="564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5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564"/>
                  </p:tgtEl>
                </p:cond>
              </p:nextCondLst>
            </p:seq>
          </p:childTnLst>
        </p:cTn>
      </p:par>
    </p:tnLst>
    <p:bldLst>
      <p:bldP build="whole" bldLvl="1" animBg="1" rev="0" advAuto="0" spid="575" grpId="2"/>
      <p:bldP build="whole" bldLvl="1" animBg="1" rev="0" advAuto="0" spid="580" grpId="3"/>
      <p:bldP build="whole" bldLvl="1" animBg="1" rev="0" advAuto="0" spid="585" grpId="4"/>
      <p:bldP build="whole" bldLvl="1" animBg="1" rev="0" advAuto="0" spid="590" grpId="5"/>
      <p:bldP build="whole" bldLvl="1" animBg="1" rev="0" advAuto="0" spid="591" grpId="6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98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596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597" name="ANSWERS · 3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ANSWERS · 3 MIN</a:t>
              </a:r>
            </a:p>
          </p:txBody>
        </p:sp>
      </p:grpSp>
      <p:sp>
        <p:nvSpPr>
          <p:cNvPr id="599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Answers — Gold</a:t>
            </a:r>
          </a:p>
        </p:txBody>
      </p:sp>
      <p:grpSp>
        <p:nvGrpSpPr>
          <p:cNvPr id="603" name="ga0"/>
          <p:cNvGrpSpPr/>
          <p:nvPr/>
        </p:nvGrpSpPr>
        <p:grpSpPr>
          <a:xfrm>
            <a:off x="1170432" y="1828800"/>
            <a:ext cx="5117441" cy="1005840"/>
            <a:chOff x="0" y="0"/>
            <a:chExt cx="5117439" cy="1005839"/>
          </a:xfrm>
        </p:grpSpPr>
        <p:sp>
          <p:nvSpPr>
            <p:cNvPr id="600" name="ga0_bg"/>
            <p:cNvSpPr/>
            <p:nvPr/>
          </p:nvSpPr>
          <p:spPr>
            <a:xfrm>
              <a:off x="0" y="0"/>
              <a:ext cx="5117440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01" name="ga0_n"/>
            <p:cNvSpPr txBox="1"/>
            <p:nvPr/>
          </p:nvSpPr>
          <p:spPr>
            <a:xfrm>
              <a:off x="219455" y="369569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602" name="ga0_t"/>
            <p:cNvSpPr txBox="1"/>
            <p:nvPr/>
          </p:nvSpPr>
          <p:spPr>
            <a:xfrm>
              <a:off x="749808" y="392640"/>
              <a:ext cx="4166464" cy="220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 = 9.8 × 3 = 29.4 m/s</a:t>
              </a:r>
            </a:p>
          </p:txBody>
        </p:sp>
      </p:grpSp>
      <p:grpSp>
        <p:nvGrpSpPr>
          <p:cNvPr id="607" name="ga1"/>
          <p:cNvGrpSpPr/>
          <p:nvPr/>
        </p:nvGrpSpPr>
        <p:grpSpPr>
          <a:xfrm>
            <a:off x="6525615" y="1828800"/>
            <a:ext cx="5117441" cy="1005840"/>
            <a:chOff x="0" y="0"/>
            <a:chExt cx="5117439" cy="1005839"/>
          </a:xfrm>
        </p:grpSpPr>
        <p:sp>
          <p:nvSpPr>
            <p:cNvPr id="604" name="ga1_bg"/>
            <p:cNvSpPr/>
            <p:nvPr/>
          </p:nvSpPr>
          <p:spPr>
            <a:xfrm>
              <a:off x="0" y="0"/>
              <a:ext cx="5117440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05" name="ga1_n"/>
            <p:cNvSpPr txBox="1"/>
            <p:nvPr/>
          </p:nvSpPr>
          <p:spPr>
            <a:xfrm>
              <a:off x="219455" y="369569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606" name="ga1_t"/>
            <p:cNvSpPr txBox="1"/>
            <p:nvPr/>
          </p:nvSpPr>
          <p:spPr>
            <a:xfrm>
              <a:off x="749808" y="392640"/>
              <a:ext cx="4166464" cy="220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 = ½ × 9.8 × 3² = 44.1 m</a:t>
              </a:r>
            </a:p>
          </p:txBody>
        </p:sp>
      </p:grpSp>
      <p:grpSp>
        <p:nvGrpSpPr>
          <p:cNvPr id="611" name="ga2"/>
          <p:cNvGrpSpPr/>
          <p:nvPr/>
        </p:nvGrpSpPr>
        <p:grpSpPr>
          <a:xfrm>
            <a:off x="1170432" y="2980944"/>
            <a:ext cx="5117441" cy="1005840"/>
            <a:chOff x="0" y="0"/>
            <a:chExt cx="5117439" cy="1005839"/>
          </a:xfrm>
        </p:grpSpPr>
        <p:sp>
          <p:nvSpPr>
            <p:cNvPr id="608" name="ga2_bg"/>
            <p:cNvSpPr/>
            <p:nvPr/>
          </p:nvSpPr>
          <p:spPr>
            <a:xfrm>
              <a:off x="0" y="0"/>
              <a:ext cx="5117440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09" name="ga2_n"/>
            <p:cNvSpPr txBox="1"/>
            <p:nvPr/>
          </p:nvSpPr>
          <p:spPr>
            <a:xfrm>
              <a:off x="219455" y="369569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610" name="ga2_t"/>
            <p:cNvSpPr txBox="1"/>
            <p:nvPr/>
          </p:nvSpPr>
          <p:spPr>
            <a:xfrm>
              <a:off x="749808" y="392640"/>
              <a:ext cx="4166464" cy="2205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 = ma → N = kg·m/s² → N ÷ kg = m/s²</a:t>
              </a:r>
            </a:p>
          </p:txBody>
        </p:sp>
      </p:grpSp>
      <p:grpSp>
        <p:nvGrpSpPr>
          <p:cNvPr id="615" name="ga3"/>
          <p:cNvGrpSpPr/>
          <p:nvPr/>
        </p:nvGrpSpPr>
        <p:grpSpPr>
          <a:xfrm>
            <a:off x="6525615" y="2980944"/>
            <a:ext cx="5117441" cy="1005840"/>
            <a:chOff x="0" y="0"/>
            <a:chExt cx="5117439" cy="1005839"/>
          </a:xfrm>
        </p:grpSpPr>
        <p:sp>
          <p:nvSpPr>
            <p:cNvPr id="612" name="ga3_bg"/>
            <p:cNvSpPr/>
            <p:nvPr/>
          </p:nvSpPr>
          <p:spPr>
            <a:xfrm>
              <a:off x="0" y="0"/>
              <a:ext cx="5117440" cy="100584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3" name="ga3_n"/>
            <p:cNvSpPr txBox="1"/>
            <p:nvPr/>
          </p:nvSpPr>
          <p:spPr>
            <a:xfrm>
              <a:off x="219455" y="369569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614" name="ga3_t"/>
            <p:cNvSpPr txBox="1"/>
            <p:nvPr/>
          </p:nvSpPr>
          <p:spPr>
            <a:xfrm>
              <a:off x="749808" y="278340"/>
              <a:ext cx="4166464" cy="4491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 belongs to the field, not the object — the field’s strength is the same for every mass placed in it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59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4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Class="entr" nodeType="afterEffect" presetID="10" grpId="5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4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5" fill="hold" display="0">
                  <p:stCondLst>
                    <p:cond delay="indefinite"/>
                  </p:stCondLst>
                </p:cTn>
                <p:tgtEl>
                  <p:spTgt spid="595"/>
                </p:tgtEl>
              </p:cMediaNode>
            </p:video>
            <p:seq concurrent="1" prevAc="none" nextAc="seek">
              <p:cTn id="26" evtFilter="cancelBubble" nodeType="interactiveSeq" restart="whenNotActive" fill="hold">
                <p:stCondLst>
                  <p:cond delay="0" evt="onClick">
                    <p:tgtEl>
                      <p:spTgt spid="595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59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595"/>
                  </p:tgtEl>
                </p:cond>
              </p:nextCondLst>
            </p:seq>
          </p:childTnLst>
        </p:cTn>
      </p:par>
    </p:tnLst>
    <p:bldLst>
      <p:bldP build="whole" bldLvl="1" animBg="1" rev="0" advAuto="0" spid="603" grpId="2"/>
      <p:bldP build="whole" bldLvl="1" animBg="1" rev="0" advAuto="0" spid="607" grpId="3"/>
      <p:bldP build="whole" bldLvl="1" animBg="1" rev="0" advAuto="0" spid="611" grpId="4"/>
      <p:bldP build="whole" bldLvl="1" animBg="1" rev="0" advAuto="0" spid="615" grpId="5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2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620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FF8A3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621" name="PLENARY · 3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PLENARY · 3 MIN</a:t>
              </a:r>
            </a:p>
          </p:txBody>
        </p:sp>
      </p:grpSp>
      <p:sp>
        <p:nvSpPr>
          <p:cNvPr id="623" name="slide_title"/>
          <p:cNvSpPr txBox="1"/>
          <p:nvPr/>
        </p:nvSpPr>
        <p:spPr>
          <a:xfrm>
            <a:off x="1170432" y="978407"/>
            <a:ext cx="1047262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F2F4F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True or false?</a:t>
            </a:r>
          </a:p>
        </p:txBody>
      </p:sp>
      <p:grpSp>
        <p:nvGrpSpPr>
          <p:cNvPr id="626" name="pl0_stmt"/>
          <p:cNvGrpSpPr/>
          <p:nvPr/>
        </p:nvGrpSpPr>
        <p:grpSpPr>
          <a:xfrm>
            <a:off x="1170432" y="2103120"/>
            <a:ext cx="8552383" cy="621793"/>
            <a:chOff x="0" y="0"/>
            <a:chExt cx="8552382" cy="621791"/>
          </a:xfrm>
        </p:grpSpPr>
        <p:sp>
          <p:nvSpPr>
            <p:cNvPr id="624" name="pl0_bg"/>
            <p:cNvSpPr/>
            <p:nvPr/>
          </p:nvSpPr>
          <p:spPr>
            <a:xfrm>
              <a:off x="0" y="0"/>
              <a:ext cx="8552383" cy="621792"/>
            </a:xfrm>
            <a:prstGeom prst="roundRect">
              <a:avLst>
                <a:gd name="adj" fmla="val 1470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5" name="pl0_q"/>
            <p:cNvSpPr txBox="1"/>
            <p:nvPr/>
          </p:nvSpPr>
          <p:spPr>
            <a:xfrm>
              <a:off x="256032" y="212204"/>
              <a:ext cx="8186623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4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Weight is the effect of a gravitational field on a mass.</a:t>
              </a:r>
            </a:p>
          </p:txBody>
        </p:sp>
      </p:grpSp>
      <p:sp>
        <p:nvSpPr>
          <p:cNvPr id="627" name="pl0_v"/>
          <p:cNvSpPr txBox="1"/>
          <p:nvPr/>
        </p:nvSpPr>
        <p:spPr>
          <a:xfrm>
            <a:off x="9905695" y="2290547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1FB6B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</a:t>
            </a:r>
          </a:p>
        </p:txBody>
      </p:sp>
      <p:grpSp>
        <p:nvGrpSpPr>
          <p:cNvPr id="630" name="pl1_stmt"/>
          <p:cNvGrpSpPr/>
          <p:nvPr/>
        </p:nvGrpSpPr>
        <p:grpSpPr>
          <a:xfrm>
            <a:off x="1170432" y="2871216"/>
            <a:ext cx="8552383" cy="621793"/>
            <a:chOff x="0" y="0"/>
            <a:chExt cx="8552382" cy="621791"/>
          </a:xfrm>
        </p:grpSpPr>
        <p:sp>
          <p:nvSpPr>
            <p:cNvPr id="628" name="pl1_bg"/>
            <p:cNvSpPr/>
            <p:nvPr/>
          </p:nvSpPr>
          <p:spPr>
            <a:xfrm>
              <a:off x="0" y="0"/>
              <a:ext cx="8552383" cy="621792"/>
            </a:xfrm>
            <a:prstGeom prst="roundRect">
              <a:avLst>
                <a:gd name="adj" fmla="val 1470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9" name="pl1_q"/>
            <p:cNvSpPr txBox="1"/>
            <p:nvPr/>
          </p:nvSpPr>
          <p:spPr>
            <a:xfrm>
              <a:off x="256032" y="212204"/>
              <a:ext cx="8186623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4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 is bigger for a bigger mass.</a:t>
              </a:r>
            </a:p>
          </p:txBody>
        </p:sp>
      </p:grpSp>
      <p:sp>
        <p:nvSpPr>
          <p:cNvPr id="631" name="pl1_v"/>
          <p:cNvSpPr txBox="1"/>
          <p:nvPr/>
        </p:nvSpPr>
        <p:spPr>
          <a:xfrm>
            <a:off x="9905695" y="3058643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grpSp>
        <p:nvGrpSpPr>
          <p:cNvPr id="634" name="pl2_stmt"/>
          <p:cNvGrpSpPr/>
          <p:nvPr/>
        </p:nvGrpSpPr>
        <p:grpSpPr>
          <a:xfrm>
            <a:off x="1170432" y="3639311"/>
            <a:ext cx="8552383" cy="621793"/>
            <a:chOff x="0" y="0"/>
            <a:chExt cx="8552382" cy="621791"/>
          </a:xfrm>
        </p:grpSpPr>
        <p:sp>
          <p:nvSpPr>
            <p:cNvPr id="632" name="pl2_bg"/>
            <p:cNvSpPr/>
            <p:nvPr/>
          </p:nvSpPr>
          <p:spPr>
            <a:xfrm>
              <a:off x="0" y="0"/>
              <a:ext cx="8552383" cy="621792"/>
            </a:xfrm>
            <a:prstGeom prst="roundRect">
              <a:avLst>
                <a:gd name="adj" fmla="val 1470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33" name="pl2_q"/>
            <p:cNvSpPr txBox="1"/>
            <p:nvPr/>
          </p:nvSpPr>
          <p:spPr>
            <a:xfrm>
              <a:off x="256032" y="212204"/>
              <a:ext cx="8186623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4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N/kg and m/s² are different units.</a:t>
              </a:r>
            </a:p>
          </p:txBody>
        </p:sp>
      </p:grpSp>
      <p:sp>
        <p:nvSpPr>
          <p:cNvPr id="635" name="pl2_v"/>
          <p:cNvSpPr txBox="1"/>
          <p:nvPr/>
        </p:nvSpPr>
        <p:spPr>
          <a:xfrm>
            <a:off x="9905695" y="3826739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grpSp>
        <p:nvGrpSpPr>
          <p:cNvPr id="638" name="pl3_stmt"/>
          <p:cNvGrpSpPr/>
          <p:nvPr/>
        </p:nvGrpSpPr>
        <p:grpSpPr>
          <a:xfrm>
            <a:off x="1170432" y="4407408"/>
            <a:ext cx="8552383" cy="621793"/>
            <a:chOff x="0" y="0"/>
            <a:chExt cx="8552382" cy="621791"/>
          </a:xfrm>
        </p:grpSpPr>
        <p:sp>
          <p:nvSpPr>
            <p:cNvPr id="636" name="pl3_bg"/>
            <p:cNvSpPr/>
            <p:nvPr/>
          </p:nvSpPr>
          <p:spPr>
            <a:xfrm>
              <a:off x="0" y="0"/>
              <a:ext cx="8552383" cy="621792"/>
            </a:xfrm>
            <a:prstGeom prst="roundRect">
              <a:avLst>
                <a:gd name="adj" fmla="val 1470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37" name="pl3_q"/>
            <p:cNvSpPr txBox="1"/>
            <p:nvPr/>
          </p:nvSpPr>
          <p:spPr>
            <a:xfrm>
              <a:off x="256032" y="212204"/>
              <a:ext cx="8186623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4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In free fall, all objects accelerate at the same rate (ignoring air resistance).</a:t>
              </a:r>
            </a:p>
          </p:txBody>
        </p:sp>
      </p:grpSp>
      <p:sp>
        <p:nvSpPr>
          <p:cNvPr id="639" name="pl3_v"/>
          <p:cNvSpPr txBox="1"/>
          <p:nvPr/>
        </p:nvSpPr>
        <p:spPr>
          <a:xfrm>
            <a:off x="9905695" y="4594835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1FB6B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</a:t>
            </a:r>
          </a:p>
        </p:txBody>
      </p:sp>
      <p:grpSp>
        <p:nvGrpSpPr>
          <p:cNvPr id="642" name="pl4_stmt"/>
          <p:cNvGrpSpPr/>
          <p:nvPr/>
        </p:nvGrpSpPr>
        <p:grpSpPr>
          <a:xfrm>
            <a:off x="1170432" y="5175503"/>
            <a:ext cx="8552383" cy="621793"/>
            <a:chOff x="0" y="0"/>
            <a:chExt cx="8552382" cy="621791"/>
          </a:xfrm>
        </p:grpSpPr>
        <p:sp>
          <p:nvSpPr>
            <p:cNvPr id="640" name="pl4_bg"/>
            <p:cNvSpPr/>
            <p:nvPr/>
          </p:nvSpPr>
          <p:spPr>
            <a:xfrm>
              <a:off x="0" y="0"/>
              <a:ext cx="8552383" cy="621792"/>
            </a:xfrm>
            <a:prstGeom prst="roundRect">
              <a:avLst>
                <a:gd name="adj" fmla="val 1470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41" name="pl4_q"/>
            <p:cNvSpPr txBox="1"/>
            <p:nvPr/>
          </p:nvSpPr>
          <p:spPr>
            <a:xfrm>
              <a:off x="256032" y="212204"/>
              <a:ext cx="8186623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4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ball thrown sideways takes longer to fall than one just dropped, from the same height.</a:t>
              </a:r>
            </a:p>
          </p:txBody>
        </p:sp>
      </p:grpSp>
      <p:sp>
        <p:nvSpPr>
          <p:cNvPr id="643" name="pl4_v"/>
          <p:cNvSpPr txBox="1"/>
          <p:nvPr/>
        </p:nvSpPr>
        <p:spPr>
          <a:xfrm>
            <a:off x="9905695" y="5362931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sp>
        <p:nvSpPr>
          <p:cNvPr id="644" name="pl_next2"/>
          <p:cNvSpPr txBox="1"/>
          <p:nvPr/>
        </p:nvSpPr>
        <p:spPr>
          <a:xfrm>
            <a:off x="1170432" y="6195381"/>
            <a:ext cx="1047262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5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field. One g. Two units for the same fact: N/kg and m/s².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u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6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4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16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4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16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4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clickEffect" presetSubtype="16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6" dur="4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67" fill="hold" display="0">
                  <p:stCondLst>
                    <p:cond delay="indefinite"/>
                  </p:stCondLst>
                </p:cTn>
                <p:tgtEl>
                  <p:spTgt spid="619"/>
                </p:tgtEl>
              </p:cMediaNode>
            </p:video>
            <p:seq concurrent="1" prevAc="none" nextAc="seek">
              <p:cTn id="68" evtFilter="cancelBubble" nodeType="interactiveSeq" restart="whenNotActive" fill="hold">
                <p:stCondLst>
                  <p:cond delay="0" evt="onClick">
                    <p:tgtEl>
                      <p:spTgt spid="61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2" dur="1" fill="hold"/>
                                        <p:tgtEl>
                                          <p:spTgt spid="6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619"/>
                  </p:tgtEl>
                </p:cond>
              </p:nextCondLst>
            </p:seq>
          </p:childTnLst>
        </p:cTn>
      </p:par>
    </p:tnLst>
    <p:bldLst>
      <p:bldP build="whole" bldLvl="1" animBg="1" rev="0" advAuto="0" spid="642" grpId="10"/>
      <p:bldP build="whole" bldLvl="1" animBg="1" rev="0" advAuto="0" spid="630" grpId="4"/>
      <p:bldP build="whole" bldLvl="1" animBg="1" rev="0" advAuto="0" spid="638" grpId="8"/>
      <p:bldP build="whole" bldLvl="1" animBg="1" rev="0" advAuto="0" spid="626" grpId="2"/>
      <p:bldP build="whole" bldLvl="1" animBg="1" rev="0" advAuto="0" spid="635" grpId="7"/>
      <p:bldP build="whole" bldLvl="1" animBg="1" rev="0" advAuto="0" spid="631" grpId="5"/>
      <p:bldP build="whole" bldLvl="1" animBg="1" rev="0" advAuto="0" spid="627" grpId="3"/>
      <p:bldP build="whole" bldLvl="1" animBg="1" rev="0" advAuto="0" spid="639" grpId="9"/>
      <p:bldP build="whole" bldLvl="1" animBg="1" rev="0" advAuto="0" spid="643" grpId="11"/>
      <p:bldP build="whole" bldLvl="1" animBg="1" rev="0" advAuto="0" spid="644" grpId="12"/>
      <p:bldP build="whole" bldLvl="1" animBg="1" rev="0" advAuto="0" spid="634" grpId="6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