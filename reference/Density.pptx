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media/media1.mp4" ContentType="video/unknown"/>
  <Override PartName="/ppt/notesSlides/notesSlide2.xml" ContentType="application/vnd.openxmlformats-officedocument.presentationml.notesSlide+xml"/>
  <Override PartName="/ppt/media/media2.mp4" ContentType="video/unknown"/>
  <Override PartName="/ppt/notesSlides/notesSlide3.xml" ContentType="application/vnd.openxmlformats-officedocument.presentationml.notesSlide+xml"/>
  <Override PartName="/ppt/media/media3.mp4" ContentType="video/unknown"/>
  <Override PartName="/ppt/notesSlides/notesSlide4.xml" ContentType="application/vnd.openxmlformats-officedocument.presentationml.notesSlide+xml"/>
  <Override PartName="/ppt/media/media4.mp4" ContentType="video/unknown"/>
  <Override PartName="/ppt/notesSlides/notesSlide5.xml" ContentType="application/vnd.openxmlformats-officedocument.presentationml.notesSlide+xml"/>
  <Override PartName="/ppt/notesSlides/notesSlide6.xml" ContentType="application/vnd.openxmlformats-officedocument.presentationml.notesSlide+xml"/>
  <Override PartName="/ppt/media/media5.mp4" ContentType="video/unknown"/>
  <Override PartName="/ppt/notesSlides/notesSlide7.xml" ContentType="application/vnd.openxmlformats-officedocument.presentationml.notesSlide+xml"/>
  <Override PartName="/ppt/media/media6.mp4" ContentType="video/unknown"/>
  <Override PartName="/ppt/notesSlides/notesSlide8.xml" ContentType="application/vnd.openxmlformats-officedocument.presentationml.notesSlide+xml"/>
  <Override PartName="/ppt/media/media7.mp4" ContentType="video/unknown"/>
  <Override PartName="/ppt/notesSlides/notesSlide9.xml" ContentType="application/vnd.openxmlformats-officedocument.presentationml.notesSlide+xml"/>
  <Override PartName="/ppt/notesSlides/notesSlide10.xml" ContentType="application/vnd.openxmlformats-officedocument.presentationml.notesSlide+xml"/>
  <Override PartName="/ppt/media/media8.mp4" ContentType="video/unknown"/>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Lst>
  <p:sldSz cx="121793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9" name="Shape 69"/>
          <p:cNvSpPr/>
          <p:nvPr>
            <p:ph type="sldImg"/>
          </p:nvPr>
        </p:nvSpPr>
        <p:spPr>
          <a:prstGeom prst="rect">
            <a:avLst/>
          </a:prstGeom>
        </p:spPr>
        <p:txBody>
          <a:bodyPr/>
          <a:lstStyle/>
          <a:p>
            <a:pPr/>
          </a:p>
        </p:txBody>
      </p:sp>
      <p:sp>
        <p:nvSpPr>
          <p:cNvPr id="70" name="Shape 70"/>
          <p:cNvSpPr/>
          <p:nvPr>
            <p:ph type="body" sz="quarter" idx="1"/>
          </p:nvPr>
        </p:nvSpPr>
        <p:spPr>
          <a:prstGeom prst="rect">
            <a:avLst/>
          </a:prstGeom>
        </p:spPr>
        <p:txBody>
          <a:bodyPr/>
          <a:lstStyle/>
          <a:p>
            <a:pPr/>
            <a:r>
              <a:t>DO NOW. 10 minutes. Six clicks.</a:t>
            </a:r>
          </a:p>
          <a:p>
            <a:pPr/>
          </a:p>
          <a:p>
            <a:pPr/>
            <a:r>
              <a:t>Q1 IS THE ONE THAT MATTERS MOST. Cuboid volume comes straight back in I Do 1. If this stalls, that is the five minutes to spend before moving on.</a:t>
            </a:r>
          </a:p>
          <a:p>
            <a:pPr/>
          </a:p>
          <a:p>
            <a:pPr/>
            <a:r>
              <a:t>Q3 IS RETRIEVAL FROM GRAVITATIONAL FIELDS AND FREE FALL. g stays at 9.8, same as last lesson.</a:t>
            </a:r>
          </a:p>
          <a:p>
            <a:pPr/>
          </a:p>
          <a:p>
            <a:pPr/>
            <a:r>
              <a:t>Q4 AND Q6 seed today's vocabulary: measuring cylinder, cm³. Neither has been used yet this term.</a:t>
            </a:r>
          </a:p>
          <a:p>
            <a:pPr/>
          </a:p>
          <a:p>
            <a:pPr/>
            <a:r>
              <a:t>CHANGE THE DATE before you teach.</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5" name="Shape 95"/>
          <p:cNvSpPr/>
          <p:nvPr>
            <p:ph type="sldImg"/>
          </p:nvPr>
        </p:nvSpPr>
        <p:spPr>
          <a:prstGeom prst="rect">
            <a:avLst/>
          </a:prstGeom>
        </p:spPr>
        <p:txBody>
          <a:bodyPr/>
          <a:lstStyle/>
          <a:p>
            <a:pPr/>
          </a:p>
        </p:txBody>
      </p:sp>
      <p:sp>
        <p:nvSpPr>
          <p:cNvPr id="96" name="Shape 96"/>
          <p:cNvSpPr/>
          <p:nvPr>
            <p:ph type="body" sz="quarter" idx="1"/>
          </p:nvPr>
        </p:nvSpPr>
        <p:spPr>
          <a:prstGeom prst="rect">
            <a:avLst/>
          </a:prstGeom>
        </p:spPr>
        <p:txBody>
          <a:bodyPr/>
          <a:lstStyle/>
          <a:p>
            <a:pPr/>
            <a:r>
              <a:t>TODAY. 1 minute. Four clicks. The banner is the whole lesson in one line: two objects can be the same size and have very different masses. Density is what measures that.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6" name="Shape 116"/>
          <p:cNvSpPr/>
          <p:nvPr>
            <p:ph type="sldImg"/>
          </p:nvPr>
        </p:nvSpPr>
        <p:spPr>
          <a:prstGeom prst="rect">
            <a:avLst/>
          </a:prstGeom>
        </p:spPr>
        <p:txBody>
          <a:bodyPr/>
          <a:lstStyle/>
          <a:p>
            <a:pPr/>
          </a:p>
        </p:txBody>
      </p:sp>
      <p:sp>
        <p:nvSpPr>
          <p:cNvPr id="117" name="Shape 117"/>
          <p:cNvSpPr/>
          <p:nvPr>
            <p:ph type="body" sz="quarter" idx="1"/>
          </p:nvPr>
        </p:nvSpPr>
        <p:spPr>
          <a:prstGeom prst="rect">
            <a:avLst/>
          </a:prstGeom>
        </p:spPr>
        <p:txBody>
          <a:bodyPr/>
          <a:lstStyle/>
          <a:p>
            <a:pPr/>
            <a:r>
              <a:t>HOOK. 2 minutes. Four clicks.</a:t>
            </a:r>
          </a:p>
          <a:p>
            <a:pPr/>
          </a:p>
          <a:p>
            <a:pPr/>
            <a:r>
              <a:t>Hands up for each. Tally on the board.</a:t>
            </a:r>
          </a:p>
          <a:p>
            <a:pPr/>
          </a:p>
          <a:p>
            <a:pPr/>
            <a:r>
              <a:t>ANSWER: A. The ship's steel hull encloses a huge volume of air, so its average density (mass over the whole hull-plus-air volume) is less than water's. A solid marble is steel all the way through.</a:t>
            </a:r>
          </a:p>
          <a:p>
            <a:pPr/>
          </a:p>
          <a:p>
            <a:pPr/>
            <a:r>
              <a:t>C IS THE TRAP. The ship weighs far more than the marble in total, so "lighter" cannot be the reason it floats. That is the point to land before I Do.</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6" name="Shape 136"/>
          <p:cNvSpPr/>
          <p:nvPr>
            <p:ph type="sldImg"/>
          </p:nvPr>
        </p:nvSpPr>
        <p:spPr>
          <a:prstGeom prst="rect">
            <a:avLst/>
          </a:prstGeom>
        </p:spPr>
        <p:txBody>
          <a:bodyPr/>
          <a:lstStyle/>
          <a:p>
            <a:pPr/>
          </a:p>
        </p:txBody>
      </p:sp>
      <p:sp>
        <p:nvSpPr>
          <p:cNvPr id="137" name="Shape 137"/>
          <p:cNvSpPr/>
          <p:nvPr>
            <p:ph type="body" sz="quarter" idx="1"/>
          </p:nvPr>
        </p:nvSpPr>
        <p:spPr>
          <a:prstGeom prst="rect">
            <a:avLst/>
          </a:prstGeom>
        </p:spPr>
        <p:txBody>
          <a:bodyPr/>
          <a:lstStyle/>
          <a:p>
            <a:pPr/>
            <a:r>
              <a:t>I DO. 3 minutes. Three clicks: the equation, then the two unit cards.</a:t>
            </a:r>
          </a:p>
          <a:p>
            <a:pPr/>
          </a:p>
          <a:p>
            <a:pPr/>
            <a:r>
              <a:t>"MASS PER UNIT VOLUME" MEANS "how much mass is packed into each cm³ (or m³)". Say it that way at least once. The phrase alone does not land for most students.</a:t>
            </a:r>
          </a:p>
          <a:p>
            <a:pPr/>
          </a:p>
          <a:p>
            <a:pPr/>
            <a:r>
              <a:t>CONVERSION, IF IT COMES UP: 1 g/cm³ = 1000 kg/m³. Not needed for today's calculations, but worth having ready.</a:t>
            </a:r>
          </a:p>
          <a:p>
            <a:pPr/>
          </a:p>
          <a:p>
            <a:pPr/>
            <a:r>
              <a:t>THIS CLASS HAS ALREADY MET MASS (kg) FROM THE LAST TWO LESSONS. Do not re-teach it. Volume is the new idea here.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5" name="Shape 165"/>
          <p:cNvSpPr/>
          <p:nvPr>
            <p:ph type="sldImg"/>
          </p:nvPr>
        </p:nvSpPr>
        <p:spPr>
          <a:prstGeom prst="rect">
            <a:avLst/>
          </a:prstGeom>
        </p:spPr>
        <p:txBody>
          <a:bodyPr/>
          <a:lstStyle/>
          <a:p>
            <a:pPr/>
          </a:p>
        </p:txBody>
      </p:sp>
      <p:sp>
        <p:nvSpPr>
          <p:cNvPr id="166" name="Shape 166"/>
          <p:cNvSpPr/>
          <p:nvPr>
            <p:ph type="body" sz="quarter" idx="1"/>
          </p:nvPr>
        </p:nvSpPr>
        <p:spPr>
          <a:prstGeom prst="rect">
            <a:avLst/>
          </a:prstGeom>
        </p:spPr>
        <p:txBody>
          <a:bodyPr/>
          <a:lstStyle/>
          <a:p>
            <a:pPr/>
            <a:r>
              <a:t>I DO. 3 minutes. Three clicks, one per method.</a:t>
            </a:r>
          </a:p>
          <a:p>
            <a:pPr/>
          </a:p>
          <a:p>
            <a:pPr/>
            <a:r>
              <a:t>THIS IS DESCRIBED, NOT DEMONSTRATED. The practical for this cannot happen before next week, so talk through each method with the numbers rather than running it live. Say that plainly if anyone asks.</a:t>
            </a:r>
          </a:p>
          <a:p>
            <a:pPr/>
          </a:p>
          <a:p>
            <a:pPr/>
            <a:r>
              <a:t>THE THIRD CARD IS THE ONE THAT NEEDS THE MOST TIME. "The rise in level IS the volume" is the idea students most often get backwards. Some will try to read the volume off the final level alone rather than the rise.</a:t>
            </a:r>
          </a:p>
          <a:p>
            <a:pPr/>
          </a:p>
          <a:p>
            <a:pPr/>
            <a:r>
              <a:t>ALL THREE METHODS END THE SAME WAY: mass ÷ volume. That repetition is deliberate.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4" name="Shape 194"/>
          <p:cNvSpPr/>
          <p:nvPr>
            <p:ph type="sldImg"/>
          </p:nvPr>
        </p:nvSpPr>
        <p:spPr>
          <a:prstGeom prst="rect">
            <a:avLst/>
          </a:prstGeom>
        </p:spPr>
        <p:txBody>
          <a:bodyPr/>
          <a:lstStyle/>
          <a:p>
            <a:pPr/>
          </a:p>
        </p:txBody>
      </p:sp>
      <p:sp>
        <p:nvSpPr>
          <p:cNvPr id="195" name="Shape 195"/>
          <p:cNvSpPr/>
          <p:nvPr>
            <p:ph type="body" sz="quarter" idx="1"/>
          </p:nvPr>
        </p:nvSpPr>
        <p:spPr>
          <a:prstGeom prst="rect">
            <a:avLst/>
          </a:prstGeom>
        </p:spPr>
        <p:txBody>
          <a:bodyPr/>
          <a:lstStyle/>
          <a:p>
            <a:pPr/>
            <a:r>
              <a:t>WE DO. 5 minutes. Four clicks. Take answers from the room first.</a:t>
            </a:r>
          </a:p>
          <a:p>
            <a:pPr/>
          </a:p>
          <a:p>
            <a:pPr/>
            <a:r>
              <a:t>ROW 1 IS THE FORMULA FLIP, the single most common error today. Some will confidently divide the wrong way round.</a:t>
            </a:r>
          </a:p>
          <a:p>
            <a:pPr/>
          </a:p>
          <a:p>
            <a:pPr/>
            <a:r>
              <a:t>ROW 3 AND ROW 4 BOTH ATTACK THE SAME MISCONCEPTION AS THE HOOK: size and weight are not density. Refer back to the ship if either row stalls.</a:t>
            </a:r>
          </a:p>
          <a:p>
            <a:pPr/>
          </a:p>
          <a:p>
            <a:pPr/>
            <a:r>
              <a:t>ROW 4 IS THE HOOK, IN WORDS. If this lands cleanly, the ship answer will make sense properly rather than just being memorised.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3" name="Shape 243"/>
          <p:cNvSpPr/>
          <p:nvPr>
            <p:ph type="sldImg"/>
          </p:nvPr>
        </p:nvSpPr>
        <p:spPr>
          <a:prstGeom prst="rect">
            <a:avLst/>
          </a:prstGeom>
        </p:spPr>
        <p:txBody>
          <a:bodyPr/>
          <a:lstStyle/>
          <a:p>
            <a:pPr/>
          </a:p>
        </p:txBody>
      </p:sp>
      <p:sp>
        <p:nvSpPr>
          <p:cNvPr id="244" name="Shape 244"/>
          <p:cNvSpPr/>
          <p:nvPr>
            <p:ph type="body" sz="quarter" idx="1"/>
          </p:nvPr>
        </p:nvSpPr>
        <p:spPr>
          <a:prstGeom prst="rect">
            <a:avLst/>
          </a:prstGeom>
        </p:spPr>
        <p:txBody>
          <a:bodyPr/>
          <a:lstStyle/>
          <a:p>
            <a:pPr/>
            <a:r>
              <a:t>COLD CALL. 6 minutes. Six clicks. Name a student, then ask. Thinking time before the answer.</a:t>
            </a:r>
          </a:p>
          <a:p>
            <a:pPr/>
          </a:p>
          <a:p>
            <a:pPr/>
            <a:r>
              <a:t>Q1 WANTS THE DEFINITION, not the equation. If a student answers "ρ = m ÷ V" to Q1, that is Q2's answer. Push once: "say it in words."</a:t>
            </a:r>
          </a:p>
          <a:p>
            <a:pPr/>
          </a:p>
          <a:p>
            <a:pPr/>
            <a:r>
              <a:t>Q3 IS THE FIRST TIMED CALCULATION. Watch for the formula flip from We Do.</a:t>
            </a:r>
          </a:p>
          <a:p>
            <a:pPr/>
          </a:p>
          <a:p>
            <a:pPr/>
            <a:r>
              <a:t>Q6 CHECKS DISPLACEMENT SPECIFICALLY. They need this exact skill on the worksheet's Gold questions.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9" name="Shape 269"/>
          <p:cNvSpPr/>
          <p:nvPr>
            <p:ph type="sldImg"/>
          </p:nvPr>
        </p:nvSpPr>
        <p:spPr>
          <a:prstGeom prst="rect">
            <a:avLst/>
          </a:prstGeom>
        </p:spPr>
        <p:txBody>
          <a:bodyPr/>
          <a:lstStyle/>
          <a:p>
            <a:pPr/>
          </a:p>
        </p:txBody>
      </p:sp>
      <p:sp>
        <p:nvSpPr>
          <p:cNvPr id="270" name="Shape 270"/>
          <p:cNvSpPr/>
          <p:nvPr>
            <p:ph type="body" sz="quarter" idx="1"/>
          </p:nvPr>
        </p:nvSpPr>
        <p:spPr>
          <a:prstGeom prst="rect">
            <a:avLst/>
          </a:prstGeom>
        </p:spPr>
        <p:txBody>
          <a:bodyPr/>
          <a:lstStyle/>
          <a:p>
            <a:pPr/>
            <a:r>
              <a:t>YOU DO. 14 minutes. Four clicks.</a:t>
            </a:r>
          </a:p>
          <a:p>
            <a:pPr/>
          </a:p>
          <a:p>
            <a:pPr/>
            <a:r>
              <a:t>CIRCULATE WITH ONE QUESTION: "which way round does the divide go?"</a:t>
            </a:r>
          </a:p>
          <a:p>
            <a:pPr/>
          </a:p>
          <a:p>
            <a:pPr/>
            <a:r>
              <a:t>WHERE THEY WILL STALL: Gold Q9, reading the displacement rise from two given levels rather than the smaller one alone. Point them back to I Do 2's third card if they freeze.</a:t>
            </a:r>
          </a:p>
          <a:p>
            <a:pPr/>
          </a:p>
          <a:p>
            <a:pPr/>
            <a:r>
              <a:t>AT 3 MINUTES REMAINING, stop them. Answers are on the next slide.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7" name="Shape 317"/>
          <p:cNvSpPr/>
          <p:nvPr>
            <p:ph type="sldImg"/>
          </p:nvPr>
        </p:nvSpPr>
        <p:spPr>
          <a:prstGeom prst="rect">
            <a:avLst/>
          </a:prstGeom>
        </p:spPr>
        <p:txBody>
          <a:bodyPr/>
          <a:lstStyle/>
          <a:p>
            <a:pPr/>
          </a:p>
        </p:txBody>
      </p:sp>
      <p:sp>
        <p:nvSpPr>
          <p:cNvPr id="318" name="Shape 318"/>
          <p:cNvSpPr/>
          <p:nvPr>
            <p:ph type="body" sz="quarter" idx="1"/>
          </p:nvPr>
        </p:nvSpPr>
        <p:spPr>
          <a:prstGeom prst="rect">
            <a:avLst/>
          </a:prstGeom>
        </p:spPr>
        <p:txBody>
          <a:bodyPr/>
          <a:lstStyle/>
          <a:p>
            <a:pPr/>
            <a:r>
              <a:t>ANSWERS. 3 minutes. Five clicks, two at a time. They mark their own in a different colour.</a:t>
            </a:r>
          </a:p>
          <a:p>
            <a:pPr/>
          </a:p>
          <a:p>
            <a:pPr/>
            <a:r>
              <a:t>Q9 AND Q10 ARE THE CONCEPTUAL PAYOFF. Q10 should come easily if the Hook and Row 4 of We Do both landed. If it does not, that is worth five minutes at the start of next lesson.</a:t>
            </a:r>
          </a:p>
          <a:p>
            <a:pPr/>
          </a:p>
          <a:p>
            <a:pPr/>
            <a:r>
              <a:t>Q7 AND Q8 use the same displacement data. Do not let anyone skip straight to Q8 without the working from Q7.</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6" name="Shape 346"/>
          <p:cNvSpPr/>
          <p:nvPr>
            <p:ph type="sldImg"/>
          </p:nvPr>
        </p:nvSpPr>
        <p:spPr>
          <a:prstGeom prst="rect">
            <a:avLst/>
          </a:prstGeom>
        </p:spPr>
        <p:txBody>
          <a:bodyPr/>
          <a:lstStyle/>
          <a:p>
            <a:pPr/>
          </a:p>
        </p:txBody>
      </p:sp>
      <p:sp>
        <p:nvSpPr>
          <p:cNvPr id="347" name="Shape 347"/>
          <p:cNvSpPr/>
          <p:nvPr>
            <p:ph type="body" sz="quarter" idx="1"/>
          </p:nvPr>
        </p:nvSpPr>
        <p:spPr>
          <a:prstGeom prst="rect">
            <a:avLst/>
          </a:prstGeom>
        </p:spPr>
        <p:txBody>
          <a:bodyPr/>
          <a:lstStyle/>
          <a:p>
            <a:pPr/>
            <a:r>
              <a:t>PLENARY. 3 minutes. Six clicks.</a:t>
            </a:r>
          </a:p>
          <a:p>
            <a:pPr/>
          </a:p>
          <a:p>
            <a:pPr/>
            <a:r>
              <a:t>Q3 AND Q5 ARE THE MISCONCEPTIONS FROM WE DO AND THE HOOK, ASKED DIRECTLY. If either is wrong, that is the first five minutes of next lesson.</a:t>
            </a:r>
          </a:p>
          <a:p>
            <a:pPr/>
          </a:p>
          <a:p>
            <a:pPr/>
            <a:r>
              <a:t>Q4 CHECKS THE METHOD, NOT JUST THE VOCABULARY. Ask a follow-up: "what do you actually measure to get that volume?"</a:t>
            </a:r>
          </a:p>
          <a:p>
            <a:pPr/>
          </a:p>
          <a:p>
            <a:pPr/>
            <a:r>
              <a:t>The closing line is the habit to leave them with.</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608965" y="92074"/>
            <a:ext cx="10961370" cy="1508127"/>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608965" y="1600200"/>
            <a:ext cx="1096137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5886661" y="6172200"/>
            <a:ext cx="2841838" cy="3683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video" Target="../media/media1.mp4"/><Relationship Id="rId4" Type="http://schemas.microsoft.com/office/2007/relationships/media" Target="../media/media1.mp4"/><Relationship Id="rId5"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video" Target="../media/media2.mp4"/><Relationship Id="rId4" Type="http://schemas.microsoft.com/office/2007/relationships/media" Target="../media/media2.mp4"/><Relationship Id="rId5" Type="http://schemas.openxmlformats.org/officeDocument/2006/relationships/image" Target="../media/image1.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video" Target="../media/media3.mp4"/><Relationship Id="rId4" Type="http://schemas.microsoft.com/office/2007/relationships/media" Target="../media/media3.mp4"/><Relationship Id="rId5" Type="http://schemas.openxmlformats.org/officeDocument/2006/relationships/image" Target="../media/image1.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video" Target="../media/media4.mp4"/><Relationship Id="rId4" Type="http://schemas.microsoft.com/office/2007/relationships/media" Target="../media/media4.mp4"/><Relationship Id="rId5" Type="http://schemas.openxmlformats.org/officeDocument/2006/relationships/image" Target="../media/image1.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video" Target="../media/media4.mp4"/><Relationship Id="rId4" Type="http://schemas.microsoft.com/office/2007/relationships/media" Target="../media/media4.mp4"/><Relationship Id="rId5" Type="http://schemas.openxmlformats.org/officeDocument/2006/relationships/image" Target="../media/image1.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video" Target="../media/media5.mp4"/><Relationship Id="rId4" Type="http://schemas.microsoft.com/office/2007/relationships/media" Target="../media/media5.mp4"/><Relationship Id="rId5" Type="http://schemas.openxmlformats.org/officeDocument/2006/relationships/image" Target="../media/image1.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video" Target="../media/media6.mp4"/><Relationship Id="rId4" Type="http://schemas.microsoft.com/office/2007/relationships/media" Target="../media/media6.mp4"/><Relationship Id="rId5" Type="http://schemas.openxmlformats.org/officeDocument/2006/relationships/image" Target="../media/image1.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video" Target="../media/media7.mp4"/><Relationship Id="rId4" Type="http://schemas.microsoft.com/office/2007/relationships/media" Target="../media/media7.mp4"/><Relationship Id="rId5" Type="http://schemas.openxmlformats.org/officeDocument/2006/relationships/image" Target="../media/image1.png"/><Relationship Id="rId6" Type="http://schemas.openxmlformats.org/officeDocument/2006/relationships/image" Target="../media/image2.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video" Target="../media/media4.mp4"/><Relationship Id="rId4" Type="http://schemas.microsoft.com/office/2007/relationships/media" Target="../media/media4.mp4"/><Relationship Id="rId5" Type="http://schemas.openxmlformats.org/officeDocument/2006/relationships/image" Target="../media/image1.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video" Target="../media/media8.mp4"/><Relationship Id="rId4" Type="http://schemas.microsoft.com/office/2007/relationships/media" Target="../media/media8.mp4"/><Relationship Id="rId5"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EFF6F7"/>
        </a:solidFill>
      </p:bgPr>
    </p:bg>
    <p:spTree>
      <p:nvGrpSpPr>
        <p:cNvPr id="1" name=""/>
        <p:cNvGrpSpPr/>
        <p:nvPr/>
      </p:nvGrpSpPr>
      <p:grpSpPr>
        <a:xfrm>
          <a:off x="0" y="0"/>
          <a:ext cx="0" cy="0"/>
          <a:chOff x="0" y="0"/>
          <a:chExt cx="0" cy="0"/>
        </a:xfrm>
      </p:grpSpPr>
      <p:pic>
        <p:nvPicPr>
          <p:cNvPr id="20"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3" name="phase_pill"/>
          <p:cNvGrpSpPr/>
          <p:nvPr/>
        </p:nvGrpSpPr>
        <p:grpSpPr>
          <a:xfrm>
            <a:off x="1170432" y="310895"/>
            <a:ext cx="1892808" cy="329185"/>
            <a:chOff x="0" y="0"/>
            <a:chExt cx="1892807" cy="329184"/>
          </a:xfrm>
        </p:grpSpPr>
        <p:sp>
          <p:nvSpPr>
            <p:cNvPr id="21" name="Rounded Rectangle"/>
            <p:cNvSpPr/>
            <p:nvPr/>
          </p:nvSpPr>
          <p:spPr>
            <a:xfrm>
              <a:off x="0" y="0"/>
              <a:ext cx="1892808" cy="329185"/>
            </a:xfrm>
            <a:prstGeom prst="roundRect">
              <a:avLst>
                <a:gd name="adj" fmla="val 44444"/>
              </a:avLst>
            </a:prstGeom>
            <a:solidFill>
              <a:srgbClr val="0B3D4C"/>
            </a:solidFill>
            <a:ln w="12700" cap="flat">
              <a:noFill/>
              <a:miter lim="400000"/>
            </a:ln>
            <a:effectLst/>
          </p:spPr>
          <p:txBody>
            <a:bodyPr wrap="square" lIns="45719" tIns="45719" rIns="45719" bIns="45719" numCol="1" anchor="ctr">
              <a:noAutofit/>
            </a:bodyPr>
            <a:lstStyle/>
            <a:p>
              <a:pPr algn="ctr">
                <a:defRPr sz="1100"/>
              </a:pPr>
            </a:p>
          </p:txBody>
        </p:sp>
        <p:sp>
          <p:nvSpPr>
            <p:cNvPr id="22" name="DO NOW · 10 MIN"/>
            <p:cNvSpPr txBox="1"/>
            <p:nvPr/>
          </p:nvSpPr>
          <p:spPr>
            <a:xfrm>
              <a:off x="42850" y="90677"/>
              <a:ext cx="1807107"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DO NOW · 10 MIN</a:t>
              </a:r>
            </a:p>
          </p:txBody>
        </p:sp>
      </p:grpSp>
      <p:sp>
        <p:nvSpPr>
          <p:cNvPr id="24" name="lesson_title"/>
          <p:cNvSpPr txBox="1"/>
          <p:nvPr/>
        </p:nvSpPr>
        <p:spPr>
          <a:xfrm>
            <a:off x="3840479" y="312419"/>
            <a:ext cx="4754881"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600">
                <a:solidFill>
                  <a:srgbClr val="0B3D4C"/>
                </a:solidFill>
                <a:latin typeface="Georgia"/>
                <a:ea typeface="Georgia"/>
                <a:cs typeface="Georgia"/>
                <a:sym typeface="Georgia"/>
              </a:defRPr>
            </a:lvl1pPr>
          </a:lstStyle>
          <a:p>
            <a:pPr/>
            <a:r>
              <a:t>Density</a:t>
            </a:r>
          </a:p>
        </p:txBody>
      </p:sp>
      <p:sp>
        <p:nvSpPr>
          <p:cNvPr id="25" name="lesson_date"/>
          <p:cNvSpPr txBox="1"/>
          <p:nvPr/>
        </p:nvSpPr>
        <p:spPr>
          <a:xfrm>
            <a:off x="8534095" y="382938"/>
            <a:ext cx="3108961"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300">
                <a:solidFill>
                  <a:srgbClr val="4E6D74"/>
                </a:solidFill>
                <a:latin typeface="Arial"/>
                <a:ea typeface="Arial"/>
                <a:cs typeface="Arial"/>
                <a:sym typeface="Arial"/>
              </a:defRPr>
            </a:lvl1pPr>
          </a:lstStyle>
          <a:p>
            <a:pPr/>
            <a:r>
              <a:t>Tuesday 29 September 2026</a:t>
            </a:r>
          </a:p>
        </p:txBody>
      </p:sp>
      <p:sp>
        <p:nvSpPr>
          <p:cNvPr id="26" name="rule"/>
          <p:cNvSpPr/>
          <p:nvPr/>
        </p:nvSpPr>
        <p:spPr>
          <a:xfrm>
            <a:off x="1170432" y="896111"/>
            <a:ext cx="10472623" cy="36577"/>
          </a:xfrm>
          <a:prstGeom prst="rect">
            <a:avLst/>
          </a:prstGeom>
          <a:solidFill>
            <a:srgbClr val="FF8952"/>
          </a:solidFill>
          <a:ln w="12700">
            <a:solidFill>
              <a:srgbClr val="FF8952"/>
            </a:solidFill>
          </a:ln>
        </p:spPr>
        <p:txBody>
          <a:bodyPr lIns="45719" rIns="45719"/>
          <a:lstStyle/>
          <a:p>
            <a:pPr/>
          </a:p>
        </p:txBody>
      </p:sp>
      <p:sp>
        <p:nvSpPr>
          <p:cNvPr id="27" name="d0_bg"/>
          <p:cNvSpPr/>
          <p:nvPr/>
        </p:nvSpPr>
        <p:spPr>
          <a:xfrm>
            <a:off x="1170432" y="1133855"/>
            <a:ext cx="5099152" cy="1481329"/>
          </a:xfrm>
          <a:prstGeom prst="roundRect">
            <a:avLst>
              <a:gd name="adj" fmla="val 6173"/>
            </a:avLst>
          </a:prstGeom>
          <a:solidFill>
            <a:srgbClr val="FFFFFF"/>
          </a:solidFill>
          <a:ln w="16510">
            <a:solidFill>
              <a:srgbClr val="D8DEEC"/>
            </a:solidFill>
          </a:ln>
        </p:spPr>
        <p:txBody>
          <a:bodyPr lIns="45719" rIns="45719"/>
          <a:lstStyle/>
          <a:p>
            <a:pPr/>
          </a:p>
        </p:txBody>
      </p:sp>
      <p:sp>
        <p:nvSpPr>
          <p:cNvPr id="28" name="d0_badge"/>
          <p:cNvSpPr/>
          <p:nvPr/>
        </p:nvSpPr>
        <p:spPr>
          <a:xfrm>
            <a:off x="1371600" y="1298447"/>
            <a:ext cx="384048" cy="384049"/>
          </a:xfrm>
          <a:prstGeom prst="ellipse">
            <a:avLst/>
          </a:prstGeom>
          <a:solidFill>
            <a:srgbClr val="FF8952"/>
          </a:solidFill>
          <a:ln w="12700">
            <a:solidFill>
              <a:srgbClr val="FF8952"/>
            </a:solidFill>
          </a:ln>
        </p:spPr>
        <p:txBody>
          <a:bodyPr lIns="45719" rIns="45719"/>
          <a:lstStyle/>
          <a:p>
            <a:pPr/>
          </a:p>
        </p:txBody>
      </p:sp>
      <p:sp>
        <p:nvSpPr>
          <p:cNvPr id="29" name="d0_num"/>
          <p:cNvSpPr txBox="1"/>
          <p:nvPr/>
        </p:nvSpPr>
        <p:spPr>
          <a:xfrm>
            <a:off x="1371600" y="1388871"/>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0B3D4C"/>
                </a:solidFill>
                <a:latin typeface="Georgia"/>
                <a:ea typeface="Georgia"/>
                <a:cs typeface="Georgia"/>
                <a:sym typeface="Georgia"/>
              </a:defRPr>
            </a:lvl1pPr>
          </a:lstStyle>
          <a:p>
            <a:pPr/>
            <a:r>
              <a:t>1</a:t>
            </a:r>
          </a:p>
        </p:txBody>
      </p:sp>
      <p:sp>
        <p:nvSpPr>
          <p:cNvPr id="30" name="d0_q"/>
          <p:cNvSpPr txBox="1"/>
          <p:nvPr/>
        </p:nvSpPr>
        <p:spPr>
          <a:xfrm>
            <a:off x="1901951" y="1356927"/>
            <a:ext cx="4166465" cy="52312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100"/>
              </a:lnSpc>
              <a:defRPr sz="1600">
                <a:solidFill>
                  <a:srgbClr val="0C2730"/>
                </a:solidFill>
                <a:latin typeface="Arial"/>
                <a:ea typeface="Arial"/>
                <a:cs typeface="Arial"/>
                <a:sym typeface="Arial"/>
              </a:defRPr>
            </a:lvl1pPr>
          </a:lstStyle>
          <a:p>
            <a:pPr/>
            <a:r>
              <a:t>Find the volume of a cuboid measuring 4 cm by 2 cm by 3 cm.</a:t>
            </a:r>
          </a:p>
        </p:txBody>
      </p:sp>
      <p:grpSp>
        <p:nvGrpSpPr>
          <p:cNvPr id="33" name="d0_a"/>
          <p:cNvGrpSpPr/>
          <p:nvPr/>
        </p:nvGrpSpPr>
        <p:grpSpPr>
          <a:xfrm>
            <a:off x="1371600" y="2048255"/>
            <a:ext cx="4696817" cy="438914"/>
            <a:chOff x="0" y="0"/>
            <a:chExt cx="4696816" cy="438912"/>
          </a:xfrm>
        </p:grpSpPr>
        <p:sp>
          <p:nvSpPr>
            <p:cNvPr id="31" name="Rounded Rectangle"/>
            <p:cNvSpPr/>
            <p:nvPr/>
          </p:nvSpPr>
          <p:spPr>
            <a:xfrm>
              <a:off x="0" y="0"/>
              <a:ext cx="4696817" cy="438913"/>
            </a:xfrm>
            <a:prstGeom prst="roundRect">
              <a:avLst>
                <a:gd name="adj" fmla="val 20833"/>
              </a:avLst>
            </a:prstGeom>
            <a:solidFill>
              <a:srgbClr val="FFEEE4"/>
            </a:solidFill>
            <a:ln w="16510" cap="flat">
              <a:solidFill>
                <a:srgbClr val="FF8952"/>
              </a:solidFill>
              <a:prstDash val="solid"/>
              <a:round/>
            </a:ln>
            <a:effectLst/>
          </p:spPr>
          <p:txBody>
            <a:bodyPr wrap="square" lIns="45719" tIns="45719" rIns="45719" bIns="45719" numCol="1" anchor="ctr">
              <a:noAutofit/>
            </a:bodyPr>
            <a:lstStyle/>
            <a:p>
              <a:pPr>
                <a:defRPr sz="1500"/>
              </a:pPr>
            </a:p>
          </p:txBody>
        </p:sp>
        <p:sp>
          <p:nvSpPr>
            <p:cNvPr id="32" name="4 × 2 × 3 = 24 cm³"/>
            <p:cNvSpPr txBox="1"/>
            <p:nvPr/>
          </p:nvSpPr>
          <p:spPr>
            <a:xfrm>
              <a:off x="35035" y="113606"/>
              <a:ext cx="4626746" cy="2117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500">
                  <a:solidFill>
                    <a:srgbClr val="0B3D4C"/>
                  </a:solidFill>
                  <a:latin typeface="Arial"/>
                  <a:ea typeface="Arial"/>
                  <a:cs typeface="Arial"/>
                  <a:sym typeface="Arial"/>
                </a:defRPr>
              </a:lvl1pPr>
            </a:lstStyle>
            <a:p>
              <a:pPr/>
              <a:r>
                <a:t>4 × 2 × 3 = 24 cm³</a:t>
              </a:r>
            </a:p>
          </p:txBody>
        </p:sp>
      </p:grpSp>
      <p:sp>
        <p:nvSpPr>
          <p:cNvPr id="34" name="d1_bg"/>
          <p:cNvSpPr/>
          <p:nvPr/>
        </p:nvSpPr>
        <p:spPr>
          <a:xfrm>
            <a:off x="6543903" y="1133855"/>
            <a:ext cx="5099153" cy="1481329"/>
          </a:xfrm>
          <a:prstGeom prst="roundRect">
            <a:avLst>
              <a:gd name="adj" fmla="val 6173"/>
            </a:avLst>
          </a:prstGeom>
          <a:solidFill>
            <a:srgbClr val="FFFFFF"/>
          </a:solidFill>
          <a:ln w="16510">
            <a:solidFill>
              <a:srgbClr val="D8DEEC"/>
            </a:solidFill>
          </a:ln>
        </p:spPr>
        <p:txBody>
          <a:bodyPr lIns="45719" rIns="45719"/>
          <a:lstStyle/>
          <a:p>
            <a:pPr/>
          </a:p>
        </p:txBody>
      </p:sp>
      <p:sp>
        <p:nvSpPr>
          <p:cNvPr id="35" name="d1_badge"/>
          <p:cNvSpPr/>
          <p:nvPr/>
        </p:nvSpPr>
        <p:spPr>
          <a:xfrm>
            <a:off x="6745072" y="1298447"/>
            <a:ext cx="384049" cy="384049"/>
          </a:xfrm>
          <a:prstGeom prst="ellipse">
            <a:avLst/>
          </a:prstGeom>
          <a:solidFill>
            <a:srgbClr val="FF8952"/>
          </a:solidFill>
          <a:ln w="12700">
            <a:solidFill>
              <a:srgbClr val="FF8952"/>
            </a:solidFill>
          </a:ln>
        </p:spPr>
        <p:txBody>
          <a:bodyPr lIns="45719" rIns="45719"/>
          <a:lstStyle/>
          <a:p>
            <a:pPr/>
          </a:p>
        </p:txBody>
      </p:sp>
      <p:sp>
        <p:nvSpPr>
          <p:cNvPr id="36" name="d1_num"/>
          <p:cNvSpPr txBox="1"/>
          <p:nvPr/>
        </p:nvSpPr>
        <p:spPr>
          <a:xfrm>
            <a:off x="6745072" y="1388871"/>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0B3D4C"/>
                </a:solidFill>
                <a:latin typeface="Georgia"/>
                <a:ea typeface="Georgia"/>
                <a:cs typeface="Georgia"/>
                <a:sym typeface="Georgia"/>
              </a:defRPr>
            </a:lvl1pPr>
          </a:lstStyle>
          <a:p>
            <a:pPr/>
            <a:r>
              <a:t>2</a:t>
            </a:r>
          </a:p>
        </p:txBody>
      </p:sp>
      <p:sp>
        <p:nvSpPr>
          <p:cNvPr id="37" name="d1_q"/>
          <p:cNvSpPr txBox="1"/>
          <p:nvPr/>
        </p:nvSpPr>
        <p:spPr>
          <a:xfrm>
            <a:off x="7275424" y="1490277"/>
            <a:ext cx="4166465" cy="25642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100"/>
              </a:lnSpc>
              <a:defRPr sz="1600">
                <a:solidFill>
                  <a:srgbClr val="0C2730"/>
                </a:solidFill>
                <a:latin typeface="Arial"/>
                <a:ea typeface="Arial"/>
                <a:cs typeface="Arial"/>
                <a:sym typeface="Arial"/>
              </a:defRPr>
            </a:lvl1pPr>
          </a:lstStyle>
          <a:p>
            <a:pPr/>
            <a:r>
              <a:t>State the unit of mass.</a:t>
            </a:r>
          </a:p>
        </p:txBody>
      </p:sp>
      <p:grpSp>
        <p:nvGrpSpPr>
          <p:cNvPr id="40" name="d1_a"/>
          <p:cNvGrpSpPr/>
          <p:nvPr/>
        </p:nvGrpSpPr>
        <p:grpSpPr>
          <a:xfrm>
            <a:off x="6745072" y="2048255"/>
            <a:ext cx="4696817" cy="438914"/>
            <a:chOff x="0" y="0"/>
            <a:chExt cx="4696816" cy="438912"/>
          </a:xfrm>
        </p:grpSpPr>
        <p:sp>
          <p:nvSpPr>
            <p:cNvPr id="38" name="Rounded Rectangle"/>
            <p:cNvSpPr/>
            <p:nvPr/>
          </p:nvSpPr>
          <p:spPr>
            <a:xfrm>
              <a:off x="0" y="0"/>
              <a:ext cx="4696817" cy="438913"/>
            </a:xfrm>
            <a:prstGeom prst="roundRect">
              <a:avLst>
                <a:gd name="adj" fmla="val 20833"/>
              </a:avLst>
            </a:prstGeom>
            <a:solidFill>
              <a:srgbClr val="FFEEE4"/>
            </a:solidFill>
            <a:ln w="16510" cap="flat">
              <a:solidFill>
                <a:srgbClr val="FF8952"/>
              </a:solidFill>
              <a:prstDash val="solid"/>
              <a:round/>
            </a:ln>
            <a:effectLst/>
          </p:spPr>
          <p:txBody>
            <a:bodyPr wrap="square" lIns="45719" tIns="45719" rIns="45719" bIns="45719" numCol="1" anchor="ctr">
              <a:noAutofit/>
            </a:bodyPr>
            <a:lstStyle/>
            <a:p>
              <a:pPr>
                <a:defRPr sz="1500"/>
              </a:pPr>
            </a:p>
          </p:txBody>
        </p:sp>
        <p:sp>
          <p:nvSpPr>
            <p:cNvPr id="39" name="Kilograms (kg)."/>
            <p:cNvSpPr txBox="1"/>
            <p:nvPr/>
          </p:nvSpPr>
          <p:spPr>
            <a:xfrm>
              <a:off x="35035" y="113606"/>
              <a:ext cx="4626746" cy="2117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500">
                  <a:solidFill>
                    <a:srgbClr val="0B3D4C"/>
                  </a:solidFill>
                  <a:latin typeface="Arial"/>
                  <a:ea typeface="Arial"/>
                  <a:cs typeface="Arial"/>
                  <a:sym typeface="Arial"/>
                </a:defRPr>
              </a:lvl1pPr>
            </a:lstStyle>
            <a:p>
              <a:pPr/>
              <a:r>
                <a:t>Kilograms (kg).</a:t>
              </a:r>
            </a:p>
          </p:txBody>
        </p:sp>
      </p:grpSp>
      <p:sp>
        <p:nvSpPr>
          <p:cNvPr id="41" name="d2_bg"/>
          <p:cNvSpPr/>
          <p:nvPr/>
        </p:nvSpPr>
        <p:spPr>
          <a:xfrm>
            <a:off x="1170432" y="2798064"/>
            <a:ext cx="5099152" cy="1481329"/>
          </a:xfrm>
          <a:prstGeom prst="roundRect">
            <a:avLst>
              <a:gd name="adj" fmla="val 6173"/>
            </a:avLst>
          </a:prstGeom>
          <a:solidFill>
            <a:srgbClr val="FFFFFF"/>
          </a:solidFill>
          <a:ln w="16510">
            <a:solidFill>
              <a:srgbClr val="D8DEEC"/>
            </a:solidFill>
          </a:ln>
        </p:spPr>
        <p:txBody>
          <a:bodyPr lIns="45719" rIns="45719"/>
          <a:lstStyle/>
          <a:p>
            <a:pPr/>
          </a:p>
        </p:txBody>
      </p:sp>
      <p:sp>
        <p:nvSpPr>
          <p:cNvPr id="42" name="d2_badge"/>
          <p:cNvSpPr/>
          <p:nvPr/>
        </p:nvSpPr>
        <p:spPr>
          <a:xfrm>
            <a:off x="1371600" y="2962655"/>
            <a:ext cx="384048" cy="384049"/>
          </a:xfrm>
          <a:prstGeom prst="ellipse">
            <a:avLst/>
          </a:prstGeom>
          <a:solidFill>
            <a:srgbClr val="FF8952"/>
          </a:solidFill>
          <a:ln w="12700">
            <a:solidFill>
              <a:srgbClr val="FF8952"/>
            </a:solidFill>
          </a:ln>
        </p:spPr>
        <p:txBody>
          <a:bodyPr lIns="45719" rIns="45719"/>
          <a:lstStyle/>
          <a:p>
            <a:pPr/>
          </a:p>
        </p:txBody>
      </p:sp>
      <p:sp>
        <p:nvSpPr>
          <p:cNvPr id="43" name="d2_num"/>
          <p:cNvSpPr txBox="1"/>
          <p:nvPr/>
        </p:nvSpPr>
        <p:spPr>
          <a:xfrm>
            <a:off x="1371600" y="3053079"/>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0B3D4C"/>
                </a:solidFill>
                <a:latin typeface="Georgia"/>
                <a:ea typeface="Georgia"/>
                <a:cs typeface="Georgia"/>
                <a:sym typeface="Georgia"/>
              </a:defRPr>
            </a:lvl1pPr>
          </a:lstStyle>
          <a:p>
            <a:pPr/>
            <a:r>
              <a:t>3</a:t>
            </a:r>
          </a:p>
        </p:txBody>
      </p:sp>
      <p:sp>
        <p:nvSpPr>
          <p:cNvPr id="44" name="d2_q"/>
          <p:cNvSpPr txBox="1"/>
          <p:nvPr/>
        </p:nvSpPr>
        <p:spPr>
          <a:xfrm>
            <a:off x="1901951" y="3154485"/>
            <a:ext cx="4166465" cy="25642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100"/>
              </a:lnSpc>
              <a:defRPr sz="1600">
                <a:solidFill>
                  <a:srgbClr val="0C2730"/>
                </a:solidFill>
                <a:latin typeface="Arial"/>
                <a:ea typeface="Arial"/>
                <a:cs typeface="Arial"/>
                <a:sym typeface="Arial"/>
              </a:defRPr>
            </a:lvl1pPr>
          </a:lstStyle>
          <a:p>
            <a:pPr/>
            <a:r>
              <a:t>Find the weight of a 5 kg mass.</a:t>
            </a:r>
          </a:p>
        </p:txBody>
      </p:sp>
      <p:grpSp>
        <p:nvGrpSpPr>
          <p:cNvPr id="47" name="d2_a"/>
          <p:cNvGrpSpPr/>
          <p:nvPr/>
        </p:nvGrpSpPr>
        <p:grpSpPr>
          <a:xfrm>
            <a:off x="1371600" y="3712464"/>
            <a:ext cx="4696817" cy="438913"/>
            <a:chOff x="0" y="0"/>
            <a:chExt cx="4696816" cy="438912"/>
          </a:xfrm>
        </p:grpSpPr>
        <p:sp>
          <p:nvSpPr>
            <p:cNvPr id="45" name="Rounded Rectangle"/>
            <p:cNvSpPr/>
            <p:nvPr/>
          </p:nvSpPr>
          <p:spPr>
            <a:xfrm>
              <a:off x="0" y="0"/>
              <a:ext cx="4696817" cy="438913"/>
            </a:xfrm>
            <a:prstGeom prst="roundRect">
              <a:avLst>
                <a:gd name="adj" fmla="val 20833"/>
              </a:avLst>
            </a:prstGeom>
            <a:solidFill>
              <a:srgbClr val="FFEEE4"/>
            </a:solidFill>
            <a:ln w="16510" cap="flat">
              <a:solidFill>
                <a:srgbClr val="FF8952"/>
              </a:solidFill>
              <a:prstDash val="solid"/>
              <a:round/>
            </a:ln>
            <a:effectLst/>
          </p:spPr>
          <p:txBody>
            <a:bodyPr wrap="square" lIns="45719" tIns="45719" rIns="45719" bIns="45719" numCol="1" anchor="ctr">
              <a:noAutofit/>
            </a:bodyPr>
            <a:lstStyle/>
            <a:p>
              <a:pPr>
                <a:defRPr sz="1500"/>
              </a:pPr>
            </a:p>
          </p:txBody>
        </p:sp>
        <p:sp>
          <p:nvSpPr>
            <p:cNvPr id="46" name="5 × 9.8 = 49 N"/>
            <p:cNvSpPr txBox="1"/>
            <p:nvPr/>
          </p:nvSpPr>
          <p:spPr>
            <a:xfrm>
              <a:off x="35035" y="113606"/>
              <a:ext cx="4626746" cy="2117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500">
                  <a:solidFill>
                    <a:srgbClr val="0B3D4C"/>
                  </a:solidFill>
                  <a:latin typeface="Arial"/>
                  <a:ea typeface="Arial"/>
                  <a:cs typeface="Arial"/>
                  <a:sym typeface="Arial"/>
                </a:defRPr>
              </a:lvl1pPr>
            </a:lstStyle>
            <a:p>
              <a:pPr/>
              <a:r>
                <a:t>5 × 9.8 = 49 N</a:t>
              </a:r>
            </a:p>
          </p:txBody>
        </p:sp>
      </p:grpSp>
      <p:sp>
        <p:nvSpPr>
          <p:cNvPr id="48" name="d3_bg"/>
          <p:cNvSpPr/>
          <p:nvPr/>
        </p:nvSpPr>
        <p:spPr>
          <a:xfrm>
            <a:off x="6543903" y="2798064"/>
            <a:ext cx="5099153" cy="1481329"/>
          </a:xfrm>
          <a:prstGeom prst="roundRect">
            <a:avLst>
              <a:gd name="adj" fmla="val 6173"/>
            </a:avLst>
          </a:prstGeom>
          <a:solidFill>
            <a:srgbClr val="FFFFFF"/>
          </a:solidFill>
          <a:ln w="16510">
            <a:solidFill>
              <a:srgbClr val="D8DEEC"/>
            </a:solidFill>
          </a:ln>
        </p:spPr>
        <p:txBody>
          <a:bodyPr lIns="45719" rIns="45719"/>
          <a:lstStyle/>
          <a:p>
            <a:pPr/>
          </a:p>
        </p:txBody>
      </p:sp>
      <p:sp>
        <p:nvSpPr>
          <p:cNvPr id="49" name="d3_badge"/>
          <p:cNvSpPr/>
          <p:nvPr/>
        </p:nvSpPr>
        <p:spPr>
          <a:xfrm>
            <a:off x="6745072" y="2962655"/>
            <a:ext cx="384049" cy="384049"/>
          </a:xfrm>
          <a:prstGeom prst="ellipse">
            <a:avLst/>
          </a:prstGeom>
          <a:solidFill>
            <a:srgbClr val="FF8952"/>
          </a:solidFill>
          <a:ln w="12700">
            <a:solidFill>
              <a:srgbClr val="FF8952"/>
            </a:solidFill>
          </a:ln>
        </p:spPr>
        <p:txBody>
          <a:bodyPr lIns="45719" rIns="45719"/>
          <a:lstStyle/>
          <a:p>
            <a:pPr/>
          </a:p>
        </p:txBody>
      </p:sp>
      <p:sp>
        <p:nvSpPr>
          <p:cNvPr id="50" name="d3_num"/>
          <p:cNvSpPr txBox="1"/>
          <p:nvPr/>
        </p:nvSpPr>
        <p:spPr>
          <a:xfrm>
            <a:off x="6745072" y="3053079"/>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0B3D4C"/>
                </a:solidFill>
                <a:latin typeface="Georgia"/>
                <a:ea typeface="Georgia"/>
                <a:cs typeface="Georgia"/>
                <a:sym typeface="Georgia"/>
              </a:defRPr>
            </a:lvl1pPr>
          </a:lstStyle>
          <a:p>
            <a:pPr/>
            <a:r>
              <a:t>4</a:t>
            </a:r>
          </a:p>
        </p:txBody>
      </p:sp>
      <p:sp>
        <p:nvSpPr>
          <p:cNvPr id="51" name="d3_q"/>
          <p:cNvSpPr txBox="1"/>
          <p:nvPr/>
        </p:nvSpPr>
        <p:spPr>
          <a:xfrm>
            <a:off x="7275424" y="3021135"/>
            <a:ext cx="4166465" cy="52312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100"/>
              </a:lnSpc>
              <a:defRPr sz="1600">
                <a:solidFill>
                  <a:srgbClr val="0C2730"/>
                </a:solidFill>
                <a:latin typeface="Arial"/>
                <a:ea typeface="Arial"/>
                <a:cs typeface="Arial"/>
                <a:sym typeface="Arial"/>
              </a:defRPr>
            </a:lvl1pPr>
          </a:lstStyle>
          <a:p>
            <a:pPr/>
            <a:r>
              <a:t>Name the equipment used to measure the volume of a liquid.</a:t>
            </a:r>
          </a:p>
        </p:txBody>
      </p:sp>
      <p:grpSp>
        <p:nvGrpSpPr>
          <p:cNvPr id="54" name="d3_a"/>
          <p:cNvGrpSpPr/>
          <p:nvPr/>
        </p:nvGrpSpPr>
        <p:grpSpPr>
          <a:xfrm>
            <a:off x="6745072" y="3712464"/>
            <a:ext cx="4696817" cy="438913"/>
            <a:chOff x="0" y="0"/>
            <a:chExt cx="4696816" cy="438912"/>
          </a:xfrm>
        </p:grpSpPr>
        <p:sp>
          <p:nvSpPr>
            <p:cNvPr id="52" name="Rounded Rectangle"/>
            <p:cNvSpPr/>
            <p:nvPr/>
          </p:nvSpPr>
          <p:spPr>
            <a:xfrm>
              <a:off x="0" y="0"/>
              <a:ext cx="4696817" cy="438913"/>
            </a:xfrm>
            <a:prstGeom prst="roundRect">
              <a:avLst>
                <a:gd name="adj" fmla="val 20833"/>
              </a:avLst>
            </a:prstGeom>
            <a:solidFill>
              <a:srgbClr val="FFEEE4"/>
            </a:solidFill>
            <a:ln w="16510" cap="flat">
              <a:solidFill>
                <a:srgbClr val="FF8952"/>
              </a:solidFill>
              <a:prstDash val="solid"/>
              <a:round/>
            </a:ln>
            <a:effectLst/>
          </p:spPr>
          <p:txBody>
            <a:bodyPr wrap="square" lIns="45719" tIns="45719" rIns="45719" bIns="45719" numCol="1" anchor="ctr">
              <a:noAutofit/>
            </a:bodyPr>
            <a:lstStyle/>
            <a:p>
              <a:pPr>
                <a:defRPr sz="1500"/>
              </a:pPr>
            </a:p>
          </p:txBody>
        </p:sp>
        <p:sp>
          <p:nvSpPr>
            <p:cNvPr id="53" name="A measuring cylinder."/>
            <p:cNvSpPr txBox="1"/>
            <p:nvPr/>
          </p:nvSpPr>
          <p:spPr>
            <a:xfrm>
              <a:off x="35035" y="113606"/>
              <a:ext cx="4626746" cy="2117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500">
                  <a:solidFill>
                    <a:srgbClr val="0B3D4C"/>
                  </a:solidFill>
                  <a:latin typeface="Arial"/>
                  <a:ea typeface="Arial"/>
                  <a:cs typeface="Arial"/>
                  <a:sym typeface="Arial"/>
                </a:defRPr>
              </a:lvl1pPr>
            </a:lstStyle>
            <a:p>
              <a:pPr/>
              <a:r>
                <a:t>A measuring cylinder.</a:t>
              </a:r>
            </a:p>
          </p:txBody>
        </p:sp>
      </p:grpSp>
      <p:sp>
        <p:nvSpPr>
          <p:cNvPr id="55" name="d4_bg"/>
          <p:cNvSpPr/>
          <p:nvPr/>
        </p:nvSpPr>
        <p:spPr>
          <a:xfrm>
            <a:off x="1170432" y="4462271"/>
            <a:ext cx="5099152" cy="1481329"/>
          </a:xfrm>
          <a:prstGeom prst="roundRect">
            <a:avLst>
              <a:gd name="adj" fmla="val 6173"/>
            </a:avLst>
          </a:prstGeom>
          <a:solidFill>
            <a:srgbClr val="FFFFFF"/>
          </a:solidFill>
          <a:ln w="16510">
            <a:solidFill>
              <a:srgbClr val="D8DEEC"/>
            </a:solidFill>
          </a:ln>
        </p:spPr>
        <p:txBody>
          <a:bodyPr lIns="45719" rIns="45719"/>
          <a:lstStyle/>
          <a:p>
            <a:pPr/>
          </a:p>
        </p:txBody>
      </p:sp>
      <p:sp>
        <p:nvSpPr>
          <p:cNvPr id="56" name="d4_badge"/>
          <p:cNvSpPr/>
          <p:nvPr/>
        </p:nvSpPr>
        <p:spPr>
          <a:xfrm>
            <a:off x="1371600" y="4626864"/>
            <a:ext cx="384048" cy="384049"/>
          </a:xfrm>
          <a:prstGeom prst="ellipse">
            <a:avLst/>
          </a:prstGeom>
          <a:solidFill>
            <a:srgbClr val="FF8952"/>
          </a:solidFill>
          <a:ln w="12700">
            <a:solidFill>
              <a:srgbClr val="FF8952"/>
            </a:solidFill>
          </a:ln>
        </p:spPr>
        <p:txBody>
          <a:bodyPr lIns="45719" rIns="45719"/>
          <a:lstStyle/>
          <a:p>
            <a:pPr/>
          </a:p>
        </p:txBody>
      </p:sp>
      <p:sp>
        <p:nvSpPr>
          <p:cNvPr id="57" name="d4_num"/>
          <p:cNvSpPr txBox="1"/>
          <p:nvPr/>
        </p:nvSpPr>
        <p:spPr>
          <a:xfrm>
            <a:off x="1371600" y="4717288"/>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0B3D4C"/>
                </a:solidFill>
                <a:latin typeface="Georgia"/>
                <a:ea typeface="Georgia"/>
                <a:cs typeface="Georgia"/>
                <a:sym typeface="Georgia"/>
              </a:defRPr>
            </a:lvl1pPr>
          </a:lstStyle>
          <a:p>
            <a:pPr/>
            <a:r>
              <a:t>5</a:t>
            </a:r>
          </a:p>
        </p:txBody>
      </p:sp>
      <p:sp>
        <p:nvSpPr>
          <p:cNvPr id="58" name="d4_q"/>
          <p:cNvSpPr txBox="1"/>
          <p:nvPr/>
        </p:nvSpPr>
        <p:spPr>
          <a:xfrm>
            <a:off x="1901951" y="4818693"/>
            <a:ext cx="4166465" cy="25642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100"/>
              </a:lnSpc>
              <a:defRPr sz="1600">
                <a:solidFill>
                  <a:srgbClr val="0C2730"/>
                </a:solidFill>
                <a:latin typeface="Arial"/>
                <a:ea typeface="Arial"/>
                <a:cs typeface="Arial"/>
                <a:sym typeface="Arial"/>
              </a:defRPr>
            </a:lvl1pPr>
          </a:lstStyle>
          <a:p>
            <a:pPr/>
            <a:r>
              <a:t>Convert 2 m into cm.</a:t>
            </a:r>
          </a:p>
        </p:txBody>
      </p:sp>
      <p:grpSp>
        <p:nvGrpSpPr>
          <p:cNvPr id="61" name="d4_a"/>
          <p:cNvGrpSpPr/>
          <p:nvPr/>
        </p:nvGrpSpPr>
        <p:grpSpPr>
          <a:xfrm>
            <a:off x="1371600" y="5376671"/>
            <a:ext cx="4696817" cy="438913"/>
            <a:chOff x="0" y="0"/>
            <a:chExt cx="4696816" cy="438912"/>
          </a:xfrm>
        </p:grpSpPr>
        <p:sp>
          <p:nvSpPr>
            <p:cNvPr id="59" name="Rounded Rectangle"/>
            <p:cNvSpPr/>
            <p:nvPr/>
          </p:nvSpPr>
          <p:spPr>
            <a:xfrm>
              <a:off x="0" y="0"/>
              <a:ext cx="4696817" cy="438913"/>
            </a:xfrm>
            <a:prstGeom prst="roundRect">
              <a:avLst>
                <a:gd name="adj" fmla="val 20833"/>
              </a:avLst>
            </a:prstGeom>
            <a:solidFill>
              <a:srgbClr val="FFEEE4"/>
            </a:solidFill>
            <a:ln w="16510" cap="flat">
              <a:solidFill>
                <a:srgbClr val="FF8952"/>
              </a:solidFill>
              <a:prstDash val="solid"/>
              <a:round/>
            </a:ln>
            <a:effectLst/>
          </p:spPr>
          <p:txBody>
            <a:bodyPr wrap="square" lIns="45719" tIns="45719" rIns="45719" bIns="45719" numCol="1" anchor="ctr">
              <a:noAutofit/>
            </a:bodyPr>
            <a:lstStyle/>
            <a:p>
              <a:pPr>
                <a:defRPr sz="1500"/>
              </a:pPr>
            </a:p>
          </p:txBody>
        </p:sp>
        <p:sp>
          <p:nvSpPr>
            <p:cNvPr id="60" name="200 cm"/>
            <p:cNvSpPr txBox="1"/>
            <p:nvPr/>
          </p:nvSpPr>
          <p:spPr>
            <a:xfrm>
              <a:off x="35035" y="113606"/>
              <a:ext cx="4626746" cy="2117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500">
                  <a:solidFill>
                    <a:srgbClr val="0B3D4C"/>
                  </a:solidFill>
                  <a:latin typeface="Arial"/>
                  <a:ea typeface="Arial"/>
                  <a:cs typeface="Arial"/>
                  <a:sym typeface="Arial"/>
                </a:defRPr>
              </a:lvl1pPr>
            </a:lstStyle>
            <a:p>
              <a:pPr/>
              <a:r>
                <a:t>200 cm</a:t>
              </a:r>
            </a:p>
          </p:txBody>
        </p:sp>
      </p:grpSp>
      <p:sp>
        <p:nvSpPr>
          <p:cNvPr id="62" name="d5_bg"/>
          <p:cNvSpPr/>
          <p:nvPr/>
        </p:nvSpPr>
        <p:spPr>
          <a:xfrm>
            <a:off x="6543903" y="4462271"/>
            <a:ext cx="5099153" cy="1481329"/>
          </a:xfrm>
          <a:prstGeom prst="roundRect">
            <a:avLst>
              <a:gd name="adj" fmla="val 6173"/>
            </a:avLst>
          </a:prstGeom>
          <a:solidFill>
            <a:srgbClr val="FFFFFF"/>
          </a:solidFill>
          <a:ln w="16510">
            <a:solidFill>
              <a:srgbClr val="D8DEEC"/>
            </a:solidFill>
          </a:ln>
        </p:spPr>
        <p:txBody>
          <a:bodyPr lIns="45719" rIns="45719"/>
          <a:lstStyle/>
          <a:p>
            <a:pPr/>
          </a:p>
        </p:txBody>
      </p:sp>
      <p:sp>
        <p:nvSpPr>
          <p:cNvPr id="63" name="d5_badge"/>
          <p:cNvSpPr/>
          <p:nvPr/>
        </p:nvSpPr>
        <p:spPr>
          <a:xfrm>
            <a:off x="6745072" y="4626864"/>
            <a:ext cx="384049" cy="384049"/>
          </a:xfrm>
          <a:prstGeom prst="ellipse">
            <a:avLst/>
          </a:prstGeom>
          <a:solidFill>
            <a:srgbClr val="FF8952"/>
          </a:solidFill>
          <a:ln w="12700">
            <a:solidFill>
              <a:srgbClr val="FF8952"/>
            </a:solidFill>
          </a:ln>
        </p:spPr>
        <p:txBody>
          <a:bodyPr lIns="45719" rIns="45719"/>
          <a:lstStyle/>
          <a:p>
            <a:pPr/>
          </a:p>
        </p:txBody>
      </p:sp>
      <p:sp>
        <p:nvSpPr>
          <p:cNvPr id="64" name="d5_num"/>
          <p:cNvSpPr txBox="1"/>
          <p:nvPr/>
        </p:nvSpPr>
        <p:spPr>
          <a:xfrm>
            <a:off x="6745072" y="4717288"/>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0B3D4C"/>
                </a:solidFill>
                <a:latin typeface="Georgia"/>
                <a:ea typeface="Georgia"/>
                <a:cs typeface="Georgia"/>
                <a:sym typeface="Georgia"/>
              </a:defRPr>
            </a:lvl1pPr>
          </a:lstStyle>
          <a:p>
            <a:pPr/>
            <a:r>
              <a:t>6</a:t>
            </a:r>
          </a:p>
        </p:txBody>
      </p:sp>
      <p:sp>
        <p:nvSpPr>
          <p:cNvPr id="65" name="d5_q"/>
          <p:cNvSpPr txBox="1"/>
          <p:nvPr/>
        </p:nvSpPr>
        <p:spPr>
          <a:xfrm>
            <a:off x="7275424" y="4685343"/>
            <a:ext cx="4166465" cy="52312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100"/>
              </a:lnSpc>
              <a:defRPr sz="1600">
                <a:solidFill>
                  <a:srgbClr val="0C2730"/>
                </a:solidFill>
                <a:latin typeface="Arial"/>
                <a:ea typeface="Arial"/>
                <a:cs typeface="Arial"/>
                <a:sym typeface="Arial"/>
              </a:defRPr>
            </a:lvl1pPr>
          </a:lstStyle>
          <a:p>
            <a:pPr/>
            <a:r>
              <a:t>State the unit used for the volume of a small object.</a:t>
            </a:r>
          </a:p>
        </p:txBody>
      </p:sp>
      <p:grpSp>
        <p:nvGrpSpPr>
          <p:cNvPr id="68" name="d5_a"/>
          <p:cNvGrpSpPr/>
          <p:nvPr/>
        </p:nvGrpSpPr>
        <p:grpSpPr>
          <a:xfrm>
            <a:off x="6745072" y="5376671"/>
            <a:ext cx="4696817" cy="438913"/>
            <a:chOff x="0" y="0"/>
            <a:chExt cx="4696816" cy="438912"/>
          </a:xfrm>
        </p:grpSpPr>
        <p:sp>
          <p:nvSpPr>
            <p:cNvPr id="66" name="Rounded Rectangle"/>
            <p:cNvSpPr/>
            <p:nvPr/>
          </p:nvSpPr>
          <p:spPr>
            <a:xfrm>
              <a:off x="0" y="0"/>
              <a:ext cx="4696817" cy="438913"/>
            </a:xfrm>
            <a:prstGeom prst="roundRect">
              <a:avLst>
                <a:gd name="adj" fmla="val 20833"/>
              </a:avLst>
            </a:prstGeom>
            <a:solidFill>
              <a:srgbClr val="FFEEE4"/>
            </a:solidFill>
            <a:ln w="16510" cap="flat">
              <a:solidFill>
                <a:srgbClr val="FF8952"/>
              </a:solidFill>
              <a:prstDash val="solid"/>
              <a:round/>
            </a:ln>
            <a:effectLst/>
          </p:spPr>
          <p:txBody>
            <a:bodyPr wrap="square" lIns="45719" tIns="45719" rIns="45719" bIns="45719" numCol="1" anchor="ctr">
              <a:noAutofit/>
            </a:bodyPr>
            <a:lstStyle/>
            <a:p>
              <a:pPr>
                <a:defRPr sz="1500"/>
              </a:pPr>
            </a:p>
          </p:txBody>
        </p:sp>
        <p:sp>
          <p:nvSpPr>
            <p:cNvPr id="67" name="cm³ (cubic centimetres)."/>
            <p:cNvSpPr txBox="1"/>
            <p:nvPr/>
          </p:nvSpPr>
          <p:spPr>
            <a:xfrm>
              <a:off x="35035" y="113606"/>
              <a:ext cx="4626746" cy="2117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500">
                  <a:solidFill>
                    <a:srgbClr val="0B3D4C"/>
                  </a:solidFill>
                  <a:latin typeface="Arial"/>
                  <a:ea typeface="Arial"/>
                  <a:cs typeface="Arial"/>
                  <a:sym typeface="Arial"/>
                </a:defRPr>
              </a:lvl1pPr>
            </a:lstStyle>
            <a:p>
              <a:pPr/>
              <a:r>
                <a:t>cm³ (cubic centimetres).</a:t>
              </a:r>
            </a:p>
          </p:txBody>
        </p:sp>
      </p:gr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600000" fill="hold"/>
                                        <p:tgtEl>
                                          <p:spTgt spid="20"/>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Subtype="8" presetID="22" grpId="2" fill="hold">
                                  <p:stCondLst>
                                    <p:cond delay="0"/>
                                  </p:stCondLst>
                                  <p:iterate type="el" backwards="0">
                                    <p:tmAbs val="0"/>
                                  </p:iterate>
                                  <p:childTnLst>
                                    <p:set>
                                      <p:cBhvr>
                                        <p:cTn id="10" fill="hold"/>
                                        <p:tgtEl>
                                          <p:spTgt spid="33"/>
                                        </p:tgtEl>
                                        <p:attrNameLst>
                                          <p:attrName>style.visibility</p:attrName>
                                        </p:attrNameLst>
                                      </p:cBhvr>
                                      <p:to>
                                        <p:strVal val="visible"/>
                                      </p:to>
                                    </p:set>
                                    <p:animEffect filter="wipe(left)" transition="in">
                                      <p:cBhvr>
                                        <p:cTn id="11" dur="400"/>
                                        <p:tgtEl>
                                          <p:spTgt spid="33"/>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Subtype="8" presetID="22" grpId="3" fill="hold">
                                  <p:stCondLst>
                                    <p:cond delay="0"/>
                                  </p:stCondLst>
                                  <p:iterate type="el" backwards="0">
                                    <p:tmAbs val="0"/>
                                  </p:iterate>
                                  <p:childTnLst>
                                    <p:set>
                                      <p:cBhvr>
                                        <p:cTn id="15" fill="hold"/>
                                        <p:tgtEl>
                                          <p:spTgt spid="40"/>
                                        </p:tgtEl>
                                        <p:attrNameLst>
                                          <p:attrName>style.visibility</p:attrName>
                                        </p:attrNameLst>
                                      </p:cBhvr>
                                      <p:to>
                                        <p:strVal val="visible"/>
                                      </p:to>
                                    </p:set>
                                    <p:animEffect filter="wipe(left)" transition="in">
                                      <p:cBhvr>
                                        <p:cTn id="16" dur="400"/>
                                        <p:tgtEl>
                                          <p:spTgt spid="40"/>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Subtype="8" presetID="22" grpId="4" fill="hold">
                                  <p:stCondLst>
                                    <p:cond delay="0"/>
                                  </p:stCondLst>
                                  <p:iterate type="el" backwards="0">
                                    <p:tmAbs val="0"/>
                                  </p:iterate>
                                  <p:childTnLst>
                                    <p:set>
                                      <p:cBhvr>
                                        <p:cTn id="20" fill="hold"/>
                                        <p:tgtEl>
                                          <p:spTgt spid="47"/>
                                        </p:tgtEl>
                                        <p:attrNameLst>
                                          <p:attrName>style.visibility</p:attrName>
                                        </p:attrNameLst>
                                      </p:cBhvr>
                                      <p:to>
                                        <p:strVal val="visible"/>
                                      </p:to>
                                    </p:set>
                                    <p:animEffect filter="wipe(left)" transition="in">
                                      <p:cBhvr>
                                        <p:cTn id="21" dur="400"/>
                                        <p:tgtEl>
                                          <p:spTgt spid="47"/>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Subtype="8" presetID="22" grpId="5" fill="hold">
                                  <p:stCondLst>
                                    <p:cond delay="0"/>
                                  </p:stCondLst>
                                  <p:iterate type="el" backwards="0">
                                    <p:tmAbs val="0"/>
                                  </p:iterate>
                                  <p:childTnLst>
                                    <p:set>
                                      <p:cBhvr>
                                        <p:cTn id="25" fill="hold"/>
                                        <p:tgtEl>
                                          <p:spTgt spid="54"/>
                                        </p:tgtEl>
                                        <p:attrNameLst>
                                          <p:attrName>style.visibility</p:attrName>
                                        </p:attrNameLst>
                                      </p:cBhvr>
                                      <p:to>
                                        <p:strVal val="visible"/>
                                      </p:to>
                                    </p:set>
                                    <p:animEffect filter="wipe(left)" transition="in">
                                      <p:cBhvr>
                                        <p:cTn id="26" dur="400"/>
                                        <p:tgtEl>
                                          <p:spTgt spid="54"/>
                                        </p:tgtEl>
                                      </p:cBhvr>
                                    </p:animEffect>
                                  </p:childTnLst>
                                </p:cTn>
                              </p:par>
                            </p:childTnLst>
                          </p:cTn>
                        </p:par>
                      </p:childTnLst>
                    </p:cTn>
                  </p:par>
                  <p:par>
                    <p:cTn id="27" fill="hold">
                      <p:stCondLst>
                        <p:cond delay="indefinite"/>
                      </p:stCondLst>
                      <p:childTnLst>
                        <p:par>
                          <p:cTn id="28" fill="hold">
                            <p:stCondLst>
                              <p:cond delay="0"/>
                            </p:stCondLst>
                            <p:childTnLst>
                              <p:par>
                                <p:cTn id="29" presetClass="entr" nodeType="clickEffect" presetSubtype="8" presetID="22" grpId="6" fill="hold">
                                  <p:stCondLst>
                                    <p:cond delay="0"/>
                                  </p:stCondLst>
                                  <p:iterate type="el" backwards="0">
                                    <p:tmAbs val="0"/>
                                  </p:iterate>
                                  <p:childTnLst>
                                    <p:set>
                                      <p:cBhvr>
                                        <p:cTn id="30" fill="hold"/>
                                        <p:tgtEl>
                                          <p:spTgt spid="61"/>
                                        </p:tgtEl>
                                        <p:attrNameLst>
                                          <p:attrName>style.visibility</p:attrName>
                                        </p:attrNameLst>
                                      </p:cBhvr>
                                      <p:to>
                                        <p:strVal val="visible"/>
                                      </p:to>
                                    </p:set>
                                    <p:animEffect filter="wipe(left)" transition="in">
                                      <p:cBhvr>
                                        <p:cTn id="31" dur="400"/>
                                        <p:tgtEl>
                                          <p:spTgt spid="61"/>
                                        </p:tgtEl>
                                      </p:cBhvr>
                                    </p:animEffect>
                                  </p:childTnLst>
                                </p:cTn>
                              </p:par>
                            </p:childTnLst>
                          </p:cTn>
                        </p:par>
                      </p:childTnLst>
                    </p:cTn>
                  </p:par>
                  <p:par>
                    <p:cTn id="32" fill="hold">
                      <p:stCondLst>
                        <p:cond delay="indefinite"/>
                      </p:stCondLst>
                      <p:childTnLst>
                        <p:par>
                          <p:cTn id="33" fill="hold">
                            <p:stCondLst>
                              <p:cond delay="0"/>
                            </p:stCondLst>
                            <p:childTnLst>
                              <p:par>
                                <p:cTn id="34" presetClass="entr" nodeType="clickEffect" presetSubtype="8" presetID="22" grpId="7" fill="hold">
                                  <p:stCondLst>
                                    <p:cond delay="0"/>
                                  </p:stCondLst>
                                  <p:iterate type="el" backwards="0">
                                    <p:tmAbs val="0"/>
                                  </p:iterate>
                                  <p:childTnLst>
                                    <p:set>
                                      <p:cBhvr>
                                        <p:cTn id="35" fill="hold"/>
                                        <p:tgtEl>
                                          <p:spTgt spid="68"/>
                                        </p:tgtEl>
                                        <p:attrNameLst>
                                          <p:attrName>style.visibility</p:attrName>
                                        </p:attrNameLst>
                                      </p:cBhvr>
                                      <p:to>
                                        <p:strVal val="visible"/>
                                      </p:to>
                                    </p:set>
                                    <p:animEffect filter="wipe(left)" transition="in">
                                      <p:cBhvr>
                                        <p:cTn id="36" dur="400"/>
                                        <p:tgtEl>
                                          <p:spTgt spid="68"/>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7" fill="hold" display="0">
                  <p:stCondLst>
                    <p:cond delay="indefinite"/>
                  </p:stCondLst>
                </p:cTn>
                <p:tgtEl>
                  <p:spTgt spid="20"/>
                </p:tgtEl>
              </p:cMediaNode>
            </p:video>
            <p:seq concurrent="1" prevAc="none" nextAc="seek">
              <p:cTn id="38" evtFilter="cancelBubble" nodeType="interactiveSeq" restart="whenNotActive" fill="hold">
                <p:stCondLst>
                  <p:cond delay="0" evt="onClick">
                    <p:tgtEl>
                      <p:spTgt spid="20"/>
                    </p:tgtEl>
                  </p:cond>
                </p:stCondLst>
                <p:endSync delay="0" evt="end">
                  <p:rtn val="all"/>
                </p:endSync>
                <p:childTnLst>
                  <p:par>
                    <p:cTn id="39" fill="hold">
                      <p:stCondLst>
                        <p:cond delay="0"/>
                      </p:stCondLst>
                      <p:childTnLst>
                        <p:par>
                          <p:cTn id="40" fill="hold">
                            <p:stCondLst>
                              <p:cond delay="0"/>
                            </p:stCondLst>
                            <p:childTnLst>
                              <p:par>
                                <p:cTn id="41" presetClass="mediacall" nodeType="clickEffect" presetSubtype="0" presetID="2" fill="hold">
                                  <p:stCondLst>
                                    <p:cond delay="0"/>
                                  </p:stCondLst>
                                  <p:childTnLst>
                                    <p:cmd type="call" cmd="togglePause">
                                      <p:cBhvr>
                                        <p:cTn id="42" dur="1" fill="hold"/>
                                        <p:tgtEl>
                                          <p:spTgt spid="20"/>
                                        </p:tgtEl>
                                      </p:cBhvr>
                                    </p:cmd>
                                  </p:childTnLst>
                                </p:cTn>
                              </p:par>
                            </p:childTnLst>
                          </p:cTn>
                        </p:par>
                      </p:childTnLst>
                    </p:cTn>
                  </p:par>
                </p:childTnLst>
              </p:cTn>
              <p:nextCondLst>
                <p:cond delay="0" evt="onClick">
                  <p:tgtEl>
                    <p:spTgt spid="20"/>
                  </p:tgtEl>
                </p:cond>
              </p:nextCondLst>
            </p:seq>
          </p:childTnLst>
        </p:cTn>
      </p:par>
    </p:tnLst>
    <p:bldLst>
      <p:bldP build="whole" bldLvl="1" animBg="1" rev="0" advAuto="0" spid="68" grpId="7"/>
      <p:bldP build="whole" bldLvl="1" animBg="1" rev="0" advAuto="0" spid="33" grpId="2"/>
      <p:bldP build="whole" bldLvl="1" animBg="1" rev="0" advAuto="0" spid="54" grpId="5"/>
      <p:bldP build="whole" bldLvl="1" animBg="1" rev="0" advAuto="0" spid="40" grpId="3"/>
      <p:bldP build="whole" bldLvl="1" animBg="1" rev="0" advAuto="0" spid="61" grpId="6"/>
      <p:bldP build="whole" bldLvl="1" animBg="1" rev="0" advAuto="0" spid="47" grpId="4"/>
    </p:bldLst>
  </p:timing>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EFF6F7"/>
        </a:solidFill>
      </p:bgPr>
    </p:bg>
    <p:spTree>
      <p:nvGrpSpPr>
        <p:cNvPr id="1" name=""/>
        <p:cNvGrpSpPr/>
        <p:nvPr/>
      </p:nvGrpSpPr>
      <p:grpSpPr>
        <a:xfrm>
          <a:off x="0" y="0"/>
          <a:ext cx="0" cy="0"/>
          <a:chOff x="0" y="0"/>
          <a:chExt cx="0" cy="0"/>
        </a:xfrm>
      </p:grpSpPr>
      <p:pic>
        <p:nvPicPr>
          <p:cNvPr id="72"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75" name="phase_pill"/>
          <p:cNvGrpSpPr/>
          <p:nvPr/>
        </p:nvGrpSpPr>
        <p:grpSpPr>
          <a:xfrm>
            <a:off x="1170432" y="310895"/>
            <a:ext cx="1713586" cy="329185"/>
            <a:chOff x="0" y="0"/>
            <a:chExt cx="1713585" cy="329184"/>
          </a:xfrm>
        </p:grpSpPr>
        <p:sp>
          <p:nvSpPr>
            <p:cNvPr id="73" name="Rounded Rectangle"/>
            <p:cNvSpPr/>
            <p:nvPr/>
          </p:nvSpPr>
          <p:spPr>
            <a:xfrm>
              <a:off x="0" y="0"/>
              <a:ext cx="1713586" cy="329185"/>
            </a:xfrm>
            <a:prstGeom prst="roundRect">
              <a:avLst>
                <a:gd name="adj" fmla="val 44444"/>
              </a:avLst>
            </a:prstGeom>
            <a:solidFill>
              <a:srgbClr val="0B3D4C"/>
            </a:solidFill>
            <a:ln w="12700" cap="flat">
              <a:noFill/>
              <a:miter lim="400000"/>
            </a:ln>
            <a:effectLst/>
          </p:spPr>
          <p:txBody>
            <a:bodyPr wrap="square" lIns="45719" tIns="45719" rIns="45719" bIns="45719" numCol="1" anchor="ctr">
              <a:noAutofit/>
            </a:bodyPr>
            <a:lstStyle/>
            <a:p>
              <a:pPr algn="ctr">
                <a:defRPr sz="1100"/>
              </a:pPr>
            </a:p>
          </p:txBody>
        </p:sp>
        <p:sp>
          <p:nvSpPr>
            <p:cNvPr id="74" name="TODAY · 1 MIN"/>
            <p:cNvSpPr txBox="1"/>
            <p:nvPr/>
          </p:nvSpPr>
          <p:spPr>
            <a:xfrm>
              <a:off x="42850" y="90677"/>
              <a:ext cx="1627885"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TODAY · 1 MIN</a:t>
              </a:r>
            </a:p>
          </p:txBody>
        </p:sp>
      </p:grpSp>
      <p:sp>
        <p:nvSpPr>
          <p:cNvPr id="76" name="slide_title"/>
          <p:cNvSpPr txBox="1"/>
          <p:nvPr/>
        </p:nvSpPr>
        <p:spPr>
          <a:xfrm>
            <a:off x="1170432" y="965707"/>
            <a:ext cx="10472623" cy="482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400">
                <a:solidFill>
                  <a:srgbClr val="0B3D4C"/>
                </a:solidFill>
                <a:latin typeface="Georgia"/>
                <a:ea typeface="Georgia"/>
                <a:cs typeface="Georgia"/>
                <a:sym typeface="Georgia"/>
              </a:defRPr>
            </a:lvl1pPr>
          </a:lstStyle>
          <a:p>
            <a:pPr/>
            <a:r>
              <a:t>Objectives</a:t>
            </a:r>
          </a:p>
        </p:txBody>
      </p:sp>
      <p:grpSp>
        <p:nvGrpSpPr>
          <p:cNvPr id="81" name="o0"/>
          <p:cNvGrpSpPr/>
          <p:nvPr/>
        </p:nvGrpSpPr>
        <p:grpSpPr>
          <a:xfrm>
            <a:off x="1170432" y="2194560"/>
            <a:ext cx="3307994" cy="1792224"/>
            <a:chOff x="0" y="0"/>
            <a:chExt cx="3307993" cy="1792223"/>
          </a:xfrm>
        </p:grpSpPr>
        <p:sp>
          <p:nvSpPr>
            <p:cNvPr id="77" name="o0_bg"/>
            <p:cNvSpPr/>
            <p:nvPr/>
          </p:nvSpPr>
          <p:spPr>
            <a:xfrm>
              <a:off x="0" y="0"/>
              <a:ext cx="3307994" cy="1792224"/>
            </a:xfrm>
            <a:prstGeom prst="roundRect">
              <a:avLst>
                <a:gd name="adj" fmla="val 5102"/>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78" name="o0_badge"/>
            <p:cNvSpPr/>
            <p:nvPr/>
          </p:nvSpPr>
          <p:spPr>
            <a:xfrm>
              <a:off x="237744" y="201168"/>
              <a:ext cx="384049" cy="384049"/>
            </a:xfrm>
            <a:prstGeom prst="ellipse">
              <a:avLst/>
            </a:prstGeom>
            <a:solidFill>
              <a:srgbClr val="FF8952"/>
            </a:solidFill>
            <a:ln w="12700" cap="flat">
              <a:solidFill>
                <a:srgbClr val="FF8952"/>
              </a:solidFill>
              <a:prstDash val="solid"/>
              <a:round/>
            </a:ln>
            <a:effectLst/>
          </p:spPr>
          <p:txBody>
            <a:bodyPr wrap="square" lIns="45719" tIns="45719" rIns="45719" bIns="45719" numCol="1" anchor="t">
              <a:noAutofit/>
            </a:bodyPr>
            <a:lstStyle/>
            <a:p>
              <a:pPr/>
            </a:p>
          </p:txBody>
        </p:sp>
        <p:sp>
          <p:nvSpPr>
            <p:cNvPr id="79" name="o0_num"/>
            <p:cNvSpPr txBox="1"/>
            <p:nvPr/>
          </p:nvSpPr>
          <p:spPr>
            <a:xfrm>
              <a:off x="237744" y="291591"/>
              <a:ext cx="384048"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0B3D4C"/>
                  </a:solidFill>
                  <a:latin typeface="Georgia"/>
                  <a:ea typeface="Georgia"/>
                  <a:cs typeface="Georgia"/>
                  <a:sym typeface="Georgia"/>
                </a:defRPr>
              </a:lvl1pPr>
            </a:lstStyle>
            <a:p>
              <a:pPr/>
              <a:r>
                <a:t>1</a:t>
              </a:r>
            </a:p>
          </p:txBody>
        </p:sp>
        <p:sp>
          <p:nvSpPr>
            <p:cNvPr id="80" name="o0_t"/>
            <p:cNvSpPr txBox="1"/>
            <p:nvPr/>
          </p:nvSpPr>
          <p:spPr>
            <a:xfrm>
              <a:off x="237744" y="713231"/>
              <a:ext cx="2832506" cy="497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000"/>
                </a:lnSpc>
                <a:defRPr b="1" sz="1500">
                  <a:solidFill>
                    <a:srgbClr val="0C2730"/>
                  </a:solidFill>
                  <a:latin typeface="Arial"/>
                  <a:ea typeface="Arial"/>
                  <a:cs typeface="Arial"/>
                  <a:sym typeface="Arial"/>
                </a:defRPr>
              </a:lvl1pPr>
            </a:lstStyle>
            <a:p>
              <a:pPr/>
              <a:r>
                <a:t>Define density as mass per unit volume, and use ρ = m ÷ V.</a:t>
              </a:r>
            </a:p>
          </p:txBody>
        </p:sp>
      </p:grpSp>
      <p:grpSp>
        <p:nvGrpSpPr>
          <p:cNvPr id="86" name="o1"/>
          <p:cNvGrpSpPr/>
          <p:nvPr/>
        </p:nvGrpSpPr>
        <p:grpSpPr>
          <a:xfrm>
            <a:off x="4752745" y="2194560"/>
            <a:ext cx="3307995" cy="1792224"/>
            <a:chOff x="0" y="0"/>
            <a:chExt cx="3307993" cy="1792223"/>
          </a:xfrm>
        </p:grpSpPr>
        <p:sp>
          <p:nvSpPr>
            <p:cNvPr id="82" name="o1_bg"/>
            <p:cNvSpPr/>
            <p:nvPr/>
          </p:nvSpPr>
          <p:spPr>
            <a:xfrm>
              <a:off x="0" y="0"/>
              <a:ext cx="3307994" cy="1792224"/>
            </a:xfrm>
            <a:prstGeom prst="roundRect">
              <a:avLst>
                <a:gd name="adj" fmla="val 5102"/>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83" name="o1_badge"/>
            <p:cNvSpPr/>
            <p:nvPr/>
          </p:nvSpPr>
          <p:spPr>
            <a:xfrm>
              <a:off x="237744" y="201168"/>
              <a:ext cx="384049" cy="384049"/>
            </a:xfrm>
            <a:prstGeom prst="ellipse">
              <a:avLst/>
            </a:prstGeom>
            <a:solidFill>
              <a:srgbClr val="FF8952"/>
            </a:solidFill>
            <a:ln w="12700" cap="flat">
              <a:solidFill>
                <a:srgbClr val="FF8952"/>
              </a:solidFill>
              <a:prstDash val="solid"/>
              <a:round/>
            </a:ln>
            <a:effectLst/>
          </p:spPr>
          <p:txBody>
            <a:bodyPr wrap="square" lIns="45719" tIns="45719" rIns="45719" bIns="45719" numCol="1" anchor="t">
              <a:noAutofit/>
            </a:bodyPr>
            <a:lstStyle/>
            <a:p>
              <a:pPr/>
            </a:p>
          </p:txBody>
        </p:sp>
        <p:sp>
          <p:nvSpPr>
            <p:cNvPr id="84" name="o1_num"/>
            <p:cNvSpPr txBox="1"/>
            <p:nvPr/>
          </p:nvSpPr>
          <p:spPr>
            <a:xfrm>
              <a:off x="237744" y="291591"/>
              <a:ext cx="384048"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0B3D4C"/>
                  </a:solidFill>
                  <a:latin typeface="Georgia"/>
                  <a:ea typeface="Georgia"/>
                  <a:cs typeface="Georgia"/>
                  <a:sym typeface="Georgia"/>
                </a:defRPr>
              </a:lvl1pPr>
            </a:lstStyle>
            <a:p>
              <a:pPr/>
              <a:r>
                <a:t>2</a:t>
              </a:r>
            </a:p>
          </p:txBody>
        </p:sp>
        <p:sp>
          <p:nvSpPr>
            <p:cNvPr id="85" name="o1_t"/>
            <p:cNvSpPr txBox="1"/>
            <p:nvPr/>
          </p:nvSpPr>
          <p:spPr>
            <a:xfrm>
              <a:off x="237744" y="713231"/>
              <a:ext cx="2832506" cy="1005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000"/>
                </a:lnSpc>
                <a:defRPr b="1" sz="1500">
                  <a:solidFill>
                    <a:srgbClr val="0C2730"/>
                  </a:solidFill>
                  <a:latin typeface="Arial"/>
                  <a:ea typeface="Arial"/>
                  <a:cs typeface="Arial"/>
                  <a:sym typeface="Arial"/>
                </a:defRPr>
              </a:lvl1pPr>
            </a:lstStyle>
            <a:p>
              <a:pPr/>
              <a:r>
                <a:t>Describe how to find the density of a liquid, a regular solid, and an irregular solid that sinks.</a:t>
              </a:r>
            </a:p>
          </p:txBody>
        </p:sp>
      </p:grpSp>
      <p:grpSp>
        <p:nvGrpSpPr>
          <p:cNvPr id="91" name="o2"/>
          <p:cNvGrpSpPr/>
          <p:nvPr/>
        </p:nvGrpSpPr>
        <p:grpSpPr>
          <a:xfrm>
            <a:off x="8335061" y="2194560"/>
            <a:ext cx="3307994" cy="1792224"/>
            <a:chOff x="0" y="0"/>
            <a:chExt cx="3307993" cy="1792223"/>
          </a:xfrm>
        </p:grpSpPr>
        <p:sp>
          <p:nvSpPr>
            <p:cNvPr id="87" name="o2_bg"/>
            <p:cNvSpPr/>
            <p:nvPr/>
          </p:nvSpPr>
          <p:spPr>
            <a:xfrm>
              <a:off x="0" y="0"/>
              <a:ext cx="3307994" cy="1792224"/>
            </a:xfrm>
            <a:prstGeom prst="roundRect">
              <a:avLst>
                <a:gd name="adj" fmla="val 5102"/>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88" name="o2_badge"/>
            <p:cNvSpPr/>
            <p:nvPr/>
          </p:nvSpPr>
          <p:spPr>
            <a:xfrm>
              <a:off x="237744" y="201168"/>
              <a:ext cx="384049" cy="384049"/>
            </a:xfrm>
            <a:prstGeom prst="ellipse">
              <a:avLst/>
            </a:prstGeom>
            <a:solidFill>
              <a:srgbClr val="FF8952"/>
            </a:solidFill>
            <a:ln w="12700" cap="flat">
              <a:solidFill>
                <a:srgbClr val="FF8952"/>
              </a:solidFill>
              <a:prstDash val="solid"/>
              <a:round/>
            </a:ln>
            <a:effectLst/>
          </p:spPr>
          <p:txBody>
            <a:bodyPr wrap="square" lIns="45719" tIns="45719" rIns="45719" bIns="45719" numCol="1" anchor="t">
              <a:noAutofit/>
            </a:bodyPr>
            <a:lstStyle/>
            <a:p>
              <a:pPr/>
            </a:p>
          </p:txBody>
        </p:sp>
        <p:sp>
          <p:nvSpPr>
            <p:cNvPr id="89" name="o2_num"/>
            <p:cNvSpPr txBox="1"/>
            <p:nvPr/>
          </p:nvSpPr>
          <p:spPr>
            <a:xfrm>
              <a:off x="237744" y="291591"/>
              <a:ext cx="384048"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0B3D4C"/>
                  </a:solidFill>
                  <a:latin typeface="Georgia"/>
                  <a:ea typeface="Georgia"/>
                  <a:cs typeface="Georgia"/>
                  <a:sym typeface="Georgia"/>
                </a:defRPr>
              </a:lvl1pPr>
            </a:lstStyle>
            <a:p>
              <a:pPr/>
              <a:r>
                <a:t>3</a:t>
              </a:r>
            </a:p>
          </p:txBody>
        </p:sp>
        <p:sp>
          <p:nvSpPr>
            <p:cNvPr id="90" name="o2_t"/>
            <p:cNvSpPr txBox="1"/>
            <p:nvPr/>
          </p:nvSpPr>
          <p:spPr>
            <a:xfrm>
              <a:off x="237744" y="713231"/>
              <a:ext cx="2832506" cy="751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000"/>
                </a:lnSpc>
                <a:defRPr b="1" sz="1500">
                  <a:solidFill>
                    <a:srgbClr val="0C2730"/>
                  </a:solidFill>
                  <a:latin typeface="Arial"/>
                  <a:ea typeface="Arial"/>
                  <a:cs typeface="Arial"/>
                  <a:sym typeface="Arial"/>
                </a:defRPr>
              </a:lvl1pPr>
            </a:lstStyle>
            <a:p>
              <a:pPr/>
              <a:r>
                <a:t>Decide whether an object floats or sinks, from density data.</a:t>
              </a:r>
            </a:p>
          </p:txBody>
        </p:sp>
      </p:grpSp>
      <p:grpSp>
        <p:nvGrpSpPr>
          <p:cNvPr id="94" name="obj_banner"/>
          <p:cNvGrpSpPr/>
          <p:nvPr/>
        </p:nvGrpSpPr>
        <p:grpSpPr>
          <a:xfrm>
            <a:off x="1170432" y="4279391"/>
            <a:ext cx="10472623" cy="640081"/>
            <a:chOff x="0" y="0"/>
            <a:chExt cx="10472622" cy="640080"/>
          </a:xfrm>
        </p:grpSpPr>
        <p:sp>
          <p:nvSpPr>
            <p:cNvPr id="92" name="Rounded Rectangle"/>
            <p:cNvSpPr/>
            <p:nvPr/>
          </p:nvSpPr>
          <p:spPr>
            <a:xfrm>
              <a:off x="0" y="0"/>
              <a:ext cx="10472623" cy="640081"/>
            </a:xfrm>
            <a:prstGeom prst="roundRect">
              <a:avLst>
                <a:gd name="adj" fmla="val 17143"/>
              </a:avLst>
            </a:prstGeom>
            <a:solidFill>
              <a:srgbClr val="0B3D4C"/>
            </a:solidFill>
            <a:ln w="9525" cap="flat">
              <a:solidFill>
                <a:srgbClr val="0B3D4C"/>
              </a:solidFill>
              <a:prstDash val="solid"/>
              <a:round/>
            </a:ln>
            <a:effectLst/>
          </p:spPr>
          <p:txBody>
            <a:bodyPr wrap="square" lIns="45719" tIns="45719" rIns="45719" bIns="45719" numCol="1" anchor="ctr">
              <a:noAutofit/>
            </a:bodyPr>
            <a:lstStyle/>
            <a:p>
              <a:pPr algn="ctr">
                <a:defRPr sz="1600"/>
              </a:pPr>
            </a:p>
          </p:txBody>
        </p:sp>
        <p:sp>
          <p:nvSpPr>
            <p:cNvPr id="93" name="Same size, different mass. That is density."/>
            <p:cNvSpPr txBox="1"/>
            <p:nvPr/>
          </p:nvSpPr>
          <p:spPr>
            <a:xfrm>
              <a:off x="36901" y="209063"/>
              <a:ext cx="10398821" cy="2219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solidFill>
                    <a:srgbClr val="FF8952"/>
                  </a:solidFill>
                  <a:latin typeface="Arial"/>
                  <a:ea typeface="Arial"/>
                  <a:cs typeface="Arial"/>
                  <a:sym typeface="Arial"/>
                </a:defRPr>
              </a:lvl1pPr>
            </a:lstStyle>
            <a:p>
              <a:pPr/>
              <a:r>
                <a:t>Same size, different mass. That is density.</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60000" fill="hold"/>
                                        <p:tgtEl>
                                          <p:spTgt spid="72"/>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81"/>
                                        </p:tgtEl>
                                        <p:attrNameLst>
                                          <p:attrName>style.visibility</p:attrName>
                                        </p:attrNameLst>
                                      </p:cBhvr>
                                      <p:to>
                                        <p:strVal val="visible"/>
                                      </p:to>
                                    </p:set>
                                    <p:animEffect filter="fade" transition="in">
                                      <p:cBhvr>
                                        <p:cTn id="11" dur="400"/>
                                        <p:tgtEl>
                                          <p:spTgt spid="81"/>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86"/>
                                        </p:tgtEl>
                                        <p:attrNameLst>
                                          <p:attrName>style.visibility</p:attrName>
                                        </p:attrNameLst>
                                      </p:cBhvr>
                                      <p:to>
                                        <p:strVal val="visible"/>
                                      </p:to>
                                    </p:set>
                                    <p:animEffect filter="fade" transition="in">
                                      <p:cBhvr>
                                        <p:cTn id="16" dur="400"/>
                                        <p:tgtEl>
                                          <p:spTgt spid="86"/>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91"/>
                                        </p:tgtEl>
                                        <p:attrNameLst>
                                          <p:attrName>style.visibility</p:attrName>
                                        </p:attrNameLst>
                                      </p:cBhvr>
                                      <p:to>
                                        <p:strVal val="visible"/>
                                      </p:to>
                                    </p:set>
                                    <p:animEffect filter="fade" transition="in">
                                      <p:cBhvr>
                                        <p:cTn id="21" dur="400"/>
                                        <p:tgtEl>
                                          <p:spTgt spid="91"/>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Subtype="16" presetID="23" grpId="5" fill="hold">
                                  <p:stCondLst>
                                    <p:cond delay="0"/>
                                  </p:stCondLst>
                                  <p:iterate type="el" backwards="0">
                                    <p:tmAbs val="0"/>
                                  </p:iterate>
                                  <p:childTnLst>
                                    <p:set>
                                      <p:cBhvr>
                                        <p:cTn id="25" fill="hold"/>
                                        <p:tgtEl>
                                          <p:spTgt spid="94"/>
                                        </p:tgtEl>
                                        <p:attrNameLst>
                                          <p:attrName>style.visibility</p:attrName>
                                        </p:attrNameLst>
                                      </p:cBhvr>
                                      <p:to>
                                        <p:strVal val="visible"/>
                                      </p:to>
                                    </p:set>
                                    <p:anim calcmode="lin" valueType="num">
                                      <p:cBhvr>
                                        <p:cTn id="26" dur="400" fill="hold"/>
                                        <p:tgtEl>
                                          <p:spTgt spid="94"/>
                                        </p:tgtEl>
                                        <p:attrNameLst>
                                          <p:attrName>ppt_w</p:attrName>
                                        </p:attrNameLst>
                                      </p:cBhvr>
                                      <p:tavLst>
                                        <p:tav tm="0">
                                          <p:val>
                                            <p:fltVal val="0"/>
                                          </p:val>
                                        </p:tav>
                                        <p:tav tm="100000">
                                          <p:val>
                                            <p:strVal val="#ppt_w"/>
                                          </p:val>
                                        </p:tav>
                                      </p:tavLst>
                                    </p:anim>
                                    <p:anim calcmode="lin" valueType="num">
                                      <p:cBhvr>
                                        <p:cTn id="27" dur="400" fill="hold"/>
                                        <p:tgtEl>
                                          <p:spTgt spid="9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8" fill="hold" display="0">
                  <p:stCondLst>
                    <p:cond delay="indefinite"/>
                  </p:stCondLst>
                </p:cTn>
                <p:tgtEl>
                  <p:spTgt spid="72"/>
                </p:tgtEl>
              </p:cMediaNode>
            </p:video>
            <p:seq concurrent="1" prevAc="none" nextAc="seek">
              <p:cTn id="29" evtFilter="cancelBubble" nodeType="interactiveSeq" restart="whenNotActive" fill="hold">
                <p:stCondLst>
                  <p:cond delay="0" evt="onClick">
                    <p:tgtEl>
                      <p:spTgt spid="72"/>
                    </p:tgtEl>
                  </p:cond>
                </p:stCondLst>
                <p:endSync delay="0" evt="end">
                  <p:rtn val="all"/>
                </p:endSync>
                <p:childTnLst>
                  <p:par>
                    <p:cTn id="30" fill="hold">
                      <p:stCondLst>
                        <p:cond delay="0"/>
                      </p:stCondLst>
                      <p:childTnLst>
                        <p:par>
                          <p:cTn id="31" fill="hold">
                            <p:stCondLst>
                              <p:cond delay="0"/>
                            </p:stCondLst>
                            <p:childTnLst>
                              <p:par>
                                <p:cTn id="32" presetClass="mediacall" nodeType="clickEffect" presetSubtype="0" presetID="2" fill="hold">
                                  <p:stCondLst>
                                    <p:cond delay="0"/>
                                  </p:stCondLst>
                                  <p:childTnLst>
                                    <p:cmd type="call" cmd="togglePause">
                                      <p:cBhvr>
                                        <p:cTn id="33" dur="1" fill="hold"/>
                                        <p:tgtEl>
                                          <p:spTgt spid="72"/>
                                        </p:tgtEl>
                                      </p:cBhvr>
                                    </p:cmd>
                                  </p:childTnLst>
                                </p:cTn>
                              </p:par>
                            </p:childTnLst>
                          </p:cTn>
                        </p:par>
                      </p:childTnLst>
                    </p:cTn>
                  </p:par>
                </p:childTnLst>
              </p:cTn>
              <p:nextCondLst>
                <p:cond delay="0" evt="onClick">
                  <p:tgtEl>
                    <p:spTgt spid="72"/>
                  </p:tgtEl>
                </p:cond>
              </p:nextCondLst>
            </p:seq>
          </p:childTnLst>
        </p:cTn>
      </p:par>
    </p:tnLst>
    <p:bldLst>
      <p:bldP build="whole" bldLvl="1" animBg="1" rev="0" advAuto="0" spid="86" grpId="3"/>
      <p:bldP build="whole" bldLvl="1" animBg="1" rev="0" advAuto="0" spid="81" grpId="2"/>
      <p:bldP build="whole" bldLvl="1" animBg="1" rev="0" advAuto="0" spid="94" grpId="5"/>
      <p:bldP build="whole" bldLvl="1" animBg="1" rev="0" advAuto="0" spid="91" grpId="4"/>
    </p:bldLst>
  </p:timing>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EFF6F7"/>
        </a:solidFill>
      </p:bgPr>
    </p:bg>
    <p:spTree>
      <p:nvGrpSpPr>
        <p:cNvPr id="1" name=""/>
        <p:cNvGrpSpPr/>
        <p:nvPr/>
      </p:nvGrpSpPr>
      <p:grpSpPr>
        <a:xfrm>
          <a:off x="0" y="0"/>
          <a:ext cx="0" cy="0"/>
          <a:chOff x="0" y="0"/>
          <a:chExt cx="0" cy="0"/>
        </a:xfrm>
      </p:grpSpPr>
      <p:pic>
        <p:nvPicPr>
          <p:cNvPr id="98"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01" name="phase_pill"/>
          <p:cNvGrpSpPr/>
          <p:nvPr/>
        </p:nvGrpSpPr>
        <p:grpSpPr>
          <a:xfrm>
            <a:off x="1170432" y="310895"/>
            <a:ext cx="1623975" cy="329185"/>
            <a:chOff x="0" y="0"/>
            <a:chExt cx="1623974" cy="329184"/>
          </a:xfrm>
        </p:grpSpPr>
        <p:sp>
          <p:nvSpPr>
            <p:cNvPr id="99" name="Rounded Rectangle"/>
            <p:cNvSpPr/>
            <p:nvPr/>
          </p:nvSpPr>
          <p:spPr>
            <a:xfrm>
              <a:off x="0" y="0"/>
              <a:ext cx="1623975" cy="329185"/>
            </a:xfrm>
            <a:prstGeom prst="roundRect">
              <a:avLst>
                <a:gd name="adj" fmla="val 44444"/>
              </a:avLst>
            </a:prstGeom>
            <a:solidFill>
              <a:srgbClr val="0B3D4C"/>
            </a:solidFill>
            <a:ln w="12700" cap="flat">
              <a:noFill/>
              <a:miter lim="400000"/>
            </a:ln>
            <a:effectLst/>
          </p:spPr>
          <p:txBody>
            <a:bodyPr wrap="square" lIns="45719" tIns="45719" rIns="45719" bIns="45719" numCol="1" anchor="ctr">
              <a:noAutofit/>
            </a:bodyPr>
            <a:lstStyle/>
            <a:p>
              <a:pPr algn="ctr">
                <a:defRPr sz="1100"/>
              </a:pPr>
            </a:p>
          </p:txBody>
        </p:sp>
        <p:sp>
          <p:nvSpPr>
            <p:cNvPr id="100" name="HOOK · 2 MIN"/>
            <p:cNvSpPr txBox="1"/>
            <p:nvPr/>
          </p:nvSpPr>
          <p:spPr>
            <a:xfrm>
              <a:off x="42851" y="90677"/>
              <a:ext cx="153827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HOOK · 2 MIN</a:t>
              </a:r>
            </a:p>
          </p:txBody>
        </p:sp>
      </p:grpSp>
      <p:sp>
        <p:nvSpPr>
          <p:cNvPr id="102" name="slide_title"/>
          <p:cNvSpPr txBox="1"/>
          <p:nvPr/>
        </p:nvSpPr>
        <p:spPr>
          <a:xfrm>
            <a:off x="1170432" y="1041554"/>
            <a:ext cx="10472623" cy="4955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4000"/>
              </a:lnSpc>
              <a:defRPr b="1" sz="3200">
                <a:solidFill>
                  <a:srgbClr val="0B3D4C"/>
                </a:solidFill>
                <a:latin typeface="Georgia"/>
                <a:ea typeface="Georgia"/>
                <a:cs typeface="Georgia"/>
                <a:sym typeface="Georgia"/>
              </a:defRPr>
            </a:lvl1pPr>
          </a:lstStyle>
          <a:p>
            <a:pPr/>
            <a:r>
              <a:t>A steel ship floats. A steel marble sinks.</a:t>
            </a:r>
          </a:p>
        </p:txBody>
      </p:sp>
      <p:sp>
        <p:nvSpPr>
          <p:cNvPr id="103" name="slide_sub"/>
          <p:cNvSpPr txBox="1"/>
          <p:nvPr/>
        </p:nvSpPr>
        <p:spPr>
          <a:xfrm>
            <a:off x="1170432" y="1872925"/>
            <a:ext cx="10472623"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a:solidFill>
                  <a:srgbClr val="4E6D74"/>
                </a:solidFill>
                <a:latin typeface="Arial"/>
                <a:ea typeface="Arial"/>
                <a:cs typeface="Arial"/>
                <a:sym typeface="Arial"/>
              </a:defRPr>
            </a:lvl1pPr>
          </a:lstStyle>
          <a:p>
            <a:pPr/>
            <a:r>
              <a:t>Why?</a:t>
            </a:r>
          </a:p>
        </p:txBody>
      </p:sp>
      <p:grpSp>
        <p:nvGrpSpPr>
          <p:cNvPr id="107" name="h0"/>
          <p:cNvGrpSpPr/>
          <p:nvPr/>
        </p:nvGrpSpPr>
        <p:grpSpPr>
          <a:xfrm>
            <a:off x="1170432" y="2487167"/>
            <a:ext cx="3307994" cy="1554481"/>
            <a:chOff x="0" y="0"/>
            <a:chExt cx="3307993" cy="1554480"/>
          </a:xfrm>
        </p:grpSpPr>
        <p:sp>
          <p:nvSpPr>
            <p:cNvPr id="104" name="h0_bg"/>
            <p:cNvSpPr/>
            <p:nvPr/>
          </p:nvSpPr>
          <p:spPr>
            <a:xfrm>
              <a:off x="0" y="0"/>
              <a:ext cx="3307994" cy="1554481"/>
            </a:xfrm>
            <a:prstGeom prst="roundRect">
              <a:avLst>
                <a:gd name="adj" fmla="val 5882"/>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105" name="h0_k"/>
            <p:cNvSpPr txBox="1"/>
            <p:nvPr/>
          </p:nvSpPr>
          <p:spPr>
            <a:xfrm>
              <a:off x="256032" y="239268"/>
              <a:ext cx="548640" cy="381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600">
                  <a:solidFill>
                    <a:srgbClr val="D63447"/>
                  </a:solidFill>
                  <a:latin typeface="Georgia"/>
                  <a:ea typeface="Georgia"/>
                  <a:cs typeface="Georgia"/>
                  <a:sym typeface="Georgia"/>
                </a:defRPr>
              </a:lvl1pPr>
            </a:lstStyle>
            <a:p>
              <a:pPr/>
              <a:r>
                <a:t>A</a:t>
              </a:r>
            </a:p>
          </p:txBody>
        </p:sp>
        <p:sp>
          <p:nvSpPr>
            <p:cNvPr id="106" name="h0_t"/>
            <p:cNvSpPr txBox="1"/>
            <p:nvPr/>
          </p:nvSpPr>
          <p:spPr>
            <a:xfrm>
              <a:off x="256032" y="727533"/>
              <a:ext cx="2795930" cy="50175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2000"/>
                </a:lnSpc>
                <a:defRPr b="1" sz="1600">
                  <a:solidFill>
                    <a:srgbClr val="0B3D4C"/>
                  </a:solidFill>
                  <a:latin typeface="Georgia"/>
                  <a:ea typeface="Georgia"/>
                  <a:cs typeface="Georgia"/>
                  <a:sym typeface="Georgia"/>
                </a:defRPr>
              </a:lvl1pPr>
            </a:lstStyle>
            <a:p>
              <a:pPr/>
              <a:r>
                <a:t>The ship is hollow. It is mostly air.</a:t>
              </a:r>
            </a:p>
          </p:txBody>
        </p:sp>
      </p:grpSp>
      <p:grpSp>
        <p:nvGrpSpPr>
          <p:cNvPr id="111" name="h1"/>
          <p:cNvGrpSpPr/>
          <p:nvPr/>
        </p:nvGrpSpPr>
        <p:grpSpPr>
          <a:xfrm>
            <a:off x="4752745" y="2487167"/>
            <a:ext cx="3307995" cy="1554481"/>
            <a:chOff x="0" y="0"/>
            <a:chExt cx="3307993" cy="1554480"/>
          </a:xfrm>
        </p:grpSpPr>
        <p:sp>
          <p:nvSpPr>
            <p:cNvPr id="108" name="h1_bg"/>
            <p:cNvSpPr/>
            <p:nvPr/>
          </p:nvSpPr>
          <p:spPr>
            <a:xfrm>
              <a:off x="0" y="0"/>
              <a:ext cx="3307994" cy="1554481"/>
            </a:xfrm>
            <a:prstGeom prst="roundRect">
              <a:avLst>
                <a:gd name="adj" fmla="val 5882"/>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109" name="h1_k"/>
            <p:cNvSpPr txBox="1"/>
            <p:nvPr/>
          </p:nvSpPr>
          <p:spPr>
            <a:xfrm>
              <a:off x="256032" y="239268"/>
              <a:ext cx="548640" cy="381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600">
                  <a:solidFill>
                    <a:srgbClr val="D63447"/>
                  </a:solidFill>
                  <a:latin typeface="Georgia"/>
                  <a:ea typeface="Georgia"/>
                  <a:cs typeface="Georgia"/>
                  <a:sym typeface="Georgia"/>
                </a:defRPr>
              </a:lvl1pPr>
            </a:lstStyle>
            <a:p>
              <a:pPr/>
              <a:r>
                <a:t>B</a:t>
              </a:r>
            </a:p>
          </p:txBody>
        </p:sp>
        <p:sp>
          <p:nvSpPr>
            <p:cNvPr id="110" name="h1_t"/>
            <p:cNvSpPr txBox="1"/>
            <p:nvPr/>
          </p:nvSpPr>
          <p:spPr>
            <a:xfrm>
              <a:off x="256032" y="727533"/>
              <a:ext cx="2795930" cy="50175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2000"/>
                </a:lnSpc>
                <a:defRPr b="1" sz="1600">
                  <a:solidFill>
                    <a:srgbClr val="0B3D4C"/>
                  </a:solidFill>
                  <a:latin typeface="Georgia"/>
                  <a:ea typeface="Georgia"/>
                  <a:cs typeface="Georgia"/>
                  <a:sym typeface="Georgia"/>
                </a:defRPr>
              </a:lvl1pPr>
            </a:lstStyle>
            <a:p>
              <a:pPr/>
              <a:r>
                <a:t>Steel changes when it is shaped into a ship.</a:t>
              </a:r>
            </a:p>
          </p:txBody>
        </p:sp>
      </p:grpSp>
      <p:grpSp>
        <p:nvGrpSpPr>
          <p:cNvPr id="115" name="h2"/>
          <p:cNvGrpSpPr/>
          <p:nvPr/>
        </p:nvGrpSpPr>
        <p:grpSpPr>
          <a:xfrm>
            <a:off x="8335061" y="2487167"/>
            <a:ext cx="3307994" cy="1554481"/>
            <a:chOff x="0" y="0"/>
            <a:chExt cx="3307993" cy="1554480"/>
          </a:xfrm>
        </p:grpSpPr>
        <p:sp>
          <p:nvSpPr>
            <p:cNvPr id="112" name="h2_bg"/>
            <p:cNvSpPr/>
            <p:nvPr/>
          </p:nvSpPr>
          <p:spPr>
            <a:xfrm>
              <a:off x="0" y="0"/>
              <a:ext cx="3307994" cy="1554481"/>
            </a:xfrm>
            <a:prstGeom prst="roundRect">
              <a:avLst>
                <a:gd name="adj" fmla="val 5882"/>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113" name="h2_k"/>
            <p:cNvSpPr txBox="1"/>
            <p:nvPr/>
          </p:nvSpPr>
          <p:spPr>
            <a:xfrm>
              <a:off x="256032" y="239268"/>
              <a:ext cx="548640" cy="381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600">
                  <a:solidFill>
                    <a:srgbClr val="D63447"/>
                  </a:solidFill>
                  <a:latin typeface="Georgia"/>
                  <a:ea typeface="Georgia"/>
                  <a:cs typeface="Georgia"/>
                  <a:sym typeface="Georgia"/>
                </a:defRPr>
              </a:lvl1pPr>
            </a:lstStyle>
            <a:p>
              <a:pPr/>
              <a:r>
                <a:t>C</a:t>
              </a:r>
            </a:p>
          </p:txBody>
        </p:sp>
        <p:sp>
          <p:nvSpPr>
            <p:cNvPr id="114" name="h2_t"/>
            <p:cNvSpPr txBox="1"/>
            <p:nvPr/>
          </p:nvSpPr>
          <p:spPr>
            <a:xfrm>
              <a:off x="256032" y="727533"/>
              <a:ext cx="2795930" cy="50175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2000"/>
                </a:lnSpc>
                <a:defRPr b="1" sz="1600">
                  <a:solidFill>
                    <a:srgbClr val="0B3D4C"/>
                  </a:solidFill>
                  <a:latin typeface="Georgia"/>
                  <a:ea typeface="Georgia"/>
                  <a:cs typeface="Georgia"/>
                  <a:sym typeface="Georgia"/>
                </a:defRPr>
              </a:lvl1pPr>
            </a:lstStyle>
            <a:p>
              <a:pPr/>
              <a:r>
                <a:t>The ship weighs less than the marble.</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20000" fill="hold"/>
                                        <p:tgtEl>
                                          <p:spTgt spid="98"/>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107"/>
                                        </p:tgtEl>
                                        <p:attrNameLst>
                                          <p:attrName>style.visibility</p:attrName>
                                        </p:attrNameLst>
                                      </p:cBhvr>
                                      <p:to>
                                        <p:strVal val="visible"/>
                                      </p:to>
                                    </p:set>
                                    <p:animEffect filter="fade" transition="in">
                                      <p:cBhvr>
                                        <p:cTn id="11" dur="400"/>
                                        <p:tgtEl>
                                          <p:spTgt spid="107"/>
                                        </p:tgtEl>
                                      </p:cBhvr>
                                    </p:animEffect>
                                  </p:childTnLst>
                                </p:cTn>
                              </p:par>
                            </p:childTnLst>
                          </p:cTn>
                        </p:par>
                        <p:par>
                          <p:cTn id="12" fill="hold">
                            <p:stCondLst>
                              <p:cond delay="400"/>
                            </p:stCondLst>
                            <p:childTnLst>
                              <p:par>
                                <p:cTn id="13" presetClass="entr" nodeType="afterEffect" presetID="10" grpId="3" fill="hold">
                                  <p:stCondLst>
                                    <p:cond delay="150"/>
                                  </p:stCondLst>
                                  <p:iterate type="el" backwards="0">
                                    <p:tmAbs val="0"/>
                                  </p:iterate>
                                  <p:childTnLst>
                                    <p:set>
                                      <p:cBhvr>
                                        <p:cTn id="14" fill="hold"/>
                                        <p:tgtEl>
                                          <p:spTgt spid="111"/>
                                        </p:tgtEl>
                                        <p:attrNameLst>
                                          <p:attrName>style.visibility</p:attrName>
                                        </p:attrNameLst>
                                      </p:cBhvr>
                                      <p:to>
                                        <p:strVal val="visible"/>
                                      </p:to>
                                    </p:set>
                                    <p:animEffect filter="fade" transition="in">
                                      <p:cBhvr>
                                        <p:cTn id="15" dur="400"/>
                                        <p:tgtEl>
                                          <p:spTgt spid="111"/>
                                        </p:tgtEl>
                                      </p:cBhvr>
                                    </p:animEffect>
                                  </p:childTnLst>
                                </p:cTn>
                              </p:par>
                            </p:childTnLst>
                          </p:cTn>
                        </p:par>
                        <p:par>
                          <p:cTn id="16" fill="hold">
                            <p:stCondLst>
                              <p:cond delay="950"/>
                            </p:stCondLst>
                            <p:childTnLst>
                              <p:par>
                                <p:cTn id="17" presetClass="entr" nodeType="afterEffect" presetID="10" grpId="4" fill="hold">
                                  <p:stCondLst>
                                    <p:cond delay="300"/>
                                  </p:stCondLst>
                                  <p:iterate type="el" backwards="0">
                                    <p:tmAbs val="0"/>
                                  </p:iterate>
                                  <p:childTnLst>
                                    <p:set>
                                      <p:cBhvr>
                                        <p:cTn id="18" fill="hold"/>
                                        <p:tgtEl>
                                          <p:spTgt spid="115"/>
                                        </p:tgtEl>
                                        <p:attrNameLst>
                                          <p:attrName>style.visibility</p:attrName>
                                        </p:attrNameLst>
                                      </p:cBhvr>
                                      <p:to>
                                        <p:strVal val="visible"/>
                                      </p:to>
                                    </p:set>
                                    <p:animEffect filter="fade" transition="in">
                                      <p:cBhvr>
                                        <p:cTn id="19" dur="400"/>
                                        <p:tgtEl>
                                          <p:spTgt spid="115"/>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0" fill="hold" display="0">
                  <p:stCondLst>
                    <p:cond delay="indefinite"/>
                  </p:stCondLst>
                </p:cTn>
                <p:tgtEl>
                  <p:spTgt spid="98"/>
                </p:tgtEl>
              </p:cMediaNode>
            </p:video>
            <p:seq concurrent="1" prevAc="none" nextAc="seek">
              <p:cTn id="21" evtFilter="cancelBubble" nodeType="interactiveSeq" restart="whenNotActive" fill="hold">
                <p:stCondLst>
                  <p:cond delay="0" evt="onClick">
                    <p:tgtEl>
                      <p:spTgt spid="98"/>
                    </p:tgtEl>
                  </p:cond>
                </p:stCondLst>
                <p:endSync delay="0" evt="end">
                  <p:rtn val="all"/>
                </p:endSync>
                <p:childTnLst>
                  <p:par>
                    <p:cTn id="22" fill="hold">
                      <p:stCondLst>
                        <p:cond delay="0"/>
                      </p:stCondLst>
                      <p:childTnLst>
                        <p:par>
                          <p:cTn id="23" fill="hold">
                            <p:stCondLst>
                              <p:cond delay="0"/>
                            </p:stCondLst>
                            <p:childTnLst>
                              <p:par>
                                <p:cTn id="24" presetClass="mediacall" nodeType="clickEffect" presetSubtype="0" presetID="2" fill="hold">
                                  <p:stCondLst>
                                    <p:cond delay="0"/>
                                  </p:stCondLst>
                                  <p:childTnLst>
                                    <p:cmd type="call" cmd="togglePause">
                                      <p:cBhvr>
                                        <p:cTn id="25" dur="1" fill="hold"/>
                                        <p:tgtEl>
                                          <p:spTgt spid="98"/>
                                        </p:tgtEl>
                                      </p:cBhvr>
                                    </p:cmd>
                                  </p:childTnLst>
                                </p:cTn>
                              </p:par>
                            </p:childTnLst>
                          </p:cTn>
                        </p:par>
                      </p:childTnLst>
                    </p:cTn>
                  </p:par>
                </p:childTnLst>
              </p:cTn>
              <p:nextCondLst>
                <p:cond delay="0" evt="onClick">
                  <p:tgtEl>
                    <p:spTgt spid="98"/>
                  </p:tgtEl>
                </p:cond>
              </p:nextCondLst>
            </p:seq>
          </p:childTnLst>
        </p:cTn>
      </p:par>
    </p:tnLst>
    <p:bldLst>
      <p:bldP build="whole" bldLvl="1" animBg="1" rev="0" advAuto="0" spid="111" grpId="3"/>
      <p:bldP build="whole" bldLvl="1" animBg="1" rev="0" advAuto="0" spid="115" grpId="4"/>
      <p:bldP build="whole" bldLvl="1" animBg="1" rev="0" advAuto="0" spid="107" grpId="2"/>
    </p:bld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EFF6F7"/>
        </a:solidFill>
      </p:bgPr>
    </p:bg>
    <p:spTree>
      <p:nvGrpSpPr>
        <p:cNvPr id="1" name=""/>
        <p:cNvGrpSpPr/>
        <p:nvPr/>
      </p:nvGrpSpPr>
      <p:grpSpPr>
        <a:xfrm>
          <a:off x="0" y="0"/>
          <a:ext cx="0" cy="0"/>
          <a:chOff x="0" y="0"/>
          <a:chExt cx="0" cy="0"/>
        </a:xfrm>
      </p:grpSpPr>
      <p:pic>
        <p:nvPicPr>
          <p:cNvPr id="119"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22" name="phase_pill"/>
          <p:cNvGrpSpPr/>
          <p:nvPr/>
        </p:nvGrpSpPr>
        <p:grpSpPr>
          <a:xfrm>
            <a:off x="1170432" y="310895"/>
            <a:ext cx="1623975" cy="329185"/>
            <a:chOff x="0" y="0"/>
            <a:chExt cx="1623974" cy="329184"/>
          </a:xfrm>
        </p:grpSpPr>
        <p:sp>
          <p:nvSpPr>
            <p:cNvPr id="120" name="Rounded Rectangle"/>
            <p:cNvSpPr/>
            <p:nvPr/>
          </p:nvSpPr>
          <p:spPr>
            <a:xfrm>
              <a:off x="0" y="0"/>
              <a:ext cx="1623975" cy="329185"/>
            </a:xfrm>
            <a:prstGeom prst="roundRect">
              <a:avLst>
                <a:gd name="adj" fmla="val 44444"/>
              </a:avLst>
            </a:prstGeom>
            <a:solidFill>
              <a:srgbClr val="0B3D4C"/>
            </a:solidFill>
            <a:ln w="12700" cap="flat">
              <a:noFill/>
              <a:miter lim="400000"/>
            </a:ln>
            <a:effectLst/>
          </p:spPr>
          <p:txBody>
            <a:bodyPr wrap="square" lIns="45719" tIns="45719" rIns="45719" bIns="45719" numCol="1" anchor="ctr">
              <a:noAutofit/>
            </a:bodyPr>
            <a:lstStyle/>
            <a:p>
              <a:pPr algn="ctr">
                <a:defRPr sz="1100"/>
              </a:pPr>
            </a:p>
          </p:txBody>
        </p:sp>
        <p:sp>
          <p:nvSpPr>
            <p:cNvPr id="121" name="I DO · 3 MIN"/>
            <p:cNvSpPr txBox="1"/>
            <p:nvPr/>
          </p:nvSpPr>
          <p:spPr>
            <a:xfrm>
              <a:off x="42851" y="90677"/>
              <a:ext cx="153827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I DO · 3 MIN</a:t>
              </a:r>
            </a:p>
          </p:txBody>
        </p:sp>
      </p:grpSp>
      <p:sp>
        <p:nvSpPr>
          <p:cNvPr id="123" name="slide_title"/>
          <p:cNvSpPr txBox="1"/>
          <p:nvPr/>
        </p:nvSpPr>
        <p:spPr>
          <a:xfrm>
            <a:off x="1170432" y="965707"/>
            <a:ext cx="10472623" cy="482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400">
                <a:solidFill>
                  <a:srgbClr val="0B3D4C"/>
                </a:solidFill>
                <a:latin typeface="Georgia"/>
                <a:ea typeface="Georgia"/>
                <a:cs typeface="Georgia"/>
                <a:sym typeface="Georgia"/>
              </a:defRPr>
            </a:lvl1pPr>
          </a:lstStyle>
          <a:p>
            <a:pPr/>
            <a:r>
              <a:t>Density is mass per unit volume</a:t>
            </a:r>
          </a:p>
        </p:txBody>
      </p:sp>
      <p:grpSp>
        <p:nvGrpSpPr>
          <p:cNvPr id="127" name="eq_group"/>
          <p:cNvGrpSpPr/>
          <p:nvPr/>
        </p:nvGrpSpPr>
        <p:grpSpPr>
          <a:xfrm>
            <a:off x="1170432" y="2103120"/>
            <a:ext cx="10472623" cy="1005841"/>
            <a:chOff x="0" y="0"/>
            <a:chExt cx="10472622" cy="1005839"/>
          </a:xfrm>
        </p:grpSpPr>
        <p:sp>
          <p:nvSpPr>
            <p:cNvPr id="124" name="eq_bg"/>
            <p:cNvSpPr/>
            <p:nvPr/>
          </p:nvSpPr>
          <p:spPr>
            <a:xfrm>
              <a:off x="0" y="0"/>
              <a:ext cx="10472623" cy="1005840"/>
            </a:xfrm>
            <a:prstGeom prst="roundRect">
              <a:avLst>
                <a:gd name="adj" fmla="val 9091"/>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125" name="eq_e"/>
            <p:cNvSpPr txBox="1"/>
            <p:nvPr/>
          </p:nvSpPr>
          <p:spPr>
            <a:xfrm>
              <a:off x="274319" y="261619"/>
              <a:ext cx="3108961" cy="482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3400">
                  <a:solidFill>
                    <a:srgbClr val="0B3D4C"/>
                  </a:solidFill>
                  <a:latin typeface="Georgia"/>
                  <a:ea typeface="Georgia"/>
                  <a:cs typeface="Georgia"/>
                  <a:sym typeface="Georgia"/>
                </a:defRPr>
              </a:lvl1pPr>
            </a:lstStyle>
            <a:p>
              <a:pPr/>
              <a:r>
                <a:t>ρ = m ÷ V</a:t>
              </a:r>
            </a:p>
          </p:txBody>
        </p:sp>
        <p:sp>
          <p:nvSpPr>
            <p:cNvPr id="126" name="eq_note"/>
            <p:cNvSpPr txBox="1"/>
            <p:nvPr/>
          </p:nvSpPr>
          <p:spPr>
            <a:xfrm>
              <a:off x="3566159" y="379451"/>
              <a:ext cx="6632144" cy="2469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700">
                  <a:solidFill>
                    <a:srgbClr val="4E6D74"/>
                  </a:solidFill>
                  <a:latin typeface="Arial"/>
                  <a:ea typeface="Arial"/>
                  <a:cs typeface="Arial"/>
                  <a:sym typeface="Arial"/>
                </a:defRPr>
              </a:lvl1pPr>
            </a:lstStyle>
            <a:p>
              <a:pPr/>
              <a:r>
                <a:t>mass ÷ volume</a:t>
              </a:r>
            </a:p>
          </p:txBody>
        </p:sp>
      </p:grpSp>
      <p:grpSp>
        <p:nvGrpSpPr>
          <p:cNvPr id="131" name="un0"/>
          <p:cNvGrpSpPr/>
          <p:nvPr/>
        </p:nvGrpSpPr>
        <p:grpSpPr>
          <a:xfrm>
            <a:off x="1170432" y="3310128"/>
            <a:ext cx="5099152" cy="1188721"/>
            <a:chOff x="0" y="0"/>
            <a:chExt cx="5099151" cy="1188719"/>
          </a:xfrm>
        </p:grpSpPr>
        <p:sp>
          <p:nvSpPr>
            <p:cNvPr id="128" name="un0_bg"/>
            <p:cNvSpPr/>
            <p:nvPr/>
          </p:nvSpPr>
          <p:spPr>
            <a:xfrm>
              <a:off x="0" y="0"/>
              <a:ext cx="5099152" cy="1188720"/>
            </a:xfrm>
            <a:prstGeom prst="roundRect">
              <a:avLst>
                <a:gd name="adj" fmla="val 7692"/>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129" name="un0_u"/>
            <p:cNvSpPr txBox="1"/>
            <p:nvPr/>
          </p:nvSpPr>
          <p:spPr>
            <a:xfrm>
              <a:off x="219456" y="170433"/>
              <a:ext cx="4660240" cy="317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200">
                  <a:solidFill>
                    <a:srgbClr val="C25A29"/>
                  </a:solidFill>
                  <a:latin typeface="Georgia"/>
                  <a:ea typeface="Georgia"/>
                  <a:cs typeface="Georgia"/>
                  <a:sym typeface="Georgia"/>
                </a:defRPr>
              </a:lvl1pPr>
            </a:lstStyle>
            <a:p>
              <a:pPr/>
              <a:r>
                <a:t>g/cm³</a:t>
              </a:r>
            </a:p>
          </p:txBody>
        </p:sp>
        <p:sp>
          <p:nvSpPr>
            <p:cNvPr id="130" name="un0_n"/>
            <p:cNvSpPr txBox="1"/>
            <p:nvPr/>
          </p:nvSpPr>
          <p:spPr>
            <a:xfrm>
              <a:off x="219456" y="548639"/>
              <a:ext cx="4660240" cy="2178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800"/>
                </a:lnSpc>
                <a:defRPr sz="1300">
                  <a:solidFill>
                    <a:srgbClr val="0C2730"/>
                  </a:solidFill>
                  <a:latin typeface="Arial"/>
                  <a:ea typeface="Arial"/>
                  <a:cs typeface="Arial"/>
                  <a:sym typeface="Arial"/>
                </a:defRPr>
              </a:lvl1pPr>
            </a:lstStyle>
            <a:p>
              <a:pPr/>
              <a:r>
                <a:t>For small objects: a stone, a block, a small volume of liquid.</a:t>
              </a:r>
            </a:p>
          </p:txBody>
        </p:sp>
      </p:grpSp>
      <p:grpSp>
        <p:nvGrpSpPr>
          <p:cNvPr id="135" name="un1"/>
          <p:cNvGrpSpPr/>
          <p:nvPr/>
        </p:nvGrpSpPr>
        <p:grpSpPr>
          <a:xfrm>
            <a:off x="6543903" y="3310128"/>
            <a:ext cx="5099153" cy="1188721"/>
            <a:chOff x="0" y="0"/>
            <a:chExt cx="5099151" cy="1188719"/>
          </a:xfrm>
        </p:grpSpPr>
        <p:sp>
          <p:nvSpPr>
            <p:cNvPr id="132" name="un1_bg"/>
            <p:cNvSpPr/>
            <p:nvPr/>
          </p:nvSpPr>
          <p:spPr>
            <a:xfrm>
              <a:off x="0" y="0"/>
              <a:ext cx="5099152" cy="1188720"/>
            </a:xfrm>
            <a:prstGeom prst="roundRect">
              <a:avLst>
                <a:gd name="adj" fmla="val 7692"/>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133" name="un1_u"/>
            <p:cNvSpPr txBox="1"/>
            <p:nvPr/>
          </p:nvSpPr>
          <p:spPr>
            <a:xfrm>
              <a:off x="219456" y="170433"/>
              <a:ext cx="4660240" cy="317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200">
                  <a:solidFill>
                    <a:srgbClr val="C25A29"/>
                  </a:solidFill>
                  <a:latin typeface="Georgia"/>
                  <a:ea typeface="Georgia"/>
                  <a:cs typeface="Georgia"/>
                  <a:sym typeface="Georgia"/>
                </a:defRPr>
              </a:lvl1pPr>
            </a:lstStyle>
            <a:p>
              <a:pPr/>
              <a:r>
                <a:t>kg/m³</a:t>
              </a:r>
            </a:p>
          </p:txBody>
        </p:sp>
        <p:sp>
          <p:nvSpPr>
            <p:cNvPr id="134" name="un1_n"/>
            <p:cNvSpPr txBox="1"/>
            <p:nvPr/>
          </p:nvSpPr>
          <p:spPr>
            <a:xfrm>
              <a:off x="219456" y="548639"/>
              <a:ext cx="4660240" cy="2178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800"/>
                </a:lnSpc>
                <a:defRPr sz="1300">
                  <a:solidFill>
                    <a:srgbClr val="0C2730"/>
                  </a:solidFill>
                  <a:latin typeface="Arial"/>
                  <a:ea typeface="Arial"/>
                  <a:cs typeface="Arial"/>
                  <a:sym typeface="Arial"/>
                </a:defRPr>
              </a:lvl1pPr>
            </a:lstStyle>
            <a:p>
              <a:pPr/>
              <a:r>
                <a:t>For large objects: a room of air, a cubic metre of concrete.</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119"/>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127"/>
                                        </p:tgtEl>
                                        <p:attrNameLst>
                                          <p:attrName>style.visibility</p:attrName>
                                        </p:attrNameLst>
                                      </p:cBhvr>
                                      <p:to>
                                        <p:strVal val="visible"/>
                                      </p:to>
                                    </p:set>
                                    <p:animEffect filter="fade" transition="in">
                                      <p:cBhvr>
                                        <p:cTn id="11" dur="400"/>
                                        <p:tgtEl>
                                          <p:spTgt spid="127"/>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131"/>
                                        </p:tgtEl>
                                        <p:attrNameLst>
                                          <p:attrName>style.visibility</p:attrName>
                                        </p:attrNameLst>
                                      </p:cBhvr>
                                      <p:to>
                                        <p:strVal val="visible"/>
                                      </p:to>
                                    </p:set>
                                    <p:animEffect filter="fade" transition="in">
                                      <p:cBhvr>
                                        <p:cTn id="16" dur="400"/>
                                        <p:tgtEl>
                                          <p:spTgt spid="131"/>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135"/>
                                        </p:tgtEl>
                                        <p:attrNameLst>
                                          <p:attrName>style.visibility</p:attrName>
                                        </p:attrNameLst>
                                      </p:cBhvr>
                                      <p:to>
                                        <p:strVal val="visible"/>
                                      </p:to>
                                    </p:set>
                                    <p:animEffect filter="fade" transition="in">
                                      <p:cBhvr>
                                        <p:cTn id="21" dur="400"/>
                                        <p:tgtEl>
                                          <p:spTgt spid="135"/>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2" fill="hold" display="0">
                  <p:stCondLst>
                    <p:cond delay="indefinite"/>
                  </p:stCondLst>
                </p:cTn>
                <p:tgtEl>
                  <p:spTgt spid="119"/>
                </p:tgtEl>
              </p:cMediaNode>
            </p:video>
            <p:seq concurrent="1" prevAc="none" nextAc="seek">
              <p:cTn id="23" evtFilter="cancelBubble" nodeType="interactiveSeq" restart="whenNotActive" fill="hold">
                <p:stCondLst>
                  <p:cond delay="0" evt="onClick">
                    <p:tgtEl>
                      <p:spTgt spid="119"/>
                    </p:tgtEl>
                  </p:cond>
                </p:stCondLst>
                <p:endSync delay="0" evt="end">
                  <p:rtn val="all"/>
                </p:endSync>
                <p:childTnLst>
                  <p:par>
                    <p:cTn id="24" fill="hold">
                      <p:stCondLst>
                        <p:cond delay="0"/>
                      </p:stCondLst>
                      <p:childTnLst>
                        <p:par>
                          <p:cTn id="25" fill="hold">
                            <p:stCondLst>
                              <p:cond delay="0"/>
                            </p:stCondLst>
                            <p:childTnLst>
                              <p:par>
                                <p:cTn id="26" presetClass="mediacall" nodeType="clickEffect" presetSubtype="0" presetID="2" fill="hold">
                                  <p:stCondLst>
                                    <p:cond delay="0"/>
                                  </p:stCondLst>
                                  <p:childTnLst>
                                    <p:cmd type="call" cmd="togglePause">
                                      <p:cBhvr>
                                        <p:cTn id="27" dur="1" fill="hold"/>
                                        <p:tgtEl>
                                          <p:spTgt spid="119"/>
                                        </p:tgtEl>
                                      </p:cBhvr>
                                    </p:cmd>
                                  </p:childTnLst>
                                </p:cTn>
                              </p:par>
                            </p:childTnLst>
                          </p:cTn>
                        </p:par>
                      </p:childTnLst>
                    </p:cTn>
                  </p:par>
                </p:childTnLst>
              </p:cTn>
              <p:nextCondLst>
                <p:cond delay="0" evt="onClick">
                  <p:tgtEl>
                    <p:spTgt spid="119"/>
                  </p:tgtEl>
                </p:cond>
              </p:nextCondLst>
            </p:seq>
          </p:childTnLst>
        </p:cTn>
      </p:par>
    </p:tnLst>
    <p:bldLst>
      <p:bldP build="whole" bldLvl="1" animBg="1" rev="0" advAuto="0" spid="131" grpId="3"/>
      <p:bldP build="whole" bldLvl="1" animBg="1" rev="0" advAuto="0" spid="135" grpId="4"/>
      <p:bldP build="whole" bldLvl="1" animBg="1" rev="0" advAuto="0" spid="127" grpId="2"/>
    </p:bld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EFF6F7"/>
        </a:solidFill>
      </p:bgPr>
    </p:bg>
    <p:spTree>
      <p:nvGrpSpPr>
        <p:cNvPr id="1" name=""/>
        <p:cNvGrpSpPr/>
        <p:nvPr/>
      </p:nvGrpSpPr>
      <p:grpSpPr>
        <a:xfrm>
          <a:off x="0" y="0"/>
          <a:ext cx="0" cy="0"/>
          <a:chOff x="0" y="0"/>
          <a:chExt cx="0" cy="0"/>
        </a:xfrm>
      </p:grpSpPr>
      <p:pic>
        <p:nvPicPr>
          <p:cNvPr id="139"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42" name="phase_pill"/>
          <p:cNvGrpSpPr/>
          <p:nvPr/>
        </p:nvGrpSpPr>
        <p:grpSpPr>
          <a:xfrm>
            <a:off x="1170432" y="310895"/>
            <a:ext cx="1623975" cy="329185"/>
            <a:chOff x="0" y="0"/>
            <a:chExt cx="1623974" cy="329184"/>
          </a:xfrm>
        </p:grpSpPr>
        <p:sp>
          <p:nvSpPr>
            <p:cNvPr id="140" name="Rounded Rectangle"/>
            <p:cNvSpPr/>
            <p:nvPr/>
          </p:nvSpPr>
          <p:spPr>
            <a:xfrm>
              <a:off x="0" y="0"/>
              <a:ext cx="1623975" cy="329185"/>
            </a:xfrm>
            <a:prstGeom prst="roundRect">
              <a:avLst>
                <a:gd name="adj" fmla="val 44444"/>
              </a:avLst>
            </a:prstGeom>
            <a:solidFill>
              <a:srgbClr val="0B3D4C"/>
            </a:solidFill>
            <a:ln w="12700" cap="flat">
              <a:noFill/>
              <a:miter lim="400000"/>
            </a:ln>
            <a:effectLst/>
          </p:spPr>
          <p:txBody>
            <a:bodyPr wrap="square" lIns="45719" tIns="45719" rIns="45719" bIns="45719" numCol="1" anchor="ctr">
              <a:noAutofit/>
            </a:bodyPr>
            <a:lstStyle/>
            <a:p>
              <a:pPr algn="ctr">
                <a:defRPr sz="1100"/>
              </a:pPr>
            </a:p>
          </p:txBody>
        </p:sp>
        <p:sp>
          <p:nvSpPr>
            <p:cNvPr id="141" name="I DO · 3 MIN"/>
            <p:cNvSpPr txBox="1"/>
            <p:nvPr/>
          </p:nvSpPr>
          <p:spPr>
            <a:xfrm>
              <a:off x="42851" y="90677"/>
              <a:ext cx="153827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I DO · 3 MIN</a:t>
              </a:r>
            </a:p>
          </p:txBody>
        </p:sp>
      </p:grpSp>
      <p:sp>
        <p:nvSpPr>
          <p:cNvPr id="143" name="slide_title"/>
          <p:cNvSpPr txBox="1"/>
          <p:nvPr/>
        </p:nvSpPr>
        <p:spPr>
          <a:xfrm>
            <a:off x="1170432" y="965707"/>
            <a:ext cx="10472623" cy="482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400">
                <a:solidFill>
                  <a:srgbClr val="0B3D4C"/>
                </a:solidFill>
                <a:latin typeface="Georgia"/>
                <a:ea typeface="Georgia"/>
                <a:cs typeface="Georgia"/>
                <a:sym typeface="Georgia"/>
              </a:defRPr>
            </a:lvl1pPr>
          </a:lstStyle>
          <a:p>
            <a:pPr/>
            <a:r>
              <a:t>Three ways to find volume</a:t>
            </a:r>
          </a:p>
        </p:txBody>
      </p:sp>
      <p:grpSp>
        <p:nvGrpSpPr>
          <p:cNvPr id="150" name="me0"/>
          <p:cNvGrpSpPr/>
          <p:nvPr/>
        </p:nvGrpSpPr>
        <p:grpSpPr>
          <a:xfrm>
            <a:off x="1170432" y="2011679"/>
            <a:ext cx="3344570" cy="2103121"/>
            <a:chOff x="0" y="0"/>
            <a:chExt cx="3344569" cy="2103120"/>
          </a:xfrm>
        </p:grpSpPr>
        <p:sp>
          <p:nvSpPr>
            <p:cNvPr id="144" name="me0_bg"/>
            <p:cNvSpPr/>
            <p:nvPr/>
          </p:nvSpPr>
          <p:spPr>
            <a:xfrm>
              <a:off x="0" y="0"/>
              <a:ext cx="3344570" cy="2103121"/>
            </a:xfrm>
            <a:prstGeom prst="roundRect">
              <a:avLst>
                <a:gd name="adj" fmla="val 4348"/>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145" name="me0_h"/>
            <p:cNvSpPr txBox="1"/>
            <p:nvPr/>
          </p:nvSpPr>
          <p:spPr>
            <a:xfrm>
              <a:off x="201168" y="239522"/>
              <a:ext cx="2942234" cy="215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500">
                  <a:solidFill>
                    <a:srgbClr val="0B3D4C"/>
                  </a:solidFill>
                  <a:latin typeface="Georgia"/>
                  <a:ea typeface="Georgia"/>
                  <a:cs typeface="Georgia"/>
                  <a:sym typeface="Georgia"/>
                </a:defRPr>
              </a:lvl1pPr>
            </a:lstStyle>
            <a:p>
              <a:pPr/>
              <a:r>
                <a:t>Regular solid</a:t>
              </a:r>
            </a:p>
          </p:txBody>
        </p:sp>
        <p:sp>
          <p:nvSpPr>
            <p:cNvPr id="146" name="me0_s"/>
            <p:cNvSpPr txBox="1"/>
            <p:nvPr/>
          </p:nvSpPr>
          <p:spPr>
            <a:xfrm>
              <a:off x="201168" y="603504"/>
              <a:ext cx="2942234" cy="6368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p>
              <a:pPr>
                <a:lnSpc>
                  <a:spcPts val="1700"/>
                </a:lnSpc>
                <a:defRPr sz="1200">
                  <a:solidFill>
                    <a:srgbClr val="0C2730"/>
                  </a:solidFill>
                  <a:latin typeface="Arial"/>
                  <a:ea typeface="Arial"/>
                  <a:cs typeface="Arial"/>
                  <a:sym typeface="Arial"/>
                </a:defRPr>
              </a:pPr>
              <a:r>
                <a:t>1. Measure the sides with a ruler.</a:t>
              </a:r>
            </a:p>
            <a:p>
              <a:pPr>
                <a:lnSpc>
                  <a:spcPts val="1700"/>
                </a:lnSpc>
                <a:defRPr sz="1200">
                  <a:solidFill>
                    <a:srgbClr val="0C2730"/>
                  </a:solidFill>
                  <a:latin typeface="Arial"/>
                  <a:ea typeface="Arial"/>
                  <a:cs typeface="Arial"/>
                  <a:sym typeface="Arial"/>
                </a:defRPr>
              </a:pPr>
              <a:r>
                <a:t>2. Calculate V (l × w × h).</a:t>
              </a:r>
            </a:p>
            <a:p>
              <a:pPr>
                <a:lnSpc>
                  <a:spcPts val="1700"/>
                </a:lnSpc>
                <a:defRPr sz="1200">
                  <a:solidFill>
                    <a:srgbClr val="0C2730"/>
                  </a:solidFill>
                  <a:latin typeface="Arial"/>
                  <a:ea typeface="Arial"/>
                  <a:cs typeface="Arial"/>
                  <a:sym typeface="Arial"/>
                </a:defRPr>
              </a:pPr>
              <a:r>
                <a:t>3. Record the mass with a balance.</a:t>
              </a:r>
            </a:p>
          </p:txBody>
        </p:sp>
        <p:grpSp>
          <p:nvGrpSpPr>
            <p:cNvPr id="149" name="me0_c"/>
            <p:cNvGrpSpPr/>
            <p:nvPr/>
          </p:nvGrpSpPr>
          <p:grpSpPr>
            <a:xfrm>
              <a:off x="164592" y="1536192"/>
              <a:ext cx="3015386" cy="438913"/>
              <a:chOff x="0" y="0"/>
              <a:chExt cx="3015385" cy="438912"/>
            </a:xfrm>
          </p:grpSpPr>
          <p:sp>
            <p:nvSpPr>
              <p:cNvPr id="147" name="Rounded Rectangle"/>
              <p:cNvSpPr/>
              <p:nvPr/>
            </p:nvSpPr>
            <p:spPr>
              <a:xfrm>
                <a:off x="0" y="0"/>
                <a:ext cx="3015386" cy="438913"/>
              </a:xfrm>
              <a:prstGeom prst="roundRect">
                <a:avLst>
                  <a:gd name="adj" fmla="val 16667"/>
                </a:avLst>
              </a:prstGeom>
              <a:solidFill>
                <a:srgbClr val="FFEEE4"/>
              </a:solidFill>
              <a:ln w="16510" cap="flat">
                <a:solidFill>
                  <a:srgbClr val="FF8952"/>
                </a:solidFill>
                <a:prstDash val="solid"/>
                <a:round/>
              </a:ln>
              <a:effectLst/>
            </p:spPr>
            <p:txBody>
              <a:bodyPr wrap="square" lIns="45719" tIns="45719" rIns="45719" bIns="45719" numCol="1" anchor="ctr">
                <a:noAutofit/>
              </a:bodyPr>
              <a:lstStyle/>
              <a:p>
                <a:pPr algn="ctr">
                  <a:defRPr sz="1200"/>
                </a:pPr>
              </a:p>
            </p:txBody>
          </p:sp>
          <p:sp>
            <p:nvSpPr>
              <p:cNvPr id="148" name="180 g ÷ 24 cm³ = 7.5 g/cm³"/>
              <p:cNvSpPr txBox="1"/>
              <p:nvPr/>
            </p:nvSpPr>
            <p:spPr>
              <a:xfrm>
                <a:off x="29680" y="132540"/>
                <a:ext cx="2956025" cy="1738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200">
                    <a:solidFill>
                      <a:srgbClr val="0B3D4C"/>
                    </a:solidFill>
                    <a:latin typeface="Arial"/>
                    <a:ea typeface="Arial"/>
                    <a:cs typeface="Arial"/>
                    <a:sym typeface="Arial"/>
                  </a:defRPr>
                </a:lvl1pPr>
              </a:lstStyle>
              <a:p>
                <a:pPr/>
                <a:r>
                  <a:t>180 g ÷ 24 cm³ = 7.5 g/cm³</a:t>
                </a:r>
              </a:p>
            </p:txBody>
          </p:sp>
        </p:grpSp>
      </p:grpSp>
      <p:grpSp>
        <p:nvGrpSpPr>
          <p:cNvPr id="157" name="me1"/>
          <p:cNvGrpSpPr/>
          <p:nvPr/>
        </p:nvGrpSpPr>
        <p:grpSpPr>
          <a:xfrm>
            <a:off x="4734457" y="2011679"/>
            <a:ext cx="3344571" cy="2103121"/>
            <a:chOff x="0" y="0"/>
            <a:chExt cx="3344569" cy="2103120"/>
          </a:xfrm>
        </p:grpSpPr>
        <p:sp>
          <p:nvSpPr>
            <p:cNvPr id="151" name="me1_bg"/>
            <p:cNvSpPr/>
            <p:nvPr/>
          </p:nvSpPr>
          <p:spPr>
            <a:xfrm>
              <a:off x="0" y="0"/>
              <a:ext cx="3344570" cy="2103121"/>
            </a:xfrm>
            <a:prstGeom prst="roundRect">
              <a:avLst>
                <a:gd name="adj" fmla="val 4348"/>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152" name="me1_h"/>
            <p:cNvSpPr txBox="1"/>
            <p:nvPr/>
          </p:nvSpPr>
          <p:spPr>
            <a:xfrm>
              <a:off x="201168" y="239522"/>
              <a:ext cx="2942234" cy="215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500">
                  <a:solidFill>
                    <a:srgbClr val="0B3D4C"/>
                  </a:solidFill>
                  <a:latin typeface="Georgia"/>
                  <a:ea typeface="Georgia"/>
                  <a:cs typeface="Georgia"/>
                  <a:sym typeface="Georgia"/>
                </a:defRPr>
              </a:lvl1pPr>
            </a:lstStyle>
            <a:p>
              <a:pPr/>
              <a:r>
                <a:t>Liquid</a:t>
              </a:r>
            </a:p>
          </p:txBody>
        </p:sp>
        <p:sp>
          <p:nvSpPr>
            <p:cNvPr id="153" name="me1_s"/>
            <p:cNvSpPr txBox="1"/>
            <p:nvPr/>
          </p:nvSpPr>
          <p:spPr>
            <a:xfrm>
              <a:off x="201168" y="603504"/>
              <a:ext cx="2942234" cy="6368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p>
              <a:pPr>
                <a:lnSpc>
                  <a:spcPts val="1700"/>
                </a:lnSpc>
                <a:defRPr sz="1200">
                  <a:solidFill>
                    <a:srgbClr val="0C2730"/>
                  </a:solidFill>
                  <a:latin typeface="Arial"/>
                  <a:ea typeface="Arial"/>
                  <a:cs typeface="Arial"/>
                  <a:sym typeface="Arial"/>
                </a:defRPr>
              </a:pPr>
              <a:r>
                <a:t>1. Weigh the empty container.</a:t>
              </a:r>
            </a:p>
            <a:p>
              <a:pPr>
                <a:lnSpc>
                  <a:spcPts val="1700"/>
                </a:lnSpc>
                <a:defRPr sz="1200">
                  <a:solidFill>
                    <a:srgbClr val="0C2730"/>
                  </a:solidFill>
                  <a:latin typeface="Arial"/>
                  <a:ea typeface="Arial"/>
                  <a:cs typeface="Arial"/>
                  <a:sym typeface="Arial"/>
                </a:defRPr>
              </a:pPr>
              <a:r>
                <a:t>2. Weigh the container with the liquid.</a:t>
              </a:r>
            </a:p>
            <a:p>
              <a:pPr>
                <a:lnSpc>
                  <a:spcPts val="1700"/>
                </a:lnSpc>
                <a:defRPr sz="1200">
                  <a:solidFill>
                    <a:srgbClr val="0C2730"/>
                  </a:solidFill>
                  <a:latin typeface="Arial"/>
                  <a:ea typeface="Arial"/>
                  <a:cs typeface="Arial"/>
                  <a:sym typeface="Arial"/>
                </a:defRPr>
              </a:pPr>
              <a:r>
                <a:t>3. Subtract, then measure V with a cylinder.</a:t>
              </a:r>
            </a:p>
          </p:txBody>
        </p:sp>
        <p:grpSp>
          <p:nvGrpSpPr>
            <p:cNvPr id="156" name="me1_c"/>
            <p:cNvGrpSpPr/>
            <p:nvPr/>
          </p:nvGrpSpPr>
          <p:grpSpPr>
            <a:xfrm>
              <a:off x="164592" y="1536192"/>
              <a:ext cx="3015386" cy="438913"/>
              <a:chOff x="0" y="0"/>
              <a:chExt cx="3015385" cy="438912"/>
            </a:xfrm>
          </p:grpSpPr>
          <p:sp>
            <p:nvSpPr>
              <p:cNvPr id="154" name="Rounded Rectangle"/>
              <p:cNvSpPr/>
              <p:nvPr/>
            </p:nvSpPr>
            <p:spPr>
              <a:xfrm>
                <a:off x="0" y="0"/>
                <a:ext cx="3015386" cy="438913"/>
              </a:xfrm>
              <a:prstGeom prst="roundRect">
                <a:avLst>
                  <a:gd name="adj" fmla="val 16667"/>
                </a:avLst>
              </a:prstGeom>
              <a:solidFill>
                <a:srgbClr val="FFEEE4"/>
              </a:solidFill>
              <a:ln w="16510" cap="flat">
                <a:solidFill>
                  <a:srgbClr val="FF8952"/>
                </a:solidFill>
                <a:prstDash val="solid"/>
                <a:round/>
              </a:ln>
              <a:effectLst/>
            </p:spPr>
            <p:txBody>
              <a:bodyPr wrap="square" lIns="45719" tIns="45719" rIns="45719" bIns="45719" numCol="1" anchor="ctr">
                <a:noAutofit/>
              </a:bodyPr>
              <a:lstStyle/>
              <a:p>
                <a:pPr algn="ctr">
                  <a:defRPr sz="1200"/>
                </a:pPr>
              </a:p>
            </p:txBody>
          </p:sp>
          <p:sp>
            <p:nvSpPr>
              <p:cNvPr id="155" name="80 g ÷ 100 cm³ = 0.8 g/cm³"/>
              <p:cNvSpPr txBox="1"/>
              <p:nvPr/>
            </p:nvSpPr>
            <p:spPr>
              <a:xfrm>
                <a:off x="29680" y="132540"/>
                <a:ext cx="2956025" cy="1738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200">
                    <a:solidFill>
                      <a:srgbClr val="0B3D4C"/>
                    </a:solidFill>
                    <a:latin typeface="Arial"/>
                    <a:ea typeface="Arial"/>
                    <a:cs typeface="Arial"/>
                    <a:sym typeface="Arial"/>
                  </a:defRPr>
                </a:lvl1pPr>
              </a:lstStyle>
              <a:p>
                <a:pPr/>
                <a:r>
                  <a:t>80 g ÷ 100 cm³ = 0.8 g/cm³</a:t>
                </a:r>
              </a:p>
            </p:txBody>
          </p:sp>
        </p:grpSp>
      </p:grpSp>
      <p:grpSp>
        <p:nvGrpSpPr>
          <p:cNvPr id="164" name="me2"/>
          <p:cNvGrpSpPr/>
          <p:nvPr/>
        </p:nvGrpSpPr>
        <p:grpSpPr>
          <a:xfrm>
            <a:off x="8298484" y="2011679"/>
            <a:ext cx="3344571" cy="2103121"/>
            <a:chOff x="0" y="0"/>
            <a:chExt cx="3344569" cy="2103120"/>
          </a:xfrm>
        </p:grpSpPr>
        <p:sp>
          <p:nvSpPr>
            <p:cNvPr id="158" name="me2_bg"/>
            <p:cNvSpPr/>
            <p:nvPr/>
          </p:nvSpPr>
          <p:spPr>
            <a:xfrm>
              <a:off x="0" y="0"/>
              <a:ext cx="3344570" cy="2103121"/>
            </a:xfrm>
            <a:prstGeom prst="roundRect">
              <a:avLst>
                <a:gd name="adj" fmla="val 4348"/>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159" name="me2_h"/>
            <p:cNvSpPr txBox="1"/>
            <p:nvPr/>
          </p:nvSpPr>
          <p:spPr>
            <a:xfrm>
              <a:off x="201168" y="239522"/>
              <a:ext cx="2942234" cy="215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500">
                  <a:solidFill>
                    <a:srgbClr val="0B3D4C"/>
                  </a:solidFill>
                  <a:latin typeface="Georgia"/>
                  <a:ea typeface="Georgia"/>
                  <a:cs typeface="Georgia"/>
                  <a:sym typeface="Georgia"/>
                </a:defRPr>
              </a:lvl1pPr>
            </a:lstStyle>
            <a:p>
              <a:pPr/>
              <a:r>
                <a:t>Irregular solid (sinks)</a:t>
              </a:r>
            </a:p>
          </p:txBody>
        </p:sp>
        <p:sp>
          <p:nvSpPr>
            <p:cNvPr id="160" name="me2_s"/>
            <p:cNvSpPr txBox="1"/>
            <p:nvPr/>
          </p:nvSpPr>
          <p:spPr>
            <a:xfrm>
              <a:off x="201168" y="603504"/>
              <a:ext cx="2942234" cy="6368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p>
              <a:pPr>
                <a:lnSpc>
                  <a:spcPts val="1700"/>
                </a:lnSpc>
                <a:defRPr sz="1200">
                  <a:solidFill>
                    <a:srgbClr val="0C2730"/>
                  </a:solidFill>
                  <a:latin typeface="Arial"/>
                  <a:ea typeface="Arial"/>
                  <a:cs typeface="Arial"/>
                  <a:sym typeface="Arial"/>
                </a:defRPr>
              </a:pPr>
              <a:r>
                <a:t>1. Note the water level in a cylinder.</a:t>
              </a:r>
            </a:p>
            <a:p>
              <a:pPr>
                <a:lnSpc>
                  <a:spcPts val="1700"/>
                </a:lnSpc>
                <a:defRPr sz="1200">
                  <a:solidFill>
                    <a:srgbClr val="0C2730"/>
                  </a:solidFill>
                  <a:latin typeface="Arial"/>
                  <a:ea typeface="Arial"/>
                  <a:cs typeface="Arial"/>
                  <a:sym typeface="Arial"/>
                </a:defRPr>
              </a:pPr>
              <a:r>
                <a:t>2. Lower the object in fully.</a:t>
              </a:r>
            </a:p>
            <a:p>
              <a:pPr>
                <a:lnSpc>
                  <a:spcPts val="1700"/>
                </a:lnSpc>
                <a:defRPr sz="1200">
                  <a:solidFill>
                    <a:srgbClr val="0C2730"/>
                  </a:solidFill>
                  <a:latin typeface="Arial"/>
                  <a:ea typeface="Arial"/>
                  <a:cs typeface="Arial"/>
                  <a:sym typeface="Arial"/>
                </a:defRPr>
              </a:pPr>
              <a:r>
                <a:t>3. The rise in level is its volume.</a:t>
              </a:r>
            </a:p>
          </p:txBody>
        </p:sp>
        <p:grpSp>
          <p:nvGrpSpPr>
            <p:cNvPr id="163" name="me2_c"/>
            <p:cNvGrpSpPr/>
            <p:nvPr/>
          </p:nvGrpSpPr>
          <p:grpSpPr>
            <a:xfrm>
              <a:off x="164592" y="1536192"/>
              <a:ext cx="3015386" cy="438913"/>
              <a:chOff x="0" y="0"/>
              <a:chExt cx="3015385" cy="438912"/>
            </a:xfrm>
          </p:grpSpPr>
          <p:sp>
            <p:nvSpPr>
              <p:cNvPr id="161" name="Rounded Rectangle"/>
              <p:cNvSpPr/>
              <p:nvPr/>
            </p:nvSpPr>
            <p:spPr>
              <a:xfrm>
                <a:off x="0" y="0"/>
                <a:ext cx="3015386" cy="438913"/>
              </a:xfrm>
              <a:prstGeom prst="roundRect">
                <a:avLst>
                  <a:gd name="adj" fmla="val 16667"/>
                </a:avLst>
              </a:prstGeom>
              <a:solidFill>
                <a:srgbClr val="FFEEE4"/>
              </a:solidFill>
              <a:ln w="16510" cap="flat">
                <a:solidFill>
                  <a:srgbClr val="FF8952"/>
                </a:solidFill>
                <a:prstDash val="solid"/>
                <a:round/>
              </a:ln>
              <a:effectLst/>
            </p:spPr>
            <p:txBody>
              <a:bodyPr wrap="square" lIns="45719" tIns="45719" rIns="45719" bIns="45719" numCol="1" anchor="ctr">
                <a:noAutofit/>
              </a:bodyPr>
              <a:lstStyle/>
              <a:p>
                <a:pPr algn="ctr">
                  <a:defRPr sz="1200"/>
                </a:pPr>
              </a:p>
            </p:txBody>
          </p:sp>
          <p:sp>
            <p:nvSpPr>
              <p:cNvPr id="162" name="26 g ÷ 10 cm³ = 2.6 g/cm³"/>
              <p:cNvSpPr txBox="1"/>
              <p:nvPr/>
            </p:nvSpPr>
            <p:spPr>
              <a:xfrm>
                <a:off x="29680" y="132540"/>
                <a:ext cx="2956025" cy="1738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spAutoFit/>
              </a:bodyPr>
              <a:lstStyle>
                <a:lvl1pPr algn="ctr">
                  <a:defRPr b="1" sz="1200">
                    <a:solidFill>
                      <a:srgbClr val="0B3D4C"/>
                    </a:solidFill>
                    <a:latin typeface="Arial"/>
                    <a:ea typeface="Arial"/>
                    <a:cs typeface="Arial"/>
                    <a:sym typeface="Arial"/>
                  </a:defRPr>
                </a:lvl1pPr>
              </a:lstStyle>
              <a:p>
                <a:pPr/>
                <a:r>
                  <a:t>26 g ÷ 10 cm³ = 2.6 g/cm³</a:t>
                </a:r>
              </a:p>
            </p:txBody>
          </p:sp>
        </p:gr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139"/>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150"/>
                                        </p:tgtEl>
                                        <p:attrNameLst>
                                          <p:attrName>style.visibility</p:attrName>
                                        </p:attrNameLst>
                                      </p:cBhvr>
                                      <p:to>
                                        <p:strVal val="visible"/>
                                      </p:to>
                                    </p:set>
                                    <p:animEffect filter="fade" transition="in">
                                      <p:cBhvr>
                                        <p:cTn id="11" dur="400"/>
                                        <p:tgtEl>
                                          <p:spTgt spid="150"/>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157"/>
                                        </p:tgtEl>
                                        <p:attrNameLst>
                                          <p:attrName>style.visibility</p:attrName>
                                        </p:attrNameLst>
                                      </p:cBhvr>
                                      <p:to>
                                        <p:strVal val="visible"/>
                                      </p:to>
                                    </p:set>
                                    <p:animEffect filter="fade" transition="in">
                                      <p:cBhvr>
                                        <p:cTn id="16" dur="400"/>
                                        <p:tgtEl>
                                          <p:spTgt spid="157"/>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164"/>
                                        </p:tgtEl>
                                        <p:attrNameLst>
                                          <p:attrName>style.visibility</p:attrName>
                                        </p:attrNameLst>
                                      </p:cBhvr>
                                      <p:to>
                                        <p:strVal val="visible"/>
                                      </p:to>
                                    </p:set>
                                    <p:animEffect filter="fade" transition="in">
                                      <p:cBhvr>
                                        <p:cTn id="21" dur="400"/>
                                        <p:tgtEl>
                                          <p:spTgt spid="164"/>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2" fill="hold" display="0">
                  <p:stCondLst>
                    <p:cond delay="indefinite"/>
                  </p:stCondLst>
                </p:cTn>
                <p:tgtEl>
                  <p:spTgt spid="139"/>
                </p:tgtEl>
              </p:cMediaNode>
            </p:video>
            <p:seq concurrent="1" prevAc="none" nextAc="seek">
              <p:cTn id="23" evtFilter="cancelBubble" nodeType="interactiveSeq" restart="whenNotActive" fill="hold">
                <p:stCondLst>
                  <p:cond delay="0" evt="onClick">
                    <p:tgtEl>
                      <p:spTgt spid="139"/>
                    </p:tgtEl>
                  </p:cond>
                </p:stCondLst>
                <p:endSync delay="0" evt="end">
                  <p:rtn val="all"/>
                </p:endSync>
                <p:childTnLst>
                  <p:par>
                    <p:cTn id="24" fill="hold">
                      <p:stCondLst>
                        <p:cond delay="0"/>
                      </p:stCondLst>
                      <p:childTnLst>
                        <p:par>
                          <p:cTn id="25" fill="hold">
                            <p:stCondLst>
                              <p:cond delay="0"/>
                            </p:stCondLst>
                            <p:childTnLst>
                              <p:par>
                                <p:cTn id="26" presetClass="mediacall" nodeType="clickEffect" presetSubtype="0" presetID="2" fill="hold">
                                  <p:stCondLst>
                                    <p:cond delay="0"/>
                                  </p:stCondLst>
                                  <p:childTnLst>
                                    <p:cmd type="call" cmd="togglePause">
                                      <p:cBhvr>
                                        <p:cTn id="27" dur="1" fill="hold"/>
                                        <p:tgtEl>
                                          <p:spTgt spid="139"/>
                                        </p:tgtEl>
                                      </p:cBhvr>
                                    </p:cmd>
                                  </p:childTnLst>
                                </p:cTn>
                              </p:par>
                            </p:childTnLst>
                          </p:cTn>
                        </p:par>
                      </p:childTnLst>
                    </p:cTn>
                  </p:par>
                </p:childTnLst>
              </p:cTn>
              <p:nextCondLst>
                <p:cond delay="0" evt="onClick">
                  <p:tgtEl>
                    <p:spTgt spid="139"/>
                  </p:tgtEl>
                </p:cond>
              </p:nextCondLst>
            </p:seq>
          </p:childTnLst>
        </p:cTn>
      </p:par>
    </p:tnLst>
    <p:bldLst>
      <p:bldP build="whole" bldLvl="1" animBg="1" rev="0" advAuto="0" spid="157" grpId="3"/>
      <p:bldP build="whole" bldLvl="1" animBg="1" rev="0" advAuto="0" spid="150" grpId="2"/>
      <p:bldP build="whole" bldLvl="1" animBg="1" rev="0" advAuto="0" spid="164" grpId="4"/>
    </p:bld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EFF6F7"/>
        </a:solidFill>
      </p:bgPr>
    </p:bg>
    <p:spTree>
      <p:nvGrpSpPr>
        <p:cNvPr id="1" name=""/>
        <p:cNvGrpSpPr/>
        <p:nvPr/>
      </p:nvGrpSpPr>
      <p:grpSpPr>
        <a:xfrm>
          <a:off x="0" y="0"/>
          <a:ext cx="0" cy="0"/>
          <a:chOff x="0" y="0"/>
          <a:chExt cx="0" cy="0"/>
        </a:xfrm>
      </p:grpSpPr>
      <p:pic>
        <p:nvPicPr>
          <p:cNvPr id="168"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71" name="phase_pill"/>
          <p:cNvGrpSpPr/>
          <p:nvPr/>
        </p:nvGrpSpPr>
        <p:grpSpPr>
          <a:xfrm>
            <a:off x="1170432" y="310895"/>
            <a:ext cx="1713586" cy="329185"/>
            <a:chOff x="0" y="0"/>
            <a:chExt cx="1713585" cy="329184"/>
          </a:xfrm>
        </p:grpSpPr>
        <p:sp>
          <p:nvSpPr>
            <p:cNvPr id="169" name="Rounded Rectangle"/>
            <p:cNvSpPr/>
            <p:nvPr/>
          </p:nvSpPr>
          <p:spPr>
            <a:xfrm>
              <a:off x="0" y="0"/>
              <a:ext cx="1713586" cy="329185"/>
            </a:xfrm>
            <a:prstGeom prst="roundRect">
              <a:avLst>
                <a:gd name="adj" fmla="val 44444"/>
              </a:avLst>
            </a:prstGeom>
            <a:solidFill>
              <a:srgbClr val="0B3D4C"/>
            </a:solidFill>
            <a:ln w="12700" cap="flat">
              <a:noFill/>
              <a:miter lim="400000"/>
            </a:ln>
            <a:effectLst/>
          </p:spPr>
          <p:txBody>
            <a:bodyPr wrap="square" lIns="45719" tIns="45719" rIns="45719" bIns="45719" numCol="1" anchor="ctr">
              <a:noAutofit/>
            </a:bodyPr>
            <a:lstStyle/>
            <a:p>
              <a:pPr algn="ctr">
                <a:defRPr sz="1100"/>
              </a:pPr>
            </a:p>
          </p:txBody>
        </p:sp>
        <p:sp>
          <p:nvSpPr>
            <p:cNvPr id="170" name="WE DO · 5 MIN"/>
            <p:cNvSpPr txBox="1"/>
            <p:nvPr/>
          </p:nvSpPr>
          <p:spPr>
            <a:xfrm>
              <a:off x="42850" y="90677"/>
              <a:ext cx="1627885"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WE DO · 5 MIN</a:t>
              </a:r>
            </a:p>
          </p:txBody>
        </p:sp>
      </p:grpSp>
      <p:sp>
        <p:nvSpPr>
          <p:cNvPr id="172" name="slide_title"/>
          <p:cNvSpPr txBox="1"/>
          <p:nvPr/>
        </p:nvSpPr>
        <p:spPr>
          <a:xfrm>
            <a:off x="1170432" y="965707"/>
            <a:ext cx="10472623" cy="482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400">
                <a:solidFill>
                  <a:srgbClr val="0B3D4C"/>
                </a:solidFill>
                <a:latin typeface="Georgia"/>
                <a:ea typeface="Georgia"/>
                <a:cs typeface="Georgia"/>
                <a:sym typeface="Georgia"/>
              </a:defRPr>
            </a:lvl1pPr>
          </a:lstStyle>
          <a:p>
            <a:pPr/>
            <a:r>
              <a:t>What should be the correct answer?</a:t>
            </a:r>
          </a:p>
        </p:txBody>
      </p:sp>
      <p:sp>
        <p:nvSpPr>
          <p:cNvPr id="173" name="slide_sub"/>
          <p:cNvSpPr txBox="1"/>
          <p:nvPr/>
        </p:nvSpPr>
        <p:spPr>
          <a:xfrm>
            <a:off x="1170432" y="1644671"/>
            <a:ext cx="10472623"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rgbClr val="4E6D74"/>
                </a:solidFill>
                <a:latin typeface="Arial"/>
                <a:ea typeface="Arial"/>
                <a:cs typeface="Arial"/>
                <a:sym typeface="Arial"/>
              </a:defRPr>
            </a:lvl1pPr>
          </a:lstStyle>
          <a:p>
            <a:pPr/>
            <a:r>
              <a:t>Spot the mistake.</a:t>
            </a:r>
          </a:p>
        </p:txBody>
      </p:sp>
      <p:sp>
        <p:nvSpPr>
          <p:cNvPr id="174" name="wd0_bg"/>
          <p:cNvSpPr/>
          <p:nvPr/>
        </p:nvSpPr>
        <p:spPr>
          <a:xfrm>
            <a:off x="1170432" y="2322576"/>
            <a:ext cx="10472623" cy="841249"/>
          </a:xfrm>
          <a:prstGeom prst="roundRect">
            <a:avLst>
              <a:gd name="adj" fmla="val 10870"/>
            </a:avLst>
          </a:prstGeom>
          <a:solidFill>
            <a:srgbClr val="FFFFFF"/>
          </a:solidFill>
          <a:ln w="16510">
            <a:solidFill>
              <a:srgbClr val="D8DEEC"/>
            </a:solidFill>
          </a:ln>
        </p:spPr>
        <p:txBody>
          <a:bodyPr lIns="45719" rIns="45719"/>
          <a:lstStyle/>
          <a:p>
            <a:pPr/>
          </a:p>
        </p:txBody>
      </p:sp>
      <p:sp>
        <p:nvSpPr>
          <p:cNvPr id="175" name="wd0_q"/>
          <p:cNvSpPr txBox="1"/>
          <p:nvPr/>
        </p:nvSpPr>
        <p:spPr>
          <a:xfrm>
            <a:off x="1426463" y="2614989"/>
            <a:ext cx="6035042" cy="25642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100"/>
              </a:lnSpc>
              <a:defRPr sz="1600">
                <a:solidFill>
                  <a:srgbClr val="0C2730"/>
                </a:solidFill>
                <a:latin typeface="Arial"/>
                <a:ea typeface="Arial"/>
                <a:cs typeface="Arial"/>
                <a:sym typeface="Arial"/>
              </a:defRPr>
            </a:lvl1pPr>
          </a:lstStyle>
          <a:p>
            <a:pPr/>
            <a:r>
              <a:t>"Density = volume ÷ mass."</a:t>
            </a:r>
          </a:p>
        </p:txBody>
      </p:sp>
      <p:grpSp>
        <p:nvGrpSpPr>
          <p:cNvPr id="178" name="wd0_a"/>
          <p:cNvGrpSpPr/>
          <p:nvPr/>
        </p:nvGrpSpPr>
        <p:grpSpPr>
          <a:xfrm>
            <a:off x="7662671" y="2414016"/>
            <a:ext cx="3888944" cy="658369"/>
            <a:chOff x="0" y="0"/>
            <a:chExt cx="3888942" cy="658368"/>
          </a:xfrm>
        </p:grpSpPr>
        <p:sp>
          <p:nvSpPr>
            <p:cNvPr id="176" name="Rounded Rectangle"/>
            <p:cNvSpPr/>
            <p:nvPr/>
          </p:nvSpPr>
          <p:spPr>
            <a:xfrm>
              <a:off x="0" y="0"/>
              <a:ext cx="3888943" cy="658369"/>
            </a:xfrm>
            <a:prstGeom prst="roundRect">
              <a:avLst>
                <a:gd name="adj" fmla="val 13889"/>
              </a:avLst>
            </a:prstGeom>
            <a:solidFill>
              <a:srgbClr val="FFEEE4"/>
            </a:solidFill>
            <a:ln w="19050" cap="flat">
              <a:solidFill>
                <a:srgbClr val="D63447"/>
              </a:solidFill>
              <a:prstDash val="solid"/>
              <a:round/>
            </a:ln>
            <a:effectLst/>
          </p:spPr>
          <p:txBody>
            <a:bodyPr wrap="square" lIns="45719" tIns="45719" rIns="45719" bIns="45719" numCol="1" anchor="ctr">
              <a:noAutofit/>
            </a:bodyPr>
            <a:lstStyle/>
            <a:p>
              <a:pPr algn="ctr">
                <a:defRPr sz="1300"/>
              </a:pPr>
            </a:p>
          </p:txBody>
        </p:sp>
        <p:sp>
          <p:nvSpPr>
            <p:cNvPr id="177" name="Density = mass ÷ volume (ρ = m ÷ V)."/>
            <p:cNvSpPr txBox="1"/>
            <p:nvPr/>
          </p:nvSpPr>
          <p:spPr>
            <a:xfrm>
              <a:off x="36307" y="235872"/>
              <a:ext cx="3816328" cy="1866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1" tIns="761" rIns="761" bIns="761" numCol="1" anchor="ctr">
              <a:spAutoFit/>
            </a:bodyPr>
            <a:lstStyle>
              <a:lvl1pPr algn="ctr">
                <a:defRPr b="1" sz="1300">
                  <a:solidFill>
                    <a:srgbClr val="0B3D4C"/>
                  </a:solidFill>
                  <a:latin typeface="Arial"/>
                  <a:ea typeface="Arial"/>
                  <a:cs typeface="Arial"/>
                  <a:sym typeface="Arial"/>
                </a:defRPr>
              </a:lvl1pPr>
            </a:lstStyle>
            <a:p>
              <a:pPr/>
              <a:r>
                <a:t>Density = mass ÷ volume (ρ = m ÷ V).</a:t>
              </a:r>
            </a:p>
          </p:txBody>
        </p:sp>
      </p:grpSp>
      <p:sp>
        <p:nvSpPr>
          <p:cNvPr id="179" name="wd1_bg"/>
          <p:cNvSpPr/>
          <p:nvPr/>
        </p:nvSpPr>
        <p:spPr>
          <a:xfrm>
            <a:off x="1170432" y="3346703"/>
            <a:ext cx="10472623" cy="841249"/>
          </a:xfrm>
          <a:prstGeom prst="roundRect">
            <a:avLst>
              <a:gd name="adj" fmla="val 10870"/>
            </a:avLst>
          </a:prstGeom>
          <a:solidFill>
            <a:srgbClr val="FFFFFF"/>
          </a:solidFill>
          <a:ln w="16510">
            <a:solidFill>
              <a:srgbClr val="D8DEEC"/>
            </a:solidFill>
          </a:ln>
        </p:spPr>
        <p:txBody>
          <a:bodyPr lIns="45719" rIns="45719"/>
          <a:lstStyle/>
          <a:p>
            <a:pPr/>
          </a:p>
        </p:txBody>
      </p:sp>
      <p:sp>
        <p:nvSpPr>
          <p:cNvPr id="180" name="wd1_q"/>
          <p:cNvSpPr txBox="1"/>
          <p:nvPr/>
        </p:nvSpPr>
        <p:spPr>
          <a:xfrm>
            <a:off x="1426463" y="3639117"/>
            <a:ext cx="6035042" cy="25642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100"/>
              </a:lnSpc>
              <a:defRPr sz="1600">
                <a:solidFill>
                  <a:srgbClr val="0C2730"/>
                </a:solidFill>
                <a:latin typeface="Arial"/>
                <a:ea typeface="Arial"/>
                <a:cs typeface="Arial"/>
                <a:sym typeface="Arial"/>
              </a:defRPr>
            </a:lvl1pPr>
          </a:lstStyle>
          <a:p>
            <a:pPr/>
            <a:r>
              <a:t>"The unit of density is kg."</a:t>
            </a:r>
          </a:p>
        </p:txBody>
      </p:sp>
      <p:grpSp>
        <p:nvGrpSpPr>
          <p:cNvPr id="183" name="wd1_a"/>
          <p:cNvGrpSpPr/>
          <p:nvPr/>
        </p:nvGrpSpPr>
        <p:grpSpPr>
          <a:xfrm>
            <a:off x="7662671" y="3438144"/>
            <a:ext cx="3888944" cy="658369"/>
            <a:chOff x="0" y="0"/>
            <a:chExt cx="3888942" cy="658368"/>
          </a:xfrm>
        </p:grpSpPr>
        <p:sp>
          <p:nvSpPr>
            <p:cNvPr id="181" name="Rounded Rectangle"/>
            <p:cNvSpPr/>
            <p:nvPr/>
          </p:nvSpPr>
          <p:spPr>
            <a:xfrm>
              <a:off x="0" y="0"/>
              <a:ext cx="3888943" cy="658369"/>
            </a:xfrm>
            <a:prstGeom prst="roundRect">
              <a:avLst>
                <a:gd name="adj" fmla="val 13889"/>
              </a:avLst>
            </a:prstGeom>
            <a:solidFill>
              <a:srgbClr val="FFEEE4"/>
            </a:solidFill>
            <a:ln w="19050" cap="flat">
              <a:solidFill>
                <a:srgbClr val="D63447"/>
              </a:solidFill>
              <a:prstDash val="solid"/>
              <a:round/>
            </a:ln>
            <a:effectLst/>
          </p:spPr>
          <p:txBody>
            <a:bodyPr wrap="square" lIns="45719" tIns="45719" rIns="45719" bIns="45719" numCol="1" anchor="ctr">
              <a:noAutofit/>
            </a:bodyPr>
            <a:lstStyle/>
            <a:p>
              <a:pPr algn="ctr">
                <a:defRPr sz="1300"/>
              </a:pPr>
            </a:p>
          </p:txBody>
        </p:sp>
        <p:sp>
          <p:nvSpPr>
            <p:cNvPr id="182" name="The unit of density is g/cm³ or kg/m³."/>
            <p:cNvSpPr txBox="1"/>
            <p:nvPr/>
          </p:nvSpPr>
          <p:spPr>
            <a:xfrm>
              <a:off x="36307" y="235872"/>
              <a:ext cx="3816328" cy="1866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1" tIns="761" rIns="761" bIns="761" numCol="1" anchor="ctr">
              <a:spAutoFit/>
            </a:bodyPr>
            <a:lstStyle>
              <a:lvl1pPr algn="ctr">
                <a:defRPr b="1" sz="1300">
                  <a:solidFill>
                    <a:srgbClr val="0B3D4C"/>
                  </a:solidFill>
                  <a:latin typeface="Arial"/>
                  <a:ea typeface="Arial"/>
                  <a:cs typeface="Arial"/>
                  <a:sym typeface="Arial"/>
                </a:defRPr>
              </a:lvl1pPr>
            </a:lstStyle>
            <a:p>
              <a:pPr/>
              <a:r>
                <a:t>The unit of density is g/cm³ or kg/m³.</a:t>
              </a:r>
            </a:p>
          </p:txBody>
        </p:sp>
      </p:grpSp>
      <p:sp>
        <p:nvSpPr>
          <p:cNvPr id="184" name="wd2_bg"/>
          <p:cNvSpPr/>
          <p:nvPr/>
        </p:nvSpPr>
        <p:spPr>
          <a:xfrm>
            <a:off x="1170432" y="4370832"/>
            <a:ext cx="10472623" cy="841249"/>
          </a:xfrm>
          <a:prstGeom prst="roundRect">
            <a:avLst>
              <a:gd name="adj" fmla="val 10870"/>
            </a:avLst>
          </a:prstGeom>
          <a:solidFill>
            <a:srgbClr val="FFFFFF"/>
          </a:solidFill>
          <a:ln w="16510">
            <a:solidFill>
              <a:srgbClr val="D8DEEC"/>
            </a:solidFill>
          </a:ln>
        </p:spPr>
        <p:txBody>
          <a:bodyPr lIns="45719" rIns="45719"/>
          <a:lstStyle/>
          <a:p>
            <a:pPr/>
          </a:p>
        </p:txBody>
      </p:sp>
      <p:sp>
        <p:nvSpPr>
          <p:cNvPr id="185" name="wd2_q"/>
          <p:cNvSpPr txBox="1"/>
          <p:nvPr/>
        </p:nvSpPr>
        <p:spPr>
          <a:xfrm>
            <a:off x="1426463" y="4663245"/>
            <a:ext cx="6035042" cy="25642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100"/>
              </a:lnSpc>
              <a:defRPr sz="1600">
                <a:solidFill>
                  <a:srgbClr val="0C2730"/>
                </a:solidFill>
                <a:latin typeface="Arial"/>
                <a:ea typeface="Arial"/>
                <a:cs typeface="Arial"/>
                <a:sym typeface="Arial"/>
              </a:defRPr>
            </a:lvl1pPr>
          </a:lstStyle>
          <a:p>
            <a:pPr/>
            <a:r>
              <a:t>"A bigger object is always denser."</a:t>
            </a:r>
          </a:p>
        </p:txBody>
      </p:sp>
      <p:grpSp>
        <p:nvGrpSpPr>
          <p:cNvPr id="188" name="wd2_a"/>
          <p:cNvGrpSpPr/>
          <p:nvPr/>
        </p:nvGrpSpPr>
        <p:grpSpPr>
          <a:xfrm>
            <a:off x="7662671" y="4462271"/>
            <a:ext cx="3888944" cy="658369"/>
            <a:chOff x="0" y="0"/>
            <a:chExt cx="3888942" cy="658368"/>
          </a:xfrm>
        </p:grpSpPr>
        <p:sp>
          <p:nvSpPr>
            <p:cNvPr id="186" name="Rounded Rectangle"/>
            <p:cNvSpPr/>
            <p:nvPr/>
          </p:nvSpPr>
          <p:spPr>
            <a:xfrm>
              <a:off x="0" y="0"/>
              <a:ext cx="3888943" cy="658369"/>
            </a:xfrm>
            <a:prstGeom prst="roundRect">
              <a:avLst>
                <a:gd name="adj" fmla="val 13889"/>
              </a:avLst>
            </a:prstGeom>
            <a:solidFill>
              <a:srgbClr val="FFEEE4"/>
            </a:solidFill>
            <a:ln w="19050" cap="flat">
              <a:solidFill>
                <a:srgbClr val="D63447"/>
              </a:solidFill>
              <a:prstDash val="solid"/>
              <a:round/>
            </a:ln>
            <a:effectLst/>
          </p:spPr>
          <p:txBody>
            <a:bodyPr wrap="square" lIns="45719" tIns="45719" rIns="45719" bIns="45719" numCol="1" anchor="ctr">
              <a:noAutofit/>
            </a:bodyPr>
            <a:lstStyle/>
            <a:p>
              <a:pPr algn="ctr">
                <a:defRPr sz="1300"/>
              </a:pPr>
            </a:p>
          </p:txBody>
        </p:sp>
        <p:sp>
          <p:nvSpPr>
            <p:cNvPr id="187" name="Size does not decide density. A big block of foam is less dense than a small pebble."/>
            <p:cNvSpPr txBox="1"/>
            <p:nvPr/>
          </p:nvSpPr>
          <p:spPr>
            <a:xfrm>
              <a:off x="36307" y="140622"/>
              <a:ext cx="3816328" cy="3771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1" tIns="761" rIns="761" bIns="761" numCol="1" anchor="ctr">
              <a:spAutoFit/>
            </a:bodyPr>
            <a:lstStyle>
              <a:lvl1pPr algn="ctr">
                <a:defRPr b="1" sz="1300">
                  <a:solidFill>
                    <a:srgbClr val="0B3D4C"/>
                  </a:solidFill>
                  <a:latin typeface="Arial"/>
                  <a:ea typeface="Arial"/>
                  <a:cs typeface="Arial"/>
                  <a:sym typeface="Arial"/>
                </a:defRPr>
              </a:lvl1pPr>
            </a:lstStyle>
            <a:p>
              <a:pPr/>
              <a:r>
                <a:t>Size does not decide density. A big block of foam is less dense than a small pebble.</a:t>
              </a:r>
            </a:p>
          </p:txBody>
        </p:sp>
      </p:grpSp>
      <p:sp>
        <p:nvSpPr>
          <p:cNvPr id="189" name="wd3_bg"/>
          <p:cNvSpPr/>
          <p:nvPr/>
        </p:nvSpPr>
        <p:spPr>
          <a:xfrm>
            <a:off x="1170432" y="5394959"/>
            <a:ext cx="10472623" cy="841249"/>
          </a:xfrm>
          <a:prstGeom prst="roundRect">
            <a:avLst>
              <a:gd name="adj" fmla="val 10870"/>
            </a:avLst>
          </a:prstGeom>
          <a:solidFill>
            <a:srgbClr val="FFFFFF"/>
          </a:solidFill>
          <a:ln w="16510">
            <a:solidFill>
              <a:srgbClr val="D8DEEC"/>
            </a:solidFill>
          </a:ln>
        </p:spPr>
        <p:txBody>
          <a:bodyPr lIns="45719" rIns="45719"/>
          <a:lstStyle/>
          <a:p>
            <a:pPr/>
          </a:p>
        </p:txBody>
      </p:sp>
      <p:sp>
        <p:nvSpPr>
          <p:cNvPr id="190" name="wd3_q"/>
          <p:cNvSpPr txBox="1"/>
          <p:nvPr/>
        </p:nvSpPr>
        <p:spPr>
          <a:xfrm>
            <a:off x="1426463" y="5687373"/>
            <a:ext cx="6035042" cy="25642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100"/>
              </a:lnSpc>
              <a:defRPr sz="1600">
                <a:solidFill>
                  <a:srgbClr val="0C2730"/>
                </a:solidFill>
                <a:latin typeface="Arial"/>
                <a:ea typeface="Arial"/>
                <a:cs typeface="Arial"/>
                <a:sym typeface="Arial"/>
              </a:defRPr>
            </a:lvl1pPr>
          </a:lstStyle>
          <a:p>
            <a:pPr/>
            <a:r>
              <a:t>"If an object is heavy, it sinks."</a:t>
            </a:r>
          </a:p>
        </p:txBody>
      </p:sp>
      <p:grpSp>
        <p:nvGrpSpPr>
          <p:cNvPr id="193" name="wd3_a"/>
          <p:cNvGrpSpPr/>
          <p:nvPr/>
        </p:nvGrpSpPr>
        <p:grpSpPr>
          <a:xfrm>
            <a:off x="7662671" y="5486400"/>
            <a:ext cx="3888944" cy="658369"/>
            <a:chOff x="0" y="0"/>
            <a:chExt cx="3888942" cy="658368"/>
          </a:xfrm>
        </p:grpSpPr>
        <p:sp>
          <p:nvSpPr>
            <p:cNvPr id="191" name="Rounded Rectangle"/>
            <p:cNvSpPr/>
            <p:nvPr/>
          </p:nvSpPr>
          <p:spPr>
            <a:xfrm>
              <a:off x="0" y="0"/>
              <a:ext cx="3888943" cy="658369"/>
            </a:xfrm>
            <a:prstGeom prst="roundRect">
              <a:avLst>
                <a:gd name="adj" fmla="val 13889"/>
              </a:avLst>
            </a:prstGeom>
            <a:solidFill>
              <a:srgbClr val="FFEEE4"/>
            </a:solidFill>
            <a:ln w="19050" cap="flat">
              <a:solidFill>
                <a:srgbClr val="D63447"/>
              </a:solidFill>
              <a:prstDash val="solid"/>
              <a:round/>
            </a:ln>
            <a:effectLst/>
          </p:spPr>
          <p:txBody>
            <a:bodyPr wrap="square" lIns="45719" tIns="45719" rIns="45719" bIns="45719" numCol="1" anchor="ctr">
              <a:noAutofit/>
            </a:bodyPr>
            <a:lstStyle/>
            <a:p>
              <a:pPr algn="ctr">
                <a:defRPr sz="1300"/>
              </a:pPr>
            </a:p>
          </p:txBody>
        </p:sp>
        <p:sp>
          <p:nvSpPr>
            <p:cNvPr id="192" name="Whether it sinks depends on density compared with the liquid, not on weight alone."/>
            <p:cNvSpPr txBox="1"/>
            <p:nvPr/>
          </p:nvSpPr>
          <p:spPr>
            <a:xfrm>
              <a:off x="36307" y="140622"/>
              <a:ext cx="3816328" cy="3771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1" tIns="761" rIns="761" bIns="761" numCol="1" anchor="ctr">
              <a:spAutoFit/>
            </a:bodyPr>
            <a:lstStyle>
              <a:lvl1pPr algn="ctr">
                <a:defRPr b="1" sz="1300">
                  <a:solidFill>
                    <a:srgbClr val="0B3D4C"/>
                  </a:solidFill>
                  <a:latin typeface="Arial"/>
                  <a:ea typeface="Arial"/>
                  <a:cs typeface="Arial"/>
                  <a:sym typeface="Arial"/>
                </a:defRPr>
              </a:lvl1pPr>
            </a:lstStyle>
            <a:p>
              <a:pPr/>
              <a:r>
                <a:t>Whether it sinks depends on density compared with the liquid, not on weight alone.</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300000" fill="hold"/>
                                        <p:tgtEl>
                                          <p:spTgt spid="168"/>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Subtype="16" presetID="23" grpId="2" fill="hold">
                                  <p:stCondLst>
                                    <p:cond delay="0"/>
                                  </p:stCondLst>
                                  <p:iterate type="el" backwards="0">
                                    <p:tmAbs val="0"/>
                                  </p:iterate>
                                  <p:childTnLst>
                                    <p:set>
                                      <p:cBhvr>
                                        <p:cTn id="10" fill="hold"/>
                                        <p:tgtEl>
                                          <p:spTgt spid="178"/>
                                        </p:tgtEl>
                                        <p:attrNameLst>
                                          <p:attrName>style.visibility</p:attrName>
                                        </p:attrNameLst>
                                      </p:cBhvr>
                                      <p:to>
                                        <p:strVal val="visible"/>
                                      </p:to>
                                    </p:set>
                                    <p:anim calcmode="lin" valueType="num">
                                      <p:cBhvr>
                                        <p:cTn id="11" dur="400" fill="hold"/>
                                        <p:tgtEl>
                                          <p:spTgt spid="178"/>
                                        </p:tgtEl>
                                        <p:attrNameLst>
                                          <p:attrName>ppt_w</p:attrName>
                                        </p:attrNameLst>
                                      </p:cBhvr>
                                      <p:tavLst>
                                        <p:tav tm="0">
                                          <p:val>
                                            <p:fltVal val="0"/>
                                          </p:val>
                                        </p:tav>
                                        <p:tav tm="100000">
                                          <p:val>
                                            <p:strVal val="#ppt_w"/>
                                          </p:val>
                                        </p:tav>
                                      </p:tavLst>
                                    </p:anim>
                                    <p:anim calcmode="lin" valueType="num">
                                      <p:cBhvr>
                                        <p:cTn id="12" dur="400" fill="hold"/>
                                        <p:tgtEl>
                                          <p:spTgt spid="178"/>
                                        </p:tgtEl>
                                        <p:attrNameLst>
                                          <p:attrName>ppt_h</p:attrName>
                                        </p:attrNameLst>
                                      </p:cBhvr>
                                      <p:tavLst>
                                        <p:tav tm="0">
                                          <p:val>
                                            <p:fltVal val="0"/>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16" presetID="23" grpId="3" fill="hold">
                                  <p:stCondLst>
                                    <p:cond delay="0"/>
                                  </p:stCondLst>
                                  <p:iterate type="el" backwards="0">
                                    <p:tmAbs val="0"/>
                                  </p:iterate>
                                  <p:childTnLst>
                                    <p:set>
                                      <p:cBhvr>
                                        <p:cTn id="16" fill="hold"/>
                                        <p:tgtEl>
                                          <p:spTgt spid="183"/>
                                        </p:tgtEl>
                                        <p:attrNameLst>
                                          <p:attrName>style.visibility</p:attrName>
                                        </p:attrNameLst>
                                      </p:cBhvr>
                                      <p:to>
                                        <p:strVal val="visible"/>
                                      </p:to>
                                    </p:set>
                                    <p:anim calcmode="lin" valueType="num">
                                      <p:cBhvr>
                                        <p:cTn id="17" dur="400" fill="hold"/>
                                        <p:tgtEl>
                                          <p:spTgt spid="183"/>
                                        </p:tgtEl>
                                        <p:attrNameLst>
                                          <p:attrName>ppt_w</p:attrName>
                                        </p:attrNameLst>
                                      </p:cBhvr>
                                      <p:tavLst>
                                        <p:tav tm="0">
                                          <p:val>
                                            <p:fltVal val="0"/>
                                          </p:val>
                                        </p:tav>
                                        <p:tav tm="100000">
                                          <p:val>
                                            <p:strVal val="#ppt_w"/>
                                          </p:val>
                                        </p:tav>
                                      </p:tavLst>
                                    </p:anim>
                                    <p:anim calcmode="lin" valueType="num">
                                      <p:cBhvr>
                                        <p:cTn id="18" dur="400" fill="hold"/>
                                        <p:tgtEl>
                                          <p:spTgt spid="183"/>
                                        </p:tgtEl>
                                        <p:attrNameLst>
                                          <p:attrName>ppt_h</p:attrName>
                                        </p:attrNameLst>
                                      </p:cBhvr>
                                      <p:tavLst>
                                        <p:tav tm="0">
                                          <p:val>
                                            <p:fltVal val="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Class="entr" nodeType="clickEffect" presetSubtype="16" presetID="23" grpId="4" fill="hold">
                                  <p:stCondLst>
                                    <p:cond delay="0"/>
                                  </p:stCondLst>
                                  <p:iterate type="el" backwards="0">
                                    <p:tmAbs val="0"/>
                                  </p:iterate>
                                  <p:childTnLst>
                                    <p:set>
                                      <p:cBhvr>
                                        <p:cTn id="22" fill="hold"/>
                                        <p:tgtEl>
                                          <p:spTgt spid="188"/>
                                        </p:tgtEl>
                                        <p:attrNameLst>
                                          <p:attrName>style.visibility</p:attrName>
                                        </p:attrNameLst>
                                      </p:cBhvr>
                                      <p:to>
                                        <p:strVal val="visible"/>
                                      </p:to>
                                    </p:set>
                                    <p:anim calcmode="lin" valueType="num">
                                      <p:cBhvr>
                                        <p:cTn id="23" dur="400" fill="hold"/>
                                        <p:tgtEl>
                                          <p:spTgt spid="188"/>
                                        </p:tgtEl>
                                        <p:attrNameLst>
                                          <p:attrName>ppt_w</p:attrName>
                                        </p:attrNameLst>
                                      </p:cBhvr>
                                      <p:tavLst>
                                        <p:tav tm="0">
                                          <p:val>
                                            <p:fltVal val="0"/>
                                          </p:val>
                                        </p:tav>
                                        <p:tav tm="100000">
                                          <p:val>
                                            <p:strVal val="#ppt_w"/>
                                          </p:val>
                                        </p:tav>
                                      </p:tavLst>
                                    </p:anim>
                                    <p:anim calcmode="lin" valueType="num">
                                      <p:cBhvr>
                                        <p:cTn id="24" dur="400" fill="hold"/>
                                        <p:tgtEl>
                                          <p:spTgt spid="188"/>
                                        </p:tgtEl>
                                        <p:attrNameLst>
                                          <p:attrName>ppt_h</p:attrName>
                                        </p:attrNameLst>
                                      </p:cBhvr>
                                      <p:tavLst>
                                        <p:tav tm="0">
                                          <p:val>
                                            <p:fltVal val="0"/>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Class="entr" nodeType="clickEffect" presetSubtype="16" presetID="23" grpId="5" fill="hold">
                                  <p:stCondLst>
                                    <p:cond delay="0"/>
                                  </p:stCondLst>
                                  <p:iterate type="el" backwards="0">
                                    <p:tmAbs val="0"/>
                                  </p:iterate>
                                  <p:childTnLst>
                                    <p:set>
                                      <p:cBhvr>
                                        <p:cTn id="28" fill="hold"/>
                                        <p:tgtEl>
                                          <p:spTgt spid="193"/>
                                        </p:tgtEl>
                                        <p:attrNameLst>
                                          <p:attrName>style.visibility</p:attrName>
                                        </p:attrNameLst>
                                      </p:cBhvr>
                                      <p:to>
                                        <p:strVal val="visible"/>
                                      </p:to>
                                    </p:set>
                                    <p:anim calcmode="lin" valueType="num">
                                      <p:cBhvr>
                                        <p:cTn id="29" dur="400" fill="hold"/>
                                        <p:tgtEl>
                                          <p:spTgt spid="193"/>
                                        </p:tgtEl>
                                        <p:attrNameLst>
                                          <p:attrName>ppt_w</p:attrName>
                                        </p:attrNameLst>
                                      </p:cBhvr>
                                      <p:tavLst>
                                        <p:tav tm="0">
                                          <p:val>
                                            <p:fltVal val="0"/>
                                          </p:val>
                                        </p:tav>
                                        <p:tav tm="100000">
                                          <p:val>
                                            <p:strVal val="#ppt_w"/>
                                          </p:val>
                                        </p:tav>
                                      </p:tavLst>
                                    </p:anim>
                                    <p:anim calcmode="lin" valueType="num">
                                      <p:cBhvr>
                                        <p:cTn id="30" dur="400" fill="hold"/>
                                        <p:tgtEl>
                                          <p:spTgt spid="19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1" fill="hold" display="0">
                  <p:stCondLst>
                    <p:cond delay="indefinite"/>
                  </p:stCondLst>
                </p:cTn>
                <p:tgtEl>
                  <p:spTgt spid="168"/>
                </p:tgtEl>
              </p:cMediaNode>
            </p:video>
            <p:seq concurrent="1" prevAc="none" nextAc="seek">
              <p:cTn id="32" evtFilter="cancelBubble" nodeType="interactiveSeq" restart="whenNotActive" fill="hold">
                <p:stCondLst>
                  <p:cond delay="0" evt="onClick">
                    <p:tgtEl>
                      <p:spTgt spid="168"/>
                    </p:tgtEl>
                  </p:cond>
                </p:stCondLst>
                <p:endSync delay="0" evt="end">
                  <p:rtn val="all"/>
                </p:endSync>
                <p:childTnLst>
                  <p:par>
                    <p:cTn id="33" fill="hold">
                      <p:stCondLst>
                        <p:cond delay="0"/>
                      </p:stCondLst>
                      <p:childTnLst>
                        <p:par>
                          <p:cTn id="34" fill="hold">
                            <p:stCondLst>
                              <p:cond delay="0"/>
                            </p:stCondLst>
                            <p:childTnLst>
                              <p:par>
                                <p:cTn id="35" presetClass="mediacall" nodeType="clickEffect" presetSubtype="0" presetID="2" fill="hold">
                                  <p:stCondLst>
                                    <p:cond delay="0"/>
                                  </p:stCondLst>
                                  <p:childTnLst>
                                    <p:cmd type="call" cmd="togglePause">
                                      <p:cBhvr>
                                        <p:cTn id="36" dur="1" fill="hold"/>
                                        <p:tgtEl>
                                          <p:spTgt spid="168"/>
                                        </p:tgtEl>
                                      </p:cBhvr>
                                    </p:cmd>
                                  </p:childTnLst>
                                </p:cTn>
                              </p:par>
                            </p:childTnLst>
                          </p:cTn>
                        </p:par>
                      </p:childTnLst>
                    </p:cTn>
                  </p:par>
                </p:childTnLst>
              </p:cTn>
              <p:nextCondLst>
                <p:cond delay="0" evt="onClick">
                  <p:tgtEl>
                    <p:spTgt spid="168"/>
                  </p:tgtEl>
                </p:cond>
              </p:nextCondLst>
            </p:seq>
          </p:childTnLst>
        </p:cTn>
      </p:par>
    </p:tnLst>
    <p:bldLst>
      <p:bldP build="whole" bldLvl="1" animBg="1" rev="0" advAuto="0" spid="183" grpId="3"/>
      <p:bldP build="whole" bldLvl="1" animBg="1" rev="0" advAuto="0" spid="193" grpId="5"/>
      <p:bldP build="whole" bldLvl="1" animBg="1" rev="0" advAuto="0" spid="178" grpId="2"/>
      <p:bldP build="whole" bldLvl="1" animBg="1" rev="0" advAuto="0" spid="188" grpId="4"/>
    </p:bld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EFF6F7"/>
        </a:solidFill>
      </p:bgPr>
    </p:bg>
    <p:spTree>
      <p:nvGrpSpPr>
        <p:cNvPr id="1" name=""/>
        <p:cNvGrpSpPr/>
        <p:nvPr/>
      </p:nvGrpSpPr>
      <p:grpSpPr>
        <a:xfrm>
          <a:off x="0" y="0"/>
          <a:ext cx="0" cy="0"/>
          <a:chOff x="0" y="0"/>
          <a:chExt cx="0" cy="0"/>
        </a:xfrm>
      </p:grpSpPr>
      <p:pic>
        <p:nvPicPr>
          <p:cNvPr id="197"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00" name="phase_pill"/>
          <p:cNvGrpSpPr/>
          <p:nvPr/>
        </p:nvGrpSpPr>
        <p:grpSpPr>
          <a:xfrm>
            <a:off x="1170432" y="310895"/>
            <a:ext cx="2072030" cy="329185"/>
            <a:chOff x="0" y="0"/>
            <a:chExt cx="2072029" cy="329184"/>
          </a:xfrm>
        </p:grpSpPr>
        <p:sp>
          <p:nvSpPr>
            <p:cNvPr id="198" name="Rounded Rectangle"/>
            <p:cNvSpPr/>
            <p:nvPr/>
          </p:nvSpPr>
          <p:spPr>
            <a:xfrm>
              <a:off x="0" y="0"/>
              <a:ext cx="2072030" cy="329185"/>
            </a:xfrm>
            <a:prstGeom prst="roundRect">
              <a:avLst>
                <a:gd name="adj" fmla="val 44444"/>
              </a:avLst>
            </a:prstGeom>
            <a:solidFill>
              <a:srgbClr val="0B3D4C"/>
            </a:solidFill>
            <a:ln w="12700" cap="flat">
              <a:noFill/>
              <a:miter lim="400000"/>
            </a:ln>
            <a:effectLst/>
          </p:spPr>
          <p:txBody>
            <a:bodyPr wrap="square" lIns="45719" tIns="45719" rIns="45719" bIns="45719" numCol="1" anchor="ctr">
              <a:noAutofit/>
            </a:bodyPr>
            <a:lstStyle/>
            <a:p>
              <a:pPr algn="ctr">
                <a:defRPr sz="1100"/>
              </a:pPr>
            </a:p>
          </p:txBody>
        </p:sp>
        <p:sp>
          <p:nvSpPr>
            <p:cNvPr id="199" name="COLD CALL · 6 MIN"/>
            <p:cNvSpPr txBox="1"/>
            <p:nvPr/>
          </p:nvSpPr>
          <p:spPr>
            <a:xfrm>
              <a:off x="42850" y="90677"/>
              <a:ext cx="1986329"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COLD CALL · 6 MIN</a:t>
              </a:r>
            </a:p>
          </p:txBody>
        </p:sp>
      </p:grpSp>
      <p:sp>
        <p:nvSpPr>
          <p:cNvPr id="201" name="c0_bg"/>
          <p:cNvSpPr/>
          <p:nvPr/>
        </p:nvSpPr>
        <p:spPr>
          <a:xfrm>
            <a:off x="1170432" y="969263"/>
            <a:ext cx="5117441" cy="1389890"/>
          </a:xfrm>
          <a:prstGeom prst="roundRect">
            <a:avLst>
              <a:gd name="adj" fmla="val 6579"/>
            </a:avLst>
          </a:prstGeom>
          <a:solidFill>
            <a:srgbClr val="FFFFFF"/>
          </a:solidFill>
          <a:ln w="16510">
            <a:solidFill>
              <a:srgbClr val="D8DEEC"/>
            </a:solidFill>
          </a:ln>
        </p:spPr>
        <p:txBody>
          <a:bodyPr lIns="45719" rIns="45719"/>
          <a:lstStyle/>
          <a:p>
            <a:pPr/>
          </a:p>
        </p:txBody>
      </p:sp>
      <p:sp>
        <p:nvSpPr>
          <p:cNvPr id="202" name="c0_badge"/>
          <p:cNvSpPr/>
          <p:nvPr/>
        </p:nvSpPr>
        <p:spPr>
          <a:xfrm>
            <a:off x="1371600" y="1133855"/>
            <a:ext cx="384048" cy="384049"/>
          </a:xfrm>
          <a:prstGeom prst="ellipse">
            <a:avLst/>
          </a:prstGeom>
          <a:solidFill>
            <a:srgbClr val="FF8952"/>
          </a:solidFill>
          <a:ln w="12700">
            <a:solidFill>
              <a:srgbClr val="FF8952"/>
            </a:solidFill>
          </a:ln>
        </p:spPr>
        <p:txBody>
          <a:bodyPr lIns="45719" rIns="45719"/>
          <a:lstStyle/>
          <a:p>
            <a:pPr/>
          </a:p>
        </p:txBody>
      </p:sp>
      <p:sp>
        <p:nvSpPr>
          <p:cNvPr id="203" name="c0_num"/>
          <p:cNvSpPr txBox="1"/>
          <p:nvPr/>
        </p:nvSpPr>
        <p:spPr>
          <a:xfrm>
            <a:off x="1371600" y="1224279"/>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0B3D4C"/>
                </a:solidFill>
                <a:latin typeface="Georgia"/>
                <a:ea typeface="Georgia"/>
                <a:cs typeface="Georgia"/>
                <a:sym typeface="Georgia"/>
              </a:defRPr>
            </a:lvl1pPr>
          </a:lstStyle>
          <a:p>
            <a:pPr/>
            <a:r>
              <a:t>1</a:t>
            </a:r>
          </a:p>
        </p:txBody>
      </p:sp>
      <p:sp>
        <p:nvSpPr>
          <p:cNvPr id="204" name="c0_q"/>
          <p:cNvSpPr txBox="1"/>
          <p:nvPr/>
        </p:nvSpPr>
        <p:spPr>
          <a:xfrm>
            <a:off x="1901951" y="1300615"/>
            <a:ext cx="4184753" cy="233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0C2730"/>
                </a:solidFill>
                <a:latin typeface="Arial"/>
                <a:ea typeface="Arial"/>
                <a:cs typeface="Arial"/>
                <a:sym typeface="Arial"/>
              </a:defRPr>
            </a:lvl1pPr>
          </a:lstStyle>
          <a:p>
            <a:pPr/>
            <a:r>
              <a:t>Define density in one sentence.</a:t>
            </a:r>
          </a:p>
        </p:txBody>
      </p:sp>
      <p:grpSp>
        <p:nvGrpSpPr>
          <p:cNvPr id="207" name="c0_a"/>
          <p:cNvGrpSpPr/>
          <p:nvPr/>
        </p:nvGrpSpPr>
        <p:grpSpPr>
          <a:xfrm>
            <a:off x="1371600" y="1810511"/>
            <a:ext cx="4715105" cy="402337"/>
            <a:chOff x="0" y="0"/>
            <a:chExt cx="4715104" cy="402336"/>
          </a:xfrm>
        </p:grpSpPr>
        <p:sp>
          <p:nvSpPr>
            <p:cNvPr id="205" name="Rounded Rectangle"/>
            <p:cNvSpPr/>
            <p:nvPr/>
          </p:nvSpPr>
          <p:spPr>
            <a:xfrm>
              <a:off x="0" y="0"/>
              <a:ext cx="4715105" cy="402337"/>
            </a:xfrm>
            <a:prstGeom prst="roundRect">
              <a:avLst>
                <a:gd name="adj" fmla="val 22727"/>
              </a:avLst>
            </a:prstGeom>
            <a:solidFill>
              <a:srgbClr val="FFEEE4"/>
            </a:solidFill>
            <a:ln w="16510" cap="flat">
              <a:solidFill>
                <a:srgbClr val="FF8952"/>
              </a:solidFill>
              <a:prstDash val="solid"/>
              <a:round/>
            </a:ln>
            <a:effectLst/>
          </p:spPr>
          <p:txBody>
            <a:bodyPr wrap="square" lIns="45719" tIns="45719" rIns="45719" bIns="45719" numCol="1" anchor="ctr">
              <a:noAutofit/>
            </a:bodyPr>
            <a:lstStyle/>
            <a:p>
              <a:pPr>
                <a:defRPr sz="1500"/>
              </a:pPr>
            </a:p>
          </p:txBody>
        </p:sp>
        <p:sp>
          <p:nvSpPr>
            <p:cNvPr id="206" name="Mass per unit volume."/>
            <p:cNvSpPr txBox="1"/>
            <p:nvPr/>
          </p:nvSpPr>
          <p:spPr>
            <a:xfrm>
              <a:off x="35037" y="95318"/>
              <a:ext cx="4645030" cy="2117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500">
                  <a:solidFill>
                    <a:srgbClr val="0B3D4C"/>
                  </a:solidFill>
                  <a:latin typeface="Arial"/>
                  <a:ea typeface="Arial"/>
                  <a:cs typeface="Arial"/>
                  <a:sym typeface="Arial"/>
                </a:defRPr>
              </a:lvl1pPr>
            </a:lstStyle>
            <a:p>
              <a:pPr/>
              <a:r>
                <a:t>Mass per unit volume.</a:t>
              </a:r>
            </a:p>
          </p:txBody>
        </p:sp>
      </p:grpSp>
      <p:sp>
        <p:nvSpPr>
          <p:cNvPr id="208" name="c1_bg"/>
          <p:cNvSpPr/>
          <p:nvPr/>
        </p:nvSpPr>
        <p:spPr>
          <a:xfrm>
            <a:off x="6525615" y="969263"/>
            <a:ext cx="5117441" cy="1389890"/>
          </a:xfrm>
          <a:prstGeom prst="roundRect">
            <a:avLst>
              <a:gd name="adj" fmla="val 6579"/>
            </a:avLst>
          </a:prstGeom>
          <a:solidFill>
            <a:srgbClr val="FFFFFF"/>
          </a:solidFill>
          <a:ln w="16510">
            <a:solidFill>
              <a:srgbClr val="D8DEEC"/>
            </a:solidFill>
          </a:ln>
        </p:spPr>
        <p:txBody>
          <a:bodyPr lIns="45719" rIns="45719"/>
          <a:lstStyle/>
          <a:p>
            <a:pPr/>
          </a:p>
        </p:txBody>
      </p:sp>
      <p:sp>
        <p:nvSpPr>
          <p:cNvPr id="209" name="c1_badge"/>
          <p:cNvSpPr/>
          <p:nvPr/>
        </p:nvSpPr>
        <p:spPr>
          <a:xfrm>
            <a:off x="6726783" y="1133855"/>
            <a:ext cx="384049" cy="384049"/>
          </a:xfrm>
          <a:prstGeom prst="ellipse">
            <a:avLst/>
          </a:prstGeom>
          <a:solidFill>
            <a:srgbClr val="FF8952"/>
          </a:solidFill>
          <a:ln w="12700">
            <a:solidFill>
              <a:srgbClr val="FF8952"/>
            </a:solidFill>
          </a:ln>
        </p:spPr>
        <p:txBody>
          <a:bodyPr lIns="45719" rIns="45719"/>
          <a:lstStyle/>
          <a:p>
            <a:pPr/>
          </a:p>
        </p:txBody>
      </p:sp>
      <p:sp>
        <p:nvSpPr>
          <p:cNvPr id="210" name="c1_num"/>
          <p:cNvSpPr txBox="1"/>
          <p:nvPr/>
        </p:nvSpPr>
        <p:spPr>
          <a:xfrm>
            <a:off x="6726783" y="1224279"/>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0B3D4C"/>
                </a:solidFill>
                <a:latin typeface="Georgia"/>
                <a:ea typeface="Georgia"/>
                <a:cs typeface="Georgia"/>
                <a:sym typeface="Georgia"/>
              </a:defRPr>
            </a:lvl1pPr>
          </a:lstStyle>
          <a:p>
            <a:pPr/>
            <a:r>
              <a:t>2</a:t>
            </a:r>
          </a:p>
        </p:txBody>
      </p:sp>
      <p:sp>
        <p:nvSpPr>
          <p:cNvPr id="211" name="c1_q"/>
          <p:cNvSpPr txBox="1"/>
          <p:nvPr/>
        </p:nvSpPr>
        <p:spPr>
          <a:xfrm>
            <a:off x="7257136" y="1300615"/>
            <a:ext cx="4184753" cy="233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0C2730"/>
                </a:solidFill>
                <a:latin typeface="Arial"/>
                <a:ea typeface="Arial"/>
                <a:cs typeface="Arial"/>
                <a:sym typeface="Arial"/>
              </a:defRPr>
            </a:lvl1pPr>
          </a:lstStyle>
          <a:p>
            <a:pPr/>
            <a:r>
              <a:t>State the equation for density.</a:t>
            </a:r>
          </a:p>
        </p:txBody>
      </p:sp>
      <p:grpSp>
        <p:nvGrpSpPr>
          <p:cNvPr id="214" name="c1_a"/>
          <p:cNvGrpSpPr/>
          <p:nvPr/>
        </p:nvGrpSpPr>
        <p:grpSpPr>
          <a:xfrm>
            <a:off x="6726783" y="1810511"/>
            <a:ext cx="4715106" cy="402337"/>
            <a:chOff x="0" y="0"/>
            <a:chExt cx="4715104" cy="402336"/>
          </a:xfrm>
        </p:grpSpPr>
        <p:sp>
          <p:nvSpPr>
            <p:cNvPr id="212" name="Rounded Rectangle"/>
            <p:cNvSpPr/>
            <p:nvPr/>
          </p:nvSpPr>
          <p:spPr>
            <a:xfrm>
              <a:off x="0" y="0"/>
              <a:ext cx="4715105" cy="402337"/>
            </a:xfrm>
            <a:prstGeom prst="roundRect">
              <a:avLst>
                <a:gd name="adj" fmla="val 22727"/>
              </a:avLst>
            </a:prstGeom>
            <a:solidFill>
              <a:srgbClr val="FFEEE4"/>
            </a:solidFill>
            <a:ln w="16510" cap="flat">
              <a:solidFill>
                <a:srgbClr val="FF8952"/>
              </a:solidFill>
              <a:prstDash val="solid"/>
              <a:round/>
            </a:ln>
            <a:effectLst/>
          </p:spPr>
          <p:txBody>
            <a:bodyPr wrap="square" lIns="45719" tIns="45719" rIns="45719" bIns="45719" numCol="1" anchor="ctr">
              <a:noAutofit/>
            </a:bodyPr>
            <a:lstStyle/>
            <a:p>
              <a:pPr>
                <a:defRPr sz="1500"/>
              </a:pPr>
            </a:p>
          </p:txBody>
        </p:sp>
        <p:sp>
          <p:nvSpPr>
            <p:cNvPr id="213" name="ρ = m ÷ V"/>
            <p:cNvSpPr txBox="1"/>
            <p:nvPr/>
          </p:nvSpPr>
          <p:spPr>
            <a:xfrm>
              <a:off x="35037" y="95318"/>
              <a:ext cx="4645030" cy="2117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500">
                  <a:solidFill>
                    <a:srgbClr val="0B3D4C"/>
                  </a:solidFill>
                  <a:latin typeface="Arial"/>
                  <a:ea typeface="Arial"/>
                  <a:cs typeface="Arial"/>
                  <a:sym typeface="Arial"/>
                </a:defRPr>
              </a:lvl1pPr>
            </a:lstStyle>
            <a:p>
              <a:pPr/>
              <a:r>
                <a:t>ρ = m ÷ V</a:t>
              </a:r>
            </a:p>
          </p:txBody>
        </p:sp>
      </p:grpSp>
      <p:sp>
        <p:nvSpPr>
          <p:cNvPr id="215" name="c2_bg"/>
          <p:cNvSpPr/>
          <p:nvPr/>
        </p:nvSpPr>
        <p:spPr>
          <a:xfrm>
            <a:off x="1170432" y="2560320"/>
            <a:ext cx="5117441" cy="1389889"/>
          </a:xfrm>
          <a:prstGeom prst="roundRect">
            <a:avLst>
              <a:gd name="adj" fmla="val 6579"/>
            </a:avLst>
          </a:prstGeom>
          <a:solidFill>
            <a:srgbClr val="FFFFFF"/>
          </a:solidFill>
          <a:ln w="16510">
            <a:solidFill>
              <a:srgbClr val="D8DEEC"/>
            </a:solidFill>
          </a:ln>
        </p:spPr>
        <p:txBody>
          <a:bodyPr lIns="45719" rIns="45719"/>
          <a:lstStyle/>
          <a:p>
            <a:pPr/>
          </a:p>
        </p:txBody>
      </p:sp>
      <p:sp>
        <p:nvSpPr>
          <p:cNvPr id="216" name="c2_badge"/>
          <p:cNvSpPr/>
          <p:nvPr/>
        </p:nvSpPr>
        <p:spPr>
          <a:xfrm>
            <a:off x="1371600" y="2724911"/>
            <a:ext cx="384048" cy="384049"/>
          </a:xfrm>
          <a:prstGeom prst="ellipse">
            <a:avLst/>
          </a:prstGeom>
          <a:solidFill>
            <a:srgbClr val="FF8952"/>
          </a:solidFill>
          <a:ln w="12700">
            <a:solidFill>
              <a:srgbClr val="FF8952"/>
            </a:solidFill>
          </a:ln>
        </p:spPr>
        <p:txBody>
          <a:bodyPr lIns="45719" rIns="45719"/>
          <a:lstStyle/>
          <a:p>
            <a:pPr/>
          </a:p>
        </p:txBody>
      </p:sp>
      <p:sp>
        <p:nvSpPr>
          <p:cNvPr id="217" name="c2_num"/>
          <p:cNvSpPr txBox="1"/>
          <p:nvPr/>
        </p:nvSpPr>
        <p:spPr>
          <a:xfrm>
            <a:off x="1371600" y="2815335"/>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0B3D4C"/>
                </a:solidFill>
                <a:latin typeface="Georgia"/>
                <a:ea typeface="Georgia"/>
                <a:cs typeface="Georgia"/>
                <a:sym typeface="Georgia"/>
              </a:defRPr>
            </a:lvl1pPr>
          </a:lstStyle>
          <a:p>
            <a:pPr/>
            <a:r>
              <a:t>3</a:t>
            </a:r>
          </a:p>
        </p:txBody>
      </p:sp>
      <p:sp>
        <p:nvSpPr>
          <p:cNvPr id="218" name="c2_q"/>
          <p:cNvSpPr txBox="1"/>
          <p:nvPr/>
        </p:nvSpPr>
        <p:spPr>
          <a:xfrm>
            <a:off x="1901951" y="2771021"/>
            <a:ext cx="4184753" cy="4747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0C2730"/>
                </a:solidFill>
                <a:latin typeface="Arial"/>
                <a:ea typeface="Arial"/>
                <a:cs typeface="Arial"/>
                <a:sym typeface="Arial"/>
              </a:defRPr>
            </a:lvl1pPr>
          </a:lstStyle>
          <a:p>
            <a:pPr/>
            <a:r>
              <a:t>Find the density of a 63 g object with a volume of 9 cm³.</a:t>
            </a:r>
          </a:p>
        </p:txBody>
      </p:sp>
      <p:grpSp>
        <p:nvGrpSpPr>
          <p:cNvPr id="221" name="c2_a"/>
          <p:cNvGrpSpPr/>
          <p:nvPr/>
        </p:nvGrpSpPr>
        <p:grpSpPr>
          <a:xfrm>
            <a:off x="1371600" y="3401567"/>
            <a:ext cx="4715105" cy="402337"/>
            <a:chOff x="0" y="0"/>
            <a:chExt cx="4715104" cy="402336"/>
          </a:xfrm>
        </p:grpSpPr>
        <p:sp>
          <p:nvSpPr>
            <p:cNvPr id="219" name="Rounded Rectangle"/>
            <p:cNvSpPr/>
            <p:nvPr/>
          </p:nvSpPr>
          <p:spPr>
            <a:xfrm>
              <a:off x="0" y="0"/>
              <a:ext cx="4715105" cy="402337"/>
            </a:xfrm>
            <a:prstGeom prst="roundRect">
              <a:avLst>
                <a:gd name="adj" fmla="val 22727"/>
              </a:avLst>
            </a:prstGeom>
            <a:solidFill>
              <a:srgbClr val="FFEEE4"/>
            </a:solidFill>
            <a:ln w="16510" cap="flat">
              <a:solidFill>
                <a:srgbClr val="FF8952"/>
              </a:solidFill>
              <a:prstDash val="solid"/>
              <a:round/>
            </a:ln>
            <a:effectLst/>
          </p:spPr>
          <p:txBody>
            <a:bodyPr wrap="square" lIns="45719" tIns="45719" rIns="45719" bIns="45719" numCol="1" anchor="ctr">
              <a:noAutofit/>
            </a:bodyPr>
            <a:lstStyle/>
            <a:p>
              <a:pPr>
                <a:defRPr sz="1500"/>
              </a:pPr>
            </a:p>
          </p:txBody>
        </p:sp>
        <p:sp>
          <p:nvSpPr>
            <p:cNvPr id="220" name="63 ÷ 9 = 7 g/cm³"/>
            <p:cNvSpPr txBox="1"/>
            <p:nvPr/>
          </p:nvSpPr>
          <p:spPr>
            <a:xfrm>
              <a:off x="35037" y="95318"/>
              <a:ext cx="4645030" cy="2117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500">
                  <a:solidFill>
                    <a:srgbClr val="0B3D4C"/>
                  </a:solidFill>
                  <a:latin typeface="Arial"/>
                  <a:ea typeface="Arial"/>
                  <a:cs typeface="Arial"/>
                  <a:sym typeface="Arial"/>
                </a:defRPr>
              </a:lvl1pPr>
            </a:lstStyle>
            <a:p>
              <a:pPr/>
              <a:r>
                <a:t>63 ÷ 9 = 7 g/cm³</a:t>
              </a:r>
            </a:p>
          </p:txBody>
        </p:sp>
      </p:grpSp>
      <p:sp>
        <p:nvSpPr>
          <p:cNvPr id="222" name="c3_bg"/>
          <p:cNvSpPr/>
          <p:nvPr/>
        </p:nvSpPr>
        <p:spPr>
          <a:xfrm>
            <a:off x="6525615" y="2560320"/>
            <a:ext cx="5117441" cy="1389889"/>
          </a:xfrm>
          <a:prstGeom prst="roundRect">
            <a:avLst>
              <a:gd name="adj" fmla="val 6579"/>
            </a:avLst>
          </a:prstGeom>
          <a:solidFill>
            <a:srgbClr val="FFFFFF"/>
          </a:solidFill>
          <a:ln w="16510">
            <a:solidFill>
              <a:srgbClr val="D8DEEC"/>
            </a:solidFill>
          </a:ln>
        </p:spPr>
        <p:txBody>
          <a:bodyPr lIns="45719" rIns="45719"/>
          <a:lstStyle/>
          <a:p>
            <a:pPr/>
          </a:p>
        </p:txBody>
      </p:sp>
      <p:sp>
        <p:nvSpPr>
          <p:cNvPr id="223" name="c3_badge"/>
          <p:cNvSpPr/>
          <p:nvPr/>
        </p:nvSpPr>
        <p:spPr>
          <a:xfrm>
            <a:off x="6726783" y="2724911"/>
            <a:ext cx="384049" cy="384049"/>
          </a:xfrm>
          <a:prstGeom prst="ellipse">
            <a:avLst/>
          </a:prstGeom>
          <a:solidFill>
            <a:srgbClr val="FF8952"/>
          </a:solidFill>
          <a:ln w="12700">
            <a:solidFill>
              <a:srgbClr val="FF8952"/>
            </a:solidFill>
          </a:ln>
        </p:spPr>
        <p:txBody>
          <a:bodyPr lIns="45719" rIns="45719"/>
          <a:lstStyle/>
          <a:p>
            <a:pPr/>
          </a:p>
        </p:txBody>
      </p:sp>
      <p:sp>
        <p:nvSpPr>
          <p:cNvPr id="224" name="c3_num"/>
          <p:cNvSpPr txBox="1"/>
          <p:nvPr/>
        </p:nvSpPr>
        <p:spPr>
          <a:xfrm>
            <a:off x="6726783" y="2815335"/>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0B3D4C"/>
                </a:solidFill>
                <a:latin typeface="Georgia"/>
                <a:ea typeface="Georgia"/>
                <a:cs typeface="Georgia"/>
                <a:sym typeface="Georgia"/>
              </a:defRPr>
            </a:lvl1pPr>
          </a:lstStyle>
          <a:p>
            <a:pPr/>
            <a:r>
              <a:t>4</a:t>
            </a:r>
          </a:p>
        </p:txBody>
      </p:sp>
      <p:sp>
        <p:nvSpPr>
          <p:cNvPr id="225" name="c3_q"/>
          <p:cNvSpPr txBox="1"/>
          <p:nvPr/>
        </p:nvSpPr>
        <p:spPr>
          <a:xfrm>
            <a:off x="7257136" y="2771021"/>
            <a:ext cx="4184753" cy="4747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0C2730"/>
                </a:solidFill>
                <a:latin typeface="Arial"/>
                <a:ea typeface="Arial"/>
                <a:cs typeface="Arial"/>
                <a:sym typeface="Arial"/>
              </a:defRPr>
            </a:lvl1pPr>
          </a:lstStyle>
          <a:p>
            <a:pPr/>
            <a:r>
              <a:t>Name the equipment used to find the volume of an irregular solid that sinks.</a:t>
            </a:r>
          </a:p>
        </p:txBody>
      </p:sp>
      <p:grpSp>
        <p:nvGrpSpPr>
          <p:cNvPr id="228" name="c3_a"/>
          <p:cNvGrpSpPr/>
          <p:nvPr/>
        </p:nvGrpSpPr>
        <p:grpSpPr>
          <a:xfrm>
            <a:off x="6726783" y="3401567"/>
            <a:ext cx="4715106" cy="402337"/>
            <a:chOff x="0" y="0"/>
            <a:chExt cx="4715104" cy="402336"/>
          </a:xfrm>
        </p:grpSpPr>
        <p:sp>
          <p:nvSpPr>
            <p:cNvPr id="226" name="Rounded Rectangle"/>
            <p:cNvSpPr/>
            <p:nvPr/>
          </p:nvSpPr>
          <p:spPr>
            <a:xfrm>
              <a:off x="0" y="0"/>
              <a:ext cx="4715105" cy="402337"/>
            </a:xfrm>
            <a:prstGeom prst="roundRect">
              <a:avLst>
                <a:gd name="adj" fmla="val 22727"/>
              </a:avLst>
            </a:prstGeom>
            <a:solidFill>
              <a:srgbClr val="FFEEE4"/>
            </a:solidFill>
            <a:ln w="16510" cap="flat">
              <a:solidFill>
                <a:srgbClr val="FF8952"/>
              </a:solidFill>
              <a:prstDash val="solid"/>
              <a:round/>
            </a:ln>
            <a:effectLst/>
          </p:spPr>
          <p:txBody>
            <a:bodyPr wrap="square" lIns="45719" tIns="45719" rIns="45719" bIns="45719" numCol="1" anchor="ctr">
              <a:noAutofit/>
            </a:bodyPr>
            <a:lstStyle/>
            <a:p>
              <a:pPr>
                <a:defRPr sz="1500"/>
              </a:pPr>
            </a:p>
          </p:txBody>
        </p:sp>
        <p:sp>
          <p:nvSpPr>
            <p:cNvPr id="227" name="A measuring cylinder, by displacement."/>
            <p:cNvSpPr txBox="1"/>
            <p:nvPr/>
          </p:nvSpPr>
          <p:spPr>
            <a:xfrm>
              <a:off x="35037" y="95318"/>
              <a:ext cx="4645030" cy="2117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500">
                  <a:solidFill>
                    <a:srgbClr val="0B3D4C"/>
                  </a:solidFill>
                  <a:latin typeface="Arial"/>
                  <a:ea typeface="Arial"/>
                  <a:cs typeface="Arial"/>
                  <a:sym typeface="Arial"/>
                </a:defRPr>
              </a:lvl1pPr>
            </a:lstStyle>
            <a:p>
              <a:pPr/>
              <a:r>
                <a:t>A measuring cylinder, by displacement.</a:t>
              </a:r>
            </a:p>
          </p:txBody>
        </p:sp>
      </p:grpSp>
      <p:sp>
        <p:nvSpPr>
          <p:cNvPr id="229" name="c4_bg"/>
          <p:cNvSpPr/>
          <p:nvPr/>
        </p:nvSpPr>
        <p:spPr>
          <a:xfrm>
            <a:off x="1170432" y="4151376"/>
            <a:ext cx="5117441" cy="1389889"/>
          </a:xfrm>
          <a:prstGeom prst="roundRect">
            <a:avLst>
              <a:gd name="adj" fmla="val 6579"/>
            </a:avLst>
          </a:prstGeom>
          <a:solidFill>
            <a:srgbClr val="FFFFFF"/>
          </a:solidFill>
          <a:ln w="16510">
            <a:solidFill>
              <a:srgbClr val="D8DEEC"/>
            </a:solidFill>
          </a:ln>
        </p:spPr>
        <p:txBody>
          <a:bodyPr lIns="45719" rIns="45719"/>
          <a:lstStyle/>
          <a:p>
            <a:pPr/>
          </a:p>
        </p:txBody>
      </p:sp>
      <p:sp>
        <p:nvSpPr>
          <p:cNvPr id="230" name="c4_badge"/>
          <p:cNvSpPr/>
          <p:nvPr/>
        </p:nvSpPr>
        <p:spPr>
          <a:xfrm>
            <a:off x="1371600" y="4315967"/>
            <a:ext cx="384048" cy="384049"/>
          </a:xfrm>
          <a:prstGeom prst="ellipse">
            <a:avLst/>
          </a:prstGeom>
          <a:solidFill>
            <a:srgbClr val="FF8952"/>
          </a:solidFill>
          <a:ln w="12700">
            <a:solidFill>
              <a:srgbClr val="FF8952"/>
            </a:solidFill>
          </a:ln>
        </p:spPr>
        <p:txBody>
          <a:bodyPr lIns="45719" rIns="45719"/>
          <a:lstStyle/>
          <a:p>
            <a:pPr/>
          </a:p>
        </p:txBody>
      </p:sp>
      <p:sp>
        <p:nvSpPr>
          <p:cNvPr id="231" name="c4_num"/>
          <p:cNvSpPr txBox="1"/>
          <p:nvPr/>
        </p:nvSpPr>
        <p:spPr>
          <a:xfrm>
            <a:off x="1371600" y="4406391"/>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0B3D4C"/>
                </a:solidFill>
                <a:latin typeface="Georgia"/>
                <a:ea typeface="Georgia"/>
                <a:cs typeface="Georgia"/>
                <a:sym typeface="Georgia"/>
              </a:defRPr>
            </a:lvl1pPr>
          </a:lstStyle>
          <a:p>
            <a:pPr/>
            <a:r>
              <a:t>5</a:t>
            </a:r>
          </a:p>
        </p:txBody>
      </p:sp>
      <p:sp>
        <p:nvSpPr>
          <p:cNvPr id="232" name="c4_q"/>
          <p:cNvSpPr txBox="1"/>
          <p:nvPr/>
        </p:nvSpPr>
        <p:spPr>
          <a:xfrm>
            <a:off x="1901951" y="4362077"/>
            <a:ext cx="4184753" cy="4747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0C2730"/>
                </a:solidFill>
                <a:latin typeface="Arial"/>
                <a:ea typeface="Arial"/>
                <a:cs typeface="Arial"/>
                <a:sym typeface="Arial"/>
              </a:defRPr>
            </a:lvl1pPr>
          </a:lstStyle>
          <a:p>
            <a:pPr/>
            <a:r>
              <a:t>State what decides whether an object floats or sinks.</a:t>
            </a:r>
          </a:p>
        </p:txBody>
      </p:sp>
      <p:grpSp>
        <p:nvGrpSpPr>
          <p:cNvPr id="235" name="c4_a"/>
          <p:cNvGrpSpPr/>
          <p:nvPr/>
        </p:nvGrpSpPr>
        <p:grpSpPr>
          <a:xfrm>
            <a:off x="1371600" y="4992623"/>
            <a:ext cx="4715105" cy="402337"/>
            <a:chOff x="0" y="0"/>
            <a:chExt cx="4715104" cy="402336"/>
          </a:xfrm>
        </p:grpSpPr>
        <p:sp>
          <p:nvSpPr>
            <p:cNvPr id="233" name="Rounded Rectangle"/>
            <p:cNvSpPr/>
            <p:nvPr/>
          </p:nvSpPr>
          <p:spPr>
            <a:xfrm>
              <a:off x="0" y="0"/>
              <a:ext cx="4715105" cy="402337"/>
            </a:xfrm>
            <a:prstGeom prst="roundRect">
              <a:avLst>
                <a:gd name="adj" fmla="val 22727"/>
              </a:avLst>
            </a:prstGeom>
            <a:solidFill>
              <a:srgbClr val="FFEEE4"/>
            </a:solidFill>
            <a:ln w="16510" cap="flat">
              <a:solidFill>
                <a:srgbClr val="FF8952"/>
              </a:solidFill>
              <a:prstDash val="solid"/>
              <a:round/>
            </a:ln>
            <a:effectLst/>
          </p:spPr>
          <p:txBody>
            <a:bodyPr wrap="square" lIns="45719" tIns="45719" rIns="45719" bIns="45719" numCol="1" anchor="ctr">
              <a:noAutofit/>
            </a:bodyPr>
            <a:lstStyle/>
            <a:p>
              <a:pPr>
                <a:defRPr sz="1500"/>
              </a:pPr>
            </a:p>
          </p:txBody>
        </p:sp>
        <p:sp>
          <p:nvSpPr>
            <p:cNvPr id="234" name="Its density compared with the liquid's density."/>
            <p:cNvSpPr txBox="1"/>
            <p:nvPr/>
          </p:nvSpPr>
          <p:spPr>
            <a:xfrm>
              <a:off x="35037" y="95318"/>
              <a:ext cx="4645030" cy="2117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500">
                  <a:solidFill>
                    <a:srgbClr val="0B3D4C"/>
                  </a:solidFill>
                  <a:latin typeface="Arial"/>
                  <a:ea typeface="Arial"/>
                  <a:cs typeface="Arial"/>
                  <a:sym typeface="Arial"/>
                </a:defRPr>
              </a:lvl1pPr>
            </a:lstStyle>
            <a:p>
              <a:pPr/>
              <a:r>
                <a:t>Its density compared with the liquid's density.</a:t>
              </a:r>
            </a:p>
          </p:txBody>
        </p:sp>
      </p:grpSp>
      <p:sp>
        <p:nvSpPr>
          <p:cNvPr id="236" name="c5_bg"/>
          <p:cNvSpPr/>
          <p:nvPr/>
        </p:nvSpPr>
        <p:spPr>
          <a:xfrm>
            <a:off x="6525615" y="4151376"/>
            <a:ext cx="5117441" cy="1389889"/>
          </a:xfrm>
          <a:prstGeom prst="roundRect">
            <a:avLst>
              <a:gd name="adj" fmla="val 6579"/>
            </a:avLst>
          </a:prstGeom>
          <a:solidFill>
            <a:srgbClr val="FFFFFF"/>
          </a:solidFill>
          <a:ln w="16510">
            <a:solidFill>
              <a:srgbClr val="D8DEEC"/>
            </a:solidFill>
          </a:ln>
        </p:spPr>
        <p:txBody>
          <a:bodyPr lIns="45719" rIns="45719"/>
          <a:lstStyle/>
          <a:p>
            <a:pPr/>
          </a:p>
        </p:txBody>
      </p:sp>
      <p:sp>
        <p:nvSpPr>
          <p:cNvPr id="237" name="c5_badge"/>
          <p:cNvSpPr/>
          <p:nvPr/>
        </p:nvSpPr>
        <p:spPr>
          <a:xfrm>
            <a:off x="6726783" y="4315967"/>
            <a:ext cx="384049" cy="384049"/>
          </a:xfrm>
          <a:prstGeom prst="ellipse">
            <a:avLst/>
          </a:prstGeom>
          <a:solidFill>
            <a:srgbClr val="FF8952"/>
          </a:solidFill>
          <a:ln w="12700">
            <a:solidFill>
              <a:srgbClr val="FF8952"/>
            </a:solidFill>
          </a:ln>
        </p:spPr>
        <p:txBody>
          <a:bodyPr lIns="45719" rIns="45719"/>
          <a:lstStyle/>
          <a:p>
            <a:pPr/>
          </a:p>
        </p:txBody>
      </p:sp>
      <p:sp>
        <p:nvSpPr>
          <p:cNvPr id="238" name="c5_num"/>
          <p:cNvSpPr txBox="1"/>
          <p:nvPr/>
        </p:nvSpPr>
        <p:spPr>
          <a:xfrm>
            <a:off x="6726783" y="4406391"/>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0B3D4C"/>
                </a:solidFill>
                <a:latin typeface="Georgia"/>
                <a:ea typeface="Georgia"/>
                <a:cs typeface="Georgia"/>
                <a:sym typeface="Georgia"/>
              </a:defRPr>
            </a:lvl1pPr>
          </a:lstStyle>
          <a:p>
            <a:pPr/>
            <a:r>
              <a:t>6</a:t>
            </a:r>
          </a:p>
        </p:txBody>
      </p:sp>
      <p:sp>
        <p:nvSpPr>
          <p:cNvPr id="239" name="c5_q"/>
          <p:cNvSpPr txBox="1"/>
          <p:nvPr/>
        </p:nvSpPr>
        <p:spPr>
          <a:xfrm>
            <a:off x="7257136" y="4362077"/>
            <a:ext cx="4184753" cy="4747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0C2730"/>
                </a:solidFill>
                <a:latin typeface="Arial"/>
                <a:ea typeface="Arial"/>
                <a:cs typeface="Arial"/>
                <a:sym typeface="Arial"/>
              </a:defRPr>
            </a:lvl1pPr>
          </a:lstStyle>
          <a:p>
            <a:pPr/>
            <a:r>
              <a:t>Find the volume of a stone that raises a cylinder's level from 50 cm³ to 66 cm³.</a:t>
            </a:r>
          </a:p>
        </p:txBody>
      </p:sp>
      <p:grpSp>
        <p:nvGrpSpPr>
          <p:cNvPr id="242" name="c5_a"/>
          <p:cNvGrpSpPr/>
          <p:nvPr/>
        </p:nvGrpSpPr>
        <p:grpSpPr>
          <a:xfrm>
            <a:off x="6726783" y="4992623"/>
            <a:ext cx="4715106" cy="402337"/>
            <a:chOff x="0" y="0"/>
            <a:chExt cx="4715104" cy="402336"/>
          </a:xfrm>
        </p:grpSpPr>
        <p:sp>
          <p:nvSpPr>
            <p:cNvPr id="240" name="Rounded Rectangle"/>
            <p:cNvSpPr/>
            <p:nvPr/>
          </p:nvSpPr>
          <p:spPr>
            <a:xfrm>
              <a:off x="0" y="0"/>
              <a:ext cx="4715105" cy="402337"/>
            </a:xfrm>
            <a:prstGeom prst="roundRect">
              <a:avLst>
                <a:gd name="adj" fmla="val 22727"/>
              </a:avLst>
            </a:prstGeom>
            <a:solidFill>
              <a:srgbClr val="FFEEE4"/>
            </a:solidFill>
            <a:ln w="16510" cap="flat">
              <a:solidFill>
                <a:srgbClr val="FF8952"/>
              </a:solidFill>
              <a:prstDash val="solid"/>
              <a:round/>
            </a:ln>
            <a:effectLst/>
          </p:spPr>
          <p:txBody>
            <a:bodyPr wrap="square" lIns="45719" tIns="45719" rIns="45719" bIns="45719" numCol="1" anchor="ctr">
              <a:noAutofit/>
            </a:bodyPr>
            <a:lstStyle/>
            <a:p>
              <a:pPr>
                <a:defRPr sz="1500"/>
              </a:pPr>
            </a:p>
          </p:txBody>
        </p:sp>
        <p:sp>
          <p:nvSpPr>
            <p:cNvPr id="241" name="66 − 50 = 16 cm³"/>
            <p:cNvSpPr txBox="1"/>
            <p:nvPr/>
          </p:nvSpPr>
          <p:spPr>
            <a:xfrm>
              <a:off x="35037" y="95318"/>
              <a:ext cx="4645030" cy="2117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500">
                  <a:solidFill>
                    <a:srgbClr val="0B3D4C"/>
                  </a:solidFill>
                  <a:latin typeface="Arial"/>
                  <a:ea typeface="Arial"/>
                  <a:cs typeface="Arial"/>
                  <a:sym typeface="Arial"/>
                </a:defRPr>
              </a:lvl1pPr>
            </a:lstStyle>
            <a:p>
              <a:pPr/>
              <a:r>
                <a:t>66 − 50 = 16 cm³</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360000" fill="hold"/>
                                        <p:tgtEl>
                                          <p:spTgt spid="197"/>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Subtype="8" presetID="22" grpId="2" fill="hold">
                                  <p:stCondLst>
                                    <p:cond delay="0"/>
                                  </p:stCondLst>
                                  <p:iterate type="el" backwards="0">
                                    <p:tmAbs val="0"/>
                                  </p:iterate>
                                  <p:childTnLst>
                                    <p:set>
                                      <p:cBhvr>
                                        <p:cTn id="10" fill="hold"/>
                                        <p:tgtEl>
                                          <p:spTgt spid="207"/>
                                        </p:tgtEl>
                                        <p:attrNameLst>
                                          <p:attrName>style.visibility</p:attrName>
                                        </p:attrNameLst>
                                      </p:cBhvr>
                                      <p:to>
                                        <p:strVal val="visible"/>
                                      </p:to>
                                    </p:set>
                                    <p:animEffect filter="wipe(left)" transition="in">
                                      <p:cBhvr>
                                        <p:cTn id="11" dur="400"/>
                                        <p:tgtEl>
                                          <p:spTgt spid="207"/>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Subtype="8" presetID="22" grpId="3" fill="hold">
                                  <p:stCondLst>
                                    <p:cond delay="0"/>
                                  </p:stCondLst>
                                  <p:iterate type="el" backwards="0">
                                    <p:tmAbs val="0"/>
                                  </p:iterate>
                                  <p:childTnLst>
                                    <p:set>
                                      <p:cBhvr>
                                        <p:cTn id="15" fill="hold"/>
                                        <p:tgtEl>
                                          <p:spTgt spid="214"/>
                                        </p:tgtEl>
                                        <p:attrNameLst>
                                          <p:attrName>style.visibility</p:attrName>
                                        </p:attrNameLst>
                                      </p:cBhvr>
                                      <p:to>
                                        <p:strVal val="visible"/>
                                      </p:to>
                                    </p:set>
                                    <p:animEffect filter="wipe(left)" transition="in">
                                      <p:cBhvr>
                                        <p:cTn id="16" dur="400"/>
                                        <p:tgtEl>
                                          <p:spTgt spid="214"/>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Subtype="8" presetID="22" grpId="4" fill="hold">
                                  <p:stCondLst>
                                    <p:cond delay="0"/>
                                  </p:stCondLst>
                                  <p:iterate type="el" backwards="0">
                                    <p:tmAbs val="0"/>
                                  </p:iterate>
                                  <p:childTnLst>
                                    <p:set>
                                      <p:cBhvr>
                                        <p:cTn id="20" fill="hold"/>
                                        <p:tgtEl>
                                          <p:spTgt spid="221"/>
                                        </p:tgtEl>
                                        <p:attrNameLst>
                                          <p:attrName>style.visibility</p:attrName>
                                        </p:attrNameLst>
                                      </p:cBhvr>
                                      <p:to>
                                        <p:strVal val="visible"/>
                                      </p:to>
                                    </p:set>
                                    <p:animEffect filter="wipe(left)" transition="in">
                                      <p:cBhvr>
                                        <p:cTn id="21" dur="400"/>
                                        <p:tgtEl>
                                          <p:spTgt spid="221"/>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Subtype="8" presetID="22" grpId="5" fill="hold">
                                  <p:stCondLst>
                                    <p:cond delay="0"/>
                                  </p:stCondLst>
                                  <p:iterate type="el" backwards="0">
                                    <p:tmAbs val="0"/>
                                  </p:iterate>
                                  <p:childTnLst>
                                    <p:set>
                                      <p:cBhvr>
                                        <p:cTn id="25" fill="hold"/>
                                        <p:tgtEl>
                                          <p:spTgt spid="228"/>
                                        </p:tgtEl>
                                        <p:attrNameLst>
                                          <p:attrName>style.visibility</p:attrName>
                                        </p:attrNameLst>
                                      </p:cBhvr>
                                      <p:to>
                                        <p:strVal val="visible"/>
                                      </p:to>
                                    </p:set>
                                    <p:animEffect filter="wipe(left)" transition="in">
                                      <p:cBhvr>
                                        <p:cTn id="26" dur="400"/>
                                        <p:tgtEl>
                                          <p:spTgt spid="228"/>
                                        </p:tgtEl>
                                      </p:cBhvr>
                                    </p:animEffect>
                                  </p:childTnLst>
                                </p:cTn>
                              </p:par>
                            </p:childTnLst>
                          </p:cTn>
                        </p:par>
                      </p:childTnLst>
                    </p:cTn>
                  </p:par>
                  <p:par>
                    <p:cTn id="27" fill="hold">
                      <p:stCondLst>
                        <p:cond delay="indefinite"/>
                      </p:stCondLst>
                      <p:childTnLst>
                        <p:par>
                          <p:cTn id="28" fill="hold">
                            <p:stCondLst>
                              <p:cond delay="0"/>
                            </p:stCondLst>
                            <p:childTnLst>
                              <p:par>
                                <p:cTn id="29" presetClass="entr" nodeType="clickEffect" presetSubtype="8" presetID="22" grpId="6" fill="hold">
                                  <p:stCondLst>
                                    <p:cond delay="0"/>
                                  </p:stCondLst>
                                  <p:iterate type="el" backwards="0">
                                    <p:tmAbs val="0"/>
                                  </p:iterate>
                                  <p:childTnLst>
                                    <p:set>
                                      <p:cBhvr>
                                        <p:cTn id="30" fill="hold"/>
                                        <p:tgtEl>
                                          <p:spTgt spid="235"/>
                                        </p:tgtEl>
                                        <p:attrNameLst>
                                          <p:attrName>style.visibility</p:attrName>
                                        </p:attrNameLst>
                                      </p:cBhvr>
                                      <p:to>
                                        <p:strVal val="visible"/>
                                      </p:to>
                                    </p:set>
                                    <p:animEffect filter="wipe(left)" transition="in">
                                      <p:cBhvr>
                                        <p:cTn id="31" dur="400"/>
                                        <p:tgtEl>
                                          <p:spTgt spid="235"/>
                                        </p:tgtEl>
                                      </p:cBhvr>
                                    </p:animEffect>
                                  </p:childTnLst>
                                </p:cTn>
                              </p:par>
                            </p:childTnLst>
                          </p:cTn>
                        </p:par>
                      </p:childTnLst>
                    </p:cTn>
                  </p:par>
                  <p:par>
                    <p:cTn id="32" fill="hold">
                      <p:stCondLst>
                        <p:cond delay="indefinite"/>
                      </p:stCondLst>
                      <p:childTnLst>
                        <p:par>
                          <p:cTn id="33" fill="hold">
                            <p:stCondLst>
                              <p:cond delay="0"/>
                            </p:stCondLst>
                            <p:childTnLst>
                              <p:par>
                                <p:cTn id="34" presetClass="entr" nodeType="clickEffect" presetSubtype="8" presetID="22" grpId="7" fill="hold">
                                  <p:stCondLst>
                                    <p:cond delay="0"/>
                                  </p:stCondLst>
                                  <p:iterate type="el" backwards="0">
                                    <p:tmAbs val="0"/>
                                  </p:iterate>
                                  <p:childTnLst>
                                    <p:set>
                                      <p:cBhvr>
                                        <p:cTn id="35" fill="hold"/>
                                        <p:tgtEl>
                                          <p:spTgt spid="242"/>
                                        </p:tgtEl>
                                        <p:attrNameLst>
                                          <p:attrName>style.visibility</p:attrName>
                                        </p:attrNameLst>
                                      </p:cBhvr>
                                      <p:to>
                                        <p:strVal val="visible"/>
                                      </p:to>
                                    </p:set>
                                    <p:animEffect filter="wipe(left)" transition="in">
                                      <p:cBhvr>
                                        <p:cTn id="36" dur="400"/>
                                        <p:tgtEl>
                                          <p:spTgt spid="242"/>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7" fill="hold" display="0">
                  <p:stCondLst>
                    <p:cond delay="indefinite"/>
                  </p:stCondLst>
                </p:cTn>
                <p:tgtEl>
                  <p:spTgt spid="197"/>
                </p:tgtEl>
              </p:cMediaNode>
            </p:video>
            <p:seq concurrent="1" prevAc="none" nextAc="seek">
              <p:cTn id="38" evtFilter="cancelBubble" nodeType="interactiveSeq" restart="whenNotActive" fill="hold">
                <p:stCondLst>
                  <p:cond delay="0" evt="onClick">
                    <p:tgtEl>
                      <p:spTgt spid="197"/>
                    </p:tgtEl>
                  </p:cond>
                </p:stCondLst>
                <p:endSync delay="0" evt="end">
                  <p:rtn val="all"/>
                </p:endSync>
                <p:childTnLst>
                  <p:par>
                    <p:cTn id="39" fill="hold">
                      <p:stCondLst>
                        <p:cond delay="0"/>
                      </p:stCondLst>
                      <p:childTnLst>
                        <p:par>
                          <p:cTn id="40" fill="hold">
                            <p:stCondLst>
                              <p:cond delay="0"/>
                            </p:stCondLst>
                            <p:childTnLst>
                              <p:par>
                                <p:cTn id="41" presetClass="mediacall" nodeType="clickEffect" presetSubtype="0" presetID="2" fill="hold">
                                  <p:stCondLst>
                                    <p:cond delay="0"/>
                                  </p:stCondLst>
                                  <p:childTnLst>
                                    <p:cmd type="call" cmd="togglePause">
                                      <p:cBhvr>
                                        <p:cTn id="42" dur="1" fill="hold"/>
                                        <p:tgtEl>
                                          <p:spTgt spid="197"/>
                                        </p:tgtEl>
                                      </p:cBhvr>
                                    </p:cmd>
                                  </p:childTnLst>
                                </p:cTn>
                              </p:par>
                            </p:childTnLst>
                          </p:cTn>
                        </p:par>
                      </p:childTnLst>
                    </p:cTn>
                  </p:par>
                </p:childTnLst>
              </p:cTn>
              <p:nextCondLst>
                <p:cond delay="0" evt="onClick">
                  <p:tgtEl>
                    <p:spTgt spid="197"/>
                  </p:tgtEl>
                </p:cond>
              </p:nextCondLst>
            </p:seq>
          </p:childTnLst>
        </p:cTn>
      </p:par>
    </p:tnLst>
    <p:bldLst>
      <p:bldP build="whole" bldLvl="1" animBg="1" rev="0" advAuto="0" spid="235" grpId="6"/>
      <p:bldP build="whole" bldLvl="1" animBg="1" rev="0" advAuto="0" spid="214" grpId="3"/>
      <p:bldP build="whole" bldLvl="1" animBg="1" rev="0" advAuto="0" spid="221" grpId="4"/>
      <p:bldP build="whole" bldLvl="1" animBg="1" rev="0" advAuto="0" spid="242" grpId="7"/>
      <p:bldP build="whole" bldLvl="1" animBg="1" rev="0" advAuto="0" spid="228" grpId="5"/>
      <p:bldP build="whole" bldLvl="1" animBg="1" rev="0" advAuto="0" spid="207" grpId="2"/>
    </p:bld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EFF6F7"/>
        </a:solidFill>
      </p:bgPr>
    </p:bg>
    <p:spTree>
      <p:nvGrpSpPr>
        <p:cNvPr id="1" name=""/>
        <p:cNvGrpSpPr/>
        <p:nvPr/>
      </p:nvGrpSpPr>
      <p:grpSpPr>
        <a:xfrm>
          <a:off x="0" y="0"/>
          <a:ext cx="0" cy="0"/>
          <a:chOff x="0" y="0"/>
          <a:chExt cx="0" cy="0"/>
        </a:xfrm>
      </p:grpSpPr>
      <p:pic>
        <p:nvPicPr>
          <p:cNvPr id="246"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49" name="phase_pill"/>
          <p:cNvGrpSpPr/>
          <p:nvPr/>
        </p:nvGrpSpPr>
        <p:grpSpPr>
          <a:xfrm>
            <a:off x="1170432" y="310895"/>
            <a:ext cx="1892808" cy="329185"/>
            <a:chOff x="0" y="0"/>
            <a:chExt cx="1892807" cy="329184"/>
          </a:xfrm>
        </p:grpSpPr>
        <p:sp>
          <p:nvSpPr>
            <p:cNvPr id="247" name="Rounded Rectangle"/>
            <p:cNvSpPr/>
            <p:nvPr/>
          </p:nvSpPr>
          <p:spPr>
            <a:xfrm>
              <a:off x="0" y="0"/>
              <a:ext cx="1892808" cy="329185"/>
            </a:xfrm>
            <a:prstGeom prst="roundRect">
              <a:avLst>
                <a:gd name="adj" fmla="val 44444"/>
              </a:avLst>
            </a:prstGeom>
            <a:solidFill>
              <a:srgbClr val="0B3D4C"/>
            </a:solidFill>
            <a:ln w="12700" cap="flat">
              <a:noFill/>
              <a:miter lim="400000"/>
            </a:ln>
            <a:effectLst/>
          </p:spPr>
          <p:txBody>
            <a:bodyPr wrap="square" lIns="45719" tIns="45719" rIns="45719" bIns="45719" numCol="1" anchor="ctr">
              <a:noAutofit/>
            </a:bodyPr>
            <a:lstStyle/>
            <a:p>
              <a:pPr algn="ctr">
                <a:defRPr sz="1100"/>
              </a:pPr>
            </a:p>
          </p:txBody>
        </p:sp>
        <p:sp>
          <p:nvSpPr>
            <p:cNvPr id="248" name="YOU DO · 14 MIN"/>
            <p:cNvSpPr txBox="1"/>
            <p:nvPr/>
          </p:nvSpPr>
          <p:spPr>
            <a:xfrm>
              <a:off x="42850" y="90677"/>
              <a:ext cx="1807107"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YOU DO · 14 MIN</a:t>
              </a:r>
            </a:p>
          </p:txBody>
        </p:sp>
      </p:grpSp>
      <p:pic>
        <p:nvPicPr>
          <p:cNvPr id="250" name="gc_logo" descr="gc_logo"/>
          <p:cNvPicPr>
            <a:picLocks noChangeAspect="1"/>
          </p:cNvPicPr>
          <p:nvPr/>
        </p:nvPicPr>
        <p:blipFill>
          <a:blip r:embed="rId6">
            <a:alphaModFix amt="38000"/>
            <a:extLst/>
          </a:blip>
          <a:stretch>
            <a:fillRect/>
          </a:stretch>
        </p:blipFill>
        <p:spPr>
          <a:xfrm>
            <a:off x="10088574" y="786383"/>
            <a:ext cx="1554481" cy="1344169"/>
          </a:xfrm>
          <a:prstGeom prst="rect">
            <a:avLst/>
          </a:prstGeom>
          <a:ln w="12700">
            <a:miter lim="400000"/>
          </a:ln>
        </p:spPr>
      </p:pic>
      <p:sp>
        <p:nvSpPr>
          <p:cNvPr id="251" name="slide_title"/>
          <p:cNvSpPr txBox="1"/>
          <p:nvPr/>
        </p:nvSpPr>
        <p:spPr>
          <a:xfrm>
            <a:off x="1170432" y="1082947"/>
            <a:ext cx="8643823" cy="44929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3600"/>
              </a:lnSpc>
              <a:defRPr b="1" sz="3000">
                <a:solidFill>
                  <a:srgbClr val="0B3D4C"/>
                </a:solidFill>
                <a:latin typeface="Georgia"/>
                <a:ea typeface="Georgia"/>
                <a:cs typeface="Georgia"/>
                <a:sym typeface="Georgia"/>
              </a:defRPr>
            </a:lvl1pPr>
          </a:lstStyle>
          <a:p>
            <a:pPr/>
            <a:r>
              <a:t>Density worksheet</a:t>
            </a:r>
          </a:p>
        </p:txBody>
      </p:sp>
      <p:sp>
        <p:nvSpPr>
          <p:cNvPr id="252" name="slide_sub"/>
          <p:cNvSpPr txBox="1"/>
          <p:nvPr/>
        </p:nvSpPr>
        <p:spPr>
          <a:xfrm>
            <a:off x="1170432" y="1924787"/>
            <a:ext cx="8643823"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700">
                <a:solidFill>
                  <a:srgbClr val="D63447"/>
                </a:solidFill>
                <a:latin typeface="Arial"/>
                <a:ea typeface="Arial"/>
                <a:cs typeface="Arial"/>
                <a:sym typeface="Arial"/>
              </a:defRPr>
            </a:lvl1pPr>
          </a:lstStyle>
          <a:p>
            <a:pPr/>
            <a:r>
              <a:t>Open Google Classroom now.</a:t>
            </a:r>
          </a:p>
        </p:txBody>
      </p:sp>
      <p:grpSp>
        <p:nvGrpSpPr>
          <p:cNvPr id="257" name="t0"/>
          <p:cNvGrpSpPr/>
          <p:nvPr/>
        </p:nvGrpSpPr>
        <p:grpSpPr>
          <a:xfrm>
            <a:off x="1170432" y="2322576"/>
            <a:ext cx="3307994" cy="1828801"/>
            <a:chOff x="0" y="0"/>
            <a:chExt cx="3307993" cy="1828800"/>
          </a:xfrm>
        </p:grpSpPr>
        <p:sp>
          <p:nvSpPr>
            <p:cNvPr id="253" name="t0_bg"/>
            <p:cNvSpPr/>
            <p:nvPr/>
          </p:nvSpPr>
          <p:spPr>
            <a:xfrm>
              <a:off x="0" y="0"/>
              <a:ext cx="3307994" cy="1828800"/>
            </a:xfrm>
            <a:prstGeom prst="roundRect">
              <a:avLst>
                <a:gd name="adj" fmla="val 5000"/>
              </a:avLst>
            </a:prstGeom>
            <a:solidFill>
              <a:srgbClr val="FFEBE4"/>
            </a:solidFill>
            <a:ln w="20320" cap="flat">
              <a:solidFill>
                <a:srgbClr val="D63447"/>
              </a:solidFill>
              <a:prstDash val="solid"/>
              <a:round/>
            </a:ln>
            <a:effectLst/>
          </p:spPr>
          <p:txBody>
            <a:bodyPr wrap="square" lIns="45719" tIns="45719" rIns="45719" bIns="45719" numCol="1" anchor="t">
              <a:noAutofit/>
            </a:bodyPr>
            <a:lstStyle/>
            <a:p>
              <a:pPr/>
            </a:p>
          </p:txBody>
        </p:sp>
        <p:sp>
          <p:nvSpPr>
            <p:cNvPr id="254" name="t0_h"/>
            <p:cNvSpPr txBox="1"/>
            <p:nvPr/>
          </p:nvSpPr>
          <p:spPr>
            <a:xfrm>
              <a:off x="237744" y="242638"/>
              <a:ext cx="2832506"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20" sz="1500">
                  <a:solidFill>
                    <a:srgbClr val="D63447"/>
                  </a:solidFill>
                  <a:latin typeface="Arial"/>
                  <a:ea typeface="Arial"/>
                  <a:cs typeface="Arial"/>
                  <a:sym typeface="Arial"/>
                </a:defRPr>
              </a:lvl1pPr>
            </a:lstStyle>
            <a:p>
              <a:pPr/>
              <a:r>
                <a:t>BRONZE</a:t>
              </a:r>
            </a:p>
          </p:txBody>
        </p:sp>
        <p:sp>
          <p:nvSpPr>
            <p:cNvPr id="255" name="t0_s"/>
            <p:cNvSpPr txBox="1"/>
            <p:nvPr/>
          </p:nvSpPr>
          <p:spPr>
            <a:xfrm>
              <a:off x="237744" y="571475"/>
              <a:ext cx="2832506" cy="24693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700">
                  <a:solidFill>
                    <a:srgbClr val="0B3D4C"/>
                  </a:solidFill>
                  <a:latin typeface="Arial"/>
                  <a:ea typeface="Arial"/>
                  <a:cs typeface="Arial"/>
                  <a:sym typeface="Arial"/>
                </a:defRPr>
              </a:lvl1pPr>
            </a:lstStyle>
            <a:p>
              <a:pPr/>
              <a:r>
                <a:t>Substitute</a:t>
              </a:r>
            </a:p>
          </p:txBody>
        </p:sp>
        <p:sp>
          <p:nvSpPr>
            <p:cNvPr id="256" name="t0_b"/>
            <p:cNvSpPr txBox="1"/>
            <p:nvPr/>
          </p:nvSpPr>
          <p:spPr>
            <a:xfrm>
              <a:off x="237744" y="877823"/>
              <a:ext cx="2832506" cy="2205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800"/>
                </a:lnSpc>
                <a:defRPr sz="1400">
                  <a:solidFill>
                    <a:srgbClr val="4E6D74"/>
                  </a:solidFill>
                  <a:latin typeface="Arial"/>
                  <a:ea typeface="Arial"/>
                  <a:cs typeface="Arial"/>
                  <a:sym typeface="Arial"/>
                </a:defRPr>
              </a:lvl1pPr>
            </a:lstStyle>
            <a:p>
              <a:pPr/>
              <a:r>
                <a:t>Use ρ = m ÷ V directly.</a:t>
              </a:r>
            </a:p>
          </p:txBody>
        </p:sp>
      </p:grpSp>
      <p:grpSp>
        <p:nvGrpSpPr>
          <p:cNvPr id="262" name="t1"/>
          <p:cNvGrpSpPr/>
          <p:nvPr/>
        </p:nvGrpSpPr>
        <p:grpSpPr>
          <a:xfrm>
            <a:off x="4752745" y="2322576"/>
            <a:ext cx="3307995" cy="1828801"/>
            <a:chOff x="0" y="0"/>
            <a:chExt cx="3307993" cy="1828800"/>
          </a:xfrm>
        </p:grpSpPr>
        <p:sp>
          <p:nvSpPr>
            <p:cNvPr id="258" name="t1_bg"/>
            <p:cNvSpPr/>
            <p:nvPr/>
          </p:nvSpPr>
          <p:spPr>
            <a:xfrm>
              <a:off x="0" y="0"/>
              <a:ext cx="3307994" cy="1828800"/>
            </a:xfrm>
            <a:prstGeom prst="roundRect">
              <a:avLst>
                <a:gd name="adj" fmla="val 5000"/>
              </a:avLst>
            </a:prstGeom>
            <a:solidFill>
              <a:srgbClr val="F1F4F4"/>
            </a:solidFill>
            <a:ln w="20320" cap="flat">
              <a:solidFill>
                <a:srgbClr val="6E838A"/>
              </a:solidFill>
              <a:prstDash val="solid"/>
              <a:round/>
            </a:ln>
            <a:effectLst/>
          </p:spPr>
          <p:txBody>
            <a:bodyPr wrap="square" lIns="45719" tIns="45719" rIns="45719" bIns="45719" numCol="1" anchor="t">
              <a:noAutofit/>
            </a:bodyPr>
            <a:lstStyle/>
            <a:p>
              <a:pPr/>
            </a:p>
          </p:txBody>
        </p:sp>
        <p:sp>
          <p:nvSpPr>
            <p:cNvPr id="259" name="t1_h"/>
            <p:cNvSpPr txBox="1"/>
            <p:nvPr/>
          </p:nvSpPr>
          <p:spPr>
            <a:xfrm>
              <a:off x="237744" y="242638"/>
              <a:ext cx="2832506"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20" sz="1500">
                  <a:solidFill>
                    <a:srgbClr val="6E838A"/>
                  </a:solidFill>
                  <a:latin typeface="Arial"/>
                  <a:ea typeface="Arial"/>
                  <a:cs typeface="Arial"/>
                  <a:sym typeface="Arial"/>
                </a:defRPr>
              </a:lvl1pPr>
            </a:lstStyle>
            <a:p>
              <a:pPr/>
              <a:r>
                <a:t>SILVER</a:t>
              </a:r>
            </a:p>
          </p:txBody>
        </p:sp>
        <p:sp>
          <p:nvSpPr>
            <p:cNvPr id="260" name="t1_s"/>
            <p:cNvSpPr txBox="1"/>
            <p:nvPr/>
          </p:nvSpPr>
          <p:spPr>
            <a:xfrm>
              <a:off x="237744" y="571475"/>
              <a:ext cx="2832506" cy="24693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700">
                  <a:solidFill>
                    <a:srgbClr val="0B3D4C"/>
                  </a:solidFill>
                  <a:latin typeface="Arial"/>
                  <a:ea typeface="Arial"/>
                  <a:cs typeface="Arial"/>
                  <a:sym typeface="Arial"/>
                </a:defRPr>
              </a:lvl1pPr>
            </a:lstStyle>
            <a:p>
              <a:pPr/>
              <a:r>
                <a:t>Rearrange</a:t>
              </a:r>
            </a:p>
          </p:txBody>
        </p:sp>
        <p:sp>
          <p:nvSpPr>
            <p:cNvPr id="261" name="t1_b"/>
            <p:cNvSpPr txBox="1"/>
            <p:nvPr/>
          </p:nvSpPr>
          <p:spPr>
            <a:xfrm>
              <a:off x="237744" y="877823"/>
              <a:ext cx="2832506" cy="4491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800"/>
                </a:lnSpc>
                <a:defRPr sz="1400">
                  <a:solidFill>
                    <a:srgbClr val="4E6D74"/>
                  </a:solidFill>
                  <a:latin typeface="Arial"/>
                  <a:ea typeface="Arial"/>
                  <a:cs typeface="Arial"/>
                  <a:sym typeface="Arial"/>
                </a:defRPr>
              </a:lvl1pPr>
            </a:lstStyle>
            <a:p>
              <a:pPr/>
              <a:r>
                <a:t>Find mass or volume from density, or find density from liquid data.</a:t>
              </a:r>
            </a:p>
          </p:txBody>
        </p:sp>
      </p:grpSp>
      <p:grpSp>
        <p:nvGrpSpPr>
          <p:cNvPr id="267" name="t2"/>
          <p:cNvGrpSpPr/>
          <p:nvPr/>
        </p:nvGrpSpPr>
        <p:grpSpPr>
          <a:xfrm>
            <a:off x="8335061" y="2322576"/>
            <a:ext cx="3307994" cy="1828801"/>
            <a:chOff x="0" y="0"/>
            <a:chExt cx="3307993" cy="1828800"/>
          </a:xfrm>
        </p:grpSpPr>
        <p:sp>
          <p:nvSpPr>
            <p:cNvPr id="263" name="t2_bg"/>
            <p:cNvSpPr/>
            <p:nvPr/>
          </p:nvSpPr>
          <p:spPr>
            <a:xfrm>
              <a:off x="0" y="0"/>
              <a:ext cx="3307994" cy="1828800"/>
            </a:xfrm>
            <a:prstGeom prst="roundRect">
              <a:avLst>
                <a:gd name="adj" fmla="val 5000"/>
              </a:avLst>
            </a:prstGeom>
            <a:solidFill>
              <a:srgbClr val="FFEEE4"/>
            </a:solidFill>
            <a:ln w="20320" cap="flat">
              <a:solidFill>
                <a:srgbClr val="C25A29"/>
              </a:solidFill>
              <a:prstDash val="solid"/>
              <a:round/>
            </a:ln>
            <a:effectLst/>
          </p:spPr>
          <p:txBody>
            <a:bodyPr wrap="square" lIns="45719" tIns="45719" rIns="45719" bIns="45719" numCol="1" anchor="t">
              <a:noAutofit/>
            </a:bodyPr>
            <a:lstStyle/>
            <a:p>
              <a:pPr/>
            </a:p>
          </p:txBody>
        </p:sp>
        <p:sp>
          <p:nvSpPr>
            <p:cNvPr id="264" name="t2_h"/>
            <p:cNvSpPr txBox="1"/>
            <p:nvPr/>
          </p:nvSpPr>
          <p:spPr>
            <a:xfrm>
              <a:off x="237744" y="242638"/>
              <a:ext cx="2832506"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20" sz="1500">
                  <a:solidFill>
                    <a:srgbClr val="C25A29"/>
                  </a:solidFill>
                  <a:latin typeface="Arial"/>
                  <a:ea typeface="Arial"/>
                  <a:cs typeface="Arial"/>
                  <a:sym typeface="Arial"/>
                </a:defRPr>
              </a:lvl1pPr>
            </a:lstStyle>
            <a:p>
              <a:pPr/>
              <a:r>
                <a:t>GOLD</a:t>
              </a:r>
            </a:p>
          </p:txBody>
        </p:sp>
        <p:sp>
          <p:nvSpPr>
            <p:cNvPr id="265" name="t2_s"/>
            <p:cNvSpPr txBox="1"/>
            <p:nvPr/>
          </p:nvSpPr>
          <p:spPr>
            <a:xfrm>
              <a:off x="237744" y="571475"/>
              <a:ext cx="2832506" cy="24693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700">
                  <a:solidFill>
                    <a:srgbClr val="0B3D4C"/>
                  </a:solidFill>
                  <a:latin typeface="Arial"/>
                  <a:ea typeface="Arial"/>
                  <a:cs typeface="Arial"/>
                  <a:sym typeface="Arial"/>
                </a:defRPr>
              </a:lvl1pPr>
            </a:lstStyle>
            <a:p>
              <a:pPr/>
              <a:r>
                <a:t>Decide</a:t>
              </a:r>
            </a:p>
          </p:txBody>
        </p:sp>
        <p:sp>
          <p:nvSpPr>
            <p:cNvPr id="266" name="t2_b"/>
            <p:cNvSpPr txBox="1"/>
            <p:nvPr/>
          </p:nvSpPr>
          <p:spPr>
            <a:xfrm>
              <a:off x="237744" y="877823"/>
              <a:ext cx="2832506" cy="6777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800"/>
                </a:lnSpc>
                <a:defRPr sz="1400">
                  <a:solidFill>
                    <a:srgbClr val="4E6D74"/>
                  </a:solidFill>
                  <a:latin typeface="Arial"/>
                  <a:ea typeface="Arial"/>
                  <a:cs typeface="Arial"/>
                  <a:sym typeface="Arial"/>
                </a:defRPr>
              </a:lvl1pPr>
            </a:lstStyle>
            <a:p>
              <a:pPr/>
              <a:r>
                <a:t>Use displacement to find volume, then compare densities to decide float or sink.</a:t>
              </a:r>
            </a:p>
          </p:txBody>
        </p:sp>
      </p:grpSp>
      <p:sp>
        <p:nvSpPr>
          <p:cNvPr id="268" name="yd_note"/>
          <p:cNvSpPr txBox="1"/>
          <p:nvPr/>
        </p:nvSpPr>
        <p:spPr>
          <a:xfrm>
            <a:off x="1170432" y="4543319"/>
            <a:ext cx="10472623"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0B3D4C"/>
                </a:solidFill>
                <a:latin typeface="Arial"/>
                <a:ea typeface="Arial"/>
                <a:cs typeface="Arial"/>
                <a:sym typeface="Arial"/>
              </a:defRPr>
            </a:lvl1pPr>
          </a:lstStyle>
          <a:p>
            <a:pPr/>
            <a:r>
              <a:t>Units every time: g/cm³ or kg/m³. Show your working line by line.</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840000" fill="hold"/>
                                        <p:tgtEl>
                                          <p:spTgt spid="246"/>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257"/>
                                        </p:tgtEl>
                                        <p:attrNameLst>
                                          <p:attrName>style.visibility</p:attrName>
                                        </p:attrNameLst>
                                      </p:cBhvr>
                                      <p:to>
                                        <p:strVal val="visible"/>
                                      </p:to>
                                    </p:set>
                                    <p:animEffect filter="fade" transition="in">
                                      <p:cBhvr>
                                        <p:cTn id="11" dur="400"/>
                                        <p:tgtEl>
                                          <p:spTgt spid="257"/>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262"/>
                                        </p:tgtEl>
                                        <p:attrNameLst>
                                          <p:attrName>style.visibility</p:attrName>
                                        </p:attrNameLst>
                                      </p:cBhvr>
                                      <p:to>
                                        <p:strVal val="visible"/>
                                      </p:to>
                                    </p:set>
                                    <p:animEffect filter="fade" transition="in">
                                      <p:cBhvr>
                                        <p:cTn id="16" dur="400"/>
                                        <p:tgtEl>
                                          <p:spTgt spid="262"/>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267"/>
                                        </p:tgtEl>
                                        <p:attrNameLst>
                                          <p:attrName>style.visibility</p:attrName>
                                        </p:attrNameLst>
                                      </p:cBhvr>
                                      <p:to>
                                        <p:strVal val="visible"/>
                                      </p:to>
                                    </p:set>
                                    <p:animEffect filter="fade" transition="in">
                                      <p:cBhvr>
                                        <p:cTn id="21" dur="400"/>
                                        <p:tgtEl>
                                          <p:spTgt spid="267"/>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ID="10" grpId="5" fill="hold">
                                  <p:stCondLst>
                                    <p:cond delay="0"/>
                                  </p:stCondLst>
                                  <p:iterate type="el" backwards="0">
                                    <p:tmAbs val="0"/>
                                  </p:iterate>
                                  <p:childTnLst>
                                    <p:set>
                                      <p:cBhvr>
                                        <p:cTn id="25" fill="hold"/>
                                        <p:tgtEl>
                                          <p:spTgt spid="268"/>
                                        </p:tgtEl>
                                        <p:attrNameLst>
                                          <p:attrName>style.visibility</p:attrName>
                                        </p:attrNameLst>
                                      </p:cBhvr>
                                      <p:to>
                                        <p:strVal val="visible"/>
                                      </p:to>
                                    </p:set>
                                    <p:animEffect filter="fade" transition="in">
                                      <p:cBhvr>
                                        <p:cTn id="26" dur="400"/>
                                        <p:tgtEl>
                                          <p:spTgt spid="268"/>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7" fill="hold" display="0">
                  <p:stCondLst>
                    <p:cond delay="indefinite"/>
                  </p:stCondLst>
                </p:cTn>
                <p:tgtEl>
                  <p:spTgt spid="246"/>
                </p:tgtEl>
              </p:cMediaNode>
            </p:video>
            <p:seq concurrent="1" prevAc="none" nextAc="seek">
              <p:cTn id="28" evtFilter="cancelBubble" nodeType="interactiveSeq" restart="whenNotActive" fill="hold">
                <p:stCondLst>
                  <p:cond delay="0" evt="onClick">
                    <p:tgtEl>
                      <p:spTgt spid="246"/>
                    </p:tgtEl>
                  </p:cond>
                </p:stCondLst>
                <p:endSync delay="0" evt="end">
                  <p:rtn val="all"/>
                </p:endSync>
                <p:childTnLst>
                  <p:par>
                    <p:cTn id="29" fill="hold">
                      <p:stCondLst>
                        <p:cond delay="0"/>
                      </p:stCondLst>
                      <p:childTnLst>
                        <p:par>
                          <p:cTn id="30" fill="hold">
                            <p:stCondLst>
                              <p:cond delay="0"/>
                            </p:stCondLst>
                            <p:childTnLst>
                              <p:par>
                                <p:cTn id="31" presetClass="mediacall" nodeType="clickEffect" presetSubtype="0" presetID="2" fill="hold">
                                  <p:stCondLst>
                                    <p:cond delay="0"/>
                                  </p:stCondLst>
                                  <p:childTnLst>
                                    <p:cmd type="call" cmd="togglePause">
                                      <p:cBhvr>
                                        <p:cTn id="32" dur="1" fill="hold"/>
                                        <p:tgtEl>
                                          <p:spTgt spid="246"/>
                                        </p:tgtEl>
                                      </p:cBhvr>
                                    </p:cmd>
                                  </p:childTnLst>
                                </p:cTn>
                              </p:par>
                            </p:childTnLst>
                          </p:cTn>
                        </p:par>
                      </p:childTnLst>
                    </p:cTn>
                  </p:par>
                </p:childTnLst>
              </p:cTn>
              <p:nextCondLst>
                <p:cond delay="0" evt="onClick">
                  <p:tgtEl>
                    <p:spTgt spid="246"/>
                  </p:tgtEl>
                </p:cond>
              </p:nextCondLst>
            </p:seq>
          </p:childTnLst>
        </p:cTn>
      </p:par>
    </p:tnLst>
    <p:bldLst>
      <p:bldP build="whole" bldLvl="1" animBg="1" rev="0" advAuto="0" spid="262" grpId="3"/>
      <p:bldP build="whole" bldLvl="1" animBg="1" rev="0" advAuto="0" spid="268" grpId="5"/>
      <p:bldP build="whole" bldLvl="1" animBg="1" rev="0" advAuto="0" spid="257" grpId="2"/>
      <p:bldP build="whole" bldLvl="1" animBg="1" rev="0" advAuto="0" spid="267" grpId="4"/>
    </p:bldLst>
  </p:timing>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EFF6F7"/>
        </a:solidFill>
      </p:bgPr>
    </p:bg>
    <p:spTree>
      <p:nvGrpSpPr>
        <p:cNvPr id="1" name=""/>
        <p:cNvGrpSpPr/>
        <p:nvPr/>
      </p:nvGrpSpPr>
      <p:grpSpPr>
        <a:xfrm>
          <a:off x="0" y="0"/>
          <a:ext cx="0" cy="0"/>
          <a:chOff x="0" y="0"/>
          <a:chExt cx="0" cy="0"/>
        </a:xfrm>
      </p:grpSpPr>
      <p:pic>
        <p:nvPicPr>
          <p:cNvPr id="272"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75" name="phase_pill"/>
          <p:cNvGrpSpPr/>
          <p:nvPr/>
        </p:nvGrpSpPr>
        <p:grpSpPr>
          <a:xfrm>
            <a:off x="1170432" y="310895"/>
            <a:ext cx="1892808" cy="329185"/>
            <a:chOff x="0" y="0"/>
            <a:chExt cx="1892807" cy="329184"/>
          </a:xfrm>
        </p:grpSpPr>
        <p:sp>
          <p:nvSpPr>
            <p:cNvPr id="273" name="Rounded Rectangle"/>
            <p:cNvSpPr/>
            <p:nvPr/>
          </p:nvSpPr>
          <p:spPr>
            <a:xfrm>
              <a:off x="0" y="0"/>
              <a:ext cx="1892808" cy="329185"/>
            </a:xfrm>
            <a:prstGeom prst="roundRect">
              <a:avLst>
                <a:gd name="adj" fmla="val 44444"/>
              </a:avLst>
            </a:prstGeom>
            <a:solidFill>
              <a:srgbClr val="0B3D4C"/>
            </a:solidFill>
            <a:ln w="12700" cap="flat">
              <a:noFill/>
              <a:miter lim="400000"/>
            </a:ln>
            <a:effectLst/>
          </p:spPr>
          <p:txBody>
            <a:bodyPr wrap="square" lIns="45719" tIns="45719" rIns="45719" bIns="45719" numCol="1" anchor="ctr">
              <a:noAutofit/>
            </a:bodyPr>
            <a:lstStyle/>
            <a:p>
              <a:pPr algn="ctr">
                <a:defRPr sz="1100"/>
              </a:pPr>
            </a:p>
          </p:txBody>
        </p:sp>
        <p:sp>
          <p:nvSpPr>
            <p:cNvPr id="274" name="ANSWERS · 3 MIN"/>
            <p:cNvSpPr txBox="1"/>
            <p:nvPr/>
          </p:nvSpPr>
          <p:spPr>
            <a:xfrm>
              <a:off x="42850" y="90677"/>
              <a:ext cx="1807107"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ANSWERS · 3 MIN</a:t>
              </a:r>
            </a:p>
          </p:txBody>
        </p:sp>
      </p:grpSp>
      <p:sp>
        <p:nvSpPr>
          <p:cNvPr id="276" name="slide_title"/>
          <p:cNvSpPr txBox="1"/>
          <p:nvPr/>
        </p:nvSpPr>
        <p:spPr>
          <a:xfrm>
            <a:off x="1170432" y="965707"/>
            <a:ext cx="10472623" cy="482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400">
                <a:solidFill>
                  <a:srgbClr val="0B3D4C"/>
                </a:solidFill>
                <a:latin typeface="Georgia"/>
                <a:ea typeface="Georgia"/>
                <a:cs typeface="Georgia"/>
                <a:sym typeface="Georgia"/>
              </a:defRPr>
            </a:lvl1pPr>
          </a:lstStyle>
          <a:p>
            <a:pPr/>
            <a:r>
              <a:t>Answers</a:t>
            </a:r>
          </a:p>
        </p:txBody>
      </p:sp>
      <p:grpSp>
        <p:nvGrpSpPr>
          <p:cNvPr id="280" name="a0"/>
          <p:cNvGrpSpPr/>
          <p:nvPr/>
        </p:nvGrpSpPr>
        <p:grpSpPr>
          <a:xfrm>
            <a:off x="1170432" y="1828800"/>
            <a:ext cx="5117441" cy="658369"/>
            <a:chOff x="0" y="0"/>
            <a:chExt cx="5117439" cy="658368"/>
          </a:xfrm>
        </p:grpSpPr>
        <p:sp>
          <p:nvSpPr>
            <p:cNvPr id="277" name="a0_bg"/>
            <p:cNvSpPr/>
            <p:nvPr/>
          </p:nvSpPr>
          <p:spPr>
            <a:xfrm>
              <a:off x="0" y="0"/>
              <a:ext cx="5117440"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278" name="a0_n"/>
            <p:cNvSpPr txBox="1"/>
            <p:nvPr/>
          </p:nvSpPr>
          <p:spPr>
            <a:xfrm>
              <a:off x="219455" y="195833"/>
              <a:ext cx="4572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C25A29"/>
                  </a:solidFill>
                  <a:latin typeface="Georgia"/>
                  <a:ea typeface="Georgia"/>
                  <a:cs typeface="Georgia"/>
                  <a:sym typeface="Georgia"/>
                </a:defRPr>
              </a:lvl1pPr>
            </a:lstStyle>
            <a:p>
              <a:pPr/>
              <a:r>
                <a:t>1</a:t>
              </a:r>
            </a:p>
          </p:txBody>
        </p:sp>
        <p:sp>
          <p:nvSpPr>
            <p:cNvPr id="279" name="a0_t"/>
            <p:cNvSpPr txBox="1"/>
            <p:nvPr/>
          </p:nvSpPr>
          <p:spPr>
            <a:xfrm>
              <a:off x="749808" y="225330"/>
              <a:ext cx="4166464" cy="2077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700"/>
                </a:lnSpc>
                <a:defRPr sz="1300">
                  <a:solidFill>
                    <a:srgbClr val="0C2730"/>
                  </a:solidFill>
                  <a:latin typeface="Arial"/>
                  <a:ea typeface="Arial"/>
                  <a:cs typeface="Arial"/>
                  <a:sym typeface="Arial"/>
                </a:defRPr>
              </a:lvl1pPr>
            </a:lstStyle>
            <a:p>
              <a:pPr/>
              <a:r>
                <a:t>24 ÷ 3 = 8.0 g/cm³</a:t>
              </a:r>
            </a:p>
          </p:txBody>
        </p:sp>
      </p:grpSp>
      <p:grpSp>
        <p:nvGrpSpPr>
          <p:cNvPr id="284" name="a1"/>
          <p:cNvGrpSpPr/>
          <p:nvPr/>
        </p:nvGrpSpPr>
        <p:grpSpPr>
          <a:xfrm>
            <a:off x="6525615" y="1828800"/>
            <a:ext cx="5117441" cy="658369"/>
            <a:chOff x="0" y="0"/>
            <a:chExt cx="5117439" cy="658368"/>
          </a:xfrm>
        </p:grpSpPr>
        <p:sp>
          <p:nvSpPr>
            <p:cNvPr id="281" name="a1_bg"/>
            <p:cNvSpPr/>
            <p:nvPr/>
          </p:nvSpPr>
          <p:spPr>
            <a:xfrm>
              <a:off x="0" y="0"/>
              <a:ext cx="5117440"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282" name="a1_n"/>
            <p:cNvSpPr txBox="1"/>
            <p:nvPr/>
          </p:nvSpPr>
          <p:spPr>
            <a:xfrm>
              <a:off x="219455" y="195833"/>
              <a:ext cx="4572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C25A29"/>
                  </a:solidFill>
                  <a:latin typeface="Georgia"/>
                  <a:ea typeface="Georgia"/>
                  <a:cs typeface="Georgia"/>
                  <a:sym typeface="Georgia"/>
                </a:defRPr>
              </a:lvl1pPr>
            </a:lstStyle>
            <a:p>
              <a:pPr/>
              <a:r>
                <a:t>2</a:t>
              </a:r>
            </a:p>
          </p:txBody>
        </p:sp>
        <p:sp>
          <p:nvSpPr>
            <p:cNvPr id="283" name="a1_t"/>
            <p:cNvSpPr txBox="1"/>
            <p:nvPr/>
          </p:nvSpPr>
          <p:spPr>
            <a:xfrm>
              <a:off x="749808" y="225330"/>
              <a:ext cx="4166464" cy="2077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700"/>
                </a:lnSpc>
                <a:defRPr sz="1300">
                  <a:solidFill>
                    <a:srgbClr val="0C2730"/>
                  </a:solidFill>
                  <a:latin typeface="Arial"/>
                  <a:ea typeface="Arial"/>
                  <a:cs typeface="Arial"/>
                  <a:sym typeface="Arial"/>
                </a:defRPr>
              </a:lvl1pPr>
            </a:lstStyle>
            <a:p>
              <a:pPr/>
              <a:r>
                <a:t>100 ÷ 20 = 5.0 g/cm³</a:t>
              </a:r>
            </a:p>
          </p:txBody>
        </p:sp>
      </p:grpSp>
      <p:grpSp>
        <p:nvGrpSpPr>
          <p:cNvPr id="288" name="a2"/>
          <p:cNvGrpSpPr/>
          <p:nvPr/>
        </p:nvGrpSpPr>
        <p:grpSpPr>
          <a:xfrm>
            <a:off x="1170432" y="2578607"/>
            <a:ext cx="5117441" cy="658369"/>
            <a:chOff x="0" y="0"/>
            <a:chExt cx="5117439" cy="658368"/>
          </a:xfrm>
        </p:grpSpPr>
        <p:sp>
          <p:nvSpPr>
            <p:cNvPr id="285" name="a2_bg"/>
            <p:cNvSpPr/>
            <p:nvPr/>
          </p:nvSpPr>
          <p:spPr>
            <a:xfrm>
              <a:off x="0" y="0"/>
              <a:ext cx="5117440"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286" name="a2_n"/>
            <p:cNvSpPr txBox="1"/>
            <p:nvPr/>
          </p:nvSpPr>
          <p:spPr>
            <a:xfrm>
              <a:off x="219455" y="195833"/>
              <a:ext cx="4572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C25A29"/>
                  </a:solidFill>
                  <a:latin typeface="Georgia"/>
                  <a:ea typeface="Georgia"/>
                  <a:cs typeface="Georgia"/>
                  <a:sym typeface="Georgia"/>
                </a:defRPr>
              </a:lvl1pPr>
            </a:lstStyle>
            <a:p>
              <a:pPr/>
              <a:r>
                <a:t>3</a:t>
              </a:r>
            </a:p>
          </p:txBody>
        </p:sp>
        <p:sp>
          <p:nvSpPr>
            <p:cNvPr id="287" name="a2_t"/>
            <p:cNvSpPr txBox="1"/>
            <p:nvPr/>
          </p:nvSpPr>
          <p:spPr>
            <a:xfrm>
              <a:off x="749808" y="225330"/>
              <a:ext cx="4166464" cy="2077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700"/>
                </a:lnSpc>
                <a:defRPr sz="1300">
                  <a:solidFill>
                    <a:srgbClr val="0C2730"/>
                  </a:solidFill>
                  <a:latin typeface="Arial"/>
                  <a:ea typeface="Arial"/>
                  <a:cs typeface="Arial"/>
                  <a:sym typeface="Arial"/>
                </a:defRPr>
              </a:lvl1pPr>
            </a:lstStyle>
            <a:p>
              <a:pPr/>
              <a:r>
                <a:t>g/cm³ or kg/m³; mass packed into each unit of volume</a:t>
              </a:r>
            </a:p>
          </p:txBody>
        </p:sp>
      </p:grpSp>
      <p:grpSp>
        <p:nvGrpSpPr>
          <p:cNvPr id="292" name="a3"/>
          <p:cNvGrpSpPr/>
          <p:nvPr/>
        </p:nvGrpSpPr>
        <p:grpSpPr>
          <a:xfrm>
            <a:off x="6525615" y="2578607"/>
            <a:ext cx="5117441" cy="658369"/>
            <a:chOff x="0" y="0"/>
            <a:chExt cx="5117439" cy="658368"/>
          </a:xfrm>
        </p:grpSpPr>
        <p:sp>
          <p:nvSpPr>
            <p:cNvPr id="289" name="a3_bg"/>
            <p:cNvSpPr/>
            <p:nvPr/>
          </p:nvSpPr>
          <p:spPr>
            <a:xfrm>
              <a:off x="0" y="0"/>
              <a:ext cx="5117440"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290" name="a3_n"/>
            <p:cNvSpPr txBox="1"/>
            <p:nvPr/>
          </p:nvSpPr>
          <p:spPr>
            <a:xfrm>
              <a:off x="219455" y="195833"/>
              <a:ext cx="4572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C25A29"/>
                  </a:solidFill>
                  <a:latin typeface="Georgia"/>
                  <a:ea typeface="Georgia"/>
                  <a:cs typeface="Georgia"/>
                  <a:sym typeface="Georgia"/>
                </a:defRPr>
              </a:lvl1pPr>
            </a:lstStyle>
            <a:p>
              <a:pPr/>
              <a:r>
                <a:t>4</a:t>
              </a:r>
            </a:p>
          </p:txBody>
        </p:sp>
        <p:sp>
          <p:nvSpPr>
            <p:cNvPr id="291" name="a3_t"/>
            <p:cNvSpPr txBox="1"/>
            <p:nvPr/>
          </p:nvSpPr>
          <p:spPr>
            <a:xfrm>
              <a:off x="749808" y="225330"/>
              <a:ext cx="4166464" cy="2077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700"/>
                </a:lnSpc>
                <a:defRPr sz="1300">
                  <a:solidFill>
                    <a:srgbClr val="0C2730"/>
                  </a:solidFill>
                  <a:latin typeface="Arial"/>
                  <a:ea typeface="Arial"/>
                  <a:cs typeface="Arial"/>
                  <a:sym typeface="Arial"/>
                </a:defRPr>
              </a:lvl1pPr>
            </a:lstStyle>
            <a:p>
              <a:pPr/>
              <a:r>
                <a:t>V = 96 ÷ 8 = 12 cm³</a:t>
              </a:r>
            </a:p>
          </p:txBody>
        </p:sp>
      </p:grpSp>
      <p:grpSp>
        <p:nvGrpSpPr>
          <p:cNvPr id="296" name="a4"/>
          <p:cNvGrpSpPr/>
          <p:nvPr/>
        </p:nvGrpSpPr>
        <p:grpSpPr>
          <a:xfrm>
            <a:off x="1170432" y="3328415"/>
            <a:ext cx="5117441" cy="658369"/>
            <a:chOff x="0" y="0"/>
            <a:chExt cx="5117439" cy="658368"/>
          </a:xfrm>
        </p:grpSpPr>
        <p:sp>
          <p:nvSpPr>
            <p:cNvPr id="293" name="a4_bg"/>
            <p:cNvSpPr/>
            <p:nvPr/>
          </p:nvSpPr>
          <p:spPr>
            <a:xfrm>
              <a:off x="0" y="0"/>
              <a:ext cx="5117440"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294" name="a4_n"/>
            <p:cNvSpPr txBox="1"/>
            <p:nvPr/>
          </p:nvSpPr>
          <p:spPr>
            <a:xfrm>
              <a:off x="219455" y="195833"/>
              <a:ext cx="4572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C25A29"/>
                  </a:solidFill>
                  <a:latin typeface="Georgia"/>
                  <a:ea typeface="Georgia"/>
                  <a:cs typeface="Georgia"/>
                  <a:sym typeface="Georgia"/>
                </a:defRPr>
              </a:lvl1pPr>
            </a:lstStyle>
            <a:p>
              <a:pPr/>
              <a:r>
                <a:t>5</a:t>
              </a:r>
            </a:p>
          </p:txBody>
        </p:sp>
        <p:sp>
          <p:nvSpPr>
            <p:cNvPr id="295" name="a4_t"/>
            <p:cNvSpPr txBox="1"/>
            <p:nvPr/>
          </p:nvSpPr>
          <p:spPr>
            <a:xfrm>
              <a:off x="749808" y="225330"/>
              <a:ext cx="4166464" cy="2077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700"/>
                </a:lnSpc>
                <a:defRPr sz="1300">
                  <a:solidFill>
                    <a:srgbClr val="0C2730"/>
                  </a:solidFill>
                  <a:latin typeface="Arial"/>
                  <a:ea typeface="Arial"/>
                  <a:cs typeface="Arial"/>
                  <a:sym typeface="Arial"/>
                </a:defRPr>
              </a:lvl1pPr>
            </a:lstStyle>
            <a:p>
              <a:pPr/>
              <a:r>
                <a:t>m = 2.5 × 40 = 100 g</a:t>
              </a:r>
            </a:p>
          </p:txBody>
        </p:sp>
      </p:grpSp>
      <p:grpSp>
        <p:nvGrpSpPr>
          <p:cNvPr id="300" name="a5"/>
          <p:cNvGrpSpPr/>
          <p:nvPr/>
        </p:nvGrpSpPr>
        <p:grpSpPr>
          <a:xfrm>
            <a:off x="6525615" y="3328415"/>
            <a:ext cx="5117441" cy="658369"/>
            <a:chOff x="0" y="0"/>
            <a:chExt cx="5117439" cy="658368"/>
          </a:xfrm>
        </p:grpSpPr>
        <p:sp>
          <p:nvSpPr>
            <p:cNvPr id="297" name="a5_bg"/>
            <p:cNvSpPr/>
            <p:nvPr/>
          </p:nvSpPr>
          <p:spPr>
            <a:xfrm>
              <a:off x="0" y="0"/>
              <a:ext cx="5117440"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298" name="a5_n"/>
            <p:cNvSpPr txBox="1"/>
            <p:nvPr/>
          </p:nvSpPr>
          <p:spPr>
            <a:xfrm>
              <a:off x="219455" y="195833"/>
              <a:ext cx="4572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C25A29"/>
                  </a:solidFill>
                  <a:latin typeface="Georgia"/>
                  <a:ea typeface="Georgia"/>
                  <a:cs typeface="Georgia"/>
                  <a:sym typeface="Georgia"/>
                </a:defRPr>
              </a:lvl1pPr>
            </a:lstStyle>
            <a:p>
              <a:pPr/>
              <a:r>
                <a:t>6</a:t>
              </a:r>
            </a:p>
          </p:txBody>
        </p:sp>
        <p:sp>
          <p:nvSpPr>
            <p:cNvPr id="299" name="a5_t"/>
            <p:cNvSpPr txBox="1"/>
            <p:nvPr/>
          </p:nvSpPr>
          <p:spPr>
            <a:xfrm>
              <a:off x="749808" y="117380"/>
              <a:ext cx="4166464" cy="4236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700"/>
                </a:lnSpc>
                <a:defRPr sz="1300">
                  <a:solidFill>
                    <a:srgbClr val="0C2730"/>
                  </a:solidFill>
                  <a:latin typeface="Arial"/>
                  <a:ea typeface="Arial"/>
                  <a:cs typeface="Arial"/>
                  <a:sym typeface="Arial"/>
                </a:defRPr>
              </a:lvl1pPr>
            </a:lstStyle>
            <a:p>
              <a:pPr/>
              <a:r>
                <a:t>mass = 118 − 38 = 80 g, so density = 80 ÷ 80 = 1.0 g/cm³</a:t>
              </a:r>
            </a:p>
          </p:txBody>
        </p:sp>
      </p:grpSp>
      <p:grpSp>
        <p:nvGrpSpPr>
          <p:cNvPr id="304" name="a6"/>
          <p:cNvGrpSpPr/>
          <p:nvPr/>
        </p:nvGrpSpPr>
        <p:grpSpPr>
          <a:xfrm>
            <a:off x="1170432" y="4078223"/>
            <a:ext cx="5117441" cy="658369"/>
            <a:chOff x="0" y="0"/>
            <a:chExt cx="5117439" cy="658368"/>
          </a:xfrm>
        </p:grpSpPr>
        <p:sp>
          <p:nvSpPr>
            <p:cNvPr id="301" name="a6_bg"/>
            <p:cNvSpPr/>
            <p:nvPr/>
          </p:nvSpPr>
          <p:spPr>
            <a:xfrm>
              <a:off x="0" y="0"/>
              <a:ext cx="5117440"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302" name="a6_n"/>
            <p:cNvSpPr txBox="1"/>
            <p:nvPr/>
          </p:nvSpPr>
          <p:spPr>
            <a:xfrm>
              <a:off x="219455" y="195833"/>
              <a:ext cx="4572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C25A29"/>
                  </a:solidFill>
                  <a:latin typeface="Georgia"/>
                  <a:ea typeface="Georgia"/>
                  <a:cs typeface="Georgia"/>
                  <a:sym typeface="Georgia"/>
                </a:defRPr>
              </a:lvl1pPr>
            </a:lstStyle>
            <a:p>
              <a:pPr/>
              <a:r>
                <a:t>7</a:t>
              </a:r>
            </a:p>
          </p:txBody>
        </p:sp>
        <p:sp>
          <p:nvSpPr>
            <p:cNvPr id="303" name="a6_t"/>
            <p:cNvSpPr txBox="1"/>
            <p:nvPr/>
          </p:nvSpPr>
          <p:spPr>
            <a:xfrm>
              <a:off x="749808" y="225330"/>
              <a:ext cx="4166464" cy="2077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700"/>
                </a:lnSpc>
                <a:defRPr sz="1300">
                  <a:solidFill>
                    <a:srgbClr val="0C2730"/>
                  </a:solidFill>
                  <a:latin typeface="Arial"/>
                  <a:ea typeface="Arial"/>
                  <a:cs typeface="Arial"/>
                  <a:sym typeface="Arial"/>
                </a:defRPr>
              </a:lvl1pPr>
            </a:lstStyle>
            <a:p>
              <a:pPr/>
              <a:r>
                <a:t>85 − 60 = 25 cm³</a:t>
              </a:r>
            </a:p>
          </p:txBody>
        </p:sp>
      </p:grpSp>
      <p:grpSp>
        <p:nvGrpSpPr>
          <p:cNvPr id="308" name="a7"/>
          <p:cNvGrpSpPr/>
          <p:nvPr/>
        </p:nvGrpSpPr>
        <p:grpSpPr>
          <a:xfrm>
            <a:off x="6525615" y="4078223"/>
            <a:ext cx="5117441" cy="658369"/>
            <a:chOff x="0" y="0"/>
            <a:chExt cx="5117439" cy="658368"/>
          </a:xfrm>
        </p:grpSpPr>
        <p:sp>
          <p:nvSpPr>
            <p:cNvPr id="305" name="a7_bg"/>
            <p:cNvSpPr/>
            <p:nvPr/>
          </p:nvSpPr>
          <p:spPr>
            <a:xfrm>
              <a:off x="0" y="0"/>
              <a:ext cx="5117440"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306" name="a7_n"/>
            <p:cNvSpPr txBox="1"/>
            <p:nvPr/>
          </p:nvSpPr>
          <p:spPr>
            <a:xfrm>
              <a:off x="219455" y="195833"/>
              <a:ext cx="4572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C25A29"/>
                  </a:solidFill>
                  <a:latin typeface="Georgia"/>
                  <a:ea typeface="Georgia"/>
                  <a:cs typeface="Georgia"/>
                  <a:sym typeface="Georgia"/>
                </a:defRPr>
              </a:lvl1pPr>
            </a:lstStyle>
            <a:p>
              <a:pPr/>
              <a:r>
                <a:t>8</a:t>
              </a:r>
            </a:p>
          </p:txBody>
        </p:sp>
        <p:sp>
          <p:nvSpPr>
            <p:cNvPr id="307" name="a7_t"/>
            <p:cNvSpPr txBox="1"/>
            <p:nvPr/>
          </p:nvSpPr>
          <p:spPr>
            <a:xfrm>
              <a:off x="749808" y="225330"/>
              <a:ext cx="4166464" cy="2077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700"/>
                </a:lnSpc>
                <a:defRPr sz="1300">
                  <a:solidFill>
                    <a:srgbClr val="0C2730"/>
                  </a:solidFill>
                  <a:latin typeface="Arial"/>
                  <a:ea typeface="Arial"/>
                  <a:cs typeface="Arial"/>
                  <a:sym typeface="Arial"/>
                </a:defRPr>
              </a:lvl1pPr>
            </a:lstStyle>
            <a:p>
              <a:pPr/>
              <a:r>
                <a:t>200 ÷ 25 = 8.0 g/cm³</a:t>
              </a:r>
            </a:p>
          </p:txBody>
        </p:sp>
      </p:grpSp>
      <p:grpSp>
        <p:nvGrpSpPr>
          <p:cNvPr id="312" name="a8"/>
          <p:cNvGrpSpPr/>
          <p:nvPr/>
        </p:nvGrpSpPr>
        <p:grpSpPr>
          <a:xfrm>
            <a:off x="1170432" y="4828032"/>
            <a:ext cx="5117441" cy="658369"/>
            <a:chOff x="0" y="0"/>
            <a:chExt cx="5117439" cy="658368"/>
          </a:xfrm>
        </p:grpSpPr>
        <p:sp>
          <p:nvSpPr>
            <p:cNvPr id="309" name="a8_bg"/>
            <p:cNvSpPr/>
            <p:nvPr/>
          </p:nvSpPr>
          <p:spPr>
            <a:xfrm>
              <a:off x="0" y="0"/>
              <a:ext cx="5117440"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310" name="a8_n"/>
            <p:cNvSpPr txBox="1"/>
            <p:nvPr/>
          </p:nvSpPr>
          <p:spPr>
            <a:xfrm>
              <a:off x="219455" y="195833"/>
              <a:ext cx="4572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C25A29"/>
                  </a:solidFill>
                  <a:latin typeface="Georgia"/>
                  <a:ea typeface="Georgia"/>
                  <a:cs typeface="Georgia"/>
                  <a:sym typeface="Georgia"/>
                </a:defRPr>
              </a:lvl1pPr>
            </a:lstStyle>
            <a:p>
              <a:pPr/>
              <a:r>
                <a:t>9</a:t>
              </a:r>
            </a:p>
          </p:txBody>
        </p:sp>
        <p:sp>
          <p:nvSpPr>
            <p:cNvPr id="311" name="a8_t"/>
            <p:cNvSpPr txBox="1"/>
            <p:nvPr/>
          </p:nvSpPr>
          <p:spPr>
            <a:xfrm>
              <a:off x="749808" y="225330"/>
              <a:ext cx="4166464" cy="2077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700"/>
                </a:lnSpc>
                <a:defRPr sz="1300">
                  <a:solidFill>
                    <a:srgbClr val="0C2730"/>
                  </a:solidFill>
                  <a:latin typeface="Arial"/>
                  <a:ea typeface="Arial"/>
                  <a:cs typeface="Arial"/>
                  <a:sym typeface="Arial"/>
                </a:defRPr>
              </a:lvl1pPr>
            </a:lstStyle>
            <a:p>
              <a:pPr/>
              <a:r>
                <a:t>Ice floats (0.92 &lt; 1.0). Aluminium sinks (2.7 &gt; 1.0).</a:t>
              </a:r>
            </a:p>
          </p:txBody>
        </p:sp>
      </p:grpSp>
      <p:grpSp>
        <p:nvGrpSpPr>
          <p:cNvPr id="316" name="a9"/>
          <p:cNvGrpSpPr/>
          <p:nvPr/>
        </p:nvGrpSpPr>
        <p:grpSpPr>
          <a:xfrm>
            <a:off x="6525615" y="4828032"/>
            <a:ext cx="5117441" cy="658369"/>
            <a:chOff x="0" y="0"/>
            <a:chExt cx="5117439" cy="658368"/>
          </a:xfrm>
        </p:grpSpPr>
        <p:sp>
          <p:nvSpPr>
            <p:cNvPr id="313" name="a9_bg"/>
            <p:cNvSpPr/>
            <p:nvPr/>
          </p:nvSpPr>
          <p:spPr>
            <a:xfrm>
              <a:off x="0" y="0"/>
              <a:ext cx="5117440"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314" name="a9_n"/>
            <p:cNvSpPr txBox="1"/>
            <p:nvPr/>
          </p:nvSpPr>
          <p:spPr>
            <a:xfrm>
              <a:off x="219455" y="195833"/>
              <a:ext cx="4572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C25A29"/>
                  </a:solidFill>
                  <a:latin typeface="Georgia"/>
                  <a:ea typeface="Georgia"/>
                  <a:cs typeface="Georgia"/>
                  <a:sym typeface="Georgia"/>
                </a:defRPr>
              </a:lvl1pPr>
            </a:lstStyle>
            <a:p>
              <a:pPr/>
              <a:r>
                <a:t>10</a:t>
              </a:r>
            </a:p>
          </p:txBody>
        </p:sp>
        <p:sp>
          <p:nvSpPr>
            <p:cNvPr id="315" name="a9_t"/>
            <p:cNvSpPr txBox="1"/>
            <p:nvPr/>
          </p:nvSpPr>
          <p:spPr>
            <a:xfrm>
              <a:off x="749808" y="117380"/>
              <a:ext cx="4166464" cy="4236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700"/>
                </a:lnSpc>
                <a:defRPr sz="1300">
                  <a:solidFill>
                    <a:srgbClr val="0C2730"/>
                  </a:solidFill>
                  <a:latin typeface="Arial"/>
                  <a:ea typeface="Arial"/>
                  <a:cs typeface="Arial"/>
                  <a:sym typeface="Arial"/>
                </a:defRPr>
              </a:lvl1pPr>
            </a:lstStyle>
            <a:p>
              <a:pPr/>
              <a:r>
                <a:t>The ship's shape spreads its mass over a much bigger volume, so its average density is less than water's.</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272"/>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280"/>
                                        </p:tgtEl>
                                        <p:attrNameLst>
                                          <p:attrName>style.visibility</p:attrName>
                                        </p:attrNameLst>
                                      </p:cBhvr>
                                      <p:to>
                                        <p:strVal val="visible"/>
                                      </p:to>
                                    </p:set>
                                    <p:animEffect filter="fade" transition="in">
                                      <p:cBhvr>
                                        <p:cTn id="11" dur="400"/>
                                        <p:tgtEl>
                                          <p:spTgt spid="280"/>
                                        </p:tgtEl>
                                      </p:cBhvr>
                                    </p:animEffect>
                                  </p:childTnLst>
                                </p:cTn>
                              </p:par>
                            </p:childTnLst>
                          </p:cTn>
                        </p:par>
                        <p:par>
                          <p:cTn id="12" fill="hold">
                            <p:stCondLst>
                              <p:cond delay="400"/>
                            </p:stCondLst>
                            <p:childTnLst>
                              <p:par>
                                <p:cTn id="13" presetClass="entr" nodeType="afterEffect" presetID="10" grpId="3" fill="hold">
                                  <p:stCondLst>
                                    <p:cond delay="150"/>
                                  </p:stCondLst>
                                  <p:iterate type="el" backwards="0">
                                    <p:tmAbs val="0"/>
                                  </p:iterate>
                                  <p:childTnLst>
                                    <p:set>
                                      <p:cBhvr>
                                        <p:cTn id="14" fill="hold"/>
                                        <p:tgtEl>
                                          <p:spTgt spid="284"/>
                                        </p:tgtEl>
                                        <p:attrNameLst>
                                          <p:attrName>style.visibility</p:attrName>
                                        </p:attrNameLst>
                                      </p:cBhvr>
                                      <p:to>
                                        <p:strVal val="visible"/>
                                      </p:to>
                                    </p:set>
                                    <p:animEffect filter="fade" transition="in">
                                      <p:cBhvr>
                                        <p:cTn id="15" dur="400"/>
                                        <p:tgtEl>
                                          <p:spTgt spid="284"/>
                                        </p:tgtEl>
                                      </p:cBhvr>
                                    </p:animEffect>
                                  </p:childTnLst>
                                </p:cTn>
                              </p:par>
                            </p:childTnLst>
                          </p:cTn>
                        </p:par>
                      </p:childTnLst>
                    </p:cTn>
                  </p:par>
                  <p:par>
                    <p:cTn id="16" fill="hold">
                      <p:stCondLst>
                        <p:cond delay="indefinite"/>
                      </p:stCondLst>
                      <p:childTnLst>
                        <p:par>
                          <p:cTn id="17" fill="hold">
                            <p:stCondLst>
                              <p:cond delay="0"/>
                            </p:stCondLst>
                            <p:childTnLst>
                              <p:par>
                                <p:cTn id="18" presetClass="entr" nodeType="clickEffect" presetID="10" grpId="4" fill="hold">
                                  <p:stCondLst>
                                    <p:cond delay="0"/>
                                  </p:stCondLst>
                                  <p:iterate type="el" backwards="0">
                                    <p:tmAbs val="0"/>
                                  </p:iterate>
                                  <p:childTnLst>
                                    <p:set>
                                      <p:cBhvr>
                                        <p:cTn id="19" fill="hold"/>
                                        <p:tgtEl>
                                          <p:spTgt spid="288"/>
                                        </p:tgtEl>
                                        <p:attrNameLst>
                                          <p:attrName>style.visibility</p:attrName>
                                        </p:attrNameLst>
                                      </p:cBhvr>
                                      <p:to>
                                        <p:strVal val="visible"/>
                                      </p:to>
                                    </p:set>
                                    <p:animEffect filter="fade" transition="in">
                                      <p:cBhvr>
                                        <p:cTn id="20" dur="400"/>
                                        <p:tgtEl>
                                          <p:spTgt spid="288"/>
                                        </p:tgtEl>
                                      </p:cBhvr>
                                    </p:animEffect>
                                  </p:childTnLst>
                                </p:cTn>
                              </p:par>
                            </p:childTnLst>
                          </p:cTn>
                        </p:par>
                        <p:par>
                          <p:cTn id="21" fill="hold">
                            <p:stCondLst>
                              <p:cond delay="400"/>
                            </p:stCondLst>
                            <p:childTnLst>
                              <p:par>
                                <p:cTn id="22" presetClass="entr" nodeType="afterEffect" presetID="10" grpId="5" fill="hold">
                                  <p:stCondLst>
                                    <p:cond delay="150"/>
                                  </p:stCondLst>
                                  <p:iterate type="el" backwards="0">
                                    <p:tmAbs val="0"/>
                                  </p:iterate>
                                  <p:childTnLst>
                                    <p:set>
                                      <p:cBhvr>
                                        <p:cTn id="23" fill="hold"/>
                                        <p:tgtEl>
                                          <p:spTgt spid="292"/>
                                        </p:tgtEl>
                                        <p:attrNameLst>
                                          <p:attrName>style.visibility</p:attrName>
                                        </p:attrNameLst>
                                      </p:cBhvr>
                                      <p:to>
                                        <p:strVal val="visible"/>
                                      </p:to>
                                    </p:set>
                                    <p:animEffect filter="fade" transition="in">
                                      <p:cBhvr>
                                        <p:cTn id="24" dur="400"/>
                                        <p:tgtEl>
                                          <p:spTgt spid="292"/>
                                        </p:tgtEl>
                                      </p:cBhvr>
                                    </p:animEffect>
                                  </p:childTnLst>
                                </p:cTn>
                              </p:par>
                            </p:childTnLst>
                          </p:cTn>
                        </p:par>
                      </p:childTnLst>
                    </p:cTn>
                  </p:par>
                  <p:par>
                    <p:cTn id="25" fill="hold">
                      <p:stCondLst>
                        <p:cond delay="indefinite"/>
                      </p:stCondLst>
                      <p:childTnLst>
                        <p:par>
                          <p:cTn id="26" fill="hold">
                            <p:stCondLst>
                              <p:cond delay="0"/>
                            </p:stCondLst>
                            <p:childTnLst>
                              <p:par>
                                <p:cTn id="27" presetClass="entr" nodeType="clickEffect" presetID="10" grpId="6" fill="hold">
                                  <p:stCondLst>
                                    <p:cond delay="0"/>
                                  </p:stCondLst>
                                  <p:iterate type="el" backwards="0">
                                    <p:tmAbs val="0"/>
                                  </p:iterate>
                                  <p:childTnLst>
                                    <p:set>
                                      <p:cBhvr>
                                        <p:cTn id="28" fill="hold"/>
                                        <p:tgtEl>
                                          <p:spTgt spid="296"/>
                                        </p:tgtEl>
                                        <p:attrNameLst>
                                          <p:attrName>style.visibility</p:attrName>
                                        </p:attrNameLst>
                                      </p:cBhvr>
                                      <p:to>
                                        <p:strVal val="visible"/>
                                      </p:to>
                                    </p:set>
                                    <p:animEffect filter="fade" transition="in">
                                      <p:cBhvr>
                                        <p:cTn id="29" dur="400"/>
                                        <p:tgtEl>
                                          <p:spTgt spid="296"/>
                                        </p:tgtEl>
                                      </p:cBhvr>
                                    </p:animEffect>
                                  </p:childTnLst>
                                </p:cTn>
                              </p:par>
                            </p:childTnLst>
                          </p:cTn>
                        </p:par>
                        <p:par>
                          <p:cTn id="30" fill="hold">
                            <p:stCondLst>
                              <p:cond delay="400"/>
                            </p:stCondLst>
                            <p:childTnLst>
                              <p:par>
                                <p:cTn id="31" presetClass="entr" nodeType="afterEffect" presetID="10" grpId="7" fill="hold">
                                  <p:stCondLst>
                                    <p:cond delay="150"/>
                                  </p:stCondLst>
                                  <p:iterate type="el" backwards="0">
                                    <p:tmAbs val="0"/>
                                  </p:iterate>
                                  <p:childTnLst>
                                    <p:set>
                                      <p:cBhvr>
                                        <p:cTn id="32" fill="hold"/>
                                        <p:tgtEl>
                                          <p:spTgt spid="300"/>
                                        </p:tgtEl>
                                        <p:attrNameLst>
                                          <p:attrName>style.visibility</p:attrName>
                                        </p:attrNameLst>
                                      </p:cBhvr>
                                      <p:to>
                                        <p:strVal val="visible"/>
                                      </p:to>
                                    </p:set>
                                    <p:animEffect filter="fade" transition="in">
                                      <p:cBhvr>
                                        <p:cTn id="33" dur="400"/>
                                        <p:tgtEl>
                                          <p:spTgt spid="300"/>
                                        </p:tgtEl>
                                      </p:cBhvr>
                                    </p:animEffect>
                                  </p:childTnLst>
                                </p:cTn>
                              </p:par>
                            </p:childTnLst>
                          </p:cTn>
                        </p:par>
                      </p:childTnLst>
                    </p:cTn>
                  </p:par>
                  <p:par>
                    <p:cTn id="34" fill="hold">
                      <p:stCondLst>
                        <p:cond delay="indefinite"/>
                      </p:stCondLst>
                      <p:childTnLst>
                        <p:par>
                          <p:cTn id="35" fill="hold">
                            <p:stCondLst>
                              <p:cond delay="0"/>
                            </p:stCondLst>
                            <p:childTnLst>
                              <p:par>
                                <p:cTn id="36" presetClass="entr" nodeType="clickEffect" presetID="10" grpId="8" fill="hold">
                                  <p:stCondLst>
                                    <p:cond delay="0"/>
                                  </p:stCondLst>
                                  <p:iterate type="el" backwards="0">
                                    <p:tmAbs val="0"/>
                                  </p:iterate>
                                  <p:childTnLst>
                                    <p:set>
                                      <p:cBhvr>
                                        <p:cTn id="37" fill="hold"/>
                                        <p:tgtEl>
                                          <p:spTgt spid="304"/>
                                        </p:tgtEl>
                                        <p:attrNameLst>
                                          <p:attrName>style.visibility</p:attrName>
                                        </p:attrNameLst>
                                      </p:cBhvr>
                                      <p:to>
                                        <p:strVal val="visible"/>
                                      </p:to>
                                    </p:set>
                                    <p:animEffect filter="fade" transition="in">
                                      <p:cBhvr>
                                        <p:cTn id="38" dur="400"/>
                                        <p:tgtEl>
                                          <p:spTgt spid="304"/>
                                        </p:tgtEl>
                                      </p:cBhvr>
                                    </p:animEffect>
                                  </p:childTnLst>
                                </p:cTn>
                              </p:par>
                            </p:childTnLst>
                          </p:cTn>
                        </p:par>
                        <p:par>
                          <p:cTn id="39" fill="hold">
                            <p:stCondLst>
                              <p:cond delay="400"/>
                            </p:stCondLst>
                            <p:childTnLst>
                              <p:par>
                                <p:cTn id="40" presetClass="entr" nodeType="afterEffect" presetID="10" grpId="9" fill="hold">
                                  <p:stCondLst>
                                    <p:cond delay="150"/>
                                  </p:stCondLst>
                                  <p:iterate type="el" backwards="0">
                                    <p:tmAbs val="0"/>
                                  </p:iterate>
                                  <p:childTnLst>
                                    <p:set>
                                      <p:cBhvr>
                                        <p:cTn id="41" fill="hold"/>
                                        <p:tgtEl>
                                          <p:spTgt spid="308"/>
                                        </p:tgtEl>
                                        <p:attrNameLst>
                                          <p:attrName>style.visibility</p:attrName>
                                        </p:attrNameLst>
                                      </p:cBhvr>
                                      <p:to>
                                        <p:strVal val="visible"/>
                                      </p:to>
                                    </p:set>
                                    <p:animEffect filter="fade" transition="in">
                                      <p:cBhvr>
                                        <p:cTn id="42" dur="400"/>
                                        <p:tgtEl>
                                          <p:spTgt spid="308"/>
                                        </p:tgtEl>
                                      </p:cBhvr>
                                    </p:animEffect>
                                  </p:childTnLst>
                                </p:cTn>
                              </p:par>
                            </p:childTnLst>
                          </p:cTn>
                        </p:par>
                      </p:childTnLst>
                    </p:cTn>
                  </p:par>
                  <p:par>
                    <p:cTn id="43" fill="hold">
                      <p:stCondLst>
                        <p:cond delay="indefinite"/>
                      </p:stCondLst>
                      <p:childTnLst>
                        <p:par>
                          <p:cTn id="44" fill="hold">
                            <p:stCondLst>
                              <p:cond delay="0"/>
                            </p:stCondLst>
                            <p:childTnLst>
                              <p:par>
                                <p:cTn id="45" presetClass="entr" nodeType="clickEffect" presetID="10" grpId="10" fill="hold">
                                  <p:stCondLst>
                                    <p:cond delay="0"/>
                                  </p:stCondLst>
                                  <p:iterate type="el" backwards="0">
                                    <p:tmAbs val="0"/>
                                  </p:iterate>
                                  <p:childTnLst>
                                    <p:set>
                                      <p:cBhvr>
                                        <p:cTn id="46" fill="hold"/>
                                        <p:tgtEl>
                                          <p:spTgt spid="312"/>
                                        </p:tgtEl>
                                        <p:attrNameLst>
                                          <p:attrName>style.visibility</p:attrName>
                                        </p:attrNameLst>
                                      </p:cBhvr>
                                      <p:to>
                                        <p:strVal val="visible"/>
                                      </p:to>
                                    </p:set>
                                    <p:animEffect filter="fade" transition="in">
                                      <p:cBhvr>
                                        <p:cTn id="47" dur="400"/>
                                        <p:tgtEl>
                                          <p:spTgt spid="312"/>
                                        </p:tgtEl>
                                      </p:cBhvr>
                                    </p:animEffect>
                                  </p:childTnLst>
                                </p:cTn>
                              </p:par>
                            </p:childTnLst>
                          </p:cTn>
                        </p:par>
                        <p:par>
                          <p:cTn id="48" fill="hold">
                            <p:stCondLst>
                              <p:cond delay="400"/>
                            </p:stCondLst>
                            <p:childTnLst>
                              <p:par>
                                <p:cTn id="49" presetClass="entr" nodeType="afterEffect" presetID="10" grpId="11" fill="hold">
                                  <p:stCondLst>
                                    <p:cond delay="150"/>
                                  </p:stCondLst>
                                  <p:iterate type="el" backwards="0">
                                    <p:tmAbs val="0"/>
                                  </p:iterate>
                                  <p:childTnLst>
                                    <p:set>
                                      <p:cBhvr>
                                        <p:cTn id="50" fill="hold"/>
                                        <p:tgtEl>
                                          <p:spTgt spid="316"/>
                                        </p:tgtEl>
                                        <p:attrNameLst>
                                          <p:attrName>style.visibility</p:attrName>
                                        </p:attrNameLst>
                                      </p:cBhvr>
                                      <p:to>
                                        <p:strVal val="visible"/>
                                      </p:to>
                                    </p:set>
                                    <p:animEffect filter="fade" transition="in">
                                      <p:cBhvr>
                                        <p:cTn id="51" dur="400"/>
                                        <p:tgtEl>
                                          <p:spTgt spid="316"/>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52" fill="hold" display="0">
                  <p:stCondLst>
                    <p:cond delay="indefinite"/>
                  </p:stCondLst>
                </p:cTn>
                <p:tgtEl>
                  <p:spTgt spid="272"/>
                </p:tgtEl>
              </p:cMediaNode>
            </p:video>
            <p:seq concurrent="1" prevAc="none" nextAc="seek">
              <p:cTn id="53" evtFilter="cancelBubble" nodeType="interactiveSeq" restart="whenNotActive" fill="hold">
                <p:stCondLst>
                  <p:cond delay="0" evt="onClick">
                    <p:tgtEl>
                      <p:spTgt spid="272"/>
                    </p:tgtEl>
                  </p:cond>
                </p:stCondLst>
                <p:endSync delay="0" evt="end">
                  <p:rtn val="all"/>
                </p:endSync>
                <p:childTnLst>
                  <p:par>
                    <p:cTn id="54" fill="hold">
                      <p:stCondLst>
                        <p:cond delay="0"/>
                      </p:stCondLst>
                      <p:childTnLst>
                        <p:par>
                          <p:cTn id="55" fill="hold">
                            <p:stCondLst>
                              <p:cond delay="0"/>
                            </p:stCondLst>
                            <p:childTnLst>
                              <p:par>
                                <p:cTn id="56" presetClass="mediacall" nodeType="clickEffect" presetSubtype="0" presetID="2" fill="hold">
                                  <p:stCondLst>
                                    <p:cond delay="0"/>
                                  </p:stCondLst>
                                  <p:childTnLst>
                                    <p:cmd type="call" cmd="togglePause">
                                      <p:cBhvr>
                                        <p:cTn id="57" dur="1" fill="hold"/>
                                        <p:tgtEl>
                                          <p:spTgt spid="272"/>
                                        </p:tgtEl>
                                      </p:cBhvr>
                                    </p:cmd>
                                  </p:childTnLst>
                                </p:cTn>
                              </p:par>
                            </p:childTnLst>
                          </p:cTn>
                        </p:par>
                      </p:childTnLst>
                    </p:cTn>
                  </p:par>
                </p:childTnLst>
              </p:cTn>
              <p:nextCondLst>
                <p:cond delay="0" evt="onClick">
                  <p:tgtEl>
                    <p:spTgt spid="272"/>
                  </p:tgtEl>
                </p:cond>
              </p:nextCondLst>
            </p:seq>
          </p:childTnLst>
        </p:cTn>
      </p:par>
    </p:tnLst>
    <p:bldLst>
      <p:bldP build="whole" bldLvl="1" animBg="1" rev="0" advAuto="0" spid="292" grpId="5"/>
      <p:bldP build="whole" bldLvl="1" animBg="1" rev="0" advAuto="0" spid="308" grpId="9"/>
      <p:bldP build="whole" bldLvl="1" animBg="1" rev="0" advAuto="0" spid="288" grpId="4"/>
      <p:bldP build="whole" bldLvl="1" animBg="1" rev="0" advAuto="0" spid="304" grpId="8"/>
      <p:bldP build="whole" bldLvl="1" animBg="1" rev="0" advAuto="0" spid="284" grpId="3"/>
      <p:bldP build="whole" bldLvl="1" animBg="1" rev="0" advAuto="0" spid="300" grpId="7"/>
      <p:bldP build="whole" bldLvl="1" animBg="1" rev="0" advAuto="0" spid="316" grpId="11"/>
      <p:bldP build="whole" bldLvl="1" animBg="1" rev="0" advAuto="0" spid="280" grpId="2"/>
      <p:bldP build="whole" bldLvl="1" animBg="1" rev="0" advAuto="0" spid="296" grpId="6"/>
      <p:bldP build="whole" bldLvl="1" animBg="1" rev="0" advAuto="0" spid="312" grpId="10"/>
    </p:bldLst>
  </p:timing>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B3D4C"/>
        </a:solidFill>
      </p:bgPr>
    </p:bg>
    <p:spTree>
      <p:nvGrpSpPr>
        <p:cNvPr id="1" name=""/>
        <p:cNvGrpSpPr/>
        <p:nvPr/>
      </p:nvGrpSpPr>
      <p:grpSpPr>
        <a:xfrm>
          <a:off x="0" y="0"/>
          <a:ext cx="0" cy="0"/>
          <a:chOff x="0" y="0"/>
          <a:chExt cx="0" cy="0"/>
        </a:xfrm>
      </p:grpSpPr>
      <p:pic>
        <p:nvPicPr>
          <p:cNvPr id="320"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323" name="phase_pill"/>
          <p:cNvGrpSpPr/>
          <p:nvPr/>
        </p:nvGrpSpPr>
        <p:grpSpPr>
          <a:xfrm>
            <a:off x="1170432" y="310895"/>
            <a:ext cx="1892808" cy="329185"/>
            <a:chOff x="0" y="0"/>
            <a:chExt cx="1892807" cy="329184"/>
          </a:xfrm>
        </p:grpSpPr>
        <p:sp>
          <p:nvSpPr>
            <p:cNvPr id="321" name="Rounded Rectangle"/>
            <p:cNvSpPr/>
            <p:nvPr/>
          </p:nvSpPr>
          <p:spPr>
            <a:xfrm>
              <a:off x="0" y="0"/>
              <a:ext cx="1892808" cy="329185"/>
            </a:xfrm>
            <a:prstGeom prst="roundRect">
              <a:avLst>
                <a:gd name="adj" fmla="val 44444"/>
              </a:avLst>
            </a:prstGeom>
            <a:solidFill>
              <a:srgbClr val="FF8952"/>
            </a:solidFill>
            <a:ln w="12700" cap="flat">
              <a:noFill/>
              <a:miter lim="400000"/>
            </a:ln>
            <a:effectLst/>
          </p:spPr>
          <p:txBody>
            <a:bodyPr wrap="square" lIns="45719" tIns="45719" rIns="45719" bIns="45719" numCol="1" anchor="ctr">
              <a:noAutofit/>
            </a:bodyPr>
            <a:lstStyle/>
            <a:p>
              <a:pPr algn="ctr">
                <a:defRPr sz="1100"/>
              </a:pPr>
            </a:p>
          </p:txBody>
        </p:sp>
        <p:sp>
          <p:nvSpPr>
            <p:cNvPr id="322" name="PLENARY · 3 MIN"/>
            <p:cNvSpPr txBox="1"/>
            <p:nvPr/>
          </p:nvSpPr>
          <p:spPr>
            <a:xfrm>
              <a:off x="42850" y="90677"/>
              <a:ext cx="1807107"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0B3D4C"/>
                  </a:solidFill>
                  <a:latin typeface="Arial"/>
                  <a:ea typeface="Arial"/>
                  <a:cs typeface="Arial"/>
                  <a:sym typeface="Arial"/>
                </a:defRPr>
              </a:lvl1pPr>
            </a:lstStyle>
            <a:p>
              <a:pPr/>
              <a:r>
                <a:t>PLENARY · 3 MIN</a:t>
              </a:r>
            </a:p>
          </p:txBody>
        </p:sp>
      </p:grpSp>
      <p:sp>
        <p:nvSpPr>
          <p:cNvPr id="324" name="slide_title"/>
          <p:cNvSpPr txBox="1"/>
          <p:nvPr/>
        </p:nvSpPr>
        <p:spPr>
          <a:xfrm>
            <a:off x="1170432" y="965707"/>
            <a:ext cx="10472623" cy="482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400">
                <a:solidFill>
                  <a:srgbClr val="EFF6F7"/>
                </a:solidFill>
                <a:latin typeface="Georgia"/>
                <a:ea typeface="Georgia"/>
                <a:cs typeface="Georgia"/>
                <a:sym typeface="Georgia"/>
              </a:defRPr>
            </a:lvl1pPr>
          </a:lstStyle>
          <a:p>
            <a:pPr/>
            <a:r>
              <a:t>True or false?</a:t>
            </a:r>
          </a:p>
        </p:txBody>
      </p:sp>
      <p:grpSp>
        <p:nvGrpSpPr>
          <p:cNvPr id="327" name="p0_stmt"/>
          <p:cNvGrpSpPr/>
          <p:nvPr/>
        </p:nvGrpSpPr>
        <p:grpSpPr>
          <a:xfrm>
            <a:off x="1170432" y="2194560"/>
            <a:ext cx="8552383" cy="640081"/>
            <a:chOff x="0" y="0"/>
            <a:chExt cx="8552382" cy="640080"/>
          </a:xfrm>
        </p:grpSpPr>
        <p:sp>
          <p:nvSpPr>
            <p:cNvPr id="325" name="p0_bg"/>
            <p:cNvSpPr/>
            <p:nvPr/>
          </p:nvSpPr>
          <p:spPr>
            <a:xfrm>
              <a:off x="0" y="0"/>
              <a:ext cx="8552383" cy="640081"/>
            </a:xfrm>
            <a:prstGeom prst="roundRect">
              <a:avLst>
                <a:gd name="adj" fmla="val 14286"/>
              </a:avLst>
            </a:prstGeom>
            <a:solidFill>
              <a:srgbClr val="1C5A70"/>
            </a:solidFill>
            <a:ln w="12700" cap="flat">
              <a:solidFill>
                <a:srgbClr val="1C5A70"/>
              </a:solidFill>
              <a:prstDash val="solid"/>
              <a:round/>
            </a:ln>
            <a:effectLst/>
          </p:spPr>
          <p:txBody>
            <a:bodyPr wrap="square" lIns="45719" tIns="45719" rIns="45719" bIns="45719" numCol="1" anchor="t">
              <a:noAutofit/>
            </a:bodyPr>
            <a:lstStyle/>
            <a:p>
              <a:pPr/>
            </a:p>
          </p:txBody>
        </p:sp>
        <p:sp>
          <p:nvSpPr>
            <p:cNvPr id="326" name="p0_q"/>
            <p:cNvSpPr txBox="1"/>
            <p:nvPr/>
          </p:nvSpPr>
          <p:spPr>
            <a:xfrm>
              <a:off x="256032" y="209063"/>
              <a:ext cx="8186623" cy="2219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600">
                  <a:solidFill>
                    <a:srgbClr val="EFF6F7"/>
                  </a:solidFill>
                  <a:latin typeface="Arial"/>
                  <a:ea typeface="Arial"/>
                  <a:cs typeface="Arial"/>
                  <a:sym typeface="Arial"/>
                </a:defRPr>
              </a:lvl1pPr>
            </a:lstStyle>
            <a:p>
              <a:pPr/>
              <a:r>
                <a:t>Density is mass per unit volume.</a:t>
              </a:r>
            </a:p>
          </p:txBody>
        </p:sp>
      </p:grpSp>
      <p:sp>
        <p:nvSpPr>
          <p:cNvPr id="328" name="p0_v"/>
          <p:cNvSpPr txBox="1"/>
          <p:nvPr/>
        </p:nvSpPr>
        <p:spPr>
          <a:xfrm>
            <a:off x="9905695" y="2391131"/>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1FA37A"/>
                </a:solidFill>
                <a:latin typeface="Arial"/>
                <a:ea typeface="Arial"/>
                <a:cs typeface="Arial"/>
                <a:sym typeface="Arial"/>
              </a:defRPr>
            </a:lvl1pPr>
          </a:lstStyle>
          <a:p>
            <a:pPr/>
            <a:r>
              <a:t>TRUE</a:t>
            </a:r>
          </a:p>
        </p:txBody>
      </p:sp>
      <p:grpSp>
        <p:nvGrpSpPr>
          <p:cNvPr id="331" name="p1_stmt"/>
          <p:cNvGrpSpPr/>
          <p:nvPr/>
        </p:nvGrpSpPr>
        <p:grpSpPr>
          <a:xfrm>
            <a:off x="1170432" y="2999232"/>
            <a:ext cx="8552383" cy="640081"/>
            <a:chOff x="0" y="0"/>
            <a:chExt cx="8552382" cy="640080"/>
          </a:xfrm>
        </p:grpSpPr>
        <p:sp>
          <p:nvSpPr>
            <p:cNvPr id="329" name="p1_bg"/>
            <p:cNvSpPr/>
            <p:nvPr/>
          </p:nvSpPr>
          <p:spPr>
            <a:xfrm>
              <a:off x="0" y="0"/>
              <a:ext cx="8552383" cy="640081"/>
            </a:xfrm>
            <a:prstGeom prst="roundRect">
              <a:avLst>
                <a:gd name="adj" fmla="val 14286"/>
              </a:avLst>
            </a:prstGeom>
            <a:solidFill>
              <a:srgbClr val="1C5A70"/>
            </a:solidFill>
            <a:ln w="12700" cap="flat">
              <a:solidFill>
                <a:srgbClr val="1C5A70"/>
              </a:solidFill>
              <a:prstDash val="solid"/>
              <a:round/>
            </a:ln>
            <a:effectLst/>
          </p:spPr>
          <p:txBody>
            <a:bodyPr wrap="square" lIns="45719" tIns="45719" rIns="45719" bIns="45719" numCol="1" anchor="t">
              <a:noAutofit/>
            </a:bodyPr>
            <a:lstStyle/>
            <a:p>
              <a:pPr/>
            </a:p>
          </p:txBody>
        </p:sp>
        <p:sp>
          <p:nvSpPr>
            <p:cNvPr id="330" name="p1_q"/>
            <p:cNvSpPr txBox="1"/>
            <p:nvPr/>
          </p:nvSpPr>
          <p:spPr>
            <a:xfrm>
              <a:off x="256032" y="209063"/>
              <a:ext cx="8186623" cy="2219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600">
                  <a:solidFill>
                    <a:srgbClr val="EFF6F7"/>
                  </a:solidFill>
                  <a:latin typeface="Arial"/>
                  <a:ea typeface="Arial"/>
                  <a:cs typeface="Arial"/>
                  <a:sym typeface="Arial"/>
                </a:defRPr>
              </a:lvl1pPr>
            </a:lstStyle>
            <a:p>
              <a:pPr/>
              <a:r>
                <a:t>The unit of density can be written as g/cm³.</a:t>
              </a:r>
            </a:p>
          </p:txBody>
        </p:sp>
      </p:grpSp>
      <p:sp>
        <p:nvSpPr>
          <p:cNvPr id="332" name="p1_v"/>
          <p:cNvSpPr txBox="1"/>
          <p:nvPr/>
        </p:nvSpPr>
        <p:spPr>
          <a:xfrm>
            <a:off x="9905695" y="3195803"/>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1FA37A"/>
                </a:solidFill>
                <a:latin typeface="Arial"/>
                <a:ea typeface="Arial"/>
                <a:cs typeface="Arial"/>
                <a:sym typeface="Arial"/>
              </a:defRPr>
            </a:lvl1pPr>
          </a:lstStyle>
          <a:p>
            <a:pPr/>
            <a:r>
              <a:t>TRUE</a:t>
            </a:r>
          </a:p>
        </p:txBody>
      </p:sp>
      <p:grpSp>
        <p:nvGrpSpPr>
          <p:cNvPr id="335" name="p2_stmt"/>
          <p:cNvGrpSpPr/>
          <p:nvPr/>
        </p:nvGrpSpPr>
        <p:grpSpPr>
          <a:xfrm>
            <a:off x="1170432" y="3803903"/>
            <a:ext cx="8552383" cy="640081"/>
            <a:chOff x="0" y="0"/>
            <a:chExt cx="8552382" cy="640080"/>
          </a:xfrm>
        </p:grpSpPr>
        <p:sp>
          <p:nvSpPr>
            <p:cNvPr id="333" name="p2_bg"/>
            <p:cNvSpPr/>
            <p:nvPr/>
          </p:nvSpPr>
          <p:spPr>
            <a:xfrm>
              <a:off x="0" y="0"/>
              <a:ext cx="8552383" cy="640081"/>
            </a:xfrm>
            <a:prstGeom prst="roundRect">
              <a:avLst>
                <a:gd name="adj" fmla="val 14286"/>
              </a:avLst>
            </a:prstGeom>
            <a:solidFill>
              <a:srgbClr val="1C5A70"/>
            </a:solidFill>
            <a:ln w="12700" cap="flat">
              <a:solidFill>
                <a:srgbClr val="1C5A70"/>
              </a:solidFill>
              <a:prstDash val="solid"/>
              <a:round/>
            </a:ln>
            <a:effectLst/>
          </p:spPr>
          <p:txBody>
            <a:bodyPr wrap="square" lIns="45719" tIns="45719" rIns="45719" bIns="45719" numCol="1" anchor="t">
              <a:noAutofit/>
            </a:bodyPr>
            <a:lstStyle/>
            <a:p>
              <a:pPr/>
            </a:p>
          </p:txBody>
        </p:sp>
        <p:sp>
          <p:nvSpPr>
            <p:cNvPr id="334" name="p2_q"/>
            <p:cNvSpPr txBox="1"/>
            <p:nvPr/>
          </p:nvSpPr>
          <p:spPr>
            <a:xfrm>
              <a:off x="256032" y="209063"/>
              <a:ext cx="8186623" cy="2219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600">
                  <a:solidFill>
                    <a:srgbClr val="EFF6F7"/>
                  </a:solidFill>
                  <a:latin typeface="Arial"/>
                  <a:ea typeface="Arial"/>
                  <a:cs typeface="Arial"/>
                  <a:sym typeface="Arial"/>
                </a:defRPr>
              </a:lvl1pPr>
            </a:lstStyle>
            <a:p>
              <a:pPr/>
              <a:r>
                <a:t>A heavier object always sinks.</a:t>
              </a:r>
            </a:p>
          </p:txBody>
        </p:sp>
      </p:grpSp>
      <p:sp>
        <p:nvSpPr>
          <p:cNvPr id="336" name="p2_v"/>
          <p:cNvSpPr txBox="1"/>
          <p:nvPr/>
        </p:nvSpPr>
        <p:spPr>
          <a:xfrm>
            <a:off x="9905695" y="4000475"/>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FF8952"/>
                </a:solidFill>
                <a:latin typeface="Arial"/>
                <a:ea typeface="Arial"/>
                <a:cs typeface="Arial"/>
                <a:sym typeface="Arial"/>
              </a:defRPr>
            </a:lvl1pPr>
          </a:lstStyle>
          <a:p>
            <a:pPr/>
            <a:r>
              <a:t>FALSE</a:t>
            </a:r>
          </a:p>
        </p:txBody>
      </p:sp>
      <p:grpSp>
        <p:nvGrpSpPr>
          <p:cNvPr id="339" name="p3_stmt"/>
          <p:cNvGrpSpPr/>
          <p:nvPr/>
        </p:nvGrpSpPr>
        <p:grpSpPr>
          <a:xfrm>
            <a:off x="1170432" y="4608576"/>
            <a:ext cx="8552383" cy="640081"/>
            <a:chOff x="0" y="0"/>
            <a:chExt cx="8552382" cy="640080"/>
          </a:xfrm>
        </p:grpSpPr>
        <p:sp>
          <p:nvSpPr>
            <p:cNvPr id="337" name="p3_bg"/>
            <p:cNvSpPr/>
            <p:nvPr/>
          </p:nvSpPr>
          <p:spPr>
            <a:xfrm>
              <a:off x="0" y="0"/>
              <a:ext cx="8552383" cy="640081"/>
            </a:xfrm>
            <a:prstGeom prst="roundRect">
              <a:avLst>
                <a:gd name="adj" fmla="val 14286"/>
              </a:avLst>
            </a:prstGeom>
            <a:solidFill>
              <a:srgbClr val="1C5A70"/>
            </a:solidFill>
            <a:ln w="12700" cap="flat">
              <a:solidFill>
                <a:srgbClr val="1C5A70"/>
              </a:solidFill>
              <a:prstDash val="solid"/>
              <a:round/>
            </a:ln>
            <a:effectLst/>
          </p:spPr>
          <p:txBody>
            <a:bodyPr wrap="square" lIns="45719" tIns="45719" rIns="45719" bIns="45719" numCol="1" anchor="t">
              <a:noAutofit/>
            </a:bodyPr>
            <a:lstStyle/>
            <a:p>
              <a:pPr/>
            </a:p>
          </p:txBody>
        </p:sp>
        <p:sp>
          <p:nvSpPr>
            <p:cNvPr id="338" name="p3_q"/>
            <p:cNvSpPr txBox="1"/>
            <p:nvPr/>
          </p:nvSpPr>
          <p:spPr>
            <a:xfrm>
              <a:off x="256032" y="209063"/>
              <a:ext cx="8186623" cy="2219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600">
                  <a:solidFill>
                    <a:srgbClr val="EFF6F7"/>
                  </a:solidFill>
                  <a:latin typeface="Arial"/>
                  <a:ea typeface="Arial"/>
                  <a:cs typeface="Arial"/>
                  <a:sym typeface="Arial"/>
                </a:defRPr>
              </a:lvl1pPr>
            </a:lstStyle>
            <a:p>
              <a:pPr/>
              <a:r>
                <a:t>The volume of an irregular solid can be found by displacement.</a:t>
              </a:r>
            </a:p>
          </p:txBody>
        </p:sp>
      </p:grpSp>
      <p:sp>
        <p:nvSpPr>
          <p:cNvPr id="340" name="p3_v"/>
          <p:cNvSpPr txBox="1"/>
          <p:nvPr/>
        </p:nvSpPr>
        <p:spPr>
          <a:xfrm>
            <a:off x="9905695" y="4805147"/>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1FA37A"/>
                </a:solidFill>
                <a:latin typeface="Arial"/>
                <a:ea typeface="Arial"/>
                <a:cs typeface="Arial"/>
                <a:sym typeface="Arial"/>
              </a:defRPr>
            </a:lvl1pPr>
          </a:lstStyle>
          <a:p>
            <a:pPr/>
            <a:r>
              <a:t>TRUE</a:t>
            </a:r>
          </a:p>
        </p:txBody>
      </p:sp>
      <p:grpSp>
        <p:nvGrpSpPr>
          <p:cNvPr id="343" name="p4_stmt"/>
          <p:cNvGrpSpPr/>
          <p:nvPr/>
        </p:nvGrpSpPr>
        <p:grpSpPr>
          <a:xfrm>
            <a:off x="1170432" y="5413247"/>
            <a:ext cx="8552383" cy="640081"/>
            <a:chOff x="0" y="0"/>
            <a:chExt cx="8552382" cy="640080"/>
          </a:xfrm>
        </p:grpSpPr>
        <p:sp>
          <p:nvSpPr>
            <p:cNvPr id="341" name="p4_bg"/>
            <p:cNvSpPr/>
            <p:nvPr/>
          </p:nvSpPr>
          <p:spPr>
            <a:xfrm>
              <a:off x="0" y="0"/>
              <a:ext cx="8552383" cy="640081"/>
            </a:xfrm>
            <a:prstGeom prst="roundRect">
              <a:avLst>
                <a:gd name="adj" fmla="val 14286"/>
              </a:avLst>
            </a:prstGeom>
            <a:solidFill>
              <a:srgbClr val="1C5A70"/>
            </a:solidFill>
            <a:ln w="12700" cap="flat">
              <a:solidFill>
                <a:srgbClr val="1C5A70"/>
              </a:solidFill>
              <a:prstDash val="solid"/>
              <a:round/>
            </a:ln>
            <a:effectLst/>
          </p:spPr>
          <p:txBody>
            <a:bodyPr wrap="square" lIns="45719" tIns="45719" rIns="45719" bIns="45719" numCol="1" anchor="t">
              <a:noAutofit/>
            </a:bodyPr>
            <a:lstStyle/>
            <a:p>
              <a:pPr/>
            </a:p>
          </p:txBody>
        </p:sp>
        <p:sp>
          <p:nvSpPr>
            <p:cNvPr id="342" name="p4_q"/>
            <p:cNvSpPr txBox="1"/>
            <p:nvPr/>
          </p:nvSpPr>
          <p:spPr>
            <a:xfrm>
              <a:off x="256032" y="209063"/>
              <a:ext cx="8186623" cy="2219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600">
                  <a:solidFill>
                    <a:srgbClr val="EFF6F7"/>
                  </a:solidFill>
                  <a:latin typeface="Arial"/>
                  <a:ea typeface="Arial"/>
                  <a:cs typeface="Arial"/>
                  <a:sym typeface="Arial"/>
                </a:defRPr>
              </a:lvl1pPr>
            </a:lstStyle>
            <a:p>
              <a:pPr/>
              <a:r>
                <a:t>An object floats if its density is greater than the liquid's density.</a:t>
              </a:r>
            </a:p>
          </p:txBody>
        </p:sp>
      </p:grpSp>
      <p:sp>
        <p:nvSpPr>
          <p:cNvPr id="344" name="p4_v"/>
          <p:cNvSpPr txBox="1"/>
          <p:nvPr/>
        </p:nvSpPr>
        <p:spPr>
          <a:xfrm>
            <a:off x="9905695" y="5609819"/>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FF8952"/>
                </a:solidFill>
                <a:latin typeface="Arial"/>
                <a:ea typeface="Arial"/>
                <a:cs typeface="Arial"/>
                <a:sym typeface="Arial"/>
              </a:defRPr>
            </a:lvl1pPr>
          </a:lstStyle>
          <a:p>
            <a:pPr/>
            <a:r>
              <a:t>FALSE</a:t>
            </a:r>
          </a:p>
        </p:txBody>
      </p:sp>
      <p:sp>
        <p:nvSpPr>
          <p:cNvPr id="345" name="pl_next"/>
          <p:cNvSpPr txBox="1"/>
          <p:nvPr/>
        </p:nvSpPr>
        <p:spPr>
          <a:xfrm>
            <a:off x="1170432" y="6189239"/>
            <a:ext cx="10472623"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i="1" sz="1600">
                <a:solidFill>
                  <a:srgbClr val="FF8952"/>
                </a:solidFill>
                <a:latin typeface="Arial"/>
                <a:ea typeface="Arial"/>
                <a:cs typeface="Arial"/>
                <a:sym typeface="Arial"/>
              </a:defRPr>
            </a:lvl1pPr>
          </a:lstStyle>
          <a:p>
            <a:pPr/>
            <a:r>
              <a:t>Compare densities, not weights, to predict floating or sinking.</a:t>
            </a:r>
          </a:p>
        </p:txBody>
      </p:sp>
    </p:spTree>
  </p:cSld>
  <p:clrMapOvr>
    <a:masterClrMapping/>
  </p:clrMapOvr>
  <mc:AlternateContent xmlns:mc="http://schemas.openxmlformats.org/markup-compatibility/2006">
    <mc:Choice xmlns:p14="http://schemas.microsoft.com/office/powerpoint/2010/main" Requires="p14">
      <p:transition spd="med" advClick="1" p14:dur="1000">
        <p:push dir="u"/>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320"/>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327"/>
                                        </p:tgtEl>
                                        <p:attrNameLst>
                                          <p:attrName>style.visibility</p:attrName>
                                        </p:attrNameLst>
                                      </p:cBhvr>
                                      <p:to>
                                        <p:strVal val="visible"/>
                                      </p:to>
                                    </p:set>
                                    <p:animEffect filter="fade" transition="in">
                                      <p:cBhvr>
                                        <p:cTn id="11" dur="400"/>
                                        <p:tgtEl>
                                          <p:spTgt spid="327"/>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Subtype="16" presetID="23" grpId="3" fill="hold">
                                  <p:stCondLst>
                                    <p:cond delay="0"/>
                                  </p:stCondLst>
                                  <p:iterate type="el" backwards="0">
                                    <p:tmAbs val="0"/>
                                  </p:iterate>
                                  <p:childTnLst>
                                    <p:set>
                                      <p:cBhvr>
                                        <p:cTn id="15" fill="hold"/>
                                        <p:tgtEl>
                                          <p:spTgt spid="328"/>
                                        </p:tgtEl>
                                        <p:attrNameLst>
                                          <p:attrName>style.visibility</p:attrName>
                                        </p:attrNameLst>
                                      </p:cBhvr>
                                      <p:to>
                                        <p:strVal val="visible"/>
                                      </p:to>
                                    </p:set>
                                    <p:anim calcmode="lin" valueType="num">
                                      <p:cBhvr>
                                        <p:cTn id="16" dur="400" fill="hold"/>
                                        <p:tgtEl>
                                          <p:spTgt spid="328"/>
                                        </p:tgtEl>
                                        <p:attrNameLst>
                                          <p:attrName>ppt_w</p:attrName>
                                        </p:attrNameLst>
                                      </p:cBhvr>
                                      <p:tavLst>
                                        <p:tav tm="0">
                                          <p:val>
                                            <p:fltVal val="0"/>
                                          </p:val>
                                        </p:tav>
                                        <p:tav tm="100000">
                                          <p:val>
                                            <p:strVal val="#ppt_w"/>
                                          </p:val>
                                        </p:tav>
                                      </p:tavLst>
                                    </p:anim>
                                    <p:anim calcmode="lin" valueType="num">
                                      <p:cBhvr>
                                        <p:cTn id="17" dur="400" fill="hold"/>
                                        <p:tgtEl>
                                          <p:spTgt spid="328"/>
                                        </p:tgtEl>
                                        <p:attrNameLst>
                                          <p:attrName>ppt_h</p:attrName>
                                        </p:attrNameLst>
                                      </p:cBhvr>
                                      <p:tavLst>
                                        <p:tav tm="0">
                                          <p:val>
                                            <p:fltVal val="0"/>
                                          </p:val>
                                        </p:tav>
                                        <p:tav tm="100000">
                                          <p:val>
                                            <p:strVal val="#ppt_h"/>
                                          </p:val>
                                        </p:tav>
                                      </p:tavLst>
                                    </p:anim>
                                  </p:childTnLst>
                                </p:cTn>
                              </p:par>
                            </p:childTnLst>
                          </p:cTn>
                        </p:par>
                      </p:childTnLst>
                    </p:cTn>
                  </p:par>
                  <p:par>
                    <p:cTn id="18" fill="hold">
                      <p:stCondLst>
                        <p:cond delay="indefinite"/>
                      </p:stCondLst>
                      <p:childTnLst>
                        <p:par>
                          <p:cTn id="19" fill="hold">
                            <p:stCondLst>
                              <p:cond delay="0"/>
                            </p:stCondLst>
                            <p:childTnLst>
                              <p:par>
                                <p:cTn id="20" presetClass="entr" nodeType="clickEffect" presetID="10" grpId="4" fill="hold">
                                  <p:stCondLst>
                                    <p:cond delay="0"/>
                                  </p:stCondLst>
                                  <p:iterate type="el" backwards="0">
                                    <p:tmAbs val="0"/>
                                  </p:iterate>
                                  <p:childTnLst>
                                    <p:set>
                                      <p:cBhvr>
                                        <p:cTn id="21" fill="hold"/>
                                        <p:tgtEl>
                                          <p:spTgt spid="331"/>
                                        </p:tgtEl>
                                        <p:attrNameLst>
                                          <p:attrName>style.visibility</p:attrName>
                                        </p:attrNameLst>
                                      </p:cBhvr>
                                      <p:to>
                                        <p:strVal val="visible"/>
                                      </p:to>
                                    </p:set>
                                    <p:animEffect filter="fade" transition="in">
                                      <p:cBhvr>
                                        <p:cTn id="22" dur="400"/>
                                        <p:tgtEl>
                                          <p:spTgt spid="331"/>
                                        </p:tgtEl>
                                      </p:cBhvr>
                                    </p:animEffect>
                                  </p:childTnLst>
                                </p:cTn>
                              </p:par>
                            </p:childTnLst>
                          </p:cTn>
                        </p:par>
                      </p:childTnLst>
                    </p:cTn>
                  </p:par>
                  <p:par>
                    <p:cTn id="23" fill="hold">
                      <p:stCondLst>
                        <p:cond delay="indefinite"/>
                      </p:stCondLst>
                      <p:childTnLst>
                        <p:par>
                          <p:cTn id="24" fill="hold">
                            <p:stCondLst>
                              <p:cond delay="0"/>
                            </p:stCondLst>
                            <p:childTnLst>
                              <p:par>
                                <p:cTn id="25" presetClass="entr" nodeType="clickEffect" presetSubtype="16" presetID="23" grpId="5" fill="hold">
                                  <p:stCondLst>
                                    <p:cond delay="0"/>
                                  </p:stCondLst>
                                  <p:iterate type="el" backwards="0">
                                    <p:tmAbs val="0"/>
                                  </p:iterate>
                                  <p:childTnLst>
                                    <p:set>
                                      <p:cBhvr>
                                        <p:cTn id="26" fill="hold"/>
                                        <p:tgtEl>
                                          <p:spTgt spid="332"/>
                                        </p:tgtEl>
                                        <p:attrNameLst>
                                          <p:attrName>style.visibility</p:attrName>
                                        </p:attrNameLst>
                                      </p:cBhvr>
                                      <p:to>
                                        <p:strVal val="visible"/>
                                      </p:to>
                                    </p:set>
                                    <p:anim calcmode="lin" valueType="num">
                                      <p:cBhvr>
                                        <p:cTn id="27" dur="400" fill="hold"/>
                                        <p:tgtEl>
                                          <p:spTgt spid="332"/>
                                        </p:tgtEl>
                                        <p:attrNameLst>
                                          <p:attrName>ppt_w</p:attrName>
                                        </p:attrNameLst>
                                      </p:cBhvr>
                                      <p:tavLst>
                                        <p:tav tm="0">
                                          <p:val>
                                            <p:fltVal val="0"/>
                                          </p:val>
                                        </p:tav>
                                        <p:tav tm="100000">
                                          <p:val>
                                            <p:strVal val="#ppt_w"/>
                                          </p:val>
                                        </p:tav>
                                      </p:tavLst>
                                    </p:anim>
                                    <p:anim calcmode="lin" valueType="num">
                                      <p:cBhvr>
                                        <p:cTn id="28" dur="400" fill="hold"/>
                                        <p:tgtEl>
                                          <p:spTgt spid="332"/>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31" presetClass="entr" nodeType="clickEffect" presetID="10" grpId="6" fill="hold">
                                  <p:stCondLst>
                                    <p:cond delay="0"/>
                                  </p:stCondLst>
                                  <p:iterate type="el" backwards="0">
                                    <p:tmAbs val="0"/>
                                  </p:iterate>
                                  <p:childTnLst>
                                    <p:set>
                                      <p:cBhvr>
                                        <p:cTn id="32" fill="hold"/>
                                        <p:tgtEl>
                                          <p:spTgt spid="335"/>
                                        </p:tgtEl>
                                        <p:attrNameLst>
                                          <p:attrName>style.visibility</p:attrName>
                                        </p:attrNameLst>
                                      </p:cBhvr>
                                      <p:to>
                                        <p:strVal val="visible"/>
                                      </p:to>
                                    </p:set>
                                    <p:animEffect filter="fade" transition="in">
                                      <p:cBhvr>
                                        <p:cTn id="33" dur="400"/>
                                        <p:tgtEl>
                                          <p:spTgt spid="335"/>
                                        </p:tgtEl>
                                      </p:cBhvr>
                                    </p:animEffect>
                                  </p:childTnLst>
                                </p:cTn>
                              </p:par>
                            </p:childTnLst>
                          </p:cTn>
                        </p:par>
                      </p:childTnLst>
                    </p:cTn>
                  </p:par>
                  <p:par>
                    <p:cTn id="34" fill="hold">
                      <p:stCondLst>
                        <p:cond delay="indefinite"/>
                      </p:stCondLst>
                      <p:childTnLst>
                        <p:par>
                          <p:cTn id="35" fill="hold">
                            <p:stCondLst>
                              <p:cond delay="0"/>
                            </p:stCondLst>
                            <p:childTnLst>
                              <p:par>
                                <p:cTn id="36" presetClass="entr" nodeType="clickEffect" presetSubtype="16" presetID="23" grpId="7" fill="hold">
                                  <p:stCondLst>
                                    <p:cond delay="0"/>
                                  </p:stCondLst>
                                  <p:iterate type="el" backwards="0">
                                    <p:tmAbs val="0"/>
                                  </p:iterate>
                                  <p:childTnLst>
                                    <p:set>
                                      <p:cBhvr>
                                        <p:cTn id="37" fill="hold"/>
                                        <p:tgtEl>
                                          <p:spTgt spid="336"/>
                                        </p:tgtEl>
                                        <p:attrNameLst>
                                          <p:attrName>style.visibility</p:attrName>
                                        </p:attrNameLst>
                                      </p:cBhvr>
                                      <p:to>
                                        <p:strVal val="visible"/>
                                      </p:to>
                                    </p:set>
                                    <p:anim calcmode="lin" valueType="num">
                                      <p:cBhvr>
                                        <p:cTn id="38" dur="400" fill="hold"/>
                                        <p:tgtEl>
                                          <p:spTgt spid="336"/>
                                        </p:tgtEl>
                                        <p:attrNameLst>
                                          <p:attrName>ppt_w</p:attrName>
                                        </p:attrNameLst>
                                      </p:cBhvr>
                                      <p:tavLst>
                                        <p:tav tm="0">
                                          <p:val>
                                            <p:fltVal val="0"/>
                                          </p:val>
                                        </p:tav>
                                        <p:tav tm="100000">
                                          <p:val>
                                            <p:strVal val="#ppt_w"/>
                                          </p:val>
                                        </p:tav>
                                      </p:tavLst>
                                    </p:anim>
                                    <p:anim calcmode="lin" valueType="num">
                                      <p:cBhvr>
                                        <p:cTn id="39" dur="400" fill="hold"/>
                                        <p:tgtEl>
                                          <p:spTgt spid="336"/>
                                        </p:tgtEl>
                                        <p:attrNameLst>
                                          <p:attrName>ppt_h</p:attrName>
                                        </p:attrNameLst>
                                      </p:cBhvr>
                                      <p:tavLst>
                                        <p:tav tm="0">
                                          <p:val>
                                            <p:fltVal val="0"/>
                                          </p:val>
                                        </p:tav>
                                        <p:tav tm="100000">
                                          <p:val>
                                            <p:strVal val="#ppt_h"/>
                                          </p:val>
                                        </p:tav>
                                      </p:tavLst>
                                    </p:anim>
                                  </p:childTnLst>
                                </p:cTn>
                              </p:par>
                            </p:childTnLst>
                          </p:cTn>
                        </p:par>
                      </p:childTnLst>
                    </p:cTn>
                  </p:par>
                  <p:par>
                    <p:cTn id="40" fill="hold">
                      <p:stCondLst>
                        <p:cond delay="indefinite"/>
                      </p:stCondLst>
                      <p:childTnLst>
                        <p:par>
                          <p:cTn id="41" fill="hold">
                            <p:stCondLst>
                              <p:cond delay="0"/>
                            </p:stCondLst>
                            <p:childTnLst>
                              <p:par>
                                <p:cTn id="42" presetClass="entr" nodeType="clickEffect" presetID="10" grpId="8" fill="hold">
                                  <p:stCondLst>
                                    <p:cond delay="0"/>
                                  </p:stCondLst>
                                  <p:iterate type="el" backwards="0">
                                    <p:tmAbs val="0"/>
                                  </p:iterate>
                                  <p:childTnLst>
                                    <p:set>
                                      <p:cBhvr>
                                        <p:cTn id="43" fill="hold"/>
                                        <p:tgtEl>
                                          <p:spTgt spid="339"/>
                                        </p:tgtEl>
                                        <p:attrNameLst>
                                          <p:attrName>style.visibility</p:attrName>
                                        </p:attrNameLst>
                                      </p:cBhvr>
                                      <p:to>
                                        <p:strVal val="visible"/>
                                      </p:to>
                                    </p:set>
                                    <p:animEffect filter="fade" transition="in">
                                      <p:cBhvr>
                                        <p:cTn id="44" dur="400"/>
                                        <p:tgtEl>
                                          <p:spTgt spid="339"/>
                                        </p:tgtEl>
                                      </p:cBhvr>
                                    </p:animEffect>
                                  </p:childTnLst>
                                </p:cTn>
                              </p:par>
                            </p:childTnLst>
                          </p:cTn>
                        </p:par>
                      </p:childTnLst>
                    </p:cTn>
                  </p:par>
                  <p:par>
                    <p:cTn id="45" fill="hold">
                      <p:stCondLst>
                        <p:cond delay="indefinite"/>
                      </p:stCondLst>
                      <p:childTnLst>
                        <p:par>
                          <p:cTn id="46" fill="hold">
                            <p:stCondLst>
                              <p:cond delay="0"/>
                            </p:stCondLst>
                            <p:childTnLst>
                              <p:par>
                                <p:cTn id="47" presetClass="entr" nodeType="clickEffect" presetSubtype="16" presetID="23" grpId="9" fill="hold">
                                  <p:stCondLst>
                                    <p:cond delay="0"/>
                                  </p:stCondLst>
                                  <p:iterate type="el" backwards="0">
                                    <p:tmAbs val="0"/>
                                  </p:iterate>
                                  <p:childTnLst>
                                    <p:set>
                                      <p:cBhvr>
                                        <p:cTn id="48" fill="hold"/>
                                        <p:tgtEl>
                                          <p:spTgt spid="340"/>
                                        </p:tgtEl>
                                        <p:attrNameLst>
                                          <p:attrName>style.visibility</p:attrName>
                                        </p:attrNameLst>
                                      </p:cBhvr>
                                      <p:to>
                                        <p:strVal val="visible"/>
                                      </p:to>
                                    </p:set>
                                    <p:anim calcmode="lin" valueType="num">
                                      <p:cBhvr>
                                        <p:cTn id="49" dur="400" fill="hold"/>
                                        <p:tgtEl>
                                          <p:spTgt spid="340"/>
                                        </p:tgtEl>
                                        <p:attrNameLst>
                                          <p:attrName>ppt_w</p:attrName>
                                        </p:attrNameLst>
                                      </p:cBhvr>
                                      <p:tavLst>
                                        <p:tav tm="0">
                                          <p:val>
                                            <p:fltVal val="0"/>
                                          </p:val>
                                        </p:tav>
                                        <p:tav tm="100000">
                                          <p:val>
                                            <p:strVal val="#ppt_w"/>
                                          </p:val>
                                        </p:tav>
                                      </p:tavLst>
                                    </p:anim>
                                    <p:anim calcmode="lin" valueType="num">
                                      <p:cBhvr>
                                        <p:cTn id="50" dur="400" fill="hold"/>
                                        <p:tgtEl>
                                          <p:spTgt spid="340"/>
                                        </p:tgtEl>
                                        <p:attrNameLst>
                                          <p:attrName>ppt_h</p:attrName>
                                        </p:attrNameLst>
                                      </p:cBhvr>
                                      <p:tavLst>
                                        <p:tav tm="0">
                                          <p:val>
                                            <p:fltVal val="0"/>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3" presetClass="entr" nodeType="clickEffect" presetID="10" grpId="10" fill="hold">
                                  <p:stCondLst>
                                    <p:cond delay="0"/>
                                  </p:stCondLst>
                                  <p:iterate type="el" backwards="0">
                                    <p:tmAbs val="0"/>
                                  </p:iterate>
                                  <p:childTnLst>
                                    <p:set>
                                      <p:cBhvr>
                                        <p:cTn id="54" fill="hold"/>
                                        <p:tgtEl>
                                          <p:spTgt spid="343"/>
                                        </p:tgtEl>
                                        <p:attrNameLst>
                                          <p:attrName>style.visibility</p:attrName>
                                        </p:attrNameLst>
                                      </p:cBhvr>
                                      <p:to>
                                        <p:strVal val="visible"/>
                                      </p:to>
                                    </p:set>
                                    <p:animEffect filter="fade" transition="in">
                                      <p:cBhvr>
                                        <p:cTn id="55" dur="400"/>
                                        <p:tgtEl>
                                          <p:spTgt spid="343"/>
                                        </p:tgtEl>
                                      </p:cBhvr>
                                    </p:animEffect>
                                  </p:childTnLst>
                                </p:cTn>
                              </p:par>
                            </p:childTnLst>
                          </p:cTn>
                        </p:par>
                      </p:childTnLst>
                    </p:cTn>
                  </p:par>
                  <p:par>
                    <p:cTn id="56" fill="hold">
                      <p:stCondLst>
                        <p:cond delay="indefinite"/>
                      </p:stCondLst>
                      <p:childTnLst>
                        <p:par>
                          <p:cTn id="57" fill="hold">
                            <p:stCondLst>
                              <p:cond delay="0"/>
                            </p:stCondLst>
                            <p:childTnLst>
                              <p:par>
                                <p:cTn id="58" presetClass="entr" nodeType="clickEffect" presetSubtype="16" presetID="23" grpId="11" fill="hold">
                                  <p:stCondLst>
                                    <p:cond delay="0"/>
                                  </p:stCondLst>
                                  <p:iterate type="el" backwards="0">
                                    <p:tmAbs val="0"/>
                                  </p:iterate>
                                  <p:childTnLst>
                                    <p:set>
                                      <p:cBhvr>
                                        <p:cTn id="59" fill="hold"/>
                                        <p:tgtEl>
                                          <p:spTgt spid="344"/>
                                        </p:tgtEl>
                                        <p:attrNameLst>
                                          <p:attrName>style.visibility</p:attrName>
                                        </p:attrNameLst>
                                      </p:cBhvr>
                                      <p:to>
                                        <p:strVal val="visible"/>
                                      </p:to>
                                    </p:set>
                                    <p:anim calcmode="lin" valueType="num">
                                      <p:cBhvr>
                                        <p:cTn id="60" dur="400" fill="hold"/>
                                        <p:tgtEl>
                                          <p:spTgt spid="344"/>
                                        </p:tgtEl>
                                        <p:attrNameLst>
                                          <p:attrName>ppt_w</p:attrName>
                                        </p:attrNameLst>
                                      </p:cBhvr>
                                      <p:tavLst>
                                        <p:tav tm="0">
                                          <p:val>
                                            <p:fltVal val="0"/>
                                          </p:val>
                                        </p:tav>
                                        <p:tav tm="100000">
                                          <p:val>
                                            <p:strVal val="#ppt_w"/>
                                          </p:val>
                                        </p:tav>
                                      </p:tavLst>
                                    </p:anim>
                                    <p:anim calcmode="lin" valueType="num">
                                      <p:cBhvr>
                                        <p:cTn id="61" dur="400" fill="hold"/>
                                        <p:tgtEl>
                                          <p:spTgt spid="344"/>
                                        </p:tgtEl>
                                        <p:attrNameLst>
                                          <p:attrName>ppt_h</p:attrName>
                                        </p:attrNameLst>
                                      </p:cBhvr>
                                      <p:tavLst>
                                        <p:tav tm="0">
                                          <p:val>
                                            <p:fltVal val="0"/>
                                          </p:val>
                                        </p:tav>
                                        <p:tav tm="100000">
                                          <p:val>
                                            <p:strVal val="#ppt_h"/>
                                          </p:val>
                                        </p:tav>
                                      </p:tavLst>
                                    </p:anim>
                                  </p:childTnLst>
                                </p:cTn>
                              </p:par>
                            </p:childTnLst>
                          </p:cTn>
                        </p:par>
                      </p:childTnLst>
                    </p:cTn>
                  </p:par>
                  <p:par>
                    <p:cTn id="62" fill="hold">
                      <p:stCondLst>
                        <p:cond delay="indefinite"/>
                      </p:stCondLst>
                      <p:childTnLst>
                        <p:par>
                          <p:cTn id="63" fill="hold">
                            <p:stCondLst>
                              <p:cond delay="0"/>
                            </p:stCondLst>
                            <p:childTnLst>
                              <p:par>
                                <p:cTn id="64" presetClass="entr" nodeType="clickEffect" presetID="10" grpId="12" fill="hold">
                                  <p:stCondLst>
                                    <p:cond delay="0"/>
                                  </p:stCondLst>
                                  <p:iterate type="el" backwards="0">
                                    <p:tmAbs val="0"/>
                                  </p:iterate>
                                  <p:childTnLst>
                                    <p:set>
                                      <p:cBhvr>
                                        <p:cTn id="65" fill="hold"/>
                                        <p:tgtEl>
                                          <p:spTgt spid="345"/>
                                        </p:tgtEl>
                                        <p:attrNameLst>
                                          <p:attrName>style.visibility</p:attrName>
                                        </p:attrNameLst>
                                      </p:cBhvr>
                                      <p:to>
                                        <p:strVal val="visible"/>
                                      </p:to>
                                    </p:set>
                                    <p:animEffect filter="fade" transition="in">
                                      <p:cBhvr>
                                        <p:cTn id="66" dur="400"/>
                                        <p:tgtEl>
                                          <p:spTgt spid="345"/>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67" fill="hold" display="0">
                  <p:stCondLst>
                    <p:cond delay="indefinite"/>
                  </p:stCondLst>
                </p:cTn>
                <p:tgtEl>
                  <p:spTgt spid="320"/>
                </p:tgtEl>
              </p:cMediaNode>
            </p:video>
            <p:seq concurrent="1" prevAc="none" nextAc="seek">
              <p:cTn id="68" evtFilter="cancelBubble" nodeType="interactiveSeq" restart="whenNotActive" fill="hold">
                <p:stCondLst>
                  <p:cond delay="0" evt="onClick">
                    <p:tgtEl>
                      <p:spTgt spid="320"/>
                    </p:tgtEl>
                  </p:cond>
                </p:stCondLst>
                <p:endSync delay="0" evt="end">
                  <p:rtn val="all"/>
                </p:endSync>
                <p:childTnLst>
                  <p:par>
                    <p:cTn id="69" fill="hold">
                      <p:stCondLst>
                        <p:cond delay="0"/>
                      </p:stCondLst>
                      <p:childTnLst>
                        <p:par>
                          <p:cTn id="70" fill="hold">
                            <p:stCondLst>
                              <p:cond delay="0"/>
                            </p:stCondLst>
                            <p:childTnLst>
                              <p:par>
                                <p:cTn id="71" presetClass="mediacall" nodeType="clickEffect" presetSubtype="0" presetID="2" fill="hold">
                                  <p:stCondLst>
                                    <p:cond delay="0"/>
                                  </p:stCondLst>
                                  <p:childTnLst>
                                    <p:cmd type="call" cmd="togglePause">
                                      <p:cBhvr>
                                        <p:cTn id="72" dur="1" fill="hold"/>
                                        <p:tgtEl>
                                          <p:spTgt spid="320"/>
                                        </p:tgtEl>
                                      </p:cBhvr>
                                    </p:cmd>
                                  </p:childTnLst>
                                </p:cTn>
                              </p:par>
                            </p:childTnLst>
                          </p:cTn>
                        </p:par>
                      </p:childTnLst>
                    </p:cTn>
                  </p:par>
                </p:childTnLst>
              </p:cTn>
              <p:nextCondLst>
                <p:cond delay="0" evt="onClick">
                  <p:tgtEl>
                    <p:spTgt spid="320"/>
                  </p:tgtEl>
                </p:cond>
              </p:nextCondLst>
            </p:seq>
          </p:childTnLst>
        </p:cTn>
      </p:par>
    </p:tnLst>
    <p:bldLst>
      <p:bldP build="whole" bldLvl="1" animBg="1" rev="0" advAuto="0" spid="332" grpId="5"/>
      <p:bldP build="whole" bldLvl="1" animBg="1" rev="0" advAuto="0" spid="343" grpId="10"/>
      <p:bldP build="whole" bldLvl="1" animBg="1" rev="0" advAuto="0" spid="339" grpId="8"/>
      <p:bldP build="whole" bldLvl="1" animBg="1" rev="0" advAuto="0" spid="345" grpId="12"/>
      <p:bldP build="whole" bldLvl="1" animBg="1" rev="0" advAuto="0" spid="335" grpId="6"/>
      <p:bldP build="whole" bldLvl="1" animBg="1" rev="0" advAuto="0" spid="331" grpId="4"/>
      <p:bldP build="whole" bldLvl="1" animBg="1" rev="0" advAuto="0" spid="336" grpId="7"/>
      <p:bldP build="whole" bldLvl="1" animBg="1" rev="0" advAuto="0" spid="327" grpId="2"/>
      <p:bldP build="whole" bldLvl="1" animBg="1" rev="0" advAuto="0" spid="340" grpId="9"/>
      <p:bldP build="whole" bldLvl="1" animBg="1" rev="0" advAuto="0" spid="328" grpId="3"/>
      <p:bldP build="whole" bldLvl="1" animBg="1" rev="0" advAuto="0" spid="344" grpId="11"/>
    </p:bldLst>
  </p:timing>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