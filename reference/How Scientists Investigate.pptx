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media1.mp4" ContentType="video/unknown"/>
  <Override PartName="/ppt/notesSlides/notesSlide2.xml" ContentType="application/vnd.openxmlformats-officedocument.presentationml.notesSlide+xml"/>
  <Override PartName="/ppt/media/media2.mp4" ContentType="video/unknown"/>
  <Override PartName="/ppt/notesSlides/notesSlide3.xml" ContentType="application/vnd.openxmlformats-officedocument.presentationml.notesSlide+xml"/>
  <Override PartName="/ppt/media/media3.mp4" ContentType="video/unknown"/>
  <Override PartName="/ppt/notesSlides/notesSlide4.xml" ContentType="application/vnd.openxmlformats-officedocument.presentationml.notesSlide+xml"/>
  <Override PartName="/ppt/media/media4.mp4" ContentType="video/unknown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media5.mp4" ContentType="video/unknown"/>
  <Override PartName="/ppt/notesSlides/notesSlide7.xml" ContentType="application/vnd.openxmlformats-officedocument.presentationml.notesSlide+xml"/>
  <Override PartName="/ppt/media/media6.mp4" ContentType="video/unknown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media/media7.mp4" ContentType="video/unknown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" name="Shape 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 NOW — 10 minutes. Six clicks.</a:t>
            </a:r>
          </a:p>
          <a:p>
            <a:pPr/>
          </a:p>
          <a:p>
            <a:pPr/>
            <a:r>
              <a:t>Q1, Q2, Q3, Q6 ARE OBJECTIVE 3 — lab safety — done here and nowhere else in the lesson. Do not re-teach it later; if it is shaky, that is worth flagging but not re-run today.</a:t>
            </a:r>
          </a:p>
          <a:p>
            <a:pPr/>
          </a:p>
          <a:p>
            <a:pPr/>
            <a:r>
              <a:t>Q4 AND Q5 are deliberate retrieval from Into The Lab’s own Do Now — same definitions, same wording. Point that out: "you already know this word."</a:t>
            </a:r>
          </a:p>
          <a:p>
            <a:pPr/>
          </a:p>
          <a:p>
            <a:pPr/>
            <a:r>
              <a:t>CHANGE THE DATE before you teach.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6" name="Shape 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TODAY — 1 minute. Four clicks.</a:t>
            </a:r>
          </a:p>
          <a:p>
            <a:pPr/>
          </a:p>
          <a:p>
            <a:pPr/>
            <a:r>
              <a:t>THE BANNER IS THE THESIS OF THE LESSON. Say it, don’t just show it: today is a toolkit, not a set of instructions to follow in order.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6" name="Shape 11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HOOK — 2 minutes. Four clicks.</a:t>
            </a:r>
          </a:p>
          <a:p>
            <a:pPr/>
          </a:p>
          <a:p>
            <a:pPr/>
            <a:r>
              <a:t>Hands up for each. Tally on the board.</a:t>
            </a:r>
          </a:p>
          <a:p>
            <a:pPr/>
          </a:p>
          <a:p>
            <a:pPr/>
            <a:r>
              <a:t>ANSWER: B. Do not reveal it here — I Do 2 gets there by fixing A and C.</a:t>
            </a:r>
          </a:p>
          <a:p>
            <a:pPr/>
          </a:p>
          <a:p>
            <a:pPr/>
            <a:r>
              <a:t>A AND C are both true-ish and both untestable as written: "important" and "like" are not measurable. That is the whole lesson in one slide.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3" name="Shape 1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DO — 3 minutes. Six clicks: the loop appears as one group, then the return arrow, then the note.</a:t>
            </a:r>
          </a:p>
          <a:p>
            <a:pPr/>
          </a:p>
          <a:p>
            <a:pPr/>
            <a:r>
              <a:t>DO NOT NUMBER THESE STEPS ON THE BOARD 1-2-3-4-5. That is exactly the "recipe" framing Unit 1 Lesson 1 already argued against — evidence and logic, not a fixed sequence.</a:t>
            </a:r>
          </a:p>
          <a:p>
            <a:pPr/>
          </a:p>
          <a:p>
            <a:pPr/>
            <a:r>
              <a:t>SAY OUT LOUD: "If your test gives a weird result, where do you go?" Answer: back to Test, sometimes back to Question. That is normal, not a failure.</a:t>
            </a:r>
          </a:p>
          <a:p>
            <a:pPr/>
          </a:p>
          <a:p>
            <a:pPr/>
            <a:r>
              <a:t>Hypothesis and Test are highlighted because those are today’s two working slides.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7" name="Shape 1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DO — 3 minutes. Six clicks.</a:t>
            </a:r>
          </a:p>
          <a:p>
            <a:pPr/>
          </a:p>
          <a:p>
            <a:pPr/>
            <a:r>
              <a:t>STEP 1 SAYS THE QUIET PART: "like" and "important" are opinions, not observations. Ask "how would you measure that?" and let the silence make the point.</a:t>
            </a:r>
          </a:p>
          <a:p>
            <a:pPr/>
          </a:p>
          <a:p>
            <a:pPr/>
            <a:r>
              <a:t>STEP 3 IS THE ONE SENTENCE THAT MATTERS TODAY. Write it on the board and leave it there for We Do and You Do.</a:t>
            </a:r>
          </a:p>
          <a:p>
            <a:pPr/>
          </a:p>
          <a:p>
            <a:pPr/>
            <a:r>
              <a:t>STEP 4 CLOSES THE HOOK. Go back to the tally — B was always testable, A and C needed fixing first.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6" name="Shape 1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DO — 5 minutes. Four clicks. Take answers from the room first.</a:t>
            </a:r>
          </a:p>
          <a:p>
            <a:pPr/>
          </a:p>
          <a:p>
            <a:pPr/>
            <a:r>
              <a:t>ROW 1: opinion dressed as a hypothesis. "Happy" cannot be measured; growth can.</a:t>
            </a:r>
          </a:p>
          <a:p>
            <a:pPr/>
          </a:p>
          <a:p>
            <a:pPr/>
            <a:r>
              <a:t>ROW 2: the fair-test rule from Into The Lab, restated for this context.</a:t>
            </a:r>
          </a:p>
          <a:p>
            <a:pPr/>
          </a:p>
          <a:p>
            <a:pPr/>
            <a:r>
              <a:t>ROW 3 IS THE MISCONCEPTION THE WHOLE LESSON IS BUILT AROUND. Spend the extra few seconds here. Ask: "so what should you do if a step doesn’t work?" — go back, not panic.</a:t>
            </a:r>
          </a:p>
          <a:p>
            <a:pPr/>
          </a:p>
          <a:p>
            <a:pPr/>
            <a:r>
              <a:t>ROW 4: "interesting" is not a hypothesis at all — there is no prediction in it.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2" name="Shape 22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YOU DO — 14 minutes. Four clicks.</a:t>
            </a:r>
          </a:p>
          <a:p>
            <a:pPr/>
          </a:p>
          <a:p>
            <a:pPr/>
            <a:r>
              <a:t>CIRCULATE WITH ONE QUESTION: "what could you actually measure?"</a:t>
            </a:r>
          </a:p>
          <a:p>
            <a:pPr/>
          </a:p>
          <a:p>
            <a:pPr/>
            <a:r>
              <a:t>WHERE THEY WILL STALL: Silver Q5-6 (rewriting a vague statement), and Gold entirely — designing their own is the stretch.</a:t>
            </a:r>
          </a:p>
          <a:p>
            <a:pPr/>
          </a:p>
          <a:p>
            <a:pPr/>
            <a:r>
              <a:t>AT 3 MINUTES REMAINING, stop them. Answers are on the next slide.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0" name="Shape 2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ANSWERS — 3 minutes. Five clicks, two at a time. They mark their own in a different colour.</a:t>
            </a:r>
          </a:p>
          <a:p>
            <a:pPr/>
          </a:p>
          <a:p>
            <a:pPr/>
            <a:r>
              <a:t>Q9 AND Q10 have no single right answer. Take two or three out loud for each rather than reading a model answer — the point is the reasoning, not matching a phrase.</a:t>
            </a:r>
          </a:p>
          <a:p>
            <a:pPr/>
          </a:p>
          <a:p>
            <a:pPr/>
            <a:r>
              <a:t>Q10 IS THE LESSON’S THESIS, restated as an answer. If it is shaky, that is worth five minutes at the start of next lesson.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9" name="Shape 29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PLENARY — 3 minutes. Six clicks.</a:t>
            </a:r>
          </a:p>
          <a:p>
            <a:pPr/>
          </a:p>
          <a:p>
            <a:pPr/>
            <a:r>
              <a:t>Q1 CHECKS THE CORE DISTINCTION: a hypothesis has reasoning behind it, a guess does not.</a:t>
            </a:r>
          </a:p>
          <a:p>
            <a:pPr/>
          </a:p>
          <a:p>
            <a:pPr/>
            <a:r>
              <a:t>Q3 IS THE LESSON’S MAIN POINT, asked directly. If this splits the room, reteach the loop diagram next lesson before anything new.</a:t>
            </a:r>
          </a:p>
          <a:p>
            <a:pPr/>
          </a:p>
          <a:p>
            <a:pPr/>
            <a:r>
              <a:t>Q5 IS A SAFETY CALLBACK to the Do Now, not new content — goggles stay on until every burner in the room is out, not just your own.</a:t>
            </a:r>
          </a:p>
          <a:p>
            <a:pPr/>
          </a:p>
          <a:p>
            <a:pPr/>
            <a:r>
              <a:t>The closing line is the habit to leave them with.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ideo" Target="../media/media1.mp4"/><Relationship Id="rId4" Type="http://schemas.microsoft.com/office/2007/relationships/media" Target="../media/media1.mp4"/><Relationship Id="rId5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video" Target="../media/media2.mp4"/><Relationship Id="rId4" Type="http://schemas.microsoft.com/office/2007/relationships/media" Target="../media/media2.mp4"/><Relationship Id="rId5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video" Target="../media/media3.mp4"/><Relationship Id="rId4" Type="http://schemas.microsoft.com/office/2007/relationships/media" Target="../media/media3.mp4"/><Relationship Id="rId5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video" Target="../media/media4.mp4"/><Relationship Id="rId4" Type="http://schemas.microsoft.com/office/2007/relationships/media" Target="../media/media4.mp4"/><Relationship Id="rId5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video" Target="../media/media4.mp4"/><Relationship Id="rId4" Type="http://schemas.microsoft.com/office/2007/relationships/media" Target="../media/media4.mp4"/><Relationship Id="rId5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video" Target="../media/media5.mp4"/><Relationship Id="rId4" Type="http://schemas.microsoft.com/office/2007/relationships/media" Target="../media/media5.mp4"/><Relationship Id="rId5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video" Target="../media/media6.mp4"/><Relationship Id="rId4" Type="http://schemas.microsoft.com/office/2007/relationships/media" Target="../media/media6.mp4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video" Target="../media/media4.mp4"/><Relationship Id="rId4" Type="http://schemas.microsoft.com/office/2007/relationships/media" Target="../media/media4.mp4"/><Relationship Id="rId5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video" Target="../media/media7.mp4"/><Relationship Id="rId4" Type="http://schemas.microsoft.com/office/2007/relationships/media" Target="../media/media7.mp4"/><Relationship Id="rId5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21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15395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2" name="DO NOW · 10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DO NOW · 10 MIN</a:t>
              </a:r>
            </a:p>
          </p:txBody>
        </p:sp>
      </p:grpSp>
      <p:sp>
        <p:nvSpPr>
          <p:cNvPr id="24" name="lesson_title"/>
          <p:cNvSpPr txBox="1"/>
          <p:nvPr/>
        </p:nvSpPr>
        <p:spPr>
          <a:xfrm>
            <a:off x="3291840" y="331470"/>
            <a:ext cx="566928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15395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How Scientists Investigate</a:t>
            </a:r>
          </a:p>
        </p:txBody>
      </p:sp>
      <p:sp>
        <p:nvSpPr>
          <p:cNvPr id="25" name="lesson_date"/>
          <p:cNvSpPr txBox="1"/>
          <p:nvPr/>
        </p:nvSpPr>
        <p:spPr>
          <a:xfrm>
            <a:off x="8534095" y="382938"/>
            <a:ext cx="310896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300">
                <a:solidFill>
                  <a:srgbClr val="5570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Wednesday 23 September 2026</a:t>
            </a:r>
          </a:p>
        </p:txBody>
      </p:sp>
      <p:sp>
        <p:nvSpPr>
          <p:cNvPr id="26" name="rule"/>
          <p:cNvSpPr/>
          <p:nvPr/>
        </p:nvSpPr>
        <p:spPr>
          <a:xfrm>
            <a:off x="1170432" y="896111"/>
            <a:ext cx="10472623" cy="36577"/>
          </a:xfrm>
          <a:prstGeom prst="rect">
            <a:avLst/>
          </a:prstGeom>
          <a:solidFill>
            <a:srgbClr val="FFD921"/>
          </a:solidFill>
          <a:ln w="12700">
            <a:solidFill>
              <a:srgbClr val="FFD92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d0_bg"/>
          <p:cNvSpPr/>
          <p:nvPr/>
        </p:nvSpPr>
        <p:spPr>
          <a:xfrm>
            <a:off x="1170432" y="1133855"/>
            <a:ext cx="5099152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d0_badge"/>
          <p:cNvSpPr/>
          <p:nvPr/>
        </p:nvSpPr>
        <p:spPr>
          <a:xfrm>
            <a:off x="1371600" y="1298447"/>
            <a:ext cx="384048" cy="384049"/>
          </a:xfrm>
          <a:prstGeom prst="ellipse">
            <a:avLst/>
          </a:prstGeom>
          <a:solidFill>
            <a:srgbClr val="FFD921"/>
          </a:solidFill>
          <a:ln w="12700">
            <a:solidFill>
              <a:srgbClr val="FFD92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d0_num"/>
          <p:cNvSpPr txBox="1"/>
          <p:nvPr/>
        </p:nvSpPr>
        <p:spPr>
          <a:xfrm>
            <a:off x="1371600" y="1388871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5395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0" name="d0_q"/>
          <p:cNvSpPr txBox="1"/>
          <p:nvPr/>
        </p:nvSpPr>
        <p:spPr>
          <a:xfrm>
            <a:off x="1901951" y="1356927"/>
            <a:ext cx="4166465" cy="523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0E2A4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must you check before lighting a Bunsen burner?</a:t>
            </a:r>
          </a:p>
        </p:txBody>
      </p:sp>
      <p:grpSp>
        <p:nvGrpSpPr>
          <p:cNvPr id="33" name="d0_a"/>
          <p:cNvGrpSpPr/>
          <p:nvPr/>
        </p:nvGrpSpPr>
        <p:grpSpPr>
          <a:xfrm>
            <a:off x="1371600" y="2048255"/>
            <a:ext cx="4696817" cy="438914"/>
            <a:chOff x="0" y="0"/>
            <a:chExt cx="4696816" cy="438912"/>
          </a:xfrm>
        </p:grpSpPr>
        <p:sp>
          <p:nvSpPr>
            <p:cNvPr id="31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DF3DC"/>
            </a:solidFill>
            <a:ln w="16510" cap="flat">
              <a:solidFill>
                <a:srgbClr val="FFD92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32" name="Goggles on, safety flame first, hair tied back."/>
            <p:cNvSpPr txBox="1"/>
            <p:nvPr/>
          </p:nvSpPr>
          <p:spPr>
            <a:xfrm>
              <a:off x="35035" y="119748"/>
              <a:ext cx="4626746" cy="199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400">
                  <a:solidFill>
                    <a:srgbClr val="15395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Goggles on, safety flame first, hair tied back.</a:t>
              </a:r>
            </a:p>
          </p:txBody>
        </p:sp>
      </p:grpSp>
      <p:sp>
        <p:nvSpPr>
          <p:cNvPr id="34" name="d1_bg"/>
          <p:cNvSpPr/>
          <p:nvPr/>
        </p:nvSpPr>
        <p:spPr>
          <a:xfrm>
            <a:off x="6543903" y="1133855"/>
            <a:ext cx="5099153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d1_badge"/>
          <p:cNvSpPr/>
          <p:nvPr/>
        </p:nvSpPr>
        <p:spPr>
          <a:xfrm>
            <a:off x="6745072" y="1298447"/>
            <a:ext cx="384049" cy="384049"/>
          </a:xfrm>
          <a:prstGeom prst="ellipse">
            <a:avLst/>
          </a:prstGeom>
          <a:solidFill>
            <a:srgbClr val="FFD921"/>
          </a:solidFill>
          <a:ln w="12700">
            <a:solidFill>
              <a:srgbClr val="FFD92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d1_num"/>
          <p:cNvSpPr txBox="1"/>
          <p:nvPr/>
        </p:nvSpPr>
        <p:spPr>
          <a:xfrm>
            <a:off x="6745072" y="1388871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5395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7" name="d1_q"/>
          <p:cNvSpPr txBox="1"/>
          <p:nvPr/>
        </p:nvSpPr>
        <p:spPr>
          <a:xfrm>
            <a:off x="7275424" y="1356927"/>
            <a:ext cx="4166465" cy="523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0E2A4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Which flame do you use when you are not heating?</a:t>
            </a:r>
          </a:p>
        </p:txBody>
      </p:sp>
      <p:grpSp>
        <p:nvGrpSpPr>
          <p:cNvPr id="40" name="d1_a"/>
          <p:cNvGrpSpPr/>
          <p:nvPr/>
        </p:nvGrpSpPr>
        <p:grpSpPr>
          <a:xfrm>
            <a:off x="6745072" y="2048255"/>
            <a:ext cx="4696817" cy="438914"/>
            <a:chOff x="0" y="0"/>
            <a:chExt cx="4696816" cy="438912"/>
          </a:xfrm>
        </p:grpSpPr>
        <p:sp>
          <p:nvSpPr>
            <p:cNvPr id="38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DF3DC"/>
            </a:solidFill>
            <a:ln w="16510" cap="flat">
              <a:solidFill>
                <a:srgbClr val="FFD92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39" name="The orange safety flame."/>
            <p:cNvSpPr txBox="1"/>
            <p:nvPr/>
          </p:nvSpPr>
          <p:spPr>
            <a:xfrm>
              <a:off x="35035" y="119748"/>
              <a:ext cx="4626746" cy="199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400">
                  <a:solidFill>
                    <a:srgbClr val="15395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orange safety flame.</a:t>
              </a:r>
            </a:p>
          </p:txBody>
        </p:sp>
      </p:grpSp>
      <p:sp>
        <p:nvSpPr>
          <p:cNvPr id="41" name="d2_bg"/>
          <p:cNvSpPr/>
          <p:nvPr/>
        </p:nvSpPr>
        <p:spPr>
          <a:xfrm>
            <a:off x="1170432" y="2798064"/>
            <a:ext cx="5099152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d2_badge"/>
          <p:cNvSpPr/>
          <p:nvPr/>
        </p:nvSpPr>
        <p:spPr>
          <a:xfrm>
            <a:off x="1371600" y="2962655"/>
            <a:ext cx="384048" cy="384049"/>
          </a:xfrm>
          <a:prstGeom prst="ellipse">
            <a:avLst/>
          </a:prstGeom>
          <a:solidFill>
            <a:srgbClr val="FFD921"/>
          </a:solidFill>
          <a:ln w="12700">
            <a:solidFill>
              <a:srgbClr val="FFD92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d2_num"/>
          <p:cNvSpPr txBox="1"/>
          <p:nvPr/>
        </p:nvSpPr>
        <p:spPr>
          <a:xfrm>
            <a:off x="1371600" y="3053079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5395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4" name="d2_q"/>
          <p:cNvSpPr txBox="1"/>
          <p:nvPr/>
        </p:nvSpPr>
        <p:spPr>
          <a:xfrm>
            <a:off x="1901951" y="3154485"/>
            <a:ext cx="4166465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0E2A4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does the air hole control?</a:t>
            </a:r>
          </a:p>
        </p:txBody>
      </p:sp>
      <p:grpSp>
        <p:nvGrpSpPr>
          <p:cNvPr id="47" name="d2_a"/>
          <p:cNvGrpSpPr/>
          <p:nvPr/>
        </p:nvGrpSpPr>
        <p:grpSpPr>
          <a:xfrm>
            <a:off x="1371600" y="3712464"/>
            <a:ext cx="4696817" cy="438913"/>
            <a:chOff x="0" y="0"/>
            <a:chExt cx="4696816" cy="438912"/>
          </a:xfrm>
        </p:grpSpPr>
        <p:sp>
          <p:nvSpPr>
            <p:cNvPr id="45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DF3DC"/>
            </a:solidFill>
            <a:ln w="16510" cap="flat">
              <a:solidFill>
                <a:srgbClr val="FFD92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46" name="Open = hot blue flame. Closed = safety flame."/>
            <p:cNvSpPr txBox="1"/>
            <p:nvPr/>
          </p:nvSpPr>
          <p:spPr>
            <a:xfrm>
              <a:off x="35035" y="119748"/>
              <a:ext cx="4626746" cy="199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400">
                  <a:solidFill>
                    <a:srgbClr val="15395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Open = hot blue flame. Closed = safety flame.</a:t>
              </a:r>
            </a:p>
          </p:txBody>
        </p:sp>
      </p:grpSp>
      <p:sp>
        <p:nvSpPr>
          <p:cNvPr id="48" name="d3_bg"/>
          <p:cNvSpPr/>
          <p:nvPr/>
        </p:nvSpPr>
        <p:spPr>
          <a:xfrm>
            <a:off x="6543903" y="2798064"/>
            <a:ext cx="5099153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d3_badge"/>
          <p:cNvSpPr/>
          <p:nvPr/>
        </p:nvSpPr>
        <p:spPr>
          <a:xfrm>
            <a:off x="6745072" y="2962655"/>
            <a:ext cx="384049" cy="384049"/>
          </a:xfrm>
          <a:prstGeom prst="ellipse">
            <a:avLst/>
          </a:prstGeom>
          <a:solidFill>
            <a:srgbClr val="FFD921"/>
          </a:solidFill>
          <a:ln w="12700">
            <a:solidFill>
              <a:srgbClr val="FFD92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d3_num"/>
          <p:cNvSpPr txBox="1"/>
          <p:nvPr/>
        </p:nvSpPr>
        <p:spPr>
          <a:xfrm>
            <a:off x="6745072" y="3053079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5395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1" name="d3_q"/>
          <p:cNvSpPr txBox="1"/>
          <p:nvPr/>
        </p:nvSpPr>
        <p:spPr>
          <a:xfrm>
            <a:off x="7275424" y="3154485"/>
            <a:ext cx="4166465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0E2A4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a hypothesis?</a:t>
            </a:r>
          </a:p>
        </p:txBody>
      </p:sp>
      <p:grpSp>
        <p:nvGrpSpPr>
          <p:cNvPr id="54" name="d3_a"/>
          <p:cNvGrpSpPr/>
          <p:nvPr/>
        </p:nvGrpSpPr>
        <p:grpSpPr>
          <a:xfrm>
            <a:off x="6745072" y="3712464"/>
            <a:ext cx="4696817" cy="438913"/>
            <a:chOff x="0" y="0"/>
            <a:chExt cx="4696816" cy="438912"/>
          </a:xfrm>
        </p:grpSpPr>
        <p:sp>
          <p:nvSpPr>
            <p:cNvPr id="52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DF3DC"/>
            </a:solidFill>
            <a:ln w="16510" cap="flat">
              <a:solidFill>
                <a:srgbClr val="FFD92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53" name="A prediction about an observation."/>
            <p:cNvSpPr txBox="1"/>
            <p:nvPr/>
          </p:nvSpPr>
          <p:spPr>
            <a:xfrm>
              <a:off x="35035" y="119748"/>
              <a:ext cx="4626746" cy="199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400">
                  <a:solidFill>
                    <a:srgbClr val="15395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prediction about an observation.</a:t>
              </a:r>
            </a:p>
          </p:txBody>
        </p:sp>
      </p:grpSp>
      <p:sp>
        <p:nvSpPr>
          <p:cNvPr id="55" name="d4_bg"/>
          <p:cNvSpPr/>
          <p:nvPr/>
        </p:nvSpPr>
        <p:spPr>
          <a:xfrm>
            <a:off x="1170432" y="4462271"/>
            <a:ext cx="5099152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d4_badge"/>
          <p:cNvSpPr/>
          <p:nvPr/>
        </p:nvSpPr>
        <p:spPr>
          <a:xfrm>
            <a:off x="1371600" y="4626864"/>
            <a:ext cx="384048" cy="384049"/>
          </a:xfrm>
          <a:prstGeom prst="ellipse">
            <a:avLst/>
          </a:prstGeom>
          <a:solidFill>
            <a:srgbClr val="FFD921"/>
          </a:solidFill>
          <a:ln w="12700">
            <a:solidFill>
              <a:srgbClr val="FFD92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d4_num"/>
          <p:cNvSpPr txBox="1"/>
          <p:nvPr/>
        </p:nvSpPr>
        <p:spPr>
          <a:xfrm>
            <a:off x="1371600" y="4717288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5395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8" name="d4_q"/>
          <p:cNvSpPr txBox="1"/>
          <p:nvPr/>
        </p:nvSpPr>
        <p:spPr>
          <a:xfrm>
            <a:off x="1901951" y="4818693"/>
            <a:ext cx="4166465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0E2A4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 do scientists repeat measurements?</a:t>
            </a:r>
          </a:p>
        </p:txBody>
      </p:sp>
      <p:grpSp>
        <p:nvGrpSpPr>
          <p:cNvPr id="61" name="d4_a"/>
          <p:cNvGrpSpPr/>
          <p:nvPr/>
        </p:nvGrpSpPr>
        <p:grpSpPr>
          <a:xfrm>
            <a:off x="1371600" y="5376671"/>
            <a:ext cx="4696817" cy="438913"/>
            <a:chOff x="0" y="0"/>
            <a:chExt cx="4696816" cy="438912"/>
          </a:xfrm>
        </p:grpSpPr>
        <p:sp>
          <p:nvSpPr>
            <p:cNvPr id="59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DF3DC"/>
            </a:solidFill>
            <a:ln w="16510" cap="flat">
              <a:solidFill>
                <a:srgbClr val="FFD92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60" name="To get more accurate results."/>
            <p:cNvSpPr txBox="1"/>
            <p:nvPr/>
          </p:nvSpPr>
          <p:spPr>
            <a:xfrm>
              <a:off x="35035" y="119748"/>
              <a:ext cx="4626746" cy="199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400">
                  <a:solidFill>
                    <a:srgbClr val="15395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To get more accurate results.</a:t>
              </a:r>
            </a:p>
          </p:txBody>
        </p:sp>
      </p:grpSp>
      <p:sp>
        <p:nvSpPr>
          <p:cNvPr id="62" name="d5_bg"/>
          <p:cNvSpPr/>
          <p:nvPr/>
        </p:nvSpPr>
        <p:spPr>
          <a:xfrm>
            <a:off x="6543903" y="4462271"/>
            <a:ext cx="5099153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d5_badge"/>
          <p:cNvSpPr/>
          <p:nvPr/>
        </p:nvSpPr>
        <p:spPr>
          <a:xfrm>
            <a:off x="6745072" y="4626864"/>
            <a:ext cx="384049" cy="384049"/>
          </a:xfrm>
          <a:prstGeom prst="ellipse">
            <a:avLst/>
          </a:prstGeom>
          <a:solidFill>
            <a:srgbClr val="FFD921"/>
          </a:solidFill>
          <a:ln w="12700">
            <a:solidFill>
              <a:srgbClr val="FFD92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d5_num"/>
          <p:cNvSpPr txBox="1"/>
          <p:nvPr/>
        </p:nvSpPr>
        <p:spPr>
          <a:xfrm>
            <a:off x="6745072" y="4717288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5395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5" name="d5_q"/>
          <p:cNvSpPr txBox="1"/>
          <p:nvPr/>
        </p:nvSpPr>
        <p:spPr>
          <a:xfrm>
            <a:off x="7275424" y="4818693"/>
            <a:ext cx="4166465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0E2A4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When can goggles come off?</a:t>
            </a:r>
          </a:p>
        </p:txBody>
      </p:sp>
      <p:grpSp>
        <p:nvGrpSpPr>
          <p:cNvPr id="68" name="d5_a"/>
          <p:cNvGrpSpPr/>
          <p:nvPr/>
        </p:nvGrpSpPr>
        <p:grpSpPr>
          <a:xfrm>
            <a:off x="6745072" y="5376671"/>
            <a:ext cx="4696817" cy="438913"/>
            <a:chOff x="0" y="0"/>
            <a:chExt cx="4696816" cy="438912"/>
          </a:xfrm>
        </p:grpSpPr>
        <p:sp>
          <p:nvSpPr>
            <p:cNvPr id="66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DF3DC"/>
            </a:solidFill>
            <a:ln w="16510" cap="flat">
              <a:solidFill>
                <a:srgbClr val="FFD92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67" name="When every burner in the room is out."/>
            <p:cNvSpPr txBox="1"/>
            <p:nvPr/>
          </p:nvSpPr>
          <p:spPr>
            <a:xfrm>
              <a:off x="35035" y="119748"/>
              <a:ext cx="4626746" cy="199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400">
                  <a:solidFill>
                    <a:srgbClr val="15395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When every burner in the room is out.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6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6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7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prevAc="none" nextAc="seek">
              <p:cTn id="38" evtFilter="cancelBubble" nodeType="interactiveSeq" restart="whenNotActive" fill="hold">
                <p:stCondLst>
                  <p:cond delay="0" evt="onClick">
                    <p:tgtEl>
                      <p:spTgt spid="20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build="whole" bldLvl="1" animBg="1" rev="0" advAuto="0" spid="61" grpId="6"/>
      <p:bldP build="whole" bldLvl="1" animBg="1" rev="0" advAuto="0" spid="68" grpId="7"/>
      <p:bldP build="whole" bldLvl="1" animBg="1" rev="0" advAuto="0" spid="40" grpId="3"/>
      <p:bldP build="whole" bldLvl="1" animBg="1" rev="0" advAuto="0" spid="33" grpId="2"/>
      <p:bldP build="whole" bldLvl="1" animBg="1" rev="0" advAuto="0" spid="47" grpId="4"/>
      <p:bldP build="whole" bldLvl="1" animBg="1" rev="0" advAuto="0" spid="54" grpId="5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5" name="phase_pill"/>
          <p:cNvGrpSpPr/>
          <p:nvPr/>
        </p:nvGrpSpPr>
        <p:grpSpPr>
          <a:xfrm>
            <a:off x="1170432" y="310895"/>
            <a:ext cx="1713586" cy="329185"/>
            <a:chOff x="0" y="0"/>
            <a:chExt cx="1713585" cy="329184"/>
          </a:xfrm>
        </p:grpSpPr>
        <p:sp>
          <p:nvSpPr>
            <p:cNvPr id="73" name="Rounded Rectangle"/>
            <p:cNvSpPr/>
            <p:nvPr/>
          </p:nvSpPr>
          <p:spPr>
            <a:xfrm>
              <a:off x="0" y="0"/>
              <a:ext cx="1713586" cy="329185"/>
            </a:xfrm>
            <a:prstGeom prst="roundRect">
              <a:avLst>
                <a:gd name="adj" fmla="val 44444"/>
              </a:avLst>
            </a:prstGeom>
            <a:solidFill>
              <a:srgbClr val="15395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74" name="TODAY · 1 MIN"/>
            <p:cNvSpPr txBox="1"/>
            <p:nvPr/>
          </p:nvSpPr>
          <p:spPr>
            <a:xfrm>
              <a:off x="42850" y="90677"/>
              <a:ext cx="162788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TODAY · 1 MIN</a:t>
              </a:r>
            </a:p>
          </p:txBody>
        </p:sp>
      </p:grpSp>
      <p:sp>
        <p:nvSpPr>
          <p:cNvPr id="76" name="slide_title"/>
          <p:cNvSpPr txBox="1"/>
          <p:nvPr/>
        </p:nvSpPr>
        <p:spPr>
          <a:xfrm>
            <a:off x="1170432" y="946657"/>
            <a:ext cx="1047262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5395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Objectives</a:t>
            </a:r>
          </a:p>
        </p:txBody>
      </p:sp>
      <p:grpSp>
        <p:nvGrpSpPr>
          <p:cNvPr id="81" name="o0"/>
          <p:cNvGrpSpPr/>
          <p:nvPr/>
        </p:nvGrpSpPr>
        <p:grpSpPr>
          <a:xfrm>
            <a:off x="1170432" y="2194560"/>
            <a:ext cx="3307994" cy="1792224"/>
            <a:chOff x="0" y="0"/>
            <a:chExt cx="3307993" cy="1792223"/>
          </a:xfrm>
        </p:grpSpPr>
        <p:sp>
          <p:nvSpPr>
            <p:cNvPr id="77" name="o0_bg"/>
            <p:cNvSpPr/>
            <p:nvPr/>
          </p:nvSpPr>
          <p:spPr>
            <a:xfrm>
              <a:off x="0" y="0"/>
              <a:ext cx="3307994" cy="1792224"/>
            </a:xfrm>
            <a:prstGeom prst="roundRect">
              <a:avLst>
                <a:gd name="adj" fmla="val 510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8" name="o0_badge"/>
            <p:cNvSpPr/>
            <p:nvPr/>
          </p:nvSpPr>
          <p:spPr>
            <a:xfrm>
              <a:off x="237744" y="201168"/>
              <a:ext cx="384049" cy="384049"/>
            </a:xfrm>
            <a:prstGeom prst="ellipse">
              <a:avLst/>
            </a:prstGeom>
            <a:solidFill>
              <a:srgbClr val="FFD921"/>
            </a:solidFill>
            <a:ln w="12700" cap="flat">
              <a:solidFill>
                <a:srgbClr val="FFD92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" name="o0_num"/>
            <p:cNvSpPr txBox="1"/>
            <p:nvPr/>
          </p:nvSpPr>
          <p:spPr>
            <a:xfrm>
              <a:off x="237744" y="291591"/>
              <a:ext cx="384048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400">
                  <a:solidFill>
                    <a:srgbClr val="15395C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80" name="o0_t"/>
            <p:cNvSpPr txBox="1"/>
            <p:nvPr/>
          </p:nvSpPr>
          <p:spPr>
            <a:xfrm>
              <a:off x="237744" y="713231"/>
              <a:ext cx="2832506" cy="5231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100"/>
                </a:lnSpc>
                <a:defRPr b="1" sz="1600">
                  <a:solidFill>
                    <a:srgbClr val="0E2A4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List the steps scientists use to investigate.</a:t>
              </a:r>
            </a:p>
          </p:txBody>
        </p:sp>
      </p:grpSp>
      <p:grpSp>
        <p:nvGrpSpPr>
          <p:cNvPr id="86" name="o1"/>
          <p:cNvGrpSpPr/>
          <p:nvPr/>
        </p:nvGrpSpPr>
        <p:grpSpPr>
          <a:xfrm>
            <a:off x="4752745" y="2194560"/>
            <a:ext cx="3307995" cy="1792224"/>
            <a:chOff x="0" y="0"/>
            <a:chExt cx="3307993" cy="1792223"/>
          </a:xfrm>
        </p:grpSpPr>
        <p:sp>
          <p:nvSpPr>
            <p:cNvPr id="82" name="o1_bg"/>
            <p:cNvSpPr/>
            <p:nvPr/>
          </p:nvSpPr>
          <p:spPr>
            <a:xfrm>
              <a:off x="0" y="0"/>
              <a:ext cx="3307994" cy="1792224"/>
            </a:xfrm>
            <a:prstGeom prst="roundRect">
              <a:avLst>
                <a:gd name="adj" fmla="val 510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3" name="o1_badge"/>
            <p:cNvSpPr/>
            <p:nvPr/>
          </p:nvSpPr>
          <p:spPr>
            <a:xfrm>
              <a:off x="237744" y="201168"/>
              <a:ext cx="384049" cy="384049"/>
            </a:xfrm>
            <a:prstGeom prst="ellipse">
              <a:avLst/>
            </a:prstGeom>
            <a:solidFill>
              <a:srgbClr val="FFD921"/>
            </a:solidFill>
            <a:ln w="12700" cap="flat">
              <a:solidFill>
                <a:srgbClr val="FFD92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" name="o1_num"/>
            <p:cNvSpPr txBox="1"/>
            <p:nvPr/>
          </p:nvSpPr>
          <p:spPr>
            <a:xfrm>
              <a:off x="237744" y="291591"/>
              <a:ext cx="384048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400">
                  <a:solidFill>
                    <a:srgbClr val="15395C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85" name="o1_t"/>
            <p:cNvSpPr txBox="1"/>
            <p:nvPr/>
          </p:nvSpPr>
          <p:spPr>
            <a:xfrm>
              <a:off x="237744" y="713231"/>
              <a:ext cx="2832506" cy="5231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100"/>
                </a:lnSpc>
                <a:defRPr b="1" sz="1600">
                  <a:solidFill>
                    <a:srgbClr val="0E2A4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Write a hypothesis you can actually test.</a:t>
              </a:r>
            </a:p>
          </p:txBody>
        </p:sp>
      </p:grpSp>
      <p:grpSp>
        <p:nvGrpSpPr>
          <p:cNvPr id="91" name="o2"/>
          <p:cNvGrpSpPr/>
          <p:nvPr/>
        </p:nvGrpSpPr>
        <p:grpSpPr>
          <a:xfrm>
            <a:off x="8335061" y="2194560"/>
            <a:ext cx="3307994" cy="1792224"/>
            <a:chOff x="0" y="0"/>
            <a:chExt cx="3307993" cy="1792223"/>
          </a:xfrm>
        </p:grpSpPr>
        <p:sp>
          <p:nvSpPr>
            <p:cNvPr id="87" name="o2_bg"/>
            <p:cNvSpPr/>
            <p:nvPr/>
          </p:nvSpPr>
          <p:spPr>
            <a:xfrm>
              <a:off x="0" y="0"/>
              <a:ext cx="3307994" cy="1792224"/>
            </a:xfrm>
            <a:prstGeom prst="roundRect">
              <a:avLst>
                <a:gd name="adj" fmla="val 510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8" name="o2_badge"/>
            <p:cNvSpPr/>
            <p:nvPr/>
          </p:nvSpPr>
          <p:spPr>
            <a:xfrm>
              <a:off x="237744" y="201168"/>
              <a:ext cx="384049" cy="384049"/>
            </a:xfrm>
            <a:prstGeom prst="ellipse">
              <a:avLst/>
            </a:prstGeom>
            <a:solidFill>
              <a:srgbClr val="FFD921"/>
            </a:solidFill>
            <a:ln w="12700" cap="flat">
              <a:solidFill>
                <a:srgbClr val="FFD92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9" name="o2_num"/>
            <p:cNvSpPr txBox="1"/>
            <p:nvPr/>
          </p:nvSpPr>
          <p:spPr>
            <a:xfrm>
              <a:off x="237744" y="291591"/>
              <a:ext cx="384048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400">
                  <a:solidFill>
                    <a:srgbClr val="15395C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90" name="o2_t"/>
            <p:cNvSpPr txBox="1"/>
            <p:nvPr/>
          </p:nvSpPr>
          <p:spPr>
            <a:xfrm>
              <a:off x="237744" y="713231"/>
              <a:ext cx="2832506" cy="2564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100"/>
                </a:lnSpc>
                <a:defRPr b="1" sz="1600">
                  <a:solidFill>
                    <a:srgbClr val="0E2A4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Lab safety.</a:t>
              </a:r>
            </a:p>
          </p:txBody>
        </p:sp>
      </p:grpSp>
      <p:grpSp>
        <p:nvGrpSpPr>
          <p:cNvPr id="94" name="obj_banner"/>
          <p:cNvGrpSpPr/>
          <p:nvPr/>
        </p:nvGrpSpPr>
        <p:grpSpPr>
          <a:xfrm>
            <a:off x="1170432" y="4279391"/>
            <a:ext cx="10472623" cy="640081"/>
            <a:chOff x="0" y="0"/>
            <a:chExt cx="10472622" cy="640080"/>
          </a:xfrm>
        </p:grpSpPr>
        <p:sp>
          <p:nvSpPr>
            <p:cNvPr id="92" name="Rounded Rectangle"/>
            <p:cNvSpPr/>
            <p:nvPr/>
          </p:nvSpPr>
          <p:spPr>
            <a:xfrm>
              <a:off x="0" y="0"/>
              <a:ext cx="10472623" cy="640081"/>
            </a:xfrm>
            <a:prstGeom prst="roundRect">
              <a:avLst>
                <a:gd name="adj" fmla="val 17143"/>
              </a:avLst>
            </a:prstGeom>
            <a:solidFill>
              <a:srgbClr val="15395C"/>
            </a:solidFill>
            <a:ln w="9525" cap="flat">
              <a:solidFill>
                <a:srgbClr val="15395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700"/>
              </a:pPr>
            </a:p>
          </p:txBody>
        </p:sp>
        <p:sp>
          <p:nvSpPr>
            <p:cNvPr id="93" name="Science is not a recipe. It is a toolkit."/>
            <p:cNvSpPr txBox="1"/>
            <p:nvPr/>
          </p:nvSpPr>
          <p:spPr>
            <a:xfrm>
              <a:off x="36901" y="196571"/>
              <a:ext cx="10398821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700">
                  <a:solidFill>
                    <a:srgbClr val="FFD921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Science is not a recipe. It is a toolkit.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8" fill="hold" display="0">
                  <p:stCondLst>
                    <p:cond delay="indefinite"/>
                  </p:stCondLst>
                </p:cTn>
                <p:tgtEl>
                  <p:spTgt spid="72"/>
                </p:tgtEl>
              </p:cMediaNode>
            </p:video>
            <p:seq concurrent="1" prevAc="none" nextAc="seek">
              <p:cTn id="29" evtFilter="cancelBubble" nodeType="interactiveSeq" restart="whenNotActive" fill="hold">
                <p:stCondLst>
                  <p:cond delay="0" evt="onClick">
                    <p:tgtEl>
                      <p:spTgt spid="72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3" dur="1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72"/>
                  </p:tgtEl>
                </p:cond>
              </p:nextCondLst>
            </p:seq>
          </p:childTnLst>
        </p:cTn>
      </p:par>
    </p:tnLst>
    <p:bldLst>
      <p:bldP build="whole" bldLvl="1" animBg="1" rev="0" advAuto="0" spid="81" grpId="2"/>
      <p:bldP build="whole" bldLvl="1" animBg="1" rev="0" advAuto="0" spid="91" grpId="4"/>
      <p:bldP build="whole" bldLvl="1" animBg="1" rev="0" advAuto="0" spid="86" grpId="3"/>
      <p:bldP build="whole" bldLvl="1" animBg="1" rev="0" advAuto="0" spid="94" grpId="5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1" name="phase_pill"/>
          <p:cNvGrpSpPr/>
          <p:nvPr/>
        </p:nvGrpSpPr>
        <p:grpSpPr>
          <a:xfrm>
            <a:off x="1170432" y="310895"/>
            <a:ext cx="1623975" cy="329185"/>
            <a:chOff x="0" y="0"/>
            <a:chExt cx="1623974" cy="329184"/>
          </a:xfrm>
        </p:grpSpPr>
        <p:sp>
          <p:nvSpPr>
            <p:cNvPr id="99" name="Rounded Rectangle"/>
            <p:cNvSpPr/>
            <p:nvPr/>
          </p:nvSpPr>
          <p:spPr>
            <a:xfrm>
              <a:off x="0" y="0"/>
              <a:ext cx="1623975" cy="329185"/>
            </a:xfrm>
            <a:prstGeom prst="roundRect">
              <a:avLst>
                <a:gd name="adj" fmla="val 44444"/>
              </a:avLst>
            </a:prstGeom>
            <a:solidFill>
              <a:srgbClr val="15395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00" name="HOOK · 2 MIN"/>
            <p:cNvSpPr txBox="1"/>
            <p:nvPr/>
          </p:nvSpPr>
          <p:spPr>
            <a:xfrm>
              <a:off x="42851" y="90677"/>
              <a:ext cx="153827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HOOK · 2 MIN</a:t>
              </a:r>
            </a:p>
          </p:txBody>
        </p:sp>
      </p:grpSp>
      <p:sp>
        <p:nvSpPr>
          <p:cNvPr id="102" name="slide_title"/>
          <p:cNvSpPr txBox="1"/>
          <p:nvPr/>
        </p:nvSpPr>
        <p:spPr>
          <a:xfrm>
            <a:off x="1170432" y="1041554"/>
            <a:ext cx="10472623" cy="495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4000"/>
              </a:lnSpc>
              <a:defRPr b="1" sz="3200">
                <a:solidFill>
                  <a:srgbClr val="15395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Which of these could you actually test?</a:t>
            </a:r>
          </a:p>
        </p:txBody>
      </p:sp>
      <p:grpSp>
        <p:nvGrpSpPr>
          <p:cNvPr id="106" name="h0"/>
          <p:cNvGrpSpPr/>
          <p:nvPr/>
        </p:nvGrpSpPr>
        <p:grpSpPr>
          <a:xfrm>
            <a:off x="1170432" y="2487167"/>
            <a:ext cx="3307994" cy="1554481"/>
            <a:chOff x="0" y="0"/>
            <a:chExt cx="3307993" cy="1554480"/>
          </a:xfrm>
        </p:grpSpPr>
        <p:sp>
          <p:nvSpPr>
            <p:cNvPr id="103" name="h0_bg"/>
            <p:cNvSpPr/>
            <p:nvPr/>
          </p:nvSpPr>
          <p:spPr>
            <a:xfrm>
              <a:off x="0" y="0"/>
              <a:ext cx="3307994" cy="1554481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4" name="h0_k"/>
            <p:cNvSpPr txBox="1"/>
            <p:nvPr/>
          </p:nvSpPr>
          <p:spPr>
            <a:xfrm>
              <a:off x="256032" y="239268"/>
              <a:ext cx="54864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600">
                  <a:solidFill>
                    <a:srgbClr val="CD312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05" name="h0_t"/>
            <p:cNvSpPr txBox="1"/>
            <p:nvPr/>
          </p:nvSpPr>
          <p:spPr>
            <a:xfrm>
              <a:off x="256032" y="829773"/>
              <a:ext cx="2832506" cy="2606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2100"/>
                </a:lnSpc>
                <a:defRPr b="1" sz="1700">
                  <a:solidFill>
                    <a:srgbClr val="15395C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Plants are important.</a:t>
              </a:r>
            </a:p>
          </p:txBody>
        </p:sp>
      </p:grpSp>
      <p:grpSp>
        <p:nvGrpSpPr>
          <p:cNvPr id="110" name="h1"/>
          <p:cNvGrpSpPr/>
          <p:nvPr/>
        </p:nvGrpSpPr>
        <p:grpSpPr>
          <a:xfrm>
            <a:off x="4752745" y="2487167"/>
            <a:ext cx="3307995" cy="1554481"/>
            <a:chOff x="0" y="0"/>
            <a:chExt cx="3307993" cy="1554480"/>
          </a:xfrm>
        </p:grpSpPr>
        <p:sp>
          <p:nvSpPr>
            <p:cNvPr id="107" name="h1_bg"/>
            <p:cNvSpPr/>
            <p:nvPr/>
          </p:nvSpPr>
          <p:spPr>
            <a:xfrm>
              <a:off x="0" y="0"/>
              <a:ext cx="3307994" cy="1554481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8" name="h1_k"/>
            <p:cNvSpPr txBox="1"/>
            <p:nvPr/>
          </p:nvSpPr>
          <p:spPr>
            <a:xfrm>
              <a:off x="256032" y="239268"/>
              <a:ext cx="54864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600">
                  <a:solidFill>
                    <a:srgbClr val="CD312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09" name="h1_t"/>
            <p:cNvSpPr txBox="1"/>
            <p:nvPr/>
          </p:nvSpPr>
          <p:spPr>
            <a:xfrm>
              <a:off x="256032" y="696423"/>
              <a:ext cx="2832506" cy="5273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2100"/>
                </a:lnSpc>
                <a:defRPr b="1" sz="1700">
                  <a:solidFill>
                    <a:srgbClr val="15395C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Plants grow taller with more sunlight.</a:t>
              </a:r>
            </a:p>
          </p:txBody>
        </p:sp>
      </p:grpSp>
      <p:grpSp>
        <p:nvGrpSpPr>
          <p:cNvPr id="114" name="h2"/>
          <p:cNvGrpSpPr/>
          <p:nvPr/>
        </p:nvGrpSpPr>
        <p:grpSpPr>
          <a:xfrm>
            <a:off x="8335061" y="2487167"/>
            <a:ext cx="3307994" cy="1554481"/>
            <a:chOff x="0" y="0"/>
            <a:chExt cx="3307993" cy="1554480"/>
          </a:xfrm>
        </p:grpSpPr>
        <p:sp>
          <p:nvSpPr>
            <p:cNvPr id="111" name="h2_bg"/>
            <p:cNvSpPr/>
            <p:nvPr/>
          </p:nvSpPr>
          <p:spPr>
            <a:xfrm>
              <a:off x="0" y="0"/>
              <a:ext cx="3307994" cy="1554481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2" name="h2_k"/>
            <p:cNvSpPr txBox="1"/>
            <p:nvPr/>
          </p:nvSpPr>
          <p:spPr>
            <a:xfrm>
              <a:off x="256032" y="239268"/>
              <a:ext cx="54864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600">
                  <a:solidFill>
                    <a:srgbClr val="CD312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13" name="h2_t"/>
            <p:cNvSpPr txBox="1"/>
            <p:nvPr/>
          </p:nvSpPr>
          <p:spPr>
            <a:xfrm>
              <a:off x="256032" y="829773"/>
              <a:ext cx="2832506" cy="2606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2100"/>
                </a:lnSpc>
                <a:defRPr b="1" sz="1700">
                  <a:solidFill>
                    <a:srgbClr val="15395C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Plants grow quickly.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0" fill="hold"/>
                                        <p:tgtEl>
                                          <p:spTgt spid="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0" fill="hold" display="0">
                  <p:stCondLst>
                    <p:cond delay="indefinite"/>
                  </p:stCondLst>
                </p:cTn>
                <p:tgtEl>
                  <p:spTgt spid="98"/>
                </p:tgtEl>
              </p:cMediaNode>
            </p:video>
            <p:seq concurrent="1" prevAc="none" nextAc="seek">
              <p:cTn id="21" evtFilter="cancelBubble" nodeType="interactiveSeq" restart="whenNotActive" fill="hold">
                <p:stCondLst>
                  <p:cond delay="0" evt="onClick">
                    <p:tgtEl>
                      <p:spTgt spid="98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5" dur="1" fill="hold"/>
                                        <p:tgtEl>
                                          <p:spTgt spid="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98"/>
                  </p:tgtEl>
                </p:cond>
              </p:nextCondLst>
            </p:seq>
          </p:childTnLst>
        </p:cTn>
      </p:par>
    </p:tnLst>
    <p:bldLst>
      <p:bldP build="whole" bldLvl="1" animBg="1" rev="0" advAuto="0" spid="106" grpId="2"/>
      <p:bldP build="whole" bldLvl="1" animBg="1" rev="0" advAuto="0" spid="110" grpId="3"/>
      <p:bldP build="whole" bldLvl="1" animBg="1" rev="0" advAuto="0" spid="114" grpId="4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1" name="phase_pill"/>
          <p:cNvGrpSpPr/>
          <p:nvPr/>
        </p:nvGrpSpPr>
        <p:grpSpPr>
          <a:xfrm>
            <a:off x="1170432" y="310895"/>
            <a:ext cx="1623975" cy="329185"/>
            <a:chOff x="0" y="0"/>
            <a:chExt cx="1623974" cy="329184"/>
          </a:xfrm>
        </p:grpSpPr>
        <p:sp>
          <p:nvSpPr>
            <p:cNvPr id="119" name="Rounded Rectangle"/>
            <p:cNvSpPr/>
            <p:nvPr/>
          </p:nvSpPr>
          <p:spPr>
            <a:xfrm>
              <a:off x="0" y="0"/>
              <a:ext cx="1623975" cy="329185"/>
            </a:xfrm>
            <a:prstGeom prst="roundRect">
              <a:avLst>
                <a:gd name="adj" fmla="val 44444"/>
              </a:avLst>
            </a:prstGeom>
            <a:solidFill>
              <a:srgbClr val="15395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20" name="I DO · 3 MIN"/>
            <p:cNvSpPr txBox="1"/>
            <p:nvPr/>
          </p:nvSpPr>
          <p:spPr>
            <a:xfrm>
              <a:off x="42851" y="90677"/>
              <a:ext cx="153827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 DO · 3 MIN</a:t>
              </a:r>
            </a:p>
          </p:txBody>
        </p:sp>
      </p:grpSp>
      <p:sp>
        <p:nvSpPr>
          <p:cNvPr id="122" name="slide_title"/>
          <p:cNvSpPr txBox="1"/>
          <p:nvPr/>
        </p:nvSpPr>
        <p:spPr>
          <a:xfrm>
            <a:off x="1170432" y="946657"/>
            <a:ext cx="1047262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5395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shape of an investigation</a:t>
            </a:r>
          </a:p>
        </p:txBody>
      </p:sp>
      <p:grpSp>
        <p:nvGrpSpPr>
          <p:cNvPr id="125" name="loop_return"/>
          <p:cNvGrpSpPr/>
          <p:nvPr/>
        </p:nvGrpSpPr>
        <p:grpSpPr>
          <a:xfrm>
            <a:off x="1444752" y="3306016"/>
            <a:ext cx="9923983" cy="333297"/>
            <a:chOff x="0" y="0"/>
            <a:chExt cx="9923981" cy="333295"/>
          </a:xfrm>
        </p:grpSpPr>
        <p:sp>
          <p:nvSpPr>
            <p:cNvPr id="123" name="loop_loop"/>
            <p:cNvSpPr/>
            <p:nvPr/>
          </p:nvSpPr>
          <p:spPr>
            <a:xfrm rot="10800000">
              <a:off x="740663" y="241855"/>
              <a:ext cx="8442656" cy="9144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7D9EA"/>
            </a:solidFill>
            <a:ln w="12700" cap="flat">
              <a:solidFill>
                <a:srgbClr val="C7D9E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4" name="loop_loop_label"/>
            <p:cNvSpPr txBox="1"/>
            <p:nvPr/>
          </p:nvSpPr>
          <p:spPr>
            <a:xfrm>
              <a:off x="0" y="0"/>
              <a:ext cx="9923982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i="1" sz="1200">
                  <a:solidFill>
                    <a:srgbClr val="5570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Scientists go back and repeat steps all the time.</a:t>
              </a:r>
            </a:p>
          </p:txBody>
        </p:sp>
      </p:grpSp>
      <p:grpSp>
        <p:nvGrpSpPr>
          <p:cNvPr id="140" name="loop_nodes"/>
          <p:cNvGrpSpPr/>
          <p:nvPr/>
        </p:nvGrpSpPr>
        <p:grpSpPr>
          <a:xfrm>
            <a:off x="1444752" y="4160520"/>
            <a:ext cx="9923983" cy="566929"/>
            <a:chOff x="0" y="0"/>
            <a:chExt cx="9923982" cy="566927"/>
          </a:xfrm>
        </p:grpSpPr>
        <p:sp>
          <p:nvSpPr>
            <p:cNvPr id="126" name="loop_n0_bg"/>
            <p:cNvSpPr/>
            <p:nvPr/>
          </p:nvSpPr>
          <p:spPr>
            <a:xfrm>
              <a:off x="0" y="0"/>
              <a:ext cx="1481329" cy="56692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780" cap="flat">
              <a:solidFill>
                <a:srgbClr val="15395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7" name="loop_n0_t"/>
            <p:cNvSpPr txBox="1"/>
            <p:nvPr/>
          </p:nvSpPr>
          <p:spPr>
            <a:xfrm>
              <a:off x="0" y="190914"/>
              <a:ext cx="1481328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300">
                  <a:solidFill>
                    <a:srgbClr val="15395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Question</a:t>
              </a:r>
            </a:p>
          </p:txBody>
        </p:sp>
        <p:sp>
          <p:nvSpPr>
            <p:cNvPr id="128" name="loop_n1_bg"/>
            <p:cNvSpPr/>
            <p:nvPr/>
          </p:nvSpPr>
          <p:spPr>
            <a:xfrm>
              <a:off x="2110664" y="0"/>
              <a:ext cx="1481328" cy="566928"/>
            </a:xfrm>
            <a:prstGeom prst="roundRect">
              <a:avLst>
                <a:gd name="adj" fmla="val 50000"/>
              </a:avLst>
            </a:prstGeom>
            <a:solidFill>
              <a:srgbClr val="FFD921"/>
            </a:solidFill>
            <a:ln w="17780" cap="flat">
              <a:solidFill>
                <a:srgbClr val="15395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9" name="loop_n1_t"/>
            <p:cNvSpPr txBox="1"/>
            <p:nvPr/>
          </p:nvSpPr>
          <p:spPr>
            <a:xfrm>
              <a:off x="2110664" y="190914"/>
              <a:ext cx="1481328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300">
                  <a:solidFill>
                    <a:srgbClr val="15395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Hypothesis</a:t>
              </a:r>
            </a:p>
          </p:txBody>
        </p:sp>
        <p:sp>
          <p:nvSpPr>
            <p:cNvPr id="130" name="loop_n2_bg"/>
            <p:cNvSpPr/>
            <p:nvPr/>
          </p:nvSpPr>
          <p:spPr>
            <a:xfrm>
              <a:off x="4221327" y="0"/>
              <a:ext cx="1481329" cy="566928"/>
            </a:xfrm>
            <a:prstGeom prst="roundRect">
              <a:avLst>
                <a:gd name="adj" fmla="val 50000"/>
              </a:avLst>
            </a:prstGeom>
            <a:solidFill>
              <a:srgbClr val="FFD921"/>
            </a:solidFill>
            <a:ln w="17780" cap="flat">
              <a:solidFill>
                <a:srgbClr val="15395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1" name="loop_n2_t"/>
            <p:cNvSpPr txBox="1"/>
            <p:nvPr/>
          </p:nvSpPr>
          <p:spPr>
            <a:xfrm>
              <a:off x="4221327" y="190914"/>
              <a:ext cx="1481328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300">
                  <a:solidFill>
                    <a:srgbClr val="15395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Test</a:t>
              </a:r>
            </a:p>
          </p:txBody>
        </p:sp>
        <p:sp>
          <p:nvSpPr>
            <p:cNvPr id="132" name="loop_n3_bg"/>
            <p:cNvSpPr/>
            <p:nvPr/>
          </p:nvSpPr>
          <p:spPr>
            <a:xfrm>
              <a:off x="6331990" y="0"/>
              <a:ext cx="1481329" cy="56692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780" cap="flat">
              <a:solidFill>
                <a:srgbClr val="15395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3" name="loop_n3_t"/>
            <p:cNvSpPr txBox="1"/>
            <p:nvPr/>
          </p:nvSpPr>
          <p:spPr>
            <a:xfrm>
              <a:off x="6331990" y="190914"/>
              <a:ext cx="1481328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300">
                  <a:solidFill>
                    <a:srgbClr val="15395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Results</a:t>
              </a:r>
            </a:p>
          </p:txBody>
        </p:sp>
        <p:sp>
          <p:nvSpPr>
            <p:cNvPr id="134" name="loop_n4_bg"/>
            <p:cNvSpPr/>
            <p:nvPr/>
          </p:nvSpPr>
          <p:spPr>
            <a:xfrm>
              <a:off x="8442654" y="0"/>
              <a:ext cx="1481329" cy="56692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780" cap="flat">
              <a:solidFill>
                <a:srgbClr val="15395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5" name="loop_n4_t"/>
            <p:cNvSpPr txBox="1"/>
            <p:nvPr/>
          </p:nvSpPr>
          <p:spPr>
            <a:xfrm>
              <a:off x="8442654" y="190914"/>
              <a:ext cx="1481328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300">
                  <a:solidFill>
                    <a:srgbClr val="15395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Conclusion</a:t>
              </a:r>
            </a:p>
          </p:txBody>
        </p:sp>
        <p:sp>
          <p:nvSpPr>
            <p:cNvPr id="136" name="loop_fwd0"/>
            <p:cNvSpPr/>
            <p:nvPr/>
          </p:nvSpPr>
          <p:spPr>
            <a:xfrm>
              <a:off x="1508760" y="251459"/>
              <a:ext cx="574473" cy="64009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15395C"/>
            </a:solidFill>
            <a:ln w="12700" cap="flat">
              <a:solidFill>
                <a:srgbClr val="15395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7" name="loop_fwd1"/>
            <p:cNvSpPr/>
            <p:nvPr/>
          </p:nvSpPr>
          <p:spPr>
            <a:xfrm>
              <a:off x="3619423" y="251459"/>
              <a:ext cx="574473" cy="64009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15395C"/>
            </a:solidFill>
            <a:ln w="12700" cap="flat">
              <a:solidFill>
                <a:srgbClr val="15395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8" name="loop_fwd2"/>
            <p:cNvSpPr/>
            <p:nvPr/>
          </p:nvSpPr>
          <p:spPr>
            <a:xfrm>
              <a:off x="5730087" y="251459"/>
              <a:ext cx="574473" cy="64009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15395C"/>
            </a:solidFill>
            <a:ln w="12700" cap="flat">
              <a:solidFill>
                <a:srgbClr val="15395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9" name="loop_fwd3"/>
            <p:cNvSpPr/>
            <p:nvPr/>
          </p:nvSpPr>
          <p:spPr>
            <a:xfrm>
              <a:off x="7840750" y="251459"/>
              <a:ext cx="574473" cy="64009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15395C"/>
            </a:solidFill>
            <a:ln w="12700" cap="flat">
              <a:solidFill>
                <a:srgbClr val="15395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41" name="loop_note"/>
          <p:cNvSpPr txBox="1"/>
          <p:nvPr/>
        </p:nvSpPr>
        <p:spPr>
          <a:xfrm>
            <a:off x="1170432" y="5349240"/>
            <a:ext cx="10472623" cy="497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500">
                <a:solidFill>
                  <a:srgbClr val="5570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It is a loop, not a staircase. Real investigations jump back — a strange result sends you back to Test, or even back to Question.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1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2" fill="hold" display="0">
                  <p:stCondLst>
                    <p:cond delay="indefinite"/>
                  </p:stCondLst>
                </p:cTn>
                <p:tgtEl>
                  <p:spTgt spid="118"/>
                </p:tgtEl>
              </p:cMediaNode>
            </p:video>
            <p:seq concurrent="1" prevAc="none" nextAc="seek">
              <p:cTn id="23" evtFilter="cancelBubble" nodeType="interactiveSeq" restart="whenNotActive" fill="hold">
                <p:stCondLst>
                  <p:cond delay="0" evt="onClick">
                    <p:tgtEl>
                      <p:spTgt spid="118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1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18"/>
                  </p:tgtEl>
                </p:cond>
              </p:nextCondLst>
            </p:seq>
          </p:childTnLst>
        </p:cTn>
      </p:par>
    </p:tnLst>
    <p:bldLst>
      <p:bldP build="whole" bldLvl="1" animBg="1" rev="0" advAuto="0" spid="141" grpId="4"/>
      <p:bldP build="whole" bldLvl="1" animBg="1" rev="0" advAuto="0" spid="140" grpId="2"/>
      <p:bldP build="whole" bldLvl="1" animBg="1" rev="0" advAuto="0" spid="125" grpId="3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8" name="phase_pill"/>
          <p:cNvGrpSpPr/>
          <p:nvPr/>
        </p:nvGrpSpPr>
        <p:grpSpPr>
          <a:xfrm>
            <a:off x="1170432" y="310895"/>
            <a:ext cx="1623975" cy="329185"/>
            <a:chOff x="0" y="0"/>
            <a:chExt cx="1623974" cy="329184"/>
          </a:xfrm>
        </p:grpSpPr>
        <p:sp>
          <p:nvSpPr>
            <p:cNvPr id="146" name="Rounded Rectangle"/>
            <p:cNvSpPr/>
            <p:nvPr/>
          </p:nvSpPr>
          <p:spPr>
            <a:xfrm>
              <a:off x="0" y="0"/>
              <a:ext cx="1623975" cy="329185"/>
            </a:xfrm>
            <a:prstGeom prst="roundRect">
              <a:avLst>
                <a:gd name="adj" fmla="val 44444"/>
              </a:avLst>
            </a:prstGeom>
            <a:solidFill>
              <a:srgbClr val="15395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47" name="I DO · 3 MIN"/>
            <p:cNvSpPr txBox="1"/>
            <p:nvPr/>
          </p:nvSpPr>
          <p:spPr>
            <a:xfrm>
              <a:off x="42851" y="90677"/>
              <a:ext cx="153827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 DO · 3 MIN</a:t>
              </a:r>
            </a:p>
          </p:txBody>
        </p:sp>
      </p:grpSp>
      <p:sp>
        <p:nvSpPr>
          <p:cNvPr id="149" name="slide_title"/>
          <p:cNvSpPr txBox="1"/>
          <p:nvPr/>
        </p:nvSpPr>
        <p:spPr>
          <a:xfrm>
            <a:off x="1170432" y="946657"/>
            <a:ext cx="1047262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5395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Writing a hypothesis you can test</a:t>
            </a:r>
          </a:p>
        </p:txBody>
      </p:sp>
      <p:grpSp>
        <p:nvGrpSpPr>
          <p:cNvPr id="153" name="hy_0"/>
          <p:cNvGrpSpPr/>
          <p:nvPr/>
        </p:nvGrpSpPr>
        <p:grpSpPr>
          <a:xfrm>
            <a:off x="1170432" y="2194560"/>
            <a:ext cx="10472623" cy="786385"/>
            <a:chOff x="0" y="0"/>
            <a:chExt cx="10472622" cy="786384"/>
          </a:xfrm>
        </p:grpSpPr>
        <p:sp>
          <p:nvSpPr>
            <p:cNvPr id="150" name="hy_0_bg"/>
            <p:cNvSpPr/>
            <p:nvPr/>
          </p:nvSpPr>
          <p:spPr>
            <a:xfrm>
              <a:off x="0" y="-1"/>
              <a:ext cx="10472623" cy="786386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1" name="hy_0_n"/>
            <p:cNvSpPr txBox="1"/>
            <p:nvPr/>
          </p:nvSpPr>
          <p:spPr>
            <a:xfrm>
              <a:off x="201167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957D1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52" name="hy_0_e"/>
            <p:cNvSpPr txBox="1"/>
            <p:nvPr/>
          </p:nvSpPr>
          <p:spPr>
            <a:xfrm>
              <a:off x="621791" y="266191"/>
              <a:ext cx="9631376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15395C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"Plants like sunshine."</a:t>
              </a:r>
            </a:p>
          </p:txBody>
        </p:sp>
      </p:grpSp>
      <p:grpSp>
        <p:nvGrpSpPr>
          <p:cNvPr id="157" name="hy_1"/>
          <p:cNvGrpSpPr/>
          <p:nvPr/>
        </p:nvGrpSpPr>
        <p:grpSpPr>
          <a:xfrm>
            <a:off x="1170432" y="3127248"/>
            <a:ext cx="10472623" cy="786385"/>
            <a:chOff x="0" y="0"/>
            <a:chExt cx="10472622" cy="786384"/>
          </a:xfrm>
        </p:grpSpPr>
        <p:sp>
          <p:nvSpPr>
            <p:cNvPr id="154" name="hy_1_bg"/>
            <p:cNvSpPr/>
            <p:nvPr/>
          </p:nvSpPr>
          <p:spPr>
            <a:xfrm>
              <a:off x="0" y="-1"/>
              <a:ext cx="10472623" cy="786386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5" name="hy_1_n"/>
            <p:cNvSpPr txBox="1"/>
            <p:nvPr/>
          </p:nvSpPr>
          <p:spPr>
            <a:xfrm>
              <a:off x="201167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957D1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56" name="hy_1_e"/>
            <p:cNvSpPr txBox="1"/>
            <p:nvPr/>
          </p:nvSpPr>
          <p:spPr>
            <a:xfrm>
              <a:off x="621791" y="266191"/>
              <a:ext cx="9631376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15395C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Pick something you CAN measure.</a:t>
              </a:r>
            </a:p>
          </p:txBody>
        </p:sp>
      </p:grpSp>
      <p:grpSp>
        <p:nvGrpSpPr>
          <p:cNvPr id="161" name="hy_2"/>
          <p:cNvGrpSpPr/>
          <p:nvPr/>
        </p:nvGrpSpPr>
        <p:grpSpPr>
          <a:xfrm>
            <a:off x="1170432" y="4059935"/>
            <a:ext cx="10472623" cy="786385"/>
            <a:chOff x="0" y="0"/>
            <a:chExt cx="10472622" cy="786384"/>
          </a:xfrm>
        </p:grpSpPr>
        <p:sp>
          <p:nvSpPr>
            <p:cNvPr id="158" name="hy_2_bg"/>
            <p:cNvSpPr/>
            <p:nvPr/>
          </p:nvSpPr>
          <p:spPr>
            <a:xfrm>
              <a:off x="0" y="-1"/>
              <a:ext cx="10472623" cy="786386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9" name="hy_2_n"/>
            <p:cNvSpPr txBox="1"/>
            <p:nvPr/>
          </p:nvSpPr>
          <p:spPr>
            <a:xfrm>
              <a:off x="201167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957D1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60" name="hy_2_e"/>
            <p:cNvSpPr txBox="1"/>
            <p:nvPr/>
          </p:nvSpPr>
          <p:spPr>
            <a:xfrm>
              <a:off x="621791" y="266191"/>
              <a:ext cx="9631376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15395C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If [I change this], then [this happens].</a:t>
              </a:r>
            </a:p>
          </p:txBody>
        </p:sp>
      </p:grpSp>
      <p:grpSp>
        <p:nvGrpSpPr>
          <p:cNvPr id="165" name="hy_3"/>
          <p:cNvGrpSpPr/>
          <p:nvPr/>
        </p:nvGrpSpPr>
        <p:grpSpPr>
          <a:xfrm>
            <a:off x="1170432" y="4992623"/>
            <a:ext cx="10472623" cy="786385"/>
            <a:chOff x="0" y="0"/>
            <a:chExt cx="10472622" cy="786384"/>
          </a:xfrm>
        </p:grpSpPr>
        <p:sp>
          <p:nvSpPr>
            <p:cNvPr id="162" name="hy_3_bg"/>
            <p:cNvSpPr/>
            <p:nvPr/>
          </p:nvSpPr>
          <p:spPr>
            <a:xfrm>
              <a:off x="0" y="-1"/>
              <a:ext cx="10472623" cy="786386"/>
            </a:xfrm>
            <a:prstGeom prst="roundRect">
              <a:avLst>
                <a:gd name="adj" fmla="val 11628"/>
              </a:avLst>
            </a:prstGeom>
            <a:solidFill>
              <a:srgbClr val="FDF3DC"/>
            </a:solidFill>
            <a:ln w="21590" cap="flat">
              <a:solidFill>
                <a:srgbClr val="FFD92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3" name="hy_3_n"/>
            <p:cNvSpPr txBox="1"/>
            <p:nvPr/>
          </p:nvSpPr>
          <p:spPr>
            <a:xfrm>
              <a:off x="201167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957D1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64" name="hy_3_e"/>
            <p:cNvSpPr txBox="1"/>
            <p:nvPr/>
          </p:nvSpPr>
          <p:spPr>
            <a:xfrm>
              <a:off x="621791" y="266191"/>
              <a:ext cx="9631376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15395C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"Plants grow taller with more sunlight."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1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4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7" fill="hold" display="0">
                  <p:stCondLst>
                    <p:cond delay="indefinite"/>
                  </p:stCondLst>
                </p:cTn>
                <p:tgtEl>
                  <p:spTgt spid="145"/>
                </p:tgtEl>
              </p:cMediaNode>
            </p:video>
            <p:seq concurrent="1" prevAc="none" nextAc="seek">
              <p:cTn id="28" evtFilter="cancelBubble" nodeType="interactiveSeq" restart="whenNotActive" fill="hold">
                <p:stCondLst>
                  <p:cond delay="0" evt="onClick">
                    <p:tgtEl>
                      <p:spTgt spid="145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45"/>
                  </p:tgtEl>
                </p:cond>
              </p:nextCondLst>
            </p:seq>
          </p:childTnLst>
        </p:cTn>
      </p:par>
    </p:tnLst>
    <p:bldLst>
      <p:bldP build="whole" bldLvl="1" animBg="1" rev="0" advAuto="0" spid="153" grpId="2"/>
      <p:bldP build="whole" bldLvl="1" animBg="1" rev="0" advAuto="0" spid="157" grpId="3"/>
      <p:bldP build="whole" bldLvl="1" animBg="1" rev="0" advAuto="0" spid="161" grpId="4"/>
      <p:bldP build="whole" bldLvl="1" animBg="1" rev="0" advAuto="0" spid="165" grpId="5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2" name="phase_pill"/>
          <p:cNvGrpSpPr/>
          <p:nvPr/>
        </p:nvGrpSpPr>
        <p:grpSpPr>
          <a:xfrm>
            <a:off x="1170432" y="310895"/>
            <a:ext cx="1713586" cy="329185"/>
            <a:chOff x="0" y="0"/>
            <a:chExt cx="1713585" cy="329184"/>
          </a:xfrm>
        </p:grpSpPr>
        <p:sp>
          <p:nvSpPr>
            <p:cNvPr id="170" name="Rounded Rectangle"/>
            <p:cNvSpPr/>
            <p:nvPr/>
          </p:nvSpPr>
          <p:spPr>
            <a:xfrm>
              <a:off x="0" y="0"/>
              <a:ext cx="1713586" cy="329185"/>
            </a:xfrm>
            <a:prstGeom prst="roundRect">
              <a:avLst>
                <a:gd name="adj" fmla="val 44444"/>
              </a:avLst>
            </a:prstGeom>
            <a:solidFill>
              <a:srgbClr val="15395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71" name="WE DO · 5 MIN"/>
            <p:cNvSpPr txBox="1"/>
            <p:nvPr/>
          </p:nvSpPr>
          <p:spPr>
            <a:xfrm>
              <a:off x="42850" y="90677"/>
              <a:ext cx="162788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WE DO · 5 MIN</a:t>
              </a:r>
            </a:p>
          </p:txBody>
        </p:sp>
      </p:grpSp>
      <p:sp>
        <p:nvSpPr>
          <p:cNvPr id="173" name="slide_title"/>
          <p:cNvSpPr txBox="1"/>
          <p:nvPr/>
        </p:nvSpPr>
        <p:spPr>
          <a:xfrm>
            <a:off x="1170432" y="946657"/>
            <a:ext cx="1047262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5395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What should be the correct answer?</a:t>
            </a:r>
          </a:p>
        </p:txBody>
      </p:sp>
      <p:sp>
        <p:nvSpPr>
          <p:cNvPr id="174" name="slide_sub"/>
          <p:cNvSpPr txBox="1"/>
          <p:nvPr/>
        </p:nvSpPr>
        <p:spPr>
          <a:xfrm>
            <a:off x="1170432" y="1644671"/>
            <a:ext cx="1047262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5570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Spot the mistake.</a:t>
            </a:r>
          </a:p>
        </p:txBody>
      </p:sp>
      <p:sp>
        <p:nvSpPr>
          <p:cNvPr id="175" name="wd0_bg"/>
          <p:cNvSpPr/>
          <p:nvPr/>
        </p:nvSpPr>
        <p:spPr>
          <a:xfrm>
            <a:off x="1170432" y="2322576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wd0_q"/>
          <p:cNvSpPr txBox="1"/>
          <p:nvPr/>
        </p:nvSpPr>
        <p:spPr>
          <a:xfrm>
            <a:off x="1426463" y="2621415"/>
            <a:ext cx="6035042" cy="243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000"/>
              </a:lnSpc>
              <a:defRPr sz="1500">
                <a:solidFill>
                  <a:srgbClr val="0E2A4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"Music makes plants happy."</a:t>
            </a:r>
          </a:p>
        </p:txBody>
      </p:sp>
      <p:grpSp>
        <p:nvGrpSpPr>
          <p:cNvPr id="179" name="wd0_a"/>
          <p:cNvGrpSpPr/>
          <p:nvPr/>
        </p:nvGrpSpPr>
        <p:grpSpPr>
          <a:xfrm>
            <a:off x="7662671" y="2414016"/>
            <a:ext cx="3888944" cy="658369"/>
            <a:chOff x="0" y="0"/>
            <a:chExt cx="3888942" cy="658368"/>
          </a:xfrm>
        </p:grpSpPr>
        <p:sp>
          <p:nvSpPr>
            <p:cNvPr id="177" name="Rounded Rectangle"/>
            <p:cNvSpPr/>
            <p:nvPr/>
          </p:nvSpPr>
          <p:spPr>
            <a:xfrm>
              <a:off x="0" y="0"/>
              <a:ext cx="3888943" cy="658369"/>
            </a:xfrm>
            <a:prstGeom prst="roundRect">
              <a:avLst>
                <a:gd name="adj" fmla="val 13889"/>
              </a:avLst>
            </a:prstGeom>
            <a:solidFill>
              <a:srgbClr val="FDF3DC"/>
            </a:solidFill>
            <a:ln w="19050" cap="flat">
              <a:solidFill>
                <a:srgbClr val="CD312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/>
              </a:pPr>
            </a:p>
          </p:txBody>
        </p:sp>
        <p:sp>
          <p:nvSpPr>
            <p:cNvPr id="178" name="&quot;Plants grow taller with music than in silence.&quot;"/>
            <p:cNvSpPr txBox="1"/>
            <p:nvPr/>
          </p:nvSpPr>
          <p:spPr>
            <a:xfrm>
              <a:off x="36307" y="235872"/>
              <a:ext cx="3816328" cy="1866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300">
                  <a:solidFill>
                    <a:srgbClr val="15395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"Plants grow taller with music than in silence."</a:t>
              </a:r>
            </a:p>
          </p:txBody>
        </p:sp>
      </p:grpSp>
      <p:sp>
        <p:nvSpPr>
          <p:cNvPr id="180" name="wd1_bg"/>
          <p:cNvSpPr/>
          <p:nvPr/>
        </p:nvSpPr>
        <p:spPr>
          <a:xfrm>
            <a:off x="1170432" y="3346703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wd1_q"/>
          <p:cNvSpPr txBox="1"/>
          <p:nvPr/>
        </p:nvSpPr>
        <p:spPr>
          <a:xfrm>
            <a:off x="1426463" y="3645543"/>
            <a:ext cx="6035042" cy="243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000"/>
              </a:lnSpc>
              <a:defRPr sz="1500">
                <a:solidFill>
                  <a:srgbClr val="0E2A4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"I’ll change three things at once to save time."</a:t>
            </a:r>
          </a:p>
        </p:txBody>
      </p:sp>
      <p:grpSp>
        <p:nvGrpSpPr>
          <p:cNvPr id="184" name="wd1_a"/>
          <p:cNvGrpSpPr/>
          <p:nvPr/>
        </p:nvGrpSpPr>
        <p:grpSpPr>
          <a:xfrm>
            <a:off x="7662671" y="3438144"/>
            <a:ext cx="3888944" cy="658369"/>
            <a:chOff x="0" y="0"/>
            <a:chExt cx="3888942" cy="658368"/>
          </a:xfrm>
        </p:grpSpPr>
        <p:sp>
          <p:nvSpPr>
            <p:cNvPr id="182" name="Rounded Rectangle"/>
            <p:cNvSpPr/>
            <p:nvPr/>
          </p:nvSpPr>
          <p:spPr>
            <a:xfrm>
              <a:off x="0" y="0"/>
              <a:ext cx="3888943" cy="658369"/>
            </a:xfrm>
            <a:prstGeom prst="roundRect">
              <a:avLst>
                <a:gd name="adj" fmla="val 13889"/>
              </a:avLst>
            </a:prstGeom>
            <a:solidFill>
              <a:srgbClr val="FDF3DC"/>
            </a:solidFill>
            <a:ln w="19050" cap="flat">
              <a:solidFill>
                <a:srgbClr val="CD312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/>
              </a:pPr>
            </a:p>
          </p:txBody>
        </p:sp>
        <p:sp>
          <p:nvSpPr>
            <p:cNvPr id="183" name="Change one variable at a time."/>
            <p:cNvSpPr txBox="1"/>
            <p:nvPr/>
          </p:nvSpPr>
          <p:spPr>
            <a:xfrm>
              <a:off x="36307" y="235872"/>
              <a:ext cx="3816328" cy="1866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300">
                  <a:solidFill>
                    <a:srgbClr val="15395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Change one variable at a time.</a:t>
              </a:r>
            </a:p>
          </p:txBody>
        </p:sp>
      </p:grpSp>
      <p:sp>
        <p:nvSpPr>
          <p:cNvPr id="185" name="wd2_bg"/>
          <p:cNvSpPr/>
          <p:nvPr/>
        </p:nvSpPr>
        <p:spPr>
          <a:xfrm>
            <a:off x="1170432" y="4370832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wd2_q"/>
          <p:cNvSpPr txBox="1"/>
          <p:nvPr/>
        </p:nvSpPr>
        <p:spPr>
          <a:xfrm>
            <a:off x="1426463" y="4669671"/>
            <a:ext cx="6035042" cy="243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000"/>
              </a:lnSpc>
              <a:defRPr sz="1500">
                <a:solidFill>
                  <a:srgbClr val="0E2A4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"The steps of an experiment can be followed in any order.”</a:t>
            </a:r>
          </a:p>
        </p:txBody>
      </p:sp>
      <p:grpSp>
        <p:nvGrpSpPr>
          <p:cNvPr id="189" name="wd2_a"/>
          <p:cNvGrpSpPr/>
          <p:nvPr/>
        </p:nvGrpSpPr>
        <p:grpSpPr>
          <a:xfrm>
            <a:off x="7662671" y="4462271"/>
            <a:ext cx="3888944" cy="658369"/>
            <a:chOff x="0" y="0"/>
            <a:chExt cx="3888942" cy="658368"/>
          </a:xfrm>
        </p:grpSpPr>
        <p:sp>
          <p:nvSpPr>
            <p:cNvPr id="187" name="Rounded Rectangle"/>
            <p:cNvSpPr/>
            <p:nvPr/>
          </p:nvSpPr>
          <p:spPr>
            <a:xfrm>
              <a:off x="0" y="0"/>
              <a:ext cx="3888943" cy="658369"/>
            </a:xfrm>
            <a:prstGeom prst="roundRect">
              <a:avLst>
                <a:gd name="adj" fmla="val 13889"/>
              </a:avLst>
            </a:prstGeom>
            <a:solidFill>
              <a:srgbClr val="FDF3DC"/>
            </a:solidFill>
            <a:ln w="19050" cap="flat">
              <a:solidFill>
                <a:srgbClr val="CD312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/>
              </a:pPr>
            </a:p>
          </p:txBody>
        </p:sp>
        <p:sp>
          <p:nvSpPr>
            <p:cNvPr id="188" name="The steps should be followed in a specific order."/>
            <p:cNvSpPr txBox="1"/>
            <p:nvPr/>
          </p:nvSpPr>
          <p:spPr>
            <a:xfrm>
              <a:off x="36307" y="235872"/>
              <a:ext cx="3816328" cy="1866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300">
                  <a:solidFill>
                    <a:srgbClr val="15395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steps should be followed in a specific order.</a:t>
              </a:r>
            </a:p>
          </p:txBody>
        </p:sp>
      </p:grpSp>
      <p:sp>
        <p:nvSpPr>
          <p:cNvPr id="190" name="wd3_bg"/>
          <p:cNvSpPr/>
          <p:nvPr/>
        </p:nvSpPr>
        <p:spPr>
          <a:xfrm>
            <a:off x="1170432" y="5394959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wd3_q"/>
          <p:cNvSpPr txBox="1"/>
          <p:nvPr/>
        </p:nvSpPr>
        <p:spPr>
          <a:xfrm>
            <a:off x="1426463" y="5693799"/>
            <a:ext cx="6035042" cy="243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000"/>
              </a:lnSpc>
              <a:defRPr sz="1500">
                <a:solidFill>
                  <a:srgbClr val="0E2A4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"My hypothesis is that this will be interesting."</a:t>
            </a:r>
          </a:p>
        </p:txBody>
      </p:sp>
      <p:grpSp>
        <p:nvGrpSpPr>
          <p:cNvPr id="194" name="wd3_a"/>
          <p:cNvGrpSpPr/>
          <p:nvPr/>
        </p:nvGrpSpPr>
        <p:grpSpPr>
          <a:xfrm>
            <a:off x="7662671" y="5486400"/>
            <a:ext cx="3888944" cy="658369"/>
            <a:chOff x="0" y="0"/>
            <a:chExt cx="3888942" cy="658368"/>
          </a:xfrm>
        </p:grpSpPr>
        <p:sp>
          <p:nvSpPr>
            <p:cNvPr id="192" name="Rounded Rectangle"/>
            <p:cNvSpPr/>
            <p:nvPr/>
          </p:nvSpPr>
          <p:spPr>
            <a:xfrm>
              <a:off x="0" y="0"/>
              <a:ext cx="3888943" cy="658369"/>
            </a:xfrm>
            <a:prstGeom prst="roundRect">
              <a:avLst>
                <a:gd name="adj" fmla="val 13889"/>
              </a:avLst>
            </a:prstGeom>
            <a:solidFill>
              <a:srgbClr val="FDF3DC"/>
            </a:solidFill>
            <a:ln w="19050" cap="flat">
              <a:solidFill>
                <a:srgbClr val="CD312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/>
              </a:pPr>
            </a:p>
          </p:txBody>
        </p:sp>
        <p:sp>
          <p:nvSpPr>
            <p:cNvPr id="193" name="“My hypothesis is that if X happens, Y will happen as a result.”"/>
            <p:cNvSpPr txBox="1"/>
            <p:nvPr/>
          </p:nvSpPr>
          <p:spPr>
            <a:xfrm>
              <a:off x="36307" y="140622"/>
              <a:ext cx="3816328" cy="3771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300">
                  <a:solidFill>
                    <a:srgbClr val="15395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“My hypothesis is that if X happens, Y will happen as a result.”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0" fill="hold"/>
                                        <p:tgtEl>
                                          <p:spTgt spid="16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16" presetID="2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16" presetID="23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16" presetID="23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1" fill="hold" display="0">
                  <p:stCondLst>
                    <p:cond delay="indefinite"/>
                  </p:stCondLst>
                </p:cTn>
                <p:tgtEl>
                  <p:spTgt spid="169"/>
                </p:tgtEl>
              </p:cMediaNode>
            </p:video>
            <p:seq concurrent="1" prevAc="none" nextAc="seek">
              <p:cTn id="32" evtFilter="cancelBubble" nodeType="interactiveSeq" restart="whenNotActive" fill="hold">
                <p:stCondLst>
                  <p:cond delay="0" evt="onClick">
                    <p:tgtEl>
                      <p:spTgt spid="169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6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69"/>
                  </p:tgtEl>
                </p:cond>
              </p:nextCondLst>
            </p:seq>
          </p:childTnLst>
        </p:cTn>
      </p:par>
    </p:tnLst>
    <p:bldLst>
      <p:bldP build="whole" bldLvl="1" animBg="1" rev="0" advAuto="0" spid="179" grpId="2"/>
      <p:bldP build="whole" bldLvl="1" animBg="1" rev="0" advAuto="0" spid="189" grpId="4"/>
      <p:bldP build="whole" bldLvl="1" animBg="1" rev="0" advAuto="0" spid="184" grpId="3"/>
      <p:bldP build="whole" bldLvl="1" animBg="1" rev="0" advAuto="0" spid="194" grpId="5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1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199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15395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00" name="YOU DO · 14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YOU DO · 14 MIN</a:t>
              </a:r>
            </a:p>
          </p:txBody>
        </p:sp>
      </p:grpSp>
      <p:pic>
        <p:nvPicPr>
          <p:cNvPr id="202" name="gc_logo" descr="gc_logo"/>
          <p:cNvPicPr>
            <a:picLocks noChangeAspect="1"/>
          </p:cNvPicPr>
          <p:nvPr/>
        </p:nvPicPr>
        <p:blipFill>
          <a:blip r:embed="rId6">
            <a:alphaModFix amt="38000"/>
            <a:extLst/>
          </a:blip>
          <a:stretch>
            <a:fillRect/>
          </a:stretch>
        </p:blipFill>
        <p:spPr>
          <a:xfrm>
            <a:off x="10088574" y="786383"/>
            <a:ext cx="1554481" cy="1344169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slide_title"/>
          <p:cNvSpPr txBox="1"/>
          <p:nvPr/>
        </p:nvSpPr>
        <p:spPr>
          <a:xfrm>
            <a:off x="1170432" y="1095891"/>
            <a:ext cx="8643823" cy="423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400"/>
              </a:lnSpc>
              <a:defRPr b="1" sz="2800">
                <a:solidFill>
                  <a:srgbClr val="15395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How Scientists Investigate worksheet</a:t>
            </a:r>
          </a:p>
        </p:txBody>
      </p:sp>
      <p:sp>
        <p:nvSpPr>
          <p:cNvPr id="204" name="slide_sub"/>
          <p:cNvSpPr txBox="1"/>
          <p:nvPr/>
        </p:nvSpPr>
        <p:spPr>
          <a:xfrm>
            <a:off x="1170432" y="1924787"/>
            <a:ext cx="8643823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CD31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Open Google Classroom now.</a:t>
            </a:r>
          </a:p>
        </p:txBody>
      </p:sp>
      <p:grpSp>
        <p:nvGrpSpPr>
          <p:cNvPr id="209" name="t0"/>
          <p:cNvGrpSpPr/>
          <p:nvPr/>
        </p:nvGrpSpPr>
        <p:grpSpPr>
          <a:xfrm>
            <a:off x="1170432" y="2322576"/>
            <a:ext cx="3307994" cy="1828801"/>
            <a:chOff x="0" y="0"/>
            <a:chExt cx="3307993" cy="1828800"/>
          </a:xfrm>
        </p:grpSpPr>
        <p:sp>
          <p:nvSpPr>
            <p:cNvPr id="205" name="t0_bg"/>
            <p:cNvSpPr/>
            <p:nvPr/>
          </p:nvSpPr>
          <p:spPr>
            <a:xfrm>
              <a:off x="0" y="0"/>
              <a:ext cx="3307994" cy="1828800"/>
            </a:xfrm>
            <a:prstGeom prst="roundRect">
              <a:avLst>
                <a:gd name="adj" fmla="val 5000"/>
              </a:avLst>
            </a:prstGeom>
            <a:solidFill>
              <a:srgbClr val="FDEAE8"/>
            </a:solidFill>
            <a:ln w="20320" cap="flat">
              <a:solidFill>
                <a:srgbClr val="CD312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6" name="t0_h"/>
            <p:cNvSpPr txBox="1"/>
            <p:nvPr/>
          </p:nvSpPr>
          <p:spPr>
            <a:xfrm>
              <a:off x="237744" y="242638"/>
              <a:ext cx="2832506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pc="120" sz="1500">
                  <a:solidFill>
                    <a:srgbClr val="CD312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BRONZE</a:t>
              </a:r>
            </a:p>
          </p:txBody>
        </p:sp>
        <p:sp>
          <p:nvSpPr>
            <p:cNvPr id="207" name="t0_s"/>
            <p:cNvSpPr txBox="1"/>
            <p:nvPr/>
          </p:nvSpPr>
          <p:spPr>
            <a:xfrm>
              <a:off x="237744" y="571475"/>
              <a:ext cx="2832506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15395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Spot it</a:t>
              </a:r>
            </a:p>
          </p:txBody>
        </p:sp>
        <p:sp>
          <p:nvSpPr>
            <p:cNvPr id="208" name="t0_b"/>
            <p:cNvSpPr txBox="1"/>
            <p:nvPr/>
          </p:nvSpPr>
          <p:spPr>
            <a:xfrm>
              <a:off x="237744" y="877823"/>
              <a:ext cx="2832506" cy="4720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900"/>
                </a:lnSpc>
                <a:defRPr sz="1400">
                  <a:solidFill>
                    <a:srgbClr val="5570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Which statements are actually testable?</a:t>
              </a:r>
            </a:p>
          </p:txBody>
        </p:sp>
      </p:grpSp>
      <p:grpSp>
        <p:nvGrpSpPr>
          <p:cNvPr id="214" name="t1"/>
          <p:cNvGrpSpPr/>
          <p:nvPr/>
        </p:nvGrpSpPr>
        <p:grpSpPr>
          <a:xfrm>
            <a:off x="4752745" y="2322576"/>
            <a:ext cx="3307995" cy="1828801"/>
            <a:chOff x="0" y="0"/>
            <a:chExt cx="3307993" cy="1828800"/>
          </a:xfrm>
        </p:grpSpPr>
        <p:sp>
          <p:nvSpPr>
            <p:cNvPr id="210" name="t1_bg"/>
            <p:cNvSpPr/>
            <p:nvPr/>
          </p:nvSpPr>
          <p:spPr>
            <a:xfrm>
              <a:off x="0" y="0"/>
              <a:ext cx="3307994" cy="1828800"/>
            </a:xfrm>
            <a:prstGeom prst="roundRect">
              <a:avLst>
                <a:gd name="adj" fmla="val 5000"/>
              </a:avLst>
            </a:prstGeom>
            <a:solidFill>
              <a:srgbClr val="F1F2F6"/>
            </a:solidFill>
            <a:ln w="20320" cap="flat">
              <a:solidFill>
                <a:srgbClr val="5A64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1" name="t1_h"/>
            <p:cNvSpPr txBox="1"/>
            <p:nvPr/>
          </p:nvSpPr>
          <p:spPr>
            <a:xfrm>
              <a:off x="237744" y="242638"/>
              <a:ext cx="2832506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pc="120" sz="15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SILVER</a:t>
              </a:r>
            </a:p>
          </p:txBody>
        </p:sp>
        <p:sp>
          <p:nvSpPr>
            <p:cNvPr id="212" name="t1_s"/>
            <p:cNvSpPr txBox="1"/>
            <p:nvPr/>
          </p:nvSpPr>
          <p:spPr>
            <a:xfrm>
              <a:off x="237744" y="571475"/>
              <a:ext cx="2832506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15395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Fix it</a:t>
              </a:r>
            </a:p>
          </p:txBody>
        </p:sp>
        <p:sp>
          <p:nvSpPr>
            <p:cNvPr id="213" name="t1_b"/>
            <p:cNvSpPr txBox="1"/>
            <p:nvPr/>
          </p:nvSpPr>
          <p:spPr>
            <a:xfrm>
              <a:off x="237744" y="877823"/>
              <a:ext cx="2832506" cy="4720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900"/>
                </a:lnSpc>
                <a:defRPr sz="1400">
                  <a:solidFill>
                    <a:srgbClr val="5570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Turn a vague idea into a testable hypothesis.</a:t>
              </a:r>
            </a:p>
          </p:txBody>
        </p:sp>
      </p:grpSp>
      <p:grpSp>
        <p:nvGrpSpPr>
          <p:cNvPr id="219" name="t2"/>
          <p:cNvGrpSpPr/>
          <p:nvPr/>
        </p:nvGrpSpPr>
        <p:grpSpPr>
          <a:xfrm>
            <a:off x="8335061" y="2322576"/>
            <a:ext cx="3307994" cy="1828801"/>
            <a:chOff x="0" y="0"/>
            <a:chExt cx="3307993" cy="1828800"/>
          </a:xfrm>
        </p:grpSpPr>
        <p:sp>
          <p:nvSpPr>
            <p:cNvPr id="215" name="t2_bg"/>
            <p:cNvSpPr/>
            <p:nvPr/>
          </p:nvSpPr>
          <p:spPr>
            <a:xfrm>
              <a:off x="0" y="0"/>
              <a:ext cx="3307994" cy="1828800"/>
            </a:xfrm>
            <a:prstGeom prst="roundRect">
              <a:avLst>
                <a:gd name="adj" fmla="val 5000"/>
              </a:avLst>
            </a:prstGeom>
            <a:solidFill>
              <a:srgbClr val="FDF3DC"/>
            </a:solidFill>
            <a:ln w="20320" cap="flat">
              <a:solidFill>
                <a:srgbClr val="957D1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6" name="t2_h"/>
            <p:cNvSpPr txBox="1"/>
            <p:nvPr/>
          </p:nvSpPr>
          <p:spPr>
            <a:xfrm>
              <a:off x="237744" y="242638"/>
              <a:ext cx="2832506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pc="120" sz="1500">
                  <a:solidFill>
                    <a:srgbClr val="957D11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GOLD</a:t>
              </a:r>
            </a:p>
          </p:txBody>
        </p:sp>
        <p:sp>
          <p:nvSpPr>
            <p:cNvPr id="217" name="t2_s"/>
            <p:cNvSpPr txBox="1"/>
            <p:nvPr/>
          </p:nvSpPr>
          <p:spPr>
            <a:xfrm>
              <a:off x="237744" y="571475"/>
              <a:ext cx="2832506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15395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Design it</a:t>
              </a:r>
            </a:p>
          </p:txBody>
        </p:sp>
        <p:sp>
          <p:nvSpPr>
            <p:cNvPr id="218" name="t2_b"/>
            <p:cNvSpPr txBox="1"/>
            <p:nvPr/>
          </p:nvSpPr>
          <p:spPr>
            <a:xfrm>
              <a:off x="237744" y="877823"/>
              <a:ext cx="2832506" cy="4720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900"/>
                </a:lnSpc>
                <a:defRPr sz="1400">
                  <a:solidFill>
                    <a:srgbClr val="5570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Write and justify your own investigation.</a:t>
              </a:r>
            </a:p>
          </p:txBody>
        </p:sp>
      </p:grpSp>
      <p:sp>
        <p:nvSpPr>
          <p:cNvPr id="220" name="yd_note"/>
          <p:cNvSpPr txBox="1"/>
          <p:nvPr/>
        </p:nvSpPr>
        <p:spPr>
          <a:xfrm>
            <a:off x="1170432" y="4543319"/>
            <a:ext cx="1047262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539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Remember the shape: If [I change this], then [this happens], because [reason].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0000" fill="hold"/>
                                        <p:tgtEl>
                                          <p:spTgt spid="1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4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7" fill="hold" display="0">
                  <p:stCondLst>
                    <p:cond delay="indefinite"/>
                  </p:stCondLst>
                </p:cTn>
                <p:tgtEl>
                  <p:spTgt spid="198"/>
                </p:tgtEl>
              </p:cMediaNode>
            </p:video>
            <p:seq concurrent="1" prevAc="none" nextAc="seek">
              <p:cTn id="28" evtFilter="cancelBubble" nodeType="interactiveSeq" restart="whenNotActive" fill="hold">
                <p:stCondLst>
                  <p:cond delay="0" evt="onClick">
                    <p:tgtEl>
                      <p:spTgt spid="198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98"/>
                  </p:tgtEl>
                </p:cond>
              </p:nextCondLst>
            </p:seq>
          </p:childTnLst>
        </p:cTn>
      </p:par>
    </p:tnLst>
    <p:bldLst>
      <p:bldP build="whole" bldLvl="1" animBg="1" rev="0" advAuto="0" spid="214" grpId="3"/>
      <p:bldP build="whole" bldLvl="1" animBg="1" rev="0" advAuto="0" spid="220" grpId="5"/>
      <p:bldP build="whole" bldLvl="1" animBg="1" rev="0" advAuto="0" spid="209" grpId="2"/>
      <p:bldP build="whole" bldLvl="1" animBg="1" rev="0" advAuto="0" spid="219" grpId="4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27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225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15395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26" name="ANSWERS · 3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ANSWERS · 3 MIN</a:t>
              </a:r>
            </a:p>
          </p:txBody>
        </p:sp>
      </p:grpSp>
      <p:sp>
        <p:nvSpPr>
          <p:cNvPr id="228" name="slide_title"/>
          <p:cNvSpPr txBox="1"/>
          <p:nvPr/>
        </p:nvSpPr>
        <p:spPr>
          <a:xfrm>
            <a:off x="1170432" y="946657"/>
            <a:ext cx="1047262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5395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Answers</a:t>
            </a:r>
          </a:p>
        </p:txBody>
      </p:sp>
      <p:grpSp>
        <p:nvGrpSpPr>
          <p:cNvPr id="232" name="a0"/>
          <p:cNvGrpSpPr/>
          <p:nvPr/>
        </p:nvGrpSpPr>
        <p:grpSpPr>
          <a:xfrm>
            <a:off x="1170432" y="1828800"/>
            <a:ext cx="5117441" cy="658369"/>
            <a:chOff x="0" y="0"/>
            <a:chExt cx="5117439" cy="658368"/>
          </a:xfrm>
        </p:grpSpPr>
        <p:sp>
          <p:nvSpPr>
            <p:cNvPr id="229" name="a0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0" name="a0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957D1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31" name="a0_t"/>
            <p:cNvSpPr txBox="1"/>
            <p:nvPr/>
          </p:nvSpPr>
          <p:spPr>
            <a:xfrm>
              <a:off x="749808" y="225330"/>
              <a:ext cx="4166464" cy="2077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700"/>
                </a:lnSpc>
                <a:defRPr sz="1300">
                  <a:solidFill>
                    <a:srgbClr val="0E2A4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hypothesis</a:t>
              </a:r>
            </a:p>
          </p:txBody>
        </p:sp>
      </p:grpSp>
      <p:grpSp>
        <p:nvGrpSpPr>
          <p:cNvPr id="236" name="a1"/>
          <p:cNvGrpSpPr/>
          <p:nvPr/>
        </p:nvGrpSpPr>
        <p:grpSpPr>
          <a:xfrm>
            <a:off x="6525615" y="1828800"/>
            <a:ext cx="5117441" cy="658369"/>
            <a:chOff x="0" y="0"/>
            <a:chExt cx="5117439" cy="658368"/>
          </a:xfrm>
        </p:grpSpPr>
        <p:sp>
          <p:nvSpPr>
            <p:cNvPr id="233" name="a1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4" name="a1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957D1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35" name="a1_t"/>
            <p:cNvSpPr txBox="1"/>
            <p:nvPr/>
          </p:nvSpPr>
          <p:spPr>
            <a:xfrm>
              <a:off x="749808" y="225330"/>
              <a:ext cx="4166464" cy="2077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700"/>
                </a:lnSpc>
                <a:defRPr sz="1300">
                  <a:solidFill>
                    <a:srgbClr val="0E2A4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Yes — you can time it.</a:t>
              </a:r>
            </a:p>
          </p:txBody>
        </p:sp>
      </p:grpSp>
      <p:grpSp>
        <p:nvGrpSpPr>
          <p:cNvPr id="240" name="a2"/>
          <p:cNvGrpSpPr/>
          <p:nvPr/>
        </p:nvGrpSpPr>
        <p:grpSpPr>
          <a:xfrm>
            <a:off x="1170432" y="2578607"/>
            <a:ext cx="5117441" cy="658369"/>
            <a:chOff x="0" y="0"/>
            <a:chExt cx="5117439" cy="658368"/>
          </a:xfrm>
        </p:grpSpPr>
        <p:sp>
          <p:nvSpPr>
            <p:cNvPr id="237" name="a2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8" name="a2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957D1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39" name="a2_t"/>
            <p:cNvSpPr txBox="1"/>
            <p:nvPr/>
          </p:nvSpPr>
          <p:spPr>
            <a:xfrm>
              <a:off x="749808" y="225330"/>
              <a:ext cx="4166464" cy="2077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700"/>
                </a:lnSpc>
                <a:defRPr sz="1300">
                  <a:solidFill>
                    <a:srgbClr val="0E2A4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No — "best" is not measurable.</a:t>
              </a:r>
            </a:p>
          </p:txBody>
        </p:sp>
      </p:grpSp>
      <p:grpSp>
        <p:nvGrpSpPr>
          <p:cNvPr id="244" name="a3"/>
          <p:cNvGrpSpPr/>
          <p:nvPr/>
        </p:nvGrpSpPr>
        <p:grpSpPr>
          <a:xfrm>
            <a:off x="6525615" y="2578607"/>
            <a:ext cx="5117441" cy="658369"/>
            <a:chOff x="0" y="0"/>
            <a:chExt cx="5117439" cy="658368"/>
          </a:xfrm>
        </p:grpSpPr>
        <p:sp>
          <p:nvSpPr>
            <p:cNvPr id="241" name="a3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2" name="a3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957D1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243" name="a3_t"/>
            <p:cNvSpPr txBox="1"/>
            <p:nvPr/>
          </p:nvSpPr>
          <p:spPr>
            <a:xfrm>
              <a:off x="749808" y="225330"/>
              <a:ext cx="4166464" cy="2077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700"/>
                </a:lnSpc>
                <a:defRPr sz="1300">
                  <a:solidFill>
                    <a:srgbClr val="0E2A4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safety flame (orange).</a:t>
              </a:r>
            </a:p>
          </p:txBody>
        </p:sp>
      </p:grpSp>
      <p:grpSp>
        <p:nvGrpSpPr>
          <p:cNvPr id="248" name="a4"/>
          <p:cNvGrpSpPr/>
          <p:nvPr/>
        </p:nvGrpSpPr>
        <p:grpSpPr>
          <a:xfrm>
            <a:off x="1170432" y="3328415"/>
            <a:ext cx="5117441" cy="658369"/>
            <a:chOff x="0" y="0"/>
            <a:chExt cx="5117439" cy="658368"/>
          </a:xfrm>
        </p:grpSpPr>
        <p:sp>
          <p:nvSpPr>
            <p:cNvPr id="245" name="a4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6" name="a4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957D1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247" name="a4_t"/>
            <p:cNvSpPr txBox="1"/>
            <p:nvPr/>
          </p:nvSpPr>
          <p:spPr>
            <a:xfrm>
              <a:off x="749808" y="117380"/>
              <a:ext cx="4166464" cy="4236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700"/>
                </a:lnSpc>
                <a:defRPr sz="1300">
                  <a:solidFill>
                    <a:srgbClr val="0E2A4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"Plants grow taller with more sunlight than in the dark." (accept similar)</a:t>
              </a:r>
            </a:p>
          </p:txBody>
        </p:sp>
      </p:grpSp>
      <p:grpSp>
        <p:nvGrpSpPr>
          <p:cNvPr id="252" name="a5"/>
          <p:cNvGrpSpPr/>
          <p:nvPr/>
        </p:nvGrpSpPr>
        <p:grpSpPr>
          <a:xfrm>
            <a:off x="6525615" y="3328415"/>
            <a:ext cx="5117441" cy="658369"/>
            <a:chOff x="0" y="0"/>
            <a:chExt cx="5117439" cy="658368"/>
          </a:xfrm>
        </p:grpSpPr>
        <p:sp>
          <p:nvSpPr>
            <p:cNvPr id="249" name="a5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0" name="a5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957D1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251" name="a5_t"/>
            <p:cNvSpPr txBox="1"/>
            <p:nvPr/>
          </p:nvSpPr>
          <p:spPr>
            <a:xfrm>
              <a:off x="749808" y="225330"/>
              <a:ext cx="4166464" cy="2077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700"/>
                </a:lnSpc>
                <a:defRPr sz="1300">
                  <a:solidFill>
                    <a:srgbClr val="0E2A4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Amount of sunlight.</a:t>
              </a:r>
            </a:p>
          </p:txBody>
        </p:sp>
      </p:grpSp>
      <p:grpSp>
        <p:nvGrpSpPr>
          <p:cNvPr id="256" name="a6"/>
          <p:cNvGrpSpPr/>
          <p:nvPr/>
        </p:nvGrpSpPr>
        <p:grpSpPr>
          <a:xfrm>
            <a:off x="1170432" y="4078223"/>
            <a:ext cx="5117441" cy="658369"/>
            <a:chOff x="0" y="0"/>
            <a:chExt cx="5117439" cy="658368"/>
          </a:xfrm>
        </p:grpSpPr>
        <p:sp>
          <p:nvSpPr>
            <p:cNvPr id="253" name="a6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4" name="a6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957D1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255" name="a6_t"/>
            <p:cNvSpPr txBox="1"/>
            <p:nvPr/>
          </p:nvSpPr>
          <p:spPr>
            <a:xfrm>
              <a:off x="749808" y="225330"/>
              <a:ext cx="4166464" cy="2077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700"/>
                </a:lnSpc>
                <a:defRPr sz="1300">
                  <a:solidFill>
                    <a:srgbClr val="0E2A4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Plant height.</a:t>
              </a:r>
            </a:p>
          </p:txBody>
        </p:sp>
      </p:grpSp>
      <p:grpSp>
        <p:nvGrpSpPr>
          <p:cNvPr id="260" name="a7"/>
          <p:cNvGrpSpPr/>
          <p:nvPr/>
        </p:nvGrpSpPr>
        <p:grpSpPr>
          <a:xfrm>
            <a:off x="6525615" y="4078223"/>
            <a:ext cx="5117441" cy="658369"/>
            <a:chOff x="0" y="0"/>
            <a:chExt cx="5117439" cy="658368"/>
          </a:xfrm>
        </p:grpSpPr>
        <p:sp>
          <p:nvSpPr>
            <p:cNvPr id="257" name="a7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8" name="a7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957D1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259" name="a7_t"/>
            <p:cNvSpPr txBox="1"/>
            <p:nvPr/>
          </p:nvSpPr>
          <p:spPr>
            <a:xfrm>
              <a:off x="749808" y="117380"/>
              <a:ext cx="4166464" cy="4236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700"/>
                </a:lnSpc>
                <a:defRPr sz="1300">
                  <a:solidFill>
                    <a:srgbClr val="0E2A4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So you know what actually caused the result — a fair test.</a:t>
              </a:r>
            </a:p>
          </p:txBody>
        </p:sp>
      </p:grpSp>
      <p:grpSp>
        <p:nvGrpSpPr>
          <p:cNvPr id="264" name="a8"/>
          <p:cNvGrpSpPr/>
          <p:nvPr/>
        </p:nvGrpSpPr>
        <p:grpSpPr>
          <a:xfrm>
            <a:off x="1170432" y="4828032"/>
            <a:ext cx="5117441" cy="658369"/>
            <a:chOff x="0" y="0"/>
            <a:chExt cx="5117439" cy="658368"/>
          </a:xfrm>
        </p:grpSpPr>
        <p:sp>
          <p:nvSpPr>
            <p:cNvPr id="261" name="a8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2" name="a8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957D1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263" name="a8_t"/>
            <p:cNvSpPr txBox="1"/>
            <p:nvPr/>
          </p:nvSpPr>
          <p:spPr>
            <a:xfrm>
              <a:off x="749808" y="117380"/>
              <a:ext cx="4166464" cy="4236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700"/>
                </a:lnSpc>
                <a:defRPr sz="1300">
                  <a:solidFill>
                    <a:srgbClr val="0E2A4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Answers vary — must follow "if...then...because" and name something measurable.</a:t>
              </a:r>
            </a:p>
          </p:txBody>
        </p:sp>
      </p:grpSp>
      <p:grpSp>
        <p:nvGrpSpPr>
          <p:cNvPr id="268" name="a9"/>
          <p:cNvGrpSpPr/>
          <p:nvPr/>
        </p:nvGrpSpPr>
        <p:grpSpPr>
          <a:xfrm>
            <a:off x="6525615" y="4828032"/>
            <a:ext cx="5117441" cy="658369"/>
            <a:chOff x="0" y="0"/>
            <a:chExt cx="5117439" cy="658368"/>
          </a:xfrm>
        </p:grpSpPr>
        <p:sp>
          <p:nvSpPr>
            <p:cNvPr id="265" name="a9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6" name="a9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957D1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267" name="a9_t"/>
            <p:cNvSpPr txBox="1"/>
            <p:nvPr/>
          </p:nvSpPr>
          <p:spPr>
            <a:xfrm>
              <a:off x="749808" y="117380"/>
              <a:ext cx="4166464" cy="4236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700"/>
                </a:lnSpc>
                <a:defRPr sz="1300">
                  <a:solidFill>
                    <a:srgbClr val="0E2A4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strange result can send you back to an earlier step — investigations loop, they do not run once in fixed order.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2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4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4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Class="entr" nodeType="afterEffect" presetID="10" grpId="5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4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4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"/>
                            </p:stCondLst>
                            <p:childTnLst>
                              <p:par>
                                <p:cTn id="31" presetClass="entr" nodeType="afterEffect" presetID="10" grpId="7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" dur="4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click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8" dur="4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"/>
                            </p:stCondLst>
                            <p:childTnLst>
                              <p:par>
                                <p:cTn id="40" presetClass="entr" nodeType="afterEffect" presetID="10" grpId="9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2" dur="4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7" dur="4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"/>
                            </p:stCondLst>
                            <p:childTnLst>
                              <p:par>
                                <p:cTn id="49" presetClass="entr" nodeType="afterEffect" presetID="10" grpId="11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1" dur="4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52" fill="hold" display="0">
                  <p:stCondLst>
                    <p:cond delay="indefinite"/>
                  </p:stCondLst>
                </p:cTn>
                <p:tgtEl>
                  <p:spTgt spid="224"/>
                </p:tgtEl>
              </p:cMediaNode>
            </p:video>
            <p:seq concurrent="1" prevAc="none" nextAc="seek">
              <p:cTn id="53" evtFilter="cancelBubble" nodeType="interactiveSeq" restart="whenNotActive" fill="hold">
                <p:stCondLst>
                  <p:cond delay="0" evt="onClick">
                    <p:tgtEl>
                      <p:spTgt spid="224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7" dur="1" fill="hold"/>
                                        <p:tgtEl>
                                          <p:spTgt spid="2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24"/>
                  </p:tgtEl>
                </p:cond>
              </p:nextCondLst>
            </p:seq>
          </p:childTnLst>
        </p:cTn>
      </p:par>
    </p:tnLst>
    <p:bldLst>
      <p:bldP build="whole" bldLvl="1" animBg="1" rev="0" advAuto="0" spid="240" grpId="4"/>
      <p:bldP build="whole" bldLvl="1" animBg="1" rev="0" advAuto="0" spid="256" grpId="8"/>
      <p:bldP build="whole" bldLvl="1" animBg="1" rev="0" advAuto="0" spid="236" grpId="3"/>
      <p:bldP build="whole" bldLvl="1" animBg="1" rev="0" advAuto="0" spid="252" grpId="7"/>
      <p:bldP build="whole" bldLvl="1" animBg="1" rev="0" advAuto="0" spid="268" grpId="11"/>
      <p:bldP build="whole" bldLvl="1" animBg="1" rev="0" advAuto="0" spid="232" grpId="2"/>
      <p:bldP build="whole" bldLvl="1" animBg="1" rev="0" advAuto="0" spid="248" grpId="6"/>
      <p:bldP build="whole" bldLvl="1" animBg="1" rev="0" advAuto="0" spid="264" grpId="10"/>
      <p:bldP build="whole" bldLvl="1" animBg="1" rev="0" advAuto="0" spid="244" grpId="5"/>
      <p:bldP build="whole" bldLvl="1" animBg="1" rev="0" advAuto="0" spid="260" grpId="9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53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5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273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FFD92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74" name="PLENARY · 3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15395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PLENARY · 3 MIN</a:t>
              </a:r>
            </a:p>
          </p:txBody>
        </p:sp>
      </p:grpSp>
      <p:sp>
        <p:nvSpPr>
          <p:cNvPr id="276" name="slide_title"/>
          <p:cNvSpPr txBox="1"/>
          <p:nvPr/>
        </p:nvSpPr>
        <p:spPr>
          <a:xfrm>
            <a:off x="1170432" y="946657"/>
            <a:ext cx="1047262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F2F6FB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True or false?</a:t>
            </a:r>
          </a:p>
        </p:txBody>
      </p:sp>
      <p:grpSp>
        <p:nvGrpSpPr>
          <p:cNvPr id="279" name="p0_stmt"/>
          <p:cNvGrpSpPr/>
          <p:nvPr/>
        </p:nvGrpSpPr>
        <p:grpSpPr>
          <a:xfrm>
            <a:off x="1170432" y="2194560"/>
            <a:ext cx="8552383" cy="640081"/>
            <a:chOff x="0" y="0"/>
            <a:chExt cx="8552382" cy="640080"/>
          </a:xfrm>
        </p:grpSpPr>
        <p:sp>
          <p:nvSpPr>
            <p:cNvPr id="277" name="p0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E4A6B"/>
            </a:solidFill>
            <a:ln w="12700" cap="flat">
              <a:solidFill>
                <a:srgbClr val="2C5C8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8" name="p0_q"/>
            <p:cNvSpPr txBox="1"/>
            <p:nvPr/>
          </p:nvSpPr>
          <p:spPr>
            <a:xfrm>
              <a:off x="256032" y="215206"/>
              <a:ext cx="8186623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500">
                  <a:solidFill>
                    <a:srgbClr val="F2F6F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hypothesis is just a guess with no reasoning.</a:t>
              </a:r>
            </a:p>
          </p:txBody>
        </p:sp>
      </p:grpSp>
      <p:sp>
        <p:nvSpPr>
          <p:cNvPr id="280" name="p0_v"/>
          <p:cNvSpPr txBox="1"/>
          <p:nvPr/>
        </p:nvSpPr>
        <p:spPr>
          <a:xfrm>
            <a:off x="9905695" y="2391131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FFD92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FALSE</a:t>
            </a:r>
          </a:p>
        </p:txBody>
      </p:sp>
      <p:grpSp>
        <p:nvGrpSpPr>
          <p:cNvPr id="283" name="p1_stmt"/>
          <p:cNvGrpSpPr/>
          <p:nvPr/>
        </p:nvGrpSpPr>
        <p:grpSpPr>
          <a:xfrm>
            <a:off x="1170432" y="2999232"/>
            <a:ext cx="8552383" cy="640081"/>
            <a:chOff x="0" y="0"/>
            <a:chExt cx="8552382" cy="640080"/>
          </a:xfrm>
        </p:grpSpPr>
        <p:sp>
          <p:nvSpPr>
            <p:cNvPr id="281" name="p1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E4A6B"/>
            </a:solidFill>
            <a:ln w="12700" cap="flat">
              <a:solidFill>
                <a:srgbClr val="2C5C8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2" name="p1_q"/>
            <p:cNvSpPr txBox="1"/>
            <p:nvPr/>
          </p:nvSpPr>
          <p:spPr>
            <a:xfrm>
              <a:off x="256032" y="215206"/>
              <a:ext cx="8186623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500">
                  <a:solidFill>
                    <a:srgbClr val="F2F6F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"Plants grow taller with more light" is a testable hypothesis.</a:t>
              </a:r>
            </a:p>
          </p:txBody>
        </p:sp>
      </p:grpSp>
      <p:sp>
        <p:nvSpPr>
          <p:cNvPr id="284" name="p1_v"/>
          <p:cNvSpPr txBox="1"/>
          <p:nvPr/>
        </p:nvSpPr>
        <p:spPr>
          <a:xfrm>
            <a:off x="9905695" y="3195803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00A33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TRUE</a:t>
            </a:r>
          </a:p>
        </p:txBody>
      </p:sp>
      <p:grpSp>
        <p:nvGrpSpPr>
          <p:cNvPr id="287" name="p2_stmt"/>
          <p:cNvGrpSpPr/>
          <p:nvPr/>
        </p:nvGrpSpPr>
        <p:grpSpPr>
          <a:xfrm>
            <a:off x="1170432" y="3803903"/>
            <a:ext cx="8552383" cy="640081"/>
            <a:chOff x="0" y="0"/>
            <a:chExt cx="8552382" cy="640080"/>
          </a:xfrm>
        </p:grpSpPr>
        <p:sp>
          <p:nvSpPr>
            <p:cNvPr id="285" name="p2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E4A6B"/>
            </a:solidFill>
            <a:ln w="12700" cap="flat">
              <a:solidFill>
                <a:srgbClr val="2C5C8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6" name="p2_q"/>
            <p:cNvSpPr txBox="1"/>
            <p:nvPr/>
          </p:nvSpPr>
          <p:spPr>
            <a:xfrm>
              <a:off x="256032" y="215206"/>
              <a:ext cx="8186623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500">
                  <a:solidFill>
                    <a:srgbClr val="F2F6F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Every scientist follows the same steps in the same order.</a:t>
              </a:r>
            </a:p>
          </p:txBody>
        </p:sp>
      </p:grpSp>
      <p:sp>
        <p:nvSpPr>
          <p:cNvPr id="288" name="p2_v"/>
          <p:cNvSpPr txBox="1"/>
          <p:nvPr/>
        </p:nvSpPr>
        <p:spPr>
          <a:xfrm>
            <a:off x="9905695" y="4000475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FFD92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FALSE</a:t>
            </a:r>
          </a:p>
        </p:txBody>
      </p:sp>
      <p:grpSp>
        <p:nvGrpSpPr>
          <p:cNvPr id="291" name="p3_stmt"/>
          <p:cNvGrpSpPr/>
          <p:nvPr/>
        </p:nvGrpSpPr>
        <p:grpSpPr>
          <a:xfrm>
            <a:off x="1170432" y="4608576"/>
            <a:ext cx="8552383" cy="640081"/>
            <a:chOff x="0" y="0"/>
            <a:chExt cx="8552382" cy="640080"/>
          </a:xfrm>
        </p:grpSpPr>
        <p:sp>
          <p:nvSpPr>
            <p:cNvPr id="289" name="p3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E4A6B"/>
            </a:solidFill>
            <a:ln w="12700" cap="flat">
              <a:solidFill>
                <a:srgbClr val="2C5C8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0" name="p3_q"/>
            <p:cNvSpPr txBox="1"/>
            <p:nvPr/>
          </p:nvSpPr>
          <p:spPr>
            <a:xfrm>
              <a:off x="256032" y="215206"/>
              <a:ext cx="8186623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500">
                  <a:solidFill>
                    <a:srgbClr val="F2F6F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You should change one variable at a time.</a:t>
              </a:r>
            </a:p>
          </p:txBody>
        </p:sp>
      </p:grpSp>
      <p:sp>
        <p:nvSpPr>
          <p:cNvPr id="292" name="p3_v"/>
          <p:cNvSpPr txBox="1"/>
          <p:nvPr/>
        </p:nvSpPr>
        <p:spPr>
          <a:xfrm>
            <a:off x="9905695" y="4805147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00A33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TRUE</a:t>
            </a:r>
          </a:p>
        </p:txBody>
      </p:sp>
      <p:grpSp>
        <p:nvGrpSpPr>
          <p:cNvPr id="295" name="p4_stmt"/>
          <p:cNvGrpSpPr/>
          <p:nvPr/>
        </p:nvGrpSpPr>
        <p:grpSpPr>
          <a:xfrm>
            <a:off x="1170432" y="5413247"/>
            <a:ext cx="8552383" cy="640081"/>
            <a:chOff x="0" y="0"/>
            <a:chExt cx="8552382" cy="640080"/>
          </a:xfrm>
        </p:grpSpPr>
        <p:sp>
          <p:nvSpPr>
            <p:cNvPr id="293" name="p4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E4A6B"/>
            </a:solidFill>
            <a:ln w="12700" cap="flat">
              <a:solidFill>
                <a:srgbClr val="2C5C8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4" name="p4_q"/>
            <p:cNvSpPr txBox="1"/>
            <p:nvPr/>
          </p:nvSpPr>
          <p:spPr>
            <a:xfrm>
              <a:off x="256032" y="215206"/>
              <a:ext cx="8186623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500">
                  <a:solidFill>
                    <a:srgbClr val="F2F6F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Goggles come off as soon as your own burner is out.</a:t>
              </a:r>
            </a:p>
          </p:txBody>
        </p:sp>
      </p:grpSp>
      <p:sp>
        <p:nvSpPr>
          <p:cNvPr id="296" name="p4_v"/>
          <p:cNvSpPr txBox="1"/>
          <p:nvPr/>
        </p:nvSpPr>
        <p:spPr>
          <a:xfrm>
            <a:off x="9905695" y="5609819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FFD92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FALSE</a:t>
            </a:r>
          </a:p>
        </p:txBody>
      </p:sp>
      <p:sp>
        <p:nvSpPr>
          <p:cNvPr id="297" name="pl_next"/>
          <p:cNvSpPr txBox="1"/>
          <p:nvPr/>
        </p:nvSpPr>
        <p:spPr>
          <a:xfrm>
            <a:off x="1170432" y="6195381"/>
            <a:ext cx="1047262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500">
                <a:solidFill>
                  <a:srgbClr val="FFD92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If a step does not work, go back to an earlier one. That is normal science, not a mistake.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sh dir="u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2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16" presetID="23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4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" dur="4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clickEffect" presetSubtype="16" presetID="23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ntr" nodeType="click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4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16" presetID="23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5" dur="4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Class="entr" nodeType="clickEffect" presetSubtype="16" presetID="23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Class="entr" nodeType="click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6" dur="4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67" fill="hold" display="0">
                  <p:stCondLst>
                    <p:cond delay="indefinite"/>
                  </p:stCondLst>
                </p:cTn>
                <p:tgtEl>
                  <p:spTgt spid="272"/>
                </p:tgtEl>
              </p:cMediaNode>
            </p:video>
            <p:seq concurrent="1" prevAc="none" nextAc="seek">
              <p:cTn id="68" evtFilter="cancelBubble" nodeType="interactiveSeq" restart="whenNotActive" fill="hold">
                <p:stCondLst>
                  <p:cond delay="0" evt="onClick">
                    <p:tgtEl>
                      <p:spTgt spid="272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2" dur="1" fill="hold"/>
                                        <p:tgtEl>
                                          <p:spTgt spid="2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72"/>
                  </p:tgtEl>
                </p:cond>
              </p:nextCondLst>
            </p:seq>
          </p:childTnLst>
        </p:cTn>
      </p:par>
    </p:tnLst>
    <p:bldLst>
      <p:bldP build="whole" bldLvl="1" animBg="1" rev="0" advAuto="0" spid="297" grpId="12"/>
      <p:bldP build="whole" bldLvl="1" animBg="1" rev="0" advAuto="0" spid="284" grpId="5"/>
      <p:bldP build="whole" bldLvl="1" animBg="1" rev="0" advAuto="0" spid="279" grpId="2"/>
      <p:bldP build="whole" bldLvl="1" animBg="1" rev="0" advAuto="0" spid="283" grpId="4"/>
      <p:bldP build="whole" bldLvl="1" animBg="1" rev="0" advAuto="0" spid="287" grpId="6"/>
      <p:bldP build="whole" bldLvl="1" animBg="1" rev="0" advAuto="0" spid="292" grpId="9"/>
      <p:bldP build="whole" bldLvl="1" animBg="1" rev="0" advAuto="0" spid="295" grpId="10"/>
      <p:bldP build="whole" bldLvl="1" animBg="1" rev="0" advAuto="0" spid="291" grpId="8"/>
      <p:bldP build="whole" bldLvl="1" animBg="1" rev="0" advAuto="0" spid="288" grpId="7"/>
      <p:bldP build="whole" bldLvl="1" animBg="1" rev="0" advAuto="0" spid="296" grpId="11"/>
      <p:bldP build="whole" bldLvl="1" animBg="1" rev="0" advAuto="0" spid="280" grpId="3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