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 name="Shape 32"/>
          <p:cNvSpPr/>
          <p:nvPr>
            <p:ph type="sldImg"/>
          </p:nvPr>
        </p:nvSpPr>
        <p:spPr>
          <a:prstGeom prst="rect">
            <a:avLst/>
          </a:prstGeom>
        </p:spPr>
        <p:txBody>
          <a:bodyPr/>
          <a:lstStyle/>
          <a:p>
            <a:pPr/>
          </a:p>
        </p:txBody>
      </p:sp>
      <p:sp>
        <p:nvSpPr>
          <p:cNvPr id="33" name="Shape 33"/>
          <p:cNvSpPr/>
          <p:nvPr>
            <p:ph type="body" sz="quarter" idx="1"/>
          </p:nvPr>
        </p:nvSpPr>
        <p:spPr>
          <a:prstGeom prst="rect">
            <a:avLst/>
          </a:prstGeom>
        </p:spPr>
        <p:txBody>
          <a:bodyPr/>
          <a:lstStyle/>
          <a:p>
            <a:pPr/>
            <a:r>
              <a:t>Hidden slide — it will not appear in the slideshow.</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 name="Shape 41"/>
          <p:cNvSpPr/>
          <p:nvPr>
            <p:ph type="sldImg"/>
          </p:nvPr>
        </p:nvSpPr>
        <p:spPr>
          <a:prstGeom prst="rect">
            <a:avLst/>
          </a:prstGeom>
        </p:spPr>
        <p:txBody>
          <a:bodyPr/>
          <a:lstStyle/>
          <a:p>
            <a:pPr/>
          </a:p>
        </p:txBody>
      </p:sp>
      <p:sp>
        <p:nvSpPr>
          <p:cNvPr id="42" name="Shape 42"/>
          <p:cNvSpPr/>
          <p:nvPr>
            <p:ph type="body" sz="quarter" idx="1"/>
          </p:nvPr>
        </p:nvSpPr>
        <p:spPr>
          <a:prstGeom prst="rect">
            <a:avLst/>
          </a:prstGeom>
        </p:spPr>
        <p:txBody>
          <a:bodyPr/>
          <a:lstStyle/>
          <a:p>
            <a:pPr/>
            <a:r>
              <a:t>TITLE — arrive on this. The example builds, then the arrow, then the answer.</a:t>
            </a:r>
          </a:p>
          <a:p>
            <a:pPr/>
          </a:p>
          <a:p>
            <a:pPr/>
            <a:r>
              <a:t>SAY: "Three lots of something, plus five more lots of the same something, is eight lots of it. You have been doing that since Year 3. The only new bit is that we are not saying what the something is."</a:t>
            </a:r>
          </a:p>
          <a:p>
            <a:pPr/>
          </a:p>
          <a:p>
            <a:pPr/>
            <a:r>
              <a:t>Point at the blue term and shrug. It has nothing to pair with, so it stays.</a:t>
            </a:r>
          </a:p>
          <a:p>
            <a:pPr/>
          </a:p>
          <a:p>
            <a:pPr/>
            <a:r>
              <a:t>GREEN AND BLUE ARE THE SYSTEM for the whole lesson. Use the same two board pens.</a:t>
            </a:r>
          </a:p>
          <a:p>
            <a:pPr/>
          </a:p>
          <a:p>
            <a:pPr/>
            <a:r>
              <a:t>TIMING: 30 seconds.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Shape 67"/>
          <p:cNvSpPr/>
          <p:nvPr>
            <p:ph type="sldImg"/>
          </p:nvPr>
        </p:nvSpPr>
        <p:spPr>
          <a:prstGeom prst="rect">
            <a:avLst/>
          </a:prstGeom>
        </p:spPr>
        <p:txBody>
          <a:bodyPr/>
          <a:lstStyle/>
          <a:p>
            <a:pPr/>
          </a:p>
        </p:txBody>
      </p:sp>
      <p:sp>
        <p:nvSpPr>
          <p:cNvPr id="68" name="Shape 68"/>
          <p:cNvSpPr/>
          <p:nvPr>
            <p:ph type="body" sz="quarter" idx="1"/>
          </p:nvPr>
        </p:nvSpPr>
        <p:spPr>
          <a:prstGeom prst="rect">
            <a:avLst/>
          </a:prstGeom>
        </p:spPr>
        <p:txBody>
          <a:bodyPr/>
          <a:lstStyle/>
          <a:p>
            <a:pPr/>
            <a:r>
              <a:t>OBJECTIVES — 1 minute. Four clicks. Read them, do not dwell. The banner is the message.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Shape 104"/>
          <p:cNvSpPr/>
          <p:nvPr>
            <p:ph type="sldImg"/>
          </p:nvPr>
        </p:nvSpPr>
        <p:spPr>
          <a:prstGeom prst="rect">
            <a:avLst/>
          </a:prstGeom>
        </p:spPr>
        <p:txBody>
          <a:bodyPr/>
          <a:lstStyle/>
          <a:p>
            <a:pPr/>
          </a:p>
        </p:txBody>
      </p:sp>
      <p:sp>
        <p:nvSpPr>
          <p:cNvPr id="105" name="Shape 105"/>
          <p:cNvSpPr/>
          <p:nvPr>
            <p:ph type="body" sz="quarter" idx="1"/>
          </p:nvPr>
        </p:nvSpPr>
        <p:spPr>
          <a:prstGeom prst="rect">
            <a:avLst/>
          </a:prstGeom>
        </p:spPr>
        <p:txBody>
          <a:bodyPr/>
          <a:lstStyle/>
          <a:p>
            <a:pPr/>
            <a:r>
              <a:t>DO NOW — 5 minutes: 4 working, 1 marking. Six clicks.</a:t>
            </a:r>
          </a:p>
          <a:p>
            <a:pPr/>
          </a:p>
          <a:p>
            <a:pPr/>
            <a:r>
              <a:t>Q1 AND Q2 ARE THE GATE. Today is signed arithmetic wearing letters. If negatives are shaky, fix them here or slide 9 will not land.</a:t>
            </a:r>
          </a:p>
          <a:p>
            <a:pPr/>
          </a:p>
          <a:p>
            <a:pPr/>
            <a:r>
              <a:t>Q3: 3a means 3 × a. Not 3 + a. Ask for a show of hands on that — some will be quietly wrong and have been for a year.</a:t>
            </a:r>
          </a:p>
          <a:p>
            <a:pPr/>
          </a:p>
          <a:p>
            <a:pPr/>
            <a:r>
              <a:t>Q5 IS THE WHOLE LESSON IN DISGUISE. Three tens plus four tens is seven tens. Nobody finds that hard. Write it on the board and leave it.</a:t>
            </a:r>
          </a:p>
          <a:p>
            <a:pPr/>
          </a:p>
          <a:p>
            <a:pPr/>
            <a:r>
              <a:t>Q6: do NOT settle it. Take a tally of answers — expect 7a, 7, 12a. Come back to it on slide 7, next to the tens.</a:t>
            </a:r>
          </a:p>
          <a:p>
            <a:pPr/>
          </a:p>
          <a:p>
            <a:pPr/>
            <a:r>
              <a:t>STRETCH: "Is 3a + 4a the same kind of question as 3 tens + 4 tens?" Yes. Exactly the same.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Shape 124"/>
          <p:cNvSpPr/>
          <p:nvPr>
            <p:ph type="sldImg"/>
          </p:nvPr>
        </p:nvSpPr>
        <p:spPr>
          <a:prstGeom prst="rect">
            <a:avLst/>
          </a:prstGeom>
        </p:spPr>
        <p:txBody>
          <a:bodyPr/>
          <a:lstStyle/>
          <a:p>
            <a:pPr/>
          </a:p>
        </p:txBody>
      </p:sp>
      <p:sp>
        <p:nvSpPr>
          <p:cNvPr id="125" name="Shape 125"/>
          <p:cNvSpPr/>
          <p:nvPr>
            <p:ph type="body" sz="quarter" idx="1"/>
          </p:nvPr>
        </p:nvSpPr>
        <p:spPr>
          <a:prstGeom prst="rect">
            <a:avLst/>
          </a:prstGeom>
        </p:spPr>
        <p:txBody>
          <a:bodyPr/>
          <a:lstStyle/>
          <a:p>
            <a:pPr/>
            <a:r>
              <a:t>HOOK — 4 minutes. Four clicks: the question, then the three options.</a:t>
            </a:r>
          </a:p>
          <a:p>
            <a:pPr/>
          </a:p>
          <a:p>
            <a:pPr/>
            <a:r>
              <a:t>Take the vote by hands and write the tally on the board. Most classes split between A and C.</a:t>
            </a:r>
          </a:p>
          <a:p>
            <a:pPr/>
          </a:p>
          <a:p>
            <a:pPr/>
            <a:r>
              <a:t>ANSWER (slide 13, not now): C. 3a + 2b is already as simple as it gets.</a:t>
            </a:r>
          </a:p>
          <a:p>
            <a:pPr/>
          </a:p>
          <a:p>
            <a:pPr/>
            <a:r>
              <a:t>WHY A IS SO TEMPTING, and say this: 3 + 2 is 5, and a and b are both letters, so 5ab looks like tidying up. It is not — the two terms count different things.</a:t>
            </a:r>
          </a:p>
          <a:p>
            <a:pPr/>
          </a:p>
          <a:p>
            <a:pPr/>
            <a:r>
              <a:t>DO NOT EXPLAIN IT YET. They vote, you record it, you move on. Half the value of this slide is that they are still wondering during slides 6 to 9.</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hape 152"/>
          <p:cNvSpPr/>
          <p:nvPr>
            <p:ph type="sldImg"/>
          </p:nvPr>
        </p:nvSpPr>
        <p:spPr>
          <a:prstGeom prst="rect">
            <a:avLst/>
          </a:prstGeom>
        </p:spPr>
        <p:txBody>
          <a:bodyPr/>
          <a:lstStyle/>
          <a:p>
            <a:pPr/>
          </a:p>
        </p:txBody>
      </p:sp>
      <p:sp>
        <p:nvSpPr>
          <p:cNvPr id="153" name="Shape 153"/>
          <p:cNvSpPr/>
          <p:nvPr>
            <p:ph type="body" sz="quarter" idx="1"/>
          </p:nvPr>
        </p:nvSpPr>
        <p:spPr>
          <a:prstGeom prst="rect">
            <a:avLst/>
          </a:prstGeom>
        </p:spPr>
        <p:txBody>
          <a:bodyPr/>
          <a:lstStyle/>
          <a:p>
            <a:pPr/>
            <a:r>
              <a:t>I DO — 4 minutes. Six clicks: the expression, the four terms, then the banner.</a:t>
            </a:r>
          </a:p>
          <a:p>
            <a:pPr/>
          </a:p>
          <a:p>
            <a:pPr/>
            <a:r>
              <a:t>CHOP THE EXPRESSION UP on the board with vertical lines before the signs. They copy it.</a:t>
            </a:r>
          </a:p>
          <a:p>
            <a:pPr/>
          </a:p>
          <a:p>
            <a:pPr/>
            <a:r>
              <a:t>THE SIGN GOES WITH THE TERM AFTER IT. This is the single most useful habit in the topic and it is worth more than any rule you could give them. Students who carry the sign along never lose one; students who do not, do.</a:t>
            </a:r>
          </a:p>
          <a:p>
            <a:pPr/>
          </a:p>
          <a:p>
            <a:pPr/>
            <a:r>
              <a:t>MISCONCEPTION: "the 7 is not a term, it is just a number." It is a term. It is a term with no letters, and it can only be collected with other plain numbers.</a:t>
            </a:r>
          </a:p>
          <a:p>
            <a:pPr/>
          </a:p>
          <a:p>
            <a:pPr/>
            <a:r>
              <a:t>STRETCH: "How many terms in 5x?" One. "In 5 + x?" Two. Worth thirty seconds.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hape 175"/>
          <p:cNvSpPr/>
          <p:nvPr>
            <p:ph type="sldImg"/>
          </p:nvPr>
        </p:nvSpPr>
        <p:spPr>
          <a:prstGeom prst="rect">
            <a:avLst/>
          </a:prstGeom>
        </p:spPr>
        <p:txBody>
          <a:bodyPr/>
          <a:lstStyle/>
          <a:p>
            <a:pPr/>
          </a:p>
        </p:txBody>
      </p:sp>
      <p:sp>
        <p:nvSpPr>
          <p:cNvPr id="176" name="Shape 176"/>
          <p:cNvSpPr/>
          <p:nvPr>
            <p:ph type="body" sz="quarter" idx="1"/>
          </p:nvPr>
        </p:nvSpPr>
        <p:spPr>
          <a:prstGeom prst="rect">
            <a:avLst/>
          </a:prstGeom>
        </p:spPr>
        <p:txBody>
          <a:bodyPr/>
          <a:lstStyle/>
          <a:p>
            <a:pPr/>
            <a:r>
              <a:t>I DO — 4 minutes. Six clicks: the tens line, the a line, the note, each panel, the banner.</a:t>
            </a:r>
          </a:p>
          <a:p>
            <a:pPr/>
          </a:p>
          <a:p>
            <a:pPr/>
            <a:r>
              <a:t>GO BACK TO DO NOW Q5 AND Q6. Put them one above the other on the board, exactly as on this slide. Nobody argues with 3 tens + 4 tens. Then announce 7a and watch the tally from Q6.</a:t>
            </a:r>
          </a:p>
          <a:p>
            <a:pPr/>
          </a:p>
          <a:p>
            <a:pPr/>
            <a:r>
              <a:t>ab AND ba ARE LIKE and it surprises them. 3 × 4 is the same as 4 × 3, so a × b is the same as b × a. Thirty seconds.</a:t>
            </a:r>
          </a:p>
          <a:p>
            <a:pPr/>
          </a:p>
          <a:p>
            <a:pPr/>
            <a:r>
              <a:t>a AND a² ARE NOT LIKE. a² is a × a — a different animal entirely. Ask what a is if a = 3: then a² = 9. Different piles.</a:t>
            </a:r>
          </a:p>
          <a:p>
            <a:pPr/>
          </a:p>
          <a:p>
            <a:pPr/>
            <a:r>
              <a:t>MISCONCEPTION to name now: "like terms means terms that look similar." No — exactly the same letters, to exactly the same power.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hape 219"/>
          <p:cNvSpPr/>
          <p:nvPr>
            <p:ph type="sldImg"/>
          </p:nvPr>
        </p:nvSpPr>
        <p:spPr>
          <a:prstGeom prst="rect">
            <a:avLst/>
          </a:prstGeom>
        </p:spPr>
        <p:txBody>
          <a:bodyPr/>
          <a:lstStyle/>
          <a:p>
            <a:pPr/>
          </a:p>
        </p:txBody>
      </p:sp>
      <p:sp>
        <p:nvSpPr>
          <p:cNvPr id="220" name="Shape 220"/>
          <p:cNvSpPr/>
          <p:nvPr>
            <p:ph type="body" sz="quarter" idx="1"/>
          </p:nvPr>
        </p:nvSpPr>
        <p:spPr>
          <a:prstGeom prst="rect">
            <a:avLst/>
          </a:prstGeom>
        </p:spPr>
        <p:txBody>
          <a:bodyPr/>
          <a:lstStyle/>
          <a:p>
            <a:pPr/>
            <a:r>
              <a:t>WE DO — 5 minutes. Twelve clicks: verdict then reason, row by row. Thumbs up BEFORE you click.</a:t>
            </a:r>
          </a:p>
          <a:p>
            <a:pPr/>
          </a:p>
          <a:p>
            <a:pPr/>
            <a:r>
              <a:t>THE TEST, said out loud every time: exactly the same letters, to exactly the same power?</a:t>
            </a:r>
          </a:p>
          <a:p>
            <a:pPr/>
          </a:p>
          <a:p>
            <a:pPr/>
            <a:r>
              <a:t>ROW 3 surprises them. Write 3 × 4 and 4 × 3 on the board if anyone doubts it.</a:t>
            </a:r>
          </a:p>
          <a:p>
            <a:pPr/>
          </a:p>
          <a:p>
            <a:pPr/>
            <a:r>
              <a:t>ROW 6 IS THE SNEAKY ONE. c means 1c. Students who cannot see this will later write 2c + c = 2c. Ask them what 2 apples and another apple makes.</a:t>
            </a:r>
          </a:p>
          <a:p>
            <a:pPr/>
          </a:p>
          <a:p>
            <a:pPr/>
            <a:r>
              <a:t>ROW 5: plain numbers are like terms with each other. Some will say not, because there is no letter.</a:t>
            </a:r>
          </a:p>
          <a:p>
            <a:pPr/>
          </a:p>
          <a:p>
            <a:pPr/>
            <a:r>
              <a:t>IF THEY ARE SECURE by row 3, take the last three orally and save the minute for slide 9.</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Shape 244"/>
          <p:cNvSpPr/>
          <p:nvPr>
            <p:ph type="sldImg"/>
          </p:nvPr>
        </p:nvSpPr>
        <p:spPr>
          <a:prstGeom prst="rect">
            <a:avLst/>
          </a:prstGeom>
        </p:spPr>
        <p:txBody>
          <a:bodyPr/>
          <a:lstStyle/>
          <a:p>
            <a:pPr/>
          </a:p>
        </p:txBody>
      </p:sp>
      <p:sp>
        <p:nvSpPr>
          <p:cNvPr id="245" name="Shape 245"/>
          <p:cNvSpPr/>
          <p:nvPr>
            <p:ph type="body" sz="quarter" idx="1"/>
          </p:nvPr>
        </p:nvSpPr>
        <p:spPr>
          <a:prstGeom prst="rect">
            <a:avLst/>
          </a:prstGeom>
        </p:spPr>
        <p:txBody>
          <a:bodyPr/>
          <a:lstStyle/>
          <a:p>
            <a:pPr/>
            <a:r>
              <a:t>I DO — 6 minutes, the most important block in the lesson. Nine clicks: each step's words then its maths, then the note.</a:t>
            </a:r>
          </a:p>
          <a:p>
            <a:pPr/>
          </a:p>
          <a:p>
            <a:pPr/>
            <a:r>
              <a:t>STEP 1 IS WHY THIS WORKS. Writing +4a rather than 4a feels fussy for about a week and then it stops anyone ever losing a sign again. Insist on it today.</a:t>
            </a:r>
          </a:p>
          <a:p>
            <a:pPr/>
          </a:p>
          <a:p>
            <a:pPr/>
            <a:r>
              <a:t>STEP 2: physically move the terms. On the board, rewrite them in a new order with the colours kept. Say "addition can be done in any order" — that is the licence for moving them.</a:t>
            </a:r>
          </a:p>
          <a:p>
            <a:pPr/>
          </a:p>
          <a:p>
            <a:pPr/>
            <a:r>
              <a:t>STEP 3: now it is just Do Now Q1 and Q2. Point back at them.</a:t>
            </a:r>
          </a:p>
          <a:p>
            <a:pPr/>
          </a:p>
          <a:p>
            <a:pPr/>
            <a:r>
              <a:t>THE 1b NOTE catches the students who write 3b + b = 3b. Ask what 3 apples and one more apple makes.</a:t>
            </a:r>
          </a:p>
          <a:p>
            <a:pPr/>
          </a:p>
          <a:p>
            <a:pPr/>
            <a:r>
              <a:t>MODEL ANOTHER ONE on the board with the same four steps: 5x − y + 2x − 3y gives 7x − 4y. Do it in the two colours.</a:t>
            </a:r>
          </a:p>
          <a:p>
            <a:pPr/>
          </a:p>
          <a:p>
            <a:pPr/>
            <a:r>
              <a:t>MISCONCEPTION: some will merge the colours at step 3 and write 6ab. Point at the two piles. They are counting two different things.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282"/>
          <p:cNvSpPr/>
          <p:nvPr>
            <p:ph type="sldImg"/>
          </p:nvPr>
        </p:nvSpPr>
        <p:spPr>
          <a:prstGeom prst="rect">
            <a:avLst/>
          </a:prstGeom>
        </p:spPr>
        <p:txBody>
          <a:bodyPr/>
          <a:lstStyle/>
          <a:p>
            <a:pPr/>
          </a:p>
        </p:txBody>
      </p:sp>
      <p:sp>
        <p:nvSpPr>
          <p:cNvPr id="283" name="Shape 283"/>
          <p:cNvSpPr/>
          <p:nvPr>
            <p:ph type="body" sz="quarter" idx="1"/>
          </p:nvPr>
        </p:nvSpPr>
        <p:spPr>
          <a:prstGeom prst="rect">
            <a:avLst/>
          </a:prstGeom>
        </p:spPr>
        <p:txBody>
          <a:bodyPr/>
          <a:lstStyle/>
          <a:p>
            <a:pPr/>
            <a:r>
              <a:t>WE DO — 6 minutes. Six clicks, one answer each. Boards up BEFORE you click.</a:t>
            </a:r>
          </a:p>
          <a:p>
            <a:pPr/>
          </a:p>
          <a:p>
            <a:pPr/>
            <a:r>
              <a:t>Q3: the lone a is 1a. Expect 4a + 2b + a left unsimplified, or 7ab.</a:t>
            </a:r>
          </a:p>
          <a:p>
            <a:pPr/>
          </a:p>
          <a:p>
            <a:pPr/>
            <a:r>
              <a:t>Q4 GIVES A NEGATIVE ANSWER and that is deliberate. 6 − 9 = −3, so the answer is −3m. Expect 3m. Point at Do Now Q2.</a:t>
            </a:r>
          </a:p>
          <a:p>
            <a:pPr/>
          </a:p>
          <a:p>
            <a:pPr/>
            <a:r>
              <a:t>Q5 is the full four-step job with two colours. Give them longer on this one.</a:t>
            </a:r>
          </a:p>
          <a:p>
            <a:pPr/>
          </a:p>
          <a:p>
            <a:pPr/>
            <a:r>
              <a:t>Q6 MIXES LETTERS AND NUMBERS. The 3 and the −5 collect with each other, not with the c terms. Expect 6c − 2 written as 4c, or as 6c − 2 = 4c. The two parts cannot be merged.</a:t>
            </a:r>
          </a:p>
          <a:p>
            <a:pPr/>
          </a:p>
          <a:p>
            <a:pPr/>
            <a:r>
              <a:t>IF MOST OF THE ROOM IS RIGHT by Q4, set Q5 and Q6 as the first worksheet questions and move 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Shape 300"/>
          <p:cNvSpPr/>
          <p:nvPr>
            <p:ph type="sldImg"/>
          </p:nvPr>
        </p:nvSpPr>
        <p:spPr>
          <a:prstGeom prst="rect">
            <a:avLst/>
          </a:prstGeom>
        </p:spPr>
        <p:txBody>
          <a:bodyPr/>
          <a:lstStyle/>
          <a:p>
            <a:pPr/>
          </a:p>
        </p:txBody>
      </p:sp>
      <p:sp>
        <p:nvSpPr>
          <p:cNvPr id="301" name="Shape 301"/>
          <p:cNvSpPr/>
          <p:nvPr>
            <p:ph type="body" sz="quarter" idx="1"/>
          </p:nvPr>
        </p:nvSpPr>
        <p:spPr>
          <a:prstGeom prst="rect">
            <a:avLst/>
          </a:prstGeom>
        </p:spPr>
        <p:txBody>
          <a:bodyPr/>
          <a:lstStyle/>
          <a:p>
            <a:pPr/>
            <a:r>
              <a:t>WHY — 3 minutes. Five clicks: the rectangle with its labels, then each line, then the closing line.</a:t>
            </a:r>
          </a:p>
          <a:p>
            <a:pPr/>
          </a:p>
          <a:p>
            <a:pPr/>
            <a:r>
              <a:t>ASK FIRST: "what is the perimeter of this rectangle?" They cannot give a number, and that is the point. They can still give an answer.</a:t>
            </a:r>
          </a:p>
          <a:p>
            <a:pPr/>
          </a:p>
          <a:p>
            <a:pPr/>
            <a:r>
              <a:t>THIS IS WHY ALGEBRA EXISTS. You do not always know the number. You can still do the maths and get an exact answer.</a:t>
            </a:r>
          </a:p>
          <a:p>
            <a:pPr/>
          </a:p>
          <a:p>
            <a:pPr/>
            <a:r>
              <a:t>EXTENSION if they are quick: an L-shape with sides a, b, a, b, 2a, 2b. Perimeter 3a + 3b. They love a shape that is not a rectangle.</a:t>
            </a:r>
          </a:p>
          <a:p>
            <a:pPr/>
          </a:p>
          <a:p>
            <a:pPr/>
            <a:r>
              <a:t>CUT THIS SLIDE FIRST if you are behind.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7" name="Shape 327"/>
          <p:cNvSpPr/>
          <p:nvPr>
            <p:ph type="sldImg"/>
          </p:nvPr>
        </p:nvSpPr>
        <p:spPr>
          <a:prstGeom prst="rect">
            <a:avLst/>
          </a:prstGeom>
        </p:spPr>
        <p:txBody>
          <a:bodyPr/>
          <a:lstStyle/>
          <a:p>
            <a:pPr/>
          </a:p>
        </p:txBody>
      </p:sp>
      <p:sp>
        <p:nvSpPr>
          <p:cNvPr id="328" name="Shape 328"/>
          <p:cNvSpPr/>
          <p:nvPr>
            <p:ph type="body" sz="quarter" idx="1"/>
          </p:nvPr>
        </p:nvSpPr>
        <p:spPr>
          <a:prstGeom prst="rect">
            <a:avLst/>
          </a:prstGeom>
        </p:spPr>
        <p:txBody>
          <a:bodyPr/>
          <a:lstStyle/>
          <a:p>
            <a:pPr/>
            <a:r>
              <a:t>YOU DO — 9 minutes. Four clicks.</a:t>
            </a:r>
          </a:p>
          <a:p>
            <a:pPr/>
          </a:p>
          <a:p>
            <a:pPr/>
            <a:r>
              <a:t>CIRCULATE WITH ONE QUESTION: "show me where you took the sign with the term." If step 1 is missing, that is where the error will be.</a:t>
            </a:r>
          </a:p>
          <a:p>
            <a:pPr/>
          </a:p>
          <a:p>
            <a:pPr/>
            <a:r>
              <a:t>WHERE THEY WILL STALL: the Gold spot-the-error questions. Tell them to write what the student DID, not just what is right.</a:t>
            </a:r>
          </a:p>
          <a:p>
            <a:pPr/>
          </a:p>
          <a:p>
            <a:pPr/>
            <a:r>
              <a:t>AT 2 MINUTES REMAINING, stop them. The plenary settles the hook.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Shape 360"/>
          <p:cNvSpPr/>
          <p:nvPr>
            <p:ph type="sldImg"/>
          </p:nvPr>
        </p:nvSpPr>
        <p:spPr>
          <a:prstGeom prst="rect">
            <a:avLst/>
          </a:prstGeom>
        </p:spPr>
        <p:txBody>
          <a:bodyPr/>
          <a:lstStyle/>
          <a:p>
            <a:pPr/>
          </a:p>
        </p:txBody>
      </p:sp>
      <p:sp>
        <p:nvSpPr>
          <p:cNvPr id="361" name="Shape 361"/>
          <p:cNvSpPr/>
          <p:nvPr>
            <p:ph type="body" sz="quarter" idx="1"/>
          </p:nvPr>
        </p:nvSpPr>
        <p:spPr>
          <a:prstGeom prst="rect">
            <a:avLst/>
          </a:prstGeom>
        </p:spPr>
        <p:txBody>
          <a:bodyPr/>
          <a:lstStyle/>
          <a:p>
            <a:pPr/>
            <a:r>
              <a:t>PLENARY — 3 minutes. Eleven clicks: statement, then verdict and reason together, then the closing line.</a:t>
            </a:r>
          </a:p>
          <a:p>
            <a:pPr/>
          </a:p>
          <a:p>
            <a:pPr/>
            <a:r>
              <a:t>Q1 SETTLES THE HOOK. Go back to the tally on the board first. If a chunk of the room voted A, say so kindly — it is the most natural wrong answer in algebra and everybody makes it once.</a:t>
            </a:r>
          </a:p>
          <a:p>
            <a:pPr/>
          </a:p>
          <a:p>
            <a:pPr/>
            <a:r>
              <a:t>Every FALSE here is a misconception from the hidden teacher slide.</a:t>
            </a:r>
          </a:p>
          <a:p>
            <a:pPr/>
          </a:p>
          <a:p>
            <a:pPr/>
            <a:r>
              <a:t>Q5 is the one to watch. If the room splits, that is your Do Now for next lesson, because expanding brackets will expose it immediately.</a:t>
            </a:r>
          </a:p>
          <a:p>
            <a:pPr/>
          </a:p>
          <a:p>
            <a:pPr/>
            <a:r>
              <a:t>STOP HERE. Brackets are next lesson.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20" name="teach_flag"/>
          <p:cNvSpPr txBox="1"/>
          <p:nvPr/>
        </p:nvSpPr>
        <p:spPr>
          <a:xfrm>
            <a:off x="548640" y="274827"/>
            <a:ext cx="4572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800">
                <a:solidFill>
                  <a:srgbClr val="C0392B"/>
                </a:solidFill>
                <a:latin typeface="Arial"/>
                <a:ea typeface="Arial"/>
                <a:cs typeface="Arial"/>
                <a:sym typeface="Arial"/>
              </a:defRPr>
            </a:lvl1pPr>
          </a:lstStyle>
          <a:p>
            <a:pPr/>
            <a:r>
              <a:t>TEACHER ONLY — hidden in slideshow</a:t>
            </a:r>
          </a:p>
        </p:txBody>
      </p:sp>
      <p:sp>
        <p:nvSpPr>
          <p:cNvPr id="21" name="teach_meta"/>
          <p:cNvSpPr txBox="1"/>
          <p:nvPr/>
        </p:nvSpPr>
        <p:spPr>
          <a:xfrm>
            <a:off x="4571999" y="274827"/>
            <a:ext cx="40233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5E5A70"/>
                </a:solidFill>
                <a:latin typeface="Arial"/>
                <a:ea typeface="Arial"/>
                <a:cs typeface="Arial"/>
                <a:sym typeface="Arial"/>
              </a:defRPr>
            </a:lvl1pPr>
          </a:lstStyle>
          <a:p>
            <a:pPr/>
            <a:r>
              <a:t>Y8 Maths · Algebra · L1 of 3 · 50 minutes</a:t>
            </a:r>
          </a:p>
        </p:txBody>
      </p:sp>
      <p:sp>
        <p:nvSpPr>
          <p:cNvPr id="22" name="teach_title"/>
          <p:cNvSpPr txBox="1"/>
          <p:nvPr/>
        </p:nvSpPr>
        <p:spPr>
          <a:xfrm>
            <a:off x="548640" y="568706"/>
            <a:ext cx="804671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B2350"/>
                </a:solidFill>
                <a:latin typeface="Georgia"/>
                <a:ea typeface="Georgia"/>
                <a:cs typeface="Georgia"/>
                <a:sym typeface="Georgia"/>
              </a:defRPr>
            </a:lvl1pPr>
          </a:lstStyle>
          <a:p>
            <a:pPr/>
            <a:r>
              <a:t>Collecting like terms — and the one mistake that survives to GCSE</a:t>
            </a:r>
          </a:p>
        </p:txBody>
      </p:sp>
      <p:sp>
        <p:nvSpPr>
          <p:cNvPr id="23" name="teach_col0_bg"/>
          <p:cNvSpPr/>
          <p:nvPr/>
        </p:nvSpPr>
        <p:spPr>
          <a:xfrm>
            <a:off x="548639" y="969263"/>
            <a:ext cx="2560322" cy="3863342"/>
          </a:xfrm>
          <a:prstGeom prst="rect">
            <a:avLst/>
          </a:prstGeom>
          <a:solidFill>
            <a:srgbClr val="F6F5FA"/>
          </a:solidFill>
          <a:ln w="12700">
            <a:solidFill>
              <a:srgbClr val="DAD6E8"/>
            </a:solidFill>
          </a:ln>
        </p:spPr>
        <p:txBody>
          <a:bodyPr lIns="45719" rIns="45719"/>
          <a:lstStyle/>
          <a:p>
            <a:pPr/>
          </a:p>
        </p:txBody>
      </p:sp>
      <p:sp>
        <p:nvSpPr>
          <p:cNvPr id="24" name="teach_col0_h"/>
          <p:cNvSpPr txBox="1"/>
          <p:nvPr/>
        </p:nvSpPr>
        <p:spPr>
          <a:xfrm>
            <a:off x="676655" y="1125219"/>
            <a:ext cx="23042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90" sz="800">
                <a:solidFill>
                  <a:srgbClr val="2B2350"/>
                </a:solidFill>
                <a:latin typeface="Arial"/>
                <a:ea typeface="Arial"/>
                <a:cs typeface="Arial"/>
                <a:sym typeface="Arial"/>
              </a:defRPr>
            </a:lvl1pPr>
          </a:lstStyle>
          <a:p>
            <a:pPr/>
            <a:r>
              <a:t>PRIOR KNOWLEDGE</a:t>
            </a:r>
          </a:p>
        </p:txBody>
      </p:sp>
      <p:sp>
        <p:nvSpPr>
          <p:cNvPr id="25" name="teach_col0_b"/>
          <p:cNvSpPr txBox="1"/>
          <p:nvPr/>
        </p:nvSpPr>
        <p:spPr>
          <a:xfrm>
            <a:off x="676655" y="1316735"/>
            <a:ext cx="2304289" cy="21676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900"/>
              </a:lnSpc>
              <a:defRPr sz="700">
                <a:solidFill>
                  <a:srgbClr val="2B2350"/>
                </a:solidFill>
                <a:latin typeface="Arial"/>
                <a:ea typeface="Arial"/>
                <a:cs typeface="Arial"/>
                <a:sym typeface="Arial"/>
              </a:defRPr>
            </a:pPr>
            <a:r>
              <a:t>• Negative numbers: −5 + 3, and subtracting a bigger number. Do Now Q1 and Q2 check it. Today falls apart without it.</a:t>
            </a:r>
          </a:p>
          <a:p>
            <a:pPr>
              <a:lnSpc>
                <a:spcPts val="900"/>
              </a:lnSpc>
              <a:defRPr sz="700">
                <a:solidFill>
                  <a:srgbClr val="2B2350"/>
                </a:solidFill>
                <a:latin typeface="Arial"/>
                <a:ea typeface="Arial"/>
                <a:cs typeface="Arial"/>
                <a:sym typeface="Arial"/>
              </a:defRPr>
            </a:pPr>
            <a:r>
              <a:t>• That 3a means 3 × a. Many will half-know this. Say it in the first two minutes.</a:t>
            </a:r>
          </a:p>
          <a:p>
            <a:pPr>
              <a:lnSpc>
                <a:spcPts val="900"/>
              </a:lnSpc>
              <a:defRPr sz="700">
                <a:solidFill>
                  <a:srgbClr val="2B2350"/>
                </a:solidFill>
                <a:latin typeface="Arial"/>
                <a:ea typeface="Arial"/>
                <a:cs typeface="Arial"/>
                <a:sym typeface="Arial"/>
              </a:defRPr>
            </a:pPr>
            <a:r>
              <a:t>• Index notation: a² means a × a. Needed for the a-versus-a² trap on slide 8.</a:t>
            </a:r>
          </a:p>
          <a:p>
            <a:pPr>
              <a:lnSpc>
                <a:spcPts val="900"/>
              </a:lnSpc>
              <a:defRPr sz="700"/>
            </a:pPr>
          </a:p>
          <a:p>
            <a:pPr>
              <a:lnSpc>
                <a:spcPts val="900"/>
              </a:lnSpc>
              <a:defRPr sz="700">
                <a:solidFill>
                  <a:srgbClr val="2B2350"/>
                </a:solidFill>
                <a:latin typeface="Arial"/>
                <a:ea typeface="Arial"/>
                <a:cs typeface="Arial"/>
                <a:sym typeface="Arial"/>
              </a:defRPr>
            </a:pPr>
            <a:r>
              <a:t>NOT ASSUMED: brackets. That is Lesson 2, and today is what makes Lesson 2 possible.</a:t>
            </a:r>
          </a:p>
          <a:p>
            <a:pPr>
              <a:lnSpc>
                <a:spcPts val="900"/>
              </a:lnSpc>
              <a:defRPr sz="700"/>
            </a:pPr>
          </a:p>
          <a:p>
            <a:pPr>
              <a:lnSpc>
                <a:spcPts val="900"/>
              </a:lnSpc>
              <a:defRPr sz="700">
                <a:solidFill>
                  <a:srgbClr val="2B2350"/>
                </a:solidFill>
                <a:latin typeface="Arial"/>
                <a:ea typeface="Arial"/>
                <a:cs typeface="Arial"/>
                <a:sym typeface="Arial"/>
              </a:defRPr>
            </a:pPr>
            <a:r>
              <a:t>THE THREE LESSONS:</a:t>
            </a:r>
          </a:p>
          <a:p>
            <a:pPr>
              <a:lnSpc>
                <a:spcPts val="900"/>
              </a:lnSpc>
              <a:defRPr sz="700">
                <a:solidFill>
                  <a:srgbClr val="2B2350"/>
                </a:solidFill>
                <a:latin typeface="Arial"/>
                <a:ea typeface="Arial"/>
                <a:cs typeface="Arial"/>
                <a:sym typeface="Arial"/>
              </a:defRPr>
            </a:pPr>
            <a:r>
              <a:t>1 Collecting like terms</a:t>
            </a:r>
          </a:p>
          <a:p>
            <a:pPr>
              <a:lnSpc>
                <a:spcPts val="900"/>
              </a:lnSpc>
              <a:defRPr sz="700">
                <a:solidFill>
                  <a:srgbClr val="2B2350"/>
                </a:solidFill>
                <a:latin typeface="Arial"/>
                <a:ea typeface="Arial"/>
                <a:cs typeface="Arial"/>
                <a:sym typeface="Arial"/>
              </a:defRPr>
            </a:pPr>
            <a:r>
              <a:t>2 Expanding single brackets</a:t>
            </a:r>
          </a:p>
          <a:p>
            <a:pPr>
              <a:lnSpc>
                <a:spcPts val="900"/>
              </a:lnSpc>
              <a:defRPr sz="700">
                <a:solidFill>
                  <a:srgbClr val="2B2350"/>
                </a:solidFill>
                <a:latin typeface="Arial"/>
                <a:ea typeface="Arial"/>
                <a:cs typeface="Arial"/>
                <a:sym typeface="Arial"/>
              </a:defRPr>
            </a:pPr>
            <a:r>
              <a:t>3 Expand AND simplify</a:t>
            </a:r>
          </a:p>
          <a:p>
            <a:pPr>
              <a:lnSpc>
                <a:spcPts val="900"/>
              </a:lnSpc>
              <a:defRPr sz="700"/>
            </a:pPr>
          </a:p>
          <a:p>
            <a:pPr>
              <a:lnSpc>
                <a:spcPts val="900"/>
              </a:lnSpc>
              <a:defRPr sz="700">
                <a:solidFill>
                  <a:srgbClr val="2B2350"/>
                </a:solidFill>
                <a:latin typeface="Arial"/>
                <a:ea typeface="Arial"/>
                <a:cs typeface="Arial"/>
                <a:sym typeface="Arial"/>
              </a:defRPr>
            </a:pPr>
            <a:r>
              <a:t>Lesson 3 is not padding. Expanding and then collecting is where nearly all the marks go missing, and it needs its own hour.</a:t>
            </a:r>
          </a:p>
        </p:txBody>
      </p:sp>
      <p:sp>
        <p:nvSpPr>
          <p:cNvPr id="26" name="teach_col1_bg"/>
          <p:cNvSpPr/>
          <p:nvPr/>
        </p:nvSpPr>
        <p:spPr>
          <a:xfrm>
            <a:off x="3291840" y="969263"/>
            <a:ext cx="2560321" cy="3863342"/>
          </a:xfrm>
          <a:prstGeom prst="rect">
            <a:avLst/>
          </a:prstGeom>
          <a:solidFill>
            <a:srgbClr val="FDF0EE"/>
          </a:solidFill>
          <a:ln w="12700">
            <a:solidFill>
              <a:srgbClr val="E85D4A"/>
            </a:solidFill>
          </a:ln>
        </p:spPr>
        <p:txBody>
          <a:bodyPr lIns="45719" rIns="45719"/>
          <a:lstStyle/>
          <a:p>
            <a:pPr/>
          </a:p>
        </p:txBody>
      </p:sp>
      <p:sp>
        <p:nvSpPr>
          <p:cNvPr id="27" name="teach_col1_h"/>
          <p:cNvSpPr txBox="1"/>
          <p:nvPr/>
        </p:nvSpPr>
        <p:spPr>
          <a:xfrm>
            <a:off x="3419855" y="1125219"/>
            <a:ext cx="23042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90" sz="800">
                <a:solidFill>
                  <a:srgbClr val="E85D4A"/>
                </a:solidFill>
                <a:latin typeface="Arial"/>
                <a:ea typeface="Arial"/>
                <a:cs typeface="Arial"/>
                <a:sym typeface="Arial"/>
              </a:defRPr>
            </a:lvl1pPr>
          </a:lstStyle>
          <a:p>
            <a:pPr/>
            <a:r>
              <a:t>MISCONCEPTIONS  (wrong → right)</a:t>
            </a:r>
          </a:p>
        </p:txBody>
      </p:sp>
      <p:sp>
        <p:nvSpPr>
          <p:cNvPr id="28" name="teach_col1_b"/>
          <p:cNvSpPr txBox="1"/>
          <p:nvPr/>
        </p:nvSpPr>
        <p:spPr>
          <a:xfrm>
            <a:off x="3419855" y="1316735"/>
            <a:ext cx="2304289" cy="21676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900"/>
              </a:lnSpc>
              <a:defRPr sz="700">
                <a:solidFill>
                  <a:srgbClr val="2B2350"/>
                </a:solidFill>
                <a:latin typeface="Arial"/>
                <a:ea typeface="Arial"/>
                <a:cs typeface="Arial"/>
                <a:sym typeface="Arial"/>
              </a:defRPr>
            </a:pPr>
            <a:r>
              <a:t>✗ 3a + 2b = 5ab</a:t>
            </a:r>
          </a:p>
          <a:p>
            <a:pPr>
              <a:lnSpc>
                <a:spcPts val="900"/>
              </a:lnSpc>
              <a:defRPr sz="700">
                <a:solidFill>
                  <a:srgbClr val="2B2350"/>
                </a:solidFill>
                <a:latin typeface="Arial"/>
                <a:ea typeface="Arial"/>
                <a:cs typeface="Arial"/>
                <a:sym typeface="Arial"/>
              </a:defRPr>
            </a:pPr>
            <a:r>
              <a:t>→ Cannot be simplified. THE error of the topic. Slides 5 and 13 both exist for it.</a:t>
            </a:r>
          </a:p>
          <a:p>
            <a:pPr>
              <a:lnSpc>
                <a:spcPts val="900"/>
              </a:lnSpc>
              <a:defRPr sz="700"/>
            </a:pPr>
          </a:p>
          <a:p>
            <a:pPr>
              <a:lnSpc>
                <a:spcPts val="900"/>
              </a:lnSpc>
              <a:defRPr sz="700">
                <a:solidFill>
                  <a:srgbClr val="2B2350"/>
                </a:solidFill>
                <a:latin typeface="Arial"/>
                <a:ea typeface="Arial"/>
                <a:cs typeface="Arial"/>
                <a:sym typeface="Arial"/>
              </a:defRPr>
            </a:pPr>
            <a:r>
              <a:t>✗ 3a + 4 = 7a</a:t>
            </a:r>
          </a:p>
          <a:p>
            <a:pPr>
              <a:lnSpc>
                <a:spcPts val="900"/>
              </a:lnSpc>
              <a:defRPr sz="700">
                <a:solidFill>
                  <a:srgbClr val="2B2350"/>
                </a:solidFill>
                <a:latin typeface="Arial"/>
                <a:ea typeface="Arial"/>
                <a:cs typeface="Arial"/>
                <a:sym typeface="Arial"/>
              </a:defRPr>
            </a:pPr>
            <a:r>
              <a:t>→ A number is not a lot of a.</a:t>
            </a:r>
          </a:p>
          <a:p>
            <a:pPr>
              <a:lnSpc>
                <a:spcPts val="900"/>
              </a:lnSpc>
              <a:defRPr sz="700"/>
            </a:pPr>
          </a:p>
          <a:p>
            <a:pPr>
              <a:lnSpc>
                <a:spcPts val="900"/>
              </a:lnSpc>
              <a:defRPr sz="700">
                <a:solidFill>
                  <a:srgbClr val="2B2350"/>
                </a:solidFill>
                <a:latin typeface="Arial"/>
                <a:ea typeface="Arial"/>
                <a:cs typeface="Arial"/>
                <a:sym typeface="Arial"/>
              </a:defRPr>
            </a:pPr>
            <a:r>
              <a:t>✗ a² + a = a³, or 2a²</a:t>
            </a:r>
          </a:p>
          <a:p>
            <a:pPr>
              <a:lnSpc>
                <a:spcPts val="900"/>
              </a:lnSpc>
              <a:defRPr sz="700">
                <a:solidFill>
                  <a:srgbClr val="2B2350"/>
                </a:solidFill>
                <a:latin typeface="Arial"/>
                <a:ea typeface="Arial"/>
                <a:cs typeface="Arial"/>
                <a:sym typeface="Arial"/>
              </a:defRPr>
            </a:pPr>
            <a:r>
              <a:t>→ a² and a are not like terms. Different powers, different piles.</a:t>
            </a:r>
          </a:p>
          <a:p>
            <a:pPr>
              <a:lnSpc>
                <a:spcPts val="900"/>
              </a:lnSpc>
              <a:defRPr sz="700"/>
            </a:pPr>
          </a:p>
          <a:p>
            <a:pPr>
              <a:lnSpc>
                <a:spcPts val="900"/>
              </a:lnSpc>
              <a:defRPr sz="700">
                <a:solidFill>
                  <a:srgbClr val="2B2350"/>
                </a:solidFill>
                <a:latin typeface="Arial"/>
                <a:ea typeface="Arial"/>
                <a:cs typeface="Arial"/>
                <a:sym typeface="Arial"/>
              </a:defRPr>
            </a:pPr>
            <a:r>
              <a:t>✗ 5x − 2x = 3</a:t>
            </a:r>
          </a:p>
          <a:p>
            <a:pPr>
              <a:lnSpc>
                <a:spcPts val="900"/>
              </a:lnSpc>
              <a:defRPr sz="700">
                <a:solidFill>
                  <a:srgbClr val="2B2350"/>
                </a:solidFill>
                <a:latin typeface="Arial"/>
                <a:ea typeface="Arial"/>
                <a:cs typeface="Arial"/>
                <a:sym typeface="Arial"/>
              </a:defRPr>
            </a:pPr>
            <a:r>
              <a:t>→ 3x. The x does not disappear.</a:t>
            </a:r>
          </a:p>
          <a:p>
            <a:pPr>
              <a:lnSpc>
                <a:spcPts val="900"/>
              </a:lnSpc>
              <a:defRPr sz="700"/>
            </a:pPr>
          </a:p>
          <a:p>
            <a:pPr>
              <a:lnSpc>
                <a:spcPts val="900"/>
              </a:lnSpc>
              <a:defRPr sz="700">
                <a:solidFill>
                  <a:srgbClr val="2B2350"/>
                </a:solidFill>
                <a:latin typeface="Arial"/>
                <a:ea typeface="Arial"/>
                <a:cs typeface="Arial"/>
                <a:sym typeface="Arial"/>
              </a:defRPr>
            </a:pPr>
            <a:r>
              <a:t>✗ The minus belongs to the term BEFORE it.</a:t>
            </a:r>
          </a:p>
          <a:p>
            <a:pPr>
              <a:lnSpc>
                <a:spcPts val="900"/>
              </a:lnSpc>
              <a:defRPr sz="700">
                <a:solidFill>
                  <a:srgbClr val="2B2350"/>
                </a:solidFill>
                <a:latin typeface="Arial"/>
                <a:ea typeface="Arial"/>
                <a:cs typeface="Arial"/>
                <a:sym typeface="Arial"/>
              </a:defRPr>
            </a:pPr>
            <a:r>
              <a:t>→ It belongs to the term after. Slide 9 is built on this.</a:t>
            </a:r>
          </a:p>
          <a:p>
            <a:pPr>
              <a:lnSpc>
                <a:spcPts val="900"/>
              </a:lnSpc>
              <a:defRPr sz="700"/>
            </a:pPr>
          </a:p>
          <a:p>
            <a:pPr>
              <a:lnSpc>
                <a:spcPts val="900"/>
              </a:lnSpc>
              <a:defRPr sz="700">
                <a:solidFill>
                  <a:srgbClr val="2B2350"/>
                </a:solidFill>
                <a:latin typeface="Arial"/>
                <a:ea typeface="Arial"/>
                <a:cs typeface="Arial"/>
                <a:sym typeface="Arial"/>
              </a:defRPr>
            </a:pPr>
            <a:r>
              <a:t>✗ ab and ba are different terms.</a:t>
            </a:r>
          </a:p>
          <a:p>
            <a:pPr>
              <a:lnSpc>
                <a:spcPts val="900"/>
              </a:lnSpc>
              <a:defRPr sz="700">
                <a:solidFill>
                  <a:srgbClr val="2B2350"/>
                </a:solidFill>
                <a:latin typeface="Arial"/>
                <a:ea typeface="Arial"/>
                <a:cs typeface="Arial"/>
                <a:sym typeface="Arial"/>
              </a:defRPr>
            </a:pPr>
            <a:r>
              <a:t>→ Same thing. Multiplication does not care about order.</a:t>
            </a:r>
          </a:p>
        </p:txBody>
      </p:sp>
      <p:sp>
        <p:nvSpPr>
          <p:cNvPr id="29" name="teach_col2_bg"/>
          <p:cNvSpPr/>
          <p:nvPr/>
        </p:nvSpPr>
        <p:spPr>
          <a:xfrm>
            <a:off x="6035040" y="969263"/>
            <a:ext cx="2560321" cy="3863342"/>
          </a:xfrm>
          <a:prstGeom prst="rect">
            <a:avLst/>
          </a:prstGeom>
          <a:solidFill>
            <a:srgbClr val="F6F5FA"/>
          </a:solidFill>
          <a:ln w="12700">
            <a:solidFill>
              <a:srgbClr val="DAD6E8"/>
            </a:solidFill>
          </a:ln>
        </p:spPr>
        <p:txBody>
          <a:bodyPr lIns="45719" rIns="45719"/>
          <a:lstStyle/>
          <a:p>
            <a:pPr/>
          </a:p>
        </p:txBody>
      </p:sp>
      <p:sp>
        <p:nvSpPr>
          <p:cNvPr id="30" name="teach_col2_h"/>
          <p:cNvSpPr txBox="1"/>
          <p:nvPr/>
        </p:nvSpPr>
        <p:spPr>
          <a:xfrm>
            <a:off x="6163055" y="1125219"/>
            <a:ext cx="23042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90" sz="800">
                <a:solidFill>
                  <a:srgbClr val="2B2350"/>
                </a:solidFill>
                <a:latin typeface="Arial"/>
                <a:ea typeface="Arial"/>
                <a:cs typeface="Arial"/>
                <a:sym typeface="Arial"/>
              </a:defRPr>
            </a:lvl1pPr>
          </a:lstStyle>
          <a:p>
            <a:pPr/>
            <a:r>
              <a:t>LESSON FLOW  (50 min)</a:t>
            </a:r>
          </a:p>
        </p:txBody>
      </p:sp>
      <p:sp>
        <p:nvSpPr>
          <p:cNvPr id="31" name="teach_col2_b"/>
          <p:cNvSpPr txBox="1"/>
          <p:nvPr/>
        </p:nvSpPr>
        <p:spPr>
          <a:xfrm>
            <a:off x="6163055" y="1316735"/>
            <a:ext cx="2304289" cy="23962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900"/>
              </a:lnSpc>
              <a:defRPr sz="700">
                <a:solidFill>
                  <a:srgbClr val="2B2350"/>
                </a:solidFill>
                <a:latin typeface="Arial"/>
                <a:ea typeface="Arial"/>
                <a:cs typeface="Arial"/>
                <a:sym typeface="Arial"/>
              </a:defRPr>
            </a:pPr>
            <a:r>
              <a:t>Objectives — 1</a:t>
            </a:r>
          </a:p>
          <a:p>
            <a:pPr>
              <a:lnSpc>
                <a:spcPts val="900"/>
              </a:lnSpc>
              <a:defRPr sz="700">
                <a:solidFill>
                  <a:srgbClr val="2B2350"/>
                </a:solidFill>
                <a:latin typeface="Arial"/>
                <a:ea typeface="Arial"/>
                <a:cs typeface="Arial"/>
                <a:sym typeface="Arial"/>
              </a:defRPr>
            </a:pPr>
            <a:r>
              <a:t>Do Now — 5</a:t>
            </a:r>
          </a:p>
          <a:p>
            <a:pPr>
              <a:lnSpc>
                <a:spcPts val="900"/>
              </a:lnSpc>
              <a:defRPr sz="700">
                <a:solidFill>
                  <a:srgbClr val="2B2350"/>
                </a:solidFill>
                <a:latin typeface="Arial"/>
                <a:ea typeface="Arial"/>
                <a:cs typeface="Arial"/>
                <a:sym typeface="Arial"/>
              </a:defRPr>
            </a:pPr>
            <a:r>
              <a:t>Hook: 3a + 2b — 4</a:t>
            </a:r>
          </a:p>
          <a:p>
            <a:pPr>
              <a:lnSpc>
                <a:spcPts val="900"/>
              </a:lnSpc>
              <a:defRPr sz="700">
                <a:solidFill>
                  <a:srgbClr val="2B2350"/>
                </a:solidFill>
                <a:latin typeface="Arial"/>
                <a:ea typeface="Arial"/>
                <a:cs typeface="Arial"/>
                <a:sym typeface="Arial"/>
              </a:defRPr>
            </a:pPr>
            <a:r>
              <a:t>I Do: what is a term — 4</a:t>
            </a:r>
          </a:p>
          <a:p>
            <a:pPr>
              <a:lnSpc>
                <a:spcPts val="900"/>
              </a:lnSpc>
              <a:defRPr sz="700">
                <a:solidFill>
                  <a:srgbClr val="2B2350"/>
                </a:solidFill>
                <a:latin typeface="Arial"/>
                <a:ea typeface="Arial"/>
                <a:cs typeface="Arial"/>
                <a:sym typeface="Arial"/>
              </a:defRPr>
            </a:pPr>
            <a:r>
              <a:t>I Do: like terms — 4</a:t>
            </a:r>
          </a:p>
          <a:p>
            <a:pPr>
              <a:lnSpc>
                <a:spcPts val="900"/>
              </a:lnSpc>
              <a:defRPr sz="700">
                <a:solidFill>
                  <a:srgbClr val="2B2350"/>
                </a:solidFill>
                <a:latin typeface="Arial"/>
                <a:ea typeface="Arial"/>
                <a:cs typeface="Arial"/>
                <a:sym typeface="Arial"/>
              </a:defRPr>
            </a:pPr>
            <a:r>
              <a:t>We Do: like or not? — 5</a:t>
            </a:r>
          </a:p>
          <a:p>
            <a:pPr>
              <a:lnSpc>
                <a:spcPts val="900"/>
              </a:lnSpc>
              <a:defRPr sz="700">
                <a:solidFill>
                  <a:srgbClr val="2B2350"/>
                </a:solidFill>
                <a:latin typeface="Arial"/>
                <a:ea typeface="Arial"/>
                <a:cs typeface="Arial"/>
                <a:sym typeface="Arial"/>
              </a:defRPr>
            </a:pPr>
            <a:r>
              <a:t>I Do: collecting, with signs — 6</a:t>
            </a:r>
          </a:p>
          <a:p>
            <a:pPr>
              <a:lnSpc>
                <a:spcPts val="900"/>
              </a:lnSpc>
              <a:defRPr sz="700">
                <a:solidFill>
                  <a:srgbClr val="2B2350"/>
                </a:solidFill>
                <a:latin typeface="Arial"/>
                <a:ea typeface="Arial"/>
                <a:cs typeface="Arial"/>
                <a:sym typeface="Arial"/>
              </a:defRPr>
            </a:pPr>
            <a:r>
              <a:t>We Do: simplify these — 6</a:t>
            </a:r>
          </a:p>
          <a:p>
            <a:pPr>
              <a:lnSpc>
                <a:spcPts val="900"/>
              </a:lnSpc>
              <a:defRPr sz="700">
                <a:solidFill>
                  <a:srgbClr val="2B2350"/>
                </a:solidFill>
                <a:latin typeface="Arial"/>
                <a:ea typeface="Arial"/>
                <a:cs typeface="Arial"/>
                <a:sym typeface="Arial"/>
              </a:defRPr>
            </a:pPr>
            <a:r>
              <a:t>Where you use it — 3</a:t>
            </a:r>
          </a:p>
          <a:p>
            <a:pPr>
              <a:lnSpc>
                <a:spcPts val="900"/>
              </a:lnSpc>
              <a:defRPr sz="700">
                <a:solidFill>
                  <a:srgbClr val="2B2350"/>
                </a:solidFill>
                <a:latin typeface="Arial"/>
                <a:ea typeface="Arial"/>
                <a:cs typeface="Arial"/>
                <a:sym typeface="Arial"/>
              </a:defRPr>
            </a:pPr>
            <a:r>
              <a:t>You Do: worksheet — 9</a:t>
            </a:r>
          </a:p>
          <a:p>
            <a:pPr>
              <a:lnSpc>
                <a:spcPts val="900"/>
              </a:lnSpc>
              <a:defRPr sz="700">
                <a:solidFill>
                  <a:srgbClr val="2B2350"/>
                </a:solidFill>
                <a:latin typeface="Arial"/>
                <a:ea typeface="Arial"/>
                <a:cs typeface="Arial"/>
                <a:sym typeface="Arial"/>
              </a:defRPr>
            </a:pPr>
            <a:r>
              <a:t>Plenary: true or false — 3</a:t>
            </a:r>
          </a:p>
          <a:p>
            <a:pPr>
              <a:lnSpc>
                <a:spcPts val="900"/>
              </a:lnSpc>
              <a:defRPr sz="700">
                <a:solidFill>
                  <a:srgbClr val="2B2350"/>
                </a:solidFill>
                <a:latin typeface="Arial"/>
                <a:ea typeface="Arial"/>
                <a:cs typeface="Arial"/>
                <a:sym typeface="Arial"/>
              </a:defRPr>
            </a:pPr>
            <a:r>
              <a:t>──────────────</a:t>
            </a:r>
          </a:p>
          <a:p>
            <a:pPr>
              <a:lnSpc>
                <a:spcPts val="900"/>
              </a:lnSpc>
              <a:defRPr sz="700">
                <a:solidFill>
                  <a:srgbClr val="2B2350"/>
                </a:solidFill>
                <a:latin typeface="Arial"/>
                <a:ea typeface="Arial"/>
                <a:cs typeface="Arial"/>
                <a:sym typeface="Arial"/>
              </a:defRPr>
            </a:pPr>
            <a:r>
              <a:t>TOTAL 50 min</a:t>
            </a:r>
          </a:p>
          <a:p>
            <a:pPr>
              <a:lnSpc>
                <a:spcPts val="900"/>
              </a:lnSpc>
              <a:defRPr sz="700"/>
            </a:pPr>
          </a:p>
          <a:p>
            <a:pPr>
              <a:lnSpc>
                <a:spcPts val="900"/>
              </a:lnSpc>
              <a:defRPr sz="700">
                <a:solidFill>
                  <a:srgbClr val="2B2350"/>
                </a:solidFill>
                <a:latin typeface="Arial"/>
                <a:ea typeface="Arial"/>
                <a:cs typeface="Arial"/>
                <a:sym typeface="Arial"/>
              </a:defRPr>
            </a:pPr>
            <a:r>
              <a:t>COLOUR IS THE TEACHING DEVICE. a-terms are green, b-terms are blue, all lesson. Use the same two colours on the board. Students who cannot yet see which terms are like can see which terms match.</a:t>
            </a:r>
          </a:p>
          <a:p>
            <a:pPr>
              <a:lnSpc>
                <a:spcPts val="900"/>
              </a:lnSpc>
              <a:defRPr sz="700"/>
            </a:pPr>
          </a:p>
          <a:p>
            <a:pPr>
              <a:lnSpc>
                <a:spcPts val="900"/>
              </a:lnSpc>
              <a:defRPr sz="700">
                <a:solidFill>
                  <a:srgbClr val="2B2350"/>
                </a:solidFill>
                <a:latin typeface="Arial"/>
                <a:ea typeface="Arial"/>
                <a:cs typeface="Arial"/>
                <a:sym typeface="Arial"/>
              </a:defRPr>
            </a:pPr>
            <a:r>
              <a:t>IF YOU ARE SHORT: cut slide 11 (perimeter). Do not cut slide 9.</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B2350"/>
        </a:solidFill>
      </p:bgPr>
    </p:bg>
    <p:spTree>
      <p:nvGrpSpPr>
        <p:cNvPr id="1" name=""/>
        <p:cNvGrpSpPr/>
        <p:nvPr/>
      </p:nvGrpSpPr>
      <p:grpSpPr>
        <a:xfrm>
          <a:off x="0" y="0"/>
          <a:ext cx="0" cy="0"/>
          <a:chOff x="0" y="0"/>
          <a:chExt cx="0" cy="0"/>
        </a:xfrm>
      </p:grpSpPr>
      <p:sp>
        <p:nvSpPr>
          <p:cNvPr id="35" name="title_kicker"/>
          <p:cNvSpPr txBox="1"/>
          <p:nvPr/>
        </p:nvSpPr>
        <p:spPr>
          <a:xfrm>
            <a:off x="548639" y="1258107"/>
            <a:ext cx="585216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50" sz="1000">
                <a:solidFill>
                  <a:srgbClr val="E85D4A"/>
                </a:solidFill>
                <a:latin typeface="Arial"/>
                <a:ea typeface="Arial"/>
                <a:cs typeface="Arial"/>
                <a:sym typeface="Arial"/>
              </a:defRPr>
            </a:lvl1pPr>
          </a:lstStyle>
          <a:p>
            <a:pPr/>
            <a:r>
              <a:t>Y8 MATHS  ·  ALGEBRA  ·  LESSON 1 OF 3</a:t>
            </a:r>
          </a:p>
        </p:txBody>
      </p:sp>
      <p:sp>
        <p:nvSpPr>
          <p:cNvPr id="36" name="title_main"/>
          <p:cNvSpPr txBox="1"/>
          <p:nvPr/>
        </p:nvSpPr>
        <p:spPr>
          <a:xfrm>
            <a:off x="548639" y="1667957"/>
            <a:ext cx="5852162" cy="116293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4600"/>
              </a:lnSpc>
              <a:defRPr b="1" sz="4000">
                <a:solidFill>
                  <a:srgbClr val="FFFFFF"/>
                </a:solidFill>
                <a:latin typeface="Georgia"/>
                <a:ea typeface="Georgia"/>
                <a:cs typeface="Georgia"/>
                <a:sym typeface="Georgia"/>
              </a:defRPr>
            </a:pPr>
            <a:r>
              <a:t>Collecting</a:t>
            </a:r>
          </a:p>
          <a:p>
            <a:pPr>
              <a:lnSpc>
                <a:spcPts val="4600"/>
              </a:lnSpc>
              <a:defRPr b="1" sz="4000">
                <a:solidFill>
                  <a:srgbClr val="FFFFFF"/>
                </a:solidFill>
                <a:latin typeface="Georgia"/>
                <a:ea typeface="Georgia"/>
                <a:cs typeface="Georgia"/>
                <a:sym typeface="Georgia"/>
              </a:defRPr>
            </a:pPr>
            <a:r>
              <a:t>like terms</a:t>
            </a:r>
          </a:p>
        </p:txBody>
      </p:sp>
      <p:sp>
        <p:nvSpPr>
          <p:cNvPr id="37" name="title_sub"/>
          <p:cNvSpPr txBox="1"/>
          <p:nvPr/>
        </p:nvSpPr>
        <p:spPr>
          <a:xfrm>
            <a:off x="548639" y="3127248"/>
            <a:ext cx="5852162" cy="4666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900"/>
              </a:lnSpc>
              <a:defRPr sz="1200">
                <a:solidFill>
                  <a:srgbClr val="C9C3EA"/>
                </a:solidFill>
                <a:latin typeface="Arial"/>
                <a:ea typeface="Arial"/>
                <a:cs typeface="Arial"/>
                <a:sym typeface="Arial"/>
              </a:defRPr>
            </a:pPr>
            <a:r>
              <a:t>Algebra is just arithmetic with the numbers hidden.</a:t>
            </a:r>
          </a:p>
          <a:p>
            <a:pPr>
              <a:lnSpc>
                <a:spcPts val="1900"/>
              </a:lnSpc>
              <a:defRPr sz="1200">
                <a:solidFill>
                  <a:srgbClr val="C9C3EA"/>
                </a:solidFill>
                <a:latin typeface="Arial"/>
                <a:ea typeface="Arial"/>
                <a:cs typeface="Arial"/>
                <a:sym typeface="Arial"/>
              </a:defRPr>
            </a:pPr>
            <a:r>
              <a:t>You already know how to do today’s maths.</a:t>
            </a:r>
          </a:p>
        </p:txBody>
      </p:sp>
      <p:sp>
        <p:nvSpPr>
          <p:cNvPr id="38" name="title_e1"/>
          <p:cNvSpPr txBox="1"/>
          <p:nvPr/>
        </p:nvSpPr>
        <p:spPr>
          <a:xfrm>
            <a:off x="5577840" y="1926081"/>
            <a:ext cx="310896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2200">
                <a:solidFill>
                  <a:srgbClr val="2E8B57"/>
                </a:solidFill>
                <a:latin typeface="Georgia"/>
                <a:ea typeface="Georgia"/>
                <a:cs typeface="Georgia"/>
                <a:sym typeface="Georgia"/>
              </a:defRPr>
            </a:pPr>
            <a:r>
              <a:t>3a</a:t>
            </a:r>
            <a:r>
              <a:rPr>
                <a:solidFill>
                  <a:srgbClr val="2B2350"/>
                </a:solidFill>
              </a:rPr>
              <a:t> + </a:t>
            </a:r>
            <a:r>
              <a:rPr>
                <a:solidFill>
                  <a:srgbClr val="1F6FB2"/>
                </a:solidFill>
              </a:rPr>
              <a:t>2b</a:t>
            </a:r>
            <a:r>
              <a:rPr>
                <a:solidFill>
                  <a:srgbClr val="2B2350"/>
                </a:solidFill>
              </a:rPr>
              <a:t> + </a:t>
            </a:r>
            <a:r>
              <a:t>5a</a:t>
            </a:r>
          </a:p>
        </p:txBody>
      </p:sp>
      <p:sp>
        <p:nvSpPr>
          <p:cNvPr id="39" name="title_arrow"/>
          <p:cNvSpPr txBox="1"/>
          <p:nvPr/>
        </p:nvSpPr>
        <p:spPr>
          <a:xfrm>
            <a:off x="5577840" y="2390992"/>
            <a:ext cx="3108961"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E85D4A"/>
                </a:solidFill>
                <a:latin typeface="Arial"/>
                <a:ea typeface="Arial"/>
                <a:cs typeface="Arial"/>
                <a:sym typeface="Arial"/>
              </a:defRPr>
            </a:lvl1pPr>
          </a:lstStyle>
          <a:p>
            <a:pPr/>
            <a:r>
              <a:t>↓</a:t>
            </a:r>
          </a:p>
        </p:txBody>
      </p:sp>
      <p:sp>
        <p:nvSpPr>
          <p:cNvPr id="40" name="title_e2"/>
          <p:cNvSpPr txBox="1"/>
          <p:nvPr/>
        </p:nvSpPr>
        <p:spPr>
          <a:xfrm>
            <a:off x="5577840" y="2822193"/>
            <a:ext cx="310896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2200">
                <a:solidFill>
                  <a:srgbClr val="2E8B57"/>
                </a:solidFill>
                <a:latin typeface="Georgia"/>
                <a:ea typeface="Georgia"/>
                <a:cs typeface="Georgia"/>
                <a:sym typeface="Georgia"/>
              </a:defRPr>
            </a:pPr>
            <a:r>
              <a:t>8a</a:t>
            </a:r>
            <a:r>
              <a:rPr>
                <a:solidFill>
                  <a:srgbClr val="2B2350"/>
                </a:solidFill>
              </a:rPr>
              <a:t> + </a:t>
            </a:r>
            <a:r>
              <a:rPr>
                <a:solidFill>
                  <a:srgbClr val="1F6FB2"/>
                </a:solidFill>
              </a:rPr>
              <a:t>2b</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35"/>
                                        </p:tgtEl>
                                        <p:attrNameLst>
                                          <p:attrName>style.visibility</p:attrName>
                                        </p:attrNameLst>
                                      </p:cBhvr>
                                      <p:to>
                                        <p:strVal val="visible"/>
                                      </p:to>
                                    </p:set>
                                    <p:animEffect filter="fade" transition="in">
                                      <p:cBhvr>
                                        <p:cTn id="7" dur="400"/>
                                        <p:tgtEl>
                                          <p:spTgt spid="35"/>
                                        </p:tgtEl>
                                      </p:cBhvr>
                                    </p:animEffect>
                                  </p:childTnLst>
                                </p:cTn>
                              </p:par>
                            </p:childTnLst>
                          </p:cTn>
                        </p:par>
                        <p:par>
                          <p:cTn id="8" fill="hold">
                            <p:stCondLst>
                              <p:cond delay="400"/>
                            </p:stCondLst>
                            <p:childTnLst>
                              <p:par>
                                <p:cTn id="9" presetClass="entr" nodeType="afterEffect" presetID="10" grpId="2" fill="hold">
                                  <p:stCondLst>
                                    <p:cond delay="150"/>
                                  </p:stCondLst>
                                  <p:iterate type="el" backwards="0">
                                    <p:tmAbs val="0"/>
                                  </p:iterate>
                                  <p:childTnLst>
                                    <p:set>
                                      <p:cBhvr>
                                        <p:cTn id="10" fill="hold"/>
                                        <p:tgtEl>
                                          <p:spTgt spid="36"/>
                                        </p:tgtEl>
                                        <p:attrNameLst>
                                          <p:attrName>style.visibility</p:attrName>
                                        </p:attrNameLst>
                                      </p:cBhvr>
                                      <p:to>
                                        <p:strVal val="visible"/>
                                      </p:to>
                                    </p:set>
                                    <p:animEffect filter="fade" transition="in">
                                      <p:cBhvr>
                                        <p:cTn id="11" dur="400"/>
                                        <p:tgtEl>
                                          <p:spTgt spid="36"/>
                                        </p:tgtEl>
                                      </p:cBhvr>
                                    </p:animEffect>
                                  </p:childTnLst>
                                </p:cTn>
                              </p:par>
                            </p:childTnLst>
                          </p:cTn>
                        </p:par>
                        <p:par>
                          <p:cTn id="12" fill="hold">
                            <p:stCondLst>
                              <p:cond delay="950"/>
                            </p:stCondLst>
                            <p:childTnLst>
                              <p:par>
                                <p:cTn id="13" presetClass="entr" nodeType="afterEffect" presetID="10" grpId="3" fill="hold">
                                  <p:stCondLst>
                                    <p:cond delay="300"/>
                                  </p:stCondLst>
                                  <p:iterate type="el" backwards="0">
                                    <p:tmAbs val="0"/>
                                  </p:iterate>
                                  <p:childTnLst>
                                    <p:set>
                                      <p:cBhvr>
                                        <p:cTn id="14" fill="hold"/>
                                        <p:tgtEl>
                                          <p:spTgt spid="37"/>
                                        </p:tgtEl>
                                        <p:attrNameLst>
                                          <p:attrName>style.visibility</p:attrName>
                                        </p:attrNameLst>
                                      </p:cBhvr>
                                      <p:to>
                                        <p:strVal val="visible"/>
                                      </p:to>
                                    </p:set>
                                    <p:animEffect filter="fade" transition="in">
                                      <p:cBhvr>
                                        <p:cTn id="15" dur="400"/>
                                        <p:tgtEl>
                                          <p:spTgt spid="37"/>
                                        </p:tgtEl>
                                      </p:cBhvr>
                                    </p:animEffect>
                                  </p:childTnLst>
                                </p:cTn>
                              </p:par>
                            </p:childTnLst>
                          </p:cTn>
                        </p:par>
                        <p:par>
                          <p:cTn id="16" fill="hold">
                            <p:stCondLst>
                              <p:cond delay="1650"/>
                            </p:stCondLst>
                            <p:childTnLst>
                              <p:par>
                                <p:cTn id="17" presetClass="entr" nodeType="afterEffect" presetID="10" grpId="4" fill="hold">
                                  <p:stCondLst>
                                    <p:cond delay="450"/>
                                  </p:stCondLst>
                                  <p:iterate type="el" backwards="0">
                                    <p:tmAbs val="0"/>
                                  </p:iterate>
                                  <p:childTnLst>
                                    <p:set>
                                      <p:cBhvr>
                                        <p:cTn id="18" fill="hold"/>
                                        <p:tgtEl>
                                          <p:spTgt spid="38"/>
                                        </p:tgtEl>
                                        <p:attrNameLst>
                                          <p:attrName>style.visibility</p:attrName>
                                        </p:attrNameLst>
                                      </p:cBhvr>
                                      <p:to>
                                        <p:strVal val="visible"/>
                                      </p:to>
                                    </p:set>
                                    <p:animEffect filter="fade" transition="in">
                                      <p:cBhvr>
                                        <p:cTn id="19" dur="400"/>
                                        <p:tgtEl>
                                          <p:spTgt spid="38"/>
                                        </p:tgtEl>
                                      </p:cBhvr>
                                    </p:animEffect>
                                  </p:childTnLst>
                                </p:cTn>
                              </p:par>
                            </p:childTnLst>
                          </p:cTn>
                        </p:par>
                        <p:par>
                          <p:cTn id="20" fill="hold">
                            <p:stCondLst>
                              <p:cond delay="2500"/>
                            </p:stCondLst>
                            <p:childTnLst>
                              <p:par>
                                <p:cTn id="21" presetClass="entr" nodeType="afterEffect" presetID="10" grpId="5" fill="hold">
                                  <p:stCondLst>
                                    <p:cond delay="600"/>
                                  </p:stCondLst>
                                  <p:iterate type="el" backwards="0">
                                    <p:tmAbs val="0"/>
                                  </p:iterate>
                                  <p:childTnLst>
                                    <p:set>
                                      <p:cBhvr>
                                        <p:cTn id="22" fill="hold"/>
                                        <p:tgtEl>
                                          <p:spTgt spid="39"/>
                                        </p:tgtEl>
                                        <p:attrNameLst>
                                          <p:attrName>style.visibility</p:attrName>
                                        </p:attrNameLst>
                                      </p:cBhvr>
                                      <p:to>
                                        <p:strVal val="visible"/>
                                      </p:to>
                                    </p:set>
                                    <p:animEffect filter="fade" transition="in">
                                      <p:cBhvr>
                                        <p:cTn id="23" dur="400"/>
                                        <p:tgtEl>
                                          <p:spTgt spid="39"/>
                                        </p:tgtEl>
                                      </p:cBhvr>
                                    </p:animEffect>
                                  </p:childTnLst>
                                </p:cTn>
                              </p:par>
                            </p:childTnLst>
                          </p:cTn>
                        </p:par>
                        <p:par>
                          <p:cTn id="24" fill="hold">
                            <p:stCondLst>
                              <p:cond delay="3500"/>
                            </p:stCondLst>
                            <p:childTnLst>
                              <p:par>
                                <p:cTn id="25" presetClass="entr" nodeType="afterEffect" presetID="10" grpId="6" fill="hold">
                                  <p:stCondLst>
                                    <p:cond delay="750"/>
                                  </p:stCondLst>
                                  <p:iterate type="el" backwards="0">
                                    <p:tmAbs val="0"/>
                                  </p:iterate>
                                  <p:childTnLst>
                                    <p:set>
                                      <p:cBhvr>
                                        <p:cTn id="26" fill="hold"/>
                                        <p:tgtEl>
                                          <p:spTgt spid="40"/>
                                        </p:tgtEl>
                                        <p:attrNameLst>
                                          <p:attrName>style.visibility</p:attrName>
                                        </p:attrNameLst>
                                      </p:cBhvr>
                                      <p:to>
                                        <p:strVal val="visible"/>
                                      </p:to>
                                    </p:set>
                                    <p:animEffect filter="fade" transition="in">
                                      <p:cBhvr>
                                        <p:cTn id="27" dur="400"/>
                                        <p:tgtEl>
                                          <p:spTgt spid="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 grpId="6"/>
      <p:bldP build="whole" bldLvl="1" animBg="1" rev="0" advAuto="0" spid="35" grpId="1"/>
      <p:bldP build="whole" bldLvl="1" animBg="1" rev="0" advAuto="0" spid="37" grpId="3"/>
      <p:bldP build="whole" bldLvl="1" animBg="1" rev="0" advAuto="0" spid="38" grpId="4"/>
      <p:bldP build="whole" bldLvl="1" animBg="1" rev="0" advAuto="0" spid="36" grpId="2"/>
      <p:bldP build="whole" bldLvl="1" animBg="1" rev="0" advAuto="0" spid="39" grpId="5"/>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6" name="phase_pill"/>
          <p:cNvGrpSpPr/>
          <p:nvPr/>
        </p:nvGrpSpPr>
        <p:grpSpPr>
          <a:xfrm>
            <a:off x="548640" y="347472"/>
            <a:ext cx="1960474" cy="256033"/>
            <a:chOff x="0" y="0"/>
            <a:chExt cx="1960473" cy="256031"/>
          </a:xfrm>
        </p:grpSpPr>
        <p:sp>
          <p:nvSpPr>
            <p:cNvPr id="44" name="Rounded Rectangle"/>
            <p:cNvSpPr/>
            <p:nvPr/>
          </p:nvSpPr>
          <p:spPr>
            <a:xfrm>
              <a:off x="0" y="0"/>
              <a:ext cx="1960474"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45" name="OBJECTIVES · 1 MIN"/>
            <p:cNvSpPr txBox="1"/>
            <p:nvPr/>
          </p:nvSpPr>
          <p:spPr>
            <a:xfrm>
              <a:off x="37495" y="64515"/>
              <a:ext cx="188548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OBJECTIVES · 1 MIN</a:t>
              </a:r>
            </a:p>
          </p:txBody>
        </p:sp>
      </p:grpSp>
      <p:sp>
        <p:nvSpPr>
          <p:cNvPr id="47"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Today’s goals</a:t>
            </a:r>
          </a:p>
        </p:txBody>
      </p:sp>
      <p:grpSp>
        <p:nvGrpSpPr>
          <p:cNvPr id="52" name="o0"/>
          <p:cNvGrpSpPr/>
          <p:nvPr/>
        </p:nvGrpSpPr>
        <p:grpSpPr>
          <a:xfrm>
            <a:off x="548640" y="1591055"/>
            <a:ext cx="2535936" cy="1280162"/>
            <a:chOff x="0" y="0"/>
            <a:chExt cx="2535935" cy="1280160"/>
          </a:xfrm>
        </p:grpSpPr>
        <p:sp>
          <p:nvSpPr>
            <p:cNvPr id="48" name="o0_bg"/>
            <p:cNvSpPr/>
            <p:nvPr/>
          </p:nvSpPr>
          <p:spPr>
            <a:xfrm>
              <a:off x="0" y="0"/>
              <a:ext cx="2535936" cy="1280161"/>
            </a:xfrm>
            <a:prstGeom prst="roundRect">
              <a:avLst>
                <a:gd name="adj" fmla="val 4286"/>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49" name="o0_badge"/>
            <p:cNvSpPr/>
            <p:nvPr/>
          </p:nvSpPr>
          <p:spPr>
            <a:xfrm>
              <a:off x="164592" y="164592"/>
              <a:ext cx="347473" cy="347473"/>
            </a:xfrm>
            <a:prstGeom prst="ellipse">
              <a:avLst/>
            </a:prstGeom>
            <a:solidFill>
              <a:srgbClr val="E85D4A"/>
            </a:solidFill>
            <a:ln w="12700" cap="flat">
              <a:solidFill>
                <a:srgbClr val="E85D4A"/>
              </a:solidFill>
              <a:prstDash val="solid"/>
              <a:round/>
            </a:ln>
            <a:effectLst/>
          </p:spPr>
          <p:txBody>
            <a:bodyPr wrap="square" lIns="45719" tIns="45719" rIns="45719" bIns="45719" numCol="1" anchor="t">
              <a:noAutofit/>
            </a:bodyPr>
            <a:lstStyle/>
            <a:p>
              <a:pPr/>
            </a:p>
          </p:txBody>
        </p:sp>
        <p:sp>
          <p:nvSpPr>
            <p:cNvPr id="50" name="o0_num"/>
            <p:cNvSpPr txBox="1"/>
            <p:nvPr/>
          </p:nvSpPr>
          <p:spPr>
            <a:xfrm>
              <a:off x="164592" y="270555"/>
              <a:ext cx="347472"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latin typeface="Arial"/>
                  <a:ea typeface="Arial"/>
                  <a:cs typeface="Arial"/>
                  <a:sym typeface="Arial"/>
                </a:defRPr>
              </a:lvl1pPr>
            </a:lstStyle>
            <a:p>
              <a:pPr/>
              <a:r>
                <a:t>1</a:t>
              </a:r>
            </a:p>
          </p:txBody>
        </p:sp>
        <p:sp>
          <p:nvSpPr>
            <p:cNvPr id="51" name="o0_t"/>
            <p:cNvSpPr txBox="1"/>
            <p:nvPr/>
          </p:nvSpPr>
          <p:spPr>
            <a:xfrm>
              <a:off x="164592" y="621792"/>
              <a:ext cx="2206752"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200">
                  <a:solidFill>
                    <a:srgbClr val="2B2350"/>
                  </a:solidFill>
                  <a:latin typeface="Arial"/>
                  <a:ea typeface="Arial"/>
                  <a:cs typeface="Arial"/>
                  <a:sym typeface="Arial"/>
                </a:defRPr>
              </a:lvl1pPr>
            </a:lstStyle>
            <a:p>
              <a:pPr/>
              <a:r>
                <a:t>Say what makes two terms "like".</a:t>
              </a:r>
            </a:p>
          </p:txBody>
        </p:sp>
      </p:grpSp>
      <p:grpSp>
        <p:nvGrpSpPr>
          <p:cNvPr id="57" name="o1"/>
          <p:cNvGrpSpPr/>
          <p:nvPr/>
        </p:nvGrpSpPr>
        <p:grpSpPr>
          <a:xfrm>
            <a:off x="3304032" y="1591055"/>
            <a:ext cx="2535936" cy="1280162"/>
            <a:chOff x="0" y="0"/>
            <a:chExt cx="2535935" cy="1280160"/>
          </a:xfrm>
        </p:grpSpPr>
        <p:sp>
          <p:nvSpPr>
            <p:cNvPr id="53" name="o1_bg"/>
            <p:cNvSpPr/>
            <p:nvPr/>
          </p:nvSpPr>
          <p:spPr>
            <a:xfrm>
              <a:off x="0" y="0"/>
              <a:ext cx="2535936" cy="1280161"/>
            </a:xfrm>
            <a:prstGeom prst="roundRect">
              <a:avLst>
                <a:gd name="adj" fmla="val 4286"/>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54" name="o1_badge"/>
            <p:cNvSpPr/>
            <p:nvPr/>
          </p:nvSpPr>
          <p:spPr>
            <a:xfrm>
              <a:off x="164592" y="164592"/>
              <a:ext cx="347473" cy="347473"/>
            </a:xfrm>
            <a:prstGeom prst="ellipse">
              <a:avLst/>
            </a:prstGeom>
            <a:solidFill>
              <a:srgbClr val="E85D4A"/>
            </a:solidFill>
            <a:ln w="12700" cap="flat">
              <a:solidFill>
                <a:srgbClr val="E85D4A"/>
              </a:solidFill>
              <a:prstDash val="solid"/>
              <a:round/>
            </a:ln>
            <a:effectLst/>
          </p:spPr>
          <p:txBody>
            <a:bodyPr wrap="square" lIns="45719" tIns="45719" rIns="45719" bIns="45719" numCol="1" anchor="t">
              <a:noAutofit/>
            </a:bodyPr>
            <a:lstStyle/>
            <a:p>
              <a:pPr/>
            </a:p>
          </p:txBody>
        </p:sp>
        <p:sp>
          <p:nvSpPr>
            <p:cNvPr id="55" name="o1_num"/>
            <p:cNvSpPr txBox="1"/>
            <p:nvPr/>
          </p:nvSpPr>
          <p:spPr>
            <a:xfrm>
              <a:off x="164592" y="270555"/>
              <a:ext cx="347472"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latin typeface="Arial"/>
                  <a:ea typeface="Arial"/>
                  <a:cs typeface="Arial"/>
                  <a:sym typeface="Arial"/>
                </a:defRPr>
              </a:lvl1pPr>
            </a:lstStyle>
            <a:p>
              <a:pPr/>
              <a:r>
                <a:t>2</a:t>
              </a:r>
            </a:p>
          </p:txBody>
        </p:sp>
        <p:sp>
          <p:nvSpPr>
            <p:cNvPr id="56" name="o1_t"/>
            <p:cNvSpPr txBox="1"/>
            <p:nvPr/>
          </p:nvSpPr>
          <p:spPr>
            <a:xfrm>
              <a:off x="164592" y="621792"/>
              <a:ext cx="2206752"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200">
                  <a:solidFill>
                    <a:srgbClr val="2B2350"/>
                  </a:solidFill>
                  <a:latin typeface="Arial"/>
                  <a:ea typeface="Arial"/>
                  <a:cs typeface="Arial"/>
                  <a:sym typeface="Arial"/>
                </a:defRPr>
              </a:lvl1pPr>
            </a:lstStyle>
            <a:p>
              <a:pPr/>
              <a:r>
                <a:t>Simplify an expression by collecting like terms.</a:t>
              </a:r>
            </a:p>
          </p:txBody>
        </p:sp>
      </p:grpSp>
      <p:grpSp>
        <p:nvGrpSpPr>
          <p:cNvPr id="62" name="o2"/>
          <p:cNvGrpSpPr/>
          <p:nvPr/>
        </p:nvGrpSpPr>
        <p:grpSpPr>
          <a:xfrm>
            <a:off x="6059424" y="1591055"/>
            <a:ext cx="2535936" cy="1280162"/>
            <a:chOff x="0" y="0"/>
            <a:chExt cx="2535935" cy="1280160"/>
          </a:xfrm>
        </p:grpSpPr>
        <p:sp>
          <p:nvSpPr>
            <p:cNvPr id="58" name="o2_bg"/>
            <p:cNvSpPr/>
            <p:nvPr/>
          </p:nvSpPr>
          <p:spPr>
            <a:xfrm>
              <a:off x="0" y="0"/>
              <a:ext cx="2535936" cy="1280161"/>
            </a:xfrm>
            <a:prstGeom prst="roundRect">
              <a:avLst>
                <a:gd name="adj" fmla="val 4286"/>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59" name="o2_badge"/>
            <p:cNvSpPr/>
            <p:nvPr/>
          </p:nvSpPr>
          <p:spPr>
            <a:xfrm>
              <a:off x="164592" y="164592"/>
              <a:ext cx="347473" cy="347473"/>
            </a:xfrm>
            <a:prstGeom prst="ellipse">
              <a:avLst/>
            </a:prstGeom>
            <a:solidFill>
              <a:srgbClr val="E85D4A"/>
            </a:solidFill>
            <a:ln w="12700" cap="flat">
              <a:solidFill>
                <a:srgbClr val="E85D4A"/>
              </a:solidFill>
              <a:prstDash val="solid"/>
              <a:round/>
            </a:ln>
            <a:effectLst/>
          </p:spPr>
          <p:txBody>
            <a:bodyPr wrap="square" lIns="45719" tIns="45719" rIns="45719" bIns="45719" numCol="1" anchor="t">
              <a:noAutofit/>
            </a:bodyPr>
            <a:lstStyle/>
            <a:p>
              <a:pPr/>
            </a:p>
          </p:txBody>
        </p:sp>
        <p:sp>
          <p:nvSpPr>
            <p:cNvPr id="60" name="o2_num"/>
            <p:cNvSpPr txBox="1"/>
            <p:nvPr/>
          </p:nvSpPr>
          <p:spPr>
            <a:xfrm>
              <a:off x="164592" y="270555"/>
              <a:ext cx="347472"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latin typeface="Arial"/>
                  <a:ea typeface="Arial"/>
                  <a:cs typeface="Arial"/>
                  <a:sym typeface="Arial"/>
                </a:defRPr>
              </a:lvl1pPr>
            </a:lstStyle>
            <a:p>
              <a:pPr/>
              <a:r>
                <a:t>3</a:t>
              </a:r>
            </a:p>
          </p:txBody>
        </p:sp>
        <p:sp>
          <p:nvSpPr>
            <p:cNvPr id="61" name="o2_t"/>
            <p:cNvSpPr txBox="1"/>
            <p:nvPr/>
          </p:nvSpPr>
          <p:spPr>
            <a:xfrm>
              <a:off x="164592" y="621792"/>
              <a:ext cx="2206752"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200">
                  <a:solidFill>
                    <a:srgbClr val="2B2350"/>
                  </a:solidFill>
                  <a:latin typeface="Arial"/>
                  <a:ea typeface="Arial"/>
                  <a:cs typeface="Arial"/>
                  <a:sym typeface="Arial"/>
                </a:defRPr>
              </a:lvl1pPr>
            </a:lstStyle>
            <a:p>
              <a:pPr/>
              <a:r>
                <a:t>Handle the minus signs without losing one.</a:t>
              </a:r>
            </a:p>
          </p:txBody>
        </p:sp>
      </p:grpSp>
      <p:sp>
        <p:nvSpPr>
          <p:cNvPr id="63" name="obj_seq"/>
          <p:cNvSpPr txBox="1"/>
          <p:nvPr/>
        </p:nvSpPr>
        <p:spPr>
          <a:xfrm>
            <a:off x="548640" y="3150915"/>
            <a:ext cx="804671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5E5A70"/>
                </a:solidFill>
                <a:latin typeface="Arial"/>
                <a:ea typeface="Arial"/>
                <a:cs typeface="Arial"/>
                <a:sym typeface="Arial"/>
              </a:defRPr>
            </a:lvl1pPr>
          </a:lstStyle>
          <a:p>
            <a:pPr/>
            <a:r>
              <a:t>Lesson 2: expanding brackets.     Lesson 3: expand and simplify together.</a:t>
            </a:r>
          </a:p>
        </p:txBody>
      </p:sp>
      <p:grpSp>
        <p:nvGrpSpPr>
          <p:cNvPr id="66" name="obj_banner"/>
          <p:cNvGrpSpPr/>
          <p:nvPr/>
        </p:nvGrpSpPr>
        <p:grpSpPr>
          <a:xfrm>
            <a:off x="548640" y="3529584"/>
            <a:ext cx="8046720" cy="475489"/>
            <a:chOff x="0" y="0"/>
            <a:chExt cx="8046719" cy="475487"/>
          </a:xfrm>
        </p:grpSpPr>
        <p:sp>
          <p:nvSpPr>
            <p:cNvPr id="64" name="Rounded Rectangle"/>
            <p:cNvSpPr/>
            <p:nvPr/>
          </p:nvSpPr>
          <p:spPr>
            <a:xfrm>
              <a:off x="0" y="0"/>
              <a:ext cx="8046720" cy="475488"/>
            </a:xfrm>
            <a:prstGeom prst="roundRect">
              <a:avLst>
                <a:gd name="adj" fmla="val 15385"/>
              </a:avLst>
            </a:prstGeom>
            <a:solidFill>
              <a:srgbClr val="2B2350"/>
            </a:solidFill>
            <a:ln w="9525" cap="flat">
              <a:solidFill>
                <a:srgbClr val="2B2350"/>
              </a:solidFill>
              <a:prstDash val="solid"/>
              <a:round/>
            </a:ln>
            <a:effectLst/>
          </p:spPr>
          <p:txBody>
            <a:bodyPr wrap="square" lIns="45719" tIns="45719" rIns="45719" bIns="45719" numCol="1" anchor="ctr">
              <a:noAutofit/>
            </a:bodyPr>
            <a:lstStyle/>
            <a:p>
              <a:pPr algn="ctr">
                <a:defRPr sz="1200"/>
              </a:pPr>
            </a:p>
          </p:txBody>
        </p:sp>
        <p:sp>
          <p:nvSpPr>
            <p:cNvPr id="65" name="Everything today is arithmetic you can already do. The letters change nothing."/>
            <p:cNvSpPr txBox="1"/>
            <p:nvPr/>
          </p:nvSpPr>
          <p:spPr>
            <a:xfrm>
              <a:off x="26188" y="151336"/>
              <a:ext cx="7994343"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solidFill>
                    <a:srgbClr val="FFFFFF"/>
                  </a:solidFill>
                  <a:latin typeface="Arial"/>
                  <a:ea typeface="Arial"/>
                  <a:cs typeface="Arial"/>
                  <a:sym typeface="Arial"/>
                </a:defRPr>
              </a:lvl1pPr>
            </a:lstStyle>
            <a:p>
              <a:pPr/>
              <a:r>
                <a:t>Everything today is arithmetic you can already do. The letters change nothing.</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52"/>
                                        </p:tgtEl>
                                        <p:attrNameLst>
                                          <p:attrName>style.visibility</p:attrName>
                                        </p:attrNameLst>
                                      </p:cBhvr>
                                      <p:to>
                                        <p:strVal val="visible"/>
                                      </p:to>
                                    </p:set>
                                    <p:animEffect filter="fade" transition="in">
                                      <p:cBhvr>
                                        <p:cTn id="7" dur="4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57"/>
                                        </p:tgtEl>
                                        <p:attrNameLst>
                                          <p:attrName>style.visibility</p:attrName>
                                        </p:attrNameLst>
                                      </p:cBhvr>
                                      <p:to>
                                        <p:strVal val="visible"/>
                                      </p:to>
                                    </p:set>
                                    <p:animEffect filter="fade" transition="in">
                                      <p:cBhvr>
                                        <p:cTn id="12" dur="4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62"/>
                                        </p:tgtEl>
                                        <p:attrNameLst>
                                          <p:attrName>style.visibility</p:attrName>
                                        </p:attrNameLst>
                                      </p:cBhvr>
                                      <p:to>
                                        <p:strVal val="visible"/>
                                      </p:to>
                                    </p:set>
                                    <p:animEffect filter="fade" transition="in">
                                      <p:cBhvr>
                                        <p:cTn id="17" dur="4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16" presetID="23" grpId="4" fill="hold">
                                  <p:stCondLst>
                                    <p:cond delay="0"/>
                                  </p:stCondLst>
                                  <p:iterate type="el" backwards="0">
                                    <p:tmAbs val="0"/>
                                  </p:iterate>
                                  <p:childTnLst>
                                    <p:set>
                                      <p:cBhvr>
                                        <p:cTn id="21" fill="hold"/>
                                        <p:tgtEl>
                                          <p:spTgt spid="66"/>
                                        </p:tgtEl>
                                        <p:attrNameLst>
                                          <p:attrName>style.visibility</p:attrName>
                                        </p:attrNameLst>
                                      </p:cBhvr>
                                      <p:to>
                                        <p:strVal val="visible"/>
                                      </p:to>
                                    </p:set>
                                    <p:anim calcmode="lin" valueType="num">
                                      <p:cBhvr>
                                        <p:cTn id="22" dur="400" fill="hold"/>
                                        <p:tgtEl>
                                          <p:spTgt spid="66"/>
                                        </p:tgtEl>
                                        <p:attrNameLst>
                                          <p:attrName>ppt_w</p:attrName>
                                        </p:attrNameLst>
                                      </p:cBhvr>
                                      <p:tavLst>
                                        <p:tav tm="0">
                                          <p:val>
                                            <p:fltVal val="0"/>
                                          </p:val>
                                        </p:tav>
                                        <p:tav tm="100000">
                                          <p:val>
                                            <p:strVal val="#ppt_w"/>
                                          </p:val>
                                        </p:tav>
                                      </p:tavLst>
                                    </p:anim>
                                    <p:anim calcmode="lin" valueType="num">
                                      <p:cBhvr>
                                        <p:cTn id="23" dur="400" fill="hold"/>
                                        <p:tgtEl>
                                          <p:spTgt spid="6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6" grpId="4"/>
      <p:bldP build="whole" bldLvl="1" animBg="1" rev="0" advAuto="0" spid="52" grpId="1"/>
      <p:bldP build="whole" bldLvl="1" animBg="1" rev="0" advAuto="0" spid="57" grpId="2"/>
      <p:bldP build="whole" bldLvl="1" animBg="1" rev="0" advAuto="0" spid="62" grpId="3"/>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72" name="phase_pill"/>
          <p:cNvGrpSpPr/>
          <p:nvPr/>
        </p:nvGrpSpPr>
        <p:grpSpPr>
          <a:xfrm>
            <a:off x="548640" y="347472"/>
            <a:ext cx="1602029" cy="256033"/>
            <a:chOff x="0" y="0"/>
            <a:chExt cx="1602028" cy="256031"/>
          </a:xfrm>
        </p:grpSpPr>
        <p:sp>
          <p:nvSpPr>
            <p:cNvPr id="70" name="Rounded Rectangle"/>
            <p:cNvSpPr/>
            <p:nvPr/>
          </p:nvSpPr>
          <p:spPr>
            <a:xfrm>
              <a:off x="0" y="0"/>
              <a:ext cx="1602029"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71" name="DO NOW · 5 MIN"/>
            <p:cNvSpPr txBox="1"/>
            <p:nvPr/>
          </p:nvSpPr>
          <p:spPr>
            <a:xfrm>
              <a:off x="37494" y="64515"/>
              <a:ext cx="152704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DO NOW · 5 MIN</a:t>
              </a:r>
            </a:p>
          </p:txBody>
        </p:sp>
      </p:grpSp>
      <p:sp>
        <p:nvSpPr>
          <p:cNvPr id="73"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Do Now</a:t>
            </a:r>
          </a:p>
        </p:txBody>
      </p:sp>
      <p:sp>
        <p:nvSpPr>
          <p:cNvPr id="74" name="d0_bg"/>
          <p:cNvSpPr/>
          <p:nvPr/>
        </p:nvSpPr>
        <p:spPr>
          <a:xfrm>
            <a:off x="548640" y="1554480"/>
            <a:ext cx="2560321" cy="1207009"/>
          </a:xfrm>
          <a:prstGeom prst="roundRect">
            <a:avLst>
              <a:gd name="adj" fmla="val 4545"/>
            </a:avLst>
          </a:prstGeom>
          <a:solidFill>
            <a:srgbClr val="F2F0F8"/>
          </a:solidFill>
          <a:ln w="12700">
            <a:solidFill>
              <a:srgbClr val="F2F0F8"/>
            </a:solidFill>
          </a:ln>
        </p:spPr>
        <p:txBody>
          <a:bodyPr lIns="45719" rIns="45719"/>
          <a:lstStyle/>
          <a:p>
            <a:pPr/>
          </a:p>
        </p:txBody>
      </p:sp>
      <p:sp>
        <p:nvSpPr>
          <p:cNvPr id="75" name="d0_badge"/>
          <p:cNvSpPr/>
          <p:nvPr/>
        </p:nvSpPr>
        <p:spPr>
          <a:xfrm>
            <a:off x="694944" y="1682495"/>
            <a:ext cx="347473" cy="347473"/>
          </a:xfrm>
          <a:prstGeom prst="ellipse">
            <a:avLst/>
          </a:prstGeom>
          <a:solidFill>
            <a:srgbClr val="E85D4A"/>
          </a:solidFill>
          <a:ln w="12700">
            <a:solidFill>
              <a:srgbClr val="E85D4A"/>
            </a:solidFill>
          </a:ln>
        </p:spPr>
        <p:txBody>
          <a:bodyPr lIns="45719" rIns="45719"/>
          <a:lstStyle/>
          <a:p>
            <a:pPr/>
          </a:p>
        </p:txBody>
      </p:sp>
      <p:sp>
        <p:nvSpPr>
          <p:cNvPr id="76" name="d0_num"/>
          <p:cNvSpPr txBox="1"/>
          <p:nvPr/>
        </p:nvSpPr>
        <p:spPr>
          <a:xfrm>
            <a:off x="694944" y="1788459"/>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1</a:t>
            </a:r>
          </a:p>
        </p:txBody>
      </p:sp>
      <p:sp>
        <p:nvSpPr>
          <p:cNvPr id="77" name="d0_q"/>
          <p:cNvSpPr txBox="1"/>
          <p:nvPr/>
        </p:nvSpPr>
        <p:spPr>
          <a:xfrm>
            <a:off x="1133855" y="1778968"/>
            <a:ext cx="18288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−5 + 3</a:t>
            </a:r>
          </a:p>
        </p:txBody>
      </p:sp>
      <p:sp>
        <p:nvSpPr>
          <p:cNvPr id="78" name="d0_a"/>
          <p:cNvSpPr txBox="1"/>
          <p:nvPr/>
        </p:nvSpPr>
        <p:spPr>
          <a:xfrm>
            <a:off x="731519" y="2259583"/>
            <a:ext cx="219456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0392B"/>
                </a:solidFill>
                <a:latin typeface="Georgia"/>
                <a:ea typeface="Georgia"/>
                <a:cs typeface="Georgia"/>
                <a:sym typeface="Georgia"/>
              </a:defRPr>
            </a:lvl1pPr>
          </a:lstStyle>
          <a:p>
            <a:pPr/>
            <a:r>
              <a:t>−2</a:t>
            </a:r>
          </a:p>
        </p:txBody>
      </p:sp>
      <p:sp>
        <p:nvSpPr>
          <p:cNvPr id="79" name="d1_bg"/>
          <p:cNvSpPr/>
          <p:nvPr/>
        </p:nvSpPr>
        <p:spPr>
          <a:xfrm>
            <a:off x="3291840" y="1554480"/>
            <a:ext cx="2560321" cy="1207009"/>
          </a:xfrm>
          <a:prstGeom prst="roundRect">
            <a:avLst>
              <a:gd name="adj" fmla="val 4545"/>
            </a:avLst>
          </a:prstGeom>
          <a:solidFill>
            <a:srgbClr val="F2F0F8"/>
          </a:solidFill>
          <a:ln w="12700">
            <a:solidFill>
              <a:srgbClr val="F2F0F8"/>
            </a:solidFill>
          </a:ln>
        </p:spPr>
        <p:txBody>
          <a:bodyPr lIns="45719" rIns="45719"/>
          <a:lstStyle/>
          <a:p>
            <a:pPr/>
          </a:p>
        </p:txBody>
      </p:sp>
      <p:sp>
        <p:nvSpPr>
          <p:cNvPr id="80" name="d1_badge"/>
          <p:cNvSpPr/>
          <p:nvPr/>
        </p:nvSpPr>
        <p:spPr>
          <a:xfrm>
            <a:off x="3438144" y="1682495"/>
            <a:ext cx="347473" cy="347473"/>
          </a:xfrm>
          <a:prstGeom prst="ellipse">
            <a:avLst/>
          </a:prstGeom>
          <a:solidFill>
            <a:srgbClr val="E85D4A"/>
          </a:solidFill>
          <a:ln w="12700">
            <a:solidFill>
              <a:srgbClr val="E85D4A"/>
            </a:solidFill>
          </a:ln>
        </p:spPr>
        <p:txBody>
          <a:bodyPr lIns="45719" rIns="45719"/>
          <a:lstStyle/>
          <a:p>
            <a:pPr/>
          </a:p>
        </p:txBody>
      </p:sp>
      <p:sp>
        <p:nvSpPr>
          <p:cNvPr id="81" name="d1_num"/>
          <p:cNvSpPr txBox="1"/>
          <p:nvPr/>
        </p:nvSpPr>
        <p:spPr>
          <a:xfrm>
            <a:off x="3438144" y="1788459"/>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2</a:t>
            </a:r>
          </a:p>
        </p:txBody>
      </p:sp>
      <p:sp>
        <p:nvSpPr>
          <p:cNvPr id="82" name="d1_q"/>
          <p:cNvSpPr txBox="1"/>
          <p:nvPr/>
        </p:nvSpPr>
        <p:spPr>
          <a:xfrm>
            <a:off x="3877055" y="1778968"/>
            <a:ext cx="18288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4 − 7</a:t>
            </a:r>
          </a:p>
        </p:txBody>
      </p:sp>
      <p:sp>
        <p:nvSpPr>
          <p:cNvPr id="83" name="d1_a"/>
          <p:cNvSpPr txBox="1"/>
          <p:nvPr/>
        </p:nvSpPr>
        <p:spPr>
          <a:xfrm>
            <a:off x="3474720" y="2259583"/>
            <a:ext cx="219456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0392B"/>
                </a:solidFill>
                <a:latin typeface="Georgia"/>
                <a:ea typeface="Georgia"/>
                <a:cs typeface="Georgia"/>
                <a:sym typeface="Georgia"/>
              </a:defRPr>
            </a:lvl1pPr>
          </a:lstStyle>
          <a:p>
            <a:pPr/>
            <a:r>
              <a:t>−3</a:t>
            </a:r>
          </a:p>
        </p:txBody>
      </p:sp>
      <p:sp>
        <p:nvSpPr>
          <p:cNvPr id="84" name="d2_bg"/>
          <p:cNvSpPr/>
          <p:nvPr/>
        </p:nvSpPr>
        <p:spPr>
          <a:xfrm>
            <a:off x="6035040" y="1554480"/>
            <a:ext cx="2560321" cy="1207009"/>
          </a:xfrm>
          <a:prstGeom prst="roundRect">
            <a:avLst>
              <a:gd name="adj" fmla="val 4545"/>
            </a:avLst>
          </a:prstGeom>
          <a:solidFill>
            <a:srgbClr val="F2F0F8"/>
          </a:solidFill>
          <a:ln w="12700">
            <a:solidFill>
              <a:srgbClr val="F2F0F8"/>
            </a:solidFill>
          </a:ln>
        </p:spPr>
        <p:txBody>
          <a:bodyPr lIns="45719" rIns="45719"/>
          <a:lstStyle/>
          <a:p>
            <a:pPr/>
          </a:p>
        </p:txBody>
      </p:sp>
      <p:sp>
        <p:nvSpPr>
          <p:cNvPr id="85" name="d2_badge"/>
          <p:cNvSpPr/>
          <p:nvPr/>
        </p:nvSpPr>
        <p:spPr>
          <a:xfrm>
            <a:off x="6181344" y="1682495"/>
            <a:ext cx="347473" cy="347473"/>
          </a:xfrm>
          <a:prstGeom prst="ellipse">
            <a:avLst/>
          </a:prstGeom>
          <a:solidFill>
            <a:srgbClr val="E85D4A"/>
          </a:solidFill>
          <a:ln w="12700">
            <a:solidFill>
              <a:srgbClr val="E85D4A"/>
            </a:solidFill>
          </a:ln>
        </p:spPr>
        <p:txBody>
          <a:bodyPr lIns="45719" rIns="45719"/>
          <a:lstStyle/>
          <a:p>
            <a:pPr/>
          </a:p>
        </p:txBody>
      </p:sp>
      <p:sp>
        <p:nvSpPr>
          <p:cNvPr id="86" name="d2_num"/>
          <p:cNvSpPr txBox="1"/>
          <p:nvPr/>
        </p:nvSpPr>
        <p:spPr>
          <a:xfrm>
            <a:off x="6181344" y="1788459"/>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3</a:t>
            </a:r>
          </a:p>
        </p:txBody>
      </p:sp>
      <p:sp>
        <p:nvSpPr>
          <p:cNvPr id="87" name="d2_q"/>
          <p:cNvSpPr txBox="1"/>
          <p:nvPr/>
        </p:nvSpPr>
        <p:spPr>
          <a:xfrm>
            <a:off x="6620256" y="1778968"/>
            <a:ext cx="18288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What does 3a mean?</a:t>
            </a:r>
          </a:p>
        </p:txBody>
      </p:sp>
      <p:sp>
        <p:nvSpPr>
          <p:cNvPr id="88" name="d2_a"/>
          <p:cNvSpPr txBox="1"/>
          <p:nvPr/>
        </p:nvSpPr>
        <p:spPr>
          <a:xfrm>
            <a:off x="6217920" y="2259583"/>
            <a:ext cx="219456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0392B"/>
                </a:solidFill>
                <a:latin typeface="Georgia"/>
                <a:ea typeface="Georgia"/>
                <a:cs typeface="Georgia"/>
                <a:sym typeface="Georgia"/>
              </a:defRPr>
            </a:lvl1pPr>
          </a:lstStyle>
          <a:p>
            <a:pPr/>
            <a:r>
              <a:t>3 × a</a:t>
            </a:r>
          </a:p>
        </p:txBody>
      </p:sp>
      <p:sp>
        <p:nvSpPr>
          <p:cNvPr id="89" name="d3_bg"/>
          <p:cNvSpPr/>
          <p:nvPr/>
        </p:nvSpPr>
        <p:spPr>
          <a:xfrm>
            <a:off x="548640" y="2907792"/>
            <a:ext cx="2560321" cy="1207009"/>
          </a:xfrm>
          <a:prstGeom prst="roundRect">
            <a:avLst>
              <a:gd name="adj" fmla="val 4545"/>
            </a:avLst>
          </a:prstGeom>
          <a:solidFill>
            <a:srgbClr val="F2F0F8"/>
          </a:solidFill>
          <a:ln w="12700">
            <a:solidFill>
              <a:srgbClr val="F2F0F8"/>
            </a:solidFill>
          </a:ln>
        </p:spPr>
        <p:txBody>
          <a:bodyPr lIns="45719" rIns="45719"/>
          <a:lstStyle/>
          <a:p>
            <a:pPr/>
          </a:p>
        </p:txBody>
      </p:sp>
      <p:sp>
        <p:nvSpPr>
          <p:cNvPr id="90" name="d3_badge"/>
          <p:cNvSpPr/>
          <p:nvPr/>
        </p:nvSpPr>
        <p:spPr>
          <a:xfrm>
            <a:off x="694944" y="3035807"/>
            <a:ext cx="347473" cy="347473"/>
          </a:xfrm>
          <a:prstGeom prst="ellipse">
            <a:avLst/>
          </a:prstGeom>
          <a:solidFill>
            <a:srgbClr val="E85D4A"/>
          </a:solidFill>
          <a:ln w="12700">
            <a:solidFill>
              <a:srgbClr val="E85D4A"/>
            </a:solidFill>
          </a:ln>
        </p:spPr>
        <p:txBody>
          <a:bodyPr lIns="45719" rIns="45719"/>
          <a:lstStyle/>
          <a:p>
            <a:pPr/>
          </a:p>
        </p:txBody>
      </p:sp>
      <p:sp>
        <p:nvSpPr>
          <p:cNvPr id="91" name="d3_num"/>
          <p:cNvSpPr txBox="1"/>
          <p:nvPr/>
        </p:nvSpPr>
        <p:spPr>
          <a:xfrm>
            <a:off x="694944" y="3141771"/>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4</a:t>
            </a:r>
          </a:p>
        </p:txBody>
      </p:sp>
      <p:sp>
        <p:nvSpPr>
          <p:cNvPr id="92" name="d3_q"/>
          <p:cNvSpPr txBox="1"/>
          <p:nvPr/>
        </p:nvSpPr>
        <p:spPr>
          <a:xfrm>
            <a:off x="1133855" y="3132280"/>
            <a:ext cx="18288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What does a² mean?</a:t>
            </a:r>
          </a:p>
        </p:txBody>
      </p:sp>
      <p:sp>
        <p:nvSpPr>
          <p:cNvPr id="93" name="d3_a"/>
          <p:cNvSpPr txBox="1"/>
          <p:nvPr/>
        </p:nvSpPr>
        <p:spPr>
          <a:xfrm>
            <a:off x="731519" y="3612896"/>
            <a:ext cx="219456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0392B"/>
                </a:solidFill>
                <a:latin typeface="Georgia"/>
                <a:ea typeface="Georgia"/>
                <a:cs typeface="Georgia"/>
                <a:sym typeface="Georgia"/>
              </a:defRPr>
            </a:lvl1pPr>
          </a:lstStyle>
          <a:p>
            <a:pPr/>
            <a:r>
              <a:t>a × a</a:t>
            </a:r>
          </a:p>
        </p:txBody>
      </p:sp>
      <p:sp>
        <p:nvSpPr>
          <p:cNvPr id="94" name="d4_bg"/>
          <p:cNvSpPr/>
          <p:nvPr/>
        </p:nvSpPr>
        <p:spPr>
          <a:xfrm>
            <a:off x="3291840" y="2907792"/>
            <a:ext cx="2560321" cy="1207009"/>
          </a:xfrm>
          <a:prstGeom prst="roundRect">
            <a:avLst>
              <a:gd name="adj" fmla="val 4545"/>
            </a:avLst>
          </a:prstGeom>
          <a:solidFill>
            <a:srgbClr val="F2F0F8"/>
          </a:solidFill>
          <a:ln w="12700">
            <a:solidFill>
              <a:srgbClr val="F2F0F8"/>
            </a:solidFill>
          </a:ln>
        </p:spPr>
        <p:txBody>
          <a:bodyPr lIns="45719" rIns="45719"/>
          <a:lstStyle/>
          <a:p>
            <a:pPr/>
          </a:p>
        </p:txBody>
      </p:sp>
      <p:sp>
        <p:nvSpPr>
          <p:cNvPr id="95" name="d4_badge"/>
          <p:cNvSpPr/>
          <p:nvPr/>
        </p:nvSpPr>
        <p:spPr>
          <a:xfrm>
            <a:off x="3438144" y="3035807"/>
            <a:ext cx="347473" cy="347473"/>
          </a:xfrm>
          <a:prstGeom prst="ellipse">
            <a:avLst/>
          </a:prstGeom>
          <a:solidFill>
            <a:srgbClr val="E85D4A"/>
          </a:solidFill>
          <a:ln w="12700">
            <a:solidFill>
              <a:srgbClr val="E85D4A"/>
            </a:solidFill>
          </a:ln>
        </p:spPr>
        <p:txBody>
          <a:bodyPr lIns="45719" rIns="45719"/>
          <a:lstStyle/>
          <a:p>
            <a:pPr/>
          </a:p>
        </p:txBody>
      </p:sp>
      <p:sp>
        <p:nvSpPr>
          <p:cNvPr id="96" name="d4_num"/>
          <p:cNvSpPr txBox="1"/>
          <p:nvPr/>
        </p:nvSpPr>
        <p:spPr>
          <a:xfrm>
            <a:off x="3438144" y="3141771"/>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5</a:t>
            </a:r>
          </a:p>
        </p:txBody>
      </p:sp>
      <p:sp>
        <p:nvSpPr>
          <p:cNvPr id="97" name="d4_q"/>
          <p:cNvSpPr txBox="1"/>
          <p:nvPr/>
        </p:nvSpPr>
        <p:spPr>
          <a:xfrm>
            <a:off x="3877055" y="3132280"/>
            <a:ext cx="18288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3 tens + 4 tens = ?</a:t>
            </a:r>
          </a:p>
        </p:txBody>
      </p:sp>
      <p:sp>
        <p:nvSpPr>
          <p:cNvPr id="98" name="d4_a"/>
          <p:cNvSpPr txBox="1"/>
          <p:nvPr/>
        </p:nvSpPr>
        <p:spPr>
          <a:xfrm>
            <a:off x="3474720" y="3612896"/>
            <a:ext cx="219456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0392B"/>
                </a:solidFill>
                <a:latin typeface="Georgia"/>
                <a:ea typeface="Georgia"/>
                <a:cs typeface="Georgia"/>
                <a:sym typeface="Georgia"/>
              </a:defRPr>
            </a:lvl1pPr>
          </a:lstStyle>
          <a:p>
            <a:pPr/>
            <a:r>
              <a:t>7 tens = 70</a:t>
            </a:r>
          </a:p>
        </p:txBody>
      </p:sp>
      <p:sp>
        <p:nvSpPr>
          <p:cNvPr id="99" name="d5_bg"/>
          <p:cNvSpPr/>
          <p:nvPr/>
        </p:nvSpPr>
        <p:spPr>
          <a:xfrm>
            <a:off x="6035040" y="2907792"/>
            <a:ext cx="2560321" cy="1207009"/>
          </a:xfrm>
          <a:prstGeom prst="roundRect">
            <a:avLst>
              <a:gd name="adj" fmla="val 4545"/>
            </a:avLst>
          </a:prstGeom>
          <a:solidFill>
            <a:srgbClr val="F2F0F8"/>
          </a:solidFill>
          <a:ln w="12700">
            <a:solidFill>
              <a:srgbClr val="F2F0F8"/>
            </a:solidFill>
          </a:ln>
        </p:spPr>
        <p:txBody>
          <a:bodyPr lIns="45719" rIns="45719"/>
          <a:lstStyle/>
          <a:p>
            <a:pPr/>
          </a:p>
        </p:txBody>
      </p:sp>
      <p:sp>
        <p:nvSpPr>
          <p:cNvPr id="100" name="d5_badge"/>
          <p:cNvSpPr/>
          <p:nvPr/>
        </p:nvSpPr>
        <p:spPr>
          <a:xfrm>
            <a:off x="6181344" y="3035807"/>
            <a:ext cx="347473" cy="347473"/>
          </a:xfrm>
          <a:prstGeom prst="ellipse">
            <a:avLst/>
          </a:prstGeom>
          <a:solidFill>
            <a:srgbClr val="E85D4A"/>
          </a:solidFill>
          <a:ln w="12700">
            <a:solidFill>
              <a:srgbClr val="E85D4A"/>
            </a:solidFill>
          </a:ln>
        </p:spPr>
        <p:txBody>
          <a:bodyPr lIns="45719" rIns="45719"/>
          <a:lstStyle/>
          <a:p>
            <a:pPr/>
          </a:p>
        </p:txBody>
      </p:sp>
      <p:sp>
        <p:nvSpPr>
          <p:cNvPr id="101" name="d5_num"/>
          <p:cNvSpPr txBox="1"/>
          <p:nvPr/>
        </p:nvSpPr>
        <p:spPr>
          <a:xfrm>
            <a:off x="6181344" y="3141771"/>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6</a:t>
            </a:r>
          </a:p>
        </p:txBody>
      </p:sp>
      <p:sp>
        <p:nvSpPr>
          <p:cNvPr id="102" name="d5_q"/>
          <p:cNvSpPr txBox="1"/>
          <p:nvPr/>
        </p:nvSpPr>
        <p:spPr>
          <a:xfrm>
            <a:off x="6620256" y="3132280"/>
            <a:ext cx="18288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3a + 4a = ?</a:t>
            </a:r>
          </a:p>
        </p:txBody>
      </p:sp>
      <p:sp>
        <p:nvSpPr>
          <p:cNvPr id="103" name="d5_a"/>
          <p:cNvSpPr txBox="1"/>
          <p:nvPr/>
        </p:nvSpPr>
        <p:spPr>
          <a:xfrm>
            <a:off x="6217920" y="3612896"/>
            <a:ext cx="219456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0392B"/>
                </a:solidFill>
                <a:latin typeface="Georgia"/>
                <a:ea typeface="Georgia"/>
                <a:cs typeface="Georgia"/>
                <a:sym typeface="Georgia"/>
              </a:defRPr>
            </a:lvl1pPr>
          </a:lstStyle>
          <a:p>
            <a:pPr/>
            <a:r>
              <a:t>7a</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78"/>
                                        </p:tgtEl>
                                        <p:attrNameLst>
                                          <p:attrName>style.visibility</p:attrName>
                                        </p:attrNameLst>
                                      </p:cBhvr>
                                      <p:to>
                                        <p:strVal val="visible"/>
                                      </p:to>
                                    </p:set>
                                    <p:animEffect filter="wipe(left)" transition="in">
                                      <p:cBhvr>
                                        <p:cTn id="7" dur="4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83"/>
                                        </p:tgtEl>
                                        <p:attrNameLst>
                                          <p:attrName>style.visibility</p:attrName>
                                        </p:attrNameLst>
                                      </p:cBhvr>
                                      <p:to>
                                        <p:strVal val="visible"/>
                                      </p:to>
                                    </p:set>
                                    <p:animEffect filter="wipe(left)" transition="in">
                                      <p:cBhvr>
                                        <p:cTn id="12" dur="400"/>
                                        <p:tgtEl>
                                          <p:spTgt spid="83"/>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88"/>
                                        </p:tgtEl>
                                        <p:attrNameLst>
                                          <p:attrName>style.visibility</p:attrName>
                                        </p:attrNameLst>
                                      </p:cBhvr>
                                      <p:to>
                                        <p:strVal val="visible"/>
                                      </p:to>
                                    </p:set>
                                    <p:animEffect filter="wipe(left)" transition="in">
                                      <p:cBhvr>
                                        <p:cTn id="17" dur="400"/>
                                        <p:tgtEl>
                                          <p:spTgt spid="88"/>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93"/>
                                        </p:tgtEl>
                                        <p:attrNameLst>
                                          <p:attrName>style.visibility</p:attrName>
                                        </p:attrNameLst>
                                      </p:cBhvr>
                                      <p:to>
                                        <p:strVal val="visible"/>
                                      </p:to>
                                    </p:set>
                                    <p:animEffect filter="wipe(left)" transition="in">
                                      <p:cBhvr>
                                        <p:cTn id="22" dur="400"/>
                                        <p:tgtEl>
                                          <p:spTgt spid="93"/>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2" grpId="5" fill="hold">
                                  <p:stCondLst>
                                    <p:cond delay="0"/>
                                  </p:stCondLst>
                                  <p:iterate type="el" backwards="0">
                                    <p:tmAbs val="0"/>
                                  </p:iterate>
                                  <p:childTnLst>
                                    <p:set>
                                      <p:cBhvr>
                                        <p:cTn id="26" fill="hold"/>
                                        <p:tgtEl>
                                          <p:spTgt spid="98"/>
                                        </p:tgtEl>
                                        <p:attrNameLst>
                                          <p:attrName>style.visibility</p:attrName>
                                        </p:attrNameLst>
                                      </p:cBhvr>
                                      <p:to>
                                        <p:strVal val="visible"/>
                                      </p:to>
                                    </p:set>
                                    <p:animEffect filter="wipe(left)" transition="in">
                                      <p:cBhvr>
                                        <p:cTn id="27" dur="400"/>
                                        <p:tgtEl>
                                          <p:spTgt spid="98"/>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2" grpId="6" fill="hold">
                                  <p:stCondLst>
                                    <p:cond delay="0"/>
                                  </p:stCondLst>
                                  <p:iterate type="el" backwards="0">
                                    <p:tmAbs val="0"/>
                                  </p:iterate>
                                  <p:childTnLst>
                                    <p:set>
                                      <p:cBhvr>
                                        <p:cTn id="31" fill="hold"/>
                                        <p:tgtEl>
                                          <p:spTgt spid="103"/>
                                        </p:tgtEl>
                                        <p:attrNameLst>
                                          <p:attrName>style.visibility</p:attrName>
                                        </p:attrNameLst>
                                      </p:cBhvr>
                                      <p:to>
                                        <p:strVal val="visible"/>
                                      </p:to>
                                    </p:set>
                                    <p:animEffect filter="wipe(left)" transition="in">
                                      <p:cBhvr>
                                        <p:cTn id="32" dur="400"/>
                                        <p:tgtEl>
                                          <p:spTgt spid="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8" grpId="5"/>
      <p:bldP build="whole" bldLvl="1" animBg="1" rev="0" advAuto="0" spid="83" grpId="2"/>
      <p:bldP build="whole" bldLvl="1" animBg="1" rev="0" advAuto="0" spid="103" grpId="6"/>
      <p:bldP build="whole" bldLvl="1" animBg="1" rev="0" advAuto="0" spid="93" grpId="4"/>
      <p:bldP build="whole" bldLvl="1" animBg="1" rev="0" advAuto="0" spid="88" grpId="3"/>
      <p:bldP build="whole" bldLvl="1" animBg="1" rev="0" advAuto="0" spid="78"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09" name="phase_pill"/>
          <p:cNvGrpSpPr/>
          <p:nvPr/>
        </p:nvGrpSpPr>
        <p:grpSpPr>
          <a:xfrm>
            <a:off x="548640" y="347472"/>
            <a:ext cx="1422806" cy="256033"/>
            <a:chOff x="0" y="0"/>
            <a:chExt cx="1422805" cy="256031"/>
          </a:xfrm>
        </p:grpSpPr>
        <p:sp>
          <p:nvSpPr>
            <p:cNvPr id="107" name="Rounded Rectangle"/>
            <p:cNvSpPr/>
            <p:nvPr/>
          </p:nvSpPr>
          <p:spPr>
            <a:xfrm>
              <a:off x="0" y="0"/>
              <a:ext cx="1422806"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108" name="HOOK · 4 MIN"/>
            <p:cNvSpPr txBox="1"/>
            <p:nvPr/>
          </p:nvSpPr>
          <p:spPr>
            <a:xfrm>
              <a:off x="37495" y="64515"/>
              <a:ext cx="134781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HOOK · 4 MIN</a:t>
              </a:r>
            </a:p>
          </p:txBody>
        </p:sp>
      </p:grpSp>
      <p:sp>
        <p:nvSpPr>
          <p:cNvPr id="110"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Which one is right?</a:t>
            </a:r>
          </a:p>
        </p:txBody>
      </p:sp>
      <p:sp>
        <p:nvSpPr>
          <p:cNvPr id="111" name="hook_q"/>
          <p:cNvSpPr txBox="1"/>
          <p:nvPr/>
        </p:nvSpPr>
        <p:spPr>
          <a:xfrm>
            <a:off x="548640" y="1636775"/>
            <a:ext cx="8046719"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3200">
                <a:solidFill>
                  <a:srgbClr val="2E8B57"/>
                </a:solidFill>
                <a:latin typeface="Georgia"/>
                <a:ea typeface="Georgia"/>
                <a:cs typeface="Georgia"/>
                <a:sym typeface="Georgia"/>
              </a:defRPr>
            </a:pPr>
            <a:r>
              <a:t>3a</a:t>
            </a:r>
            <a:r>
              <a:rPr>
                <a:solidFill>
                  <a:srgbClr val="2B2350"/>
                </a:solidFill>
              </a:rPr>
              <a:t> + </a:t>
            </a:r>
            <a:r>
              <a:rPr>
                <a:solidFill>
                  <a:srgbClr val="1F6FB2"/>
                </a:solidFill>
              </a:rPr>
              <a:t>2b</a:t>
            </a:r>
            <a:r>
              <a:rPr>
                <a:solidFill>
                  <a:srgbClr val="2B2350"/>
                </a:solidFill>
              </a:rPr>
              <a:t>  =  ?</a:t>
            </a:r>
          </a:p>
        </p:txBody>
      </p:sp>
      <p:grpSp>
        <p:nvGrpSpPr>
          <p:cNvPr id="115" name="h0"/>
          <p:cNvGrpSpPr/>
          <p:nvPr/>
        </p:nvGrpSpPr>
        <p:grpSpPr>
          <a:xfrm>
            <a:off x="548640" y="2395727"/>
            <a:ext cx="2535936" cy="1005841"/>
            <a:chOff x="0" y="0"/>
            <a:chExt cx="2535935" cy="1005839"/>
          </a:xfrm>
        </p:grpSpPr>
        <p:sp>
          <p:nvSpPr>
            <p:cNvPr id="112" name="h0_bg"/>
            <p:cNvSpPr/>
            <p:nvPr/>
          </p:nvSpPr>
          <p:spPr>
            <a:xfrm>
              <a:off x="0" y="0"/>
              <a:ext cx="2535936" cy="1005840"/>
            </a:xfrm>
            <a:prstGeom prst="roundRect">
              <a:avLst>
                <a:gd name="adj" fmla="val 5455"/>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113" name="h0_k"/>
            <p:cNvSpPr txBox="1"/>
            <p:nvPr/>
          </p:nvSpPr>
          <p:spPr>
            <a:xfrm>
              <a:off x="182880" y="159257"/>
              <a:ext cx="365760"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E85D4A"/>
                  </a:solidFill>
                  <a:latin typeface="Georgia"/>
                  <a:ea typeface="Georgia"/>
                  <a:cs typeface="Georgia"/>
                  <a:sym typeface="Georgia"/>
                </a:defRPr>
              </a:lvl1pPr>
            </a:lstStyle>
            <a:p>
              <a:pPr/>
              <a:r>
                <a:t>A</a:t>
              </a:r>
            </a:p>
          </p:txBody>
        </p:sp>
        <p:sp>
          <p:nvSpPr>
            <p:cNvPr id="114" name="h0_t"/>
            <p:cNvSpPr txBox="1"/>
            <p:nvPr/>
          </p:nvSpPr>
          <p:spPr>
            <a:xfrm>
              <a:off x="182879" y="546099"/>
              <a:ext cx="217017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2B2350"/>
                  </a:solidFill>
                  <a:latin typeface="Georgia"/>
                  <a:ea typeface="Georgia"/>
                  <a:cs typeface="Georgia"/>
                  <a:sym typeface="Georgia"/>
                </a:defRPr>
              </a:lvl1pPr>
            </a:lstStyle>
            <a:p>
              <a:pPr/>
              <a:r>
                <a:t>5ab</a:t>
              </a:r>
            </a:p>
          </p:txBody>
        </p:sp>
      </p:grpSp>
      <p:grpSp>
        <p:nvGrpSpPr>
          <p:cNvPr id="119" name="h1"/>
          <p:cNvGrpSpPr/>
          <p:nvPr/>
        </p:nvGrpSpPr>
        <p:grpSpPr>
          <a:xfrm>
            <a:off x="3304032" y="2395727"/>
            <a:ext cx="2535936" cy="1005841"/>
            <a:chOff x="0" y="0"/>
            <a:chExt cx="2535935" cy="1005839"/>
          </a:xfrm>
        </p:grpSpPr>
        <p:sp>
          <p:nvSpPr>
            <p:cNvPr id="116" name="h1_bg"/>
            <p:cNvSpPr/>
            <p:nvPr/>
          </p:nvSpPr>
          <p:spPr>
            <a:xfrm>
              <a:off x="0" y="0"/>
              <a:ext cx="2535936" cy="1005840"/>
            </a:xfrm>
            <a:prstGeom prst="roundRect">
              <a:avLst>
                <a:gd name="adj" fmla="val 5455"/>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117" name="h1_k"/>
            <p:cNvSpPr txBox="1"/>
            <p:nvPr/>
          </p:nvSpPr>
          <p:spPr>
            <a:xfrm>
              <a:off x="182880" y="159257"/>
              <a:ext cx="365760"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E85D4A"/>
                  </a:solidFill>
                  <a:latin typeface="Georgia"/>
                  <a:ea typeface="Georgia"/>
                  <a:cs typeface="Georgia"/>
                  <a:sym typeface="Georgia"/>
                </a:defRPr>
              </a:lvl1pPr>
            </a:lstStyle>
            <a:p>
              <a:pPr/>
              <a:r>
                <a:t>B</a:t>
              </a:r>
            </a:p>
          </p:txBody>
        </p:sp>
        <p:sp>
          <p:nvSpPr>
            <p:cNvPr id="118" name="h1_t"/>
            <p:cNvSpPr txBox="1"/>
            <p:nvPr/>
          </p:nvSpPr>
          <p:spPr>
            <a:xfrm>
              <a:off x="182879" y="546099"/>
              <a:ext cx="217017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2B2350"/>
                  </a:solidFill>
                  <a:latin typeface="Georgia"/>
                  <a:ea typeface="Georgia"/>
                  <a:cs typeface="Georgia"/>
                  <a:sym typeface="Georgia"/>
                </a:defRPr>
              </a:lvl1pPr>
            </a:lstStyle>
            <a:p>
              <a:pPr/>
              <a:r>
                <a:t>6ab</a:t>
              </a:r>
            </a:p>
          </p:txBody>
        </p:sp>
      </p:grpSp>
      <p:grpSp>
        <p:nvGrpSpPr>
          <p:cNvPr id="123" name="h2"/>
          <p:cNvGrpSpPr/>
          <p:nvPr/>
        </p:nvGrpSpPr>
        <p:grpSpPr>
          <a:xfrm>
            <a:off x="6059424" y="2395727"/>
            <a:ext cx="2535936" cy="1005841"/>
            <a:chOff x="0" y="0"/>
            <a:chExt cx="2535935" cy="1005839"/>
          </a:xfrm>
        </p:grpSpPr>
        <p:sp>
          <p:nvSpPr>
            <p:cNvPr id="120" name="h2_bg"/>
            <p:cNvSpPr/>
            <p:nvPr/>
          </p:nvSpPr>
          <p:spPr>
            <a:xfrm>
              <a:off x="0" y="0"/>
              <a:ext cx="2535936" cy="1005840"/>
            </a:xfrm>
            <a:prstGeom prst="roundRect">
              <a:avLst>
                <a:gd name="adj" fmla="val 5455"/>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121" name="h2_k"/>
            <p:cNvSpPr txBox="1"/>
            <p:nvPr/>
          </p:nvSpPr>
          <p:spPr>
            <a:xfrm>
              <a:off x="182880" y="159257"/>
              <a:ext cx="365760"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E85D4A"/>
                  </a:solidFill>
                  <a:latin typeface="Georgia"/>
                  <a:ea typeface="Georgia"/>
                  <a:cs typeface="Georgia"/>
                  <a:sym typeface="Georgia"/>
                </a:defRPr>
              </a:lvl1pPr>
            </a:lstStyle>
            <a:p>
              <a:pPr/>
              <a:r>
                <a:t>C</a:t>
              </a:r>
            </a:p>
          </p:txBody>
        </p:sp>
        <p:sp>
          <p:nvSpPr>
            <p:cNvPr id="122" name="h2_t"/>
            <p:cNvSpPr txBox="1"/>
            <p:nvPr/>
          </p:nvSpPr>
          <p:spPr>
            <a:xfrm>
              <a:off x="182879" y="584199"/>
              <a:ext cx="217017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2B2350"/>
                  </a:solidFill>
                  <a:latin typeface="Georgia"/>
                  <a:ea typeface="Georgia"/>
                  <a:cs typeface="Georgia"/>
                  <a:sym typeface="Georgia"/>
                </a:defRPr>
              </a:lvl1pPr>
            </a:lstStyle>
            <a:p>
              <a:pPr/>
              <a:r>
                <a:t>It cannot be simplified.</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11"/>
                                        </p:tgtEl>
                                        <p:attrNameLst>
                                          <p:attrName>style.visibility</p:attrName>
                                        </p:attrNameLst>
                                      </p:cBhvr>
                                      <p:to>
                                        <p:strVal val="visible"/>
                                      </p:to>
                                    </p:set>
                                    <p:animEffect filter="fade" transition="in">
                                      <p:cBhvr>
                                        <p:cTn id="7" dur="4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15"/>
                                        </p:tgtEl>
                                        <p:attrNameLst>
                                          <p:attrName>style.visibility</p:attrName>
                                        </p:attrNameLst>
                                      </p:cBhvr>
                                      <p:to>
                                        <p:strVal val="visible"/>
                                      </p:to>
                                    </p:set>
                                    <p:animEffect filter="fade" transition="in">
                                      <p:cBhvr>
                                        <p:cTn id="12" dur="400"/>
                                        <p:tgtEl>
                                          <p:spTgt spid="115"/>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19"/>
                                        </p:tgtEl>
                                        <p:attrNameLst>
                                          <p:attrName>style.visibility</p:attrName>
                                        </p:attrNameLst>
                                      </p:cBhvr>
                                      <p:to>
                                        <p:strVal val="visible"/>
                                      </p:to>
                                    </p:set>
                                    <p:animEffect filter="fade" transition="in">
                                      <p:cBhvr>
                                        <p:cTn id="17" dur="400"/>
                                        <p:tgtEl>
                                          <p:spTgt spid="119"/>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23"/>
                                        </p:tgtEl>
                                        <p:attrNameLst>
                                          <p:attrName>style.visibility</p:attrName>
                                        </p:attrNameLst>
                                      </p:cBhvr>
                                      <p:to>
                                        <p:strVal val="visible"/>
                                      </p:to>
                                    </p:set>
                                    <p:animEffect filter="fade" transition="in">
                                      <p:cBhvr>
                                        <p:cTn id="22" dur="4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5" grpId="2"/>
      <p:bldP build="whole" bldLvl="1" animBg="1" rev="0" advAuto="0" spid="111" grpId="1"/>
      <p:bldP build="whole" bldLvl="1" animBg="1" rev="0" advAuto="0" spid="119" grpId="3"/>
      <p:bldP build="whole" bldLvl="1" animBg="1" rev="0" advAuto="0" spid="123"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29" name="phase_pill"/>
          <p:cNvGrpSpPr/>
          <p:nvPr/>
        </p:nvGrpSpPr>
        <p:grpSpPr>
          <a:xfrm>
            <a:off x="548640" y="347472"/>
            <a:ext cx="1422806" cy="256033"/>
            <a:chOff x="0" y="0"/>
            <a:chExt cx="1422805" cy="256031"/>
          </a:xfrm>
        </p:grpSpPr>
        <p:sp>
          <p:nvSpPr>
            <p:cNvPr id="127" name="Rounded Rectangle"/>
            <p:cNvSpPr/>
            <p:nvPr/>
          </p:nvSpPr>
          <p:spPr>
            <a:xfrm>
              <a:off x="0" y="0"/>
              <a:ext cx="1422806"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128" name="I DO · 4 MIN"/>
            <p:cNvSpPr txBox="1"/>
            <p:nvPr/>
          </p:nvSpPr>
          <p:spPr>
            <a:xfrm>
              <a:off x="37495" y="64515"/>
              <a:ext cx="134781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I DO · 4 MIN</a:t>
              </a:r>
            </a:p>
          </p:txBody>
        </p:sp>
      </p:grpSp>
      <p:sp>
        <p:nvSpPr>
          <p:cNvPr id="130"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First: what is a term?</a:t>
            </a:r>
          </a:p>
        </p:txBody>
      </p:sp>
      <p:sp>
        <p:nvSpPr>
          <p:cNvPr id="131" name="slide_sub"/>
          <p:cNvSpPr txBox="1"/>
          <p:nvPr/>
        </p:nvSpPr>
        <p:spPr>
          <a:xfrm>
            <a:off x="548640" y="1349546"/>
            <a:ext cx="8046719"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Terms are separated by + and −. The sign belongs to the term AFTER it.</a:t>
            </a:r>
          </a:p>
        </p:txBody>
      </p:sp>
      <p:sp>
        <p:nvSpPr>
          <p:cNvPr id="132" name="tm_expr"/>
          <p:cNvSpPr txBox="1"/>
          <p:nvPr/>
        </p:nvSpPr>
        <p:spPr>
          <a:xfrm>
            <a:off x="548640" y="1761997"/>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3000">
                <a:solidFill>
                  <a:srgbClr val="2E8B57"/>
                </a:solidFill>
                <a:latin typeface="Georgia"/>
                <a:ea typeface="Georgia"/>
                <a:cs typeface="Georgia"/>
                <a:sym typeface="Georgia"/>
              </a:defRPr>
            </a:pPr>
            <a:r>
              <a:t>4a</a:t>
            </a:r>
            <a:r>
              <a:rPr>
                <a:solidFill>
                  <a:srgbClr val="2B2350"/>
                </a:solidFill>
              </a:rPr>
              <a:t>  +  </a:t>
            </a:r>
            <a:r>
              <a:rPr>
                <a:solidFill>
                  <a:srgbClr val="1F6FB2"/>
                </a:solidFill>
              </a:rPr>
              <a:t>3b</a:t>
            </a:r>
            <a:r>
              <a:rPr>
                <a:solidFill>
                  <a:srgbClr val="2B2350"/>
                </a:solidFill>
              </a:rPr>
              <a:t>  −  </a:t>
            </a:r>
            <a:r>
              <a:t>2a</a:t>
            </a:r>
            <a:r>
              <a:rPr>
                <a:solidFill>
                  <a:srgbClr val="2B2350"/>
                </a:solidFill>
              </a:rPr>
              <a:t>  +  7</a:t>
            </a:r>
          </a:p>
        </p:txBody>
      </p:sp>
      <p:grpSp>
        <p:nvGrpSpPr>
          <p:cNvPr id="136" name="tm0"/>
          <p:cNvGrpSpPr/>
          <p:nvPr/>
        </p:nvGrpSpPr>
        <p:grpSpPr>
          <a:xfrm>
            <a:off x="548639" y="2487167"/>
            <a:ext cx="1874522" cy="859537"/>
            <a:chOff x="0" y="0"/>
            <a:chExt cx="1874520" cy="859536"/>
          </a:xfrm>
        </p:grpSpPr>
        <p:sp>
          <p:nvSpPr>
            <p:cNvPr id="133" name="tm0_bg"/>
            <p:cNvSpPr/>
            <p:nvPr/>
          </p:nvSpPr>
          <p:spPr>
            <a:xfrm>
              <a:off x="0" y="0"/>
              <a:ext cx="1874521" cy="859537"/>
            </a:xfrm>
            <a:prstGeom prst="roundRect">
              <a:avLst>
                <a:gd name="adj" fmla="val 6383"/>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134" name="tm0_t"/>
            <p:cNvSpPr txBox="1"/>
            <p:nvPr/>
          </p:nvSpPr>
          <p:spPr>
            <a:xfrm>
              <a:off x="-1" y="143002"/>
              <a:ext cx="1874522"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2E8B57"/>
                  </a:solidFill>
                  <a:latin typeface="Georgia"/>
                  <a:ea typeface="Georgia"/>
                  <a:cs typeface="Georgia"/>
                  <a:sym typeface="Georgia"/>
                </a:defRPr>
              </a:lvl1pPr>
            </a:lstStyle>
            <a:p>
              <a:pPr/>
              <a:r>
                <a:t>4a</a:t>
              </a:r>
            </a:p>
          </p:txBody>
        </p:sp>
        <p:sp>
          <p:nvSpPr>
            <p:cNvPr id="135" name="tm0_l"/>
            <p:cNvSpPr txBox="1"/>
            <p:nvPr/>
          </p:nvSpPr>
          <p:spPr>
            <a:xfrm>
              <a:off x="-1" y="563163"/>
              <a:ext cx="1874522"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5E5A70"/>
                  </a:solidFill>
                  <a:latin typeface="Arial"/>
                  <a:ea typeface="Arial"/>
                  <a:cs typeface="Arial"/>
                  <a:sym typeface="Arial"/>
                </a:defRPr>
              </a:lvl1pPr>
            </a:lstStyle>
            <a:p>
              <a:pPr/>
              <a:r>
                <a:t>a term</a:t>
              </a:r>
            </a:p>
          </p:txBody>
        </p:sp>
      </p:grpSp>
      <p:grpSp>
        <p:nvGrpSpPr>
          <p:cNvPr id="140" name="tm1"/>
          <p:cNvGrpSpPr/>
          <p:nvPr/>
        </p:nvGrpSpPr>
        <p:grpSpPr>
          <a:xfrm>
            <a:off x="2606039" y="2487167"/>
            <a:ext cx="1874522" cy="859537"/>
            <a:chOff x="0" y="0"/>
            <a:chExt cx="1874520" cy="859536"/>
          </a:xfrm>
        </p:grpSpPr>
        <p:sp>
          <p:nvSpPr>
            <p:cNvPr id="137" name="tm1_bg"/>
            <p:cNvSpPr/>
            <p:nvPr/>
          </p:nvSpPr>
          <p:spPr>
            <a:xfrm>
              <a:off x="0" y="0"/>
              <a:ext cx="1874521" cy="859537"/>
            </a:xfrm>
            <a:prstGeom prst="roundRect">
              <a:avLst>
                <a:gd name="adj" fmla="val 6383"/>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138" name="tm1_t"/>
            <p:cNvSpPr txBox="1"/>
            <p:nvPr/>
          </p:nvSpPr>
          <p:spPr>
            <a:xfrm>
              <a:off x="-1" y="143002"/>
              <a:ext cx="1874522"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1F6FB2"/>
                  </a:solidFill>
                  <a:latin typeface="Georgia"/>
                  <a:ea typeface="Georgia"/>
                  <a:cs typeface="Georgia"/>
                  <a:sym typeface="Georgia"/>
                </a:defRPr>
              </a:lvl1pPr>
            </a:lstStyle>
            <a:p>
              <a:pPr/>
              <a:r>
                <a:t>+3b</a:t>
              </a:r>
            </a:p>
          </p:txBody>
        </p:sp>
        <p:sp>
          <p:nvSpPr>
            <p:cNvPr id="139" name="tm1_l"/>
            <p:cNvSpPr txBox="1"/>
            <p:nvPr/>
          </p:nvSpPr>
          <p:spPr>
            <a:xfrm>
              <a:off x="-1" y="563163"/>
              <a:ext cx="1874522"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5E5A70"/>
                  </a:solidFill>
                  <a:latin typeface="Arial"/>
                  <a:ea typeface="Arial"/>
                  <a:cs typeface="Arial"/>
                  <a:sym typeface="Arial"/>
                </a:defRPr>
              </a:lvl1pPr>
            </a:lstStyle>
            <a:p>
              <a:pPr/>
              <a:r>
                <a:t>a term</a:t>
              </a:r>
            </a:p>
          </p:txBody>
        </p:sp>
      </p:grpSp>
      <p:grpSp>
        <p:nvGrpSpPr>
          <p:cNvPr id="144" name="tm2"/>
          <p:cNvGrpSpPr/>
          <p:nvPr/>
        </p:nvGrpSpPr>
        <p:grpSpPr>
          <a:xfrm>
            <a:off x="4663440" y="2487167"/>
            <a:ext cx="1874521" cy="859537"/>
            <a:chOff x="0" y="0"/>
            <a:chExt cx="1874520" cy="859536"/>
          </a:xfrm>
        </p:grpSpPr>
        <p:sp>
          <p:nvSpPr>
            <p:cNvPr id="141" name="tm2_bg"/>
            <p:cNvSpPr/>
            <p:nvPr/>
          </p:nvSpPr>
          <p:spPr>
            <a:xfrm>
              <a:off x="0" y="0"/>
              <a:ext cx="1874521" cy="859537"/>
            </a:xfrm>
            <a:prstGeom prst="roundRect">
              <a:avLst>
                <a:gd name="adj" fmla="val 6383"/>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142" name="tm2_t"/>
            <p:cNvSpPr txBox="1"/>
            <p:nvPr/>
          </p:nvSpPr>
          <p:spPr>
            <a:xfrm>
              <a:off x="-1" y="143002"/>
              <a:ext cx="1874522"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2E8B57"/>
                  </a:solidFill>
                  <a:latin typeface="Georgia"/>
                  <a:ea typeface="Georgia"/>
                  <a:cs typeface="Georgia"/>
                  <a:sym typeface="Georgia"/>
                </a:defRPr>
              </a:lvl1pPr>
            </a:lstStyle>
            <a:p>
              <a:pPr/>
              <a:r>
                <a:t>−2a</a:t>
              </a:r>
            </a:p>
          </p:txBody>
        </p:sp>
        <p:sp>
          <p:nvSpPr>
            <p:cNvPr id="143" name="tm2_l"/>
            <p:cNvSpPr txBox="1"/>
            <p:nvPr/>
          </p:nvSpPr>
          <p:spPr>
            <a:xfrm>
              <a:off x="-1" y="563163"/>
              <a:ext cx="1874522"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5E5A70"/>
                  </a:solidFill>
                  <a:latin typeface="Arial"/>
                  <a:ea typeface="Arial"/>
                  <a:cs typeface="Arial"/>
                  <a:sym typeface="Arial"/>
                </a:defRPr>
              </a:lvl1pPr>
            </a:lstStyle>
            <a:p>
              <a:pPr/>
              <a:r>
                <a:t>a term</a:t>
              </a:r>
            </a:p>
          </p:txBody>
        </p:sp>
      </p:grpSp>
      <p:grpSp>
        <p:nvGrpSpPr>
          <p:cNvPr id="148" name="tm3"/>
          <p:cNvGrpSpPr/>
          <p:nvPr/>
        </p:nvGrpSpPr>
        <p:grpSpPr>
          <a:xfrm>
            <a:off x="6720840" y="2487167"/>
            <a:ext cx="1874521" cy="859537"/>
            <a:chOff x="0" y="0"/>
            <a:chExt cx="1874520" cy="859536"/>
          </a:xfrm>
        </p:grpSpPr>
        <p:sp>
          <p:nvSpPr>
            <p:cNvPr id="145" name="tm3_bg"/>
            <p:cNvSpPr/>
            <p:nvPr/>
          </p:nvSpPr>
          <p:spPr>
            <a:xfrm>
              <a:off x="0" y="0"/>
              <a:ext cx="1874521" cy="859537"/>
            </a:xfrm>
            <a:prstGeom prst="roundRect">
              <a:avLst>
                <a:gd name="adj" fmla="val 6383"/>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146" name="tm3_t"/>
            <p:cNvSpPr txBox="1"/>
            <p:nvPr/>
          </p:nvSpPr>
          <p:spPr>
            <a:xfrm>
              <a:off x="-1" y="143002"/>
              <a:ext cx="1874522"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2B2350"/>
                  </a:solidFill>
                  <a:latin typeface="Georgia"/>
                  <a:ea typeface="Georgia"/>
                  <a:cs typeface="Georgia"/>
                  <a:sym typeface="Georgia"/>
                </a:defRPr>
              </a:lvl1pPr>
            </a:lstStyle>
            <a:p>
              <a:pPr/>
              <a:r>
                <a:t>+7</a:t>
              </a:r>
            </a:p>
          </p:txBody>
        </p:sp>
        <p:sp>
          <p:nvSpPr>
            <p:cNvPr id="147" name="tm3_l"/>
            <p:cNvSpPr txBox="1"/>
            <p:nvPr/>
          </p:nvSpPr>
          <p:spPr>
            <a:xfrm>
              <a:off x="-1" y="563163"/>
              <a:ext cx="1874522"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5E5A70"/>
                  </a:solidFill>
                  <a:latin typeface="Arial"/>
                  <a:ea typeface="Arial"/>
                  <a:cs typeface="Arial"/>
                  <a:sym typeface="Arial"/>
                </a:defRPr>
              </a:lvl1pPr>
            </a:lstStyle>
            <a:p>
              <a:pPr/>
              <a:r>
                <a:t>a term</a:t>
              </a:r>
            </a:p>
          </p:txBody>
        </p:sp>
      </p:grpSp>
      <p:grpSp>
        <p:nvGrpSpPr>
          <p:cNvPr id="151" name="tm_banner"/>
          <p:cNvGrpSpPr/>
          <p:nvPr/>
        </p:nvGrpSpPr>
        <p:grpSpPr>
          <a:xfrm>
            <a:off x="548640" y="3602735"/>
            <a:ext cx="8046720" cy="475489"/>
            <a:chOff x="0" y="0"/>
            <a:chExt cx="8046719" cy="475487"/>
          </a:xfrm>
        </p:grpSpPr>
        <p:sp>
          <p:nvSpPr>
            <p:cNvPr id="149" name="Rounded Rectangle"/>
            <p:cNvSpPr/>
            <p:nvPr/>
          </p:nvSpPr>
          <p:spPr>
            <a:xfrm>
              <a:off x="0" y="0"/>
              <a:ext cx="8046720" cy="475488"/>
            </a:xfrm>
            <a:prstGeom prst="roundRect">
              <a:avLst>
                <a:gd name="adj" fmla="val 15385"/>
              </a:avLst>
            </a:prstGeom>
            <a:solidFill>
              <a:srgbClr val="2B2350"/>
            </a:solidFill>
            <a:ln w="9525" cap="flat">
              <a:solidFill>
                <a:srgbClr val="2B2350"/>
              </a:solidFill>
              <a:prstDash val="solid"/>
              <a:round/>
            </a:ln>
            <a:effectLst/>
          </p:spPr>
          <p:txBody>
            <a:bodyPr wrap="square" lIns="45719" tIns="45719" rIns="45719" bIns="45719" numCol="1" anchor="ctr">
              <a:noAutofit/>
            </a:bodyPr>
            <a:lstStyle/>
            <a:p>
              <a:pPr algn="ctr">
                <a:defRPr sz="1200"/>
              </a:pPr>
            </a:p>
          </p:txBody>
        </p:sp>
        <p:sp>
          <p:nvSpPr>
            <p:cNvPr id="150" name="That minus sign belongs to the 2a. It looks like 3b + (-2a)."/>
            <p:cNvSpPr txBox="1"/>
            <p:nvPr/>
          </p:nvSpPr>
          <p:spPr>
            <a:xfrm>
              <a:off x="26188" y="151336"/>
              <a:ext cx="7994343"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solidFill>
                    <a:srgbClr val="FFFFFF"/>
                  </a:solidFill>
                  <a:latin typeface="Arial"/>
                  <a:ea typeface="Arial"/>
                  <a:cs typeface="Arial"/>
                  <a:sym typeface="Arial"/>
                </a:defRPr>
              </a:lvl1pPr>
            </a:lstStyle>
            <a:p>
              <a:pPr/>
              <a:r>
                <a:t>That minus sign belongs to the 2a. It looks like 3b + (-2a).</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32"/>
                                        </p:tgtEl>
                                        <p:attrNameLst>
                                          <p:attrName>style.visibility</p:attrName>
                                        </p:attrNameLst>
                                      </p:cBhvr>
                                      <p:to>
                                        <p:strVal val="visible"/>
                                      </p:to>
                                    </p:set>
                                    <p:animEffect filter="fade" transition="in">
                                      <p:cBhvr>
                                        <p:cTn id="7" dur="400"/>
                                        <p:tgtEl>
                                          <p:spTgt spid="13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16" presetID="23" grpId="2" fill="hold">
                                  <p:stCondLst>
                                    <p:cond delay="0"/>
                                  </p:stCondLst>
                                  <p:iterate type="el" backwards="0">
                                    <p:tmAbs val="0"/>
                                  </p:iterate>
                                  <p:childTnLst>
                                    <p:set>
                                      <p:cBhvr>
                                        <p:cTn id="11" fill="hold"/>
                                        <p:tgtEl>
                                          <p:spTgt spid="136"/>
                                        </p:tgtEl>
                                        <p:attrNameLst>
                                          <p:attrName>style.visibility</p:attrName>
                                        </p:attrNameLst>
                                      </p:cBhvr>
                                      <p:to>
                                        <p:strVal val="visible"/>
                                      </p:to>
                                    </p:set>
                                    <p:anim calcmode="lin" valueType="num">
                                      <p:cBhvr>
                                        <p:cTn id="12" dur="400" fill="hold"/>
                                        <p:tgtEl>
                                          <p:spTgt spid="136"/>
                                        </p:tgtEl>
                                        <p:attrNameLst>
                                          <p:attrName>ppt_w</p:attrName>
                                        </p:attrNameLst>
                                      </p:cBhvr>
                                      <p:tavLst>
                                        <p:tav tm="0">
                                          <p:val>
                                            <p:fltVal val="0"/>
                                          </p:val>
                                        </p:tav>
                                        <p:tav tm="100000">
                                          <p:val>
                                            <p:strVal val="#ppt_w"/>
                                          </p:val>
                                        </p:tav>
                                      </p:tavLst>
                                    </p:anim>
                                    <p:anim calcmode="lin" valueType="num">
                                      <p:cBhvr>
                                        <p:cTn id="13" dur="400" fill="hold"/>
                                        <p:tgtEl>
                                          <p:spTgt spid="136"/>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16" presetID="23" grpId="3" fill="hold">
                                  <p:stCondLst>
                                    <p:cond delay="0"/>
                                  </p:stCondLst>
                                  <p:iterate type="el" backwards="0">
                                    <p:tmAbs val="0"/>
                                  </p:iterate>
                                  <p:childTnLst>
                                    <p:set>
                                      <p:cBhvr>
                                        <p:cTn id="17" fill="hold"/>
                                        <p:tgtEl>
                                          <p:spTgt spid="140"/>
                                        </p:tgtEl>
                                        <p:attrNameLst>
                                          <p:attrName>style.visibility</p:attrName>
                                        </p:attrNameLst>
                                      </p:cBhvr>
                                      <p:to>
                                        <p:strVal val="visible"/>
                                      </p:to>
                                    </p:set>
                                    <p:anim calcmode="lin" valueType="num">
                                      <p:cBhvr>
                                        <p:cTn id="18" dur="400" fill="hold"/>
                                        <p:tgtEl>
                                          <p:spTgt spid="140"/>
                                        </p:tgtEl>
                                        <p:attrNameLst>
                                          <p:attrName>ppt_w</p:attrName>
                                        </p:attrNameLst>
                                      </p:cBhvr>
                                      <p:tavLst>
                                        <p:tav tm="0">
                                          <p:val>
                                            <p:fltVal val="0"/>
                                          </p:val>
                                        </p:tav>
                                        <p:tav tm="100000">
                                          <p:val>
                                            <p:strVal val="#ppt_w"/>
                                          </p:val>
                                        </p:tav>
                                      </p:tavLst>
                                    </p:anim>
                                    <p:anim calcmode="lin" valueType="num">
                                      <p:cBhvr>
                                        <p:cTn id="19" dur="400" fill="hold"/>
                                        <p:tgtEl>
                                          <p:spTgt spid="140"/>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16" presetID="23" grpId="4" fill="hold">
                                  <p:stCondLst>
                                    <p:cond delay="0"/>
                                  </p:stCondLst>
                                  <p:iterate type="el" backwards="0">
                                    <p:tmAbs val="0"/>
                                  </p:iterate>
                                  <p:childTnLst>
                                    <p:set>
                                      <p:cBhvr>
                                        <p:cTn id="23" fill="hold"/>
                                        <p:tgtEl>
                                          <p:spTgt spid="144"/>
                                        </p:tgtEl>
                                        <p:attrNameLst>
                                          <p:attrName>style.visibility</p:attrName>
                                        </p:attrNameLst>
                                      </p:cBhvr>
                                      <p:to>
                                        <p:strVal val="visible"/>
                                      </p:to>
                                    </p:set>
                                    <p:anim calcmode="lin" valueType="num">
                                      <p:cBhvr>
                                        <p:cTn id="24" dur="400" fill="hold"/>
                                        <p:tgtEl>
                                          <p:spTgt spid="144"/>
                                        </p:tgtEl>
                                        <p:attrNameLst>
                                          <p:attrName>ppt_w</p:attrName>
                                        </p:attrNameLst>
                                      </p:cBhvr>
                                      <p:tavLst>
                                        <p:tav tm="0">
                                          <p:val>
                                            <p:fltVal val="0"/>
                                          </p:val>
                                        </p:tav>
                                        <p:tav tm="100000">
                                          <p:val>
                                            <p:strVal val="#ppt_w"/>
                                          </p:val>
                                        </p:tav>
                                      </p:tavLst>
                                    </p:anim>
                                    <p:anim calcmode="lin" valueType="num">
                                      <p:cBhvr>
                                        <p:cTn id="25" dur="400" fill="hold"/>
                                        <p:tgtEl>
                                          <p:spTgt spid="144"/>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Class="entr" nodeType="clickEffect" presetSubtype="16" presetID="23" grpId="5" fill="hold">
                                  <p:stCondLst>
                                    <p:cond delay="0"/>
                                  </p:stCondLst>
                                  <p:iterate type="el" backwards="0">
                                    <p:tmAbs val="0"/>
                                  </p:iterate>
                                  <p:childTnLst>
                                    <p:set>
                                      <p:cBhvr>
                                        <p:cTn id="29" fill="hold"/>
                                        <p:tgtEl>
                                          <p:spTgt spid="148"/>
                                        </p:tgtEl>
                                        <p:attrNameLst>
                                          <p:attrName>style.visibility</p:attrName>
                                        </p:attrNameLst>
                                      </p:cBhvr>
                                      <p:to>
                                        <p:strVal val="visible"/>
                                      </p:to>
                                    </p:set>
                                    <p:anim calcmode="lin" valueType="num">
                                      <p:cBhvr>
                                        <p:cTn id="30" dur="400" fill="hold"/>
                                        <p:tgtEl>
                                          <p:spTgt spid="148"/>
                                        </p:tgtEl>
                                        <p:attrNameLst>
                                          <p:attrName>ppt_w</p:attrName>
                                        </p:attrNameLst>
                                      </p:cBhvr>
                                      <p:tavLst>
                                        <p:tav tm="0">
                                          <p:val>
                                            <p:fltVal val="0"/>
                                          </p:val>
                                        </p:tav>
                                        <p:tav tm="100000">
                                          <p:val>
                                            <p:strVal val="#ppt_w"/>
                                          </p:val>
                                        </p:tav>
                                      </p:tavLst>
                                    </p:anim>
                                    <p:anim calcmode="lin" valueType="num">
                                      <p:cBhvr>
                                        <p:cTn id="31" dur="400" fill="hold"/>
                                        <p:tgtEl>
                                          <p:spTgt spid="148"/>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16" presetID="23" grpId="6" fill="hold">
                                  <p:stCondLst>
                                    <p:cond delay="0"/>
                                  </p:stCondLst>
                                  <p:iterate type="el" backwards="0">
                                    <p:tmAbs val="0"/>
                                  </p:iterate>
                                  <p:childTnLst>
                                    <p:set>
                                      <p:cBhvr>
                                        <p:cTn id="35" fill="hold"/>
                                        <p:tgtEl>
                                          <p:spTgt spid="151"/>
                                        </p:tgtEl>
                                        <p:attrNameLst>
                                          <p:attrName>style.visibility</p:attrName>
                                        </p:attrNameLst>
                                      </p:cBhvr>
                                      <p:to>
                                        <p:strVal val="visible"/>
                                      </p:to>
                                    </p:set>
                                    <p:anim calcmode="lin" valueType="num">
                                      <p:cBhvr>
                                        <p:cTn id="36" dur="400" fill="hold"/>
                                        <p:tgtEl>
                                          <p:spTgt spid="151"/>
                                        </p:tgtEl>
                                        <p:attrNameLst>
                                          <p:attrName>ppt_w</p:attrName>
                                        </p:attrNameLst>
                                      </p:cBhvr>
                                      <p:tavLst>
                                        <p:tav tm="0">
                                          <p:val>
                                            <p:fltVal val="0"/>
                                          </p:val>
                                        </p:tav>
                                        <p:tav tm="100000">
                                          <p:val>
                                            <p:strVal val="#ppt_w"/>
                                          </p:val>
                                        </p:tav>
                                      </p:tavLst>
                                    </p:anim>
                                    <p:anim calcmode="lin" valueType="num">
                                      <p:cBhvr>
                                        <p:cTn id="37" dur="400" fill="hold"/>
                                        <p:tgtEl>
                                          <p:spTgt spid="15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8" grpId="5"/>
      <p:bldP build="whole" bldLvl="1" animBg="1" rev="0" advAuto="0" spid="151" grpId="6"/>
      <p:bldP build="whole" bldLvl="1" animBg="1" rev="0" advAuto="0" spid="136" grpId="2"/>
      <p:bldP build="whole" bldLvl="1" animBg="1" rev="0" advAuto="0" spid="132" grpId="1"/>
      <p:bldP build="whole" bldLvl="1" animBg="1" rev="0" advAuto="0" spid="140" grpId="3"/>
      <p:bldP build="whole" bldLvl="1" animBg="1" rev="0" advAuto="0" spid="144" grpId="4"/>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57" name="phase_pill"/>
          <p:cNvGrpSpPr/>
          <p:nvPr/>
        </p:nvGrpSpPr>
        <p:grpSpPr>
          <a:xfrm>
            <a:off x="548640" y="347472"/>
            <a:ext cx="1422806" cy="256033"/>
            <a:chOff x="0" y="0"/>
            <a:chExt cx="1422805" cy="256031"/>
          </a:xfrm>
        </p:grpSpPr>
        <p:sp>
          <p:nvSpPr>
            <p:cNvPr id="155" name="Rounded Rectangle"/>
            <p:cNvSpPr/>
            <p:nvPr/>
          </p:nvSpPr>
          <p:spPr>
            <a:xfrm>
              <a:off x="0" y="0"/>
              <a:ext cx="1422806"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156" name="I DO · 4 MIN"/>
            <p:cNvSpPr txBox="1"/>
            <p:nvPr/>
          </p:nvSpPr>
          <p:spPr>
            <a:xfrm>
              <a:off x="37495" y="64515"/>
              <a:ext cx="134781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I DO · 4 MIN</a:t>
              </a:r>
            </a:p>
          </p:txBody>
        </p:sp>
      </p:grpSp>
      <p:sp>
        <p:nvSpPr>
          <p:cNvPr id="158"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Like terms: same letters or powers</a:t>
            </a:r>
          </a:p>
        </p:txBody>
      </p:sp>
      <p:sp>
        <p:nvSpPr>
          <p:cNvPr id="159" name="lk_tens"/>
          <p:cNvSpPr txBox="1"/>
          <p:nvPr/>
        </p:nvSpPr>
        <p:spPr>
          <a:xfrm>
            <a:off x="548640" y="1615947"/>
            <a:ext cx="411480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000">
                <a:solidFill>
                  <a:srgbClr val="2B2350"/>
                </a:solidFill>
                <a:latin typeface="Georgia"/>
                <a:ea typeface="Georgia"/>
                <a:cs typeface="Georgia"/>
                <a:sym typeface="Georgia"/>
              </a:defRPr>
            </a:pPr>
            <a:r>
              <a:t>3 tens + 4 tens = </a:t>
            </a:r>
            <a:r>
              <a:rPr>
                <a:solidFill>
                  <a:srgbClr val="C0392B"/>
                </a:solidFill>
              </a:rPr>
              <a:t>7 tens</a:t>
            </a:r>
          </a:p>
        </p:txBody>
      </p:sp>
      <p:sp>
        <p:nvSpPr>
          <p:cNvPr id="160" name="lk_a"/>
          <p:cNvSpPr txBox="1"/>
          <p:nvPr/>
        </p:nvSpPr>
        <p:spPr>
          <a:xfrm>
            <a:off x="548640" y="2109723"/>
            <a:ext cx="411480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000">
                <a:solidFill>
                  <a:srgbClr val="2E8B57"/>
                </a:solidFill>
                <a:latin typeface="Georgia"/>
                <a:ea typeface="Georgia"/>
                <a:cs typeface="Georgia"/>
                <a:sym typeface="Georgia"/>
              </a:defRPr>
            </a:pPr>
            <a:r>
              <a:t>3a</a:t>
            </a:r>
            <a:r>
              <a:rPr>
                <a:solidFill>
                  <a:srgbClr val="2B2350"/>
                </a:solidFill>
              </a:rPr>
              <a:t> + </a:t>
            </a:r>
            <a:r>
              <a:t>4a</a:t>
            </a:r>
            <a:r>
              <a:rPr>
                <a:solidFill>
                  <a:srgbClr val="2B2350"/>
                </a:solidFill>
              </a:rPr>
              <a:t> = </a:t>
            </a:r>
            <a:r>
              <a:rPr>
                <a:solidFill>
                  <a:srgbClr val="C0392B"/>
                </a:solidFill>
              </a:rPr>
              <a:t>7a</a:t>
            </a:r>
          </a:p>
        </p:txBody>
      </p:sp>
      <p:sp>
        <p:nvSpPr>
          <p:cNvPr id="161" name="lk_note"/>
          <p:cNvSpPr txBox="1"/>
          <p:nvPr/>
        </p:nvSpPr>
        <p:spPr>
          <a:xfrm>
            <a:off x="548640" y="2523744"/>
            <a:ext cx="4114801" cy="18200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100">
                <a:solidFill>
                  <a:srgbClr val="5E5A70"/>
                </a:solidFill>
                <a:latin typeface="Arial"/>
                <a:ea typeface="Arial"/>
                <a:cs typeface="Arial"/>
                <a:sym typeface="Arial"/>
              </a:defRPr>
            </a:lvl1pPr>
          </a:lstStyle>
          <a:p>
            <a:pPr/>
            <a:r>
              <a:t>Same question. You don’t need to know what ‘a’ means.</a:t>
            </a:r>
          </a:p>
        </p:txBody>
      </p:sp>
      <p:grpSp>
        <p:nvGrpSpPr>
          <p:cNvPr id="166" name="lr0"/>
          <p:cNvGrpSpPr/>
          <p:nvPr/>
        </p:nvGrpSpPr>
        <p:grpSpPr>
          <a:xfrm>
            <a:off x="5029199" y="1517903"/>
            <a:ext cx="1737362" cy="1773937"/>
            <a:chOff x="0" y="0"/>
            <a:chExt cx="1737360" cy="1773935"/>
          </a:xfrm>
        </p:grpSpPr>
        <p:sp>
          <p:nvSpPr>
            <p:cNvPr id="162" name="lr0_bg"/>
            <p:cNvSpPr/>
            <p:nvPr/>
          </p:nvSpPr>
          <p:spPr>
            <a:xfrm>
              <a:off x="0" y="0"/>
              <a:ext cx="1737361" cy="1773936"/>
            </a:xfrm>
            <a:prstGeom prst="roundRect">
              <a:avLst>
                <a:gd name="adj" fmla="val 3158"/>
              </a:avLst>
            </a:prstGeom>
            <a:solidFill>
              <a:srgbClr val="E8F3EC"/>
            </a:solidFill>
            <a:ln w="17780" cap="flat">
              <a:solidFill>
                <a:srgbClr val="2E8B57"/>
              </a:solidFill>
              <a:prstDash val="solid"/>
              <a:round/>
            </a:ln>
            <a:effectLst/>
          </p:spPr>
          <p:txBody>
            <a:bodyPr wrap="square" lIns="45719" tIns="45719" rIns="45719" bIns="45719" numCol="1" anchor="t">
              <a:noAutofit/>
            </a:bodyPr>
            <a:lstStyle/>
            <a:p>
              <a:pPr/>
            </a:p>
          </p:txBody>
        </p:sp>
        <p:sp>
          <p:nvSpPr>
            <p:cNvPr id="163" name="lr0_tag"/>
            <p:cNvSpPr txBox="1"/>
            <p:nvPr/>
          </p:nvSpPr>
          <p:spPr>
            <a:xfrm>
              <a:off x="-1" y="191260"/>
              <a:ext cx="1737362"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00" sz="1100">
                  <a:solidFill>
                    <a:srgbClr val="2E8B57"/>
                  </a:solidFill>
                  <a:latin typeface="Arial"/>
                  <a:ea typeface="Arial"/>
                  <a:cs typeface="Arial"/>
                  <a:sym typeface="Arial"/>
                </a:defRPr>
              </a:lvl1pPr>
            </a:lstStyle>
            <a:p>
              <a:pPr/>
              <a:r>
                <a:t>LIKE</a:t>
              </a:r>
            </a:p>
          </p:txBody>
        </p:sp>
        <p:sp>
          <p:nvSpPr>
            <p:cNvPr id="164" name="lr0_e1"/>
            <p:cNvSpPr txBox="1"/>
            <p:nvPr/>
          </p:nvSpPr>
          <p:spPr>
            <a:xfrm>
              <a:off x="-1" y="558799"/>
              <a:ext cx="173736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2B2350"/>
                  </a:solidFill>
                  <a:latin typeface="Georgia"/>
                  <a:ea typeface="Georgia"/>
                  <a:cs typeface="Georgia"/>
                  <a:sym typeface="Georgia"/>
                </a:defRPr>
              </a:lvl1pPr>
            </a:lstStyle>
            <a:p>
              <a:pPr/>
              <a:r>
                <a:t>3a and 7a</a:t>
              </a:r>
            </a:p>
          </p:txBody>
        </p:sp>
        <p:sp>
          <p:nvSpPr>
            <p:cNvPr id="165" name="lr0_e2"/>
            <p:cNvSpPr txBox="1"/>
            <p:nvPr/>
          </p:nvSpPr>
          <p:spPr>
            <a:xfrm>
              <a:off x="-1" y="1052575"/>
              <a:ext cx="173736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2B2350"/>
                  </a:solidFill>
                  <a:latin typeface="Georgia"/>
                  <a:ea typeface="Georgia"/>
                  <a:cs typeface="Georgia"/>
                  <a:sym typeface="Georgia"/>
                </a:defRPr>
              </a:lvl1pPr>
            </a:lstStyle>
            <a:p>
              <a:pPr/>
              <a:r>
                <a:t>ab and ba</a:t>
              </a:r>
            </a:p>
          </p:txBody>
        </p:sp>
      </p:grpSp>
      <p:grpSp>
        <p:nvGrpSpPr>
          <p:cNvPr id="171" name="lr1"/>
          <p:cNvGrpSpPr/>
          <p:nvPr/>
        </p:nvGrpSpPr>
        <p:grpSpPr>
          <a:xfrm>
            <a:off x="6903719" y="1517903"/>
            <a:ext cx="1737361" cy="1773937"/>
            <a:chOff x="0" y="0"/>
            <a:chExt cx="1737360" cy="1773935"/>
          </a:xfrm>
        </p:grpSpPr>
        <p:sp>
          <p:nvSpPr>
            <p:cNvPr id="167" name="lr1_bg"/>
            <p:cNvSpPr/>
            <p:nvPr/>
          </p:nvSpPr>
          <p:spPr>
            <a:xfrm>
              <a:off x="0" y="0"/>
              <a:ext cx="1737361" cy="1773936"/>
            </a:xfrm>
            <a:prstGeom prst="roundRect">
              <a:avLst>
                <a:gd name="adj" fmla="val 3158"/>
              </a:avLst>
            </a:prstGeom>
            <a:solidFill>
              <a:srgbClr val="FDF0EE"/>
            </a:solidFill>
            <a:ln w="17780" cap="flat">
              <a:solidFill>
                <a:srgbClr val="E85D4A"/>
              </a:solidFill>
              <a:prstDash val="solid"/>
              <a:round/>
            </a:ln>
            <a:effectLst/>
          </p:spPr>
          <p:txBody>
            <a:bodyPr wrap="square" lIns="45719" tIns="45719" rIns="45719" bIns="45719" numCol="1" anchor="t">
              <a:noAutofit/>
            </a:bodyPr>
            <a:lstStyle/>
            <a:p>
              <a:pPr/>
            </a:p>
          </p:txBody>
        </p:sp>
        <p:sp>
          <p:nvSpPr>
            <p:cNvPr id="168" name="lr1_tag"/>
            <p:cNvSpPr txBox="1"/>
            <p:nvPr/>
          </p:nvSpPr>
          <p:spPr>
            <a:xfrm>
              <a:off x="-1" y="191260"/>
              <a:ext cx="1737362"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00" sz="1100">
                  <a:solidFill>
                    <a:srgbClr val="E85D4A"/>
                  </a:solidFill>
                  <a:latin typeface="Arial"/>
                  <a:ea typeface="Arial"/>
                  <a:cs typeface="Arial"/>
                  <a:sym typeface="Arial"/>
                </a:defRPr>
              </a:lvl1pPr>
            </a:lstStyle>
            <a:p>
              <a:pPr/>
              <a:r>
                <a:t>NOT LIKE</a:t>
              </a:r>
            </a:p>
          </p:txBody>
        </p:sp>
        <p:sp>
          <p:nvSpPr>
            <p:cNvPr id="169" name="lr1_e1"/>
            <p:cNvSpPr txBox="1"/>
            <p:nvPr/>
          </p:nvSpPr>
          <p:spPr>
            <a:xfrm>
              <a:off x="-1" y="558799"/>
              <a:ext cx="173736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2B2350"/>
                  </a:solidFill>
                  <a:latin typeface="Georgia"/>
                  <a:ea typeface="Georgia"/>
                  <a:cs typeface="Georgia"/>
                  <a:sym typeface="Georgia"/>
                </a:defRPr>
              </a:lvl1pPr>
            </a:lstStyle>
            <a:p>
              <a:pPr/>
              <a:r>
                <a:t>3a and 2b</a:t>
              </a:r>
            </a:p>
          </p:txBody>
        </p:sp>
        <p:sp>
          <p:nvSpPr>
            <p:cNvPr id="170" name="lr1_e2"/>
            <p:cNvSpPr txBox="1"/>
            <p:nvPr/>
          </p:nvSpPr>
          <p:spPr>
            <a:xfrm>
              <a:off x="-1" y="1052575"/>
              <a:ext cx="1737362"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2B2350"/>
                  </a:solidFill>
                  <a:latin typeface="Georgia"/>
                  <a:ea typeface="Georgia"/>
                  <a:cs typeface="Georgia"/>
                  <a:sym typeface="Georgia"/>
                </a:defRPr>
              </a:lvl1pPr>
            </a:lstStyle>
            <a:p>
              <a:pPr/>
              <a:r>
                <a:t>a and a²</a:t>
              </a:r>
            </a:p>
          </p:txBody>
        </p:sp>
      </p:grpSp>
      <p:grpSp>
        <p:nvGrpSpPr>
          <p:cNvPr id="174" name="lk_banner"/>
          <p:cNvGrpSpPr/>
          <p:nvPr/>
        </p:nvGrpSpPr>
        <p:grpSpPr>
          <a:xfrm>
            <a:off x="548640" y="3529584"/>
            <a:ext cx="8046720" cy="475489"/>
            <a:chOff x="0" y="0"/>
            <a:chExt cx="8046719" cy="475487"/>
          </a:xfrm>
        </p:grpSpPr>
        <p:sp>
          <p:nvSpPr>
            <p:cNvPr id="172" name="Rounded Rectangle"/>
            <p:cNvSpPr/>
            <p:nvPr/>
          </p:nvSpPr>
          <p:spPr>
            <a:xfrm>
              <a:off x="0" y="0"/>
              <a:ext cx="8046720" cy="475488"/>
            </a:xfrm>
            <a:prstGeom prst="roundRect">
              <a:avLst>
                <a:gd name="adj" fmla="val 15385"/>
              </a:avLst>
            </a:prstGeom>
            <a:solidFill>
              <a:srgbClr val="2B2350"/>
            </a:solidFill>
            <a:ln w="9525" cap="flat">
              <a:solidFill>
                <a:srgbClr val="2B2350"/>
              </a:solidFill>
              <a:prstDash val="solid"/>
              <a:round/>
            </a:ln>
            <a:effectLst/>
          </p:spPr>
          <p:txBody>
            <a:bodyPr wrap="square" lIns="45719" tIns="45719" rIns="45719" bIns="45719" numCol="1" anchor="ctr">
              <a:noAutofit/>
            </a:bodyPr>
            <a:lstStyle/>
            <a:p>
              <a:pPr algn="ctr">
                <a:defRPr sz="1200"/>
              </a:pPr>
            </a:p>
          </p:txBody>
        </p:sp>
        <p:sp>
          <p:nvSpPr>
            <p:cNvPr id="173" name="Same letters, same powers. Then you can ‘collect’ them."/>
            <p:cNvSpPr txBox="1"/>
            <p:nvPr/>
          </p:nvSpPr>
          <p:spPr>
            <a:xfrm>
              <a:off x="26188" y="151336"/>
              <a:ext cx="7994343"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solidFill>
                    <a:srgbClr val="FFFFFF"/>
                  </a:solidFill>
                  <a:latin typeface="Arial"/>
                  <a:ea typeface="Arial"/>
                  <a:cs typeface="Arial"/>
                  <a:sym typeface="Arial"/>
                </a:defRPr>
              </a:lvl1pPr>
            </a:lstStyle>
            <a:p>
              <a:pPr/>
              <a:r>
                <a:t>Same letters, same powers. Then you can ‘collect’ them.</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59"/>
                                        </p:tgtEl>
                                        <p:attrNameLst>
                                          <p:attrName>style.visibility</p:attrName>
                                        </p:attrNameLst>
                                      </p:cBhvr>
                                      <p:to>
                                        <p:strVal val="visible"/>
                                      </p:to>
                                    </p:set>
                                    <p:animEffect filter="fade" transition="in">
                                      <p:cBhvr>
                                        <p:cTn id="7" dur="4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60"/>
                                        </p:tgtEl>
                                        <p:attrNameLst>
                                          <p:attrName>style.visibility</p:attrName>
                                        </p:attrNameLst>
                                      </p:cBhvr>
                                      <p:to>
                                        <p:strVal val="visible"/>
                                      </p:to>
                                    </p:set>
                                    <p:animEffect filter="fade" transition="in">
                                      <p:cBhvr>
                                        <p:cTn id="12" dur="400"/>
                                        <p:tgtEl>
                                          <p:spTgt spid="16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61"/>
                                        </p:tgtEl>
                                        <p:attrNameLst>
                                          <p:attrName>style.visibility</p:attrName>
                                        </p:attrNameLst>
                                      </p:cBhvr>
                                      <p:to>
                                        <p:strVal val="visible"/>
                                      </p:to>
                                    </p:set>
                                    <p:animEffect filter="fade" transition="in">
                                      <p:cBhvr>
                                        <p:cTn id="17" dur="400"/>
                                        <p:tgtEl>
                                          <p:spTgt spid="161"/>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66"/>
                                        </p:tgtEl>
                                        <p:attrNameLst>
                                          <p:attrName>style.visibility</p:attrName>
                                        </p:attrNameLst>
                                      </p:cBhvr>
                                      <p:to>
                                        <p:strVal val="visible"/>
                                      </p:to>
                                    </p:set>
                                    <p:animEffect filter="fade" transition="in">
                                      <p:cBhvr>
                                        <p:cTn id="22" dur="400"/>
                                        <p:tgtEl>
                                          <p:spTgt spid="166"/>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71"/>
                                        </p:tgtEl>
                                        <p:attrNameLst>
                                          <p:attrName>style.visibility</p:attrName>
                                        </p:attrNameLst>
                                      </p:cBhvr>
                                      <p:to>
                                        <p:strVal val="visible"/>
                                      </p:to>
                                    </p:set>
                                    <p:animEffect filter="fade" transition="in">
                                      <p:cBhvr>
                                        <p:cTn id="27" dur="400"/>
                                        <p:tgtEl>
                                          <p:spTgt spid="171"/>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16" presetID="23" grpId="6" fill="hold">
                                  <p:stCondLst>
                                    <p:cond delay="0"/>
                                  </p:stCondLst>
                                  <p:iterate type="el" backwards="0">
                                    <p:tmAbs val="0"/>
                                  </p:iterate>
                                  <p:childTnLst>
                                    <p:set>
                                      <p:cBhvr>
                                        <p:cTn id="31" fill="hold"/>
                                        <p:tgtEl>
                                          <p:spTgt spid="174"/>
                                        </p:tgtEl>
                                        <p:attrNameLst>
                                          <p:attrName>style.visibility</p:attrName>
                                        </p:attrNameLst>
                                      </p:cBhvr>
                                      <p:to>
                                        <p:strVal val="visible"/>
                                      </p:to>
                                    </p:set>
                                    <p:anim calcmode="lin" valueType="num">
                                      <p:cBhvr>
                                        <p:cTn id="32" dur="400" fill="hold"/>
                                        <p:tgtEl>
                                          <p:spTgt spid="174"/>
                                        </p:tgtEl>
                                        <p:attrNameLst>
                                          <p:attrName>ppt_w</p:attrName>
                                        </p:attrNameLst>
                                      </p:cBhvr>
                                      <p:tavLst>
                                        <p:tav tm="0">
                                          <p:val>
                                            <p:fltVal val="0"/>
                                          </p:val>
                                        </p:tav>
                                        <p:tav tm="100000">
                                          <p:val>
                                            <p:strVal val="#ppt_w"/>
                                          </p:val>
                                        </p:tav>
                                      </p:tavLst>
                                    </p:anim>
                                    <p:anim calcmode="lin" valueType="num">
                                      <p:cBhvr>
                                        <p:cTn id="33" dur="400" fill="hold"/>
                                        <p:tgtEl>
                                          <p:spTgt spid="17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1" grpId="3"/>
      <p:bldP build="whole" bldLvl="1" animBg="1" rev="0" advAuto="0" spid="159" grpId="1"/>
      <p:bldP build="whole" bldLvl="1" animBg="1" rev="0" advAuto="0" spid="166" grpId="4"/>
      <p:bldP build="whole" bldLvl="1" animBg="1" rev="0" advAuto="0" spid="160" grpId="2"/>
      <p:bldP build="whole" bldLvl="1" animBg="1" rev="0" advAuto="0" spid="171" grpId="5"/>
      <p:bldP build="whole" bldLvl="1" animBg="1" rev="0" advAuto="0" spid="174" grpId="6"/>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80" name="phase_pill"/>
          <p:cNvGrpSpPr/>
          <p:nvPr/>
        </p:nvGrpSpPr>
        <p:grpSpPr>
          <a:xfrm>
            <a:off x="548640" y="347472"/>
            <a:ext cx="1512418" cy="256033"/>
            <a:chOff x="0" y="0"/>
            <a:chExt cx="1512417" cy="256031"/>
          </a:xfrm>
        </p:grpSpPr>
        <p:sp>
          <p:nvSpPr>
            <p:cNvPr id="178" name="Rounded Rectangle"/>
            <p:cNvSpPr/>
            <p:nvPr/>
          </p:nvSpPr>
          <p:spPr>
            <a:xfrm>
              <a:off x="0" y="0"/>
              <a:ext cx="1512418"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179" name="WE DO · 5 MIN"/>
            <p:cNvSpPr txBox="1"/>
            <p:nvPr/>
          </p:nvSpPr>
          <p:spPr>
            <a:xfrm>
              <a:off x="37494" y="64515"/>
              <a:ext cx="1437430"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WE DO · 5 MIN</a:t>
              </a:r>
            </a:p>
          </p:txBody>
        </p:sp>
      </p:grpSp>
      <p:sp>
        <p:nvSpPr>
          <p:cNvPr id="181"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Like or not like?</a:t>
            </a:r>
          </a:p>
        </p:txBody>
      </p:sp>
      <p:sp>
        <p:nvSpPr>
          <p:cNvPr id="182" name="slide_sub"/>
          <p:cNvSpPr txBox="1"/>
          <p:nvPr/>
        </p:nvSpPr>
        <p:spPr>
          <a:xfrm>
            <a:off x="548640" y="1349546"/>
            <a:ext cx="8046719"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Thumbs up for like, thumbs down for not. Everyone votes before I click.</a:t>
            </a:r>
          </a:p>
        </p:txBody>
      </p:sp>
      <p:sp>
        <p:nvSpPr>
          <p:cNvPr id="183" name="w0_bg"/>
          <p:cNvSpPr/>
          <p:nvPr/>
        </p:nvSpPr>
        <p:spPr>
          <a:xfrm>
            <a:off x="548640" y="1725929"/>
            <a:ext cx="8046720" cy="420625"/>
          </a:xfrm>
          <a:prstGeom prst="roundRect">
            <a:avLst>
              <a:gd name="adj" fmla="val 13043"/>
            </a:avLst>
          </a:prstGeom>
          <a:solidFill>
            <a:srgbClr val="F2F0F8"/>
          </a:solidFill>
          <a:ln w="12700">
            <a:solidFill>
              <a:srgbClr val="F2F0F8"/>
            </a:solidFill>
          </a:ln>
        </p:spPr>
        <p:txBody>
          <a:bodyPr lIns="45719" rIns="45719"/>
          <a:lstStyle/>
          <a:p>
            <a:pPr/>
          </a:p>
        </p:txBody>
      </p:sp>
      <p:sp>
        <p:nvSpPr>
          <p:cNvPr id="184" name="w0_q"/>
          <p:cNvSpPr txBox="1"/>
          <p:nvPr/>
        </p:nvSpPr>
        <p:spPr>
          <a:xfrm>
            <a:off x="731519" y="1828291"/>
            <a:ext cx="21031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B2350"/>
                </a:solidFill>
                <a:latin typeface="Georgia"/>
                <a:ea typeface="Georgia"/>
                <a:cs typeface="Georgia"/>
                <a:sym typeface="Georgia"/>
              </a:defRPr>
            </a:lvl1pPr>
          </a:lstStyle>
          <a:p>
            <a:pPr/>
            <a:r>
              <a:t>5x and 2x</a:t>
            </a:r>
          </a:p>
        </p:txBody>
      </p:sp>
      <p:grpSp>
        <p:nvGrpSpPr>
          <p:cNvPr id="187" name="w0_v"/>
          <p:cNvGrpSpPr/>
          <p:nvPr/>
        </p:nvGrpSpPr>
        <p:grpSpPr>
          <a:xfrm>
            <a:off x="3017520" y="1771650"/>
            <a:ext cx="786385" cy="329185"/>
            <a:chOff x="0" y="0"/>
            <a:chExt cx="786383" cy="329184"/>
          </a:xfrm>
        </p:grpSpPr>
        <p:sp>
          <p:nvSpPr>
            <p:cNvPr id="185" name="Rounded Rectangle"/>
            <p:cNvSpPr/>
            <p:nvPr/>
          </p:nvSpPr>
          <p:spPr>
            <a:xfrm>
              <a:off x="0" y="0"/>
              <a:ext cx="786384" cy="329185"/>
            </a:xfrm>
            <a:prstGeom prst="roundRect">
              <a:avLst>
                <a:gd name="adj" fmla="val 19444"/>
              </a:avLst>
            </a:prstGeom>
            <a:solidFill>
              <a:srgbClr val="E8F3EC"/>
            </a:solidFill>
            <a:ln w="15240" cap="flat">
              <a:solidFill>
                <a:srgbClr val="2E8B57"/>
              </a:solidFill>
              <a:prstDash val="solid"/>
              <a:round/>
            </a:ln>
            <a:effectLst/>
          </p:spPr>
          <p:txBody>
            <a:bodyPr wrap="square" lIns="45719" tIns="45719" rIns="45719" bIns="45719" numCol="1" anchor="ctr">
              <a:noAutofit/>
            </a:bodyPr>
            <a:lstStyle/>
            <a:p>
              <a:pPr algn="ctr">
                <a:defRPr sz="1000"/>
              </a:pPr>
            </a:p>
          </p:txBody>
        </p:sp>
        <p:sp>
          <p:nvSpPr>
            <p:cNvPr id="186" name="LIKE"/>
            <p:cNvSpPr txBox="1"/>
            <p:nvPr/>
          </p:nvSpPr>
          <p:spPr>
            <a:xfrm>
              <a:off x="26367" y="96819"/>
              <a:ext cx="73365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2E8B57"/>
                  </a:solidFill>
                  <a:latin typeface="Arial"/>
                  <a:ea typeface="Arial"/>
                  <a:cs typeface="Arial"/>
                  <a:sym typeface="Arial"/>
                </a:defRPr>
              </a:lvl1pPr>
            </a:lstStyle>
            <a:p>
              <a:pPr/>
              <a:r>
                <a:t>LIKE</a:t>
              </a:r>
            </a:p>
          </p:txBody>
        </p:sp>
      </p:grpSp>
      <p:sp>
        <p:nvSpPr>
          <p:cNvPr id="188" name="w0_w"/>
          <p:cNvSpPr txBox="1"/>
          <p:nvPr/>
        </p:nvSpPr>
        <p:spPr>
          <a:xfrm>
            <a:off x="3986784" y="1862327"/>
            <a:ext cx="4608577"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E5A70"/>
                </a:solidFill>
                <a:latin typeface="Arial"/>
                <a:ea typeface="Arial"/>
                <a:cs typeface="Arial"/>
                <a:sym typeface="Arial"/>
              </a:defRPr>
            </a:lvl1pPr>
          </a:lstStyle>
          <a:p>
            <a:pPr/>
            <a:r>
              <a:t>Same letter.</a:t>
            </a:r>
          </a:p>
        </p:txBody>
      </p:sp>
      <p:sp>
        <p:nvSpPr>
          <p:cNvPr id="189" name="w1_bg"/>
          <p:cNvSpPr/>
          <p:nvPr/>
        </p:nvSpPr>
        <p:spPr>
          <a:xfrm>
            <a:off x="548640" y="2228850"/>
            <a:ext cx="8046720" cy="420624"/>
          </a:xfrm>
          <a:prstGeom prst="roundRect">
            <a:avLst>
              <a:gd name="adj" fmla="val 13043"/>
            </a:avLst>
          </a:prstGeom>
          <a:solidFill>
            <a:srgbClr val="F2F0F8"/>
          </a:solidFill>
          <a:ln w="12700">
            <a:solidFill>
              <a:srgbClr val="F2F0F8"/>
            </a:solidFill>
          </a:ln>
        </p:spPr>
        <p:txBody>
          <a:bodyPr lIns="45719" rIns="45719"/>
          <a:lstStyle/>
          <a:p>
            <a:pPr/>
          </a:p>
        </p:txBody>
      </p:sp>
      <p:sp>
        <p:nvSpPr>
          <p:cNvPr id="190" name="w1_q"/>
          <p:cNvSpPr txBox="1"/>
          <p:nvPr/>
        </p:nvSpPr>
        <p:spPr>
          <a:xfrm>
            <a:off x="731519" y="2331211"/>
            <a:ext cx="21031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B2350"/>
                </a:solidFill>
                <a:latin typeface="Georgia"/>
                <a:ea typeface="Georgia"/>
                <a:cs typeface="Georgia"/>
                <a:sym typeface="Georgia"/>
              </a:defRPr>
            </a:lvl1pPr>
          </a:lstStyle>
          <a:p>
            <a:pPr/>
            <a:r>
              <a:t>5x and 2y</a:t>
            </a:r>
          </a:p>
        </p:txBody>
      </p:sp>
      <p:grpSp>
        <p:nvGrpSpPr>
          <p:cNvPr id="193" name="w1_v"/>
          <p:cNvGrpSpPr/>
          <p:nvPr/>
        </p:nvGrpSpPr>
        <p:grpSpPr>
          <a:xfrm>
            <a:off x="3017520" y="2274570"/>
            <a:ext cx="786385" cy="329185"/>
            <a:chOff x="0" y="0"/>
            <a:chExt cx="786383" cy="329184"/>
          </a:xfrm>
        </p:grpSpPr>
        <p:sp>
          <p:nvSpPr>
            <p:cNvPr id="191" name="Rounded Rectangle"/>
            <p:cNvSpPr/>
            <p:nvPr/>
          </p:nvSpPr>
          <p:spPr>
            <a:xfrm>
              <a:off x="0" y="0"/>
              <a:ext cx="786384" cy="329185"/>
            </a:xfrm>
            <a:prstGeom prst="roundRect">
              <a:avLst>
                <a:gd name="adj" fmla="val 19444"/>
              </a:avLst>
            </a:prstGeom>
            <a:solidFill>
              <a:srgbClr val="FDF0EE"/>
            </a:solidFill>
            <a:ln w="15240" cap="flat">
              <a:solidFill>
                <a:srgbClr val="E85D4A"/>
              </a:solidFill>
              <a:prstDash val="solid"/>
              <a:round/>
            </a:ln>
            <a:effectLst/>
          </p:spPr>
          <p:txBody>
            <a:bodyPr wrap="square" lIns="45719" tIns="45719" rIns="45719" bIns="45719" numCol="1" anchor="ctr">
              <a:noAutofit/>
            </a:bodyPr>
            <a:lstStyle/>
            <a:p>
              <a:pPr algn="ctr">
                <a:defRPr sz="1000"/>
              </a:pPr>
            </a:p>
          </p:txBody>
        </p:sp>
        <p:sp>
          <p:nvSpPr>
            <p:cNvPr id="192" name="NOT"/>
            <p:cNvSpPr txBox="1"/>
            <p:nvPr/>
          </p:nvSpPr>
          <p:spPr>
            <a:xfrm>
              <a:off x="26367" y="96819"/>
              <a:ext cx="73365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E85D4A"/>
                  </a:solidFill>
                  <a:latin typeface="Arial"/>
                  <a:ea typeface="Arial"/>
                  <a:cs typeface="Arial"/>
                  <a:sym typeface="Arial"/>
                </a:defRPr>
              </a:lvl1pPr>
            </a:lstStyle>
            <a:p>
              <a:pPr/>
              <a:r>
                <a:t>NOT</a:t>
              </a:r>
            </a:p>
          </p:txBody>
        </p:sp>
      </p:grpSp>
      <p:sp>
        <p:nvSpPr>
          <p:cNvPr id="194" name="w1_w"/>
          <p:cNvSpPr txBox="1"/>
          <p:nvPr/>
        </p:nvSpPr>
        <p:spPr>
          <a:xfrm>
            <a:off x="3986784" y="2365247"/>
            <a:ext cx="4608577"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E5A70"/>
                </a:solidFill>
                <a:latin typeface="Arial"/>
                <a:ea typeface="Arial"/>
                <a:cs typeface="Arial"/>
                <a:sym typeface="Arial"/>
              </a:defRPr>
            </a:lvl1pPr>
          </a:lstStyle>
          <a:p>
            <a:pPr/>
            <a:r>
              <a:t>Different letters. Leave them alone.</a:t>
            </a:r>
          </a:p>
        </p:txBody>
      </p:sp>
      <p:sp>
        <p:nvSpPr>
          <p:cNvPr id="195" name="w2_bg"/>
          <p:cNvSpPr/>
          <p:nvPr/>
        </p:nvSpPr>
        <p:spPr>
          <a:xfrm>
            <a:off x="548640" y="2731770"/>
            <a:ext cx="8046720" cy="420625"/>
          </a:xfrm>
          <a:prstGeom prst="roundRect">
            <a:avLst>
              <a:gd name="adj" fmla="val 13043"/>
            </a:avLst>
          </a:prstGeom>
          <a:solidFill>
            <a:srgbClr val="F2F0F8"/>
          </a:solidFill>
          <a:ln w="12700">
            <a:solidFill>
              <a:srgbClr val="F2F0F8"/>
            </a:solidFill>
          </a:ln>
        </p:spPr>
        <p:txBody>
          <a:bodyPr lIns="45719" rIns="45719"/>
          <a:lstStyle/>
          <a:p>
            <a:pPr/>
          </a:p>
        </p:txBody>
      </p:sp>
      <p:sp>
        <p:nvSpPr>
          <p:cNvPr id="196" name="w2_q"/>
          <p:cNvSpPr txBox="1"/>
          <p:nvPr/>
        </p:nvSpPr>
        <p:spPr>
          <a:xfrm>
            <a:off x="731519" y="2834132"/>
            <a:ext cx="21031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B2350"/>
                </a:solidFill>
                <a:latin typeface="Georgia"/>
                <a:ea typeface="Georgia"/>
                <a:cs typeface="Georgia"/>
                <a:sym typeface="Georgia"/>
              </a:defRPr>
            </a:lvl1pPr>
          </a:lstStyle>
          <a:p>
            <a:pPr/>
            <a:r>
              <a:t>3pq and 7qp</a:t>
            </a:r>
          </a:p>
        </p:txBody>
      </p:sp>
      <p:grpSp>
        <p:nvGrpSpPr>
          <p:cNvPr id="199" name="w2_v"/>
          <p:cNvGrpSpPr/>
          <p:nvPr/>
        </p:nvGrpSpPr>
        <p:grpSpPr>
          <a:xfrm>
            <a:off x="3017520" y="2777489"/>
            <a:ext cx="786385" cy="329185"/>
            <a:chOff x="0" y="0"/>
            <a:chExt cx="786383" cy="329184"/>
          </a:xfrm>
        </p:grpSpPr>
        <p:sp>
          <p:nvSpPr>
            <p:cNvPr id="197" name="Rounded Rectangle"/>
            <p:cNvSpPr/>
            <p:nvPr/>
          </p:nvSpPr>
          <p:spPr>
            <a:xfrm>
              <a:off x="0" y="0"/>
              <a:ext cx="786384" cy="329185"/>
            </a:xfrm>
            <a:prstGeom prst="roundRect">
              <a:avLst>
                <a:gd name="adj" fmla="val 19444"/>
              </a:avLst>
            </a:prstGeom>
            <a:solidFill>
              <a:srgbClr val="E8F3EC"/>
            </a:solidFill>
            <a:ln w="15240" cap="flat">
              <a:solidFill>
                <a:srgbClr val="2E8B57"/>
              </a:solidFill>
              <a:prstDash val="solid"/>
              <a:round/>
            </a:ln>
            <a:effectLst/>
          </p:spPr>
          <p:txBody>
            <a:bodyPr wrap="square" lIns="45719" tIns="45719" rIns="45719" bIns="45719" numCol="1" anchor="ctr">
              <a:noAutofit/>
            </a:bodyPr>
            <a:lstStyle/>
            <a:p>
              <a:pPr algn="ctr">
                <a:defRPr sz="1000"/>
              </a:pPr>
            </a:p>
          </p:txBody>
        </p:sp>
        <p:sp>
          <p:nvSpPr>
            <p:cNvPr id="198" name="LIKE"/>
            <p:cNvSpPr txBox="1"/>
            <p:nvPr/>
          </p:nvSpPr>
          <p:spPr>
            <a:xfrm>
              <a:off x="26367" y="96819"/>
              <a:ext cx="73365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2E8B57"/>
                  </a:solidFill>
                  <a:latin typeface="Arial"/>
                  <a:ea typeface="Arial"/>
                  <a:cs typeface="Arial"/>
                  <a:sym typeface="Arial"/>
                </a:defRPr>
              </a:lvl1pPr>
            </a:lstStyle>
            <a:p>
              <a:pPr/>
              <a:r>
                <a:t>LIKE</a:t>
              </a:r>
            </a:p>
          </p:txBody>
        </p:sp>
      </p:grpSp>
      <p:sp>
        <p:nvSpPr>
          <p:cNvPr id="200" name="w2_w"/>
          <p:cNvSpPr txBox="1"/>
          <p:nvPr/>
        </p:nvSpPr>
        <p:spPr>
          <a:xfrm>
            <a:off x="3986784" y="2868167"/>
            <a:ext cx="4608577"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E5A70"/>
                </a:solidFill>
                <a:latin typeface="Arial"/>
                <a:ea typeface="Arial"/>
                <a:cs typeface="Arial"/>
                <a:sym typeface="Arial"/>
              </a:defRPr>
            </a:lvl1pPr>
          </a:lstStyle>
          <a:p>
            <a:pPr/>
            <a:r>
              <a:t>Order does not matter in multiplication.</a:t>
            </a:r>
          </a:p>
        </p:txBody>
      </p:sp>
      <p:sp>
        <p:nvSpPr>
          <p:cNvPr id="201" name="w3_bg"/>
          <p:cNvSpPr/>
          <p:nvPr/>
        </p:nvSpPr>
        <p:spPr>
          <a:xfrm>
            <a:off x="548640" y="3234689"/>
            <a:ext cx="8046720" cy="420625"/>
          </a:xfrm>
          <a:prstGeom prst="roundRect">
            <a:avLst>
              <a:gd name="adj" fmla="val 13043"/>
            </a:avLst>
          </a:prstGeom>
          <a:solidFill>
            <a:srgbClr val="F2F0F8"/>
          </a:solidFill>
          <a:ln w="12700">
            <a:solidFill>
              <a:srgbClr val="F2F0F8"/>
            </a:solidFill>
          </a:ln>
        </p:spPr>
        <p:txBody>
          <a:bodyPr lIns="45719" rIns="45719"/>
          <a:lstStyle/>
          <a:p>
            <a:pPr/>
          </a:p>
        </p:txBody>
      </p:sp>
      <p:sp>
        <p:nvSpPr>
          <p:cNvPr id="202" name="w3_q"/>
          <p:cNvSpPr txBox="1"/>
          <p:nvPr/>
        </p:nvSpPr>
        <p:spPr>
          <a:xfrm>
            <a:off x="731519" y="3337051"/>
            <a:ext cx="21031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B2350"/>
                </a:solidFill>
                <a:latin typeface="Georgia"/>
                <a:ea typeface="Georgia"/>
                <a:cs typeface="Georgia"/>
                <a:sym typeface="Georgia"/>
              </a:defRPr>
            </a:lvl1pPr>
          </a:lstStyle>
          <a:p>
            <a:pPr/>
            <a:r>
              <a:t>4m and 4m²</a:t>
            </a:r>
          </a:p>
        </p:txBody>
      </p:sp>
      <p:grpSp>
        <p:nvGrpSpPr>
          <p:cNvPr id="205" name="w3_v"/>
          <p:cNvGrpSpPr/>
          <p:nvPr/>
        </p:nvGrpSpPr>
        <p:grpSpPr>
          <a:xfrm>
            <a:off x="3017520" y="3280409"/>
            <a:ext cx="786385" cy="329185"/>
            <a:chOff x="0" y="0"/>
            <a:chExt cx="786383" cy="329184"/>
          </a:xfrm>
        </p:grpSpPr>
        <p:sp>
          <p:nvSpPr>
            <p:cNvPr id="203" name="Rounded Rectangle"/>
            <p:cNvSpPr/>
            <p:nvPr/>
          </p:nvSpPr>
          <p:spPr>
            <a:xfrm>
              <a:off x="0" y="0"/>
              <a:ext cx="786384" cy="329185"/>
            </a:xfrm>
            <a:prstGeom prst="roundRect">
              <a:avLst>
                <a:gd name="adj" fmla="val 19444"/>
              </a:avLst>
            </a:prstGeom>
            <a:solidFill>
              <a:srgbClr val="FDF0EE"/>
            </a:solidFill>
            <a:ln w="15240" cap="flat">
              <a:solidFill>
                <a:srgbClr val="E85D4A"/>
              </a:solidFill>
              <a:prstDash val="solid"/>
              <a:round/>
            </a:ln>
            <a:effectLst/>
          </p:spPr>
          <p:txBody>
            <a:bodyPr wrap="square" lIns="45719" tIns="45719" rIns="45719" bIns="45719" numCol="1" anchor="ctr">
              <a:noAutofit/>
            </a:bodyPr>
            <a:lstStyle/>
            <a:p>
              <a:pPr algn="ctr">
                <a:defRPr sz="1000"/>
              </a:pPr>
            </a:p>
          </p:txBody>
        </p:sp>
        <p:sp>
          <p:nvSpPr>
            <p:cNvPr id="204" name="NOT"/>
            <p:cNvSpPr txBox="1"/>
            <p:nvPr/>
          </p:nvSpPr>
          <p:spPr>
            <a:xfrm>
              <a:off x="26367" y="96819"/>
              <a:ext cx="73365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E85D4A"/>
                  </a:solidFill>
                  <a:latin typeface="Arial"/>
                  <a:ea typeface="Arial"/>
                  <a:cs typeface="Arial"/>
                  <a:sym typeface="Arial"/>
                </a:defRPr>
              </a:lvl1pPr>
            </a:lstStyle>
            <a:p>
              <a:pPr/>
              <a:r>
                <a:t>NOT</a:t>
              </a:r>
            </a:p>
          </p:txBody>
        </p:sp>
      </p:grpSp>
      <p:sp>
        <p:nvSpPr>
          <p:cNvPr id="206" name="w3_w"/>
          <p:cNvSpPr txBox="1"/>
          <p:nvPr/>
        </p:nvSpPr>
        <p:spPr>
          <a:xfrm>
            <a:off x="3986784" y="3371087"/>
            <a:ext cx="4608577"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E5A70"/>
                </a:solidFill>
                <a:latin typeface="Arial"/>
                <a:ea typeface="Arial"/>
                <a:cs typeface="Arial"/>
                <a:sym typeface="Arial"/>
              </a:defRPr>
            </a:lvl1pPr>
          </a:lstStyle>
          <a:p>
            <a:pPr/>
            <a:r>
              <a:t>Different powers.</a:t>
            </a:r>
          </a:p>
        </p:txBody>
      </p:sp>
      <p:sp>
        <p:nvSpPr>
          <p:cNvPr id="207" name="w4_bg"/>
          <p:cNvSpPr/>
          <p:nvPr/>
        </p:nvSpPr>
        <p:spPr>
          <a:xfrm>
            <a:off x="548640" y="3737609"/>
            <a:ext cx="8046720" cy="420625"/>
          </a:xfrm>
          <a:prstGeom prst="roundRect">
            <a:avLst>
              <a:gd name="adj" fmla="val 13043"/>
            </a:avLst>
          </a:prstGeom>
          <a:solidFill>
            <a:srgbClr val="F2F0F8"/>
          </a:solidFill>
          <a:ln w="12700">
            <a:solidFill>
              <a:srgbClr val="F2F0F8"/>
            </a:solidFill>
          </a:ln>
        </p:spPr>
        <p:txBody>
          <a:bodyPr lIns="45719" rIns="45719"/>
          <a:lstStyle/>
          <a:p>
            <a:pPr/>
          </a:p>
        </p:txBody>
      </p:sp>
      <p:sp>
        <p:nvSpPr>
          <p:cNvPr id="208" name="w4_q"/>
          <p:cNvSpPr txBox="1"/>
          <p:nvPr/>
        </p:nvSpPr>
        <p:spPr>
          <a:xfrm>
            <a:off x="731519" y="3839971"/>
            <a:ext cx="21031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B2350"/>
                </a:solidFill>
                <a:latin typeface="Georgia"/>
                <a:ea typeface="Georgia"/>
                <a:cs typeface="Georgia"/>
                <a:sym typeface="Georgia"/>
              </a:defRPr>
            </a:lvl1pPr>
          </a:lstStyle>
          <a:p>
            <a:pPr/>
            <a:r>
              <a:t>6 and 7</a:t>
            </a:r>
          </a:p>
        </p:txBody>
      </p:sp>
      <p:grpSp>
        <p:nvGrpSpPr>
          <p:cNvPr id="211" name="w4_v"/>
          <p:cNvGrpSpPr/>
          <p:nvPr/>
        </p:nvGrpSpPr>
        <p:grpSpPr>
          <a:xfrm>
            <a:off x="3017520" y="3783329"/>
            <a:ext cx="786385" cy="329185"/>
            <a:chOff x="0" y="0"/>
            <a:chExt cx="786383" cy="329184"/>
          </a:xfrm>
        </p:grpSpPr>
        <p:sp>
          <p:nvSpPr>
            <p:cNvPr id="209" name="Rounded Rectangle"/>
            <p:cNvSpPr/>
            <p:nvPr/>
          </p:nvSpPr>
          <p:spPr>
            <a:xfrm>
              <a:off x="0" y="0"/>
              <a:ext cx="786384" cy="329185"/>
            </a:xfrm>
            <a:prstGeom prst="roundRect">
              <a:avLst>
                <a:gd name="adj" fmla="val 19444"/>
              </a:avLst>
            </a:prstGeom>
            <a:solidFill>
              <a:srgbClr val="E8F3EC"/>
            </a:solidFill>
            <a:ln w="15240" cap="flat">
              <a:solidFill>
                <a:srgbClr val="2E8B57"/>
              </a:solidFill>
              <a:prstDash val="solid"/>
              <a:round/>
            </a:ln>
            <a:effectLst/>
          </p:spPr>
          <p:txBody>
            <a:bodyPr wrap="square" lIns="45719" tIns="45719" rIns="45719" bIns="45719" numCol="1" anchor="ctr">
              <a:noAutofit/>
            </a:bodyPr>
            <a:lstStyle/>
            <a:p>
              <a:pPr algn="ctr">
                <a:defRPr sz="1000"/>
              </a:pPr>
            </a:p>
          </p:txBody>
        </p:sp>
        <p:sp>
          <p:nvSpPr>
            <p:cNvPr id="210" name="LIKE"/>
            <p:cNvSpPr txBox="1"/>
            <p:nvPr/>
          </p:nvSpPr>
          <p:spPr>
            <a:xfrm>
              <a:off x="26367" y="96819"/>
              <a:ext cx="73365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2E8B57"/>
                  </a:solidFill>
                  <a:latin typeface="Arial"/>
                  <a:ea typeface="Arial"/>
                  <a:cs typeface="Arial"/>
                  <a:sym typeface="Arial"/>
                </a:defRPr>
              </a:lvl1pPr>
            </a:lstStyle>
            <a:p>
              <a:pPr/>
              <a:r>
                <a:t>LIKE</a:t>
              </a:r>
            </a:p>
          </p:txBody>
        </p:sp>
      </p:grpSp>
      <p:sp>
        <p:nvSpPr>
          <p:cNvPr id="212" name="w4_w"/>
          <p:cNvSpPr txBox="1"/>
          <p:nvPr/>
        </p:nvSpPr>
        <p:spPr>
          <a:xfrm>
            <a:off x="3986784" y="3874006"/>
            <a:ext cx="4608577"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E5A70"/>
                </a:solidFill>
                <a:latin typeface="Arial"/>
                <a:ea typeface="Arial"/>
                <a:cs typeface="Arial"/>
                <a:sym typeface="Arial"/>
              </a:defRPr>
            </a:lvl1pPr>
          </a:lstStyle>
          <a:p>
            <a:pPr/>
            <a:r>
              <a:t>Plain numbers collect with plain numbers.</a:t>
            </a:r>
          </a:p>
        </p:txBody>
      </p:sp>
      <p:sp>
        <p:nvSpPr>
          <p:cNvPr id="213" name="w5_bg"/>
          <p:cNvSpPr/>
          <p:nvPr/>
        </p:nvSpPr>
        <p:spPr>
          <a:xfrm>
            <a:off x="548640" y="4240529"/>
            <a:ext cx="8046720" cy="420625"/>
          </a:xfrm>
          <a:prstGeom prst="roundRect">
            <a:avLst>
              <a:gd name="adj" fmla="val 13043"/>
            </a:avLst>
          </a:prstGeom>
          <a:solidFill>
            <a:srgbClr val="F2F0F8"/>
          </a:solidFill>
          <a:ln w="12700">
            <a:solidFill>
              <a:srgbClr val="F2F0F8"/>
            </a:solidFill>
          </a:ln>
        </p:spPr>
        <p:txBody>
          <a:bodyPr lIns="45719" rIns="45719"/>
          <a:lstStyle/>
          <a:p>
            <a:pPr/>
          </a:p>
        </p:txBody>
      </p:sp>
      <p:sp>
        <p:nvSpPr>
          <p:cNvPr id="214" name="w5_q"/>
          <p:cNvSpPr txBox="1"/>
          <p:nvPr/>
        </p:nvSpPr>
        <p:spPr>
          <a:xfrm>
            <a:off x="731519" y="4342891"/>
            <a:ext cx="210312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B2350"/>
                </a:solidFill>
                <a:latin typeface="Georgia"/>
                <a:ea typeface="Georgia"/>
                <a:cs typeface="Georgia"/>
                <a:sym typeface="Georgia"/>
              </a:defRPr>
            </a:lvl1pPr>
          </a:lstStyle>
          <a:p>
            <a:pPr/>
            <a:r>
              <a:t>2c and c</a:t>
            </a:r>
          </a:p>
        </p:txBody>
      </p:sp>
      <p:grpSp>
        <p:nvGrpSpPr>
          <p:cNvPr id="217" name="w5_v"/>
          <p:cNvGrpSpPr/>
          <p:nvPr/>
        </p:nvGrpSpPr>
        <p:grpSpPr>
          <a:xfrm>
            <a:off x="3017520" y="4286250"/>
            <a:ext cx="786385" cy="329185"/>
            <a:chOff x="0" y="0"/>
            <a:chExt cx="786383" cy="329184"/>
          </a:xfrm>
        </p:grpSpPr>
        <p:sp>
          <p:nvSpPr>
            <p:cNvPr id="215" name="Rounded Rectangle"/>
            <p:cNvSpPr/>
            <p:nvPr/>
          </p:nvSpPr>
          <p:spPr>
            <a:xfrm>
              <a:off x="0" y="0"/>
              <a:ext cx="786384" cy="329185"/>
            </a:xfrm>
            <a:prstGeom prst="roundRect">
              <a:avLst>
                <a:gd name="adj" fmla="val 19444"/>
              </a:avLst>
            </a:prstGeom>
            <a:solidFill>
              <a:srgbClr val="E8F3EC"/>
            </a:solidFill>
            <a:ln w="15240" cap="flat">
              <a:solidFill>
                <a:srgbClr val="2E8B57"/>
              </a:solidFill>
              <a:prstDash val="solid"/>
              <a:round/>
            </a:ln>
            <a:effectLst/>
          </p:spPr>
          <p:txBody>
            <a:bodyPr wrap="square" lIns="45719" tIns="45719" rIns="45719" bIns="45719" numCol="1" anchor="ctr">
              <a:noAutofit/>
            </a:bodyPr>
            <a:lstStyle/>
            <a:p>
              <a:pPr algn="ctr">
                <a:defRPr sz="1000"/>
              </a:pPr>
            </a:p>
          </p:txBody>
        </p:sp>
        <p:sp>
          <p:nvSpPr>
            <p:cNvPr id="216" name="LIKE"/>
            <p:cNvSpPr txBox="1"/>
            <p:nvPr/>
          </p:nvSpPr>
          <p:spPr>
            <a:xfrm>
              <a:off x="26367" y="96819"/>
              <a:ext cx="73365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2E8B57"/>
                  </a:solidFill>
                  <a:latin typeface="Arial"/>
                  <a:ea typeface="Arial"/>
                  <a:cs typeface="Arial"/>
                  <a:sym typeface="Arial"/>
                </a:defRPr>
              </a:lvl1pPr>
            </a:lstStyle>
            <a:p>
              <a:pPr/>
              <a:r>
                <a:t>LIKE</a:t>
              </a:r>
            </a:p>
          </p:txBody>
        </p:sp>
      </p:grpSp>
      <p:sp>
        <p:nvSpPr>
          <p:cNvPr id="218" name="w5_w"/>
          <p:cNvSpPr txBox="1"/>
          <p:nvPr/>
        </p:nvSpPr>
        <p:spPr>
          <a:xfrm>
            <a:off x="3986784" y="4376927"/>
            <a:ext cx="4608577"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E5A70"/>
                </a:solidFill>
                <a:latin typeface="Arial"/>
                <a:ea typeface="Arial"/>
                <a:cs typeface="Arial"/>
                <a:sym typeface="Arial"/>
              </a:defRPr>
            </a:lvl1pPr>
          </a:lstStyle>
          <a:p>
            <a:pPr/>
            <a:r>
              <a:t>c is 1c. The 1 is usually not written.</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187"/>
                                        </p:tgtEl>
                                        <p:attrNameLst>
                                          <p:attrName>style.visibility</p:attrName>
                                        </p:attrNameLst>
                                      </p:cBhvr>
                                      <p:to>
                                        <p:strVal val="visible"/>
                                      </p:to>
                                    </p:set>
                                    <p:anim calcmode="lin" valueType="num">
                                      <p:cBhvr>
                                        <p:cTn id="7" dur="400" fill="hold"/>
                                        <p:tgtEl>
                                          <p:spTgt spid="187"/>
                                        </p:tgtEl>
                                        <p:attrNameLst>
                                          <p:attrName>ppt_w</p:attrName>
                                        </p:attrNameLst>
                                      </p:cBhvr>
                                      <p:tavLst>
                                        <p:tav tm="0">
                                          <p:val>
                                            <p:fltVal val="0"/>
                                          </p:val>
                                        </p:tav>
                                        <p:tav tm="100000">
                                          <p:val>
                                            <p:strVal val="#ppt_w"/>
                                          </p:val>
                                        </p:tav>
                                      </p:tavLst>
                                    </p:anim>
                                    <p:anim calcmode="lin" valueType="num">
                                      <p:cBhvr>
                                        <p:cTn id="8" dur="400" fill="hold"/>
                                        <p:tgtEl>
                                          <p:spTgt spid="18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10" grpId="2" fill="hold">
                                  <p:stCondLst>
                                    <p:cond delay="0"/>
                                  </p:stCondLst>
                                  <p:iterate type="el" backwards="0">
                                    <p:tmAbs val="0"/>
                                  </p:iterate>
                                  <p:childTnLst>
                                    <p:set>
                                      <p:cBhvr>
                                        <p:cTn id="12" fill="hold"/>
                                        <p:tgtEl>
                                          <p:spTgt spid="188"/>
                                        </p:tgtEl>
                                        <p:attrNameLst>
                                          <p:attrName>style.visibility</p:attrName>
                                        </p:attrNameLst>
                                      </p:cBhvr>
                                      <p:to>
                                        <p:strVal val="visible"/>
                                      </p:to>
                                    </p:set>
                                    <p:animEffect filter="fade" transition="in">
                                      <p:cBhvr>
                                        <p:cTn id="13" dur="400"/>
                                        <p:tgtEl>
                                          <p:spTgt spid="188"/>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16" presetID="23" grpId="3" fill="hold">
                                  <p:stCondLst>
                                    <p:cond delay="0"/>
                                  </p:stCondLst>
                                  <p:iterate type="el" backwards="0">
                                    <p:tmAbs val="0"/>
                                  </p:iterate>
                                  <p:childTnLst>
                                    <p:set>
                                      <p:cBhvr>
                                        <p:cTn id="17" fill="hold"/>
                                        <p:tgtEl>
                                          <p:spTgt spid="193"/>
                                        </p:tgtEl>
                                        <p:attrNameLst>
                                          <p:attrName>style.visibility</p:attrName>
                                        </p:attrNameLst>
                                      </p:cBhvr>
                                      <p:to>
                                        <p:strVal val="visible"/>
                                      </p:to>
                                    </p:set>
                                    <p:anim calcmode="lin" valueType="num">
                                      <p:cBhvr>
                                        <p:cTn id="18" dur="400" fill="hold"/>
                                        <p:tgtEl>
                                          <p:spTgt spid="193"/>
                                        </p:tgtEl>
                                        <p:attrNameLst>
                                          <p:attrName>ppt_w</p:attrName>
                                        </p:attrNameLst>
                                      </p:cBhvr>
                                      <p:tavLst>
                                        <p:tav tm="0">
                                          <p:val>
                                            <p:fltVal val="0"/>
                                          </p:val>
                                        </p:tav>
                                        <p:tav tm="100000">
                                          <p:val>
                                            <p:strVal val="#ppt_w"/>
                                          </p:val>
                                        </p:tav>
                                      </p:tavLst>
                                    </p:anim>
                                    <p:anim calcmode="lin" valueType="num">
                                      <p:cBhvr>
                                        <p:cTn id="19" dur="400" fill="hold"/>
                                        <p:tgtEl>
                                          <p:spTgt spid="193"/>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Class="entr" nodeType="clickEffect" presetID="10" grpId="4" fill="hold">
                                  <p:stCondLst>
                                    <p:cond delay="0"/>
                                  </p:stCondLst>
                                  <p:iterate type="el" backwards="0">
                                    <p:tmAbs val="0"/>
                                  </p:iterate>
                                  <p:childTnLst>
                                    <p:set>
                                      <p:cBhvr>
                                        <p:cTn id="23" fill="hold"/>
                                        <p:tgtEl>
                                          <p:spTgt spid="194"/>
                                        </p:tgtEl>
                                        <p:attrNameLst>
                                          <p:attrName>style.visibility</p:attrName>
                                        </p:attrNameLst>
                                      </p:cBhvr>
                                      <p:to>
                                        <p:strVal val="visible"/>
                                      </p:to>
                                    </p:set>
                                    <p:animEffect filter="fade" transition="in">
                                      <p:cBhvr>
                                        <p:cTn id="24" dur="400"/>
                                        <p:tgtEl>
                                          <p:spTgt spid="194"/>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199"/>
                                        </p:tgtEl>
                                        <p:attrNameLst>
                                          <p:attrName>style.visibility</p:attrName>
                                        </p:attrNameLst>
                                      </p:cBhvr>
                                      <p:to>
                                        <p:strVal val="visible"/>
                                      </p:to>
                                    </p:set>
                                    <p:anim calcmode="lin" valueType="num">
                                      <p:cBhvr>
                                        <p:cTn id="29" dur="400" fill="hold"/>
                                        <p:tgtEl>
                                          <p:spTgt spid="199"/>
                                        </p:tgtEl>
                                        <p:attrNameLst>
                                          <p:attrName>ppt_w</p:attrName>
                                        </p:attrNameLst>
                                      </p:cBhvr>
                                      <p:tavLst>
                                        <p:tav tm="0">
                                          <p:val>
                                            <p:fltVal val="0"/>
                                          </p:val>
                                        </p:tav>
                                        <p:tav tm="100000">
                                          <p:val>
                                            <p:strVal val="#ppt_w"/>
                                          </p:val>
                                        </p:tav>
                                      </p:tavLst>
                                    </p:anim>
                                    <p:anim calcmode="lin" valueType="num">
                                      <p:cBhvr>
                                        <p:cTn id="30" dur="400" fill="hold"/>
                                        <p:tgtEl>
                                          <p:spTgt spid="199"/>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ID="10" grpId="6" fill="hold">
                                  <p:stCondLst>
                                    <p:cond delay="0"/>
                                  </p:stCondLst>
                                  <p:iterate type="el" backwards="0">
                                    <p:tmAbs val="0"/>
                                  </p:iterate>
                                  <p:childTnLst>
                                    <p:set>
                                      <p:cBhvr>
                                        <p:cTn id="34" fill="hold"/>
                                        <p:tgtEl>
                                          <p:spTgt spid="200"/>
                                        </p:tgtEl>
                                        <p:attrNameLst>
                                          <p:attrName>style.visibility</p:attrName>
                                        </p:attrNameLst>
                                      </p:cBhvr>
                                      <p:to>
                                        <p:strVal val="visible"/>
                                      </p:to>
                                    </p:set>
                                    <p:animEffect filter="fade" transition="in">
                                      <p:cBhvr>
                                        <p:cTn id="35" dur="400"/>
                                        <p:tgtEl>
                                          <p:spTgt spid="200"/>
                                        </p:tgtEl>
                                      </p:cBhvr>
                                    </p:animEffect>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16" presetID="23" grpId="7" fill="hold">
                                  <p:stCondLst>
                                    <p:cond delay="0"/>
                                  </p:stCondLst>
                                  <p:iterate type="el" backwards="0">
                                    <p:tmAbs val="0"/>
                                  </p:iterate>
                                  <p:childTnLst>
                                    <p:set>
                                      <p:cBhvr>
                                        <p:cTn id="39" fill="hold"/>
                                        <p:tgtEl>
                                          <p:spTgt spid="205"/>
                                        </p:tgtEl>
                                        <p:attrNameLst>
                                          <p:attrName>style.visibility</p:attrName>
                                        </p:attrNameLst>
                                      </p:cBhvr>
                                      <p:to>
                                        <p:strVal val="visible"/>
                                      </p:to>
                                    </p:set>
                                    <p:anim calcmode="lin" valueType="num">
                                      <p:cBhvr>
                                        <p:cTn id="40" dur="400" fill="hold"/>
                                        <p:tgtEl>
                                          <p:spTgt spid="205"/>
                                        </p:tgtEl>
                                        <p:attrNameLst>
                                          <p:attrName>ppt_w</p:attrName>
                                        </p:attrNameLst>
                                      </p:cBhvr>
                                      <p:tavLst>
                                        <p:tav tm="0">
                                          <p:val>
                                            <p:fltVal val="0"/>
                                          </p:val>
                                        </p:tav>
                                        <p:tav tm="100000">
                                          <p:val>
                                            <p:strVal val="#ppt_w"/>
                                          </p:val>
                                        </p:tav>
                                      </p:tavLst>
                                    </p:anim>
                                    <p:anim calcmode="lin" valueType="num">
                                      <p:cBhvr>
                                        <p:cTn id="41" dur="400" fill="hold"/>
                                        <p:tgtEl>
                                          <p:spTgt spid="205"/>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Class="entr" nodeType="clickEffect" presetID="10" grpId="8" fill="hold">
                                  <p:stCondLst>
                                    <p:cond delay="0"/>
                                  </p:stCondLst>
                                  <p:iterate type="el" backwards="0">
                                    <p:tmAbs val="0"/>
                                  </p:iterate>
                                  <p:childTnLst>
                                    <p:set>
                                      <p:cBhvr>
                                        <p:cTn id="45" fill="hold"/>
                                        <p:tgtEl>
                                          <p:spTgt spid="206"/>
                                        </p:tgtEl>
                                        <p:attrNameLst>
                                          <p:attrName>style.visibility</p:attrName>
                                        </p:attrNameLst>
                                      </p:cBhvr>
                                      <p:to>
                                        <p:strVal val="visible"/>
                                      </p:to>
                                    </p:set>
                                    <p:animEffect filter="fade" transition="in">
                                      <p:cBhvr>
                                        <p:cTn id="46" dur="400"/>
                                        <p:tgtEl>
                                          <p:spTgt spid="206"/>
                                        </p:tgtEl>
                                      </p:cBhvr>
                                    </p:animEffect>
                                  </p:childTnLst>
                                </p:cTn>
                              </p:par>
                            </p:childTnLst>
                          </p:cTn>
                        </p:par>
                      </p:childTnLst>
                    </p:cTn>
                  </p:par>
                  <p:par>
                    <p:cTn id="47" fill="hold">
                      <p:stCondLst>
                        <p:cond delay="indefinite"/>
                      </p:stCondLst>
                      <p:childTnLst>
                        <p:par>
                          <p:cTn id="48" fill="hold">
                            <p:stCondLst>
                              <p:cond delay="0"/>
                            </p:stCondLst>
                            <p:childTnLst>
                              <p:par>
                                <p:cTn id="49" presetClass="entr" nodeType="clickEffect" presetSubtype="16" presetID="23" grpId="9" fill="hold">
                                  <p:stCondLst>
                                    <p:cond delay="0"/>
                                  </p:stCondLst>
                                  <p:iterate type="el" backwards="0">
                                    <p:tmAbs val="0"/>
                                  </p:iterate>
                                  <p:childTnLst>
                                    <p:set>
                                      <p:cBhvr>
                                        <p:cTn id="50" fill="hold"/>
                                        <p:tgtEl>
                                          <p:spTgt spid="211"/>
                                        </p:tgtEl>
                                        <p:attrNameLst>
                                          <p:attrName>style.visibility</p:attrName>
                                        </p:attrNameLst>
                                      </p:cBhvr>
                                      <p:to>
                                        <p:strVal val="visible"/>
                                      </p:to>
                                    </p:set>
                                    <p:anim calcmode="lin" valueType="num">
                                      <p:cBhvr>
                                        <p:cTn id="51" dur="400" fill="hold"/>
                                        <p:tgtEl>
                                          <p:spTgt spid="211"/>
                                        </p:tgtEl>
                                        <p:attrNameLst>
                                          <p:attrName>ppt_w</p:attrName>
                                        </p:attrNameLst>
                                      </p:cBhvr>
                                      <p:tavLst>
                                        <p:tav tm="0">
                                          <p:val>
                                            <p:fltVal val="0"/>
                                          </p:val>
                                        </p:tav>
                                        <p:tav tm="100000">
                                          <p:val>
                                            <p:strVal val="#ppt_w"/>
                                          </p:val>
                                        </p:tav>
                                      </p:tavLst>
                                    </p:anim>
                                    <p:anim calcmode="lin" valueType="num">
                                      <p:cBhvr>
                                        <p:cTn id="52" dur="400" fill="hold"/>
                                        <p:tgtEl>
                                          <p:spTgt spid="211"/>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Class="entr" nodeType="clickEffect" presetID="10" grpId="10" fill="hold">
                                  <p:stCondLst>
                                    <p:cond delay="0"/>
                                  </p:stCondLst>
                                  <p:iterate type="el" backwards="0">
                                    <p:tmAbs val="0"/>
                                  </p:iterate>
                                  <p:childTnLst>
                                    <p:set>
                                      <p:cBhvr>
                                        <p:cTn id="56" fill="hold"/>
                                        <p:tgtEl>
                                          <p:spTgt spid="212"/>
                                        </p:tgtEl>
                                        <p:attrNameLst>
                                          <p:attrName>style.visibility</p:attrName>
                                        </p:attrNameLst>
                                      </p:cBhvr>
                                      <p:to>
                                        <p:strVal val="visible"/>
                                      </p:to>
                                    </p:set>
                                    <p:animEffect filter="fade" transition="in">
                                      <p:cBhvr>
                                        <p:cTn id="57" dur="400"/>
                                        <p:tgtEl>
                                          <p:spTgt spid="212"/>
                                        </p:tgtEl>
                                      </p:cBhvr>
                                    </p:animEffect>
                                  </p:childTnLst>
                                </p:cTn>
                              </p:par>
                            </p:childTnLst>
                          </p:cTn>
                        </p:par>
                      </p:childTnLst>
                    </p:cTn>
                  </p:par>
                  <p:par>
                    <p:cTn id="58" fill="hold">
                      <p:stCondLst>
                        <p:cond delay="indefinite"/>
                      </p:stCondLst>
                      <p:childTnLst>
                        <p:par>
                          <p:cTn id="59" fill="hold">
                            <p:stCondLst>
                              <p:cond delay="0"/>
                            </p:stCondLst>
                            <p:childTnLst>
                              <p:par>
                                <p:cTn id="60" presetClass="entr" nodeType="clickEffect" presetSubtype="16" presetID="23" grpId="11" fill="hold">
                                  <p:stCondLst>
                                    <p:cond delay="0"/>
                                  </p:stCondLst>
                                  <p:iterate type="el" backwards="0">
                                    <p:tmAbs val="0"/>
                                  </p:iterate>
                                  <p:childTnLst>
                                    <p:set>
                                      <p:cBhvr>
                                        <p:cTn id="61" fill="hold"/>
                                        <p:tgtEl>
                                          <p:spTgt spid="217"/>
                                        </p:tgtEl>
                                        <p:attrNameLst>
                                          <p:attrName>style.visibility</p:attrName>
                                        </p:attrNameLst>
                                      </p:cBhvr>
                                      <p:to>
                                        <p:strVal val="visible"/>
                                      </p:to>
                                    </p:set>
                                    <p:anim calcmode="lin" valueType="num">
                                      <p:cBhvr>
                                        <p:cTn id="62" dur="400" fill="hold"/>
                                        <p:tgtEl>
                                          <p:spTgt spid="217"/>
                                        </p:tgtEl>
                                        <p:attrNameLst>
                                          <p:attrName>ppt_w</p:attrName>
                                        </p:attrNameLst>
                                      </p:cBhvr>
                                      <p:tavLst>
                                        <p:tav tm="0">
                                          <p:val>
                                            <p:fltVal val="0"/>
                                          </p:val>
                                        </p:tav>
                                        <p:tav tm="100000">
                                          <p:val>
                                            <p:strVal val="#ppt_w"/>
                                          </p:val>
                                        </p:tav>
                                      </p:tavLst>
                                    </p:anim>
                                    <p:anim calcmode="lin" valueType="num">
                                      <p:cBhvr>
                                        <p:cTn id="63" dur="400" fill="hold"/>
                                        <p:tgtEl>
                                          <p:spTgt spid="217"/>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Class="entr" nodeType="clickEffect" presetID="10" grpId="12" fill="hold">
                                  <p:stCondLst>
                                    <p:cond delay="0"/>
                                  </p:stCondLst>
                                  <p:iterate type="el" backwards="0">
                                    <p:tmAbs val="0"/>
                                  </p:iterate>
                                  <p:childTnLst>
                                    <p:set>
                                      <p:cBhvr>
                                        <p:cTn id="67" fill="hold"/>
                                        <p:tgtEl>
                                          <p:spTgt spid="218"/>
                                        </p:tgtEl>
                                        <p:attrNameLst>
                                          <p:attrName>style.visibility</p:attrName>
                                        </p:attrNameLst>
                                      </p:cBhvr>
                                      <p:to>
                                        <p:strVal val="visible"/>
                                      </p:to>
                                    </p:set>
                                    <p:animEffect filter="fade" transition="in">
                                      <p:cBhvr>
                                        <p:cTn id="68" dur="4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5" grpId="7"/>
      <p:bldP build="whole" bldLvl="1" animBg="1" rev="0" advAuto="0" spid="212" grpId="10"/>
      <p:bldP build="whole" bldLvl="1" animBg="1" rev="0" advAuto="0" spid="193" grpId="3"/>
      <p:bldP build="whole" bldLvl="1" animBg="1" rev="0" advAuto="0" spid="217" grpId="11"/>
      <p:bldP build="whole" bldLvl="1" animBg="1" rev="0" advAuto="0" spid="211" grpId="9"/>
      <p:bldP build="whole" bldLvl="1" animBg="1" rev="0" advAuto="0" spid="199" grpId="5"/>
      <p:bldP build="whole" bldLvl="1" animBg="1" rev="0" advAuto="0" spid="200" grpId="6"/>
      <p:bldP build="whole" bldLvl="1" animBg="1" rev="0" advAuto="0" spid="218" grpId="12"/>
      <p:bldP build="whole" bldLvl="1" animBg="1" rev="0" advAuto="0" spid="188" grpId="2"/>
      <p:bldP build="whole" bldLvl="1" animBg="1" rev="0" advAuto="0" spid="187" grpId="1"/>
      <p:bldP build="whole" bldLvl="1" animBg="1" rev="0" advAuto="0" spid="194" grpId="4"/>
      <p:bldP build="whole" bldLvl="1" animBg="1" rev="0" advAuto="0" spid="206" grpId="8"/>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24" name="phase_pill"/>
          <p:cNvGrpSpPr/>
          <p:nvPr/>
        </p:nvGrpSpPr>
        <p:grpSpPr>
          <a:xfrm>
            <a:off x="548640" y="347472"/>
            <a:ext cx="1422806" cy="256033"/>
            <a:chOff x="0" y="0"/>
            <a:chExt cx="1422805" cy="256031"/>
          </a:xfrm>
        </p:grpSpPr>
        <p:sp>
          <p:nvSpPr>
            <p:cNvPr id="222" name="Rounded Rectangle"/>
            <p:cNvSpPr/>
            <p:nvPr/>
          </p:nvSpPr>
          <p:spPr>
            <a:xfrm>
              <a:off x="0" y="0"/>
              <a:ext cx="1422806"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223" name="I DO · 6 MIN"/>
            <p:cNvSpPr txBox="1"/>
            <p:nvPr/>
          </p:nvSpPr>
          <p:spPr>
            <a:xfrm>
              <a:off x="37495" y="64515"/>
              <a:ext cx="134781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I DO · 6 MIN</a:t>
              </a:r>
            </a:p>
          </p:txBody>
        </p:sp>
      </p:grpSp>
      <p:sp>
        <p:nvSpPr>
          <p:cNvPr id="225"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Now collect them</a:t>
            </a:r>
          </a:p>
        </p:txBody>
      </p:sp>
      <p:sp>
        <p:nvSpPr>
          <p:cNvPr id="226" name="slide_sub"/>
          <p:cNvSpPr txBox="1"/>
          <p:nvPr/>
        </p:nvSpPr>
        <p:spPr>
          <a:xfrm>
            <a:off x="548640" y="1349546"/>
            <a:ext cx="8046719"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Simplify  4a + 3b − 2a + b</a:t>
            </a:r>
          </a:p>
        </p:txBody>
      </p:sp>
      <p:sp>
        <p:nvSpPr>
          <p:cNvPr id="227" name="st0_bg"/>
          <p:cNvSpPr/>
          <p:nvPr/>
        </p:nvSpPr>
        <p:spPr>
          <a:xfrm>
            <a:off x="548640" y="1700783"/>
            <a:ext cx="8046720" cy="548641"/>
          </a:xfrm>
          <a:prstGeom prst="roundRect">
            <a:avLst>
              <a:gd name="adj" fmla="val 10000"/>
            </a:avLst>
          </a:prstGeom>
          <a:solidFill>
            <a:srgbClr val="F2F0F8"/>
          </a:solidFill>
          <a:ln w="12700">
            <a:solidFill>
              <a:srgbClr val="F2F0F8"/>
            </a:solidFill>
          </a:ln>
        </p:spPr>
        <p:txBody>
          <a:bodyPr lIns="45719" rIns="45719"/>
          <a:lstStyle/>
          <a:p>
            <a:pPr/>
          </a:p>
        </p:txBody>
      </p:sp>
      <p:sp>
        <p:nvSpPr>
          <p:cNvPr id="228" name="st0_n"/>
          <p:cNvSpPr txBox="1"/>
          <p:nvPr/>
        </p:nvSpPr>
        <p:spPr>
          <a:xfrm>
            <a:off x="713231" y="1854453"/>
            <a:ext cx="27432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E85D4A"/>
                </a:solidFill>
                <a:latin typeface="Georgia"/>
                <a:ea typeface="Georgia"/>
                <a:cs typeface="Georgia"/>
                <a:sym typeface="Georgia"/>
              </a:defRPr>
            </a:lvl1pPr>
          </a:lstStyle>
          <a:p>
            <a:pPr/>
            <a:r>
              <a:t>1</a:t>
            </a:r>
          </a:p>
        </p:txBody>
      </p:sp>
      <p:sp>
        <p:nvSpPr>
          <p:cNvPr id="229" name="st0_w"/>
          <p:cNvSpPr txBox="1"/>
          <p:nvPr/>
        </p:nvSpPr>
        <p:spPr>
          <a:xfrm>
            <a:off x="1078991" y="1889181"/>
            <a:ext cx="2514601" cy="1718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b="1" sz="1100">
                <a:solidFill>
                  <a:srgbClr val="2B2350"/>
                </a:solidFill>
                <a:latin typeface="Arial"/>
                <a:ea typeface="Arial"/>
                <a:cs typeface="Arial"/>
                <a:sym typeface="Arial"/>
              </a:defRPr>
            </a:lvl1pPr>
          </a:lstStyle>
          <a:p>
            <a:pPr/>
            <a:r>
              <a:t>Take the sign with each term.</a:t>
            </a:r>
          </a:p>
        </p:txBody>
      </p:sp>
      <p:sp>
        <p:nvSpPr>
          <p:cNvPr id="230" name="st0_e"/>
          <p:cNvSpPr txBox="1"/>
          <p:nvPr/>
        </p:nvSpPr>
        <p:spPr>
          <a:xfrm>
            <a:off x="3749040" y="1848103"/>
            <a:ext cx="484632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solidFill>
                  <a:srgbClr val="2E8B57"/>
                </a:solidFill>
                <a:latin typeface="Georgia"/>
                <a:ea typeface="Georgia"/>
                <a:cs typeface="Georgia"/>
                <a:sym typeface="Georgia"/>
              </a:defRPr>
            </a:pPr>
            <a:r>
              <a:t>+4a</a:t>
            </a:r>
            <a:r>
              <a:rPr>
                <a:solidFill>
                  <a:srgbClr val="2B2350"/>
                </a:solidFill>
              </a:rPr>
              <a:t>   </a:t>
            </a:r>
            <a:r>
              <a:rPr>
                <a:solidFill>
                  <a:srgbClr val="1F6FB2"/>
                </a:solidFill>
              </a:rPr>
              <a:t>+3b</a:t>
            </a:r>
            <a:r>
              <a:rPr>
                <a:solidFill>
                  <a:srgbClr val="2B2350"/>
                </a:solidFill>
              </a:rPr>
              <a:t>   </a:t>
            </a:r>
            <a:r>
              <a:t>−2a</a:t>
            </a:r>
            <a:r>
              <a:rPr>
                <a:solidFill>
                  <a:srgbClr val="2B2350"/>
                </a:solidFill>
              </a:rPr>
              <a:t>   </a:t>
            </a:r>
            <a:r>
              <a:rPr>
                <a:solidFill>
                  <a:srgbClr val="1F6FB2"/>
                </a:solidFill>
              </a:rPr>
              <a:t>+b</a:t>
            </a:r>
          </a:p>
        </p:txBody>
      </p:sp>
      <p:sp>
        <p:nvSpPr>
          <p:cNvPr id="231" name="st1_bg"/>
          <p:cNvSpPr/>
          <p:nvPr/>
        </p:nvSpPr>
        <p:spPr>
          <a:xfrm>
            <a:off x="548640" y="2359151"/>
            <a:ext cx="8046720" cy="548641"/>
          </a:xfrm>
          <a:prstGeom prst="roundRect">
            <a:avLst>
              <a:gd name="adj" fmla="val 10000"/>
            </a:avLst>
          </a:prstGeom>
          <a:solidFill>
            <a:srgbClr val="F2F0F8"/>
          </a:solidFill>
          <a:ln w="12700">
            <a:solidFill>
              <a:srgbClr val="F2F0F8"/>
            </a:solidFill>
          </a:ln>
        </p:spPr>
        <p:txBody>
          <a:bodyPr lIns="45719" rIns="45719"/>
          <a:lstStyle/>
          <a:p>
            <a:pPr/>
          </a:p>
        </p:txBody>
      </p:sp>
      <p:sp>
        <p:nvSpPr>
          <p:cNvPr id="232" name="st1_n"/>
          <p:cNvSpPr txBox="1"/>
          <p:nvPr/>
        </p:nvSpPr>
        <p:spPr>
          <a:xfrm>
            <a:off x="713231" y="2512821"/>
            <a:ext cx="27432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E85D4A"/>
                </a:solidFill>
                <a:latin typeface="Georgia"/>
                <a:ea typeface="Georgia"/>
                <a:cs typeface="Georgia"/>
                <a:sym typeface="Georgia"/>
              </a:defRPr>
            </a:lvl1pPr>
          </a:lstStyle>
          <a:p>
            <a:pPr/>
            <a:r>
              <a:t>2</a:t>
            </a:r>
          </a:p>
        </p:txBody>
      </p:sp>
      <p:sp>
        <p:nvSpPr>
          <p:cNvPr id="233" name="st1_w"/>
          <p:cNvSpPr txBox="1"/>
          <p:nvPr/>
        </p:nvSpPr>
        <p:spPr>
          <a:xfrm>
            <a:off x="1078991" y="2547549"/>
            <a:ext cx="2514601" cy="1718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b="1" sz="1100">
                <a:solidFill>
                  <a:srgbClr val="2B2350"/>
                </a:solidFill>
                <a:latin typeface="Arial"/>
                <a:ea typeface="Arial"/>
                <a:cs typeface="Arial"/>
                <a:sym typeface="Arial"/>
              </a:defRPr>
            </a:lvl1pPr>
          </a:lstStyle>
          <a:p>
            <a:pPr/>
            <a:r>
              <a:t>‘Collect’ (put) the like terms together.</a:t>
            </a:r>
          </a:p>
        </p:txBody>
      </p:sp>
      <p:sp>
        <p:nvSpPr>
          <p:cNvPr id="234" name="st1_e"/>
          <p:cNvSpPr txBox="1"/>
          <p:nvPr/>
        </p:nvSpPr>
        <p:spPr>
          <a:xfrm>
            <a:off x="3749040" y="2506471"/>
            <a:ext cx="484632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solidFill>
                  <a:srgbClr val="2E8B57"/>
                </a:solidFill>
                <a:latin typeface="Georgia"/>
                <a:ea typeface="Georgia"/>
                <a:cs typeface="Georgia"/>
                <a:sym typeface="Georgia"/>
              </a:defRPr>
            </a:pPr>
            <a:r>
              <a:t>+4a − 2a</a:t>
            </a:r>
            <a:r>
              <a:rPr>
                <a:solidFill>
                  <a:srgbClr val="2B2350"/>
                </a:solidFill>
              </a:rPr>
              <a:t>        </a:t>
            </a:r>
            <a:r>
              <a:rPr>
                <a:solidFill>
                  <a:srgbClr val="1F6FB2"/>
                </a:solidFill>
              </a:rPr>
              <a:t>+3b + b</a:t>
            </a:r>
          </a:p>
        </p:txBody>
      </p:sp>
      <p:sp>
        <p:nvSpPr>
          <p:cNvPr id="235" name="st2_bg"/>
          <p:cNvSpPr/>
          <p:nvPr/>
        </p:nvSpPr>
        <p:spPr>
          <a:xfrm>
            <a:off x="548640" y="3017520"/>
            <a:ext cx="8046720" cy="548641"/>
          </a:xfrm>
          <a:prstGeom prst="roundRect">
            <a:avLst>
              <a:gd name="adj" fmla="val 10000"/>
            </a:avLst>
          </a:prstGeom>
          <a:solidFill>
            <a:srgbClr val="F2F0F8"/>
          </a:solidFill>
          <a:ln w="12700">
            <a:solidFill>
              <a:srgbClr val="F2F0F8"/>
            </a:solidFill>
          </a:ln>
        </p:spPr>
        <p:txBody>
          <a:bodyPr lIns="45719" rIns="45719"/>
          <a:lstStyle/>
          <a:p>
            <a:pPr/>
          </a:p>
        </p:txBody>
      </p:sp>
      <p:sp>
        <p:nvSpPr>
          <p:cNvPr id="236" name="st2_n"/>
          <p:cNvSpPr txBox="1"/>
          <p:nvPr/>
        </p:nvSpPr>
        <p:spPr>
          <a:xfrm>
            <a:off x="713231" y="3171190"/>
            <a:ext cx="27432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E85D4A"/>
                </a:solidFill>
                <a:latin typeface="Georgia"/>
                <a:ea typeface="Georgia"/>
                <a:cs typeface="Georgia"/>
                <a:sym typeface="Georgia"/>
              </a:defRPr>
            </a:lvl1pPr>
          </a:lstStyle>
          <a:p>
            <a:pPr/>
            <a:r>
              <a:t>3</a:t>
            </a:r>
          </a:p>
        </p:txBody>
      </p:sp>
      <p:sp>
        <p:nvSpPr>
          <p:cNvPr id="237" name="st2_w"/>
          <p:cNvSpPr txBox="1"/>
          <p:nvPr/>
        </p:nvSpPr>
        <p:spPr>
          <a:xfrm>
            <a:off x="1078991" y="3205917"/>
            <a:ext cx="2514601" cy="1718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b="1" sz="1100">
                <a:solidFill>
                  <a:srgbClr val="2B2350"/>
                </a:solidFill>
                <a:latin typeface="Arial"/>
                <a:ea typeface="Arial"/>
                <a:cs typeface="Arial"/>
                <a:sym typeface="Arial"/>
              </a:defRPr>
            </a:lvl1pPr>
          </a:lstStyle>
          <a:p>
            <a:pPr/>
            <a:r>
              <a:t>Do the arithmetic on each part.</a:t>
            </a:r>
          </a:p>
        </p:txBody>
      </p:sp>
      <p:sp>
        <p:nvSpPr>
          <p:cNvPr id="238" name="st2_e"/>
          <p:cNvSpPr txBox="1"/>
          <p:nvPr/>
        </p:nvSpPr>
        <p:spPr>
          <a:xfrm>
            <a:off x="3749040" y="3164840"/>
            <a:ext cx="484632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solidFill>
                  <a:srgbClr val="2E8B57"/>
                </a:solidFill>
                <a:latin typeface="Georgia"/>
                <a:ea typeface="Georgia"/>
                <a:cs typeface="Georgia"/>
                <a:sym typeface="Georgia"/>
              </a:defRPr>
            </a:pPr>
            <a:r>
              <a:t>4 − 2 = 2</a:t>
            </a:r>
            <a:r>
              <a:rPr>
                <a:solidFill>
                  <a:srgbClr val="2B2350"/>
                </a:solidFill>
              </a:rPr>
              <a:t>        </a:t>
            </a:r>
            <a:r>
              <a:rPr>
                <a:solidFill>
                  <a:srgbClr val="1F6FB2"/>
                </a:solidFill>
              </a:rPr>
              <a:t>3 + 1 = 4</a:t>
            </a:r>
          </a:p>
        </p:txBody>
      </p:sp>
      <p:sp>
        <p:nvSpPr>
          <p:cNvPr id="239" name="st3_bg"/>
          <p:cNvSpPr/>
          <p:nvPr/>
        </p:nvSpPr>
        <p:spPr>
          <a:xfrm>
            <a:off x="548640" y="3675888"/>
            <a:ext cx="8046720" cy="548641"/>
          </a:xfrm>
          <a:prstGeom prst="roundRect">
            <a:avLst>
              <a:gd name="adj" fmla="val 10000"/>
            </a:avLst>
          </a:prstGeom>
          <a:solidFill>
            <a:srgbClr val="FDF0EE"/>
          </a:solidFill>
          <a:ln w="17780">
            <a:solidFill>
              <a:srgbClr val="E85D4A"/>
            </a:solidFill>
          </a:ln>
        </p:spPr>
        <p:txBody>
          <a:bodyPr lIns="45719" rIns="45719"/>
          <a:lstStyle/>
          <a:p>
            <a:pPr/>
          </a:p>
        </p:txBody>
      </p:sp>
      <p:sp>
        <p:nvSpPr>
          <p:cNvPr id="240" name="st3_n"/>
          <p:cNvSpPr txBox="1"/>
          <p:nvPr/>
        </p:nvSpPr>
        <p:spPr>
          <a:xfrm>
            <a:off x="713231" y="3829558"/>
            <a:ext cx="27432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E85D4A"/>
                </a:solidFill>
                <a:latin typeface="Georgia"/>
                <a:ea typeface="Georgia"/>
                <a:cs typeface="Georgia"/>
                <a:sym typeface="Georgia"/>
              </a:defRPr>
            </a:lvl1pPr>
          </a:lstStyle>
          <a:p>
            <a:pPr/>
            <a:r>
              <a:t>4</a:t>
            </a:r>
          </a:p>
        </p:txBody>
      </p:sp>
      <p:sp>
        <p:nvSpPr>
          <p:cNvPr id="241" name="st3_w"/>
          <p:cNvSpPr txBox="1"/>
          <p:nvPr/>
        </p:nvSpPr>
        <p:spPr>
          <a:xfrm>
            <a:off x="1078991" y="3864285"/>
            <a:ext cx="2514601" cy="1718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400"/>
              </a:lnSpc>
              <a:defRPr b="1" sz="1100">
                <a:solidFill>
                  <a:srgbClr val="2B2350"/>
                </a:solidFill>
                <a:latin typeface="Arial"/>
                <a:ea typeface="Arial"/>
                <a:cs typeface="Arial"/>
                <a:sym typeface="Arial"/>
              </a:defRPr>
            </a:lvl1pPr>
          </a:lstStyle>
          <a:p>
            <a:pPr/>
            <a:r>
              <a:t>Write the answer.</a:t>
            </a:r>
          </a:p>
        </p:txBody>
      </p:sp>
      <p:sp>
        <p:nvSpPr>
          <p:cNvPr id="242" name="st3_e"/>
          <p:cNvSpPr txBox="1"/>
          <p:nvPr/>
        </p:nvSpPr>
        <p:spPr>
          <a:xfrm>
            <a:off x="3749040" y="3823208"/>
            <a:ext cx="484632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0392B"/>
                </a:solidFill>
                <a:latin typeface="Georgia"/>
                <a:ea typeface="Georgia"/>
                <a:cs typeface="Georgia"/>
                <a:sym typeface="Georgia"/>
              </a:defRPr>
            </a:lvl1pPr>
          </a:lstStyle>
          <a:p>
            <a:pPr/>
            <a:r>
              <a:t>2a + 4b</a:t>
            </a:r>
          </a:p>
        </p:txBody>
      </p:sp>
      <p:sp>
        <p:nvSpPr>
          <p:cNvPr id="243" name="st_note"/>
          <p:cNvSpPr txBox="1"/>
          <p:nvPr/>
        </p:nvSpPr>
        <p:spPr>
          <a:xfrm>
            <a:off x="548640" y="4434077"/>
            <a:ext cx="8046719"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C0392B"/>
                </a:solidFill>
                <a:latin typeface="Arial"/>
                <a:ea typeface="Arial"/>
                <a:cs typeface="Arial"/>
                <a:sym typeface="Arial"/>
              </a:defRPr>
            </a:lvl1pPr>
          </a:lstStyle>
          <a:p>
            <a:pPr/>
            <a:r>
              <a:t>b is 1b. If there is no number in front, the number is actually 1.</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29"/>
                                        </p:tgtEl>
                                        <p:attrNameLst>
                                          <p:attrName>style.visibility</p:attrName>
                                        </p:attrNameLst>
                                      </p:cBhvr>
                                      <p:to>
                                        <p:strVal val="visible"/>
                                      </p:to>
                                    </p:set>
                                    <p:animEffect filter="fade" transition="in">
                                      <p:cBhvr>
                                        <p:cTn id="7" dur="400"/>
                                        <p:tgtEl>
                                          <p:spTgt spid="229"/>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230"/>
                                        </p:tgtEl>
                                        <p:attrNameLst>
                                          <p:attrName>style.visibility</p:attrName>
                                        </p:attrNameLst>
                                      </p:cBhvr>
                                      <p:to>
                                        <p:strVal val="visible"/>
                                      </p:to>
                                    </p:set>
                                    <p:animEffect filter="fade" transition="in">
                                      <p:cBhvr>
                                        <p:cTn id="12" dur="400"/>
                                        <p:tgtEl>
                                          <p:spTgt spid="23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233"/>
                                        </p:tgtEl>
                                        <p:attrNameLst>
                                          <p:attrName>style.visibility</p:attrName>
                                        </p:attrNameLst>
                                      </p:cBhvr>
                                      <p:to>
                                        <p:strVal val="visible"/>
                                      </p:to>
                                    </p:set>
                                    <p:animEffect filter="fade" transition="in">
                                      <p:cBhvr>
                                        <p:cTn id="17" dur="400"/>
                                        <p:tgtEl>
                                          <p:spTgt spid="23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34"/>
                                        </p:tgtEl>
                                        <p:attrNameLst>
                                          <p:attrName>style.visibility</p:attrName>
                                        </p:attrNameLst>
                                      </p:cBhvr>
                                      <p:to>
                                        <p:strVal val="visible"/>
                                      </p:to>
                                    </p:set>
                                    <p:animEffect filter="fade" transition="in">
                                      <p:cBhvr>
                                        <p:cTn id="22" dur="400"/>
                                        <p:tgtEl>
                                          <p:spTgt spid="234"/>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237"/>
                                        </p:tgtEl>
                                        <p:attrNameLst>
                                          <p:attrName>style.visibility</p:attrName>
                                        </p:attrNameLst>
                                      </p:cBhvr>
                                      <p:to>
                                        <p:strVal val="visible"/>
                                      </p:to>
                                    </p:set>
                                    <p:animEffect filter="fade" transition="in">
                                      <p:cBhvr>
                                        <p:cTn id="27" dur="400"/>
                                        <p:tgtEl>
                                          <p:spTgt spid="237"/>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ID="10" grpId="6" fill="hold">
                                  <p:stCondLst>
                                    <p:cond delay="0"/>
                                  </p:stCondLst>
                                  <p:iterate type="el" backwards="0">
                                    <p:tmAbs val="0"/>
                                  </p:iterate>
                                  <p:childTnLst>
                                    <p:set>
                                      <p:cBhvr>
                                        <p:cTn id="31" fill="hold"/>
                                        <p:tgtEl>
                                          <p:spTgt spid="238"/>
                                        </p:tgtEl>
                                        <p:attrNameLst>
                                          <p:attrName>style.visibility</p:attrName>
                                        </p:attrNameLst>
                                      </p:cBhvr>
                                      <p:to>
                                        <p:strVal val="visible"/>
                                      </p:to>
                                    </p:set>
                                    <p:animEffect filter="fade" transition="in">
                                      <p:cBhvr>
                                        <p:cTn id="32" dur="400"/>
                                        <p:tgtEl>
                                          <p:spTgt spid="238"/>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ID="10" grpId="7" fill="hold">
                                  <p:stCondLst>
                                    <p:cond delay="0"/>
                                  </p:stCondLst>
                                  <p:iterate type="el" backwards="0">
                                    <p:tmAbs val="0"/>
                                  </p:iterate>
                                  <p:childTnLst>
                                    <p:set>
                                      <p:cBhvr>
                                        <p:cTn id="36" fill="hold"/>
                                        <p:tgtEl>
                                          <p:spTgt spid="241"/>
                                        </p:tgtEl>
                                        <p:attrNameLst>
                                          <p:attrName>style.visibility</p:attrName>
                                        </p:attrNameLst>
                                      </p:cBhvr>
                                      <p:to>
                                        <p:strVal val="visible"/>
                                      </p:to>
                                    </p:set>
                                    <p:animEffect filter="fade" transition="in">
                                      <p:cBhvr>
                                        <p:cTn id="37" dur="400"/>
                                        <p:tgtEl>
                                          <p:spTgt spid="241"/>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ID="10" grpId="8" fill="hold">
                                  <p:stCondLst>
                                    <p:cond delay="0"/>
                                  </p:stCondLst>
                                  <p:iterate type="el" backwards="0">
                                    <p:tmAbs val="0"/>
                                  </p:iterate>
                                  <p:childTnLst>
                                    <p:set>
                                      <p:cBhvr>
                                        <p:cTn id="41" fill="hold"/>
                                        <p:tgtEl>
                                          <p:spTgt spid="242"/>
                                        </p:tgtEl>
                                        <p:attrNameLst>
                                          <p:attrName>style.visibility</p:attrName>
                                        </p:attrNameLst>
                                      </p:cBhvr>
                                      <p:to>
                                        <p:strVal val="visible"/>
                                      </p:to>
                                    </p:set>
                                    <p:animEffect filter="fade" transition="in">
                                      <p:cBhvr>
                                        <p:cTn id="42" dur="400"/>
                                        <p:tgtEl>
                                          <p:spTgt spid="242"/>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9" fill="hold">
                                  <p:stCondLst>
                                    <p:cond delay="0"/>
                                  </p:stCondLst>
                                  <p:iterate type="el" backwards="0">
                                    <p:tmAbs val="0"/>
                                  </p:iterate>
                                  <p:childTnLst>
                                    <p:set>
                                      <p:cBhvr>
                                        <p:cTn id="46" fill="hold"/>
                                        <p:tgtEl>
                                          <p:spTgt spid="243"/>
                                        </p:tgtEl>
                                        <p:attrNameLst>
                                          <p:attrName>style.visibility</p:attrName>
                                        </p:attrNameLst>
                                      </p:cBhvr>
                                      <p:to>
                                        <p:strVal val="visible"/>
                                      </p:to>
                                    </p:set>
                                    <p:animEffect filter="fade" transition="in">
                                      <p:cBhvr>
                                        <p:cTn id="47" dur="400"/>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9" grpId="1"/>
      <p:bldP build="whole" bldLvl="1" animBg="1" rev="0" advAuto="0" spid="241" grpId="7"/>
      <p:bldP build="whole" bldLvl="1" animBg="1" rev="0" advAuto="0" spid="237" grpId="5"/>
      <p:bldP build="whole" bldLvl="1" animBg="1" rev="0" advAuto="0" spid="238" grpId="6"/>
      <p:bldP build="whole" bldLvl="1" animBg="1" rev="0" advAuto="0" spid="234" grpId="4"/>
      <p:bldP build="whole" bldLvl="1" animBg="1" rev="0" advAuto="0" spid="230" grpId="2"/>
      <p:bldP build="whole" bldLvl="1" animBg="1" rev="0" advAuto="0" spid="242" grpId="8"/>
      <p:bldP build="whole" bldLvl="1" animBg="1" rev="0" advAuto="0" spid="243" grpId="9"/>
      <p:bldP build="whole" bldLvl="1" animBg="1" rev="0" advAuto="0" spid="233"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49" name="phase_pill"/>
          <p:cNvGrpSpPr/>
          <p:nvPr/>
        </p:nvGrpSpPr>
        <p:grpSpPr>
          <a:xfrm>
            <a:off x="548640" y="347472"/>
            <a:ext cx="1512418" cy="256033"/>
            <a:chOff x="0" y="0"/>
            <a:chExt cx="1512417" cy="256031"/>
          </a:xfrm>
        </p:grpSpPr>
        <p:sp>
          <p:nvSpPr>
            <p:cNvPr id="247" name="Rounded Rectangle"/>
            <p:cNvSpPr/>
            <p:nvPr/>
          </p:nvSpPr>
          <p:spPr>
            <a:xfrm>
              <a:off x="0" y="0"/>
              <a:ext cx="1512418"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248" name="WE DO · 6 MIN"/>
            <p:cNvSpPr txBox="1"/>
            <p:nvPr/>
          </p:nvSpPr>
          <p:spPr>
            <a:xfrm>
              <a:off x="37494" y="64515"/>
              <a:ext cx="1437430"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WE DO · 6 MIN</a:t>
              </a:r>
            </a:p>
          </p:txBody>
        </p:sp>
      </p:grpSp>
      <p:sp>
        <p:nvSpPr>
          <p:cNvPr id="250"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Your turn</a:t>
            </a:r>
          </a:p>
        </p:txBody>
      </p:sp>
      <p:sp>
        <p:nvSpPr>
          <p:cNvPr id="251" name="slide_sub"/>
          <p:cNvSpPr txBox="1"/>
          <p:nvPr/>
        </p:nvSpPr>
        <p:spPr>
          <a:xfrm>
            <a:off x="548640" y="1349546"/>
            <a:ext cx="8046719"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Whiteboards. Four steps every time, even the easy ones.</a:t>
            </a:r>
          </a:p>
        </p:txBody>
      </p:sp>
      <p:sp>
        <p:nvSpPr>
          <p:cNvPr id="252" name="q0_bg"/>
          <p:cNvSpPr/>
          <p:nvPr/>
        </p:nvSpPr>
        <p:spPr>
          <a:xfrm>
            <a:off x="548640" y="1664207"/>
            <a:ext cx="2560321"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53" name="q0_badge"/>
          <p:cNvSpPr/>
          <p:nvPr/>
        </p:nvSpPr>
        <p:spPr>
          <a:xfrm>
            <a:off x="694944" y="1792223"/>
            <a:ext cx="347473" cy="347473"/>
          </a:xfrm>
          <a:prstGeom prst="ellipse">
            <a:avLst/>
          </a:prstGeom>
          <a:solidFill>
            <a:srgbClr val="E85D4A"/>
          </a:solidFill>
          <a:ln w="12700">
            <a:solidFill>
              <a:srgbClr val="E85D4A"/>
            </a:solidFill>
          </a:ln>
        </p:spPr>
        <p:txBody>
          <a:bodyPr lIns="45719" rIns="45719"/>
          <a:lstStyle/>
          <a:p>
            <a:pPr/>
          </a:p>
        </p:txBody>
      </p:sp>
      <p:sp>
        <p:nvSpPr>
          <p:cNvPr id="254" name="q0_num"/>
          <p:cNvSpPr txBox="1"/>
          <p:nvPr/>
        </p:nvSpPr>
        <p:spPr>
          <a:xfrm>
            <a:off x="694944" y="1898187"/>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1</a:t>
            </a:r>
          </a:p>
        </p:txBody>
      </p:sp>
      <p:sp>
        <p:nvSpPr>
          <p:cNvPr id="255" name="q0_e"/>
          <p:cNvSpPr txBox="1"/>
          <p:nvPr/>
        </p:nvSpPr>
        <p:spPr>
          <a:xfrm>
            <a:off x="1115567" y="1867153"/>
            <a:ext cx="184708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rgbClr val="2E8B57"/>
                </a:solidFill>
                <a:latin typeface="Georgia"/>
                <a:ea typeface="Georgia"/>
                <a:cs typeface="Georgia"/>
                <a:sym typeface="Georgia"/>
              </a:defRPr>
            </a:pPr>
            <a:r>
              <a:t>5x</a:t>
            </a:r>
            <a:r>
              <a:rPr>
                <a:solidFill>
                  <a:srgbClr val="2B2350"/>
                </a:solidFill>
              </a:rPr>
              <a:t> + </a:t>
            </a:r>
            <a:r>
              <a:t>3x</a:t>
            </a:r>
          </a:p>
        </p:txBody>
      </p:sp>
      <p:sp>
        <p:nvSpPr>
          <p:cNvPr id="256" name="q0_a"/>
          <p:cNvSpPr txBox="1"/>
          <p:nvPr/>
        </p:nvSpPr>
        <p:spPr>
          <a:xfrm>
            <a:off x="731519" y="2335529"/>
            <a:ext cx="21945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C0392B"/>
                </a:solidFill>
                <a:latin typeface="Georgia"/>
                <a:ea typeface="Georgia"/>
                <a:cs typeface="Georgia"/>
                <a:sym typeface="Georgia"/>
              </a:defRPr>
            </a:lvl1pPr>
          </a:lstStyle>
          <a:p>
            <a:pPr/>
            <a:r>
              <a:t>8x</a:t>
            </a:r>
          </a:p>
        </p:txBody>
      </p:sp>
      <p:sp>
        <p:nvSpPr>
          <p:cNvPr id="257" name="q1_bg"/>
          <p:cNvSpPr/>
          <p:nvPr/>
        </p:nvSpPr>
        <p:spPr>
          <a:xfrm>
            <a:off x="3291840" y="1664207"/>
            <a:ext cx="2560321"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58" name="q1_badge"/>
          <p:cNvSpPr/>
          <p:nvPr/>
        </p:nvSpPr>
        <p:spPr>
          <a:xfrm>
            <a:off x="3438144" y="1792223"/>
            <a:ext cx="347473" cy="347473"/>
          </a:xfrm>
          <a:prstGeom prst="ellipse">
            <a:avLst/>
          </a:prstGeom>
          <a:solidFill>
            <a:srgbClr val="E85D4A"/>
          </a:solidFill>
          <a:ln w="12700">
            <a:solidFill>
              <a:srgbClr val="E85D4A"/>
            </a:solidFill>
          </a:ln>
        </p:spPr>
        <p:txBody>
          <a:bodyPr lIns="45719" rIns="45719"/>
          <a:lstStyle/>
          <a:p>
            <a:pPr/>
          </a:p>
        </p:txBody>
      </p:sp>
      <p:sp>
        <p:nvSpPr>
          <p:cNvPr id="259" name="q1_num"/>
          <p:cNvSpPr txBox="1"/>
          <p:nvPr/>
        </p:nvSpPr>
        <p:spPr>
          <a:xfrm>
            <a:off x="3438144" y="1898187"/>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2</a:t>
            </a:r>
          </a:p>
        </p:txBody>
      </p:sp>
      <p:sp>
        <p:nvSpPr>
          <p:cNvPr id="260" name="q1_e"/>
          <p:cNvSpPr txBox="1"/>
          <p:nvPr/>
        </p:nvSpPr>
        <p:spPr>
          <a:xfrm>
            <a:off x="3858767" y="1867153"/>
            <a:ext cx="184708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rgbClr val="2E8B57"/>
                </a:solidFill>
                <a:latin typeface="Georgia"/>
                <a:ea typeface="Georgia"/>
                <a:cs typeface="Georgia"/>
                <a:sym typeface="Georgia"/>
              </a:defRPr>
            </a:pPr>
            <a:r>
              <a:t>7y</a:t>
            </a:r>
            <a:r>
              <a:rPr>
                <a:solidFill>
                  <a:srgbClr val="2B2350"/>
                </a:solidFill>
              </a:rPr>
              <a:t> − </a:t>
            </a:r>
            <a:r>
              <a:t>2y</a:t>
            </a:r>
          </a:p>
        </p:txBody>
      </p:sp>
      <p:sp>
        <p:nvSpPr>
          <p:cNvPr id="261" name="q1_a"/>
          <p:cNvSpPr txBox="1"/>
          <p:nvPr/>
        </p:nvSpPr>
        <p:spPr>
          <a:xfrm>
            <a:off x="3474720" y="2335529"/>
            <a:ext cx="21945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C0392B"/>
                </a:solidFill>
                <a:latin typeface="Georgia"/>
                <a:ea typeface="Georgia"/>
                <a:cs typeface="Georgia"/>
                <a:sym typeface="Georgia"/>
              </a:defRPr>
            </a:lvl1pPr>
          </a:lstStyle>
          <a:p>
            <a:pPr/>
            <a:r>
              <a:t>5y</a:t>
            </a:r>
          </a:p>
        </p:txBody>
      </p:sp>
      <p:sp>
        <p:nvSpPr>
          <p:cNvPr id="262" name="q2_bg"/>
          <p:cNvSpPr/>
          <p:nvPr/>
        </p:nvSpPr>
        <p:spPr>
          <a:xfrm>
            <a:off x="6035040" y="1664207"/>
            <a:ext cx="2560321"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63" name="q2_badge"/>
          <p:cNvSpPr/>
          <p:nvPr/>
        </p:nvSpPr>
        <p:spPr>
          <a:xfrm>
            <a:off x="6181344" y="1792223"/>
            <a:ext cx="347473" cy="347473"/>
          </a:xfrm>
          <a:prstGeom prst="ellipse">
            <a:avLst/>
          </a:prstGeom>
          <a:solidFill>
            <a:srgbClr val="E85D4A"/>
          </a:solidFill>
          <a:ln w="12700">
            <a:solidFill>
              <a:srgbClr val="E85D4A"/>
            </a:solidFill>
          </a:ln>
        </p:spPr>
        <p:txBody>
          <a:bodyPr lIns="45719" rIns="45719"/>
          <a:lstStyle/>
          <a:p>
            <a:pPr/>
          </a:p>
        </p:txBody>
      </p:sp>
      <p:sp>
        <p:nvSpPr>
          <p:cNvPr id="264" name="q2_num"/>
          <p:cNvSpPr txBox="1"/>
          <p:nvPr/>
        </p:nvSpPr>
        <p:spPr>
          <a:xfrm>
            <a:off x="6181344" y="1898187"/>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3</a:t>
            </a:r>
          </a:p>
        </p:txBody>
      </p:sp>
      <p:sp>
        <p:nvSpPr>
          <p:cNvPr id="265" name="q2_e"/>
          <p:cNvSpPr txBox="1"/>
          <p:nvPr/>
        </p:nvSpPr>
        <p:spPr>
          <a:xfrm>
            <a:off x="6601968" y="1867153"/>
            <a:ext cx="184708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rgbClr val="2E8B57"/>
                </a:solidFill>
                <a:latin typeface="Georgia"/>
                <a:ea typeface="Georgia"/>
                <a:cs typeface="Georgia"/>
                <a:sym typeface="Georgia"/>
              </a:defRPr>
            </a:pPr>
            <a:r>
              <a:t>4a</a:t>
            </a:r>
            <a:r>
              <a:rPr>
                <a:solidFill>
                  <a:srgbClr val="2B2350"/>
                </a:solidFill>
              </a:rPr>
              <a:t> + </a:t>
            </a:r>
            <a:r>
              <a:rPr>
                <a:solidFill>
                  <a:srgbClr val="1F6FB2"/>
                </a:solidFill>
              </a:rPr>
              <a:t>2b</a:t>
            </a:r>
            <a:r>
              <a:rPr>
                <a:solidFill>
                  <a:srgbClr val="2B2350"/>
                </a:solidFill>
              </a:rPr>
              <a:t> + </a:t>
            </a:r>
            <a:r>
              <a:t>a</a:t>
            </a:r>
          </a:p>
        </p:txBody>
      </p:sp>
      <p:sp>
        <p:nvSpPr>
          <p:cNvPr id="266" name="q2_a"/>
          <p:cNvSpPr txBox="1"/>
          <p:nvPr/>
        </p:nvSpPr>
        <p:spPr>
          <a:xfrm>
            <a:off x="6217920" y="2335529"/>
            <a:ext cx="21945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C0392B"/>
                </a:solidFill>
                <a:latin typeface="Georgia"/>
                <a:ea typeface="Georgia"/>
                <a:cs typeface="Georgia"/>
                <a:sym typeface="Georgia"/>
              </a:defRPr>
            </a:lvl1pPr>
          </a:lstStyle>
          <a:p>
            <a:pPr/>
            <a:r>
              <a:t>5a + 2b</a:t>
            </a:r>
          </a:p>
        </p:txBody>
      </p:sp>
      <p:sp>
        <p:nvSpPr>
          <p:cNvPr id="267" name="q3_bg"/>
          <p:cNvSpPr/>
          <p:nvPr/>
        </p:nvSpPr>
        <p:spPr>
          <a:xfrm>
            <a:off x="548640" y="2980944"/>
            <a:ext cx="2560321"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68" name="q3_badge"/>
          <p:cNvSpPr/>
          <p:nvPr/>
        </p:nvSpPr>
        <p:spPr>
          <a:xfrm>
            <a:off x="694944" y="3108960"/>
            <a:ext cx="347473" cy="347473"/>
          </a:xfrm>
          <a:prstGeom prst="ellipse">
            <a:avLst/>
          </a:prstGeom>
          <a:solidFill>
            <a:srgbClr val="E85D4A"/>
          </a:solidFill>
          <a:ln w="12700">
            <a:solidFill>
              <a:srgbClr val="E85D4A"/>
            </a:solidFill>
          </a:ln>
        </p:spPr>
        <p:txBody>
          <a:bodyPr lIns="45719" rIns="45719"/>
          <a:lstStyle/>
          <a:p>
            <a:pPr/>
          </a:p>
        </p:txBody>
      </p:sp>
      <p:sp>
        <p:nvSpPr>
          <p:cNvPr id="269" name="q3_num"/>
          <p:cNvSpPr txBox="1"/>
          <p:nvPr/>
        </p:nvSpPr>
        <p:spPr>
          <a:xfrm>
            <a:off x="694944" y="3214923"/>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4</a:t>
            </a:r>
          </a:p>
        </p:txBody>
      </p:sp>
      <p:sp>
        <p:nvSpPr>
          <p:cNvPr id="270" name="q3_e"/>
          <p:cNvSpPr txBox="1"/>
          <p:nvPr/>
        </p:nvSpPr>
        <p:spPr>
          <a:xfrm>
            <a:off x="1115567" y="3183890"/>
            <a:ext cx="184708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rgbClr val="2E8B57"/>
                </a:solidFill>
                <a:latin typeface="Georgia"/>
                <a:ea typeface="Georgia"/>
                <a:cs typeface="Georgia"/>
                <a:sym typeface="Georgia"/>
              </a:defRPr>
            </a:pPr>
            <a:r>
              <a:t>6m</a:t>
            </a:r>
            <a:r>
              <a:rPr>
                <a:solidFill>
                  <a:srgbClr val="2B2350"/>
                </a:solidFill>
              </a:rPr>
              <a:t> − </a:t>
            </a:r>
            <a:r>
              <a:t>9m</a:t>
            </a:r>
          </a:p>
        </p:txBody>
      </p:sp>
      <p:sp>
        <p:nvSpPr>
          <p:cNvPr id="271" name="q3_a"/>
          <p:cNvSpPr txBox="1"/>
          <p:nvPr/>
        </p:nvSpPr>
        <p:spPr>
          <a:xfrm>
            <a:off x="731519" y="3652265"/>
            <a:ext cx="21945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C0392B"/>
                </a:solidFill>
                <a:latin typeface="Georgia"/>
                <a:ea typeface="Georgia"/>
                <a:cs typeface="Georgia"/>
                <a:sym typeface="Georgia"/>
              </a:defRPr>
            </a:lvl1pPr>
          </a:lstStyle>
          <a:p>
            <a:pPr/>
            <a:r>
              <a:t>−3m</a:t>
            </a:r>
          </a:p>
        </p:txBody>
      </p:sp>
      <p:sp>
        <p:nvSpPr>
          <p:cNvPr id="272" name="q4_bg"/>
          <p:cNvSpPr/>
          <p:nvPr/>
        </p:nvSpPr>
        <p:spPr>
          <a:xfrm>
            <a:off x="3291840" y="2980944"/>
            <a:ext cx="2560321"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73" name="q4_badge"/>
          <p:cNvSpPr/>
          <p:nvPr/>
        </p:nvSpPr>
        <p:spPr>
          <a:xfrm>
            <a:off x="3438144" y="3108960"/>
            <a:ext cx="347473" cy="347473"/>
          </a:xfrm>
          <a:prstGeom prst="ellipse">
            <a:avLst/>
          </a:prstGeom>
          <a:solidFill>
            <a:srgbClr val="E85D4A"/>
          </a:solidFill>
          <a:ln w="12700">
            <a:solidFill>
              <a:srgbClr val="E85D4A"/>
            </a:solidFill>
          </a:ln>
        </p:spPr>
        <p:txBody>
          <a:bodyPr lIns="45719" rIns="45719"/>
          <a:lstStyle/>
          <a:p>
            <a:pPr/>
          </a:p>
        </p:txBody>
      </p:sp>
      <p:sp>
        <p:nvSpPr>
          <p:cNvPr id="274" name="q4_num"/>
          <p:cNvSpPr txBox="1"/>
          <p:nvPr/>
        </p:nvSpPr>
        <p:spPr>
          <a:xfrm>
            <a:off x="3438144" y="3214923"/>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5</a:t>
            </a:r>
          </a:p>
        </p:txBody>
      </p:sp>
      <p:sp>
        <p:nvSpPr>
          <p:cNvPr id="275" name="q4_e"/>
          <p:cNvSpPr txBox="1"/>
          <p:nvPr/>
        </p:nvSpPr>
        <p:spPr>
          <a:xfrm>
            <a:off x="3858767" y="3183890"/>
            <a:ext cx="184708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rgbClr val="2E8B57"/>
                </a:solidFill>
                <a:latin typeface="Georgia"/>
                <a:ea typeface="Georgia"/>
                <a:cs typeface="Georgia"/>
                <a:sym typeface="Georgia"/>
              </a:defRPr>
            </a:pPr>
            <a:r>
              <a:t>3p</a:t>
            </a:r>
            <a:r>
              <a:rPr>
                <a:solidFill>
                  <a:srgbClr val="2B2350"/>
                </a:solidFill>
              </a:rPr>
              <a:t> + </a:t>
            </a:r>
            <a:r>
              <a:rPr>
                <a:solidFill>
                  <a:srgbClr val="1F6FB2"/>
                </a:solidFill>
              </a:rPr>
              <a:t>5q</a:t>
            </a:r>
            <a:r>
              <a:rPr>
                <a:solidFill>
                  <a:srgbClr val="2B2350"/>
                </a:solidFill>
              </a:rPr>
              <a:t> − </a:t>
            </a:r>
            <a:r>
              <a:t>p</a:t>
            </a:r>
            <a:r>
              <a:rPr>
                <a:solidFill>
                  <a:srgbClr val="2B2350"/>
                </a:solidFill>
              </a:rPr>
              <a:t> − </a:t>
            </a:r>
            <a:r>
              <a:rPr>
                <a:solidFill>
                  <a:srgbClr val="1F6FB2"/>
                </a:solidFill>
              </a:rPr>
              <a:t>2q</a:t>
            </a:r>
          </a:p>
        </p:txBody>
      </p:sp>
      <p:sp>
        <p:nvSpPr>
          <p:cNvPr id="276" name="q4_a"/>
          <p:cNvSpPr txBox="1"/>
          <p:nvPr/>
        </p:nvSpPr>
        <p:spPr>
          <a:xfrm>
            <a:off x="3474720" y="3652265"/>
            <a:ext cx="21945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C0392B"/>
                </a:solidFill>
                <a:latin typeface="Georgia"/>
                <a:ea typeface="Georgia"/>
                <a:cs typeface="Georgia"/>
                <a:sym typeface="Georgia"/>
              </a:defRPr>
            </a:lvl1pPr>
          </a:lstStyle>
          <a:p>
            <a:pPr/>
            <a:r>
              <a:t>2p + 3q</a:t>
            </a:r>
          </a:p>
        </p:txBody>
      </p:sp>
      <p:sp>
        <p:nvSpPr>
          <p:cNvPr id="277" name="q5_bg"/>
          <p:cNvSpPr/>
          <p:nvPr/>
        </p:nvSpPr>
        <p:spPr>
          <a:xfrm>
            <a:off x="6035040" y="2980944"/>
            <a:ext cx="2560321"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78" name="q5_badge"/>
          <p:cNvSpPr/>
          <p:nvPr/>
        </p:nvSpPr>
        <p:spPr>
          <a:xfrm>
            <a:off x="6181344" y="3108960"/>
            <a:ext cx="347473" cy="347473"/>
          </a:xfrm>
          <a:prstGeom prst="ellipse">
            <a:avLst/>
          </a:prstGeom>
          <a:solidFill>
            <a:srgbClr val="E85D4A"/>
          </a:solidFill>
          <a:ln w="12700">
            <a:solidFill>
              <a:srgbClr val="E85D4A"/>
            </a:solidFill>
          </a:ln>
        </p:spPr>
        <p:txBody>
          <a:bodyPr lIns="45719" rIns="45719"/>
          <a:lstStyle/>
          <a:p>
            <a:pPr/>
          </a:p>
        </p:txBody>
      </p:sp>
      <p:sp>
        <p:nvSpPr>
          <p:cNvPr id="279" name="q5_num"/>
          <p:cNvSpPr txBox="1"/>
          <p:nvPr/>
        </p:nvSpPr>
        <p:spPr>
          <a:xfrm>
            <a:off x="6181344" y="3214923"/>
            <a:ext cx="347473"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Arial"/>
                <a:ea typeface="Arial"/>
                <a:cs typeface="Arial"/>
                <a:sym typeface="Arial"/>
              </a:defRPr>
            </a:lvl1pPr>
          </a:lstStyle>
          <a:p>
            <a:pPr/>
            <a:r>
              <a:t>6</a:t>
            </a:r>
          </a:p>
        </p:txBody>
      </p:sp>
      <p:sp>
        <p:nvSpPr>
          <p:cNvPr id="280" name="q5_e"/>
          <p:cNvSpPr txBox="1"/>
          <p:nvPr/>
        </p:nvSpPr>
        <p:spPr>
          <a:xfrm>
            <a:off x="6601968" y="3183890"/>
            <a:ext cx="184708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rgbClr val="2E8B57"/>
                </a:solidFill>
                <a:latin typeface="Georgia"/>
                <a:ea typeface="Georgia"/>
                <a:cs typeface="Georgia"/>
                <a:sym typeface="Georgia"/>
              </a:defRPr>
            </a:pPr>
            <a:r>
              <a:t>4c</a:t>
            </a:r>
            <a:r>
              <a:rPr>
                <a:solidFill>
                  <a:srgbClr val="2B2350"/>
                </a:solidFill>
              </a:rPr>
              <a:t> + 3 + </a:t>
            </a:r>
            <a:r>
              <a:t>2c</a:t>
            </a:r>
            <a:r>
              <a:rPr>
                <a:solidFill>
                  <a:srgbClr val="2B2350"/>
                </a:solidFill>
              </a:rPr>
              <a:t> − 5</a:t>
            </a:r>
          </a:p>
        </p:txBody>
      </p:sp>
      <p:sp>
        <p:nvSpPr>
          <p:cNvPr id="281" name="q5_a"/>
          <p:cNvSpPr txBox="1"/>
          <p:nvPr/>
        </p:nvSpPr>
        <p:spPr>
          <a:xfrm>
            <a:off x="6217920" y="3652265"/>
            <a:ext cx="21945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C0392B"/>
                </a:solidFill>
                <a:latin typeface="Georgia"/>
                <a:ea typeface="Georgia"/>
                <a:cs typeface="Georgia"/>
                <a:sym typeface="Georgia"/>
              </a:defRPr>
            </a:lvl1pPr>
          </a:lstStyle>
          <a:p>
            <a:pPr/>
            <a:r>
              <a:t>6c − 2</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56"/>
                                        </p:tgtEl>
                                        <p:attrNameLst>
                                          <p:attrName>style.visibility</p:attrName>
                                        </p:attrNameLst>
                                      </p:cBhvr>
                                      <p:to>
                                        <p:strVal val="visible"/>
                                      </p:to>
                                    </p:set>
                                    <p:anim calcmode="lin" valueType="num">
                                      <p:cBhvr>
                                        <p:cTn id="7" dur="400" fill="hold"/>
                                        <p:tgtEl>
                                          <p:spTgt spid="256"/>
                                        </p:tgtEl>
                                        <p:attrNameLst>
                                          <p:attrName>ppt_w</p:attrName>
                                        </p:attrNameLst>
                                      </p:cBhvr>
                                      <p:tavLst>
                                        <p:tav tm="0">
                                          <p:val>
                                            <p:fltVal val="0"/>
                                          </p:val>
                                        </p:tav>
                                        <p:tav tm="100000">
                                          <p:val>
                                            <p:strVal val="#ppt_w"/>
                                          </p:val>
                                        </p:tav>
                                      </p:tavLst>
                                    </p:anim>
                                    <p:anim calcmode="lin" valueType="num">
                                      <p:cBhvr>
                                        <p:cTn id="8" dur="400" fill="hold"/>
                                        <p:tgtEl>
                                          <p:spTgt spid="25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261"/>
                                        </p:tgtEl>
                                        <p:attrNameLst>
                                          <p:attrName>style.visibility</p:attrName>
                                        </p:attrNameLst>
                                      </p:cBhvr>
                                      <p:to>
                                        <p:strVal val="visible"/>
                                      </p:to>
                                    </p:set>
                                    <p:anim calcmode="lin" valueType="num">
                                      <p:cBhvr>
                                        <p:cTn id="13" dur="400" fill="hold"/>
                                        <p:tgtEl>
                                          <p:spTgt spid="261"/>
                                        </p:tgtEl>
                                        <p:attrNameLst>
                                          <p:attrName>ppt_w</p:attrName>
                                        </p:attrNameLst>
                                      </p:cBhvr>
                                      <p:tavLst>
                                        <p:tav tm="0">
                                          <p:val>
                                            <p:fltVal val="0"/>
                                          </p:val>
                                        </p:tav>
                                        <p:tav tm="100000">
                                          <p:val>
                                            <p:strVal val="#ppt_w"/>
                                          </p:val>
                                        </p:tav>
                                      </p:tavLst>
                                    </p:anim>
                                    <p:anim calcmode="lin" valueType="num">
                                      <p:cBhvr>
                                        <p:cTn id="14" dur="400" fill="hold"/>
                                        <p:tgtEl>
                                          <p:spTgt spid="261"/>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16" presetID="23" grpId="3" fill="hold">
                                  <p:stCondLst>
                                    <p:cond delay="0"/>
                                  </p:stCondLst>
                                  <p:iterate type="el" backwards="0">
                                    <p:tmAbs val="0"/>
                                  </p:iterate>
                                  <p:childTnLst>
                                    <p:set>
                                      <p:cBhvr>
                                        <p:cTn id="18" fill="hold"/>
                                        <p:tgtEl>
                                          <p:spTgt spid="266"/>
                                        </p:tgtEl>
                                        <p:attrNameLst>
                                          <p:attrName>style.visibility</p:attrName>
                                        </p:attrNameLst>
                                      </p:cBhvr>
                                      <p:to>
                                        <p:strVal val="visible"/>
                                      </p:to>
                                    </p:set>
                                    <p:anim calcmode="lin" valueType="num">
                                      <p:cBhvr>
                                        <p:cTn id="19" dur="400" fill="hold"/>
                                        <p:tgtEl>
                                          <p:spTgt spid="266"/>
                                        </p:tgtEl>
                                        <p:attrNameLst>
                                          <p:attrName>ppt_w</p:attrName>
                                        </p:attrNameLst>
                                      </p:cBhvr>
                                      <p:tavLst>
                                        <p:tav tm="0">
                                          <p:val>
                                            <p:fltVal val="0"/>
                                          </p:val>
                                        </p:tav>
                                        <p:tav tm="100000">
                                          <p:val>
                                            <p:strVal val="#ppt_w"/>
                                          </p:val>
                                        </p:tav>
                                      </p:tavLst>
                                    </p:anim>
                                    <p:anim calcmode="lin" valueType="num">
                                      <p:cBhvr>
                                        <p:cTn id="20" dur="400" fill="hold"/>
                                        <p:tgtEl>
                                          <p:spTgt spid="266"/>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4" fill="hold">
                                  <p:stCondLst>
                                    <p:cond delay="0"/>
                                  </p:stCondLst>
                                  <p:iterate type="el" backwards="0">
                                    <p:tmAbs val="0"/>
                                  </p:iterate>
                                  <p:childTnLst>
                                    <p:set>
                                      <p:cBhvr>
                                        <p:cTn id="24" fill="hold"/>
                                        <p:tgtEl>
                                          <p:spTgt spid="271"/>
                                        </p:tgtEl>
                                        <p:attrNameLst>
                                          <p:attrName>style.visibility</p:attrName>
                                        </p:attrNameLst>
                                      </p:cBhvr>
                                      <p:to>
                                        <p:strVal val="visible"/>
                                      </p:to>
                                    </p:set>
                                    <p:anim calcmode="lin" valueType="num">
                                      <p:cBhvr>
                                        <p:cTn id="25" dur="400" fill="hold"/>
                                        <p:tgtEl>
                                          <p:spTgt spid="271"/>
                                        </p:tgtEl>
                                        <p:attrNameLst>
                                          <p:attrName>ppt_w</p:attrName>
                                        </p:attrNameLst>
                                      </p:cBhvr>
                                      <p:tavLst>
                                        <p:tav tm="0">
                                          <p:val>
                                            <p:fltVal val="0"/>
                                          </p:val>
                                        </p:tav>
                                        <p:tav tm="100000">
                                          <p:val>
                                            <p:strVal val="#ppt_w"/>
                                          </p:val>
                                        </p:tav>
                                      </p:tavLst>
                                    </p:anim>
                                    <p:anim calcmode="lin" valueType="num">
                                      <p:cBhvr>
                                        <p:cTn id="26" dur="400" fill="hold"/>
                                        <p:tgtEl>
                                          <p:spTgt spid="271"/>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5" fill="hold">
                                  <p:stCondLst>
                                    <p:cond delay="0"/>
                                  </p:stCondLst>
                                  <p:iterate type="el" backwards="0">
                                    <p:tmAbs val="0"/>
                                  </p:iterate>
                                  <p:childTnLst>
                                    <p:set>
                                      <p:cBhvr>
                                        <p:cTn id="30" fill="hold"/>
                                        <p:tgtEl>
                                          <p:spTgt spid="276"/>
                                        </p:tgtEl>
                                        <p:attrNameLst>
                                          <p:attrName>style.visibility</p:attrName>
                                        </p:attrNameLst>
                                      </p:cBhvr>
                                      <p:to>
                                        <p:strVal val="visible"/>
                                      </p:to>
                                    </p:set>
                                    <p:anim calcmode="lin" valueType="num">
                                      <p:cBhvr>
                                        <p:cTn id="31" dur="400" fill="hold"/>
                                        <p:tgtEl>
                                          <p:spTgt spid="276"/>
                                        </p:tgtEl>
                                        <p:attrNameLst>
                                          <p:attrName>ppt_w</p:attrName>
                                        </p:attrNameLst>
                                      </p:cBhvr>
                                      <p:tavLst>
                                        <p:tav tm="0">
                                          <p:val>
                                            <p:fltVal val="0"/>
                                          </p:val>
                                        </p:tav>
                                        <p:tav tm="100000">
                                          <p:val>
                                            <p:strVal val="#ppt_w"/>
                                          </p:val>
                                        </p:tav>
                                      </p:tavLst>
                                    </p:anim>
                                    <p:anim calcmode="lin" valueType="num">
                                      <p:cBhvr>
                                        <p:cTn id="32" dur="400" fill="hold"/>
                                        <p:tgtEl>
                                          <p:spTgt spid="276"/>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16" presetID="23" grpId="6" fill="hold">
                                  <p:stCondLst>
                                    <p:cond delay="0"/>
                                  </p:stCondLst>
                                  <p:iterate type="el" backwards="0">
                                    <p:tmAbs val="0"/>
                                  </p:iterate>
                                  <p:childTnLst>
                                    <p:set>
                                      <p:cBhvr>
                                        <p:cTn id="36" fill="hold"/>
                                        <p:tgtEl>
                                          <p:spTgt spid="281"/>
                                        </p:tgtEl>
                                        <p:attrNameLst>
                                          <p:attrName>style.visibility</p:attrName>
                                        </p:attrNameLst>
                                      </p:cBhvr>
                                      <p:to>
                                        <p:strVal val="visible"/>
                                      </p:to>
                                    </p:set>
                                    <p:anim calcmode="lin" valueType="num">
                                      <p:cBhvr>
                                        <p:cTn id="37" dur="400" fill="hold"/>
                                        <p:tgtEl>
                                          <p:spTgt spid="281"/>
                                        </p:tgtEl>
                                        <p:attrNameLst>
                                          <p:attrName>ppt_w</p:attrName>
                                        </p:attrNameLst>
                                      </p:cBhvr>
                                      <p:tavLst>
                                        <p:tav tm="0">
                                          <p:val>
                                            <p:fltVal val="0"/>
                                          </p:val>
                                        </p:tav>
                                        <p:tav tm="100000">
                                          <p:val>
                                            <p:strVal val="#ppt_w"/>
                                          </p:val>
                                        </p:tav>
                                      </p:tavLst>
                                    </p:anim>
                                    <p:anim calcmode="lin" valueType="num">
                                      <p:cBhvr>
                                        <p:cTn id="38" dur="400" fill="hold"/>
                                        <p:tgtEl>
                                          <p:spTgt spid="28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1" grpId="6"/>
      <p:bldP build="whole" bldLvl="1" animBg="1" rev="0" advAuto="0" spid="256" grpId="1"/>
      <p:bldP build="whole" bldLvl="1" animBg="1" rev="0" advAuto="0" spid="271" grpId="4"/>
      <p:bldP build="whole" bldLvl="1" animBg="1" rev="0" advAuto="0" spid="266" grpId="3"/>
      <p:bldP build="whole" bldLvl="1" animBg="1" rev="0" advAuto="0" spid="261" grpId="2"/>
      <p:bldP build="whole" bldLvl="1" animBg="1" rev="0" advAuto="0" spid="276" grpId="5"/>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87" name="phase_pill"/>
          <p:cNvGrpSpPr/>
          <p:nvPr/>
        </p:nvGrpSpPr>
        <p:grpSpPr>
          <a:xfrm>
            <a:off x="548640" y="347472"/>
            <a:ext cx="1333195" cy="256033"/>
            <a:chOff x="0" y="0"/>
            <a:chExt cx="1333194" cy="256031"/>
          </a:xfrm>
        </p:grpSpPr>
        <p:sp>
          <p:nvSpPr>
            <p:cNvPr id="285" name="Rounded Rectangle"/>
            <p:cNvSpPr/>
            <p:nvPr/>
          </p:nvSpPr>
          <p:spPr>
            <a:xfrm>
              <a:off x="0" y="0"/>
              <a:ext cx="1333195"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286" name="WHY · 3 MIN"/>
            <p:cNvSpPr txBox="1"/>
            <p:nvPr/>
          </p:nvSpPr>
          <p:spPr>
            <a:xfrm>
              <a:off x="37495" y="64515"/>
              <a:ext cx="1258205"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WHY · 3 MIN</a:t>
              </a:r>
            </a:p>
          </p:txBody>
        </p:sp>
      </p:grpSp>
      <p:sp>
        <p:nvSpPr>
          <p:cNvPr id="288"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Getting confident?</a:t>
            </a:r>
          </a:p>
        </p:txBody>
      </p:sp>
      <p:sp>
        <p:nvSpPr>
          <p:cNvPr id="289" name="slide_sub"/>
          <p:cNvSpPr txBox="1"/>
          <p:nvPr/>
        </p:nvSpPr>
        <p:spPr>
          <a:xfrm>
            <a:off x="548640" y="1349546"/>
            <a:ext cx="8046719"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Perimeter. Add up all the sides, then collect.</a:t>
            </a:r>
          </a:p>
        </p:txBody>
      </p:sp>
      <p:grpSp>
        <p:nvGrpSpPr>
          <p:cNvPr id="295" name="pm_shape"/>
          <p:cNvGrpSpPr/>
          <p:nvPr/>
        </p:nvGrpSpPr>
        <p:grpSpPr>
          <a:xfrm>
            <a:off x="621791" y="1525269"/>
            <a:ext cx="3145537" cy="1887222"/>
            <a:chOff x="0" y="0"/>
            <a:chExt cx="3145536" cy="1887220"/>
          </a:xfrm>
        </p:grpSpPr>
        <p:sp>
          <p:nvSpPr>
            <p:cNvPr id="290" name="pm_rect"/>
            <p:cNvSpPr/>
            <p:nvPr/>
          </p:nvSpPr>
          <p:spPr>
            <a:xfrm>
              <a:off x="384048" y="303529"/>
              <a:ext cx="2377441" cy="1280162"/>
            </a:xfrm>
            <a:prstGeom prst="rect">
              <a:avLst/>
            </a:prstGeom>
            <a:solidFill>
              <a:srgbClr val="E8F3EC"/>
            </a:solidFill>
            <a:ln w="25400" cap="flat">
              <a:solidFill>
                <a:srgbClr val="2E8B57"/>
              </a:solidFill>
              <a:prstDash val="solid"/>
              <a:round/>
            </a:ln>
            <a:effectLst/>
          </p:spPr>
          <p:txBody>
            <a:bodyPr wrap="square" lIns="45719" tIns="45719" rIns="45719" bIns="45719" numCol="1" anchor="t">
              <a:noAutofit/>
            </a:bodyPr>
            <a:lstStyle/>
            <a:p>
              <a:pPr/>
            </a:p>
          </p:txBody>
        </p:sp>
        <p:sp>
          <p:nvSpPr>
            <p:cNvPr id="291" name="pm_top"/>
            <p:cNvSpPr txBox="1"/>
            <p:nvPr/>
          </p:nvSpPr>
          <p:spPr>
            <a:xfrm>
              <a:off x="384048" y="0"/>
              <a:ext cx="2377441" cy="2413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2E8B57"/>
                  </a:solidFill>
                  <a:latin typeface="Georgia"/>
                  <a:ea typeface="Georgia"/>
                  <a:cs typeface="Georgia"/>
                  <a:sym typeface="Georgia"/>
                </a:defRPr>
              </a:lvl1pPr>
            </a:lstStyle>
            <a:p>
              <a:pPr/>
              <a:r>
                <a:t>x</a:t>
              </a:r>
            </a:p>
          </p:txBody>
        </p:sp>
        <p:sp>
          <p:nvSpPr>
            <p:cNvPr id="292" name="pm_bot"/>
            <p:cNvSpPr txBox="1"/>
            <p:nvPr/>
          </p:nvSpPr>
          <p:spPr>
            <a:xfrm>
              <a:off x="384048" y="1645920"/>
              <a:ext cx="2377441"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2E8B57"/>
                  </a:solidFill>
                  <a:latin typeface="Georgia"/>
                  <a:ea typeface="Georgia"/>
                  <a:cs typeface="Georgia"/>
                  <a:sym typeface="Georgia"/>
                </a:defRPr>
              </a:lvl1pPr>
            </a:lstStyle>
            <a:p>
              <a:pPr/>
              <a:r>
                <a:t>x</a:t>
              </a:r>
            </a:p>
          </p:txBody>
        </p:sp>
        <p:sp>
          <p:nvSpPr>
            <p:cNvPr id="293" name="pm_left"/>
            <p:cNvSpPr txBox="1"/>
            <p:nvPr/>
          </p:nvSpPr>
          <p:spPr>
            <a:xfrm>
              <a:off x="0" y="822959"/>
              <a:ext cx="329185"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1F6FB2"/>
                  </a:solidFill>
                  <a:latin typeface="Georgia"/>
                  <a:ea typeface="Georgia"/>
                  <a:cs typeface="Georgia"/>
                  <a:sym typeface="Georgia"/>
                </a:defRPr>
              </a:lvl1pPr>
            </a:lstStyle>
            <a:p>
              <a:pPr/>
              <a:r>
                <a:t>y</a:t>
              </a:r>
            </a:p>
          </p:txBody>
        </p:sp>
        <p:sp>
          <p:nvSpPr>
            <p:cNvPr id="294" name="pm_right"/>
            <p:cNvSpPr txBox="1"/>
            <p:nvPr/>
          </p:nvSpPr>
          <p:spPr>
            <a:xfrm>
              <a:off x="2816352" y="822959"/>
              <a:ext cx="329185"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1F6FB2"/>
                  </a:solidFill>
                  <a:latin typeface="Georgia"/>
                  <a:ea typeface="Georgia"/>
                  <a:cs typeface="Georgia"/>
                  <a:sym typeface="Georgia"/>
                </a:defRPr>
              </a:lvl1pPr>
            </a:lstStyle>
            <a:p>
              <a:pPr/>
              <a:r>
                <a:t>y</a:t>
              </a:r>
            </a:p>
          </p:txBody>
        </p:sp>
      </p:grpSp>
      <p:sp>
        <p:nvSpPr>
          <p:cNvPr id="296" name="pm_e1"/>
          <p:cNvSpPr txBox="1"/>
          <p:nvPr/>
        </p:nvSpPr>
        <p:spPr>
          <a:xfrm>
            <a:off x="4571999" y="1955038"/>
            <a:ext cx="402336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B2350"/>
                </a:solidFill>
                <a:latin typeface="Georgia"/>
                <a:ea typeface="Georgia"/>
                <a:cs typeface="Georgia"/>
                <a:sym typeface="Georgia"/>
              </a:defRPr>
            </a:pPr>
            <a:r>
              <a:t>P = </a:t>
            </a:r>
            <a:r>
              <a:rPr>
                <a:solidFill>
                  <a:srgbClr val="2E8B57"/>
                </a:solidFill>
              </a:rPr>
              <a:t>x</a:t>
            </a:r>
            <a:r>
              <a:t> + </a:t>
            </a:r>
            <a:r>
              <a:rPr>
                <a:solidFill>
                  <a:srgbClr val="1F6FB2"/>
                </a:solidFill>
              </a:rPr>
              <a:t>y</a:t>
            </a:r>
            <a:r>
              <a:t> + </a:t>
            </a:r>
            <a:r>
              <a:rPr>
                <a:solidFill>
                  <a:srgbClr val="2E8B57"/>
                </a:solidFill>
              </a:rPr>
              <a:t>x</a:t>
            </a:r>
            <a:r>
              <a:t> + </a:t>
            </a:r>
            <a:r>
              <a:rPr>
                <a:solidFill>
                  <a:srgbClr val="1F6FB2"/>
                </a:solidFill>
              </a:rPr>
              <a:t>y</a:t>
            </a:r>
          </a:p>
        </p:txBody>
      </p:sp>
      <p:sp>
        <p:nvSpPr>
          <p:cNvPr id="297" name="pm_e2"/>
          <p:cNvSpPr txBox="1"/>
          <p:nvPr/>
        </p:nvSpPr>
        <p:spPr>
          <a:xfrm>
            <a:off x="4571999" y="2485389"/>
            <a:ext cx="402336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B2350"/>
                </a:solidFill>
                <a:latin typeface="Georgia"/>
                <a:ea typeface="Georgia"/>
                <a:cs typeface="Georgia"/>
                <a:sym typeface="Georgia"/>
              </a:defRPr>
            </a:pPr>
            <a:r>
              <a:t>P = </a:t>
            </a:r>
            <a:r>
              <a:rPr>
                <a:solidFill>
                  <a:srgbClr val="2E8B57"/>
                </a:solidFill>
              </a:rPr>
              <a:t>x + x</a:t>
            </a:r>
            <a:r>
              <a:t> + </a:t>
            </a:r>
            <a:r>
              <a:rPr>
                <a:solidFill>
                  <a:srgbClr val="1F6FB2"/>
                </a:solidFill>
              </a:rPr>
              <a:t>y + y</a:t>
            </a:r>
          </a:p>
        </p:txBody>
      </p:sp>
      <p:sp>
        <p:nvSpPr>
          <p:cNvPr id="298" name="pm_e3"/>
          <p:cNvSpPr txBox="1"/>
          <p:nvPr/>
        </p:nvSpPr>
        <p:spPr>
          <a:xfrm>
            <a:off x="4571999" y="3024123"/>
            <a:ext cx="402336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000">
                <a:solidFill>
                  <a:srgbClr val="2B2350"/>
                </a:solidFill>
                <a:latin typeface="Georgia"/>
                <a:ea typeface="Georgia"/>
                <a:cs typeface="Georgia"/>
                <a:sym typeface="Georgia"/>
              </a:defRPr>
            </a:pPr>
            <a:r>
              <a:t>P = </a:t>
            </a:r>
            <a:r>
              <a:rPr>
                <a:solidFill>
                  <a:srgbClr val="C0392B"/>
                </a:solidFill>
              </a:rPr>
              <a:t>2x + 2y</a:t>
            </a:r>
          </a:p>
        </p:txBody>
      </p:sp>
      <p:sp>
        <p:nvSpPr>
          <p:cNvPr id="299" name="pm_close"/>
          <p:cNvSpPr txBox="1"/>
          <p:nvPr/>
        </p:nvSpPr>
        <p:spPr>
          <a:xfrm>
            <a:off x="548640" y="3882088"/>
            <a:ext cx="8046719"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2B2350"/>
                </a:solidFill>
                <a:latin typeface="Arial"/>
                <a:ea typeface="Arial"/>
                <a:cs typeface="Arial"/>
                <a:sym typeface="Arial"/>
              </a:defRPr>
            </a:lvl1pPr>
          </a:lstStyle>
          <a:p>
            <a:pPr/>
            <a:r>
              <a:t>The same can be done for the area, volume, etc.</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95"/>
                                        </p:tgtEl>
                                        <p:attrNameLst>
                                          <p:attrName>style.visibility</p:attrName>
                                        </p:attrNameLst>
                                      </p:cBhvr>
                                      <p:to>
                                        <p:strVal val="visible"/>
                                      </p:to>
                                    </p:set>
                                    <p:animEffect filter="fade" transition="in">
                                      <p:cBhvr>
                                        <p:cTn id="7" dur="400"/>
                                        <p:tgtEl>
                                          <p:spTgt spid="29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296"/>
                                        </p:tgtEl>
                                        <p:attrNameLst>
                                          <p:attrName>style.visibility</p:attrName>
                                        </p:attrNameLst>
                                      </p:cBhvr>
                                      <p:to>
                                        <p:strVal val="visible"/>
                                      </p:to>
                                    </p:set>
                                    <p:animEffect filter="fade" transition="in">
                                      <p:cBhvr>
                                        <p:cTn id="12" dur="400"/>
                                        <p:tgtEl>
                                          <p:spTgt spid="29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297"/>
                                        </p:tgtEl>
                                        <p:attrNameLst>
                                          <p:attrName>style.visibility</p:attrName>
                                        </p:attrNameLst>
                                      </p:cBhvr>
                                      <p:to>
                                        <p:strVal val="visible"/>
                                      </p:to>
                                    </p:set>
                                    <p:animEffect filter="fade" transition="in">
                                      <p:cBhvr>
                                        <p:cTn id="17" dur="400"/>
                                        <p:tgtEl>
                                          <p:spTgt spid="297"/>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16" presetID="23" grpId="4" fill="hold">
                                  <p:stCondLst>
                                    <p:cond delay="0"/>
                                  </p:stCondLst>
                                  <p:iterate type="el" backwards="0">
                                    <p:tmAbs val="0"/>
                                  </p:iterate>
                                  <p:childTnLst>
                                    <p:set>
                                      <p:cBhvr>
                                        <p:cTn id="21" fill="hold"/>
                                        <p:tgtEl>
                                          <p:spTgt spid="298"/>
                                        </p:tgtEl>
                                        <p:attrNameLst>
                                          <p:attrName>style.visibility</p:attrName>
                                        </p:attrNameLst>
                                      </p:cBhvr>
                                      <p:to>
                                        <p:strVal val="visible"/>
                                      </p:to>
                                    </p:set>
                                    <p:anim calcmode="lin" valueType="num">
                                      <p:cBhvr>
                                        <p:cTn id="22" dur="400" fill="hold"/>
                                        <p:tgtEl>
                                          <p:spTgt spid="298"/>
                                        </p:tgtEl>
                                        <p:attrNameLst>
                                          <p:attrName>ppt_w</p:attrName>
                                        </p:attrNameLst>
                                      </p:cBhvr>
                                      <p:tavLst>
                                        <p:tav tm="0">
                                          <p:val>
                                            <p:fltVal val="0"/>
                                          </p:val>
                                        </p:tav>
                                        <p:tav tm="100000">
                                          <p:val>
                                            <p:strVal val="#ppt_w"/>
                                          </p:val>
                                        </p:tav>
                                      </p:tavLst>
                                    </p:anim>
                                    <p:anim calcmode="lin" valueType="num">
                                      <p:cBhvr>
                                        <p:cTn id="23" dur="400" fill="hold"/>
                                        <p:tgtEl>
                                          <p:spTgt spid="298"/>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ID="10" grpId="5" fill="hold">
                                  <p:stCondLst>
                                    <p:cond delay="0"/>
                                  </p:stCondLst>
                                  <p:iterate type="el" backwards="0">
                                    <p:tmAbs val="0"/>
                                  </p:iterate>
                                  <p:childTnLst>
                                    <p:set>
                                      <p:cBhvr>
                                        <p:cTn id="27" fill="hold"/>
                                        <p:tgtEl>
                                          <p:spTgt spid="299"/>
                                        </p:tgtEl>
                                        <p:attrNameLst>
                                          <p:attrName>style.visibility</p:attrName>
                                        </p:attrNameLst>
                                      </p:cBhvr>
                                      <p:to>
                                        <p:strVal val="visible"/>
                                      </p:to>
                                    </p:set>
                                    <p:animEffect filter="fade" transition="in">
                                      <p:cBhvr>
                                        <p:cTn id="28" dur="4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5" grpId="1"/>
      <p:bldP build="whole" bldLvl="1" animBg="1" rev="0" advAuto="0" spid="298" grpId="4"/>
      <p:bldP build="whole" bldLvl="1" animBg="1" rev="0" advAuto="0" spid="299" grpId="5"/>
      <p:bldP build="whole" bldLvl="1" animBg="1" rev="0" advAuto="0" spid="297" grpId="3"/>
      <p:bldP build="whole" bldLvl="1" animBg="1" rev="0" advAuto="0" spid="296" grpId="2"/>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05" name="phase_pill"/>
          <p:cNvGrpSpPr/>
          <p:nvPr/>
        </p:nvGrpSpPr>
        <p:grpSpPr>
          <a:xfrm>
            <a:off x="548640" y="347472"/>
            <a:ext cx="1602029" cy="256033"/>
            <a:chOff x="0" y="0"/>
            <a:chExt cx="1602028" cy="256031"/>
          </a:xfrm>
        </p:grpSpPr>
        <p:sp>
          <p:nvSpPr>
            <p:cNvPr id="303" name="Rounded Rectangle"/>
            <p:cNvSpPr/>
            <p:nvPr/>
          </p:nvSpPr>
          <p:spPr>
            <a:xfrm>
              <a:off x="0" y="0"/>
              <a:ext cx="1602029" cy="256032"/>
            </a:xfrm>
            <a:prstGeom prst="roundRect">
              <a:avLst>
                <a:gd name="adj" fmla="val 5000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304" name="YOU DO · 9 MIN"/>
            <p:cNvSpPr txBox="1"/>
            <p:nvPr/>
          </p:nvSpPr>
          <p:spPr>
            <a:xfrm>
              <a:off x="37494" y="64515"/>
              <a:ext cx="152704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YOU DO · 9 MIN</a:t>
              </a:r>
            </a:p>
          </p:txBody>
        </p:sp>
      </p:grpSp>
      <p:sp>
        <p:nvSpPr>
          <p:cNvPr id="306" name="slide_title"/>
          <p:cNvSpPr txBox="1"/>
          <p:nvPr/>
        </p:nvSpPr>
        <p:spPr>
          <a:xfrm>
            <a:off x="548640" y="774445"/>
            <a:ext cx="8046719"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B2350"/>
                </a:solidFill>
                <a:latin typeface="Georgia"/>
                <a:ea typeface="Georgia"/>
                <a:cs typeface="Georgia"/>
                <a:sym typeface="Georgia"/>
              </a:defRPr>
            </a:lvl1pPr>
          </a:lstStyle>
          <a:p>
            <a:pPr/>
            <a:r>
              <a:t>Your turn: the worksheet</a:t>
            </a:r>
          </a:p>
        </p:txBody>
      </p:sp>
      <p:sp>
        <p:nvSpPr>
          <p:cNvPr id="307" name="slide_sub"/>
          <p:cNvSpPr txBox="1"/>
          <p:nvPr/>
        </p:nvSpPr>
        <p:spPr>
          <a:xfrm>
            <a:off x="548640" y="1349546"/>
            <a:ext cx="8046719"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E5A70"/>
                </a:solidFill>
                <a:latin typeface="Arial"/>
                <a:ea typeface="Arial"/>
                <a:cs typeface="Arial"/>
                <a:sym typeface="Arial"/>
              </a:defRPr>
            </a:lvl1pPr>
          </a:lstStyle>
          <a:p>
            <a:pPr/>
            <a:r>
              <a:t>Non-calculator. Start where you feel confident, then push up a tier.</a:t>
            </a:r>
          </a:p>
        </p:txBody>
      </p:sp>
      <p:grpSp>
        <p:nvGrpSpPr>
          <p:cNvPr id="312" name="t0"/>
          <p:cNvGrpSpPr/>
          <p:nvPr/>
        </p:nvGrpSpPr>
        <p:grpSpPr>
          <a:xfrm>
            <a:off x="548640" y="1664207"/>
            <a:ext cx="2548129" cy="1408177"/>
            <a:chOff x="0" y="0"/>
            <a:chExt cx="2548127" cy="1408176"/>
          </a:xfrm>
        </p:grpSpPr>
        <p:sp>
          <p:nvSpPr>
            <p:cNvPr id="308" name="t0_bg"/>
            <p:cNvSpPr/>
            <p:nvPr/>
          </p:nvSpPr>
          <p:spPr>
            <a:xfrm>
              <a:off x="0" y="-1"/>
              <a:ext cx="2548128" cy="1408178"/>
            </a:xfrm>
            <a:prstGeom prst="roundRect">
              <a:avLst>
                <a:gd name="adj" fmla="val 3896"/>
              </a:avLst>
            </a:prstGeom>
            <a:solidFill>
              <a:srgbClr val="F2F0F8"/>
            </a:solidFill>
            <a:ln w="17780" cap="flat">
              <a:solidFill>
                <a:srgbClr val="CD7F52"/>
              </a:solidFill>
              <a:prstDash val="solid"/>
              <a:round/>
            </a:ln>
            <a:effectLst/>
          </p:spPr>
          <p:txBody>
            <a:bodyPr wrap="square" lIns="45719" tIns="45719" rIns="45719" bIns="45719" numCol="1" anchor="t">
              <a:noAutofit/>
            </a:bodyPr>
            <a:lstStyle/>
            <a:p>
              <a:pPr/>
            </a:p>
          </p:txBody>
        </p:sp>
        <p:sp>
          <p:nvSpPr>
            <p:cNvPr id="309" name="t0_h"/>
            <p:cNvSpPr txBox="1"/>
            <p:nvPr/>
          </p:nvSpPr>
          <p:spPr>
            <a:xfrm>
              <a:off x="182880" y="200405"/>
              <a:ext cx="2182368"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CD7F52"/>
                  </a:solidFill>
                  <a:latin typeface="Arial"/>
                  <a:ea typeface="Arial"/>
                  <a:cs typeface="Arial"/>
                  <a:sym typeface="Arial"/>
                </a:defRPr>
              </a:lvl1pPr>
            </a:lstStyle>
            <a:p>
              <a:pPr/>
              <a:r>
                <a:t>BRONZE</a:t>
              </a:r>
            </a:p>
          </p:txBody>
        </p:sp>
        <p:sp>
          <p:nvSpPr>
            <p:cNvPr id="310" name="t0_s"/>
            <p:cNvSpPr txBox="1"/>
            <p:nvPr/>
          </p:nvSpPr>
          <p:spPr>
            <a:xfrm>
              <a:off x="182880" y="471376"/>
              <a:ext cx="2182368"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2B2350"/>
                  </a:solidFill>
                  <a:latin typeface="Arial"/>
                  <a:ea typeface="Arial"/>
                  <a:cs typeface="Arial"/>
                  <a:sym typeface="Arial"/>
                </a:defRPr>
              </a:lvl1pPr>
            </a:lstStyle>
            <a:p>
              <a:pPr/>
              <a:r>
                <a:t>Fluency</a:t>
              </a:r>
            </a:p>
          </p:txBody>
        </p:sp>
        <p:sp>
          <p:nvSpPr>
            <p:cNvPr id="311" name="t0_b"/>
            <p:cNvSpPr txBox="1"/>
            <p:nvPr/>
          </p:nvSpPr>
          <p:spPr>
            <a:xfrm>
              <a:off x="182880" y="694943"/>
              <a:ext cx="2182368" cy="16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sz="1000">
                  <a:solidFill>
                    <a:srgbClr val="5E5A70"/>
                  </a:solidFill>
                  <a:latin typeface="Arial"/>
                  <a:ea typeface="Arial"/>
                  <a:cs typeface="Arial"/>
                  <a:sym typeface="Arial"/>
                </a:defRPr>
              </a:lvl1pPr>
            </a:lstStyle>
            <a:p>
              <a:pPr/>
              <a:r>
                <a:t>One letter. Collect and simplify.</a:t>
              </a:r>
            </a:p>
          </p:txBody>
        </p:sp>
      </p:grpSp>
      <p:grpSp>
        <p:nvGrpSpPr>
          <p:cNvPr id="317" name="t1"/>
          <p:cNvGrpSpPr/>
          <p:nvPr/>
        </p:nvGrpSpPr>
        <p:grpSpPr>
          <a:xfrm>
            <a:off x="3297935" y="1664207"/>
            <a:ext cx="2548129" cy="1408177"/>
            <a:chOff x="0" y="0"/>
            <a:chExt cx="2548127" cy="1408176"/>
          </a:xfrm>
        </p:grpSpPr>
        <p:sp>
          <p:nvSpPr>
            <p:cNvPr id="313" name="t1_bg"/>
            <p:cNvSpPr/>
            <p:nvPr/>
          </p:nvSpPr>
          <p:spPr>
            <a:xfrm>
              <a:off x="0" y="-1"/>
              <a:ext cx="2548128" cy="1408178"/>
            </a:xfrm>
            <a:prstGeom prst="roundRect">
              <a:avLst>
                <a:gd name="adj" fmla="val 3896"/>
              </a:avLst>
            </a:prstGeom>
            <a:solidFill>
              <a:srgbClr val="F2F0F8"/>
            </a:solidFill>
            <a:ln w="17780" cap="flat">
              <a:solidFill>
                <a:srgbClr val="78868E"/>
              </a:solidFill>
              <a:prstDash val="solid"/>
              <a:round/>
            </a:ln>
            <a:effectLst/>
          </p:spPr>
          <p:txBody>
            <a:bodyPr wrap="square" lIns="45719" tIns="45719" rIns="45719" bIns="45719" numCol="1" anchor="t">
              <a:noAutofit/>
            </a:bodyPr>
            <a:lstStyle/>
            <a:p>
              <a:pPr/>
            </a:p>
          </p:txBody>
        </p:sp>
        <p:sp>
          <p:nvSpPr>
            <p:cNvPr id="314" name="t1_h"/>
            <p:cNvSpPr txBox="1"/>
            <p:nvPr/>
          </p:nvSpPr>
          <p:spPr>
            <a:xfrm>
              <a:off x="182880" y="200405"/>
              <a:ext cx="2182368"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78868E"/>
                  </a:solidFill>
                  <a:latin typeface="Arial"/>
                  <a:ea typeface="Arial"/>
                  <a:cs typeface="Arial"/>
                  <a:sym typeface="Arial"/>
                </a:defRPr>
              </a:lvl1pPr>
            </a:lstStyle>
            <a:p>
              <a:pPr/>
              <a:r>
                <a:t>SILVER</a:t>
              </a:r>
            </a:p>
          </p:txBody>
        </p:sp>
        <p:sp>
          <p:nvSpPr>
            <p:cNvPr id="315" name="t1_s"/>
            <p:cNvSpPr txBox="1"/>
            <p:nvPr/>
          </p:nvSpPr>
          <p:spPr>
            <a:xfrm>
              <a:off x="182880" y="471376"/>
              <a:ext cx="2182368"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2B2350"/>
                  </a:solidFill>
                  <a:latin typeface="Arial"/>
                  <a:ea typeface="Arial"/>
                  <a:cs typeface="Arial"/>
                  <a:sym typeface="Arial"/>
                </a:defRPr>
              </a:lvl1pPr>
            </a:lstStyle>
            <a:p>
              <a:pPr/>
              <a:r>
                <a:t>Mixed practice</a:t>
              </a:r>
            </a:p>
          </p:txBody>
        </p:sp>
        <p:sp>
          <p:nvSpPr>
            <p:cNvPr id="316" name="t1_b"/>
            <p:cNvSpPr txBox="1"/>
            <p:nvPr/>
          </p:nvSpPr>
          <p:spPr>
            <a:xfrm>
              <a:off x="182880" y="694943"/>
              <a:ext cx="2182368" cy="346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sz="1000">
                  <a:solidFill>
                    <a:srgbClr val="5E5A70"/>
                  </a:solidFill>
                  <a:latin typeface="Arial"/>
                  <a:ea typeface="Arial"/>
                  <a:cs typeface="Arial"/>
                  <a:sym typeface="Arial"/>
                </a:defRPr>
              </a:lvl1pPr>
            </a:lstStyle>
            <a:p>
              <a:pPr/>
              <a:r>
                <a:t>Two letters, minus signs, plain numbers.</a:t>
              </a:r>
            </a:p>
          </p:txBody>
        </p:sp>
      </p:grpSp>
      <p:grpSp>
        <p:nvGrpSpPr>
          <p:cNvPr id="322" name="t2"/>
          <p:cNvGrpSpPr/>
          <p:nvPr/>
        </p:nvGrpSpPr>
        <p:grpSpPr>
          <a:xfrm>
            <a:off x="6047232" y="1664207"/>
            <a:ext cx="2548129" cy="1408177"/>
            <a:chOff x="0" y="0"/>
            <a:chExt cx="2548127" cy="1408176"/>
          </a:xfrm>
        </p:grpSpPr>
        <p:sp>
          <p:nvSpPr>
            <p:cNvPr id="318" name="t2_bg"/>
            <p:cNvSpPr/>
            <p:nvPr/>
          </p:nvSpPr>
          <p:spPr>
            <a:xfrm>
              <a:off x="0" y="-1"/>
              <a:ext cx="2548128" cy="1408178"/>
            </a:xfrm>
            <a:prstGeom prst="roundRect">
              <a:avLst>
                <a:gd name="adj" fmla="val 3896"/>
              </a:avLst>
            </a:prstGeom>
            <a:solidFill>
              <a:srgbClr val="FBF3DF"/>
            </a:solidFill>
            <a:ln w="17780" cap="flat">
              <a:solidFill>
                <a:srgbClr val="B98400"/>
              </a:solidFill>
              <a:prstDash val="solid"/>
              <a:round/>
            </a:ln>
            <a:effectLst/>
          </p:spPr>
          <p:txBody>
            <a:bodyPr wrap="square" lIns="45719" tIns="45719" rIns="45719" bIns="45719" numCol="1" anchor="t">
              <a:noAutofit/>
            </a:bodyPr>
            <a:lstStyle/>
            <a:p>
              <a:pPr/>
            </a:p>
          </p:txBody>
        </p:sp>
        <p:sp>
          <p:nvSpPr>
            <p:cNvPr id="319" name="t2_h"/>
            <p:cNvSpPr txBox="1"/>
            <p:nvPr/>
          </p:nvSpPr>
          <p:spPr>
            <a:xfrm>
              <a:off x="182880" y="200405"/>
              <a:ext cx="2182368"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B98400"/>
                  </a:solidFill>
                  <a:latin typeface="Arial"/>
                  <a:ea typeface="Arial"/>
                  <a:cs typeface="Arial"/>
                  <a:sym typeface="Arial"/>
                </a:defRPr>
              </a:lvl1pPr>
            </a:lstStyle>
            <a:p>
              <a:pPr/>
              <a:r>
                <a:t>GOLD</a:t>
              </a:r>
            </a:p>
          </p:txBody>
        </p:sp>
        <p:sp>
          <p:nvSpPr>
            <p:cNvPr id="320" name="t2_s"/>
            <p:cNvSpPr txBox="1"/>
            <p:nvPr/>
          </p:nvSpPr>
          <p:spPr>
            <a:xfrm>
              <a:off x="182880" y="471376"/>
              <a:ext cx="2182368"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2B2350"/>
                  </a:solidFill>
                  <a:latin typeface="Arial"/>
                  <a:ea typeface="Arial"/>
                  <a:cs typeface="Arial"/>
                  <a:sym typeface="Arial"/>
                </a:defRPr>
              </a:lvl1pPr>
            </a:lstStyle>
            <a:p>
              <a:pPr/>
              <a:r>
                <a:t>Reasoning</a:t>
              </a:r>
            </a:p>
          </p:txBody>
        </p:sp>
        <p:sp>
          <p:nvSpPr>
            <p:cNvPr id="321" name="t2_b"/>
            <p:cNvSpPr txBox="1"/>
            <p:nvPr/>
          </p:nvSpPr>
          <p:spPr>
            <a:xfrm>
              <a:off x="182880" y="694943"/>
              <a:ext cx="2182368" cy="346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sz="1000">
                  <a:solidFill>
                    <a:srgbClr val="5E5A70"/>
                  </a:solidFill>
                  <a:latin typeface="Arial"/>
                  <a:ea typeface="Arial"/>
                  <a:cs typeface="Arial"/>
                  <a:sym typeface="Arial"/>
                </a:defRPr>
              </a:lvl1pPr>
            </a:lstStyle>
            <a:p>
              <a:pPr/>
              <a:r>
                <a:t>Spot the error and explain it. Perimeter problems.</a:t>
              </a:r>
            </a:p>
          </p:txBody>
        </p:sp>
      </p:grpSp>
      <p:grpSp>
        <p:nvGrpSpPr>
          <p:cNvPr id="326" name="gem"/>
          <p:cNvGrpSpPr/>
          <p:nvPr/>
        </p:nvGrpSpPr>
        <p:grpSpPr>
          <a:xfrm>
            <a:off x="548640" y="3273552"/>
            <a:ext cx="8046720" cy="932689"/>
            <a:chOff x="0" y="0"/>
            <a:chExt cx="8046719" cy="932688"/>
          </a:xfrm>
        </p:grpSpPr>
        <p:sp>
          <p:nvSpPr>
            <p:cNvPr id="323" name="gem_bg"/>
            <p:cNvSpPr/>
            <p:nvPr/>
          </p:nvSpPr>
          <p:spPr>
            <a:xfrm>
              <a:off x="0" y="0"/>
              <a:ext cx="8046720" cy="932689"/>
            </a:xfrm>
            <a:prstGeom prst="roundRect">
              <a:avLst>
                <a:gd name="adj" fmla="val 5882"/>
              </a:avLst>
            </a:prstGeom>
            <a:solidFill>
              <a:srgbClr val="EDF2F7"/>
            </a:solidFill>
            <a:ln w="17780" cap="flat">
              <a:solidFill>
                <a:srgbClr val="5B4FA0"/>
              </a:solidFill>
              <a:prstDash val="solid"/>
              <a:round/>
            </a:ln>
            <a:effectLst/>
          </p:spPr>
          <p:txBody>
            <a:bodyPr wrap="square" lIns="45719" tIns="45719" rIns="45719" bIns="45719" numCol="1" anchor="t">
              <a:noAutofit/>
            </a:bodyPr>
            <a:lstStyle/>
            <a:p>
              <a:pPr/>
            </a:p>
          </p:txBody>
        </p:sp>
        <p:sp>
          <p:nvSpPr>
            <p:cNvPr id="324" name="gem_h"/>
            <p:cNvSpPr txBox="1"/>
            <p:nvPr/>
          </p:nvSpPr>
          <p:spPr>
            <a:xfrm>
              <a:off x="201168" y="145541"/>
              <a:ext cx="548640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100">
                  <a:solidFill>
                    <a:srgbClr val="2B2350"/>
                  </a:solidFill>
                  <a:latin typeface="Arial"/>
                  <a:ea typeface="Arial"/>
                  <a:cs typeface="Arial"/>
                  <a:sym typeface="Arial"/>
                </a:defRPr>
              </a:lvl1pPr>
            </a:lstStyle>
            <a:p>
              <a:pPr/>
              <a:r>
                <a:t>Stuck, or finished early?</a:t>
              </a:r>
            </a:p>
          </p:txBody>
        </p:sp>
        <p:sp>
          <p:nvSpPr>
            <p:cNvPr id="325" name="gem_t"/>
            <p:cNvSpPr txBox="1"/>
            <p:nvPr/>
          </p:nvSpPr>
          <p:spPr>
            <a:xfrm>
              <a:off x="201168" y="347472"/>
              <a:ext cx="7644384" cy="3240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300"/>
                </a:lnSpc>
                <a:defRPr sz="1000">
                  <a:solidFill>
                    <a:srgbClr val="2B2350"/>
                  </a:solidFill>
                  <a:latin typeface="Arial"/>
                  <a:ea typeface="Arial"/>
                  <a:cs typeface="Arial"/>
                  <a:sym typeface="Arial"/>
                </a:defRPr>
              </a:lvl1pPr>
            </a:lstStyle>
            <a:p>
              <a:pPr/>
              <a:r>
                <a:t>Three Gemini prompts are on the last page of your worksheet. One drills you, one checks your working line by line, one marks your Gold answer. None of them writes an answer for you, and I can tell.</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12"/>
                                        </p:tgtEl>
                                        <p:attrNameLst>
                                          <p:attrName>style.visibility</p:attrName>
                                        </p:attrNameLst>
                                      </p:cBhvr>
                                      <p:to>
                                        <p:strVal val="visible"/>
                                      </p:to>
                                    </p:set>
                                    <p:animEffect filter="fade" transition="in">
                                      <p:cBhvr>
                                        <p:cTn id="7" dur="400"/>
                                        <p:tgtEl>
                                          <p:spTgt spid="31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17"/>
                                        </p:tgtEl>
                                        <p:attrNameLst>
                                          <p:attrName>style.visibility</p:attrName>
                                        </p:attrNameLst>
                                      </p:cBhvr>
                                      <p:to>
                                        <p:strVal val="visible"/>
                                      </p:to>
                                    </p:set>
                                    <p:animEffect filter="fade" transition="in">
                                      <p:cBhvr>
                                        <p:cTn id="12" dur="400"/>
                                        <p:tgtEl>
                                          <p:spTgt spid="317"/>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322"/>
                                        </p:tgtEl>
                                        <p:attrNameLst>
                                          <p:attrName>style.visibility</p:attrName>
                                        </p:attrNameLst>
                                      </p:cBhvr>
                                      <p:to>
                                        <p:strVal val="visible"/>
                                      </p:to>
                                    </p:set>
                                    <p:animEffect filter="fade" transition="in">
                                      <p:cBhvr>
                                        <p:cTn id="17" dur="400"/>
                                        <p:tgtEl>
                                          <p:spTgt spid="322"/>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26"/>
                                        </p:tgtEl>
                                        <p:attrNameLst>
                                          <p:attrName>style.visibility</p:attrName>
                                        </p:attrNameLst>
                                      </p:cBhvr>
                                      <p:to>
                                        <p:strVal val="visible"/>
                                      </p:to>
                                    </p:set>
                                    <p:animEffect filter="fade" transition="in">
                                      <p:cBhvr>
                                        <p:cTn id="22" dur="4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7" grpId="2"/>
      <p:bldP build="whole" bldLvl="1" animBg="1" rev="0" advAuto="0" spid="312" grpId="1"/>
      <p:bldP build="whole" bldLvl="1" animBg="1" rev="0" advAuto="0" spid="322" grpId="3"/>
      <p:bldP build="whole" bldLvl="1" animBg="1" rev="0" advAuto="0" spid="326" grpId="4"/>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B2350"/>
        </a:solidFill>
      </p:bgPr>
    </p:bg>
    <p:spTree>
      <p:nvGrpSpPr>
        <p:cNvPr id="1" name=""/>
        <p:cNvGrpSpPr/>
        <p:nvPr/>
      </p:nvGrpSpPr>
      <p:grpSpPr>
        <a:xfrm>
          <a:off x="0" y="0"/>
          <a:ext cx="0" cy="0"/>
          <a:chOff x="0" y="0"/>
          <a:chExt cx="0" cy="0"/>
        </a:xfrm>
      </p:grpSpPr>
      <p:grpSp>
        <p:nvGrpSpPr>
          <p:cNvPr id="332" name="phase_pill"/>
          <p:cNvGrpSpPr/>
          <p:nvPr/>
        </p:nvGrpSpPr>
        <p:grpSpPr>
          <a:xfrm>
            <a:off x="548640" y="347472"/>
            <a:ext cx="1554481" cy="256033"/>
            <a:chOff x="0" y="0"/>
            <a:chExt cx="1554480" cy="256031"/>
          </a:xfrm>
        </p:grpSpPr>
        <p:sp>
          <p:nvSpPr>
            <p:cNvPr id="330" name="Rounded Rectangle"/>
            <p:cNvSpPr/>
            <p:nvPr/>
          </p:nvSpPr>
          <p:spPr>
            <a:xfrm>
              <a:off x="0" y="0"/>
              <a:ext cx="1554481" cy="256032"/>
            </a:xfrm>
            <a:prstGeom prst="roundRect">
              <a:avLst>
                <a:gd name="adj" fmla="val 50000"/>
              </a:avLst>
            </a:prstGeom>
            <a:solidFill>
              <a:srgbClr val="E85D4A"/>
            </a:solidFill>
            <a:ln w="12700" cap="flat">
              <a:noFill/>
              <a:miter lim="400000"/>
            </a:ln>
            <a:effectLst/>
          </p:spPr>
          <p:txBody>
            <a:bodyPr wrap="square" lIns="45719" tIns="45719" rIns="45719" bIns="45719" numCol="1" anchor="ctr">
              <a:noAutofit/>
            </a:bodyPr>
            <a:lstStyle/>
            <a:p>
              <a:pPr algn="ctr">
                <a:defRPr sz="900"/>
              </a:pPr>
            </a:p>
          </p:txBody>
        </p:sp>
        <p:sp>
          <p:nvSpPr>
            <p:cNvPr id="331" name="PLENARY · 3 MIN"/>
            <p:cNvSpPr txBox="1"/>
            <p:nvPr/>
          </p:nvSpPr>
          <p:spPr>
            <a:xfrm>
              <a:off x="37494" y="64515"/>
              <a:ext cx="1479492"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PLENARY · 3 MIN</a:t>
              </a:r>
            </a:p>
          </p:txBody>
        </p:sp>
      </p:grpSp>
      <p:sp>
        <p:nvSpPr>
          <p:cNvPr id="333" name="slide_title"/>
          <p:cNvSpPr txBox="1"/>
          <p:nvPr/>
        </p:nvSpPr>
        <p:spPr>
          <a:xfrm>
            <a:off x="548640" y="793495"/>
            <a:ext cx="8046719"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True or false?</a:t>
            </a:r>
          </a:p>
        </p:txBody>
      </p:sp>
      <p:grpSp>
        <p:nvGrpSpPr>
          <p:cNvPr id="336" name="p0_stmt"/>
          <p:cNvGrpSpPr/>
          <p:nvPr/>
        </p:nvGrpSpPr>
        <p:grpSpPr>
          <a:xfrm>
            <a:off x="548640" y="1849373"/>
            <a:ext cx="3931921" cy="420625"/>
            <a:chOff x="0" y="0"/>
            <a:chExt cx="3931920" cy="420623"/>
          </a:xfrm>
        </p:grpSpPr>
        <p:sp>
          <p:nvSpPr>
            <p:cNvPr id="334" name="p0_bg"/>
            <p:cNvSpPr/>
            <p:nvPr/>
          </p:nvSpPr>
          <p:spPr>
            <a:xfrm>
              <a:off x="0" y="0"/>
              <a:ext cx="3931921" cy="420624"/>
            </a:xfrm>
            <a:prstGeom prst="roundRect">
              <a:avLst>
                <a:gd name="adj" fmla="val 15217"/>
              </a:avLst>
            </a:prstGeom>
            <a:solidFill>
              <a:srgbClr val="3A3168"/>
            </a:solidFill>
            <a:ln w="12700" cap="flat">
              <a:solidFill>
                <a:srgbClr val="4B4180"/>
              </a:solidFill>
              <a:prstDash val="solid"/>
              <a:round/>
            </a:ln>
            <a:effectLst/>
          </p:spPr>
          <p:txBody>
            <a:bodyPr wrap="square" lIns="45719" tIns="45719" rIns="45719" bIns="45719" numCol="1" anchor="t">
              <a:noAutofit/>
            </a:bodyPr>
            <a:lstStyle/>
            <a:p>
              <a:pPr/>
            </a:p>
          </p:txBody>
        </p:sp>
        <p:sp>
          <p:nvSpPr>
            <p:cNvPr id="335" name="p0_q"/>
            <p:cNvSpPr txBox="1"/>
            <p:nvPr/>
          </p:nvSpPr>
          <p:spPr>
            <a:xfrm>
              <a:off x="164592" y="108712"/>
              <a:ext cx="3657601"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FFFFFF"/>
                  </a:solidFill>
                  <a:latin typeface="Georgia"/>
                  <a:ea typeface="Georgia"/>
                  <a:cs typeface="Georgia"/>
                  <a:sym typeface="Georgia"/>
                </a:defRPr>
              </a:lvl1pPr>
            </a:lstStyle>
            <a:p>
              <a:pPr/>
              <a:r>
                <a:t>3a + 2b = 5ab</a:t>
              </a:r>
            </a:p>
          </p:txBody>
        </p:sp>
      </p:grpSp>
      <p:sp>
        <p:nvSpPr>
          <p:cNvPr id="337" name="p0_v"/>
          <p:cNvSpPr txBox="1"/>
          <p:nvPr/>
        </p:nvSpPr>
        <p:spPr>
          <a:xfrm>
            <a:off x="4700015" y="1985771"/>
            <a:ext cx="73152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E85D4A"/>
                </a:solidFill>
                <a:latin typeface="Arial"/>
                <a:ea typeface="Arial"/>
                <a:cs typeface="Arial"/>
                <a:sym typeface="Arial"/>
              </a:defRPr>
            </a:lvl1pPr>
          </a:lstStyle>
          <a:p>
            <a:pPr/>
            <a:r>
              <a:t>FALSE</a:t>
            </a:r>
          </a:p>
        </p:txBody>
      </p:sp>
      <p:sp>
        <p:nvSpPr>
          <p:cNvPr id="338" name="p0_w"/>
          <p:cNvSpPr txBox="1"/>
          <p:nvPr/>
        </p:nvSpPr>
        <p:spPr>
          <a:xfrm>
            <a:off x="5522976" y="1991913"/>
            <a:ext cx="3072385"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It cannot be simplified. That was the hook.</a:t>
            </a:r>
          </a:p>
        </p:txBody>
      </p:sp>
      <p:grpSp>
        <p:nvGrpSpPr>
          <p:cNvPr id="341" name="p1_stmt"/>
          <p:cNvGrpSpPr/>
          <p:nvPr/>
        </p:nvGrpSpPr>
        <p:grpSpPr>
          <a:xfrm>
            <a:off x="548640" y="2379726"/>
            <a:ext cx="3931921" cy="420625"/>
            <a:chOff x="0" y="0"/>
            <a:chExt cx="3931920" cy="420623"/>
          </a:xfrm>
        </p:grpSpPr>
        <p:sp>
          <p:nvSpPr>
            <p:cNvPr id="339" name="p1_bg"/>
            <p:cNvSpPr/>
            <p:nvPr/>
          </p:nvSpPr>
          <p:spPr>
            <a:xfrm>
              <a:off x="0" y="0"/>
              <a:ext cx="3931921" cy="420624"/>
            </a:xfrm>
            <a:prstGeom prst="roundRect">
              <a:avLst>
                <a:gd name="adj" fmla="val 15217"/>
              </a:avLst>
            </a:prstGeom>
            <a:solidFill>
              <a:srgbClr val="3A3168"/>
            </a:solidFill>
            <a:ln w="12700" cap="flat">
              <a:solidFill>
                <a:srgbClr val="4B4180"/>
              </a:solidFill>
              <a:prstDash val="solid"/>
              <a:round/>
            </a:ln>
            <a:effectLst/>
          </p:spPr>
          <p:txBody>
            <a:bodyPr wrap="square" lIns="45719" tIns="45719" rIns="45719" bIns="45719" numCol="1" anchor="t">
              <a:noAutofit/>
            </a:bodyPr>
            <a:lstStyle/>
            <a:p>
              <a:pPr/>
            </a:p>
          </p:txBody>
        </p:sp>
        <p:sp>
          <p:nvSpPr>
            <p:cNvPr id="340" name="p1_q"/>
            <p:cNvSpPr txBox="1"/>
            <p:nvPr/>
          </p:nvSpPr>
          <p:spPr>
            <a:xfrm>
              <a:off x="164592" y="108712"/>
              <a:ext cx="3657601"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FFFFFF"/>
                  </a:solidFill>
                  <a:latin typeface="Georgia"/>
                  <a:ea typeface="Georgia"/>
                  <a:cs typeface="Georgia"/>
                  <a:sym typeface="Georgia"/>
                </a:defRPr>
              </a:lvl1pPr>
            </a:lstStyle>
            <a:p>
              <a:pPr/>
              <a:r>
                <a:t>5x − 2x = 3x</a:t>
              </a:r>
            </a:p>
          </p:txBody>
        </p:sp>
      </p:grpSp>
      <p:sp>
        <p:nvSpPr>
          <p:cNvPr id="342" name="p1_v"/>
          <p:cNvSpPr txBox="1"/>
          <p:nvPr/>
        </p:nvSpPr>
        <p:spPr>
          <a:xfrm>
            <a:off x="4700015" y="2516123"/>
            <a:ext cx="73152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4CC38A"/>
                </a:solidFill>
                <a:latin typeface="Arial"/>
                <a:ea typeface="Arial"/>
                <a:cs typeface="Arial"/>
                <a:sym typeface="Arial"/>
              </a:defRPr>
            </a:lvl1pPr>
          </a:lstStyle>
          <a:p>
            <a:pPr/>
            <a:r>
              <a:t>TRUE</a:t>
            </a:r>
          </a:p>
        </p:txBody>
      </p:sp>
      <p:sp>
        <p:nvSpPr>
          <p:cNvPr id="343" name="p1_w"/>
          <p:cNvSpPr txBox="1"/>
          <p:nvPr/>
        </p:nvSpPr>
        <p:spPr>
          <a:xfrm>
            <a:off x="5522976" y="2522265"/>
            <a:ext cx="3072385"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The x does not go anywhere.</a:t>
            </a:r>
          </a:p>
        </p:txBody>
      </p:sp>
      <p:grpSp>
        <p:nvGrpSpPr>
          <p:cNvPr id="346" name="p2_stmt"/>
          <p:cNvGrpSpPr/>
          <p:nvPr/>
        </p:nvGrpSpPr>
        <p:grpSpPr>
          <a:xfrm>
            <a:off x="548640" y="2910077"/>
            <a:ext cx="3931921" cy="420625"/>
            <a:chOff x="0" y="0"/>
            <a:chExt cx="3931920" cy="420623"/>
          </a:xfrm>
        </p:grpSpPr>
        <p:sp>
          <p:nvSpPr>
            <p:cNvPr id="344" name="p2_bg"/>
            <p:cNvSpPr/>
            <p:nvPr/>
          </p:nvSpPr>
          <p:spPr>
            <a:xfrm>
              <a:off x="0" y="0"/>
              <a:ext cx="3931921" cy="420624"/>
            </a:xfrm>
            <a:prstGeom prst="roundRect">
              <a:avLst>
                <a:gd name="adj" fmla="val 15217"/>
              </a:avLst>
            </a:prstGeom>
            <a:solidFill>
              <a:srgbClr val="3A3168"/>
            </a:solidFill>
            <a:ln w="12700" cap="flat">
              <a:solidFill>
                <a:srgbClr val="4B4180"/>
              </a:solidFill>
              <a:prstDash val="solid"/>
              <a:round/>
            </a:ln>
            <a:effectLst/>
          </p:spPr>
          <p:txBody>
            <a:bodyPr wrap="square" lIns="45719" tIns="45719" rIns="45719" bIns="45719" numCol="1" anchor="t">
              <a:noAutofit/>
            </a:bodyPr>
            <a:lstStyle/>
            <a:p>
              <a:pPr/>
            </a:p>
          </p:txBody>
        </p:sp>
        <p:sp>
          <p:nvSpPr>
            <p:cNvPr id="345" name="p2_q"/>
            <p:cNvSpPr txBox="1"/>
            <p:nvPr/>
          </p:nvSpPr>
          <p:spPr>
            <a:xfrm>
              <a:off x="164592" y="108712"/>
              <a:ext cx="3657601"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FFFFFF"/>
                  </a:solidFill>
                  <a:latin typeface="Georgia"/>
                  <a:ea typeface="Georgia"/>
                  <a:cs typeface="Georgia"/>
                  <a:sym typeface="Georgia"/>
                </a:defRPr>
              </a:lvl1pPr>
            </a:lstStyle>
            <a:p>
              <a:pPr/>
              <a:r>
                <a:t>a² and a are like terms.</a:t>
              </a:r>
            </a:p>
          </p:txBody>
        </p:sp>
      </p:grpSp>
      <p:sp>
        <p:nvSpPr>
          <p:cNvPr id="347" name="p2_v"/>
          <p:cNvSpPr txBox="1"/>
          <p:nvPr/>
        </p:nvSpPr>
        <p:spPr>
          <a:xfrm>
            <a:off x="4700015" y="3046475"/>
            <a:ext cx="73152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E85D4A"/>
                </a:solidFill>
                <a:latin typeface="Arial"/>
                <a:ea typeface="Arial"/>
                <a:cs typeface="Arial"/>
                <a:sym typeface="Arial"/>
              </a:defRPr>
            </a:lvl1pPr>
          </a:lstStyle>
          <a:p>
            <a:pPr/>
            <a:r>
              <a:t>FALSE</a:t>
            </a:r>
          </a:p>
        </p:txBody>
      </p:sp>
      <p:sp>
        <p:nvSpPr>
          <p:cNvPr id="348" name="p2_w"/>
          <p:cNvSpPr txBox="1"/>
          <p:nvPr/>
        </p:nvSpPr>
        <p:spPr>
          <a:xfrm>
            <a:off x="5522976" y="3052617"/>
            <a:ext cx="3072385"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Different powers.</a:t>
            </a:r>
          </a:p>
        </p:txBody>
      </p:sp>
      <p:grpSp>
        <p:nvGrpSpPr>
          <p:cNvPr id="351" name="p3_stmt"/>
          <p:cNvGrpSpPr/>
          <p:nvPr/>
        </p:nvGrpSpPr>
        <p:grpSpPr>
          <a:xfrm>
            <a:off x="548640" y="3440429"/>
            <a:ext cx="3931921" cy="420625"/>
            <a:chOff x="0" y="0"/>
            <a:chExt cx="3931920" cy="420623"/>
          </a:xfrm>
        </p:grpSpPr>
        <p:sp>
          <p:nvSpPr>
            <p:cNvPr id="349" name="p3_bg"/>
            <p:cNvSpPr/>
            <p:nvPr/>
          </p:nvSpPr>
          <p:spPr>
            <a:xfrm>
              <a:off x="0" y="0"/>
              <a:ext cx="3931921" cy="420624"/>
            </a:xfrm>
            <a:prstGeom prst="roundRect">
              <a:avLst>
                <a:gd name="adj" fmla="val 15217"/>
              </a:avLst>
            </a:prstGeom>
            <a:solidFill>
              <a:srgbClr val="3A3168"/>
            </a:solidFill>
            <a:ln w="12700" cap="flat">
              <a:solidFill>
                <a:srgbClr val="4B4180"/>
              </a:solidFill>
              <a:prstDash val="solid"/>
              <a:round/>
            </a:ln>
            <a:effectLst/>
          </p:spPr>
          <p:txBody>
            <a:bodyPr wrap="square" lIns="45719" tIns="45719" rIns="45719" bIns="45719" numCol="1" anchor="t">
              <a:noAutofit/>
            </a:bodyPr>
            <a:lstStyle/>
            <a:p>
              <a:pPr/>
            </a:p>
          </p:txBody>
        </p:sp>
        <p:sp>
          <p:nvSpPr>
            <p:cNvPr id="350" name="p3_q"/>
            <p:cNvSpPr txBox="1"/>
            <p:nvPr/>
          </p:nvSpPr>
          <p:spPr>
            <a:xfrm>
              <a:off x="164592" y="108712"/>
              <a:ext cx="3657601"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FFFFFF"/>
                  </a:solidFill>
                  <a:latin typeface="Georgia"/>
                  <a:ea typeface="Georgia"/>
                  <a:cs typeface="Georgia"/>
                  <a:sym typeface="Georgia"/>
                </a:defRPr>
              </a:lvl1pPr>
            </a:lstStyle>
            <a:p>
              <a:pPr/>
              <a:r>
                <a:t>pq and qp are like terms.</a:t>
              </a:r>
            </a:p>
          </p:txBody>
        </p:sp>
      </p:grpSp>
      <p:sp>
        <p:nvSpPr>
          <p:cNvPr id="352" name="p3_v"/>
          <p:cNvSpPr txBox="1"/>
          <p:nvPr/>
        </p:nvSpPr>
        <p:spPr>
          <a:xfrm>
            <a:off x="4700015" y="3576827"/>
            <a:ext cx="73152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4CC38A"/>
                </a:solidFill>
                <a:latin typeface="Arial"/>
                <a:ea typeface="Arial"/>
                <a:cs typeface="Arial"/>
                <a:sym typeface="Arial"/>
              </a:defRPr>
            </a:lvl1pPr>
          </a:lstStyle>
          <a:p>
            <a:pPr/>
            <a:r>
              <a:t>TRUE</a:t>
            </a:r>
          </a:p>
        </p:txBody>
      </p:sp>
      <p:sp>
        <p:nvSpPr>
          <p:cNvPr id="353" name="p3_w"/>
          <p:cNvSpPr txBox="1"/>
          <p:nvPr/>
        </p:nvSpPr>
        <p:spPr>
          <a:xfrm>
            <a:off x="5522976" y="3582969"/>
            <a:ext cx="3072385"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Order does not matter.</a:t>
            </a:r>
          </a:p>
        </p:txBody>
      </p:sp>
      <p:grpSp>
        <p:nvGrpSpPr>
          <p:cNvPr id="356" name="p4_stmt"/>
          <p:cNvGrpSpPr/>
          <p:nvPr/>
        </p:nvGrpSpPr>
        <p:grpSpPr>
          <a:xfrm>
            <a:off x="548640" y="3970782"/>
            <a:ext cx="3931921" cy="420625"/>
            <a:chOff x="0" y="0"/>
            <a:chExt cx="3931920" cy="420623"/>
          </a:xfrm>
        </p:grpSpPr>
        <p:sp>
          <p:nvSpPr>
            <p:cNvPr id="354" name="p4_bg"/>
            <p:cNvSpPr/>
            <p:nvPr/>
          </p:nvSpPr>
          <p:spPr>
            <a:xfrm>
              <a:off x="0" y="0"/>
              <a:ext cx="3931921" cy="420624"/>
            </a:xfrm>
            <a:prstGeom prst="roundRect">
              <a:avLst>
                <a:gd name="adj" fmla="val 15217"/>
              </a:avLst>
            </a:prstGeom>
            <a:solidFill>
              <a:srgbClr val="3A3168"/>
            </a:solidFill>
            <a:ln w="12700" cap="flat">
              <a:solidFill>
                <a:srgbClr val="4B4180"/>
              </a:solidFill>
              <a:prstDash val="solid"/>
              <a:round/>
            </a:ln>
            <a:effectLst/>
          </p:spPr>
          <p:txBody>
            <a:bodyPr wrap="square" lIns="45719" tIns="45719" rIns="45719" bIns="45719" numCol="1" anchor="t">
              <a:noAutofit/>
            </a:bodyPr>
            <a:lstStyle/>
            <a:p>
              <a:pPr/>
            </a:p>
          </p:txBody>
        </p:sp>
        <p:sp>
          <p:nvSpPr>
            <p:cNvPr id="355" name="p4_q"/>
            <p:cNvSpPr txBox="1"/>
            <p:nvPr/>
          </p:nvSpPr>
          <p:spPr>
            <a:xfrm>
              <a:off x="164592" y="108712"/>
              <a:ext cx="3657601"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FFFFFF"/>
                  </a:solidFill>
                  <a:latin typeface="Georgia"/>
                  <a:ea typeface="Georgia"/>
                  <a:cs typeface="Georgia"/>
                  <a:sym typeface="Georgia"/>
                </a:defRPr>
              </a:lvl1pPr>
            </a:lstStyle>
            <a:p>
              <a:pPr/>
              <a:r>
                <a:t>4c + 3 = 7c</a:t>
              </a:r>
            </a:p>
          </p:txBody>
        </p:sp>
      </p:grpSp>
      <p:sp>
        <p:nvSpPr>
          <p:cNvPr id="357" name="p4_v"/>
          <p:cNvSpPr txBox="1"/>
          <p:nvPr/>
        </p:nvSpPr>
        <p:spPr>
          <a:xfrm>
            <a:off x="4700015" y="4107179"/>
            <a:ext cx="73152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79" sz="1100">
                <a:solidFill>
                  <a:srgbClr val="E85D4A"/>
                </a:solidFill>
                <a:latin typeface="Arial"/>
                <a:ea typeface="Arial"/>
                <a:cs typeface="Arial"/>
                <a:sym typeface="Arial"/>
              </a:defRPr>
            </a:lvl1pPr>
          </a:lstStyle>
          <a:p>
            <a:pPr/>
            <a:r>
              <a:t>FALSE</a:t>
            </a:r>
          </a:p>
        </p:txBody>
      </p:sp>
      <p:sp>
        <p:nvSpPr>
          <p:cNvPr id="358" name="p4_w"/>
          <p:cNvSpPr txBox="1"/>
          <p:nvPr/>
        </p:nvSpPr>
        <p:spPr>
          <a:xfrm>
            <a:off x="5522976" y="4113321"/>
            <a:ext cx="3072385"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C9C3EA"/>
                </a:solidFill>
                <a:latin typeface="Arial"/>
                <a:ea typeface="Arial"/>
                <a:cs typeface="Arial"/>
                <a:sym typeface="Arial"/>
              </a:defRPr>
            </a:lvl1pPr>
          </a:lstStyle>
          <a:p>
            <a:pPr/>
            <a:r>
              <a:t>A number is not a lot of c.</a:t>
            </a:r>
          </a:p>
        </p:txBody>
      </p:sp>
      <p:sp>
        <p:nvSpPr>
          <p:cNvPr id="359" name="pl_next"/>
          <p:cNvSpPr txBox="1"/>
          <p:nvPr/>
        </p:nvSpPr>
        <p:spPr>
          <a:xfrm>
            <a:off x="548640" y="4703825"/>
            <a:ext cx="8046719"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100">
                <a:solidFill>
                  <a:srgbClr val="E85D4A"/>
                </a:solidFill>
                <a:latin typeface="Arial"/>
                <a:ea typeface="Arial"/>
                <a:cs typeface="Arial"/>
                <a:sym typeface="Arial"/>
              </a:defRPr>
            </a:lvl1pPr>
          </a:lstStyle>
          <a:p>
            <a:pPr/>
            <a:r>
              <a:t>Next lesson: brackets.</a:t>
            </a:r>
          </a:p>
        </p:txBody>
      </p:sp>
    </p:spTree>
  </p:cSld>
  <p:clrMapOvr>
    <a:masterClrMapping/>
  </p:clrMapOvr>
  <mc:AlternateContent xmlns:mc="http://schemas.openxmlformats.org/markup-compatibility/2006">
    <mc:Choice xmlns:p14="http://schemas.microsoft.com/office/powerpoint/2010/main" Requires="p14">
      <p:transition spd="med" advClick="1" p14:dur="1000">
        <p:push dir="r"/>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36"/>
                                        </p:tgtEl>
                                        <p:attrNameLst>
                                          <p:attrName>style.visibility</p:attrName>
                                        </p:attrNameLst>
                                      </p:cBhvr>
                                      <p:to>
                                        <p:strVal val="visible"/>
                                      </p:to>
                                    </p:set>
                                    <p:animEffect filter="fade" transition="in">
                                      <p:cBhvr>
                                        <p:cTn id="7" dur="400"/>
                                        <p:tgtEl>
                                          <p:spTgt spid="33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16" presetID="23" grpId="2" fill="hold">
                                  <p:stCondLst>
                                    <p:cond delay="0"/>
                                  </p:stCondLst>
                                  <p:iterate type="el" backwards="0">
                                    <p:tmAbs val="0"/>
                                  </p:iterate>
                                  <p:childTnLst>
                                    <p:set>
                                      <p:cBhvr>
                                        <p:cTn id="11" fill="hold"/>
                                        <p:tgtEl>
                                          <p:spTgt spid="337"/>
                                        </p:tgtEl>
                                        <p:attrNameLst>
                                          <p:attrName>style.visibility</p:attrName>
                                        </p:attrNameLst>
                                      </p:cBhvr>
                                      <p:to>
                                        <p:strVal val="visible"/>
                                      </p:to>
                                    </p:set>
                                    <p:anim calcmode="lin" valueType="num">
                                      <p:cBhvr>
                                        <p:cTn id="12" dur="400" fill="hold"/>
                                        <p:tgtEl>
                                          <p:spTgt spid="337"/>
                                        </p:tgtEl>
                                        <p:attrNameLst>
                                          <p:attrName>ppt_w</p:attrName>
                                        </p:attrNameLst>
                                      </p:cBhvr>
                                      <p:tavLst>
                                        <p:tav tm="0">
                                          <p:val>
                                            <p:fltVal val="0"/>
                                          </p:val>
                                        </p:tav>
                                        <p:tav tm="100000">
                                          <p:val>
                                            <p:strVal val="#ppt_w"/>
                                          </p:val>
                                        </p:tav>
                                      </p:tavLst>
                                    </p:anim>
                                    <p:anim calcmode="lin" valueType="num">
                                      <p:cBhvr>
                                        <p:cTn id="13" dur="400" fill="hold"/>
                                        <p:tgtEl>
                                          <p:spTgt spid="337"/>
                                        </p:tgtEl>
                                        <p:attrNameLst>
                                          <p:attrName>ppt_h</p:attrName>
                                        </p:attrNameLst>
                                      </p:cBhvr>
                                      <p:tavLst>
                                        <p:tav tm="0">
                                          <p:val>
                                            <p:fltVal val="0"/>
                                          </p:val>
                                        </p:tav>
                                        <p:tav tm="100000">
                                          <p:val>
                                            <p:strVal val="#ppt_h"/>
                                          </p:val>
                                        </p:tav>
                                      </p:tavLst>
                                    </p:anim>
                                  </p:childTnLst>
                                </p:cTn>
                              </p:par>
                            </p:childTnLst>
                          </p:cTn>
                        </p:par>
                        <p:par>
                          <p:cTn id="14" fill="hold">
                            <p:stCondLst>
                              <p:cond delay="400"/>
                            </p:stCondLst>
                            <p:childTnLst>
                              <p:par>
                                <p:cTn id="15" presetClass="entr" nodeType="afterEffect" presetID="10" grpId="3" fill="hold">
                                  <p:stCondLst>
                                    <p:cond delay="150"/>
                                  </p:stCondLst>
                                  <p:iterate type="el" backwards="0">
                                    <p:tmAbs val="0"/>
                                  </p:iterate>
                                  <p:childTnLst>
                                    <p:set>
                                      <p:cBhvr>
                                        <p:cTn id="16" fill="hold"/>
                                        <p:tgtEl>
                                          <p:spTgt spid="338"/>
                                        </p:tgtEl>
                                        <p:attrNameLst>
                                          <p:attrName>style.visibility</p:attrName>
                                        </p:attrNameLst>
                                      </p:cBhvr>
                                      <p:to>
                                        <p:strVal val="visible"/>
                                      </p:to>
                                    </p:set>
                                    <p:animEffect filter="fade" transition="in">
                                      <p:cBhvr>
                                        <p:cTn id="17" dur="400"/>
                                        <p:tgtEl>
                                          <p:spTgt spid="338"/>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41"/>
                                        </p:tgtEl>
                                        <p:attrNameLst>
                                          <p:attrName>style.visibility</p:attrName>
                                        </p:attrNameLst>
                                      </p:cBhvr>
                                      <p:to>
                                        <p:strVal val="visible"/>
                                      </p:to>
                                    </p:set>
                                    <p:animEffect filter="fade" transition="in">
                                      <p:cBhvr>
                                        <p:cTn id="22" dur="400"/>
                                        <p:tgtEl>
                                          <p:spTgt spid="34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42"/>
                                        </p:tgtEl>
                                        <p:attrNameLst>
                                          <p:attrName>style.visibility</p:attrName>
                                        </p:attrNameLst>
                                      </p:cBhvr>
                                      <p:to>
                                        <p:strVal val="visible"/>
                                      </p:to>
                                    </p:set>
                                    <p:anim calcmode="lin" valueType="num">
                                      <p:cBhvr>
                                        <p:cTn id="27" dur="400" fill="hold"/>
                                        <p:tgtEl>
                                          <p:spTgt spid="342"/>
                                        </p:tgtEl>
                                        <p:attrNameLst>
                                          <p:attrName>ppt_w</p:attrName>
                                        </p:attrNameLst>
                                      </p:cBhvr>
                                      <p:tavLst>
                                        <p:tav tm="0">
                                          <p:val>
                                            <p:fltVal val="0"/>
                                          </p:val>
                                        </p:tav>
                                        <p:tav tm="100000">
                                          <p:val>
                                            <p:strVal val="#ppt_w"/>
                                          </p:val>
                                        </p:tav>
                                      </p:tavLst>
                                    </p:anim>
                                    <p:anim calcmode="lin" valueType="num">
                                      <p:cBhvr>
                                        <p:cTn id="28" dur="400" fill="hold"/>
                                        <p:tgtEl>
                                          <p:spTgt spid="342"/>
                                        </p:tgtEl>
                                        <p:attrNameLst>
                                          <p:attrName>ppt_h</p:attrName>
                                        </p:attrNameLst>
                                      </p:cBhvr>
                                      <p:tavLst>
                                        <p:tav tm="0">
                                          <p:val>
                                            <p:fltVal val="0"/>
                                          </p:val>
                                        </p:tav>
                                        <p:tav tm="100000">
                                          <p:val>
                                            <p:strVal val="#ppt_h"/>
                                          </p:val>
                                        </p:tav>
                                      </p:tavLst>
                                    </p:anim>
                                  </p:childTnLst>
                                </p:cTn>
                              </p:par>
                            </p:childTnLst>
                          </p:cTn>
                        </p:par>
                        <p:par>
                          <p:cTn id="29" fill="hold">
                            <p:stCondLst>
                              <p:cond delay="400"/>
                            </p:stCondLst>
                            <p:childTnLst>
                              <p:par>
                                <p:cTn id="30" presetClass="entr" nodeType="afterEffect" presetID="10" grpId="6" fill="hold">
                                  <p:stCondLst>
                                    <p:cond delay="150"/>
                                  </p:stCondLst>
                                  <p:iterate type="el" backwards="0">
                                    <p:tmAbs val="0"/>
                                  </p:iterate>
                                  <p:childTnLst>
                                    <p:set>
                                      <p:cBhvr>
                                        <p:cTn id="31" fill="hold"/>
                                        <p:tgtEl>
                                          <p:spTgt spid="343"/>
                                        </p:tgtEl>
                                        <p:attrNameLst>
                                          <p:attrName>style.visibility</p:attrName>
                                        </p:attrNameLst>
                                      </p:cBhvr>
                                      <p:to>
                                        <p:strVal val="visible"/>
                                      </p:to>
                                    </p:set>
                                    <p:animEffect filter="fade" transition="in">
                                      <p:cBhvr>
                                        <p:cTn id="32" dur="400"/>
                                        <p:tgtEl>
                                          <p:spTgt spid="343"/>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ID="10" grpId="7" fill="hold">
                                  <p:stCondLst>
                                    <p:cond delay="0"/>
                                  </p:stCondLst>
                                  <p:iterate type="el" backwards="0">
                                    <p:tmAbs val="0"/>
                                  </p:iterate>
                                  <p:childTnLst>
                                    <p:set>
                                      <p:cBhvr>
                                        <p:cTn id="36" fill="hold"/>
                                        <p:tgtEl>
                                          <p:spTgt spid="346"/>
                                        </p:tgtEl>
                                        <p:attrNameLst>
                                          <p:attrName>style.visibility</p:attrName>
                                        </p:attrNameLst>
                                      </p:cBhvr>
                                      <p:to>
                                        <p:strVal val="visible"/>
                                      </p:to>
                                    </p:set>
                                    <p:animEffect filter="fade" transition="in">
                                      <p:cBhvr>
                                        <p:cTn id="37" dur="400"/>
                                        <p:tgtEl>
                                          <p:spTgt spid="346"/>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Subtype="16" presetID="23" grpId="8" fill="hold">
                                  <p:stCondLst>
                                    <p:cond delay="0"/>
                                  </p:stCondLst>
                                  <p:iterate type="el" backwards="0">
                                    <p:tmAbs val="0"/>
                                  </p:iterate>
                                  <p:childTnLst>
                                    <p:set>
                                      <p:cBhvr>
                                        <p:cTn id="41" fill="hold"/>
                                        <p:tgtEl>
                                          <p:spTgt spid="347"/>
                                        </p:tgtEl>
                                        <p:attrNameLst>
                                          <p:attrName>style.visibility</p:attrName>
                                        </p:attrNameLst>
                                      </p:cBhvr>
                                      <p:to>
                                        <p:strVal val="visible"/>
                                      </p:to>
                                    </p:set>
                                    <p:anim calcmode="lin" valueType="num">
                                      <p:cBhvr>
                                        <p:cTn id="42" dur="400" fill="hold"/>
                                        <p:tgtEl>
                                          <p:spTgt spid="347"/>
                                        </p:tgtEl>
                                        <p:attrNameLst>
                                          <p:attrName>ppt_w</p:attrName>
                                        </p:attrNameLst>
                                      </p:cBhvr>
                                      <p:tavLst>
                                        <p:tav tm="0">
                                          <p:val>
                                            <p:fltVal val="0"/>
                                          </p:val>
                                        </p:tav>
                                        <p:tav tm="100000">
                                          <p:val>
                                            <p:strVal val="#ppt_w"/>
                                          </p:val>
                                        </p:tav>
                                      </p:tavLst>
                                    </p:anim>
                                    <p:anim calcmode="lin" valueType="num">
                                      <p:cBhvr>
                                        <p:cTn id="43" dur="400" fill="hold"/>
                                        <p:tgtEl>
                                          <p:spTgt spid="347"/>
                                        </p:tgtEl>
                                        <p:attrNameLst>
                                          <p:attrName>ppt_h</p:attrName>
                                        </p:attrNameLst>
                                      </p:cBhvr>
                                      <p:tavLst>
                                        <p:tav tm="0">
                                          <p:val>
                                            <p:fltVal val="0"/>
                                          </p:val>
                                        </p:tav>
                                        <p:tav tm="100000">
                                          <p:val>
                                            <p:strVal val="#ppt_h"/>
                                          </p:val>
                                        </p:tav>
                                      </p:tavLst>
                                    </p:anim>
                                  </p:childTnLst>
                                </p:cTn>
                              </p:par>
                            </p:childTnLst>
                          </p:cTn>
                        </p:par>
                        <p:par>
                          <p:cTn id="44" fill="hold">
                            <p:stCondLst>
                              <p:cond delay="400"/>
                            </p:stCondLst>
                            <p:childTnLst>
                              <p:par>
                                <p:cTn id="45" presetClass="entr" nodeType="afterEffect" presetID="10" grpId="9" fill="hold">
                                  <p:stCondLst>
                                    <p:cond delay="150"/>
                                  </p:stCondLst>
                                  <p:iterate type="el" backwards="0">
                                    <p:tmAbs val="0"/>
                                  </p:iterate>
                                  <p:childTnLst>
                                    <p:set>
                                      <p:cBhvr>
                                        <p:cTn id="46" fill="hold"/>
                                        <p:tgtEl>
                                          <p:spTgt spid="348"/>
                                        </p:tgtEl>
                                        <p:attrNameLst>
                                          <p:attrName>style.visibility</p:attrName>
                                        </p:attrNameLst>
                                      </p:cBhvr>
                                      <p:to>
                                        <p:strVal val="visible"/>
                                      </p:to>
                                    </p:set>
                                    <p:animEffect filter="fade" transition="in">
                                      <p:cBhvr>
                                        <p:cTn id="47" dur="400"/>
                                        <p:tgtEl>
                                          <p:spTgt spid="348"/>
                                        </p:tgtEl>
                                      </p:cBhvr>
                                    </p:animEffect>
                                  </p:childTnLst>
                                </p:cTn>
                              </p:par>
                            </p:childTnLst>
                          </p:cTn>
                        </p:par>
                      </p:childTnLst>
                    </p:cTn>
                  </p:par>
                  <p:par>
                    <p:cTn id="48" fill="hold">
                      <p:stCondLst>
                        <p:cond delay="indefinite"/>
                      </p:stCondLst>
                      <p:childTnLst>
                        <p:par>
                          <p:cTn id="49" fill="hold">
                            <p:stCondLst>
                              <p:cond delay="0"/>
                            </p:stCondLst>
                            <p:childTnLst>
                              <p:par>
                                <p:cTn id="50" presetClass="entr" nodeType="clickEffect" presetID="10" grpId="10" fill="hold">
                                  <p:stCondLst>
                                    <p:cond delay="0"/>
                                  </p:stCondLst>
                                  <p:iterate type="el" backwards="0">
                                    <p:tmAbs val="0"/>
                                  </p:iterate>
                                  <p:childTnLst>
                                    <p:set>
                                      <p:cBhvr>
                                        <p:cTn id="51" fill="hold"/>
                                        <p:tgtEl>
                                          <p:spTgt spid="351"/>
                                        </p:tgtEl>
                                        <p:attrNameLst>
                                          <p:attrName>style.visibility</p:attrName>
                                        </p:attrNameLst>
                                      </p:cBhvr>
                                      <p:to>
                                        <p:strVal val="visible"/>
                                      </p:to>
                                    </p:set>
                                    <p:animEffect filter="fade" transition="in">
                                      <p:cBhvr>
                                        <p:cTn id="52" dur="400"/>
                                        <p:tgtEl>
                                          <p:spTgt spid="351"/>
                                        </p:tgtEl>
                                      </p:cBhvr>
                                    </p:animEffect>
                                  </p:childTnLst>
                                </p:cTn>
                              </p:par>
                            </p:childTnLst>
                          </p:cTn>
                        </p:par>
                      </p:childTnLst>
                    </p:cTn>
                  </p:par>
                  <p:par>
                    <p:cTn id="53" fill="hold">
                      <p:stCondLst>
                        <p:cond delay="indefinite"/>
                      </p:stCondLst>
                      <p:childTnLst>
                        <p:par>
                          <p:cTn id="54" fill="hold">
                            <p:stCondLst>
                              <p:cond delay="0"/>
                            </p:stCondLst>
                            <p:childTnLst>
                              <p:par>
                                <p:cTn id="55" presetClass="entr" nodeType="clickEffect" presetSubtype="16" presetID="23" grpId="11" fill="hold">
                                  <p:stCondLst>
                                    <p:cond delay="0"/>
                                  </p:stCondLst>
                                  <p:iterate type="el" backwards="0">
                                    <p:tmAbs val="0"/>
                                  </p:iterate>
                                  <p:childTnLst>
                                    <p:set>
                                      <p:cBhvr>
                                        <p:cTn id="56" fill="hold"/>
                                        <p:tgtEl>
                                          <p:spTgt spid="352"/>
                                        </p:tgtEl>
                                        <p:attrNameLst>
                                          <p:attrName>style.visibility</p:attrName>
                                        </p:attrNameLst>
                                      </p:cBhvr>
                                      <p:to>
                                        <p:strVal val="visible"/>
                                      </p:to>
                                    </p:set>
                                    <p:anim calcmode="lin" valueType="num">
                                      <p:cBhvr>
                                        <p:cTn id="57" dur="400" fill="hold"/>
                                        <p:tgtEl>
                                          <p:spTgt spid="352"/>
                                        </p:tgtEl>
                                        <p:attrNameLst>
                                          <p:attrName>ppt_w</p:attrName>
                                        </p:attrNameLst>
                                      </p:cBhvr>
                                      <p:tavLst>
                                        <p:tav tm="0">
                                          <p:val>
                                            <p:fltVal val="0"/>
                                          </p:val>
                                        </p:tav>
                                        <p:tav tm="100000">
                                          <p:val>
                                            <p:strVal val="#ppt_w"/>
                                          </p:val>
                                        </p:tav>
                                      </p:tavLst>
                                    </p:anim>
                                    <p:anim calcmode="lin" valueType="num">
                                      <p:cBhvr>
                                        <p:cTn id="58" dur="400" fill="hold"/>
                                        <p:tgtEl>
                                          <p:spTgt spid="352"/>
                                        </p:tgtEl>
                                        <p:attrNameLst>
                                          <p:attrName>ppt_h</p:attrName>
                                        </p:attrNameLst>
                                      </p:cBhvr>
                                      <p:tavLst>
                                        <p:tav tm="0">
                                          <p:val>
                                            <p:fltVal val="0"/>
                                          </p:val>
                                        </p:tav>
                                        <p:tav tm="100000">
                                          <p:val>
                                            <p:strVal val="#ppt_h"/>
                                          </p:val>
                                        </p:tav>
                                      </p:tavLst>
                                    </p:anim>
                                  </p:childTnLst>
                                </p:cTn>
                              </p:par>
                            </p:childTnLst>
                          </p:cTn>
                        </p:par>
                        <p:par>
                          <p:cTn id="59" fill="hold">
                            <p:stCondLst>
                              <p:cond delay="400"/>
                            </p:stCondLst>
                            <p:childTnLst>
                              <p:par>
                                <p:cTn id="60" presetClass="entr" nodeType="afterEffect" presetID="10" grpId="12" fill="hold">
                                  <p:stCondLst>
                                    <p:cond delay="150"/>
                                  </p:stCondLst>
                                  <p:iterate type="el" backwards="0">
                                    <p:tmAbs val="0"/>
                                  </p:iterate>
                                  <p:childTnLst>
                                    <p:set>
                                      <p:cBhvr>
                                        <p:cTn id="61" fill="hold"/>
                                        <p:tgtEl>
                                          <p:spTgt spid="353"/>
                                        </p:tgtEl>
                                        <p:attrNameLst>
                                          <p:attrName>style.visibility</p:attrName>
                                        </p:attrNameLst>
                                      </p:cBhvr>
                                      <p:to>
                                        <p:strVal val="visible"/>
                                      </p:to>
                                    </p:set>
                                    <p:animEffect filter="fade" transition="in">
                                      <p:cBhvr>
                                        <p:cTn id="62" dur="400"/>
                                        <p:tgtEl>
                                          <p:spTgt spid="353"/>
                                        </p:tgtEl>
                                      </p:cBhvr>
                                    </p:animEffect>
                                  </p:childTnLst>
                                </p:cTn>
                              </p:par>
                            </p:childTnLst>
                          </p:cTn>
                        </p:par>
                      </p:childTnLst>
                    </p:cTn>
                  </p:par>
                  <p:par>
                    <p:cTn id="63" fill="hold">
                      <p:stCondLst>
                        <p:cond delay="indefinite"/>
                      </p:stCondLst>
                      <p:childTnLst>
                        <p:par>
                          <p:cTn id="64" fill="hold">
                            <p:stCondLst>
                              <p:cond delay="0"/>
                            </p:stCondLst>
                            <p:childTnLst>
                              <p:par>
                                <p:cTn id="65" presetClass="entr" nodeType="clickEffect" presetID="10" grpId="13" fill="hold">
                                  <p:stCondLst>
                                    <p:cond delay="0"/>
                                  </p:stCondLst>
                                  <p:iterate type="el" backwards="0">
                                    <p:tmAbs val="0"/>
                                  </p:iterate>
                                  <p:childTnLst>
                                    <p:set>
                                      <p:cBhvr>
                                        <p:cTn id="66" fill="hold"/>
                                        <p:tgtEl>
                                          <p:spTgt spid="356"/>
                                        </p:tgtEl>
                                        <p:attrNameLst>
                                          <p:attrName>style.visibility</p:attrName>
                                        </p:attrNameLst>
                                      </p:cBhvr>
                                      <p:to>
                                        <p:strVal val="visible"/>
                                      </p:to>
                                    </p:set>
                                    <p:animEffect filter="fade" transition="in">
                                      <p:cBhvr>
                                        <p:cTn id="67" dur="400"/>
                                        <p:tgtEl>
                                          <p:spTgt spid="356"/>
                                        </p:tgtEl>
                                      </p:cBhvr>
                                    </p:animEffect>
                                  </p:childTnLst>
                                </p:cTn>
                              </p:par>
                            </p:childTnLst>
                          </p:cTn>
                        </p:par>
                      </p:childTnLst>
                    </p:cTn>
                  </p:par>
                  <p:par>
                    <p:cTn id="68" fill="hold">
                      <p:stCondLst>
                        <p:cond delay="indefinite"/>
                      </p:stCondLst>
                      <p:childTnLst>
                        <p:par>
                          <p:cTn id="69" fill="hold">
                            <p:stCondLst>
                              <p:cond delay="0"/>
                            </p:stCondLst>
                            <p:childTnLst>
                              <p:par>
                                <p:cTn id="70" presetClass="entr" nodeType="clickEffect" presetSubtype="16" presetID="23" grpId="14" fill="hold">
                                  <p:stCondLst>
                                    <p:cond delay="0"/>
                                  </p:stCondLst>
                                  <p:iterate type="el" backwards="0">
                                    <p:tmAbs val="0"/>
                                  </p:iterate>
                                  <p:childTnLst>
                                    <p:set>
                                      <p:cBhvr>
                                        <p:cTn id="71" fill="hold"/>
                                        <p:tgtEl>
                                          <p:spTgt spid="357"/>
                                        </p:tgtEl>
                                        <p:attrNameLst>
                                          <p:attrName>style.visibility</p:attrName>
                                        </p:attrNameLst>
                                      </p:cBhvr>
                                      <p:to>
                                        <p:strVal val="visible"/>
                                      </p:to>
                                    </p:set>
                                    <p:anim calcmode="lin" valueType="num">
                                      <p:cBhvr>
                                        <p:cTn id="72" dur="400" fill="hold"/>
                                        <p:tgtEl>
                                          <p:spTgt spid="357"/>
                                        </p:tgtEl>
                                        <p:attrNameLst>
                                          <p:attrName>ppt_w</p:attrName>
                                        </p:attrNameLst>
                                      </p:cBhvr>
                                      <p:tavLst>
                                        <p:tav tm="0">
                                          <p:val>
                                            <p:fltVal val="0"/>
                                          </p:val>
                                        </p:tav>
                                        <p:tav tm="100000">
                                          <p:val>
                                            <p:strVal val="#ppt_w"/>
                                          </p:val>
                                        </p:tav>
                                      </p:tavLst>
                                    </p:anim>
                                    <p:anim calcmode="lin" valueType="num">
                                      <p:cBhvr>
                                        <p:cTn id="73" dur="400" fill="hold"/>
                                        <p:tgtEl>
                                          <p:spTgt spid="357"/>
                                        </p:tgtEl>
                                        <p:attrNameLst>
                                          <p:attrName>ppt_h</p:attrName>
                                        </p:attrNameLst>
                                      </p:cBhvr>
                                      <p:tavLst>
                                        <p:tav tm="0">
                                          <p:val>
                                            <p:fltVal val="0"/>
                                          </p:val>
                                        </p:tav>
                                        <p:tav tm="100000">
                                          <p:val>
                                            <p:strVal val="#ppt_h"/>
                                          </p:val>
                                        </p:tav>
                                      </p:tavLst>
                                    </p:anim>
                                  </p:childTnLst>
                                </p:cTn>
                              </p:par>
                            </p:childTnLst>
                          </p:cTn>
                        </p:par>
                        <p:par>
                          <p:cTn id="74" fill="hold">
                            <p:stCondLst>
                              <p:cond delay="400"/>
                            </p:stCondLst>
                            <p:childTnLst>
                              <p:par>
                                <p:cTn id="75" presetClass="entr" nodeType="afterEffect" presetID="10" grpId="15" fill="hold">
                                  <p:stCondLst>
                                    <p:cond delay="150"/>
                                  </p:stCondLst>
                                  <p:iterate type="el" backwards="0">
                                    <p:tmAbs val="0"/>
                                  </p:iterate>
                                  <p:childTnLst>
                                    <p:set>
                                      <p:cBhvr>
                                        <p:cTn id="76" fill="hold"/>
                                        <p:tgtEl>
                                          <p:spTgt spid="358"/>
                                        </p:tgtEl>
                                        <p:attrNameLst>
                                          <p:attrName>style.visibility</p:attrName>
                                        </p:attrNameLst>
                                      </p:cBhvr>
                                      <p:to>
                                        <p:strVal val="visible"/>
                                      </p:to>
                                    </p:set>
                                    <p:animEffect filter="fade" transition="in">
                                      <p:cBhvr>
                                        <p:cTn id="77" dur="400"/>
                                        <p:tgtEl>
                                          <p:spTgt spid="358"/>
                                        </p:tgtEl>
                                      </p:cBhvr>
                                    </p:animEffect>
                                  </p:childTnLst>
                                </p:cTn>
                              </p:par>
                            </p:childTnLst>
                          </p:cTn>
                        </p:par>
                      </p:childTnLst>
                    </p:cTn>
                  </p:par>
                  <p:par>
                    <p:cTn id="78" fill="hold">
                      <p:stCondLst>
                        <p:cond delay="indefinite"/>
                      </p:stCondLst>
                      <p:childTnLst>
                        <p:par>
                          <p:cTn id="79" fill="hold">
                            <p:stCondLst>
                              <p:cond delay="0"/>
                            </p:stCondLst>
                            <p:childTnLst>
                              <p:par>
                                <p:cTn id="80" presetClass="entr" nodeType="clickEffect" presetID="10" grpId="16" fill="hold">
                                  <p:stCondLst>
                                    <p:cond delay="0"/>
                                  </p:stCondLst>
                                  <p:iterate type="el" backwards="0">
                                    <p:tmAbs val="0"/>
                                  </p:iterate>
                                  <p:childTnLst>
                                    <p:set>
                                      <p:cBhvr>
                                        <p:cTn id="81" fill="hold"/>
                                        <p:tgtEl>
                                          <p:spTgt spid="359"/>
                                        </p:tgtEl>
                                        <p:attrNameLst>
                                          <p:attrName>style.visibility</p:attrName>
                                        </p:attrNameLst>
                                      </p:cBhvr>
                                      <p:to>
                                        <p:strVal val="visible"/>
                                      </p:to>
                                    </p:set>
                                    <p:animEffect filter="fade" transition="in">
                                      <p:cBhvr>
                                        <p:cTn id="82" dur="4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3" grpId="12"/>
      <p:bldP build="whole" bldLvl="1" animBg="1" rev="0" advAuto="0" spid="343" grpId="6"/>
      <p:bldP build="whole" bldLvl="1" animBg="1" rev="0" advAuto="0" spid="338" grpId="3"/>
      <p:bldP build="whole" bldLvl="1" animBg="1" rev="0" advAuto="0" spid="346" grpId="7"/>
      <p:bldP build="whole" bldLvl="1" animBg="1" rev="0" advAuto="0" spid="352" grpId="11"/>
      <p:bldP build="whole" bldLvl="1" animBg="1" rev="0" advAuto="0" spid="359" grpId="16"/>
      <p:bldP build="whole" bldLvl="1" animBg="1" rev="0" advAuto="0" spid="342" grpId="5"/>
      <p:bldP build="whole" bldLvl="1" animBg="1" rev="0" advAuto="0" spid="337" grpId="2"/>
      <p:bldP build="whole" bldLvl="1" animBg="1" rev="0" advAuto="0" spid="341" grpId="4"/>
      <p:bldP build="whole" bldLvl="1" animBg="1" rev="0" advAuto="0" spid="348" grpId="9"/>
      <p:bldP build="whole" bldLvl="1" animBg="1" rev="0" advAuto="0" spid="347" grpId="8"/>
      <p:bldP build="whole" bldLvl="1" animBg="1" rev="0" advAuto="0" spid="356" grpId="13"/>
      <p:bldP build="whole" bldLvl="1" animBg="1" rev="0" advAuto="0" spid="358" grpId="15"/>
      <p:bldP build="whole" bldLvl="1" animBg="1" rev="0" advAuto="0" spid="336" grpId="1"/>
      <p:bldP build="whole" bldLvl="1" animBg="1" rev="0" advAuto="0" spid="351" grpId="10"/>
      <p:bldP build="whole" bldLvl="1" animBg="1" rev="0" advAuto="0" spid="357" grpId="14"/>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