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3B2F"/>
                </a:solidFill>
                <a:latin typeface="Arial"/>
              </a:defRPr>
            </a:pPr>
            <a:r>
              <a:rPr sz="1200" b="0" i="0" u="none" strike="noStrike">
                <a:solidFill>
                  <a:srgbClr val="173B2F"/>
                </a:solidFill>
                <a:latin typeface="Arial"/>
              </a:rPr>
              <a:t>New mothers on the doctors’ ward who died (%)</a:t>
            </a:r>
          </a:p>
        </c:rich>
      </c:tx>
      <c:layout/>
      <c:overlay val="0"/>
    </c:title>
    <c:autoTitleDeleted val="0"/>
    <c:plotArea>
      <c:layout/>
      <c:barChart>
        <c:barDir val="col"/>
        <c:grouping val="clustered"/>
        <c:varyColors val="0"/>
        <c:ser>
          <c:idx val="0"/>
          <c:order val="0"/>
          <c:tx>
            <c:strRef>
              <c:f>Sheet1!$B$1</c:f>
              <c:strCache>
                <c:ptCount val="1"/>
                <c:pt idx="0">
                  <c:v>Deaths (%)</c:v>
                </c:pt>
              </c:strCache>
            </c:strRef>
          </c:tx>
          <c:spPr>
            <a:solidFill>
              <a:srgbClr val="9DB0A6"/>
            </a:solidFill>
            <a:effectLst/>
          </c:spPr>
          <c:invertIfNegative val="0"/>
          <c:dLbls>
            <c:numFmt formatCode="0.0&quot;%&quot;" sourceLinked="0"/>
            <c:txPr>
              <a:bodyPr/>
              <a:lstStyle/>
              <a:p>
                <a:pPr>
                  <a:defRPr b="0" i="0" strike="noStrike" sz="1000" u="none">
                    <a:solidFill>
                      <a:srgbClr val="173B2F"/>
                    </a:solidFill>
                    <a:latin typeface="Arial"/>
                  </a:defRPr>
                </a:pPr>
              </a:p>
            </c:txPr>
            <c:showLegendKey val="0"/>
            <c:showVal val="1"/>
            <c:showCatName val="0"/>
            <c:showSerName val="0"/>
            <c:showPercent val="0"/>
            <c:showBubbleSize val="0"/>
            <c:showLeaderLines val="0"/>
          </c:dLbls>
          <c:dPt>
            <c:idx val="0"/>
            <c:invertIfNegative val="0"/>
            <c:bubble3D val="0"/>
            <c:spPr>
              <a:solidFill>
                <a:srgbClr val="9DB0A6"/>
              </a:solidFill>
              <a:effectLst/>
            </c:spPr>
          </c:dPt>
          <c:dPt>
            <c:idx val="1"/>
            <c:invertIfNegative val="0"/>
            <c:bubble3D val="0"/>
            <c:spPr>
              <a:solidFill>
                <a:srgbClr val="9DB0A6"/>
              </a:solidFill>
              <a:effectLst/>
            </c:spPr>
          </c:dPt>
          <c:dPt>
            <c:idx val="2"/>
            <c:invertIfNegative val="0"/>
            <c:bubble3D val="0"/>
            <c:spPr>
              <a:solidFill>
                <a:srgbClr val="9DB0A6"/>
              </a:solidFill>
              <a:effectLst/>
            </c:spPr>
          </c:dPt>
          <c:dPt>
            <c:idx val="3"/>
            <c:invertIfNegative val="0"/>
            <c:bubble3D val="0"/>
            <c:spPr>
              <a:solidFill>
                <a:srgbClr val="9DB0A6"/>
              </a:solidFill>
              <a:effectLst/>
            </c:spPr>
          </c:dPt>
          <c:dPt>
            <c:idx val="4"/>
            <c:invertIfNegative val="0"/>
            <c:bubble3D val="0"/>
            <c:spPr>
              <a:solidFill>
                <a:srgbClr val="9DB0A6"/>
              </a:solidFill>
              <a:effectLst/>
            </c:spPr>
          </c:dPt>
          <c:dPt>
            <c:idx val="5"/>
            <c:invertIfNegative val="0"/>
            <c:bubble3D val="0"/>
            <c:spPr>
              <a:solidFill>
                <a:srgbClr val="9DB0A6"/>
              </a:solidFill>
              <a:effectLst/>
            </c:spPr>
          </c:dPt>
          <c:dPt>
            <c:idx val="6"/>
            <c:invertIfNegative val="0"/>
            <c:bubble3D val="0"/>
            <c:spPr>
              <a:solidFill>
                <a:srgbClr val="F2A93B"/>
              </a:solidFill>
              <a:effectLst/>
            </c:spPr>
          </c:dPt>
          <c:dPt>
            <c:idx val="7"/>
            <c:invertIfNegative val="0"/>
            <c:bubble3D val="0"/>
            <c:spPr>
              <a:solidFill>
                <a:srgbClr val="F2A93B"/>
              </a:solidFill>
              <a:effectLst/>
            </c:spPr>
          </c:dPt>
          <c:cat>
            <c:multiLvlStrRef>
              <c:f>Sheet1!$A$2:$A$9</c:f>
              <c:multiLvlStrCache>
                <c:ptCount val="8"/>
                <c:lvl>
                  <c:pt idx="0">
                    <c:v>1841</c:v>
                  </c:pt>
                  <c:pt idx="1">
                    <c:v>1842</c:v>
                  </c:pt>
                  <c:pt idx="2">
                    <c:v>1843</c:v>
                  </c:pt>
                  <c:pt idx="3">
                    <c:v>1844</c:v>
                  </c:pt>
                  <c:pt idx="4">
                    <c:v>1845</c:v>
                  </c:pt>
                  <c:pt idx="5">
                    <c:v>1846</c:v>
                  </c:pt>
                  <c:pt idx="6">
                    <c:v>1847</c:v>
                  </c:pt>
                  <c:pt idx="7">
                    <c:v>1848</c:v>
                  </c:pt>
                </c:lvl>
              </c:multiLvlStrCache>
            </c:multiLvlStrRef>
          </c:cat>
          <c:val>
            <c:numRef>
              <c:f>Sheet1!$B$2:$B$9</c:f>
              <c:numCache>
                <c:formatCode>General</c:formatCode>
                <c:ptCount val="8"/>
                <c:pt idx="0">
                  <c:v>7.7</c:v>
                </c:pt>
                <c:pt idx="1">
                  <c:v>15.8</c:v>
                </c:pt>
                <c:pt idx="2">
                  <c:v>8.9</c:v>
                </c:pt>
                <c:pt idx="3">
                  <c:v>8.2</c:v>
                </c:pt>
                <c:pt idx="4">
                  <c:v>6.9</c:v>
                </c:pt>
                <c:pt idx="5">
                  <c:v>11.4</c:v>
                </c:pt>
                <c:pt idx="6">
                  <c:v>5</c:v>
                </c:pt>
                <c:pt idx="7">
                  <c:v>1.3</c:v>
                </c:pt>
              </c:numCache>
            </c:numRef>
          </c:val>
        </c:ser>
        <c:dLbls>
          <c:numFmt formatCode="0.0&quot;%&quot;" sourceLinked="0"/>
          <c:txPr>
            <a:bodyPr/>
            <a:lstStyle/>
            <a:p>
              <a:pPr>
                <a:defRPr b="0" i="0" strike="noStrike" sz="1000" u="none">
                  <a:solidFill>
                    <a:srgbClr val="173B2F"/>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8D3CC"/>
            </a:solidFill>
            <a:prstDash val="solid"/>
            <a:round/>
          </a:ln>
        </c:spPr>
        <c:txPr>
          <a:bodyPr/>
          <a:lstStyle/>
          <a:p>
            <a:pPr>
              <a:defRPr sz="1100" b="0" i="0" u="none" strike="noStrike">
                <a:solidFill>
                  <a:srgbClr val="5C6B63"/>
                </a:solidFill>
                <a:latin typeface="Arial"/>
              </a:defRPr>
            </a:pPr>
            <a:endParaRPr lang="en-US"/>
          </a:p>
        </c:txPr>
        <c:crossAx val="2094734552"/>
        <c:crosses val="autoZero"/>
        <c:auto val="1"/>
        <c:lblAlgn val="ctr"/>
        <c:noMultiLvlLbl val="1"/>
      </c:catAx>
      <c:valAx>
        <c:axId val="2094734552"/>
        <c:scaling>
          <c:orientation val="minMax"/>
          <c:max val="1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skipped in the slideshow. Year 7, early Working Scientifically unit. The Semmelweis slide mentions mothers dying after childbirth; handle it sensitively if you know of a recent family loss in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wall builds itself: evidence first, then the theory sits on top. That picture is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together. Ask: who has heard someone say ‘that’s just a theory’? Park the answers; we will come back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in books (4 min). Click to reveal each answer; pupils self-mark.
Q2 matters today: a prediction is what turns an idea into something you can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up for each bubble: which would you bet on? Most pick the right-hand one, but ask them to explain why.
Click 1 and 2: reveal the labels. Click 3: the takeaway.
The everyday word ‘theory’ means a guess. The scientific word means almost the opposite.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observe, question, hypothesis. Stress that a hypothesis is an idea we can test.
Click 2: predict, test, evidence.
Click 3: the loop. If the evidence doesn’t fit, we change the idea, not the evidence.
Click 4: the banner. One experiment never makes a theory. Lots of evidence, from lots of people, does.
The plant example is phototropism, which pupils will meet again in KS3 biology.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predict first (mini whiteboards). Then one click per jar.
Ask: which jar is the control? (The open jar: it shows what normally happens.) Why was the gauze jar clever? (Air can get in, so nobody can argue the meat needed air. Only the flies are kept out.)
Click 4: the conclusion. This was evidence against the old idea of ‘spontaneous generation’. About 200 years later, Louis Pasteur’s swan-neck flask experiments did the same for microbes.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graph together: what happens after 1847?
Click 1: Semmelweis. The doctors often came straight from examining dead bodies.
Click 2: the question. Think, pair, share.
Answers to draw out: nobody had discovered germs yet, so he couldn’t explain WHY handwashing worked; and doctors didn’t like being told they were causing deaths. His evidence showed WHAT happened. Germ theory, developed in the 1860s by Louis Pasteur and others, finally explained WHY.
Key line: evidence shows what happens; a theory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step along the timeline.
Galileo is the turning point: new technology (the telescope) gave new evidence the old theory couldn’t explain.
Final click: changing a theory isn’t science failing. It is science working. Ask: would you rather use a map that never gets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6 minutes, then 3 minutes of feedback.
Answers:
Hunch: A and F. (A uses the word ‘theory’ but is really a guess.)
Hypothesis: B and D. Both are testable and give a reason.
Theory: C (particle theory) and E (cell theory).
Good discussion: could A become a hypothesis? Yes, if you could test it, e.g. by checking for paw prints. F, sadly, has never been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answer on a sticky note or in Google Classroom.
Q3 is the big one: a theory that can change when new evidence arrives is a strength. It means science can correct its own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703320" cy="292608"/>
          </a:xfrm>
          <a:prstGeom prst="roundRect">
            <a:avLst>
              <a:gd name="adj" fmla="val 50000"/>
            </a:avLst>
          </a:prstGeom>
          <a:solidFill>
            <a:srgbClr val="173B2F"/>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TEACHER NOTES · SKIPPED IN SLIDESHOW</a:t>
            </a:r>
            <a:endParaRPr lang="en-US" sz="10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200" b="1" dirty="0">
                <a:solidFill>
                  <a:srgbClr val="173B2F"/>
                </a:solidFill>
                <a:latin typeface="Georgia" pitchFamily="34" charset="0"/>
                <a:ea typeface="Georgia" pitchFamily="34" charset="-122"/>
                <a:cs typeface="Georgia" pitchFamily="34" charset="-120"/>
              </a:rPr>
              <a:t>Before the lesson</a:t>
            </a:r>
            <a:endParaRPr lang="en-US" sz="3200" dirty="0"/>
          </a:p>
        </p:txBody>
      </p:sp>
      <p:sp>
        <p:nvSpPr>
          <p:cNvPr id="4" name="Shape 2"/>
          <p:cNvSpPr/>
          <p:nvPr/>
        </p:nvSpPr>
        <p:spPr>
          <a:xfrm>
            <a:off x="548640" y="1463040"/>
            <a:ext cx="2560320" cy="3017520"/>
          </a:xfrm>
          <a:prstGeom prst="roundRect">
            <a:avLst>
              <a:gd name="adj" fmla="val 2857"/>
            </a:avLst>
          </a:prstGeom>
          <a:solidFill>
            <a:srgbClr val="EEF4F0"/>
          </a:solidFill>
          <a:ln w="12700">
            <a:solidFill>
              <a:srgbClr val="EEF4F0"/>
            </a:solidFill>
            <a:prstDash val="solid"/>
          </a:ln>
        </p:spPr>
      </p:sp>
      <p:sp>
        <p:nvSpPr>
          <p:cNvPr id="5" name="Text 3"/>
          <p:cNvSpPr txBox="1"/>
          <p:nvPr/>
        </p:nvSpPr>
        <p:spPr>
          <a:xfrm>
            <a:off x="731520" y="1600200"/>
            <a:ext cx="2194560" cy="365760"/>
          </a:xfrm>
          <a:prstGeom prst="rect">
            <a:avLst/>
          </a:prstGeom>
          <a:noFill/>
          <a:ln/>
        </p:spPr>
        <p:txBody>
          <a:bodyPr wrap="square" lIns="0" tIns="0" rIns="0" bIns="0" rtlCol="0" anchor="ctr"/>
          <a:lstStyle/>
          <a:p>
            <a:pPr indent="0" marL="0">
              <a:buNone/>
            </a:pPr>
            <a:r>
              <a:rPr lang="en-US" sz="1400" b="1" dirty="0">
                <a:solidFill>
                  <a:srgbClr val="A15C07"/>
                </a:solidFill>
                <a:latin typeface="Arial" pitchFamily="34" charset="0"/>
                <a:ea typeface="Arial" pitchFamily="34" charset="-122"/>
                <a:cs typeface="Arial" pitchFamily="34" charset="-120"/>
              </a:rPr>
              <a:t>Prior knowledge</a:t>
            </a:r>
            <a:endParaRPr lang="en-US" sz="1400" dirty="0"/>
          </a:p>
        </p:txBody>
      </p:sp>
      <p:sp>
        <p:nvSpPr>
          <p:cNvPr id="6" name="Text 4"/>
          <p:cNvSpPr txBox="1"/>
          <p:nvPr/>
        </p:nvSpPr>
        <p:spPr>
          <a:xfrm>
            <a:off x="731520" y="2011680"/>
            <a:ext cx="2240280" cy="23317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Fair tests: change one thing, keep the rest the same</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Making predictions before an experiment</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Observations and measurements</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The particle model, if already taught</a:t>
            </a:r>
            <a:endParaRPr lang="en-US" sz="1150" dirty="0"/>
          </a:p>
        </p:txBody>
      </p:sp>
      <p:sp>
        <p:nvSpPr>
          <p:cNvPr id="7" name="Shape 5"/>
          <p:cNvSpPr/>
          <p:nvPr/>
        </p:nvSpPr>
        <p:spPr>
          <a:xfrm>
            <a:off x="3291840" y="1463040"/>
            <a:ext cx="2560320" cy="3017520"/>
          </a:xfrm>
          <a:prstGeom prst="roundRect">
            <a:avLst>
              <a:gd name="adj" fmla="val 2857"/>
            </a:avLst>
          </a:prstGeom>
          <a:solidFill>
            <a:srgbClr val="EEF4F0"/>
          </a:solidFill>
          <a:ln w="12700">
            <a:solidFill>
              <a:srgbClr val="EEF4F0"/>
            </a:solidFill>
            <a:prstDash val="solid"/>
          </a:ln>
        </p:spPr>
      </p:sp>
      <p:sp>
        <p:nvSpPr>
          <p:cNvPr id="8" name="Text 6"/>
          <p:cNvSpPr txBox="1"/>
          <p:nvPr/>
        </p:nvSpPr>
        <p:spPr>
          <a:xfrm>
            <a:off x="3474720" y="1600200"/>
            <a:ext cx="2194560" cy="365760"/>
          </a:xfrm>
          <a:prstGeom prst="rect">
            <a:avLst/>
          </a:prstGeom>
          <a:noFill/>
          <a:ln/>
        </p:spPr>
        <p:txBody>
          <a:bodyPr wrap="square" lIns="0" tIns="0" rIns="0" bIns="0" rtlCol="0" anchor="ctr"/>
          <a:lstStyle/>
          <a:p>
            <a:pPr indent="0" marL="0">
              <a:buNone/>
            </a:pPr>
            <a:r>
              <a:rPr lang="en-US" sz="1400" b="1" dirty="0">
                <a:solidFill>
                  <a:srgbClr val="A15C07"/>
                </a:solidFill>
                <a:latin typeface="Arial" pitchFamily="34" charset="0"/>
                <a:ea typeface="Arial" pitchFamily="34" charset="-122"/>
                <a:cs typeface="Arial" pitchFamily="34" charset="-120"/>
              </a:rPr>
              <a:t>Misconceptions to watch</a:t>
            </a:r>
            <a:endParaRPr lang="en-US" sz="1400" dirty="0"/>
          </a:p>
        </p:txBody>
      </p:sp>
      <p:sp>
        <p:nvSpPr>
          <p:cNvPr id="9" name="Text 7"/>
          <p:cNvSpPr txBox="1"/>
          <p:nvPr/>
        </p:nvSpPr>
        <p:spPr>
          <a:xfrm>
            <a:off x="3474720" y="2011680"/>
            <a:ext cx="2240280" cy="23317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“A theory is just a guess.” In science it is a well-tested explanation.</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“Theories are proven facts that never change.”</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“If a theory changes, the scientists were stupid.”</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Mixing up hypothesis (a testable idea) and theory (a well-supported explanation).</a:t>
            </a:r>
            <a:endParaRPr lang="en-US" sz="1150" dirty="0"/>
          </a:p>
        </p:txBody>
      </p:sp>
      <p:sp>
        <p:nvSpPr>
          <p:cNvPr id="10" name="Shape 8"/>
          <p:cNvSpPr/>
          <p:nvPr/>
        </p:nvSpPr>
        <p:spPr>
          <a:xfrm>
            <a:off x="6035040" y="1463040"/>
            <a:ext cx="2560320" cy="3017520"/>
          </a:xfrm>
          <a:prstGeom prst="roundRect">
            <a:avLst>
              <a:gd name="adj" fmla="val 2857"/>
            </a:avLst>
          </a:prstGeom>
          <a:solidFill>
            <a:srgbClr val="EEF4F0"/>
          </a:solidFill>
          <a:ln w="12700">
            <a:solidFill>
              <a:srgbClr val="EEF4F0"/>
            </a:solidFill>
            <a:prstDash val="solid"/>
          </a:ln>
        </p:spPr>
      </p:sp>
      <p:sp>
        <p:nvSpPr>
          <p:cNvPr id="11" name="Text 9"/>
          <p:cNvSpPr txBox="1"/>
          <p:nvPr/>
        </p:nvSpPr>
        <p:spPr>
          <a:xfrm>
            <a:off x="6217920" y="1600200"/>
            <a:ext cx="2194560" cy="365760"/>
          </a:xfrm>
          <a:prstGeom prst="rect">
            <a:avLst/>
          </a:prstGeom>
          <a:noFill/>
          <a:ln/>
        </p:spPr>
        <p:txBody>
          <a:bodyPr wrap="square" lIns="0" tIns="0" rIns="0" bIns="0" rtlCol="0" anchor="ctr"/>
          <a:lstStyle/>
          <a:p>
            <a:pPr indent="0" marL="0">
              <a:buNone/>
            </a:pPr>
            <a:r>
              <a:rPr lang="en-US" sz="1400" b="1" dirty="0">
                <a:solidFill>
                  <a:srgbClr val="A15C07"/>
                </a:solidFill>
                <a:latin typeface="Arial" pitchFamily="34" charset="0"/>
                <a:ea typeface="Arial" pitchFamily="34" charset="-122"/>
                <a:cs typeface="Arial" pitchFamily="34" charset="-120"/>
              </a:rPr>
              <a:t>Lesson flow · 50 min</a:t>
            </a:r>
            <a:endParaRPr lang="en-US" sz="1400" dirty="0"/>
          </a:p>
        </p:txBody>
      </p:sp>
      <p:sp>
        <p:nvSpPr>
          <p:cNvPr id="12" name="Text 10"/>
          <p:cNvSpPr txBox="1"/>
          <p:nvPr/>
        </p:nvSpPr>
        <p:spPr>
          <a:xfrm>
            <a:off x="6217920" y="2011680"/>
            <a:ext cx="2240280" cy="23317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Do Now retrieval · 6</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Hook: two kinds of theory · 4</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I Do: hunch to theory · 7</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We Do: Redi’s jars · 8</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We Do: handwashing · 7</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I Do: theories change · 5</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You Do: sort it · 9</a:t>
            </a:r>
            <a:endParaRPr lang="en-US" sz="1150" dirty="0"/>
          </a:p>
          <a:p>
            <a:pPr marL="342900" indent="-342900">
              <a:spcAft>
                <a:spcPts val="400"/>
              </a:spcAft>
              <a:buSzPct val="100000"/>
              <a:buChar char="•"/>
            </a:pPr>
            <a:r>
              <a:rPr lang="en-US" sz="1150" dirty="0">
                <a:solidFill>
                  <a:srgbClr val="173B2F"/>
                </a:solidFill>
                <a:latin typeface="Arial" pitchFamily="34" charset="0"/>
                <a:ea typeface="Arial" pitchFamily="34" charset="-122"/>
                <a:cs typeface="Arial" pitchFamily="34" charset="-120"/>
              </a:rPr>
              <a:t>Plenary: exit ticket · 4</a:t>
            </a:r>
            <a:endParaRPr lang="en-US" sz="11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3B2F"/>
        </a:solidFill>
      </p:bgPr>
    </p:bg>
    <p:spTree>
      <p:nvGrpSpPr>
        <p:cNvPr id="1" name=""/>
        <p:cNvGrpSpPr/>
        <p:nvPr/>
      </p:nvGrpSpPr>
      <p:grpSpPr>
        <a:xfrm>
          <a:off x="0" y="0"/>
          <a:ext cx="0" cy="0"/>
          <a:chOff x="0" y="0"/>
          <a:chExt cx="0" cy="0"/>
        </a:xfrm>
      </p:grpSpPr>
      <p:sp>
        <p:nvSpPr>
          <p:cNvPr id="2" name="Text 0"/>
          <p:cNvSpPr txBox="1"/>
          <p:nvPr/>
        </p:nvSpPr>
        <p:spPr>
          <a:xfrm>
            <a:off x="548640" y="1005840"/>
            <a:ext cx="4754880" cy="320040"/>
          </a:xfrm>
          <a:prstGeom prst="rect">
            <a:avLst/>
          </a:prstGeom>
          <a:noFill/>
          <a:ln/>
        </p:spPr>
        <p:txBody>
          <a:bodyPr wrap="square" lIns="0" tIns="0" rIns="0" bIns="0" rtlCol="0" anchor="ctr"/>
          <a:lstStyle/>
          <a:p>
            <a:pPr indent="0" marL="0">
              <a:buNone/>
            </a:pPr>
            <a:r>
              <a:rPr lang="en-US" sz="1200" b="1" spc="300" kern="0" dirty="0">
                <a:solidFill>
                  <a:srgbClr val="F2A93B"/>
                </a:solidFill>
                <a:latin typeface="Arial" pitchFamily="34" charset="0"/>
                <a:ea typeface="Arial" pitchFamily="34" charset="-122"/>
                <a:cs typeface="Arial" pitchFamily="34" charset="-120"/>
              </a:rPr>
              <a:t>YEAR 7 · WORKING SCIENTIFICALLY</a:t>
            </a:r>
            <a:endParaRPr lang="en-US" sz="1200" dirty="0"/>
          </a:p>
        </p:txBody>
      </p:sp>
      <p:sp>
        <p:nvSpPr>
          <p:cNvPr id="3" name="Text 1"/>
          <p:cNvSpPr txBox="1"/>
          <p:nvPr/>
        </p:nvSpPr>
        <p:spPr>
          <a:xfrm>
            <a:off x="548640" y="1371600"/>
            <a:ext cx="4754880" cy="1554480"/>
          </a:xfrm>
          <a:prstGeom prst="rect">
            <a:avLst/>
          </a:prstGeom>
          <a:noFill/>
          <a:ln/>
        </p:spPr>
        <p:txBody>
          <a:bodyPr wrap="square" lIns="0" tIns="0" rIns="0" bIns="0" rtlCol="0" anchor="t"/>
          <a:lstStyle/>
          <a:p>
            <a:pPr indent="0" marL="0">
              <a:buNone/>
            </a:pPr>
            <a:r>
              <a:rPr lang="en-US" sz="4800" b="1" dirty="0">
                <a:solidFill>
                  <a:srgbClr val="FFFFFF"/>
                </a:solidFill>
                <a:latin typeface="Georgia" pitchFamily="34" charset="0"/>
                <a:ea typeface="Georgia" pitchFamily="34" charset="-122"/>
                <a:cs typeface="Georgia" pitchFamily="34" charset="-120"/>
              </a:rPr>
              <a:t>Scientific</a:t>
            </a:r>
            <a:endParaRPr lang="en-US" sz="4800" dirty="0"/>
          </a:p>
          <a:p>
            <a:pPr indent="0" marL="0">
              <a:buNone/>
            </a:pPr>
            <a:r>
              <a:rPr lang="en-US" sz="4800" b="1" dirty="0">
                <a:solidFill>
                  <a:srgbClr val="FFFFFF"/>
                </a:solidFill>
                <a:latin typeface="Georgia" pitchFamily="34" charset="0"/>
                <a:ea typeface="Georgia" pitchFamily="34" charset="-122"/>
                <a:cs typeface="Georgia" pitchFamily="34" charset="-120"/>
              </a:rPr>
              <a:t>Theories</a:t>
            </a:r>
            <a:endParaRPr lang="en-US" sz="4800" dirty="0"/>
          </a:p>
        </p:txBody>
      </p:sp>
      <p:sp>
        <p:nvSpPr>
          <p:cNvPr id="4" name="Text 2"/>
          <p:cNvSpPr txBox="1"/>
          <p:nvPr/>
        </p:nvSpPr>
        <p:spPr>
          <a:xfrm>
            <a:off x="548640" y="3063240"/>
            <a:ext cx="4572000" cy="731520"/>
          </a:xfrm>
          <a:prstGeom prst="rect">
            <a:avLst/>
          </a:prstGeom>
          <a:noFill/>
          <a:ln/>
        </p:spPr>
        <p:txBody>
          <a:bodyPr wrap="square" lIns="0" tIns="0" rIns="0" bIns="0" rtlCol="0" anchor="t"/>
          <a:lstStyle/>
          <a:p>
            <a:pPr indent="0" marL="0">
              <a:buNone/>
            </a:pPr>
            <a:r>
              <a:rPr lang="en-US" sz="1800" dirty="0">
                <a:solidFill>
                  <a:srgbClr val="B9D3C6"/>
                </a:solidFill>
                <a:latin typeface="Arial" pitchFamily="34" charset="0"/>
                <a:ea typeface="Arial" pitchFamily="34" charset="-122"/>
                <a:cs typeface="Arial" pitchFamily="34" charset="-120"/>
              </a:rPr>
              <a:t>Why “it’s only a theory” is actually a compliment</a:t>
            </a:r>
            <a:endParaRPr lang="en-US" sz="1800" dirty="0"/>
          </a:p>
        </p:txBody>
      </p:sp>
      <p:sp>
        <p:nvSpPr>
          <p:cNvPr id="5" name="t_b00"/>
          <p:cNvSpPr/>
          <p:nvPr/>
        </p:nvSpPr>
        <p:spPr>
          <a:xfrm>
            <a:off x="5436108" y="4023360"/>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6" name="t_b01"/>
          <p:cNvSpPr/>
          <p:nvPr/>
        </p:nvSpPr>
        <p:spPr>
          <a:xfrm>
            <a:off x="6231636" y="4023360"/>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7" name="t_b02"/>
          <p:cNvSpPr/>
          <p:nvPr/>
        </p:nvSpPr>
        <p:spPr>
          <a:xfrm>
            <a:off x="7027164" y="4023360"/>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8" name="t_b03"/>
          <p:cNvSpPr/>
          <p:nvPr/>
        </p:nvSpPr>
        <p:spPr>
          <a:xfrm>
            <a:off x="7822692" y="4023360"/>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9" name="t_b10"/>
          <p:cNvSpPr/>
          <p:nvPr/>
        </p:nvSpPr>
        <p:spPr>
          <a:xfrm>
            <a:off x="5833872" y="3575304"/>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0" name="t_b11"/>
          <p:cNvSpPr/>
          <p:nvPr/>
        </p:nvSpPr>
        <p:spPr>
          <a:xfrm>
            <a:off x="6629400" y="3575304"/>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1" name="t_b12"/>
          <p:cNvSpPr/>
          <p:nvPr/>
        </p:nvSpPr>
        <p:spPr>
          <a:xfrm>
            <a:off x="7424928" y="3575304"/>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2" name="t_b20"/>
          <p:cNvSpPr/>
          <p:nvPr/>
        </p:nvSpPr>
        <p:spPr>
          <a:xfrm>
            <a:off x="6231636" y="3127248"/>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3" name="t_b21"/>
          <p:cNvSpPr/>
          <p:nvPr/>
        </p:nvSpPr>
        <p:spPr>
          <a:xfrm>
            <a:off x="7027164" y="3127248"/>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4" name="t_b30"/>
          <p:cNvSpPr/>
          <p:nvPr/>
        </p:nvSpPr>
        <p:spPr>
          <a:xfrm>
            <a:off x="6629400" y="2679192"/>
            <a:ext cx="731520" cy="384048"/>
          </a:xfrm>
          <a:prstGeom prst="roundRect">
            <a:avLst>
              <a:gd name="adj" fmla="val 11905"/>
            </a:avLst>
          </a:prstGeom>
          <a:solidFill>
            <a:srgbClr val="F2A93B"/>
          </a:solidFill>
          <a:ln>
            <a:solidFill>
              <a:srgbClr val="F2A93B"/>
            </a:solidFill>
          </a:ln>
        </p:spPr>
        <p:txBody>
          <a:bodyPr wrap="square" lIns="0" tIns="0" rIns="0" bIns="0" rtlCol="0" anchor="ctr"/>
          <a:lstStyle/>
          <a:p>
            <a:pPr algn="ctr" indent="0" marL="0">
              <a:buNone/>
            </a:pPr>
            <a:r>
              <a:rPr lang="en-US" sz="1000" b="1" dirty="0">
                <a:solidFill>
                  <a:srgbClr val="173B2F"/>
                </a:solidFill>
                <a:latin typeface="Arial" pitchFamily="34" charset="0"/>
                <a:ea typeface="Arial" pitchFamily="34" charset="-122"/>
                <a:cs typeface="Arial" pitchFamily="34" charset="-120"/>
              </a:rPr>
              <a:t>THEORY</a:t>
            </a:r>
            <a:endParaRPr lang="en-US" sz="1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4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450" fill="hold"/>
                                        <p:tgtEl>
                                          <p:spTgt spid="5"/>
                                        </p:tgtEl>
                                        <p:attrNameLst>
                                          <p:attrName>ppt_x</p:attrName>
                                        </p:attrNameLst>
                                      </p:cBhvr>
                                      <p:tavLst>
                                        <p:tav tm="0">
                                          <p:val>
                                            <p:strVal val="#ppt_x"/>
                                          </p:val>
                                        </p:tav>
                                        <p:tav tm="100000">
                                          <p:val>
                                            <p:strVal val="#ppt_x"/>
                                          </p:val>
                                        </p:tav>
                                      </p:tavLst>
                                    </p:anim>
                                    <p:anim calcmode="lin" valueType="num">
                                      <p:cBhvr additive="base">
                                        <p:cTn id="8" dur="45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1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450" fill="hold"/>
                                        <p:tgtEl>
                                          <p:spTgt spid="6"/>
                                        </p:tgtEl>
                                        <p:attrNameLst>
                                          <p:attrName>ppt_x</p:attrName>
                                        </p:attrNameLst>
                                      </p:cBhvr>
                                      <p:tavLst>
                                        <p:tav tm="0">
                                          <p:val>
                                            <p:strVal val="#ppt_x"/>
                                          </p:val>
                                        </p:tav>
                                        <p:tav tm="100000">
                                          <p:val>
                                            <p:strVal val="#ppt_x"/>
                                          </p:val>
                                        </p:tav>
                                      </p:tavLst>
                                    </p:anim>
                                    <p:anim calcmode="lin" valueType="num">
                                      <p:cBhvr additive="base">
                                        <p:cTn id="12" dur="45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62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450" fill="hold"/>
                                        <p:tgtEl>
                                          <p:spTgt spid="7"/>
                                        </p:tgtEl>
                                        <p:attrNameLst>
                                          <p:attrName>ppt_x</p:attrName>
                                        </p:attrNameLst>
                                      </p:cBhvr>
                                      <p:tavLst>
                                        <p:tav tm="0">
                                          <p:val>
                                            <p:strVal val="#ppt_x"/>
                                          </p:val>
                                        </p:tav>
                                        <p:tav tm="100000">
                                          <p:val>
                                            <p:strVal val="#ppt_x"/>
                                          </p:val>
                                        </p:tav>
                                      </p:tavLst>
                                    </p:anim>
                                    <p:anim calcmode="lin" valueType="num">
                                      <p:cBhvr additive="base">
                                        <p:cTn id="16" dur="45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73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450" fill="hold"/>
                                        <p:tgtEl>
                                          <p:spTgt spid="8"/>
                                        </p:tgtEl>
                                        <p:attrNameLst>
                                          <p:attrName>ppt_x</p:attrName>
                                        </p:attrNameLst>
                                      </p:cBhvr>
                                      <p:tavLst>
                                        <p:tav tm="0">
                                          <p:val>
                                            <p:strVal val="#ppt_x"/>
                                          </p:val>
                                        </p:tav>
                                        <p:tav tm="100000">
                                          <p:val>
                                            <p:strVal val="#ppt_x"/>
                                          </p:val>
                                        </p:tav>
                                      </p:tavLst>
                                    </p:anim>
                                    <p:anim calcmode="lin" valueType="num">
                                      <p:cBhvr additive="base">
                                        <p:cTn id="20" dur="45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95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450" fill="hold"/>
                                        <p:tgtEl>
                                          <p:spTgt spid="9"/>
                                        </p:tgtEl>
                                        <p:attrNameLst>
                                          <p:attrName>ppt_x</p:attrName>
                                        </p:attrNameLst>
                                      </p:cBhvr>
                                      <p:tavLst>
                                        <p:tav tm="0">
                                          <p:val>
                                            <p:strVal val="#ppt_x"/>
                                          </p:val>
                                        </p:tav>
                                        <p:tav tm="100000">
                                          <p:val>
                                            <p:strVal val="#ppt_x"/>
                                          </p:val>
                                        </p:tav>
                                      </p:tavLst>
                                    </p:anim>
                                    <p:anim calcmode="lin" valueType="num">
                                      <p:cBhvr additive="base">
                                        <p:cTn id="24" dur="45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106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450" fill="hold"/>
                                        <p:tgtEl>
                                          <p:spTgt spid="10"/>
                                        </p:tgtEl>
                                        <p:attrNameLst>
                                          <p:attrName>ppt_x</p:attrName>
                                        </p:attrNameLst>
                                      </p:cBhvr>
                                      <p:tavLst>
                                        <p:tav tm="0">
                                          <p:val>
                                            <p:strVal val="#ppt_x"/>
                                          </p:val>
                                        </p:tav>
                                        <p:tav tm="100000">
                                          <p:val>
                                            <p:strVal val="#ppt_x"/>
                                          </p:val>
                                        </p:tav>
                                      </p:tavLst>
                                    </p:anim>
                                    <p:anim calcmode="lin" valueType="num">
                                      <p:cBhvr additive="base">
                                        <p:cTn id="28" dur="45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117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450" fill="hold"/>
                                        <p:tgtEl>
                                          <p:spTgt spid="11"/>
                                        </p:tgtEl>
                                        <p:attrNameLst>
                                          <p:attrName>ppt_x</p:attrName>
                                        </p:attrNameLst>
                                      </p:cBhvr>
                                      <p:tavLst>
                                        <p:tav tm="0">
                                          <p:val>
                                            <p:strVal val="#ppt_x"/>
                                          </p:val>
                                        </p:tav>
                                        <p:tav tm="100000">
                                          <p:val>
                                            <p:strVal val="#ppt_x"/>
                                          </p:val>
                                        </p:tav>
                                      </p:tavLst>
                                    </p:anim>
                                    <p:anim calcmode="lin" valueType="num">
                                      <p:cBhvr additive="base">
                                        <p:cTn id="32" dur="45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150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450" fill="hold"/>
                                        <p:tgtEl>
                                          <p:spTgt spid="12"/>
                                        </p:tgtEl>
                                        <p:attrNameLst>
                                          <p:attrName>ppt_x</p:attrName>
                                        </p:attrNameLst>
                                      </p:cBhvr>
                                      <p:tavLst>
                                        <p:tav tm="0">
                                          <p:val>
                                            <p:strVal val="#ppt_x"/>
                                          </p:val>
                                        </p:tav>
                                        <p:tav tm="100000">
                                          <p:val>
                                            <p:strVal val="#ppt_x"/>
                                          </p:val>
                                        </p:tav>
                                      </p:tavLst>
                                    </p:anim>
                                    <p:anim calcmode="lin" valueType="num">
                                      <p:cBhvr additive="base">
                                        <p:cTn id="36" dur="45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161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450" fill="hold"/>
                                        <p:tgtEl>
                                          <p:spTgt spid="13"/>
                                        </p:tgtEl>
                                        <p:attrNameLst>
                                          <p:attrName>ppt_x</p:attrName>
                                        </p:attrNameLst>
                                      </p:cBhvr>
                                      <p:tavLst>
                                        <p:tav tm="0">
                                          <p:val>
                                            <p:strVal val="#ppt_x"/>
                                          </p:val>
                                        </p:tav>
                                        <p:tav tm="100000">
                                          <p:val>
                                            <p:strVal val="#ppt_x"/>
                                          </p:val>
                                        </p:tav>
                                      </p:tavLst>
                                    </p:anim>
                                    <p:anim calcmode="lin" valueType="num">
                                      <p:cBhvr additive="base">
                                        <p:cTn id="40" dur="450" fill="hold"/>
                                        <p:tgtEl>
                                          <p:spTgt spid="13"/>
                                        </p:tgtEl>
                                        <p:attrNameLst>
                                          <p:attrName>ppt_y</p:attrName>
                                        </p:attrNameLst>
                                      </p:cBhvr>
                                      <p:tavLst>
                                        <p:tav tm="0">
                                          <p:val>
                                            <p:strVal val="1+#ppt_h/2"/>
                                          </p:val>
                                        </p:tav>
                                        <p:tav tm="100000">
                                          <p:val>
                                            <p:strVal val="#ppt_y"/>
                                          </p:val>
                                        </p:tav>
                                      </p:tavLst>
                                    </p:anim>
                                  </p:childTnLst>
                                </p:cTn>
                              </p:par>
                              <p:par>
                                <p:cTn id="41" presetID="53" presetClass="entr" presetSubtype="16" fill="hold" grpId="0" nodeType="withEffect">
                                  <p:stCondLst>
                                    <p:cond delay="205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450" fill="hold"/>
                                        <p:tgtEl>
                                          <p:spTgt spid="14"/>
                                        </p:tgtEl>
                                        <p:attrNameLst>
                                          <p:attrName>ppt_w</p:attrName>
                                        </p:attrNameLst>
                                      </p:cBhvr>
                                      <p:tavLst>
                                        <p:tav tm="0">
                                          <p:val>
                                            <p:fltVal val="0"/>
                                          </p:val>
                                        </p:tav>
                                        <p:tav tm="100000">
                                          <p:val>
                                            <p:strVal val="#ppt_w"/>
                                          </p:val>
                                        </p:tav>
                                      </p:tavLst>
                                    </p:anim>
                                    <p:anim calcmode="lin" valueType="num">
                                      <p:cBhvr additive="base">
                                        <p:cTn id="44" dur="450" fill="hold"/>
                                        <p:tgtEl>
                                          <p:spTgt spid="14"/>
                                        </p:tgtEl>
                                        <p:attrNameLst>
                                          <p:attrName>ppt_h</p:attrName>
                                        </p:attrNameLst>
                                      </p:cBhvr>
                                      <p:tavLst>
                                        <p:tav tm="0">
                                          <p:val>
                                            <p:fltVal val="0"/>
                                          </p:val>
                                        </p:tav>
                                        <p:tav tm="100000">
                                          <p:val>
                                            <p:strVal val="#ppt_h"/>
                                          </p:val>
                                        </p:tav>
                                      </p:tavLst>
                                    </p:anim>
                                    <p:animEffect transition="in" filter="fade">
                                      <p:cBhvr>
                                        <p:cTn id="45"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2148840" cy="292608"/>
          </a:xfrm>
          <a:prstGeom prst="roundRect">
            <a:avLst>
              <a:gd name="adj" fmla="val 50000"/>
            </a:avLst>
          </a:prstGeom>
          <a:solidFill>
            <a:srgbClr val="173B2F"/>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LEARNING OBJECTIVES</a:t>
            </a:r>
            <a:endParaRPr lang="en-US" sz="10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200" b="1" dirty="0">
                <a:solidFill>
                  <a:srgbClr val="173B2F"/>
                </a:solidFill>
                <a:latin typeface="Georgia" pitchFamily="34" charset="0"/>
                <a:ea typeface="Georgia" pitchFamily="34" charset="-122"/>
                <a:cs typeface="Georgia" pitchFamily="34" charset="-120"/>
              </a:rPr>
              <a:t>Today we will…</a:t>
            </a:r>
            <a:endParaRPr lang="en-US" sz="3200" dirty="0"/>
          </a:p>
        </p:txBody>
      </p:sp>
      <p:sp>
        <p:nvSpPr>
          <p:cNvPr id="4" name="Text 2"/>
          <p:cNvSpPr txBox="1"/>
          <p:nvPr/>
        </p:nvSpPr>
        <p:spPr>
          <a:xfrm>
            <a:off x="548640" y="1463040"/>
            <a:ext cx="4572000" cy="320040"/>
          </a:xfrm>
          <a:prstGeom prst="rect">
            <a:avLst/>
          </a:prstGeom>
          <a:noFill/>
          <a:ln/>
        </p:spPr>
        <p:txBody>
          <a:bodyPr wrap="square" lIns="0" tIns="0" rIns="0" bIns="0" rtlCol="0" anchor="ctr"/>
          <a:lstStyle/>
          <a:p>
            <a:pPr indent="0" marL="0">
              <a:buNone/>
            </a:pPr>
            <a:r>
              <a:rPr lang="en-US" sz="1400" b="1" dirty="0">
                <a:solidFill>
                  <a:srgbClr val="5C6B63"/>
                </a:solidFill>
                <a:latin typeface="Arial" pitchFamily="34" charset="0"/>
                <a:ea typeface="Arial" pitchFamily="34" charset="-122"/>
                <a:cs typeface="Arial" pitchFamily="34" charset="-120"/>
              </a:rPr>
              <a:t>We are learning to…</a:t>
            </a:r>
            <a:endParaRPr lang="en-US" sz="1400" dirty="0"/>
          </a:p>
        </p:txBody>
      </p:sp>
      <p:sp>
        <p:nvSpPr>
          <p:cNvPr id="5" name="o0"/>
          <p:cNvSpPr/>
          <p:nvPr/>
        </p:nvSpPr>
        <p:spPr>
          <a:xfrm>
            <a:off x="548640" y="1920240"/>
            <a:ext cx="411480" cy="411480"/>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500" b="1" dirty="0">
                <a:solidFill>
                  <a:srgbClr val="173B2F"/>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143000" y="1828800"/>
            <a:ext cx="3931920" cy="594360"/>
          </a:xfrm>
          <a:prstGeom prst="rect">
            <a:avLst/>
          </a:prstGeom>
          <a:noFill/>
          <a:ln/>
        </p:spPr>
        <p:txBody>
          <a:bodyPr wrap="square" lIns="0" tIns="0" rIns="0" bIns="0" rtlCol="0" anchor="ctr"/>
          <a:lstStyle/>
          <a:p>
            <a:pPr indent="0" marL="0">
              <a:buNone/>
            </a:pPr>
            <a:r>
              <a:rPr lang="en-US" sz="1500" dirty="0">
                <a:solidFill>
                  <a:srgbClr val="173B2F"/>
                </a:solidFill>
                <a:latin typeface="Arial" pitchFamily="34" charset="0"/>
                <a:ea typeface="Arial" pitchFamily="34" charset="-122"/>
                <a:cs typeface="Arial" pitchFamily="34" charset="-120"/>
              </a:rPr>
              <a:t>Describe the difference between an everyday ‘theory’ and a scientific theory.</a:t>
            </a:r>
            <a:endParaRPr lang="en-US" sz="1500" dirty="0"/>
          </a:p>
        </p:txBody>
      </p:sp>
      <p:sp>
        <p:nvSpPr>
          <p:cNvPr id="7" name="o1"/>
          <p:cNvSpPr/>
          <p:nvPr/>
        </p:nvSpPr>
        <p:spPr>
          <a:xfrm>
            <a:off x="548640" y="2788920"/>
            <a:ext cx="411480" cy="411480"/>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500" b="1" dirty="0">
                <a:solidFill>
                  <a:srgbClr val="173B2F"/>
                </a:solidFill>
                <a:latin typeface="Arial" pitchFamily="34" charset="0"/>
                <a:ea typeface="Arial" pitchFamily="34" charset="-122"/>
                <a:cs typeface="Arial" pitchFamily="34" charset="-120"/>
              </a:rPr>
              <a:t>2</a:t>
            </a:r>
            <a:endParaRPr lang="en-US" sz="1500" dirty="0"/>
          </a:p>
        </p:txBody>
      </p:sp>
      <p:sp>
        <p:nvSpPr>
          <p:cNvPr id="8" name="Text 6"/>
          <p:cNvSpPr txBox="1"/>
          <p:nvPr/>
        </p:nvSpPr>
        <p:spPr>
          <a:xfrm>
            <a:off x="1143000" y="2697480"/>
            <a:ext cx="3931920" cy="594360"/>
          </a:xfrm>
          <a:prstGeom prst="rect">
            <a:avLst/>
          </a:prstGeom>
          <a:noFill/>
          <a:ln/>
        </p:spPr>
        <p:txBody>
          <a:bodyPr wrap="square" lIns="0" tIns="0" rIns="0" bIns="0" rtlCol="0" anchor="ctr"/>
          <a:lstStyle/>
          <a:p>
            <a:pPr indent="0" marL="0">
              <a:buNone/>
            </a:pPr>
            <a:r>
              <a:rPr lang="en-US" sz="1500" dirty="0">
                <a:solidFill>
                  <a:srgbClr val="173B2F"/>
                </a:solidFill>
                <a:latin typeface="Arial" pitchFamily="34" charset="0"/>
                <a:ea typeface="Arial" pitchFamily="34" charset="-122"/>
                <a:cs typeface="Arial" pitchFamily="34" charset="-120"/>
              </a:rPr>
              <a:t>Explain how experiments give evidence that supports or rejects an idea.</a:t>
            </a:r>
            <a:endParaRPr lang="en-US" sz="1500" dirty="0"/>
          </a:p>
        </p:txBody>
      </p:sp>
      <p:sp>
        <p:nvSpPr>
          <p:cNvPr id="9" name="o2"/>
          <p:cNvSpPr/>
          <p:nvPr/>
        </p:nvSpPr>
        <p:spPr>
          <a:xfrm>
            <a:off x="548640" y="3657600"/>
            <a:ext cx="411480" cy="411480"/>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500" b="1" dirty="0">
                <a:solidFill>
                  <a:srgbClr val="173B2F"/>
                </a:solidFill>
                <a:latin typeface="Arial" pitchFamily="34" charset="0"/>
                <a:ea typeface="Arial" pitchFamily="34" charset="-122"/>
                <a:cs typeface="Arial" pitchFamily="34" charset="-120"/>
              </a:rPr>
              <a:t>3</a:t>
            </a:r>
            <a:endParaRPr lang="en-US" sz="1500" dirty="0"/>
          </a:p>
        </p:txBody>
      </p:sp>
      <p:sp>
        <p:nvSpPr>
          <p:cNvPr id="10" name="Text 8"/>
          <p:cNvSpPr txBox="1"/>
          <p:nvPr/>
        </p:nvSpPr>
        <p:spPr>
          <a:xfrm>
            <a:off x="1143000" y="3566160"/>
            <a:ext cx="3931920" cy="594360"/>
          </a:xfrm>
          <a:prstGeom prst="rect">
            <a:avLst/>
          </a:prstGeom>
          <a:noFill/>
          <a:ln/>
        </p:spPr>
        <p:txBody>
          <a:bodyPr wrap="square" lIns="0" tIns="0" rIns="0" bIns="0" rtlCol="0" anchor="ctr"/>
          <a:lstStyle/>
          <a:p>
            <a:pPr indent="0" marL="0">
              <a:buNone/>
            </a:pPr>
            <a:r>
              <a:rPr lang="en-US" sz="1500" dirty="0">
                <a:solidFill>
                  <a:srgbClr val="173B2F"/>
                </a:solidFill>
                <a:latin typeface="Arial" pitchFamily="34" charset="0"/>
                <a:ea typeface="Arial" pitchFamily="34" charset="-122"/>
                <a:cs typeface="Arial" pitchFamily="34" charset="-120"/>
              </a:rPr>
              <a:t>Explain why scientific theories can change.</a:t>
            </a:r>
            <a:endParaRPr lang="en-US" sz="1500" dirty="0"/>
          </a:p>
        </p:txBody>
      </p:sp>
      <p:sp>
        <p:nvSpPr>
          <p:cNvPr id="11" name="Shape 9"/>
          <p:cNvSpPr/>
          <p:nvPr/>
        </p:nvSpPr>
        <p:spPr>
          <a:xfrm>
            <a:off x="5486400" y="1463040"/>
            <a:ext cx="3108960" cy="2606040"/>
          </a:xfrm>
          <a:prstGeom prst="roundRect">
            <a:avLst>
              <a:gd name="adj" fmla="val 2807"/>
            </a:avLst>
          </a:prstGeom>
          <a:solidFill>
            <a:srgbClr val="EEF4F0"/>
          </a:solidFill>
          <a:ln w="12700">
            <a:solidFill>
              <a:srgbClr val="EEF4F0"/>
            </a:solidFill>
            <a:prstDash val="solid"/>
          </a:ln>
        </p:spPr>
      </p:sp>
      <p:sp>
        <p:nvSpPr>
          <p:cNvPr id="12" name="Text 10"/>
          <p:cNvSpPr txBox="1"/>
          <p:nvPr/>
        </p:nvSpPr>
        <p:spPr>
          <a:xfrm>
            <a:off x="5715000" y="1645920"/>
            <a:ext cx="2743200" cy="320040"/>
          </a:xfrm>
          <a:prstGeom prst="rect">
            <a:avLst/>
          </a:prstGeom>
          <a:noFill/>
          <a:ln/>
        </p:spPr>
        <p:txBody>
          <a:bodyPr wrap="square" lIns="0" tIns="0" rIns="0" bIns="0" rtlCol="0" anchor="ctr"/>
          <a:lstStyle/>
          <a:p>
            <a:pPr indent="0" marL="0">
              <a:buNone/>
            </a:pPr>
            <a:r>
              <a:rPr lang="en-US" sz="1400" b="1" dirty="0">
                <a:solidFill>
                  <a:srgbClr val="2F6B55"/>
                </a:solidFill>
                <a:latin typeface="Arial" pitchFamily="34" charset="0"/>
                <a:ea typeface="Arial" pitchFamily="34" charset="-122"/>
                <a:cs typeface="Arial" pitchFamily="34" charset="-120"/>
              </a:rPr>
              <a:t>Success looks like…</a:t>
            </a:r>
            <a:endParaRPr lang="en-US" sz="1400" dirty="0"/>
          </a:p>
        </p:txBody>
      </p:sp>
      <p:sp>
        <p:nvSpPr>
          <p:cNvPr id="13" name="Text 11"/>
          <p:cNvSpPr txBox="1"/>
          <p:nvPr/>
        </p:nvSpPr>
        <p:spPr>
          <a:xfrm>
            <a:off x="5715000" y="2103120"/>
            <a:ext cx="2697480" cy="18288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73B2F"/>
                </a:solidFill>
                <a:latin typeface="Arial" pitchFamily="34" charset="0"/>
                <a:ea typeface="Arial" pitchFamily="34" charset="-122"/>
                <a:cs typeface="Arial" pitchFamily="34" charset="-120"/>
              </a:rPr>
              <a:t>I can explain what a scientific theory is in my own words.</a:t>
            </a:r>
            <a:endParaRPr lang="en-US" sz="1300" dirty="0"/>
          </a:p>
          <a:p>
            <a:pPr marL="342900" indent="-342900">
              <a:spcAft>
                <a:spcPts val="1000"/>
              </a:spcAft>
              <a:buSzPct val="100000"/>
              <a:buChar char="•"/>
            </a:pPr>
            <a:r>
              <a:rPr lang="en-US" sz="1300" dirty="0">
                <a:solidFill>
                  <a:srgbClr val="173B2F"/>
                </a:solidFill>
                <a:latin typeface="Arial" pitchFamily="34" charset="0"/>
                <a:ea typeface="Arial" pitchFamily="34" charset="-122"/>
                <a:cs typeface="Arial" pitchFamily="34" charset="-120"/>
              </a:rPr>
              <a:t>I can describe how Redi tested where maggots come from.</a:t>
            </a:r>
            <a:endParaRPr lang="en-US" sz="1300" dirty="0"/>
          </a:p>
          <a:p>
            <a:pPr marL="342900" indent="-342900">
              <a:spcAft>
                <a:spcPts val="1000"/>
              </a:spcAft>
              <a:buSzPct val="100000"/>
              <a:buChar char="•"/>
            </a:pPr>
            <a:r>
              <a:rPr lang="en-US" sz="1300" dirty="0">
                <a:solidFill>
                  <a:srgbClr val="173B2F"/>
                </a:solidFill>
                <a:latin typeface="Arial" pitchFamily="34" charset="0"/>
                <a:ea typeface="Arial" pitchFamily="34" charset="-122"/>
                <a:cs typeface="Arial" pitchFamily="34" charset="-120"/>
              </a:rPr>
              <a:t>I can give an example of a theory that changed.</a:t>
            </a:r>
            <a:endParaRPr lang="en-US" sz="1300" dirty="0"/>
          </a:p>
        </p:txBody>
      </p:sp>
    </p:spTree>
  </p:cSld>
  <p:clrMapOvr>
    <a:masterClrMapping/>
  </p:clrMapOvr>
  <p:transition spd="med">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691640" cy="292608"/>
          </a:xfrm>
          <a:prstGeom prst="roundRect">
            <a:avLst>
              <a:gd name="adj" fmla="val 50000"/>
            </a:avLst>
          </a:prstGeom>
          <a:solidFill>
            <a:srgbClr val="173B2F"/>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DO NOW · 6 MIN</a:t>
            </a:r>
            <a:endParaRPr lang="en-US" sz="10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200" b="1" dirty="0">
                <a:solidFill>
                  <a:srgbClr val="173B2F"/>
                </a:solidFill>
                <a:latin typeface="Georgia" pitchFamily="34" charset="0"/>
                <a:ea typeface="Georgia" pitchFamily="34" charset="-122"/>
                <a:cs typeface="Georgia" pitchFamily="34" charset="-120"/>
              </a:rPr>
              <a:t>Retrieval: being a scientist</a:t>
            </a:r>
            <a:endParaRPr lang="en-US" sz="3200" dirty="0"/>
          </a:p>
        </p:txBody>
      </p:sp>
      <p:sp>
        <p:nvSpPr>
          <p:cNvPr id="4" name="Shape 2"/>
          <p:cNvSpPr/>
          <p:nvPr/>
        </p:nvSpPr>
        <p:spPr>
          <a:xfrm>
            <a:off x="548640" y="1463040"/>
            <a:ext cx="3931920" cy="1463040"/>
          </a:xfrm>
          <a:prstGeom prst="roundRect">
            <a:avLst>
              <a:gd name="adj" fmla="val 5000"/>
            </a:avLst>
          </a:prstGeom>
          <a:solidFill>
            <a:srgbClr val="EEF4F0"/>
          </a:solidFill>
          <a:ln w="12700">
            <a:solidFill>
              <a:srgbClr val="EEF4F0"/>
            </a:solidFill>
            <a:prstDash val="solid"/>
          </a:ln>
        </p:spPr>
      </p:sp>
      <p:sp>
        <p:nvSpPr>
          <p:cNvPr id="5" name="qn0"/>
          <p:cNvSpPr/>
          <p:nvPr/>
        </p:nvSpPr>
        <p:spPr>
          <a:xfrm>
            <a:off x="731520" y="1645920"/>
            <a:ext cx="365760" cy="365760"/>
          </a:xfrm>
          <a:prstGeom prst="ellipse">
            <a:avLst/>
          </a:prstGeom>
          <a:solidFill>
            <a:srgbClr val="173B2F"/>
          </a:solidFill>
          <a:ln>
            <a:solidFill>
              <a:srgbClr val="173B2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234440" y="1600200"/>
            <a:ext cx="3063240" cy="457200"/>
          </a:xfrm>
          <a:prstGeom prst="rect">
            <a:avLst/>
          </a:prstGeom>
          <a:noFill/>
          <a:ln/>
        </p:spPr>
        <p:txBody>
          <a:bodyPr wrap="square" lIns="0" tIns="0" rIns="0" bIns="0" rtlCol="0" anchor="ctr"/>
          <a:lstStyle/>
          <a:p>
            <a:pPr indent="0" marL="0">
              <a:buNone/>
            </a:pPr>
            <a:r>
              <a:rPr lang="en-US" sz="1500" b="1" dirty="0">
                <a:solidFill>
                  <a:srgbClr val="173B2F"/>
                </a:solidFill>
                <a:latin typeface="Arial" pitchFamily="34" charset="0"/>
                <a:ea typeface="Arial" pitchFamily="34" charset="-122"/>
                <a:cs typeface="Arial" pitchFamily="34" charset="-120"/>
              </a:rPr>
              <a:t>What is a fair test?</a:t>
            </a:r>
            <a:endParaRPr lang="en-US" sz="1500" dirty="0"/>
          </a:p>
        </p:txBody>
      </p:sp>
      <p:sp>
        <p:nvSpPr>
          <p:cNvPr id="7" name="ans0"/>
          <p:cNvSpPr txBox="1"/>
          <p:nvPr/>
        </p:nvSpPr>
        <p:spPr>
          <a:xfrm>
            <a:off x="1234440" y="2176272"/>
            <a:ext cx="3063240" cy="594360"/>
          </a:xfrm>
          <a:prstGeom prst="rect">
            <a:avLst/>
          </a:prstGeom>
          <a:noFill/>
          <a:ln/>
        </p:spPr>
        <p:txBody>
          <a:bodyPr wrap="square" lIns="0" tIns="0" rIns="0" bIns="0" rtlCol="0" anchor="t"/>
          <a:lstStyle/>
          <a:p>
            <a:pPr indent="0" marL="0">
              <a:buNone/>
            </a:pPr>
            <a:r>
              <a:rPr lang="en-US" sz="1300" i="1" dirty="0">
                <a:solidFill>
                  <a:srgbClr val="A15C07"/>
                </a:solidFill>
                <a:latin typeface="Arial" pitchFamily="34" charset="0"/>
                <a:ea typeface="Arial" pitchFamily="34" charset="-122"/>
                <a:cs typeface="Arial" pitchFamily="34" charset="-120"/>
              </a:rPr>
              <a:t>Change only one thing; keep everything else the same.</a:t>
            </a:r>
            <a:endParaRPr lang="en-US" sz="1300" dirty="0"/>
          </a:p>
        </p:txBody>
      </p:sp>
      <p:sp>
        <p:nvSpPr>
          <p:cNvPr id="8" name="Shape 6"/>
          <p:cNvSpPr/>
          <p:nvPr/>
        </p:nvSpPr>
        <p:spPr>
          <a:xfrm>
            <a:off x="4663440" y="1463040"/>
            <a:ext cx="3931920" cy="1463040"/>
          </a:xfrm>
          <a:prstGeom prst="roundRect">
            <a:avLst>
              <a:gd name="adj" fmla="val 5000"/>
            </a:avLst>
          </a:prstGeom>
          <a:solidFill>
            <a:srgbClr val="EEF4F0"/>
          </a:solidFill>
          <a:ln w="12700">
            <a:solidFill>
              <a:srgbClr val="EEF4F0"/>
            </a:solidFill>
            <a:prstDash val="solid"/>
          </a:ln>
        </p:spPr>
      </p:sp>
      <p:sp>
        <p:nvSpPr>
          <p:cNvPr id="9" name="qn1"/>
          <p:cNvSpPr/>
          <p:nvPr/>
        </p:nvSpPr>
        <p:spPr>
          <a:xfrm>
            <a:off x="4846320" y="1645920"/>
            <a:ext cx="365760" cy="365760"/>
          </a:xfrm>
          <a:prstGeom prst="ellipse">
            <a:avLst/>
          </a:prstGeom>
          <a:solidFill>
            <a:srgbClr val="173B2F"/>
          </a:solidFill>
          <a:ln>
            <a:solidFill>
              <a:srgbClr val="173B2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5349240" y="1600200"/>
            <a:ext cx="3063240" cy="457200"/>
          </a:xfrm>
          <a:prstGeom prst="rect">
            <a:avLst/>
          </a:prstGeom>
          <a:noFill/>
          <a:ln/>
        </p:spPr>
        <p:txBody>
          <a:bodyPr wrap="square" lIns="0" tIns="0" rIns="0" bIns="0" rtlCol="0" anchor="ctr"/>
          <a:lstStyle/>
          <a:p>
            <a:pPr indent="0" marL="0">
              <a:buNone/>
            </a:pPr>
            <a:r>
              <a:rPr lang="en-US" sz="1500" b="1" dirty="0">
                <a:solidFill>
                  <a:srgbClr val="173B2F"/>
                </a:solidFill>
                <a:latin typeface="Arial" pitchFamily="34" charset="0"/>
                <a:ea typeface="Arial" pitchFamily="34" charset="-122"/>
                <a:cs typeface="Arial" pitchFamily="34" charset="-120"/>
              </a:rPr>
              <a:t>What is a prediction?</a:t>
            </a:r>
            <a:endParaRPr lang="en-US" sz="1500" dirty="0"/>
          </a:p>
        </p:txBody>
      </p:sp>
      <p:sp>
        <p:nvSpPr>
          <p:cNvPr id="11" name="ans1"/>
          <p:cNvSpPr txBox="1"/>
          <p:nvPr/>
        </p:nvSpPr>
        <p:spPr>
          <a:xfrm>
            <a:off x="5349240" y="2176272"/>
            <a:ext cx="3063240" cy="594360"/>
          </a:xfrm>
          <a:prstGeom prst="rect">
            <a:avLst/>
          </a:prstGeom>
          <a:noFill/>
          <a:ln/>
        </p:spPr>
        <p:txBody>
          <a:bodyPr wrap="square" lIns="0" tIns="0" rIns="0" bIns="0" rtlCol="0" anchor="t"/>
          <a:lstStyle/>
          <a:p>
            <a:pPr indent="0" marL="0">
              <a:buNone/>
            </a:pPr>
            <a:r>
              <a:rPr lang="en-US" sz="1300" i="1" dirty="0">
                <a:solidFill>
                  <a:srgbClr val="A15C07"/>
                </a:solidFill>
                <a:latin typeface="Arial" pitchFamily="34" charset="0"/>
                <a:ea typeface="Arial" pitchFamily="34" charset="-122"/>
                <a:cs typeface="Arial" pitchFamily="34" charset="-120"/>
              </a:rPr>
              <a:t>What you think will happen, before you do the experiment.</a:t>
            </a:r>
            <a:endParaRPr lang="en-US" sz="1300" dirty="0"/>
          </a:p>
        </p:txBody>
      </p:sp>
      <p:sp>
        <p:nvSpPr>
          <p:cNvPr id="12" name="Shape 10"/>
          <p:cNvSpPr/>
          <p:nvPr/>
        </p:nvSpPr>
        <p:spPr>
          <a:xfrm>
            <a:off x="548640" y="3108960"/>
            <a:ext cx="3931920" cy="1463040"/>
          </a:xfrm>
          <a:prstGeom prst="roundRect">
            <a:avLst>
              <a:gd name="adj" fmla="val 5000"/>
            </a:avLst>
          </a:prstGeom>
          <a:solidFill>
            <a:srgbClr val="EEF4F0"/>
          </a:solidFill>
          <a:ln w="12700">
            <a:solidFill>
              <a:srgbClr val="EEF4F0"/>
            </a:solidFill>
            <a:prstDash val="solid"/>
          </a:ln>
        </p:spPr>
      </p:sp>
      <p:sp>
        <p:nvSpPr>
          <p:cNvPr id="13" name="qn2"/>
          <p:cNvSpPr/>
          <p:nvPr/>
        </p:nvSpPr>
        <p:spPr>
          <a:xfrm>
            <a:off x="731520" y="3291840"/>
            <a:ext cx="365760" cy="365760"/>
          </a:xfrm>
          <a:prstGeom prst="ellipse">
            <a:avLst/>
          </a:prstGeom>
          <a:solidFill>
            <a:srgbClr val="173B2F"/>
          </a:solidFill>
          <a:ln>
            <a:solidFill>
              <a:srgbClr val="173B2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234440" y="3246120"/>
            <a:ext cx="3063240" cy="457200"/>
          </a:xfrm>
          <a:prstGeom prst="rect">
            <a:avLst/>
          </a:prstGeom>
          <a:noFill/>
          <a:ln/>
        </p:spPr>
        <p:txBody>
          <a:bodyPr wrap="square" lIns="0" tIns="0" rIns="0" bIns="0" rtlCol="0" anchor="ctr"/>
          <a:lstStyle/>
          <a:p>
            <a:pPr indent="0" marL="0">
              <a:buNone/>
            </a:pPr>
            <a:r>
              <a:rPr lang="en-US" sz="1500" b="1" dirty="0">
                <a:solidFill>
                  <a:srgbClr val="173B2F"/>
                </a:solidFill>
                <a:latin typeface="Arial" pitchFamily="34" charset="0"/>
                <a:ea typeface="Arial" pitchFamily="34" charset="-122"/>
                <a:cs typeface="Arial" pitchFamily="34" charset="-120"/>
              </a:rPr>
              <a:t>What is an observation?</a:t>
            </a:r>
            <a:endParaRPr lang="en-US" sz="1500" dirty="0"/>
          </a:p>
        </p:txBody>
      </p:sp>
      <p:sp>
        <p:nvSpPr>
          <p:cNvPr id="15" name="ans2"/>
          <p:cNvSpPr txBox="1"/>
          <p:nvPr/>
        </p:nvSpPr>
        <p:spPr>
          <a:xfrm>
            <a:off x="1234440" y="3822192"/>
            <a:ext cx="3063240" cy="594360"/>
          </a:xfrm>
          <a:prstGeom prst="rect">
            <a:avLst/>
          </a:prstGeom>
          <a:noFill/>
          <a:ln/>
        </p:spPr>
        <p:txBody>
          <a:bodyPr wrap="square" lIns="0" tIns="0" rIns="0" bIns="0" rtlCol="0" anchor="t"/>
          <a:lstStyle/>
          <a:p>
            <a:pPr indent="0" marL="0">
              <a:buNone/>
            </a:pPr>
            <a:r>
              <a:rPr lang="en-US" sz="1300" i="1" dirty="0">
                <a:solidFill>
                  <a:srgbClr val="A15C07"/>
                </a:solidFill>
                <a:latin typeface="Arial" pitchFamily="34" charset="0"/>
                <a:ea typeface="Arial" pitchFamily="34" charset="-122"/>
                <a:cs typeface="Arial" pitchFamily="34" charset="-120"/>
              </a:rPr>
              <a:t>Something you notice using your senses or measuring equipment.</a:t>
            </a:r>
            <a:endParaRPr lang="en-US" sz="1300" dirty="0"/>
          </a:p>
        </p:txBody>
      </p:sp>
      <p:sp>
        <p:nvSpPr>
          <p:cNvPr id="16" name="Shape 14"/>
          <p:cNvSpPr/>
          <p:nvPr/>
        </p:nvSpPr>
        <p:spPr>
          <a:xfrm>
            <a:off x="4663440" y="3108960"/>
            <a:ext cx="3931920" cy="1463040"/>
          </a:xfrm>
          <a:prstGeom prst="roundRect">
            <a:avLst>
              <a:gd name="adj" fmla="val 5000"/>
            </a:avLst>
          </a:prstGeom>
          <a:solidFill>
            <a:srgbClr val="EEF4F0"/>
          </a:solidFill>
          <a:ln w="12700">
            <a:solidFill>
              <a:srgbClr val="EEF4F0"/>
            </a:solidFill>
            <a:prstDash val="solid"/>
          </a:ln>
        </p:spPr>
      </p:sp>
      <p:sp>
        <p:nvSpPr>
          <p:cNvPr id="17" name="qn3"/>
          <p:cNvSpPr/>
          <p:nvPr/>
        </p:nvSpPr>
        <p:spPr>
          <a:xfrm>
            <a:off x="4846320" y="3291840"/>
            <a:ext cx="365760" cy="365760"/>
          </a:xfrm>
          <a:prstGeom prst="ellipse">
            <a:avLst/>
          </a:prstGeom>
          <a:solidFill>
            <a:srgbClr val="173B2F"/>
          </a:solidFill>
          <a:ln>
            <a:solidFill>
              <a:srgbClr val="173B2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5349240" y="3246120"/>
            <a:ext cx="3063240" cy="457200"/>
          </a:xfrm>
          <a:prstGeom prst="rect">
            <a:avLst/>
          </a:prstGeom>
          <a:noFill/>
          <a:ln/>
        </p:spPr>
        <p:txBody>
          <a:bodyPr wrap="square" lIns="0" tIns="0" rIns="0" bIns="0" rtlCol="0" anchor="ctr"/>
          <a:lstStyle/>
          <a:p>
            <a:pPr indent="0" marL="0">
              <a:buNone/>
            </a:pPr>
            <a:r>
              <a:rPr lang="en-US" sz="1500" b="1" dirty="0">
                <a:solidFill>
                  <a:srgbClr val="173B2F"/>
                </a:solidFill>
                <a:latin typeface="Arial" pitchFamily="34" charset="0"/>
                <a:ea typeface="Arial" pitchFamily="34" charset="-122"/>
                <a:cs typeface="Arial" pitchFamily="34" charset="-120"/>
              </a:rPr>
              <a:t>Why do we repeat an experiment?</a:t>
            </a:r>
            <a:endParaRPr lang="en-US" sz="1500" dirty="0"/>
          </a:p>
        </p:txBody>
      </p:sp>
      <p:sp>
        <p:nvSpPr>
          <p:cNvPr id="19" name="ans3"/>
          <p:cNvSpPr txBox="1"/>
          <p:nvPr/>
        </p:nvSpPr>
        <p:spPr>
          <a:xfrm>
            <a:off x="5349240" y="3822192"/>
            <a:ext cx="3063240" cy="594360"/>
          </a:xfrm>
          <a:prstGeom prst="rect">
            <a:avLst/>
          </a:prstGeom>
          <a:noFill/>
          <a:ln/>
        </p:spPr>
        <p:txBody>
          <a:bodyPr wrap="square" lIns="0" tIns="0" rIns="0" bIns="0" rtlCol="0" anchor="t"/>
          <a:lstStyle/>
          <a:p>
            <a:pPr indent="0" marL="0">
              <a:buNone/>
            </a:pPr>
            <a:r>
              <a:rPr lang="en-US" sz="1300" i="1" dirty="0">
                <a:solidFill>
                  <a:srgbClr val="A15C07"/>
                </a:solidFill>
                <a:latin typeface="Arial" pitchFamily="34" charset="0"/>
                <a:ea typeface="Arial" pitchFamily="34" charset="-122"/>
                <a:cs typeface="Arial" pitchFamily="34" charset="-120"/>
              </a:rPr>
              <a:t>To check the results are similar each time, and spot odd ones.</a:t>
            </a:r>
            <a:endParaRPr lang="en-US" sz="1300" dirty="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5"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508760" cy="292608"/>
          </a:xfrm>
          <a:prstGeom prst="roundRect">
            <a:avLst>
              <a:gd name="adj" fmla="val 50000"/>
            </a:avLst>
          </a:prstGeom>
          <a:solidFill>
            <a:srgbClr val="173B2F"/>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HOOK · 4 MIN</a:t>
            </a:r>
            <a:endParaRPr lang="en-US" sz="10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200" b="1" dirty="0">
                <a:solidFill>
                  <a:srgbClr val="173B2F"/>
                </a:solidFill>
                <a:latin typeface="Georgia" pitchFamily="34" charset="0"/>
                <a:ea typeface="Georgia" pitchFamily="34" charset="-122"/>
                <a:cs typeface="Georgia" pitchFamily="34" charset="-120"/>
              </a:rPr>
              <a:t>Two kinds of ‘theory’</a:t>
            </a:r>
            <a:endParaRPr lang="en-US" sz="3200" dirty="0"/>
          </a:p>
        </p:txBody>
      </p:sp>
      <p:sp>
        <p:nvSpPr>
          <p:cNvPr id="4" name="Text 2"/>
          <p:cNvSpPr txBox="1"/>
          <p:nvPr/>
        </p:nvSpPr>
        <p:spPr>
          <a:xfrm>
            <a:off x="548640" y="1325880"/>
            <a:ext cx="8046720" cy="320040"/>
          </a:xfrm>
          <a:prstGeom prst="rect">
            <a:avLst/>
          </a:prstGeom>
          <a:noFill/>
          <a:ln/>
        </p:spPr>
        <p:txBody>
          <a:bodyPr wrap="square" lIns="0" tIns="0" rIns="0" bIns="0" rtlCol="0" anchor="ctr"/>
          <a:lstStyle/>
          <a:p>
            <a:pPr indent="0" marL="0">
              <a:buNone/>
            </a:pPr>
            <a:r>
              <a:rPr lang="en-US" sz="1500" dirty="0">
                <a:solidFill>
                  <a:srgbClr val="5C6B63"/>
                </a:solidFill>
                <a:latin typeface="Arial" pitchFamily="34" charset="0"/>
                <a:ea typeface="Arial" pitchFamily="34" charset="-122"/>
                <a:cs typeface="Arial" pitchFamily="34" charset="-120"/>
              </a:rPr>
              <a:t>Which of these would you bet your pocket money on?</a:t>
            </a:r>
            <a:endParaRPr lang="en-US" sz="1500" dirty="0"/>
          </a:p>
        </p:txBody>
      </p:sp>
      <p:sp>
        <p:nvSpPr>
          <p:cNvPr id="5" name="Text 3"/>
          <p:cNvSpPr/>
          <p:nvPr/>
        </p:nvSpPr>
        <p:spPr>
          <a:xfrm>
            <a:off x="548640" y="1828800"/>
            <a:ext cx="3749040" cy="1188720"/>
          </a:xfrm>
          <a:prstGeom prst="wedgeRoundRectCallout">
            <a:avLst/>
          </a:prstGeom>
          <a:solidFill>
            <a:srgbClr val="E4E8E6"/>
          </a:solidFill>
          <a:ln>
            <a:solidFill>
              <a:srgbClr val="E4E8E6"/>
            </a:solidFill>
          </a:ln>
        </p:spPr>
        <p:txBody>
          <a:bodyPr wrap="square" lIns="152400" tIns="152400" rIns="152400" bIns="152400" rtlCol="0" anchor="ctr"/>
          <a:lstStyle/>
          <a:p>
            <a:pPr algn="ctr" indent="0" marL="0">
              <a:buNone/>
            </a:pPr>
            <a:r>
              <a:rPr lang="en-US" sz="1700" i="1" dirty="0">
                <a:solidFill>
                  <a:srgbClr val="173B2F"/>
                </a:solidFill>
                <a:latin typeface="Arial" pitchFamily="34" charset="0"/>
                <a:ea typeface="Arial" pitchFamily="34" charset="-122"/>
                <a:cs typeface="Arial" pitchFamily="34" charset="-120"/>
              </a:rPr>
              <a:t>“My theory is that my brother ate the last biscuit.”</a:t>
            </a:r>
            <a:endParaRPr lang="en-US" sz="1700" dirty="0"/>
          </a:p>
        </p:txBody>
      </p:sp>
      <p:sp>
        <p:nvSpPr>
          <p:cNvPr id="6" name="Text 4"/>
          <p:cNvSpPr/>
          <p:nvPr/>
        </p:nvSpPr>
        <p:spPr>
          <a:xfrm>
            <a:off x="4846320" y="1828800"/>
            <a:ext cx="3749040" cy="1188720"/>
          </a:xfrm>
          <a:prstGeom prst="wedgeRoundRectCallout">
            <a:avLst/>
          </a:prstGeom>
          <a:solidFill>
            <a:srgbClr val="FDF1DE"/>
          </a:solidFill>
          <a:ln>
            <a:solidFill>
              <a:srgbClr val="FDF1DE"/>
            </a:solidFill>
          </a:ln>
        </p:spPr>
        <p:txBody>
          <a:bodyPr wrap="square" lIns="152400" tIns="152400" rIns="152400" bIns="152400" rtlCol="0" anchor="ctr"/>
          <a:lstStyle/>
          <a:p>
            <a:pPr algn="ctr" indent="0" marL="0">
              <a:buNone/>
            </a:pPr>
            <a:r>
              <a:rPr lang="en-US" sz="1700" i="1" dirty="0">
                <a:solidFill>
                  <a:srgbClr val="173B2F"/>
                </a:solidFill>
                <a:latin typeface="Arial" pitchFamily="34" charset="0"/>
                <a:ea typeface="Arial" pitchFamily="34" charset="-122"/>
                <a:cs typeface="Arial" pitchFamily="34" charset="-120"/>
              </a:rPr>
              <a:t>“Particle theory explains why ice melts when you heat it.”</a:t>
            </a:r>
            <a:endParaRPr lang="en-US" sz="1700" dirty="0"/>
          </a:p>
        </p:txBody>
      </p:sp>
      <p:sp>
        <p:nvSpPr>
          <p:cNvPr id="7" name="lab1"/>
          <p:cNvSpPr txBox="1"/>
          <p:nvPr/>
        </p:nvSpPr>
        <p:spPr>
          <a:xfrm>
            <a:off x="548640" y="3337560"/>
            <a:ext cx="3749040" cy="640080"/>
          </a:xfrm>
          <a:prstGeom prst="rect">
            <a:avLst/>
          </a:prstGeom>
          <a:noFill/>
          <a:ln/>
        </p:spPr>
        <p:txBody>
          <a:bodyPr wrap="square" lIns="0" tIns="0" rIns="0" bIns="0" rtlCol="0" anchor="t"/>
          <a:lstStyle/>
          <a:p>
            <a:pPr indent="0" marL="0">
              <a:buNone/>
            </a:pPr>
            <a:r>
              <a:rPr lang="en-US" sz="1400" b="1" spc="50" kern="0" dirty="0">
                <a:solidFill>
                  <a:srgbClr val="5C6B63"/>
                </a:solidFill>
                <a:latin typeface="Arial" pitchFamily="34" charset="0"/>
                <a:ea typeface="Arial" pitchFamily="34" charset="-122"/>
                <a:cs typeface="Arial" pitchFamily="34" charset="-120"/>
              </a:rPr>
              <a:t>EVERYDAY ‘THEORY’</a:t>
            </a:r>
            <a:endParaRPr lang="en-US" sz="1400" dirty="0"/>
          </a:p>
          <a:p>
            <a:pPr indent="0" marL="0">
              <a:buNone/>
            </a:pPr>
            <a:r>
              <a:rPr lang="en-US" sz="1400" spc="50" kern="0" dirty="0">
                <a:solidFill>
                  <a:srgbClr val="173B2F"/>
                </a:solidFill>
                <a:latin typeface="Arial" pitchFamily="34" charset="0"/>
                <a:ea typeface="Arial" pitchFamily="34" charset="-122"/>
                <a:cs typeface="Arial" pitchFamily="34" charset="-120"/>
              </a:rPr>
              <a:t>A hunch. No evidence needed.</a:t>
            </a:r>
            <a:endParaRPr lang="en-US" sz="1400" dirty="0"/>
          </a:p>
        </p:txBody>
      </p:sp>
      <p:sp>
        <p:nvSpPr>
          <p:cNvPr id="8" name="lab2"/>
          <p:cNvSpPr txBox="1"/>
          <p:nvPr/>
        </p:nvSpPr>
        <p:spPr>
          <a:xfrm>
            <a:off x="4846320" y="3337560"/>
            <a:ext cx="3749040" cy="640080"/>
          </a:xfrm>
          <a:prstGeom prst="rect">
            <a:avLst/>
          </a:prstGeom>
          <a:noFill/>
          <a:ln/>
        </p:spPr>
        <p:txBody>
          <a:bodyPr wrap="square" lIns="0" tIns="0" rIns="0" bIns="0" rtlCol="0" anchor="t"/>
          <a:lstStyle/>
          <a:p>
            <a:pPr indent="0" marL="0">
              <a:buNone/>
            </a:pPr>
            <a:r>
              <a:rPr lang="en-US" sz="1400" b="1" spc="50" kern="0" dirty="0">
                <a:solidFill>
                  <a:srgbClr val="A15C07"/>
                </a:solidFill>
                <a:latin typeface="Arial" pitchFamily="34" charset="0"/>
                <a:ea typeface="Arial" pitchFamily="34" charset="-122"/>
                <a:cs typeface="Arial" pitchFamily="34" charset="-120"/>
              </a:rPr>
              <a:t>SCIENTIFIC THEORY</a:t>
            </a:r>
            <a:endParaRPr lang="en-US" sz="1400" dirty="0"/>
          </a:p>
          <a:p>
            <a:pPr indent="0" marL="0">
              <a:buNone/>
            </a:pPr>
            <a:r>
              <a:rPr lang="en-US" sz="1400" spc="50" kern="0" dirty="0">
                <a:solidFill>
                  <a:srgbClr val="173B2F"/>
                </a:solidFill>
                <a:latin typeface="Arial" pitchFamily="34" charset="0"/>
                <a:ea typeface="Arial" pitchFamily="34" charset="-122"/>
                <a:cs typeface="Arial" pitchFamily="34" charset="-120"/>
              </a:rPr>
              <a:t>An explanation tested thousands of times.</a:t>
            </a:r>
            <a:endParaRPr lang="en-US" sz="1400" dirty="0"/>
          </a:p>
        </p:txBody>
      </p:sp>
      <p:sp>
        <p:nvSpPr>
          <p:cNvPr id="9" name="promo"/>
          <p:cNvSpPr txBox="1"/>
          <p:nvPr/>
        </p:nvSpPr>
        <p:spPr>
          <a:xfrm>
            <a:off x="548640" y="4206240"/>
            <a:ext cx="8046720" cy="411480"/>
          </a:xfrm>
          <a:prstGeom prst="rect">
            <a:avLst/>
          </a:prstGeom>
          <a:noFill/>
          <a:ln/>
        </p:spPr>
        <p:txBody>
          <a:bodyPr wrap="square" lIns="0" tIns="0" rIns="0" bIns="0" rtlCol="0" anchor="ctr"/>
          <a:lstStyle/>
          <a:p>
            <a:pPr indent="0" marL="0">
              <a:buNone/>
            </a:pPr>
            <a:r>
              <a:rPr lang="en-US" sz="1600" i="1" dirty="0">
                <a:solidFill>
                  <a:srgbClr val="173B2F"/>
                </a:solidFill>
                <a:latin typeface="Arial" pitchFamily="34" charset="0"/>
                <a:ea typeface="Arial" pitchFamily="34" charset="-122"/>
                <a:cs typeface="Arial" pitchFamily="34" charset="-120"/>
              </a:rPr>
              <a:t>In science, calling an idea a ‘theory’ is a </a:t>
            </a:r>
            <a:pPr indent="0" marL="0">
              <a:buNone/>
            </a:pPr>
            <a:r>
              <a:rPr lang="en-US" sz="1600" b="1" i="1" dirty="0">
                <a:solidFill>
                  <a:srgbClr val="A15C07"/>
                </a:solidFill>
                <a:latin typeface="Arial" pitchFamily="34" charset="0"/>
                <a:ea typeface="Arial" pitchFamily="34" charset="-122"/>
                <a:cs typeface="Arial" pitchFamily="34" charset="-120"/>
              </a:rPr>
              <a:t>promotion</a:t>
            </a:r>
            <a:pPr indent="0" marL="0">
              <a:buNone/>
            </a:pPr>
            <a:r>
              <a:rPr lang="en-US" sz="1600" i="1" dirty="0">
                <a:solidFill>
                  <a:srgbClr val="173B2F"/>
                </a:solidFill>
                <a:latin typeface="Arial" pitchFamily="34" charset="0"/>
                <a:ea typeface="Arial" pitchFamily="34" charset="-122"/>
                <a:cs typeface="Arial" pitchFamily="34" charset="-120"/>
              </a:rPr>
              <a:t>, not an insult.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508760" cy="292608"/>
          </a:xfrm>
          <a:prstGeom prst="roundRect">
            <a:avLst>
              <a:gd name="adj" fmla="val 50000"/>
            </a:avLst>
          </a:prstGeom>
          <a:solidFill>
            <a:srgbClr val="173B2F"/>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I DO · 7 MIN</a:t>
            </a:r>
            <a:endParaRPr lang="en-US" sz="10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200" b="1" dirty="0">
                <a:solidFill>
                  <a:srgbClr val="173B2F"/>
                </a:solidFill>
                <a:latin typeface="Georgia" pitchFamily="34" charset="0"/>
                <a:ea typeface="Georgia" pitchFamily="34" charset="-122"/>
                <a:cs typeface="Georgia" pitchFamily="34" charset="-120"/>
              </a:rPr>
              <a:t>From hunch to theory</a:t>
            </a:r>
            <a:endParaRPr lang="en-US" sz="3200" dirty="0"/>
          </a:p>
        </p:txBody>
      </p:sp>
      <p:grpSp>
        <p:nvGrpSpPr>
          <p:cNvPr id="38" name="g_s0"/>
          <p:cNvGrpSpPr/>
          <p:nvPr/>
        </p:nvGrpSpPr>
        <p:grpSpPr>
          <a:xfrm>
            <a:off x="548640" y="1463040"/>
            <a:ext cx="1143000" cy="1572768"/>
            <a:chOff x="548640" y="1463040"/>
            <a:chExt cx="1143000" cy="1572768"/>
          </a:xfrm>
        </p:grpSpPr>
        <p:sp>
          <p:nvSpPr>
            <p:cNvPr id="4" name="g_s0__bg"/>
            <p:cNvSpPr/>
            <p:nvPr/>
          </p:nvSpPr>
          <p:spPr>
            <a:xfrm>
              <a:off x="548640" y="1463040"/>
              <a:ext cx="1143000" cy="1572768"/>
            </a:xfrm>
            <a:prstGeom prst="roundRect">
              <a:avLst>
                <a:gd name="adj" fmla="val 6400"/>
              </a:avLst>
            </a:prstGeom>
            <a:solidFill>
              <a:srgbClr val="EEF4F0"/>
            </a:solidFill>
            <a:ln w="12700">
              <a:solidFill>
                <a:srgbClr val="EEF4F0"/>
              </a:solidFill>
              <a:prstDash val="solid"/>
            </a:ln>
          </p:spPr>
        </p:sp>
        <p:sp>
          <p:nvSpPr>
            <p:cNvPr id="5" name="g_s0__n"/>
            <p:cNvSpPr/>
            <p:nvPr/>
          </p:nvSpPr>
          <p:spPr>
            <a:xfrm>
              <a:off x="640080" y="1572768"/>
              <a:ext cx="292608" cy="292608"/>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100" b="1" dirty="0">
                  <a:solidFill>
                    <a:srgbClr val="173B2F"/>
                  </a:solidFill>
                  <a:latin typeface="Arial" pitchFamily="34" charset="0"/>
                  <a:ea typeface="Arial" pitchFamily="34" charset="-122"/>
                  <a:cs typeface="Arial" pitchFamily="34" charset="-120"/>
                </a:rPr>
                <a:t>1</a:t>
              </a:r>
              <a:endParaRPr lang="en-US" sz="1100" dirty="0"/>
            </a:p>
          </p:txBody>
        </p:sp>
        <p:sp>
          <p:nvSpPr>
            <p:cNvPr id="6" name="g_s0__h"/>
            <p:cNvSpPr txBox="1"/>
            <p:nvPr/>
          </p:nvSpPr>
          <p:spPr>
            <a:xfrm>
              <a:off x="640080" y="1920240"/>
              <a:ext cx="1005840" cy="256032"/>
            </a:xfrm>
            <a:prstGeom prst="rect">
              <a:avLst/>
            </a:prstGeom>
            <a:noFill/>
            <a:ln/>
          </p:spPr>
          <p:txBody>
            <a:bodyPr wrap="square" lIns="0" tIns="0" rIns="0" bIns="0" rtlCol="0" anchor="ctr"/>
            <a:lstStyle/>
            <a:p>
              <a:pPr indent="0" marL="0">
                <a:buNone/>
              </a:pPr>
              <a:r>
                <a:rPr lang="en-US" sz="1250" b="1" dirty="0">
                  <a:solidFill>
                    <a:srgbClr val="173B2F"/>
                  </a:solidFill>
                  <a:latin typeface="Arial" pitchFamily="34" charset="0"/>
                  <a:ea typeface="Arial" pitchFamily="34" charset="-122"/>
                  <a:cs typeface="Arial" pitchFamily="34" charset="-120"/>
                </a:rPr>
                <a:t>Observe</a:t>
              </a:r>
              <a:endParaRPr lang="en-US" sz="1250" dirty="0"/>
            </a:p>
          </p:txBody>
        </p:sp>
        <p:sp>
          <p:nvSpPr>
            <p:cNvPr id="7" name="g_s0__t"/>
            <p:cNvSpPr txBox="1"/>
            <p:nvPr/>
          </p:nvSpPr>
          <p:spPr>
            <a:xfrm>
              <a:off x="640080" y="2194560"/>
              <a:ext cx="1005840" cy="777240"/>
            </a:xfrm>
            <a:prstGeom prst="rect">
              <a:avLst/>
            </a:prstGeom>
            <a:noFill/>
            <a:ln/>
          </p:spPr>
          <p:txBody>
            <a:bodyPr wrap="square" lIns="0" tIns="0" rIns="0" bIns="0" rtlCol="0" anchor="t"/>
            <a:lstStyle/>
            <a:p>
              <a:pPr indent="0" marL="0">
                <a:buNone/>
              </a:pPr>
              <a:r>
                <a:rPr lang="en-US" sz="1050" dirty="0">
                  <a:solidFill>
                    <a:srgbClr val="5C6B63"/>
                  </a:solidFill>
                  <a:latin typeface="Arial" pitchFamily="34" charset="0"/>
                  <a:ea typeface="Arial" pitchFamily="34" charset="-122"/>
                  <a:cs typeface="Arial" pitchFamily="34" charset="-120"/>
                </a:rPr>
                <a:t>Plants on the windowsill lean towards the glass.</a:t>
              </a:r>
              <a:endParaRPr lang="en-US" sz="1050" dirty="0"/>
            </a:p>
          </p:txBody>
        </p:sp>
      </p:grpSp>
      <p:sp>
        <p:nvSpPr>
          <p:cNvPr id="8" name="chev0"/>
          <p:cNvSpPr/>
          <p:nvPr/>
        </p:nvSpPr>
        <p:spPr>
          <a:xfrm>
            <a:off x="1737360" y="2011680"/>
            <a:ext cx="146304" cy="274320"/>
          </a:xfrm>
          <a:prstGeom prst="chevron">
            <a:avLst/>
          </a:prstGeom>
          <a:solidFill>
            <a:srgbClr val="B7C6BD"/>
          </a:solidFill>
          <a:ln w="12700">
            <a:solidFill>
              <a:srgbClr val="B7C6BD"/>
            </a:solidFill>
            <a:prstDash val="solid"/>
          </a:ln>
        </p:spPr>
      </p:sp>
      <p:grpSp>
        <p:nvGrpSpPr>
          <p:cNvPr id="39" name="g_s1"/>
          <p:cNvGrpSpPr/>
          <p:nvPr/>
        </p:nvGrpSpPr>
        <p:grpSpPr>
          <a:xfrm>
            <a:off x="1929384" y="1463040"/>
            <a:ext cx="1143000" cy="1572768"/>
            <a:chOff x="1929384" y="1463040"/>
            <a:chExt cx="1143000" cy="1572768"/>
          </a:xfrm>
        </p:grpSpPr>
        <p:sp>
          <p:nvSpPr>
            <p:cNvPr id="9" name="g_s1__bg"/>
            <p:cNvSpPr/>
            <p:nvPr/>
          </p:nvSpPr>
          <p:spPr>
            <a:xfrm>
              <a:off x="1929384" y="1463040"/>
              <a:ext cx="1143000" cy="1572768"/>
            </a:xfrm>
            <a:prstGeom prst="roundRect">
              <a:avLst>
                <a:gd name="adj" fmla="val 6400"/>
              </a:avLst>
            </a:prstGeom>
            <a:solidFill>
              <a:srgbClr val="EEF4F0"/>
            </a:solidFill>
            <a:ln w="12700">
              <a:solidFill>
                <a:srgbClr val="EEF4F0"/>
              </a:solidFill>
              <a:prstDash val="solid"/>
            </a:ln>
          </p:spPr>
        </p:sp>
        <p:sp>
          <p:nvSpPr>
            <p:cNvPr id="10" name="g_s1__n"/>
            <p:cNvSpPr/>
            <p:nvPr/>
          </p:nvSpPr>
          <p:spPr>
            <a:xfrm>
              <a:off x="2020824" y="1572768"/>
              <a:ext cx="292608" cy="292608"/>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100" b="1" dirty="0">
                  <a:solidFill>
                    <a:srgbClr val="173B2F"/>
                  </a:solidFill>
                  <a:latin typeface="Arial" pitchFamily="34" charset="0"/>
                  <a:ea typeface="Arial" pitchFamily="34" charset="-122"/>
                  <a:cs typeface="Arial" pitchFamily="34" charset="-120"/>
                </a:rPr>
                <a:t>2</a:t>
              </a:r>
              <a:endParaRPr lang="en-US" sz="1100" dirty="0"/>
            </a:p>
          </p:txBody>
        </p:sp>
        <p:sp>
          <p:nvSpPr>
            <p:cNvPr id="11" name="g_s1__h"/>
            <p:cNvSpPr txBox="1"/>
            <p:nvPr/>
          </p:nvSpPr>
          <p:spPr>
            <a:xfrm>
              <a:off x="2020824" y="1920240"/>
              <a:ext cx="1005840" cy="256032"/>
            </a:xfrm>
            <a:prstGeom prst="rect">
              <a:avLst/>
            </a:prstGeom>
            <a:noFill/>
            <a:ln/>
          </p:spPr>
          <p:txBody>
            <a:bodyPr wrap="square" lIns="0" tIns="0" rIns="0" bIns="0" rtlCol="0" anchor="ctr"/>
            <a:lstStyle/>
            <a:p>
              <a:pPr indent="0" marL="0">
                <a:buNone/>
              </a:pPr>
              <a:r>
                <a:rPr lang="en-US" sz="1250" b="1" dirty="0">
                  <a:solidFill>
                    <a:srgbClr val="173B2F"/>
                  </a:solidFill>
                  <a:latin typeface="Arial" pitchFamily="34" charset="0"/>
                  <a:ea typeface="Arial" pitchFamily="34" charset="-122"/>
                  <a:cs typeface="Arial" pitchFamily="34" charset="-120"/>
                </a:rPr>
                <a:t>Question</a:t>
              </a:r>
              <a:endParaRPr lang="en-US" sz="1250" dirty="0"/>
            </a:p>
          </p:txBody>
        </p:sp>
        <p:sp>
          <p:nvSpPr>
            <p:cNvPr id="12" name="g_s1__t"/>
            <p:cNvSpPr txBox="1"/>
            <p:nvPr/>
          </p:nvSpPr>
          <p:spPr>
            <a:xfrm>
              <a:off x="2020824" y="2194560"/>
              <a:ext cx="1005840" cy="777240"/>
            </a:xfrm>
            <a:prstGeom prst="rect">
              <a:avLst/>
            </a:prstGeom>
            <a:noFill/>
            <a:ln/>
          </p:spPr>
          <p:txBody>
            <a:bodyPr wrap="square" lIns="0" tIns="0" rIns="0" bIns="0" rtlCol="0" anchor="t"/>
            <a:lstStyle/>
            <a:p>
              <a:pPr indent="0" marL="0">
                <a:buNone/>
              </a:pPr>
              <a:r>
                <a:rPr lang="en-US" sz="1050" dirty="0">
                  <a:solidFill>
                    <a:srgbClr val="5C6B63"/>
                  </a:solidFill>
                  <a:latin typeface="Arial" pitchFamily="34" charset="0"/>
                  <a:ea typeface="Arial" pitchFamily="34" charset="-122"/>
                  <a:cs typeface="Arial" pitchFamily="34" charset="-120"/>
                </a:rPr>
                <a:t>Why do they lean that way?</a:t>
              </a:r>
              <a:endParaRPr lang="en-US" sz="1050" dirty="0"/>
            </a:p>
          </p:txBody>
        </p:sp>
      </p:grpSp>
      <p:sp>
        <p:nvSpPr>
          <p:cNvPr id="13" name="chev1"/>
          <p:cNvSpPr/>
          <p:nvPr/>
        </p:nvSpPr>
        <p:spPr>
          <a:xfrm>
            <a:off x="3118104" y="2011680"/>
            <a:ext cx="146304" cy="274320"/>
          </a:xfrm>
          <a:prstGeom prst="chevron">
            <a:avLst/>
          </a:prstGeom>
          <a:solidFill>
            <a:srgbClr val="B7C6BD"/>
          </a:solidFill>
          <a:ln w="12700">
            <a:solidFill>
              <a:srgbClr val="B7C6BD"/>
            </a:solidFill>
            <a:prstDash val="solid"/>
          </a:ln>
        </p:spPr>
      </p:sp>
      <p:grpSp>
        <p:nvGrpSpPr>
          <p:cNvPr id="40" name="g_s2"/>
          <p:cNvGrpSpPr/>
          <p:nvPr/>
        </p:nvGrpSpPr>
        <p:grpSpPr>
          <a:xfrm>
            <a:off x="3310128" y="1463040"/>
            <a:ext cx="1143000" cy="1572768"/>
            <a:chOff x="3310128" y="1463040"/>
            <a:chExt cx="1143000" cy="1572768"/>
          </a:xfrm>
        </p:grpSpPr>
        <p:sp>
          <p:nvSpPr>
            <p:cNvPr id="14" name="g_s2__bg"/>
            <p:cNvSpPr/>
            <p:nvPr/>
          </p:nvSpPr>
          <p:spPr>
            <a:xfrm>
              <a:off x="3310128" y="1463040"/>
              <a:ext cx="1143000" cy="1572768"/>
            </a:xfrm>
            <a:prstGeom prst="roundRect">
              <a:avLst>
                <a:gd name="adj" fmla="val 6400"/>
              </a:avLst>
            </a:prstGeom>
            <a:solidFill>
              <a:srgbClr val="EEF4F0"/>
            </a:solidFill>
            <a:ln w="12700">
              <a:solidFill>
                <a:srgbClr val="EEF4F0"/>
              </a:solidFill>
              <a:prstDash val="solid"/>
            </a:ln>
          </p:spPr>
        </p:sp>
        <p:sp>
          <p:nvSpPr>
            <p:cNvPr id="15" name="g_s2__n"/>
            <p:cNvSpPr/>
            <p:nvPr/>
          </p:nvSpPr>
          <p:spPr>
            <a:xfrm>
              <a:off x="3401568" y="1572768"/>
              <a:ext cx="292608" cy="292608"/>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100" b="1" dirty="0">
                  <a:solidFill>
                    <a:srgbClr val="173B2F"/>
                  </a:solidFill>
                  <a:latin typeface="Arial" pitchFamily="34" charset="0"/>
                  <a:ea typeface="Arial" pitchFamily="34" charset="-122"/>
                  <a:cs typeface="Arial" pitchFamily="34" charset="-120"/>
                </a:rPr>
                <a:t>3</a:t>
              </a:r>
              <a:endParaRPr lang="en-US" sz="1100" dirty="0"/>
            </a:p>
          </p:txBody>
        </p:sp>
        <p:sp>
          <p:nvSpPr>
            <p:cNvPr id="16" name="g_s2__h"/>
            <p:cNvSpPr txBox="1"/>
            <p:nvPr/>
          </p:nvSpPr>
          <p:spPr>
            <a:xfrm>
              <a:off x="3401568" y="1920240"/>
              <a:ext cx="1005840" cy="256032"/>
            </a:xfrm>
            <a:prstGeom prst="rect">
              <a:avLst/>
            </a:prstGeom>
            <a:noFill/>
            <a:ln/>
          </p:spPr>
          <p:txBody>
            <a:bodyPr wrap="square" lIns="0" tIns="0" rIns="0" bIns="0" rtlCol="0" anchor="ctr"/>
            <a:lstStyle/>
            <a:p>
              <a:pPr indent="0" marL="0">
                <a:buNone/>
              </a:pPr>
              <a:r>
                <a:rPr lang="en-US" sz="1250" b="1" dirty="0">
                  <a:solidFill>
                    <a:srgbClr val="173B2F"/>
                  </a:solidFill>
                  <a:latin typeface="Arial" pitchFamily="34" charset="0"/>
                  <a:ea typeface="Arial" pitchFamily="34" charset="-122"/>
                  <a:cs typeface="Arial" pitchFamily="34" charset="-120"/>
                </a:rPr>
                <a:t>Hypothesis</a:t>
              </a:r>
              <a:endParaRPr lang="en-US" sz="1250" dirty="0"/>
            </a:p>
          </p:txBody>
        </p:sp>
        <p:sp>
          <p:nvSpPr>
            <p:cNvPr id="17" name="g_s2__t"/>
            <p:cNvSpPr txBox="1"/>
            <p:nvPr/>
          </p:nvSpPr>
          <p:spPr>
            <a:xfrm>
              <a:off x="3401568" y="2194560"/>
              <a:ext cx="1005840" cy="777240"/>
            </a:xfrm>
            <a:prstGeom prst="rect">
              <a:avLst/>
            </a:prstGeom>
            <a:noFill/>
            <a:ln/>
          </p:spPr>
          <p:txBody>
            <a:bodyPr wrap="square" lIns="0" tIns="0" rIns="0" bIns="0" rtlCol="0" anchor="t"/>
            <a:lstStyle/>
            <a:p>
              <a:pPr indent="0" marL="0">
                <a:buNone/>
              </a:pPr>
              <a:r>
                <a:rPr lang="en-US" sz="1050" dirty="0">
                  <a:solidFill>
                    <a:srgbClr val="5C6B63"/>
                  </a:solidFill>
                  <a:latin typeface="Arial" pitchFamily="34" charset="0"/>
                  <a:ea typeface="Arial" pitchFamily="34" charset="-122"/>
                  <a:cs typeface="Arial" pitchFamily="34" charset="-120"/>
                </a:rPr>
                <a:t>Plants grow towards light.</a:t>
              </a:r>
              <a:endParaRPr lang="en-US" sz="1050" dirty="0"/>
            </a:p>
          </p:txBody>
        </p:sp>
      </p:grpSp>
      <p:sp>
        <p:nvSpPr>
          <p:cNvPr id="18" name="chev2"/>
          <p:cNvSpPr/>
          <p:nvPr/>
        </p:nvSpPr>
        <p:spPr>
          <a:xfrm>
            <a:off x="4498848" y="2011680"/>
            <a:ext cx="146304" cy="274320"/>
          </a:xfrm>
          <a:prstGeom prst="chevron">
            <a:avLst/>
          </a:prstGeom>
          <a:solidFill>
            <a:srgbClr val="B7C6BD"/>
          </a:solidFill>
          <a:ln w="12700">
            <a:solidFill>
              <a:srgbClr val="B7C6BD"/>
            </a:solidFill>
            <a:prstDash val="solid"/>
          </a:ln>
        </p:spPr>
      </p:sp>
      <p:grpSp>
        <p:nvGrpSpPr>
          <p:cNvPr id="41" name="g_s3"/>
          <p:cNvGrpSpPr/>
          <p:nvPr/>
        </p:nvGrpSpPr>
        <p:grpSpPr>
          <a:xfrm>
            <a:off x="4690872" y="1463040"/>
            <a:ext cx="1143000" cy="1572768"/>
            <a:chOff x="4690872" y="1463040"/>
            <a:chExt cx="1143000" cy="1572768"/>
          </a:xfrm>
        </p:grpSpPr>
        <p:sp>
          <p:nvSpPr>
            <p:cNvPr id="19" name="g_s3__bg"/>
            <p:cNvSpPr/>
            <p:nvPr/>
          </p:nvSpPr>
          <p:spPr>
            <a:xfrm>
              <a:off x="4690872" y="1463040"/>
              <a:ext cx="1143000" cy="1572768"/>
            </a:xfrm>
            <a:prstGeom prst="roundRect">
              <a:avLst>
                <a:gd name="adj" fmla="val 6400"/>
              </a:avLst>
            </a:prstGeom>
            <a:solidFill>
              <a:srgbClr val="EEF4F0"/>
            </a:solidFill>
            <a:ln w="12700">
              <a:solidFill>
                <a:srgbClr val="EEF4F0"/>
              </a:solidFill>
              <a:prstDash val="solid"/>
            </a:ln>
          </p:spPr>
        </p:sp>
        <p:sp>
          <p:nvSpPr>
            <p:cNvPr id="20" name="g_s3__n"/>
            <p:cNvSpPr/>
            <p:nvPr/>
          </p:nvSpPr>
          <p:spPr>
            <a:xfrm>
              <a:off x="4782312" y="1572768"/>
              <a:ext cx="292608" cy="292608"/>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100" b="1" dirty="0">
                  <a:solidFill>
                    <a:srgbClr val="173B2F"/>
                  </a:solidFill>
                  <a:latin typeface="Arial" pitchFamily="34" charset="0"/>
                  <a:ea typeface="Arial" pitchFamily="34" charset="-122"/>
                  <a:cs typeface="Arial" pitchFamily="34" charset="-120"/>
                </a:rPr>
                <a:t>4</a:t>
              </a:r>
              <a:endParaRPr lang="en-US" sz="1100" dirty="0"/>
            </a:p>
          </p:txBody>
        </p:sp>
        <p:sp>
          <p:nvSpPr>
            <p:cNvPr id="21" name="g_s3__h"/>
            <p:cNvSpPr txBox="1"/>
            <p:nvPr/>
          </p:nvSpPr>
          <p:spPr>
            <a:xfrm>
              <a:off x="4782312" y="1920240"/>
              <a:ext cx="1005840" cy="256032"/>
            </a:xfrm>
            <a:prstGeom prst="rect">
              <a:avLst/>
            </a:prstGeom>
            <a:noFill/>
            <a:ln/>
          </p:spPr>
          <p:txBody>
            <a:bodyPr wrap="square" lIns="0" tIns="0" rIns="0" bIns="0" rtlCol="0" anchor="ctr"/>
            <a:lstStyle/>
            <a:p>
              <a:pPr indent="0" marL="0">
                <a:buNone/>
              </a:pPr>
              <a:r>
                <a:rPr lang="en-US" sz="1250" b="1" dirty="0">
                  <a:solidFill>
                    <a:srgbClr val="173B2F"/>
                  </a:solidFill>
                  <a:latin typeface="Arial" pitchFamily="34" charset="0"/>
                  <a:ea typeface="Arial" pitchFamily="34" charset="-122"/>
                  <a:cs typeface="Arial" pitchFamily="34" charset="-120"/>
                </a:rPr>
                <a:t>Predict</a:t>
              </a:r>
              <a:endParaRPr lang="en-US" sz="1250" dirty="0"/>
            </a:p>
          </p:txBody>
        </p:sp>
        <p:sp>
          <p:nvSpPr>
            <p:cNvPr id="22" name="g_s3__t"/>
            <p:cNvSpPr txBox="1"/>
            <p:nvPr/>
          </p:nvSpPr>
          <p:spPr>
            <a:xfrm>
              <a:off x="4782312" y="2194560"/>
              <a:ext cx="1005840" cy="777240"/>
            </a:xfrm>
            <a:prstGeom prst="rect">
              <a:avLst/>
            </a:prstGeom>
            <a:noFill/>
            <a:ln/>
          </p:spPr>
          <p:txBody>
            <a:bodyPr wrap="square" lIns="0" tIns="0" rIns="0" bIns="0" rtlCol="0" anchor="t"/>
            <a:lstStyle/>
            <a:p>
              <a:pPr indent="0" marL="0">
                <a:buNone/>
              </a:pPr>
              <a:r>
                <a:rPr lang="en-US" sz="1050" dirty="0">
                  <a:solidFill>
                    <a:srgbClr val="5C6B63"/>
                  </a:solidFill>
                  <a:latin typeface="Arial" pitchFamily="34" charset="0"/>
                  <a:ea typeface="Arial" pitchFamily="34" charset="-122"/>
                  <a:cs typeface="Arial" pitchFamily="34" charset="-120"/>
                </a:rPr>
                <a:t>Light from one side will make a plant bend that way.</a:t>
              </a:r>
              <a:endParaRPr lang="en-US" sz="1050" dirty="0"/>
            </a:p>
          </p:txBody>
        </p:sp>
      </p:grpSp>
      <p:sp>
        <p:nvSpPr>
          <p:cNvPr id="23" name="chev3"/>
          <p:cNvSpPr/>
          <p:nvPr/>
        </p:nvSpPr>
        <p:spPr>
          <a:xfrm>
            <a:off x="5879592" y="2011680"/>
            <a:ext cx="146304" cy="274320"/>
          </a:xfrm>
          <a:prstGeom prst="chevron">
            <a:avLst/>
          </a:prstGeom>
          <a:solidFill>
            <a:srgbClr val="B7C6BD"/>
          </a:solidFill>
          <a:ln w="12700">
            <a:solidFill>
              <a:srgbClr val="B7C6BD"/>
            </a:solidFill>
            <a:prstDash val="solid"/>
          </a:ln>
        </p:spPr>
      </p:sp>
      <p:grpSp>
        <p:nvGrpSpPr>
          <p:cNvPr id="42" name="g_s4"/>
          <p:cNvGrpSpPr/>
          <p:nvPr/>
        </p:nvGrpSpPr>
        <p:grpSpPr>
          <a:xfrm>
            <a:off x="6071616" y="1463040"/>
            <a:ext cx="1143000" cy="1572768"/>
            <a:chOff x="6071616" y="1463040"/>
            <a:chExt cx="1143000" cy="1572768"/>
          </a:xfrm>
        </p:grpSpPr>
        <p:sp>
          <p:nvSpPr>
            <p:cNvPr id="24" name="g_s4__bg"/>
            <p:cNvSpPr/>
            <p:nvPr/>
          </p:nvSpPr>
          <p:spPr>
            <a:xfrm>
              <a:off x="6071616" y="1463040"/>
              <a:ext cx="1143000" cy="1572768"/>
            </a:xfrm>
            <a:prstGeom prst="roundRect">
              <a:avLst>
                <a:gd name="adj" fmla="val 6400"/>
              </a:avLst>
            </a:prstGeom>
            <a:solidFill>
              <a:srgbClr val="EEF4F0"/>
            </a:solidFill>
            <a:ln w="12700">
              <a:solidFill>
                <a:srgbClr val="EEF4F0"/>
              </a:solidFill>
              <a:prstDash val="solid"/>
            </a:ln>
          </p:spPr>
        </p:sp>
        <p:sp>
          <p:nvSpPr>
            <p:cNvPr id="25" name="g_s4__n"/>
            <p:cNvSpPr/>
            <p:nvPr/>
          </p:nvSpPr>
          <p:spPr>
            <a:xfrm>
              <a:off x="6163056" y="1572768"/>
              <a:ext cx="292608" cy="292608"/>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100" b="1" dirty="0">
                  <a:solidFill>
                    <a:srgbClr val="173B2F"/>
                  </a:solidFill>
                  <a:latin typeface="Arial" pitchFamily="34" charset="0"/>
                  <a:ea typeface="Arial" pitchFamily="34" charset="-122"/>
                  <a:cs typeface="Arial" pitchFamily="34" charset="-120"/>
                </a:rPr>
                <a:t>5</a:t>
              </a:r>
              <a:endParaRPr lang="en-US" sz="1100" dirty="0"/>
            </a:p>
          </p:txBody>
        </p:sp>
        <p:sp>
          <p:nvSpPr>
            <p:cNvPr id="26" name="g_s4__h"/>
            <p:cNvSpPr txBox="1"/>
            <p:nvPr/>
          </p:nvSpPr>
          <p:spPr>
            <a:xfrm>
              <a:off x="6163056" y="1920240"/>
              <a:ext cx="1005840" cy="256032"/>
            </a:xfrm>
            <a:prstGeom prst="rect">
              <a:avLst/>
            </a:prstGeom>
            <a:noFill/>
            <a:ln/>
          </p:spPr>
          <p:txBody>
            <a:bodyPr wrap="square" lIns="0" tIns="0" rIns="0" bIns="0" rtlCol="0" anchor="ctr"/>
            <a:lstStyle/>
            <a:p>
              <a:pPr indent="0" marL="0">
                <a:buNone/>
              </a:pPr>
              <a:r>
                <a:rPr lang="en-US" sz="1250" b="1" dirty="0">
                  <a:solidFill>
                    <a:srgbClr val="173B2F"/>
                  </a:solidFill>
                  <a:latin typeface="Arial" pitchFamily="34" charset="0"/>
                  <a:ea typeface="Arial" pitchFamily="34" charset="-122"/>
                  <a:cs typeface="Arial" pitchFamily="34" charset="-120"/>
                </a:rPr>
                <a:t>Test</a:t>
              </a:r>
              <a:endParaRPr lang="en-US" sz="1250" dirty="0"/>
            </a:p>
          </p:txBody>
        </p:sp>
        <p:sp>
          <p:nvSpPr>
            <p:cNvPr id="27" name="g_s4__t"/>
            <p:cNvSpPr txBox="1"/>
            <p:nvPr/>
          </p:nvSpPr>
          <p:spPr>
            <a:xfrm>
              <a:off x="6163056" y="2194560"/>
              <a:ext cx="1005840" cy="777240"/>
            </a:xfrm>
            <a:prstGeom prst="rect">
              <a:avLst/>
            </a:prstGeom>
            <a:noFill/>
            <a:ln/>
          </p:spPr>
          <p:txBody>
            <a:bodyPr wrap="square" lIns="0" tIns="0" rIns="0" bIns="0" rtlCol="0" anchor="t"/>
            <a:lstStyle/>
            <a:p>
              <a:pPr indent="0" marL="0">
                <a:buNone/>
              </a:pPr>
              <a:r>
                <a:rPr lang="en-US" sz="1050" dirty="0">
                  <a:solidFill>
                    <a:srgbClr val="5C6B63"/>
                  </a:solidFill>
                  <a:latin typeface="Arial" pitchFamily="34" charset="0"/>
                  <a:ea typeface="Arial" pitchFamily="34" charset="-122"/>
                  <a:cs typeface="Arial" pitchFamily="34" charset="-120"/>
                </a:rPr>
                <a:t>Grow seedlings in a box lit from one side.</a:t>
              </a:r>
              <a:endParaRPr lang="en-US" sz="1050" dirty="0"/>
            </a:p>
          </p:txBody>
        </p:sp>
      </p:grpSp>
      <p:sp>
        <p:nvSpPr>
          <p:cNvPr id="28" name="chev4"/>
          <p:cNvSpPr/>
          <p:nvPr/>
        </p:nvSpPr>
        <p:spPr>
          <a:xfrm>
            <a:off x="7260336" y="2011680"/>
            <a:ext cx="146304" cy="274320"/>
          </a:xfrm>
          <a:prstGeom prst="chevron">
            <a:avLst/>
          </a:prstGeom>
          <a:solidFill>
            <a:srgbClr val="B7C6BD"/>
          </a:solidFill>
          <a:ln w="12700">
            <a:solidFill>
              <a:srgbClr val="B7C6BD"/>
            </a:solidFill>
            <a:prstDash val="solid"/>
          </a:ln>
        </p:spPr>
      </p:sp>
      <p:grpSp>
        <p:nvGrpSpPr>
          <p:cNvPr id="43" name="g_s5"/>
          <p:cNvGrpSpPr/>
          <p:nvPr/>
        </p:nvGrpSpPr>
        <p:grpSpPr>
          <a:xfrm>
            <a:off x="7452360" y="1463040"/>
            <a:ext cx="1143000" cy="1572768"/>
            <a:chOff x="7452360" y="1463040"/>
            <a:chExt cx="1143000" cy="1572768"/>
          </a:xfrm>
        </p:grpSpPr>
        <p:sp>
          <p:nvSpPr>
            <p:cNvPr id="29" name="g_s5__bg"/>
            <p:cNvSpPr/>
            <p:nvPr/>
          </p:nvSpPr>
          <p:spPr>
            <a:xfrm>
              <a:off x="7452360" y="1463040"/>
              <a:ext cx="1143000" cy="1572768"/>
            </a:xfrm>
            <a:prstGeom prst="roundRect">
              <a:avLst>
                <a:gd name="adj" fmla="val 6400"/>
              </a:avLst>
            </a:prstGeom>
            <a:solidFill>
              <a:srgbClr val="EEF4F0"/>
            </a:solidFill>
            <a:ln w="12700">
              <a:solidFill>
                <a:srgbClr val="EEF4F0"/>
              </a:solidFill>
              <a:prstDash val="solid"/>
            </a:ln>
          </p:spPr>
        </p:sp>
        <p:sp>
          <p:nvSpPr>
            <p:cNvPr id="30" name="g_s5__n"/>
            <p:cNvSpPr/>
            <p:nvPr/>
          </p:nvSpPr>
          <p:spPr>
            <a:xfrm>
              <a:off x="7543800" y="1572768"/>
              <a:ext cx="292608" cy="292608"/>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100" b="1" dirty="0">
                  <a:solidFill>
                    <a:srgbClr val="173B2F"/>
                  </a:solidFill>
                  <a:latin typeface="Arial" pitchFamily="34" charset="0"/>
                  <a:ea typeface="Arial" pitchFamily="34" charset="-122"/>
                  <a:cs typeface="Arial" pitchFamily="34" charset="-120"/>
                </a:rPr>
                <a:t>6</a:t>
              </a:r>
              <a:endParaRPr lang="en-US" sz="1100" dirty="0"/>
            </a:p>
          </p:txBody>
        </p:sp>
        <p:sp>
          <p:nvSpPr>
            <p:cNvPr id="31" name="g_s5__h"/>
            <p:cNvSpPr txBox="1"/>
            <p:nvPr/>
          </p:nvSpPr>
          <p:spPr>
            <a:xfrm>
              <a:off x="7543800" y="1920240"/>
              <a:ext cx="1005840" cy="256032"/>
            </a:xfrm>
            <a:prstGeom prst="rect">
              <a:avLst/>
            </a:prstGeom>
            <a:noFill/>
            <a:ln/>
          </p:spPr>
          <p:txBody>
            <a:bodyPr wrap="square" lIns="0" tIns="0" rIns="0" bIns="0" rtlCol="0" anchor="ctr"/>
            <a:lstStyle/>
            <a:p>
              <a:pPr indent="0" marL="0">
                <a:buNone/>
              </a:pPr>
              <a:r>
                <a:rPr lang="en-US" sz="1250" b="1" dirty="0">
                  <a:solidFill>
                    <a:srgbClr val="173B2F"/>
                  </a:solidFill>
                  <a:latin typeface="Arial" pitchFamily="34" charset="0"/>
                  <a:ea typeface="Arial" pitchFamily="34" charset="-122"/>
                  <a:cs typeface="Arial" pitchFamily="34" charset="-120"/>
                </a:rPr>
                <a:t>Evidence</a:t>
              </a:r>
              <a:endParaRPr lang="en-US" sz="1250" dirty="0"/>
            </a:p>
          </p:txBody>
        </p:sp>
        <p:sp>
          <p:nvSpPr>
            <p:cNvPr id="32" name="g_s5__t"/>
            <p:cNvSpPr txBox="1"/>
            <p:nvPr/>
          </p:nvSpPr>
          <p:spPr>
            <a:xfrm>
              <a:off x="7543800" y="2194560"/>
              <a:ext cx="1005840" cy="777240"/>
            </a:xfrm>
            <a:prstGeom prst="rect">
              <a:avLst/>
            </a:prstGeom>
            <a:noFill/>
            <a:ln/>
          </p:spPr>
          <p:txBody>
            <a:bodyPr wrap="square" lIns="0" tIns="0" rIns="0" bIns="0" rtlCol="0" anchor="t"/>
            <a:lstStyle/>
            <a:p>
              <a:pPr indent="0" marL="0">
                <a:buNone/>
              </a:pPr>
              <a:r>
                <a:rPr lang="en-US" sz="1050" dirty="0">
                  <a:solidFill>
                    <a:srgbClr val="5C6B63"/>
                  </a:solidFill>
                  <a:latin typeface="Arial" pitchFamily="34" charset="0"/>
                  <a:ea typeface="Arial" pitchFamily="34" charset="-122"/>
                  <a:cs typeface="Arial" pitchFamily="34" charset="-120"/>
                </a:rPr>
                <a:t>They bend towards the light, every time.</a:t>
              </a:r>
              <a:endParaRPr lang="en-US" sz="1050" dirty="0"/>
            </a:p>
          </p:txBody>
        </p:sp>
      </p:grpSp>
      <p:grpSp>
        <p:nvGrpSpPr>
          <p:cNvPr id="44" name="g_loop"/>
          <p:cNvGrpSpPr/>
          <p:nvPr/>
        </p:nvGrpSpPr>
        <p:grpSpPr>
          <a:xfrm>
            <a:off x="3881628" y="3081528"/>
            <a:ext cx="4142232" cy="566928"/>
            <a:chOff x="3881628" y="3081528"/>
            <a:chExt cx="4142232" cy="566928"/>
          </a:xfrm>
        </p:grpSpPr>
        <p:sp>
          <p:nvSpPr>
            <p:cNvPr id="33" name="g_loop__l1"/>
            <p:cNvSpPr/>
            <p:nvPr/>
          </p:nvSpPr>
          <p:spPr>
            <a:xfrm>
              <a:off x="8023860" y="3081528"/>
              <a:ext cx="0" cy="228600"/>
            </a:xfrm>
            <a:prstGeom prst="line">
              <a:avLst/>
            </a:prstGeom>
            <a:noFill/>
            <a:ln w="22225">
              <a:solidFill>
                <a:srgbClr val="2F6B55"/>
              </a:solidFill>
              <a:prstDash val="solid"/>
            </a:ln>
          </p:spPr>
        </p:sp>
        <p:sp>
          <p:nvSpPr>
            <p:cNvPr id="34" name="g_loop__l2"/>
            <p:cNvSpPr/>
            <p:nvPr/>
          </p:nvSpPr>
          <p:spPr>
            <a:xfrm flipH="1">
              <a:off x="3881628" y="3310128"/>
              <a:ext cx="4142232" cy="0"/>
            </a:xfrm>
            <a:prstGeom prst="line">
              <a:avLst/>
            </a:prstGeom>
            <a:noFill/>
            <a:ln w="22225">
              <a:solidFill>
                <a:srgbClr val="2F6B55"/>
              </a:solidFill>
              <a:prstDash val="solid"/>
            </a:ln>
          </p:spPr>
        </p:sp>
        <p:sp>
          <p:nvSpPr>
            <p:cNvPr id="35" name="g_loop__l3"/>
            <p:cNvSpPr/>
            <p:nvPr/>
          </p:nvSpPr>
          <p:spPr>
            <a:xfrm flipV="1">
              <a:off x="3881628" y="3081528"/>
              <a:ext cx="0" cy="228600"/>
            </a:xfrm>
            <a:prstGeom prst="line">
              <a:avLst/>
            </a:prstGeom>
            <a:noFill/>
            <a:ln w="22225">
              <a:solidFill>
                <a:srgbClr val="2F6B55"/>
              </a:solidFill>
              <a:prstDash val="solid"/>
              <a:tailEnd type="triangle"/>
            </a:ln>
          </p:spPr>
        </p:sp>
        <p:sp>
          <p:nvSpPr>
            <p:cNvPr id="36" name="g_loop__lab"/>
            <p:cNvSpPr txBox="1"/>
            <p:nvPr/>
          </p:nvSpPr>
          <p:spPr>
            <a:xfrm>
              <a:off x="4018788" y="3374136"/>
              <a:ext cx="3867912" cy="274320"/>
            </a:xfrm>
            <a:prstGeom prst="rect">
              <a:avLst/>
            </a:prstGeom>
            <a:noFill/>
            <a:ln/>
          </p:spPr>
          <p:txBody>
            <a:bodyPr wrap="square" lIns="0" tIns="0" rIns="0" bIns="0" rtlCol="0" anchor="ctr"/>
            <a:lstStyle/>
            <a:p>
              <a:pPr algn="ctr" indent="0" marL="0">
                <a:buNone/>
              </a:pPr>
              <a:r>
                <a:rPr lang="en-US" sz="1150" i="1" dirty="0">
                  <a:solidFill>
                    <a:srgbClr val="2F6B55"/>
                  </a:solidFill>
                  <a:latin typeface="Arial" pitchFamily="34" charset="0"/>
                  <a:ea typeface="Arial" pitchFamily="34" charset="-122"/>
                  <a:cs typeface="Arial" pitchFamily="34" charset="-120"/>
                </a:rPr>
                <a:t>Doesn’t fit? Change the hypothesis and test again.</a:t>
              </a:r>
              <a:endParaRPr lang="en-US" sz="1150" dirty="0"/>
            </a:p>
          </p:txBody>
        </p:sp>
      </p:grpSp>
      <p:sp>
        <p:nvSpPr>
          <p:cNvPr id="37" name="banner"/>
          <p:cNvSpPr/>
          <p:nvPr/>
        </p:nvSpPr>
        <p:spPr>
          <a:xfrm>
            <a:off x="548640" y="3840480"/>
            <a:ext cx="8046720" cy="731520"/>
          </a:xfrm>
          <a:prstGeom prst="roundRect">
            <a:avLst>
              <a:gd name="adj" fmla="val 10000"/>
            </a:avLst>
          </a:prstGeom>
          <a:solidFill>
            <a:srgbClr val="F2A93B"/>
          </a:solidFill>
          <a:ln>
            <a:solidFill>
              <a:srgbClr val="F2A93B"/>
            </a:solidFill>
          </a:ln>
        </p:spPr>
        <p:txBody>
          <a:bodyPr wrap="square" lIns="177800" tIns="177800" rIns="177800" bIns="177800" rtlCol="0" anchor="ctr"/>
          <a:lstStyle/>
          <a:p>
            <a:pPr indent="0" marL="0">
              <a:buNone/>
            </a:pPr>
            <a:r>
              <a:rPr lang="en-US" sz="1400" b="1" dirty="0">
                <a:solidFill>
                  <a:srgbClr val="173B2F"/>
                </a:solidFill>
                <a:latin typeface="Arial" pitchFamily="34" charset="0"/>
                <a:ea typeface="Arial" pitchFamily="34" charset="-122"/>
                <a:cs typeface="Arial" pitchFamily="34" charset="-120"/>
              </a:rPr>
              <a:t>Supported again and again, by lots of scientists? </a:t>
            </a:r>
            <a:pPr indent="0" marL="0">
              <a:buNone/>
            </a:pPr>
            <a:r>
              <a:rPr lang="en-US" sz="1400" dirty="0">
                <a:solidFill>
                  <a:srgbClr val="173B2F"/>
                </a:solidFill>
                <a:latin typeface="Arial" pitchFamily="34" charset="0"/>
                <a:ea typeface="Arial" pitchFamily="34" charset="-122"/>
                <a:cs typeface="Arial" pitchFamily="34" charset="-120"/>
              </a:rPr>
              <a:t>Then it can become a theory: a well-tested explanation of why something happens.</a:t>
            </a:r>
            <a:endParaRPr lang="en-US" sz="14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40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grpId="0" nodeType="withEffect">
                                  <p:stCondLst>
                                    <p:cond delay="65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8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15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par>
                                <p:cTn id="28" presetID="10" presetClass="entr" presetSubtype="0" fill="hold" grpId="0" nodeType="withEffect">
                                  <p:stCondLst>
                                    <p:cond delay="40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grpId="0" nodeType="withEffect">
                                  <p:stCondLst>
                                    <p:cond delay="55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500"/>
                                        <p:tgtEl>
                                          <p:spTgt spid="42"/>
                                        </p:tgtEl>
                                      </p:cBhvr>
                                    </p:animEffect>
                                  </p:childTnLst>
                                </p:cTn>
                              </p:par>
                              <p:par>
                                <p:cTn id="34" presetID="10" presetClass="entr" presetSubtype="0" fill="hold" grpId="0" nodeType="withEffect">
                                  <p:stCondLst>
                                    <p:cond delay="80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grpId="0" nodeType="withEffect">
                                  <p:stCondLst>
                                    <p:cond delay="95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700"/>
                                        <p:tgtEl>
                                          <p:spTgt spid="44"/>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7"/>
                                        </p:tgtEl>
                                        <p:attrNameLst>
                                          <p:attrName>style.visibility</p:attrName>
                                        </p:attrNameLst>
                                      </p:cBhvr>
                                      <p:to>
                                        <p:strVal val="visible"/>
                                      </p:to>
                                    </p:set>
                                    <p:anim calcmode="lin" valueType="num">
                                      <p:cBhvr additive="base">
                                        <p:cTn id="49" dur="500" fill="hold"/>
                                        <p:tgtEl>
                                          <p:spTgt spid="37"/>
                                        </p:tgtEl>
                                        <p:attrNameLst>
                                          <p:attrName>ppt_x</p:attrName>
                                        </p:attrNameLst>
                                      </p:cBhvr>
                                      <p:tavLst>
                                        <p:tav tm="0">
                                          <p:val>
                                            <p:strVal val="#ppt_x"/>
                                          </p:val>
                                        </p:tav>
                                        <p:tav tm="100000">
                                          <p:val>
                                            <p:strVal val="#ppt_x"/>
                                          </p:val>
                                        </p:tav>
                                      </p:tavLst>
                                    </p:anim>
                                    <p:anim calcmode="lin" valueType="num">
                                      <p:cBhvr additive="base">
                                        <p:cTn id="50"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P spid="3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600200" cy="292608"/>
          </a:xfrm>
          <a:prstGeom prst="roundRect">
            <a:avLst>
              <a:gd name="adj" fmla="val 50000"/>
            </a:avLst>
          </a:prstGeom>
          <a:solidFill>
            <a:srgbClr val="173B2F"/>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WE DO · 8 MIN</a:t>
            </a:r>
            <a:endParaRPr lang="en-US" sz="10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200" b="1" dirty="0">
                <a:solidFill>
                  <a:srgbClr val="173B2F"/>
                </a:solidFill>
                <a:latin typeface="Georgia" pitchFamily="34" charset="0"/>
                <a:ea typeface="Georgia" pitchFamily="34" charset="-122"/>
                <a:cs typeface="Georgia" pitchFamily="34" charset="-120"/>
              </a:rPr>
              <a:t>Do maggots come from meat?</a:t>
            </a:r>
            <a:endParaRPr lang="en-US" sz="3200" dirty="0"/>
          </a:p>
        </p:txBody>
      </p:sp>
      <p:sp>
        <p:nvSpPr>
          <p:cNvPr id="4" name="Text 2"/>
          <p:cNvSpPr txBox="1"/>
          <p:nvPr/>
        </p:nvSpPr>
        <p:spPr>
          <a:xfrm>
            <a:off x="548640" y="1325880"/>
            <a:ext cx="8046720" cy="320040"/>
          </a:xfrm>
          <a:prstGeom prst="rect">
            <a:avLst/>
          </a:prstGeom>
          <a:noFill/>
          <a:ln/>
        </p:spPr>
        <p:txBody>
          <a:bodyPr wrap="square" lIns="0" tIns="0" rIns="0" bIns="0" rtlCol="0" anchor="ctr"/>
          <a:lstStyle/>
          <a:p>
            <a:pPr indent="0" marL="0">
              <a:buNone/>
            </a:pPr>
            <a:r>
              <a:rPr lang="en-US" sz="1400" dirty="0">
                <a:solidFill>
                  <a:srgbClr val="5C6B63"/>
                </a:solidFill>
                <a:latin typeface="Arial" pitchFamily="34" charset="0"/>
                <a:ea typeface="Arial" pitchFamily="34" charset="-122"/>
                <a:cs typeface="Arial" pitchFamily="34" charset="-120"/>
              </a:rPr>
              <a:t>In the 1600s, most people believed rotting meat turned into maggots all by itself.</a:t>
            </a:r>
            <a:endParaRPr lang="en-US" sz="1400" dirty="0"/>
          </a:p>
        </p:txBody>
      </p:sp>
      <p:sp>
        <p:nvSpPr>
          <p:cNvPr id="5" name="Text 3"/>
          <p:cNvSpPr txBox="1"/>
          <p:nvPr/>
        </p:nvSpPr>
        <p:spPr>
          <a:xfrm>
            <a:off x="457200" y="1764792"/>
            <a:ext cx="1645920" cy="274320"/>
          </a:xfrm>
          <a:prstGeom prst="rect">
            <a:avLst/>
          </a:prstGeom>
          <a:noFill/>
          <a:ln/>
        </p:spPr>
        <p:txBody>
          <a:bodyPr wrap="square" lIns="0" tIns="0" rIns="0" bIns="0" rtlCol="0" anchor="ctr"/>
          <a:lstStyle/>
          <a:p>
            <a:pPr algn="ctr" indent="0" marL="0">
              <a:buNone/>
            </a:pPr>
            <a:r>
              <a:rPr lang="en-US" sz="1250" b="1" dirty="0">
                <a:solidFill>
                  <a:srgbClr val="173B2F"/>
                </a:solidFill>
                <a:latin typeface="Arial" pitchFamily="34" charset="0"/>
                <a:ea typeface="Arial" pitchFamily="34" charset="-122"/>
                <a:cs typeface="Arial" pitchFamily="34" charset="-120"/>
              </a:rPr>
              <a:t>Open</a:t>
            </a:r>
            <a:endParaRPr lang="en-US" sz="1250" dirty="0"/>
          </a:p>
        </p:txBody>
      </p:sp>
      <p:sp>
        <p:nvSpPr>
          <p:cNvPr id="6" name="Shape 4"/>
          <p:cNvSpPr/>
          <p:nvPr/>
        </p:nvSpPr>
        <p:spPr>
          <a:xfrm>
            <a:off x="685800" y="2103120"/>
            <a:ext cx="1188720" cy="1325880"/>
          </a:xfrm>
          <a:prstGeom prst="roundRect">
            <a:avLst>
              <a:gd name="adj" fmla="val 9231"/>
            </a:avLst>
          </a:prstGeom>
          <a:solidFill>
            <a:srgbClr val="F7FAF8"/>
          </a:solidFill>
          <a:ln w="25400">
            <a:solidFill>
              <a:srgbClr val="173B2F"/>
            </a:solidFill>
            <a:prstDash val="solid"/>
          </a:ln>
        </p:spPr>
      </p:sp>
      <p:sp>
        <p:nvSpPr>
          <p:cNvPr id="7" name="Shape 5"/>
          <p:cNvSpPr/>
          <p:nvPr/>
        </p:nvSpPr>
        <p:spPr>
          <a:xfrm>
            <a:off x="813816" y="2103120"/>
            <a:ext cx="932688" cy="0"/>
          </a:xfrm>
          <a:prstGeom prst="line">
            <a:avLst/>
          </a:prstGeom>
          <a:noFill/>
          <a:ln w="50800">
            <a:solidFill>
              <a:srgbClr val="FFFFFF"/>
            </a:solidFill>
            <a:prstDash val="solid"/>
          </a:ln>
        </p:spPr>
      </p:sp>
      <p:sp>
        <p:nvSpPr>
          <p:cNvPr id="8" name="Shape 6"/>
          <p:cNvSpPr/>
          <p:nvPr/>
        </p:nvSpPr>
        <p:spPr>
          <a:xfrm>
            <a:off x="914400" y="3017520"/>
            <a:ext cx="731520" cy="274320"/>
          </a:xfrm>
          <a:prstGeom prst="roundRect">
            <a:avLst>
              <a:gd name="adj" fmla="val 26667"/>
            </a:avLst>
          </a:prstGeom>
          <a:solidFill>
            <a:srgbClr val="B5523B"/>
          </a:solidFill>
          <a:ln w="12700">
            <a:solidFill>
              <a:srgbClr val="B5523B"/>
            </a:solidFill>
            <a:prstDash val="solid"/>
          </a:ln>
        </p:spPr>
      </p:sp>
      <p:sp>
        <p:nvSpPr>
          <p:cNvPr id="9" name="Text 7"/>
          <p:cNvSpPr txBox="1"/>
          <p:nvPr/>
        </p:nvSpPr>
        <p:spPr>
          <a:xfrm>
            <a:off x="2148840" y="1764792"/>
            <a:ext cx="1645920" cy="274320"/>
          </a:xfrm>
          <a:prstGeom prst="rect">
            <a:avLst/>
          </a:prstGeom>
          <a:noFill/>
          <a:ln/>
        </p:spPr>
        <p:txBody>
          <a:bodyPr wrap="square" lIns="0" tIns="0" rIns="0" bIns="0" rtlCol="0" anchor="ctr"/>
          <a:lstStyle/>
          <a:p>
            <a:pPr algn="ctr" indent="0" marL="0">
              <a:buNone/>
            </a:pPr>
            <a:r>
              <a:rPr lang="en-US" sz="1250" b="1" dirty="0">
                <a:solidFill>
                  <a:srgbClr val="173B2F"/>
                </a:solidFill>
                <a:latin typeface="Arial" pitchFamily="34" charset="0"/>
                <a:ea typeface="Arial" pitchFamily="34" charset="-122"/>
                <a:cs typeface="Arial" pitchFamily="34" charset="-120"/>
              </a:rPr>
              <a:t>Covered with gauze</a:t>
            </a:r>
            <a:endParaRPr lang="en-US" sz="1250" dirty="0"/>
          </a:p>
        </p:txBody>
      </p:sp>
      <p:sp>
        <p:nvSpPr>
          <p:cNvPr id="10" name="Shape 8"/>
          <p:cNvSpPr/>
          <p:nvPr/>
        </p:nvSpPr>
        <p:spPr>
          <a:xfrm>
            <a:off x="2377440" y="2103120"/>
            <a:ext cx="1188720" cy="1325880"/>
          </a:xfrm>
          <a:prstGeom prst="roundRect">
            <a:avLst>
              <a:gd name="adj" fmla="val 9231"/>
            </a:avLst>
          </a:prstGeom>
          <a:solidFill>
            <a:srgbClr val="F7FAF8"/>
          </a:solidFill>
          <a:ln w="25400">
            <a:solidFill>
              <a:srgbClr val="173B2F"/>
            </a:solidFill>
            <a:prstDash val="solid"/>
          </a:ln>
        </p:spPr>
      </p:sp>
      <p:sp>
        <p:nvSpPr>
          <p:cNvPr id="11" name="Shape 9"/>
          <p:cNvSpPr/>
          <p:nvPr/>
        </p:nvSpPr>
        <p:spPr>
          <a:xfrm>
            <a:off x="2505456" y="2103120"/>
            <a:ext cx="932688" cy="0"/>
          </a:xfrm>
          <a:prstGeom prst="line">
            <a:avLst/>
          </a:prstGeom>
          <a:noFill/>
          <a:ln w="50800">
            <a:solidFill>
              <a:srgbClr val="FFFFFF"/>
            </a:solidFill>
            <a:prstDash val="solid"/>
          </a:ln>
        </p:spPr>
      </p:sp>
      <p:sp>
        <p:nvSpPr>
          <p:cNvPr id="12" name="Shape 10"/>
          <p:cNvSpPr/>
          <p:nvPr/>
        </p:nvSpPr>
        <p:spPr>
          <a:xfrm>
            <a:off x="2340864" y="2103120"/>
            <a:ext cx="1261872" cy="0"/>
          </a:xfrm>
          <a:prstGeom prst="line">
            <a:avLst/>
          </a:prstGeom>
          <a:noFill/>
          <a:ln w="31750">
            <a:solidFill>
              <a:srgbClr val="5C6B63"/>
            </a:solidFill>
            <a:prstDash val="sysDash"/>
          </a:ln>
        </p:spPr>
      </p:sp>
      <p:sp>
        <p:nvSpPr>
          <p:cNvPr id="13" name="Shape 11"/>
          <p:cNvSpPr/>
          <p:nvPr/>
        </p:nvSpPr>
        <p:spPr>
          <a:xfrm>
            <a:off x="2606040" y="3017520"/>
            <a:ext cx="731520" cy="274320"/>
          </a:xfrm>
          <a:prstGeom prst="roundRect">
            <a:avLst>
              <a:gd name="adj" fmla="val 26667"/>
            </a:avLst>
          </a:prstGeom>
          <a:solidFill>
            <a:srgbClr val="B5523B"/>
          </a:solidFill>
          <a:ln w="12700">
            <a:solidFill>
              <a:srgbClr val="B5523B"/>
            </a:solidFill>
            <a:prstDash val="solid"/>
          </a:ln>
        </p:spPr>
      </p:sp>
      <p:sp>
        <p:nvSpPr>
          <p:cNvPr id="14" name="Text 12"/>
          <p:cNvSpPr txBox="1"/>
          <p:nvPr/>
        </p:nvSpPr>
        <p:spPr>
          <a:xfrm>
            <a:off x="3840480" y="1764792"/>
            <a:ext cx="1645920" cy="274320"/>
          </a:xfrm>
          <a:prstGeom prst="rect">
            <a:avLst/>
          </a:prstGeom>
          <a:noFill/>
          <a:ln/>
        </p:spPr>
        <p:txBody>
          <a:bodyPr wrap="square" lIns="0" tIns="0" rIns="0" bIns="0" rtlCol="0" anchor="ctr"/>
          <a:lstStyle/>
          <a:p>
            <a:pPr algn="ctr" indent="0" marL="0">
              <a:buNone/>
            </a:pPr>
            <a:r>
              <a:rPr lang="en-US" sz="1250" b="1" dirty="0">
                <a:solidFill>
                  <a:srgbClr val="173B2F"/>
                </a:solidFill>
                <a:latin typeface="Arial" pitchFamily="34" charset="0"/>
                <a:ea typeface="Arial" pitchFamily="34" charset="-122"/>
                <a:cs typeface="Arial" pitchFamily="34" charset="-120"/>
              </a:rPr>
              <a:t>Sealed</a:t>
            </a:r>
            <a:endParaRPr lang="en-US" sz="1250" dirty="0"/>
          </a:p>
        </p:txBody>
      </p:sp>
      <p:sp>
        <p:nvSpPr>
          <p:cNvPr id="15" name="Shape 13"/>
          <p:cNvSpPr/>
          <p:nvPr/>
        </p:nvSpPr>
        <p:spPr>
          <a:xfrm>
            <a:off x="4069080" y="2103120"/>
            <a:ext cx="1188720" cy="1325880"/>
          </a:xfrm>
          <a:prstGeom prst="roundRect">
            <a:avLst>
              <a:gd name="adj" fmla="val 9231"/>
            </a:avLst>
          </a:prstGeom>
          <a:solidFill>
            <a:srgbClr val="F7FAF8"/>
          </a:solidFill>
          <a:ln w="25400">
            <a:solidFill>
              <a:srgbClr val="173B2F"/>
            </a:solidFill>
            <a:prstDash val="solid"/>
          </a:ln>
        </p:spPr>
      </p:sp>
      <p:sp>
        <p:nvSpPr>
          <p:cNvPr id="16" name="Shape 14"/>
          <p:cNvSpPr/>
          <p:nvPr/>
        </p:nvSpPr>
        <p:spPr>
          <a:xfrm>
            <a:off x="4014216" y="2011680"/>
            <a:ext cx="1298448" cy="146304"/>
          </a:xfrm>
          <a:prstGeom prst="rect">
            <a:avLst/>
          </a:prstGeom>
          <a:solidFill>
            <a:srgbClr val="173B2F"/>
          </a:solidFill>
          <a:ln w="12700">
            <a:solidFill>
              <a:srgbClr val="173B2F"/>
            </a:solidFill>
            <a:prstDash val="solid"/>
          </a:ln>
        </p:spPr>
      </p:sp>
      <p:sp>
        <p:nvSpPr>
          <p:cNvPr id="17" name="Shape 15"/>
          <p:cNvSpPr/>
          <p:nvPr/>
        </p:nvSpPr>
        <p:spPr>
          <a:xfrm>
            <a:off x="4297680" y="3017520"/>
            <a:ext cx="731520" cy="274320"/>
          </a:xfrm>
          <a:prstGeom prst="roundRect">
            <a:avLst>
              <a:gd name="adj" fmla="val 26667"/>
            </a:avLst>
          </a:prstGeom>
          <a:solidFill>
            <a:srgbClr val="B5523B"/>
          </a:solidFill>
          <a:ln w="12700">
            <a:solidFill>
              <a:srgbClr val="B5523B"/>
            </a:solidFill>
            <a:prstDash val="solid"/>
          </a:ln>
        </p:spPr>
      </p:sp>
      <p:grpSp>
        <p:nvGrpSpPr>
          <p:cNvPr id="33" name="g_r0"/>
          <p:cNvGrpSpPr/>
          <p:nvPr/>
        </p:nvGrpSpPr>
        <p:grpSpPr>
          <a:xfrm>
            <a:off x="530352" y="2935224"/>
            <a:ext cx="1499616" cy="1179576"/>
            <a:chOff x="530352" y="2935224"/>
            <a:chExt cx="1499616" cy="1179576"/>
          </a:xfrm>
        </p:grpSpPr>
        <p:sp>
          <p:nvSpPr>
            <p:cNvPr id="18" name="g_r0__m0"/>
            <p:cNvSpPr/>
            <p:nvPr/>
          </p:nvSpPr>
          <p:spPr>
            <a:xfrm>
              <a:off x="960120" y="2962656"/>
              <a:ext cx="128016" cy="64008"/>
            </a:xfrm>
            <a:prstGeom prst="ellipse">
              <a:avLst/>
            </a:prstGeom>
            <a:solidFill>
              <a:srgbClr val="F5ECCF"/>
            </a:solidFill>
            <a:ln w="6350">
              <a:solidFill>
                <a:srgbClr val="5C6B63"/>
              </a:solidFill>
              <a:prstDash val="solid"/>
            </a:ln>
          </p:spPr>
        </p:sp>
        <p:sp>
          <p:nvSpPr>
            <p:cNvPr id="19" name="g_r0__m1"/>
            <p:cNvSpPr/>
            <p:nvPr/>
          </p:nvSpPr>
          <p:spPr>
            <a:xfrm>
              <a:off x="1143000" y="2944368"/>
              <a:ext cx="128016" cy="64008"/>
            </a:xfrm>
            <a:prstGeom prst="ellipse">
              <a:avLst/>
            </a:prstGeom>
            <a:solidFill>
              <a:srgbClr val="F5ECCF"/>
            </a:solidFill>
            <a:ln w="6350">
              <a:solidFill>
                <a:srgbClr val="5C6B63"/>
              </a:solidFill>
              <a:prstDash val="solid"/>
            </a:ln>
          </p:spPr>
        </p:sp>
        <p:sp>
          <p:nvSpPr>
            <p:cNvPr id="20" name="g_r0__m2"/>
            <p:cNvSpPr/>
            <p:nvPr/>
          </p:nvSpPr>
          <p:spPr>
            <a:xfrm>
              <a:off x="1325880" y="2971800"/>
              <a:ext cx="128016" cy="64008"/>
            </a:xfrm>
            <a:prstGeom prst="ellipse">
              <a:avLst/>
            </a:prstGeom>
            <a:solidFill>
              <a:srgbClr val="F5ECCF"/>
            </a:solidFill>
            <a:ln w="6350">
              <a:solidFill>
                <a:srgbClr val="5C6B63"/>
              </a:solidFill>
              <a:prstDash val="solid"/>
            </a:ln>
          </p:spPr>
        </p:sp>
        <p:sp>
          <p:nvSpPr>
            <p:cNvPr id="21" name="g_r0__m3"/>
            <p:cNvSpPr/>
            <p:nvPr/>
          </p:nvSpPr>
          <p:spPr>
            <a:xfrm>
              <a:off x="1463040" y="2935224"/>
              <a:ext cx="128016" cy="64008"/>
            </a:xfrm>
            <a:prstGeom prst="ellipse">
              <a:avLst/>
            </a:prstGeom>
            <a:solidFill>
              <a:srgbClr val="F5ECCF"/>
            </a:solidFill>
            <a:ln w="6350">
              <a:solidFill>
                <a:srgbClr val="5C6B63"/>
              </a:solidFill>
              <a:prstDash val="solid"/>
            </a:ln>
          </p:spPr>
        </p:sp>
        <p:sp>
          <p:nvSpPr>
            <p:cNvPr id="22" name="g_r0__tag"/>
            <p:cNvSpPr/>
            <p:nvPr/>
          </p:nvSpPr>
          <p:spPr>
            <a:xfrm>
              <a:off x="530352" y="3611880"/>
              <a:ext cx="1499616" cy="502920"/>
            </a:xfrm>
            <a:prstGeom prst="roundRect">
              <a:avLst>
                <a:gd name="adj" fmla="val 10909"/>
              </a:avLst>
            </a:prstGeom>
            <a:solidFill>
              <a:srgbClr val="F2A93B"/>
            </a:solidFill>
            <a:ln>
              <a:solidFill>
                <a:srgbClr val="F2A93B"/>
              </a:solidFill>
            </a:ln>
          </p:spPr>
          <p:txBody>
            <a:bodyPr wrap="square" lIns="50800" tIns="50800" rIns="50800" bIns="50800" rtlCol="0" anchor="ctr"/>
            <a:lstStyle/>
            <a:p>
              <a:pPr algn="ctr" indent="0" marL="0">
                <a:buNone/>
              </a:pPr>
              <a:r>
                <a:rPr lang="en-US" sz="1050" b="1" dirty="0">
                  <a:solidFill>
                    <a:srgbClr val="173B2F"/>
                  </a:solidFill>
                  <a:latin typeface="Arial" pitchFamily="34" charset="0"/>
                  <a:ea typeface="Arial" pitchFamily="34" charset="-122"/>
                  <a:cs typeface="Arial" pitchFamily="34" charset="-120"/>
                </a:rPr>
                <a:t>Maggots on the meat</a:t>
              </a:r>
              <a:endParaRPr lang="en-US" sz="1050" dirty="0"/>
            </a:p>
          </p:txBody>
        </p:sp>
      </p:grpSp>
      <p:grpSp>
        <p:nvGrpSpPr>
          <p:cNvPr id="34" name="g_r1"/>
          <p:cNvGrpSpPr/>
          <p:nvPr/>
        </p:nvGrpSpPr>
        <p:grpSpPr>
          <a:xfrm>
            <a:off x="2221992" y="1993392"/>
            <a:ext cx="1499616" cy="2121408"/>
            <a:chOff x="2221992" y="1993392"/>
            <a:chExt cx="1499616" cy="2121408"/>
          </a:xfrm>
        </p:grpSpPr>
        <p:sp>
          <p:nvSpPr>
            <p:cNvPr id="23" name="g_r1__m0"/>
            <p:cNvSpPr/>
            <p:nvPr/>
          </p:nvSpPr>
          <p:spPr>
            <a:xfrm>
              <a:off x="2560320" y="2011680"/>
              <a:ext cx="128016" cy="64008"/>
            </a:xfrm>
            <a:prstGeom prst="ellipse">
              <a:avLst/>
            </a:prstGeom>
            <a:solidFill>
              <a:srgbClr val="F5ECCF"/>
            </a:solidFill>
            <a:ln w="6350">
              <a:solidFill>
                <a:srgbClr val="5C6B63"/>
              </a:solidFill>
              <a:prstDash val="solid"/>
            </a:ln>
          </p:spPr>
        </p:sp>
        <p:sp>
          <p:nvSpPr>
            <p:cNvPr id="24" name="g_r1__m1"/>
            <p:cNvSpPr/>
            <p:nvPr/>
          </p:nvSpPr>
          <p:spPr>
            <a:xfrm>
              <a:off x="2834640" y="2002536"/>
              <a:ext cx="128016" cy="64008"/>
            </a:xfrm>
            <a:prstGeom prst="ellipse">
              <a:avLst/>
            </a:prstGeom>
            <a:solidFill>
              <a:srgbClr val="F5ECCF"/>
            </a:solidFill>
            <a:ln w="6350">
              <a:solidFill>
                <a:srgbClr val="5C6B63"/>
              </a:solidFill>
              <a:prstDash val="solid"/>
            </a:ln>
          </p:spPr>
        </p:sp>
        <p:sp>
          <p:nvSpPr>
            <p:cNvPr id="25" name="g_r1__m2"/>
            <p:cNvSpPr/>
            <p:nvPr/>
          </p:nvSpPr>
          <p:spPr>
            <a:xfrm>
              <a:off x="3108960" y="2011680"/>
              <a:ext cx="128016" cy="64008"/>
            </a:xfrm>
            <a:prstGeom prst="ellipse">
              <a:avLst/>
            </a:prstGeom>
            <a:solidFill>
              <a:srgbClr val="F5ECCF"/>
            </a:solidFill>
            <a:ln w="6350">
              <a:solidFill>
                <a:srgbClr val="5C6B63"/>
              </a:solidFill>
              <a:prstDash val="solid"/>
            </a:ln>
          </p:spPr>
        </p:sp>
        <p:sp>
          <p:nvSpPr>
            <p:cNvPr id="26" name="g_r1__m3"/>
            <p:cNvSpPr/>
            <p:nvPr/>
          </p:nvSpPr>
          <p:spPr>
            <a:xfrm>
              <a:off x="3291840" y="1993392"/>
              <a:ext cx="128016" cy="64008"/>
            </a:xfrm>
            <a:prstGeom prst="ellipse">
              <a:avLst/>
            </a:prstGeom>
            <a:solidFill>
              <a:srgbClr val="F5ECCF"/>
            </a:solidFill>
            <a:ln w="6350">
              <a:solidFill>
                <a:srgbClr val="5C6B63"/>
              </a:solidFill>
              <a:prstDash val="solid"/>
            </a:ln>
          </p:spPr>
        </p:sp>
        <p:sp>
          <p:nvSpPr>
            <p:cNvPr id="27" name="g_r1__tag"/>
            <p:cNvSpPr/>
            <p:nvPr/>
          </p:nvSpPr>
          <p:spPr>
            <a:xfrm>
              <a:off x="2221992" y="3611880"/>
              <a:ext cx="1499616" cy="502920"/>
            </a:xfrm>
            <a:prstGeom prst="roundRect">
              <a:avLst>
                <a:gd name="adj" fmla="val 10909"/>
              </a:avLst>
            </a:prstGeom>
            <a:solidFill>
              <a:srgbClr val="F2A93B"/>
            </a:solidFill>
            <a:ln>
              <a:solidFill>
                <a:srgbClr val="F2A93B"/>
              </a:solidFill>
            </a:ln>
          </p:spPr>
          <p:txBody>
            <a:bodyPr wrap="square" lIns="50800" tIns="50800" rIns="50800" bIns="50800" rtlCol="0" anchor="ctr"/>
            <a:lstStyle/>
            <a:p>
              <a:pPr algn="ctr" indent="0" marL="0">
                <a:buNone/>
              </a:pPr>
              <a:r>
                <a:rPr lang="en-US" sz="1050" b="1" dirty="0">
                  <a:solidFill>
                    <a:srgbClr val="173B2F"/>
                  </a:solidFill>
                  <a:latin typeface="Arial" pitchFamily="34" charset="0"/>
                  <a:ea typeface="Arial" pitchFamily="34" charset="-122"/>
                  <a:cs typeface="Arial" pitchFamily="34" charset="-120"/>
                </a:rPr>
                <a:t>Maggots on the gauze, not the meat</a:t>
              </a:r>
              <a:endParaRPr lang="en-US" sz="1050" dirty="0"/>
            </a:p>
          </p:txBody>
        </p:sp>
      </p:grpSp>
      <p:sp>
        <p:nvSpPr>
          <p:cNvPr id="28" name="r2tag"/>
          <p:cNvSpPr/>
          <p:nvPr/>
        </p:nvSpPr>
        <p:spPr>
          <a:xfrm>
            <a:off x="3913632" y="3611880"/>
            <a:ext cx="1499616" cy="502920"/>
          </a:xfrm>
          <a:prstGeom prst="roundRect">
            <a:avLst>
              <a:gd name="adj" fmla="val 10909"/>
            </a:avLst>
          </a:prstGeom>
          <a:solidFill>
            <a:srgbClr val="2F6B55"/>
          </a:solidFill>
          <a:ln>
            <a:solidFill>
              <a:srgbClr val="2F6B55"/>
            </a:solidFill>
          </a:ln>
        </p:spPr>
        <p:txBody>
          <a:bodyPr wrap="square" lIns="50800" tIns="50800" rIns="50800" bIns="5080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No maggots at all</a:t>
            </a:r>
            <a:endParaRPr lang="en-US" sz="1050" dirty="0"/>
          </a:p>
        </p:txBody>
      </p:sp>
      <p:sp>
        <p:nvSpPr>
          <p:cNvPr id="29" name="Shape 27"/>
          <p:cNvSpPr/>
          <p:nvPr/>
        </p:nvSpPr>
        <p:spPr>
          <a:xfrm>
            <a:off x="5669280" y="1783080"/>
            <a:ext cx="2926080" cy="1188720"/>
          </a:xfrm>
          <a:prstGeom prst="roundRect">
            <a:avLst>
              <a:gd name="adj" fmla="val 6154"/>
            </a:avLst>
          </a:prstGeom>
          <a:solidFill>
            <a:srgbClr val="EEF4F0"/>
          </a:solidFill>
          <a:ln w="12700">
            <a:solidFill>
              <a:srgbClr val="EEF4F0"/>
            </a:solidFill>
            <a:prstDash val="solid"/>
          </a:ln>
        </p:spPr>
      </p:sp>
      <p:sp>
        <p:nvSpPr>
          <p:cNvPr id="30" name="Text 28"/>
          <p:cNvSpPr txBox="1"/>
          <p:nvPr/>
        </p:nvSpPr>
        <p:spPr>
          <a:xfrm>
            <a:off x="5852160" y="1874520"/>
            <a:ext cx="2606040" cy="1005840"/>
          </a:xfrm>
          <a:prstGeom prst="rect">
            <a:avLst/>
          </a:prstGeom>
          <a:noFill/>
          <a:ln/>
        </p:spPr>
        <p:txBody>
          <a:bodyPr wrap="square" lIns="0" tIns="0" rIns="0" bIns="0" rtlCol="0" anchor="ctr"/>
          <a:lstStyle/>
          <a:p>
            <a:pPr indent="0" marL="0">
              <a:buNone/>
            </a:pPr>
            <a:r>
              <a:rPr lang="en-US" sz="1250" b="1" dirty="0">
                <a:solidFill>
                  <a:srgbClr val="173B2F"/>
                </a:solidFill>
                <a:latin typeface="Arial" pitchFamily="34" charset="0"/>
                <a:ea typeface="Arial" pitchFamily="34" charset="-122"/>
                <a:cs typeface="Arial" pitchFamily="34" charset="-120"/>
              </a:rPr>
              <a:t>Francesco Redi, Italy, 1668</a:t>
            </a:r>
            <a:endParaRPr lang="en-US" sz="1250" dirty="0"/>
          </a:p>
          <a:p>
            <a:pPr indent="0" marL="0">
              <a:buNone/>
            </a:pPr>
            <a:r>
              <a:rPr lang="en-US" sz="1250" dirty="0">
                <a:solidFill>
                  <a:srgbClr val="173B2F"/>
                </a:solidFill>
                <a:latin typeface="Arial" pitchFamily="34" charset="0"/>
                <a:ea typeface="Arial" pitchFamily="34" charset="-122"/>
                <a:cs typeface="Arial" pitchFamily="34" charset="-120"/>
              </a:rPr>
              <a:t>He put meat in three jars. Flies could reach some of the meat, but not all of it.</a:t>
            </a:r>
            <a:endParaRPr lang="en-US" sz="1250" dirty="0"/>
          </a:p>
        </p:txBody>
      </p:sp>
      <p:sp>
        <p:nvSpPr>
          <p:cNvPr id="31" name="Text 29"/>
          <p:cNvSpPr txBox="1"/>
          <p:nvPr/>
        </p:nvSpPr>
        <p:spPr>
          <a:xfrm>
            <a:off x="5669280" y="3063240"/>
            <a:ext cx="2926080" cy="365760"/>
          </a:xfrm>
          <a:prstGeom prst="rect">
            <a:avLst/>
          </a:prstGeom>
          <a:noFill/>
          <a:ln/>
        </p:spPr>
        <p:txBody>
          <a:bodyPr wrap="square" lIns="0" tIns="0" rIns="0" bIns="0" rtlCol="0" anchor="ctr"/>
          <a:lstStyle/>
          <a:p>
            <a:pPr indent="0" marL="0">
              <a:buNone/>
            </a:pPr>
            <a:r>
              <a:rPr lang="en-US" sz="1350" b="1" dirty="0">
                <a:solidFill>
                  <a:srgbClr val="A15C07"/>
                </a:solidFill>
                <a:latin typeface="Arial" pitchFamily="34" charset="0"/>
                <a:ea typeface="Arial" pitchFamily="34" charset="-122"/>
                <a:cs typeface="Arial" pitchFamily="34" charset="-120"/>
              </a:rPr>
              <a:t>Predict: which jars will get maggots?</a:t>
            </a:r>
            <a:endParaRPr lang="en-US" sz="1350" dirty="0"/>
          </a:p>
        </p:txBody>
      </p:sp>
      <p:sp>
        <p:nvSpPr>
          <p:cNvPr id="32" name="concl"/>
          <p:cNvSpPr/>
          <p:nvPr/>
        </p:nvSpPr>
        <p:spPr>
          <a:xfrm>
            <a:off x="5669280" y="3520440"/>
            <a:ext cx="2926080" cy="914400"/>
          </a:xfrm>
          <a:prstGeom prst="roundRect">
            <a:avLst>
              <a:gd name="adj" fmla="val 8000"/>
            </a:avLst>
          </a:prstGeom>
          <a:solidFill>
            <a:srgbClr val="173B2F"/>
          </a:solidFill>
          <a:ln>
            <a:solidFill>
              <a:srgbClr val="173B2F"/>
            </a:solidFill>
          </a:ln>
        </p:spPr>
        <p:txBody>
          <a:bodyPr wrap="square" lIns="152400" tIns="152400" rIns="152400" bIns="152400" rtlCol="0" anchor="ctr"/>
          <a:lstStyle/>
          <a:p>
            <a:pPr indent="0" marL="0">
              <a:buNone/>
            </a:pPr>
            <a:r>
              <a:rPr lang="en-US" sz="1300" b="1" dirty="0">
                <a:solidFill>
                  <a:srgbClr val="F2A93B"/>
                </a:solidFill>
                <a:latin typeface="Arial" pitchFamily="34" charset="0"/>
                <a:ea typeface="Arial" pitchFamily="34" charset="-122"/>
                <a:cs typeface="Arial" pitchFamily="34" charset="-120"/>
              </a:rPr>
              <a:t>Conclusion: </a:t>
            </a:r>
            <a:pPr indent="0" marL="0">
              <a:buNone/>
            </a:pPr>
            <a:r>
              <a:rPr lang="en-US" sz="1300" dirty="0">
                <a:solidFill>
                  <a:srgbClr val="FFFFFF"/>
                </a:solidFill>
                <a:latin typeface="Arial" pitchFamily="34" charset="0"/>
                <a:ea typeface="Arial" pitchFamily="34" charset="-122"/>
                <a:cs typeface="Arial" pitchFamily="34" charset="-120"/>
              </a:rPr>
              <a:t>maggots hatch from eggs laid by flies. Life comes from life.</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additive="base">
                                        <p:cTn id="22" dur="500" fill="hold"/>
                                        <p:tgtEl>
                                          <p:spTgt spid="32"/>
                                        </p:tgtEl>
                                        <p:attrNameLst>
                                          <p:attrName>ppt_x</p:attrName>
                                        </p:attrNameLst>
                                      </p:cBhvr>
                                      <p:tavLst>
                                        <p:tav tm="0">
                                          <p:val>
                                            <p:strVal val="#ppt_x"/>
                                          </p:val>
                                        </p:tav>
                                        <p:tav tm="100000">
                                          <p:val>
                                            <p:strVal val="#ppt_x"/>
                                          </p:val>
                                        </p:tav>
                                      </p:tavLst>
                                    </p:anim>
                                    <p:anim calcmode="lin" valueType="num">
                                      <p:cBhvr additive="base">
                                        <p:cTn id="2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600200" cy="292608"/>
          </a:xfrm>
          <a:prstGeom prst="roundRect">
            <a:avLst>
              <a:gd name="adj" fmla="val 50000"/>
            </a:avLst>
          </a:prstGeom>
          <a:solidFill>
            <a:srgbClr val="173B2F"/>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WE DO · 7 MIN</a:t>
            </a:r>
            <a:endParaRPr lang="en-US" sz="10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200" b="1" dirty="0">
                <a:solidFill>
                  <a:srgbClr val="173B2F"/>
                </a:solidFill>
                <a:latin typeface="Georgia" pitchFamily="34" charset="0"/>
                <a:ea typeface="Georgia" pitchFamily="34" charset="-122"/>
                <a:cs typeface="Georgia" pitchFamily="34" charset="-120"/>
              </a:rPr>
              <a:t>The handwashing mystery</a:t>
            </a:r>
            <a:endParaRPr lang="en-US" sz="3200" dirty="0"/>
          </a:p>
        </p:txBody>
      </p:sp>
      <p:graphicFrame>
        <p:nvGraphicFramePr>
          <p:cNvPr id="4" name="Chart 0" descr=""/>
          <p:cNvGraphicFramePr/>
          <p:nvPr/>
        </p:nvGraphicFramePr>
        <p:xfrm>
          <a:off x="411480" y="1325880"/>
          <a:ext cx="5440680" cy="3063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462272"/>
            <a:ext cx="5303520" cy="274320"/>
          </a:xfrm>
          <a:prstGeom prst="rect">
            <a:avLst/>
          </a:prstGeom>
          <a:noFill/>
          <a:ln/>
        </p:spPr>
        <p:txBody>
          <a:bodyPr wrap="square" lIns="0" tIns="0" rIns="0" bIns="0" rtlCol="0" anchor="ctr"/>
          <a:lstStyle/>
          <a:p>
            <a:pPr indent="0" marL="0">
              <a:buNone/>
            </a:pPr>
            <a:r>
              <a:rPr lang="en-US" sz="900" i="1" dirty="0">
                <a:solidFill>
                  <a:srgbClr val="5C6B63"/>
                </a:solidFill>
                <a:latin typeface="Arial" pitchFamily="34" charset="0"/>
                <a:ea typeface="Arial" pitchFamily="34" charset="-122"/>
                <a:cs typeface="Arial" pitchFamily="34" charset="-120"/>
              </a:rPr>
              <a:t>Vienna General Hospital. Handwashing began in May 1847. Data: Semmelweis’s records.</a:t>
            </a:r>
            <a:endParaRPr lang="en-US" sz="900" dirty="0"/>
          </a:p>
        </p:txBody>
      </p:sp>
      <p:sp>
        <p:nvSpPr>
          <p:cNvPr id="6" name="Text 3"/>
          <p:cNvSpPr/>
          <p:nvPr/>
        </p:nvSpPr>
        <p:spPr>
          <a:xfrm>
            <a:off x="6080760" y="1371600"/>
            <a:ext cx="2514600" cy="1234440"/>
          </a:xfrm>
          <a:prstGeom prst="roundRect">
            <a:avLst>
              <a:gd name="adj" fmla="val 5926"/>
            </a:avLst>
          </a:prstGeom>
          <a:solidFill>
            <a:srgbClr val="EEF4F0"/>
          </a:solidFill>
          <a:ln>
            <a:solidFill>
              <a:srgbClr val="EEF4F0"/>
            </a:solidFill>
          </a:ln>
        </p:spPr>
        <p:txBody>
          <a:bodyPr wrap="square" lIns="152400" tIns="152400" rIns="152400" bIns="152400" rtlCol="0" anchor="ctr"/>
          <a:lstStyle/>
          <a:p>
            <a:pPr indent="0" marL="0">
              <a:buNone/>
            </a:pPr>
            <a:r>
              <a:rPr lang="en-US" sz="1250" dirty="0">
                <a:solidFill>
                  <a:srgbClr val="173B2F"/>
                </a:solidFill>
                <a:latin typeface="Arial" pitchFamily="34" charset="0"/>
                <a:ea typeface="Arial" pitchFamily="34" charset="-122"/>
                <a:cs typeface="Arial" pitchFamily="34" charset="-120"/>
              </a:rPr>
              <a:t>1840s, Vienna: far more new mothers died of ‘childbed fever’ on the ward run by doctors than on the ward run by midwives.</a:t>
            </a:r>
            <a:endParaRPr lang="en-US" sz="1250" dirty="0"/>
          </a:p>
        </p:txBody>
      </p:sp>
      <p:sp>
        <p:nvSpPr>
          <p:cNvPr id="7" name="wash"/>
          <p:cNvSpPr/>
          <p:nvPr/>
        </p:nvSpPr>
        <p:spPr>
          <a:xfrm>
            <a:off x="6080760" y="2743200"/>
            <a:ext cx="2514600" cy="960120"/>
          </a:xfrm>
          <a:prstGeom prst="roundRect">
            <a:avLst>
              <a:gd name="adj" fmla="val 7619"/>
            </a:avLst>
          </a:prstGeom>
          <a:solidFill>
            <a:srgbClr val="F2A93B"/>
          </a:solidFill>
          <a:ln>
            <a:solidFill>
              <a:srgbClr val="F2A93B"/>
            </a:solidFill>
          </a:ln>
        </p:spPr>
        <p:txBody>
          <a:bodyPr wrap="square" lIns="152400" tIns="152400" rIns="152400" bIns="152400" rtlCol="0" anchor="ctr"/>
          <a:lstStyle/>
          <a:p>
            <a:pPr indent="0" marL="0">
              <a:buNone/>
            </a:pPr>
            <a:r>
              <a:rPr lang="en-US" sz="1250" b="1" dirty="0">
                <a:solidFill>
                  <a:srgbClr val="173B2F"/>
                </a:solidFill>
                <a:latin typeface="Arial" pitchFamily="34" charset="0"/>
                <a:ea typeface="Arial" pitchFamily="34" charset="-122"/>
                <a:cs typeface="Arial" pitchFamily="34" charset="-120"/>
              </a:rPr>
              <a:t>1847: </a:t>
            </a:r>
            <a:pPr indent="0" marL="0">
              <a:buNone/>
            </a:pPr>
            <a:r>
              <a:rPr lang="en-US" sz="1250" dirty="0">
                <a:solidFill>
                  <a:srgbClr val="173B2F"/>
                </a:solidFill>
                <a:latin typeface="Arial" pitchFamily="34" charset="0"/>
                <a:ea typeface="Arial" pitchFamily="34" charset="-122"/>
                <a:cs typeface="Arial" pitchFamily="34" charset="-120"/>
              </a:rPr>
              <a:t>Dr Ignaz Semmelweis made the doctors wash their hands in chlorine solution. Deaths plunged.</a:t>
            </a:r>
            <a:endParaRPr lang="en-US" sz="1250" dirty="0"/>
          </a:p>
        </p:txBody>
      </p:sp>
      <p:sp>
        <p:nvSpPr>
          <p:cNvPr id="8" name="whyQ"/>
          <p:cNvSpPr txBox="1"/>
          <p:nvPr/>
        </p:nvSpPr>
        <p:spPr>
          <a:xfrm>
            <a:off x="6080760" y="3840480"/>
            <a:ext cx="2514600" cy="685800"/>
          </a:xfrm>
          <a:prstGeom prst="rect">
            <a:avLst/>
          </a:prstGeom>
          <a:noFill/>
          <a:ln/>
        </p:spPr>
        <p:txBody>
          <a:bodyPr wrap="square" lIns="0" tIns="0" rIns="0" bIns="0" rtlCol="0" anchor="t"/>
          <a:lstStyle/>
          <a:p>
            <a:pPr indent="0" marL="0">
              <a:buNone/>
            </a:pPr>
            <a:r>
              <a:rPr lang="en-US" sz="1300" b="1" dirty="0">
                <a:solidFill>
                  <a:srgbClr val="173B2F"/>
                </a:solidFill>
                <a:latin typeface="Arial" pitchFamily="34" charset="0"/>
                <a:ea typeface="Arial" pitchFamily="34" charset="-122"/>
                <a:cs typeface="Arial" pitchFamily="34" charset="-120"/>
              </a:rPr>
              <a:t>The evidence was clear. So why did many doctors refuse to believe him?</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508760" cy="292608"/>
          </a:xfrm>
          <a:prstGeom prst="roundRect">
            <a:avLst>
              <a:gd name="adj" fmla="val 50000"/>
            </a:avLst>
          </a:prstGeom>
          <a:solidFill>
            <a:srgbClr val="173B2F"/>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I DO · 5 MIN</a:t>
            </a:r>
            <a:endParaRPr lang="en-US" sz="10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200" b="1" dirty="0">
                <a:solidFill>
                  <a:srgbClr val="173B2F"/>
                </a:solidFill>
                <a:latin typeface="Georgia" pitchFamily="34" charset="0"/>
                <a:ea typeface="Georgia" pitchFamily="34" charset="-122"/>
                <a:cs typeface="Georgia" pitchFamily="34" charset="-120"/>
              </a:rPr>
              <a:t>Theories can change</a:t>
            </a:r>
            <a:endParaRPr lang="en-US" sz="3200" dirty="0"/>
          </a:p>
        </p:txBody>
      </p:sp>
      <p:sp>
        <p:nvSpPr>
          <p:cNvPr id="4" name="Shape 2"/>
          <p:cNvSpPr/>
          <p:nvPr/>
        </p:nvSpPr>
        <p:spPr>
          <a:xfrm>
            <a:off x="1463040" y="2331720"/>
            <a:ext cx="6172200" cy="0"/>
          </a:xfrm>
          <a:prstGeom prst="line">
            <a:avLst/>
          </a:prstGeom>
          <a:noFill/>
          <a:ln w="38100">
            <a:solidFill>
              <a:srgbClr val="C8D3CC"/>
            </a:solidFill>
            <a:prstDash val="solid"/>
          </a:ln>
        </p:spPr>
      </p:sp>
      <p:grpSp>
        <p:nvGrpSpPr>
          <p:cNvPr id="26" name="g_t0"/>
          <p:cNvGrpSpPr/>
          <p:nvPr/>
        </p:nvGrpSpPr>
        <p:grpSpPr>
          <a:xfrm>
            <a:off x="525780" y="1463040"/>
            <a:ext cx="1874520" cy="2514600"/>
            <a:chOff x="525780" y="1463040"/>
            <a:chExt cx="1874520" cy="2514600"/>
          </a:xfrm>
        </p:grpSpPr>
        <p:sp>
          <p:nvSpPr>
            <p:cNvPr id="5" name="g_t0__yr"/>
            <p:cNvSpPr txBox="1"/>
            <p:nvPr/>
          </p:nvSpPr>
          <p:spPr>
            <a:xfrm>
              <a:off x="548640" y="1463040"/>
              <a:ext cx="1828800" cy="411480"/>
            </a:xfrm>
            <a:prstGeom prst="rect">
              <a:avLst/>
            </a:prstGeom>
            <a:noFill/>
            <a:ln/>
          </p:spPr>
          <p:txBody>
            <a:bodyPr wrap="square" lIns="0" tIns="0" rIns="0" bIns="0" rtlCol="0" anchor="ctr"/>
            <a:lstStyle/>
            <a:p>
              <a:pPr algn="ctr" indent="0" marL="0">
                <a:buNone/>
              </a:pPr>
              <a:r>
                <a:rPr lang="en-US" sz="2000" b="1" dirty="0">
                  <a:solidFill>
                    <a:srgbClr val="173B2F"/>
                  </a:solidFill>
                  <a:latin typeface="Georgia" pitchFamily="34" charset="0"/>
                  <a:ea typeface="Georgia" pitchFamily="34" charset="-122"/>
                  <a:cs typeface="Georgia" pitchFamily="34" charset="-120"/>
                </a:rPr>
                <a:t>c. AD 150</a:t>
              </a:r>
              <a:endParaRPr lang="en-US" sz="2000" dirty="0"/>
            </a:p>
          </p:txBody>
        </p:sp>
        <p:sp>
          <p:nvSpPr>
            <p:cNvPr id="6" name="g_t0__dot"/>
            <p:cNvSpPr/>
            <p:nvPr/>
          </p:nvSpPr>
          <p:spPr>
            <a:xfrm>
              <a:off x="1280160" y="2148840"/>
              <a:ext cx="365760" cy="365760"/>
            </a:xfrm>
            <a:prstGeom prst="ellipse">
              <a:avLst/>
            </a:prstGeom>
            <a:solidFill>
              <a:srgbClr val="2F6B55"/>
            </a:solidFill>
            <a:ln w="38100">
              <a:solidFill>
                <a:srgbClr val="FFFFFF"/>
              </a:solidFill>
              <a:prstDash val="solid"/>
            </a:ln>
          </p:spPr>
        </p:sp>
        <p:sp>
          <p:nvSpPr>
            <p:cNvPr id="7" name="g_t0__bg"/>
            <p:cNvSpPr/>
            <p:nvPr/>
          </p:nvSpPr>
          <p:spPr>
            <a:xfrm>
              <a:off x="525780" y="2697480"/>
              <a:ext cx="1874520" cy="1280160"/>
            </a:xfrm>
            <a:prstGeom prst="roundRect">
              <a:avLst>
                <a:gd name="adj" fmla="val 5714"/>
              </a:avLst>
            </a:prstGeom>
            <a:solidFill>
              <a:srgbClr val="EEF4F0"/>
            </a:solidFill>
            <a:ln w="12700">
              <a:solidFill>
                <a:srgbClr val="EEF4F0"/>
              </a:solidFill>
              <a:prstDash val="solid"/>
            </a:ln>
          </p:spPr>
        </p:sp>
        <p:sp>
          <p:nvSpPr>
            <p:cNvPr id="8" name="g_t0__who"/>
            <p:cNvSpPr txBox="1"/>
            <p:nvPr/>
          </p:nvSpPr>
          <p:spPr>
            <a:xfrm>
              <a:off x="640080" y="2788920"/>
              <a:ext cx="1645920" cy="274320"/>
            </a:xfrm>
            <a:prstGeom prst="rect">
              <a:avLst/>
            </a:prstGeom>
            <a:noFill/>
            <a:ln/>
          </p:spPr>
          <p:txBody>
            <a:bodyPr wrap="square" lIns="0" tIns="0" rIns="0" bIns="0" rtlCol="0" anchor="ctr"/>
            <a:lstStyle/>
            <a:p>
              <a:pPr indent="0" marL="0">
                <a:buNone/>
              </a:pPr>
              <a:r>
                <a:rPr lang="en-US" sz="1300" b="1" dirty="0">
                  <a:solidFill>
                    <a:srgbClr val="A15C07"/>
                  </a:solidFill>
                  <a:latin typeface="Arial" pitchFamily="34" charset="0"/>
                  <a:ea typeface="Arial" pitchFamily="34" charset="-122"/>
                  <a:cs typeface="Arial" pitchFamily="34" charset="-120"/>
                </a:rPr>
                <a:t>Ptolemy</a:t>
              </a:r>
              <a:endParaRPr lang="en-US" sz="1300" dirty="0"/>
            </a:p>
          </p:txBody>
        </p:sp>
        <p:sp>
          <p:nvSpPr>
            <p:cNvPr id="9" name="g_t0__tx"/>
            <p:cNvSpPr txBox="1"/>
            <p:nvPr/>
          </p:nvSpPr>
          <p:spPr>
            <a:xfrm>
              <a:off x="640080" y="3081528"/>
              <a:ext cx="1645920" cy="822960"/>
            </a:xfrm>
            <a:prstGeom prst="rect">
              <a:avLst/>
            </a:prstGeom>
            <a:noFill/>
            <a:ln/>
          </p:spPr>
          <p:txBody>
            <a:bodyPr wrap="square" lIns="0" tIns="0" rIns="0" bIns="0" rtlCol="0" anchor="t"/>
            <a:lstStyle/>
            <a:p>
              <a:pPr indent="0" marL="0">
                <a:buNone/>
              </a:pPr>
              <a:r>
                <a:rPr lang="en-US" sz="1150" dirty="0">
                  <a:solidFill>
                    <a:srgbClr val="173B2F"/>
                  </a:solidFill>
                  <a:latin typeface="Arial" pitchFamily="34" charset="0"/>
                  <a:ea typeface="Arial" pitchFamily="34" charset="-122"/>
                  <a:cs typeface="Arial" pitchFamily="34" charset="-120"/>
                </a:rPr>
                <a:t>Earth sits still at the centre. Everything orbits us.</a:t>
              </a:r>
              <a:endParaRPr lang="en-US" sz="1150" dirty="0"/>
            </a:p>
          </p:txBody>
        </p:sp>
      </p:grpSp>
      <p:grpSp>
        <p:nvGrpSpPr>
          <p:cNvPr id="27" name="g_t1"/>
          <p:cNvGrpSpPr/>
          <p:nvPr/>
        </p:nvGrpSpPr>
        <p:grpSpPr>
          <a:xfrm>
            <a:off x="2583180" y="1463040"/>
            <a:ext cx="1874520" cy="2514600"/>
            <a:chOff x="2583180" y="1463040"/>
            <a:chExt cx="1874520" cy="2514600"/>
          </a:xfrm>
        </p:grpSpPr>
        <p:sp>
          <p:nvSpPr>
            <p:cNvPr id="10" name="g_t1__yr"/>
            <p:cNvSpPr txBox="1"/>
            <p:nvPr/>
          </p:nvSpPr>
          <p:spPr>
            <a:xfrm>
              <a:off x="2606040" y="1463040"/>
              <a:ext cx="1828800" cy="411480"/>
            </a:xfrm>
            <a:prstGeom prst="rect">
              <a:avLst/>
            </a:prstGeom>
            <a:noFill/>
            <a:ln/>
          </p:spPr>
          <p:txBody>
            <a:bodyPr wrap="square" lIns="0" tIns="0" rIns="0" bIns="0" rtlCol="0" anchor="ctr"/>
            <a:lstStyle/>
            <a:p>
              <a:pPr algn="ctr" indent="0" marL="0">
                <a:buNone/>
              </a:pPr>
              <a:r>
                <a:rPr lang="en-US" sz="2000" b="1" dirty="0">
                  <a:solidFill>
                    <a:srgbClr val="173B2F"/>
                  </a:solidFill>
                  <a:latin typeface="Georgia" pitchFamily="34" charset="0"/>
                  <a:ea typeface="Georgia" pitchFamily="34" charset="-122"/>
                  <a:cs typeface="Georgia" pitchFamily="34" charset="-120"/>
                </a:rPr>
                <a:t>1543</a:t>
              </a:r>
              <a:endParaRPr lang="en-US" sz="2000" dirty="0"/>
            </a:p>
          </p:txBody>
        </p:sp>
        <p:sp>
          <p:nvSpPr>
            <p:cNvPr id="11" name="g_t1__dot"/>
            <p:cNvSpPr/>
            <p:nvPr/>
          </p:nvSpPr>
          <p:spPr>
            <a:xfrm>
              <a:off x="3337560" y="2148840"/>
              <a:ext cx="365760" cy="365760"/>
            </a:xfrm>
            <a:prstGeom prst="ellipse">
              <a:avLst/>
            </a:prstGeom>
            <a:solidFill>
              <a:srgbClr val="2F6B55"/>
            </a:solidFill>
            <a:ln w="38100">
              <a:solidFill>
                <a:srgbClr val="FFFFFF"/>
              </a:solidFill>
              <a:prstDash val="solid"/>
            </a:ln>
          </p:spPr>
        </p:sp>
        <p:sp>
          <p:nvSpPr>
            <p:cNvPr id="12" name="g_t1__bg"/>
            <p:cNvSpPr/>
            <p:nvPr/>
          </p:nvSpPr>
          <p:spPr>
            <a:xfrm>
              <a:off x="2583180" y="2697480"/>
              <a:ext cx="1874520" cy="1280160"/>
            </a:xfrm>
            <a:prstGeom prst="roundRect">
              <a:avLst>
                <a:gd name="adj" fmla="val 5714"/>
              </a:avLst>
            </a:prstGeom>
            <a:solidFill>
              <a:srgbClr val="EEF4F0"/>
            </a:solidFill>
            <a:ln w="12700">
              <a:solidFill>
                <a:srgbClr val="EEF4F0"/>
              </a:solidFill>
              <a:prstDash val="solid"/>
            </a:ln>
          </p:spPr>
        </p:sp>
        <p:sp>
          <p:nvSpPr>
            <p:cNvPr id="13" name="g_t1__who"/>
            <p:cNvSpPr txBox="1"/>
            <p:nvPr/>
          </p:nvSpPr>
          <p:spPr>
            <a:xfrm>
              <a:off x="2697480" y="2788920"/>
              <a:ext cx="1645920" cy="274320"/>
            </a:xfrm>
            <a:prstGeom prst="rect">
              <a:avLst/>
            </a:prstGeom>
            <a:noFill/>
            <a:ln/>
          </p:spPr>
          <p:txBody>
            <a:bodyPr wrap="square" lIns="0" tIns="0" rIns="0" bIns="0" rtlCol="0" anchor="ctr"/>
            <a:lstStyle/>
            <a:p>
              <a:pPr indent="0" marL="0">
                <a:buNone/>
              </a:pPr>
              <a:r>
                <a:rPr lang="en-US" sz="1300" b="1" dirty="0">
                  <a:solidFill>
                    <a:srgbClr val="A15C07"/>
                  </a:solidFill>
                  <a:latin typeface="Arial" pitchFamily="34" charset="0"/>
                  <a:ea typeface="Arial" pitchFamily="34" charset="-122"/>
                  <a:cs typeface="Arial" pitchFamily="34" charset="-120"/>
                </a:rPr>
                <a:t>Copernicus</a:t>
              </a:r>
              <a:endParaRPr lang="en-US" sz="1300" dirty="0"/>
            </a:p>
          </p:txBody>
        </p:sp>
        <p:sp>
          <p:nvSpPr>
            <p:cNvPr id="14" name="g_t1__tx"/>
            <p:cNvSpPr txBox="1"/>
            <p:nvPr/>
          </p:nvSpPr>
          <p:spPr>
            <a:xfrm>
              <a:off x="2697480" y="3081528"/>
              <a:ext cx="1645920" cy="822960"/>
            </a:xfrm>
            <a:prstGeom prst="rect">
              <a:avLst/>
            </a:prstGeom>
            <a:noFill/>
            <a:ln/>
          </p:spPr>
          <p:txBody>
            <a:bodyPr wrap="square" lIns="0" tIns="0" rIns="0" bIns="0" rtlCol="0" anchor="t"/>
            <a:lstStyle/>
            <a:p>
              <a:pPr indent="0" marL="0">
                <a:buNone/>
              </a:pPr>
              <a:r>
                <a:rPr lang="en-US" sz="1150" dirty="0">
                  <a:solidFill>
                    <a:srgbClr val="173B2F"/>
                  </a:solidFill>
                  <a:latin typeface="Arial" pitchFamily="34" charset="0"/>
                  <a:ea typeface="Arial" pitchFamily="34" charset="-122"/>
                  <a:cs typeface="Arial" pitchFamily="34" charset="-120"/>
                </a:rPr>
                <a:t>No: the Sun is at the centre, and Earth orbits it.</a:t>
              </a:r>
              <a:endParaRPr lang="en-US" sz="1150" dirty="0"/>
            </a:p>
          </p:txBody>
        </p:sp>
      </p:grpSp>
      <p:grpSp>
        <p:nvGrpSpPr>
          <p:cNvPr id="28" name="g_t2"/>
          <p:cNvGrpSpPr/>
          <p:nvPr/>
        </p:nvGrpSpPr>
        <p:grpSpPr>
          <a:xfrm>
            <a:off x="4640580" y="1463040"/>
            <a:ext cx="1874520" cy="2514600"/>
            <a:chOff x="4640580" y="1463040"/>
            <a:chExt cx="1874520" cy="2514600"/>
          </a:xfrm>
        </p:grpSpPr>
        <p:sp>
          <p:nvSpPr>
            <p:cNvPr id="15" name="g_t2__yr"/>
            <p:cNvSpPr txBox="1"/>
            <p:nvPr/>
          </p:nvSpPr>
          <p:spPr>
            <a:xfrm>
              <a:off x="4663440" y="1463040"/>
              <a:ext cx="1828800" cy="411480"/>
            </a:xfrm>
            <a:prstGeom prst="rect">
              <a:avLst/>
            </a:prstGeom>
            <a:noFill/>
            <a:ln/>
          </p:spPr>
          <p:txBody>
            <a:bodyPr wrap="square" lIns="0" tIns="0" rIns="0" bIns="0" rtlCol="0" anchor="ctr"/>
            <a:lstStyle/>
            <a:p>
              <a:pPr algn="ctr" indent="0" marL="0">
                <a:buNone/>
              </a:pPr>
              <a:r>
                <a:rPr lang="en-US" sz="2000" b="1" dirty="0">
                  <a:solidFill>
                    <a:srgbClr val="173B2F"/>
                  </a:solidFill>
                  <a:latin typeface="Georgia" pitchFamily="34" charset="0"/>
                  <a:ea typeface="Georgia" pitchFamily="34" charset="-122"/>
                  <a:cs typeface="Georgia" pitchFamily="34" charset="-120"/>
                </a:rPr>
                <a:t>1610</a:t>
              </a:r>
              <a:endParaRPr lang="en-US" sz="2000" dirty="0"/>
            </a:p>
          </p:txBody>
        </p:sp>
        <p:sp>
          <p:nvSpPr>
            <p:cNvPr id="16" name="g_t2__dot"/>
            <p:cNvSpPr/>
            <p:nvPr/>
          </p:nvSpPr>
          <p:spPr>
            <a:xfrm>
              <a:off x="5394960" y="2148840"/>
              <a:ext cx="365760" cy="365760"/>
            </a:xfrm>
            <a:prstGeom prst="ellipse">
              <a:avLst/>
            </a:prstGeom>
            <a:solidFill>
              <a:srgbClr val="2F6B55"/>
            </a:solidFill>
            <a:ln w="38100">
              <a:solidFill>
                <a:srgbClr val="FFFFFF"/>
              </a:solidFill>
              <a:prstDash val="solid"/>
            </a:ln>
          </p:spPr>
        </p:sp>
        <p:sp>
          <p:nvSpPr>
            <p:cNvPr id="17" name="g_t2__bg"/>
            <p:cNvSpPr/>
            <p:nvPr/>
          </p:nvSpPr>
          <p:spPr>
            <a:xfrm>
              <a:off x="4640580" y="2697480"/>
              <a:ext cx="1874520" cy="1280160"/>
            </a:xfrm>
            <a:prstGeom prst="roundRect">
              <a:avLst>
                <a:gd name="adj" fmla="val 5714"/>
              </a:avLst>
            </a:prstGeom>
            <a:solidFill>
              <a:srgbClr val="EEF4F0"/>
            </a:solidFill>
            <a:ln w="12700">
              <a:solidFill>
                <a:srgbClr val="EEF4F0"/>
              </a:solidFill>
              <a:prstDash val="solid"/>
            </a:ln>
          </p:spPr>
        </p:sp>
        <p:sp>
          <p:nvSpPr>
            <p:cNvPr id="18" name="g_t2__who"/>
            <p:cNvSpPr txBox="1"/>
            <p:nvPr/>
          </p:nvSpPr>
          <p:spPr>
            <a:xfrm>
              <a:off x="4754880" y="2788920"/>
              <a:ext cx="1645920" cy="274320"/>
            </a:xfrm>
            <a:prstGeom prst="rect">
              <a:avLst/>
            </a:prstGeom>
            <a:noFill/>
            <a:ln/>
          </p:spPr>
          <p:txBody>
            <a:bodyPr wrap="square" lIns="0" tIns="0" rIns="0" bIns="0" rtlCol="0" anchor="ctr"/>
            <a:lstStyle/>
            <a:p>
              <a:pPr indent="0" marL="0">
                <a:buNone/>
              </a:pPr>
              <a:r>
                <a:rPr lang="en-US" sz="1300" b="1" dirty="0">
                  <a:solidFill>
                    <a:srgbClr val="A15C07"/>
                  </a:solidFill>
                  <a:latin typeface="Arial" pitchFamily="34" charset="0"/>
                  <a:ea typeface="Arial" pitchFamily="34" charset="-122"/>
                  <a:cs typeface="Arial" pitchFamily="34" charset="-120"/>
                </a:rPr>
                <a:t>Galileo</a:t>
              </a:r>
              <a:endParaRPr lang="en-US" sz="1300" dirty="0"/>
            </a:p>
          </p:txBody>
        </p:sp>
        <p:sp>
          <p:nvSpPr>
            <p:cNvPr id="19" name="g_t2__tx"/>
            <p:cNvSpPr txBox="1"/>
            <p:nvPr/>
          </p:nvSpPr>
          <p:spPr>
            <a:xfrm>
              <a:off x="4754880" y="3081528"/>
              <a:ext cx="1645920" cy="822960"/>
            </a:xfrm>
            <a:prstGeom prst="rect">
              <a:avLst/>
            </a:prstGeom>
            <a:noFill/>
            <a:ln/>
          </p:spPr>
          <p:txBody>
            <a:bodyPr wrap="square" lIns="0" tIns="0" rIns="0" bIns="0" rtlCol="0" anchor="t"/>
            <a:lstStyle/>
            <a:p>
              <a:pPr indent="0" marL="0">
                <a:buNone/>
              </a:pPr>
              <a:r>
                <a:rPr lang="en-US" sz="1150" dirty="0">
                  <a:solidFill>
                    <a:srgbClr val="173B2F"/>
                  </a:solidFill>
                  <a:latin typeface="Arial" pitchFamily="34" charset="0"/>
                  <a:ea typeface="Arial" pitchFamily="34" charset="-122"/>
                  <a:cs typeface="Arial" pitchFamily="34" charset="-120"/>
                </a:rPr>
                <a:t>His telescope shows moons orbiting Jupiter. Not everything orbits Earth!</a:t>
              </a:r>
              <a:endParaRPr lang="en-US" sz="1150" dirty="0"/>
            </a:p>
          </p:txBody>
        </p:sp>
      </p:grpSp>
      <p:grpSp>
        <p:nvGrpSpPr>
          <p:cNvPr id="29" name="g_t3"/>
          <p:cNvGrpSpPr/>
          <p:nvPr/>
        </p:nvGrpSpPr>
        <p:grpSpPr>
          <a:xfrm>
            <a:off x="6697980" y="1463040"/>
            <a:ext cx="1874520" cy="2514600"/>
            <a:chOff x="6697980" y="1463040"/>
            <a:chExt cx="1874520" cy="2514600"/>
          </a:xfrm>
        </p:grpSpPr>
        <p:sp>
          <p:nvSpPr>
            <p:cNvPr id="20" name="g_t3__yr"/>
            <p:cNvSpPr txBox="1"/>
            <p:nvPr/>
          </p:nvSpPr>
          <p:spPr>
            <a:xfrm>
              <a:off x="6720840" y="1463040"/>
              <a:ext cx="1828800" cy="411480"/>
            </a:xfrm>
            <a:prstGeom prst="rect">
              <a:avLst/>
            </a:prstGeom>
            <a:noFill/>
            <a:ln/>
          </p:spPr>
          <p:txBody>
            <a:bodyPr wrap="square" lIns="0" tIns="0" rIns="0" bIns="0" rtlCol="0" anchor="ctr"/>
            <a:lstStyle/>
            <a:p>
              <a:pPr algn="ctr" indent="0" marL="0">
                <a:buNone/>
              </a:pPr>
              <a:r>
                <a:rPr lang="en-US" sz="2000" b="1" dirty="0">
                  <a:solidFill>
                    <a:srgbClr val="173B2F"/>
                  </a:solidFill>
                  <a:latin typeface="Georgia" pitchFamily="34" charset="0"/>
                  <a:ea typeface="Georgia" pitchFamily="34" charset="-122"/>
                  <a:cs typeface="Georgia" pitchFamily="34" charset="-120"/>
                </a:rPr>
                <a:t>1687</a:t>
              </a:r>
              <a:endParaRPr lang="en-US" sz="2000" dirty="0"/>
            </a:p>
          </p:txBody>
        </p:sp>
        <p:sp>
          <p:nvSpPr>
            <p:cNvPr id="21" name="g_t3__dot"/>
            <p:cNvSpPr/>
            <p:nvPr/>
          </p:nvSpPr>
          <p:spPr>
            <a:xfrm>
              <a:off x="7452360" y="2148840"/>
              <a:ext cx="365760" cy="365760"/>
            </a:xfrm>
            <a:prstGeom prst="ellipse">
              <a:avLst/>
            </a:prstGeom>
            <a:solidFill>
              <a:srgbClr val="F2A93B"/>
            </a:solidFill>
            <a:ln w="38100">
              <a:solidFill>
                <a:srgbClr val="FFFFFF"/>
              </a:solidFill>
              <a:prstDash val="solid"/>
            </a:ln>
          </p:spPr>
        </p:sp>
        <p:sp>
          <p:nvSpPr>
            <p:cNvPr id="22" name="g_t3__bg"/>
            <p:cNvSpPr/>
            <p:nvPr/>
          </p:nvSpPr>
          <p:spPr>
            <a:xfrm>
              <a:off x="6697980" y="2697480"/>
              <a:ext cx="1874520" cy="1280160"/>
            </a:xfrm>
            <a:prstGeom prst="roundRect">
              <a:avLst>
                <a:gd name="adj" fmla="val 5714"/>
              </a:avLst>
            </a:prstGeom>
            <a:solidFill>
              <a:srgbClr val="EEF4F0"/>
            </a:solidFill>
            <a:ln w="12700">
              <a:solidFill>
                <a:srgbClr val="EEF4F0"/>
              </a:solidFill>
              <a:prstDash val="solid"/>
            </a:ln>
          </p:spPr>
        </p:sp>
        <p:sp>
          <p:nvSpPr>
            <p:cNvPr id="23" name="g_t3__who"/>
            <p:cNvSpPr txBox="1"/>
            <p:nvPr/>
          </p:nvSpPr>
          <p:spPr>
            <a:xfrm>
              <a:off x="6812280" y="2788920"/>
              <a:ext cx="1645920" cy="274320"/>
            </a:xfrm>
            <a:prstGeom prst="rect">
              <a:avLst/>
            </a:prstGeom>
            <a:noFill/>
            <a:ln/>
          </p:spPr>
          <p:txBody>
            <a:bodyPr wrap="square" lIns="0" tIns="0" rIns="0" bIns="0" rtlCol="0" anchor="ctr"/>
            <a:lstStyle/>
            <a:p>
              <a:pPr indent="0" marL="0">
                <a:buNone/>
              </a:pPr>
              <a:r>
                <a:rPr lang="en-US" sz="1300" b="1" dirty="0">
                  <a:solidFill>
                    <a:srgbClr val="A15C07"/>
                  </a:solidFill>
                  <a:latin typeface="Arial" pitchFamily="34" charset="0"/>
                  <a:ea typeface="Arial" pitchFamily="34" charset="-122"/>
                  <a:cs typeface="Arial" pitchFamily="34" charset="-120"/>
                </a:rPr>
                <a:t>Newton</a:t>
              </a:r>
              <a:endParaRPr lang="en-US" sz="1300" dirty="0"/>
            </a:p>
          </p:txBody>
        </p:sp>
        <p:sp>
          <p:nvSpPr>
            <p:cNvPr id="24" name="g_t3__tx"/>
            <p:cNvSpPr txBox="1"/>
            <p:nvPr/>
          </p:nvSpPr>
          <p:spPr>
            <a:xfrm>
              <a:off x="6812280" y="3081528"/>
              <a:ext cx="1645920" cy="822960"/>
            </a:xfrm>
            <a:prstGeom prst="rect">
              <a:avLst/>
            </a:prstGeom>
            <a:noFill/>
            <a:ln/>
          </p:spPr>
          <p:txBody>
            <a:bodyPr wrap="square" lIns="0" tIns="0" rIns="0" bIns="0" rtlCol="0" anchor="t"/>
            <a:lstStyle/>
            <a:p>
              <a:pPr indent="0" marL="0">
                <a:buNone/>
              </a:pPr>
              <a:r>
                <a:rPr lang="en-US" sz="1150" dirty="0">
                  <a:solidFill>
                    <a:srgbClr val="173B2F"/>
                  </a:solidFill>
                  <a:latin typeface="Arial" pitchFamily="34" charset="0"/>
                  <a:ea typeface="Arial" pitchFamily="34" charset="-122"/>
                  <a:cs typeface="Arial" pitchFamily="34" charset="-120"/>
                </a:rPr>
                <a:t>Gravity explains why the planets move the way they do.</a:t>
              </a:r>
              <a:endParaRPr lang="en-US" sz="1150" dirty="0"/>
            </a:p>
          </p:txBody>
        </p:sp>
      </p:grpSp>
      <p:sp>
        <p:nvSpPr>
          <p:cNvPr id="25" name="upgrade"/>
          <p:cNvSpPr txBox="1"/>
          <p:nvPr/>
        </p:nvSpPr>
        <p:spPr>
          <a:xfrm>
            <a:off x="548640" y="4206240"/>
            <a:ext cx="8046720" cy="411480"/>
          </a:xfrm>
          <a:prstGeom prst="rect">
            <a:avLst/>
          </a:prstGeom>
          <a:noFill/>
          <a:ln/>
        </p:spPr>
        <p:txBody>
          <a:bodyPr wrap="square" lIns="0" tIns="0" rIns="0" bIns="0" rtlCol="0" anchor="ctr"/>
          <a:lstStyle/>
          <a:p>
            <a:pPr indent="0" marL="0">
              <a:buNone/>
            </a:pPr>
            <a:r>
              <a:rPr lang="en-US" sz="1500" i="1" dirty="0">
                <a:solidFill>
                  <a:srgbClr val="173B2F"/>
                </a:solidFill>
                <a:latin typeface="Arial" pitchFamily="34" charset="0"/>
                <a:ea typeface="Arial" pitchFamily="34" charset="-122"/>
                <a:cs typeface="Arial" pitchFamily="34" charset="-120"/>
              </a:rPr>
              <a:t>A theory is our best explanation so far. When better evidence arrives, it gets </a:t>
            </a:r>
            <a:pPr indent="0" marL="0">
              <a:buNone/>
            </a:pPr>
            <a:r>
              <a:rPr lang="en-US" sz="1500" b="1" i="1" dirty="0">
                <a:solidFill>
                  <a:srgbClr val="A15C07"/>
                </a:solidFill>
                <a:latin typeface="Arial" pitchFamily="34" charset="0"/>
                <a:ea typeface="Arial" pitchFamily="34" charset="-122"/>
                <a:cs typeface="Arial" pitchFamily="34" charset="-120"/>
              </a:rPr>
              <a:t>upgraded.</a:t>
            </a:r>
            <a:endParaRPr lang="en-US" sz="15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691640" cy="292608"/>
          </a:xfrm>
          <a:prstGeom prst="roundRect">
            <a:avLst>
              <a:gd name="adj" fmla="val 50000"/>
            </a:avLst>
          </a:prstGeom>
          <a:solidFill>
            <a:srgbClr val="173B2F"/>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YOU DO · 9 MIN</a:t>
            </a:r>
            <a:endParaRPr lang="en-US" sz="10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200" b="1" dirty="0">
                <a:solidFill>
                  <a:srgbClr val="173B2F"/>
                </a:solidFill>
                <a:latin typeface="Georgia" pitchFamily="34" charset="0"/>
                <a:ea typeface="Georgia" pitchFamily="34" charset="-122"/>
                <a:cs typeface="Georgia" pitchFamily="34" charset="-120"/>
              </a:rPr>
              <a:t>Hunch, hypothesis or theory?</a:t>
            </a:r>
            <a:endParaRPr lang="en-US" sz="3200" dirty="0"/>
          </a:p>
        </p:txBody>
      </p:sp>
      <p:sp>
        <p:nvSpPr>
          <p:cNvPr id="4" name="Text 2"/>
          <p:cNvSpPr/>
          <p:nvPr/>
        </p:nvSpPr>
        <p:spPr>
          <a:xfrm>
            <a:off x="548640" y="1417320"/>
            <a:ext cx="2560320" cy="749808"/>
          </a:xfrm>
          <a:prstGeom prst="roundRect">
            <a:avLst>
              <a:gd name="adj" fmla="val 9756"/>
            </a:avLst>
          </a:prstGeom>
          <a:solidFill>
            <a:srgbClr val="E4E8E6"/>
          </a:solidFill>
          <a:ln>
            <a:solidFill>
              <a:srgbClr val="E4E8E6"/>
            </a:solidFill>
          </a:ln>
        </p:spPr>
        <p:txBody>
          <a:bodyPr wrap="square" lIns="127000" tIns="127000" rIns="127000" bIns="127000" rtlCol="0" anchor="ctr"/>
          <a:lstStyle/>
          <a:p>
            <a:pPr indent="0" marL="0">
              <a:buNone/>
            </a:pPr>
            <a:r>
              <a:rPr lang="en-US" sz="1200" b="1" spc="150" kern="0" dirty="0">
                <a:solidFill>
                  <a:srgbClr val="5C6B63"/>
                </a:solidFill>
                <a:latin typeface="Arial" pitchFamily="34" charset="0"/>
                <a:ea typeface="Arial" pitchFamily="34" charset="-122"/>
                <a:cs typeface="Arial" pitchFamily="34" charset="-120"/>
              </a:rPr>
              <a:t>HUNCH</a:t>
            </a:r>
            <a:endParaRPr lang="en-US" sz="1200" dirty="0"/>
          </a:p>
          <a:p>
            <a:pPr indent="0" marL="0">
              <a:buNone/>
            </a:pPr>
            <a:r>
              <a:rPr lang="en-US" sz="1150" dirty="0">
                <a:solidFill>
                  <a:srgbClr val="173B2F"/>
                </a:solidFill>
                <a:latin typeface="Arial" pitchFamily="34" charset="0"/>
                <a:ea typeface="Arial" pitchFamily="34" charset="-122"/>
                <a:cs typeface="Arial" pitchFamily="34" charset="-120"/>
              </a:rPr>
              <a:t>A guess. No evidence needed.</a:t>
            </a:r>
            <a:endParaRPr lang="en-US" sz="1200" dirty="0"/>
          </a:p>
        </p:txBody>
      </p:sp>
      <p:sp>
        <p:nvSpPr>
          <p:cNvPr id="5" name="Text 3"/>
          <p:cNvSpPr/>
          <p:nvPr/>
        </p:nvSpPr>
        <p:spPr>
          <a:xfrm>
            <a:off x="3291840" y="1417320"/>
            <a:ext cx="2560320" cy="749808"/>
          </a:xfrm>
          <a:prstGeom prst="roundRect">
            <a:avLst>
              <a:gd name="adj" fmla="val 9756"/>
            </a:avLst>
          </a:prstGeom>
          <a:solidFill>
            <a:srgbClr val="2F6B55"/>
          </a:solidFill>
          <a:ln>
            <a:solidFill>
              <a:srgbClr val="2F6B55"/>
            </a:solidFill>
          </a:ln>
        </p:spPr>
        <p:txBody>
          <a:bodyPr wrap="square" lIns="127000" tIns="127000" rIns="127000" bIns="127000" rtlCol="0" anchor="ctr"/>
          <a:lstStyle/>
          <a:p>
            <a:pPr indent="0" marL="0">
              <a:buNone/>
            </a:pPr>
            <a:r>
              <a:rPr lang="en-US" sz="1200" b="1" spc="150" kern="0" dirty="0">
                <a:solidFill>
                  <a:srgbClr val="FFFFFF"/>
                </a:solidFill>
                <a:latin typeface="Arial" pitchFamily="34" charset="0"/>
                <a:ea typeface="Arial" pitchFamily="34" charset="-122"/>
                <a:cs typeface="Arial" pitchFamily="34" charset="-120"/>
              </a:rPr>
              <a:t>HYPOTHESIS</a:t>
            </a:r>
            <a:endParaRPr lang="en-US" sz="1200" dirty="0"/>
          </a:p>
          <a:p>
            <a:pPr indent="0" marL="0">
              <a:buNone/>
            </a:pPr>
            <a:r>
              <a:rPr lang="en-US" sz="1150" dirty="0">
                <a:solidFill>
                  <a:srgbClr val="FFFFFF"/>
                </a:solidFill>
                <a:latin typeface="Arial" pitchFamily="34" charset="0"/>
                <a:ea typeface="Arial" pitchFamily="34" charset="-122"/>
                <a:cs typeface="Arial" pitchFamily="34" charset="-120"/>
              </a:rPr>
              <a:t>An idea you can test, with a reason.</a:t>
            </a:r>
            <a:endParaRPr lang="en-US" sz="1200" dirty="0"/>
          </a:p>
        </p:txBody>
      </p:sp>
      <p:sp>
        <p:nvSpPr>
          <p:cNvPr id="6" name="Text 4"/>
          <p:cNvSpPr/>
          <p:nvPr/>
        </p:nvSpPr>
        <p:spPr>
          <a:xfrm>
            <a:off x="6035040" y="1417320"/>
            <a:ext cx="2560320" cy="749808"/>
          </a:xfrm>
          <a:prstGeom prst="roundRect">
            <a:avLst>
              <a:gd name="adj" fmla="val 9756"/>
            </a:avLst>
          </a:prstGeom>
          <a:solidFill>
            <a:srgbClr val="F2A93B"/>
          </a:solidFill>
          <a:ln>
            <a:solidFill>
              <a:srgbClr val="F2A93B"/>
            </a:solidFill>
          </a:ln>
        </p:spPr>
        <p:txBody>
          <a:bodyPr wrap="square" lIns="127000" tIns="127000" rIns="127000" bIns="127000" rtlCol="0" anchor="ctr"/>
          <a:lstStyle/>
          <a:p>
            <a:pPr indent="0" marL="0">
              <a:buNone/>
            </a:pPr>
            <a:r>
              <a:rPr lang="en-US" sz="1200" b="1" spc="150" kern="0" dirty="0">
                <a:solidFill>
                  <a:srgbClr val="173B2F"/>
                </a:solidFill>
                <a:latin typeface="Arial" pitchFamily="34" charset="0"/>
                <a:ea typeface="Arial" pitchFamily="34" charset="-122"/>
                <a:cs typeface="Arial" pitchFamily="34" charset="-120"/>
              </a:rPr>
              <a:t>THEORY</a:t>
            </a:r>
            <a:endParaRPr lang="en-US" sz="1200" dirty="0"/>
          </a:p>
          <a:p>
            <a:pPr indent="0" marL="0">
              <a:buNone/>
            </a:pPr>
            <a:r>
              <a:rPr lang="en-US" sz="1150" dirty="0">
                <a:solidFill>
                  <a:srgbClr val="173B2F"/>
                </a:solidFill>
                <a:latin typeface="Arial" pitchFamily="34" charset="0"/>
                <a:ea typeface="Arial" pitchFamily="34" charset="-122"/>
                <a:cs typeface="Arial" pitchFamily="34" charset="-120"/>
              </a:rPr>
              <a:t>A well-tested explanation, backed by lots of evidence.</a:t>
            </a:r>
            <a:endParaRPr lang="en-US" sz="1200" dirty="0"/>
          </a:p>
        </p:txBody>
      </p:sp>
      <p:sp>
        <p:nvSpPr>
          <p:cNvPr id="7" name="Shape 5"/>
          <p:cNvSpPr/>
          <p:nvPr/>
        </p:nvSpPr>
        <p:spPr>
          <a:xfrm>
            <a:off x="548640" y="2377440"/>
            <a:ext cx="2560320" cy="914400"/>
          </a:xfrm>
          <a:prstGeom prst="roundRect">
            <a:avLst>
              <a:gd name="adj" fmla="val 8000"/>
            </a:avLst>
          </a:prstGeom>
          <a:solidFill>
            <a:srgbClr val="EEF4F0"/>
          </a:solidFill>
          <a:ln w="12700">
            <a:solidFill>
              <a:srgbClr val="EEF4F0"/>
            </a:solidFill>
            <a:prstDash val="solid"/>
          </a:ln>
        </p:spPr>
      </p:sp>
      <p:sp>
        <p:nvSpPr>
          <p:cNvPr id="8" name="st0"/>
          <p:cNvSpPr/>
          <p:nvPr/>
        </p:nvSpPr>
        <p:spPr>
          <a:xfrm>
            <a:off x="685800" y="2651760"/>
            <a:ext cx="365760" cy="365760"/>
          </a:xfrm>
          <a:prstGeom prst="ellipse">
            <a:avLst/>
          </a:prstGeom>
          <a:solidFill>
            <a:srgbClr val="173B2F"/>
          </a:solidFill>
          <a:ln>
            <a:solidFill>
              <a:srgbClr val="173B2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9" name="Text 7"/>
          <p:cNvSpPr txBox="1"/>
          <p:nvPr/>
        </p:nvSpPr>
        <p:spPr>
          <a:xfrm>
            <a:off x="1188720" y="2468880"/>
            <a:ext cx="1783080" cy="731520"/>
          </a:xfrm>
          <a:prstGeom prst="rect">
            <a:avLst/>
          </a:prstGeom>
          <a:noFill/>
          <a:ln/>
        </p:spPr>
        <p:txBody>
          <a:bodyPr wrap="square" lIns="0" tIns="0" rIns="0" bIns="0" rtlCol="0" anchor="ctr"/>
          <a:lstStyle/>
          <a:p>
            <a:pPr indent="0" marL="0">
              <a:buNone/>
            </a:pPr>
            <a:r>
              <a:rPr lang="en-US" sz="1200" dirty="0">
                <a:solidFill>
                  <a:srgbClr val="173B2F"/>
                </a:solidFill>
                <a:latin typeface="Arial" pitchFamily="34" charset="0"/>
                <a:ea typeface="Arial" pitchFamily="34" charset="-122"/>
                <a:cs typeface="Arial" pitchFamily="34" charset="-120"/>
              </a:rPr>
              <a:t>My theory is that the cat knocked the vase over.</a:t>
            </a:r>
            <a:endParaRPr lang="en-US" sz="1200" dirty="0"/>
          </a:p>
        </p:txBody>
      </p:sp>
      <p:sp>
        <p:nvSpPr>
          <p:cNvPr id="10" name="Shape 8"/>
          <p:cNvSpPr/>
          <p:nvPr/>
        </p:nvSpPr>
        <p:spPr>
          <a:xfrm>
            <a:off x="3291840" y="2377440"/>
            <a:ext cx="2560320" cy="914400"/>
          </a:xfrm>
          <a:prstGeom prst="roundRect">
            <a:avLst>
              <a:gd name="adj" fmla="val 8000"/>
            </a:avLst>
          </a:prstGeom>
          <a:solidFill>
            <a:srgbClr val="EEF4F0"/>
          </a:solidFill>
          <a:ln w="12700">
            <a:solidFill>
              <a:srgbClr val="EEF4F0"/>
            </a:solidFill>
            <a:prstDash val="solid"/>
          </a:ln>
        </p:spPr>
      </p:sp>
      <p:sp>
        <p:nvSpPr>
          <p:cNvPr id="11" name="st1"/>
          <p:cNvSpPr/>
          <p:nvPr/>
        </p:nvSpPr>
        <p:spPr>
          <a:xfrm>
            <a:off x="3429000" y="2651760"/>
            <a:ext cx="365760" cy="365760"/>
          </a:xfrm>
          <a:prstGeom prst="ellipse">
            <a:avLst/>
          </a:prstGeom>
          <a:solidFill>
            <a:srgbClr val="173B2F"/>
          </a:solidFill>
          <a:ln>
            <a:solidFill>
              <a:srgbClr val="173B2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12" name="Text 10"/>
          <p:cNvSpPr txBox="1"/>
          <p:nvPr/>
        </p:nvSpPr>
        <p:spPr>
          <a:xfrm>
            <a:off x="3931920" y="2468880"/>
            <a:ext cx="1783080" cy="731520"/>
          </a:xfrm>
          <a:prstGeom prst="rect">
            <a:avLst/>
          </a:prstGeom>
          <a:noFill/>
          <a:ln/>
        </p:spPr>
        <p:txBody>
          <a:bodyPr wrap="square" lIns="0" tIns="0" rIns="0" bIns="0" rtlCol="0" anchor="ctr"/>
          <a:lstStyle/>
          <a:p>
            <a:pPr indent="0" marL="0">
              <a:buNone/>
            </a:pPr>
            <a:r>
              <a:rPr lang="en-US" sz="1200" dirty="0">
                <a:solidFill>
                  <a:srgbClr val="173B2F"/>
                </a:solidFill>
                <a:latin typeface="Arial" pitchFamily="34" charset="0"/>
                <a:ea typeface="Arial" pitchFamily="34" charset="-122"/>
                <a:cs typeface="Arial" pitchFamily="34" charset="-120"/>
              </a:rPr>
              <a:t>Salt dissolves faster in hot water, because the particles move faster.</a:t>
            </a:r>
            <a:endParaRPr lang="en-US" sz="1200" dirty="0"/>
          </a:p>
        </p:txBody>
      </p:sp>
      <p:sp>
        <p:nvSpPr>
          <p:cNvPr id="13" name="Shape 11"/>
          <p:cNvSpPr/>
          <p:nvPr/>
        </p:nvSpPr>
        <p:spPr>
          <a:xfrm>
            <a:off x="6035040" y="2377440"/>
            <a:ext cx="2560320" cy="914400"/>
          </a:xfrm>
          <a:prstGeom prst="roundRect">
            <a:avLst>
              <a:gd name="adj" fmla="val 8000"/>
            </a:avLst>
          </a:prstGeom>
          <a:solidFill>
            <a:srgbClr val="EEF4F0"/>
          </a:solidFill>
          <a:ln w="12700">
            <a:solidFill>
              <a:srgbClr val="EEF4F0"/>
            </a:solidFill>
            <a:prstDash val="solid"/>
          </a:ln>
        </p:spPr>
      </p:sp>
      <p:sp>
        <p:nvSpPr>
          <p:cNvPr id="14" name="st2"/>
          <p:cNvSpPr/>
          <p:nvPr/>
        </p:nvSpPr>
        <p:spPr>
          <a:xfrm>
            <a:off x="6172200" y="2651760"/>
            <a:ext cx="365760" cy="365760"/>
          </a:xfrm>
          <a:prstGeom prst="ellipse">
            <a:avLst/>
          </a:prstGeom>
          <a:solidFill>
            <a:srgbClr val="173B2F"/>
          </a:solidFill>
          <a:ln>
            <a:solidFill>
              <a:srgbClr val="173B2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15" name="Text 13"/>
          <p:cNvSpPr txBox="1"/>
          <p:nvPr/>
        </p:nvSpPr>
        <p:spPr>
          <a:xfrm>
            <a:off x="6675120" y="2468880"/>
            <a:ext cx="1783080" cy="731520"/>
          </a:xfrm>
          <a:prstGeom prst="rect">
            <a:avLst/>
          </a:prstGeom>
          <a:noFill/>
          <a:ln/>
        </p:spPr>
        <p:txBody>
          <a:bodyPr wrap="square" lIns="0" tIns="0" rIns="0" bIns="0" rtlCol="0" anchor="ctr"/>
          <a:lstStyle/>
          <a:p>
            <a:pPr indent="0" marL="0">
              <a:buNone/>
            </a:pPr>
            <a:r>
              <a:rPr lang="en-US" sz="1200" dirty="0">
                <a:solidFill>
                  <a:srgbClr val="173B2F"/>
                </a:solidFill>
                <a:latin typeface="Arial" pitchFamily="34" charset="0"/>
                <a:ea typeface="Arial" pitchFamily="34" charset="-122"/>
                <a:cs typeface="Arial" pitchFamily="34" charset="-120"/>
              </a:rPr>
              <a:t>All matter is made of tiny particles that are always moving.</a:t>
            </a:r>
            <a:endParaRPr lang="en-US" sz="1200" dirty="0"/>
          </a:p>
        </p:txBody>
      </p:sp>
      <p:sp>
        <p:nvSpPr>
          <p:cNvPr id="16" name="Shape 14"/>
          <p:cNvSpPr/>
          <p:nvPr/>
        </p:nvSpPr>
        <p:spPr>
          <a:xfrm>
            <a:off x="548640" y="3429000"/>
            <a:ext cx="2560320" cy="914400"/>
          </a:xfrm>
          <a:prstGeom prst="roundRect">
            <a:avLst>
              <a:gd name="adj" fmla="val 8000"/>
            </a:avLst>
          </a:prstGeom>
          <a:solidFill>
            <a:srgbClr val="EEF4F0"/>
          </a:solidFill>
          <a:ln w="12700">
            <a:solidFill>
              <a:srgbClr val="EEF4F0"/>
            </a:solidFill>
            <a:prstDash val="solid"/>
          </a:ln>
        </p:spPr>
      </p:sp>
      <p:sp>
        <p:nvSpPr>
          <p:cNvPr id="17" name="st3"/>
          <p:cNvSpPr/>
          <p:nvPr/>
        </p:nvSpPr>
        <p:spPr>
          <a:xfrm>
            <a:off x="685800" y="3703320"/>
            <a:ext cx="365760" cy="365760"/>
          </a:xfrm>
          <a:prstGeom prst="ellipse">
            <a:avLst/>
          </a:prstGeom>
          <a:solidFill>
            <a:srgbClr val="173B2F"/>
          </a:solidFill>
          <a:ln>
            <a:solidFill>
              <a:srgbClr val="173B2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18" name="Text 16"/>
          <p:cNvSpPr txBox="1"/>
          <p:nvPr/>
        </p:nvSpPr>
        <p:spPr>
          <a:xfrm>
            <a:off x="1188720" y="3520440"/>
            <a:ext cx="1783080" cy="731520"/>
          </a:xfrm>
          <a:prstGeom prst="rect">
            <a:avLst/>
          </a:prstGeom>
          <a:noFill/>
          <a:ln/>
        </p:spPr>
        <p:txBody>
          <a:bodyPr wrap="square" lIns="0" tIns="0" rIns="0" bIns="0" rtlCol="0" anchor="ctr"/>
          <a:lstStyle/>
          <a:p>
            <a:pPr indent="0" marL="0">
              <a:buNone/>
            </a:pPr>
            <a:r>
              <a:rPr lang="en-US" sz="1200" dirty="0">
                <a:solidFill>
                  <a:srgbClr val="173B2F"/>
                </a:solidFill>
                <a:latin typeface="Arial" pitchFamily="34" charset="0"/>
                <a:ea typeface="Arial" pitchFamily="34" charset="-122"/>
                <a:cs typeface="Arial" pitchFamily="34" charset="-120"/>
              </a:rPr>
              <a:t>Plants grow taller near a window, because they need light.</a:t>
            </a:r>
            <a:endParaRPr lang="en-US" sz="1200" dirty="0"/>
          </a:p>
        </p:txBody>
      </p:sp>
      <p:sp>
        <p:nvSpPr>
          <p:cNvPr id="19" name="Shape 17"/>
          <p:cNvSpPr/>
          <p:nvPr/>
        </p:nvSpPr>
        <p:spPr>
          <a:xfrm>
            <a:off x="3291840" y="3429000"/>
            <a:ext cx="2560320" cy="914400"/>
          </a:xfrm>
          <a:prstGeom prst="roundRect">
            <a:avLst>
              <a:gd name="adj" fmla="val 8000"/>
            </a:avLst>
          </a:prstGeom>
          <a:solidFill>
            <a:srgbClr val="EEF4F0"/>
          </a:solidFill>
          <a:ln w="12700">
            <a:solidFill>
              <a:srgbClr val="EEF4F0"/>
            </a:solidFill>
            <a:prstDash val="solid"/>
          </a:ln>
        </p:spPr>
      </p:sp>
      <p:sp>
        <p:nvSpPr>
          <p:cNvPr id="20" name="st4"/>
          <p:cNvSpPr/>
          <p:nvPr/>
        </p:nvSpPr>
        <p:spPr>
          <a:xfrm>
            <a:off x="3429000" y="3703320"/>
            <a:ext cx="365760" cy="365760"/>
          </a:xfrm>
          <a:prstGeom prst="ellipse">
            <a:avLst/>
          </a:prstGeom>
          <a:solidFill>
            <a:srgbClr val="173B2F"/>
          </a:solidFill>
          <a:ln>
            <a:solidFill>
              <a:srgbClr val="173B2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21" name="Text 19"/>
          <p:cNvSpPr txBox="1"/>
          <p:nvPr/>
        </p:nvSpPr>
        <p:spPr>
          <a:xfrm>
            <a:off x="3931920" y="3520440"/>
            <a:ext cx="1783080" cy="731520"/>
          </a:xfrm>
          <a:prstGeom prst="rect">
            <a:avLst/>
          </a:prstGeom>
          <a:noFill/>
          <a:ln/>
        </p:spPr>
        <p:txBody>
          <a:bodyPr wrap="square" lIns="0" tIns="0" rIns="0" bIns="0" rtlCol="0" anchor="ctr"/>
          <a:lstStyle/>
          <a:p>
            <a:pPr indent="0" marL="0">
              <a:buNone/>
            </a:pPr>
            <a:r>
              <a:rPr lang="en-US" sz="1200" dirty="0">
                <a:solidFill>
                  <a:srgbClr val="173B2F"/>
                </a:solidFill>
                <a:latin typeface="Arial" pitchFamily="34" charset="0"/>
                <a:ea typeface="Arial" pitchFamily="34" charset="-122"/>
                <a:cs typeface="Arial" pitchFamily="34" charset="-120"/>
              </a:rPr>
              <a:t>All living things are made of cells.</a:t>
            </a:r>
            <a:endParaRPr lang="en-US" sz="1200" dirty="0"/>
          </a:p>
        </p:txBody>
      </p:sp>
      <p:sp>
        <p:nvSpPr>
          <p:cNvPr id="22" name="Shape 20"/>
          <p:cNvSpPr/>
          <p:nvPr/>
        </p:nvSpPr>
        <p:spPr>
          <a:xfrm>
            <a:off x="6035040" y="3429000"/>
            <a:ext cx="2560320" cy="914400"/>
          </a:xfrm>
          <a:prstGeom prst="roundRect">
            <a:avLst>
              <a:gd name="adj" fmla="val 8000"/>
            </a:avLst>
          </a:prstGeom>
          <a:solidFill>
            <a:srgbClr val="EEF4F0"/>
          </a:solidFill>
          <a:ln w="12700">
            <a:solidFill>
              <a:srgbClr val="EEF4F0"/>
            </a:solidFill>
            <a:prstDash val="solid"/>
          </a:ln>
        </p:spPr>
      </p:sp>
      <p:sp>
        <p:nvSpPr>
          <p:cNvPr id="23" name="st5"/>
          <p:cNvSpPr/>
          <p:nvPr/>
        </p:nvSpPr>
        <p:spPr>
          <a:xfrm>
            <a:off x="6172200" y="3703320"/>
            <a:ext cx="365760" cy="365760"/>
          </a:xfrm>
          <a:prstGeom prst="ellipse">
            <a:avLst/>
          </a:prstGeom>
          <a:solidFill>
            <a:srgbClr val="173B2F"/>
          </a:solidFill>
          <a:ln>
            <a:solidFill>
              <a:srgbClr val="173B2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24" name="Text 22"/>
          <p:cNvSpPr txBox="1"/>
          <p:nvPr/>
        </p:nvSpPr>
        <p:spPr>
          <a:xfrm>
            <a:off x="6675120" y="3520440"/>
            <a:ext cx="1783080" cy="731520"/>
          </a:xfrm>
          <a:prstGeom prst="rect">
            <a:avLst/>
          </a:prstGeom>
          <a:noFill/>
          <a:ln/>
        </p:spPr>
        <p:txBody>
          <a:bodyPr wrap="square" lIns="0" tIns="0" rIns="0" bIns="0" rtlCol="0" anchor="ctr"/>
          <a:lstStyle/>
          <a:p>
            <a:pPr indent="0" marL="0">
              <a:buNone/>
            </a:pPr>
            <a:r>
              <a:rPr lang="en-US" sz="1200" dirty="0">
                <a:solidFill>
                  <a:srgbClr val="173B2F"/>
                </a:solidFill>
                <a:latin typeface="Arial" pitchFamily="34" charset="0"/>
                <a:ea typeface="Arial" pitchFamily="34" charset="-122"/>
                <a:cs typeface="Arial" pitchFamily="34" charset="-120"/>
              </a:rPr>
              <a:t>Our science teacher is secretly a wizard.</a:t>
            </a:r>
            <a:endParaRPr lang="en-US" sz="1200" dirty="0"/>
          </a:p>
        </p:txBody>
      </p:sp>
      <p:sp>
        <p:nvSpPr>
          <p:cNvPr id="25" name="Text 23"/>
          <p:cNvSpPr txBox="1"/>
          <p:nvPr/>
        </p:nvSpPr>
        <p:spPr>
          <a:xfrm>
            <a:off x="548640" y="4526280"/>
            <a:ext cx="8046720" cy="274320"/>
          </a:xfrm>
          <a:prstGeom prst="rect">
            <a:avLst/>
          </a:prstGeom>
          <a:noFill/>
          <a:ln/>
        </p:spPr>
        <p:txBody>
          <a:bodyPr wrap="square" lIns="0" tIns="0" rIns="0" bIns="0" rtlCol="0" anchor="ctr"/>
          <a:lstStyle/>
          <a:p>
            <a:pPr indent="0" marL="0">
              <a:buNone/>
            </a:pPr>
            <a:r>
              <a:rPr lang="en-US" sz="1250" dirty="0">
                <a:solidFill>
                  <a:srgbClr val="5C6B63"/>
                </a:solidFill>
                <a:latin typeface="Arial" pitchFamily="34" charset="0"/>
                <a:ea typeface="Arial" pitchFamily="34" charset="-122"/>
                <a:cs typeface="Arial" pitchFamily="34" charset="-120"/>
              </a:rPr>
              <a:t>Sort A–F into the three groups in your book. Be ready to explain one choice.</a:t>
            </a:r>
            <a:endParaRPr lang="en-US" sz="1250" dirty="0"/>
          </a:p>
        </p:txBody>
      </p:sp>
    </p:spTree>
  </p:cSld>
  <p:clrMapOvr>
    <a:masterClrMapping/>
  </p:clrMapOvr>
  <p:transition spd="med">
    <p:cover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B2F"/>
        </a:solidFill>
      </p:bgPr>
    </p:bg>
    <p:spTree>
      <p:nvGrpSpPr>
        <p:cNvPr id="1" name=""/>
        <p:cNvGrpSpPr/>
        <p:nvPr/>
      </p:nvGrpSpPr>
      <p:grpSpPr>
        <a:xfrm>
          <a:off x="0" y="0"/>
          <a:ext cx="0" cy="0"/>
          <a:chOff x="0" y="0"/>
          <a:chExt cx="0" cy="0"/>
        </a:xfrm>
      </p:grpSpPr>
      <p:sp>
        <p:nvSpPr>
          <p:cNvPr id="2" name="Text 0"/>
          <p:cNvSpPr/>
          <p:nvPr/>
        </p:nvSpPr>
        <p:spPr>
          <a:xfrm>
            <a:off x="548640" y="320040"/>
            <a:ext cx="1783080" cy="292608"/>
          </a:xfrm>
          <a:prstGeom prst="roundRect">
            <a:avLst>
              <a:gd name="adj" fmla="val 50000"/>
            </a:avLst>
          </a:prstGeom>
          <a:solidFill>
            <a:srgbClr val="F2A93B"/>
          </a:solidFill>
          <a:ln/>
        </p:spPr>
        <p:txBody>
          <a:bodyPr wrap="square" lIns="0" tIns="0" rIns="0" bIns="0" rtlCol="0" anchor="ctr"/>
          <a:lstStyle/>
          <a:p>
            <a:pPr algn="ctr" indent="0" marL="0">
              <a:buNone/>
            </a:pPr>
            <a:r>
              <a:rPr lang="en-US" sz="1000" b="1" spc="150" kern="0" dirty="0">
                <a:solidFill>
                  <a:srgbClr val="173B2F"/>
                </a:solidFill>
                <a:latin typeface="Arial" pitchFamily="34" charset="0"/>
                <a:ea typeface="Arial" pitchFamily="34" charset="-122"/>
                <a:cs typeface="Arial" pitchFamily="34" charset="-120"/>
              </a:rPr>
              <a:t>PLENARY · 4 MIN</a:t>
            </a:r>
            <a:endParaRPr lang="en-US" sz="10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Exit ticket</a:t>
            </a:r>
            <a:endParaRPr lang="en-US" sz="3600" dirty="0"/>
          </a:p>
        </p:txBody>
      </p:sp>
      <p:sp>
        <p:nvSpPr>
          <p:cNvPr id="4" name="ex0"/>
          <p:cNvSpPr/>
          <p:nvPr/>
        </p:nvSpPr>
        <p:spPr>
          <a:xfrm>
            <a:off x="548640" y="1600200"/>
            <a:ext cx="411480" cy="411480"/>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500" b="1" dirty="0">
                <a:solidFill>
                  <a:srgbClr val="173B2F"/>
                </a:solidFill>
                <a:latin typeface="Arial" pitchFamily="34" charset="0"/>
                <a:ea typeface="Arial" pitchFamily="34" charset="-122"/>
                <a:cs typeface="Arial" pitchFamily="34" charset="-120"/>
              </a:rPr>
              <a:t>1</a:t>
            </a:r>
            <a:endParaRPr lang="en-US" sz="1500" dirty="0"/>
          </a:p>
        </p:txBody>
      </p:sp>
      <p:sp>
        <p:nvSpPr>
          <p:cNvPr id="5" name="Text 3"/>
          <p:cNvSpPr txBox="1"/>
          <p:nvPr/>
        </p:nvSpPr>
        <p:spPr>
          <a:xfrm>
            <a:off x="1143000" y="1490472"/>
            <a:ext cx="4023360" cy="64008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What is a scientific theory? Use the word ‘evidence’.</a:t>
            </a:r>
            <a:endParaRPr lang="en-US" sz="1600" dirty="0"/>
          </a:p>
        </p:txBody>
      </p:sp>
      <p:sp>
        <p:nvSpPr>
          <p:cNvPr id="6" name="ex1"/>
          <p:cNvSpPr/>
          <p:nvPr/>
        </p:nvSpPr>
        <p:spPr>
          <a:xfrm>
            <a:off x="548640" y="2377440"/>
            <a:ext cx="411480" cy="411480"/>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500" b="1" dirty="0">
                <a:solidFill>
                  <a:srgbClr val="173B2F"/>
                </a:solidFill>
                <a:latin typeface="Arial" pitchFamily="34" charset="0"/>
                <a:ea typeface="Arial" pitchFamily="34" charset="-122"/>
                <a:cs typeface="Arial" pitchFamily="34" charset="-120"/>
              </a:rPr>
              <a:t>2</a:t>
            </a:r>
            <a:endParaRPr lang="en-US" sz="1500" dirty="0"/>
          </a:p>
        </p:txBody>
      </p:sp>
      <p:sp>
        <p:nvSpPr>
          <p:cNvPr id="7" name="Text 5"/>
          <p:cNvSpPr txBox="1"/>
          <p:nvPr/>
        </p:nvSpPr>
        <p:spPr>
          <a:xfrm>
            <a:off x="1143000" y="2267712"/>
            <a:ext cx="4023360" cy="64008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Why was Redi’s sealed jar so important?</a:t>
            </a:r>
            <a:endParaRPr lang="en-US" sz="1600" dirty="0"/>
          </a:p>
        </p:txBody>
      </p:sp>
      <p:sp>
        <p:nvSpPr>
          <p:cNvPr id="8" name="ex2"/>
          <p:cNvSpPr/>
          <p:nvPr/>
        </p:nvSpPr>
        <p:spPr>
          <a:xfrm>
            <a:off x="548640" y="3154680"/>
            <a:ext cx="411480" cy="411480"/>
          </a:xfrm>
          <a:prstGeom prst="ellipse">
            <a:avLst/>
          </a:prstGeom>
          <a:solidFill>
            <a:srgbClr val="F2A93B"/>
          </a:solidFill>
          <a:ln>
            <a:solidFill>
              <a:srgbClr val="F2A93B"/>
            </a:solidFill>
          </a:ln>
        </p:spPr>
        <p:txBody>
          <a:bodyPr wrap="square" lIns="0" tIns="0" rIns="0" bIns="0" rtlCol="0" anchor="ctr"/>
          <a:lstStyle/>
          <a:p>
            <a:pPr algn="ctr" indent="0" marL="0">
              <a:buNone/>
            </a:pPr>
            <a:r>
              <a:rPr lang="en-US" sz="1500" b="1" dirty="0">
                <a:solidFill>
                  <a:srgbClr val="173B2F"/>
                </a:solidFill>
                <a:latin typeface="Arial" pitchFamily="34" charset="0"/>
                <a:ea typeface="Arial" pitchFamily="34" charset="-122"/>
                <a:cs typeface="Arial" pitchFamily="34" charset="-120"/>
              </a:rPr>
              <a:t>3</a:t>
            </a:r>
            <a:endParaRPr lang="en-US" sz="1500" dirty="0"/>
          </a:p>
        </p:txBody>
      </p:sp>
      <p:sp>
        <p:nvSpPr>
          <p:cNvPr id="9" name="Text 7"/>
          <p:cNvSpPr txBox="1"/>
          <p:nvPr/>
        </p:nvSpPr>
        <p:spPr>
          <a:xfrm>
            <a:off x="1143000" y="3044952"/>
            <a:ext cx="4023360" cy="64008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“This theory might change one day.” Is that a weakness? Explain.</a:t>
            </a:r>
            <a:endParaRPr lang="en-US" sz="1600" dirty="0"/>
          </a:p>
        </p:txBody>
      </p:sp>
      <p:sp>
        <p:nvSpPr>
          <p:cNvPr id="10" name="p_b00"/>
          <p:cNvSpPr/>
          <p:nvPr/>
        </p:nvSpPr>
        <p:spPr>
          <a:xfrm>
            <a:off x="5436108" y="4023360"/>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1" name="p_b01"/>
          <p:cNvSpPr/>
          <p:nvPr/>
        </p:nvSpPr>
        <p:spPr>
          <a:xfrm>
            <a:off x="6231636" y="4023360"/>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2" name="p_b02"/>
          <p:cNvSpPr/>
          <p:nvPr/>
        </p:nvSpPr>
        <p:spPr>
          <a:xfrm>
            <a:off x="7027164" y="4023360"/>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3" name="p_b03"/>
          <p:cNvSpPr/>
          <p:nvPr/>
        </p:nvSpPr>
        <p:spPr>
          <a:xfrm>
            <a:off x="7822692" y="4023360"/>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4" name="p_b10"/>
          <p:cNvSpPr/>
          <p:nvPr/>
        </p:nvSpPr>
        <p:spPr>
          <a:xfrm>
            <a:off x="5833872" y="3575304"/>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5" name="p_b11"/>
          <p:cNvSpPr/>
          <p:nvPr/>
        </p:nvSpPr>
        <p:spPr>
          <a:xfrm>
            <a:off x="6629400" y="3575304"/>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6" name="p_b12"/>
          <p:cNvSpPr/>
          <p:nvPr/>
        </p:nvSpPr>
        <p:spPr>
          <a:xfrm>
            <a:off x="7424928" y="3575304"/>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7" name="p_b20"/>
          <p:cNvSpPr/>
          <p:nvPr/>
        </p:nvSpPr>
        <p:spPr>
          <a:xfrm>
            <a:off x="6231636" y="3127248"/>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8" name="p_b21"/>
          <p:cNvSpPr/>
          <p:nvPr/>
        </p:nvSpPr>
        <p:spPr>
          <a:xfrm>
            <a:off x="7027164" y="3127248"/>
            <a:ext cx="731520" cy="384048"/>
          </a:xfrm>
          <a:prstGeom prst="roundRect">
            <a:avLst>
              <a:gd name="adj" fmla="val 11905"/>
            </a:avLst>
          </a:prstGeom>
          <a:solidFill>
            <a:srgbClr val="2F6B55"/>
          </a:solidFill>
          <a:ln>
            <a:solidFill>
              <a:srgbClr val="2F6B55"/>
            </a:solidFill>
          </a:ln>
        </p:spPr>
        <p:txBody>
          <a:bodyPr wrap="square" lIns="0" tIns="0" rIns="0" bIns="0" rtlCol="0" anchor="ctr"/>
          <a:lstStyle/>
          <a:p>
            <a:pPr algn="ctr" indent="0" marL="0">
              <a:buNone/>
            </a:pPr>
            <a:r>
              <a:rPr lang="en-US" sz="800" dirty="0">
                <a:solidFill>
                  <a:srgbClr val="B9D3C6"/>
                </a:solidFill>
                <a:latin typeface="Arial" pitchFamily="34" charset="0"/>
                <a:ea typeface="Arial" pitchFamily="34" charset="-122"/>
                <a:cs typeface="Arial" pitchFamily="34" charset="-120"/>
              </a:rPr>
              <a:t>evidence</a:t>
            </a:r>
            <a:endParaRPr lang="en-US" sz="800" dirty="0"/>
          </a:p>
        </p:txBody>
      </p:sp>
      <p:sp>
        <p:nvSpPr>
          <p:cNvPr id="19" name="p_b30"/>
          <p:cNvSpPr/>
          <p:nvPr/>
        </p:nvSpPr>
        <p:spPr>
          <a:xfrm>
            <a:off x="6629400" y="2679192"/>
            <a:ext cx="731520" cy="384048"/>
          </a:xfrm>
          <a:prstGeom prst="roundRect">
            <a:avLst>
              <a:gd name="adj" fmla="val 11905"/>
            </a:avLst>
          </a:prstGeom>
          <a:solidFill>
            <a:srgbClr val="F2A93B"/>
          </a:solidFill>
          <a:ln>
            <a:solidFill>
              <a:srgbClr val="F2A93B"/>
            </a:solidFill>
          </a:ln>
        </p:spPr>
        <p:txBody>
          <a:bodyPr wrap="square" lIns="0" tIns="0" rIns="0" bIns="0" rtlCol="0" anchor="ctr"/>
          <a:lstStyle/>
          <a:p>
            <a:pPr algn="ctr" indent="0" marL="0">
              <a:buNone/>
            </a:pPr>
            <a:r>
              <a:rPr lang="en-US" sz="1000" b="1" dirty="0">
                <a:solidFill>
                  <a:srgbClr val="173B2F"/>
                </a:solidFill>
                <a:latin typeface="Arial" pitchFamily="34" charset="0"/>
                <a:ea typeface="Arial" pitchFamily="34" charset="-122"/>
                <a:cs typeface="Arial" pitchFamily="34" charset="-120"/>
              </a:rPr>
              <a:t>THEORY</a:t>
            </a:r>
            <a:endParaRPr lang="en-US" sz="100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Theories</dc:title>
  <dc:subject>PptxGenJS Presentation</dc:subject>
  <dc:creator>PptxGenJS</dc:creator>
  <cp:lastModifiedBy>PptxGenJS</cp:lastModifiedBy>
  <cp:revision>1</cp:revision>
  <dcterms:created xsi:type="dcterms:W3CDTF">2026-09-11T04:15:08Z</dcterms:created>
  <dcterms:modified xsi:type="dcterms:W3CDTF">2026-09-11T04:15:08Z</dcterms:modified>
</cp:coreProperties>
</file>