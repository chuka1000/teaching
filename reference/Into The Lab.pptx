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1.jpeg" ContentType="image/jpeg"/>
  <Override PartName="/ppt/notesSlides/notesSlide6.xml" ContentType="application/vnd.openxmlformats-officedocument.presentationml.notesSlide+xml"/>
  <Override PartName="/ppt/media/image2.jpeg" ContentType="image/jpeg"/>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 name="Shape 62"/>
          <p:cNvSpPr/>
          <p:nvPr>
            <p:ph type="sldImg"/>
          </p:nvPr>
        </p:nvSpPr>
        <p:spPr>
          <a:prstGeom prst="rect">
            <a:avLst/>
          </a:prstGeom>
        </p:spPr>
        <p:txBody>
          <a:bodyPr/>
          <a:lstStyle/>
          <a:p>
            <a:pPr/>
          </a:p>
        </p:txBody>
      </p:sp>
      <p:sp>
        <p:nvSpPr>
          <p:cNvPr id="63" name="Shape 63"/>
          <p:cNvSpPr/>
          <p:nvPr>
            <p:ph type="body" sz="quarter" idx="1"/>
          </p:nvPr>
        </p:nvSpPr>
        <p:spPr>
          <a:prstGeom prst="rect">
            <a:avLst/>
          </a:prstGeom>
        </p:spPr>
        <p:txBody>
          <a:bodyPr/>
          <a:lstStyle/>
          <a:p>
            <a:pPr/>
            <a:r>
              <a:t>DO NOW — 5 minutes. Four clicks, one answer each.</a:t>
            </a:r>
          </a:p>
          <a:p>
            <a:pPr/>
          </a:p>
          <a:p>
            <a:pPr/>
            <a:r>
              <a:t>BEFORE THE BELL, and this one is not optional: CHECK YOUR CLASS LIST FOR LATEX ALLERGY. Balloons are latex. A student with a latex allergy must not handle one, and in a severe case should not be in the room while they are being blown up. Nitrile or mylar balloons are the substitute if you need one.</a:t>
            </a:r>
          </a:p>
          <a:p>
            <a:pPr/>
          </a:p>
          <a:p>
            <a:pPr/>
            <a:r>
              <a:t>ALSO BEFORE THE BELL: goggles counted out, heat-proof mats down, a bin by each bench for balloon fragments, and a jug of water per bench.</a:t>
            </a:r>
          </a:p>
          <a:p>
            <a:pPr/>
          </a:p>
          <a:p>
            <a:pPr/>
            <a:r>
              <a:t>Q1 to Q3 are the last three lessons. Fast.</a:t>
            </a:r>
          </a:p>
          <a:p>
            <a:pPr/>
          </a:p>
          <a:p>
            <a:pPr/>
            <a:r>
              <a:t>Q4 IS A TEMPERATURE CHECK, not a test. Some will have used one at primary school, most will not. Collect three answers and find out what you are dealing with.</a:t>
            </a:r>
          </a:p>
          <a:p>
            <a:pPr/>
          </a:p>
          <a:p>
            <a:pPr/>
            <a:r>
              <a:t>THE DATE ON THIS SLIDE is a placeholder — change it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a:r>
              <a:t>TODAY — 2 minutes. Four clicks.</a:t>
            </a:r>
          </a:p>
          <a:p>
            <a:pPr/>
          </a:p>
          <a:p>
            <a:pPr/>
            <a:r>
              <a:t>Read each goal, do not elaborate. Goal 3 is the one they will react to; let them.</a:t>
            </a:r>
          </a:p>
          <a:p>
            <a:pPr/>
          </a:p>
          <a:p>
            <a:pPr/>
            <a:r>
              <a:t>SAY: "Three lessons of talking about science. Today you do some."</a:t>
            </a:r>
          </a:p>
          <a:p>
            <a:pPr/>
          </a:p>
          <a:p>
            <a:pPr/>
            <a:r>
              <a:t>DO NOT PROMISE THE BALLOON WORKS. Say you will find out together. If a student has seen it before, ask them to keep it to themselves.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Shape 113"/>
          <p:cNvSpPr/>
          <p:nvPr>
            <p:ph type="sldImg"/>
          </p:nvPr>
        </p:nvSpPr>
        <p:spPr>
          <a:prstGeom prst="rect">
            <a:avLst/>
          </a:prstGeom>
        </p:spPr>
        <p:txBody>
          <a:bodyPr/>
          <a:lstStyle/>
          <a:p>
            <a:pPr/>
          </a:p>
        </p:txBody>
      </p:sp>
      <p:sp>
        <p:nvSpPr>
          <p:cNvPr id="114" name="Shape 114"/>
          <p:cNvSpPr/>
          <p:nvPr>
            <p:ph type="body" sz="quarter" idx="1"/>
          </p:nvPr>
        </p:nvSpPr>
        <p:spPr>
          <a:prstGeom prst="rect">
            <a:avLst/>
          </a:prstGeom>
        </p:spPr>
        <p:txBody>
          <a:bodyPr/>
          <a:lstStyle/>
          <a:p>
            <a:pPr/>
            <a:r>
              <a:t>PREDICT — 3 minutes. Four clicks: each balloon, the question, the options.</a:t>
            </a:r>
          </a:p>
          <a:p>
            <a:pPr/>
          </a:p>
          <a:p>
            <a:pPr/>
            <a:r>
              <a:t>HANDS UP FOR EACH and write the tally on the board. Most classes pick A, because a balloon near a flame bursting is the most obvious thing in the world.</a:t>
            </a:r>
          </a:p>
          <a:p>
            <a:pPr/>
          </a:p>
          <a:p>
            <a:pPr/>
            <a:r>
              <a:t>THEY MUST WRITE THE PREDICTION DOWN before they touch anything. A prediction you did not record is a prediction you can pretend you never made, and half the value of the practical is being wrong in writing.</a:t>
            </a:r>
          </a:p>
          <a:p>
            <a:pPr/>
          </a:p>
          <a:p>
            <a:pPr/>
            <a:r>
              <a:t>DO NOT HINT. If someone knows the trick, thank them and ask them to stay quiet.</a:t>
            </a:r>
          </a:p>
          <a:p>
            <a:pPr/>
          </a:p>
          <a:p>
            <a:pPr/>
            <a:r>
              <a:t>THE ANSWER IS B, and they find it out themselves on slide 8.</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hape 134"/>
          <p:cNvSpPr/>
          <p:nvPr>
            <p:ph type="sldImg"/>
          </p:nvPr>
        </p:nvSpPr>
        <p:spPr>
          <a:prstGeom prst="rect">
            <a:avLst/>
          </a:prstGeom>
        </p:spPr>
        <p:txBody>
          <a:bodyPr/>
          <a:lstStyle/>
          <a:p>
            <a:pPr/>
          </a:p>
        </p:txBody>
      </p:sp>
      <p:sp>
        <p:nvSpPr>
          <p:cNvPr id="135" name="Shape 135"/>
          <p:cNvSpPr/>
          <p:nvPr>
            <p:ph type="body" sz="quarter" idx="1"/>
          </p:nvPr>
        </p:nvSpPr>
        <p:spPr>
          <a:prstGeom prst="rect">
            <a:avLst/>
          </a:prstGeom>
        </p:spPr>
        <p:txBody>
          <a:bodyPr/>
          <a:lstStyle/>
          <a:p>
            <a:pPr/>
            <a:r>
              <a:t>I DO — 4 minutes. Four clicks: the banner, each half, the closing line.</a:t>
            </a:r>
          </a:p>
          <a:p>
            <a:pPr/>
          </a:p>
          <a:p>
            <a:pPr/>
            <a:r>
              <a:t>KEEP IT SHORT. Matter is stuff. Energy is what makes stuff do things. Chemistry is mostly the first, physics is mostly the second, and the line between them is blurry on purpose.</a:t>
            </a:r>
          </a:p>
          <a:p>
            <a:pPr/>
          </a:p>
          <a:p>
            <a:pPr/>
            <a:r>
              <a:t>THE CLOSING LINE MATTERS: burning gas is a chemical change, and heat moving from a flame into water is physics. One balloon, both subjects. Say it now and come back to it on slide 9.</a:t>
            </a:r>
          </a:p>
          <a:p>
            <a:pPr/>
          </a:p>
          <a:p>
            <a:pPr/>
            <a:r>
              <a:t>MISCONCEPTION: "physics and chemistry are completely different subjects." They are the same subject with two doors into it. Biology mostly sits on top of both.</a:t>
            </a:r>
          </a:p>
          <a:p>
            <a:pPr/>
          </a:p>
          <a:p>
            <a:pPr/>
            <a:r>
              <a:t>DO NOT list branches of science. They do not need taxonomy, they need to get to the Bunsen burners.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EQUIPMENT — 4 minutes. Four clicks, one part each.</a:t>
            </a:r>
          </a:p>
          <a:p>
            <a:pPr/>
          </a:p>
          <a:p>
            <a:pPr/>
            <a:r>
              <a:t>HOLD A REAL ONE UP while you do this. The photograph is for the ones at the back.</a:t>
            </a:r>
          </a:p>
          <a:p>
            <a:pPr/>
          </a:p>
          <a:p>
            <a:pPr/>
            <a:r>
              <a:t>SAFETY BRIEF STARTS HERE and continues on the next two slides. Do not let anyone touch a burner until slide 7 is done.</a:t>
            </a:r>
          </a:p>
          <a:p>
            <a:pPr/>
          </a:p>
          <a:p>
            <a:pPr/>
            <a:r>
              <a:t>THE BARREL STAYS HOT for a long time after the flame is out and it does not look hot. That is the injury that actually happens in Year 7. Say it twice.</a:t>
            </a:r>
          </a:p>
          <a:p>
            <a:pPr/>
          </a:p>
          <a:p>
            <a:pPr/>
            <a:r>
              <a:t>CHECK THE GAS TAPS ARE OFF before you hand anything out. Walk the room and look.</a:t>
            </a:r>
          </a:p>
          <a:p>
            <a:pPr/>
          </a:p>
          <a:p>
            <a:pPr/>
            <a:r>
              <a:t>IF YOUR BENCHES HAVE A MASTER GAS VALVE, show them where it is and tell them you can cut the gas to the whole room in one second. It is reassuring and it is true.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a:r>
              <a:t>EQUIPMENT — 3 minutes. Three clicks: the photo, then each flame.</a:t>
            </a:r>
          </a:p>
          <a:p>
            <a:pPr/>
          </a:p>
          <a:p>
            <a:pPr/>
            <a:r>
              <a:t>THE RULE THEY MUST LEAVE WITH: not heating means safety flame. Every time you turn round, every burner in the room should be orange.</a:t>
            </a:r>
          </a:p>
          <a:p>
            <a:pPr/>
          </a:p>
          <a:p>
            <a:pPr/>
            <a:r>
              <a:t>THE BLUE FLAME IS NEARLY INVISIBLE in a bright lab and that is exactly why it is dangerous. Ask them how you would know a burner was on if you could not see the flame. The answer is that you assume every burner is on.</a:t>
            </a:r>
          </a:p>
          <a:p>
            <a:pPr/>
          </a:p>
          <a:p>
            <a:pPr/>
            <a:r>
              <a:t>DO NOT USE THE ROARING FLAME today. Flame 4 is more than this experiment needs and it makes the balloon burst faster than students can react.</a:t>
            </a:r>
          </a:p>
          <a:p>
            <a:pPr/>
          </a:p>
          <a:p>
            <a:pPr/>
            <a:r>
              <a:t>THE PHOTOGRAPH shows four flames as the air hole opens. Only 1 and 3 matter today.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4" name="Shape 214"/>
          <p:cNvSpPr/>
          <p:nvPr>
            <p:ph type="sldImg"/>
          </p:nvPr>
        </p:nvSpPr>
        <p:spPr>
          <a:prstGeom prst="rect">
            <a:avLst/>
          </a:prstGeom>
        </p:spPr>
        <p:txBody>
          <a:bodyPr/>
          <a:lstStyle/>
          <a:p>
            <a:pPr/>
          </a:p>
        </p:txBody>
      </p:sp>
      <p:sp>
        <p:nvSpPr>
          <p:cNvPr id="215" name="Shape 215"/>
          <p:cNvSpPr/>
          <p:nvPr>
            <p:ph type="body" sz="quarter" idx="1"/>
          </p:nvPr>
        </p:nvSpPr>
        <p:spPr>
          <a:prstGeom prst="rect">
            <a:avLst/>
          </a:prstGeom>
        </p:spPr>
        <p:txBody>
          <a:bodyPr/>
          <a:lstStyle/>
          <a:p>
            <a:pPr/>
            <a:r>
              <a:t>SAFETY — 4 minutes. Five clicks. Do not rush this and do not read it flatly.</a:t>
            </a:r>
          </a:p>
          <a:p>
            <a:pPr/>
          </a:p>
          <a:p>
            <a:pPr/>
            <a:r>
              <a:t>LATEX ALLERGY. Checked before the lesson, and if anyone is affected they do not handle balloons. Say nothing that identifies them.</a:t>
            </a:r>
          </a:p>
          <a:p>
            <a:pPr/>
          </a:p>
          <a:p>
            <a:pPr/>
            <a:r>
              <a:t>THE BANG IS LOUD. Warn the class properly before the first burst, and check whether anyone is noise-sensitive — ear defenders or a step into the corridor for the first one is a reasonable adjustment and costs nothing. A student who is startled and flinches backwards into a lit burner is the realistic accident here, which is why the banner is on the slide.</a:t>
            </a:r>
          </a:p>
          <a:p>
            <a:pPr/>
          </a:p>
          <a:p>
            <a:pPr/>
            <a:r>
              <a:t>HOLDING THE BALLOON: by the neck, arm extended, balloon at least 10 cm above the top of the barrel. Never lean over it. Tongs are an option if a student is nervous.</a:t>
            </a:r>
          </a:p>
          <a:p>
            <a:pPr/>
          </a:p>
          <a:p>
            <a:pPr/>
            <a:r>
              <a:t>HAVE READY: heat-proof mats, a bin per bench for latex fragments, a jug of water per bench, goggles for all.</a:t>
            </a:r>
          </a:p>
          <a:p>
            <a:pPr/>
          </a:p>
          <a:p>
            <a:pPr/>
            <a:r>
              <a:t>ASK THEM TO SAY THE FOUR RULES BACK before you release them. Thirty seconds, and it is the difference between a good practical and a bad 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t>PRACTICAL — 16 minutes. Six clicks, then leave the slide up the whole time.</a:t>
            </a:r>
          </a:p>
          <a:p>
            <a:pPr/>
          </a:p>
          <a:p>
            <a:pPr/>
            <a:r>
              <a:t>DEMONSTRATE BALLOON 1 YOURSELF FIRST, at the front, with the class back. One bang, everyone has heard it, and the startle is out of the way before anyone is holding anything.</a:t>
            </a:r>
          </a:p>
          <a:p>
            <a:pPr/>
          </a:p>
          <a:p>
            <a:pPr/>
            <a:r>
              <a:t>THEN DEMONSTRATE BALLOON 2. Do not explain it. Let them see it not burst and let the room react.</a:t>
            </a:r>
          </a:p>
          <a:p>
            <a:pPr/>
          </a:p>
          <a:p>
            <a:pPr/>
            <a:r>
              <a:t>THEN RELEASE THEM in pairs or threes. Roughly 10 minutes of hands-on is plenty.</a:t>
            </a:r>
          </a:p>
          <a:p>
            <a:pPr/>
          </a:p>
          <a:p>
            <a:pPr/>
            <a:r>
              <a:t>BALLOON SIZE MATTERS. Overfilled balloons burst faster and louder. Grapefruit, not football.</a:t>
            </a:r>
          </a:p>
          <a:p>
            <a:pPr/>
          </a:p>
          <a:p>
            <a:pPr/>
            <a:r>
              <a:t>WATER: about half a cup, 50 to 100 ml. Too little and the rubber above the waterline still fails; too much and it is awkward to hold.</a:t>
            </a:r>
          </a:p>
          <a:p>
            <a:pPr/>
          </a:p>
          <a:p>
            <a:pPr/>
            <a:r>
              <a:t>THE FLAME MUST BE UNDER THE WATER, not under the air above it. This is the commonest reason a group's second balloon bursts, and it is a good thing to let them discover and correct.</a:t>
            </a:r>
          </a:p>
          <a:p>
            <a:pPr/>
          </a:p>
          <a:p>
            <a:pPr/>
            <a:r>
              <a:t>THE BALLOON GOES BLACK. That is soot from the flame, and it is worth pointing out — it is unburnt carbon, and it is chemistry happening in front of them.</a:t>
            </a:r>
          </a:p>
          <a:p>
            <a:pPr/>
          </a:p>
          <a:p>
            <a:pPr/>
            <a:r>
              <a:t>CIRCULATE AND COUNT SECONDS OUT LOUD with groups. It turns a bang into a measurement.</a:t>
            </a:r>
          </a:p>
          <a:p>
            <a:pPr/>
          </a:p>
          <a:p>
            <a:pPr/>
            <a:r>
              <a:t>FIVE MINUTES BEFORE THE END: gas off, burners cooling, goggles stay on until you say otherwise, fragments in the bin.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3" name="Shape 273"/>
          <p:cNvSpPr/>
          <p:nvPr>
            <p:ph type="sldImg"/>
          </p:nvPr>
        </p:nvSpPr>
        <p:spPr>
          <a:prstGeom prst="rect">
            <a:avLst/>
          </a:prstGeom>
        </p:spPr>
        <p:txBody>
          <a:bodyPr/>
          <a:lstStyle/>
          <a:p>
            <a:pPr/>
          </a:p>
        </p:txBody>
      </p:sp>
      <p:sp>
        <p:nvSpPr>
          <p:cNvPr id="274" name="Shape 274"/>
          <p:cNvSpPr/>
          <p:nvPr>
            <p:ph type="body" sz="quarter" idx="1"/>
          </p:nvPr>
        </p:nvSpPr>
        <p:spPr>
          <a:prstGeom prst="rect">
            <a:avLst/>
          </a:prstGeom>
        </p:spPr>
        <p:txBody>
          <a:bodyPr/>
          <a:lstStyle/>
          <a:p>
            <a:pPr/>
            <a:r>
              <a:t>EXPLAIN — 4 minutes. Five clicks: each panel, the key line, the banner.</a:t>
            </a:r>
          </a:p>
          <a:p>
            <a:pPr/>
          </a:p>
          <a:p>
            <a:pPr/>
            <a:r>
              <a:t>ASK BEFORE YOU CLICK: "the water was touching the rubber. Why did that help?" Take three answers before revealing anything. Somebody usually gets close.</a:t>
            </a:r>
          </a:p>
          <a:p>
            <a:pPr/>
          </a:p>
          <a:p>
            <a:pPr/>
            <a:r>
              <a:t>THE IDEA, in Year 7 language: the heat goes into the water instead of into the rubber. Water is very good at soaking up heat without getting much hotter itself.</a:t>
            </a:r>
          </a:p>
          <a:p>
            <a:pPr/>
          </a:p>
          <a:p>
            <a:pPr/>
            <a:r>
              <a:t>DO NOT SAY "SPECIFIC HEAT CAPACITY" unless a student asks. If one does, give them the phrase and tell them they have just met a Year 10 idea two years early.</a:t>
            </a:r>
          </a:p>
          <a:p>
            <a:pPr/>
          </a:p>
          <a:p>
            <a:pPr/>
            <a:r>
              <a:t>GET THEM TO TOUCH THE BALLOON afterwards — the water inside is barely warm. That is the evidence, and it is much better than being told.</a:t>
            </a:r>
          </a:p>
          <a:p>
            <a:pPr/>
          </a:p>
          <a:p>
            <a:pPr/>
            <a:r>
              <a:t>CALL BACK TO SLIDE 4: burning gas is chemistry, heat moving into water is physics. One balloon, both halves of physical science.</a:t>
            </a:r>
          </a:p>
          <a:p>
            <a:pPr/>
          </a:p>
          <a:p>
            <a:pPr/>
            <a:r>
              <a:t>GO BACK TO THE PREDICTION TALLY. Ask who changed their mind, and be pleased about it rather than teasing. Changing your mind because of evidence is the entire unit.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Shape 311"/>
          <p:cNvSpPr/>
          <p:nvPr>
            <p:ph type="sldImg"/>
          </p:nvPr>
        </p:nvSpPr>
        <p:spPr>
          <a:prstGeom prst="rect">
            <a:avLst/>
          </a:prstGeom>
        </p:spPr>
        <p:txBody>
          <a:bodyPr/>
          <a:lstStyle/>
          <a:p>
            <a:pPr/>
          </a:p>
        </p:txBody>
      </p:sp>
      <p:sp>
        <p:nvSpPr>
          <p:cNvPr id="312" name="Shape 312"/>
          <p:cNvSpPr/>
          <p:nvPr>
            <p:ph type="body" sz="quarter" idx="1"/>
          </p:nvPr>
        </p:nvSpPr>
        <p:spPr>
          <a:prstGeom prst="rect">
            <a:avLst/>
          </a:prstGeom>
        </p:spPr>
        <p:txBody>
          <a:bodyPr/>
          <a:lstStyle/>
          <a:p>
            <a:pPr/>
            <a:r>
              <a:t>WHERE THIS GOES — 3 minutes. Six clicks.</a:t>
            </a:r>
          </a:p>
          <a:p>
            <a:pPr/>
          </a:p>
          <a:p>
            <a:pPr/>
            <a:r>
              <a:t>THIS IS THE POINT OF THE LESSON, so do not let it become a list read out at speed. Click them, and say one real sentence about the two you personally find most exciting. Enthusiasm is the curriculum here.</a:t>
            </a:r>
          </a:p>
          <a:p>
            <a:pPr/>
          </a:p>
          <a:p>
            <a:pPr/>
            <a:r>
              <a:t>FUSION IS THE ONE THAT LANDS. Machines are being built right now to hold plasma hotter than the centre of the Sun. The people who finish that job are in Year 7 somewhere.</a:t>
            </a:r>
          </a:p>
          <a:p>
            <a:pPr/>
          </a:p>
          <a:p>
            <a:pPr/>
            <a:r>
              <a:t>MATERIALS ENGINEER IS THE CLOSEST TO TODAY. Choosing what something is made of so it survives heat is exactly the balloon question, scaled up.</a:t>
            </a:r>
          </a:p>
          <a:p>
            <a:pPr/>
          </a:p>
          <a:p>
            <a:pPr/>
            <a:r>
              <a:t>DO NOT TALK ABOUT GRADES OR SUBJECT CHOICES. They are twelve. The message is "this is interesting and the door is open", not "work hard or else".</a:t>
            </a:r>
          </a:p>
          <a:p>
            <a:pPr/>
          </a:p>
          <a:p>
            <a:pPr/>
            <a:r>
              <a:t>IF THERE IS TIME, ask which one they would pick. Take four answers and no commentary.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9" name="Shape 339"/>
          <p:cNvSpPr/>
          <p:nvPr>
            <p:ph type="sldImg"/>
          </p:nvPr>
        </p:nvSpPr>
        <p:spPr>
          <a:prstGeom prst="rect">
            <a:avLst/>
          </a:prstGeom>
        </p:spPr>
        <p:txBody>
          <a:bodyPr/>
          <a:lstStyle/>
          <a:p>
            <a:pPr/>
          </a:p>
        </p:txBody>
      </p:sp>
      <p:sp>
        <p:nvSpPr>
          <p:cNvPr id="340" name="Shape 340"/>
          <p:cNvSpPr/>
          <p:nvPr>
            <p:ph type="body" sz="quarter" idx="1"/>
          </p:nvPr>
        </p:nvSpPr>
        <p:spPr>
          <a:prstGeom prst="rect">
            <a:avLst/>
          </a:prstGeom>
        </p:spPr>
        <p:txBody>
          <a:bodyPr/>
          <a:lstStyle/>
          <a:p>
            <a:pPr/>
            <a:r>
              <a:t>PLENARY — 2 minutes. Four clicks.</a:t>
            </a:r>
          </a:p>
          <a:p>
            <a:pPr/>
          </a:p>
          <a:p>
            <a:pPr/>
            <a:r>
              <a:t>GAS OFF AND BURNERS COOL BEFORE THIS SLIDE. Goggles can come off once every burner is out and counted back in.</a:t>
            </a:r>
          </a:p>
          <a:p>
            <a:pPr/>
          </a:p>
          <a:p>
            <a:pPr/>
            <a:r>
              <a:t>Q3 is the assessed one. Take two or three answers before clicking; you want "the water took the heat", not "the water protected it".</a:t>
            </a:r>
          </a:p>
          <a:p>
            <a:pPr/>
          </a:p>
          <a:p>
            <a:pPr/>
            <a:r>
              <a:t>THE CLOSING LINE closes the unit. Say it and mean it.</a:t>
            </a:r>
          </a:p>
          <a:p>
            <a:pPr/>
          </a:p>
          <a:p>
            <a:pPr/>
            <a:r>
              <a:t>COUNT THE GOGGLES BACK IN. Check every gas tap yourself before the room empties — do not delegate it.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22" name="phase_pill"/>
          <p:cNvGrpSpPr/>
          <p:nvPr/>
        </p:nvGrpSpPr>
        <p:grpSpPr>
          <a:xfrm>
            <a:off x="502919" y="347472"/>
            <a:ext cx="1819657" cy="329185"/>
            <a:chOff x="0" y="0"/>
            <a:chExt cx="1819655" cy="329184"/>
          </a:xfrm>
        </p:grpSpPr>
        <p:sp>
          <p:nvSpPr>
            <p:cNvPr id="20" name="Rounded Rectangle"/>
            <p:cNvSpPr/>
            <p:nvPr/>
          </p:nvSpPr>
          <p:spPr>
            <a:xfrm>
              <a:off x="0" y="0"/>
              <a:ext cx="1819656"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1" name="DO NOW · 5 MIN"/>
            <p:cNvSpPr txBox="1"/>
            <p:nvPr/>
          </p:nvSpPr>
          <p:spPr>
            <a:xfrm>
              <a:off x="42850" y="90677"/>
              <a:ext cx="173395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5 MIN</a:t>
              </a:r>
            </a:p>
          </p:txBody>
        </p:sp>
      </p:grpSp>
      <p:sp>
        <p:nvSpPr>
          <p:cNvPr id="23" name="lesson_title"/>
          <p:cNvSpPr txBox="1"/>
          <p:nvPr/>
        </p:nvSpPr>
        <p:spPr>
          <a:xfrm>
            <a:off x="4413905" y="242824"/>
            <a:ext cx="3351490"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400">
                <a:solidFill>
                  <a:srgbClr val="4A2C6F"/>
                </a:solidFill>
                <a:latin typeface="Georgia"/>
                <a:ea typeface="Georgia"/>
                <a:cs typeface="Georgia"/>
                <a:sym typeface="Georgia"/>
              </a:defRPr>
            </a:lvl1pPr>
          </a:lstStyle>
          <a:p>
            <a:pPr/>
            <a:r>
              <a:t>Into the lab</a:t>
            </a:r>
          </a:p>
        </p:txBody>
      </p:sp>
      <p:sp>
        <p:nvSpPr>
          <p:cNvPr id="24" name="lesson_date"/>
          <p:cNvSpPr txBox="1"/>
          <p:nvPr/>
        </p:nvSpPr>
        <p:spPr>
          <a:xfrm>
            <a:off x="9045262" y="436855"/>
            <a:ext cx="264351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700">
                <a:solidFill>
                  <a:srgbClr val="6A6180"/>
                </a:solidFill>
                <a:latin typeface="Arial"/>
                <a:ea typeface="Arial"/>
                <a:cs typeface="Arial"/>
                <a:sym typeface="Arial"/>
              </a:defRPr>
            </a:lvl1pPr>
          </a:lstStyle>
          <a:p>
            <a:pPr/>
            <a:r>
              <a:t>Friday 18 September 2026</a:t>
            </a:r>
          </a:p>
        </p:txBody>
      </p:sp>
      <p:sp>
        <p:nvSpPr>
          <p:cNvPr id="25" name="rule"/>
          <p:cNvSpPr/>
          <p:nvPr/>
        </p:nvSpPr>
        <p:spPr>
          <a:xfrm>
            <a:off x="502919" y="982698"/>
            <a:ext cx="11185857" cy="41149"/>
          </a:xfrm>
          <a:prstGeom prst="rect">
            <a:avLst/>
          </a:prstGeom>
          <a:solidFill>
            <a:srgbClr val="F2A03D"/>
          </a:solidFill>
          <a:ln w="12700">
            <a:solidFill>
              <a:srgbClr val="F2A03D"/>
            </a:solidFill>
          </a:ln>
        </p:spPr>
        <p:txBody>
          <a:bodyPr lIns="45719" rIns="45719"/>
          <a:lstStyle/>
          <a:p>
            <a:pPr/>
          </a:p>
        </p:txBody>
      </p:sp>
      <p:sp>
        <p:nvSpPr>
          <p:cNvPr id="26" name="dq0_card"/>
          <p:cNvSpPr/>
          <p:nvPr/>
        </p:nvSpPr>
        <p:spPr>
          <a:xfrm>
            <a:off x="502919" y="1366746"/>
            <a:ext cx="5428338" cy="1536193"/>
          </a:xfrm>
          <a:prstGeom prst="roundRect">
            <a:avLst>
              <a:gd name="adj" fmla="val 8333"/>
            </a:avLst>
          </a:prstGeom>
          <a:solidFill>
            <a:srgbClr val="FFFFFF"/>
          </a:solidFill>
          <a:ln w="15875">
            <a:solidFill>
              <a:srgbClr val="E3DAF0"/>
            </a:solidFill>
          </a:ln>
        </p:spPr>
        <p:txBody>
          <a:bodyPr lIns="45719" rIns="45719"/>
          <a:lstStyle/>
          <a:p>
            <a:pPr/>
          </a:p>
        </p:txBody>
      </p:sp>
      <p:sp>
        <p:nvSpPr>
          <p:cNvPr id="27" name="dq0_n"/>
          <p:cNvSpPr txBox="1"/>
          <p:nvPr/>
        </p:nvSpPr>
        <p:spPr>
          <a:xfrm>
            <a:off x="722376" y="1592044"/>
            <a:ext cx="40233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2A03D"/>
                </a:solidFill>
                <a:latin typeface="Georgia"/>
                <a:ea typeface="Georgia"/>
                <a:cs typeface="Georgia"/>
                <a:sym typeface="Georgia"/>
              </a:defRPr>
            </a:lvl1pPr>
          </a:lstStyle>
          <a:p>
            <a:pPr/>
            <a:r>
              <a:t>1</a:t>
            </a:r>
          </a:p>
        </p:txBody>
      </p:sp>
      <p:sp>
        <p:nvSpPr>
          <p:cNvPr id="28" name="dq0_q"/>
          <p:cNvSpPr txBox="1"/>
          <p:nvPr/>
        </p:nvSpPr>
        <p:spPr>
          <a:xfrm>
            <a:off x="1252727" y="1719460"/>
            <a:ext cx="4459073" cy="2821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300"/>
              </a:lnSpc>
              <a:defRPr>
                <a:solidFill>
                  <a:srgbClr val="241535"/>
                </a:solidFill>
                <a:latin typeface="Arial"/>
                <a:ea typeface="Arial"/>
                <a:cs typeface="Arial"/>
                <a:sym typeface="Arial"/>
              </a:defRPr>
            </a:lvl1pPr>
          </a:lstStyle>
          <a:p>
            <a:pPr/>
            <a:r>
              <a:t>What is a hypothesis?</a:t>
            </a:r>
          </a:p>
        </p:txBody>
      </p:sp>
      <p:grpSp>
        <p:nvGrpSpPr>
          <p:cNvPr id="31" name="dq0_a"/>
          <p:cNvGrpSpPr/>
          <p:nvPr/>
        </p:nvGrpSpPr>
        <p:grpSpPr>
          <a:xfrm>
            <a:off x="722376" y="2299434"/>
            <a:ext cx="4989425" cy="457201"/>
            <a:chOff x="0" y="0"/>
            <a:chExt cx="4989424" cy="457200"/>
          </a:xfrm>
        </p:grpSpPr>
        <p:sp>
          <p:nvSpPr>
            <p:cNvPr id="29" name="Rounded Rectangle"/>
            <p:cNvSpPr/>
            <p:nvPr/>
          </p:nvSpPr>
          <p:spPr>
            <a:xfrm>
              <a:off x="0" y="0"/>
              <a:ext cx="4989425" cy="457200"/>
            </a:xfrm>
            <a:prstGeom prst="roundRect">
              <a:avLst>
                <a:gd name="adj" fmla="val 20000"/>
              </a:avLst>
            </a:prstGeom>
            <a:solidFill>
              <a:srgbClr val="FDEEDC"/>
            </a:solidFill>
            <a:ln w="15240" cap="flat">
              <a:solidFill>
                <a:srgbClr val="F2A03D"/>
              </a:solidFill>
              <a:prstDash val="solid"/>
              <a:round/>
            </a:ln>
            <a:effectLst/>
          </p:spPr>
          <p:txBody>
            <a:bodyPr wrap="square" lIns="45719" tIns="45719" rIns="45719" bIns="45719" numCol="1" anchor="ctr">
              <a:noAutofit/>
            </a:bodyPr>
            <a:lstStyle/>
            <a:p>
              <a:pPr>
                <a:defRPr sz="1500"/>
              </a:pPr>
            </a:p>
          </p:txBody>
        </p:sp>
        <p:sp>
          <p:nvSpPr>
            <p:cNvPr id="30" name="A prediction about an observation."/>
            <p:cNvSpPr txBox="1"/>
            <p:nvPr/>
          </p:nvSpPr>
          <p:spPr>
            <a:xfrm>
              <a:off x="34402" y="122750"/>
              <a:ext cx="492062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4A2C6F"/>
                  </a:solidFill>
                  <a:latin typeface="Arial"/>
                  <a:ea typeface="Arial"/>
                  <a:cs typeface="Arial"/>
                  <a:sym typeface="Arial"/>
                </a:defRPr>
              </a:lvl1pPr>
            </a:lstStyle>
            <a:p>
              <a:pPr/>
              <a:r>
                <a:t>A prediction about an observation.</a:t>
              </a:r>
            </a:p>
          </p:txBody>
        </p:sp>
      </p:grpSp>
      <p:sp>
        <p:nvSpPr>
          <p:cNvPr id="32" name="dq1_card"/>
          <p:cNvSpPr/>
          <p:nvPr/>
        </p:nvSpPr>
        <p:spPr>
          <a:xfrm>
            <a:off x="6260439" y="1366746"/>
            <a:ext cx="5428338" cy="1536193"/>
          </a:xfrm>
          <a:prstGeom prst="roundRect">
            <a:avLst>
              <a:gd name="adj" fmla="val 8333"/>
            </a:avLst>
          </a:prstGeom>
          <a:solidFill>
            <a:srgbClr val="FFFFFF"/>
          </a:solidFill>
          <a:ln w="15875">
            <a:solidFill>
              <a:srgbClr val="E3DAF0"/>
            </a:solidFill>
          </a:ln>
        </p:spPr>
        <p:txBody>
          <a:bodyPr lIns="45719" rIns="45719"/>
          <a:lstStyle/>
          <a:p>
            <a:pPr/>
          </a:p>
        </p:txBody>
      </p:sp>
      <p:sp>
        <p:nvSpPr>
          <p:cNvPr id="33" name="dq1_n"/>
          <p:cNvSpPr txBox="1"/>
          <p:nvPr/>
        </p:nvSpPr>
        <p:spPr>
          <a:xfrm>
            <a:off x="6479895" y="1592044"/>
            <a:ext cx="40233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2A03D"/>
                </a:solidFill>
                <a:latin typeface="Georgia"/>
                <a:ea typeface="Georgia"/>
                <a:cs typeface="Georgia"/>
                <a:sym typeface="Georgia"/>
              </a:defRPr>
            </a:lvl1pPr>
          </a:lstStyle>
          <a:p>
            <a:pPr/>
            <a:r>
              <a:t>2</a:t>
            </a:r>
          </a:p>
        </p:txBody>
      </p:sp>
      <p:sp>
        <p:nvSpPr>
          <p:cNvPr id="34" name="dq1_q"/>
          <p:cNvSpPr txBox="1"/>
          <p:nvPr/>
        </p:nvSpPr>
        <p:spPr>
          <a:xfrm>
            <a:off x="7010248" y="1719460"/>
            <a:ext cx="4459073" cy="2821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300"/>
              </a:lnSpc>
              <a:defRPr>
                <a:solidFill>
                  <a:srgbClr val="241535"/>
                </a:solidFill>
                <a:latin typeface="Arial"/>
                <a:ea typeface="Arial"/>
                <a:cs typeface="Arial"/>
                <a:sym typeface="Arial"/>
              </a:defRPr>
            </a:lvl1pPr>
          </a:lstStyle>
          <a:p>
            <a:pPr/>
            <a:r>
              <a:t>What does a scientific theory do?</a:t>
            </a:r>
          </a:p>
        </p:txBody>
      </p:sp>
      <p:grpSp>
        <p:nvGrpSpPr>
          <p:cNvPr id="37" name="dq1_a"/>
          <p:cNvGrpSpPr/>
          <p:nvPr/>
        </p:nvGrpSpPr>
        <p:grpSpPr>
          <a:xfrm>
            <a:off x="6479895" y="2299434"/>
            <a:ext cx="4989426" cy="457201"/>
            <a:chOff x="0" y="0"/>
            <a:chExt cx="4989424" cy="457200"/>
          </a:xfrm>
        </p:grpSpPr>
        <p:sp>
          <p:nvSpPr>
            <p:cNvPr id="35" name="Rounded Rectangle"/>
            <p:cNvSpPr/>
            <p:nvPr/>
          </p:nvSpPr>
          <p:spPr>
            <a:xfrm>
              <a:off x="0" y="0"/>
              <a:ext cx="4989425" cy="457200"/>
            </a:xfrm>
            <a:prstGeom prst="roundRect">
              <a:avLst>
                <a:gd name="adj" fmla="val 20000"/>
              </a:avLst>
            </a:prstGeom>
            <a:solidFill>
              <a:srgbClr val="FDEEDC"/>
            </a:solidFill>
            <a:ln w="15240" cap="flat">
              <a:solidFill>
                <a:srgbClr val="F2A03D"/>
              </a:solidFill>
              <a:prstDash val="solid"/>
              <a:round/>
            </a:ln>
            <a:effectLst/>
          </p:spPr>
          <p:txBody>
            <a:bodyPr wrap="square" lIns="45719" tIns="45719" rIns="45719" bIns="45719" numCol="1" anchor="ctr">
              <a:noAutofit/>
            </a:bodyPr>
            <a:lstStyle/>
            <a:p>
              <a:pPr>
                <a:defRPr sz="1500"/>
              </a:pPr>
            </a:p>
          </p:txBody>
        </p:sp>
        <p:sp>
          <p:nvSpPr>
            <p:cNvPr id="36" name="It explains why something happens."/>
            <p:cNvSpPr txBox="1"/>
            <p:nvPr/>
          </p:nvSpPr>
          <p:spPr>
            <a:xfrm>
              <a:off x="34402" y="122750"/>
              <a:ext cx="492062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4A2C6F"/>
                  </a:solidFill>
                  <a:latin typeface="Arial"/>
                  <a:ea typeface="Arial"/>
                  <a:cs typeface="Arial"/>
                  <a:sym typeface="Arial"/>
                </a:defRPr>
              </a:lvl1pPr>
            </a:lstStyle>
            <a:p>
              <a:pPr/>
              <a:r>
                <a:t>It explains why something happens.</a:t>
              </a:r>
            </a:p>
          </p:txBody>
        </p:sp>
      </p:grpSp>
      <p:sp>
        <p:nvSpPr>
          <p:cNvPr id="38" name="dq2_card"/>
          <p:cNvSpPr/>
          <p:nvPr/>
        </p:nvSpPr>
        <p:spPr>
          <a:xfrm>
            <a:off x="502919" y="3177258"/>
            <a:ext cx="5428338" cy="1536193"/>
          </a:xfrm>
          <a:prstGeom prst="roundRect">
            <a:avLst>
              <a:gd name="adj" fmla="val 8333"/>
            </a:avLst>
          </a:prstGeom>
          <a:solidFill>
            <a:srgbClr val="FFFFFF"/>
          </a:solidFill>
          <a:ln w="15875">
            <a:solidFill>
              <a:srgbClr val="E3DAF0"/>
            </a:solidFill>
          </a:ln>
        </p:spPr>
        <p:txBody>
          <a:bodyPr lIns="45719" rIns="45719"/>
          <a:lstStyle/>
          <a:p>
            <a:pPr/>
          </a:p>
        </p:txBody>
      </p:sp>
      <p:sp>
        <p:nvSpPr>
          <p:cNvPr id="39" name="dq2_n"/>
          <p:cNvSpPr txBox="1"/>
          <p:nvPr/>
        </p:nvSpPr>
        <p:spPr>
          <a:xfrm>
            <a:off x="722376" y="3402556"/>
            <a:ext cx="40233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2A03D"/>
                </a:solidFill>
                <a:latin typeface="Georgia"/>
                <a:ea typeface="Georgia"/>
                <a:cs typeface="Georgia"/>
                <a:sym typeface="Georgia"/>
              </a:defRPr>
            </a:lvl1pPr>
          </a:lstStyle>
          <a:p>
            <a:pPr/>
            <a:r>
              <a:t>3</a:t>
            </a:r>
          </a:p>
        </p:txBody>
      </p:sp>
      <p:sp>
        <p:nvSpPr>
          <p:cNvPr id="40" name="dq2_q"/>
          <p:cNvSpPr txBox="1"/>
          <p:nvPr/>
        </p:nvSpPr>
        <p:spPr>
          <a:xfrm>
            <a:off x="1252727" y="3529972"/>
            <a:ext cx="4459073" cy="2821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300"/>
              </a:lnSpc>
              <a:defRPr>
                <a:solidFill>
                  <a:srgbClr val="241535"/>
                </a:solidFill>
                <a:latin typeface="Arial"/>
                <a:ea typeface="Arial"/>
                <a:cs typeface="Arial"/>
                <a:sym typeface="Arial"/>
              </a:defRPr>
            </a:lvl1pPr>
          </a:lstStyle>
          <a:p>
            <a:pPr/>
            <a:r>
              <a:t>Name a ‘forgotten’ scientist.</a:t>
            </a:r>
          </a:p>
        </p:txBody>
      </p:sp>
      <p:grpSp>
        <p:nvGrpSpPr>
          <p:cNvPr id="43" name="dq2_a"/>
          <p:cNvGrpSpPr/>
          <p:nvPr/>
        </p:nvGrpSpPr>
        <p:grpSpPr>
          <a:xfrm>
            <a:off x="722376" y="4109946"/>
            <a:ext cx="4989425" cy="457201"/>
            <a:chOff x="0" y="0"/>
            <a:chExt cx="4989424" cy="457200"/>
          </a:xfrm>
        </p:grpSpPr>
        <p:sp>
          <p:nvSpPr>
            <p:cNvPr id="41" name="Rounded Rectangle"/>
            <p:cNvSpPr/>
            <p:nvPr/>
          </p:nvSpPr>
          <p:spPr>
            <a:xfrm>
              <a:off x="0" y="0"/>
              <a:ext cx="4989425" cy="457200"/>
            </a:xfrm>
            <a:prstGeom prst="roundRect">
              <a:avLst>
                <a:gd name="adj" fmla="val 20000"/>
              </a:avLst>
            </a:prstGeom>
            <a:solidFill>
              <a:srgbClr val="FDEEDC"/>
            </a:solidFill>
            <a:ln w="15240" cap="flat">
              <a:solidFill>
                <a:srgbClr val="F2A03D"/>
              </a:solidFill>
              <a:prstDash val="solid"/>
              <a:round/>
            </a:ln>
            <a:effectLst/>
          </p:spPr>
          <p:txBody>
            <a:bodyPr wrap="square" lIns="45719" tIns="45719" rIns="45719" bIns="45719" numCol="1" anchor="ctr">
              <a:noAutofit/>
            </a:bodyPr>
            <a:lstStyle/>
            <a:p>
              <a:pPr>
                <a:defRPr sz="1500"/>
              </a:pPr>
            </a:p>
          </p:txBody>
        </p:sp>
        <p:sp>
          <p:nvSpPr>
            <p:cNvPr id="42" name="Anning · Johnson · Bell Burnell, etc."/>
            <p:cNvSpPr txBox="1"/>
            <p:nvPr/>
          </p:nvSpPr>
          <p:spPr>
            <a:xfrm>
              <a:off x="34402" y="122750"/>
              <a:ext cx="492062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4A2C6F"/>
                  </a:solidFill>
                  <a:latin typeface="Arial"/>
                  <a:ea typeface="Arial"/>
                  <a:cs typeface="Arial"/>
                  <a:sym typeface="Arial"/>
                </a:defRPr>
              </a:lvl1pPr>
            </a:lstStyle>
            <a:p>
              <a:pPr/>
              <a:r>
                <a:t>Anning · Johnson · Bell Burnell, etc.</a:t>
              </a:r>
            </a:p>
          </p:txBody>
        </p:sp>
      </p:grpSp>
      <p:sp>
        <p:nvSpPr>
          <p:cNvPr id="44" name="dq3_card"/>
          <p:cNvSpPr/>
          <p:nvPr/>
        </p:nvSpPr>
        <p:spPr>
          <a:xfrm>
            <a:off x="6260439" y="3177258"/>
            <a:ext cx="5428338" cy="1536193"/>
          </a:xfrm>
          <a:prstGeom prst="roundRect">
            <a:avLst>
              <a:gd name="adj" fmla="val 8333"/>
            </a:avLst>
          </a:prstGeom>
          <a:solidFill>
            <a:srgbClr val="FFFFFF"/>
          </a:solidFill>
          <a:ln w="15875">
            <a:solidFill>
              <a:srgbClr val="E3DAF0"/>
            </a:solidFill>
          </a:ln>
        </p:spPr>
        <p:txBody>
          <a:bodyPr lIns="45719" rIns="45719"/>
          <a:lstStyle/>
          <a:p>
            <a:pPr/>
          </a:p>
        </p:txBody>
      </p:sp>
      <p:sp>
        <p:nvSpPr>
          <p:cNvPr id="45" name="dq3_n"/>
          <p:cNvSpPr txBox="1"/>
          <p:nvPr/>
        </p:nvSpPr>
        <p:spPr>
          <a:xfrm>
            <a:off x="6479895" y="3402556"/>
            <a:ext cx="40233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2A03D"/>
                </a:solidFill>
                <a:latin typeface="Georgia"/>
                <a:ea typeface="Georgia"/>
                <a:cs typeface="Georgia"/>
                <a:sym typeface="Georgia"/>
              </a:defRPr>
            </a:lvl1pPr>
          </a:lstStyle>
          <a:p>
            <a:pPr/>
            <a:r>
              <a:t>4</a:t>
            </a:r>
          </a:p>
        </p:txBody>
      </p:sp>
      <p:sp>
        <p:nvSpPr>
          <p:cNvPr id="46" name="dq3_q"/>
          <p:cNvSpPr txBox="1"/>
          <p:nvPr/>
        </p:nvSpPr>
        <p:spPr>
          <a:xfrm>
            <a:off x="7010248" y="3383922"/>
            <a:ext cx="4459073" cy="574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300"/>
              </a:lnSpc>
              <a:defRPr>
                <a:solidFill>
                  <a:srgbClr val="241535"/>
                </a:solidFill>
                <a:latin typeface="Arial"/>
                <a:ea typeface="Arial"/>
                <a:cs typeface="Arial"/>
                <a:sym typeface="Arial"/>
              </a:defRPr>
            </a:lvl1pPr>
          </a:lstStyle>
          <a:p>
            <a:pPr/>
            <a:r>
              <a:t>Temperature vs how fast sugar dissolves: which is the independent variable?</a:t>
            </a:r>
          </a:p>
        </p:txBody>
      </p:sp>
      <p:grpSp>
        <p:nvGrpSpPr>
          <p:cNvPr id="49" name="dq3_a"/>
          <p:cNvGrpSpPr/>
          <p:nvPr/>
        </p:nvGrpSpPr>
        <p:grpSpPr>
          <a:xfrm>
            <a:off x="6479895" y="4109946"/>
            <a:ext cx="4989426" cy="457201"/>
            <a:chOff x="0" y="0"/>
            <a:chExt cx="4989424" cy="457200"/>
          </a:xfrm>
        </p:grpSpPr>
        <p:sp>
          <p:nvSpPr>
            <p:cNvPr id="47" name="Rounded Rectangle"/>
            <p:cNvSpPr/>
            <p:nvPr/>
          </p:nvSpPr>
          <p:spPr>
            <a:xfrm>
              <a:off x="0" y="0"/>
              <a:ext cx="4989425" cy="457200"/>
            </a:xfrm>
            <a:prstGeom prst="roundRect">
              <a:avLst>
                <a:gd name="adj" fmla="val 20000"/>
              </a:avLst>
            </a:prstGeom>
            <a:solidFill>
              <a:srgbClr val="FDEEDC"/>
            </a:solidFill>
            <a:ln w="15240" cap="flat">
              <a:solidFill>
                <a:srgbClr val="F2A03D"/>
              </a:solidFill>
              <a:prstDash val="solid"/>
              <a:round/>
            </a:ln>
            <a:effectLst/>
          </p:spPr>
          <p:txBody>
            <a:bodyPr wrap="square" lIns="45719" tIns="45719" rIns="45719" bIns="45719" numCol="1" anchor="ctr">
              <a:noAutofit/>
            </a:bodyPr>
            <a:lstStyle/>
            <a:p>
              <a:pPr>
                <a:defRPr sz="1500"/>
              </a:pPr>
            </a:p>
          </p:txBody>
        </p:sp>
        <p:sp>
          <p:nvSpPr>
            <p:cNvPr id="48" name="Temperature; it’s the one you change."/>
            <p:cNvSpPr txBox="1"/>
            <p:nvPr/>
          </p:nvSpPr>
          <p:spPr>
            <a:xfrm>
              <a:off x="34402" y="122750"/>
              <a:ext cx="492062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4A2C6F"/>
                  </a:solidFill>
                  <a:latin typeface="Arial"/>
                  <a:ea typeface="Arial"/>
                  <a:cs typeface="Arial"/>
                  <a:sym typeface="Arial"/>
                </a:defRPr>
              </a:lvl1pPr>
            </a:lstStyle>
            <a:p>
              <a:pPr/>
              <a:r>
                <a:t>Temperature; it’s the one you change.</a:t>
              </a:r>
            </a:p>
          </p:txBody>
        </p:sp>
      </p:grpSp>
      <p:sp>
        <p:nvSpPr>
          <p:cNvPr id="50" name="dq2_card"/>
          <p:cNvSpPr/>
          <p:nvPr/>
        </p:nvSpPr>
        <p:spPr>
          <a:xfrm>
            <a:off x="496721" y="4987770"/>
            <a:ext cx="5428338" cy="1536193"/>
          </a:xfrm>
          <a:prstGeom prst="roundRect">
            <a:avLst>
              <a:gd name="adj" fmla="val 8333"/>
            </a:avLst>
          </a:prstGeom>
          <a:solidFill>
            <a:srgbClr val="FFFFFF"/>
          </a:solidFill>
          <a:ln w="15875">
            <a:solidFill>
              <a:srgbClr val="E3DAF0"/>
            </a:solidFill>
          </a:ln>
        </p:spPr>
        <p:txBody>
          <a:bodyPr lIns="45719" rIns="45719"/>
          <a:lstStyle/>
          <a:p>
            <a:pPr/>
          </a:p>
        </p:txBody>
      </p:sp>
      <p:sp>
        <p:nvSpPr>
          <p:cNvPr id="51" name="dq2_n"/>
          <p:cNvSpPr txBox="1"/>
          <p:nvPr/>
        </p:nvSpPr>
        <p:spPr>
          <a:xfrm>
            <a:off x="716177" y="5213067"/>
            <a:ext cx="40233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2A03D"/>
                </a:solidFill>
                <a:latin typeface="Georgia"/>
                <a:ea typeface="Georgia"/>
                <a:cs typeface="Georgia"/>
                <a:sym typeface="Georgia"/>
              </a:defRPr>
            </a:lvl1pPr>
          </a:lstStyle>
          <a:p>
            <a:pPr/>
            <a:r>
              <a:t>5</a:t>
            </a:r>
          </a:p>
        </p:txBody>
      </p:sp>
      <p:sp>
        <p:nvSpPr>
          <p:cNvPr id="52" name="dq2_q"/>
          <p:cNvSpPr txBox="1"/>
          <p:nvPr/>
        </p:nvSpPr>
        <p:spPr>
          <a:xfrm>
            <a:off x="1246529" y="5340484"/>
            <a:ext cx="4459073" cy="2821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300"/>
              </a:lnSpc>
              <a:defRPr>
                <a:solidFill>
                  <a:srgbClr val="241535"/>
                </a:solidFill>
                <a:latin typeface="Arial"/>
                <a:ea typeface="Arial"/>
                <a:cs typeface="Arial"/>
                <a:sym typeface="Arial"/>
              </a:defRPr>
            </a:lvl1pPr>
          </a:lstStyle>
          <a:p>
            <a:pPr/>
            <a:r>
              <a:t>Why do scientists repeat measurements?</a:t>
            </a:r>
          </a:p>
        </p:txBody>
      </p:sp>
      <p:grpSp>
        <p:nvGrpSpPr>
          <p:cNvPr id="55" name="dq2_a"/>
          <p:cNvGrpSpPr/>
          <p:nvPr/>
        </p:nvGrpSpPr>
        <p:grpSpPr>
          <a:xfrm>
            <a:off x="716177" y="5920457"/>
            <a:ext cx="4989426" cy="457201"/>
            <a:chOff x="0" y="0"/>
            <a:chExt cx="4989424" cy="457200"/>
          </a:xfrm>
        </p:grpSpPr>
        <p:sp>
          <p:nvSpPr>
            <p:cNvPr id="53" name="Rounded Rectangle"/>
            <p:cNvSpPr/>
            <p:nvPr/>
          </p:nvSpPr>
          <p:spPr>
            <a:xfrm>
              <a:off x="0" y="0"/>
              <a:ext cx="4989425" cy="457200"/>
            </a:xfrm>
            <a:prstGeom prst="roundRect">
              <a:avLst>
                <a:gd name="adj" fmla="val 20000"/>
              </a:avLst>
            </a:prstGeom>
            <a:solidFill>
              <a:srgbClr val="FDEEDC"/>
            </a:solidFill>
            <a:ln w="15240" cap="flat">
              <a:solidFill>
                <a:srgbClr val="F2A03D"/>
              </a:solidFill>
              <a:prstDash val="solid"/>
              <a:round/>
            </a:ln>
            <a:effectLst/>
          </p:spPr>
          <p:txBody>
            <a:bodyPr wrap="square" lIns="45719" tIns="45719" rIns="45719" bIns="45719" numCol="1" anchor="ctr">
              <a:noAutofit/>
            </a:bodyPr>
            <a:lstStyle/>
            <a:p>
              <a:pPr>
                <a:defRPr sz="1500"/>
              </a:pPr>
            </a:p>
          </p:txBody>
        </p:sp>
        <p:sp>
          <p:nvSpPr>
            <p:cNvPr id="54" name="To get more accurate results."/>
            <p:cNvSpPr txBox="1"/>
            <p:nvPr/>
          </p:nvSpPr>
          <p:spPr>
            <a:xfrm>
              <a:off x="34402" y="122750"/>
              <a:ext cx="492062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4A2C6F"/>
                  </a:solidFill>
                  <a:latin typeface="Arial"/>
                  <a:ea typeface="Arial"/>
                  <a:cs typeface="Arial"/>
                  <a:sym typeface="Arial"/>
                </a:defRPr>
              </a:lvl1pPr>
            </a:lstStyle>
            <a:p>
              <a:pPr/>
              <a:r>
                <a:t>To get more accurate results.</a:t>
              </a:r>
            </a:p>
          </p:txBody>
        </p:sp>
      </p:grpSp>
      <p:sp>
        <p:nvSpPr>
          <p:cNvPr id="56" name="dq3_card"/>
          <p:cNvSpPr/>
          <p:nvPr/>
        </p:nvSpPr>
        <p:spPr>
          <a:xfrm>
            <a:off x="6254241" y="4987770"/>
            <a:ext cx="5428338" cy="1536193"/>
          </a:xfrm>
          <a:prstGeom prst="roundRect">
            <a:avLst>
              <a:gd name="adj" fmla="val 8333"/>
            </a:avLst>
          </a:prstGeom>
          <a:solidFill>
            <a:srgbClr val="FFFFFF"/>
          </a:solidFill>
          <a:ln w="15875">
            <a:solidFill>
              <a:srgbClr val="E3DAF0"/>
            </a:solidFill>
          </a:ln>
        </p:spPr>
        <p:txBody>
          <a:bodyPr lIns="45719" rIns="45719"/>
          <a:lstStyle/>
          <a:p>
            <a:pPr/>
          </a:p>
        </p:txBody>
      </p:sp>
      <p:sp>
        <p:nvSpPr>
          <p:cNvPr id="57" name="dq3_n"/>
          <p:cNvSpPr txBox="1"/>
          <p:nvPr/>
        </p:nvSpPr>
        <p:spPr>
          <a:xfrm>
            <a:off x="6473697" y="5213067"/>
            <a:ext cx="402337"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F2A03D"/>
                </a:solidFill>
                <a:latin typeface="Georgia"/>
                <a:ea typeface="Georgia"/>
                <a:cs typeface="Georgia"/>
                <a:sym typeface="Georgia"/>
              </a:defRPr>
            </a:lvl1pPr>
          </a:lstStyle>
          <a:p>
            <a:pPr/>
            <a:r>
              <a:t>6</a:t>
            </a:r>
          </a:p>
        </p:txBody>
      </p:sp>
      <p:sp>
        <p:nvSpPr>
          <p:cNvPr id="58" name="dq3_q"/>
          <p:cNvSpPr txBox="1"/>
          <p:nvPr/>
        </p:nvSpPr>
        <p:spPr>
          <a:xfrm>
            <a:off x="7004050" y="5340484"/>
            <a:ext cx="4459073" cy="2821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300"/>
              </a:lnSpc>
              <a:defRPr>
                <a:solidFill>
                  <a:srgbClr val="241535"/>
                </a:solidFill>
                <a:latin typeface="Arial"/>
                <a:ea typeface="Arial"/>
                <a:cs typeface="Arial"/>
                <a:sym typeface="Arial"/>
              </a:defRPr>
            </a:lvl1pPr>
          </a:lstStyle>
          <a:p>
            <a:pPr/>
            <a:r>
              <a:t>What does a Bunsen burner produce?</a:t>
            </a:r>
          </a:p>
        </p:txBody>
      </p:sp>
      <p:grpSp>
        <p:nvGrpSpPr>
          <p:cNvPr id="61" name="dq3_a"/>
          <p:cNvGrpSpPr/>
          <p:nvPr/>
        </p:nvGrpSpPr>
        <p:grpSpPr>
          <a:xfrm>
            <a:off x="6473697" y="5920457"/>
            <a:ext cx="4989426" cy="457201"/>
            <a:chOff x="0" y="0"/>
            <a:chExt cx="4989424" cy="457200"/>
          </a:xfrm>
        </p:grpSpPr>
        <p:sp>
          <p:nvSpPr>
            <p:cNvPr id="59" name="Rounded Rectangle"/>
            <p:cNvSpPr/>
            <p:nvPr/>
          </p:nvSpPr>
          <p:spPr>
            <a:xfrm>
              <a:off x="0" y="0"/>
              <a:ext cx="4989425" cy="457200"/>
            </a:xfrm>
            <a:prstGeom prst="roundRect">
              <a:avLst>
                <a:gd name="adj" fmla="val 20000"/>
              </a:avLst>
            </a:prstGeom>
            <a:solidFill>
              <a:srgbClr val="FDEEDC"/>
            </a:solidFill>
            <a:ln w="15240" cap="flat">
              <a:solidFill>
                <a:srgbClr val="F2A03D"/>
              </a:solidFill>
              <a:prstDash val="solid"/>
              <a:round/>
            </a:ln>
            <a:effectLst/>
          </p:spPr>
          <p:txBody>
            <a:bodyPr wrap="square" lIns="45719" tIns="45719" rIns="45719" bIns="45719" numCol="1" anchor="ctr">
              <a:noAutofit/>
            </a:bodyPr>
            <a:lstStyle/>
            <a:p>
              <a:pPr>
                <a:defRPr sz="1500"/>
              </a:pPr>
            </a:p>
          </p:txBody>
        </p:sp>
        <p:sp>
          <p:nvSpPr>
            <p:cNvPr id="60" name="Fire!"/>
            <p:cNvSpPr txBox="1"/>
            <p:nvPr/>
          </p:nvSpPr>
          <p:spPr>
            <a:xfrm>
              <a:off x="34402" y="122750"/>
              <a:ext cx="4920620" cy="2117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500">
                  <a:solidFill>
                    <a:srgbClr val="4A2C6F"/>
                  </a:solidFill>
                  <a:latin typeface="Arial"/>
                  <a:ea typeface="Arial"/>
                  <a:cs typeface="Arial"/>
                  <a:sym typeface="Arial"/>
                </a:defRPr>
              </a:lvl1pPr>
            </a:lstStyle>
            <a:p>
              <a:pPr/>
              <a:r>
                <a:t>Fire!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31"/>
                                        </p:tgtEl>
                                        <p:attrNameLst>
                                          <p:attrName>style.visibility</p:attrName>
                                        </p:attrNameLst>
                                      </p:cBhvr>
                                      <p:to>
                                        <p:strVal val="visible"/>
                                      </p:to>
                                    </p:set>
                                    <p:animEffect filter="wipe(left)" transition="in">
                                      <p:cBhvr>
                                        <p:cTn id="7" dur="4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37"/>
                                        </p:tgtEl>
                                        <p:attrNameLst>
                                          <p:attrName>style.visibility</p:attrName>
                                        </p:attrNameLst>
                                      </p:cBhvr>
                                      <p:to>
                                        <p:strVal val="visible"/>
                                      </p:to>
                                    </p:set>
                                    <p:animEffect filter="wipe(left)" transition="in">
                                      <p:cBhvr>
                                        <p:cTn id="12" dur="4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43"/>
                                        </p:tgtEl>
                                        <p:attrNameLst>
                                          <p:attrName>style.visibility</p:attrName>
                                        </p:attrNameLst>
                                      </p:cBhvr>
                                      <p:to>
                                        <p:strVal val="visible"/>
                                      </p:to>
                                    </p:set>
                                    <p:animEffect filter="wipe(left)" transition="in">
                                      <p:cBhvr>
                                        <p:cTn id="17" dur="4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49"/>
                                        </p:tgtEl>
                                        <p:attrNameLst>
                                          <p:attrName>style.visibility</p:attrName>
                                        </p:attrNameLst>
                                      </p:cBhvr>
                                      <p:to>
                                        <p:strVal val="visible"/>
                                      </p:to>
                                    </p:set>
                                    <p:animEffect filter="wipe(left)" transition="in">
                                      <p:cBhvr>
                                        <p:cTn id="22" dur="4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8" presetID="22" grpId="5" fill="hold">
                                  <p:stCondLst>
                                    <p:cond delay="0"/>
                                  </p:stCondLst>
                                  <p:iterate type="el" backwards="0">
                                    <p:tmAbs val="0"/>
                                  </p:iterate>
                                  <p:childTnLst>
                                    <p:set>
                                      <p:cBhvr>
                                        <p:cTn id="26" fill="hold"/>
                                        <p:tgtEl>
                                          <p:spTgt spid="55"/>
                                        </p:tgtEl>
                                        <p:attrNameLst>
                                          <p:attrName>style.visibility</p:attrName>
                                        </p:attrNameLst>
                                      </p:cBhvr>
                                      <p:to>
                                        <p:strVal val="visible"/>
                                      </p:to>
                                    </p:set>
                                    <p:animEffect filter="wipe(left)" transition="in">
                                      <p:cBhvr>
                                        <p:cTn id="27" dur="400"/>
                                        <p:tgtEl>
                                          <p:spTgt spid="55"/>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Subtype="8" presetID="22" grpId="6" fill="hold">
                                  <p:stCondLst>
                                    <p:cond delay="0"/>
                                  </p:stCondLst>
                                  <p:iterate type="el" backwards="0">
                                    <p:tmAbs val="0"/>
                                  </p:iterate>
                                  <p:childTnLst>
                                    <p:set>
                                      <p:cBhvr>
                                        <p:cTn id="31" fill="hold"/>
                                        <p:tgtEl>
                                          <p:spTgt spid="61"/>
                                        </p:tgtEl>
                                        <p:attrNameLst>
                                          <p:attrName>style.visibility</p:attrName>
                                        </p:attrNameLst>
                                      </p:cBhvr>
                                      <p:to>
                                        <p:strVal val="visible"/>
                                      </p:to>
                                    </p:set>
                                    <p:animEffect filter="wipe(left)" transition="in">
                                      <p:cBhvr>
                                        <p:cTn id="32" dur="400"/>
                                        <p:tgtEl>
                                          <p:spTgt spid="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9" grpId="4"/>
      <p:bldP build="whole" bldLvl="1" animBg="1" rev="0" advAuto="0" spid="43" grpId="3"/>
      <p:bldP build="whole" bldLvl="1" animBg="1" rev="0" advAuto="0" spid="31" grpId="1"/>
      <p:bldP build="whole" bldLvl="1" animBg="1" rev="0" advAuto="0" spid="55" grpId="5"/>
      <p:bldP build="whole" bldLvl="1" animBg="1" rev="0" advAuto="0" spid="61" grpId="6"/>
      <p:bldP build="whole" bldLvl="1" animBg="1" rev="0" advAuto="0" spid="37" grpId="2"/>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67" name="phase_pill"/>
          <p:cNvGrpSpPr/>
          <p:nvPr/>
        </p:nvGrpSpPr>
        <p:grpSpPr>
          <a:xfrm>
            <a:off x="502919" y="347472"/>
            <a:ext cx="1723645" cy="329185"/>
            <a:chOff x="0" y="0"/>
            <a:chExt cx="1723644" cy="329184"/>
          </a:xfrm>
        </p:grpSpPr>
        <p:sp>
          <p:nvSpPr>
            <p:cNvPr id="65" name="Rounded Rectangle"/>
            <p:cNvSpPr/>
            <p:nvPr/>
          </p:nvSpPr>
          <p:spPr>
            <a:xfrm>
              <a:off x="0" y="0"/>
              <a:ext cx="1723645"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66" name="TODAY · 2 MIN"/>
            <p:cNvSpPr txBox="1"/>
            <p:nvPr/>
          </p:nvSpPr>
          <p:spPr>
            <a:xfrm>
              <a:off x="42850" y="90677"/>
              <a:ext cx="1637944"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2 MIN</a:t>
              </a:r>
            </a:p>
          </p:txBody>
        </p:sp>
      </p:grpSp>
      <p:sp>
        <p:nvSpPr>
          <p:cNvPr id="68"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Today</a:t>
            </a:r>
          </a:p>
        </p:txBody>
      </p:sp>
      <p:grpSp>
        <p:nvGrpSpPr>
          <p:cNvPr id="72" name="g0"/>
          <p:cNvGrpSpPr/>
          <p:nvPr/>
        </p:nvGrpSpPr>
        <p:grpSpPr>
          <a:xfrm>
            <a:off x="502919" y="2212848"/>
            <a:ext cx="3521356" cy="2834641"/>
            <a:chOff x="0" y="0"/>
            <a:chExt cx="3521354" cy="2834639"/>
          </a:xfrm>
        </p:grpSpPr>
        <p:sp>
          <p:nvSpPr>
            <p:cNvPr id="69" name="g0_bg"/>
            <p:cNvSpPr/>
            <p:nvPr/>
          </p:nvSpPr>
          <p:spPr>
            <a:xfrm>
              <a:off x="0" y="0"/>
              <a:ext cx="3521355" cy="2834640"/>
            </a:xfrm>
            <a:prstGeom prst="roundRect">
              <a:avLst>
                <a:gd name="adj" fmla="val 4516"/>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pic>
          <p:nvPicPr>
            <p:cNvPr id="70" name="g0_icon" descr="g0_icon"/>
            <p:cNvPicPr>
              <a:picLocks noChangeAspect="1"/>
            </p:cNvPicPr>
            <p:nvPr/>
          </p:nvPicPr>
          <p:blipFill>
            <a:blip r:embed="rId3">
              <a:extLst/>
            </a:blip>
            <a:stretch>
              <a:fillRect/>
            </a:stretch>
          </p:blipFill>
          <p:spPr>
            <a:xfrm>
              <a:off x="1166317" y="329183"/>
              <a:ext cx="1188721" cy="1188721"/>
            </a:xfrm>
            <a:prstGeom prst="rect">
              <a:avLst/>
            </a:prstGeom>
            <a:ln w="12700" cap="flat">
              <a:noFill/>
              <a:miter lim="400000"/>
            </a:ln>
            <a:effectLst/>
          </p:spPr>
        </p:pic>
        <p:sp>
          <p:nvSpPr>
            <p:cNvPr id="71" name="g0_t"/>
            <p:cNvSpPr txBox="1"/>
            <p:nvPr/>
          </p:nvSpPr>
          <p:spPr>
            <a:xfrm>
              <a:off x="219455" y="1700783"/>
              <a:ext cx="3082444" cy="6737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700"/>
                </a:lnSpc>
                <a:defRPr b="1" sz="2100">
                  <a:solidFill>
                    <a:srgbClr val="241535"/>
                  </a:solidFill>
                  <a:latin typeface="Arial"/>
                  <a:ea typeface="Arial"/>
                  <a:cs typeface="Arial"/>
                  <a:sym typeface="Arial"/>
                </a:defRPr>
              </a:lvl1pPr>
            </a:lstStyle>
            <a:p>
              <a:pPr/>
              <a:r>
                <a:t>Say what physical science is.</a:t>
              </a:r>
            </a:p>
          </p:txBody>
        </p:sp>
      </p:grpSp>
      <p:grpSp>
        <p:nvGrpSpPr>
          <p:cNvPr id="76" name="g1"/>
          <p:cNvGrpSpPr/>
          <p:nvPr/>
        </p:nvGrpSpPr>
        <p:grpSpPr>
          <a:xfrm>
            <a:off x="4335169" y="2212848"/>
            <a:ext cx="3521355" cy="2834641"/>
            <a:chOff x="0" y="0"/>
            <a:chExt cx="3521354" cy="2834639"/>
          </a:xfrm>
        </p:grpSpPr>
        <p:sp>
          <p:nvSpPr>
            <p:cNvPr id="73" name="g1_bg"/>
            <p:cNvSpPr/>
            <p:nvPr/>
          </p:nvSpPr>
          <p:spPr>
            <a:xfrm>
              <a:off x="0" y="0"/>
              <a:ext cx="3521355" cy="2834640"/>
            </a:xfrm>
            <a:prstGeom prst="roundRect">
              <a:avLst>
                <a:gd name="adj" fmla="val 4516"/>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pic>
          <p:nvPicPr>
            <p:cNvPr id="74" name="g1_icon" descr="g1_icon"/>
            <p:cNvPicPr>
              <a:picLocks noChangeAspect="1"/>
            </p:cNvPicPr>
            <p:nvPr/>
          </p:nvPicPr>
          <p:blipFill>
            <a:blip r:embed="rId4">
              <a:extLst/>
            </a:blip>
            <a:stretch>
              <a:fillRect/>
            </a:stretch>
          </p:blipFill>
          <p:spPr>
            <a:xfrm>
              <a:off x="1166318" y="329183"/>
              <a:ext cx="1188721" cy="1188721"/>
            </a:xfrm>
            <a:prstGeom prst="rect">
              <a:avLst/>
            </a:prstGeom>
            <a:ln w="12700" cap="flat">
              <a:noFill/>
              <a:miter lim="400000"/>
            </a:ln>
            <a:effectLst/>
          </p:spPr>
        </p:pic>
        <p:sp>
          <p:nvSpPr>
            <p:cNvPr id="75" name="g1_t"/>
            <p:cNvSpPr txBox="1"/>
            <p:nvPr/>
          </p:nvSpPr>
          <p:spPr>
            <a:xfrm>
              <a:off x="219455" y="1700783"/>
              <a:ext cx="3082444" cy="6737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700"/>
                </a:lnSpc>
                <a:defRPr b="1" sz="2100">
                  <a:solidFill>
                    <a:srgbClr val="241535"/>
                  </a:solidFill>
                  <a:latin typeface="Arial"/>
                  <a:ea typeface="Arial"/>
                  <a:cs typeface="Arial"/>
                  <a:sym typeface="Arial"/>
                </a:defRPr>
              </a:lvl1pPr>
            </a:lstStyle>
            <a:p>
              <a:pPr/>
              <a:r>
                <a:t>Use a Bunsen burner safely.</a:t>
              </a:r>
            </a:p>
          </p:txBody>
        </p:sp>
      </p:grpSp>
      <p:grpSp>
        <p:nvGrpSpPr>
          <p:cNvPr id="80" name="g2"/>
          <p:cNvGrpSpPr/>
          <p:nvPr/>
        </p:nvGrpSpPr>
        <p:grpSpPr>
          <a:xfrm>
            <a:off x="8167420" y="2212848"/>
            <a:ext cx="3521355" cy="2834641"/>
            <a:chOff x="0" y="0"/>
            <a:chExt cx="3521354" cy="2834639"/>
          </a:xfrm>
        </p:grpSpPr>
        <p:sp>
          <p:nvSpPr>
            <p:cNvPr id="77" name="g2_bg"/>
            <p:cNvSpPr/>
            <p:nvPr/>
          </p:nvSpPr>
          <p:spPr>
            <a:xfrm>
              <a:off x="0" y="0"/>
              <a:ext cx="3521355" cy="2834640"/>
            </a:xfrm>
            <a:prstGeom prst="roundRect">
              <a:avLst>
                <a:gd name="adj" fmla="val 4516"/>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pic>
          <p:nvPicPr>
            <p:cNvPr id="78" name="g2_icon" descr="g2_icon"/>
            <p:cNvPicPr>
              <a:picLocks noChangeAspect="1"/>
            </p:cNvPicPr>
            <p:nvPr/>
          </p:nvPicPr>
          <p:blipFill>
            <a:blip r:embed="rId5">
              <a:extLst/>
            </a:blip>
            <a:stretch>
              <a:fillRect/>
            </a:stretch>
          </p:blipFill>
          <p:spPr>
            <a:xfrm>
              <a:off x="1166317" y="329183"/>
              <a:ext cx="1188721" cy="1188721"/>
            </a:xfrm>
            <a:prstGeom prst="rect">
              <a:avLst/>
            </a:prstGeom>
            <a:ln w="12700" cap="flat">
              <a:noFill/>
              <a:miter lim="400000"/>
            </a:ln>
            <a:effectLst/>
          </p:spPr>
        </p:pic>
        <p:sp>
          <p:nvSpPr>
            <p:cNvPr id="79" name="g2_t"/>
            <p:cNvSpPr txBox="1"/>
            <p:nvPr/>
          </p:nvSpPr>
          <p:spPr>
            <a:xfrm>
              <a:off x="219455" y="1700783"/>
              <a:ext cx="3082444" cy="6737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700"/>
                </a:lnSpc>
                <a:defRPr b="1" sz="2100">
                  <a:solidFill>
                    <a:srgbClr val="241535"/>
                  </a:solidFill>
                  <a:latin typeface="Arial"/>
                  <a:ea typeface="Arial"/>
                  <a:cs typeface="Arial"/>
                  <a:sym typeface="Arial"/>
                </a:defRPr>
              </a:lvl1pPr>
            </a:lstStyle>
            <a:p>
              <a:pPr/>
              <a:r>
                <a:t>Make a balloon that will not burst.</a:t>
              </a:r>
            </a:p>
          </p:txBody>
        </p:sp>
      </p:grpSp>
      <p:sp>
        <p:nvSpPr>
          <p:cNvPr id="81" name="g_close"/>
          <p:cNvSpPr txBox="1"/>
          <p:nvPr/>
        </p:nvSpPr>
        <p:spPr>
          <a:xfrm>
            <a:off x="502919" y="5390363"/>
            <a:ext cx="11185857"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F2A03D"/>
                </a:solidFill>
                <a:latin typeface="Arial"/>
                <a:ea typeface="Arial"/>
                <a:cs typeface="Arial"/>
                <a:sym typeface="Arial"/>
              </a:defRPr>
            </a:lvl1pPr>
          </a:lstStyle>
          <a:p>
            <a:pPr/>
            <a:r>
              <a:t>Last lesson of this unit. Time for a practical!</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72"/>
                                        </p:tgtEl>
                                        <p:attrNameLst>
                                          <p:attrName>style.visibility</p:attrName>
                                        </p:attrNameLst>
                                      </p:cBhvr>
                                      <p:to>
                                        <p:strVal val="visible"/>
                                      </p:to>
                                    </p:set>
                                    <p:anim calcmode="lin" valueType="num">
                                      <p:cBhvr>
                                        <p:cTn id="7" dur="400" fill="hold"/>
                                        <p:tgtEl>
                                          <p:spTgt spid="72"/>
                                        </p:tgtEl>
                                        <p:attrNameLst>
                                          <p:attrName>ppt_w</p:attrName>
                                        </p:attrNameLst>
                                      </p:cBhvr>
                                      <p:tavLst>
                                        <p:tav tm="0">
                                          <p:val>
                                            <p:fltVal val="0"/>
                                          </p:val>
                                        </p:tav>
                                        <p:tav tm="100000">
                                          <p:val>
                                            <p:strVal val="#ppt_w"/>
                                          </p:val>
                                        </p:tav>
                                      </p:tavLst>
                                    </p:anim>
                                    <p:anim calcmode="lin" valueType="num">
                                      <p:cBhvr>
                                        <p:cTn id="8" dur="400" fill="hold"/>
                                        <p:tgtEl>
                                          <p:spTgt spid="7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76"/>
                                        </p:tgtEl>
                                        <p:attrNameLst>
                                          <p:attrName>style.visibility</p:attrName>
                                        </p:attrNameLst>
                                      </p:cBhvr>
                                      <p:to>
                                        <p:strVal val="visible"/>
                                      </p:to>
                                    </p:set>
                                    <p:anim calcmode="lin" valueType="num">
                                      <p:cBhvr>
                                        <p:cTn id="13" dur="400" fill="hold"/>
                                        <p:tgtEl>
                                          <p:spTgt spid="76"/>
                                        </p:tgtEl>
                                        <p:attrNameLst>
                                          <p:attrName>ppt_w</p:attrName>
                                        </p:attrNameLst>
                                      </p:cBhvr>
                                      <p:tavLst>
                                        <p:tav tm="0">
                                          <p:val>
                                            <p:fltVal val="0"/>
                                          </p:val>
                                        </p:tav>
                                        <p:tav tm="100000">
                                          <p:val>
                                            <p:strVal val="#ppt_w"/>
                                          </p:val>
                                        </p:tav>
                                      </p:tavLst>
                                    </p:anim>
                                    <p:anim calcmode="lin" valueType="num">
                                      <p:cBhvr>
                                        <p:cTn id="14" dur="400" fill="hold"/>
                                        <p:tgtEl>
                                          <p:spTgt spid="7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80"/>
                                        </p:tgtEl>
                                        <p:attrNameLst>
                                          <p:attrName>style.visibility</p:attrName>
                                        </p:attrNameLst>
                                      </p:cBhvr>
                                      <p:to>
                                        <p:strVal val="visible"/>
                                      </p:to>
                                    </p:set>
                                    <p:anim calcmode="lin" valueType="num">
                                      <p:cBhvr>
                                        <p:cTn id="19" dur="400" fill="hold"/>
                                        <p:tgtEl>
                                          <p:spTgt spid="80"/>
                                        </p:tgtEl>
                                        <p:attrNameLst>
                                          <p:attrName>ppt_w</p:attrName>
                                        </p:attrNameLst>
                                      </p:cBhvr>
                                      <p:tavLst>
                                        <p:tav tm="0">
                                          <p:val>
                                            <p:fltVal val="0"/>
                                          </p:val>
                                        </p:tav>
                                        <p:tav tm="100000">
                                          <p:val>
                                            <p:strVal val="#ppt_w"/>
                                          </p:val>
                                        </p:tav>
                                      </p:tavLst>
                                    </p:anim>
                                    <p:anim calcmode="lin" valueType="num">
                                      <p:cBhvr>
                                        <p:cTn id="20" dur="400" fill="hold"/>
                                        <p:tgtEl>
                                          <p:spTgt spid="80"/>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4" fill="hold">
                                  <p:stCondLst>
                                    <p:cond delay="0"/>
                                  </p:stCondLst>
                                  <p:iterate type="el" backwards="0">
                                    <p:tmAbs val="0"/>
                                  </p:iterate>
                                  <p:childTnLst>
                                    <p:set>
                                      <p:cBhvr>
                                        <p:cTn id="24" fill="hold"/>
                                        <p:tgtEl>
                                          <p:spTgt spid="81"/>
                                        </p:tgtEl>
                                        <p:attrNameLst>
                                          <p:attrName>style.visibility</p:attrName>
                                        </p:attrNameLst>
                                      </p:cBhvr>
                                      <p:to>
                                        <p:strVal val="visible"/>
                                      </p:to>
                                    </p:set>
                                    <p:animEffect filter="fade" transition="in">
                                      <p:cBhvr>
                                        <p:cTn id="25" dur="400"/>
                                        <p:tgtEl>
                                          <p:spTgt spid="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72" grpId="1"/>
      <p:bldP build="whole" bldLvl="1" animBg="1" rev="0" advAuto="0" spid="76" grpId="2"/>
      <p:bldP build="whole" bldLvl="1" animBg="1" rev="0" advAuto="0" spid="80" grpId="3"/>
      <p:bldP build="whole" bldLvl="1" animBg="1" rev="0" advAuto="0" spid="8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87" name="phase_pill"/>
          <p:cNvGrpSpPr/>
          <p:nvPr/>
        </p:nvGrpSpPr>
        <p:grpSpPr>
          <a:xfrm>
            <a:off x="502919" y="347472"/>
            <a:ext cx="1915669" cy="329185"/>
            <a:chOff x="0" y="0"/>
            <a:chExt cx="1915667" cy="329184"/>
          </a:xfrm>
        </p:grpSpPr>
        <p:sp>
          <p:nvSpPr>
            <p:cNvPr id="85" name="Rounded Rectangle"/>
            <p:cNvSpPr/>
            <p:nvPr/>
          </p:nvSpPr>
          <p:spPr>
            <a:xfrm>
              <a:off x="0" y="0"/>
              <a:ext cx="1915668"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86" name="PREDICT · 3 MIN"/>
            <p:cNvSpPr txBox="1"/>
            <p:nvPr/>
          </p:nvSpPr>
          <p:spPr>
            <a:xfrm>
              <a:off x="42850" y="90677"/>
              <a:ext cx="182996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PREDICT · 3 MIN</a:t>
              </a:r>
            </a:p>
          </p:txBody>
        </p:sp>
      </p:grpSp>
      <p:sp>
        <p:nvSpPr>
          <p:cNvPr id="88"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Two balloons. One flame.</a:t>
            </a:r>
          </a:p>
        </p:txBody>
      </p:sp>
      <p:grpSp>
        <p:nvGrpSpPr>
          <p:cNvPr id="93" name="hk0"/>
          <p:cNvGrpSpPr/>
          <p:nvPr/>
        </p:nvGrpSpPr>
        <p:grpSpPr>
          <a:xfrm>
            <a:off x="502919" y="2212848"/>
            <a:ext cx="2788922" cy="2377441"/>
            <a:chOff x="0" y="0"/>
            <a:chExt cx="2788920" cy="2377439"/>
          </a:xfrm>
        </p:grpSpPr>
        <p:sp>
          <p:nvSpPr>
            <p:cNvPr id="89" name="hk0_bg"/>
            <p:cNvSpPr/>
            <p:nvPr/>
          </p:nvSpPr>
          <p:spPr>
            <a:xfrm>
              <a:off x="0" y="0"/>
              <a:ext cx="2788921" cy="2377440"/>
            </a:xfrm>
            <a:prstGeom prst="roundRect">
              <a:avLst>
                <a:gd name="adj" fmla="val 5385"/>
              </a:avLst>
            </a:prstGeom>
            <a:solidFill>
              <a:srgbClr val="FFFFFF"/>
            </a:solidFill>
            <a:ln w="22860" cap="flat">
              <a:solidFill>
                <a:srgbClr val="2BA6A0"/>
              </a:solidFill>
              <a:prstDash val="solid"/>
              <a:round/>
            </a:ln>
            <a:effectLst/>
          </p:spPr>
          <p:txBody>
            <a:bodyPr wrap="square" lIns="45719" tIns="45719" rIns="45719" bIns="45719" numCol="1" anchor="t">
              <a:noAutofit/>
            </a:bodyPr>
            <a:lstStyle/>
            <a:p>
              <a:pPr/>
            </a:p>
          </p:txBody>
        </p:sp>
        <p:pic>
          <p:nvPicPr>
            <p:cNvPr id="90" name="hk0_icon" descr="hk0_icon"/>
            <p:cNvPicPr>
              <a:picLocks noChangeAspect="1"/>
            </p:cNvPicPr>
            <p:nvPr/>
          </p:nvPicPr>
          <p:blipFill>
            <a:blip r:embed="rId3">
              <a:extLst/>
            </a:blip>
            <a:stretch>
              <a:fillRect/>
            </a:stretch>
          </p:blipFill>
          <p:spPr>
            <a:xfrm>
              <a:off x="937260" y="237743"/>
              <a:ext cx="914401" cy="914401"/>
            </a:xfrm>
            <a:prstGeom prst="rect">
              <a:avLst/>
            </a:prstGeom>
            <a:ln w="12700" cap="flat">
              <a:noFill/>
              <a:miter lim="400000"/>
            </a:ln>
            <a:effectLst/>
          </p:spPr>
        </p:pic>
        <p:sp>
          <p:nvSpPr>
            <p:cNvPr id="91" name="hk0_tag"/>
            <p:cNvSpPr txBox="1"/>
            <p:nvPr/>
          </p:nvSpPr>
          <p:spPr>
            <a:xfrm>
              <a:off x="182879" y="1352202"/>
              <a:ext cx="2423162"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300">
                  <a:solidFill>
                    <a:srgbClr val="2BA6A0"/>
                  </a:solidFill>
                  <a:latin typeface="Arial"/>
                  <a:ea typeface="Arial"/>
                  <a:cs typeface="Arial"/>
                  <a:sym typeface="Arial"/>
                </a:defRPr>
              </a:lvl1pPr>
            </a:lstStyle>
            <a:p>
              <a:pPr/>
              <a:r>
                <a:t>BALLOON 1</a:t>
              </a:r>
            </a:p>
          </p:txBody>
        </p:sp>
        <p:sp>
          <p:nvSpPr>
            <p:cNvPr id="92" name="hk0_t"/>
            <p:cNvSpPr txBox="1"/>
            <p:nvPr/>
          </p:nvSpPr>
          <p:spPr>
            <a:xfrm>
              <a:off x="182879" y="1609343"/>
              <a:ext cx="2423162" cy="2692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200"/>
                </a:lnSpc>
                <a:defRPr sz="1700">
                  <a:solidFill>
                    <a:srgbClr val="241535"/>
                  </a:solidFill>
                  <a:latin typeface="Arial"/>
                  <a:ea typeface="Arial"/>
                  <a:cs typeface="Arial"/>
                  <a:sym typeface="Arial"/>
                </a:defRPr>
              </a:lvl1pPr>
            </a:lstStyle>
            <a:p>
              <a:pPr/>
              <a:r>
                <a:t>Just air.</a:t>
              </a:r>
            </a:p>
          </p:txBody>
        </p:sp>
      </p:grpSp>
      <p:grpSp>
        <p:nvGrpSpPr>
          <p:cNvPr id="98" name="hk1"/>
          <p:cNvGrpSpPr/>
          <p:nvPr/>
        </p:nvGrpSpPr>
        <p:grpSpPr>
          <a:xfrm>
            <a:off x="3520440" y="2212848"/>
            <a:ext cx="2788921" cy="2377441"/>
            <a:chOff x="0" y="0"/>
            <a:chExt cx="2788920" cy="2377439"/>
          </a:xfrm>
        </p:grpSpPr>
        <p:sp>
          <p:nvSpPr>
            <p:cNvPr id="94" name="hk1_bg"/>
            <p:cNvSpPr/>
            <p:nvPr/>
          </p:nvSpPr>
          <p:spPr>
            <a:xfrm>
              <a:off x="0" y="0"/>
              <a:ext cx="2788921" cy="2377440"/>
            </a:xfrm>
            <a:prstGeom prst="roundRect">
              <a:avLst>
                <a:gd name="adj" fmla="val 5385"/>
              </a:avLst>
            </a:prstGeom>
            <a:solidFill>
              <a:srgbClr val="FFFFFF"/>
            </a:solidFill>
            <a:ln w="22860" cap="flat">
              <a:solidFill>
                <a:srgbClr val="F2A03D"/>
              </a:solidFill>
              <a:prstDash val="solid"/>
              <a:round/>
            </a:ln>
            <a:effectLst/>
          </p:spPr>
          <p:txBody>
            <a:bodyPr wrap="square" lIns="45719" tIns="45719" rIns="45719" bIns="45719" numCol="1" anchor="t">
              <a:noAutofit/>
            </a:bodyPr>
            <a:lstStyle/>
            <a:p>
              <a:pPr/>
            </a:p>
          </p:txBody>
        </p:sp>
        <p:pic>
          <p:nvPicPr>
            <p:cNvPr id="95" name="hk1_icon" descr="hk1_icon"/>
            <p:cNvPicPr>
              <a:picLocks noChangeAspect="1"/>
            </p:cNvPicPr>
            <p:nvPr/>
          </p:nvPicPr>
          <p:blipFill>
            <a:blip r:embed="rId4">
              <a:extLst/>
            </a:blip>
            <a:stretch>
              <a:fillRect/>
            </a:stretch>
          </p:blipFill>
          <p:spPr>
            <a:xfrm>
              <a:off x="937260" y="237743"/>
              <a:ext cx="914401" cy="914401"/>
            </a:xfrm>
            <a:prstGeom prst="rect">
              <a:avLst/>
            </a:prstGeom>
            <a:ln w="12700" cap="flat">
              <a:noFill/>
              <a:miter lim="400000"/>
            </a:ln>
            <a:effectLst/>
          </p:spPr>
        </p:pic>
        <p:sp>
          <p:nvSpPr>
            <p:cNvPr id="96" name="hk1_tag"/>
            <p:cNvSpPr txBox="1"/>
            <p:nvPr/>
          </p:nvSpPr>
          <p:spPr>
            <a:xfrm>
              <a:off x="182879" y="1352202"/>
              <a:ext cx="2423162"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300">
                  <a:solidFill>
                    <a:srgbClr val="F2A03D"/>
                  </a:solidFill>
                  <a:latin typeface="Arial"/>
                  <a:ea typeface="Arial"/>
                  <a:cs typeface="Arial"/>
                  <a:sym typeface="Arial"/>
                </a:defRPr>
              </a:lvl1pPr>
            </a:lstStyle>
            <a:p>
              <a:pPr/>
              <a:r>
                <a:t>BALLOON 2</a:t>
              </a:r>
            </a:p>
          </p:txBody>
        </p:sp>
        <p:sp>
          <p:nvSpPr>
            <p:cNvPr id="97" name="hk1_t"/>
            <p:cNvSpPr txBox="1"/>
            <p:nvPr/>
          </p:nvSpPr>
          <p:spPr>
            <a:xfrm>
              <a:off x="182879" y="1609343"/>
              <a:ext cx="2423162" cy="5486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200"/>
                </a:lnSpc>
                <a:defRPr sz="1700">
                  <a:solidFill>
                    <a:srgbClr val="241535"/>
                  </a:solidFill>
                  <a:latin typeface="Arial"/>
                  <a:ea typeface="Arial"/>
                  <a:cs typeface="Arial"/>
                  <a:sym typeface="Arial"/>
                </a:defRPr>
              </a:lvl1pPr>
            </a:lstStyle>
            <a:p>
              <a:pPr/>
              <a:r>
                <a:t>A little water inside, then air.</a:t>
              </a:r>
            </a:p>
          </p:txBody>
        </p:sp>
      </p:grpSp>
      <p:sp>
        <p:nvSpPr>
          <p:cNvPr id="99" name="hook_q"/>
          <p:cNvSpPr txBox="1"/>
          <p:nvPr/>
        </p:nvSpPr>
        <p:spPr>
          <a:xfrm>
            <a:off x="6903719" y="2165720"/>
            <a:ext cx="4785056" cy="7526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400">
                <a:solidFill>
                  <a:srgbClr val="4A2C6F"/>
                </a:solidFill>
                <a:latin typeface="Georgia"/>
                <a:ea typeface="Georgia"/>
                <a:cs typeface="Georgia"/>
                <a:sym typeface="Georgia"/>
              </a:defRPr>
            </a:lvl1pPr>
          </a:lstStyle>
          <a:p>
            <a:pPr/>
            <a:r>
              <a:t>Which one bursts over a flame?</a:t>
            </a:r>
          </a:p>
        </p:txBody>
      </p:sp>
      <p:grpSp>
        <p:nvGrpSpPr>
          <p:cNvPr id="103" name="hook_opt0"/>
          <p:cNvGrpSpPr/>
          <p:nvPr/>
        </p:nvGrpSpPr>
        <p:grpSpPr>
          <a:xfrm>
            <a:off x="6903719" y="3054095"/>
            <a:ext cx="4785056" cy="566929"/>
            <a:chOff x="0" y="0"/>
            <a:chExt cx="4785054" cy="566927"/>
          </a:xfrm>
        </p:grpSpPr>
        <p:sp>
          <p:nvSpPr>
            <p:cNvPr id="100" name="hook_opt0_bg"/>
            <p:cNvSpPr/>
            <p:nvPr/>
          </p:nvSpPr>
          <p:spPr>
            <a:xfrm>
              <a:off x="0" y="0"/>
              <a:ext cx="4785055" cy="566928"/>
            </a:xfrm>
            <a:prstGeom prst="roundRect">
              <a:avLst>
                <a:gd name="adj" fmla="val 22581"/>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01" name="hook_opt0_k"/>
            <p:cNvSpPr txBox="1"/>
            <p:nvPr/>
          </p:nvSpPr>
          <p:spPr>
            <a:xfrm>
              <a:off x="219456" y="150114"/>
              <a:ext cx="329184"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D94F6A"/>
                  </a:solidFill>
                  <a:latin typeface="Georgia"/>
                  <a:ea typeface="Georgia"/>
                  <a:cs typeface="Georgia"/>
                  <a:sym typeface="Georgia"/>
                </a:defRPr>
              </a:lvl1pPr>
            </a:lstStyle>
            <a:p>
              <a:pPr/>
              <a:r>
                <a:t>A</a:t>
              </a:r>
            </a:p>
          </p:txBody>
        </p:sp>
        <p:sp>
          <p:nvSpPr>
            <p:cNvPr id="102" name="hook_opt0_t"/>
            <p:cNvSpPr txBox="1"/>
            <p:nvPr/>
          </p:nvSpPr>
          <p:spPr>
            <a:xfrm>
              <a:off x="640079" y="159995"/>
              <a:ext cx="396209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700">
                  <a:solidFill>
                    <a:srgbClr val="241535"/>
                  </a:solidFill>
                  <a:latin typeface="Arial"/>
                  <a:ea typeface="Arial"/>
                  <a:cs typeface="Arial"/>
                  <a:sym typeface="Arial"/>
                </a:defRPr>
              </a:lvl1pPr>
            </a:lstStyle>
            <a:p>
              <a:pPr/>
              <a:r>
                <a:t>Both burst.</a:t>
              </a:r>
            </a:p>
          </p:txBody>
        </p:sp>
      </p:grpSp>
      <p:grpSp>
        <p:nvGrpSpPr>
          <p:cNvPr id="107" name="hook_opt1"/>
          <p:cNvGrpSpPr/>
          <p:nvPr/>
        </p:nvGrpSpPr>
        <p:grpSpPr>
          <a:xfrm>
            <a:off x="6903719" y="3749040"/>
            <a:ext cx="4785056" cy="566929"/>
            <a:chOff x="0" y="0"/>
            <a:chExt cx="4785054" cy="566927"/>
          </a:xfrm>
        </p:grpSpPr>
        <p:sp>
          <p:nvSpPr>
            <p:cNvPr id="104" name="hook_opt1_bg"/>
            <p:cNvSpPr/>
            <p:nvPr/>
          </p:nvSpPr>
          <p:spPr>
            <a:xfrm>
              <a:off x="0" y="0"/>
              <a:ext cx="4785055" cy="566928"/>
            </a:xfrm>
            <a:prstGeom prst="roundRect">
              <a:avLst>
                <a:gd name="adj" fmla="val 22581"/>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05" name="hook_opt1_k"/>
            <p:cNvSpPr txBox="1"/>
            <p:nvPr/>
          </p:nvSpPr>
          <p:spPr>
            <a:xfrm>
              <a:off x="219456" y="150114"/>
              <a:ext cx="329184"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D94F6A"/>
                  </a:solidFill>
                  <a:latin typeface="Georgia"/>
                  <a:ea typeface="Georgia"/>
                  <a:cs typeface="Georgia"/>
                  <a:sym typeface="Georgia"/>
                </a:defRPr>
              </a:lvl1pPr>
            </a:lstStyle>
            <a:p>
              <a:pPr/>
              <a:r>
                <a:t>B</a:t>
              </a:r>
            </a:p>
          </p:txBody>
        </p:sp>
        <p:sp>
          <p:nvSpPr>
            <p:cNvPr id="106" name="hook_opt1_t"/>
            <p:cNvSpPr txBox="1"/>
            <p:nvPr/>
          </p:nvSpPr>
          <p:spPr>
            <a:xfrm>
              <a:off x="640079" y="159995"/>
              <a:ext cx="396209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700">
                  <a:solidFill>
                    <a:srgbClr val="241535"/>
                  </a:solidFill>
                  <a:latin typeface="Arial"/>
                  <a:ea typeface="Arial"/>
                  <a:cs typeface="Arial"/>
                  <a:sym typeface="Arial"/>
                </a:defRPr>
              </a:lvl1pPr>
            </a:lstStyle>
            <a:p>
              <a:pPr/>
              <a:r>
                <a:t>Only balloon 1 bursts.</a:t>
              </a:r>
            </a:p>
          </p:txBody>
        </p:sp>
      </p:grpSp>
      <p:grpSp>
        <p:nvGrpSpPr>
          <p:cNvPr id="111" name="hook_opt2"/>
          <p:cNvGrpSpPr/>
          <p:nvPr/>
        </p:nvGrpSpPr>
        <p:grpSpPr>
          <a:xfrm>
            <a:off x="6903719" y="4443984"/>
            <a:ext cx="4785056" cy="566929"/>
            <a:chOff x="0" y="0"/>
            <a:chExt cx="4785054" cy="566927"/>
          </a:xfrm>
        </p:grpSpPr>
        <p:sp>
          <p:nvSpPr>
            <p:cNvPr id="108" name="hook_opt2_bg"/>
            <p:cNvSpPr/>
            <p:nvPr/>
          </p:nvSpPr>
          <p:spPr>
            <a:xfrm>
              <a:off x="0" y="0"/>
              <a:ext cx="4785055" cy="566928"/>
            </a:xfrm>
            <a:prstGeom prst="roundRect">
              <a:avLst>
                <a:gd name="adj" fmla="val 22581"/>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09" name="hook_opt2_k"/>
            <p:cNvSpPr txBox="1"/>
            <p:nvPr/>
          </p:nvSpPr>
          <p:spPr>
            <a:xfrm>
              <a:off x="219456" y="150114"/>
              <a:ext cx="329184"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D94F6A"/>
                  </a:solidFill>
                  <a:latin typeface="Georgia"/>
                  <a:ea typeface="Georgia"/>
                  <a:cs typeface="Georgia"/>
                  <a:sym typeface="Georgia"/>
                </a:defRPr>
              </a:lvl1pPr>
            </a:lstStyle>
            <a:p>
              <a:pPr/>
              <a:r>
                <a:t>C</a:t>
              </a:r>
            </a:p>
          </p:txBody>
        </p:sp>
        <p:sp>
          <p:nvSpPr>
            <p:cNvPr id="110" name="hook_opt2_t"/>
            <p:cNvSpPr txBox="1"/>
            <p:nvPr/>
          </p:nvSpPr>
          <p:spPr>
            <a:xfrm>
              <a:off x="640079" y="159995"/>
              <a:ext cx="396209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700">
                  <a:solidFill>
                    <a:srgbClr val="241535"/>
                  </a:solidFill>
                  <a:latin typeface="Arial"/>
                  <a:ea typeface="Arial"/>
                  <a:cs typeface="Arial"/>
                  <a:sym typeface="Arial"/>
                </a:defRPr>
              </a:lvl1pPr>
            </a:lstStyle>
            <a:p>
              <a:pPr/>
              <a:r>
                <a:t>Only balloon 2 bursts.</a:t>
              </a:r>
            </a:p>
          </p:txBody>
        </p:sp>
      </p:grpSp>
      <p:sp>
        <p:nvSpPr>
          <p:cNvPr id="112" name="hook_foot"/>
          <p:cNvSpPr txBox="1"/>
          <p:nvPr/>
        </p:nvSpPr>
        <p:spPr>
          <a:xfrm>
            <a:off x="502919" y="5000519"/>
            <a:ext cx="11185857"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6A6180"/>
                </a:solidFill>
                <a:latin typeface="Arial"/>
                <a:ea typeface="Arial"/>
                <a:cs typeface="Arial"/>
                <a:sym typeface="Arial"/>
              </a:defRPr>
            </a:lvl1pPr>
          </a:lstStyle>
          <a:p>
            <a:pPr/>
            <a:r>
              <a:t>Write your prediction in your book. You are about to test it yourself!</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93"/>
                                        </p:tgtEl>
                                        <p:attrNameLst>
                                          <p:attrName>style.visibility</p:attrName>
                                        </p:attrNameLst>
                                      </p:cBhvr>
                                      <p:to>
                                        <p:strVal val="visible"/>
                                      </p:to>
                                    </p:set>
                                    <p:anim calcmode="lin" valueType="num">
                                      <p:cBhvr>
                                        <p:cTn id="7" dur="400" fill="hold"/>
                                        <p:tgtEl>
                                          <p:spTgt spid="93"/>
                                        </p:tgtEl>
                                        <p:attrNameLst>
                                          <p:attrName>ppt_w</p:attrName>
                                        </p:attrNameLst>
                                      </p:cBhvr>
                                      <p:tavLst>
                                        <p:tav tm="0">
                                          <p:val>
                                            <p:fltVal val="0"/>
                                          </p:val>
                                        </p:tav>
                                        <p:tav tm="100000">
                                          <p:val>
                                            <p:strVal val="#ppt_w"/>
                                          </p:val>
                                        </p:tav>
                                      </p:tavLst>
                                    </p:anim>
                                    <p:anim calcmode="lin" valueType="num">
                                      <p:cBhvr>
                                        <p:cTn id="8" dur="400" fill="hold"/>
                                        <p:tgtEl>
                                          <p:spTgt spid="9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98"/>
                                        </p:tgtEl>
                                        <p:attrNameLst>
                                          <p:attrName>style.visibility</p:attrName>
                                        </p:attrNameLst>
                                      </p:cBhvr>
                                      <p:to>
                                        <p:strVal val="visible"/>
                                      </p:to>
                                    </p:set>
                                    <p:anim calcmode="lin" valueType="num">
                                      <p:cBhvr>
                                        <p:cTn id="13" dur="400" fill="hold"/>
                                        <p:tgtEl>
                                          <p:spTgt spid="98"/>
                                        </p:tgtEl>
                                        <p:attrNameLst>
                                          <p:attrName>ppt_w</p:attrName>
                                        </p:attrNameLst>
                                      </p:cBhvr>
                                      <p:tavLst>
                                        <p:tav tm="0">
                                          <p:val>
                                            <p:fltVal val="0"/>
                                          </p:val>
                                        </p:tav>
                                        <p:tav tm="100000">
                                          <p:val>
                                            <p:strVal val="#ppt_w"/>
                                          </p:val>
                                        </p:tav>
                                      </p:tavLst>
                                    </p:anim>
                                    <p:anim calcmode="lin" valueType="num">
                                      <p:cBhvr>
                                        <p:cTn id="14" dur="400" fill="hold"/>
                                        <p:tgtEl>
                                          <p:spTgt spid="98"/>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ID="10" grpId="3" fill="hold">
                                  <p:stCondLst>
                                    <p:cond delay="0"/>
                                  </p:stCondLst>
                                  <p:iterate type="el" backwards="0">
                                    <p:tmAbs val="0"/>
                                  </p:iterate>
                                  <p:childTnLst>
                                    <p:set>
                                      <p:cBhvr>
                                        <p:cTn id="18" fill="hold"/>
                                        <p:tgtEl>
                                          <p:spTgt spid="99"/>
                                        </p:tgtEl>
                                        <p:attrNameLst>
                                          <p:attrName>style.visibility</p:attrName>
                                        </p:attrNameLst>
                                      </p:cBhvr>
                                      <p:to>
                                        <p:strVal val="visible"/>
                                      </p:to>
                                    </p:set>
                                    <p:animEffect filter="fade" transition="in">
                                      <p:cBhvr>
                                        <p:cTn id="19" dur="400"/>
                                        <p:tgtEl>
                                          <p:spTgt spid="99"/>
                                        </p:tgtEl>
                                      </p:cBhvr>
                                    </p:animEffect>
                                  </p:childTnLst>
                                </p:cTn>
                              </p:par>
                            </p:childTnLst>
                          </p:cTn>
                        </p:par>
                      </p:childTnLst>
                    </p:cTn>
                  </p:par>
                  <p:par>
                    <p:cTn id="20" fill="hold">
                      <p:stCondLst>
                        <p:cond delay="indefinite"/>
                      </p:stCondLst>
                      <p:childTnLst>
                        <p:par>
                          <p:cTn id="21" fill="hold">
                            <p:stCondLst>
                              <p:cond delay="0"/>
                            </p:stCondLst>
                            <p:childTnLst>
                              <p:par>
                                <p:cTn id="22" presetClass="entr" nodeType="clickEffect" presetID="10" grpId="4" fill="hold">
                                  <p:stCondLst>
                                    <p:cond delay="0"/>
                                  </p:stCondLst>
                                  <p:iterate type="el" backwards="0">
                                    <p:tmAbs val="0"/>
                                  </p:iterate>
                                  <p:childTnLst>
                                    <p:set>
                                      <p:cBhvr>
                                        <p:cTn id="23" fill="hold"/>
                                        <p:tgtEl>
                                          <p:spTgt spid="103"/>
                                        </p:tgtEl>
                                        <p:attrNameLst>
                                          <p:attrName>style.visibility</p:attrName>
                                        </p:attrNameLst>
                                      </p:cBhvr>
                                      <p:to>
                                        <p:strVal val="visible"/>
                                      </p:to>
                                    </p:set>
                                    <p:animEffect filter="fade" transition="in">
                                      <p:cBhvr>
                                        <p:cTn id="24" dur="400"/>
                                        <p:tgtEl>
                                          <p:spTgt spid="103"/>
                                        </p:tgtEl>
                                      </p:cBhvr>
                                    </p:animEffect>
                                  </p:childTnLst>
                                </p:cTn>
                              </p:par>
                            </p:childTnLst>
                          </p:cTn>
                        </p:par>
                        <p:par>
                          <p:cTn id="25" fill="hold">
                            <p:stCondLst>
                              <p:cond delay="400"/>
                            </p:stCondLst>
                            <p:childTnLst>
                              <p:par>
                                <p:cTn id="26" presetClass="entr" nodeType="afterEffect" presetID="10" grpId="5" fill="hold">
                                  <p:stCondLst>
                                    <p:cond delay="150"/>
                                  </p:stCondLst>
                                  <p:iterate type="el" backwards="0">
                                    <p:tmAbs val="0"/>
                                  </p:iterate>
                                  <p:childTnLst>
                                    <p:set>
                                      <p:cBhvr>
                                        <p:cTn id="27" fill="hold"/>
                                        <p:tgtEl>
                                          <p:spTgt spid="107"/>
                                        </p:tgtEl>
                                        <p:attrNameLst>
                                          <p:attrName>style.visibility</p:attrName>
                                        </p:attrNameLst>
                                      </p:cBhvr>
                                      <p:to>
                                        <p:strVal val="visible"/>
                                      </p:to>
                                    </p:set>
                                    <p:animEffect filter="fade" transition="in">
                                      <p:cBhvr>
                                        <p:cTn id="28" dur="400"/>
                                        <p:tgtEl>
                                          <p:spTgt spid="107"/>
                                        </p:tgtEl>
                                      </p:cBhvr>
                                    </p:animEffect>
                                  </p:childTnLst>
                                </p:cTn>
                              </p:par>
                            </p:childTnLst>
                          </p:cTn>
                        </p:par>
                        <p:par>
                          <p:cTn id="29" fill="hold">
                            <p:stCondLst>
                              <p:cond delay="950"/>
                            </p:stCondLst>
                            <p:childTnLst>
                              <p:par>
                                <p:cTn id="30" presetClass="entr" nodeType="afterEffect" presetID="10" grpId="6" fill="hold">
                                  <p:stCondLst>
                                    <p:cond delay="300"/>
                                  </p:stCondLst>
                                  <p:iterate type="el" backwards="0">
                                    <p:tmAbs val="0"/>
                                  </p:iterate>
                                  <p:childTnLst>
                                    <p:set>
                                      <p:cBhvr>
                                        <p:cTn id="31" fill="hold"/>
                                        <p:tgtEl>
                                          <p:spTgt spid="111"/>
                                        </p:tgtEl>
                                        <p:attrNameLst>
                                          <p:attrName>style.visibility</p:attrName>
                                        </p:attrNameLst>
                                      </p:cBhvr>
                                      <p:to>
                                        <p:strVal val="visible"/>
                                      </p:to>
                                    </p:set>
                                    <p:animEffect filter="fade" transition="in">
                                      <p:cBhvr>
                                        <p:cTn id="32" dur="400"/>
                                        <p:tgtEl>
                                          <p:spTgt spid="1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3" grpId="1"/>
      <p:bldP build="whole" bldLvl="1" animBg="1" rev="0" advAuto="0" spid="99" grpId="3"/>
      <p:bldP build="whole" bldLvl="1" animBg="1" rev="0" advAuto="0" spid="98" grpId="2"/>
      <p:bldP build="whole" bldLvl="1" animBg="1" rev="0" advAuto="0" spid="103" grpId="4"/>
      <p:bldP build="whole" bldLvl="1" animBg="1" rev="0" advAuto="0" spid="107" grpId="5"/>
      <p:bldP build="whole" bldLvl="1" animBg="1" rev="0" advAuto="0" spid="111" grpId="6"/>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18" name="phase_pill"/>
          <p:cNvGrpSpPr/>
          <p:nvPr/>
        </p:nvGrpSpPr>
        <p:grpSpPr>
          <a:xfrm>
            <a:off x="502919" y="347472"/>
            <a:ext cx="1627634" cy="329185"/>
            <a:chOff x="0" y="0"/>
            <a:chExt cx="1627632" cy="329184"/>
          </a:xfrm>
        </p:grpSpPr>
        <p:sp>
          <p:nvSpPr>
            <p:cNvPr id="116" name="Rounded Rectangle"/>
            <p:cNvSpPr/>
            <p:nvPr/>
          </p:nvSpPr>
          <p:spPr>
            <a:xfrm>
              <a:off x="0" y="0"/>
              <a:ext cx="1627633"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17" name="I DO · 4 MIN"/>
            <p:cNvSpPr txBox="1"/>
            <p:nvPr/>
          </p:nvSpPr>
          <p:spPr>
            <a:xfrm>
              <a:off x="42850" y="90677"/>
              <a:ext cx="154193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4 MIN</a:t>
              </a:r>
            </a:p>
          </p:txBody>
        </p:sp>
      </p:grpSp>
      <p:sp>
        <p:nvSpPr>
          <p:cNvPr id="119"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Physical science</a:t>
            </a:r>
          </a:p>
        </p:txBody>
      </p:sp>
      <p:sp>
        <p:nvSpPr>
          <p:cNvPr id="120" name="slide_sub"/>
          <p:cNvSpPr txBox="1"/>
          <p:nvPr/>
        </p:nvSpPr>
        <p:spPr>
          <a:xfrm>
            <a:off x="502919" y="1699535"/>
            <a:ext cx="11185857"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A6180"/>
                </a:solidFill>
                <a:latin typeface="Arial"/>
                <a:ea typeface="Arial"/>
                <a:cs typeface="Arial"/>
                <a:sym typeface="Arial"/>
              </a:defRPr>
            </a:lvl1pPr>
          </a:lstStyle>
          <a:p>
            <a:pPr/>
            <a:r>
              <a:t>The study of matter and energy.</a:t>
            </a:r>
          </a:p>
        </p:txBody>
      </p:sp>
      <p:grpSp>
        <p:nvGrpSpPr>
          <p:cNvPr id="123" name="ps_banner"/>
          <p:cNvGrpSpPr/>
          <p:nvPr/>
        </p:nvGrpSpPr>
        <p:grpSpPr>
          <a:xfrm>
            <a:off x="502919" y="2322576"/>
            <a:ext cx="11185857" cy="713233"/>
            <a:chOff x="0" y="0"/>
            <a:chExt cx="11185855" cy="713231"/>
          </a:xfrm>
        </p:grpSpPr>
        <p:sp>
          <p:nvSpPr>
            <p:cNvPr id="121" name="Rounded Rectangle"/>
            <p:cNvSpPr/>
            <p:nvPr/>
          </p:nvSpPr>
          <p:spPr>
            <a:xfrm>
              <a:off x="0" y="0"/>
              <a:ext cx="11185856" cy="713232"/>
            </a:xfrm>
            <a:prstGeom prst="roundRect">
              <a:avLst>
                <a:gd name="adj" fmla="val 15385"/>
              </a:avLst>
            </a:prstGeom>
            <a:solidFill>
              <a:srgbClr val="4A2C6F"/>
            </a:solidFill>
            <a:ln w="9525" cap="flat">
              <a:solidFill>
                <a:srgbClr val="4A2C6F"/>
              </a:solidFill>
              <a:prstDash val="solid"/>
              <a:round/>
            </a:ln>
            <a:effectLst/>
          </p:spPr>
          <p:txBody>
            <a:bodyPr wrap="square" lIns="45719" tIns="45719" rIns="45719" bIns="45719" numCol="1" anchor="ctr">
              <a:noAutofit/>
            </a:bodyPr>
            <a:lstStyle/>
            <a:p>
              <a:pPr algn="ctr">
                <a:defRPr sz="2600"/>
              </a:pPr>
            </a:p>
          </p:txBody>
        </p:sp>
        <p:sp>
          <p:nvSpPr>
            <p:cNvPr id="122" name="MATTER  +  ENERGY"/>
            <p:cNvSpPr txBox="1"/>
            <p:nvPr/>
          </p:nvSpPr>
          <p:spPr>
            <a:xfrm>
              <a:off x="36901" y="166116"/>
              <a:ext cx="11112053"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600">
                  <a:solidFill>
                    <a:srgbClr val="F2A03D"/>
                  </a:solidFill>
                  <a:latin typeface="Georgia"/>
                  <a:ea typeface="Georgia"/>
                  <a:cs typeface="Georgia"/>
                  <a:sym typeface="Georgia"/>
                </a:defRPr>
              </a:lvl1pPr>
            </a:lstStyle>
            <a:p>
              <a:pPr/>
              <a:r>
                <a:t>MATTER  +  ENERGY</a:t>
              </a:r>
            </a:p>
          </p:txBody>
        </p:sp>
      </p:grpSp>
      <p:grpSp>
        <p:nvGrpSpPr>
          <p:cNvPr id="128" name="ps0"/>
          <p:cNvGrpSpPr/>
          <p:nvPr/>
        </p:nvGrpSpPr>
        <p:grpSpPr>
          <a:xfrm>
            <a:off x="502919" y="3273552"/>
            <a:ext cx="5349242" cy="2103121"/>
            <a:chOff x="0" y="0"/>
            <a:chExt cx="5349240" cy="2103120"/>
          </a:xfrm>
        </p:grpSpPr>
        <p:sp>
          <p:nvSpPr>
            <p:cNvPr id="124" name="ps0_bg"/>
            <p:cNvSpPr/>
            <p:nvPr/>
          </p:nvSpPr>
          <p:spPr>
            <a:xfrm>
              <a:off x="0" y="0"/>
              <a:ext cx="5349241" cy="2103121"/>
            </a:xfrm>
            <a:prstGeom prst="roundRect">
              <a:avLst>
                <a:gd name="adj" fmla="val 6087"/>
              </a:avLst>
            </a:prstGeom>
            <a:solidFill>
              <a:srgbClr val="E8F6F5"/>
            </a:solidFill>
            <a:ln w="22860" cap="flat">
              <a:solidFill>
                <a:srgbClr val="2BA6A0"/>
              </a:solidFill>
              <a:prstDash val="solid"/>
              <a:round/>
            </a:ln>
            <a:effectLst/>
          </p:spPr>
          <p:txBody>
            <a:bodyPr wrap="square" lIns="45719" tIns="45719" rIns="45719" bIns="45719" numCol="1" anchor="t">
              <a:noAutofit/>
            </a:bodyPr>
            <a:lstStyle/>
            <a:p>
              <a:pPr/>
            </a:p>
          </p:txBody>
        </p:sp>
        <p:pic>
          <p:nvPicPr>
            <p:cNvPr id="125" name="ps0_icon" descr="ps0_icon"/>
            <p:cNvPicPr>
              <a:picLocks noChangeAspect="1"/>
            </p:cNvPicPr>
            <p:nvPr/>
          </p:nvPicPr>
          <p:blipFill>
            <a:blip r:embed="rId3">
              <a:extLst/>
            </a:blip>
            <a:stretch>
              <a:fillRect/>
            </a:stretch>
          </p:blipFill>
          <p:spPr>
            <a:xfrm>
              <a:off x="310896" y="256032"/>
              <a:ext cx="822961" cy="822961"/>
            </a:xfrm>
            <a:prstGeom prst="rect">
              <a:avLst/>
            </a:prstGeom>
            <a:ln w="12700" cap="flat">
              <a:noFill/>
              <a:miter lim="400000"/>
            </a:ln>
            <a:effectLst/>
          </p:spPr>
        </p:pic>
        <p:sp>
          <p:nvSpPr>
            <p:cNvPr id="126" name="ps0_tag"/>
            <p:cNvSpPr txBox="1"/>
            <p:nvPr/>
          </p:nvSpPr>
          <p:spPr>
            <a:xfrm>
              <a:off x="1316736" y="496062"/>
              <a:ext cx="365760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2400">
                  <a:solidFill>
                    <a:srgbClr val="2BA6A0"/>
                  </a:solidFill>
                  <a:latin typeface="Georgia"/>
                  <a:ea typeface="Georgia"/>
                  <a:cs typeface="Georgia"/>
                  <a:sym typeface="Georgia"/>
                </a:defRPr>
              </a:lvl1pPr>
            </a:lstStyle>
            <a:p>
              <a:pPr/>
              <a:r>
                <a:t>CHEMISTRY</a:t>
              </a:r>
            </a:p>
          </p:txBody>
        </p:sp>
        <p:sp>
          <p:nvSpPr>
            <p:cNvPr id="127" name="ps0_t"/>
            <p:cNvSpPr txBox="1"/>
            <p:nvPr/>
          </p:nvSpPr>
          <p:spPr>
            <a:xfrm>
              <a:off x="310896" y="1207008"/>
              <a:ext cx="4727449" cy="5715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sz="1700">
                  <a:solidFill>
                    <a:srgbClr val="241535"/>
                  </a:solidFill>
                  <a:latin typeface="Arial"/>
                  <a:ea typeface="Arial"/>
                  <a:cs typeface="Arial"/>
                  <a:sym typeface="Arial"/>
                </a:defRPr>
              </a:lvl1pPr>
            </a:lstStyle>
            <a:p>
              <a:pPr/>
              <a:r>
                <a:t>What things are made of, and how they change into other things.</a:t>
              </a:r>
            </a:p>
          </p:txBody>
        </p:sp>
      </p:grpSp>
      <p:grpSp>
        <p:nvGrpSpPr>
          <p:cNvPr id="133" name="ps1"/>
          <p:cNvGrpSpPr/>
          <p:nvPr/>
        </p:nvGrpSpPr>
        <p:grpSpPr>
          <a:xfrm>
            <a:off x="6217920" y="3273552"/>
            <a:ext cx="5349241" cy="2103121"/>
            <a:chOff x="0" y="0"/>
            <a:chExt cx="5349240" cy="2103120"/>
          </a:xfrm>
        </p:grpSpPr>
        <p:sp>
          <p:nvSpPr>
            <p:cNvPr id="129" name="ps1_bg"/>
            <p:cNvSpPr/>
            <p:nvPr/>
          </p:nvSpPr>
          <p:spPr>
            <a:xfrm>
              <a:off x="0" y="0"/>
              <a:ext cx="5349241" cy="2103121"/>
            </a:xfrm>
            <a:prstGeom prst="roundRect">
              <a:avLst>
                <a:gd name="adj" fmla="val 6087"/>
              </a:avLst>
            </a:prstGeom>
            <a:solidFill>
              <a:srgbClr val="FDEEDC"/>
            </a:solidFill>
            <a:ln w="22860" cap="flat">
              <a:solidFill>
                <a:srgbClr val="F2A03D"/>
              </a:solidFill>
              <a:prstDash val="solid"/>
              <a:round/>
            </a:ln>
            <a:effectLst/>
          </p:spPr>
          <p:txBody>
            <a:bodyPr wrap="square" lIns="45719" tIns="45719" rIns="45719" bIns="45719" numCol="1" anchor="t">
              <a:noAutofit/>
            </a:bodyPr>
            <a:lstStyle/>
            <a:p>
              <a:pPr/>
            </a:p>
          </p:txBody>
        </p:sp>
        <p:pic>
          <p:nvPicPr>
            <p:cNvPr id="130" name="ps1_icon" descr="ps1_icon"/>
            <p:cNvPicPr>
              <a:picLocks noChangeAspect="1"/>
            </p:cNvPicPr>
            <p:nvPr/>
          </p:nvPicPr>
          <p:blipFill>
            <a:blip r:embed="rId4">
              <a:extLst/>
            </a:blip>
            <a:stretch>
              <a:fillRect/>
            </a:stretch>
          </p:blipFill>
          <p:spPr>
            <a:xfrm>
              <a:off x="310896" y="256032"/>
              <a:ext cx="822961" cy="822961"/>
            </a:xfrm>
            <a:prstGeom prst="rect">
              <a:avLst/>
            </a:prstGeom>
            <a:ln w="12700" cap="flat">
              <a:noFill/>
              <a:miter lim="400000"/>
            </a:ln>
            <a:effectLst/>
          </p:spPr>
        </p:pic>
        <p:sp>
          <p:nvSpPr>
            <p:cNvPr id="131" name="ps1_tag"/>
            <p:cNvSpPr txBox="1"/>
            <p:nvPr/>
          </p:nvSpPr>
          <p:spPr>
            <a:xfrm>
              <a:off x="1316736" y="496062"/>
              <a:ext cx="3657601"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2400">
                  <a:solidFill>
                    <a:srgbClr val="F2A03D"/>
                  </a:solidFill>
                  <a:latin typeface="Georgia"/>
                  <a:ea typeface="Georgia"/>
                  <a:cs typeface="Georgia"/>
                  <a:sym typeface="Georgia"/>
                </a:defRPr>
              </a:lvl1pPr>
            </a:lstStyle>
            <a:p>
              <a:pPr/>
              <a:r>
                <a:t>PHYSICS</a:t>
              </a:r>
            </a:p>
          </p:txBody>
        </p:sp>
        <p:sp>
          <p:nvSpPr>
            <p:cNvPr id="132" name="ps1_t"/>
            <p:cNvSpPr txBox="1"/>
            <p:nvPr/>
          </p:nvSpPr>
          <p:spPr>
            <a:xfrm>
              <a:off x="310896" y="1207008"/>
              <a:ext cx="4727449" cy="5715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300"/>
                </a:lnSpc>
                <a:defRPr sz="1700">
                  <a:solidFill>
                    <a:srgbClr val="241535"/>
                  </a:solidFill>
                  <a:latin typeface="Arial"/>
                  <a:ea typeface="Arial"/>
                  <a:cs typeface="Arial"/>
                  <a:sym typeface="Arial"/>
                </a:defRPr>
              </a:lvl1pPr>
            </a:lstStyle>
            <a:p>
              <a:pPr/>
              <a:r>
                <a:t>How energy behaves, and how it moves things about.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23"/>
                                        </p:tgtEl>
                                        <p:attrNameLst>
                                          <p:attrName>style.visibility</p:attrName>
                                        </p:attrNameLst>
                                      </p:cBhvr>
                                      <p:to>
                                        <p:strVal val="visible"/>
                                      </p:to>
                                    </p:set>
                                    <p:anim calcmode="lin" valueType="num">
                                      <p:cBhvr>
                                        <p:cTn id="7" dur="400" fill="hold"/>
                                        <p:tgtEl>
                                          <p:spTgt spid="123"/>
                                        </p:tgtEl>
                                        <p:attrNameLst>
                                          <p:attrName>ppt_w</p:attrName>
                                        </p:attrNameLst>
                                      </p:cBhvr>
                                      <p:tavLst>
                                        <p:tav tm="0">
                                          <p:val>
                                            <p:fltVal val="0"/>
                                          </p:val>
                                        </p:tav>
                                        <p:tav tm="100000">
                                          <p:val>
                                            <p:strVal val="#ppt_w"/>
                                          </p:val>
                                        </p:tav>
                                      </p:tavLst>
                                    </p:anim>
                                    <p:anim calcmode="lin" valueType="num">
                                      <p:cBhvr>
                                        <p:cTn id="8" dur="400" fill="hold"/>
                                        <p:tgtEl>
                                          <p:spTgt spid="12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ID="10" grpId="2" fill="hold">
                                  <p:stCondLst>
                                    <p:cond delay="0"/>
                                  </p:stCondLst>
                                  <p:iterate type="el" backwards="0">
                                    <p:tmAbs val="0"/>
                                  </p:iterate>
                                  <p:childTnLst>
                                    <p:set>
                                      <p:cBhvr>
                                        <p:cTn id="12" fill="hold"/>
                                        <p:tgtEl>
                                          <p:spTgt spid="128"/>
                                        </p:tgtEl>
                                        <p:attrNameLst>
                                          <p:attrName>style.visibility</p:attrName>
                                        </p:attrNameLst>
                                      </p:cBhvr>
                                      <p:to>
                                        <p:strVal val="visible"/>
                                      </p:to>
                                    </p:set>
                                    <p:animEffect filter="fade" transition="in">
                                      <p:cBhvr>
                                        <p:cTn id="13" dur="400"/>
                                        <p:tgtEl>
                                          <p:spTgt spid="128"/>
                                        </p:tgtEl>
                                      </p:cBhvr>
                                    </p:animEffect>
                                  </p:childTnLst>
                                </p:cTn>
                              </p:par>
                            </p:childTnLst>
                          </p:cTn>
                        </p:par>
                      </p:childTnLst>
                    </p:cTn>
                  </p:par>
                  <p:par>
                    <p:cTn id="14" fill="hold">
                      <p:stCondLst>
                        <p:cond delay="indefinite"/>
                      </p:stCondLst>
                      <p:childTnLst>
                        <p:par>
                          <p:cTn id="15" fill="hold">
                            <p:stCondLst>
                              <p:cond delay="0"/>
                            </p:stCondLst>
                            <p:childTnLst>
                              <p:par>
                                <p:cTn id="16" presetClass="entr" nodeType="clickEffect" presetID="10" grpId="3" fill="hold">
                                  <p:stCondLst>
                                    <p:cond delay="0"/>
                                  </p:stCondLst>
                                  <p:iterate type="el" backwards="0">
                                    <p:tmAbs val="0"/>
                                  </p:iterate>
                                  <p:childTnLst>
                                    <p:set>
                                      <p:cBhvr>
                                        <p:cTn id="17" fill="hold"/>
                                        <p:tgtEl>
                                          <p:spTgt spid="133"/>
                                        </p:tgtEl>
                                        <p:attrNameLst>
                                          <p:attrName>style.visibility</p:attrName>
                                        </p:attrNameLst>
                                      </p:cBhvr>
                                      <p:to>
                                        <p:strVal val="visible"/>
                                      </p:to>
                                    </p:set>
                                    <p:animEffect filter="fade" transition="in">
                                      <p:cBhvr>
                                        <p:cTn id="18" dur="4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28" grpId="2"/>
      <p:bldP build="whole" bldLvl="1" animBg="1" rev="0" advAuto="0" spid="133" grpId="3"/>
      <p:bldP build="whole" bldLvl="1" animBg="1" rev="0" advAuto="0" spid="123"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39" name="phase_pill"/>
          <p:cNvGrpSpPr/>
          <p:nvPr/>
        </p:nvGrpSpPr>
        <p:grpSpPr>
          <a:xfrm>
            <a:off x="502919" y="347472"/>
            <a:ext cx="2107694" cy="329185"/>
            <a:chOff x="0" y="0"/>
            <a:chExt cx="2107692" cy="329184"/>
          </a:xfrm>
        </p:grpSpPr>
        <p:sp>
          <p:nvSpPr>
            <p:cNvPr id="137" name="Rounded Rectangle"/>
            <p:cNvSpPr/>
            <p:nvPr/>
          </p:nvSpPr>
          <p:spPr>
            <a:xfrm>
              <a:off x="0" y="0"/>
              <a:ext cx="2107693"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38" name="EQUIPMENT · 4 MIN"/>
            <p:cNvSpPr txBox="1"/>
            <p:nvPr/>
          </p:nvSpPr>
          <p:spPr>
            <a:xfrm>
              <a:off x="42851" y="90677"/>
              <a:ext cx="2021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EQUIPMENT · 4 MIN</a:t>
              </a:r>
            </a:p>
          </p:txBody>
        </p:sp>
      </p:grpSp>
      <p:sp>
        <p:nvSpPr>
          <p:cNvPr id="140"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Meet the Bunsen burner</a:t>
            </a:r>
          </a:p>
        </p:txBody>
      </p:sp>
      <p:pic>
        <p:nvPicPr>
          <p:cNvPr id="141" name="bb_photo" descr="bb_photo"/>
          <p:cNvPicPr>
            <a:picLocks noChangeAspect="1"/>
          </p:cNvPicPr>
          <p:nvPr/>
        </p:nvPicPr>
        <p:blipFill>
          <a:blip r:embed="rId3">
            <a:extLst/>
          </a:blip>
          <a:stretch>
            <a:fillRect/>
          </a:stretch>
        </p:blipFill>
        <p:spPr>
          <a:xfrm>
            <a:off x="777240" y="2176272"/>
            <a:ext cx="2468880" cy="3493009"/>
          </a:xfrm>
          <a:prstGeom prst="rect">
            <a:avLst/>
          </a:prstGeom>
          <a:ln w="12700">
            <a:miter lim="400000"/>
          </a:ln>
        </p:spPr>
      </p:pic>
      <p:grpSp>
        <p:nvGrpSpPr>
          <p:cNvPr id="145" name="bp0"/>
          <p:cNvGrpSpPr/>
          <p:nvPr/>
        </p:nvGrpSpPr>
        <p:grpSpPr>
          <a:xfrm>
            <a:off x="3703320" y="2176271"/>
            <a:ext cx="7985456" cy="786386"/>
            <a:chOff x="0" y="0"/>
            <a:chExt cx="7985455" cy="786384"/>
          </a:xfrm>
        </p:grpSpPr>
        <p:sp>
          <p:nvSpPr>
            <p:cNvPr id="142" name="bp0_bg"/>
            <p:cNvSpPr/>
            <p:nvPr/>
          </p:nvSpPr>
          <p:spPr>
            <a:xfrm>
              <a:off x="0" y="-1"/>
              <a:ext cx="7985456" cy="786386"/>
            </a:xfrm>
            <a:prstGeom prst="roundRect">
              <a:avLst>
                <a:gd name="adj" fmla="val 16279"/>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43" name="bp0_n"/>
            <p:cNvSpPr txBox="1"/>
            <p:nvPr/>
          </p:nvSpPr>
          <p:spPr>
            <a:xfrm>
              <a:off x="237743" y="259841"/>
              <a:ext cx="201168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F2A03D"/>
                  </a:solidFill>
                  <a:latin typeface="Georgia"/>
                  <a:ea typeface="Georgia"/>
                  <a:cs typeface="Georgia"/>
                  <a:sym typeface="Georgia"/>
                </a:defRPr>
              </a:lvl1pPr>
            </a:lstStyle>
            <a:p>
              <a:pPr/>
              <a:r>
                <a:t>Barrel</a:t>
              </a:r>
            </a:p>
          </p:txBody>
        </p:sp>
        <p:sp>
          <p:nvSpPr>
            <p:cNvPr id="144" name="bp0_t"/>
            <p:cNvSpPr txBox="1"/>
            <p:nvPr/>
          </p:nvSpPr>
          <p:spPr>
            <a:xfrm>
              <a:off x="2340864" y="155837"/>
              <a:ext cx="5406848"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900"/>
                </a:lnSpc>
                <a:defRPr sz="1500">
                  <a:solidFill>
                    <a:srgbClr val="241535"/>
                  </a:solidFill>
                  <a:latin typeface="Arial"/>
                  <a:ea typeface="Arial"/>
                  <a:cs typeface="Arial"/>
                  <a:sym typeface="Arial"/>
                </a:defRPr>
              </a:lvl1pPr>
            </a:lstStyle>
            <a:p>
              <a:pPr/>
              <a:r>
                <a:t>The metal tube the flame comes out of. It gets very hot and stays hot.</a:t>
              </a:r>
            </a:p>
          </p:txBody>
        </p:sp>
      </p:grpSp>
      <p:grpSp>
        <p:nvGrpSpPr>
          <p:cNvPr id="149" name="bp1"/>
          <p:cNvGrpSpPr/>
          <p:nvPr/>
        </p:nvGrpSpPr>
        <p:grpSpPr>
          <a:xfrm>
            <a:off x="3703320" y="3108960"/>
            <a:ext cx="7985456" cy="786385"/>
            <a:chOff x="0" y="0"/>
            <a:chExt cx="7985455" cy="786384"/>
          </a:xfrm>
        </p:grpSpPr>
        <p:sp>
          <p:nvSpPr>
            <p:cNvPr id="146" name="bp1_bg"/>
            <p:cNvSpPr/>
            <p:nvPr/>
          </p:nvSpPr>
          <p:spPr>
            <a:xfrm>
              <a:off x="0" y="-1"/>
              <a:ext cx="7985456" cy="786386"/>
            </a:xfrm>
            <a:prstGeom prst="roundRect">
              <a:avLst>
                <a:gd name="adj" fmla="val 16279"/>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47" name="bp1_n"/>
            <p:cNvSpPr txBox="1"/>
            <p:nvPr/>
          </p:nvSpPr>
          <p:spPr>
            <a:xfrm>
              <a:off x="237743" y="259841"/>
              <a:ext cx="201168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F2A03D"/>
                  </a:solidFill>
                  <a:latin typeface="Georgia"/>
                  <a:ea typeface="Georgia"/>
                  <a:cs typeface="Georgia"/>
                  <a:sym typeface="Georgia"/>
                </a:defRPr>
              </a:lvl1pPr>
            </a:lstStyle>
            <a:p>
              <a:pPr/>
              <a:r>
                <a:t>Air hole</a:t>
              </a:r>
            </a:p>
          </p:txBody>
        </p:sp>
        <p:sp>
          <p:nvSpPr>
            <p:cNvPr id="148" name="bp1_t"/>
            <p:cNvSpPr txBox="1"/>
            <p:nvPr/>
          </p:nvSpPr>
          <p:spPr>
            <a:xfrm>
              <a:off x="2340864" y="155837"/>
              <a:ext cx="5406848"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900"/>
                </a:lnSpc>
                <a:defRPr sz="1500">
                  <a:solidFill>
                    <a:srgbClr val="241535"/>
                  </a:solidFill>
                  <a:latin typeface="Arial"/>
                  <a:ea typeface="Arial"/>
                  <a:cs typeface="Arial"/>
                  <a:sym typeface="Arial"/>
                </a:defRPr>
              </a:lvl1pPr>
            </a:lstStyle>
            <a:p>
              <a:pPr/>
              <a:r>
                <a:t>The slot near the bottom. Open it for a hot blue flame, close it for a safety flame.</a:t>
              </a:r>
            </a:p>
          </p:txBody>
        </p:sp>
      </p:grpSp>
      <p:grpSp>
        <p:nvGrpSpPr>
          <p:cNvPr id="153" name="bp2"/>
          <p:cNvGrpSpPr/>
          <p:nvPr/>
        </p:nvGrpSpPr>
        <p:grpSpPr>
          <a:xfrm>
            <a:off x="3703320" y="4041647"/>
            <a:ext cx="7985456" cy="786385"/>
            <a:chOff x="0" y="0"/>
            <a:chExt cx="7985455" cy="786384"/>
          </a:xfrm>
        </p:grpSpPr>
        <p:sp>
          <p:nvSpPr>
            <p:cNvPr id="150" name="bp2_bg"/>
            <p:cNvSpPr/>
            <p:nvPr/>
          </p:nvSpPr>
          <p:spPr>
            <a:xfrm>
              <a:off x="0" y="-1"/>
              <a:ext cx="7985456" cy="786386"/>
            </a:xfrm>
            <a:prstGeom prst="roundRect">
              <a:avLst>
                <a:gd name="adj" fmla="val 16279"/>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51" name="bp2_n"/>
            <p:cNvSpPr txBox="1"/>
            <p:nvPr/>
          </p:nvSpPr>
          <p:spPr>
            <a:xfrm>
              <a:off x="237743" y="259841"/>
              <a:ext cx="201168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F2A03D"/>
                  </a:solidFill>
                  <a:latin typeface="Georgia"/>
                  <a:ea typeface="Georgia"/>
                  <a:cs typeface="Georgia"/>
                  <a:sym typeface="Georgia"/>
                </a:defRPr>
              </a:lvl1pPr>
            </a:lstStyle>
            <a:p>
              <a:pPr/>
              <a:r>
                <a:t>Gas tap</a:t>
              </a:r>
            </a:p>
          </p:txBody>
        </p:sp>
        <p:sp>
          <p:nvSpPr>
            <p:cNvPr id="152" name="bp2_t"/>
            <p:cNvSpPr txBox="1"/>
            <p:nvPr/>
          </p:nvSpPr>
          <p:spPr>
            <a:xfrm>
              <a:off x="2340864" y="155837"/>
              <a:ext cx="5406848"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900"/>
                </a:lnSpc>
                <a:defRPr sz="1500">
                  <a:solidFill>
                    <a:srgbClr val="241535"/>
                  </a:solidFill>
                  <a:latin typeface="Arial"/>
                  <a:ea typeface="Arial"/>
                  <a:cs typeface="Arial"/>
                  <a:sym typeface="Arial"/>
                </a:defRPr>
              </a:lvl1pPr>
            </a:lstStyle>
            <a:p>
              <a:pPr/>
              <a:r>
                <a:t>On the bench. Off means off — check it before you light anything.</a:t>
              </a:r>
            </a:p>
          </p:txBody>
        </p:sp>
      </p:grpSp>
      <p:grpSp>
        <p:nvGrpSpPr>
          <p:cNvPr id="157" name="bp3"/>
          <p:cNvGrpSpPr/>
          <p:nvPr/>
        </p:nvGrpSpPr>
        <p:grpSpPr>
          <a:xfrm>
            <a:off x="3703320" y="4974335"/>
            <a:ext cx="7985456" cy="786385"/>
            <a:chOff x="0" y="0"/>
            <a:chExt cx="7985455" cy="786384"/>
          </a:xfrm>
        </p:grpSpPr>
        <p:sp>
          <p:nvSpPr>
            <p:cNvPr id="154" name="bp3_bg"/>
            <p:cNvSpPr/>
            <p:nvPr/>
          </p:nvSpPr>
          <p:spPr>
            <a:xfrm>
              <a:off x="0" y="-1"/>
              <a:ext cx="7985456" cy="786386"/>
            </a:xfrm>
            <a:prstGeom prst="roundRect">
              <a:avLst>
                <a:gd name="adj" fmla="val 16279"/>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155" name="bp3_n"/>
            <p:cNvSpPr txBox="1"/>
            <p:nvPr/>
          </p:nvSpPr>
          <p:spPr>
            <a:xfrm>
              <a:off x="237743" y="259841"/>
              <a:ext cx="2011682"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900">
                  <a:solidFill>
                    <a:srgbClr val="F2A03D"/>
                  </a:solidFill>
                  <a:latin typeface="Georgia"/>
                  <a:ea typeface="Georgia"/>
                  <a:cs typeface="Georgia"/>
                  <a:sym typeface="Georgia"/>
                </a:defRPr>
              </a:lvl1pPr>
            </a:lstStyle>
            <a:p>
              <a:pPr/>
              <a:r>
                <a:t>Heat-proof mat</a:t>
              </a:r>
            </a:p>
          </p:txBody>
        </p:sp>
        <p:sp>
          <p:nvSpPr>
            <p:cNvPr id="156" name="bp3_t"/>
            <p:cNvSpPr txBox="1"/>
            <p:nvPr/>
          </p:nvSpPr>
          <p:spPr>
            <a:xfrm>
              <a:off x="2340864" y="155837"/>
              <a:ext cx="5406848" cy="4747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900"/>
                </a:lnSpc>
                <a:defRPr sz="1500">
                  <a:solidFill>
                    <a:srgbClr val="241535"/>
                  </a:solidFill>
                  <a:latin typeface="Arial"/>
                  <a:ea typeface="Arial"/>
                  <a:cs typeface="Arial"/>
                  <a:sym typeface="Arial"/>
                </a:defRPr>
              </a:lvl1pPr>
            </a:lstStyle>
            <a:p>
              <a:pPr/>
              <a:r>
                <a:t>Always underneath. The bench is not heat-proof and you are not paying for it.</a:t>
              </a:r>
            </a:p>
          </p:txBody>
        </p:sp>
      </p:grpSp>
      <p:sp>
        <p:nvSpPr>
          <p:cNvPr id="158"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A6180"/>
                </a:solidFill>
                <a:latin typeface="Arial"/>
                <a:ea typeface="Arial"/>
                <a:cs typeface="Arial"/>
                <a:sym typeface="Arial"/>
              </a:defRPr>
            </a:lvl1pPr>
          </a:lstStyle>
          <a:p>
            <a:pPr/>
            <a:r>
              <a:t>Photo: Zax71, CC0, Wikimedia Commons.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8" presetID="22" grpId="1" fill="hold">
                                  <p:stCondLst>
                                    <p:cond delay="0"/>
                                  </p:stCondLst>
                                  <p:iterate type="el" backwards="0">
                                    <p:tmAbs val="0"/>
                                  </p:iterate>
                                  <p:childTnLst>
                                    <p:set>
                                      <p:cBhvr>
                                        <p:cTn id="6" fill="hold"/>
                                        <p:tgtEl>
                                          <p:spTgt spid="145"/>
                                        </p:tgtEl>
                                        <p:attrNameLst>
                                          <p:attrName>style.visibility</p:attrName>
                                        </p:attrNameLst>
                                      </p:cBhvr>
                                      <p:to>
                                        <p:strVal val="visible"/>
                                      </p:to>
                                    </p:set>
                                    <p:animEffect filter="wipe(left)" transition="in">
                                      <p:cBhvr>
                                        <p:cTn id="7" dur="400"/>
                                        <p:tgtEl>
                                          <p:spTgt spid="14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Subtype="8" presetID="22" grpId="2" fill="hold">
                                  <p:stCondLst>
                                    <p:cond delay="0"/>
                                  </p:stCondLst>
                                  <p:iterate type="el" backwards="0">
                                    <p:tmAbs val="0"/>
                                  </p:iterate>
                                  <p:childTnLst>
                                    <p:set>
                                      <p:cBhvr>
                                        <p:cTn id="11" fill="hold"/>
                                        <p:tgtEl>
                                          <p:spTgt spid="149"/>
                                        </p:tgtEl>
                                        <p:attrNameLst>
                                          <p:attrName>style.visibility</p:attrName>
                                        </p:attrNameLst>
                                      </p:cBhvr>
                                      <p:to>
                                        <p:strVal val="visible"/>
                                      </p:to>
                                    </p:set>
                                    <p:animEffect filter="wipe(left)" transition="in">
                                      <p:cBhvr>
                                        <p:cTn id="12" dur="400"/>
                                        <p:tgtEl>
                                          <p:spTgt spid="149"/>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8" presetID="22" grpId="3" fill="hold">
                                  <p:stCondLst>
                                    <p:cond delay="0"/>
                                  </p:stCondLst>
                                  <p:iterate type="el" backwards="0">
                                    <p:tmAbs val="0"/>
                                  </p:iterate>
                                  <p:childTnLst>
                                    <p:set>
                                      <p:cBhvr>
                                        <p:cTn id="16" fill="hold"/>
                                        <p:tgtEl>
                                          <p:spTgt spid="153"/>
                                        </p:tgtEl>
                                        <p:attrNameLst>
                                          <p:attrName>style.visibility</p:attrName>
                                        </p:attrNameLst>
                                      </p:cBhvr>
                                      <p:to>
                                        <p:strVal val="visible"/>
                                      </p:to>
                                    </p:set>
                                    <p:animEffect filter="wipe(left)" transition="in">
                                      <p:cBhvr>
                                        <p:cTn id="17" dur="400"/>
                                        <p:tgtEl>
                                          <p:spTgt spid="153"/>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8" presetID="22" grpId="4" fill="hold">
                                  <p:stCondLst>
                                    <p:cond delay="0"/>
                                  </p:stCondLst>
                                  <p:iterate type="el" backwards="0">
                                    <p:tmAbs val="0"/>
                                  </p:iterate>
                                  <p:childTnLst>
                                    <p:set>
                                      <p:cBhvr>
                                        <p:cTn id="21" fill="hold"/>
                                        <p:tgtEl>
                                          <p:spTgt spid="157"/>
                                        </p:tgtEl>
                                        <p:attrNameLst>
                                          <p:attrName>style.visibility</p:attrName>
                                        </p:attrNameLst>
                                      </p:cBhvr>
                                      <p:to>
                                        <p:strVal val="visible"/>
                                      </p:to>
                                    </p:set>
                                    <p:animEffect filter="wipe(left)" transition="in">
                                      <p:cBhvr>
                                        <p:cTn id="22" dur="4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9" grpId="2"/>
      <p:bldP build="whole" bldLvl="1" animBg="1" rev="0" advAuto="0" spid="153" grpId="3"/>
      <p:bldP build="whole" bldLvl="1" animBg="1" rev="0" advAuto="0" spid="157" grpId="4"/>
      <p:bldP build="whole" bldLvl="1" animBg="1" rev="0" advAuto="0" spid="145" grpId="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64" name="phase_pill"/>
          <p:cNvGrpSpPr/>
          <p:nvPr/>
        </p:nvGrpSpPr>
        <p:grpSpPr>
          <a:xfrm>
            <a:off x="502919" y="347472"/>
            <a:ext cx="2107694" cy="329185"/>
            <a:chOff x="0" y="0"/>
            <a:chExt cx="2107692" cy="329184"/>
          </a:xfrm>
        </p:grpSpPr>
        <p:sp>
          <p:nvSpPr>
            <p:cNvPr id="162" name="Rounded Rectangle"/>
            <p:cNvSpPr/>
            <p:nvPr/>
          </p:nvSpPr>
          <p:spPr>
            <a:xfrm>
              <a:off x="0" y="0"/>
              <a:ext cx="2107693"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63" name="EQUIPMENT · 3 MIN"/>
            <p:cNvSpPr txBox="1"/>
            <p:nvPr/>
          </p:nvSpPr>
          <p:spPr>
            <a:xfrm>
              <a:off x="42851" y="90677"/>
              <a:ext cx="202199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EQUIPMENT · 3 MIN</a:t>
              </a:r>
            </a:p>
          </p:txBody>
        </p:sp>
      </p:grpSp>
      <p:sp>
        <p:nvSpPr>
          <p:cNvPr id="165"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Two flames that matter</a:t>
            </a:r>
          </a:p>
        </p:txBody>
      </p:sp>
      <p:grpSp>
        <p:nvGrpSpPr>
          <p:cNvPr id="168" name="fl_pic"/>
          <p:cNvGrpSpPr/>
          <p:nvPr/>
        </p:nvGrpSpPr>
        <p:grpSpPr>
          <a:xfrm>
            <a:off x="685799" y="2157983"/>
            <a:ext cx="3931922" cy="3814159"/>
            <a:chOff x="0" y="0"/>
            <a:chExt cx="3931920" cy="3814157"/>
          </a:xfrm>
        </p:grpSpPr>
        <p:pic>
          <p:nvPicPr>
            <p:cNvPr id="166" name="fl_photo" descr="fl_photo"/>
            <p:cNvPicPr>
              <a:picLocks noChangeAspect="1"/>
            </p:cNvPicPr>
            <p:nvPr/>
          </p:nvPicPr>
          <p:blipFill>
            <a:blip r:embed="rId3">
              <a:extLst/>
            </a:blip>
            <a:stretch>
              <a:fillRect/>
            </a:stretch>
          </p:blipFill>
          <p:spPr>
            <a:xfrm>
              <a:off x="0" y="0"/>
              <a:ext cx="3931921" cy="3529585"/>
            </a:xfrm>
            <a:prstGeom prst="rect">
              <a:avLst/>
            </a:prstGeom>
            <a:ln w="12700" cap="flat">
              <a:noFill/>
              <a:miter lim="400000"/>
            </a:ln>
            <a:effectLst/>
          </p:spPr>
        </p:pic>
        <p:sp>
          <p:nvSpPr>
            <p:cNvPr id="167" name="fl_cap"/>
            <p:cNvSpPr txBox="1"/>
            <p:nvPr/>
          </p:nvSpPr>
          <p:spPr>
            <a:xfrm>
              <a:off x="0" y="3629058"/>
              <a:ext cx="393192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i="1" sz="1300">
                  <a:solidFill>
                    <a:srgbClr val="6A6180"/>
                  </a:solidFill>
                  <a:latin typeface="Arial"/>
                  <a:ea typeface="Arial"/>
                  <a:cs typeface="Arial"/>
                  <a:sym typeface="Arial"/>
                </a:defRPr>
              </a:lvl1pPr>
            </a:lstStyle>
            <a:p>
              <a:pPr/>
              <a:r>
                <a:t>Air hole closed → open, left to right</a:t>
              </a:r>
            </a:p>
          </p:txBody>
        </p:sp>
      </p:grpSp>
      <p:grpSp>
        <p:nvGrpSpPr>
          <p:cNvPr id="174" name="fm0"/>
          <p:cNvGrpSpPr/>
          <p:nvPr/>
        </p:nvGrpSpPr>
        <p:grpSpPr>
          <a:xfrm>
            <a:off x="4983479" y="2157983"/>
            <a:ext cx="6705297" cy="1700785"/>
            <a:chOff x="0" y="0"/>
            <a:chExt cx="6705295" cy="1700783"/>
          </a:xfrm>
        </p:grpSpPr>
        <p:sp>
          <p:nvSpPr>
            <p:cNvPr id="169" name="fm0_bg"/>
            <p:cNvSpPr/>
            <p:nvPr/>
          </p:nvSpPr>
          <p:spPr>
            <a:xfrm>
              <a:off x="0" y="0"/>
              <a:ext cx="6705296" cy="1700784"/>
            </a:xfrm>
            <a:prstGeom prst="roundRect">
              <a:avLst>
                <a:gd name="adj" fmla="val 7527"/>
              </a:avLst>
            </a:prstGeom>
            <a:solidFill>
              <a:srgbClr val="E8F6F5"/>
            </a:solidFill>
            <a:ln w="22860" cap="flat">
              <a:solidFill>
                <a:srgbClr val="2BA6A0"/>
              </a:solidFill>
              <a:prstDash val="solid"/>
              <a:round/>
            </a:ln>
            <a:effectLst/>
          </p:spPr>
          <p:txBody>
            <a:bodyPr wrap="square" lIns="45719" tIns="45719" rIns="45719" bIns="45719" numCol="1" anchor="t">
              <a:noAutofit/>
            </a:bodyPr>
            <a:lstStyle/>
            <a:p>
              <a:pPr/>
            </a:p>
          </p:txBody>
        </p:sp>
        <p:sp>
          <p:nvSpPr>
            <p:cNvPr id="170" name="fm0_dot"/>
            <p:cNvSpPr/>
            <p:nvPr/>
          </p:nvSpPr>
          <p:spPr>
            <a:xfrm>
              <a:off x="237744" y="201167"/>
              <a:ext cx="548641" cy="548641"/>
            </a:xfrm>
            <a:prstGeom prst="ellipse">
              <a:avLst/>
            </a:prstGeom>
            <a:solidFill>
              <a:srgbClr val="2BA6A0"/>
            </a:solidFill>
            <a:ln w="12700" cap="flat">
              <a:solidFill>
                <a:srgbClr val="2BA6A0"/>
              </a:solidFill>
              <a:prstDash val="solid"/>
              <a:round/>
            </a:ln>
            <a:effectLst/>
          </p:spPr>
          <p:txBody>
            <a:bodyPr wrap="square" lIns="45719" tIns="45719" rIns="45719" bIns="45719" numCol="1" anchor="t">
              <a:noAutofit/>
            </a:bodyPr>
            <a:lstStyle/>
            <a:p>
              <a:pPr/>
            </a:p>
          </p:txBody>
        </p:sp>
        <p:sp>
          <p:nvSpPr>
            <p:cNvPr id="171" name="fm0_num"/>
            <p:cNvSpPr txBox="1"/>
            <p:nvPr/>
          </p:nvSpPr>
          <p:spPr>
            <a:xfrm>
              <a:off x="237744" y="316737"/>
              <a:ext cx="548641"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Georgia"/>
                  <a:ea typeface="Georgia"/>
                  <a:cs typeface="Georgia"/>
                  <a:sym typeface="Georgia"/>
                </a:defRPr>
              </a:lvl1pPr>
            </a:lstStyle>
            <a:p>
              <a:pPr/>
              <a:r>
                <a:t>1</a:t>
              </a:r>
            </a:p>
          </p:txBody>
        </p:sp>
        <p:sp>
          <p:nvSpPr>
            <p:cNvPr id="172" name="fm0_tag"/>
            <p:cNvSpPr txBox="1"/>
            <p:nvPr/>
          </p:nvSpPr>
          <p:spPr>
            <a:xfrm>
              <a:off x="969264" y="323087"/>
              <a:ext cx="384048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2100">
                  <a:solidFill>
                    <a:srgbClr val="2BA6A0"/>
                  </a:solidFill>
                  <a:latin typeface="Georgia"/>
                  <a:ea typeface="Georgia"/>
                  <a:cs typeface="Georgia"/>
                  <a:sym typeface="Georgia"/>
                </a:defRPr>
              </a:lvl1pPr>
            </a:lstStyle>
            <a:p>
              <a:pPr/>
              <a:r>
                <a:t>SAFETY FLAME</a:t>
              </a:r>
            </a:p>
          </p:txBody>
        </p:sp>
        <p:sp>
          <p:nvSpPr>
            <p:cNvPr id="173" name="fm0_t"/>
            <p:cNvSpPr txBox="1"/>
            <p:nvPr/>
          </p:nvSpPr>
          <p:spPr>
            <a:xfrm>
              <a:off x="274319" y="841247"/>
              <a:ext cx="6156657"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241535"/>
                  </a:solidFill>
                  <a:latin typeface="Arial"/>
                  <a:ea typeface="Arial"/>
                  <a:cs typeface="Arial"/>
                  <a:sym typeface="Arial"/>
                </a:defRPr>
              </a:lvl1pPr>
            </a:lstStyle>
            <a:p>
              <a:pPr/>
              <a:r>
                <a:t>Orange, wavy, easy to see. Air hole CLOSED. Make sure the safety flame is on first!</a:t>
              </a:r>
            </a:p>
          </p:txBody>
        </p:sp>
      </p:grpSp>
      <p:sp>
        <p:nvSpPr>
          <p:cNvPr id="175" name="fm0_n"/>
          <p:cNvSpPr txBox="1"/>
          <p:nvPr/>
        </p:nvSpPr>
        <p:spPr>
          <a:xfrm>
            <a:off x="5221223" y="2474721"/>
            <a:ext cx="5486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latin typeface="Georgia"/>
                <a:ea typeface="Georgia"/>
                <a:cs typeface="Georgia"/>
                <a:sym typeface="Georgia"/>
              </a:defRPr>
            </a:lvl1pPr>
          </a:lstStyle>
          <a:p>
            <a:pPr/>
            <a:r>
              <a:t>1</a:t>
            </a:r>
          </a:p>
        </p:txBody>
      </p:sp>
      <p:grpSp>
        <p:nvGrpSpPr>
          <p:cNvPr id="181" name="fm1"/>
          <p:cNvGrpSpPr/>
          <p:nvPr/>
        </p:nvGrpSpPr>
        <p:grpSpPr>
          <a:xfrm>
            <a:off x="4983479" y="4041647"/>
            <a:ext cx="6705297" cy="1700785"/>
            <a:chOff x="0" y="0"/>
            <a:chExt cx="6705295" cy="1700783"/>
          </a:xfrm>
        </p:grpSpPr>
        <p:sp>
          <p:nvSpPr>
            <p:cNvPr id="176" name="fm1_bg"/>
            <p:cNvSpPr/>
            <p:nvPr/>
          </p:nvSpPr>
          <p:spPr>
            <a:xfrm>
              <a:off x="0" y="0"/>
              <a:ext cx="6705296" cy="1700784"/>
            </a:xfrm>
            <a:prstGeom prst="roundRect">
              <a:avLst>
                <a:gd name="adj" fmla="val 7527"/>
              </a:avLst>
            </a:prstGeom>
            <a:solidFill>
              <a:srgbClr val="FDEEDC"/>
            </a:solidFill>
            <a:ln w="22860" cap="flat">
              <a:solidFill>
                <a:srgbClr val="F2A03D"/>
              </a:solidFill>
              <a:prstDash val="solid"/>
              <a:round/>
            </a:ln>
            <a:effectLst/>
          </p:spPr>
          <p:txBody>
            <a:bodyPr wrap="square" lIns="45719" tIns="45719" rIns="45719" bIns="45719" numCol="1" anchor="t">
              <a:noAutofit/>
            </a:bodyPr>
            <a:lstStyle/>
            <a:p>
              <a:pPr/>
            </a:p>
          </p:txBody>
        </p:sp>
        <p:sp>
          <p:nvSpPr>
            <p:cNvPr id="177" name="fm1_dot"/>
            <p:cNvSpPr/>
            <p:nvPr/>
          </p:nvSpPr>
          <p:spPr>
            <a:xfrm>
              <a:off x="237744" y="201167"/>
              <a:ext cx="548641" cy="548641"/>
            </a:xfrm>
            <a:prstGeom prst="ellipse">
              <a:avLst/>
            </a:prstGeom>
            <a:solidFill>
              <a:srgbClr val="F2A03D"/>
            </a:solidFill>
            <a:ln w="12700" cap="flat">
              <a:solidFill>
                <a:srgbClr val="F2A03D"/>
              </a:solidFill>
              <a:prstDash val="solid"/>
              <a:round/>
            </a:ln>
            <a:effectLst/>
          </p:spPr>
          <p:txBody>
            <a:bodyPr wrap="square" lIns="45719" tIns="45719" rIns="45719" bIns="45719" numCol="1" anchor="t">
              <a:noAutofit/>
            </a:bodyPr>
            <a:lstStyle/>
            <a:p>
              <a:pPr/>
            </a:p>
          </p:txBody>
        </p:sp>
        <p:sp>
          <p:nvSpPr>
            <p:cNvPr id="178" name="fm1_num"/>
            <p:cNvSpPr txBox="1"/>
            <p:nvPr/>
          </p:nvSpPr>
          <p:spPr>
            <a:xfrm>
              <a:off x="237744" y="316737"/>
              <a:ext cx="548641"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200">
                  <a:solidFill>
                    <a:srgbClr val="FFFFFF"/>
                  </a:solidFill>
                  <a:latin typeface="Georgia"/>
                  <a:ea typeface="Georgia"/>
                  <a:cs typeface="Georgia"/>
                  <a:sym typeface="Georgia"/>
                </a:defRPr>
              </a:lvl1pPr>
            </a:lstStyle>
            <a:p>
              <a:pPr/>
              <a:r>
                <a:t>3</a:t>
              </a:r>
            </a:p>
          </p:txBody>
        </p:sp>
        <p:sp>
          <p:nvSpPr>
            <p:cNvPr id="179" name="fm1_tag"/>
            <p:cNvSpPr txBox="1"/>
            <p:nvPr/>
          </p:nvSpPr>
          <p:spPr>
            <a:xfrm>
              <a:off x="969264" y="323087"/>
              <a:ext cx="3840481"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2100">
                  <a:solidFill>
                    <a:srgbClr val="F2A03D"/>
                  </a:solidFill>
                  <a:latin typeface="Georgia"/>
                  <a:ea typeface="Georgia"/>
                  <a:cs typeface="Georgia"/>
                  <a:sym typeface="Georgia"/>
                </a:defRPr>
              </a:lvl1pPr>
            </a:lstStyle>
            <a:p>
              <a:pPr/>
              <a:r>
                <a:t>BLUE FLAME</a:t>
              </a:r>
            </a:p>
          </p:txBody>
        </p:sp>
        <p:sp>
          <p:nvSpPr>
            <p:cNvPr id="180" name="fm1_t"/>
            <p:cNvSpPr txBox="1"/>
            <p:nvPr/>
          </p:nvSpPr>
          <p:spPr>
            <a:xfrm>
              <a:off x="274319" y="841247"/>
              <a:ext cx="6156657" cy="4747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900"/>
                </a:lnSpc>
                <a:defRPr sz="1500">
                  <a:solidFill>
                    <a:srgbClr val="241535"/>
                  </a:solidFill>
                  <a:latin typeface="Arial"/>
                  <a:ea typeface="Arial"/>
                  <a:cs typeface="Arial"/>
                  <a:sym typeface="Arial"/>
                </a:defRPr>
              </a:lvl1pPr>
            </a:lstStyle>
            <a:p>
              <a:pPr/>
              <a:r>
                <a:t>Roaring, blue, much hotter, and hard to see in a bright room. Air hole open.</a:t>
              </a:r>
            </a:p>
          </p:txBody>
        </p:sp>
      </p:grpSp>
      <p:sp>
        <p:nvSpPr>
          <p:cNvPr id="182" name="fm1_n"/>
          <p:cNvSpPr txBox="1"/>
          <p:nvPr/>
        </p:nvSpPr>
        <p:spPr>
          <a:xfrm>
            <a:off x="5221223" y="4358385"/>
            <a:ext cx="54864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FFFFFF"/>
                </a:solidFill>
                <a:latin typeface="Georgia"/>
                <a:ea typeface="Georgia"/>
                <a:cs typeface="Georgia"/>
                <a:sym typeface="Georgia"/>
              </a:defRPr>
            </a:lvl1pPr>
          </a:lstStyle>
          <a:p>
            <a:pPr/>
            <a:r>
              <a:t>3</a:t>
            </a:r>
          </a:p>
        </p:txBody>
      </p:sp>
      <p:sp>
        <p:nvSpPr>
          <p:cNvPr id="183" name="footer_note"/>
          <p:cNvSpPr txBox="1"/>
          <p:nvPr/>
        </p:nvSpPr>
        <p:spPr>
          <a:xfrm>
            <a:off x="502919" y="6461043"/>
            <a:ext cx="11185857"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6A6180"/>
                </a:solidFill>
                <a:latin typeface="Arial"/>
                <a:ea typeface="Arial"/>
                <a:cs typeface="Arial"/>
                <a:sym typeface="Arial"/>
              </a:defRPr>
            </a:lvl1pPr>
          </a:lstStyle>
          <a:p>
            <a:pPr/>
            <a:r>
              <a:t>Photo: Arthur Jan Fijałkowski, CC BY-SA 3.0, Wikimedia Commons.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168"/>
                                        </p:tgtEl>
                                        <p:attrNameLst>
                                          <p:attrName>style.visibility</p:attrName>
                                        </p:attrNameLst>
                                      </p:cBhvr>
                                      <p:to>
                                        <p:strVal val="visible"/>
                                      </p:to>
                                    </p:set>
                                    <p:animEffect filter="fade" transition="in">
                                      <p:cBhvr>
                                        <p:cTn id="7" dur="400"/>
                                        <p:tgtEl>
                                          <p:spTgt spid="168"/>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174"/>
                                        </p:tgtEl>
                                        <p:attrNameLst>
                                          <p:attrName>style.visibility</p:attrName>
                                        </p:attrNameLst>
                                      </p:cBhvr>
                                      <p:to>
                                        <p:strVal val="visible"/>
                                      </p:to>
                                    </p:set>
                                    <p:animEffect filter="fade" transition="in">
                                      <p:cBhvr>
                                        <p:cTn id="12" dur="400"/>
                                        <p:tgtEl>
                                          <p:spTgt spid="174"/>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181"/>
                                        </p:tgtEl>
                                        <p:attrNameLst>
                                          <p:attrName>style.visibility</p:attrName>
                                        </p:attrNameLst>
                                      </p:cBhvr>
                                      <p:to>
                                        <p:strVal val="visible"/>
                                      </p:to>
                                    </p:set>
                                    <p:animEffect filter="fade" transition="in">
                                      <p:cBhvr>
                                        <p:cTn id="17" dur="400"/>
                                        <p:tgtEl>
                                          <p:spTgt spid="1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1" grpId="3"/>
      <p:bldP build="whole" bldLvl="1" animBg="1" rev="0" advAuto="0" spid="168" grpId="1"/>
      <p:bldP build="whole" bldLvl="1" animBg="1" rev="0" advAuto="0" spid="174" grpId="2"/>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189" name="phase_pill"/>
          <p:cNvGrpSpPr/>
          <p:nvPr/>
        </p:nvGrpSpPr>
        <p:grpSpPr>
          <a:xfrm>
            <a:off x="502919" y="347472"/>
            <a:ext cx="1819657" cy="329185"/>
            <a:chOff x="0" y="0"/>
            <a:chExt cx="1819655" cy="329184"/>
          </a:xfrm>
        </p:grpSpPr>
        <p:sp>
          <p:nvSpPr>
            <p:cNvPr id="187" name="Rounded Rectangle"/>
            <p:cNvSpPr/>
            <p:nvPr/>
          </p:nvSpPr>
          <p:spPr>
            <a:xfrm>
              <a:off x="0" y="0"/>
              <a:ext cx="1819656"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188" name="SAFETY · 4 MIN"/>
            <p:cNvSpPr txBox="1"/>
            <p:nvPr/>
          </p:nvSpPr>
          <p:spPr>
            <a:xfrm>
              <a:off x="42850" y="90677"/>
              <a:ext cx="173395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SAFETY · 4 MIN</a:t>
              </a:r>
            </a:p>
          </p:txBody>
        </p:sp>
      </p:grpSp>
      <p:sp>
        <p:nvSpPr>
          <p:cNvPr id="190"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Before anyone lights anything</a:t>
            </a:r>
          </a:p>
        </p:txBody>
      </p:sp>
      <p:grpSp>
        <p:nvGrpSpPr>
          <p:cNvPr id="195" name="sf0"/>
          <p:cNvGrpSpPr/>
          <p:nvPr/>
        </p:nvGrpSpPr>
        <p:grpSpPr>
          <a:xfrm>
            <a:off x="502920" y="2176272"/>
            <a:ext cx="2631872" cy="3017521"/>
            <a:chOff x="0" y="0"/>
            <a:chExt cx="2631871" cy="3017520"/>
          </a:xfrm>
        </p:grpSpPr>
        <p:sp>
          <p:nvSpPr>
            <p:cNvPr id="191" name="sf0_bg"/>
            <p:cNvSpPr/>
            <p:nvPr/>
          </p:nvSpPr>
          <p:spPr>
            <a:xfrm>
              <a:off x="0" y="0"/>
              <a:ext cx="2631872" cy="3017521"/>
            </a:xfrm>
            <a:prstGeom prst="roundRect">
              <a:avLst>
                <a:gd name="adj" fmla="val 4864"/>
              </a:avLst>
            </a:prstGeom>
            <a:solidFill>
              <a:srgbClr val="FCEDF0"/>
            </a:solidFill>
            <a:ln w="22860" cap="flat">
              <a:solidFill>
                <a:srgbClr val="D94F6A"/>
              </a:solidFill>
              <a:prstDash val="solid"/>
              <a:round/>
            </a:ln>
            <a:effectLst/>
          </p:spPr>
          <p:txBody>
            <a:bodyPr wrap="square" lIns="45719" tIns="45719" rIns="45719" bIns="45719" numCol="1" anchor="t">
              <a:noAutofit/>
            </a:bodyPr>
            <a:lstStyle/>
            <a:p>
              <a:pPr/>
            </a:p>
          </p:txBody>
        </p:sp>
        <p:pic>
          <p:nvPicPr>
            <p:cNvPr id="192" name="sf0_icon" descr="sf0_icon"/>
            <p:cNvPicPr>
              <a:picLocks noChangeAspect="1"/>
            </p:cNvPicPr>
            <p:nvPr/>
          </p:nvPicPr>
          <p:blipFill>
            <a:blip r:embed="rId3">
              <a:extLst/>
            </a:blip>
            <a:stretch>
              <a:fillRect/>
            </a:stretch>
          </p:blipFill>
          <p:spPr>
            <a:xfrm>
              <a:off x="904455" y="237744"/>
              <a:ext cx="822961" cy="822961"/>
            </a:xfrm>
            <a:prstGeom prst="rect">
              <a:avLst/>
            </a:prstGeom>
            <a:ln w="12700" cap="flat">
              <a:noFill/>
              <a:miter lim="400000"/>
            </a:ln>
            <a:effectLst/>
          </p:spPr>
        </p:pic>
        <p:sp>
          <p:nvSpPr>
            <p:cNvPr id="193" name="sf0_h"/>
            <p:cNvSpPr txBox="1"/>
            <p:nvPr/>
          </p:nvSpPr>
          <p:spPr>
            <a:xfrm>
              <a:off x="164592" y="1170432"/>
              <a:ext cx="2302688" cy="2967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400"/>
                </a:lnSpc>
                <a:defRPr b="1" sz="1900">
                  <a:solidFill>
                    <a:srgbClr val="4A2C6F"/>
                  </a:solidFill>
                  <a:latin typeface="Georgia"/>
                  <a:ea typeface="Georgia"/>
                  <a:cs typeface="Georgia"/>
                  <a:sym typeface="Georgia"/>
                </a:defRPr>
              </a:lvl1pPr>
            </a:lstStyle>
            <a:p>
              <a:pPr/>
              <a:r>
                <a:t>Goggles on.</a:t>
              </a:r>
            </a:p>
          </p:txBody>
        </p:sp>
        <p:sp>
          <p:nvSpPr>
            <p:cNvPr id="194" name="sf0_t"/>
            <p:cNvSpPr txBox="1"/>
            <p:nvPr/>
          </p:nvSpPr>
          <p:spPr>
            <a:xfrm>
              <a:off x="182879" y="1901951"/>
              <a:ext cx="2266113" cy="7133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900"/>
                </a:lnSpc>
                <a:defRPr sz="1400">
                  <a:solidFill>
                    <a:srgbClr val="241535"/>
                  </a:solidFill>
                  <a:latin typeface="Arial"/>
                  <a:ea typeface="Arial"/>
                  <a:cs typeface="Arial"/>
                  <a:sym typeface="Arial"/>
                </a:defRPr>
              </a:lvl1pPr>
            </a:lstStyle>
            <a:p>
              <a:pPr/>
              <a:r>
                <a:t>Before the gas goes on. They stay on until every burner is out.</a:t>
              </a:r>
            </a:p>
          </p:txBody>
        </p:sp>
      </p:grpSp>
      <p:grpSp>
        <p:nvGrpSpPr>
          <p:cNvPr id="200" name="sf1"/>
          <p:cNvGrpSpPr/>
          <p:nvPr/>
        </p:nvGrpSpPr>
        <p:grpSpPr>
          <a:xfrm>
            <a:off x="3354248" y="2176272"/>
            <a:ext cx="2631872" cy="3017521"/>
            <a:chOff x="0" y="0"/>
            <a:chExt cx="2631871" cy="3017520"/>
          </a:xfrm>
        </p:grpSpPr>
        <p:sp>
          <p:nvSpPr>
            <p:cNvPr id="196" name="sf1_bg"/>
            <p:cNvSpPr/>
            <p:nvPr/>
          </p:nvSpPr>
          <p:spPr>
            <a:xfrm>
              <a:off x="0" y="0"/>
              <a:ext cx="2631872" cy="3017521"/>
            </a:xfrm>
            <a:prstGeom prst="roundRect">
              <a:avLst>
                <a:gd name="adj" fmla="val 4864"/>
              </a:avLst>
            </a:prstGeom>
            <a:solidFill>
              <a:srgbClr val="FCEDF0"/>
            </a:solidFill>
            <a:ln w="22860" cap="flat">
              <a:solidFill>
                <a:srgbClr val="D94F6A"/>
              </a:solidFill>
              <a:prstDash val="solid"/>
              <a:round/>
            </a:ln>
            <a:effectLst/>
          </p:spPr>
          <p:txBody>
            <a:bodyPr wrap="square" lIns="45719" tIns="45719" rIns="45719" bIns="45719" numCol="1" anchor="t">
              <a:noAutofit/>
            </a:bodyPr>
            <a:lstStyle/>
            <a:p>
              <a:pPr/>
            </a:p>
          </p:txBody>
        </p:sp>
        <p:pic>
          <p:nvPicPr>
            <p:cNvPr id="197" name="sf1_icon" descr="sf1_icon"/>
            <p:cNvPicPr>
              <a:picLocks noChangeAspect="1"/>
            </p:cNvPicPr>
            <p:nvPr/>
          </p:nvPicPr>
          <p:blipFill>
            <a:blip r:embed="rId4">
              <a:extLst/>
            </a:blip>
            <a:stretch>
              <a:fillRect/>
            </a:stretch>
          </p:blipFill>
          <p:spPr>
            <a:xfrm>
              <a:off x="904455" y="237744"/>
              <a:ext cx="822961" cy="822961"/>
            </a:xfrm>
            <a:prstGeom prst="rect">
              <a:avLst/>
            </a:prstGeom>
            <a:ln w="12700" cap="flat">
              <a:noFill/>
              <a:miter lim="400000"/>
            </a:ln>
            <a:effectLst/>
          </p:spPr>
        </p:pic>
        <p:sp>
          <p:nvSpPr>
            <p:cNvPr id="198" name="sf1_h"/>
            <p:cNvSpPr txBox="1"/>
            <p:nvPr/>
          </p:nvSpPr>
          <p:spPr>
            <a:xfrm>
              <a:off x="164592" y="1170432"/>
              <a:ext cx="2302688" cy="6015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400"/>
                </a:lnSpc>
                <a:defRPr b="1" sz="1900">
                  <a:solidFill>
                    <a:srgbClr val="4A2C6F"/>
                  </a:solidFill>
                  <a:latin typeface="Georgia"/>
                  <a:ea typeface="Georgia"/>
                  <a:cs typeface="Georgia"/>
                  <a:sym typeface="Georgia"/>
                </a:defRPr>
              </a:lvl1pPr>
            </a:lstStyle>
            <a:p>
              <a:pPr/>
              <a:r>
                <a:t>Stand up. Chairs in.</a:t>
              </a:r>
            </a:p>
          </p:txBody>
        </p:sp>
        <p:sp>
          <p:nvSpPr>
            <p:cNvPr id="199" name="sf1_t"/>
            <p:cNvSpPr txBox="1"/>
            <p:nvPr/>
          </p:nvSpPr>
          <p:spPr>
            <a:xfrm>
              <a:off x="182879" y="1901951"/>
              <a:ext cx="2266113" cy="4720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900"/>
                </a:lnSpc>
                <a:defRPr sz="1400">
                  <a:solidFill>
                    <a:srgbClr val="241535"/>
                  </a:solidFill>
                  <a:latin typeface="Arial"/>
                  <a:ea typeface="Arial"/>
                  <a:cs typeface="Arial"/>
                  <a:sym typeface="Arial"/>
                </a:defRPr>
              </a:lvl1pPr>
            </a:lstStyle>
            <a:p>
              <a:pPr/>
              <a:r>
                <a:t>Bags under the bench. Long hair tied back.</a:t>
              </a:r>
            </a:p>
          </p:txBody>
        </p:sp>
      </p:grpSp>
      <p:grpSp>
        <p:nvGrpSpPr>
          <p:cNvPr id="205" name="sf2"/>
          <p:cNvGrpSpPr/>
          <p:nvPr/>
        </p:nvGrpSpPr>
        <p:grpSpPr>
          <a:xfrm>
            <a:off x="6205575" y="2176272"/>
            <a:ext cx="2631873" cy="3017521"/>
            <a:chOff x="0" y="0"/>
            <a:chExt cx="2631871" cy="3017520"/>
          </a:xfrm>
        </p:grpSpPr>
        <p:sp>
          <p:nvSpPr>
            <p:cNvPr id="201" name="sf2_bg"/>
            <p:cNvSpPr/>
            <p:nvPr/>
          </p:nvSpPr>
          <p:spPr>
            <a:xfrm>
              <a:off x="0" y="0"/>
              <a:ext cx="2631872" cy="3017521"/>
            </a:xfrm>
            <a:prstGeom prst="roundRect">
              <a:avLst>
                <a:gd name="adj" fmla="val 4864"/>
              </a:avLst>
            </a:prstGeom>
            <a:solidFill>
              <a:srgbClr val="FCEDF0"/>
            </a:solidFill>
            <a:ln w="22860" cap="flat">
              <a:solidFill>
                <a:srgbClr val="D94F6A"/>
              </a:solidFill>
              <a:prstDash val="solid"/>
              <a:round/>
            </a:ln>
            <a:effectLst/>
          </p:spPr>
          <p:txBody>
            <a:bodyPr wrap="square" lIns="45719" tIns="45719" rIns="45719" bIns="45719" numCol="1" anchor="t">
              <a:noAutofit/>
            </a:bodyPr>
            <a:lstStyle/>
            <a:p>
              <a:pPr/>
            </a:p>
          </p:txBody>
        </p:sp>
        <p:pic>
          <p:nvPicPr>
            <p:cNvPr id="202" name="sf2_icon" descr="sf2_icon"/>
            <p:cNvPicPr>
              <a:picLocks noChangeAspect="1"/>
            </p:cNvPicPr>
            <p:nvPr/>
          </p:nvPicPr>
          <p:blipFill>
            <a:blip r:embed="rId5">
              <a:extLst/>
            </a:blip>
            <a:stretch>
              <a:fillRect/>
            </a:stretch>
          </p:blipFill>
          <p:spPr>
            <a:xfrm>
              <a:off x="904455" y="237744"/>
              <a:ext cx="822961" cy="822961"/>
            </a:xfrm>
            <a:prstGeom prst="rect">
              <a:avLst/>
            </a:prstGeom>
            <a:ln w="12700" cap="flat">
              <a:noFill/>
              <a:miter lim="400000"/>
            </a:ln>
            <a:effectLst/>
          </p:spPr>
        </p:pic>
        <p:sp>
          <p:nvSpPr>
            <p:cNvPr id="203" name="sf2_h"/>
            <p:cNvSpPr txBox="1"/>
            <p:nvPr/>
          </p:nvSpPr>
          <p:spPr>
            <a:xfrm>
              <a:off x="164592" y="1170432"/>
              <a:ext cx="2302688" cy="6015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400"/>
                </a:lnSpc>
                <a:defRPr b="1" sz="1900">
                  <a:solidFill>
                    <a:srgbClr val="4A2C6F"/>
                  </a:solidFill>
                  <a:latin typeface="Georgia"/>
                  <a:ea typeface="Georgia"/>
                  <a:cs typeface="Georgia"/>
                  <a:sym typeface="Georgia"/>
                </a:defRPr>
              </a:lvl1pPr>
            </a:lstStyle>
            <a:p>
              <a:pPr/>
              <a:r>
                <a:t>Balloon at arm’s length.</a:t>
              </a:r>
            </a:p>
          </p:txBody>
        </p:sp>
        <p:sp>
          <p:nvSpPr>
            <p:cNvPr id="204" name="sf2_t"/>
            <p:cNvSpPr txBox="1"/>
            <p:nvPr/>
          </p:nvSpPr>
          <p:spPr>
            <a:xfrm>
              <a:off x="182879" y="1901951"/>
              <a:ext cx="2266113" cy="2307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900"/>
                </a:lnSpc>
                <a:defRPr sz="1400">
                  <a:solidFill>
                    <a:srgbClr val="241535"/>
                  </a:solidFill>
                  <a:latin typeface="Arial"/>
                  <a:ea typeface="Arial"/>
                  <a:cs typeface="Arial"/>
                  <a:sym typeface="Arial"/>
                </a:defRPr>
              </a:lvl1pPr>
            </a:lstStyle>
            <a:p>
              <a:pPr/>
              <a:r>
                <a:t>Keep away from your faces.</a:t>
              </a:r>
            </a:p>
          </p:txBody>
        </p:sp>
      </p:grpSp>
      <p:grpSp>
        <p:nvGrpSpPr>
          <p:cNvPr id="210" name="sf3"/>
          <p:cNvGrpSpPr/>
          <p:nvPr/>
        </p:nvGrpSpPr>
        <p:grpSpPr>
          <a:xfrm>
            <a:off x="9056903" y="2176272"/>
            <a:ext cx="2631872" cy="3017521"/>
            <a:chOff x="0" y="0"/>
            <a:chExt cx="2631871" cy="3017520"/>
          </a:xfrm>
        </p:grpSpPr>
        <p:sp>
          <p:nvSpPr>
            <p:cNvPr id="206" name="sf3_bg"/>
            <p:cNvSpPr/>
            <p:nvPr/>
          </p:nvSpPr>
          <p:spPr>
            <a:xfrm>
              <a:off x="0" y="0"/>
              <a:ext cx="2631872" cy="3017521"/>
            </a:xfrm>
            <a:prstGeom prst="roundRect">
              <a:avLst>
                <a:gd name="adj" fmla="val 4864"/>
              </a:avLst>
            </a:prstGeom>
            <a:solidFill>
              <a:srgbClr val="FCEDF0"/>
            </a:solidFill>
            <a:ln w="22860" cap="flat">
              <a:solidFill>
                <a:srgbClr val="D94F6A"/>
              </a:solidFill>
              <a:prstDash val="solid"/>
              <a:round/>
            </a:ln>
            <a:effectLst/>
          </p:spPr>
          <p:txBody>
            <a:bodyPr wrap="square" lIns="45719" tIns="45719" rIns="45719" bIns="45719" numCol="1" anchor="t">
              <a:noAutofit/>
            </a:bodyPr>
            <a:lstStyle/>
            <a:p>
              <a:pPr/>
            </a:p>
          </p:txBody>
        </p:sp>
        <p:pic>
          <p:nvPicPr>
            <p:cNvPr id="207" name="sf3_icon" descr="sf3_icon"/>
            <p:cNvPicPr>
              <a:picLocks noChangeAspect="1"/>
            </p:cNvPicPr>
            <p:nvPr/>
          </p:nvPicPr>
          <p:blipFill>
            <a:blip r:embed="rId6">
              <a:extLst/>
            </a:blip>
            <a:stretch>
              <a:fillRect/>
            </a:stretch>
          </p:blipFill>
          <p:spPr>
            <a:xfrm>
              <a:off x="904455" y="237744"/>
              <a:ext cx="822961" cy="822961"/>
            </a:xfrm>
            <a:prstGeom prst="rect">
              <a:avLst/>
            </a:prstGeom>
            <a:ln w="12700" cap="flat">
              <a:noFill/>
              <a:miter lim="400000"/>
            </a:ln>
            <a:effectLst/>
          </p:spPr>
        </p:pic>
        <p:sp>
          <p:nvSpPr>
            <p:cNvPr id="208" name="sf3_h"/>
            <p:cNvSpPr txBox="1"/>
            <p:nvPr/>
          </p:nvSpPr>
          <p:spPr>
            <a:xfrm>
              <a:off x="164592" y="1170432"/>
              <a:ext cx="2302688" cy="60154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2400"/>
                </a:lnSpc>
                <a:defRPr b="1" sz="1900">
                  <a:solidFill>
                    <a:srgbClr val="4A2C6F"/>
                  </a:solidFill>
                  <a:latin typeface="Georgia"/>
                  <a:ea typeface="Georgia"/>
                  <a:cs typeface="Georgia"/>
                  <a:sym typeface="Georgia"/>
                </a:defRPr>
              </a:lvl1pPr>
            </a:lstStyle>
            <a:p>
              <a:pPr/>
              <a:r>
                <a:t>Safety flame when waiting.</a:t>
              </a:r>
            </a:p>
          </p:txBody>
        </p:sp>
        <p:sp>
          <p:nvSpPr>
            <p:cNvPr id="209" name="sf3_t"/>
            <p:cNvSpPr txBox="1"/>
            <p:nvPr/>
          </p:nvSpPr>
          <p:spPr>
            <a:xfrm>
              <a:off x="182879" y="1901951"/>
              <a:ext cx="2266113" cy="47202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ts val="1900"/>
                </a:lnSpc>
                <a:defRPr sz="1400">
                  <a:solidFill>
                    <a:srgbClr val="241535"/>
                  </a:solidFill>
                  <a:latin typeface="Arial"/>
                  <a:ea typeface="Arial"/>
                  <a:cs typeface="Arial"/>
                  <a:sym typeface="Arial"/>
                </a:defRPr>
              </a:lvl1pPr>
            </a:lstStyle>
            <a:p>
              <a:pPr/>
              <a:r>
                <a:t>Orange flame after you stop heating.</a:t>
              </a:r>
            </a:p>
          </p:txBody>
        </p:sp>
      </p:grpSp>
      <p:grpSp>
        <p:nvGrpSpPr>
          <p:cNvPr id="213" name="sf_banner"/>
          <p:cNvGrpSpPr/>
          <p:nvPr/>
        </p:nvGrpSpPr>
        <p:grpSpPr>
          <a:xfrm>
            <a:off x="502919" y="5394959"/>
            <a:ext cx="11185857" cy="585217"/>
            <a:chOff x="0" y="0"/>
            <a:chExt cx="11185855" cy="585216"/>
          </a:xfrm>
        </p:grpSpPr>
        <p:sp>
          <p:nvSpPr>
            <p:cNvPr id="211" name="Rounded Rectangle"/>
            <p:cNvSpPr/>
            <p:nvPr/>
          </p:nvSpPr>
          <p:spPr>
            <a:xfrm>
              <a:off x="0" y="0"/>
              <a:ext cx="11185856" cy="585217"/>
            </a:xfrm>
            <a:prstGeom prst="roundRect">
              <a:avLst>
                <a:gd name="adj" fmla="val 18750"/>
              </a:avLst>
            </a:prstGeom>
            <a:solidFill>
              <a:srgbClr val="4A2C6F"/>
            </a:solidFill>
            <a:ln w="9525" cap="flat">
              <a:solidFill>
                <a:srgbClr val="4A2C6F"/>
              </a:solidFill>
              <a:prstDash val="solid"/>
              <a:round/>
            </a:ln>
            <a:effectLst/>
          </p:spPr>
          <p:txBody>
            <a:bodyPr wrap="square" lIns="45719" tIns="45719" rIns="45719" bIns="45719" numCol="1" anchor="ctr">
              <a:noAutofit/>
            </a:bodyPr>
            <a:lstStyle/>
            <a:p>
              <a:pPr algn="ctr"/>
            </a:p>
          </p:txBody>
        </p:sp>
        <p:sp>
          <p:nvSpPr>
            <p:cNvPr id="212" name="There will be loud, sudden sounds of popping balloons."/>
            <p:cNvSpPr txBox="1"/>
            <p:nvPr/>
          </p:nvSpPr>
          <p:spPr>
            <a:xfrm>
              <a:off x="36900" y="162997"/>
              <a:ext cx="11112055" cy="2592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2A03D"/>
                  </a:solidFill>
                  <a:latin typeface="Arial"/>
                  <a:ea typeface="Arial"/>
                  <a:cs typeface="Arial"/>
                  <a:sym typeface="Arial"/>
                </a:defRPr>
              </a:lvl1pPr>
            </a:lstStyle>
            <a:p>
              <a:pPr/>
              <a:r>
                <a:t>There will be loud, sudden sounds of popping balloons.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95"/>
                                        </p:tgtEl>
                                        <p:attrNameLst>
                                          <p:attrName>style.visibility</p:attrName>
                                        </p:attrNameLst>
                                      </p:cBhvr>
                                      <p:to>
                                        <p:strVal val="visible"/>
                                      </p:to>
                                    </p:set>
                                    <p:anim calcmode="lin" valueType="num">
                                      <p:cBhvr>
                                        <p:cTn id="7" dur="400" fill="hold"/>
                                        <p:tgtEl>
                                          <p:spTgt spid="195"/>
                                        </p:tgtEl>
                                        <p:attrNameLst>
                                          <p:attrName>ppt_w</p:attrName>
                                        </p:attrNameLst>
                                      </p:cBhvr>
                                      <p:tavLst>
                                        <p:tav tm="0">
                                          <p:val>
                                            <p:fltVal val="0"/>
                                          </p:val>
                                        </p:tav>
                                        <p:tav tm="100000">
                                          <p:val>
                                            <p:strVal val="#ppt_w"/>
                                          </p:val>
                                        </p:tav>
                                      </p:tavLst>
                                    </p:anim>
                                    <p:anim calcmode="lin" valueType="num">
                                      <p:cBhvr>
                                        <p:cTn id="8" dur="400" fill="hold"/>
                                        <p:tgtEl>
                                          <p:spTgt spid="19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200"/>
                                        </p:tgtEl>
                                        <p:attrNameLst>
                                          <p:attrName>style.visibility</p:attrName>
                                        </p:attrNameLst>
                                      </p:cBhvr>
                                      <p:to>
                                        <p:strVal val="visible"/>
                                      </p:to>
                                    </p:set>
                                    <p:anim calcmode="lin" valueType="num">
                                      <p:cBhvr>
                                        <p:cTn id="13" dur="400" fill="hold"/>
                                        <p:tgtEl>
                                          <p:spTgt spid="200"/>
                                        </p:tgtEl>
                                        <p:attrNameLst>
                                          <p:attrName>ppt_w</p:attrName>
                                        </p:attrNameLst>
                                      </p:cBhvr>
                                      <p:tavLst>
                                        <p:tav tm="0">
                                          <p:val>
                                            <p:fltVal val="0"/>
                                          </p:val>
                                        </p:tav>
                                        <p:tav tm="100000">
                                          <p:val>
                                            <p:strVal val="#ppt_w"/>
                                          </p:val>
                                        </p:tav>
                                      </p:tavLst>
                                    </p:anim>
                                    <p:anim calcmode="lin" valueType="num">
                                      <p:cBhvr>
                                        <p:cTn id="14" dur="400" fill="hold"/>
                                        <p:tgtEl>
                                          <p:spTgt spid="20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205"/>
                                        </p:tgtEl>
                                        <p:attrNameLst>
                                          <p:attrName>style.visibility</p:attrName>
                                        </p:attrNameLst>
                                      </p:cBhvr>
                                      <p:to>
                                        <p:strVal val="visible"/>
                                      </p:to>
                                    </p:set>
                                    <p:anim calcmode="lin" valueType="num">
                                      <p:cBhvr>
                                        <p:cTn id="19" dur="400" fill="hold"/>
                                        <p:tgtEl>
                                          <p:spTgt spid="205"/>
                                        </p:tgtEl>
                                        <p:attrNameLst>
                                          <p:attrName>ppt_w</p:attrName>
                                        </p:attrNameLst>
                                      </p:cBhvr>
                                      <p:tavLst>
                                        <p:tav tm="0">
                                          <p:val>
                                            <p:fltVal val="0"/>
                                          </p:val>
                                        </p:tav>
                                        <p:tav tm="100000">
                                          <p:val>
                                            <p:strVal val="#ppt_w"/>
                                          </p:val>
                                        </p:tav>
                                      </p:tavLst>
                                    </p:anim>
                                    <p:anim calcmode="lin" valueType="num">
                                      <p:cBhvr>
                                        <p:cTn id="20" dur="400" fill="hold"/>
                                        <p:tgtEl>
                                          <p:spTgt spid="205"/>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210"/>
                                        </p:tgtEl>
                                        <p:attrNameLst>
                                          <p:attrName>style.visibility</p:attrName>
                                        </p:attrNameLst>
                                      </p:cBhvr>
                                      <p:to>
                                        <p:strVal val="visible"/>
                                      </p:to>
                                    </p:set>
                                    <p:anim calcmode="lin" valueType="num">
                                      <p:cBhvr>
                                        <p:cTn id="25" dur="400" fill="hold"/>
                                        <p:tgtEl>
                                          <p:spTgt spid="210"/>
                                        </p:tgtEl>
                                        <p:attrNameLst>
                                          <p:attrName>ppt_w</p:attrName>
                                        </p:attrNameLst>
                                      </p:cBhvr>
                                      <p:tavLst>
                                        <p:tav tm="0">
                                          <p:val>
                                            <p:fltVal val="0"/>
                                          </p:val>
                                        </p:tav>
                                        <p:tav tm="100000">
                                          <p:val>
                                            <p:strVal val="#ppt_w"/>
                                          </p:val>
                                        </p:tav>
                                      </p:tavLst>
                                    </p:anim>
                                    <p:anim calcmode="lin" valueType="num">
                                      <p:cBhvr>
                                        <p:cTn id="26" dur="400" fill="hold"/>
                                        <p:tgtEl>
                                          <p:spTgt spid="210"/>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5" fill="hold">
                                  <p:stCondLst>
                                    <p:cond delay="0"/>
                                  </p:stCondLst>
                                  <p:iterate type="el" backwards="0">
                                    <p:tmAbs val="0"/>
                                  </p:iterate>
                                  <p:childTnLst>
                                    <p:set>
                                      <p:cBhvr>
                                        <p:cTn id="30" fill="hold"/>
                                        <p:tgtEl>
                                          <p:spTgt spid="213"/>
                                        </p:tgtEl>
                                        <p:attrNameLst>
                                          <p:attrName>style.visibility</p:attrName>
                                        </p:attrNameLst>
                                      </p:cBhvr>
                                      <p:to>
                                        <p:strVal val="visible"/>
                                      </p:to>
                                    </p:set>
                                    <p:anim calcmode="lin" valueType="num">
                                      <p:cBhvr>
                                        <p:cTn id="31" dur="400" fill="hold"/>
                                        <p:tgtEl>
                                          <p:spTgt spid="213"/>
                                        </p:tgtEl>
                                        <p:attrNameLst>
                                          <p:attrName>ppt_w</p:attrName>
                                        </p:attrNameLst>
                                      </p:cBhvr>
                                      <p:tavLst>
                                        <p:tav tm="0">
                                          <p:val>
                                            <p:fltVal val="0"/>
                                          </p:val>
                                        </p:tav>
                                        <p:tav tm="100000">
                                          <p:val>
                                            <p:strVal val="#ppt_w"/>
                                          </p:val>
                                        </p:tav>
                                      </p:tavLst>
                                    </p:anim>
                                    <p:anim calcmode="lin" valueType="num">
                                      <p:cBhvr>
                                        <p:cTn id="32" dur="400" fill="hold"/>
                                        <p:tgtEl>
                                          <p:spTgt spid="2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95" grpId="1"/>
      <p:bldP build="whole" bldLvl="1" animBg="1" rev="0" advAuto="0" spid="200" grpId="2"/>
      <p:bldP build="whole" bldLvl="1" animBg="1" rev="0" advAuto="0" spid="205" grpId="3"/>
      <p:bldP build="whole" bldLvl="1" animBg="1" rev="0" advAuto="0" spid="213" grpId="5"/>
      <p:bldP build="whole" bldLvl="1" animBg="1" rev="0" advAuto="0" spid="210" grpId="4"/>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219" name="phase_pill"/>
          <p:cNvGrpSpPr/>
          <p:nvPr/>
        </p:nvGrpSpPr>
        <p:grpSpPr>
          <a:xfrm>
            <a:off x="502919" y="347472"/>
            <a:ext cx="2203706" cy="329185"/>
            <a:chOff x="0" y="0"/>
            <a:chExt cx="2203704" cy="329184"/>
          </a:xfrm>
        </p:grpSpPr>
        <p:sp>
          <p:nvSpPr>
            <p:cNvPr id="217" name="Rounded Rectangle"/>
            <p:cNvSpPr/>
            <p:nvPr/>
          </p:nvSpPr>
          <p:spPr>
            <a:xfrm>
              <a:off x="0" y="0"/>
              <a:ext cx="2203705"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18" name="PRACTICAL · 16 MIN"/>
            <p:cNvSpPr txBox="1"/>
            <p:nvPr/>
          </p:nvSpPr>
          <p:spPr>
            <a:xfrm>
              <a:off x="42850" y="90677"/>
              <a:ext cx="2118004"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PRACTICAL · 16 MIN</a:t>
              </a:r>
            </a:p>
          </p:txBody>
        </p:sp>
      </p:grpSp>
      <p:sp>
        <p:nvSpPr>
          <p:cNvPr id="220"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The unbreakable balloon</a:t>
            </a:r>
          </a:p>
        </p:txBody>
      </p:sp>
      <p:grpSp>
        <p:nvGrpSpPr>
          <p:cNvPr id="225" name="ex0"/>
          <p:cNvGrpSpPr/>
          <p:nvPr/>
        </p:nvGrpSpPr>
        <p:grpSpPr>
          <a:xfrm>
            <a:off x="502919" y="2176272"/>
            <a:ext cx="3582315" cy="1481328"/>
            <a:chOff x="0" y="0"/>
            <a:chExt cx="3582313" cy="1481327"/>
          </a:xfrm>
        </p:grpSpPr>
        <p:sp>
          <p:nvSpPr>
            <p:cNvPr id="221" name="ex0_bg"/>
            <p:cNvSpPr/>
            <p:nvPr/>
          </p:nvSpPr>
          <p:spPr>
            <a:xfrm>
              <a:off x="0" y="0"/>
              <a:ext cx="3582314" cy="1481328"/>
            </a:xfrm>
            <a:prstGeom prst="roundRect">
              <a:avLst>
                <a:gd name="adj" fmla="val 8642"/>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222" name="ex0_n"/>
            <p:cNvSpPr txBox="1"/>
            <p:nvPr/>
          </p:nvSpPr>
          <p:spPr>
            <a:xfrm>
              <a:off x="201167" y="176021"/>
              <a:ext cx="402337"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2A03D"/>
                  </a:solidFill>
                  <a:latin typeface="Georgia"/>
                  <a:ea typeface="Georgia"/>
                  <a:cs typeface="Georgia"/>
                  <a:sym typeface="Georgia"/>
                </a:defRPr>
              </a:lvl1pPr>
            </a:lstStyle>
            <a:p>
              <a:pPr/>
              <a:r>
                <a:t>1</a:t>
              </a:r>
            </a:p>
          </p:txBody>
        </p:sp>
        <p:sp>
          <p:nvSpPr>
            <p:cNvPr id="223" name="ex0_h"/>
            <p:cNvSpPr txBox="1"/>
            <p:nvPr/>
          </p:nvSpPr>
          <p:spPr>
            <a:xfrm>
              <a:off x="694943" y="233485"/>
              <a:ext cx="2686203" cy="246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4A2C6F"/>
                  </a:solidFill>
                  <a:latin typeface="Arial"/>
                  <a:ea typeface="Arial"/>
                  <a:cs typeface="Arial"/>
                  <a:sym typeface="Arial"/>
                </a:defRPr>
              </a:lvl1pPr>
            </a:lstStyle>
            <a:p>
              <a:pPr/>
              <a:r>
                <a:t>Blow up balloon 1.</a:t>
              </a:r>
            </a:p>
          </p:txBody>
        </p:sp>
        <p:sp>
          <p:nvSpPr>
            <p:cNvPr id="224" name="ex0_t"/>
            <p:cNvSpPr txBox="1"/>
            <p:nvPr/>
          </p:nvSpPr>
          <p:spPr>
            <a:xfrm>
              <a:off x="219455" y="676656"/>
              <a:ext cx="3143403"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A6180"/>
                  </a:solidFill>
                  <a:latin typeface="Arial"/>
                  <a:ea typeface="Arial"/>
                  <a:cs typeface="Arial"/>
                  <a:sym typeface="Arial"/>
                </a:defRPr>
              </a:lvl1pPr>
            </a:lstStyle>
            <a:p>
              <a:pPr/>
              <a:r>
                <a:t>Just air. Tie it or pinch the mouth so no air escapes.</a:t>
              </a:r>
            </a:p>
          </p:txBody>
        </p:sp>
      </p:grpSp>
      <p:grpSp>
        <p:nvGrpSpPr>
          <p:cNvPr id="230" name="ex1"/>
          <p:cNvGrpSpPr/>
          <p:nvPr/>
        </p:nvGrpSpPr>
        <p:grpSpPr>
          <a:xfrm>
            <a:off x="4304689" y="2176272"/>
            <a:ext cx="3582315" cy="1481328"/>
            <a:chOff x="0" y="0"/>
            <a:chExt cx="3582313" cy="1481327"/>
          </a:xfrm>
        </p:grpSpPr>
        <p:sp>
          <p:nvSpPr>
            <p:cNvPr id="226" name="ex1_bg"/>
            <p:cNvSpPr/>
            <p:nvPr/>
          </p:nvSpPr>
          <p:spPr>
            <a:xfrm>
              <a:off x="0" y="0"/>
              <a:ext cx="3582314" cy="1481328"/>
            </a:xfrm>
            <a:prstGeom prst="roundRect">
              <a:avLst>
                <a:gd name="adj" fmla="val 8642"/>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227" name="ex1_n"/>
            <p:cNvSpPr txBox="1"/>
            <p:nvPr/>
          </p:nvSpPr>
          <p:spPr>
            <a:xfrm>
              <a:off x="201167" y="176021"/>
              <a:ext cx="402337"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2A03D"/>
                  </a:solidFill>
                  <a:latin typeface="Georgia"/>
                  <a:ea typeface="Georgia"/>
                  <a:cs typeface="Georgia"/>
                  <a:sym typeface="Georgia"/>
                </a:defRPr>
              </a:lvl1pPr>
            </a:lstStyle>
            <a:p>
              <a:pPr/>
              <a:r>
                <a:t>2</a:t>
              </a:r>
            </a:p>
          </p:txBody>
        </p:sp>
        <p:sp>
          <p:nvSpPr>
            <p:cNvPr id="228" name="ex1_h"/>
            <p:cNvSpPr txBox="1"/>
            <p:nvPr/>
          </p:nvSpPr>
          <p:spPr>
            <a:xfrm>
              <a:off x="694943" y="106485"/>
              <a:ext cx="2686203" cy="500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4A2C6F"/>
                  </a:solidFill>
                  <a:latin typeface="Arial"/>
                  <a:ea typeface="Arial"/>
                  <a:cs typeface="Arial"/>
                  <a:sym typeface="Arial"/>
                </a:defRPr>
              </a:lvl1pPr>
            </a:lstStyle>
            <a:p>
              <a:pPr/>
              <a:r>
                <a:t>Light the Bunsen. Blue flame.</a:t>
              </a:r>
            </a:p>
          </p:txBody>
        </p:sp>
        <p:sp>
          <p:nvSpPr>
            <p:cNvPr id="229" name="ex1_t"/>
            <p:cNvSpPr txBox="1"/>
            <p:nvPr/>
          </p:nvSpPr>
          <p:spPr>
            <a:xfrm>
              <a:off x="219455" y="676656"/>
              <a:ext cx="3143403" cy="2205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A6180"/>
                  </a:solidFill>
                  <a:latin typeface="Arial"/>
                  <a:ea typeface="Arial"/>
                  <a:cs typeface="Arial"/>
                  <a:sym typeface="Arial"/>
                </a:defRPr>
              </a:lvl1pPr>
            </a:lstStyle>
            <a:p>
              <a:pPr/>
              <a:r>
                <a:t>Safety first, then open the air hole.</a:t>
              </a:r>
            </a:p>
          </p:txBody>
        </p:sp>
      </p:grpSp>
      <p:grpSp>
        <p:nvGrpSpPr>
          <p:cNvPr id="235" name="ex2"/>
          <p:cNvGrpSpPr/>
          <p:nvPr/>
        </p:nvGrpSpPr>
        <p:grpSpPr>
          <a:xfrm>
            <a:off x="8106461" y="2176272"/>
            <a:ext cx="3582314" cy="1481328"/>
            <a:chOff x="0" y="0"/>
            <a:chExt cx="3582313" cy="1481327"/>
          </a:xfrm>
        </p:grpSpPr>
        <p:sp>
          <p:nvSpPr>
            <p:cNvPr id="231" name="ex2_bg"/>
            <p:cNvSpPr/>
            <p:nvPr/>
          </p:nvSpPr>
          <p:spPr>
            <a:xfrm>
              <a:off x="0" y="0"/>
              <a:ext cx="3582314" cy="1481328"/>
            </a:xfrm>
            <a:prstGeom prst="roundRect">
              <a:avLst>
                <a:gd name="adj" fmla="val 8642"/>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232" name="ex2_n"/>
            <p:cNvSpPr txBox="1"/>
            <p:nvPr/>
          </p:nvSpPr>
          <p:spPr>
            <a:xfrm>
              <a:off x="201167" y="176021"/>
              <a:ext cx="402337"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2A03D"/>
                  </a:solidFill>
                  <a:latin typeface="Georgia"/>
                  <a:ea typeface="Georgia"/>
                  <a:cs typeface="Georgia"/>
                  <a:sym typeface="Georgia"/>
                </a:defRPr>
              </a:lvl1pPr>
            </a:lstStyle>
            <a:p>
              <a:pPr/>
              <a:r>
                <a:t>3</a:t>
              </a:r>
            </a:p>
          </p:txBody>
        </p:sp>
        <p:sp>
          <p:nvSpPr>
            <p:cNvPr id="233" name="ex2_h"/>
            <p:cNvSpPr txBox="1"/>
            <p:nvPr/>
          </p:nvSpPr>
          <p:spPr>
            <a:xfrm>
              <a:off x="694943" y="106485"/>
              <a:ext cx="2686203" cy="500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4A2C6F"/>
                  </a:solidFill>
                  <a:latin typeface="Arial"/>
                  <a:ea typeface="Arial"/>
                  <a:cs typeface="Arial"/>
                  <a:sym typeface="Arial"/>
                </a:defRPr>
              </a:lvl1pPr>
            </a:lstStyle>
            <a:p>
              <a:pPr/>
              <a:r>
                <a:t>Hold balloon 1 above the flame.</a:t>
              </a:r>
            </a:p>
          </p:txBody>
        </p:sp>
        <p:sp>
          <p:nvSpPr>
            <p:cNvPr id="234" name="ex2_t"/>
            <p:cNvSpPr txBox="1"/>
            <p:nvPr/>
          </p:nvSpPr>
          <p:spPr>
            <a:xfrm>
              <a:off x="219455" y="676656"/>
              <a:ext cx="3143403" cy="677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A6180"/>
                  </a:solidFill>
                  <a:latin typeface="Arial"/>
                  <a:ea typeface="Arial"/>
                  <a:cs typeface="Arial"/>
                  <a:sym typeface="Arial"/>
                </a:defRPr>
              </a:lvl1pPr>
            </a:lstStyle>
            <a:p>
              <a:pPr/>
              <a:r>
                <a:t>Arm out. 10 cm above the flame. Count out loud. Write down how long it took to burst in your book.</a:t>
              </a:r>
            </a:p>
          </p:txBody>
        </p:sp>
      </p:grpSp>
      <p:grpSp>
        <p:nvGrpSpPr>
          <p:cNvPr id="240" name="ex3"/>
          <p:cNvGrpSpPr/>
          <p:nvPr/>
        </p:nvGrpSpPr>
        <p:grpSpPr>
          <a:xfrm>
            <a:off x="502919" y="3877055"/>
            <a:ext cx="3582315" cy="1481329"/>
            <a:chOff x="0" y="0"/>
            <a:chExt cx="3582313" cy="1481327"/>
          </a:xfrm>
        </p:grpSpPr>
        <p:sp>
          <p:nvSpPr>
            <p:cNvPr id="236" name="ex3_bg"/>
            <p:cNvSpPr/>
            <p:nvPr/>
          </p:nvSpPr>
          <p:spPr>
            <a:xfrm>
              <a:off x="0" y="0"/>
              <a:ext cx="3582314" cy="1481328"/>
            </a:xfrm>
            <a:prstGeom prst="roundRect">
              <a:avLst>
                <a:gd name="adj" fmla="val 8642"/>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237" name="ex3_n"/>
            <p:cNvSpPr txBox="1"/>
            <p:nvPr/>
          </p:nvSpPr>
          <p:spPr>
            <a:xfrm>
              <a:off x="201167" y="176021"/>
              <a:ext cx="402337"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2A03D"/>
                  </a:solidFill>
                  <a:latin typeface="Georgia"/>
                  <a:ea typeface="Georgia"/>
                  <a:cs typeface="Georgia"/>
                  <a:sym typeface="Georgia"/>
                </a:defRPr>
              </a:lvl1pPr>
            </a:lstStyle>
            <a:p>
              <a:pPr/>
              <a:r>
                <a:t>4</a:t>
              </a:r>
            </a:p>
          </p:txBody>
        </p:sp>
        <p:sp>
          <p:nvSpPr>
            <p:cNvPr id="238" name="ex3_h"/>
            <p:cNvSpPr txBox="1"/>
            <p:nvPr/>
          </p:nvSpPr>
          <p:spPr>
            <a:xfrm>
              <a:off x="694943" y="233485"/>
              <a:ext cx="2686203" cy="246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4A2C6F"/>
                  </a:solidFill>
                  <a:latin typeface="Arial"/>
                  <a:ea typeface="Arial"/>
                  <a:cs typeface="Arial"/>
                  <a:sym typeface="Arial"/>
                </a:defRPr>
              </a:lvl1pPr>
            </a:lstStyle>
            <a:p>
              <a:pPr/>
              <a:r>
                <a:t>Put water in balloon 2.</a:t>
              </a:r>
            </a:p>
          </p:txBody>
        </p:sp>
        <p:sp>
          <p:nvSpPr>
            <p:cNvPr id="239" name="ex3_t"/>
            <p:cNvSpPr txBox="1"/>
            <p:nvPr/>
          </p:nvSpPr>
          <p:spPr>
            <a:xfrm>
              <a:off x="219455" y="676656"/>
              <a:ext cx="3143403"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A6180"/>
                  </a:solidFill>
                  <a:latin typeface="Arial"/>
                  <a:ea typeface="Arial"/>
                  <a:cs typeface="Arial"/>
                  <a:sym typeface="Arial"/>
                </a:defRPr>
              </a:lvl1pPr>
            </a:lstStyle>
            <a:p>
              <a:pPr/>
              <a:r>
                <a:t>About half a cup. Then blow it up over the water and tie it.</a:t>
              </a:r>
            </a:p>
          </p:txBody>
        </p:sp>
      </p:grpSp>
      <p:grpSp>
        <p:nvGrpSpPr>
          <p:cNvPr id="245" name="ex4"/>
          <p:cNvGrpSpPr/>
          <p:nvPr/>
        </p:nvGrpSpPr>
        <p:grpSpPr>
          <a:xfrm>
            <a:off x="4304689" y="3877055"/>
            <a:ext cx="3582315" cy="1481329"/>
            <a:chOff x="0" y="0"/>
            <a:chExt cx="3582313" cy="1481327"/>
          </a:xfrm>
        </p:grpSpPr>
        <p:sp>
          <p:nvSpPr>
            <p:cNvPr id="241" name="ex4_bg"/>
            <p:cNvSpPr/>
            <p:nvPr/>
          </p:nvSpPr>
          <p:spPr>
            <a:xfrm>
              <a:off x="0" y="0"/>
              <a:ext cx="3582314" cy="1481328"/>
            </a:xfrm>
            <a:prstGeom prst="roundRect">
              <a:avLst>
                <a:gd name="adj" fmla="val 8642"/>
              </a:avLst>
            </a:prstGeom>
            <a:solidFill>
              <a:srgbClr val="FDEEDC"/>
            </a:solidFill>
            <a:ln w="22860" cap="flat">
              <a:solidFill>
                <a:srgbClr val="F2A03D"/>
              </a:solidFill>
              <a:prstDash val="solid"/>
              <a:round/>
            </a:ln>
            <a:effectLst/>
          </p:spPr>
          <p:txBody>
            <a:bodyPr wrap="square" lIns="45719" tIns="45719" rIns="45719" bIns="45719" numCol="1" anchor="t">
              <a:noAutofit/>
            </a:bodyPr>
            <a:lstStyle/>
            <a:p>
              <a:pPr/>
            </a:p>
          </p:txBody>
        </p:sp>
        <p:sp>
          <p:nvSpPr>
            <p:cNvPr id="242" name="ex4_n"/>
            <p:cNvSpPr txBox="1"/>
            <p:nvPr/>
          </p:nvSpPr>
          <p:spPr>
            <a:xfrm>
              <a:off x="201167" y="176021"/>
              <a:ext cx="402337"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2A03D"/>
                  </a:solidFill>
                  <a:latin typeface="Georgia"/>
                  <a:ea typeface="Georgia"/>
                  <a:cs typeface="Georgia"/>
                  <a:sym typeface="Georgia"/>
                </a:defRPr>
              </a:lvl1pPr>
            </a:lstStyle>
            <a:p>
              <a:pPr/>
              <a:r>
                <a:t>5</a:t>
              </a:r>
            </a:p>
          </p:txBody>
        </p:sp>
        <p:sp>
          <p:nvSpPr>
            <p:cNvPr id="243" name="ex4_h"/>
            <p:cNvSpPr txBox="1"/>
            <p:nvPr/>
          </p:nvSpPr>
          <p:spPr>
            <a:xfrm>
              <a:off x="694943" y="106485"/>
              <a:ext cx="2686203" cy="500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4A2C6F"/>
                  </a:solidFill>
                  <a:latin typeface="Arial"/>
                  <a:ea typeface="Arial"/>
                  <a:cs typeface="Arial"/>
                  <a:sym typeface="Arial"/>
                </a:defRPr>
              </a:lvl1pPr>
            </a:lstStyle>
            <a:p>
              <a:pPr/>
              <a:r>
                <a:t>Hold balloon 2 above the flame.</a:t>
              </a:r>
            </a:p>
          </p:txBody>
        </p:sp>
        <p:sp>
          <p:nvSpPr>
            <p:cNvPr id="244" name="ex4_t"/>
            <p:cNvSpPr txBox="1"/>
            <p:nvPr/>
          </p:nvSpPr>
          <p:spPr>
            <a:xfrm>
              <a:off x="219455" y="676656"/>
              <a:ext cx="3143403"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A6180"/>
                  </a:solidFill>
                  <a:latin typeface="Arial"/>
                  <a:ea typeface="Arial"/>
                  <a:cs typeface="Arial"/>
                  <a:sym typeface="Arial"/>
                </a:defRPr>
              </a:lvl1pPr>
            </a:lstStyle>
            <a:p>
              <a:pPr/>
              <a:r>
                <a:t>Water at the bottom, flame under the water. Count again.</a:t>
              </a:r>
            </a:p>
          </p:txBody>
        </p:sp>
      </p:grpSp>
      <p:grpSp>
        <p:nvGrpSpPr>
          <p:cNvPr id="250" name="ex5"/>
          <p:cNvGrpSpPr/>
          <p:nvPr/>
        </p:nvGrpSpPr>
        <p:grpSpPr>
          <a:xfrm>
            <a:off x="8106461" y="3877055"/>
            <a:ext cx="3582314" cy="1481329"/>
            <a:chOff x="0" y="0"/>
            <a:chExt cx="3582313" cy="1481327"/>
          </a:xfrm>
        </p:grpSpPr>
        <p:sp>
          <p:nvSpPr>
            <p:cNvPr id="246" name="ex5_bg"/>
            <p:cNvSpPr/>
            <p:nvPr/>
          </p:nvSpPr>
          <p:spPr>
            <a:xfrm>
              <a:off x="0" y="0"/>
              <a:ext cx="3582314" cy="1481328"/>
            </a:xfrm>
            <a:prstGeom prst="roundRect">
              <a:avLst>
                <a:gd name="adj" fmla="val 8642"/>
              </a:avLst>
            </a:prstGeom>
            <a:solidFill>
              <a:srgbClr val="FFFFFF"/>
            </a:solidFill>
            <a:ln w="15875" cap="flat">
              <a:solidFill>
                <a:srgbClr val="E3DAF0"/>
              </a:solidFill>
              <a:prstDash val="solid"/>
              <a:round/>
            </a:ln>
            <a:effectLst/>
          </p:spPr>
          <p:txBody>
            <a:bodyPr wrap="square" lIns="45719" tIns="45719" rIns="45719" bIns="45719" numCol="1" anchor="t">
              <a:noAutofit/>
            </a:bodyPr>
            <a:lstStyle/>
            <a:p>
              <a:pPr/>
            </a:p>
          </p:txBody>
        </p:sp>
        <p:sp>
          <p:nvSpPr>
            <p:cNvPr id="247" name="ex5_n"/>
            <p:cNvSpPr txBox="1"/>
            <p:nvPr/>
          </p:nvSpPr>
          <p:spPr>
            <a:xfrm>
              <a:off x="201167" y="176021"/>
              <a:ext cx="402337" cy="342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400">
                  <a:solidFill>
                    <a:srgbClr val="F2A03D"/>
                  </a:solidFill>
                  <a:latin typeface="Georgia"/>
                  <a:ea typeface="Georgia"/>
                  <a:cs typeface="Georgia"/>
                  <a:sym typeface="Georgia"/>
                </a:defRPr>
              </a:lvl1pPr>
            </a:lstStyle>
            <a:p>
              <a:pPr/>
              <a:r>
                <a:t>6</a:t>
              </a:r>
            </a:p>
          </p:txBody>
        </p:sp>
        <p:sp>
          <p:nvSpPr>
            <p:cNvPr id="248" name="ex5_h"/>
            <p:cNvSpPr txBox="1"/>
            <p:nvPr/>
          </p:nvSpPr>
          <p:spPr>
            <a:xfrm>
              <a:off x="694943" y="233485"/>
              <a:ext cx="2686203" cy="2462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000"/>
                </a:lnSpc>
                <a:defRPr b="1" sz="1600">
                  <a:solidFill>
                    <a:srgbClr val="4A2C6F"/>
                  </a:solidFill>
                  <a:latin typeface="Arial"/>
                  <a:ea typeface="Arial"/>
                  <a:cs typeface="Arial"/>
                  <a:sym typeface="Arial"/>
                </a:defRPr>
              </a:lvl1pPr>
            </a:lstStyle>
            <a:p>
              <a:pPr/>
              <a:r>
                <a:t>Record. Then swap roles.</a:t>
              </a:r>
            </a:p>
          </p:txBody>
        </p:sp>
        <p:sp>
          <p:nvSpPr>
            <p:cNvPr id="249" name="ex5_t"/>
            <p:cNvSpPr txBox="1"/>
            <p:nvPr/>
          </p:nvSpPr>
          <p:spPr>
            <a:xfrm>
              <a:off x="219455" y="676656"/>
              <a:ext cx="3143403"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6A6180"/>
                  </a:solidFill>
                  <a:latin typeface="Arial"/>
                  <a:ea typeface="Arial"/>
                  <a:cs typeface="Arial"/>
                  <a:sym typeface="Arial"/>
                </a:defRPr>
              </a:lvl1pPr>
            </a:lstStyle>
            <a:p>
              <a:pPr/>
              <a:r>
                <a:t>Every group gets a turn. Write down what you saw.</a:t>
              </a:r>
            </a:p>
          </p:txBody>
        </p:sp>
      </p:grpSp>
      <p:sp>
        <p:nvSpPr>
          <p:cNvPr id="251" name="ex_foot"/>
          <p:cNvSpPr txBox="1"/>
          <p:nvPr/>
        </p:nvSpPr>
        <p:spPr>
          <a:xfrm>
            <a:off x="502919" y="5554955"/>
            <a:ext cx="11185857"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700">
                <a:solidFill>
                  <a:srgbClr val="D94F6A"/>
                </a:solidFill>
                <a:latin typeface="Arial"/>
                <a:ea typeface="Arial"/>
                <a:cs typeface="Arial"/>
                <a:sym typeface="Arial"/>
              </a:defRPr>
            </a:lvl1pPr>
          </a:lstStyle>
          <a:p>
            <a:pPr/>
            <a:r>
              <a:t>Goggles on. Stools in. Safety flame whenever you stop.</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25"/>
                                        </p:tgtEl>
                                        <p:attrNameLst>
                                          <p:attrName>style.visibility</p:attrName>
                                        </p:attrNameLst>
                                      </p:cBhvr>
                                      <p:to>
                                        <p:strVal val="visible"/>
                                      </p:to>
                                    </p:set>
                                    <p:animEffect filter="fade" transition="in">
                                      <p:cBhvr>
                                        <p:cTn id="7" dur="400"/>
                                        <p:tgtEl>
                                          <p:spTgt spid="225"/>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30"/>
                                        </p:tgtEl>
                                        <p:attrNameLst>
                                          <p:attrName>style.visibility</p:attrName>
                                        </p:attrNameLst>
                                      </p:cBhvr>
                                      <p:to>
                                        <p:strVal val="visible"/>
                                      </p:to>
                                    </p:set>
                                    <p:animEffect filter="fade" transition="in">
                                      <p:cBhvr>
                                        <p:cTn id="12" dur="400"/>
                                        <p:tgtEl>
                                          <p:spTgt spid="230"/>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35"/>
                                        </p:tgtEl>
                                        <p:attrNameLst>
                                          <p:attrName>style.visibility</p:attrName>
                                        </p:attrNameLst>
                                      </p:cBhvr>
                                      <p:to>
                                        <p:strVal val="visible"/>
                                      </p:to>
                                    </p:set>
                                    <p:animEffect filter="fade" transition="in">
                                      <p:cBhvr>
                                        <p:cTn id="17" dur="400"/>
                                        <p:tgtEl>
                                          <p:spTgt spid="235"/>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40"/>
                                        </p:tgtEl>
                                        <p:attrNameLst>
                                          <p:attrName>style.visibility</p:attrName>
                                        </p:attrNameLst>
                                      </p:cBhvr>
                                      <p:to>
                                        <p:strVal val="visible"/>
                                      </p:to>
                                    </p:set>
                                    <p:animEffect filter="fade" transition="in">
                                      <p:cBhvr>
                                        <p:cTn id="22" dur="400"/>
                                        <p:tgtEl>
                                          <p:spTgt spid="240"/>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ID="10" grpId="5" fill="hold">
                                  <p:stCondLst>
                                    <p:cond delay="0"/>
                                  </p:stCondLst>
                                  <p:iterate type="el" backwards="0">
                                    <p:tmAbs val="0"/>
                                  </p:iterate>
                                  <p:childTnLst>
                                    <p:set>
                                      <p:cBhvr>
                                        <p:cTn id="26" fill="hold"/>
                                        <p:tgtEl>
                                          <p:spTgt spid="245"/>
                                        </p:tgtEl>
                                        <p:attrNameLst>
                                          <p:attrName>style.visibility</p:attrName>
                                        </p:attrNameLst>
                                      </p:cBhvr>
                                      <p:to>
                                        <p:strVal val="visible"/>
                                      </p:to>
                                    </p:set>
                                    <p:animEffect filter="fade" transition="in">
                                      <p:cBhvr>
                                        <p:cTn id="27" dur="400"/>
                                        <p:tgtEl>
                                          <p:spTgt spid="245"/>
                                        </p:tgtEl>
                                      </p:cBhvr>
                                    </p:animEffect>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6" fill="hold">
                                  <p:stCondLst>
                                    <p:cond delay="0"/>
                                  </p:stCondLst>
                                  <p:iterate type="el" backwards="0">
                                    <p:tmAbs val="0"/>
                                  </p:iterate>
                                  <p:childTnLst>
                                    <p:set>
                                      <p:cBhvr>
                                        <p:cTn id="31" fill="hold"/>
                                        <p:tgtEl>
                                          <p:spTgt spid="250"/>
                                        </p:tgtEl>
                                        <p:attrNameLst>
                                          <p:attrName>style.visibility</p:attrName>
                                        </p:attrNameLst>
                                      </p:cBhvr>
                                      <p:to>
                                        <p:strVal val="visible"/>
                                      </p:to>
                                    </p:set>
                                    <p:animEffect filter="fade" transition="in">
                                      <p:cBhvr>
                                        <p:cTn id="32" dur="4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45" grpId="5"/>
      <p:bldP build="whole" bldLvl="1" animBg="1" rev="0" advAuto="0" spid="230" grpId="2"/>
      <p:bldP build="whole" bldLvl="1" animBg="1" rev="0" advAuto="0" spid="240" grpId="4"/>
      <p:bldP build="whole" bldLvl="1" animBg="1" rev="0" advAuto="0" spid="250" grpId="6"/>
      <p:bldP build="whole" bldLvl="1" animBg="1" rev="0" advAuto="0" spid="225" grpId="1"/>
      <p:bldP build="whole" bldLvl="1" animBg="1" rev="0" advAuto="0" spid="235" grpId="3"/>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257" name="phase_pill"/>
          <p:cNvGrpSpPr/>
          <p:nvPr/>
        </p:nvGrpSpPr>
        <p:grpSpPr>
          <a:xfrm>
            <a:off x="502919" y="347472"/>
            <a:ext cx="1915669" cy="329185"/>
            <a:chOff x="0" y="0"/>
            <a:chExt cx="1915667" cy="329184"/>
          </a:xfrm>
        </p:grpSpPr>
        <p:sp>
          <p:nvSpPr>
            <p:cNvPr id="255" name="Rounded Rectangle"/>
            <p:cNvSpPr/>
            <p:nvPr/>
          </p:nvSpPr>
          <p:spPr>
            <a:xfrm>
              <a:off x="0" y="0"/>
              <a:ext cx="1915668"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56" name="EXPLAIN · 4 MIN"/>
            <p:cNvSpPr txBox="1"/>
            <p:nvPr/>
          </p:nvSpPr>
          <p:spPr>
            <a:xfrm>
              <a:off x="42850" y="90677"/>
              <a:ext cx="182996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EXPLAIN · 4 MIN</a:t>
              </a:r>
            </a:p>
          </p:txBody>
        </p:sp>
      </p:grpSp>
      <p:sp>
        <p:nvSpPr>
          <p:cNvPr id="258"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So why did it not burst?</a:t>
            </a:r>
          </a:p>
        </p:txBody>
      </p:sp>
      <p:grpSp>
        <p:nvGrpSpPr>
          <p:cNvPr id="263" name="wy0"/>
          <p:cNvGrpSpPr/>
          <p:nvPr/>
        </p:nvGrpSpPr>
        <p:grpSpPr>
          <a:xfrm>
            <a:off x="502919" y="2176272"/>
            <a:ext cx="5349242" cy="2231136"/>
            <a:chOff x="0" y="0"/>
            <a:chExt cx="5349240" cy="2231135"/>
          </a:xfrm>
        </p:grpSpPr>
        <p:sp>
          <p:nvSpPr>
            <p:cNvPr id="259" name="wy0_bg"/>
            <p:cNvSpPr/>
            <p:nvPr/>
          </p:nvSpPr>
          <p:spPr>
            <a:xfrm>
              <a:off x="0" y="0"/>
              <a:ext cx="5349241" cy="2231136"/>
            </a:xfrm>
            <a:prstGeom prst="roundRect">
              <a:avLst>
                <a:gd name="adj" fmla="val 5738"/>
              </a:avLst>
            </a:prstGeom>
            <a:solidFill>
              <a:srgbClr val="FCEDF0"/>
            </a:solidFill>
            <a:ln w="22860" cap="flat">
              <a:solidFill>
                <a:srgbClr val="D94F6A"/>
              </a:solidFill>
              <a:prstDash val="solid"/>
              <a:round/>
            </a:ln>
            <a:effectLst/>
          </p:spPr>
          <p:txBody>
            <a:bodyPr wrap="square" lIns="45719" tIns="45719" rIns="45719" bIns="45719" numCol="1" anchor="t">
              <a:noAutofit/>
            </a:bodyPr>
            <a:lstStyle/>
            <a:p>
              <a:pPr/>
            </a:p>
          </p:txBody>
        </p:sp>
        <p:pic>
          <p:nvPicPr>
            <p:cNvPr id="260" name="wy0_icon" descr="wy0_icon"/>
            <p:cNvPicPr>
              <a:picLocks noChangeAspect="1"/>
            </p:cNvPicPr>
            <p:nvPr/>
          </p:nvPicPr>
          <p:blipFill>
            <a:blip r:embed="rId3">
              <a:extLst/>
            </a:blip>
            <a:stretch>
              <a:fillRect/>
            </a:stretch>
          </p:blipFill>
          <p:spPr>
            <a:xfrm>
              <a:off x="310896" y="237744"/>
              <a:ext cx="786385" cy="786384"/>
            </a:xfrm>
            <a:prstGeom prst="rect">
              <a:avLst/>
            </a:prstGeom>
            <a:ln w="12700" cap="flat">
              <a:noFill/>
              <a:miter lim="400000"/>
            </a:ln>
            <a:effectLst/>
          </p:spPr>
        </p:pic>
        <p:sp>
          <p:nvSpPr>
            <p:cNvPr id="261" name="wy0_tag"/>
            <p:cNvSpPr txBox="1"/>
            <p:nvPr/>
          </p:nvSpPr>
          <p:spPr>
            <a:xfrm>
              <a:off x="1280160" y="472185"/>
              <a:ext cx="3657601"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2200">
                  <a:solidFill>
                    <a:srgbClr val="D94F6A"/>
                  </a:solidFill>
                  <a:latin typeface="Georgia"/>
                  <a:ea typeface="Georgia"/>
                  <a:cs typeface="Georgia"/>
                  <a:sym typeface="Georgia"/>
                </a:defRPr>
              </a:lvl1pPr>
            </a:lstStyle>
            <a:p>
              <a:pPr/>
              <a:r>
                <a:t>BALLOON 1</a:t>
              </a:r>
            </a:p>
          </p:txBody>
        </p:sp>
        <p:sp>
          <p:nvSpPr>
            <p:cNvPr id="262" name="wy0_t"/>
            <p:cNvSpPr txBox="1"/>
            <p:nvPr/>
          </p:nvSpPr>
          <p:spPr>
            <a:xfrm>
              <a:off x="310896" y="1133855"/>
              <a:ext cx="4727449" cy="789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sz="1600">
                  <a:solidFill>
                    <a:srgbClr val="241535"/>
                  </a:solidFill>
                  <a:latin typeface="Arial"/>
                  <a:ea typeface="Arial"/>
                  <a:cs typeface="Arial"/>
                  <a:sym typeface="Arial"/>
                </a:defRPr>
              </a:lvl1pPr>
            </a:lstStyle>
            <a:p>
              <a:pPr/>
              <a:r>
                <a:t>The rubber is very thin. The flame heats it in under a second, it gets weak, and the air pushing out does the rest.</a:t>
              </a:r>
            </a:p>
          </p:txBody>
        </p:sp>
      </p:grpSp>
      <p:grpSp>
        <p:nvGrpSpPr>
          <p:cNvPr id="268" name="wy1"/>
          <p:cNvGrpSpPr/>
          <p:nvPr/>
        </p:nvGrpSpPr>
        <p:grpSpPr>
          <a:xfrm>
            <a:off x="6217920" y="2176272"/>
            <a:ext cx="5349241" cy="2231136"/>
            <a:chOff x="0" y="0"/>
            <a:chExt cx="5349240" cy="2231135"/>
          </a:xfrm>
        </p:grpSpPr>
        <p:sp>
          <p:nvSpPr>
            <p:cNvPr id="264" name="wy1_bg"/>
            <p:cNvSpPr/>
            <p:nvPr/>
          </p:nvSpPr>
          <p:spPr>
            <a:xfrm>
              <a:off x="0" y="0"/>
              <a:ext cx="5349241" cy="2231136"/>
            </a:xfrm>
            <a:prstGeom prst="roundRect">
              <a:avLst>
                <a:gd name="adj" fmla="val 5738"/>
              </a:avLst>
            </a:prstGeom>
            <a:solidFill>
              <a:srgbClr val="E8F6F5"/>
            </a:solidFill>
            <a:ln w="22860" cap="flat">
              <a:solidFill>
                <a:srgbClr val="2BA6A0"/>
              </a:solidFill>
              <a:prstDash val="solid"/>
              <a:round/>
            </a:ln>
            <a:effectLst/>
          </p:spPr>
          <p:txBody>
            <a:bodyPr wrap="square" lIns="45719" tIns="45719" rIns="45719" bIns="45719" numCol="1" anchor="t">
              <a:noAutofit/>
            </a:bodyPr>
            <a:lstStyle/>
            <a:p>
              <a:pPr/>
            </a:p>
          </p:txBody>
        </p:sp>
        <p:pic>
          <p:nvPicPr>
            <p:cNvPr id="265" name="wy1_icon" descr="wy1_icon"/>
            <p:cNvPicPr>
              <a:picLocks noChangeAspect="1"/>
            </p:cNvPicPr>
            <p:nvPr/>
          </p:nvPicPr>
          <p:blipFill>
            <a:blip r:embed="rId4">
              <a:extLst/>
            </a:blip>
            <a:stretch>
              <a:fillRect/>
            </a:stretch>
          </p:blipFill>
          <p:spPr>
            <a:xfrm>
              <a:off x="310896" y="237744"/>
              <a:ext cx="786385" cy="786384"/>
            </a:xfrm>
            <a:prstGeom prst="rect">
              <a:avLst/>
            </a:prstGeom>
            <a:ln w="12700" cap="flat">
              <a:noFill/>
              <a:miter lim="400000"/>
            </a:ln>
            <a:effectLst/>
          </p:spPr>
        </p:pic>
        <p:sp>
          <p:nvSpPr>
            <p:cNvPr id="266" name="wy1_tag"/>
            <p:cNvSpPr txBox="1"/>
            <p:nvPr/>
          </p:nvSpPr>
          <p:spPr>
            <a:xfrm>
              <a:off x="1280160" y="472185"/>
              <a:ext cx="3657601"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10" sz="2200">
                  <a:solidFill>
                    <a:srgbClr val="2BA6A0"/>
                  </a:solidFill>
                  <a:latin typeface="Georgia"/>
                  <a:ea typeface="Georgia"/>
                  <a:cs typeface="Georgia"/>
                  <a:sym typeface="Georgia"/>
                </a:defRPr>
              </a:lvl1pPr>
            </a:lstStyle>
            <a:p>
              <a:pPr/>
              <a:r>
                <a:t>BALLOON 2</a:t>
              </a:r>
            </a:p>
          </p:txBody>
        </p:sp>
        <p:sp>
          <p:nvSpPr>
            <p:cNvPr id="267" name="wy1_t"/>
            <p:cNvSpPr txBox="1"/>
            <p:nvPr/>
          </p:nvSpPr>
          <p:spPr>
            <a:xfrm>
              <a:off x="310896" y="1133855"/>
              <a:ext cx="4727449" cy="7898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sz="1600">
                  <a:solidFill>
                    <a:srgbClr val="241535"/>
                  </a:solidFill>
                  <a:latin typeface="Arial"/>
                  <a:ea typeface="Arial"/>
                  <a:cs typeface="Arial"/>
                  <a:sym typeface="Arial"/>
                </a:defRPr>
              </a:lvl1pPr>
            </a:lstStyle>
            <a:p>
              <a:pPr/>
              <a:r>
                <a:t>The water soaks up the heat and carries it away from the rubber. The rubber never gets hot enough to fail.</a:t>
              </a:r>
            </a:p>
          </p:txBody>
        </p:sp>
      </p:grpSp>
      <p:sp>
        <p:nvSpPr>
          <p:cNvPr id="269" name="wy_key"/>
          <p:cNvSpPr txBox="1"/>
          <p:nvPr/>
        </p:nvSpPr>
        <p:spPr>
          <a:xfrm>
            <a:off x="502919" y="4725853"/>
            <a:ext cx="11185857"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4A2C6F"/>
                </a:solidFill>
                <a:latin typeface="Arial"/>
                <a:ea typeface="Arial"/>
                <a:cs typeface="Arial"/>
                <a:sym typeface="Arial"/>
              </a:defRPr>
            </a:lvl1pPr>
          </a:lstStyle>
          <a:p>
            <a:pPr/>
            <a:r>
              <a:t>Water takes a LOT of energy to warm up. More than almost anything else on Earth.</a:t>
            </a:r>
          </a:p>
        </p:txBody>
      </p:sp>
      <p:grpSp>
        <p:nvGrpSpPr>
          <p:cNvPr id="272" name="wy_banner"/>
          <p:cNvGrpSpPr/>
          <p:nvPr/>
        </p:nvGrpSpPr>
        <p:grpSpPr>
          <a:xfrm>
            <a:off x="502919" y="5157215"/>
            <a:ext cx="11185857" cy="658369"/>
            <a:chOff x="0" y="0"/>
            <a:chExt cx="11185855" cy="658368"/>
          </a:xfrm>
        </p:grpSpPr>
        <p:sp>
          <p:nvSpPr>
            <p:cNvPr id="270" name="Rounded Rectangle"/>
            <p:cNvSpPr/>
            <p:nvPr/>
          </p:nvSpPr>
          <p:spPr>
            <a:xfrm>
              <a:off x="0" y="0"/>
              <a:ext cx="11185856" cy="658369"/>
            </a:xfrm>
            <a:prstGeom prst="roundRect">
              <a:avLst>
                <a:gd name="adj" fmla="val 16667"/>
              </a:avLst>
            </a:prstGeom>
            <a:solidFill>
              <a:srgbClr val="4A2C6F"/>
            </a:solidFill>
            <a:ln w="9525" cap="flat">
              <a:solidFill>
                <a:srgbClr val="4A2C6F"/>
              </a:solidFill>
              <a:prstDash val="solid"/>
              <a:round/>
            </a:ln>
            <a:effectLst/>
          </p:spPr>
          <p:txBody>
            <a:bodyPr wrap="square" lIns="45719" tIns="45719" rIns="45719" bIns="45719" numCol="1" anchor="ctr">
              <a:noAutofit/>
            </a:bodyPr>
            <a:lstStyle/>
            <a:p>
              <a:pPr algn="ctr">
                <a:defRPr sz="1600"/>
              </a:pPr>
            </a:p>
          </p:txBody>
        </p:sp>
        <p:sp>
          <p:nvSpPr>
            <p:cNvPr id="271" name="That is why the sea takes all summer to warm up, why a hot water bottle stays warm all night, and why your body is mostly water."/>
            <p:cNvSpPr txBox="1"/>
            <p:nvPr/>
          </p:nvSpPr>
          <p:spPr>
            <a:xfrm>
              <a:off x="36901" y="102891"/>
              <a:ext cx="11112053" cy="45258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defRPr b="1" sz="1600">
                  <a:solidFill>
                    <a:srgbClr val="F2A03D"/>
                  </a:solidFill>
                  <a:latin typeface="Arial"/>
                  <a:ea typeface="Arial"/>
                  <a:cs typeface="Arial"/>
                  <a:sym typeface="Arial"/>
                </a:defRPr>
              </a:lvl1pPr>
            </a:lstStyle>
            <a:p>
              <a:pPr/>
              <a:r>
                <a:t>That is why the sea takes all summer to warm up, why a hot water bottle stays warm all night, and why your body is mostly water.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ID="10" grpId="1" fill="hold">
                                  <p:stCondLst>
                                    <p:cond delay="0"/>
                                  </p:stCondLst>
                                  <p:iterate type="el" backwards="0">
                                    <p:tmAbs val="0"/>
                                  </p:iterate>
                                  <p:childTnLst>
                                    <p:set>
                                      <p:cBhvr>
                                        <p:cTn id="6" fill="hold"/>
                                        <p:tgtEl>
                                          <p:spTgt spid="263"/>
                                        </p:tgtEl>
                                        <p:attrNameLst>
                                          <p:attrName>style.visibility</p:attrName>
                                        </p:attrNameLst>
                                      </p:cBhvr>
                                      <p:to>
                                        <p:strVal val="visible"/>
                                      </p:to>
                                    </p:set>
                                    <p:animEffect filter="fade" transition="in">
                                      <p:cBhvr>
                                        <p:cTn id="7" dur="400"/>
                                        <p:tgtEl>
                                          <p:spTgt spid="263"/>
                                        </p:tgtEl>
                                      </p:cBhvr>
                                    </p:animEffect>
                                  </p:childTnLst>
                                </p:cTn>
                              </p:par>
                            </p:childTnLst>
                          </p:cTn>
                        </p:par>
                      </p:childTnLst>
                    </p:cTn>
                  </p:par>
                  <p:par>
                    <p:cTn id="8" fill="hold">
                      <p:stCondLst>
                        <p:cond delay="indefinite"/>
                      </p:stCondLst>
                      <p:childTnLst>
                        <p:par>
                          <p:cTn id="9" fill="hold">
                            <p:stCondLst>
                              <p:cond delay="0"/>
                            </p:stCondLst>
                            <p:childTnLst>
                              <p:par>
                                <p:cTn id="10" presetClass="entr" nodeType="clickEffect" presetID="10" grpId="2" fill="hold">
                                  <p:stCondLst>
                                    <p:cond delay="0"/>
                                  </p:stCondLst>
                                  <p:iterate type="el" backwards="0">
                                    <p:tmAbs val="0"/>
                                  </p:iterate>
                                  <p:childTnLst>
                                    <p:set>
                                      <p:cBhvr>
                                        <p:cTn id="11" fill="hold"/>
                                        <p:tgtEl>
                                          <p:spTgt spid="268"/>
                                        </p:tgtEl>
                                        <p:attrNameLst>
                                          <p:attrName>style.visibility</p:attrName>
                                        </p:attrNameLst>
                                      </p:cBhvr>
                                      <p:to>
                                        <p:strVal val="visible"/>
                                      </p:to>
                                    </p:set>
                                    <p:animEffect filter="fade" transition="in">
                                      <p:cBhvr>
                                        <p:cTn id="12" dur="400"/>
                                        <p:tgtEl>
                                          <p:spTgt spid="268"/>
                                        </p:tgtEl>
                                      </p:cBhvr>
                                    </p:animEffect>
                                  </p:childTnLst>
                                </p:cTn>
                              </p:par>
                            </p:childTnLst>
                          </p:cTn>
                        </p:par>
                      </p:childTnLst>
                    </p:cTn>
                  </p:par>
                  <p:par>
                    <p:cTn id="13" fill="hold">
                      <p:stCondLst>
                        <p:cond delay="indefinite"/>
                      </p:stCondLst>
                      <p:childTnLst>
                        <p:par>
                          <p:cTn id="14" fill="hold">
                            <p:stCondLst>
                              <p:cond delay="0"/>
                            </p:stCondLst>
                            <p:childTnLst>
                              <p:par>
                                <p:cTn id="15" presetClass="entr" nodeType="clickEffect" presetID="10" grpId="3" fill="hold">
                                  <p:stCondLst>
                                    <p:cond delay="0"/>
                                  </p:stCondLst>
                                  <p:iterate type="el" backwards="0">
                                    <p:tmAbs val="0"/>
                                  </p:iterate>
                                  <p:childTnLst>
                                    <p:set>
                                      <p:cBhvr>
                                        <p:cTn id="16" fill="hold"/>
                                        <p:tgtEl>
                                          <p:spTgt spid="269"/>
                                        </p:tgtEl>
                                        <p:attrNameLst>
                                          <p:attrName>style.visibility</p:attrName>
                                        </p:attrNameLst>
                                      </p:cBhvr>
                                      <p:to>
                                        <p:strVal val="visible"/>
                                      </p:to>
                                    </p:set>
                                    <p:animEffect filter="fade" transition="in">
                                      <p:cBhvr>
                                        <p:cTn id="17" dur="400"/>
                                        <p:tgtEl>
                                          <p:spTgt spid="269"/>
                                        </p:tgtEl>
                                      </p:cBhvr>
                                    </p:animEffect>
                                  </p:childTnLst>
                                </p:cTn>
                              </p:par>
                            </p:childTnLst>
                          </p:cTn>
                        </p:par>
                      </p:childTnLst>
                    </p:cTn>
                  </p:par>
                  <p:par>
                    <p:cTn id="18" fill="hold">
                      <p:stCondLst>
                        <p:cond delay="indefinite"/>
                      </p:stCondLst>
                      <p:childTnLst>
                        <p:par>
                          <p:cTn id="19" fill="hold">
                            <p:stCondLst>
                              <p:cond delay="0"/>
                            </p:stCondLst>
                            <p:childTnLst>
                              <p:par>
                                <p:cTn id="20" presetClass="entr" nodeType="clickEffect" presetSubtype="16" presetID="23" grpId="4" fill="hold">
                                  <p:stCondLst>
                                    <p:cond delay="0"/>
                                  </p:stCondLst>
                                  <p:iterate type="el" backwards="0">
                                    <p:tmAbs val="0"/>
                                  </p:iterate>
                                  <p:childTnLst>
                                    <p:set>
                                      <p:cBhvr>
                                        <p:cTn id="21" fill="hold"/>
                                        <p:tgtEl>
                                          <p:spTgt spid="272"/>
                                        </p:tgtEl>
                                        <p:attrNameLst>
                                          <p:attrName>style.visibility</p:attrName>
                                        </p:attrNameLst>
                                      </p:cBhvr>
                                      <p:to>
                                        <p:strVal val="visible"/>
                                      </p:to>
                                    </p:set>
                                    <p:anim calcmode="lin" valueType="num">
                                      <p:cBhvr>
                                        <p:cTn id="22" dur="400" fill="hold"/>
                                        <p:tgtEl>
                                          <p:spTgt spid="272"/>
                                        </p:tgtEl>
                                        <p:attrNameLst>
                                          <p:attrName>ppt_w</p:attrName>
                                        </p:attrNameLst>
                                      </p:cBhvr>
                                      <p:tavLst>
                                        <p:tav tm="0">
                                          <p:val>
                                            <p:fltVal val="0"/>
                                          </p:val>
                                        </p:tav>
                                        <p:tav tm="100000">
                                          <p:val>
                                            <p:strVal val="#ppt_w"/>
                                          </p:val>
                                        </p:tav>
                                      </p:tavLst>
                                    </p:anim>
                                    <p:anim calcmode="lin" valueType="num">
                                      <p:cBhvr>
                                        <p:cTn id="23" dur="400" fill="hold"/>
                                        <p:tgtEl>
                                          <p:spTgt spid="27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2" grpId="4"/>
      <p:bldP build="whole" bldLvl="1" animBg="1" rev="0" advAuto="0" spid="268" grpId="2"/>
      <p:bldP build="whole" bldLvl="1" animBg="1" rev="0" advAuto="0" spid="269" grpId="3"/>
      <p:bldP build="whole" bldLvl="1" animBg="1" rev="0" advAuto="0" spid="263"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4A2C6F"/>
        </a:solidFill>
      </p:bgPr>
    </p:bg>
    <p:spTree>
      <p:nvGrpSpPr>
        <p:cNvPr id="1" name=""/>
        <p:cNvGrpSpPr/>
        <p:nvPr/>
      </p:nvGrpSpPr>
      <p:grpSpPr>
        <a:xfrm>
          <a:off x="0" y="0"/>
          <a:ext cx="0" cy="0"/>
          <a:chOff x="0" y="0"/>
          <a:chExt cx="0" cy="0"/>
        </a:xfrm>
      </p:grpSpPr>
      <p:grpSp>
        <p:nvGrpSpPr>
          <p:cNvPr id="278" name="phase_pill"/>
          <p:cNvGrpSpPr/>
          <p:nvPr/>
        </p:nvGrpSpPr>
        <p:grpSpPr>
          <a:xfrm>
            <a:off x="502919" y="347472"/>
            <a:ext cx="2683766" cy="329185"/>
            <a:chOff x="0" y="0"/>
            <a:chExt cx="2683764" cy="329184"/>
          </a:xfrm>
        </p:grpSpPr>
        <p:sp>
          <p:nvSpPr>
            <p:cNvPr id="276" name="Rounded Rectangle"/>
            <p:cNvSpPr/>
            <p:nvPr/>
          </p:nvSpPr>
          <p:spPr>
            <a:xfrm>
              <a:off x="0" y="0"/>
              <a:ext cx="2683765"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277" name="WHERE THIS GOES · 3 MIN"/>
            <p:cNvSpPr txBox="1"/>
            <p:nvPr/>
          </p:nvSpPr>
          <p:spPr>
            <a:xfrm>
              <a:off x="42851" y="90677"/>
              <a:ext cx="259806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WHERE THIS GOES · 3 MIN</a:t>
              </a:r>
            </a:p>
          </p:txBody>
        </p:sp>
      </p:grpSp>
      <p:sp>
        <p:nvSpPr>
          <p:cNvPr id="279"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F7F4FB"/>
                </a:solidFill>
                <a:latin typeface="Georgia"/>
                <a:ea typeface="Georgia"/>
                <a:cs typeface="Georgia"/>
                <a:sym typeface="Georgia"/>
              </a:defRPr>
            </a:lvl1pPr>
          </a:lstStyle>
          <a:p>
            <a:pPr/>
            <a:r>
              <a:t>What this turns into</a:t>
            </a:r>
          </a:p>
        </p:txBody>
      </p:sp>
      <p:sp>
        <p:nvSpPr>
          <p:cNvPr id="280" name="slide_sub"/>
          <p:cNvSpPr txBox="1"/>
          <p:nvPr/>
        </p:nvSpPr>
        <p:spPr>
          <a:xfrm>
            <a:off x="502919" y="1699535"/>
            <a:ext cx="11185857"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E3DAF0"/>
                </a:solidFill>
                <a:latin typeface="Arial"/>
                <a:ea typeface="Arial"/>
                <a:cs typeface="Arial"/>
                <a:sym typeface="Arial"/>
              </a:defRPr>
            </a:lvl1pPr>
          </a:lstStyle>
          <a:p>
            <a:pPr/>
            <a:r>
              <a:t>Every one of these starts with someone wondering why the balloon did not burst.</a:t>
            </a:r>
          </a:p>
        </p:txBody>
      </p:sp>
      <p:grpSp>
        <p:nvGrpSpPr>
          <p:cNvPr id="285" name="jb0"/>
          <p:cNvGrpSpPr/>
          <p:nvPr/>
        </p:nvGrpSpPr>
        <p:grpSpPr>
          <a:xfrm>
            <a:off x="502919" y="2542032"/>
            <a:ext cx="3570123" cy="1609345"/>
            <a:chOff x="0" y="0"/>
            <a:chExt cx="3570122" cy="1609344"/>
          </a:xfrm>
        </p:grpSpPr>
        <p:sp>
          <p:nvSpPr>
            <p:cNvPr id="281" name="jb0_bg"/>
            <p:cNvSpPr/>
            <p:nvPr/>
          </p:nvSpPr>
          <p:spPr>
            <a:xfrm>
              <a:off x="0" y="0"/>
              <a:ext cx="3570123" cy="1609345"/>
            </a:xfrm>
            <a:prstGeom prst="roundRect">
              <a:avLst>
                <a:gd name="adj" fmla="val 6818"/>
              </a:avLst>
            </a:prstGeom>
            <a:solidFill>
              <a:srgbClr val="5C3A85"/>
            </a:solidFill>
            <a:ln w="12700" cap="flat">
              <a:solidFill>
                <a:srgbClr val="6B4E96"/>
              </a:solidFill>
              <a:prstDash val="solid"/>
              <a:round/>
            </a:ln>
            <a:effectLst/>
          </p:spPr>
          <p:txBody>
            <a:bodyPr wrap="square" lIns="45719" tIns="45719" rIns="45719" bIns="45719" numCol="1" anchor="t">
              <a:noAutofit/>
            </a:bodyPr>
            <a:lstStyle/>
            <a:p>
              <a:pPr/>
            </a:p>
          </p:txBody>
        </p:sp>
        <p:pic>
          <p:nvPicPr>
            <p:cNvPr id="282" name="jb0_icon" descr="jb0_icon"/>
            <p:cNvPicPr>
              <a:picLocks noChangeAspect="1"/>
            </p:cNvPicPr>
            <p:nvPr/>
          </p:nvPicPr>
          <p:blipFill>
            <a:blip r:embed="rId3">
              <a:extLst/>
            </a:blip>
            <a:stretch>
              <a:fillRect/>
            </a:stretch>
          </p:blipFill>
          <p:spPr>
            <a:xfrm>
              <a:off x="219455" y="201168"/>
              <a:ext cx="566929" cy="566928"/>
            </a:xfrm>
            <a:prstGeom prst="rect">
              <a:avLst/>
            </a:prstGeom>
            <a:ln w="12700" cap="flat">
              <a:noFill/>
              <a:miter lim="400000"/>
            </a:ln>
            <a:effectLst/>
          </p:spPr>
        </p:pic>
        <p:sp>
          <p:nvSpPr>
            <p:cNvPr id="283" name="jb0_n"/>
            <p:cNvSpPr txBox="1"/>
            <p:nvPr/>
          </p:nvSpPr>
          <p:spPr>
            <a:xfrm>
              <a:off x="914399" y="354285"/>
              <a:ext cx="24728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F2A03D"/>
                  </a:solidFill>
                  <a:latin typeface="Georgia"/>
                  <a:ea typeface="Georgia"/>
                  <a:cs typeface="Georgia"/>
                  <a:sym typeface="Georgia"/>
                </a:defRPr>
              </a:lvl1pPr>
            </a:lstStyle>
            <a:p>
              <a:pPr/>
              <a:r>
                <a:t>Materials engineer</a:t>
              </a:r>
            </a:p>
          </p:txBody>
        </p:sp>
        <p:sp>
          <p:nvSpPr>
            <p:cNvPr id="284" name="jb0_t"/>
            <p:cNvSpPr txBox="1"/>
            <p:nvPr/>
          </p:nvSpPr>
          <p:spPr>
            <a:xfrm>
              <a:off x="237744" y="859536"/>
              <a:ext cx="3094635"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F7F4FB"/>
                  </a:solidFill>
                  <a:latin typeface="Arial"/>
                  <a:ea typeface="Arial"/>
                  <a:cs typeface="Arial"/>
                  <a:sym typeface="Arial"/>
                </a:defRPr>
              </a:lvl1pPr>
            </a:lstStyle>
            <a:p>
              <a:pPr/>
              <a:r>
                <a:t>Designs stuff that survives what nothing else survives — like the heat shield on a spacecraft.</a:t>
              </a:r>
            </a:p>
          </p:txBody>
        </p:sp>
      </p:grpSp>
      <p:grpSp>
        <p:nvGrpSpPr>
          <p:cNvPr id="290" name="jb1"/>
          <p:cNvGrpSpPr/>
          <p:nvPr/>
        </p:nvGrpSpPr>
        <p:grpSpPr>
          <a:xfrm>
            <a:off x="4310786" y="2542032"/>
            <a:ext cx="3570123" cy="1609345"/>
            <a:chOff x="0" y="0"/>
            <a:chExt cx="3570122" cy="1609344"/>
          </a:xfrm>
        </p:grpSpPr>
        <p:sp>
          <p:nvSpPr>
            <p:cNvPr id="286" name="jb1_bg"/>
            <p:cNvSpPr/>
            <p:nvPr/>
          </p:nvSpPr>
          <p:spPr>
            <a:xfrm>
              <a:off x="0" y="0"/>
              <a:ext cx="3570123" cy="1609345"/>
            </a:xfrm>
            <a:prstGeom prst="roundRect">
              <a:avLst>
                <a:gd name="adj" fmla="val 6818"/>
              </a:avLst>
            </a:prstGeom>
            <a:solidFill>
              <a:srgbClr val="5C3A85"/>
            </a:solidFill>
            <a:ln w="12700" cap="flat">
              <a:solidFill>
                <a:srgbClr val="6B4E96"/>
              </a:solidFill>
              <a:prstDash val="solid"/>
              <a:round/>
            </a:ln>
            <a:effectLst/>
          </p:spPr>
          <p:txBody>
            <a:bodyPr wrap="square" lIns="45719" tIns="45719" rIns="45719" bIns="45719" numCol="1" anchor="t">
              <a:noAutofit/>
            </a:bodyPr>
            <a:lstStyle/>
            <a:p>
              <a:pPr/>
            </a:p>
          </p:txBody>
        </p:sp>
        <p:pic>
          <p:nvPicPr>
            <p:cNvPr id="287" name="jb1_icon" descr="jb1_icon"/>
            <p:cNvPicPr>
              <a:picLocks noChangeAspect="1"/>
            </p:cNvPicPr>
            <p:nvPr/>
          </p:nvPicPr>
          <p:blipFill>
            <a:blip r:embed="rId4">
              <a:extLst/>
            </a:blip>
            <a:stretch>
              <a:fillRect/>
            </a:stretch>
          </p:blipFill>
          <p:spPr>
            <a:xfrm>
              <a:off x="219455" y="201168"/>
              <a:ext cx="566929" cy="566928"/>
            </a:xfrm>
            <a:prstGeom prst="rect">
              <a:avLst/>
            </a:prstGeom>
            <a:ln w="12700" cap="flat">
              <a:noFill/>
              <a:miter lim="400000"/>
            </a:ln>
            <a:effectLst/>
          </p:spPr>
        </p:pic>
        <p:sp>
          <p:nvSpPr>
            <p:cNvPr id="288" name="jb1_n"/>
            <p:cNvSpPr txBox="1"/>
            <p:nvPr/>
          </p:nvSpPr>
          <p:spPr>
            <a:xfrm>
              <a:off x="914399" y="354285"/>
              <a:ext cx="24728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F2A03D"/>
                  </a:solidFill>
                  <a:latin typeface="Georgia"/>
                  <a:ea typeface="Georgia"/>
                  <a:cs typeface="Georgia"/>
                  <a:sym typeface="Georgia"/>
                </a:defRPr>
              </a:lvl1pPr>
            </a:lstStyle>
            <a:p>
              <a:pPr/>
              <a:r>
                <a:t>Battery scientist</a:t>
              </a:r>
            </a:p>
          </p:txBody>
        </p:sp>
        <p:sp>
          <p:nvSpPr>
            <p:cNvPr id="289" name="jb1_t"/>
            <p:cNvSpPr txBox="1"/>
            <p:nvPr/>
          </p:nvSpPr>
          <p:spPr>
            <a:xfrm>
              <a:off x="237744" y="859536"/>
              <a:ext cx="3094635"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F7F4FB"/>
                  </a:solidFill>
                  <a:latin typeface="Arial"/>
                  <a:ea typeface="Arial"/>
                  <a:cs typeface="Arial"/>
                  <a:sym typeface="Arial"/>
                </a:defRPr>
              </a:lvl1pPr>
            </a:lstStyle>
            <a:p>
              <a:pPr/>
              <a:r>
                <a:t>Works out how to store enough energy to run a city overnight.</a:t>
              </a:r>
            </a:p>
          </p:txBody>
        </p:sp>
      </p:grpSp>
      <p:grpSp>
        <p:nvGrpSpPr>
          <p:cNvPr id="295" name="jb2"/>
          <p:cNvGrpSpPr/>
          <p:nvPr/>
        </p:nvGrpSpPr>
        <p:grpSpPr>
          <a:xfrm>
            <a:off x="8118653" y="2542032"/>
            <a:ext cx="3570123" cy="1609345"/>
            <a:chOff x="0" y="0"/>
            <a:chExt cx="3570122" cy="1609344"/>
          </a:xfrm>
        </p:grpSpPr>
        <p:sp>
          <p:nvSpPr>
            <p:cNvPr id="291" name="jb2_bg"/>
            <p:cNvSpPr/>
            <p:nvPr/>
          </p:nvSpPr>
          <p:spPr>
            <a:xfrm>
              <a:off x="0" y="0"/>
              <a:ext cx="3570123" cy="1609345"/>
            </a:xfrm>
            <a:prstGeom prst="roundRect">
              <a:avLst>
                <a:gd name="adj" fmla="val 6818"/>
              </a:avLst>
            </a:prstGeom>
            <a:solidFill>
              <a:srgbClr val="5C3A85"/>
            </a:solidFill>
            <a:ln w="12700" cap="flat">
              <a:solidFill>
                <a:srgbClr val="6B4E96"/>
              </a:solidFill>
              <a:prstDash val="solid"/>
              <a:round/>
            </a:ln>
            <a:effectLst/>
          </p:spPr>
          <p:txBody>
            <a:bodyPr wrap="square" lIns="45719" tIns="45719" rIns="45719" bIns="45719" numCol="1" anchor="t">
              <a:noAutofit/>
            </a:bodyPr>
            <a:lstStyle/>
            <a:p>
              <a:pPr/>
            </a:p>
          </p:txBody>
        </p:sp>
        <p:pic>
          <p:nvPicPr>
            <p:cNvPr id="292" name="jb2_icon" descr="jb2_icon"/>
            <p:cNvPicPr>
              <a:picLocks noChangeAspect="1"/>
            </p:cNvPicPr>
            <p:nvPr/>
          </p:nvPicPr>
          <p:blipFill>
            <a:blip r:embed="rId5">
              <a:extLst/>
            </a:blip>
            <a:stretch>
              <a:fillRect/>
            </a:stretch>
          </p:blipFill>
          <p:spPr>
            <a:xfrm>
              <a:off x="219455" y="201168"/>
              <a:ext cx="566929" cy="566928"/>
            </a:xfrm>
            <a:prstGeom prst="rect">
              <a:avLst/>
            </a:prstGeom>
            <a:ln w="12700" cap="flat">
              <a:noFill/>
              <a:miter lim="400000"/>
            </a:ln>
            <a:effectLst/>
          </p:spPr>
        </p:pic>
        <p:sp>
          <p:nvSpPr>
            <p:cNvPr id="293" name="jb2_n"/>
            <p:cNvSpPr txBox="1"/>
            <p:nvPr/>
          </p:nvSpPr>
          <p:spPr>
            <a:xfrm>
              <a:off x="914399" y="354285"/>
              <a:ext cx="24728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F2A03D"/>
                  </a:solidFill>
                  <a:latin typeface="Georgia"/>
                  <a:ea typeface="Georgia"/>
                  <a:cs typeface="Georgia"/>
                  <a:sym typeface="Georgia"/>
                </a:defRPr>
              </a:lvl1pPr>
            </a:lstStyle>
            <a:p>
              <a:pPr/>
              <a:r>
                <a:t>Fusion engineer</a:t>
              </a:r>
            </a:p>
          </p:txBody>
        </p:sp>
        <p:sp>
          <p:nvSpPr>
            <p:cNvPr id="294" name="jb2_t"/>
            <p:cNvSpPr txBox="1"/>
            <p:nvPr/>
          </p:nvSpPr>
          <p:spPr>
            <a:xfrm>
              <a:off x="237744" y="859536"/>
              <a:ext cx="3094635"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F7F4FB"/>
                  </a:solidFill>
                  <a:latin typeface="Arial"/>
                  <a:ea typeface="Arial"/>
                  <a:cs typeface="Arial"/>
                  <a:sym typeface="Arial"/>
                </a:defRPr>
              </a:lvl1pPr>
            </a:lstStyle>
            <a:p>
              <a:pPr/>
              <a:r>
                <a:t>Building a machine that holds a star. Genuinely. It is being built now.</a:t>
              </a:r>
            </a:p>
          </p:txBody>
        </p:sp>
      </p:grpSp>
      <p:grpSp>
        <p:nvGrpSpPr>
          <p:cNvPr id="300" name="jb3"/>
          <p:cNvGrpSpPr/>
          <p:nvPr/>
        </p:nvGrpSpPr>
        <p:grpSpPr>
          <a:xfrm>
            <a:off x="502919" y="4370832"/>
            <a:ext cx="3570123" cy="1609345"/>
            <a:chOff x="0" y="0"/>
            <a:chExt cx="3570122" cy="1609344"/>
          </a:xfrm>
        </p:grpSpPr>
        <p:sp>
          <p:nvSpPr>
            <p:cNvPr id="296" name="jb3_bg"/>
            <p:cNvSpPr/>
            <p:nvPr/>
          </p:nvSpPr>
          <p:spPr>
            <a:xfrm>
              <a:off x="0" y="0"/>
              <a:ext cx="3570123" cy="1609345"/>
            </a:xfrm>
            <a:prstGeom prst="roundRect">
              <a:avLst>
                <a:gd name="adj" fmla="val 6818"/>
              </a:avLst>
            </a:prstGeom>
            <a:solidFill>
              <a:srgbClr val="5C3A85"/>
            </a:solidFill>
            <a:ln w="12700" cap="flat">
              <a:solidFill>
                <a:srgbClr val="6B4E96"/>
              </a:solidFill>
              <a:prstDash val="solid"/>
              <a:round/>
            </a:ln>
            <a:effectLst/>
          </p:spPr>
          <p:txBody>
            <a:bodyPr wrap="square" lIns="45719" tIns="45719" rIns="45719" bIns="45719" numCol="1" anchor="t">
              <a:noAutofit/>
            </a:bodyPr>
            <a:lstStyle/>
            <a:p>
              <a:pPr/>
            </a:p>
          </p:txBody>
        </p:sp>
        <p:pic>
          <p:nvPicPr>
            <p:cNvPr id="297" name="jb3_icon" descr="jb3_icon"/>
            <p:cNvPicPr>
              <a:picLocks noChangeAspect="1"/>
            </p:cNvPicPr>
            <p:nvPr/>
          </p:nvPicPr>
          <p:blipFill>
            <a:blip r:embed="rId6">
              <a:extLst/>
            </a:blip>
            <a:stretch>
              <a:fillRect/>
            </a:stretch>
          </p:blipFill>
          <p:spPr>
            <a:xfrm>
              <a:off x="219455" y="201168"/>
              <a:ext cx="566929" cy="566928"/>
            </a:xfrm>
            <a:prstGeom prst="rect">
              <a:avLst/>
            </a:prstGeom>
            <a:ln w="12700" cap="flat">
              <a:noFill/>
              <a:miter lim="400000"/>
            </a:ln>
            <a:effectLst/>
          </p:spPr>
        </p:pic>
        <p:sp>
          <p:nvSpPr>
            <p:cNvPr id="298" name="jb3_n"/>
            <p:cNvSpPr txBox="1"/>
            <p:nvPr/>
          </p:nvSpPr>
          <p:spPr>
            <a:xfrm>
              <a:off x="914399" y="354285"/>
              <a:ext cx="24728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F2A03D"/>
                  </a:solidFill>
                  <a:latin typeface="Georgia"/>
                  <a:ea typeface="Georgia"/>
                  <a:cs typeface="Georgia"/>
                  <a:sym typeface="Georgia"/>
                </a:defRPr>
              </a:lvl1pPr>
            </a:lstStyle>
            <a:p>
              <a:pPr/>
              <a:r>
                <a:t>Medical physicist</a:t>
              </a:r>
            </a:p>
          </p:txBody>
        </p:sp>
        <p:sp>
          <p:nvSpPr>
            <p:cNvPr id="299" name="jb3_t"/>
            <p:cNvSpPr txBox="1"/>
            <p:nvPr/>
          </p:nvSpPr>
          <p:spPr>
            <a:xfrm>
              <a:off x="237744" y="859536"/>
              <a:ext cx="3094635"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F7F4FB"/>
                  </a:solidFill>
                  <a:latin typeface="Arial"/>
                  <a:ea typeface="Arial"/>
                  <a:cs typeface="Arial"/>
                  <a:sym typeface="Arial"/>
                </a:defRPr>
              </a:lvl1pPr>
            </a:lstStyle>
            <a:p>
              <a:pPr/>
              <a:r>
                <a:t>Aims radiation precisely enough to destroy a tumour and nothing else.</a:t>
              </a:r>
            </a:p>
          </p:txBody>
        </p:sp>
      </p:grpSp>
      <p:grpSp>
        <p:nvGrpSpPr>
          <p:cNvPr id="305" name="jb4"/>
          <p:cNvGrpSpPr/>
          <p:nvPr/>
        </p:nvGrpSpPr>
        <p:grpSpPr>
          <a:xfrm>
            <a:off x="4310786" y="4370832"/>
            <a:ext cx="3570123" cy="1609345"/>
            <a:chOff x="0" y="0"/>
            <a:chExt cx="3570122" cy="1609344"/>
          </a:xfrm>
        </p:grpSpPr>
        <p:sp>
          <p:nvSpPr>
            <p:cNvPr id="301" name="jb4_bg"/>
            <p:cNvSpPr/>
            <p:nvPr/>
          </p:nvSpPr>
          <p:spPr>
            <a:xfrm>
              <a:off x="0" y="0"/>
              <a:ext cx="3570123" cy="1609345"/>
            </a:xfrm>
            <a:prstGeom prst="roundRect">
              <a:avLst>
                <a:gd name="adj" fmla="val 6818"/>
              </a:avLst>
            </a:prstGeom>
            <a:solidFill>
              <a:srgbClr val="5C3A85"/>
            </a:solidFill>
            <a:ln w="12700" cap="flat">
              <a:solidFill>
                <a:srgbClr val="6B4E96"/>
              </a:solidFill>
              <a:prstDash val="solid"/>
              <a:round/>
            </a:ln>
            <a:effectLst/>
          </p:spPr>
          <p:txBody>
            <a:bodyPr wrap="square" lIns="45719" tIns="45719" rIns="45719" bIns="45719" numCol="1" anchor="t">
              <a:noAutofit/>
            </a:bodyPr>
            <a:lstStyle/>
            <a:p>
              <a:pPr/>
            </a:p>
          </p:txBody>
        </p:sp>
        <p:pic>
          <p:nvPicPr>
            <p:cNvPr id="302" name="jb4_icon" descr="jb4_icon"/>
            <p:cNvPicPr>
              <a:picLocks noChangeAspect="1"/>
            </p:cNvPicPr>
            <p:nvPr/>
          </p:nvPicPr>
          <p:blipFill>
            <a:blip r:embed="rId7">
              <a:extLst/>
            </a:blip>
            <a:stretch>
              <a:fillRect/>
            </a:stretch>
          </p:blipFill>
          <p:spPr>
            <a:xfrm>
              <a:off x="219455" y="201168"/>
              <a:ext cx="566929" cy="566928"/>
            </a:xfrm>
            <a:prstGeom prst="rect">
              <a:avLst/>
            </a:prstGeom>
            <a:ln w="12700" cap="flat">
              <a:noFill/>
              <a:miter lim="400000"/>
            </a:ln>
            <a:effectLst/>
          </p:spPr>
        </p:pic>
        <p:sp>
          <p:nvSpPr>
            <p:cNvPr id="303" name="jb4_n"/>
            <p:cNvSpPr txBox="1"/>
            <p:nvPr/>
          </p:nvSpPr>
          <p:spPr>
            <a:xfrm>
              <a:off x="914399" y="354285"/>
              <a:ext cx="24728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F2A03D"/>
                  </a:solidFill>
                  <a:latin typeface="Georgia"/>
                  <a:ea typeface="Georgia"/>
                  <a:cs typeface="Georgia"/>
                  <a:sym typeface="Georgia"/>
                </a:defRPr>
              </a:lvl1pPr>
            </a:lstStyle>
            <a:p>
              <a:pPr/>
              <a:r>
                <a:t>Climate scientist</a:t>
              </a:r>
            </a:p>
          </p:txBody>
        </p:sp>
        <p:sp>
          <p:nvSpPr>
            <p:cNvPr id="304" name="jb4_t"/>
            <p:cNvSpPr txBox="1"/>
            <p:nvPr/>
          </p:nvSpPr>
          <p:spPr>
            <a:xfrm>
              <a:off x="237744" y="859536"/>
              <a:ext cx="3094635"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F7F4FB"/>
                  </a:solidFill>
                  <a:latin typeface="Arial"/>
                  <a:ea typeface="Arial"/>
                  <a:cs typeface="Arial"/>
                  <a:sym typeface="Arial"/>
                </a:defRPr>
              </a:lvl1pPr>
            </a:lstStyle>
            <a:p>
              <a:pPr/>
              <a:r>
                <a:t>Measures what the planet is doing and works out what happens next.</a:t>
              </a:r>
            </a:p>
          </p:txBody>
        </p:sp>
      </p:grpSp>
      <p:grpSp>
        <p:nvGrpSpPr>
          <p:cNvPr id="310" name="jb5"/>
          <p:cNvGrpSpPr/>
          <p:nvPr/>
        </p:nvGrpSpPr>
        <p:grpSpPr>
          <a:xfrm>
            <a:off x="8118653" y="4370832"/>
            <a:ext cx="3570123" cy="1609345"/>
            <a:chOff x="0" y="0"/>
            <a:chExt cx="3570122" cy="1609344"/>
          </a:xfrm>
        </p:grpSpPr>
        <p:sp>
          <p:nvSpPr>
            <p:cNvPr id="306" name="jb5_bg"/>
            <p:cNvSpPr/>
            <p:nvPr/>
          </p:nvSpPr>
          <p:spPr>
            <a:xfrm>
              <a:off x="0" y="0"/>
              <a:ext cx="3570123" cy="1609345"/>
            </a:xfrm>
            <a:prstGeom prst="roundRect">
              <a:avLst>
                <a:gd name="adj" fmla="val 6818"/>
              </a:avLst>
            </a:prstGeom>
            <a:solidFill>
              <a:srgbClr val="5C3A85"/>
            </a:solidFill>
            <a:ln w="12700" cap="flat">
              <a:solidFill>
                <a:srgbClr val="6B4E96"/>
              </a:solidFill>
              <a:prstDash val="solid"/>
              <a:round/>
            </a:ln>
            <a:effectLst/>
          </p:spPr>
          <p:txBody>
            <a:bodyPr wrap="square" lIns="45719" tIns="45719" rIns="45719" bIns="45719" numCol="1" anchor="t">
              <a:noAutofit/>
            </a:bodyPr>
            <a:lstStyle/>
            <a:p>
              <a:pPr/>
            </a:p>
          </p:txBody>
        </p:sp>
        <p:pic>
          <p:nvPicPr>
            <p:cNvPr id="307" name="jb5_icon" descr="jb5_icon"/>
            <p:cNvPicPr>
              <a:picLocks noChangeAspect="1"/>
            </p:cNvPicPr>
            <p:nvPr/>
          </p:nvPicPr>
          <p:blipFill>
            <a:blip r:embed="rId8">
              <a:extLst/>
            </a:blip>
            <a:stretch>
              <a:fillRect/>
            </a:stretch>
          </p:blipFill>
          <p:spPr>
            <a:xfrm>
              <a:off x="219455" y="201168"/>
              <a:ext cx="566929" cy="566928"/>
            </a:xfrm>
            <a:prstGeom prst="rect">
              <a:avLst/>
            </a:prstGeom>
            <a:ln w="12700" cap="flat">
              <a:noFill/>
              <a:miter lim="400000"/>
            </a:ln>
            <a:effectLst/>
          </p:spPr>
        </p:pic>
        <p:sp>
          <p:nvSpPr>
            <p:cNvPr id="308" name="jb5_n"/>
            <p:cNvSpPr txBox="1"/>
            <p:nvPr/>
          </p:nvSpPr>
          <p:spPr>
            <a:xfrm>
              <a:off x="914399" y="354285"/>
              <a:ext cx="2472844" cy="2606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700">
                  <a:solidFill>
                    <a:srgbClr val="F2A03D"/>
                  </a:solidFill>
                  <a:latin typeface="Georgia"/>
                  <a:ea typeface="Georgia"/>
                  <a:cs typeface="Georgia"/>
                  <a:sym typeface="Georgia"/>
                </a:defRPr>
              </a:lvl1pPr>
            </a:lstStyle>
            <a:p>
              <a:pPr/>
              <a:r>
                <a:t>Space engineer</a:t>
              </a:r>
            </a:p>
          </p:txBody>
        </p:sp>
        <p:sp>
          <p:nvSpPr>
            <p:cNvPr id="309" name="jb5_t"/>
            <p:cNvSpPr txBox="1"/>
            <p:nvPr/>
          </p:nvSpPr>
          <p:spPr>
            <a:xfrm>
              <a:off x="237744" y="859536"/>
              <a:ext cx="3094635"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F7F4FB"/>
                  </a:solidFill>
                  <a:latin typeface="Arial"/>
                  <a:ea typeface="Arial"/>
                  <a:cs typeface="Arial"/>
                  <a:sym typeface="Arial"/>
                </a:defRPr>
              </a:lvl1pPr>
            </a:lstStyle>
            <a:p>
              <a:pPr/>
              <a:r>
                <a:t>Gets things off this planet and brings them back in one piece.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285"/>
                                        </p:tgtEl>
                                        <p:attrNameLst>
                                          <p:attrName>style.visibility</p:attrName>
                                        </p:attrNameLst>
                                      </p:cBhvr>
                                      <p:to>
                                        <p:strVal val="visible"/>
                                      </p:to>
                                    </p:set>
                                    <p:anim calcmode="lin" valueType="num">
                                      <p:cBhvr>
                                        <p:cTn id="7" dur="400" fill="hold"/>
                                        <p:tgtEl>
                                          <p:spTgt spid="285"/>
                                        </p:tgtEl>
                                        <p:attrNameLst>
                                          <p:attrName>ppt_w</p:attrName>
                                        </p:attrNameLst>
                                      </p:cBhvr>
                                      <p:tavLst>
                                        <p:tav tm="0">
                                          <p:val>
                                            <p:fltVal val="0"/>
                                          </p:val>
                                        </p:tav>
                                        <p:tav tm="100000">
                                          <p:val>
                                            <p:strVal val="#ppt_w"/>
                                          </p:val>
                                        </p:tav>
                                      </p:tavLst>
                                    </p:anim>
                                    <p:anim calcmode="lin" valueType="num">
                                      <p:cBhvr>
                                        <p:cTn id="8" dur="400" fill="hold"/>
                                        <p:tgtEl>
                                          <p:spTgt spid="285"/>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290"/>
                                        </p:tgtEl>
                                        <p:attrNameLst>
                                          <p:attrName>style.visibility</p:attrName>
                                        </p:attrNameLst>
                                      </p:cBhvr>
                                      <p:to>
                                        <p:strVal val="visible"/>
                                      </p:to>
                                    </p:set>
                                    <p:anim calcmode="lin" valueType="num">
                                      <p:cBhvr>
                                        <p:cTn id="13" dur="400" fill="hold"/>
                                        <p:tgtEl>
                                          <p:spTgt spid="290"/>
                                        </p:tgtEl>
                                        <p:attrNameLst>
                                          <p:attrName>ppt_w</p:attrName>
                                        </p:attrNameLst>
                                      </p:cBhvr>
                                      <p:tavLst>
                                        <p:tav tm="0">
                                          <p:val>
                                            <p:fltVal val="0"/>
                                          </p:val>
                                        </p:tav>
                                        <p:tav tm="100000">
                                          <p:val>
                                            <p:strVal val="#ppt_w"/>
                                          </p:val>
                                        </p:tav>
                                      </p:tavLst>
                                    </p:anim>
                                    <p:anim calcmode="lin" valueType="num">
                                      <p:cBhvr>
                                        <p:cTn id="14" dur="400" fill="hold"/>
                                        <p:tgtEl>
                                          <p:spTgt spid="290"/>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295"/>
                                        </p:tgtEl>
                                        <p:attrNameLst>
                                          <p:attrName>style.visibility</p:attrName>
                                        </p:attrNameLst>
                                      </p:cBhvr>
                                      <p:to>
                                        <p:strVal val="visible"/>
                                      </p:to>
                                    </p:set>
                                    <p:anim calcmode="lin" valueType="num">
                                      <p:cBhvr>
                                        <p:cTn id="19" dur="400" fill="hold"/>
                                        <p:tgtEl>
                                          <p:spTgt spid="295"/>
                                        </p:tgtEl>
                                        <p:attrNameLst>
                                          <p:attrName>ppt_w</p:attrName>
                                        </p:attrNameLst>
                                      </p:cBhvr>
                                      <p:tavLst>
                                        <p:tav tm="0">
                                          <p:val>
                                            <p:fltVal val="0"/>
                                          </p:val>
                                        </p:tav>
                                        <p:tav tm="100000">
                                          <p:val>
                                            <p:strVal val="#ppt_w"/>
                                          </p:val>
                                        </p:tav>
                                      </p:tavLst>
                                    </p:anim>
                                    <p:anim calcmode="lin" valueType="num">
                                      <p:cBhvr>
                                        <p:cTn id="20" dur="400" fill="hold"/>
                                        <p:tgtEl>
                                          <p:spTgt spid="295"/>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300"/>
                                        </p:tgtEl>
                                        <p:attrNameLst>
                                          <p:attrName>style.visibility</p:attrName>
                                        </p:attrNameLst>
                                      </p:cBhvr>
                                      <p:to>
                                        <p:strVal val="visible"/>
                                      </p:to>
                                    </p:set>
                                    <p:anim calcmode="lin" valueType="num">
                                      <p:cBhvr>
                                        <p:cTn id="25" dur="400" fill="hold"/>
                                        <p:tgtEl>
                                          <p:spTgt spid="300"/>
                                        </p:tgtEl>
                                        <p:attrNameLst>
                                          <p:attrName>ppt_w</p:attrName>
                                        </p:attrNameLst>
                                      </p:cBhvr>
                                      <p:tavLst>
                                        <p:tav tm="0">
                                          <p:val>
                                            <p:fltVal val="0"/>
                                          </p:val>
                                        </p:tav>
                                        <p:tav tm="100000">
                                          <p:val>
                                            <p:strVal val="#ppt_w"/>
                                          </p:val>
                                        </p:tav>
                                      </p:tavLst>
                                    </p:anim>
                                    <p:anim calcmode="lin" valueType="num">
                                      <p:cBhvr>
                                        <p:cTn id="26" dur="400" fill="hold"/>
                                        <p:tgtEl>
                                          <p:spTgt spid="300"/>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5" fill="hold">
                                  <p:stCondLst>
                                    <p:cond delay="0"/>
                                  </p:stCondLst>
                                  <p:iterate type="el" backwards="0">
                                    <p:tmAbs val="0"/>
                                  </p:iterate>
                                  <p:childTnLst>
                                    <p:set>
                                      <p:cBhvr>
                                        <p:cTn id="30" fill="hold"/>
                                        <p:tgtEl>
                                          <p:spTgt spid="305"/>
                                        </p:tgtEl>
                                        <p:attrNameLst>
                                          <p:attrName>style.visibility</p:attrName>
                                        </p:attrNameLst>
                                      </p:cBhvr>
                                      <p:to>
                                        <p:strVal val="visible"/>
                                      </p:to>
                                    </p:set>
                                    <p:anim calcmode="lin" valueType="num">
                                      <p:cBhvr>
                                        <p:cTn id="31" dur="400" fill="hold"/>
                                        <p:tgtEl>
                                          <p:spTgt spid="305"/>
                                        </p:tgtEl>
                                        <p:attrNameLst>
                                          <p:attrName>ppt_w</p:attrName>
                                        </p:attrNameLst>
                                      </p:cBhvr>
                                      <p:tavLst>
                                        <p:tav tm="0">
                                          <p:val>
                                            <p:fltVal val="0"/>
                                          </p:val>
                                        </p:tav>
                                        <p:tav tm="100000">
                                          <p:val>
                                            <p:strVal val="#ppt_w"/>
                                          </p:val>
                                        </p:tav>
                                      </p:tavLst>
                                    </p:anim>
                                    <p:anim calcmode="lin" valueType="num">
                                      <p:cBhvr>
                                        <p:cTn id="32" dur="400" fill="hold"/>
                                        <p:tgtEl>
                                          <p:spTgt spid="305"/>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Class="entr" nodeType="clickEffect" presetSubtype="16" presetID="23" grpId="6" fill="hold">
                                  <p:stCondLst>
                                    <p:cond delay="0"/>
                                  </p:stCondLst>
                                  <p:iterate type="el" backwards="0">
                                    <p:tmAbs val="0"/>
                                  </p:iterate>
                                  <p:childTnLst>
                                    <p:set>
                                      <p:cBhvr>
                                        <p:cTn id="36" fill="hold"/>
                                        <p:tgtEl>
                                          <p:spTgt spid="310"/>
                                        </p:tgtEl>
                                        <p:attrNameLst>
                                          <p:attrName>style.visibility</p:attrName>
                                        </p:attrNameLst>
                                      </p:cBhvr>
                                      <p:to>
                                        <p:strVal val="visible"/>
                                      </p:to>
                                    </p:set>
                                    <p:anim calcmode="lin" valueType="num">
                                      <p:cBhvr>
                                        <p:cTn id="37" dur="400" fill="hold"/>
                                        <p:tgtEl>
                                          <p:spTgt spid="310"/>
                                        </p:tgtEl>
                                        <p:attrNameLst>
                                          <p:attrName>ppt_w</p:attrName>
                                        </p:attrNameLst>
                                      </p:cBhvr>
                                      <p:tavLst>
                                        <p:tav tm="0">
                                          <p:val>
                                            <p:fltVal val="0"/>
                                          </p:val>
                                        </p:tav>
                                        <p:tav tm="100000">
                                          <p:val>
                                            <p:strVal val="#ppt_w"/>
                                          </p:val>
                                        </p:tav>
                                      </p:tavLst>
                                    </p:anim>
                                    <p:anim calcmode="lin" valueType="num">
                                      <p:cBhvr>
                                        <p:cTn id="38" dur="400" fill="hold"/>
                                        <p:tgtEl>
                                          <p:spTgt spid="3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5" grpId="5"/>
      <p:bldP build="whole" bldLvl="1" animBg="1" rev="0" advAuto="0" spid="290" grpId="2"/>
      <p:bldP build="whole" bldLvl="1" animBg="1" rev="0" advAuto="0" spid="310" grpId="6"/>
      <p:bldP build="whole" bldLvl="1" animBg="1" rev="0" advAuto="0" spid="295" grpId="3"/>
      <p:bldP build="whole" bldLvl="1" animBg="1" rev="0" advAuto="0" spid="300" grpId="4"/>
      <p:bldP build="whole" bldLvl="1" animBg="1" rev="0" advAuto="0" spid="285"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4FB"/>
        </a:solidFill>
      </p:bgPr>
    </p:bg>
    <p:spTree>
      <p:nvGrpSpPr>
        <p:cNvPr id="1" name=""/>
        <p:cNvGrpSpPr/>
        <p:nvPr/>
      </p:nvGrpSpPr>
      <p:grpSpPr>
        <a:xfrm>
          <a:off x="0" y="0"/>
          <a:ext cx="0" cy="0"/>
          <a:chOff x="0" y="0"/>
          <a:chExt cx="0" cy="0"/>
        </a:xfrm>
      </p:grpSpPr>
      <p:grpSp>
        <p:nvGrpSpPr>
          <p:cNvPr id="316" name="phase_pill"/>
          <p:cNvGrpSpPr/>
          <p:nvPr/>
        </p:nvGrpSpPr>
        <p:grpSpPr>
          <a:xfrm>
            <a:off x="502919" y="347472"/>
            <a:ext cx="1915669" cy="329185"/>
            <a:chOff x="0" y="0"/>
            <a:chExt cx="1915667" cy="329184"/>
          </a:xfrm>
        </p:grpSpPr>
        <p:sp>
          <p:nvSpPr>
            <p:cNvPr id="314" name="Rounded Rectangle"/>
            <p:cNvSpPr/>
            <p:nvPr/>
          </p:nvSpPr>
          <p:spPr>
            <a:xfrm>
              <a:off x="0" y="0"/>
              <a:ext cx="1915668" cy="329185"/>
            </a:xfrm>
            <a:prstGeom prst="roundRect">
              <a:avLst>
                <a:gd name="adj" fmla="val 44444"/>
              </a:avLst>
            </a:prstGeom>
            <a:solidFill>
              <a:srgbClr val="4A2C6F"/>
            </a:solidFill>
            <a:ln w="12700" cap="flat">
              <a:noFill/>
              <a:miter lim="400000"/>
            </a:ln>
            <a:effectLst/>
          </p:spPr>
          <p:txBody>
            <a:bodyPr wrap="square" lIns="45719" tIns="45719" rIns="45719" bIns="45719" numCol="1" anchor="ctr">
              <a:noAutofit/>
            </a:bodyPr>
            <a:lstStyle/>
            <a:p>
              <a:pPr algn="ctr">
                <a:defRPr sz="1100"/>
              </a:pPr>
            </a:p>
          </p:txBody>
        </p:sp>
        <p:sp>
          <p:nvSpPr>
            <p:cNvPr id="315" name="PLENARY · 2 MIN"/>
            <p:cNvSpPr txBox="1"/>
            <p:nvPr/>
          </p:nvSpPr>
          <p:spPr>
            <a:xfrm>
              <a:off x="42850" y="90677"/>
              <a:ext cx="1829968"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PLENARY · 2 MIN</a:t>
              </a:r>
            </a:p>
          </p:txBody>
        </p:sp>
      </p:grpSp>
      <p:sp>
        <p:nvSpPr>
          <p:cNvPr id="317" name="slide_title"/>
          <p:cNvSpPr txBox="1"/>
          <p:nvPr/>
        </p:nvSpPr>
        <p:spPr>
          <a:xfrm>
            <a:off x="502919" y="970534"/>
            <a:ext cx="11185857"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4A2C6F"/>
                </a:solidFill>
                <a:latin typeface="Georgia"/>
                <a:ea typeface="Georgia"/>
                <a:cs typeface="Georgia"/>
                <a:sym typeface="Georgia"/>
              </a:defRPr>
            </a:lvl1pPr>
          </a:lstStyle>
          <a:p>
            <a:pPr/>
            <a:r>
              <a:t>Before you go</a:t>
            </a:r>
          </a:p>
        </p:txBody>
      </p:sp>
      <p:sp>
        <p:nvSpPr>
          <p:cNvPr id="318" name="pl0_bg"/>
          <p:cNvSpPr/>
          <p:nvPr/>
        </p:nvSpPr>
        <p:spPr>
          <a:xfrm>
            <a:off x="502919" y="2304288"/>
            <a:ext cx="11185857" cy="914401"/>
          </a:xfrm>
          <a:prstGeom prst="roundRect">
            <a:avLst>
              <a:gd name="adj" fmla="val 14000"/>
            </a:avLst>
          </a:prstGeom>
          <a:solidFill>
            <a:srgbClr val="FFFFFF"/>
          </a:solidFill>
          <a:ln w="15875">
            <a:solidFill>
              <a:srgbClr val="E3DAF0"/>
            </a:solidFill>
          </a:ln>
        </p:spPr>
        <p:txBody>
          <a:bodyPr lIns="45719" rIns="45719"/>
          <a:lstStyle/>
          <a:p>
            <a:pPr/>
          </a:p>
        </p:txBody>
      </p:sp>
      <p:sp>
        <p:nvSpPr>
          <p:cNvPr id="319" name="pl0_n"/>
          <p:cNvSpPr txBox="1"/>
          <p:nvPr/>
        </p:nvSpPr>
        <p:spPr>
          <a:xfrm>
            <a:off x="758951" y="2570988"/>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2A03D"/>
                </a:solidFill>
                <a:latin typeface="Georgia"/>
                <a:ea typeface="Georgia"/>
                <a:cs typeface="Georgia"/>
                <a:sym typeface="Georgia"/>
              </a:defRPr>
            </a:lvl1pPr>
          </a:lstStyle>
          <a:p>
            <a:pPr/>
            <a:r>
              <a:t>1</a:t>
            </a:r>
          </a:p>
        </p:txBody>
      </p:sp>
      <p:sp>
        <p:nvSpPr>
          <p:cNvPr id="320" name="pl0_q"/>
          <p:cNvSpPr txBox="1"/>
          <p:nvPr/>
        </p:nvSpPr>
        <p:spPr>
          <a:xfrm>
            <a:off x="1380744" y="2614000"/>
            <a:ext cx="5486401" cy="2949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400"/>
              </a:lnSpc>
              <a:defRPr sz="1900">
                <a:solidFill>
                  <a:srgbClr val="241535"/>
                </a:solidFill>
                <a:latin typeface="Arial"/>
                <a:ea typeface="Arial"/>
                <a:cs typeface="Arial"/>
                <a:sym typeface="Arial"/>
              </a:defRPr>
            </a:lvl1pPr>
          </a:lstStyle>
          <a:p>
            <a:pPr/>
            <a:r>
              <a:t>What is physical science the study of?</a:t>
            </a:r>
          </a:p>
        </p:txBody>
      </p:sp>
      <p:grpSp>
        <p:nvGrpSpPr>
          <p:cNvPr id="323" name="pl0_a"/>
          <p:cNvGrpSpPr/>
          <p:nvPr/>
        </p:nvGrpSpPr>
        <p:grpSpPr>
          <a:xfrm>
            <a:off x="7086600" y="2450592"/>
            <a:ext cx="4602175" cy="621793"/>
            <a:chOff x="0" y="0"/>
            <a:chExt cx="4602174" cy="621791"/>
          </a:xfrm>
        </p:grpSpPr>
        <p:sp>
          <p:nvSpPr>
            <p:cNvPr id="321" name="Rounded Rectangle"/>
            <p:cNvSpPr/>
            <p:nvPr/>
          </p:nvSpPr>
          <p:spPr>
            <a:xfrm>
              <a:off x="0" y="0"/>
              <a:ext cx="4602175" cy="621792"/>
            </a:xfrm>
            <a:prstGeom prst="roundRect">
              <a:avLst>
                <a:gd name="adj" fmla="val 14706"/>
              </a:avLst>
            </a:prstGeom>
            <a:solidFill>
              <a:srgbClr val="FDEEDC"/>
            </a:solidFill>
            <a:ln w="16510" cap="flat">
              <a:solidFill>
                <a:srgbClr val="F2A03D"/>
              </a:solidFill>
              <a:prstDash val="solid"/>
              <a:round/>
            </a:ln>
            <a:effectLst/>
          </p:spPr>
          <p:txBody>
            <a:bodyPr wrap="square" lIns="45719" tIns="45719" rIns="45719" bIns="45719" numCol="1" anchor="ctr">
              <a:noAutofit/>
            </a:bodyPr>
            <a:lstStyle/>
            <a:p>
              <a:pPr algn="ctr">
                <a:defRPr sz="1600"/>
              </a:pPr>
            </a:p>
          </p:txBody>
        </p:sp>
        <p:sp>
          <p:nvSpPr>
            <p:cNvPr id="322" name="Matter and energy."/>
            <p:cNvSpPr txBox="1"/>
            <p:nvPr/>
          </p:nvSpPr>
          <p:spPr>
            <a:xfrm>
              <a:off x="35036" y="199157"/>
              <a:ext cx="4532103" cy="223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600">
                  <a:solidFill>
                    <a:srgbClr val="4A2C6F"/>
                  </a:solidFill>
                  <a:latin typeface="Arial"/>
                  <a:ea typeface="Arial"/>
                  <a:cs typeface="Arial"/>
                  <a:sym typeface="Arial"/>
                </a:defRPr>
              </a:lvl1pPr>
            </a:lstStyle>
            <a:p>
              <a:pPr/>
              <a:r>
                <a:t>Matter and energy.</a:t>
              </a:r>
            </a:p>
          </p:txBody>
        </p:sp>
      </p:grpSp>
      <p:sp>
        <p:nvSpPr>
          <p:cNvPr id="324" name="pl1_bg"/>
          <p:cNvSpPr/>
          <p:nvPr/>
        </p:nvSpPr>
        <p:spPr>
          <a:xfrm>
            <a:off x="502919" y="3438144"/>
            <a:ext cx="11185857" cy="914401"/>
          </a:xfrm>
          <a:prstGeom prst="roundRect">
            <a:avLst>
              <a:gd name="adj" fmla="val 14000"/>
            </a:avLst>
          </a:prstGeom>
          <a:solidFill>
            <a:srgbClr val="FFFFFF"/>
          </a:solidFill>
          <a:ln w="15875">
            <a:solidFill>
              <a:srgbClr val="E3DAF0"/>
            </a:solidFill>
          </a:ln>
        </p:spPr>
        <p:txBody>
          <a:bodyPr lIns="45719" rIns="45719"/>
          <a:lstStyle/>
          <a:p>
            <a:pPr/>
          </a:p>
        </p:txBody>
      </p:sp>
      <p:sp>
        <p:nvSpPr>
          <p:cNvPr id="325" name="pl1_n"/>
          <p:cNvSpPr txBox="1"/>
          <p:nvPr/>
        </p:nvSpPr>
        <p:spPr>
          <a:xfrm>
            <a:off x="758951" y="3704844"/>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2A03D"/>
                </a:solidFill>
                <a:latin typeface="Georgia"/>
                <a:ea typeface="Georgia"/>
                <a:cs typeface="Georgia"/>
                <a:sym typeface="Georgia"/>
              </a:defRPr>
            </a:lvl1pPr>
          </a:lstStyle>
          <a:p>
            <a:pPr/>
            <a:r>
              <a:t>2</a:t>
            </a:r>
          </a:p>
        </p:txBody>
      </p:sp>
      <p:sp>
        <p:nvSpPr>
          <p:cNvPr id="326" name="pl1_q"/>
          <p:cNvSpPr txBox="1"/>
          <p:nvPr/>
        </p:nvSpPr>
        <p:spPr>
          <a:xfrm>
            <a:off x="1380744" y="3747856"/>
            <a:ext cx="5486401" cy="2949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400"/>
              </a:lnSpc>
              <a:defRPr sz="1900">
                <a:solidFill>
                  <a:srgbClr val="241535"/>
                </a:solidFill>
                <a:latin typeface="Arial"/>
                <a:ea typeface="Arial"/>
                <a:cs typeface="Arial"/>
                <a:sym typeface="Arial"/>
              </a:defRPr>
            </a:lvl1pPr>
          </a:lstStyle>
          <a:p>
            <a:pPr/>
            <a:r>
              <a:t>Which flame do you use when you are not heating?</a:t>
            </a:r>
          </a:p>
        </p:txBody>
      </p:sp>
      <p:grpSp>
        <p:nvGrpSpPr>
          <p:cNvPr id="329" name="pl1_a"/>
          <p:cNvGrpSpPr/>
          <p:nvPr/>
        </p:nvGrpSpPr>
        <p:grpSpPr>
          <a:xfrm>
            <a:off x="7086600" y="3584447"/>
            <a:ext cx="4602175" cy="621793"/>
            <a:chOff x="0" y="0"/>
            <a:chExt cx="4602174" cy="621791"/>
          </a:xfrm>
        </p:grpSpPr>
        <p:sp>
          <p:nvSpPr>
            <p:cNvPr id="327" name="Rounded Rectangle"/>
            <p:cNvSpPr/>
            <p:nvPr/>
          </p:nvSpPr>
          <p:spPr>
            <a:xfrm>
              <a:off x="0" y="0"/>
              <a:ext cx="4602175" cy="621792"/>
            </a:xfrm>
            <a:prstGeom prst="roundRect">
              <a:avLst>
                <a:gd name="adj" fmla="val 14706"/>
              </a:avLst>
            </a:prstGeom>
            <a:solidFill>
              <a:srgbClr val="FDEEDC"/>
            </a:solidFill>
            <a:ln w="16510" cap="flat">
              <a:solidFill>
                <a:srgbClr val="F2A03D"/>
              </a:solidFill>
              <a:prstDash val="solid"/>
              <a:round/>
            </a:ln>
            <a:effectLst/>
          </p:spPr>
          <p:txBody>
            <a:bodyPr wrap="square" lIns="45719" tIns="45719" rIns="45719" bIns="45719" numCol="1" anchor="ctr">
              <a:noAutofit/>
            </a:bodyPr>
            <a:lstStyle/>
            <a:p>
              <a:pPr algn="ctr">
                <a:defRPr sz="1600"/>
              </a:pPr>
            </a:p>
          </p:txBody>
        </p:sp>
        <p:sp>
          <p:nvSpPr>
            <p:cNvPr id="328" name="The orange safety flame."/>
            <p:cNvSpPr txBox="1"/>
            <p:nvPr/>
          </p:nvSpPr>
          <p:spPr>
            <a:xfrm>
              <a:off x="35036" y="199157"/>
              <a:ext cx="4532103" cy="223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600">
                  <a:solidFill>
                    <a:srgbClr val="4A2C6F"/>
                  </a:solidFill>
                  <a:latin typeface="Arial"/>
                  <a:ea typeface="Arial"/>
                  <a:cs typeface="Arial"/>
                  <a:sym typeface="Arial"/>
                </a:defRPr>
              </a:lvl1pPr>
            </a:lstStyle>
            <a:p>
              <a:pPr/>
              <a:r>
                <a:t>The orange safety flame.</a:t>
              </a:r>
            </a:p>
          </p:txBody>
        </p:sp>
      </p:grpSp>
      <p:sp>
        <p:nvSpPr>
          <p:cNvPr id="330" name="pl2_bg"/>
          <p:cNvSpPr/>
          <p:nvPr/>
        </p:nvSpPr>
        <p:spPr>
          <a:xfrm>
            <a:off x="502919" y="4572000"/>
            <a:ext cx="11185857" cy="914400"/>
          </a:xfrm>
          <a:prstGeom prst="roundRect">
            <a:avLst>
              <a:gd name="adj" fmla="val 14000"/>
            </a:avLst>
          </a:prstGeom>
          <a:solidFill>
            <a:srgbClr val="FFFFFF"/>
          </a:solidFill>
          <a:ln w="15875">
            <a:solidFill>
              <a:srgbClr val="E3DAF0"/>
            </a:solidFill>
          </a:ln>
        </p:spPr>
        <p:txBody>
          <a:bodyPr lIns="45719" rIns="45719"/>
          <a:lstStyle/>
          <a:p>
            <a:pPr/>
          </a:p>
        </p:txBody>
      </p:sp>
      <p:sp>
        <p:nvSpPr>
          <p:cNvPr id="331" name="pl2_n"/>
          <p:cNvSpPr txBox="1"/>
          <p:nvPr/>
        </p:nvSpPr>
        <p:spPr>
          <a:xfrm>
            <a:off x="758951" y="4838700"/>
            <a:ext cx="457201"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F2A03D"/>
                </a:solidFill>
                <a:latin typeface="Georgia"/>
                <a:ea typeface="Georgia"/>
                <a:cs typeface="Georgia"/>
                <a:sym typeface="Georgia"/>
              </a:defRPr>
            </a:lvl1pPr>
          </a:lstStyle>
          <a:p>
            <a:pPr/>
            <a:r>
              <a:t>3</a:t>
            </a:r>
          </a:p>
        </p:txBody>
      </p:sp>
      <p:sp>
        <p:nvSpPr>
          <p:cNvPr id="332" name="pl2_q"/>
          <p:cNvSpPr txBox="1"/>
          <p:nvPr/>
        </p:nvSpPr>
        <p:spPr>
          <a:xfrm>
            <a:off x="1380744" y="4881712"/>
            <a:ext cx="5486401" cy="2949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400"/>
              </a:lnSpc>
              <a:defRPr sz="1900">
                <a:solidFill>
                  <a:srgbClr val="241535"/>
                </a:solidFill>
                <a:latin typeface="Arial"/>
                <a:ea typeface="Arial"/>
                <a:cs typeface="Arial"/>
                <a:sym typeface="Arial"/>
              </a:defRPr>
            </a:lvl1pPr>
          </a:lstStyle>
          <a:p>
            <a:pPr/>
            <a:r>
              <a:t>Why did the second balloon survive?</a:t>
            </a:r>
          </a:p>
        </p:txBody>
      </p:sp>
      <p:grpSp>
        <p:nvGrpSpPr>
          <p:cNvPr id="335" name="pl2_a"/>
          <p:cNvGrpSpPr/>
          <p:nvPr/>
        </p:nvGrpSpPr>
        <p:grpSpPr>
          <a:xfrm>
            <a:off x="7086600" y="4718303"/>
            <a:ext cx="4602175" cy="621793"/>
            <a:chOff x="0" y="0"/>
            <a:chExt cx="4602174" cy="621791"/>
          </a:xfrm>
        </p:grpSpPr>
        <p:sp>
          <p:nvSpPr>
            <p:cNvPr id="333" name="Rounded Rectangle"/>
            <p:cNvSpPr/>
            <p:nvPr/>
          </p:nvSpPr>
          <p:spPr>
            <a:xfrm>
              <a:off x="0" y="0"/>
              <a:ext cx="4602175" cy="621792"/>
            </a:xfrm>
            <a:prstGeom prst="roundRect">
              <a:avLst>
                <a:gd name="adj" fmla="val 14706"/>
              </a:avLst>
            </a:prstGeom>
            <a:solidFill>
              <a:srgbClr val="FDEEDC"/>
            </a:solidFill>
            <a:ln w="16510" cap="flat">
              <a:solidFill>
                <a:srgbClr val="F2A03D"/>
              </a:solidFill>
              <a:prstDash val="solid"/>
              <a:round/>
            </a:ln>
            <a:effectLst/>
          </p:spPr>
          <p:txBody>
            <a:bodyPr wrap="square" lIns="45719" tIns="45719" rIns="45719" bIns="45719" numCol="1" anchor="ctr">
              <a:noAutofit/>
            </a:bodyPr>
            <a:lstStyle/>
            <a:p>
              <a:pPr algn="ctr">
                <a:defRPr sz="1600"/>
              </a:pPr>
            </a:p>
          </p:txBody>
        </p:sp>
        <p:sp>
          <p:nvSpPr>
            <p:cNvPr id="334" name="The water took the heat away from the rubber."/>
            <p:cNvSpPr txBox="1"/>
            <p:nvPr/>
          </p:nvSpPr>
          <p:spPr>
            <a:xfrm>
              <a:off x="35036" y="199157"/>
              <a:ext cx="4532103" cy="223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600">
                  <a:solidFill>
                    <a:srgbClr val="4A2C6F"/>
                  </a:solidFill>
                  <a:latin typeface="Arial"/>
                  <a:ea typeface="Arial"/>
                  <a:cs typeface="Arial"/>
                  <a:sym typeface="Arial"/>
                </a:defRPr>
              </a:lvl1pPr>
            </a:lstStyle>
            <a:p>
              <a:pPr/>
              <a:r>
                <a:t>The water took the heat away from the rubber.</a:t>
              </a:r>
            </a:p>
          </p:txBody>
        </p:sp>
      </p:grpSp>
      <p:grpSp>
        <p:nvGrpSpPr>
          <p:cNvPr id="338" name="pl_close"/>
          <p:cNvGrpSpPr/>
          <p:nvPr/>
        </p:nvGrpSpPr>
        <p:grpSpPr>
          <a:xfrm>
            <a:off x="502919" y="5650991"/>
            <a:ext cx="11185857" cy="621793"/>
            <a:chOff x="0" y="0"/>
            <a:chExt cx="11185855" cy="621791"/>
          </a:xfrm>
        </p:grpSpPr>
        <p:sp>
          <p:nvSpPr>
            <p:cNvPr id="336" name="Rounded Rectangle"/>
            <p:cNvSpPr/>
            <p:nvPr/>
          </p:nvSpPr>
          <p:spPr>
            <a:xfrm>
              <a:off x="0" y="0"/>
              <a:ext cx="11185856" cy="621792"/>
            </a:xfrm>
            <a:prstGeom prst="roundRect">
              <a:avLst>
                <a:gd name="adj" fmla="val 17647"/>
              </a:avLst>
            </a:prstGeom>
            <a:solidFill>
              <a:srgbClr val="4A2C6F"/>
            </a:solidFill>
            <a:ln w="9525" cap="flat">
              <a:solidFill>
                <a:srgbClr val="4A2C6F"/>
              </a:solidFill>
              <a:prstDash val="solid"/>
              <a:round/>
            </a:ln>
            <a:effectLst/>
          </p:spPr>
          <p:txBody>
            <a:bodyPr wrap="square" lIns="45719" tIns="45719" rIns="45719" bIns="45719" numCol="1" anchor="ctr">
              <a:noAutofit/>
            </a:bodyPr>
            <a:lstStyle/>
            <a:p>
              <a:pPr algn="ctr">
                <a:defRPr sz="1700"/>
              </a:pPr>
            </a:p>
          </p:txBody>
        </p:sp>
        <p:sp>
          <p:nvSpPr>
            <p:cNvPr id="337" name="That is the unit. You know what science is, how it works, who did it—and now you have been a scientist!"/>
            <p:cNvSpPr txBox="1"/>
            <p:nvPr/>
          </p:nvSpPr>
          <p:spPr>
            <a:xfrm>
              <a:off x="36900" y="186411"/>
              <a:ext cx="11112055" cy="2489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lgn="ctr">
                <a:defRPr b="1" sz="1700">
                  <a:solidFill>
                    <a:srgbClr val="F2A03D"/>
                  </a:solidFill>
                  <a:latin typeface="Arial"/>
                  <a:ea typeface="Arial"/>
                  <a:cs typeface="Arial"/>
                  <a:sym typeface="Arial"/>
                </a:defRPr>
              </a:lvl1pPr>
            </a:lstStyle>
            <a:p>
              <a:pPr/>
              <a:r>
                <a:t>That is the unit. You know what science is, how it works, who did it—and now you have been a scientist!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323"/>
                                        </p:tgtEl>
                                        <p:attrNameLst>
                                          <p:attrName>style.visibility</p:attrName>
                                        </p:attrNameLst>
                                      </p:cBhvr>
                                      <p:to>
                                        <p:strVal val="visible"/>
                                      </p:to>
                                    </p:set>
                                    <p:anim calcmode="lin" valueType="num">
                                      <p:cBhvr>
                                        <p:cTn id="7" dur="400" fill="hold"/>
                                        <p:tgtEl>
                                          <p:spTgt spid="323"/>
                                        </p:tgtEl>
                                        <p:attrNameLst>
                                          <p:attrName>ppt_w</p:attrName>
                                        </p:attrNameLst>
                                      </p:cBhvr>
                                      <p:tavLst>
                                        <p:tav tm="0">
                                          <p:val>
                                            <p:fltVal val="0"/>
                                          </p:val>
                                        </p:tav>
                                        <p:tav tm="100000">
                                          <p:val>
                                            <p:strVal val="#ppt_w"/>
                                          </p:val>
                                        </p:tav>
                                      </p:tavLst>
                                    </p:anim>
                                    <p:anim calcmode="lin" valueType="num">
                                      <p:cBhvr>
                                        <p:cTn id="8" dur="400" fill="hold"/>
                                        <p:tgtEl>
                                          <p:spTgt spid="32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329"/>
                                        </p:tgtEl>
                                        <p:attrNameLst>
                                          <p:attrName>style.visibility</p:attrName>
                                        </p:attrNameLst>
                                      </p:cBhvr>
                                      <p:to>
                                        <p:strVal val="visible"/>
                                      </p:to>
                                    </p:set>
                                    <p:anim calcmode="lin" valueType="num">
                                      <p:cBhvr>
                                        <p:cTn id="13" dur="400" fill="hold"/>
                                        <p:tgtEl>
                                          <p:spTgt spid="329"/>
                                        </p:tgtEl>
                                        <p:attrNameLst>
                                          <p:attrName>ppt_w</p:attrName>
                                        </p:attrNameLst>
                                      </p:cBhvr>
                                      <p:tavLst>
                                        <p:tav tm="0">
                                          <p:val>
                                            <p:fltVal val="0"/>
                                          </p:val>
                                        </p:tav>
                                        <p:tav tm="100000">
                                          <p:val>
                                            <p:strVal val="#ppt_w"/>
                                          </p:val>
                                        </p:tav>
                                      </p:tavLst>
                                    </p:anim>
                                    <p:anim calcmode="lin" valueType="num">
                                      <p:cBhvr>
                                        <p:cTn id="14" dur="400" fill="hold"/>
                                        <p:tgtEl>
                                          <p:spTgt spid="329"/>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16" presetID="23" grpId="3" fill="hold">
                                  <p:stCondLst>
                                    <p:cond delay="0"/>
                                  </p:stCondLst>
                                  <p:iterate type="el" backwards="0">
                                    <p:tmAbs val="0"/>
                                  </p:iterate>
                                  <p:childTnLst>
                                    <p:set>
                                      <p:cBhvr>
                                        <p:cTn id="18" fill="hold"/>
                                        <p:tgtEl>
                                          <p:spTgt spid="335"/>
                                        </p:tgtEl>
                                        <p:attrNameLst>
                                          <p:attrName>style.visibility</p:attrName>
                                        </p:attrNameLst>
                                      </p:cBhvr>
                                      <p:to>
                                        <p:strVal val="visible"/>
                                      </p:to>
                                    </p:set>
                                    <p:anim calcmode="lin" valueType="num">
                                      <p:cBhvr>
                                        <p:cTn id="19" dur="400" fill="hold"/>
                                        <p:tgtEl>
                                          <p:spTgt spid="335"/>
                                        </p:tgtEl>
                                        <p:attrNameLst>
                                          <p:attrName>ppt_w</p:attrName>
                                        </p:attrNameLst>
                                      </p:cBhvr>
                                      <p:tavLst>
                                        <p:tav tm="0">
                                          <p:val>
                                            <p:fltVal val="0"/>
                                          </p:val>
                                        </p:tav>
                                        <p:tav tm="100000">
                                          <p:val>
                                            <p:strVal val="#ppt_w"/>
                                          </p:val>
                                        </p:tav>
                                      </p:tavLst>
                                    </p:anim>
                                    <p:anim calcmode="lin" valueType="num">
                                      <p:cBhvr>
                                        <p:cTn id="20" dur="400" fill="hold"/>
                                        <p:tgtEl>
                                          <p:spTgt spid="335"/>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4" fill="hold">
                                  <p:stCondLst>
                                    <p:cond delay="0"/>
                                  </p:stCondLst>
                                  <p:iterate type="el" backwards="0">
                                    <p:tmAbs val="0"/>
                                  </p:iterate>
                                  <p:childTnLst>
                                    <p:set>
                                      <p:cBhvr>
                                        <p:cTn id="24" fill="hold"/>
                                        <p:tgtEl>
                                          <p:spTgt spid="338"/>
                                        </p:tgtEl>
                                        <p:attrNameLst>
                                          <p:attrName>style.visibility</p:attrName>
                                        </p:attrNameLst>
                                      </p:cBhvr>
                                      <p:to>
                                        <p:strVal val="visible"/>
                                      </p:to>
                                    </p:set>
                                    <p:anim calcmode="lin" valueType="num">
                                      <p:cBhvr>
                                        <p:cTn id="25" dur="400" fill="hold"/>
                                        <p:tgtEl>
                                          <p:spTgt spid="338"/>
                                        </p:tgtEl>
                                        <p:attrNameLst>
                                          <p:attrName>ppt_w</p:attrName>
                                        </p:attrNameLst>
                                      </p:cBhvr>
                                      <p:tavLst>
                                        <p:tav tm="0">
                                          <p:val>
                                            <p:fltVal val="0"/>
                                          </p:val>
                                        </p:tav>
                                        <p:tav tm="100000">
                                          <p:val>
                                            <p:strVal val="#ppt_w"/>
                                          </p:val>
                                        </p:tav>
                                      </p:tavLst>
                                    </p:anim>
                                    <p:anim calcmode="lin" valueType="num">
                                      <p:cBhvr>
                                        <p:cTn id="26" dur="400" fill="hold"/>
                                        <p:tgtEl>
                                          <p:spTgt spid="3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9" grpId="2"/>
      <p:bldP build="whole" bldLvl="1" animBg="1" rev="0" advAuto="0" spid="335" grpId="3"/>
      <p:bldP build="whole" bldLvl="1" animBg="1" rev="0" advAuto="0" spid="323" grpId="1"/>
      <p:bldP build="whole" bldLvl="1" animBg="1" rev="0" advAuto="0" spid="338" grpId="4"/>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