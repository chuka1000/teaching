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Hidden slide — it will not appear in the slideshow. Print it or keep it open on the second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 arrive on this.
The motif builds itself: sun, then the tree from Lesson 1, then three gold arrows stepping down from the sun into the tree and onwards. Let it finish before you speak.
SAY: "Last lesson we asked what an ecosystem is. Today we ask a harder question — where does all of this get its energy from, and what happens to that energy as it moves?"
Point at the arrows: "These three arrows are the whole lesson. By the end you will know exactly which way round they go and why."
TIMING: 30 seconds. Do not linger.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 1 minute, and mean it.
CLICK 1: objectives. CLICK 2: success criteria.
SAY: "Objective one sounds small. It is not. Most people who get this topic wrong at GCSE get it wrong because of the arrows."
Point at success criterion 1 — "without using the word eats" — and tell them that is deliberate. If they can only explain the arrow by saying "eats", they have not got it yet.
The last criterion is the hook, so do not explain it. Just read it and look mysterious.
They fill the START column of the RAG grid on the worksheet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5 minutes total: 4 working, 1 marking.
Six clicks, one answer each. Do not reveal early.
Q1–Q4 are Lesson 1 retrieval. Q6 sets up the decomposer position on the web.
Q5 IS THE LESSON. Do NOT correct it now. Ask for a show of hands: "arrow pointing at the mudskipper" vs "arrow pointing at the crab". Expect a genuine split, write the tally in the corner of the board, and say: "One of these rooms is wrong. We will settle it in ten minutes." Come back to the tally on slide 8.
MISCONCEPTION TO WATCH on Q3: students say "the crab" because it is the living thing in front of them. The leaf is dead, but the producer is the tree that made it.
STRETCH for early finishers: "Q2 says almost all. Which energy does not come from the Sun?" — deep-sea vents, chemosynthesis. Worth 20 seconds if someone gets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 4 minutes. Three clicks: the two statements together, then the question, then the three options staggered.
SAY: "Pla thu is the cheapest, most ordinary fish in Thailand. Your grandmother can buy it in any market. Now think of the fish that eat pla thu — pla kapong, groupers, the big ones. Have you ever seen a market stacked a metre high with those?"
Take the vote by hands and record it. Most classes split between A and B.
ANSWER (do not give it now, it is slide 15): B — and the reason is energy. Roughly nine tenths of the energy is lost at every step, so the further up the chain an animal feeds, the less of the sea is available to build it.
A is not stupid, and say so: big predators ARE harder to catch. But that would change the price, not the tonnage in the sea.
STRETCH: "What would you have to measure to tell A and B apart?" — Good answers: catch per hour of fishing effort. That is exactly what the Department of Fisheries measures, and it turns up on slide 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 4 minutes. Seven clicks: five build the chain a link at a time, then the rule, then the note.
EXACT WORDING, because this sentence is the lesson: "The arrow is not a picture of a mouth. It is a picture of energy moving. Read every arrow as the words GIVES ENERGY TO."
Then read the chain aloud that way: "The mangrove gives energy to the sesarmid crab, which gives energy to the mud crab, which gives energy to the egret."
WHY THESE TWO CRABS: ปูแสม (sesarmid) really does live on fallen mangrove leaves — it is the main route by which leaf litter enters the food chain. ปูดำ (Scylla serrata) is the largest invertebrate predator in the mangrove and eats other crabs and shellfish. Both are in the Prasae mud. If a student says "but my uncle catches ปูดำ", excellent — humans are the next arrow, and we are not on the slide.
MISCONCEPTION: someone will say the chain starts at the Sun so the Sun is a producer. The Sun is not alive. It is the energy source; the producer is the first LIVING link.
STRETCH: "Why is sunlight in a different colour box?" — because it is not an organism.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 3 minutes. Four clicks: the RIGHT row, then the WRONG row — ask them what is wrong with it BEFORE you click again — then its explanation, then the banner.
Now go back to the Do Now tally on the board. Whichever way the room voted on Q5, settle it here, and settle it kindly — this is the single most common error in the whole topic and getting it wrong is not a sign of anything.
DO THE OUT-LOUD TEST with them, twice, so they hear how silly the wrong one sounds: "The mud crab gives energy to the sesarmid crab." Pause. "No it does not. It ate it."
They copy the banner sentence into their books. It is the one thing from today they should be able to recite in June.
STRETCH: "Is there ever a case where energy goes both ways between two organisms?" — Not in a food chain. But a decomposer takes energy from every level, which is why we draw it off to the side. That is slide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6 minutes. Eight clicks: one reveals a pair, they vote, the next reveals the verdict and the reason. Four rows.
THE TRAP IS DELIBERATE and the footer says so: all four arrows point right, so they cannot pattern-match on the picture. They have to read the two names and apply the rule.
MODEL ANSWER for row 2, out loud: "Pla thu gives energy to the copepod." Nonsense. So it is backwards.
MISCONCEPTION TO WATCH: some students will call row 4 right because the egret is bigger and "more important". Size and importance are not what the arrow records. Say it plainly.
IF THEY ARE FLYING: skip the reason on rows 3 and 4 and ask a student to give it instead.
STRETCH: "Row 1 and row 2 are part of the same chain. Write that chain out properly." — phytoplankton → copepod → pla thu. Hold onto it; it is half of slide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 4 minutes. Five consumer cards, one click each, then the predator/prey panel in two clicks.
Teach the three -vore words as a SET, because the Latin roots do the work: herb = plant, carn = flesh, omni = everything. Thirty seconds on the roots saves a term of confusion.
The scavenger/decomposer distinction is the one that costs marks: a scavenger eats dead things WHOLE and is a consumer; a decomposer breaks them down CHEMICALLY. ปูดำ scavenging a dead fish is still a consumer.
MISCONCEPTION: "predator = carnivore". The mudskipper example kills it. Say the last sentence slowly: same animal, same afternoon.
MODEL ANSWER if asked about humans: omnivores, and predators of almost everything in this estuary.
STRETCH: "Is a grazer a herbivore?" — usually yes, but grazer is about HOW it feeds (not killing what it eats), not about what. A mosquito grazes on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3 minutes. Ten clicks: letter then reason, row by row. Always take the boards up BEFORE you click.
Row 5 is the one worth the time. Both answers are right: carnivore describes its diet, prey describes what just happened to it. If a student argues, they have understood — say so out loud.
Row 4: expect a scattering of D for decomposer. That is the scavenger/decomposer line again. Ask: "Did the crab break the fish down into chemicals in the mud, or did it eat it?"
Row 1: expect some C, because a crab looks like a meat-eater. The menu decides, not the animal's reputation.
IF MOST OF THE ROOM IS SECURE by row 3, stop the slide and move on. This is a check, not an activity.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 5 minutes. Build it: mud chain (4 clicks), water chain (4 clicks), then the three shared links, then the note, then the decomposer banner.
SAY while the shared links appear: "Watch the egret. It was at the end of the mud chain. Now the mudskipper reaches it from the water chain too. Two different routes, same bird."
THE POINT, and make it explicitly: a web is not drawn to look complicated. It is drawn because alternatives exist, and alternatives are what stop an ecosystem falling over when one species has a bad year.
MODEL ANSWER for "trace two routes to the egret": phytoplankton → copepod → mudskipper → egret, and mangrove → ปูแสม → ปูดำ → egret.
MISCONCEPTION: "the arrows crossing means the animals meet". No — crossing lines are an accident of drawing.
DECOMPOSER BANNER: deliberately a banner and not a box in the web, because if you draw it in the web students put it at the end. It feeds off every level. That is all they need today; where the nutrients GO is Lesson 3.
STRETCH: "Which single box would do the most damage if it disappeared?" — phytoplankton, because it feeds the whole upper half and nothing replaces it. Hold that thought for the worksheet Gold.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 11 minutes. Everything is already on screen; no clicks needed.
CIRCULATE WITH ONE QUESTION: "Read me that arrow as gives energy to." It diagnoses almost everything in thirty seconds.
WHERE THEY WILL STALL: B4 (drawing the web from a description) — tell them to draw every box first and put the arrows in last. C5 (Gold, removing the phytoplankton) — tell them to follow the arrows upward and name three named organisms, not "everything dies".
The Gemini prompts are on the worksheet, not on the board, so the board stays free for the web from slide 11 — leave it up if you can, they will want it.
AT 3 MINUTES REMAINING: stop them wherever they are and move to the reveal. The reveal is worth more than three extra minutes of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 3 minutes. Build the pyramid bottom-up (4 clicks), then the four points (8 clicks).
Go back to the vote you recorded on the hook. Announce B.
EXACT WORDING for the key idea: "Energy is not shared out. It is spent. Every animal spends most of what it eats just on being alive — moving, breathing, staying warm. Only the leftover gets built into a body, and only a body can be eaten."
HONESTY, and say this out loud: the tenth is a rule of thumb, not a law. Real transfers run from about 2% to about 20%. And pla kapong is scarcer than pla thu for other reasons too — it is farmed, it is fished hard, it grows slowly. Energy is the biggest reason, not the only one. Students who spot that deserve credit.
MISCONCEPTION: "so energy gets recycled at the bottom". No. Energy flows through once and leaves as heat. The NUTRIENTS get recycled — and that is Lesson 3. Promise it, do not teach it.
STRETCH: "Pla thu is at 2.7, not 3. What does a decimal trophic level even mean?" — it eats a mixture: mostly plant plankton, some animal plankton. It is 70% of the way to being a pure herbivore. Genuinely good question if it comes up.
STOP HERE if you are short. Slide 16 is context, not curriculum.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 1 minute, and it is optional. Cut it first if you are behind.
Three clicks: the two photos, then the panel.
WHY IT EARNS ITS PLACE: it shows them that trophic level is a measured number, not a label someone assigned. Somebody opened 541 fish and counted.
NOTE THE HONEST CAPTION on the diatom photo — those cells are from Antarctic sea ice, not the Gulf. If a sharp student notices the mismatch before you say it, that is a win; tell them so.
MODEL ANSWER for "why does it matter that it eats producers directly?" — it skips a step, so it wastes less energy, so there can be far more of them.
The copepod photo was taken in Thailand. A millimetre long. Hold your fingers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 2 minutes. Four clicks, then the closing point.
SENSITIVE — read the teacher slide before you teach this. Rayong is a fishing province. Some students will have family in fishing, in shrimp farming or in seafood processing. Frame it as a system being asked for more energy than it can make, never as a story about bad people.
THE SCIENCE POINT, and it is the only one that matters: as the high-level fish disappear, the fishing moves DOWN the web towards the producers. There is more energy down there, which is exactly why it still works. The ecologist Daniel Pauly named this "fishing down the food web" in 1998.
CARD 4 IS DELIBERATELY LAST. The closed season is not new — Thailand has been doing it since at least the early 2000s and the boundaries move as the surveys change. Do not leave them on the collapse. The closed season is a real policy, it has real numbers attached, and the Prasae mangrove they met last lesson is the same story: Chalome replanted the producers, and the crabs and fish came back. More producers, more energy, more consumers.
IF A STUDENT ASKS whether the closure is enough — honest answer: nobody is sure, and the department keeps changing the boundaries based on the surveys. That is what science in public looks like.
IF A STUDENT HAS READ ABOUT labour abuse in the Thai fishing fleet: it is real and it is documented, but it is not today's lesson. Acknowledge it and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PLENARY — 2 minutes. Eleven clicks: each statement, then its verdict and reason together, row by row — then the closing line for Lesson 3. Always make them commit BEFORE the verdict.
Every false statement here is a misconception from the hidden teacher slide. If a row splits the room, write it on your seating plan — that is your Do Now for next lesson.
Q1 is the retake of the Do Now question. Point at the tally still on the board.
Q5 IS THE HOOK FOR LESSON 3, so do not resolve it beyond the sentence on screen. Leave them with the closing line: the energy is gone for good, but the nitrogen in that leaf has been round the estuary thousands of times.
THE MOTIF RETURNS top right — same sun, same tree, one arrow. Nobody will mention it. It still works.
STOP HERE. Objective 5 is Lesson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shown in the lesson unless someone asks. Kept in the file so the licences and the numbers travel with the deck if you share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14-2.jp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show="0">
  <p:cSld name="Slide 1">
    <p:bg>
      <p:bgPr>
        <a:solidFill>
          <a:srgbClr val="FFFFFF"/>
        </a:solidFill>
      </p:bgPr>
    </p:bg>
    <p:spTree>
      <p:nvGrpSpPr>
        <p:cNvPr id="1" name=""/>
        <p:cNvGrpSpPr/>
        <p:nvPr/>
      </p:nvGrpSpPr>
      <p:grpSpPr>
        <a:xfrm>
          <a:off x="0" y="0"/>
          <a:ext cx="0" cy="0"/>
          <a:chOff x="0" y="0"/>
          <a:chExt cx="0" cy="0"/>
        </a:xfrm>
      </p:grpSpPr>
      <p:sp>
        <p:nvSpPr>
          <p:cNvPr id="2" name="teach_flag"/>
          <p:cNvSpPr txBox="1"/>
          <p:nvPr/>
        </p:nvSpPr>
        <p:spPr>
          <a:xfrm>
            <a:off x="502920" y="237744"/>
            <a:ext cx="6400800" cy="310896"/>
          </a:xfrm>
          <a:prstGeom prst="rect">
            <a:avLst/>
          </a:prstGeom>
          <a:noFill/>
          <a:ln/>
        </p:spPr>
        <p:txBody>
          <a:bodyPr wrap="square" lIns="0" tIns="0" rIns="0" bIns="0" rtlCol="0" anchor="ctr"/>
          <a:lstStyle/>
          <a:p>
            <a:pPr indent="0" marL="0">
              <a:buNone/>
            </a:pPr>
            <a:r>
              <a:rPr lang="en-US" sz="1100" b="1" spc="120" kern="0" dirty="0">
                <a:solidFill>
                  <a:srgbClr val="E2572B"/>
                </a:solidFill>
                <a:latin typeface="Arial" pitchFamily="34" charset="0"/>
                <a:ea typeface="Arial" pitchFamily="34" charset="-122"/>
                <a:cs typeface="Arial" pitchFamily="34" charset="-120"/>
              </a:rPr>
              <a:t>TEACHER ONLY — hidden in slideshow</a:t>
            </a:r>
            <a:endParaRPr lang="en-US" sz="1100" dirty="0"/>
          </a:p>
        </p:txBody>
      </p:sp>
      <p:sp>
        <p:nvSpPr>
          <p:cNvPr id="3" name="teach_meta"/>
          <p:cNvSpPr txBox="1"/>
          <p:nvPr/>
        </p:nvSpPr>
        <p:spPr>
          <a:xfrm>
            <a:off x="6202375" y="237744"/>
            <a:ext cx="5486400" cy="310896"/>
          </a:xfrm>
          <a:prstGeom prst="rect">
            <a:avLst/>
          </a:prstGeom>
          <a:noFill/>
          <a:ln/>
        </p:spPr>
        <p:txBody>
          <a:bodyPr wrap="square" lIns="0" tIns="0" rIns="0" bIns="0" rtlCol="0" anchor="ctr"/>
          <a:lstStyle/>
          <a:p>
            <a:pPr algn="r" indent="0" marL="0">
              <a:buNone/>
            </a:pPr>
            <a:r>
              <a:rPr lang="en-US" sz="1100" dirty="0">
                <a:solidFill>
                  <a:srgbClr val="4A6165"/>
                </a:solidFill>
                <a:latin typeface="Arial" pitchFamily="34" charset="0"/>
                <a:ea typeface="Arial" pitchFamily="34" charset="-122"/>
                <a:cs typeface="Arial" pitchFamily="34" charset="-120"/>
              </a:rPr>
              <a:t>Y9 · Ecosystems L2 of 3 · 50 minutes</a:t>
            </a:r>
            <a:endParaRPr lang="en-US" sz="1100" dirty="0"/>
          </a:p>
        </p:txBody>
      </p:sp>
      <p:sp>
        <p:nvSpPr>
          <p:cNvPr id="4" name="teach_title"/>
          <p:cNvSpPr txBox="1"/>
          <p:nvPr/>
        </p:nvSpPr>
        <p:spPr>
          <a:xfrm>
            <a:off x="502920" y="566928"/>
            <a:ext cx="11185855" cy="457200"/>
          </a:xfrm>
          <a:prstGeom prst="rect">
            <a:avLst/>
          </a:prstGeom>
          <a:noFill/>
          <a:ln/>
        </p:spPr>
        <p:txBody>
          <a:bodyPr wrap="square" lIns="0" tIns="0" rIns="0" bIns="0" rtlCol="0" anchor="ctr"/>
          <a:lstStyle/>
          <a:p>
            <a:pPr indent="0" marL="0">
              <a:buNone/>
            </a:pPr>
            <a:r>
              <a:rPr lang="en-US" sz="2100" b="1" dirty="0">
                <a:solidFill>
                  <a:srgbClr val="0E3A3F"/>
                </a:solidFill>
                <a:latin typeface="Georgia" pitchFamily="34" charset="0"/>
                <a:ea typeface="Georgia" pitchFamily="34" charset="-122"/>
                <a:cs typeface="Georgia" pitchFamily="34" charset="-120"/>
              </a:rPr>
              <a:t>Follow the energy:  food chains, food webs, and why the big fish run out</a:t>
            </a:r>
            <a:endParaRPr lang="en-US" sz="2100" dirty="0"/>
          </a:p>
        </p:txBody>
      </p:sp>
      <p:sp>
        <p:nvSpPr>
          <p:cNvPr id="5" name="teach_col0_bg"/>
          <p:cNvSpPr/>
          <p:nvPr/>
        </p:nvSpPr>
        <p:spPr>
          <a:xfrm>
            <a:off x="502920" y="1188720"/>
            <a:ext cx="3576218" cy="5285232"/>
          </a:xfrm>
          <a:prstGeom prst="rect">
            <a:avLst/>
          </a:prstGeom>
          <a:solidFill>
            <a:srgbClr val="F7F5EE"/>
          </a:solidFill>
          <a:ln w="12700">
            <a:solidFill>
              <a:srgbClr val="F0E4C8"/>
            </a:solidFill>
            <a:prstDash val="solid"/>
          </a:ln>
        </p:spPr>
      </p:sp>
      <p:sp>
        <p:nvSpPr>
          <p:cNvPr id="6" name="teach_col0_h"/>
          <p:cNvSpPr txBox="1"/>
          <p:nvPr/>
        </p:nvSpPr>
        <p:spPr>
          <a:xfrm>
            <a:off x="649224" y="1316736"/>
            <a:ext cx="3283610" cy="274320"/>
          </a:xfrm>
          <a:prstGeom prst="rect">
            <a:avLst/>
          </a:prstGeom>
          <a:noFill/>
          <a:ln/>
        </p:spPr>
        <p:txBody>
          <a:bodyPr wrap="square" lIns="0" tIns="0" rIns="0" bIns="0" rtlCol="0" anchor="ctr"/>
          <a:lstStyle/>
          <a:p>
            <a:pPr indent="0" marL="0">
              <a:buNone/>
            </a:pPr>
            <a:r>
              <a:rPr lang="en-US" sz="1050" b="1" spc="100" kern="0" dirty="0">
                <a:solidFill>
                  <a:srgbClr val="0E3A3F"/>
                </a:solidFill>
                <a:latin typeface="Arial" pitchFamily="34" charset="0"/>
                <a:ea typeface="Arial" pitchFamily="34" charset="-122"/>
                <a:cs typeface="Arial" pitchFamily="34" charset="-120"/>
              </a:rPr>
              <a:t>PRIOR KNOWLEDGE</a:t>
            </a:r>
            <a:endParaRPr lang="en-US" sz="1050" dirty="0"/>
          </a:p>
        </p:txBody>
      </p:sp>
      <p:sp>
        <p:nvSpPr>
          <p:cNvPr id="7" name="teach_col0_b"/>
          <p:cNvSpPr txBox="1"/>
          <p:nvPr/>
        </p:nvSpPr>
        <p:spPr>
          <a:xfrm>
            <a:off x="649224" y="1627632"/>
            <a:ext cx="3283610" cy="4718304"/>
          </a:xfrm>
          <a:prstGeom prst="rect">
            <a:avLst/>
          </a:prstGeom>
          <a:noFill/>
          <a:ln/>
        </p:spPr>
        <p:txBody>
          <a:bodyPr wrap="square" lIns="0" tIns="0" rIns="0" bIns="0" rtlCol="0" anchor="t"/>
          <a:lstStyle/>
          <a:p>
            <a:pPr indent="0" marL="0">
              <a:lnSpc>
                <a:spcPts val="1150"/>
              </a:lnSpc>
              <a:buNone/>
            </a:pPr>
            <a:r>
              <a:rPr lang="en-US" sz="820" dirty="0">
                <a:solidFill>
                  <a:srgbClr val="14282B"/>
                </a:solidFill>
                <a:latin typeface="Arial" pitchFamily="34" charset="0"/>
                <a:ea typeface="Arial" pitchFamily="34" charset="-122"/>
                <a:cs typeface="Arial" pitchFamily="34" charset="-120"/>
              </a:rPr>
              <a:t>• Lesson 1: ecosystem = community + non-living surroundings; abiotic vs biotic; producer / consumer / decomposer.</a:t>
            </a:r>
            <a:endParaRPr lang="en-US" sz="820" dirty="0"/>
          </a:p>
          <a:p>
            <a:pPr indent="0" marL="0">
              <a:lnSpc>
                <a:spcPts val="1150"/>
              </a:lnSpc>
              <a:buNone/>
            </a:pPr>
            <a:r>
              <a:rPr lang="en-US" sz="820" dirty="0">
                <a:solidFill>
                  <a:srgbClr val="14282B"/>
                </a:solidFill>
                <a:latin typeface="Arial" pitchFamily="34" charset="0"/>
                <a:ea typeface="Arial" pitchFamily="34" charset="-122"/>
                <a:cs typeface="Arial" pitchFamily="34" charset="-120"/>
              </a:rPr>
              <a:t>• Photosynthesis (Y7 Cells, Y8 Plants): they can already write light + CO₂ + water → glucose. Energy ENTERING the system is the bit to reactivate.</a:t>
            </a:r>
            <a:endParaRPr lang="en-US" sz="820" dirty="0"/>
          </a:p>
          <a:p>
            <a:pPr indent="0" marL="0">
              <a:lnSpc>
                <a:spcPts val="1150"/>
              </a:lnSpc>
              <a:buNone/>
            </a:pPr>
            <a:r>
              <a:rPr lang="en-US" sz="820" dirty="0">
                <a:solidFill>
                  <a:srgbClr val="14282B"/>
                </a:solidFill>
                <a:latin typeface="Arial" pitchFamily="34" charset="0"/>
                <a:ea typeface="Arial" pitchFamily="34" charset="-122"/>
                <a:cs typeface="Arial" pitchFamily="34" charset="-120"/>
              </a:rPr>
              <a:t>• Y8 Behaviour of Animals: predator and prey are already familiar words — but as characters, not as roles.</a:t>
            </a:r>
            <a:endParaRPr lang="en-US" sz="820" dirty="0"/>
          </a:p>
          <a:p>
            <a:pPr indent="0" marL="0">
              <a:lnSpc>
                <a:spcPts val="1150"/>
              </a:lnSpc>
              <a:buNone/>
            </a:pPr>
            <a:endParaRPr lang="en-US" sz="820" dirty="0"/>
          </a:p>
          <a:p>
            <a:pPr indent="0" marL="0">
              <a:lnSpc>
                <a:spcPts val="1150"/>
              </a:lnSpc>
              <a:buNone/>
            </a:pPr>
            <a:r>
              <a:rPr lang="en-US" sz="820" dirty="0">
                <a:solidFill>
                  <a:srgbClr val="14282B"/>
                </a:solidFill>
                <a:latin typeface="Arial" pitchFamily="34" charset="0"/>
                <a:ea typeface="Arial" pitchFamily="34" charset="-122"/>
                <a:cs typeface="Arial" pitchFamily="34" charset="-120"/>
              </a:rPr>
              <a:t>EAL note: "consumer" in English also means a shopper. Say it out loud once. Also: the four -vore words are Latin roots; teach herb/carn/omni as a set, not one at a time.</a:t>
            </a:r>
            <a:endParaRPr lang="en-US" sz="820" dirty="0"/>
          </a:p>
          <a:p>
            <a:pPr indent="0" marL="0">
              <a:lnSpc>
                <a:spcPts val="1150"/>
              </a:lnSpc>
              <a:buNone/>
            </a:pPr>
            <a:endParaRPr lang="en-US" sz="820" dirty="0"/>
          </a:p>
          <a:p>
            <a:pPr indent="0" marL="0">
              <a:lnSpc>
                <a:spcPts val="1150"/>
              </a:lnSpc>
              <a:buNone/>
            </a:pPr>
            <a:r>
              <a:rPr lang="en-US" sz="820" dirty="0">
                <a:solidFill>
                  <a:srgbClr val="14282B"/>
                </a:solidFill>
                <a:latin typeface="Arial" pitchFamily="34" charset="0"/>
                <a:ea typeface="Arial" pitchFamily="34" charset="-122"/>
                <a:cs typeface="Arial" pitchFamily="34" charset="-120"/>
              </a:rPr>
              <a:t>If they did NOT do Lesson 1, do not start here. The whole hook depends on knowing what a producer is.</a:t>
            </a:r>
            <a:endParaRPr lang="en-US" sz="820" dirty="0"/>
          </a:p>
        </p:txBody>
      </p:sp>
      <p:sp>
        <p:nvSpPr>
          <p:cNvPr id="8" name="teach_col1_bg"/>
          <p:cNvSpPr/>
          <p:nvPr/>
        </p:nvSpPr>
        <p:spPr>
          <a:xfrm>
            <a:off x="4307738" y="1188720"/>
            <a:ext cx="3576218" cy="5285232"/>
          </a:xfrm>
          <a:prstGeom prst="rect">
            <a:avLst/>
          </a:prstGeom>
          <a:solidFill>
            <a:srgbClr val="FDF1EC"/>
          </a:solidFill>
          <a:ln w="12700">
            <a:solidFill>
              <a:srgbClr val="E2572B"/>
            </a:solidFill>
            <a:prstDash val="solid"/>
          </a:ln>
        </p:spPr>
      </p:sp>
      <p:sp>
        <p:nvSpPr>
          <p:cNvPr id="9" name="teach_col1_h"/>
          <p:cNvSpPr txBox="1"/>
          <p:nvPr/>
        </p:nvSpPr>
        <p:spPr>
          <a:xfrm>
            <a:off x="4454042" y="1316736"/>
            <a:ext cx="3283610" cy="274320"/>
          </a:xfrm>
          <a:prstGeom prst="rect">
            <a:avLst/>
          </a:prstGeom>
          <a:noFill/>
          <a:ln/>
        </p:spPr>
        <p:txBody>
          <a:bodyPr wrap="square" lIns="0" tIns="0" rIns="0" bIns="0" rtlCol="0" anchor="ctr"/>
          <a:lstStyle/>
          <a:p>
            <a:pPr indent="0" marL="0">
              <a:buNone/>
            </a:pPr>
            <a:r>
              <a:rPr lang="en-US" sz="1050" b="1" spc="100" kern="0" dirty="0">
                <a:solidFill>
                  <a:srgbClr val="E2572B"/>
                </a:solidFill>
                <a:latin typeface="Arial" pitchFamily="34" charset="0"/>
                <a:ea typeface="Arial" pitchFamily="34" charset="-122"/>
                <a:cs typeface="Arial" pitchFamily="34" charset="-120"/>
              </a:rPr>
              <a:t>MISCONCEPTIONS  (wrong → right)</a:t>
            </a:r>
            <a:endParaRPr lang="en-US" sz="1050" dirty="0"/>
          </a:p>
        </p:txBody>
      </p:sp>
      <p:sp>
        <p:nvSpPr>
          <p:cNvPr id="10" name="teach_col1_b"/>
          <p:cNvSpPr txBox="1"/>
          <p:nvPr/>
        </p:nvSpPr>
        <p:spPr>
          <a:xfrm>
            <a:off x="4454042" y="1627632"/>
            <a:ext cx="3283610" cy="4718304"/>
          </a:xfrm>
          <a:prstGeom prst="rect">
            <a:avLst/>
          </a:prstGeom>
          <a:noFill/>
          <a:ln/>
        </p:spPr>
        <p:txBody>
          <a:bodyPr wrap="square" lIns="0" tIns="0" rIns="0" bIns="0" rtlCol="0" anchor="t"/>
          <a:lstStyle/>
          <a:p>
            <a:pPr indent="0" marL="0">
              <a:lnSpc>
                <a:spcPts val="1150"/>
              </a:lnSpc>
              <a:buNone/>
            </a:pPr>
            <a:r>
              <a:rPr lang="en-US" sz="820" dirty="0">
                <a:solidFill>
                  <a:srgbClr val="14282B"/>
                </a:solidFill>
                <a:latin typeface="Arial" pitchFamily="34" charset="0"/>
                <a:ea typeface="Arial" pitchFamily="34" charset="-122"/>
                <a:cs typeface="Arial" pitchFamily="34" charset="-120"/>
              </a:rPr>
              <a:t>✗ "The arrow points from the eater to the food."</a:t>
            </a:r>
            <a:endParaRPr lang="en-US" sz="820" dirty="0"/>
          </a:p>
          <a:p>
            <a:pPr indent="0" marL="0">
              <a:lnSpc>
                <a:spcPts val="1150"/>
              </a:lnSpc>
              <a:buNone/>
            </a:pPr>
            <a:r>
              <a:rPr lang="en-US" sz="820" dirty="0">
                <a:solidFill>
                  <a:srgbClr val="14282B"/>
                </a:solidFill>
                <a:latin typeface="Arial" pitchFamily="34" charset="0"/>
                <a:ea typeface="Arial" pitchFamily="34" charset="-122"/>
                <a:cs typeface="Arial" pitchFamily="34" charset="-120"/>
              </a:rPr>
              <a:t>→ The arrow follows the ENERGY, so it points at the eater. This is the single biggest error in the topic and the whole of slide 8 exists for it.</a:t>
            </a:r>
            <a:endParaRPr lang="en-US" sz="820" dirty="0"/>
          </a:p>
          <a:p>
            <a:pPr indent="0" marL="0">
              <a:lnSpc>
                <a:spcPts val="1150"/>
              </a:lnSpc>
              <a:buNone/>
            </a:pPr>
            <a:endParaRPr lang="en-US" sz="820" dirty="0"/>
          </a:p>
          <a:p>
            <a:pPr indent="0" marL="0">
              <a:lnSpc>
                <a:spcPts val="1150"/>
              </a:lnSpc>
              <a:buNone/>
            </a:pPr>
            <a:r>
              <a:rPr lang="en-US" sz="820" dirty="0">
                <a:solidFill>
                  <a:srgbClr val="14282B"/>
                </a:solidFill>
                <a:latin typeface="Arial" pitchFamily="34" charset="0"/>
                <a:ea typeface="Arial" pitchFamily="34" charset="-122"/>
                <a:cs typeface="Arial" pitchFamily="34" charset="-120"/>
              </a:rPr>
              <a:t>✗ "A food chain shows who is strongest."</a:t>
            </a:r>
            <a:endParaRPr lang="en-US" sz="820" dirty="0"/>
          </a:p>
          <a:p>
            <a:pPr indent="0" marL="0">
              <a:lnSpc>
                <a:spcPts val="1150"/>
              </a:lnSpc>
              <a:buNone/>
            </a:pPr>
            <a:r>
              <a:rPr lang="en-US" sz="820" dirty="0">
                <a:solidFill>
                  <a:srgbClr val="14282B"/>
                </a:solidFill>
                <a:latin typeface="Arial" pitchFamily="34" charset="0"/>
                <a:ea typeface="Arial" pitchFamily="34" charset="-122"/>
                <a:cs typeface="Arial" pitchFamily="34" charset="-120"/>
              </a:rPr>
              <a:t>→ It shows where the energy goes. A bacterium beats a tiger for importance.</a:t>
            </a:r>
            <a:endParaRPr lang="en-US" sz="820" dirty="0"/>
          </a:p>
          <a:p>
            <a:pPr indent="0" marL="0">
              <a:lnSpc>
                <a:spcPts val="1150"/>
              </a:lnSpc>
              <a:buNone/>
            </a:pPr>
            <a:endParaRPr lang="en-US" sz="820" dirty="0"/>
          </a:p>
          <a:p>
            <a:pPr indent="0" marL="0">
              <a:lnSpc>
                <a:spcPts val="1150"/>
              </a:lnSpc>
              <a:buNone/>
            </a:pPr>
            <a:r>
              <a:rPr lang="en-US" sz="820" dirty="0">
                <a:solidFill>
                  <a:srgbClr val="14282B"/>
                </a:solidFill>
                <a:latin typeface="Arial" pitchFamily="34" charset="0"/>
                <a:ea typeface="Arial" pitchFamily="34" charset="-122"/>
                <a:cs typeface="Arial" pitchFamily="34" charset="-120"/>
              </a:rPr>
              <a:t>✗ "Decomposers go at the end of the chain."</a:t>
            </a:r>
            <a:endParaRPr lang="en-US" sz="820" dirty="0"/>
          </a:p>
          <a:p>
            <a:pPr indent="0" marL="0">
              <a:lnSpc>
                <a:spcPts val="1150"/>
              </a:lnSpc>
              <a:buNone/>
            </a:pPr>
            <a:r>
              <a:rPr lang="en-US" sz="820" dirty="0">
                <a:solidFill>
                  <a:srgbClr val="14282B"/>
                </a:solidFill>
                <a:latin typeface="Arial" pitchFamily="34" charset="0"/>
                <a:ea typeface="Arial" pitchFamily="34" charset="-122"/>
                <a:cs typeface="Arial" pitchFamily="34" charset="-120"/>
              </a:rPr>
              <a:t>→ They feed on every level. Draw them beside the chain, not after it.</a:t>
            </a:r>
            <a:endParaRPr lang="en-US" sz="820" dirty="0"/>
          </a:p>
          <a:p>
            <a:pPr indent="0" marL="0">
              <a:lnSpc>
                <a:spcPts val="1150"/>
              </a:lnSpc>
              <a:buNone/>
            </a:pPr>
            <a:endParaRPr lang="en-US" sz="820" dirty="0"/>
          </a:p>
          <a:p>
            <a:pPr indent="0" marL="0">
              <a:lnSpc>
                <a:spcPts val="1150"/>
              </a:lnSpc>
              <a:buNone/>
            </a:pPr>
            <a:r>
              <a:rPr lang="en-US" sz="820" dirty="0">
                <a:solidFill>
                  <a:srgbClr val="14282B"/>
                </a:solidFill>
                <a:latin typeface="Arial" pitchFamily="34" charset="0"/>
                <a:ea typeface="Arial" pitchFamily="34" charset="-122"/>
                <a:cs typeface="Arial" pitchFamily="34" charset="-120"/>
              </a:rPr>
              <a:t>✗ "Energy gets recycled round the ecosystem."</a:t>
            </a:r>
            <a:endParaRPr lang="en-US" sz="820" dirty="0"/>
          </a:p>
          <a:p>
            <a:pPr indent="0" marL="0">
              <a:lnSpc>
                <a:spcPts val="1150"/>
              </a:lnSpc>
              <a:buNone/>
            </a:pPr>
            <a:r>
              <a:rPr lang="en-US" sz="820" dirty="0">
                <a:solidFill>
                  <a:srgbClr val="14282B"/>
                </a:solidFill>
                <a:latin typeface="Arial" pitchFamily="34" charset="0"/>
                <a:ea typeface="Arial" pitchFamily="34" charset="-122"/>
                <a:cs typeface="Arial" pitchFamily="34" charset="-120"/>
              </a:rPr>
              <a:t>→ Energy flows through ONCE and leaves as heat. Matter cycles; energy does not. This is the bridge to L3 — flag it, do not teach it.</a:t>
            </a:r>
            <a:endParaRPr lang="en-US" sz="820" dirty="0"/>
          </a:p>
          <a:p>
            <a:pPr indent="0" marL="0">
              <a:lnSpc>
                <a:spcPts val="1150"/>
              </a:lnSpc>
              <a:buNone/>
            </a:pPr>
            <a:endParaRPr lang="en-US" sz="820" dirty="0"/>
          </a:p>
          <a:p>
            <a:pPr indent="0" marL="0">
              <a:lnSpc>
                <a:spcPts val="1150"/>
              </a:lnSpc>
              <a:buNone/>
            </a:pPr>
            <a:r>
              <a:rPr lang="en-US" sz="820" dirty="0">
                <a:solidFill>
                  <a:srgbClr val="14282B"/>
                </a:solidFill>
                <a:latin typeface="Arial" pitchFamily="34" charset="0"/>
                <a:ea typeface="Arial" pitchFamily="34" charset="-122"/>
                <a:cs typeface="Arial" pitchFamily="34" charset="-120"/>
              </a:rPr>
              <a:t>✗ "Scavengers are decomposers."</a:t>
            </a:r>
            <a:endParaRPr lang="en-US" sz="820" dirty="0"/>
          </a:p>
          <a:p>
            <a:pPr indent="0" marL="0">
              <a:lnSpc>
                <a:spcPts val="1150"/>
              </a:lnSpc>
              <a:buNone/>
            </a:pPr>
            <a:r>
              <a:rPr lang="en-US" sz="820" dirty="0">
                <a:solidFill>
                  <a:srgbClr val="14282B"/>
                </a:solidFill>
                <a:latin typeface="Arial" pitchFamily="34" charset="0"/>
                <a:ea typeface="Arial" pitchFamily="34" charset="-122"/>
                <a:cs typeface="Arial" pitchFamily="34" charset="-120"/>
              </a:rPr>
              <a:t>→ A scavenger eats dead things whole. A decomposer breaks them down chemically.</a:t>
            </a:r>
            <a:endParaRPr lang="en-US" sz="820" dirty="0"/>
          </a:p>
          <a:p>
            <a:pPr indent="0" marL="0">
              <a:lnSpc>
                <a:spcPts val="1150"/>
              </a:lnSpc>
              <a:buNone/>
            </a:pPr>
            <a:endParaRPr lang="en-US" sz="820" dirty="0"/>
          </a:p>
          <a:p>
            <a:pPr indent="0" marL="0">
              <a:lnSpc>
                <a:spcPts val="1150"/>
              </a:lnSpc>
              <a:buNone/>
            </a:pPr>
            <a:r>
              <a:rPr lang="en-US" sz="820" dirty="0">
                <a:solidFill>
                  <a:srgbClr val="14282B"/>
                </a:solidFill>
                <a:latin typeface="Arial" pitchFamily="34" charset="0"/>
                <a:ea typeface="Arial" pitchFamily="34" charset="-122"/>
                <a:cs typeface="Arial" pitchFamily="34" charset="-120"/>
              </a:rPr>
              <a:t>✗ "Predators are carnivores and prey are herbivores."</a:t>
            </a:r>
            <a:endParaRPr lang="en-US" sz="820" dirty="0"/>
          </a:p>
          <a:p>
            <a:pPr indent="0" marL="0">
              <a:lnSpc>
                <a:spcPts val="1150"/>
              </a:lnSpc>
              <a:buNone/>
            </a:pPr>
            <a:r>
              <a:rPr lang="en-US" sz="820" dirty="0">
                <a:solidFill>
                  <a:srgbClr val="14282B"/>
                </a:solidFill>
                <a:latin typeface="Arial" pitchFamily="34" charset="0"/>
                <a:ea typeface="Arial" pitchFamily="34" charset="-122"/>
                <a:cs typeface="Arial" pitchFamily="34" charset="-120"/>
              </a:rPr>
              <a:t>→ A carnivore can be prey. Roles are about the encounter, not the diet.</a:t>
            </a:r>
            <a:endParaRPr lang="en-US" sz="820" dirty="0"/>
          </a:p>
        </p:txBody>
      </p:sp>
      <p:sp>
        <p:nvSpPr>
          <p:cNvPr id="11" name="teach_col2_bg"/>
          <p:cNvSpPr/>
          <p:nvPr/>
        </p:nvSpPr>
        <p:spPr>
          <a:xfrm>
            <a:off x="8112557" y="1188720"/>
            <a:ext cx="3576218" cy="5285232"/>
          </a:xfrm>
          <a:prstGeom prst="rect">
            <a:avLst/>
          </a:prstGeom>
          <a:solidFill>
            <a:srgbClr val="F7F5EE"/>
          </a:solidFill>
          <a:ln w="12700">
            <a:solidFill>
              <a:srgbClr val="F0E4C8"/>
            </a:solidFill>
            <a:prstDash val="solid"/>
          </a:ln>
        </p:spPr>
      </p:sp>
      <p:sp>
        <p:nvSpPr>
          <p:cNvPr id="12" name="teach_col2_h"/>
          <p:cNvSpPr txBox="1"/>
          <p:nvPr/>
        </p:nvSpPr>
        <p:spPr>
          <a:xfrm>
            <a:off x="8258861" y="1316736"/>
            <a:ext cx="3283610" cy="274320"/>
          </a:xfrm>
          <a:prstGeom prst="rect">
            <a:avLst/>
          </a:prstGeom>
          <a:noFill/>
          <a:ln/>
        </p:spPr>
        <p:txBody>
          <a:bodyPr wrap="square" lIns="0" tIns="0" rIns="0" bIns="0" rtlCol="0" anchor="ctr"/>
          <a:lstStyle/>
          <a:p>
            <a:pPr indent="0" marL="0">
              <a:buNone/>
            </a:pPr>
            <a:r>
              <a:rPr lang="en-US" sz="1050" b="1" spc="100" kern="0" dirty="0">
                <a:solidFill>
                  <a:srgbClr val="0E3A3F"/>
                </a:solidFill>
                <a:latin typeface="Arial" pitchFamily="34" charset="0"/>
                <a:ea typeface="Arial" pitchFamily="34" charset="-122"/>
                <a:cs typeface="Arial" pitchFamily="34" charset="-120"/>
              </a:rPr>
              <a:t>LESSON FLOW  (50 min)</a:t>
            </a:r>
            <a:endParaRPr lang="en-US" sz="1050" dirty="0"/>
          </a:p>
        </p:txBody>
      </p:sp>
      <p:sp>
        <p:nvSpPr>
          <p:cNvPr id="13" name="teach_col2_b"/>
          <p:cNvSpPr txBox="1"/>
          <p:nvPr/>
        </p:nvSpPr>
        <p:spPr>
          <a:xfrm>
            <a:off x="8258861" y="1627632"/>
            <a:ext cx="3283610" cy="4718304"/>
          </a:xfrm>
          <a:prstGeom prst="rect">
            <a:avLst/>
          </a:prstGeom>
          <a:noFill/>
          <a:ln/>
        </p:spPr>
        <p:txBody>
          <a:bodyPr wrap="square" lIns="0" tIns="0" rIns="0" bIns="0" rtlCol="0" anchor="t"/>
          <a:lstStyle/>
          <a:p>
            <a:pPr indent="0" marL="0">
              <a:lnSpc>
                <a:spcPts val="1150"/>
              </a:lnSpc>
              <a:buNone/>
            </a:pPr>
            <a:r>
              <a:rPr lang="en-US" sz="820" dirty="0">
                <a:solidFill>
                  <a:srgbClr val="14282B"/>
                </a:solidFill>
                <a:latin typeface="Arial" pitchFamily="34" charset="0"/>
                <a:ea typeface="Arial" pitchFamily="34" charset="-122"/>
                <a:cs typeface="Arial" pitchFamily="34" charset="-120"/>
              </a:rPr>
              <a:t>Do Now — 5</a:t>
            </a:r>
            <a:endParaRPr lang="en-US" sz="820" dirty="0"/>
          </a:p>
          <a:p>
            <a:pPr indent="0" marL="0">
              <a:lnSpc>
                <a:spcPts val="1150"/>
              </a:lnSpc>
              <a:buNone/>
            </a:pPr>
            <a:r>
              <a:rPr lang="en-US" sz="820" dirty="0">
                <a:solidFill>
                  <a:srgbClr val="14282B"/>
                </a:solidFill>
                <a:latin typeface="Arial" pitchFamily="34" charset="0"/>
                <a:ea typeface="Arial" pitchFamily="34" charset="-122"/>
                <a:cs typeface="Arial" pitchFamily="34" charset="-120"/>
              </a:rPr>
              <a:t>Hook: where did the big fish go? — 4</a:t>
            </a:r>
            <a:endParaRPr lang="en-US" sz="820" dirty="0"/>
          </a:p>
          <a:p>
            <a:pPr indent="0" marL="0">
              <a:lnSpc>
                <a:spcPts val="1150"/>
              </a:lnSpc>
              <a:buNone/>
            </a:pPr>
            <a:r>
              <a:rPr lang="en-US" sz="820" dirty="0">
                <a:solidFill>
                  <a:srgbClr val="14282B"/>
                </a:solidFill>
                <a:latin typeface="Arial" pitchFamily="34" charset="0"/>
                <a:ea typeface="Arial" pitchFamily="34" charset="-122"/>
                <a:cs typeface="Arial" pitchFamily="34" charset="-120"/>
              </a:rPr>
              <a:t>I Do: what the arrow means — 7</a:t>
            </a:r>
            <a:endParaRPr lang="en-US" sz="820" dirty="0"/>
          </a:p>
          <a:p>
            <a:pPr indent="0" marL="0">
              <a:lnSpc>
                <a:spcPts val="1150"/>
              </a:lnSpc>
              <a:buNone/>
            </a:pPr>
            <a:r>
              <a:rPr lang="en-US" sz="820" dirty="0">
                <a:solidFill>
                  <a:srgbClr val="14282B"/>
                </a:solidFill>
                <a:latin typeface="Arial" pitchFamily="34" charset="0"/>
                <a:ea typeface="Arial" pitchFamily="34" charset="-122"/>
                <a:cs typeface="Arial" pitchFamily="34" charset="-120"/>
              </a:rPr>
              <a:t>We Do: which way round? — 6</a:t>
            </a:r>
            <a:endParaRPr lang="en-US" sz="820" dirty="0"/>
          </a:p>
          <a:p>
            <a:pPr indent="0" marL="0">
              <a:lnSpc>
                <a:spcPts val="1150"/>
              </a:lnSpc>
              <a:buNone/>
            </a:pPr>
            <a:r>
              <a:rPr lang="en-US" sz="820" dirty="0">
                <a:solidFill>
                  <a:srgbClr val="14282B"/>
                </a:solidFill>
                <a:latin typeface="Arial" pitchFamily="34" charset="0"/>
                <a:ea typeface="Arial" pitchFamily="34" charset="-122"/>
                <a:cs typeface="Arial" pitchFamily="34" charset="-120"/>
              </a:rPr>
              <a:t>I Do / We Do: kinds of consumer — 7</a:t>
            </a:r>
            <a:endParaRPr lang="en-US" sz="820" dirty="0"/>
          </a:p>
          <a:p>
            <a:pPr indent="0" marL="0">
              <a:lnSpc>
                <a:spcPts val="1150"/>
              </a:lnSpc>
              <a:buNone/>
            </a:pPr>
            <a:r>
              <a:rPr lang="en-US" sz="820" dirty="0">
                <a:solidFill>
                  <a:srgbClr val="14282B"/>
                </a:solidFill>
                <a:latin typeface="Arial" pitchFamily="34" charset="0"/>
                <a:ea typeface="Arial" pitchFamily="34" charset="-122"/>
                <a:cs typeface="Arial" pitchFamily="34" charset="-120"/>
              </a:rPr>
              <a:t>I Do: chains into a web — 5</a:t>
            </a:r>
            <a:endParaRPr lang="en-US" sz="820" dirty="0"/>
          </a:p>
          <a:p>
            <a:pPr indent="0" marL="0">
              <a:lnSpc>
                <a:spcPts val="1150"/>
              </a:lnSpc>
              <a:buNone/>
            </a:pPr>
            <a:r>
              <a:rPr lang="en-US" sz="820" dirty="0">
                <a:solidFill>
                  <a:srgbClr val="14282B"/>
                </a:solidFill>
                <a:latin typeface="Arial" pitchFamily="34" charset="0"/>
                <a:ea typeface="Arial" pitchFamily="34" charset="-122"/>
                <a:cs typeface="Arial" pitchFamily="34" charset="-120"/>
              </a:rPr>
              <a:t>You Do: worksheet — 11</a:t>
            </a:r>
            <a:endParaRPr lang="en-US" sz="820" dirty="0"/>
          </a:p>
          <a:p>
            <a:pPr indent="0" marL="0">
              <a:lnSpc>
                <a:spcPts val="1150"/>
              </a:lnSpc>
              <a:buNone/>
            </a:pPr>
            <a:r>
              <a:rPr lang="en-US" sz="820" dirty="0">
                <a:solidFill>
                  <a:srgbClr val="14282B"/>
                </a:solidFill>
                <a:latin typeface="Arial" pitchFamily="34" charset="0"/>
                <a:ea typeface="Arial" pitchFamily="34" charset="-122"/>
                <a:cs typeface="Arial" pitchFamily="34" charset="-120"/>
              </a:rPr>
              <a:t>Reveal: the energy pyramid — 3</a:t>
            </a:r>
            <a:endParaRPr lang="en-US" sz="820" dirty="0"/>
          </a:p>
          <a:p>
            <a:pPr indent="0" marL="0">
              <a:lnSpc>
                <a:spcPts val="1150"/>
              </a:lnSpc>
              <a:buNone/>
            </a:pPr>
            <a:r>
              <a:rPr lang="en-US" sz="820" dirty="0">
                <a:solidFill>
                  <a:srgbClr val="14282B"/>
                </a:solidFill>
                <a:latin typeface="Arial" pitchFamily="34" charset="0"/>
                <a:ea typeface="Arial" pitchFamily="34" charset="-122"/>
                <a:cs typeface="Arial" pitchFamily="34" charset="-120"/>
              </a:rPr>
              <a:t>Plenary: true / false — 2</a:t>
            </a:r>
            <a:endParaRPr lang="en-US" sz="820" dirty="0"/>
          </a:p>
          <a:p>
            <a:pPr indent="0" marL="0">
              <a:lnSpc>
                <a:spcPts val="1150"/>
              </a:lnSpc>
              <a:buNone/>
            </a:pPr>
            <a:r>
              <a:rPr lang="en-US" sz="820" dirty="0">
                <a:solidFill>
                  <a:srgbClr val="14282B"/>
                </a:solidFill>
                <a:latin typeface="Arial" pitchFamily="34" charset="0"/>
                <a:ea typeface="Arial" pitchFamily="34" charset="-122"/>
                <a:cs typeface="Arial" pitchFamily="34" charset="-120"/>
              </a:rPr>
              <a:t>──────────────</a:t>
            </a:r>
            <a:endParaRPr lang="en-US" sz="820" dirty="0"/>
          </a:p>
          <a:p>
            <a:pPr indent="0" marL="0">
              <a:lnSpc>
                <a:spcPts val="1150"/>
              </a:lnSpc>
              <a:buNone/>
            </a:pPr>
            <a:r>
              <a:rPr lang="en-US" sz="820" dirty="0">
                <a:solidFill>
                  <a:srgbClr val="14282B"/>
                </a:solidFill>
                <a:latin typeface="Arial" pitchFamily="34" charset="0"/>
                <a:ea typeface="Arial" pitchFamily="34" charset="-122"/>
                <a:cs typeface="Arial" pitchFamily="34" charset="-120"/>
              </a:rPr>
              <a:t>TOTAL 50 min</a:t>
            </a:r>
            <a:endParaRPr lang="en-US" sz="820" dirty="0"/>
          </a:p>
          <a:p>
            <a:pPr indent="0" marL="0">
              <a:lnSpc>
                <a:spcPts val="1150"/>
              </a:lnSpc>
              <a:buNone/>
            </a:pPr>
            <a:endParaRPr lang="en-US" sz="820" dirty="0"/>
          </a:p>
          <a:p>
            <a:pPr indent="0" marL="0">
              <a:lnSpc>
                <a:spcPts val="1150"/>
              </a:lnSpc>
              <a:buNone/>
            </a:pPr>
            <a:r>
              <a:rPr lang="en-US" sz="820" dirty="0">
                <a:solidFill>
                  <a:srgbClr val="14282B"/>
                </a:solidFill>
                <a:latin typeface="Arial" pitchFamily="34" charset="0"/>
                <a:ea typeface="Arial" pitchFamily="34" charset="-122"/>
                <a:cs typeface="Arial" pitchFamily="34" charset="-120"/>
              </a:rPr>
              <a:t>SCOPE: this lesson delivers your objective 4 ("explain how energy flows") in full, split into three teachable parts. Objective 5 (matter moving) is Lesson 3 — do not let the decomposer discussion drift into nutrient cycling, just promise it.</a:t>
            </a:r>
            <a:endParaRPr lang="en-US" sz="820" dirty="0"/>
          </a:p>
          <a:p>
            <a:pPr indent="0" marL="0">
              <a:lnSpc>
                <a:spcPts val="1150"/>
              </a:lnSpc>
              <a:buNone/>
            </a:pPr>
            <a:endParaRPr lang="en-US" sz="820" dirty="0"/>
          </a:p>
          <a:p>
            <a:pPr indent="0" marL="0">
              <a:lnSpc>
                <a:spcPts val="1150"/>
              </a:lnSpc>
              <a:buNone/>
            </a:pPr>
            <a:r>
              <a:rPr lang="en-US" sz="820" dirty="0">
                <a:solidFill>
                  <a:srgbClr val="14282B"/>
                </a:solidFill>
                <a:latin typeface="Arial" pitchFamily="34" charset="0"/>
                <a:ea typeface="Arial" pitchFamily="34" charset="-122"/>
                <a:cs typeface="Arial" pitchFamily="34" charset="-120"/>
              </a:rPr>
              <a:t>IF YOU ARE SHORT OF TIME: cut the web-building on slide 12 to a teacher demonstration and set it as the worksheet Gold instead. Do not cut slide 8. The arrow rule is the lesson.</a:t>
            </a:r>
            <a:endParaRPr lang="en-US" sz="820" dirty="0"/>
          </a:p>
          <a:p>
            <a:pPr indent="0" marL="0">
              <a:lnSpc>
                <a:spcPts val="1150"/>
              </a:lnSpc>
              <a:buNone/>
            </a:pPr>
            <a:endParaRPr lang="en-US" sz="820" dirty="0"/>
          </a:p>
          <a:p>
            <a:pPr indent="0" marL="0">
              <a:lnSpc>
                <a:spcPts val="1150"/>
              </a:lnSpc>
              <a:buNone/>
            </a:pPr>
            <a:r>
              <a:rPr lang="en-US" sz="820" dirty="0">
                <a:solidFill>
                  <a:srgbClr val="14282B"/>
                </a:solidFill>
                <a:latin typeface="Arial" pitchFamily="34" charset="0"/>
                <a:ea typeface="Arial" pitchFamily="34" charset="-122"/>
                <a:cs typeface="Arial" pitchFamily="34" charset="-120"/>
              </a:rPr>
              <a:t>SENSITIVE CONTENT — slide 16. Fishery decline. Some students will have family in fishing or in seafood processing in Rayong. Frame it as "the sea is being asked for more energy than it can make", never as blame. If a student searches this topic they may meet reporting on labour abuse in the Thai fleet; that is real but it is not today's lesson — acknowledge and move on.</a:t>
            </a:r>
            <a:endParaRPr lang="en-US" sz="82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3A3F"/>
        </a:solidFill>
      </p:bgPr>
    </p:bg>
    <p:spTree>
      <p:nvGrpSpPr>
        <p:cNvPr id="1" name=""/>
        <p:cNvGrpSpPr/>
        <p:nvPr/>
      </p:nvGrpSpPr>
      <p:grpSpPr>
        <a:xfrm>
          <a:off x="0" y="0"/>
          <a:ext cx="0" cy="0"/>
          <a:chOff x="0" y="0"/>
          <a:chExt cx="0" cy="0"/>
        </a:xfrm>
      </p:grpSpPr>
      <p:grpSp>
        <p:nvGrpSpPr>
          <p:cNvPr id="28" name="motif_ground"/>
          <p:cNvGrpSpPr/>
          <p:nvPr/>
        </p:nvGrpSpPr>
        <p:grpSpPr>
          <a:xfrm>
            <a:off x="0" y="5138928"/>
            <a:ext cx="12191695" cy="1719072"/>
            <a:chOff x="0" y="5138928"/>
            <a:chExt cx="12191695" cy="1719072"/>
          </a:xfrm>
        </p:grpSpPr>
        <p:sp>
          <p:nvSpPr>
            <p:cNvPr id="2" name="motif_water"/>
            <p:cNvSpPr/>
            <p:nvPr/>
          </p:nvSpPr>
          <p:spPr>
            <a:xfrm>
              <a:off x="0" y="5138928"/>
              <a:ext cx="12191695" cy="182880"/>
            </a:xfrm>
            <a:prstGeom prst="rect">
              <a:avLst/>
            </a:prstGeom>
            <a:solidFill>
              <a:srgbClr val="2E9E6B"/>
            </a:solidFill>
            <a:ln w="12700">
              <a:solidFill>
                <a:srgbClr val="2E9E6B"/>
              </a:solidFill>
              <a:prstDash val="solid"/>
            </a:ln>
          </p:spPr>
        </p:sp>
        <p:sp>
          <p:nvSpPr>
            <p:cNvPr id="3" name="motif_mud"/>
            <p:cNvSpPr/>
            <p:nvPr/>
          </p:nvSpPr>
          <p:spPr>
            <a:xfrm>
              <a:off x="0" y="5303520"/>
              <a:ext cx="12191695" cy="1554480"/>
            </a:xfrm>
            <a:prstGeom prst="rect">
              <a:avLst/>
            </a:prstGeom>
            <a:solidFill>
              <a:srgbClr val="2A4A44"/>
            </a:solidFill>
            <a:ln w="12700">
              <a:solidFill>
                <a:srgbClr val="2A4A44"/>
              </a:solidFill>
              <a:prstDash val="solid"/>
            </a:ln>
          </p:spPr>
        </p:sp>
      </p:grpSp>
      <p:sp>
        <p:nvSpPr>
          <p:cNvPr id="4" name="motif_sun"/>
          <p:cNvSpPr/>
          <p:nvPr/>
        </p:nvSpPr>
        <p:spPr>
          <a:xfrm>
            <a:off x="9646920" y="713232"/>
            <a:ext cx="804672" cy="804672"/>
          </a:xfrm>
          <a:prstGeom prst="ellipse">
            <a:avLst/>
          </a:prstGeom>
          <a:solidFill>
            <a:srgbClr val="F5B301"/>
          </a:solidFill>
          <a:ln w="12700">
            <a:solidFill>
              <a:srgbClr val="F5B301"/>
            </a:solidFill>
            <a:prstDash val="solid"/>
          </a:ln>
        </p:spPr>
      </p:sp>
      <p:grpSp>
        <p:nvGrpSpPr>
          <p:cNvPr id="27" name="motif_canopy"/>
          <p:cNvGrpSpPr/>
          <p:nvPr/>
        </p:nvGrpSpPr>
        <p:grpSpPr>
          <a:xfrm>
            <a:off x="6674754" y="1481328"/>
            <a:ext cx="2578242" cy="1298814"/>
            <a:chOff x="6674754" y="1481328"/>
            <a:chExt cx="2578242" cy="1298814"/>
          </a:xfrm>
        </p:grpSpPr>
        <p:sp>
          <p:nvSpPr>
            <p:cNvPr id="5" name="motif_leaf0"/>
            <p:cNvSpPr/>
            <p:nvPr/>
          </p:nvSpPr>
          <p:spPr>
            <a:xfrm>
              <a:off x="6674754" y="1907804"/>
              <a:ext cx="1376355" cy="872338"/>
            </a:xfrm>
            <a:prstGeom prst="ellipse">
              <a:avLst/>
            </a:prstGeom>
            <a:solidFill>
              <a:srgbClr val="F5B301"/>
            </a:solidFill>
            <a:ln w="12700">
              <a:solidFill>
                <a:srgbClr val="F5B301"/>
              </a:solidFill>
              <a:prstDash val="solid"/>
            </a:ln>
          </p:spPr>
        </p:sp>
        <p:sp>
          <p:nvSpPr>
            <p:cNvPr id="6" name="motif_leaf1"/>
            <p:cNvSpPr/>
            <p:nvPr/>
          </p:nvSpPr>
          <p:spPr>
            <a:xfrm>
              <a:off x="7992953" y="1946575"/>
              <a:ext cx="1260043" cy="833567"/>
            </a:xfrm>
            <a:prstGeom prst="ellipse">
              <a:avLst/>
            </a:prstGeom>
            <a:solidFill>
              <a:srgbClr val="F5B301"/>
            </a:solidFill>
            <a:ln w="12700">
              <a:solidFill>
                <a:srgbClr val="F5B301"/>
              </a:solidFill>
              <a:prstDash val="solid"/>
            </a:ln>
          </p:spPr>
        </p:sp>
        <p:sp>
          <p:nvSpPr>
            <p:cNvPr id="7" name="motif_leaf2"/>
            <p:cNvSpPr/>
            <p:nvPr/>
          </p:nvSpPr>
          <p:spPr>
            <a:xfrm>
              <a:off x="7043075" y="1617025"/>
              <a:ext cx="1279428" cy="969264"/>
            </a:xfrm>
            <a:prstGeom prst="ellipse">
              <a:avLst/>
            </a:prstGeom>
            <a:solidFill>
              <a:srgbClr val="2E9E6B"/>
            </a:solidFill>
            <a:ln w="12700">
              <a:solidFill>
                <a:srgbClr val="2E9E6B"/>
              </a:solidFill>
              <a:prstDash val="solid"/>
            </a:ln>
          </p:spPr>
        </p:sp>
        <p:sp>
          <p:nvSpPr>
            <p:cNvPr id="8" name="motif_leaf3"/>
            <p:cNvSpPr/>
            <p:nvPr/>
          </p:nvSpPr>
          <p:spPr>
            <a:xfrm>
              <a:off x="7876642" y="1481328"/>
              <a:ext cx="1221273" cy="1008035"/>
            </a:xfrm>
            <a:prstGeom prst="ellipse">
              <a:avLst/>
            </a:prstGeom>
            <a:solidFill>
              <a:srgbClr val="2E9E6B"/>
            </a:solidFill>
            <a:ln w="12700">
              <a:solidFill>
                <a:srgbClr val="2E9E6B"/>
              </a:solidFill>
              <a:prstDash val="solid"/>
            </a:ln>
          </p:spPr>
        </p:sp>
        <p:sp>
          <p:nvSpPr>
            <p:cNvPr id="9" name="motif_leaf4"/>
            <p:cNvSpPr/>
            <p:nvPr/>
          </p:nvSpPr>
          <p:spPr>
            <a:xfrm>
              <a:off x="7450165" y="1830263"/>
              <a:ext cx="1143732" cy="911108"/>
            </a:xfrm>
            <a:prstGeom prst="ellipse">
              <a:avLst/>
            </a:prstGeom>
            <a:solidFill>
              <a:srgbClr val="2E9E6B"/>
            </a:solidFill>
            <a:ln w="12700">
              <a:solidFill>
                <a:srgbClr val="2E9E6B"/>
              </a:solidFill>
              <a:prstDash val="solid"/>
            </a:ln>
          </p:spPr>
        </p:sp>
      </p:grpSp>
      <p:sp>
        <p:nvSpPr>
          <p:cNvPr id="10" name="motif_trunk"/>
          <p:cNvSpPr/>
          <p:nvPr/>
        </p:nvSpPr>
        <p:spPr>
          <a:xfrm>
            <a:off x="7891181" y="2066544"/>
            <a:ext cx="164775" cy="3163824"/>
          </a:xfrm>
          <a:prstGeom prst="rect">
            <a:avLst/>
          </a:prstGeom>
          <a:solidFill>
            <a:srgbClr val="FAF4E6"/>
          </a:solidFill>
          <a:ln w="12700">
            <a:solidFill>
              <a:srgbClr val="FAF4E6"/>
            </a:solidFill>
            <a:prstDash val="solid"/>
          </a:ln>
        </p:spPr>
      </p:sp>
      <p:grpSp>
        <p:nvGrpSpPr>
          <p:cNvPr id="26" name="motif_roots"/>
          <p:cNvGrpSpPr/>
          <p:nvPr/>
        </p:nvGrpSpPr>
        <p:grpSpPr>
          <a:xfrm>
            <a:off x="6667000" y="3941103"/>
            <a:ext cx="2651907" cy="1458837"/>
            <a:chOff x="6667000" y="3941103"/>
            <a:chExt cx="2651907" cy="1458837"/>
          </a:xfrm>
        </p:grpSpPr>
        <p:sp>
          <p:nvSpPr>
            <p:cNvPr id="11" name="motif_root0"/>
            <p:cNvSpPr/>
            <p:nvPr/>
          </p:nvSpPr>
          <p:spPr>
            <a:xfrm rot="2090839">
              <a:off x="7515591" y="3941103"/>
              <a:ext cx="82387" cy="1458837"/>
            </a:xfrm>
            <a:prstGeom prst="rect">
              <a:avLst/>
            </a:prstGeom>
            <a:solidFill>
              <a:srgbClr val="FAF4E6"/>
            </a:solidFill>
            <a:ln w="12700">
              <a:solidFill>
                <a:srgbClr val="FAF4E6"/>
              </a:solidFill>
              <a:prstDash val="solid"/>
            </a:ln>
          </p:spPr>
        </p:sp>
        <p:sp>
          <p:nvSpPr>
            <p:cNvPr id="12" name="motif_root1"/>
            <p:cNvSpPr/>
            <p:nvPr/>
          </p:nvSpPr>
          <p:spPr>
            <a:xfrm rot="1259724">
              <a:off x="7728829" y="4170660"/>
              <a:ext cx="82387" cy="1136195"/>
            </a:xfrm>
            <a:prstGeom prst="rect">
              <a:avLst/>
            </a:prstGeom>
            <a:solidFill>
              <a:srgbClr val="FAF4E6"/>
            </a:solidFill>
            <a:ln w="12700">
              <a:solidFill>
                <a:srgbClr val="FAF4E6"/>
              </a:solidFill>
              <a:prstDash val="solid"/>
            </a:ln>
          </p:spPr>
        </p:sp>
        <p:sp>
          <p:nvSpPr>
            <p:cNvPr id="13" name="motif_root2"/>
            <p:cNvSpPr/>
            <p:nvPr/>
          </p:nvSpPr>
          <p:spPr>
            <a:xfrm rot="-1259724">
              <a:off x="8135920" y="4170660"/>
              <a:ext cx="82387" cy="1136195"/>
            </a:xfrm>
            <a:prstGeom prst="rect">
              <a:avLst/>
            </a:prstGeom>
            <a:solidFill>
              <a:srgbClr val="FAF4E6"/>
            </a:solidFill>
            <a:ln w="12700">
              <a:solidFill>
                <a:srgbClr val="FAF4E6"/>
              </a:solidFill>
              <a:prstDash val="solid"/>
            </a:ln>
          </p:spPr>
        </p:sp>
        <p:sp>
          <p:nvSpPr>
            <p:cNvPr id="14" name="motif_root3"/>
            <p:cNvSpPr/>
            <p:nvPr/>
          </p:nvSpPr>
          <p:spPr>
            <a:xfrm rot="-2090839">
              <a:off x="8349158" y="3941103"/>
              <a:ext cx="82387" cy="1458837"/>
            </a:xfrm>
            <a:prstGeom prst="rect">
              <a:avLst/>
            </a:prstGeom>
            <a:solidFill>
              <a:srgbClr val="FAF4E6"/>
            </a:solidFill>
            <a:ln w="12700">
              <a:solidFill>
                <a:srgbClr val="FAF4E6"/>
              </a:solidFill>
              <a:prstDash val="solid"/>
            </a:ln>
          </p:spPr>
        </p:sp>
        <p:sp>
          <p:nvSpPr>
            <p:cNvPr id="15" name="motif_pneu0"/>
            <p:cNvSpPr/>
            <p:nvPr/>
          </p:nvSpPr>
          <p:spPr>
            <a:xfrm>
              <a:off x="6667000" y="5017130"/>
              <a:ext cx="54279" cy="232623"/>
            </a:xfrm>
            <a:prstGeom prst="rect">
              <a:avLst/>
            </a:prstGeom>
            <a:solidFill>
              <a:srgbClr val="FAF4E6"/>
            </a:solidFill>
            <a:ln w="12700">
              <a:solidFill>
                <a:srgbClr val="FAF4E6"/>
              </a:solidFill>
              <a:prstDash val="solid"/>
            </a:ln>
          </p:spPr>
        </p:sp>
        <p:sp>
          <p:nvSpPr>
            <p:cNvPr id="16" name="motif_pneu1"/>
            <p:cNvSpPr/>
            <p:nvPr/>
          </p:nvSpPr>
          <p:spPr>
            <a:xfrm>
              <a:off x="6899623" y="5017130"/>
              <a:ext cx="54279" cy="232623"/>
            </a:xfrm>
            <a:prstGeom prst="rect">
              <a:avLst/>
            </a:prstGeom>
            <a:solidFill>
              <a:srgbClr val="FAF4E6"/>
            </a:solidFill>
            <a:ln w="12700">
              <a:solidFill>
                <a:srgbClr val="FAF4E6"/>
              </a:solidFill>
              <a:prstDash val="solid"/>
            </a:ln>
          </p:spPr>
        </p:sp>
        <p:sp>
          <p:nvSpPr>
            <p:cNvPr id="17" name="motif_pneu2"/>
            <p:cNvSpPr/>
            <p:nvPr/>
          </p:nvSpPr>
          <p:spPr>
            <a:xfrm>
              <a:off x="9012619" y="5017130"/>
              <a:ext cx="54279" cy="232623"/>
            </a:xfrm>
            <a:prstGeom prst="rect">
              <a:avLst/>
            </a:prstGeom>
            <a:solidFill>
              <a:srgbClr val="FAF4E6"/>
            </a:solidFill>
            <a:ln w="12700">
              <a:solidFill>
                <a:srgbClr val="FAF4E6"/>
              </a:solidFill>
              <a:prstDash val="solid"/>
            </a:ln>
          </p:spPr>
        </p:sp>
        <p:sp>
          <p:nvSpPr>
            <p:cNvPr id="18" name="motif_pneu3"/>
            <p:cNvSpPr/>
            <p:nvPr/>
          </p:nvSpPr>
          <p:spPr>
            <a:xfrm>
              <a:off x="9264628" y="5017130"/>
              <a:ext cx="54279" cy="232623"/>
            </a:xfrm>
            <a:prstGeom prst="rect">
              <a:avLst/>
            </a:prstGeom>
            <a:solidFill>
              <a:srgbClr val="FAF4E6"/>
            </a:solidFill>
            <a:ln w="12700">
              <a:solidFill>
                <a:srgbClr val="FAF4E6"/>
              </a:solidFill>
              <a:prstDash val="solid"/>
            </a:ln>
          </p:spPr>
        </p:sp>
      </p:grpSp>
      <p:sp>
        <p:nvSpPr>
          <p:cNvPr id="19" name="motif_flow0"/>
          <p:cNvSpPr/>
          <p:nvPr/>
        </p:nvSpPr>
        <p:spPr>
          <a:xfrm rot="8290790">
            <a:off x="9811602" y="1947672"/>
            <a:ext cx="932509" cy="274320"/>
          </a:xfrm>
          <a:prstGeom prst="rightArrow">
            <a:avLst/>
          </a:prstGeom>
          <a:solidFill>
            <a:srgbClr val="F5B301"/>
          </a:solidFill>
          <a:ln w="12700">
            <a:solidFill>
              <a:srgbClr val="F5B301"/>
            </a:solidFill>
            <a:prstDash val="solid"/>
          </a:ln>
        </p:spPr>
      </p:sp>
      <p:sp>
        <p:nvSpPr>
          <p:cNvPr id="20" name="motif_flow1"/>
          <p:cNvSpPr/>
          <p:nvPr/>
        </p:nvSpPr>
        <p:spPr>
          <a:xfrm rot="8290790">
            <a:off x="9409266" y="2843784"/>
            <a:ext cx="932509" cy="274320"/>
          </a:xfrm>
          <a:prstGeom prst="rightArrow">
            <a:avLst/>
          </a:prstGeom>
          <a:solidFill>
            <a:srgbClr val="F5B301"/>
          </a:solidFill>
          <a:ln w="12700">
            <a:solidFill>
              <a:srgbClr val="F5B301"/>
            </a:solidFill>
            <a:prstDash val="solid"/>
          </a:ln>
        </p:spPr>
      </p:sp>
      <p:sp>
        <p:nvSpPr>
          <p:cNvPr id="21" name="motif_flow2"/>
          <p:cNvSpPr/>
          <p:nvPr/>
        </p:nvSpPr>
        <p:spPr>
          <a:xfrm rot="8290790">
            <a:off x="9006930" y="3739896"/>
            <a:ext cx="932509" cy="274320"/>
          </a:xfrm>
          <a:prstGeom prst="rightArrow">
            <a:avLst/>
          </a:prstGeom>
          <a:solidFill>
            <a:srgbClr val="F5B301"/>
          </a:solidFill>
          <a:ln w="12700">
            <a:solidFill>
              <a:srgbClr val="F5B301"/>
            </a:solidFill>
            <a:prstDash val="solid"/>
          </a:ln>
        </p:spPr>
      </p:sp>
      <p:sp>
        <p:nvSpPr>
          <p:cNvPr id="22" name="title_kicker"/>
          <p:cNvSpPr txBox="1"/>
          <p:nvPr/>
        </p:nvSpPr>
        <p:spPr>
          <a:xfrm>
            <a:off x="502920" y="1481328"/>
            <a:ext cx="6766560" cy="329184"/>
          </a:xfrm>
          <a:prstGeom prst="rect">
            <a:avLst/>
          </a:prstGeom>
          <a:noFill/>
          <a:ln/>
        </p:spPr>
        <p:txBody>
          <a:bodyPr wrap="square" lIns="0" tIns="0" rIns="0" bIns="0" rtlCol="0" anchor="ctr"/>
          <a:lstStyle/>
          <a:p>
            <a:pPr indent="0" marL="0">
              <a:buNone/>
            </a:pPr>
            <a:r>
              <a:rPr lang="en-US" sz="1250" b="1" spc="160" kern="0" dirty="0">
                <a:solidFill>
                  <a:srgbClr val="F5B301"/>
                </a:solidFill>
                <a:latin typeface="Arial" pitchFamily="34" charset="0"/>
                <a:ea typeface="Arial" pitchFamily="34" charset="-122"/>
                <a:cs typeface="Arial" pitchFamily="34" charset="-120"/>
              </a:rPr>
              <a:t>Y9 SCIENCE  ·  ECOSYSTEMS  ·  LESSON 2 OF 3</a:t>
            </a:r>
            <a:endParaRPr lang="en-US" sz="1250" dirty="0"/>
          </a:p>
        </p:txBody>
      </p:sp>
      <p:sp>
        <p:nvSpPr>
          <p:cNvPr id="23" name="title_main"/>
          <p:cNvSpPr txBox="1"/>
          <p:nvPr/>
        </p:nvSpPr>
        <p:spPr>
          <a:xfrm>
            <a:off x="502920" y="1883664"/>
            <a:ext cx="6766560" cy="1700784"/>
          </a:xfrm>
          <a:prstGeom prst="rect">
            <a:avLst/>
          </a:prstGeom>
          <a:noFill/>
          <a:ln/>
        </p:spPr>
        <p:txBody>
          <a:bodyPr wrap="square" lIns="0" tIns="0" rIns="0" bIns="0" rtlCol="0" anchor="ctr"/>
          <a:lstStyle/>
          <a:p>
            <a:pPr indent="0" marL="0">
              <a:lnSpc>
                <a:spcPts val="5600"/>
              </a:lnSpc>
              <a:buNone/>
            </a:pPr>
            <a:r>
              <a:rPr lang="en-US" sz="5400" b="1" dirty="0">
                <a:solidFill>
                  <a:srgbClr val="FAF4E6"/>
                </a:solidFill>
                <a:latin typeface="Georgia" pitchFamily="34" charset="0"/>
                <a:ea typeface="Georgia" pitchFamily="34" charset="-122"/>
                <a:cs typeface="Georgia" pitchFamily="34" charset="-120"/>
              </a:rPr>
              <a:t>Follow the</a:t>
            </a:r>
            <a:endParaRPr lang="en-US" sz="5400" dirty="0"/>
          </a:p>
          <a:p>
            <a:pPr indent="0" marL="0">
              <a:lnSpc>
                <a:spcPts val="5600"/>
              </a:lnSpc>
              <a:buNone/>
            </a:pPr>
            <a:r>
              <a:rPr lang="en-US" sz="5400" b="1" dirty="0">
                <a:solidFill>
                  <a:srgbClr val="FAF4E6"/>
                </a:solidFill>
                <a:latin typeface="Georgia" pitchFamily="34" charset="0"/>
                <a:ea typeface="Georgia" pitchFamily="34" charset="-122"/>
                <a:cs typeface="Georgia" pitchFamily="34" charset="-120"/>
              </a:rPr>
              <a:t>energy</a:t>
            </a:r>
            <a:endParaRPr lang="en-US" sz="5400" dirty="0"/>
          </a:p>
        </p:txBody>
      </p:sp>
      <p:sp>
        <p:nvSpPr>
          <p:cNvPr id="24" name="title_sub"/>
          <p:cNvSpPr txBox="1"/>
          <p:nvPr/>
        </p:nvSpPr>
        <p:spPr>
          <a:xfrm>
            <a:off x="502920" y="3712464"/>
            <a:ext cx="6583680" cy="786384"/>
          </a:xfrm>
          <a:prstGeom prst="rect">
            <a:avLst/>
          </a:prstGeom>
          <a:noFill/>
          <a:ln/>
        </p:spPr>
        <p:txBody>
          <a:bodyPr wrap="square" lIns="0" tIns="0" rIns="0" bIns="0" rtlCol="0" anchor="t"/>
          <a:lstStyle/>
          <a:p>
            <a:pPr indent="0" marL="0">
              <a:lnSpc>
                <a:spcPts val="2400"/>
              </a:lnSpc>
              <a:buNone/>
            </a:pPr>
            <a:r>
              <a:rPr lang="en-US" sz="1500" dirty="0">
                <a:solidFill>
                  <a:srgbClr val="F0E4C8"/>
                </a:solidFill>
                <a:latin typeface="Arial" pitchFamily="34" charset="0"/>
                <a:ea typeface="Arial" pitchFamily="34" charset="-122"/>
                <a:cs typeface="Arial" pitchFamily="34" charset="-120"/>
              </a:rPr>
              <a:t>Every mouthful in the Prasae estuary was sunlight about a week ago.</a:t>
            </a:r>
            <a:endParaRPr lang="en-US" sz="1500" dirty="0"/>
          </a:p>
          <a:p>
            <a:pPr indent="0" marL="0">
              <a:lnSpc>
                <a:spcPts val="2400"/>
              </a:lnSpc>
              <a:buNone/>
            </a:pPr>
            <a:r>
              <a:rPr lang="en-US" sz="1500" dirty="0">
                <a:solidFill>
                  <a:srgbClr val="F0E4C8"/>
                </a:solidFill>
                <a:latin typeface="Arial" pitchFamily="34" charset="0"/>
                <a:ea typeface="Arial" pitchFamily="34" charset="-122"/>
                <a:cs typeface="Arial" pitchFamily="34" charset="-120"/>
              </a:rPr>
              <a:t>Follow it far enough and it runs out.</a:t>
            </a:r>
            <a:endParaRPr lang="en-US" sz="1500" dirty="0"/>
          </a:p>
        </p:txBody>
      </p:sp>
      <p:sp>
        <p:nvSpPr>
          <p:cNvPr id="25" name="title_place"/>
          <p:cNvSpPr txBox="1"/>
          <p:nvPr/>
        </p:nvSpPr>
        <p:spPr>
          <a:xfrm>
            <a:off x="502920" y="5760720"/>
            <a:ext cx="6400800" cy="329184"/>
          </a:xfrm>
          <a:prstGeom prst="rect">
            <a:avLst/>
          </a:prstGeom>
          <a:noFill/>
          <a:ln/>
        </p:spPr>
        <p:txBody>
          <a:bodyPr wrap="square" lIns="0" tIns="0" rIns="0" bIns="0" rtlCol="0" anchor="ctr"/>
          <a:lstStyle/>
          <a:p>
            <a:pPr indent="0" marL="0">
              <a:buNone/>
            </a:pPr>
            <a:r>
              <a:rPr lang="en-US" sz="1200" i="1" dirty="0">
                <a:solidFill>
                  <a:srgbClr val="F5B301"/>
                </a:solidFill>
                <a:latin typeface="Arial" pitchFamily="34" charset="0"/>
                <a:ea typeface="Arial" pitchFamily="34" charset="-122"/>
                <a:cs typeface="Arial" pitchFamily="34" charset="-120"/>
              </a:rPr>
              <a:t>Pak Nam Prasae  ·  Klaeng  ·  Rayong</a:t>
            </a:r>
            <a:endParaRPr lang="en-US"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4" fill="hold">
                      <p:stCondLst>
                        <p:cond delay="0"/>
                      </p:stCondLst>
                      <p:childTnLst>
                        <p:par>
                          <p:cTn id="45" fill="hold">
                            <p:stCondLst>
                              <p:cond delay="0"/>
                            </p:stCondLst>
                            <p:childTnLst>
                              <p:par>
                                <p:cTn id="5" presetID="10" presetClass="entr" presetSubtype="0" fill="hold" grpId="0" nodeType="withEffect">
                                  <p:stCondLst>
                                    <p:cond delay="0"/>
                                  </p:stCondLst>
                                  <p:childTnLst>
                                    <p:set>
                                      <p:cBhvr>
                                        <p:cTn id="3" dur="1" fill="hold">
                                          <p:stCondLst>
                                            <p:cond delay="0"/>
                                          </p:stCondLst>
                                        </p:cTn>
                                        <p:tgtEl>
                                          <p:spTgt spid="22"/>
                                        </p:tgtEl>
                                        <p:attrNameLst>
                                          <p:attrName>style.visibility</p:attrName>
                                        </p:attrNameLst>
                                      </p:cBhvr>
                                      <p:to>
                                        <p:strVal val="visible"/>
                                      </p:to>
                                    </p:set>
                                    <p:animEffect transition="in" filter="fade">
                                      <p:cBhvr>
                                        <p:cTn id="4" dur="500"/>
                                        <p:tgtEl>
                                          <p:spTgt spid="22"/>
                                        </p:tgtEl>
                                      </p:cBhvr>
                                    </p:animEffect>
                                  </p:childTnLst>
                                </p:cTn>
                              </p:par>
                              <p:par>
                                <p:cTn id="8" presetID="10" presetClass="entr" presetSubtype="0" fill="hold" grpId="0" nodeType="withEffect">
                                  <p:stCondLst>
                                    <p:cond delay="15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700"/>
                                        <p:tgtEl>
                                          <p:spTgt spid="23"/>
                                        </p:tgtEl>
                                      </p:cBhvr>
                                    </p:animEffect>
                                  </p:childTnLst>
                                </p:cTn>
                              </p:par>
                              <p:par>
                                <p:cTn id="11" presetID="22" presetClass="entr" presetSubtype="8" fill="hold" grpId="0" nodeType="withEffect">
                                  <p:stCondLst>
                                    <p:cond delay="350"/>
                                  </p:stCondLst>
                                  <p:childTnLst>
                                    <p:set>
                                      <p:cBhvr>
                                        <p:cTn id="9" dur="1" fill="hold">
                                          <p:stCondLst>
                                            <p:cond delay="0"/>
                                          </p:stCondLst>
                                        </p:cTn>
                                        <p:tgtEl>
                                          <p:spTgt spid="28"/>
                                        </p:tgtEl>
                                        <p:attrNameLst>
                                          <p:attrName>style.visibility</p:attrName>
                                        </p:attrNameLst>
                                      </p:cBhvr>
                                      <p:to>
                                        <p:strVal val="visible"/>
                                      </p:to>
                                    </p:set>
                                    <p:animEffect transition="in" filter="wipe(right)">
                                      <p:cBhvr>
                                        <p:cTn id="10" dur="500"/>
                                        <p:tgtEl>
                                          <p:spTgt spid="28"/>
                                        </p:tgtEl>
                                      </p:cBhvr>
                                    </p:animEffect>
                                  </p:childTnLst>
                                </p:cTn>
                              </p:par>
                              <p:par>
                                <p:cTn id="15" presetID="23" presetClass="entr" presetSubtype="16" fill="hold" grpId="0" nodeType="withEffect">
                                  <p:stCondLst>
                                    <p:cond delay="50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animScale>
                                      <p:cBhvr>
                                        <p:cTn id="14" dur="500" fill="hold"/>
                                        <p:tgtEl>
                                          <p:spTgt spid="4"/>
                                        </p:tgtEl>
                                      </p:cBhvr>
                                      <p:from x="0" y="0"/>
                                      <p:to x="100000" y="100000"/>
                                    </p:animScale>
                                  </p:childTnLst>
                                </p:cTn>
                              </p:par>
                              <p:par>
                                <p:cTn id="18" presetID="22" presetClass="entr" presetSubtype="4" fill="hold" grpId="0" nodeType="withEffect">
                                  <p:stCondLst>
                                    <p:cond delay="650"/>
                                  </p:stCondLst>
                                  <p:childTnLst>
                                    <p:set>
                                      <p:cBhvr>
                                        <p:cTn id="16" dur="1" fill="hold">
                                          <p:stCondLst>
                                            <p:cond delay="0"/>
                                          </p:stCondLst>
                                        </p:cTn>
                                        <p:tgtEl>
                                          <p:spTgt spid="10"/>
                                        </p:tgtEl>
                                        <p:attrNameLst>
                                          <p:attrName>style.visibility</p:attrName>
                                        </p:attrNameLst>
                                      </p:cBhvr>
                                      <p:to>
                                        <p:strVal val="visible"/>
                                      </p:to>
                                    </p:set>
                                    <p:animEffect transition="in" filter="wipe(up)">
                                      <p:cBhvr>
                                        <p:cTn id="17" dur="500"/>
                                        <p:tgtEl>
                                          <p:spTgt spid="10"/>
                                        </p:tgtEl>
                                      </p:cBhvr>
                                    </p:animEffect>
                                  </p:childTnLst>
                                </p:cTn>
                              </p:par>
                              <p:par>
                                <p:cTn id="21" presetID="10" presetClass="entr" presetSubtype="0" fill="hold" grpId="0" nodeType="withEffect">
                                  <p:stCondLst>
                                    <p:cond delay="800"/>
                                  </p:stCondLst>
                                  <p:childTnLst>
                                    <p:set>
                                      <p:cBhvr>
                                        <p:cTn id="19" dur="1" fill="hold">
                                          <p:stCondLst>
                                            <p:cond delay="0"/>
                                          </p:stCondLst>
                                        </p:cTn>
                                        <p:tgtEl>
                                          <p:spTgt spid="26"/>
                                        </p:tgtEl>
                                        <p:attrNameLst>
                                          <p:attrName>style.visibility</p:attrName>
                                        </p:attrNameLst>
                                      </p:cBhvr>
                                      <p:to>
                                        <p:strVal val="visible"/>
                                      </p:to>
                                    </p:set>
                                    <p:animEffect transition="in" filter="fade">
                                      <p:cBhvr>
                                        <p:cTn id="20" dur="500"/>
                                        <p:tgtEl>
                                          <p:spTgt spid="26"/>
                                        </p:tgtEl>
                                      </p:cBhvr>
                                    </p:animEffect>
                                  </p:childTnLst>
                                </p:cTn>
                              </p:par>
                              <p:par>
                                <p:cTn id="25" presetID="23" presetClass="entr" presetSubtype="16" fill="hold" grpId="0" nodeType="withEffect">
                                  <p:stCondLst>
                                    <p:cond delay="950"/>
                                  </p:stCondLst>
                                  <p:childTnLst>
                                    <p:set>
                                      <p:cBhvr>
                                        <p:cTn id="22" dur="1" fill="hold">
                                          <p:stCondLst>
                                            <p:cond delay="0"/>
                                          </p:stCondLst>
                                        </p:cTn>
                                        <p:tgtEl>
                                          <p:spTgt spid="27"/>
                                        </p:tgtEl>
                                        <p:attrNameLst>
                                          <p:attrName>style.visibility</p:attrName>
                                        </p:attrNameLst>
                                      </p:cBhvr>
                                      <p:to>
                                        <p:strVal val="visible"/>
                                      </p:to>
                                    </p:set>
                                    <p:animEffect transition="in" filter="fade">
                                      <p:cBhvr>
                                        <p:cTn id="23" dur="500"/>
                                        <p:tgtEl>
                                          <p:spTgt spid="27"/>
                                        </p:tgtEl>
                                      </p:cBhvr>
                                    </p:animEffect>
                                    <p:animScale>
                                      <p:cBhvr>
                                        <p:cTn id="24" dur="500" fill="hold"/>
                                        <p:tgtEl>
                                          <p:spTgt spid="27"/>
                                        </p:tgtEl>
                                      </p:cBhvr>
                                      <p:from x="0" y="0"/>
                                      <p:to x="100000" y="100000"/>
                                    </p:animScale>
                                  </p:childTnLst>
                                </p:cTn>
                              </p:par>
                              <p:par>
                                <p:cTn id="29" presetID="2" presetClass="entr" presetSubtype="1" fill="hold" grpId="0" nodeType="withEffect">
                                  <p:stCondLst>
                                    <p:cond delay="1150"/>
                                  </p:stCondLst>
                                  <p:childTnLst>
                                    <p:set>
                                      <p:cBhvr>
                                        <p:cTn id="26" dur="1" fill="hold">
                                          <p:stCondLst>
                                            <p:cond delay="0"/>
                                          </p:stCondLst>
                                        </p:cTn>
                                        <p:tgtEl>
                                          <p:spTgt spid="19"/>
                                        </p:tgtEl>
                                        <p:attrNameLst>
                                          <p:attrName>style.visibility</p:attrName>
                                        </p:attrNameLst>
                                      </p:cBhvr>
                                      <p:to>
                                        <p:strVal val="visible"/>
                                      </p:to>
                                    </p:set>
                                    <p:anim calcmode="lin" valueType="num">
                                      <p:cBhvr additive="base">
                                        <p:cTn id="27" dur="500" fill="hold"/>
                                        <p:tgtEl>
                                          <p:spTgt spid="19"/>
                                        </p:tgtEl>
                                        <p:attrNameLst>
                                          <p:attrName>ppt_x</p:attrName>
                                        </p:attrNameLst>
                                      </p:cBhvr>
                                      <p:tavLst>
                                        <p:tav tm="0">
                                          <p:val>
                                            <p:strVal val="#ppt_x"/>
                                          </p:val>
                                        </p:tav>
                                        <p:tav tm="100000">
                                          <p:val>
                                            <p:strVal val="#ppt_x"/>
                                          </p:val>
                                        </p:tav>
                                      </p:tavLst>
                                    </p:anim>
                                    <p:anim calcmode="lin" valueType="num">
                                      <p:cBhvr additive="base">
                                        <p:cTn id="28" dur="500" fill="hold"/>
                                        <p:tgtEl>
                                          <p:spTgt spid="19"/>
                                        </p:tgtEl>
                                        <p:attrNameLst>
                                          <p:attrName>ppt_y</p:attrName>
                                        </p:attrNameLst>
                                      </p:cBhvr>
                                      <p:tavLst>
                                        <p:tav tm="0">
                                          <p:val>
                                            <p:strVal val="0-#ppt_h/2"/>
                                          </p:val>
                                        </p:tav>
                                        <p:tav tm="100000">
                                          <p:val>
                                            <p:strVal val="#ppt_y"/>
                                          </p:val>
                                        </p:tav>
                                      </p:tavLst>
                                    </p:anim>
                                  </p:childTnLst>
                                </p:cTn>
                              </p:par>
                              <p:par>
                                <p:cTn id="33" presetID="2" presetClass="entr" presetSubtype="1" fill="hold" grpId="0" nodeType="withEffect">
                                  <p:stCondLst>
                                    <p:cond delay="1300"/>
                                  </p:stCondLst>
                                  <p:childTnLst>
                                    <p:set>
                                      <p:cBhvr>
                                        <p:cTn id="30" dur="1" fill="hold">
                                          <p:stCondLst>
                                            <p:cond delay="0"/>
                                          </p:stCondLst>
                                        </p:cTn>
                                        <p:tgtEl>
                                          <p:spTgt spid="20"/>
                                        </p:tgtEl>
                                        <p:attrNameLst>
                                          <p:attrName>style.visibility</p:attrName>
                                        </p:attrNameLst>
                                      </p:cBhvr>
                                      <p:to>
                                        <p:strVal val="visible"/>
                                      </p:to>
                                    </p:set>
                                    <p:anim calcmode="lin" valueType="num">
                                      <p:cBhvr additive="base">
                                        <p:cTn id="31" dur="500" fill="hold"/>
                                        <p:tgtEl>
                                          <p:spTgt spid="20"/>
                                        </p:tgtEl>
                                        <p:attrNameLst>
                                          <p:attrName>ppt_x</p:attrName>
                                        </p:attrNameLst>
                                      </p:cBhvr>
                                      <p:tavLst>
                                        <p:tav tm="0">
                                          <p:val>
                                            <p:strVal val="#ppt_x"/>
                                          </p:val>
                                        </p:tav>
                                        <p:tav tm="100000">
                                          <p:val>
                                            <p:strVal val="#ppt_x"/>
                                          </p:val>
                                        </p:tav>
                                      </p:tavLst>
                                    </p:anim>
                                    <p:anim calcmode="lin" valueType="num">
                                      <p:cBhvr additive="base">
                                        <p:cTn id="32" dur="500" fill="hold"/>
                                        <p:tgtEl>
                                          <p:spTgt spid="20"/>
                                        </p:tgtEl>
                                        <p:attrNameLst>
                                          <p:attrName>ppt_y</p:attrName>
                                        </p:attrNameLst>
                                      </p:cBhvr>
                                      <p:tavLst>
                                        <p:tav tm="0">
                                          <p:val>
                                            <p:strVal val="0-#ppt_h/2"/>
                                          </p:val>
                                        </p:tav>
                                        <p:tav tm="100000">
                                          <p:val>
                                            <p:strVal val="#ppt_y"/>
                                          </p:val>
                                        </p:tav>
                                      </p:tavLst>
                                    </p:anim>
                                  </p:childTnLst>
                                </p:cTn>
                              </p:par>
                              <p:par>
                                <p:cTn id="37" presetID="2" presetClass="entr" presetSubtype="1" fill="hold" grpId="0" nodeType="withEffect">
                                  <p:stCondLst>
                                    <p:cond delay="1450"/>
                                  </p:stCondLst>
                                  <p:childTnLst>
                                    <p:set>
                                      <p:cBhvr>
                                        <p:cTn id="34" dur="1" fill="hold">
                                          <p:stCondLst>
                                            <p:cond delay="0"/>
                                          </p:stCondLst>
                                        </p:cTn>
                                        <p:tgtEl>
                                          <p:spTgt spid="21"/>
                                        </p:tgtEl>
                                        <p:attrNameLst>
                                          <p:attrName>style.visibility</p:attrName>
                                        </p:attrNameLst>
                                      </p:cBhvr>
                                      <p:to>
                                        <p:strVal val="visible"/>
                                      </p:to>
                                    </p:set>
                                    <p:anim calcmode="lin" valueType="num">
                                      <p:cBhvr additive="base">
                                        <p:cTn id="35" dur="500" fill="hold"/>
                                        <p:tgtEl>
                                          <p:spTgt spid="21"/>
                                        </p:tgtEl>
                                        <p:attrNameLst>
                                          <p:attrName>ppt_x</p:attrName>
                                        </p:attrNameLst>
                                      </p:cBhvr>
                                      <p:tavLst>
                                        <p:tav tm="0">
                                          <p:val>
                                            <p:strVal val="#ppt_x"/>
                                          </p:val>
                                        </p:tav>
                                        <p:tav tm="100000">
                                          <p:val>
                                            <p:strVal val="#ppt_x"/>
                                          </p:val>
                                        </p:tav>
                                      </p:tavLst>
                                    </p:anim>
                                    <p:anim calcmode="lin" valueType="num">
                                      <p:cBhvr additive="base">
                                        <p:cTn id="36" dur="500" fill="hold"/>
                                        <p:tgtEl>
                                          <p:spTgt spid="21"/>
                                        </p:tgtEl>
                                        <p:attrNameLst>
                                          <p:attrName>ppt_y</p:attrName>
                                        </p:attrNameLst>
                                      </p:cBhvr>
                                      <p:tavLst>
                                        <p:tav tm="0">
                                          <p:val>
                                            <p:strVal val="0-#ppt_h/2"/>
                                          </p:val>
                                        </p:tav>
                                        <p:tav tm="100000">
                                          <p:val>
                                            <p:strVal val="#ppt_y"/>
                                          </p:val>
                                        </p:tav>
                                      </p:tavLst>
                                    </p:anim>
                                  </p:childTnLst>
                                </p:cTn>
                              </p:par>
                              <p:par>
                                <p:cTn id="40" presetID="10" presetClass="entr" presetSubtype="0" fill="hold" grpId="0" nodeType="withEffect">
                                  <p:stCondLst>
                                    <p:cond delay="1650"/>
                                  </p:stCondLst>
                                  <p:childTnLst>
                                    <p:set>
                                      <p:cBhvr>
                                        <p:cTn id="38" dur="1" fill="hold">
                                          <p:stCondLst>
                                            <p:cond delay="0"/>
                                          </p:stCondLst>
                                        </p:cTn>
                                        <p:tgtEl>
                                          <p:spTgt spid="24"/>
                                        </p:tgtEl>
                                        <p:attrNameLst>
                                          <p:attrName>style.visibility</p:attrName>
                                        </p:attrNameLst>
                                      </p:cBhvr>
                                      <p:to>
                                        <p:strVal val="visible"/>
                                      </p:to>
                                    </p:set>
                                    <p:animEffect transition="in" filter="fade">
                                      <p:cBhvr>
                                        <p:cTn id="39" dur="500"/>
                                        <p:tgtEl>
                                          <p:spTgt spid="24"/>
                                        </p:tgtEl>
                                      </p:cBhvr>
                                    </p:animEffect>
                                  </p:childTnLst>
                                </p:cTn>
                              </p:par>
                              <p:par>
                                <p:cTn id="43" presetID="10" presetClass="entr" presetSubtype="0" fill="hold" grpId="0" nodeType="withEffect">
                                  <p:stCondLst>
                                    <p:cond delay="1800"/>
                                  </p:stCondLst>
                                  <p:childTnLst>
                                    <p:set>
                                      <p:cBhvr>
                                        <p:cTn id="41" dur="1" fill="hold">
                                          <p:stCondLst>
                                            <p:cond delay="0"/>
                                          </p:stCondLst>
                                        </p:cTn>
                                        <p:tgtEl>
                                          <p:spTgt spid="25"/>
                                        </p:tgtEl>
                                        <p:attrNameLst>
                                          <p:attrName>style.visibility</p:attrName>
                                        </p:attrNameLst>
                                      </p:cBhvr>
                                      <p:to>
                                        <p:strVal val="visible"/>
                                      </p:to>
                                    </p:set>
                                    <p:animEffect transition="in" filter="fade">
                                      <p:cBhvr>
                                        <p:cTn id="42"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4E6"/>
        </a:solidFill>
      </p:bgPr>
    </p:bg>
    <p:spTree>
      <p:nvGrpSpPr>
        <p:cNvPr id="1" name=""/>
        <p:cNvGrpSpPr/>
        <p:nvPr/>
      </p:nvGrpSpPr>
      <p:grpSpPr>
        <a:xfrm>
          <a:off x="0" y="0"/>
          <a:ext cx="0" cy="0"/>
          <a:chOff x="0" y="0"/>
          <a:chExt cx="0" cy="0"/>
        </a:xfrm>
      </p:grpSpPr>
      <p:sp>
        <p:nvSpPr>
          <p:cNvPr id="2" name="phase_pill"/>
          <p:cNvSpPr/>
          <p:nvPr/>
        </p:nvSpPr>
        <p:spPr>
          <a:xfrm>
            <a:off x="502920" y="274320"/>
            <a:ext cx="3017520" cy="347472"/>
          </a:xfrm>
          <a:prstGeom prst="roundRect">
            <a:avLst>
              <a:gd name="adj" fmla="val 50000"/>
            </a:avLst>
          </a:prstGeom>
          <a:solidFill>
            <a:srgbClr val="0E3A3F"/>
          </a:solidFill>
          <a:ln/>
        </p:spPr>
        <p:txBody>
          <a:bodyPr wrap="square" lIns="0" tIns="0" rIns="0" bIns="0" rtlCol="0" anchor="ctr"/>
          <a:lstStyle/>
          <a:p>
            <a:pPr algn="ctr" indent="0" marL="0">
              <a:buNone/>
            </a:pPr>
            <a:r>
              <a:rPr lang="en-US" sz="1100" b="1" spc="110" kern="0" dirty="0">
                <a:solidFill>
                  <a:srgbClr val="FAF4E6"/>
                </a:solidFill>
                <a:latin typeface="Arial" pitchFamily="34" charset="0"/>
                <a:ea typeface="Arial" pitchFamily="34" charset="-122"/>
                <a:cs typeface="Arial" pitchFamily="34" charset="-120"/>
              </a:rPr>
              <a:t>OBJECTIVES · 1 MIN</a:t>
            </a:r>
            <a:endParaRPr lang="en-US" sz="1100" dirty="0"/>
          </a:p>
        </p:txBody>
      </p:sp>
      <p:sp>
        <p:nvSpPr>
          <p:cNvPr id="3" name="slide_title"/>
          <p:cNvSpPr txBox="1"/>
          <p:nvPr/>
        </p:nvSpPr>
        <p:spPr>
          <a:xfrm>
            <a:off x="502920" y="914400"/>
            <a:ext cx="11185855" cy="658368"/>
          </a:xfrm>
          <a:prstGeom prst="rect">
            <a:avLst/>
          </a:prstGeom>
          <a:noFill/>
          <a:ln/>
        </p:spPr>
        <p:txBody>
          <a:bodyPr wrap="square" lIns="0" tIns="0" rIns="0" bIns="0" rtlCol="0" anchor="ctr"/>
          <a:lstStyle/>
          <a:p>
            <a:pPr algn="l" indent="0" marL="0">
              <a:buNone/>
            </a:pPr>
            <a:r>
              <a:rPr lang="en-US" sz="3000" b="1" dirty="0">
                <a:solidFill>
                  <a:srgbClr val="0E3A3F"/>
                </a:solidFill>
                <a:latin typeface="Georgia" pitchFamily="34" charset="0"/>
                <a:ea typeface="Georgia" pitchFamily="34" charset="-122"/>
                <a:cs typeface="Georgia" pitchFamily="34" charset="-120"/>
              </a:rPr>
              <a:t>Today, and how you will know you got there</a:t>
            </a:r>
            <a:endParaRPr lang="en-US" sz="3000" dirty="0"/>
          </a:p>
        </p:txBody>
      </p:sp>
      <p:grpSp>
        <p:nvGrpSpPr>
          <p:cNvPr id="25" name="obj_block"/>
          <p:cNvGrpSpPr/>
          <p:nvPr/>
        </p:nvGrpSpPr>
        <p:grpSpPr>
          <a:xfrm>
            <a:off x="502920" y="1810512"/>
            <a:ext cx="5394960" cy="4114800"/>
            <a:chOff x="502920" y="1810512"/>
            <a:chExt cx="5394960" cy="4114800"/>
          </a:xfrm>
        </p:grpSpPr>
        <p:sp>
          <p:nvSpPr>
            <p:cNvPr id="4" name="obj_card"/>
            <p:cNvSpPr/>
            <p:nvPr/>
          </p:nvSpPr>
          <p:spPr>
            <a:xfrm>
              <a:off x="502920" y="1810512"/>
              <a:ext cx="5394960" cy="4114800"/>
            </a:xfrm>
            <a:prstGeom prst="roundRect">
              <a:avLst>
                <a:gd name="adj" fmla="val 3111"/>
              </a:avLst>
            </a:prstGeom>
            <a:solidFill>
              <a:srgbClr val="FFFFFF"/>
            </a:solidFill>
            <a:ln w="15875">
              <a:solidFill>
                <a:srgbClr val="F0E4C8"/>
              </a:solidFill>
              <a:prstDash val="solid"/>
            </a:ln>
          </p:spPr>
        </p:sp>
        <p:sp>
          <p:nvSpPr>
            <p:cNvPr id="5" name="obj_head"/>
            <p:cNvSpPr txBox="1"/>
            <p:nvPr/>
          </p:nvSpPr>
          <p:spPr>
            <a:xfrm>
              <a:off x="740664" y="1993392"/>
              <a:ext cx="4937760" cy="274320"/>
            </a:xfrm>
            <a:prstGeom prst="rect">
              <a:avLst/>
            </a:prstGeom>
            <a:noFill/>
            <a:ln/>
          </p:spPr>
          <p:txBody>
            <a:bodyPr wrap="square" lIns="0" tIns="0" rIns="0" bIns="0" rtlCol="0" anchor="ctr"/>
            <a:lstStyle/>
            <a:p>
              <a:pPr indent="0" marL="0">
                <a:buNone/>
              </a:pPr>
              <a:r>
                <a:rPr lang="en-US" sz="1100" b="1" spc="100" kern="0" dirty="0">
                  <a:solidFill>
                    <a:srgbClr val="0E3A3F"/>
                  </a:solidFill>
                  <a:latin typeface="Arial" pitchFamily="34" charset="0"/>
                  <a:ea typeface="Arial" pitchFamily="34" charset="-122"/>
                  <a:cs typeface="Arial" pitchFamily="34" charset="-120"/>
                </a:rPr>
                <a:t>LESSON OBJECTIVES</a:t>
              </a:r>
              <a:endParaRPr lang="en-US" sz="1100" dirty="0"/>
            </a:p>
          </p:txBody>
        </p:sp>
        <p:sp>
          <p:nvSpPr>
            <p:cNvPr id="12" name="obj_seq"/>
            <p:cNvSpPr txBox="1"/>
            <p:nvPr/>
          </p:nvSpPr>
          <p:spPr>
            <a:xfrm>
              <a:off x="740664" y="5486400"/>
              <a:ext cx="4937760" cy="292608"/>
            </a:xfrm>
            <a:prstGeom prst="rect">
              <a:avLst/>
            </a:prstGeom>
            <a:noFill/>
            <a:ln/>
          </p:spPr>
          <p:txBody>
            <a:bodyPr wrap="square" lIns="0" tIns="0" rIns="0" bIns="0" rtlCol="0" anchor="ctr"/>
            <a:lstStyle/>
            <a:p>
              <a:pPr indent="0" marL="0">
                <a:buNone/>
              </a:pPr>
              <a:r>
                <a:rPr lang="en-US" sz="1050" i="1" dirty="0">
                  <a:solidFill>
                    <a:srgbClr val="4A6165"/>
                  </a:solidFill>
                  <a:latin typeface="Arial" pitchFamily="34" charset="0"/>
                  <a:ea typeface="Arial" pitchFamily="34" charset="-122"/>
                  <a:cs typeface="Arial" pitchFamily="34" charset="-120"/>
                </a:rPr>
                <a:t>Last lesson: what an ecosystem is.   Next lesson: how the matter gets used again.</a:t>
              </a:r>
              <a:endParaRPr lang="en-US" sz="1050" dirty="0"/>
            </a:p>
          </p:txBody>
        </p:sp>
        <p:sp>
          <p:nvSpPr>
            <p:cNvPr id="6" name="obj0_n"/>
            <p:cNvSpPr txBox="1"/>
            <p:nvPr/>
          </p:nvSpPr>
          <p:spPr>
            <a:xfrm>
              <a:off x="740664" y="2414016"/>
              <a:ext cx="329184" cy="310896"/>
            </a:xfrm>
            <a:prstGeom prst="rect">
              <a:avLst/>
            </a:prstGeom>
            <a:noFill/>
            <a:ln/>
          </p:spPr>
          <p:txBody>
            <a:bodyPr wrap="square" lIns="0" tIns="0" rIns="0" bIns="0" rtlCol="0" anchor="t"/>
            <a:lstStyle/>
            <a:p>
              <a:pPr indent="0" marL="0">
                <a:buNone/>
              </a:pPr>
              <a:r>
                <a:rPr lang="en-US" sz="1500" b="1" dirty="0">
                  <a:solidFill>
                    <a:srgbClr val="F5B301"/>
                  </a:solidFill>
                  <a:latin typeface="Arial" pitchFamily="34" charset="0"/>
                  <a:ea typeface="Arial" pitchFamily="34" charset="-122"/>
                  <a:cs typeface="Arial" pitchFamily="34" charset="-120"/>
                </a:rPr>
                <a:t>1.</a:t>
              </a:r>
              <a:endParaRPr lang="en-US" sz="1500" dirty="0"/>
            </a:p>
          </p:txBody>
        </p:sp>
        <p:sp>
          <p:nvSpPr>
            <p:cNvPr id="7" name="obj0_t"/>
            <p:cNvSpPr txBox="1"/>
            <p:nvPr/>
          </p:nvSpPr>
          <p:spPr>
            <a:xfrm>
              <a:off x="1106424" y="2414016"/>
              <a:ext cx="4572000" cy="1005840"/>
            </a:xfrm>
            <a:prstGeom prst="rect">
              <a:avLst/>
            </a:prstGeom>
            <a:noFill/>
            <a:ln/>
          </p:spPr>
          <p:txBody>
            <a:bodyPr wrap="square" lIns="0" tIns="0" rIns="0" bIns="0" rtlCol="0" anchor="t"/>
            <a:lstStyle/>
            <a:p>
              <a:pPr indent="0" marL="0">
                <a:lnSpc>
                  <a:spcPts val="1900"/>
                </a:lnSpc>
                <a:buNone/>
              </a:pPr>
              <a:r>
                <a:rPr lang="en-US" sz="1350" dirty="0">
                  <a:solidFill>
                    <a:srgbClr val="14282B"/>
                  </a:solidFill>
                  <a:latin typeface="Arial" pitchFamily="34" charset="0"/>
                  <a:ea typeface="Arial" pitchFamily="34" charset="-122"/>
                  <a:cs typeface="Arial" pitchFamily="34" charset="-120"/>
                </a:rPr>
                <a:t>Explain what the arrows in a food chain show, and draw them the right way round.</a:t>
              </a:r>
              <a:endParaRPr lang="en-US" sz="1350" dirty="0"/>
            </a:p>
          </p:txBody>
        </p:sp>
        <p:sp>
          <p:nvSpPr>
            <p:cNvPr id="8" name="obj1_n"/>
            <p:cNvSpPr txBox="1"/>
            <p:nvPr/>
          </p:nvSpPr>
          <p:spPr>
            <a:xfrm>
              <a:off x="740664" y="3529584"/>
              <a:ext cx="329184" cy="310896"/>
            </a:xfrm>
            <a:prstGeom prst="rect">
              <a:avLst/>
            </a:prstGeom>
            <a:noFill/>
            <a:ln/>
          </p:spPr>
          <p:txBody>
            <a:bodyPr wrap="square" lIns="0" tIns="0" rIns="0" bIns="0" rtlCol="0" anchor="t"/>
            <a:lstStyle/>
            <a:p>
              <a:pPr indent="0" marL="0">
                <a:buNone/>
              </a:pPr>
              <a:r>
                <a:rPr lang="en-US" sz="1500" b="1" dirty="0">
                  <a:solidFill>
                    <a:srgbClr val="F5B301"/>
                  </a:solidFill>
                  <a:latin typeface="Arial" pitchFamily="34" charset="0"/>
                  <a:ea typeface="Arial" pitchFamily="34" charset="-122"/>
                  <a:cs typeface="Arial" pitchFamily="34" charset="-120"/>
                </a:rPr>
                <a:t>2.</a:t>
              </a:r>
              <a:endParaRPr lang="en-US" sz="1500" dirty="0"/>
            </a:p>
          </p:txBody>
        </p:sp>
        <p:sp>
          <p:nvSpPr>
            <p:cNvPr id="9" name="obj1_t"/>
            <p:cNvSpPr txBox="1"/>
            <p:nvPr/>
          </p:nvSpPr>
          <p:spPr>
            <a:xfrm>
              <a:off x="1106424" y="3529584"/>
              <a:ext cx="4572000" cy="1005840"/>
            </a:xfrm>
            <a:prstGeom prst="rect">
              <a:avLst/>
            </a:prstGeom>
            <a:noFill/>
            <a:ln/>
          </p:spPr>
          <p:txBody>
            <a:bodyPr wrap="square" lIns="0" tIns="0" rIns="0" bIns="0" rtlCol="0" anchor="t"/>
            <a:lstStyle/>
            <a:p>
              <a:pPr indent="0" marL="0">
                <a:lnSpc>
                  <a:spcPts val="1900"/>
                </a:lnSpc>
                <a:buNone/>
              </a:pPr>
              <a:r>
                <a:rPr lang="en-US" sz="1350" dirty="0">
                  <a:solidFill>
                    <a:srgbClr val="14282B"/>
                  </a:solidFill>
                  <a:latin typeface="Arial" pitchFamily="34" charset="0"/>
                  <a:ea typeface="Arial" pitchFamily="34" charset="-122"/>
                  <a:cs typeface="Arial" pitchFamily="34" charset="-120"/>
                </a:rPr>
                <a:t>Classify consumers as herbivores, carnivores, omnivores, scavengers or grazers — and as predators or prey.</a:t>
              </a:r>
              <a:endParaRPr lang="en-US" sz="1350" dirty="0"/>
            </a:p>
          </p:txBody>
        </p:sp>
        <p:sp>
          <p:nvSpPr>
            <p:cNvPr id="10" name="obj2_n"/>
            <p:cNvSpPr txBox="1"/>
            <p:nvPr/>
          </p:nvSpPr>
          <p:spPr>
            <a:xfrm>
              <a:off x="740664" y="4645152"/>
              <a:ext cx="329184" cy="310896"/>
            </a:xfrm>
            <a:prstGeom prst="rect">
              <a:avLst/>
            </a:prstGeom>
            <a:noFill/>
            <a:ln/>
          </p:spPr>
          <p:txBody>
            <a:bodyPr wrap="square" lIns="0" tIns="0" rIns="0" bIns="0" rtlCol="0" anchor="t"/>
            <a:lstStyle/>
            <a:p>
              <a:pPr indent="0" marL="0">
                <a:buNone/>
              </a:pPr>
              <a:r>
                <a:rPr lang="en-US" sz="1500" b="1" dirty="0">
                  <a:solidFill>
                    <a:srgbClr val="F5B301"/>
                  </a:solidFill>
                  <a:latin typeface="Arial" pitchFamily="34" charset="0"/>
                  <a:ea typeface="Arial" pitchFamily="34" charset="-122"/>
                  <a:cs typeface="Arial" pitchFamily="34" charset="-120"/>
                </a:rPr>
                <a:t>3.</a:t>
              </a:r>
              <a:endParaRPr lang="en-US" sz="1500" dirty="0"/>
            </a:p>
          </p:txBody>
        </p:sp>
        <p:sp>
          <p:nvSpPr>
            <p:cNvPr id="11" name="obj2_t"/>
            <p:cNvSpPr txBox="1"/>
            <p:nvPr/>
          </p:nvSpPr>
          <p:spPr>
            <a:xfrm>
              <a:off x="1106424" y="4645152"/>
              <a:ext cx="4572000" cy="1005840"/>
            </a:xfrm>
            <a:prstGeom prst="rect">
              <a:avLst/>
            </a:prstGeom>
            <a:noFill/>
            <a:ln/>
          </p:spPr>
          <p:txBody>
            <a:bodyPr wrap="square" lIns="0" tIns="0" rIns="0" bIns="0" rtlCol="0" anchor="t"/>
            <a:lstStyle/>
            <a:p>
              <a:pPr indent="0" marL="0">
                <a:lnSpc>
                  <a:spcPts val="1900"/>
                </a:lnSpc>
                <a:buNone/>
              </a:pPr>
              <a:r>
                <a:rPr lang="en-US" sz="1350" dirty="0">
                  <a:solidFill>
                    <a:srgbClr val="14282B"/>
                  </a:solidFill>
                  <a:latin typeface="Arial" pitchFamily="34" charset="0"/>
                  <a:ea typeface="Arial" pitchFamily="34" charset="-122"/>
                  <a:cs typeface="Arial" pitchFamily="34" charset="-120"/>
                </a:rPr>
                <a:t>Build a food web for the Prasae estuary and use it to predict what happens when one species is removed.</a:t>
              </a:r>
              <a:endParaRPr lang="en-US" sz="1350" dirty="0"/>
            </a:p>
          </p:txBody>
        </p:sp>
      </p:grpSp>
      <p:grpSp>
        <p:nvGrpSpPr>
          <p:cNvPr id="26" name="sc_block"/>
          <p:cNvGrpSpPr/>
          <p:nvPr/>
        </p:nvGrpSpPr>
        <p:grpSpPr>
          <a:xfrm>
            <a:off x="6263640" y="1810512"/>
            <a:ext cx="5425135" cy="4114800"/>
            <a:chOff x="6263640" y="1810512"/>
            <a:chExt cx="5425135" cy="4114800"/>
          </a:xfrm>
        </p:grpSpPr>
        <p:sp>
          <p:nvSpPr>
            <p:cNvPr id="13" name="sc_card"/>
            <p:cNvSpPr/>
            <p:nvPr/>
          </p:nvSpPr>
          <p:spPr>
            <a:xfrm>
              <a:off x="6263640" y="1810512"/>
              <a:ext cx="5425135" cy="4114800"/>
            </a:xfrm>
            <a:prstGeom prst="roundRect">
              <a:avLst>
                <a:gd name="adj" fmla="val 3111"/>
              </a:avLst>
            </a:prstGeom>
            <a:solidFill>
              <a:srgbClr val="F2F9F5"/>
            </a:solidFill>
            <a:ln w="15875">
              <a:solidFill>
                <a:srgbClr val="2E9E6B"/>
              </a:solidFill>
              <a:prstDash val="solid"/>
            </a:ln>
          </p:spPr>
        </p:sp>
        <p:sp>
          <p:nvSpPr>
            <p:cNvPr id="14" name="sc_head"/>
            <p:cNvSpPr txBox="1"/>
            <p:nvPr/>
          </p:nvSpPr>
          <p:spPr>
            <a:xfrm>
              <a:off x="6501384" y="1993392"/>
              <a:ext cx="5120640" cy="274320"/>
            </a:xfrm>
            <a:prstGeom prst="rect">
              <a:avLst/>
            </a:prstGeom>
            <a:noFill/>
            <a:ln/>
          </p:spPr>
          <p:txBody>
            <a:bodyPr wrap="square" lIns="0" tIns="0" rIns="0" bIns="0" rtlCol="0" anchor="ctr"/>
            <a:lstStyle/>
            <a:p>
              <a:pPr indent="0" marL="0">
                <a:buNone/>
              </a:pPr>
              <a:r>
                <a:rPr lang="en-US" sz="1100" b="1" spc="100" kern="0" dirty="0">
                  <a:solidFill>
                    <a:srgbClr val="2E9E6B"/>
                  </a:solidFill>
                  <a:latin typeface="Arial" pitchFamily="34" charset="0"/>
                  <a:ea typeface="Arial" pitchFamily="34" charset="-122"/>
                  <a:cs typeface="Arial" pitchFamily="34" charset="-120"/>
                </a:rPr>
                <a:t>SUCCESS CRITERIA — tick these off yourself</a:t>
              </a:r>
              <a:endParaRPr lang="en-US" sz="1100" dirty="0"/>
            </a:p>
          </p:txBody>
        </p:sp>
        <p:sp>
          <p:nvSpPr>
            <p:cNvPr id="15" name="sc0_box"/>
            <p:cNvSpPr/>
            <p:nvPr/>
          </p:nvSpPr>
          <p:spPr>
            <a:xfrm>
              <a:off x="6501384" y="2432304"/>
              <a:ext cx="201168" cy="201168"/>
            </a:xfrm>
            <a:prstGeom prst="rect">
              <a:avLst/>
            </a:prstGeom>
            <a:solidFill>
              <a:srgbClr val="FFFFFF"/>
            </a:solidFill>
            <a:ln w="15240">
              <a:solidFill>
                <a:srgbClr val="2E9E6B"/>
              </a:solidFill>
              <a:prstDash val="solid"/>
            </a:ln>
          </p:spPr>
        </p:sp>
        <p:sp>
          <p:nvSpPr>
            <p:cNvPr id="16" name="sc0_t"/>
            <p:cNvSpPr txBox="1"/>
            <p:nvPr/>
          </p:nvSpPr>
          <p:spPr>
            <a:xfrm>
              <a:off x="6830568" y="2359152"/>
              <a:ext cx="4602175" cy="603504"/>
            </a:xfrm>
            <a:prstGeom prst="rect">
              <a:avLst/>
            </a:prstGeom>
            <a:noFill/>
            <a:ln/>
          </p:spPr>
          <p:txBody>
            <a:bodyPr wrap="square" lIns="0" tIns="0" rIns="0" bIns="0" rtlCol="0" anchor="t"/>
            <a:lstStyle/>
            <a:p>
              <a:pPr indent="0" marL="0">
                <a:lnSpc>
                  <a:spcPts val="1700"/>
                </a:lnSpc>
                <a:buNone/>
              </a:pPr>
              <a:r>
                <a:rPr lang="en-US" sz="1250" dirty="0">
                  <a:solidFill>
                    <a:srgbClr val="14282B"/>
                  </a:solidFill>
                  <a:latin typeface="Arial" pitchFamily="34" charset="0"/>
                  <a:ea typeface="Arial" pitchFamily="34" charset="-122"/>
                  <a:cs typeface="Arial" pitchFamily="34" charset="-120"/>
                </a:rPr>
                <a:t>I can say what a food-chain arrow means without using the word "eats".</a:t>
              </a:r>
              <a:endParaRPr lang="en-US" sz="1250" dirty="0"/>
            </a:p>
          </p:txBody>
        </p:sp>
        <p:sp>
          <p:nvSpPr>
            <p:cNvPr id="17" name="sc1_box"/>
            <p:cNvSpPr/>
            <p:nvPr/>
          </p:nvSpPr>
          <p:spPr>
            <a:xfrm>
              <a:off x="6501384" y="3145536"/>
              <a:ext cx="201168" cy="201168"/>
            </a:xfrm>
            <a:prstGeom prst="rect">
              <a:avLst/>
            </a:prstGeom>
            <a:solidFill>
              <a:srgbClr val="FFFFFF"/>
            </a:solidFill>
            <a:ln w="15240">
              <a:solidFill>
                <a:srgbClr val="2E9E6B"/>
              </a:solidFill>
              <a:prstDash val="solid"/>
            </a:ln>
          </p:spPr>
        </p:sp>
        <p:sp>
          <p:nvSpPr>
            <p:cNvPr id="18" name="sc1_t"/>
            <p:cNvSpPr txBox="1"/>
            <p:nvPr/>
          </p:nvSpPr>
          <p:spPr>
            <a:xfrm>
              <a:off x="6830568" y="3072384"/>
              <a:ext cx="4602175" cy="603504"/>
            </a:xfrm>
            <a:prstGeom prst="rect">
              <a:avLst/>
            </a:prstGeom>
            <a:noFill/>
            <a:ln/>
          </p:spPr>
          <p:txBody>
            <a:bodyPr wrap="square" lIns="0" tIns="0" rIns="0" bIns="0" rtlCol="0" anchor="t"/>
            <a:lstStyle/>
            <a:p>
              <a:pPr indent="0" marL="0">
                <a:lnSpc>
                  <a:spcPts val="1700"/>
                </a:lnSpc>
                <a:buNone/>
              </a:pPr>
              <a:r>
                <a:rPr lang="en-US" sz="1250" dirty="0">
                  <a:solidFill>
                    <a:srgbClr val="14282B"/>
                  </a:solidFill>
                  <a:latin typeface="Arial" pitchFamily="34" charset="0"/>
                  <a:ea typeface="Arial" pitchFamily="34" charset="-122"/>
                  <a:cs typeface="Arial" pitchFamily="34" charset="-120"/>
                </a:rPr>
                <a:t>I can draw a four-link Prasae food chain with every arrow the right way round.</a:t>
              </a:r>
              <a:endParaRPr lang="en-US" sz="1250" dirty="0"/>
            </a:p>
          </p:txBody>
        </p:sp>
        <p:sp>
          <p:nvSpPr>
            <p:cNvPr id="19" name="sc2_box"/>
            <p:cNvSpPr/>
            <p:nvPr/>
          </p:nvSpPr>
          <p:spPr>
            <a:xfrm>
              <a:off x="6501384" y="3858768"/>
              <a:ext cx="201168" cy="201168"/>
            </a:xfrm>
            <a:prstGeom prst="rect">
              <a:avLst/>
            </a:prstGeom>
            <a:solidFill>
              <a:srgbClr val="FFFFFF"/>
            </a:solidFill>
            <a:ln w="15240">
              <a:solidFill>
                <a:srgbClr val="2E9E6B"/>
              </a:solidFill>
              <a:prstDash val="solid"/>
            </a:ln>
          </p:spPr>
        </p:sp>
        <p:sp>
          <p:nvSpPr>
            <p:cNvPr id="20" name="sc2_t"/>
            <p:cNvSpPr txBox="1"/>
            <p:nvPr/>
          </p:nvSpPr>
          <p:spPr>
            <a:xfrm>
              <a:off x="6830568" y="3785616"/>
              <a:ext cx="4602175" cy="603504"/>
            </a:xfrm>
            <a:prstGeom prst="rect">
              <a:avLst/>
            </a:prstGeom>
            <a:noFill/>
            <a:ln/>
          </p:spPr>
          <p:txBody>
            <a:bodyPr wrap="square" lIns="0" tIns="0" rIns="0" bIns="0" rtlCol="0" anchor="t"/>
            <a:lstStyle/>
            <a:p>
              <a:pPr indent="0" marL="0">
                <a:lnSpc>
                  <a:spcPts val="1700"/>
                </a:lnSpc>
                <a:buNone/>
              </a:pPr>
              <a:r>
                <a:rPr lang="en-US" sz="1250" dirty="0">
                  <a:solidFill>
                    <a:srgbClr val="14282B"/>
                  </a:solidFill>
                  <a:latin typeface="Arial" pitchFamily="34" charset="0"/>
                  <a:ea typeface="Arial" pitchFamily="34" charset="-122"/>
                  <a:cs typeface="Arial" pitchFamily="34" charset="-120"/>
                </a:rPr>
                <a:t>I can put an organism into the right consumer group and justify it.</a:t>
              </a:r>
              <a:endParaRPr lang="en-US" sz="1250" dirty="0"/>
            </a:p>
          </p:txBody>
        </p:sp>
        <p:sp>
          <p:nvSpPr>
            <p:cNvPr id="21" name="sc3_box"/>
            <p:cNvSpPr/>
            <p:nvPr/>
          </p:nvSpPr>
          <p:spPr>
            <a:xfrm>
              <a:off x="6501384" y="4572000"/>
              <a:ext cx="201168" cy="201168"/>
            </a:xfrm>
            <a:prstGeom prst="rect">
              <a:avLst/>
            </a:prstGeom>
            <a:solidFill>
              <a:srgbClr val="FFFFFF"/>
            </a:solidFill>
            <a:ln w="15240">
              <a:solidFill>
                <a:srgbClr val="2E9E6B"/>
              </a:solidFill>
              <a:prstDash val="solid"/>
            </a:ln>
          </p:spPr>
        </p:sp>
        <p:sp>
          <p:nvSpPr>
            <p:cNvPr id="22" name="sc3_t"/>
            <p:cNvSpPr txBox="1"/>
            <p:nvPr/>
          </p:nvSpPr>
          <p:spPr>
            <a:xfrm>
              <a:off x="6830568" y="4498848"/>
              <a:ext cx="4602175" cy="603504"/>
            </a:xfrm>
            <a:prstGeom prst="rect">
              <a:avLst/>
            </a:prstGeom>
            <a:noFill/>
            <a:ln/>
          </p:spPr>
          <p:txBody>
            <a:bodyPr wrap="square" lIns="0" tIns="0" rIns="0" bIns="0" rtlCol="0" anchor="t"/>
            <a:lstStyle/>
            <a:p>
              <a:pPr indent="0" marL="0">
                <a:lnSpc>
                  <a:spcPts val="1700"/>
                </a:lnSpc>
                <a:buNone/>
              </a:pPr>
              <a:r>
                <a:rPr lang="en-US" sz="1250" dirty="0">
                  <a:solidFill>
                    <a:srgbClr val="14282B"/>
                  </a:solidFill>
                  <a:latin typeface="Arial" pitchFamily="34" charset="0"/>
                  <a:ea typeface="Arial" pitchFamily="34" charset="-122"/>
                  <a:cs typeface="Arial" pitchFamily="34" charset="-120"/>
                </a:rPr>
                <a:t>I can trace two different routes through a food web to the same animal.</a:t>
              </a:r>
              <a:endParaRPr lang="en-US" sz="1250" dirty="0"/>
            </a:p>
          </p:txBody>
        </p:sp>
        <p:sp>
          <p:nvSpPr>
            <p:cNvPr id="23" name="sc4_box"/>
            <p:cNvSpPr/>
            <p:nvPr/>
          </p:nvSpPr>
          <p:spPr>
            <a:xfrm>
              <a:off x="6501384" y="5285232"/>
              <a:ext cx="201168" cy="201168"/>
            </a:xfrm>
            <a:prstGeom prst="rect">
              <a:avLst/>
            </a:prstGeom>
            <a:solidFill>
              <a:srgbClr val="FFFFFF"/>
            </a:solidFill>
            <a:ln w="15240">
              <a:solidFill>
                <a:srgbClr val="2E9E6B"/>
              </a:solidFill>
              <a:prstDash val="solid"/>
            </a:ln>
          </p:spPr>
        </p:sp>
        <p:sp>
          <p:nvSpPr>
            <p:cNvPr id="24" name="sc4_t"/>
            <p:cNvSpPr txBox="1"/>
            <p:nvPr/>
          </p:nvSpPr>
          <p:spPr>
            <a:xfrm>
              <a:off x="6830568" y="5212080"/>
              <a:ext cx="4602175" cy="603504"/>
            </a:xfrm>
            <a:prstGeom prst="rect">
              <a:avLst/>
            </a:prstGeom>
            <a:noFill/>
            <a:ln/>
          </p:spPr>
          <p:txBody>
            <a:bodyPr wrap="square" lIns="0" tIns="0" rIns="0" bIns="0" rtlCol="0" anchor="t"/>
            <a:lstStyle/>
            <a:p>
              <a:pPr indent="0" marL="0">
                <a:lnSpc>
                  <a:spcPts val="1700"/>
                </a:lnSpc>
                <a:buNone/>
              </a:pPr>
              <a:r>
                <a:rPr lang="en-US" sz="1250" dirty="0">
                  <a:solidFill>
                    <a:srgbClr val="14282B"/>
                  </a:solidFill>
                  <a:latin typeface="Arial" pitchFamily="34" charset="0"/>
                  <a:ea typeface="Arial" pitchFamily="34" charset="-122"/>
                  <a:cs typeface="Arial" pitchFamily="34" charset="-120"/>
                </a:rPr>
                <a:t>I can explain why there are far fewer pla kapong than pla thu.</a:t>
              </a:r>
              <a:endParaRPr lang="en-US" sz="1250" dirty="0"/>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grpId="0" nodeType="clickEffect">
                                  <p:stCondLst>
                                    <p:cond delay="0"/>
                                  </p:stCondLst>
                                  <p:childTnLst>
                                    <p:set>
                                      <p:cBhvr>
                                        <p:cTn id="3" dur="1" fill="hold">
                                          <p:stCondLst>
                                            <p:cond delay="0"/>
                                          </p:stCondLst>
                                        </p:cTn>
                                        <p:tgtEl>
                                          <p:spTgt spid="25"/>
                                        </p:tgtEl>
                                        <p:attrNameLst>
                                          <p:attrName>style.visibility</p:attrName>
                                        </p:attrNameLst>
                                      </p:cBhvr>
                                      <p:to>
                                        <p:strVal val="visible"/>
                                      </p:to>
                                    </p:set>
                                    <p:animEffect transition="in" filter="fade">
                                      <p:cBhvr>
                                        <p:cTn id="4" dur="500"/>
                                        <p:tgtEl>
                                          <p:spTgt spid="25"/>
                                        </p:tgtEl>
                                      </p:cBhvr>
                                    </p:animEffect>
                                  </p:childTnLst>
                                </p:cTn>
                              </p:par>
                            </p:childTnLst>
                          </p:cTn>
                        </p:par>
                      </p:childTnLst>
                    </p:cTn>
                  </p:par>
                  <p:par>
                    <p:cTn id="11" fill="hold">
                      <p:stCondLst>
                        <p:cond delay="indefinite"/>
                      </p:stCondLst>
                      <p:childTnLst>
                        <p:par>
                          <p:cTn id="12" fill="hold">
                            <p:stCondLst>
                              <p:cond delay="0"/>
                            </p:stCondLst>
                            <p:childTnLst>
                              <p:par>
                                <p:cTn id="10" presetID="22" presetClass="entr" presetSubtype="8" fill="hold" grpId="0" nodeType="clickEffect">
                                  <p:stCondLst>
                                    <p:cond delay="0"/>
                                  </p:stCondLst>
                                  <p:childTnLst>
                                    <p:set>
                                      <p:cBhvr>
                                        <p:cTn id="8" dur="1" fill="hold">
                                          <p:stCondLst>
                                            <p:cond delay="0"/>
                                          </p:stCondLst>
                                        </p:cTn>
                                        <p:tgtEl>
                                          <p:spTgt spid="26"/>
                                        </p:tgtEl>
                                        <p:attrNameLst>
                                          <p:attrName>style.visibility</p:attrName>
                                        </p:attrNameLst>
                                      </p:cBhvr>
                                      <p:to>
                                        <p:strVal val="visible"/>
                                      </p:to>
                                    </p:set>
                                    <p:animEffect transition="in" filter="wipe(right)">
                                      <p:cBhvr>
                                        <p:cTn id="9"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4E6"/>
        </a:solidFill>
      </p:bgPr>
    </p:bg>
    <p:spTree>
      <p:nvGrpSpPr>
        <p:cNvPr id="1" name=""/>
        <p:cNvGrpSpPr/>
        <p:nvPr/>
      </p:nvGrpSpPr>
      <p:grpSpPr>
        <a:xfrm>
          <a:off x="0" y="0"/>
          <a:ext cx="0" cy="0"/>
          <a:chOff x="0" y="0"/>
          <a:chExt cx="0" cy="0"/>
        </a:xfrm>
      </p:grpSpPr>
      <p:sp>
        <p:nvSpPr>
          <p:cNvPr id="2" name="phase_pill"/>
          <p:cNvSpPr/>
          <p:nvPr/>
        </p:nvSpPr>
        <p:spPr>
          <a:xfrm>
            <a:off x="502920" y="274320"/>
            <a:ext cx="2432304" cy="347472"/>
          </a:xfrm>
          <a:prstGeom prst="roundRect">
            <a:avLst>
              <a:gd name="adj" fmla="val 50000"/>
            </a:avLst>
          </a:prstGeom>
          <a:solidFill>
            <a:srgbClr val="0E3A3F"/>
          </a:solidFill>
          <a:ln/>
        </p:spPr>
        <p:txBody>
          <a:bodyPr wrap="square" lIns="0" tIns="0" rIns="0" bIns="0" rtlCol="0" anchor="ctr"/>
          <a:lstStyle/>
          <a:p>
            <a:pPr algn="ctr" indent="0" marL="0">
              <a:buNone/>
            </a:pPr>
            <a:r>
              <a:rPr lang="en-US" sz="1100" b="1" spc="110" kern="0" dirty="0">
                <a:solidFill>
                  <a:srgbClr val="FAF4E6"/>
                </a:solidFill>
                <a:latin typeface="Arial" pitchFamily="34" charset="0"/>
                <a:ea typeface="Arial" pitchFamily="34" charset="-122"/>
                <a:cs typeface="Arial" pitchFamily="34" charset="-120"/>
              </a:rPr>
              <a:t>DO NOW · 5 MIN</a:t>
            </a:r>
            <a:endParaRPr lang="en-US" sz="1100" dirty="0"/>
          </a:p>
        </p:txBody>
      </p:sp>
      <p:sp>
        <p:nvSpPr>
          <p:cNvPr id="3" name="slide_title"/>
          <p:cNvSpPr txBox="1"/>
          <p:nvPr/>
        </p:nvSpPr>
        <p:spPr>
          <a:xfrm>
            <a:off x="502920" y="914400"/>
            <a:ext cx="11185855" cy="658368"/>
          </a:xfrm>
          <a:prstGeom prst="rect">
            <a:avLst/>
          </a:prstGeom>
          <a:noFill/>
          <a:ln/>
        </p:spPr>
        <p:txBody>
          <a:bodyPr wrap="square" lIns="0" tIns="0" rIns="0" bIns="0" rtlCol="0" anchor="ctr"/>
          <a:lstStyle/>
          <a:p>
            <a:pPr algn="l" indent="0" marL="0">
              <a:buNone/>
            </a:pPr>
            <a:r>
              <a:rPr lang="en-US" sz="3000" b="1" dirty="0">
                <a:solidFill>
                  <a:srgbClr val="0E3A3F"/>
                </a:solidFill>
                <a:latin typeface="Georgia" pitchFamily="34" charset="0"/>
                <a:ea typeface="Georgia" pitchFamily="34" charset="-122"/>
                <a:cs typeface="Georgia" pitchFamily="34" charset="-120"/>
              </a:rPr>
              <a:t>Do Now</a:t>
            </a:r>
            <a:endParaRPr lang="en-US" sz="3000" dirty="0"/>
          </a:p>
        </p:txBody>
      </p:sp>
      <p:sp>
        <p:nvSpPr>
          <p:cNvPr id="4" name="do_intro"/>
          <p:cNvSpPr txBox="1"/>
          <p:nvPr/>
        </p:nvSpPr>
        <p:spPr>
          <a:xfrm>
            <a:off x="502920" y="1554480"/>
            <a:ext cx="10058400" cy="310896"/>
          </a:xfrm>
          <a:prstGeom prst="rect">
            <a:avLst/>
          </a:prstGeom>
          <a:noFill/>
          <a:ln/>
        </p:spPr>
        <p:txBody>
          <a:bodyPr wrap="square" lIns="0" tIns="0" rIns="0" bIns="0" rtlCol="0" anchor="ctr"/>
          <a:lstStyle/>
          <a:p>
            <a:pPr indent="0" marL="0">
              <a:buNone/>
            </a:pPr>
            <a:r>
              <a:rPr lang="en-US" sz="1300" dirty="0">
                <a:solidFill>
                  <a:srgbClr val="4A6165"/>
                </a:solidFill>
                <a:latin typeface="Arial" pitchFamily="34" charset="0"/>
                <a:ea typeface="Arial" pitchFamily="34" charset="-122"/>
                <a:cs typeface="Arial" pitchFamily="34" charset="-120"/>
              </a:rPr>
              <a:t>Books open. Answer all six. You have four minutes — then we mark them together.</a:t>
            </a:r>
            <a:endParaRPr lang="en-US" sz="1300" dirty="0"/>
          </a:p>
        </p:txBody>
      </p:sp>
      <p:sp>
        <p:nvSpPr>
          <p:cNvPr id="5" name="dq0_card"/>
          <p:cNvSpPr/>
          <p:nvPr/>
        </p:nvSpPr>
        <p:spPr>
          <a:xfrm>
            <a:off x="502920" y="2084832"/>
            <a:ext cx="5455768" cy="1060704"/>
          </a:xfrm>
          <a:prstGeom prst="roundRect">
            <a:avLst>
              <a:gd name="adj" fmla="val 12069"/>
            </a:avLst>
          </a:prstGeom>
          <a:solidFill>
            <a:srgbClr val="FFFFFF"/>
          </a:solidFill>
          <a:ln w="15875">
            <a:solidFill>
              <a:srgbClr val="F0E4C8"/>
            </a:solidFill>
            <a:prstDash val="solid"/>
          </a:ln>
        </p:spPr>
      </p:sp>
      <p:sp>
        <p:nvSpPr>
          <p:cNvPr id="6" name="dq0_n"/>
          <p:cNvSpPr txBox="1"/>
          <p:nvPr/>
        </p:nvSpPr>
        <p:spPr>
          <a:xfrm>
            <a:off x="649224" y="2194560"/>
            <a:ext cx="274320" cy="256032"/>
          </a:xfrm>
          <a:prstGeom prst="rect">
            <a:avLst/>
          </a:prstGeom>
          <a:noFill/>
          <a:ln/>
        </p:spPr>
        <p:txBody>
          <a:bodyPr wrap="square" lIns="0" tIns="0" rIns="0" bIns="0" rtlCol="0" anchor="ctr"/>
          <a:lstStyle/>
          <a:p>
            <a:pPr indent="0" marL="0">
              <a:buNone/>
            </a:pPr>
            <a:r>
              <a:rPr lang="en-US" sz="1300" b="1" dirty="0">
                <a:solidFill>
                  <a:srgbClr val="F5B301"/>
                </a:solidFill>
                <a:latin typeface="Arial" pitchFamily="34" charset="0"/>
                <a:ea typeface="Arial" pitchFamily="34" charset="-122"/>
                <a:cs typeface="Arial" pitchFamily="34" charset="-120"/>
              </a:rPr>
              <a:t>1</a:t>
            </a:r>
            <a:endParaRPr lang="en-US" sz="1300" dirty="0"/>
          </a:p>
        </p:txBody>
      </p:sp>
      <p:sp>
        <p:nvSpPr>
          <p:cNvPr id="7" name="dq0_q"/>
          <p:cNvSpPr txBox="1"/>
          <p:nvPr/>
        </p:nvSpPr>
        <p:spPr>
          <a:xfrm>
            <a:off x="978408" y="2176272"/>
            <a:ext cx="4797400" cy="475488"/>
          </a:xfrm>
          <a:prstGeom prst="rect">
            <a:avLst/>
          </a:prstGeom>
          <a:noFill/>
          <a:ln/>
        </p:spPr>
        <p:txBody>
          <a:bodyPr wrap="square" lIns="0" tIns="0" rIns="0" bIns="0" rtlCol="0" anchor="t"/>
          <a:lstStyle/>
          <a:p>
            <a:pPr indent="0" marL="0">
              <a:lnSpc>
                <a:spcPts val="1600"/>
              </a:lnSpc>
              <a:buNone/>
            </a:pPr>
            <a:r>
              <a:rPr lang="en-US" sz="1250" dirty="0">
                <a:solidFill>
                  <a:srgbClr val="14282B"/>
                </a:solidFill>
                <a:latin typeface="Arial" pitchFamily="34" charset="0"/>
                <a:ea typeface="Arial" pitchFamily="34" charset="-122"/>
                <a:cs typeface="Arial" pitchFamily="34" charset="-120"/>
              </a:rPr>
              <a:t>Name the three jobs a living thing can do in an ecosystem.</a:t>
            </a:r>
            <a:endParaRPr lang="en-US" sz="1250" dirty="0"/>
          </a:p>
        </p:txBody>
      </p:sp>
      <p:sp>
        <p:nvSpPr>
          <p:cNvPr id="8" name="dq0_a"/>
          <p:cNvSpPr/>
          <p:nvPr/>
        </p:nvSpPr>
        <p:spPr>
          <a:xfrm>
            <a:off x="978408" y="2688336"/>
            <a:ext cx="4797400" cy="329184"/>
          </a:xfrm>
          <a:prstGeom prst="roundRect">
            <a:avLst>
              <a:gd name="adj" fmla="val 22222"/>
            </a:avLst>
          </a:prstGeom>
          <a:solidFill>
            <a:srgbClr val="FDF3D6"/>
          </a:solidFill>
          <a:ln w="12700">
            <a:solidFill>
              <a:srgbClr val="F5B301"/>
            </a:solidFill>
          </a:ln>
        </p:spPr>
        <p:txBody>
          <a:bodyPr wrap="square" lIns="762" tIns="762" rIns="762" bIns="762" rtlCol="0" anchor="ctr"/>
          <a:lstStyle/>
          <a:p>
            <a:pPr algn="l" indent="0" marL="0">
              <a:buNone/>
            </a:pPr>
            <a:r>
              <a:rPr lang="en-US" sz="1150" b="1" dirty="0">
                <a:solidFill>
                  <a:srgbClr val="0E3A3F"/>
                </a:solidFill>
                <a:latin typeface="Arial" pitchFamily="34" charset="0"/>
                <a:ea typeface="Arial" pitchFamily="34" charset="-122"/>
                <a:cs typeface="Arial" pitchFamily="34" charset="-120"/>
              </a:rPr>
              <a:t>Producer, consumer, decomposer.</a:t>
            </a:r>
            <a:endParaRPr lang="en-US" sz="1150" dirty="0"/>
          </a:p>
        </p:txBody>
      </p:sp>
      <p:sp>
        <p:nvSpPr>
          <p:cNvPr id="9" name="dq1_card"/>
          <p:cNvSpPr/>
          <p:nvPr/>
        </p:nvSpPr>
        <p:spPr>
          <a:xfrm>
            <a:off x="6233008" y="2084832"/>
            <a:ext cx="5455768" cy="1060704"/>
          </a:xfrm>
          <a:prstGeom prst="roundRect">
            <a:avLst>
              <a:gd name="adj" fmla="val 12069"/>
            </a:avLst>
          </a:prstGeom>
          <a:solidFill>
            <a:srgbClr val="FFFFFF"/>
          </a:solidFill>
          <a:ln w="15875">
            <a:solidFill>
              <a:srgbClr val="F0E4C8"/>
            </a:solidFill>
            <a:prstDash val="solid"/>
          </a:ln>
        </p:spPr>
      </p:sp>
      <p:sp>
        <p:nvSpPr>
          <p:cNvPr id="10" name="dq1_n"/>
          <p:cNvSpPr txBox="1"/>
          <p:nvPr/>
        </p:nvSpPr>
        <p:spPr>
          <a:xfrm>
            <a:off x="6379312" y="2194560"/>
            <a:ext cx="274320" cy="256032"/>
          </a:xfrm>
          <a:prstGeom prst="rect">
            <a:avLst/>
          </a:prstGeom>
          <a:noFill/>
          <a:ln/>
        </p:spPr>
        <p:txBody>
          <a:bodyPr wrap="square" lIns="0" tIns="0" rIns="0" bIns="0" rtlCol="0" anchor="ctr"/>
          <a:lstStyle/>
          <a:p>
            <a:pPr indent="0" marL="0">
              <a:buNone/>
            </a:pPr>
            <a:r>
              <a:rPr lang="en-US" sz="1300" b="1" dirty="0">
                <a:solidFill>
                  <a:srgbClr val="F5B301"/>
                </a:solidFill>
                <a:latin typeface="Arial" pitchFamily="34" charset="0"/>
                <a:ea typeface="Arial" pitchFamily="34" charset="-122"/>
                <a:cs typeface="Arial" pitchFamily="34" charset="-120"/>
              </a:rPr>
              <a:t>2</a:t>
            </a:r>
            <a:endParaRPr lang="en-US" sz="1300" dirty="0"/>
          </a:p>
        </p:txBody>
      </p:sp>
      <p:sp>
        <p:nvSpPr>
          <p:cNvPr id="11" name="dq1_q"/>
          <p:cNvSpPr txBox="1"/>
          <p:nvPr/>
        </p:nvSpPr>
        <p:spPr>
          <a:xfrm>
            <a:off x="6708496" y="2176272"/>
            <a:ext cx="4797400" cy="475488"/>
          </a:xfrm>
          <a:prstGeom prst="rect">
            <a:avLst/>
          </a:prstGeom>
          <a:noFill/>
          <a:ln/>
        </p:spPr>
        <p:txBody>
          <a:bodyPr wrap="square" lIns="0" tIns="0" rIns="0" bIns="0" rtlCol="0" anchor="t"/>
          <a:lstStyle/>
          <a:p>
            <a:pPr indent="0" marL="0">
              <a:lnSpc>
                <a:spcPts val="1600"/>
              </a:lnSpc>
              <a:buNone/>
            </a:pPr>
            <a:r>
              <a:rPr lang="en-US" sz="1250" dirty="0">
                <a:solidFill>
                  <a:srgbClr val="14282B"/>
                </a:solidFill>
                <a:latin typeface="Arial" pitchFamily="34" charset="0"/>
                <a:ea typeface="Arial" pitchFamily="34" charset="-122"/>
                <a:cs typeface="Arial" pitchFamily="34" charset="-120"/>
              </a:rPr>
              <a:t>Where does almost all the energy in the Prasae estuary come from originally?</a:t>
            </a:r>
            <a:endParaRPr lang="en-US" sz="1250" dirty="0"/>
          </a:p>
        </p:txBody>
      </p:sp>
      <p:sp>
        <p:nvSpPr>
          <p:cNvPr id="12" name="dq1_a"/>
          <p:cNvSpPr/>
          <p:nvPr/>
        </p:nvSpPr>
        <p:spPr>
          <a:xfrm>
            <a:off x="6708496" y="2688336"/>
            <a:ext cx="4797400" cy="329184"/>
          </a:xfrm>
          <a:prstGeom prst="roundRect">
            <a:avLst>
              <a:gd name="adj" fmla="val 22222"/>
            </a:avLst>
          </a:prstGeom>
          <a:solidFill>
            <a:srgbClr val="FDF3D6"/>
          </a:solidFill>
          <a:ln w="12700">
            <a:solidFill>
              <a:srgbClr val="F5B301"/>
            </a:solidFill>
          </a:ln>
        </p:spPr>
        <p:txBody>
          <a:bodyPr wrap="square" lIns="762" tIns="762" rIns="762" bIns="762" rtlCol="0" anchor="ctr"/>
          <a:lstStyle/>
          <a:p>
            <a:pPr algn="l" indent="0" marL="0">
              <a:buNone/>
            </a:pPr>
            <a:r>
              <a:rPr lang="en-US" sz="1150" b="1" dirty="0">
                <a:solidFill>
                  <a:srgbClr val="0E3A3F"/>
                </a:solidFill>
                <a:latin typeface="Arial" pitchFamily="34" charset="0"/>
                <a:ea typeface="Arial" pitchFamily="34" charset="-122"/>
                <a:cs typeface="Arial" pitchFamily="34" charset="-120"/>
              </a:rPr>
              <a:t>The Sun.</a:t>
            </a:r>
            <a:endParaRPr lang="en-US" sz="1150" dirty="0"/>
          </a:p>
        </p:txBody>
      </p:sp>
      <p:sp>
        <p:nvSpPr>
          <p:cNvPr id="13" name="dq2_card"/>
          <p:cNvSpPr/>
          <p:nvPr/>
        </p:nvSpPr>
        <p:spPr>
          <a:xfrm>
            <a:off x="502920" y="3346704"/>
            <a:ext cx="5455768" cy="1060704"/>
          </a:xfrm>
          <a:prstGeom prst="roundRect">
            <a:avLst>
              <a:gd name="adj" fmla="val 12069"/>
            </a:avLst>
          </a:prstGeom>
          <a:solidFill>
            <a:srgbClr val="FFFFFF"/>
          </a:solidFill>
          <a:ln w="15875">
            <a:solidFill>
              <a:srgbClr val="F0E4C8"/>
            </a:solidFill>
            <a:prstDash val="solid"/>
          </a:ln>
        </p:spPr>
      </p:sp>
      <p:sp>
        <p:nvSpPr>
          <p:cNvPr id="14" name="dq2_n"/>
          <p:cNvSpPr txBox="1"/>
          <p:nvPr/>
        </p:nvSpPr>
        <p:spPr>
          <a:xfrm>
            <a:off x="649224" y="3456432"/>
            <a:ext cx="274320" cy="256032"/>
          </a:xfrm>
          <a:prstGeom prst="rect">
            <a:avLst/>
          </a:prstGeom>
          <a:noFill/>
          <a:ln/>
        </p:spPr>
        <p:txBody>
          <a:bodyPr wrap="square" lIns="0" tIns="0" rIns="0" bIns="0" rtlCol="0" anchor="ctr"/>
          <a:lstStyle/>
          <a:p>
            <a:pPr indent="0" marL="0">
              <a:buNone/>
            </a:pPr>
            <a:r>
              <a:rPr lang="en-US" sz="1300" b="1" dirty="0">
                <a:solidFill>
                  <a:srgbClr val="F5B301"/>
                </a:solidFill>
                <a:latin typeface="Arial" pitchFamily="34" charset="0"/>
                <a:ea typeface="Arial" pitchFamily="34" charset="-122"/>
                <a:cs typeface="Arial" pitchFamily="34" charset="-120"/>
              </a:rPr>
              <a:t>3</a:t>
            </a:r>
            <a:endParaRPr lang="en-US" sz="1300" dirty="0"/>
          </a:p>
        </p:txBody>
      </p:sp>
      <p:sp>
        <p:nvSpPr>
          <p:cNvPr id="15" name="dq2_q"/>
          <p:cNvSpPr txBox="1"/>
          <p:nvPr/>
        </p:nvSpPr>
        <p:spPr>
          <a:xfrm>
            <a:off x="978408" y="3438144"/>
            <a:ext cx="4797400" cy="475488"/>
          </a:xfrm>
          <a:prstGeom prst="rect">
            <a:avLst/>
          </a:prstGeom>
          <a:noFill/>
          <a:ln/>
        </p:spPr>
        <p:txBody>
          <a:bodyPr wrap="square" lIns="0" tIns="0" rIns="0" bIns="0" rtlCol="0" anchor="t"/>
          <a:lstStyle/>
          <a:p>
            <a:pPr indent="0" marL="0">
              <a:lnSpc>
                <a:spcPts val="1600"/>
              </a:lnSpc>
              <a:buNone/>
            </a:pPr>
            <a:r>
              <a:rPr lang="en-US" sz="1250" dirty="0">
                <a:solidFill>
                  <a:srgbClr val="14282B"/>
                </a:solidFill>
                <a:latin typeface="Arial" pitchFamily="34" charset="0"/>
                <a:ea typeface="Arial" pitchFamily="34" charset="-122"/>
                <a:cs typeface="Arial" pitchFamily="34" charset="-120"/>
              </a:rPr>
              <a:t>A mud crab eats a fallen mangrove leaf. Which organism was the producer?</a:t>
            </a:r>
            <a:endParaRPr lang="en-US" sz="1250" dirty="0"/>
          </a:p>
        </p:txBody>
      </p:sp>
      <p:sp>
        <p:nvSpPr>
          <p:cNvPr id="16" name="dq2_a"/>
          <p:cNvSpPr/>
          <p:nvPr/>
        </p:nvSpPr>
        <p:spPr>
          <a:xfrm>
            <a:off x="978408" y="3950208"/>
            <a:ext cx="4797400" cy="329184"/>
          </a:xfrm>
          <a:prstGeom prst="roundRect">
            <a:avLst>
              <a:gd name="adj" fmla="val 22222"/>
            </a:avLst>
          </a:prstGeom>
          <a:solidFill>
            <a:srgbClr val="FDF3D6"/>
          </a:solidFill>
          <a:ln w="12700">
            <a:solidFill>
              <a:srgbClr val="F5B301"/>
            </a:solidFill>
          </a:ln>
        </p:spPr>
        <p:txBody>
          <a:bodyPr wrap="square" lIns="762" tIns="762" rIns="762" bIns="762" rtlCol="0" anchor="ctr"/>
          <a:lstStyle/>
          <a:p>
            <a:pPr algn="l" indent="0" marL="0">
              <a:buNone/>
            </a:pPr>
            <a:r>
              <a:rPr lang="en-US" sz="1150" b="1" dirty="0">
                <a:solidFill>
                  <a:srgbClr val="0E3A3F"/>
                </a:solidFill>
                <a:latin typeface="Arial" pitchFamily="34" charset="0"/>
                <a:ea typeface="Arial" pitchFamily="34" charset="-122"/>
                <a:cs typeface="Arial" pitchFamily="34" charset="-120"/>
              </a:rPr>
              <a:t>The mangrove tree that grew the leaf.</a:t>
            </a:r>
            <a:endParaRPr lang="en-US" sz="1150" dirty="0"/>
          </a:p>
        </p:txBody>
      </p:sp>
      <p:sp>
        <p:nvSpPr>
          <p:cNvPr id="17" name="dq3_card"/>
          <p:cNvSpPr/>
          <p:nvPr/>
        </p:nvSpPr>
        <p:spPr>
          <a:xfrm>
            <a:off x="6233008" y="3346704"/>
            <a:ext cx="5455768" cy="1060704"/>
          </a:xfrm>
          <a:prstGeom prst="roundRect">
            <a:avLst>
              <a:gd name="adj" fmla="val 12069"/>
            </a:avLst>
          </a:prstGeom>
          <a:solidFill>
            <a:srgbClr val="FFFFFF"/>
          </a:solidFill>
          <a:ln w="15875">
            <a:solidFill>
              <a:srgbClr val="F0E4C8"/>
            </a:solidFill>
            <a:prstDash val="solid"/>
          </a:ln>
        </p:spPr>
      </p:sp>
      <p:sp>
        <p:nvSpPr>
          <p:cNvPr id="18" name="dq3_n"/>
          <p:cNvSpPr txBox="1"/>
          <p:nvPr/>
        </p:nvSpPr>
        <p:spPr>
          <a:xfrm>
            <a:off x="6379312" y="3456432"/>
            <a:ext cx="274320" cy="256032"/>
          </a:xfrm>
          <a:prstGeom prst="rect">
            <a:avLst/>
          </a:prstGeom>
          <a:noFill/>
          <a:ln/>
        </p:spPr>
        <p:txBody>
          <a:bodyPr wrap="square" lIns="0" tIns="0" rIns="0" bIns="0" rtlCol="0" anchor="ctr"/>
          <a:lstStyle/>
          <a:p>
            <a:pPr indent="0" marL="0">
              <a:buNone/>
            </a:pPr>
            <a:r>
              <a:rPr lang="en-US" sz="1300" b="1" dirty="0">
                <a:solidFill>
                  <a:srgbClr val="F5B301"/>
                </a:solidFill>
                <a:latin typeface="Arial" pitchFamily="34" charset="0"/>
                <a:ea typeface="Arial" pitchFamily="34" charset="-122"/>
                <a:cs typeface="Arial" pitchFamily="34" charset="-120"/>
              </a:rPr>
              <a:t>4</a:t>
            </a:r>
            <a:endParaRPr lang="en-US" sz="1300" dirty="0"/>
          </a:p>
        </p:txBody>
      </p:sp>
      <p:sp>
        <p:nvSpPr>
          <p:cNvPr id="19" name="dq3_q"/>
          <p:cNvSpPr txBox="1"/>
          <p:nvPr/>
        </p:nvSpPr>
        <p:spPr>
          <a:xfrm>
            <a:off x="6708496" y="3438144"/>
            <a:ext cx="4797400" cy="475488"/>
          </a:xfrm>
          <a:prstGeom prst="rect">
            <a:avLst/>
          </a:prstGeom>
          <a:noFill/>
          <a:ln/>
        </p:spPr>
        <p:txBody>
          <a:bodyPr wrap="square" lIns="0" tIns="0" rIns="0" bIns="0" rtlCol="0" anchor="t"/>
          <a:lstStyle/>
          <a:p>
            <a:pPr indent="0" marL="0">
              <a:lnSpc>
                <a:spcPts val="1600"/>
              </a:lnSpc>
              <a:buNone/>
            </a:pPr>
            <a:r>
              <a:rPr lang="en-US" sz="1250" dirty="0">
                <a:solidFill>
                  <a:srgbClr val="14282B"/>
                </a:solidFill>
                <a:latin typeface="Arial" pitchFamily="34" charset="0"/>
                <a:ea typeface="Arial" pitchFamily="34" charset="-122"/>
                <a:cs typeface="Arial" pitchFamily="34" charset="-120"/>
              </a:rPr>
              <a:t>Give one abiotic and one biotic factor at Prasae.</a:t>
            </a:r>
            <a:endParaRPr lang="en-US" sz="1250" dirty="0"/>
          </a:p>
        </p:txBody>
      </p:sp>
      <p:sp>
        <p:nvSpPr>
          <p:cNvPr id="20" name="dq3_a"/>
          <p:cNvSpPr/>
          <p:nvPr/>
        </p:nvSpPr>
        <p:spPr>
          <a:xfrm>
            <a:off x="6708496" y="3950208"/>
            <a:ext cx="4797400" cy="329184"/>
          </a:xfrm>
          <a:prstGeom prst="roundRect">
            <a:avLst>
              <a:gd name="adj" fmla="val 22222"/>
            </a:avLst>
          </a:prstGeom>
          <a:solidFill>
            <a:srgbClr val="FDF3D6"/>
          </a:solidFill>
          <a:ln w="12700">
            <a:solidFill>
              <a:srgbClr val="F5B301"/>
            </a:solidFill>
          </a:ln>
        </p:spPr>
        <p:txBody>
          <a:bodyPr wrap="square" lIns="762" tIns="762" rIns="762" bIns="762" rtlCol="0" anchor="ctr"/>
          <a:lstStyle/>
          <a:p>
            <a:pPr algn="l" indent="0" marL="0">
              <a:buNone/>
            </a:pPr>
            <a:r>
              <a:rPr lang="en-US" sz="1150" b="1" dirty="0">
                <a:solidFill>
                  <a:srgbClr val="0E3A3F"/>
                </a:solidFill>
                <a:latin typeface="Arial" pitchFamily="34" charset="0"/>
                <a:ea typeface="Arial" pitchFamily="34" charset="-122"/>
                <a:cs typeface="Arial" pitchFamily="34" charset="-120"/>
              </a:rPr>
              <a:t>e.g. salt (abiotic), mudskipper (biotic).</a:t>
            </a:r>
            <a:endParaRPr lang="en-US" sz="1150" dirty="0"/>
          </a:p>
        </p:txBody>
      </p:sp>
      <p:sp>
        <p:nvSpPr>
          <p:cNvPr id="21" name="dq4_card"/>
          <p:cNvSpPr/>
          <p:nvPr/>
        </p:nvSpPr>
        <p:spPr>
          <a:xfrm>
            <a:off x="502920" y="4608576"/>
            <a:ext cx="5455768" cy="1060704"/>
          </a:xfrm>
          <a:prstGeom prst="roundRect">
            <a:avLst>
              <a:gd name="adj" fmla="val 12069"/>
            </a:avLst>
          </a:prstGeom>
          <a:solidFill>
            <a:srgbClr val="FFFFFF"/>
          </a:solidFill>
          <a:ln w="15875">
            <a:solidFill>
              <a:srgbClr val="F0E4C8"/>
            </a:solidFill>
            <a:prstDash val="solid"/>
          </a:ln>
        </p:spPr>
      </p:sp>
      <p:sp>
        <p:nvSpPr>
          <p:cNvPr id="22" name="dq4_n"/>
          <p:cNvSpPr txBox="1"/>
          <p:nvPr/>
        </p:nvSpPr>
        <p:spPr>
          <a:xfrm>
            <a:off x="649224" y="4718304"/>
            <a:ext cx="274320" cy="256032"/>
          </a:xfrm>
          <a:prstGeom prst="rect">
            <a:avLst/>
          </a:prstGeom>
          <a:noFill/>
          <a:ln/>
        </p:spPr>
        <p:txBody>
          <a:bodyPr wrap="square" lIns="0" tIns="0" rIns="0" bIns="0" rtlCol="0" anchor="ctr"/>
          <a:lstStyle/>
          <a:p>
            <a:pPr indent="0" marL="0">
              <a:buNone/>
            </a:pPr>
            <a:r>
              <a:rPr lang="en-US" sz="1300" b="1" dirty="0">
                <a:solidFill>
                  <a:srgbClr val="F5B301"/>
                </a:solidFill>
                <a:latin typeface="Arial" pitchFamily="34" charset="0"/>
                <a:ea typeface="Arial" pitchFamily="34" charset="-122"/>
                <a:cs typeface="Arial" pitchFamily="34" charset="-120"/>
              </a:rPr>
              <a:t>5</a:t>
            </a:r>
            <a:endParaRPr lang="en-US" sz="1300" dirty="0"/>
          </a:p>
        </p:txBody>
      </p:sp>
      <p:sp>
        <p:nvSpPr>
          <p:cNvPr id="23" name="dq4_q"/>
          <p:cNvSpPr txBox="1"/>
          <p:nvPr/>
        </p:nvSpPr>
        <p:spPr>
          <a:xfrm>
            <a:off x="978408" y="4700016"/>
            <a:ext cx="4797400" cy="475488"/>
          </a:xfrm>
          <a:prstGeom prst="rect">
            <a:avLst/>
          </a:prstGeom>
          <a:noFill/>
          <a:ln/>
        </p:spPr>
        <p:txBody>
          <a:bodyPr wrap="square" lIns="0" tIns="0" rIns="0" bIns="0" rtlCol="0" anchor="t"/>
          <a:lstStyle/>
          <a:p>
            <a:pPr indent="0" marL="0">
              <a:lnSpc>
                <a:spcPts val="1600"/>
              </a:lnSpc>
              <a:buNone/>
            </a:pPr>
            <a:r>
              <a:rPr lang="en-US" sz="1250" dirty="0">
                <a:solidFill>
                  <a:srgbClr val="14282B"/>
                </a:solidFill>
                <a:latin typeface="Arial" pitchFamily="34" charset="0"/>
                <a:ea typeface="Arial" pitchFamily="34" charset="-122"/>
                <a:cs typeface="Arial" pitchFamily="34" charset="-120"/>
              </a:rPr>
              <a:t>A mudskipper eats a small crab. Draw an arrow between them.</a:t>
            </a:r>
            <a:endParaRPr lang="en-US" sz="1250" dirty="0"/>
          </a:p>
        </p:txBody>
      </p:sp>
      <p:sp>
        <p:nvSpPr>
          <p:cNvPr id="24" name="dq4_a"/>
          <p:cNvSpPr/>
          <p:nvPr/>
        </p:nvSpPr>
        <p:spPr>
          <a:xfrm>
            <a:off x="978408" y="5212080"/>
            <a:ext cx="4797400" cy="329184"/>
          </a:xfrm>
          <a:prstGeom prst="roundRect">
            <a:avLst>
              <a:gd name="adj" fmla="val 22222"/>
            </a:avLst>
          </a:prstGeom>
          <a:solidFill>
            <a:srgbClr val="FDF3D6"/>
          </a:solidFill>
          <a:ln w="12700">
            <a:solidFill>
              <a:srgbClr val="F5B301"/>
            </a:solidFill>
          </a:ln>
        </p:spPr>
        <p:txBody>
          <a:bodyPr wrap="square" lIns="762" tIns="762" rIns="762" bIns="762" rtlCol="0" anchor="ctr"/>
          <a:lstStyle/>
          <a:p>
            <a:pPr algn="l" indent="0" marL="0">
              <a:buNone/>
            </a:pPr>
            <a:r>
              <a:rPr lang="en-US" sz="1150" b="1" dirty="0">
                <a:solidFill>
                  <a:srgbClr val="0E3A3F"/>
                </a:solidFill>
                <a:latin typeface="Arial" pitchFamily="34" charset="0"/>
                <a:ea typeface="Arial" pitchFamily="34" charset="-122"/>
                <a:cs typeface="Arial" pitchFamily="34" charset="-120"/>
              </a:rPr>
              <a:t>Keep whatever you drew. We come back to it.</a:t>
            </a:r>
            <a:endParaRPr lang="en-US" sz="1150" dirty="0"/>
          </a:p>
        </p:txBody>
      </p:sp>
      <p:sp>
        <p:nvSpPr>
          <p:cNvPr id="25" name="dq5_card"/>
          <p:cNvSpPr/>
          <p:nvPr/>
        </p:nvSpPr>
        <p:spPr>
          <a:xfrm>
            <a:off x="6233008" y="4608576"/>
            <a:ext cx="5455768" cy="1060704"/>
          </a:xfrm>
          <a:prstGeom prst="roundRect">
            <a:avLst>
              <a:gd name="adj" fmla="val 12069"/>
            </a:avLst>
          </a:prstGeom>
          <a:solidFill>
            <a:srgbClr val="FFFFFF"/>
          </a:solidFill>
          <a:ln w="15875">
            <a:solidFill>
              <a:srgbClr val="F0E4C8"/>
            </a:solidFill>
            <a:prstDash val="solid"/>
          </a:ln>
        </p:spPr>
      </p:sp>
      <p:sp>
        <p:nvSpPr>
          <p:cNvPr id="26" name="dq5_n"/>
          <p:cNvSpPr txBox="1"/>
          <p:nvPr/>
        </p:nvSpPr>
        <p:spPr>
          <a:xfrm>
            <a:off x="6379312" y="4718304"/>
            <a:ext cx="274320" cy="256032"/>
          </a:xfrm>
          <a:prstGeom prst="rect">
            <a:avLst/>
          </a:prstGeom>
          <a:noFill/>
          <a:ln/>
        </p:spPr>
        <p:txBody>
          <a:bodyPr wrap="square" lIns="0" tIns="0" rIns="0" bIns="0" rtlCol="0" anchor="ctr"/>
          <a:lstStyle/>
          <a:p>
            <a:pPr indent="0" marL="0">
              <a:buNone/>
            </a:pPr>
            <a:r>
              <a:rPr lang="en-US" sz="1300" b="1" dirty="0">
                <a:solidFill>
                  <a:srgbClr val="F5B301"/>
                </a:solidFill>
                <a:latin typeface="Arial" pitchFamily="34" charset="0"/>
                <a:ea typeface="Arial" pitchFamily="34" charset="-122"/>
                <a:cs typeface="Arial" pitchFamily="34" charset="-120"/>
              </a:rPr>
              <a:t>6</a:t>
            </a:r>
            <a:endParaRPr lang="en-US" sz="1300" dirty="0"/>
          </a:p>
        </p:txBody>
      </p:sp>
      <p:sp>
        <p:nvSpPr>
          <p:cNvPr id="27" name="dq5_q"/>
          <p:cNvSpPr txBox="1"/>
          <p:nvPr/>
        </p:nvSpPr>
        <p:spPr>
          <a:xfrm>
            <a:off x="6708496" y="4700016"/>
            <a:ext cx="4797400" cy="475488"/>
          </a:xfrm>
          <a:prstGeom prst="rect">
            <a:avLst/>
          </a:prstGeom>
          <a:noFill/>
          <a:ln/>
        </p:spPr>
        <p:txBody>
          <a:bodyPr wrap="square" lIns="0" tIns="0" rIns="0" bIns="0" rtlCol="0" anchor="t"/>
          <a:lstStyle/>
          <a:p>
            <a:pPr indent="0" marL="0">
              <a:lnSpc>
                <a:spcPts val="1600"/>
              </a:lnSpc>
              <a:buNone/>
            </a:pPr>
            <a:r>
              <a:rPr lang="en-US" sz="1250" dirty="0">
                <a:solidFill>
                  <a:srgbClr val="14282B"/>
                </a:solidFill>
                <a:latin typeface="Arial" pitchFamily="34" charset="0"/>
                <a:ea typeface="Arial" pitchFamily="34" charset="-122"/>
                <a:cs typeface="Arial" pitchFamily="34" charset="-120"/>
              </a:rPr>
              <a:t>What do decomposers release back into the mud?</a:t>
            </a:r>
            <a:endParaRPr lang="en-US" sz="1250" dirty="0"/>
          </a:p>
        </p:txBody>
      </p:sp>
      <p:sp>
        <p:nvSpPr>
          <p:cNvPr id="28" name="dq5_a"/>
          <p:cNvSpPr/>
          <p:nvPr/>
        </p:nvSpPr>
        <p:spPr>
          <a:xfrm>
            <a:off x="6708496" y="5212080"/>
            <a:ext cx="4797400" cy="329184"/>
          </a:xfrm>
          <a:prstGeom prst="roundRect">
            <a:avLst>
              <a:gd name="adj" fmla="val 22222"/>
            </a:avLst>
          </a:prstGeom>
          <a:solidFill>
            <a:srgbClr val="FDF3D6"/>
          </a:solidFill>
          <a:ln w="12700">
            <a:solidFill>
              <a:srgbClr val="F5B301"/>
            </a:solidFill>
          </a:ln>
        </p:spPr>
        <p:txBody>
          <a:bodyPr wrap="square" lIns="762" tIns="762" rIns="762" bIns="762" rtlCol="0" anchor="ctr"/>
          <a:lstStyle/>
          <a:p>
            <a:pPr algn="l" indent="0" marL="0">
              <a:buNone/>
            </a:pPr>
            <a:r>
              <a:rPr lang="en-US" sz="1150" b="1" dirty="0">
                <a:solidFill>
                  <a:srgbClr val="0E3A3F"/>
                </a:solidFill>
                <a:latin typeface="Arial" pitchFamily="34" charset="0"/>
                <a:ea typeface="Arial" pitchFamily="34" charset="-122"/>
                <a:cs typeface="Arial" pitchFamily="34" charset="-120"/>
              </a:rPr>
              <a:t>Nutrients, such as nitrogen.</a:t>
            </a:r>
            <a:endParaRPr lang="en-US" sz="11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22" presetClass="entr" presetSubtype="8" fill="hold" grpId="0" nodeType="clickEffect">
                                  <p:stCondLst>
                                    <p:cond delay="0"/>
                                  </p:stCondLst>
                                  <p:childTnLst>
                                    <p:set>
                                      <p:cBhvr>
                                        <p:cTn id="3" dur="1" fill="hold">
                                          <p:stCondLst>
                                            <p:cond delay="0"/>
                                          </p:stCondLst>
                                        </p:cTn>
                                        <p:tgtEl>
                                          <p:spTgt spid="8"/>
                                        </p:tgtEl>
                                        <p:attrNameLst>
                                          <p:attrName>style.visibility</p:attrName>
                                        </p:attrNameLst>
                                      </p:cBhvr>
                                      <p:to>
                                        <p:strVal val="visible"/>
                                      </p:to>
                                    </p:set>
                                    <p:animEffect transition="in" filter="wipe(right)">
                                      <p:cBhvr>
                                        <p:cTn id="4"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0" presetID="22" presetClass="entr" presetSubtype="8" fill="hold" grpId="0"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wipe(right)">
                                      <p:cBhvr>
                                        <p:cTn id="9" dur="5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22" presetClass="entr" presetSubtype="8" fill="hold" grpId="0" nodeType="clickEffect">
                                  <p:stCondLst>
                                    <p:cond delay="0"/>
                                  </p:stCondLst>
                                  <p:childTnLst>
                                    <p:set>
                                      <p:cBhvr>
                                        <p:cTn id="13" dur="1" fill="hold">
                                          <p:stCondLst>
                                            <p:cond delay="0"/>
                                          </p:stCondLst>
                                        </p:cTn>
                                        <p:tgtEl>
                                          <p:spTgt spid="16"/>
                                        </p:tgtEl>
                                        <p:attrNameLst>
                                          <p:attrName>style.visibility</p:attrName>
                                        </p:attrNameLst>
                                      </p:cBhvr>
                                      <p:to>
                                        <p:strVal val="visible"/>
                                      </p:to>
                                    </p:set>
                                    <p:animEffect transition="in" filter="wipe(right)">
                                      <p:cBhvr>
                                        <p:cTn id="14" dur="500"/>
                                        <p:tgtEl>
                                          <p:spTgt spid="16"/>
                                        </p:tgtEl>
                                      </p:cBhvr>
                                    </p:animEffect>
                                  </p:childTnLst>
                                </p:cTn>
                              </p:par>
                            </p:childTnLst>
                          </p:cTn>
                        </p:par>
                      </p:childTnLst>
                    </p:cTn>
                  </p:par>
                  <p:par>
                    <p:cTn id="21" fill="hold">
                      <p:stCondLst>
                        <p:cond delay="indefinite"/>
                      </p:stCondLst>
                      <p:childTnLst>
                        <p:par>
                          <p:cTn id="22" fill="hold">
                            <p:stCondLst>
                              <p:cond delay="0"/>
                            </p:stCondLst>
                            <p:childTnLst>
                              <p:par>
                                <p:cTn id="20" presetID="22" presetClass="entr" presetSubtype="8"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wipe(right)">
                                      <p:cBhvr>
                                        <p:cTn id="19" dur="5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22" presetClass="entr" presetSubtype="8" fill="hold" grpId="0" nodeType="clickEffect">
                                  <p:stCondLst>
                                    <p:cond delay="0"/>
                                  </p:stCondLst>
                                  <p:childTnLst>
                                    <p:set>
                                      <p:cBhvr>
                                        <p:cTn id="23" dur="1" fill="hold">
                                          <p:stCondLst>
                                            <p:cond delay="0"/>
                                          </p:stCondLst>
                                        </p:cTn>
                                        <p:tgtEl>
                                          <p:spTgt spid="24"/>
                                        </p:tgtEl>
                                        <p:attrNameLst>
                                          <p:attrName>style.visibility</p:attrName>
                                        </p:attrNameLst>
                                      </p:cBhvr>
                                      <p:to>
                                        <p:strVal val="visible"/>
                                      </p:to>
                                    </p:set>
                                    <p:animEffect transition="in" filter="wipe(right)">
                                      <p:cBhvr>
                                        <p:cTn id="24" dur="500"/>
                                        <p:tgtEl>
                                          <p:spTgt spid="24"/>
                                        </p:tgtEl>
                                      </p:cBhvr>
                                    </p:animEffect>
                                  </p:childTnLst>
                                </p:cTn>
                              </p:par>
                            </p:childTnLst>
                          </p:cTn>
                        </p:par>
                      </p:childTnLst>
                    </p:cTn>
                  </p:par>
                  <p:par>
                    <p:cTn id="31" fill="hold">
                      <p:stCondLst>
                        <p:cond delay="indefinite"/>
                      </p:stCondLst>
                      <p:childTnLst>
                        <p:par>
                          <p:cTn id="32" fill="hold">
                            <p:stCondLst>
                              <p:cond delay="0"/>
                            </p:stCondLst>
                            <p:childTnLst>
                              <p:par>
                                <p:cTn id="30" presetID="22" presetClass="entr" presetSubtype="8" fill="hold" grpId="0" nodeType="clickEffect">
                                  <p:stCondLst>
                                    <p:cond delay="0"/>
                                  </p:stCondLst>
                                  <p:childTnLst>
                                    <p:set>
                                      <p:cBhvr>
                                        <p:cTn id="28" dur="1" fill="hold">
                                          <p:stCondLst>
                                            <p:cond delay="0"/>
                                          </p:stCondLst>
                                        </p:cTn>
                                        <p:tgtEl>
                                          <p:spTgt spid="28"/>
                                        </p:tgtEl>
                                        <p:attrNameLst>
                                          <p:attrName>style.visibility</p:attrName>
                                        </p:attrNameLst>
                                      </p:cBhvr>
                                      <p:to>
                                        <p:strVal val="visible"/>
                                      </p:to>
                                    </p:set>
                                    <p:animEffect transition="in" filter="wipe(right)">
                                      <p:cBhvr>
                                        <p:cTn id="29"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4E6"/>
        </a:solidFill>
      </p:bgPr>
    </p:bg>
    <p:spTree>
      <p:nvGrpSpPr>
        <p:cNvPr id="1" name=""/>
        <p:cNvGrpSpPr/>
        <p:nvPr/>
      </p:nvGrpSpPr>
      <p:grpSpPr>
        <a:xfrm>
          <a:off x="0" y="0"/>
          <a:ext cx="0" cy="0"/>
          <a:chOff x="0" y="0"/>
          <a:chExt cx="0" cy="0"/>
        </a:xfrm>
      </p:grpSpPr>
      <p:sp>
        <p:nvSpPr>
          <p:cNvPr id="2" name="phase_pill"/>
          <p:cNvSpPr/>
          <p:nvPr/>
        </p:nvSpPr>
        <p:spPr>
          <a:xfrm>
            <a:off x="502920" y="274320"/>
            <a:ext cx="2139696" cy="347472"/>
          </a:xfrm>
          <a:prstGeom prst="roundRect">
            <a:avLst>
              <a:gd name="adj" fmla="val 50000"/>
            </a:avLst>
          </a:prstGeom>
          <a:solidFill>
            <a:srgbClr val="0E3A3F"/>
          </a:solidFill>
          <a:ln/>
        </p:spPr>
        <p:txBody>
          <a:bodyPr wrap="square" lIns="0" tIns="0" rIns="0" bIns="0" rtlCol="0" anchor="ctr"/>
          <a:lstStyle/>
          <a:p>
            <a:pPr algn="ctr" indent="0" marL="0">
              <a:buNone/>
            </a:pPr>
            <a:r>
              <a:rPr lang="en-US" sz="1100" b="1" spc="110" kern="0" dirty="0">
                <a:solidFill>
                  <a:srgbClr val="FAF4E6"/>
                </a:solidFill>
                <a:latin typeface="Arial" pitchFamily="34" charset="0"/>
                <a:ea typeface="Arial" pitchFamily="34" charset="-122"/>
                <a:cs typeface="Arial" pitchFamily="34" charset="-120"/>
              </a:rPr>
              <a:t>HOOK · 4 MIN</a:t>
            </a:r>
            <a:endParaRPr lang="en-US" sz="1100" dirty="0"/>
          </a:p>
        </p:txBody>
      </p:sp>
      <p:sp>
        <p:nvSpPr>
          <p:cNvPr id="3" name="slide_title"/>
          <p:cNvSpPr txBox="1"/>
          <p:nvPr/>
        </p:nvSpPr>
        <p:spPr>
          <a:xfrm>
            <a:off x="502920" y="914400"/>
            <a:ext cx="11185855" cy="658368"/>
          </a:xfrm>
          <a:prstGeom prst="rect">
            <a:avLst/>
          </a:prstGeom>
          <a:noFill/>
          <a:ln/>
        </p:spPr>
        <p:txBody>
          <a:bodyPr wrap="square" lIns="0" tIns="0" rIns="0" bIns="0" rtlCol="0" anchor="ctr"/>
          <a:lstStyle/>
          <a:p>
            <a:pPr algn="l" indent="0" marL="0">
              <a:buNone/>
            </a:pPr>
            <a:r>
              <a:rPr lang="en-US" sz="3000" b="1" dirty="0">
                <a:solidFill>
                  <a:srgbClr val="0E3A3F"/>
                </a:solidFill>
                <a:latin typeface="Georgia" pitchFamily="34" charset="0"/>
                <a:ea typeface="Georgia" pitchFamily="34" charset="-122"/>
                <a:cs typeface="Georgia" pitchFamily="34" charset="-120"/>
              </a:rPr>
              <a:t>Where did the big fish go?</a:t>
            </a:r>
            <a:endParaRPr lang="en-US" sz="3000" dirty="0"/>
          </a:p>
        </p:txBody>
      </p:sp>
      <p:sp>
        <p:nvSpPr>
          <p:cNvPr id="4" name="hook_kick"/>
          <p:cNvSpPr txBox="1"/>
          <p:nvPr/>
        </p:nvSpPr>
        <p:spPr>
          <a:xfrm>
            <a:off x="502920" y="1554480"/>
            <a:ext cx="10058400" cy="310896"/>
          </a:xfrm>
          <a:prstGeom prst="rect">
            <a:avLst/>
          </a:prstGeom>
          <a:noFill/>
          <a:ln/>
        </p:spPr>
        <p:txBody>
          <a:bodyPr wrap="square" lIns="0" tIns="0" rIns="0" bIns="0" rtlCol="0" anchor="ctr"/>
          <a:lstStyle/>
          <a:p>
            <a:pPr indent="0" marL="0">
              <a:buNone/>
            </a:pPr>
            <a:r>
              <a:rPr lang="en-US" sz="1300" dirty="0">
                <a:solidFill>
                  <a:srgbClr val="4A6165"/>
                </a:solidFill>
                <a:latin typeface="Arial" pitchFamily="34" charset="0"/>
                <a:ea typeface="Arial" pitchFamily="34" charset="-122"/>
                <a:cs typeface="Arial" pitchFamily="34" charset="-120"/>
              </a:rPr>
              <a:t>Pla thu (ปลาทู) — the fish in every market in Rayong.</a:t>
            </a:r>
            <a:endParaRPr lang="en-US" sz="1300" dirty="0"/>
          </a:p>
        </p:txBody>
      </p:sp>
      <p:pic>
        <p:nvPicPr>
          <p:cNvPr id="5" name="hook_img" descr="/home/claude/build/img2/plathu_market.jpg">    </p:cNvPr>
          <p:cNvPicPr>
            <a:picLocks noChangeAspect="1"/>
          </p:cNvPicPr>
          <p:nvPr/>
        </p:nvPicPr>
        <p:blipFill>
          <a:blip r:embed="rId1"/>
          <a:stretch>
            <a:fillRect/>
          </a:stretch>
        </p:blipFill>
        <p:spPr>
          <a:xfrm>
            <a:off x="502920" y="1956816"/>
            <a:ext cx="4754880" cy="2990088"/>
          </a:xfrm>
          <a:prstGeom prst="rect">
            <a:avLst/>
          </a:prstGeom>
        </p:spPr>
      </p:pic>
      <p:sp>
        <p:nvSpPr>
          <p:cNvPr id="6" name="hook_cap"/>
          <p:cNvSpPr txBox="1"/>
          <p:nvPr/>
        </p:nvSpPr>
        <p:spPr>
          <a:xfrm>
            <a:off x="502920" y="5001768"/>
            <a:ext cx="4754880" cy="274320"/>
          </a:xfrm>
          <a:prstGeom prst="rect">
            <a:avLst/>
          </a:prstGeom>
          <a:noFill/>
          <a:ln/>
        </p:spPr>
        <p:txBody>
          <a:bodyPr wrap="square" lIns="0" tIns="0" rIns="0" bIns="0" rtlCol="0" anchor="ctr"/>
          <a:lstStyle/>
          <a:p>
            <a:pPr indent="0" marL="0">
              <a:buNone/>
            </a:pPr>
            <a:r>
              <a:rPr lang="en-US" sz="900" i="1" dirty="0">
                <a:solidFill>
                  <a:srgbClr val="4A6165"/>
                </a:solidFill>
                <a:latin typeface="Arial" pitchFamily="34" charset="0"/>
                <a:ea typeface="Arial" pitchFamily="34" charset="-122"/>
                <a:cs typeface="Arial" pitchFamily="34" charset="-120"/>
              </a:rPr>
              <a:t>Fresh pla thu, Rastrelliger brachysoma. Photo: Xufanc, CC BY-SA 3.0</a:t>
            </a:r>
            <a:endParaRPr lang="en-US" sz="900" dirty="0"/>
          </a:p>
        </p:txBody>
      </p:sp>
      <p:sp>
        <p:nvSpPr>
          <p:cNvPr id="7" name="hook_q1"/>
          <p:cNvSpPr txBox="1"/>
          <p:nvPr/>
        </p:nvSpPr>
        <p:spPr>
          <a:xfrm>
            <a:off x="5623560" y="1956816"/>
            <a:ext cx="6065215" cy="1371600"/>
          </a:xfrm>
          <a:prstGeom prst="rect">
            <a:avLst/>
          </a:prstGeom>
          <a:noFill/>
          <a:ln/>
        </p:spPr>
        <p:txBody>
          <a:bodyPr wrap="square" lIns="0" tIns="0" rIns="0" bIns="0" rtlCol="0" anchor="t"/>
          <a:lstStyle/>
          <a:p>
            <a:pPr indent="0" marL="0">
              <a:lnSpc>
                <a:spcPts val="2600"/>
              </a:lnSpc>
              <a:buNone/>
            </a:pPr>
            <a:r>
              <a:rPr lang="en-US" sz="1700" dirty="0">
                <a:solidFill>
                  <a:srgbClr val="14282B"/>
                </a:solidFill>
                <a:latin typeface="Arial" pitchFamily="34" charset="0"/>
                <a:ea typeface="Arial" pitchFamily="34" charset="-122"/>
                <a:cs typeface="Arial" pitchFamily="34" charset="-120"/>
              </a:rPr>
              <a:t>Thailand lands pla thu by the hundred thousand tonnes.</a:t>
            </a:r>
            <a:endParaRPr lang="en-US" sz="1700" dirty="0"/>
          </a:p>
          <a:p>
            <a:pPr indent="0" marL="0">
              <a:lnSpc>
                <a:spcPts val="2600"/>
              </a:lnSpc>
              <a:buNone/>
            </a:pPr>
            <a:endParaRPr lang="en-US" sz="1700" dirty="0"/>
          </a:p>
          <a:p>
            <a:pPr indent="0" marL="0">
              <a:lnSpc>
                <a:spcPts val="2600"/>
              </a:lnSpc>
              <a:buNone/>
            </a:pPr>
            <a:r>
              <a:rPr lang="en-US" sz="1700" dirty="0">
                <a:solidFill>
                  <a:srgbClr val="14282B"/>
                </a:solidFill>
                <a:latin typeface="Arial" pitchFamily="34" charset="0"/>
                <a:ea typeface="Arial" pitchFamily="34" charset="-122"/>
                <a:cs typeface="Arial" pitchFamily="34" charset="-120"/>
              </a:rPr>
              <a:t>Nobody anywhere lands hundreds of thousands of tonnes of the fish that eat pla thu.</a:t>
            </a:r>
            <a:endParaRPr lang="en-US" sz="1700" dirty="0"/>
          </a:p>
        </p:txBody>
      </p:sp>
      <p:sp>
        <p:nvSpPr>
          <p:cNvPr id="8" name="hook_q2"/>
          <p:cNvSpPr txBox="1"/>
          <p:nvPr/>
        </p:nvSpPr>
        <p:spPr>
          <a:xfrm>
            <a:off x="5623560" y="3566160"/>
            <a:ext cx="6065215" cy="420624"/>
          </a:xfrm>
          <a:prstGeom prst="rect">
            <a:avLst/>
          </a:prstGeom>
          <a:noFill/>
          <a:ln/>
        </p:spPr>
        <p:txBody>
          <a:bodyPr wrap="square" lIns="0" tIns="0" rIns="0" bIns="0" rtlCol="0" anchor="ctr"/>
          <a:lstStyle/>
          <a:p>
            <a:pPr indent="0" marL="0">
              <a:buNone/>
            </a:pPr>
            <a:r>
              <a:rPr lang="en-US" sz="2200" b="1" dirty="0">
                <a:solidFill>
                  <a:srgbClr val="0E3A3F"/>
                </a:solidFill>
                <a:latin typeface="Georgia" pitchFamily="34" charset="0"/>
                <a:ea typeface="Georgia" pitchFamily="34" charset="-122"/>
                <a:cs typeface="Georgia" pitchFamily="34" charset="-120"/>
              </a:rPr>
              <a:t>Why not?</a:t>
            </a:r>
            <a:endParaRPr lang="en-US" sz="2200" dirty="0"/>
          </a:p>
        </p:txBody>
      </p:sp>
      <p:grpSp>
        <p:nvGrpSpPr>
          <p:cNvPr id="19" name="hook_opt0"/>
          <p:cNvGrpSpPr/>
          <p:nvPr/>
        </p:nvGrpSpPr>
        <p:grpSpPr>
          <a:xfrm>
            <a:off x="5623560" y="4206240"/>
            <a:ext cx="6065215" cy="530352"/>
            <a:chOff x="5623560" y="4206240"/>
            <a:chExt cx="6065215" cy="530352"/>
          </a:xfrm>
        </p:grpSpPr>
        <p:sp>
          <p:nvSpPr>
            <p:cNvPr id="9" name="hook_opt0_bg"/>
            <p:cNvSpPr/>
            <p:nvPr/>
          </p:nvSpPr>
          <p:spPr>
            <a:xfrm>
              <a:off x="5623560" y="4206240"/>
              <a:ext cx="6065215" cy="530352"/>
            </a:xfrm>
            <a:prstGeom prst="roundRect">
              <a:avLst>
                <a:gd name="adj" fmla="val 24138"/>
              </a:avLst>
            </a:prstGeom>
            <a:solidFill>
              <a:srgbClr val="FFFFFF"/>
            </a:solidFill>
            <a:ln w="15875">
              <a:solidFill>
                <a:srgbClr val="F0E4C8"/>
              </a:solidFill>
              <a:prstDash val="solid"/>
            </a:ln>
          </p:spPr>
        </p:sp>
        <p:sp>
          <p:nvSpPr>
            <p:cNvPr id="10" name="hook_opt0_k"/>
            <p:cNvSpPr txBox="1"/>
            <p:nvPr/>
          </p:nvSpPr>
          <p:spPr>
            <a:xfrm>
              <a:off x="5806440" y="4206240"/>
              <a:ext cx="292608" cy="530352"/>
            </a:xfrm>
            <a:prstGeom prst="rect">
              <a:avLst/>
            </a:prstGeom>
            <a:noFill/>
            <a:ln/>
          </p:spPr>
          <p:txBody>
            <a:bodyPr wrap="square" lIns="0" tIns="0" rIns="0" bIns="0" rtlCol="0" anchor="ctr"/>
            <a:lstStyle/>
            <a:p>
              <a:pPr indent="0" marL="0">
                <a:buNone/>
              </a:pPr>
              <a:r>
                <a:rPr lang="en-US" sz="1400" b="1" dirty="0">
                  <a:solidFill>
                    <a:srgbClr val="E2572B"/>
                  </a:solidFill>
                  <a:latin typeface="Arial" pitchFamily="34" charset="0"/>
                  <a:ea typeface="Arial" pitchFamily="34" charset="-122"/>
                  <a:cs typeface="Arial" pitchFamily="34" charset="-120"/>
                </a:rPr>
                <a:t>A</a:t>
              </a:r>
              <a:endParaRPr lang="en-US" sz="1400" dirty="0"/>
            </a:p>
          </p:txBody>
        </p:sp>
        <p:sp>
          <p:nvSpPr>
            <p:cNvPr id="11" name="hook_opt0_t"/>
            <p:cNvSpPr txBox="1"/>
            <p:nvPr/>
          </p:nvSpPr>
          <p:spPr>
            <a:xfrm>
              <a:off x="6172200" y="4206240"/>
              <a:ext cx="5333695" cy="530352"/>
            </a:xfrm>
            <a:prstGeom prst="rect">
              <a:avLst/>
            </a:prstGeom>
            <a:noFill/>
            <a:ln/>
          </p:spPr>
          <p:txBody>
            <a:bodyPr wrap="square" lIns="0" tIns="0" rIns="0" bIns="0" rtlCol="0" anchor="ctr"/>
            <a:lstStyle/>
            <a:p>
              <a:pPr indent="0" marL="0">
                <a:buNone/>
              </a:pPr>
              <a:r>
                <a:rPr lang="en-US" sz="1350" dirty="0">
                  <a:solidFill>
                    <a:srgbClr val="14282B"/>
                  </a:solidFill>
                  <a:latin typeface="Arial" pitchFamily="34" charset="0"/>
                  <a:ea typeface="Arial" pitchFamily="34" charset="-122"/>
                  <a:cs typeface="Arial" pitchFamily="34" charset="-120"/>
                </a:rPr>
                <a:t>The big ones are just harder to catch.</a:t>
              </a:r>
              <a:endParaRPr lang="en-US" sz="1350" dirty="0"/>
            </a:p>
          </p:txBody>
        </p:sp>
      </p:grpSp>
      <p:grpSp>
        <p:nvGrpSpPr>
          <p:cNvPr id="20" name="hook_opt1"/>
          <p:cNvGrpSpPr/>
          <p:nvPr/>
        </p:nvGrpSpPr>
        <p:grpSpPr>
          <a:xfrm>
            <a:off x="5623560" y="4864608"/>
            <a:ext cx="6065215" cy="530352"/>
            <a:chOff x="5623560" y="4864608"/>
            <a:chExt cx="6065215" cy="530352"/>
          </a:xfrm>
        </p:grpSpPr>
        <p:sp>
          <p:nvSpPr>
            <p:cNvPr id="12" name="hook_opt1_bg"/>
            <p:cNvSpPr/>
            <p:nvPr/>
          </p:nvSpPr>
          <p:spPr>
            <a:xfrm>
              <a:off x="5623560" y="4864608"/>
              <a:ext cx="6065215" cy="530352"/>
            </a:xfrm>
            <a:prstGeom prst="roundRect">
              <a:avLst>
                <a:gd name="adj" fmla="val 24138"/>
              </a:avLst>
            </a:prstGeom>
            <a:solidFill>
              <a:srgbClr val="FFFFFF"/>
            </a:solidFill>
            <a:ln w="15875">
              <a:solidFill>
                <a:srgbClr val="F0E4C8"/>
              </a:solidFill>
              <a:prstDash val="solid"/>
            </a:ln>
          </p:spPr>
        </p:sp>
        <p:sp>
          <p:nvSpPr>
            <p:cNvPr id="13" name="hook_opt1_k"/>
            <p:cNvSpPr txBox="1"/>
            <p:nvPr/>
          </p:nvSpPr>
          <p:spPr>
            <a:xfrm>
              <a:off x="5806440" y="4864608"/>
              <a:ext cx="292608" cy="530352"/>
            </a:xfrm>
            <a:prstGeom prst="rect">
              <a:avLst/>
            </a:prstGeom>
            <a:noFill/>
            <a:ln/>
          </p:spPr>
          <p:txBody>
            <a:bodyPr wrap="square" lIns="0" tIns="0" rIns="0" bIns="0" rtlCol="0" anchor="ctr"/>
            <a:lstStyle/>
            <a:p>
              <a:pPr indent="0" marL="0">
                <a:buNone/>
              </a:pPr>
              <a:r>
                <a:rPr lang="en-US" sz="1400" b="1" dirty="0">
                  <a:solidFill>
                    <a:srgbClr val="E2572B"/>
                  </a:solidFill>
                  <a:latin typeface="Arial" pitchFamily="34" charset="0"/>
                  <a:ea typeface="Arial" pitchFamily="34" charset="-122"/>
                  <a:cs typeface="Arial" pitchFamily="34" charset="-120"/>
                </a:rPr>
                <a:t>B</a:t>
              </a:r>
              <a:endParaRPr lang="en-US" sz="1400" dirty="0"/>
            </a:p>
          </p:txBody>
        </p:sp>
        <p:sp>
          <p:nvSpPr>
            <p:cNvPr id="14" name="hook_opt1_t"/>
            <p:cNvSpPr txBox="1"/>
            <p:nvPr/>
          </p:nvSpPr>
          <p:spPr>
            <a:xfrm>
              <a:off x="6172200" y="4864608"/>
              <a:ext cx="5333695" cy="530352"/>
            </a:xfrm>
            <a:prstGeom prst="rect">
              <a:avLst/>
            </a:prstGeom>
            <a:noFill/>
            <a:ln/>
          </p:spPr>
          <p:txBody>
            <a:bodyPr wrap="square" lIns="0" tIns="0" rIns="0" bIns="0" rtlCol="0" anchor="ctr"/>
            <a:lstStyle/>
            <a:p>
              <a:pPr indent="0" marL="0">
                <a:buNone/>
              </a:pPr>
              <a:r>
                <a:rPr lang="en-US" sz="1350" dirty="0">
                  <a:solidFill>
                    <a:srgbClr val="14282B"/>
                  </a:solidFill>
                  <a:latin typeface="Arial" pitchFamily="34" charset="0"/>
                  <a:ea typeface="Arial" pitchFamily="34" charset="-122"/>
                  <a:cs typeface="Arial" pitchFamily="34" charset="-120"/>
                </a:rPr>
                <a:t>There genuinely are not as many of them.</a:t>
              </a:r>
              <a:endParaRPr lang="en-US" sz="1350" dirty="0"/>
            </a:p>
          </p:txBody>
        </p:sp>
      </p:grpSp>
      <p:grpSp>
        <p:nvGrpSpPr>
          <p:cNvPr id="21" name="hook_opt2"/>
          <p:cNvGrpSpPr/>
          <p:nvPr/>
        </p:nvGrpSpPr>
        <p:grpSpPr>
          <a:xfrm>
            <a:off x="5623560" y="5522976"/>
            <a:ext cx="6065215" cy="530352"/>
            <a:chOff x="5623560" y="5522976"/>
            <a:chExt cx="6065215" cy="530352"/>
          </a:xfrm>
        </p:grpSpPr>
        <p:sp>
          <p:nvSpPr>
            <p:cNvPr id="15" name="hook_opt2_bg"/>
            <p:cNvSpPr/>
            <p:nvPr/>
          </p:nvSpPr>
          <p:spPr>
            <a:xfrm>
              <a:off x="5623560" y="5522976"/>
              <a:ext cx="6065215" cy="530352"/>
            </a:xfrm>
            <a:prstGeom prst="roundRect">
              <a:avLst>
                <a:gd name="adj" fmla="val 24138"/>
              </a:avLst>
            </a:prstGeom>
            <a:solidFill>
              <a:srgbClr val="FFFFFF"/>
            </a:solidFill>
            <a:ln w="15875">
              <a:solidFill>
                <a:srgbClr val="F0E4C8"/>
              </a:solidFill>
              <a:prstDash val="solid"/>
            </a:ln>
          </p:spPr>
        </p:sp>
        <p:sp>
          <p:nvSpPr>
            <p:cNvPr id="16" name="hook_opt2_k"/>
            <p:cNvSpPr txBox="1"/>
            <p:nvPr/>
          </p:nvSpPr>
          <p:spPr>
            <a:xfrm>
              <a:off x="5806440" y="5522976"/>
              <a:ext cx="292608" cy="530352"/>
            </a:xfrm>
            <a:prstGeom prst="rect">
              <a:avLst/>
            </a:prstGeom>
            <a:noFill/>
            <a:ln/>
          </p:spPr>
          <p:txBody>
            <a:bodyPr wrap="square" lIns="0" tIns="0" rIns="0" bIns="0" rtlCol="0" anchor="ctr"/>
            <a:lstStyle/>
            <a:p>
              <a:pPr indent="0" marL="0">
                <a:buNone/>
              </a:pPr>
              <a:r>
                <a:rPr lang="en-US" sz="1400" b="1" dirty="0">
                  <a:solidFill>
                    <a:srgbClr val="E2572B"/>
                  </a:solidFill>
                  <a:latin typeface="Arial" pitchFamily="34" charset="0"/>
                  <a:ea typeface="Arial" pitchFamily="34" charset="-122"/>
                  <a:cs typeface="Arial" pitchFamily="34" charset="-120"/>
                </a:rPr>
                <a:t>C</a:t>
              </a:r>
              <a:endParaRPr lang="en-US" sz="1400" dirty="0"/>
            </a:p>
          </p:txBody>
        </p:sp>
        <p:sp>
          <p:nvSpPr>
            <p:cNvPr id="17" name="hook_opt2_t"/>
            <p:cNvSpPr txBox="1"/>
            <p:nvPr/>
          </p:nvSpPr>
          <p:spPr>
            <a:xfrm>
              <a:off x="6172200" y="5522976"/>
              <a:ext cx="5333695" cy="530352"/>
            </a:xfrm>
            <a:prstGeom prst="rect">
              <a:avLst/>
            </a:prstGeom>
            <a:noFill/>
            <a:ln/>
          </p:spPr>
          <p:txBody>
            <a:bodyPr wrap="square" lIns="0" tIns="0" rIns="0" bIns="0" rtlCol="0" anchor="ctr"/>
            <a:lstStyle/>
            <a:p>
              <a:pPr indent="0" marL="0">
                <a:buNone/>
              </a:pPr>
              <a:r>
                <a:rPr lang="en-US" sz="1350" dirty="0">
                  <a:solidFill>
                    <a:srgbClr val="14282B"/>
                  </a:solidFill>
                  <a:latin typeface="Arial" pitchFamily="34" charset="0"/>
                  <a:ea typeface="Arial" pitchFamily="34" charset="-122"/>
                  <a:cs typeface="Arial" pitchFamily="34" charset="-120"/>
                </a:rPr>
                <a:t>Nobody wants to eat them.</a:t>
              </a:r>
              <a:endParaRPr lang="en-US" sz="1350" dirty="0"/>
            </a:p>
          </p:txBody>
        </p:sp>
      </p:grpSp>
      <p:sp>
        <p:nvSpPr>
          <p:cNvPr id="18" name="footer_note"/>
          <p:cNvSpPr txBox="1"/>
          <p:nvPr/>
        </p:nvSpPr>
        <p:spPr>
          <a:xfrm>
            <a:off x="502920" y="6382512"/>
            <a:ext cx="11185855" cy="292608"/>
          </a:xfrm>
          <a:prstGeom prst="rect">
            <a:avLst/>
          </a:prstGeom>
          <a:noFill/>
          <a:ln/>
        </p:spPr>
        <p:txBody>
          <a:bodyPr wrap="square" lIns="0" tIns="0" rIns="0" bIns="0" rtlCol="0" anchor="ctr"/>
          <a:lstStyle/>
          <a:p>
            <a:pPr algn="l" indent="0" marL="0">
              <a:buNone/>
            </a:pPr>
            <a:r>
              <a:rPr lang="en-US" sz="1050" i="1" dirty="0">
                <a:solidFill>
                  <a:srgbClr val="4A6165"/>
                </a:solidFill>
                <a:latin typeface="Arial" pitchFamily="34" charset="0"/>
                <a:ea typeface="Arial" pitchFamily="34" charset="-122"/>
                <a:cs typeface="Arial" pitchFamily="34" charset="-120"/>
              </a:rPr>
              <a:t>Vote. Write your letter in the margin. We come back to this at the end.</a:t>
            </a:r>
            <a:endParaRPr lang="en-US" sz="10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grpId="0" nodeType="clickEffect">
                                  <p:stCondLst>
                                    <p:cond delay="0"/>
                                  </p:stCondLst>
                                  <p:childTnLst>
                                    <p:set>
                                      <p:cBhvr>
                                        <p:cTn id="3" dur="1" fill="hold">
                                          <p:stCondLst>
                                            <p:cond delay="0"/>
                                          </p:stCondLst>
                                        </p:cTn>
                                        <p:tgtEl>
                                          <p:spTgt spid="7"/>
                                        </p:tgtEl>
                                        <p:attrNameLst>
                                          <p:attrName>style.visibility</p:attrName>
                                        </p:attrNameLst>
                                      </p:cBhvr>
                                      <p:to>
                                        <p:strVal val="visible"/>
                                      </p:to>
                                    </p:set>
                                    <p:animEffect transition="in" filter="fade">
                                      <p:cBhvr>
                                        <p:cTn id="4"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grpId="0" nodeType="clickEffect">
                                  <p:stCondLst>
                                    <p:cond delay="0"/>
                                  </p:stCondLst>
                                  <p:childTnLst>
                                    <p:set>
                                      <p:cBhvr>
                                        <p:cTn id="8" dur="1" fill="hold">
                                          <p:stCondLst>
                                            <p:cond delay="0"/>
                                          </p:stCondLst>
                                        </p:cTn>
                                        <p:tgtEl>
                                          <p:spTgt spid="8"/>
                                        </p:tgtEl>
                                        <p:attrNameLst>
                                          <p:attrName>style.visibility</p:attrName>
                                        </p:attrNameLst>
                                      </p:cBhvr>
                                      <p:to>
                                        <p:strVal val="visible"/>
                                      </p:to>
                                    </p:set>
                                    <p:animEffect transition="in" filter="fade">
                                      <p:cBhvr>
                                        <p:cTn id="9" dur="500"/>
                                        <p:tgtEl>
                                          <p:spTgt spid="8"/>
                                        </p:tgtEl>
                                      </p:cBhvr>
                                    </p:animEffect>
                                  </p:childTnLst>
                                </p:cTn>
                              </p:par>
                            </p:childTnLst>
                          </p:cTn>
                        </p:par>
                      </p:childTnLst>
                    </p:cTn>
                  </p:par>
                  <p:par>
                    <p:cTn id="22" fill="hold">
                      <p:stCondLst>
                        <p:cond delay="indefinite"/>
                      </p:stCondLst>
                      <p:childTnLst>
                        <p:par>
                          <p:cTn id="23" fill="hold">
                            <p:stCondLst>
                              <p:cond delay="0"/>
                            </p:stCondLst>
                            <p:childTnLst>
                              <p:par>
                                <p:cTn id="15" presetID="10" presetClass="entr" presetSubtype="0" fill="hold" grpId="0" nodeType="clickEffect">
                                  <p:stCondLst>
                                    <p:cond delay="0"/>
                                  </p:stCondLst>
                                  <p:childTnLst>
                                    <p:set>
                                      <p:cBhvr>
                                        <p:cTn id="13" dur="1" fill="hold">
                                          <p:stCondLst>
                                            <p:cond delay="0"/>
                                          </p:stCondLst>
                                        </p:cTn>
                                        <p:tgtEl>
                                          <p:spTgt spid="19"/>
                                        </p:tgtEl>
                                        <p:attrNameLst>
                                          <p:attrName>style.visibility</p:attrName>
                                        </p:attrNameLst>
                                      </p:cBhvr>
                                      <p:to>
                                        <p:strVal val="visible"/>
                                      </p:to>
                                    </p:set>
                                    <p:animEffect transition="in" filter="fade">
                                      <p:cBhvr>
                                        <p:cTn id="14" dur="500"/>
                                        <p:tgtEl>
                                          <p:spTgt spid="19"/>
                                        </p:tgtEl>
                                      </p:cBhvr>
                                    </p:animEffect>
                                  </p:childTnLst>
                                </p:cTn>
                              </p:par>
                              <p:par>
                                <p:cTn id="18" presetID="10" presetClass="entr" presetSubtype="0" fill="hold" grpId="0" nodeType="withEffect">
                                  <p:stCondLst>
                                    <p:cond delay="16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500"/>
                                        <p:tgtEl>
                                          <p:spTgt spid="20"/>
                                        </p:tgtEl>
                                      </p:cBhvr>
                                    </p:animEffect>
                                  </p:childTnLst>
                                </p:cTn>
                              </p:par>
                              <p:par>
                                <p:cTn id="21" presetID="10" presetClass="entr" presetSubtype="0" fill="hold" grpId="0" nodeType="withEffect">
                                  <p:stCondLst>
                                    <p:cond delay="320"/>
                                  </p:stCondLst>
                                  <p:childTnLst>
                                    <p:set>
                                      <p:cBhvr>
                                        <p:cTn id="19" dur="1" fill="hold">
                                          <p:stCondLst>
                                            <p:cond delay="0"/>
                                          </p:stCondLst>
                                        </p:cTn>
                                        <p:tgtEl>
                                          <p:spTgt spid="21"/>
                                        </p:tgtEl>
                                        <p:attrNameLst>
                                          <p:attrName>style.visibility</p:attrName>
                                        </p:attrNameLst>
                                      </p:cBhvr>
                                      <p:to>
                                        <p:strVal val="visible"/>
                                      </p:to>
                                    </p:set>
                                    <p:animEffect transition="in" filter="fade">
                                      <p:cBhvr>
                                        <p:cTn id="20"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4E6"/>
        </a:solidFill>
      </p:bgPr>
    </p:bg>
    <p:spTree>
      <p:nvGrpSpPr>
        <p:cNvPr id="1" name=""/>
        <p:cNvGrpSpPr/>
        <p:nvPr/>
      </p:nvGrpSpPr>
      <p:grpSpPr>
        <a:xfrm>
          <a:off x="0" y="0"/>
          <a:ext cx="0" cy="0"/>
          <a:chOff x="0" y="0"/>
          <a:chExt cx="0" cy="0"/>
        </a:xfrm>
      </p:grpSpPr>
      <p:sp>
        <p:nvSpPr>
          <p:cNvPr id="2" name="phase_pill"/>
          <p:cNvSpPr/>
          <p:nvPr/>
        </p:nvSpPr>
        <p:spPr>
          <a:xfrm>
            <a:off x="502920" y="274320"/>
            <a:ext cx="2139696" cy="347472"/>
          </a:xfrm>
          <a:prstGeom prst="roundRect">
            <a:avLst>
              <a:gd name="adj" fmla="val 50000"/>
            </a:avLst>
          </a:prstGeom>
          <a:solidFill>
            <a:srgbClr val="0E3A3F"/>
          </a:solidFill>
          <a:ln/>
        </p:spPr>
        <p:txBody>
          <a:bodyPr wrap="square" lIns="0" tIns="0" rIns="0" bIns="0" rtlCol="0" anchor="ctr"/>
          <a:lstStyle/>
          <a:p>
            <a:pPr algn="ctr" indent="0" marL="0">
              <a:buNone/>
            </a:pPr>
            <a:r>
              <a:rPr lang="en-US" sz="1100" b="1" spc="110" kern="0" dirty="0">
                <a:solidFill>
                  <a:srgbClr val="FAF4E6"/>
                </a:solidFill>
                <a:latin typeface="Arial" pitchFamily="34" charset="0"/>
                <a:ea typeface="Arial" pitchFamily="34" charset="-122"/>
                <a:cs typeface="Arial" pitchFamily="34" charset="-120"/>
              </a:rPr>
              <a:t>I DO · 4 MIN</a:t>
            </a:r>
            <a:endParaRPr lang="en-US" sz="1100" dirty="0"/>
          </a:p>
        </p:txBody>
      </p:sp>
      <p:sp>
        <p:nvSpPr>
          <p:cNvPr id="3" name="keyword_strip"/>
          <p:cNvSpPr txBox="1"/>
          <p:nvPr/>
        </p:nvSpPr>
        <p:spPr>
          <a:xfrm>
            <a:off x="5836615" y="274320"/>
            <a:ext cx="5852160" cy="347472"/>
          </a:xfrm>
          <a:prstGeom prst="rect">
            <a:avLst/>
          </a:prstGeom>
          <a:noFill/>
          <a:ln/>
        </p:spPr>
        <p:txBody>
          <a:bodyPr wrap="square" lIns="0" tIns="0" rIns="0" bIns="0" rtlCol="0" anchor="ctr"/>
          <a:lstStyle/>
          <a:p>
            <a:pPr algn="r" indent="0" marL="0">
              <a:buNone/>
            </a:pPr>
            <a:r>
              <a:rPr lang="en-US" sz="1150" b="1" i="1" dirty="0">
                <a:solidFill>
                  <a:srgbClr val="2E9E6B"/>
                </a:solidFill>
                <a:latin typeface="Arial" pitchFamily="34" charset="0"/>
                <a:ea typeface="Arial" pitchFamily="34" charset="-122"/>
                <a:cs typeface="Arial" pitchFamily="34" charset="-120"/>
              </a:rPr>
              <a:t>food chain   ·   producer   ·   consumer</a:t>
            </a:r>
            <a:endParaRPr lang="en-US" sz="1150" dirty="0"/>
          </a:p>
        </p:txBody>
      </p:sp>
      <p:sp>
        <p:nvSpPr>
          <p:cNvPr id="4" name="slide_title"/>
          <p:cNvSpPr txBox="1"/>
          <p:nvPr/>
        </p:nvSpPr>
        <p:spPr>
          <a:xfrm>
            <a:off x="502920" y="914400"/>
            <a:ext cx="11185855" cy="658368"/>
          </a:xfrm>
          <a:prstGeom prst="rect">
            <a:avLst/>
          </a:prstGeom>
          <a:noFill/>
          <a:ln/>
        </p:spPr>
        <p:txBody>
          <a:bodyPr wrap="square" lIns="0" tIns="0" rIns="0" bIns="0" rtlCol="0" anchor="ctr"/>
          <a:lstStyle/>
          <a:p>
            <a:pPr algn="l" indent="0" marL="0">
              <a:buNone/>
            </a:pPr>
            <a:r>
              <a:rPr lang="en-US" sz="3000" b="1" dirty="0">
                <a:solidFill>
                  <a:srgbClr val="0E3A3F"/>
                </a:solidFill>
                <a:latin typeface="Georgia" pitchFamily="34" charset="0"/>
                <a:ea typeface="Georgia" pitchFamily="34" charset="-122"/>
                <a:cs typeface="Georgia" pitchFamily="34" charset="-120"/>
              </a:rPr>
              <a:t>A food chain is a map of where the energy goes</a:t>
            </a:r>
            <a:endParaRPr lang="en-US" sz="3000" dirty="0"/>
          </a:p>
        </p:txBody>
      </p:sp>
      <p:grpSp>
        <p:nvGrpSpPr>
          <p:cNvPr id="27" name="ch0"/>
          <p:cNvGrpSpPr/>
          <p:nvPr/>
        </p:nvGrpSpPr>
        <p:grpSpPr>
          <a:xfrm>
            <a:off x="435712" y="2313432"/>
            <a:ext cx="1956816" cy="932688"/>
            <a:chOff x="435712" y="2313432"/>
            <a:chExt cx="1956816" cy="932688"/>
          </a:xfrm>
        </p:grpSpPr>
        <p:sp>
          <p:nvSpPr>
            <p:cNvPr id="5" name="ch0_bg"/>
            <p:cNvSpPr/>
            <p:nvPr/>
          </p:nvSpPr>
          <p:spPr>
            <a:xfrm>
              <a:off x="435712" y="2313432"/>
              <a:ext cx="1956816" cy="932688"/>
            </a:xfrm>
            <a:prstGeom prst="roundRect">
              <a:avLst>
                <a:gd name="adj" fmla="val 11765"/>
              </a:avLst>
            </a:prstGeom>
            <a:solidFill>
              <a:srgbClr val="FDF3D6"/>
            </a:solidFill>
            <a:ln w="17780">
              <a:solidFill>
                <a:srgbClr val="F5B301"/>
              </a:solidFill>
              <a:prstDash val="solid"/>
            </a:ln>
          </p:spPr>
        </p:sp>
        <p:sp>
          <p:nvSpPr>
            <p:cNvPr id="6" name="ch0_t"/>
            <p:cNvSpPr txBox="1"/>
            <p:nvPr/>
          </p:nvSpPr>
          <p:spPr>
            <a:xfrm>
              <a:off x="527152" y="2404872"/>
              <a:ext cx="1773936" cy="484998"/>
            </a:xfrm>
            <a:prstGeom prst="rect">
              <a:avLst/>
            </a:prstGeom>
            <a:noFill/>
            <a:ln/>
          </p:spPr>
          <p:txBody>
            <a:bodyPr wrap="square" lIns="0" tIns="0" rIns="0" bIns="0" rtlCol="0" anchor="ctr"/>
            <a:lstStyle/>
            <a:p>
              <a:pPr algn="ctr" indent="0" marL="0">
                <a:buNone/>
              </a:pPr>
              <a:r>
                <a:rPr lang="en-US" sz="1250" b="1" dirty="0">
                  <a:solidFill>
                    <a:srgbClr val="0E3A3F"/>
                  </a:solidFill>
                  <a:latin typeface="Arial" pitchFamily="34" charset="0"/>
                  <a:ea typeface="Arial" pitchFamily="34" charset="-122"/>
                  <a:cs typeface="Arial" pitchFamily="34" charset="-120"/>
                </a:rPr>
                <a:t>Sunlight</a:t>
              </a:r>
              <a:endParaRPr lang="en-US" sz="1250" dirty="0"/>
            </a:p>
          </p:txBody>
        </p:sp>
        <p:sp>
          <p:nvSpPr>
            <p:cNvPr id="7" name="ch0_s"/>
            <p:cNvSpPr txBox="1"/>
            <p:nvPr/>
          </p:nvSpPr>
          <p:spPr>
            <a:xfrm>
              <a:off x="508864" y="2835737"/>
              <a:ext cx="1810512" cy="354421"/>
            </a:xfrm>
            <a:prstGeom prst="rect">
              <a:avLst/>
            </a:prstGeom>
            <a:noFill/>
            <a:ln/>
          </p:spPr>
          <p:txBody>
            <a:bodyPr wrap="square" lIns="0" tIns="0" rIns="0" bIns="0" rtlCol="0" anchor="t"/>
            <a:lstStyle/>
            <a:p>
              <a:pPr algn="ctr" indent="0" marL="0">
                <a:buNone/>
              </a:pPr>
              <a:r>
                <a:rPr lang="en-US" sz="950" dirty="0">
                  <a:solidFill>
                    <a:srgbClr val="4A6165"/>
                  </a:solidFill>
                  <a:latin typeface="Arial" pitchFamily="34" charset="0"/>
                  <a:ea typeface="Arial" pitchFamily="34" charset="-122"/>
                  <a:cs typeface="Arial" pitchFamily="34" charset="-120"/>
                </a:rPr>
                <a:t>energy arrives</a:t>
              </a:r>
              <a:endParaRPr lang="en-US" sz="950" dirty="0"/>
            </a:p>
          </p:txBody>
        </p:sp>
      </p:grpSp>
      <p:grpSp>
        <p:nvGrpSpPr>
          <p:cNvPr id="28" name="ch1"/>
          <p:cNvGrpSpPr/>
          <p:nvPr/>
        </p:nvGrpSpPr>
        <p:grpSpPr>
          <a:xfrm>
            <a:off x="2776576" y="2313432"/>
            <a:ext cx="1956816" cy="932688"/>
            <a:chOff x="2776576" y="2313432"/>
            <a:chExt cx="1956816" cy="932688"/>
          </a:xfrm>
        </p:grpSpPr>
        <p:sp>
          <p:nvSpPr>
            <p:cNvPr id="8" name="ch1_bg"/>
            <p:cNvSpPr/>
            <p:nvPr/>
          </p:nvSpPr>
          <p:spPr>
            <a:xfrm>
              <a:off x="2776576" y="2313432"/>
              <a:ext cx="1956816" cy="932688"/>
            </a:xfrm>
            <a:prstGeom prst="roundRect">
              <a:avLst>
                <a:gd name="adj" fmla="val 11765"/>
              </a:avLst>
            </a:prstGeom>
            <a:solidFill>
              <a:srgbClr val="EAF6F0"/>
            </a:solidFill>
            <a:ln w="17780">
              <a:solidFill>
                <a:srgbClr val="2E9E6B"/>
              </a:solidFill>
              <a:prstDash val="solid"/>
            </a:ln>
          </p:spPr>
        </p:sp>
        <p:sp>
          <p:nvSpPr>
            <p:cNvPr id="9" name="ch1_t"/>
            <p:cNvSpPr txBox="1"/>
            <p:nvPr/>
          </p:nvSpPr>
          <p:spPr>
            <a:xfrm>
              <a:off x="2868016" y="2404872"/>
              <a:ext cx="1773936" cy="484998"/>
            </a:xfrm>
            <a:prstGeom prst="rect">
              <a:avLst/>
            </a:prstGeom>
            <a:noFill/>
            <a:ln/>
          </p:spPr>
          <p:txBody>
            <a:bodyPr wrap="square" lIns="0" tIns="0" rIns="0" bIns="0" rtlCol="0" anchor="ctr"/>
            <a:lstStyle/>
            <a:p>
              <a:pPr algn="ctr" indent="0" marL="0">
                <a:buNone/>
              </a:pPr>
              <a:r>
                <a:rPr lang="en-US" sz="1250" b="1" dirty="0">
                  <a:solidFill>
                    <a:srgbClr val="0E3A3F"/>
                  </a:solidFill>
                  <a:latin typeface="Arial" pitchFamily="34" charset="0"/>
                  <a:ea typeface="Arial" pitchFamily="34" charset="-122"/>
                  <a:cs typeface="Arial" pitchFamily="34" charset="-120"/>
                </a:rPr>
                <a:t>Prong mangrove</a:t>
              </a:r>
              <a:endParaRPr lang="en-US" sz="1250" dirty="0"/>
            </a:p>
          </p:txBody>
        </p:sp>
        <p:sp>
          <p:nvSpPr>
            <p:cNvPr id="10" name="ch1_s"/>
            <p:cNvSpPr txBox="1"/>
            <p:nvPr/>
          </p:nvSpPr>
          <p:spPr>
            <a:xfrm>
              <a:off x="2849728" y="2835737"/>
              <a:ext cx="1810512" cy="354421"/>
            </a:xfrm>
            <a:prstGeom prst="rect">
              <a:avLst/>
            </a:prstGeom>
            <a:noFill/>
            <a:ln/>
          </p:spPr>
          <p:txBody>
            <a:bodyPr wrap="square" lIns="0" tIns="0" rIns="0" bIns="0" rtlCol="0" anchor="t"/>
            <a:lstStyle/>
            <a:p>
              <a:pPr algn="ctr" indent="0" marL="0">
                <a:buNone/>
              </a:pPr>
              <a:r>
                <a:rPr lang="en-US" sz="950" dirty="0">
                  <a:solidFill>
                    <a:srgbClr val="2E9E6B"/>
                  </a:solidFill>
                  <a:latin typeface="Arial" pitchFamily="34" charset="0"/>
                  <a:ea typeface="Arial" pitchFamily="34" charset="-122"/>
                  <a:cs typeface="Arial" pitchFamily="34" charset="-120"/>
                </a:rPr>
                <a:t>PRODUCER</a:t>
              </a:r>
              <a:endParaRPr lang="en-US" sz="950" dirty="0"/>
            </a:p>
          </p:txBody>
        </p:sp>
      </p:grpSp>
      <p:sp>
        <p:nvSpPr>
          <p:cNvPr id="11" name="chA1"/>
          <p:cNvSpPr/>
          <p:nvPr/>
        </p:nvSpPr>
        <p:spPr>
          <a:xfrm>
            <a:off x="2438248" y="2660904"/>
            <a:ext cx="292608" cy="237744"/>
          </a:xfrm>
          <a:prstGeom prst="rightArrow">
            <a:avLst/>
          </a:prstGeom>
          <a:solidFill>
            <a:srgbClr val="F5B301"/>
          </a:solidFill>
          <a:ln w="12700">
            <a:solidFill>
              <a:srgbClr val="F5B301"/>
            </a:solidFill>
            <a:prstDash val="solid"/>
          </a:ln>
        </p:spPr>
      </p:sp>
      <p:grpSp>
        <p:nvGrpSpPr>
          <p:cNvPr id="29" name="ch2"/>
          <p:cNvGrpSpPr/>
          <p:nvPr/>
        </p:nvGrpSpPr>
        <p:grpSpPr>
          <a:xfrm>
            <a:off x="5117440" y="2313432"/>
            <a:ext cx="1956816" cy="932688"/>
            <a:chOff x="5117440" y="2313432"/>
            <a:chExt cx="1956816" cy="932688"/>
          </a:xfrm>
        </p:grpSpPr>
        <p:sp>
          <p:nvSpPr>
            <p:cNvPr id="12" name="ch2_bg"/>
            <p:cNvSpPr/>
            <p:nvPr/>
          </p:nvSpPr>
          <p:spPr>
            <a:xfrm>
              <a:off x="5117440" y="2313432"/>
              <a:ext cx="1956816" cy="932688"/>
            </a:xfrm>
            <a:prstGeom prst="roundRect">
              <a:avLst>
                <a:gd name="adj" fmla="val 11765"/>
              </a:avLst>
            </a:prstGeom>
            <a:solidFill>
              <a:srgbClr val="FFFFFF"/>
            </a:solidFill>
            <a:ln w="17780">
              <a:solidFill>
                <a:srgbClr val="F0E4C8"/>
              </a:solidFill>
              <a:prstDash val="solid"/>
            </a:ln>
          </p:spPr>
        </p:sp>
        <p:sp>
          <p:nvSpPr>
            <p:cNvPr id="13" name="ch2_t"/>
            <p:cNvSpPr txBox="1"/>
            <p:nvPr/>
          </p:nvSpPr>
          <p:spPr>
            <a:xfrm>
              <a:off x="5208880" y="2404872"/>
              <a:ext cx="1773936" cy="484998"/>
            </a:xfrm>
            <a:prstGeom prst="rect">
              <a:avLst/>
            </a:prstGeom>
            <a:noFill/>
            <a:ln/>
          </p:spPr>
          <p:txBody>
            <a:bodyPr wrap="square" lIns="0" tIns="0" rIns="0" bIns="0" rtlCol="0" anchor="ctr"/>
            <a:lstStyle/>
            <a:p>
              <a:pPr algn="ctr" indent="0" marL="0">
                <a:buNone/>
              </a:pPr>
              <a:r>
                <a:rPr lang="en-US" sz="1250" b="1" dirty="0">
                  <a:solidFill>
                    <a:srgbClr val="14282B"/>
                  </a:solidFill>
                  <a:latin typeface="Arial" pitchFamily="34" charset="0"/>
                  <a:ea typeface="Arial" pitchFamily="34" charset="-122"/>
                  <a:cs typeface="Arial" pitchFamily="34" charset="-120"/>
                </a:rPr>
                <a:t>ปูแสม  sesarmid crab</a:t>
              </a:r>
              <a:endParaRPr lang="en-US" sz="1250" dirty="0"/>
            </a:p>
          </p:txBody>
        </p:sp>
        <p:sp>
          <p:nvSpPr>
            <p:cNvPr id="14" name="ch2_s"/>
            <p:cNvSpPr txBox="1"/>
            <p:nvPr/>
          </p:nvSpPr>
          <p:spPr>
            <a:xfrm>
              <a:off x="5190592" y="2835737"/>
              <a:ext cx="1810512" cy="354421"/>
            </a:xfrm>
            <a:prstGeom prst="rect">
              <a:avLst/>
            </a:prstGeom>
            <a:noFill/>
            <a:ln/>
          </p:spPr>
          <p:txBody>
            <a:bodyPr wrap="square" lIns="0" tIns="0" rIns="0" bIns="0" rtlCol="0" anchor="t"/>
            <a:lstStyle/>
            <a:p>
              <a:pPr algn="ctr" indent="0" marL="0">
                <a:buNone/>
              </a:pPr>
              <a:r>
                <a:rPr lang="en-US" sz="950" dirty="0">
                  <a:solidFill>
                    <a:srgbClr val="4A6165"/>
                  </a:solidFill>
                  <a:latin typeface="Arial" pitchFamily="34" charset="0"/>
                  <a:ea typeface="Arial" pitchFamily="34" charset="-122"/>
                  <a:cs typeface="Arial" pitchFamily="34" charset="-120"/>
                </a:rPr>
                <a:t>eats fallen leaves</a:t>
              </a:r>
              <a:endParaRPr lang="en-US" sz="950" dirty="0"/>
            </a:p>
          </p:txBody>
        </p:sp>
      </p:grpSp>
      <p:sp>
        <p:nvSpPr>
          <p:cNvPr id="15" name="chA2"/>
          <p:cNvSpPr/>
          <p:nvPr/>
        </p:nvSpPr>
        <p:spPr>
          <a:xfrm>
            <a:off x="4779112" y="2660904"/>
            <a:ext cx="292608" cy="237744"/>
          </a:xfrm>
          <a:prstGeom prst="rightArrow">
            <a:avLst/>
          </a:prstGeom>
          <a:solidFill>
            <a:srgbClr val="F5B301"/>
          </a:solidFill>
          <a:ln w="12700">
            <a:solidFill>
              <a:srgbClr val="F5B301"/>
            </a:solidFill>
            <a:prstDash val="solid"/>
          </a:ln>
        </p:spPr>
      </p:sp>
      <p:grpSp>
        <p:nvGrpSpPr>
          <p:cNvPr id="30" name="ch3"/>
          <p:cNvGrpSpPr/>
          <p:nvPr/>
        </p:nvGrpSpPr>
        <p:grpSpPr>
          <a:xfrm>
            <a:off x="7458304" y="2313432"/>
            <a:ext cx="1956816" cy="932688"/>
            <a:chOff x="7458304" y="2313432"/>
            <a:chExt cx="1956816" cy="932688"/>
          </a:xfrm>
        </p:grpSpPr>
        <p:sp>
          <p:nvSpPr>
            <p:cNvPr id="16" name="ch3_bg"/>
            <p:cNvSpPr/>
            <p:nvPr/>
          </p:nvSpPr>
          <p:spPr>
            <a:xfrm>
              <a:off x="7458304" y="2313432"/>
              <a:ext cx="1956816" cy="932688"/>
            </a:xfrm>
            <a:prstGeom prst="roundRect">
              <a:avLst>
                <a:gd name="adj" fmla="val 11765"/>
              </a:avLst>
            </a:prstGeom>
            <a:solidFill>
              <a:srgbClr val="FFFFFF"/>
            </a:solidFill>
            <a:ln w="17780">
              <a:solidFill>
                <a:srgbClr val="F0E4C8"/>
              </a:solidFill>
              <a:prstDash val="solid"/>
            </a:ln>
          </p:spPr>
        </p:sp>
        <p:sp>
          <p:nvSpPr>
            <p:cNvPr id="17" name="ch3_t"/>
            <p:cNvSpPr txBox="1"/>
            <p:nvPr/>
          </p:nvSpPr>
          <p:spPr>
            <a:xfrm>
              <a:off x="7549744" y="2404872"/>
              <a:ext cx="1773936" cy="484998"/>
            </a:xfrm>
            <a:prstGeom prst="rect">
              <a:avLst/>
            </a:prstGeom>
            <a:noFill/>
            <a:ln/>
          </p:spPr>
          <p:txBody>
            <a:bodyPr wrap="square" lIns="0" tIns="0" rIns="0" bIns="0" rtlCol="0" anchor="ctr"/>
            <a:lstStyle/>
            <a:p>
              <a:pPr algn="ctr" indent="0" marL="0">
                <a:buNone/>
              </a:pPr>
              <a:r>
                <a:rPr lang="en-US" sz="1250" b="1" dirty="0">
                  <a:solidFill>
                    <a:srgbClr val="14282B"/>
                  </a:solidFill>
                  <a:latin typeface="Arial" pitchFamily="34" charset="0"/>
                  <a:ea typeface="Arial" pitchFamily="34" charset="-122"/>
                  <a:cs typeface="Arial" pitchFamily="34" charset="-120"/>
                </a:rPr>
                <a:t>ปูดำ  mud crab</a:t>
              </a:r>
              <a:endParaRPr lang="en-US" sz="1250" dirty="0"/>
            </a:p>
          </p:txBody>
        </p:sp>
        <p:sp>
          <p:nvSpPr>
            <p:cNvPr id="18" name="ch3_s"/>
            <p:cNvSpPr txBox="1"/>
            <p:nvPr/>
          </p:nvSpPr>
          <p:spPr>
            <a:xfrm>
              <a:off x="7531456" y="2835737"/>
              <a:ext cx="1810512" cy="354421"/>
            </a:xfrm>
            <a:prstGeom prst="rect">
              <a:avLst/>
            </a:prstGeom>
            <a:noFill/>
            <a:ln/>
          </p:spPr>
          <p:txBody>
            <a:bodyPr wrap="square" lIns="0" tIns="0" rIns="0" bIns="0" rtlCol="0" anchor="t"/>
            <a:lstStyle/>
            <a:p>
              <a:pPr algn="ctr" indent="0" marL="0">
                <a:buNone/>
              </a:pPr>
              <a:r>
                <a:rPr lang="en-US" sz="950" dirty="0">
                  <a:solidFill>
                    <a:srgbClr val="4A6165"/>
                  </a:solidFill>
                  <a:latin typeface="Arial" pitchFamily="34" charset="0"/>
                  <a:ea typeface="Arial" pitchFamily="34" charset="-122"/>
                  <a:cs typeface="Arial" pitchFamily="34" charset="-120"/>
                </a:rPr>
                <a:t>eats the sesarmid crabs</a:t>
              </a:r>
              <a:endParaRPr lang="en-US" sz="950" dirty="0"/>
            </a:p>
          </p:txBody>
        </p:sp>
      </p:grpSp>
      <p:sp>
        <p:nvSpPr>
          <p:cNvPr id="19" name="chA3"/>
          <p:cNvSpPr/>
          <p:nvPr/>
        </p:nvSpPr>
        <p:spPr>
          <a:xfrm>
            <a:off x="7119976" y="2660904"/>
            <a:ext cx="292608" cy="237744"/>
          </a:xfrm>
          <a:prstGeom prst="rightArrow">
            <a:avLst/>
          </a:prstGeom>
          <a:solidFill>
            <a:srgbClr val="F5B301"/>
          </a:solidFill>
          <a:ln w="12700">
            <a:solidFill>
              <a:srgbClr val="F5B301"/>
            </a:solidFill>
            <a:prstDash val="solid"/>
          </a:ln>
        </p:spPr>
      </p:sp>
      <p:grpSp>
        <p:nvGrpSpPr>
          <p:cNvPr id="31" name="ch4"/>
          <p:cNvGrpSpPr/>
          <p:nvPr/>
        </p:nvGrpSpPr>
        <p:grpSpPr>
          <a:xfrm>
            <a:off x="9799168" y="2313432"/>
            <a:ext cx="1956816" cy="932688"/>
            <a:chOff x="9799168" y="2313432"/>
            <a:chExt cx="1956816" cy="932688"/>
          </a:xfrm>
        </p:grpSpPr>
        <p:sp>
          <p:nvSpPr>
            <p:cNvPr id="20" name="ch4_bg"/>
            <p:cNvSpPr/>
            <p:nvPr/>
          </p:nvSpPr>
          <p:spPr>
            <a:xfrm>
              <a:off x="9799168" y="2313432"/>
              <a:ext cx="1956816" cy="932688"/>
            </a:xfrm>
            <a:prstGeom prst="roundRect">
              <a:avLst>
                <a:gd name="adj" fmla="val 11765"/>
              </a:avLst>
            </a:prstGeom>
            <a:solidFill>
              <a:srgbClr val="FFFFFF"/>
            </a:solidFill>
            <a:ln w="17780">
              <a:solidFill>
                <a:srgbClr val="F0E4C8"/>
              </a:solidFill>
              <a:prstDash val="solid"/>
            </a:ln>
          </p:spPr>
        </p:sp>
        <p:sp>
          <p:nvSpPr>
            <p:cNvPr id="21" name="ch4_t"/>
            <p:cNvSpPr txBox="1"/>
            <p:nvPr/>
          </p:nvSpPr>
          <p:spPr>
            <a:xfrm>
              <a:off x="9890608" y="2404872"/>
              <a:ext cx="1773936" cy="484998"/>
            </a:xfrm>
            <a:prstGeom prst="rect">
              <a:avLst/>
            </a:prstGeom>
            <a:noFill/>
            <a:ln/>
          </p:spPr>
          <p:txBody>
            <a:bodyPr wrap="square" lIns="0" tIns="0" rIns="0" bIns="0" rtlCol="0" anchor="ctr"/>
            <a:lstStyle/>
            <a:p>
              <a:pPr algn="ctr" indent="0" marL="0">
                <a:buNone/>
              </a:pPr>
              <a:r>
                <a:rPr lang="en-US" sz="1250" b="1" dirty="0">
                  <a:solidFill>
                    <a:srgbClr val="14282B"/>
                  </a:solidFill>
                  <a:latin typeface="Arial" pitchFamily="34" charset="0"/>
                  <a:ea typeface="Arial" pitchFamily="34" charset="-122"/>
                  <a:cs typeface="Arial" pitchFamily="34" charset="-120"/>
                </a:rPr>
                <a:t>Little egret</a:t>
              </a:r>
              <a:endParaRPr lang="en-US" sz="1250" dirty="0"/>
            </a:p>
          </p:txBody>
        </p:sp>
        <p:sp>
          <p:nvSpPr>
            <p:cNvPr id="22" name="ch4_s"/>
            <p:cNvSpPr txBox="1"/>
            <p:nvPr/>
          </p:nvSpPr>
          <p:spPr>
            <a:xfrm>
              <a:off x="9872320" y="2835737"/>
              <a:ext cx="1810512" cy="354421"/>
            </a:xfrm>
            <a:prstGeom prst="rect">
              <a:avLst/>
            </a:prstGeom>
            <a:noFill/>
            <a:ln/>
          </p:spPr>
          <p:txBody>
            <a:bodyPr wrap="square" lIns="0" tIns="0" rIns="0" bIns="0" rtlCol="0" anchor="t"/>
            <a:lstStyle/>
            <a:p>
              <a:pPr algn="ctr" indent="0" marL="0">
                <a:buNone/>
              </a:pPr>
              <a:r>
                <a:rPr lang="en-US" sz="950" dirty="0">
                  <a:solidFill>
                    <a:srgbClr val="4A6165"/>
                  </a:solidFill>
                  <a:latin typeface="Arial" pitchFamily="34" charset="0"/>
                  <a:ea typeface="Arial" pitchFamily="34" charset="-122"/>
                  <a:cs typeface="Arial" pitchFamily="34" charset="-120"/>
                </a:rPr>
                <a:t>eats the crabs</a:t>
              </a:r>
              <a:endParaRPr lang="en-US" sz="950" dirty="0"/>
            </a:p>
          </p:txBody>
        </p:sp>
      </p:grpSp>
      <p:sp>
        <p:nvSpPr>
          <p:cNvPr id="23" name="chA4"/>
          <p:cNvSpPr/>
          <p:nvPr/>
        </p:nvSpPr>
        <p:spPr>
          <a:xfrm>
            <a:off x="9460840" y="2660904"/>
            <a:ext cx="292608" cy="237744"/>
          </a:xfrm>
          <a:prstGeom prst="rightArrow">
            <a:avLst/>
          </a:prstGeom>
          <a:solidFill>
            <a:srgbClr val="F5B301"/>
          </a:solidFill>
          <a:ln w="12700">
            <a:solidFill>
              <a:srgbClr val="F5B301"/>
            </a:solidFill>
            <a:prstDash val="solid"/>
          </a:ln>
        </p:spPr>
      </p:sp>
      <p:sp>
        <p:nvSpPr>
          <p:cNvPr id="24" name="rule_text"/>
          <p:cNvSpPr txBox="1"/>
          <p:nvPr/>
        </p:nvSpPr>
        <p:spPr>
          <a:xfrm>
            <a:off x="502920" y="3813048"/>
            <a:ext cx="5394960" cy="822960"/>
          </a:xfrm>
          <a:prstGeom prst="rect">
            <a:avLst/>
          </a:prstGeom>
          <a:noFill/>
          <a:ln/>
        </p:spPr>
        <p:txBody>
          <a:bodyPr wrap="square" lIns="0" tIns="0" rIns="0" bIns="0" rtlCol="0" anchor="t"/>
          <a:lstStyle/>
          <a:p>
            <a:pPr indent="0" marL="0">
              <a:lnSpc>
                <a:spcPts val="2700"/>
              </a:lnSpc>
              <a:buNone/>
            </a:pPr>
            <a:r>
              <a:rPr lang="en-US" sz="2000" b="1" dirty="0">
                <a:solidFill>
                  <a:srgbClr val="0E3A3F"/>
                </a:solidFill>
                <a:latin typeface="Georgia" pitchFamily="34" charset="0"/>
                <a:ea typeface="Georgia" pitchFamily="34" charset="-122"/>
                <a:cs typeface="Georgia" pitchFamily="34" charset="-120"/>
              </a:rPr>
              <a:t>The arrow does not mean "eats".</a:t>
            </a:r>
            <a:endParaRPr lang="en-US" sz="2000" dirty="0"/>
          </a:p>
          <a:p>
            <a:pPr indent="0" marL="0">
              <a:lnSpc>
                <a:spcPts val="2700"/>
              </a:lnSpc>
              <a:buNone/>
            </a:pPr>
            <a:r>
              <a:rPr lang="en-US" sz="2000" b="1" dirty="0">
                <a:solidFill>
                  <a:srgbClr val="0E3A3F"/>
                </a:solidFill>
                <a:latin typeface="Georgia" pitchFamily="34" charset="0"/>
                <a:ea typeface="Georgia" pitchFamily="34" charset="-122"/>
                <a:cs typeface="Georgia" pitchFamily="34" charset="-120"/>
              </a:rPr>
              <a:t>It means the energy travels this way.</a:t>
            </a:r>
            <a:endParaRPr lang="en-US" sz="2000" dirty="0"/>
          </a:p>
        </p:txBody>
      </p:sp>
      <p:grpSp>
        <p:nvGrpSpPr>
          <p:cNvPr id="32" name="rule_note"/>
          <p:cNvGrpSpPr/>
          <p:nvPr/>
        </p:nvGrpSpPr>
        <p:grpSpPr>
          <a:xfrm>
            <a:off x="6263640" y="3721608"/>
            <a:ext cx="5425135" cy="1060704"/>
            <a:chOff x="6263640" y="3721608"/>
            <a:chExt cx="5425135" cy="1060704"/>
          </a:xfrm>
        </p:grpSpPr>
        <p:sp>
          <p:nvSpPr>
            <p:cNvPr id="25" name="rule_note_bg"/>
            <p:cNvSpPr/>
            <p:nvPr/>
          </p:nvSpPr>
          <p:spPr>
            <a:xfrm>
              <a:off x="6263640" y="3721608"/>
              <a:ext cx="5425135" cy="1060704"/>
            </a:xfrm>
            <a:prstGeom prst="roundRect">
              <a:avLst>
                <a:gd name="adj" fmla="val 12069"/>
              </a:avLst>
            </a:prstGeom>
            <a:solidFill>
              <a:srgbClr val="FDF1EC"/>
            </a:solidFill>
            <a:ln w="15875">
              <a:solidFill>
                <a:srgbClr val="E2572B"/>
              </a:solidFill>
              <a:prstDash val="solid"/>
            </a:ln>
          </p:spPr>
        </p:sp>
        <p:sp>
          <p:nvSpPr>
            <p:cNvPr id="26" name="rule_note_t"/>
            <p:cNvSpPr txBox="1"/>
            <p:nvPr/>
          </p:nvSpPr>
          <p:spPr>
            <a:xfrm>
              <a:off x="6446520" y="3867912"/>
              <a:ext cx="4876495" cy="786384"/>
            </a:xfrm>
            <a:prstGeom prst="rect">
              <a:avLst/>
            </a:prstGeom>
            <a:noFill/>
            <a:ln/>
          </p:spPr>
          <p:txBody>
            <a:bodyPr wrap="square" lIns="0" tIns="0" rIns="0" bIns="0" rtlCol="0" anchor="ctr"/>
            <a:lstStyle/>
            <a:p>
              <a:pPr indent="0" marL="0">
                <a:lnSpc>
                  <a:spcPts val="1900"/>
                </a:lnSpc>
                <a:buNone/>
              </a:pPr>
              <a:r>
                <a:rPr lang="en-US" sz="1400" dirty="0">
                  <a:solidFill>
                    <a:srgbClr val="14282B"/>
                  </a:solidFill>
                  <a:latin typeface="Arial" pitchFamily="34" charset="0"/>
                  <a:ea typeface="Arial" pitchFamily="34" charset="-122"/>
                  <a:cs typeface="Arial" pitchFamily="34" charset="-120"/>
                </a:rPr>
                <a:t>So the head of the arrow always lands on the eater — the one that just gained the energy.</a:t>
              </a:r>
              <a:endParaRPr lang="en-US" sz="1400" dirty="0"/>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8" fill="hold">
                            <p:stCondLst>
                              <p:cond delay="0"/>
                            </p:stCondLst>
                            <p:childTnLst>
                              <p:par>
                                <p:cTn id="6" presetID="23" presetClass="entr" presetSubtype="16" fill="hold" grpId="0" nodeType="clickEffect">
                                  <p:stCondLst>
                                    <p:cond delay="0"/>
                                  </p:stCondLst>
                                  <p:childTnLst>
                                    <p:set>
                                      <p:cBhvr>
                                        <p:cTn id="3" dur="1" fill="hold">
                                          <p:stCondLst>
                                            <p:cond delay="0"/>
                                          </p:stCondLst>
                                        </p:cTn>
                                        <p:tgtEl>
                                          <p:spTgt spid="27"/>
                                        </p:tgtEl>
                                        <p:attrNameLst>
                                          <p:attrName>style.visibility</p:attrName>
                                        </p:attrNameLst>
                                      </p:cBhvr>
                                      <p:to>
                                        <p:strVal val="visible"/>
                                      </p:to>
                                    </p:set>
                                    <p:animEffect transition="in" filter="fade">
                                      <p:cBhvr>
                                        <p:cTn id="4" dur="500"/>
                                        <p:tgtEl>
                                          <p:spTgt spid="27"/>
                                        </p:tgtEl>
                                      </p:cBhvr>
                                    </p:animEffect>
                                    <p:animScale>
                                      <p:cBhvr>
                                        <p:cTn id="5" dur="500" fill="hold"/>
                                        <p:tgtEl>
                                          <p:spTgt spid="27"/>
                                        </p:tgtEl>
                                      </p:cBhvr>
                                      <p:from x="0" y="0"/>
                                      <p:to x="100000" y="100000"/>
                                    </p:animScale>
                                  </p:childTnLst>
                                </p:cTn>
                              </p:par>
                            </p:childTnLst>
                          </p:cTn>
                        </p:par>
                      </p:childTnLst>
                    </p:cTn>
                  </p:par>
                  <p:par>
                    <p:cTn id="15" fill="hold">
                      <p:stCondLst>
                        <p:cond delay="indefinite"/>
                      </p:stCondLst>
                      <p:childTnLst>
                        <p:par>
                          <p:cTn id="16" fill="hold">
                            <p:stCondLst>
                              <p:cond delay="0"/>
                            </p:stCondLst>
                            <p:childTnLst>
                              <p:par>
                                <p:cTn id="11" presetID="22" presetClass="entr" presetSubtype="8" fill="hold" grpId="0"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wipe(right)">
                                      <p:cBhvr>
                                        <p:cTn id="10" dur="500"/>
                                        <p:tgtEl>
                                          <p:spTgt spid="11"/>
                                        </p:tgtEl>
                                      </p:cBhvr>
                                    </p:animEffect>
                                  </p:childTnLst>
                                </p:cTn>
                              </p:par>
                              <p:par>
                                <p:cTn id="14" presetID="10" presetClass="entr" presetSubtype="0" fill="hold" grpId="0" nodeType="withEffect">
                                  <p:stCondLst>
                                    <p:cond delay="220"/>
                                  </p:stCondLst>
                                  <p:childTnLst>
                                    <p:set>
                                      <p:cBhvr>
                                        <p:cTn id="12" dur="1" fill="hold">
                                          <p:stCondLst>
                                            <p:cond delay="0"/>
                                          </p:stCondLst>
                                        </p:cTn>
                                        <p:tgtEl>
                                          <p:spTgt spid="28"/>
                                        </p:tgtEl>
                                        <p:attrNameLst>
                                          <p:attrName>style.visibility</p:attrName>
                                        </p:attrNameLst>
                                      </p:cBhvr>
                                      <p:to>
                                        <p:strVal val="visible"/>
                                      </p:to>
                                    </p:set>
                                    <p:animEffect transition="in" filter="fade">
                                      <p:cBhvr>
                                        <p:cTn id="13" dur="500"/>
                                        <p:tgtEl>
                                          <p:spTgt spid="28"/>
                                        </p:tgtEl>
                                      </p:cBhvr>
                                    </p:animEffect>
                                  </p:childTnLst>
                                </p:cTn>
                              </p:par>
                            </p:childTnLst>
                          </p:cTn>
                        </p:par>
                      </p:childTnLst>
                    </p:cTn>
                  </p:par>
                  <p:par>
                    <p:cTn id="23" fill="hold">
                      <p:stCondLst>
                        <p:cond delay="indefinite"/>
                      </p:stCondLst>
                      <p:childTnLst>
                        <p:par>
                          <p:cTn id="24" fill="hold">
                            <p:stCondLst>
                              <p:cond delay="0"/>
                            </p:stCondLst>
                            <p:childTnLst>
                              <p:par>
                                <p:cTn id="19" presetID="22" presetClass="entr" presetSubtype="8" fill="hold" grpId="0"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wipe(right)">
                                      <p:cBhvr>
                                        <p:cTn id="18" dur="500"/>
                                        <p:tgtEl>
                                          <p:spTgt spid="15"/>
                                        </p:tgtEl>
                                      </p:cBhvr>
                                    </p:animEffect>
                                  </p:childTnLst>
                                </p:cTn>
                              </p:par>
                              <p:par>
                                <p:cTn id="22" presetID="10" presetClass="entr" presetSubtype="0" fill="hold" grpId="0" nodeType="withEffect">
                                  <p:stCondLst>
                                    <p:cond delay="220"/>
                                  </p:stCondLst>
                                  <p:childTnLst>
                                    <p:set>
                                      <p:cBhvr>
                                        <p:cTn id="20" dur="1" fill="hold">
                                          <p:stCondLst>
                                            <p:cond delay="0"/>
                                          </p:stCondLst>
                                        </p:cTn>
                                        <p:tgtEl>
                                          <p:spTgt spid="29"/>
                                        </p:tgtEl>
                                        <p:attrNameLst>
                                          <p:attrName>style.visibility</p:attrName>
                                        </p:attrNameLst>
                                      </p:cBhvr>
                                      <p:to>
                                        <p:strVal val="visible"/>
                                      </p:to>
                                    </p:set>
                                    <p:animEffect transition="in" filter="fade">
                                      <p:cBhvr>
                                        <p:cTn id="21" dur="500"/>
                                        <p:tgtEl>
                                          <p:spTgt spid="29"/>
                                        </p:tgtEl>
                                      </p:cBhvr>
                                    </p:animEffect>
                                  </p:childTnLst>
                                </p:cTn>
                              </p:par>
                            </p:childTnLst>
                          </p:cTn>
                        </p:par>
                      </p:childTnLst>
                    </p:cTn>
                  </p:par>
                  <p:par>
                    <p:cTn id="31" fill="hold">
                      <p:stCondLst>
                        <p:cond delay="indefinite"/>
                      </p:stCondLst>
                      <p:childTnLst>
                        <p:par>
                          <p:cTn id="32" fill="hold">
                            <p:stCondLst>
                              <p:cond delay="0"/>
                            </p:stCondLst>
                            <p:childTnLst>
                              <p:par>
                                <p:cTn id="27" presetID="22" presetClass="entr" presetSubtype="8" fill="hold" grpId="0" nodeType="click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wipe(right)">
                                      <p:cBhvr>
                                        <p:cTn id="26" dur="500"/>
                                        <p:tgtEl>
                                          <p:spTgt spid="19"/>
                                        </p:tgtEl>
                                      </p:cBhvr>
                                    </p:animEffect>
                                  </p:childTnLst>
                                </p:cTn>
                              </p:par>
                              <p:par>
                                <p:cTn id="30" presetID="10" presetClass="entr" presetSubtype="0" fill="hold" grpId="0" nodeType="withEffect">
                                  <p:stCondLst>
                                    <p:cond delay="220"/>
                                  </p:stCondLst>
                                  <p:childTnLst>
                                    <p:set>
                                      <p:cBhvr>
                                        <p:cTn id="28" dur="1" fill="hold">
                                          <p:stCondLst>
                                            <p:cond delay="0"/>
                                          </p:stCondLst>
                                        </p:cTn>
                                        <p:tgtEl>
                                          <p:spTgt spid="30"/>
                                        </p:tgtEl>
                                        <p:attrNameLst>
                                          <p:attrName>style.visibility</p:attrName>
                                        </p:attrNameLst>
                                      </p:cBhvr>
                                      <p:to>
                                        <p:strVal val="visible"/>
                                      </p:to>
                                    </p:set>
                                    <p:animEffect transition="in" filter="fade">
                                      <p:cBhvr>
                                        <p:cTn id="29" dur="500"/>
                                        <p:tgtEl>
                                          <p:spTgt spid="30"/>
                                        </p:tgtEl>
                                      </p:cBhvr>
                                    </p:animEffect>
                                  </p:childTnLst>
                                </p:cTn>
                              </p:par>
                            </p:childTnLst>
                          </p:cTn>
                        </p:par>
                      </p:childTnLst>
                    </p:cTn>
                  </p:par>
                  <p:par>
                    <p:cTn id="39" fill="hold">
                      <p:stCondLst>
                        <p:cond delay="indefinite"/>
                      </p:stCondLst>
                      <p:childTnLst>
                        <p:par>
                          <p:cTn id="40" fill="hold">
                            <p:stCondLst>
                              <p:cond delay="0"/>
                            </p:stCondLst>
                            <p:childTnLst>
                              <p:par>
                                <p:cTn id="35" presetID="22" presetClass="entr" presetSubtype="8" fill="hold" grpId="0" nodeType="click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wipe(right)">
                                      <p:cBhvr>
                                        <p:cTn id="34" dur="500"/>
                                        <p:tgtEl>
                                          <p:spTgt spid="23"/>
                                        </p:tgtEl>
                                      </p:cBhvr>
                                    </p:animEffect>
                                  </p:childTnLst>
                                </p:cTn>
                              </p:par>
                              <p:par>
                                <p:cTn id="38" presetID="10" presetClass="entr" presetSubtype="0" fill="hold" grpId="0" nodeType="withEffect">
                                  <p:stCondLst>
                                    <p:cond delay="220"/>
                                  </p:stCondLst>
                                  <p:childTnLst>
                                    <p:set>
                                      <p:cBhvr>
                                        <p:cTn id="36" dur="1" fill="hold">
                                          <p:stCondLst>
                                            <p:cond delay="0"/>
                                          </p:stCondLst>
                                        </p:cTn>
                                        <p:tgtEl>
                                          <p:spTgt spid="31"/>
                                        </p:tgtEl>
                                        <p:attrNameLst>
                                          <p:attrName>style.visibility</p:attrName>
                                        </p:attrNameLst>
                                      </p:cBhvr>
                                      <p:to>
                                        <p:strVal val="visible"/>
                                      </p:to>
                                    </p:set>
                                    <p:animEffect transition="in" filter="fade">
                                      <p:cBhvr>
                                        <p:cTn id="37" dur="500"/>
                                        <p:tgtEl>
                                          <p:spTgt spid="31"/>
                                        </p:tgtEl>
                                      </p:cBhvr>
                                    </p:animEffect>
                                  </p:childTnLst>
                                </p:cTn>
                              </p:par>
                            </p:childTnLst>
                          </p:cTn>
                        </p:par>
                      </p:childTnLst>
                    </p:cTn>
                  </p:par>
                  <p:par>
                    <p:cTn id="44" fill="hold">
                      <p:stCondLst>
                        <p:cond delay="indefinite"/>
                      </p:stCondLst>
                      <p:childTnLst>
                        <p:par>
                          <p:cTn id="45" fill="hold">
                            <p:stCondLst>
                              <p:cond delay="0"/>
                            </p:stCondLst>
                            <p:childTnLst>
                              <p:par>
                                <p:cTn id="43" presetID="10" presetClass="entr" presetSubtype="0" fill="hold" grpId="0" nodeType="clickEffect">
                                  <p:stCondLst>
                                    <p:cond delay="0"/>
                                  </p:stCondLst>
                                  <p:childTnLst>
                                    <p:set>
                                      <p:cBhvr>
                                        <p:cTn id="41" dur="1" fill="hold">
                                          <p:stCondLst>
                                            <p:cond delay="0"/>
                                          </p:stCondLst>
                                        </p:cTn>
                                        <p:tgtEl>
                                          <p:spTgt spid="24"/>
                                        </p:tgtEl>
                                        <p:attrNameLst>
                                          <p:attrName>style.visibility</p:attrName>
                                        </p:attrNameLst>
                                      </p:cBhvr>
                                      <p:to>
                                        <p:strVal val="visible"/>
                                      </p:to>
                                    </p:set>
                                    <p:animEffect transition="in" filter="fade">
                                      <p:cBhvr>
                                        <p:cTn id="42" dur="500"/>
                                        <p:tgtEl>
                                          <p:spTgt spid="24"/>
                                        </p:tgtEl>
                                      </p:cBhvr>
                                    </p:animEffect>
                                  </p:childTnLst>
                                </p:cTn>
                              </p:par>
                            </p:childTnLst>
                          </p:cTn>
                        </p:par>
                      </p:childTnLst>
                    </p:cTn>
                  </p:par>
                  <p:par>
                    <p:cTn id="49" fill="hold">
                      <p:stCondLst>
                        <p:cond delay="indefinite"/>
                      </p:stCondLst>
                      <p:childTnLst>
                        <p:par>
                          <p:cTn id="50" fill="hold">
                            <p:stCondLst>
                              <p:cond delay="0"/>
                            </p:stCondLst>
                            <p:childTnLst>
                              <p:par>
                                <p:cTn id="48" presetID="10" presetClass="entr" presetSubtype="0" fill="hold" grpId="0" nodeType="clickEffect">
                                  <p:stCondLst>
                                    <p:cond delay="0"/>
                                  </p:stCondLst>
                                  <p:childTnLst>
                                    <p:set>
                                      <p:cBhvr>
                                        <p:cTn id="46" dur="1" fill="hold">
                                          <p:stCondLst>
                                            <p:cond delay="0"/>
                                          </p:stCondLst>
                                        </p:cTn>
                                        <p:tgtEl>
                                          <p:spTgt spid="32"/>
                                        </p:tgtEl>
                                        <p:attrNameLst>
                                          <p:attrName>style.visibility</p:attrName>
                                        </p:attrNameLst>
                                      </p:cBhvr>
                                      <p:to>
                                        <p:strVal val="visible"/>
                                      </p:to>
                                    </p:set>
                                    <p:animEffect transition="in" filter="fade">
                                      <p:cBhvr>
                                        <p:cTn id="4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4E6"/>
        </a:solidFill>
      </p:bgPr>
    </p:bg>
    <p:spTree>
      <p:nvGrpSpPr>
        <p:cNvPr id="1" name=""/>
        <p:cNvGrpSpPr/>
        <p:nvPr/>
      </p:nvGrpSpPr>
      <p:grpSpPr>
        <a:xfrm>
          <a:off x="0" y="0"/>
          <a:ext cx="0" cy="0"/>
          <a:chOff x="0" y="0"/>
          <a:chExt cx="0" cy="0"/>
        </a:xfrm>
      </p:grpSpPr>
      <p:sp>
        <p:nvSpPr>
          <p:cNvPr id="2" name="phase_pill"/>
          <p:cNvSpPr/>
          <p:nvPr/>
        </p:nvSpPr>
        <p:spPr>
          <a:xfrm>
            <a:off x="502920" y="274320"/>
            <a:ext cx="2139696" cy="347472"/>
          </a:xfrm>
          <a:prstGeom prst="roundRect">
            <a:avLst>
              <a:gd name="adj" fmla="val 50000"/>
            </a:avLst>
          </a:prstGeom>
          <a:solidFill>
            <a:srgbClr val="0E3A3F"/>
          </a:solidFill>
          <a:ln/>
        </p:spPr>
        <p:txBody>
          <a:bodyPr wrap="square" lIns="0" tIns="0" rIns="0" bIns="0" rtlCol="0" anchor="ctr"/>
          <a:lstStyle/>
          <a:p>
            <a:pPr algn="ctr" indent="0" marL="0">
              <a:buNone/>
            </a:pPr>
            <a:r>
              <a:rPr lang="en-US" sz="1100" b="1" spc="110" kern="0" dirty="0">
                <a:solidFill>
                  <a:srgbClr val="FAF4E6"/>
                </a:solidFill>
                <a:latin typeface="Arial" pitchFamily="34" charset="0"/>
                <a:ea typeface="Arial" pitchFamily="34" charset="-122"/>
                <a:cs typeface="Arial" pitchFamily="34" charset="-120"/>
              </a:rPr>
              <a:t>I DO · 3 MIN</a:t>
            </a:r>
            <a:endParaRPr lang="en-US" sz="1100" dirty="0"/>
          </a:p>
        </p:txBody>
      </p:sp>
      <p:sp>
        <p:nvSpPr>
          <p:cNvPr id="3" name="slide_title"/>
          <p:cNvSpPr txBox="1"/>
          <p:nvPr/>
        </p:nvSpPr>
        <p:spPr>
          <a:xfrm>
            <a:off x="502920" y="914400"/>
            <a:ext cx="11185855" cy="658368"/>
          </a:xfrm>
          <a:prstGeom prst="rect">
            <a:avLst/>
          </a:prstGeom>
          <a:noFill/>
          <a:ln/>
        </p:spPr>
        <p:txBody>
          <a:bodyPr wrap="square" lIns="0" tIns="0" rIns="0" bIns="0" rtlCol="0" anchor="ctr"/>
          <a:lstStyle/>
          <a:p>
            <a:pPr algn="l" indent="0" marL="0">
              <a:buNone/>
            </a:pPr>
            <a:r>
              <a:rPr lang="en-US" sz="3000" b="1" dirty="0">
                <a:solidFill>
                  <a:srgbClr val="0E3A3F"/>
                </a:solidFill>
                <a:latin typeface="Georgia" pitchFamily="34" charset="0"/>
                <a:ea typeface="Georgia" pitchFamily="34" charset="-122"/>
                <a:cs typeface="Georgia" pitchFamily="34" charset="-120"/>
              </a:rPr>
              <a:t>One rule, two ways of getting it wrong</a:t>
            </a:r>
            <a:endParaRPr lang="en-US" sz="3000" dirty="0"/>
          </a:p>
        </p:txBody>
      </p:sp>
      <p:grpSp>
        <p:nvGrpSpPr>
          <p:cNvPr id="21" name="rw0_row"/>
          <p:cNvGrpSpPr/>
          <p:nvPr/>
        </p:nvGrpSpPr>
        <p:grpSpPr>
          <a:xfrm>
            <a:off x="502920" y="2130552"/>
            <a:ext cx="11185855" cy="1389888"/>
            <a:chOff x="502920" y="2130552"/>
            <a:chExt cx="11185855" cy="1389888"/>
          </a:xfrm>
        </p:grpSpPr>
        <p:sp>
          <p:nvSpPr>
            <p:cNvPr id="4" name="rw0_bg"/>
            <p:cNvSpPr/>
            <p:nvPr/>
          </p:nvSpPr>
          <p:spPr>
            <a:xfrm>
              <a:off x="502920" y="2130552"/>
              <a:ext cx="11185855" cy="1389888"/>
            </a:xfrm>
            <a:prstGeom prst="rect">
              <a:avLst/>
            </a:prstGeom>
            <a:solidFill>
              <a:srgbClr val="EAF6F0"/>
            </a:solidFill>
            <a:ln w="16510">
              <a:solidFill>
                <a:srgbClr val="2E9E6B"/>
              </a:solidFill>
              <a:prstDash val="solid"/>
            </a:ln>
          </p:spPr>
        </p:sp>
        <p:sp>
          <p:nvSpPr>
            <p:cNvPr id="5" name="rw0_h"/>
            <p:cNvSpPr txBox="1"/>
            <p:nvPr/>
          </p:nvSpPr>
          <p:spPr>
            <a:xfrm>
              <a:off x="758952" y="2276856"/>
              <a:ext cx="1280160" cy="292608"/>
            </a:xfrm>
            <a:prstGeom prst="rect">
              <a:avLst/>
            </a:prstGeom>
            <a:noFill/>
            <a:ln/>
          </p:spPr>
          <p:txBody>
            <a:bodyPr wrap="square" lIns="0" tIns="0" rIns="0" bIns="0" rtlCol="0" anchor="ctr"/>
            <a:lstStyle/>
            <a:p>
              <a:pPr indent="0" marL="0">
                <a:buNone/>
              </a:pPr>
              <a:r>
                <a:rPr lang="en-US" sz="1200" b="1" spc="120" kern="0" dirty="0">
                  <a:solidFill>
                    <a:srgbClr val="2E9E6B"/>
                  </a:solidFill>
                  <a:latin typeface="Arial" pitchFamily="34" charset="0"/>
                  <a:ea typeface="Arial" pitchFamily="34" charset="-122"/>
                  <a:cs typeface="Arial" pitchFamily="34" charset="-120"/>
                </a:rPr>
                <a:t>RIGHT</a:t>
              </a:r>
              <a:endParaRPr lang="en-US" sz="1200" dirty="0"/>
            </a:p>
          </p:txBody>
        </p:sp>
        <p:sp>
          <p:nvSpPr>
            <p:cNvPr id="6" name="rw0_a_bg"/>
            <p:cNvSpPr/>
            <p:nvPr/>
          </p:nvSpPr>
          <p:spPr>
            <a:xfrm>
              <a:off x="777240" y="2697480"/>
              <a:ext cx="2286000" cy="566928"/>
            </a:xfrm>
            <a:prstGeom prst="roundRect">
              <a:avLst>
                <a:gd name="adj" fmla="val 19355"/>
              </a:avLst>
            </a:prstGeom>
            <a:solidFill>
              <a:srgbClr val="FFFFFF"/>
            </a:solidFill>
            <a:ln w="17780">
              <a:solidFill>
                <a:srgbClr val="F0E4C8"/>
              </a:solidFill>
              <a:prstDash val="solid"/>
            </a:ln>
          </p:spPr>
        </p:sp>
        <p:sp>
          <p:nvSpPr>
            <p:cNvPr id="7" name="rw0_a_t"/>
            <p:cNvSpPr txBox="1"/>
            <p:nvPr/>
          </p:nvSpPr>
          <p:spPr>
            <a:xfrm>
              <a:off x="868680" y="2697480"/>
              <a:ext cx="2103120" cy="566928"/>
            </a:xfrm>
            <a:prstGeom prst="rect">
              <a:avLst/>
            </a:prstGeom>
            <a:noFill/>
            <a:ln/>
          </p:spPr>
          <p:txBody>
            <a:bodyPr wrap="square" lIns="0" tIns="0" rIns="0" bIns="0" rtlCol="0" anchor="ctr"/>
            <a:lstStyle/>
            <a:p>
              <a:pPr algn="ctr" indent="0" marL="0">
                <a:buNone/>
              </a:pPr>
              <a:r>
                <a:rPr lang="en-US" sz="1150" b="1" dirty="0">
                  <a:solidFill>
                    <a:srgbClr val="14282B"/>
                  </a:solidFill>
                  <a:latin typeface="Arial" pitchFamily="34" charset="0"/>
                  <a:ea typeface="Arial" pitchFamily="34" charset="-122"/>
                  <a:cs typeface="Arial" pitchFamily="34" charset="-120"/>
                </a:rPr>
                <a:t>ปูแสม  sesarmid crab</a:t>
              </a:r>
              <a:endParaRPr lang="en-US" sz="1150" dirty="0"/>
            </a:p>
          </p:txBody>
        </p:sp>
        <p:sp>
          <p:nvSpPr>
            <p:cNvPr id="8" name="rw0_b_bg"/>
            <p:cNvSpPr/>
            <p:nvPr/>
          </p:nvSpPr>
          <p:spPr>
            <a:xfrm>
              <a:off x="3749040" y="2697480"/>
              <a:ext cx="2286000" cy="566928"/>
            </a:xfrm>
            <a:prstGeom prst="roundRect">
              <a:avLst>
                <a:gd name="adj" fmla="val 19355"/>
              </a:avLst>
            </a:prstGeom>
            <a:solidFill>
              <a:srgbClr val="FFFFFF"/>
            </a:solidFill>
            <a:ln w="17780">
              <a:solidFill>
                <a:srgbClr val="F0E4C8"/>
              </a:solidFill>
              <a:prstDash val="solid"/>
            </a:ln>
          </p:spPr>
        </p:sp>
        <p:sp>
          <p:nvSpPr>
            <p:cNvPr id="9" name="rw0_b_t"/>
            <p:cNvSpPr txBox="1"/>
            <p:nvPr/>
          </p:nvSpPr>
          <p:spPr>
            <a:xfrm>
              <a:off x="3840480" y="2697480"/>
              <a:ext cx="2103120" cy="566928"/>
            </a:xfrm>
            <a:prstGeom prst="rect">
              <a:avLst/>
            </a:prstGeom>
            <a:noFill/>
            <a:ln/>
          </p:spPr>
          <p:txBody>
            <a:bodyPr wrap="square" lIns="0" tIns="0" rIns="0" bIns="0" rtlCol="0" anchor="ctr"/>
            <a:lstStyle/>
            <a:p>
              <a:pPr algn="ctr" indent="0" marL="0">
                <a:buNone/>
              </a:pPr>
              <a:r>
                <a:rPr lang="en-US" sz="1150" b="1" dirty="0">
                  <a:solidFill>
                    <a:srgbClr val="14282B"/>
                  </a:solidFill>
                  <a:latin typeface="Arial" pitchFamily="34" charset="0"/>
                  <a:ea typeface="Arial" pitchFamily="34" charset="-122"/>
                  <a:cs typeface="Arial" pitchFamily="34" charset="-120"/>
                </a:rPr>
                <a:t>ปูดำ  mud crab</a:t>
              </a:r>
              <a:endParaRPr lang="en-US" sz="1150" dirty="0"/>
            </a:p>
          </p:txBody>
        </p:sp>
        <p:sp>
          <p:nvSpPr>
            <p:cNvPr id="10" name="rw0_arrow"/>
            <p:cNvSpPr/>
            <p:nvPr/>
          </p:nvSpPr>
          <p:spPr>
            <a:xfrm>
              <a:off x="3118104" y="2871216"/>
              <a:ext cx="576072" cy="219456"/>
            </a:xfrm>
            <a:prstGeom prst="rightArrow">
              <a:avLst/>
            </a:prstGeom>
            <a:solidFill>
              <a:srgbClr val="2E9E6B"/>
            </a:solidFill>
            <a:ln w="12700">
              <a:solidFill>
                <a:srgbClr val="2E9E6B"/>
              </a:solidFill>
              <a:prstDash val="solid"/>
            </a:ln>
          </p:spPr>
        </p:sp>
      </p:grpSp>
      <p:sp>
        <p:nvSpPr>
          <p:cNvPr id="11" name="rw0_why"/>
          <p:cNvSpPr txBox="1"/>
          <p:nvPr/>
        </p:nvSpPr>
        <p:spPr>
          <a:xfrm>
            <a:off x="6355080" y="2350008"/>
            <a:ext cx="5059375" cy="950976"/>
          </a:xfrm>
          <a:prstGeom prst="rect">
            <a:avLst/>
          </a:prstGeom>
          <a:noFill/>
          <a:ln/>
        </p:spPr>
        <p:txBody>
          <a:bodyPr wrap="square" lIns="0" tIns="0" rIns="0" bIns="0" rtlCol="0" anchor="ctr"/>
          <a:lstStyle/>
          <a:p>
            <a:pPr indent="0" marL="0">
              <a:lnSpc>
                <a:spcPts val="1900"/>
              </a:lnSpc>
              <a:buNone/>
            </a:pPr>
            <a:r>
              <a:rPr lang="en-US" sz="1350" dirty="0">
                <a:solidFill>
                  <a:srgbClr val="14282B"/>
                </a:solidFill>
                <a:latin typeface="Arial" pitchFamily="34" charset="0"/>
                <a:ea typeface="Arial" pitchFamily="34" charset="-122"/>
                <a:cs typeface="Arial" pitchFamily="34" charset="-120"/>
              </a:rPr>
              <a:t>Energy moves from the crab that was eaten into the crab that ate it. Arrow follows the energy.</a:t>
            </a:r>
            <a:endParaRPr lang="en-US" sz="1350" dirty="0"/>
          </a:p>
        </p:txBody>
      </p:sp>
      <p:grpSp>
        <p:nvGrpSpPr>
          <p:cNvPr id="22" name="rw1_row"/>
          <p:cNvGrpSpPr/>
          <p:nvPr/>
        </p:nvGrpSpPr>
        <p:grpSpPr>
          <a:xfrm>
            <a:off x="502920" y="3685032"/>
            <a:ext cx="11185855" cy="1389888"/>
            <a:chOff x="502920" y="3685032"/>
            <a:chExt cx="11185855" cy="1389888"/>
          </a:xfrm>
        </p:grpSpPr>
        <p:sp>
          <p:nvSpPr>
            <p:cNvPr id="12" name="rw1_bg"/>
            <p:cNvSpPr/>
            <p:nvPr/>
          </p:nvSpPr>
          <p:spPr>
            <a:xfrm>
              <a:off x="502920" y="3685032"/>
              <a:ext cx="11185855" cy="1389888"/>
            </a:xfrm>
            <a:prstGeom prst="rect">
              <a:avLst/>
            </a:prstGeom>
            <a:solidFill>
              <a:srgbClr val="FDF1EC"/>
            </a:solidFill>
            <a:ln w="16510">
              <a:solidFill>
                <a:srgbClr val="E2572B"/>
              </a:solidFill>
              <a:prstDash val="solid"/>
            </a:ln>
          </p:spPr>
        </p:sp>
        <p:sp>
          <p:nvSpPr>
            <p:cNvPr id="13" name="rw1_h"/>
            <p:cNvSpPr txBox="1"/>
            <p:nvPr/>
          </p:nvSpPr>
          <p:spPr>
            <a:xfrm>
              <a:off x="758952" y="3831336"/>
              <a:ext cx="1280160" cy="292608"/>
            </a:xfrm>
            <a:prstGeom prst="rect">
              <a:avLst/>
            </a:prstGeom>
            <a:noFill/>
            <a:ln/>
          </p:spPr>
          <p:txBody>
            <a:bodyPr wrap="square" lIns="0" tIns="0" rIns="0" bIns="0" rtlCol="0" anchor="ctr"/>
            <a:lstStyle/>
            <a:p>
              <a:pPr indent="0" marL="0">
                <a:buNone/>
              </a:pPr>
              <a:r>
                <a:rPr lang="en-US" sz="1200" b="1" spc="120" kern="0" dirty="0">
                  <a:solidFill>
                    <a:srgbClr val="E2572B"/>
                  </a:solidFill>
                  <a:latin typeface="Arial" pitchFamily="34" charset="0"/>
                  <a:ea typeface="Arial" pitchFamily="34" charset="-122"/>
                  <a:cs typeface="Arial" pitchFamily="34" charset="-120"/>
                </a:rPr>
                <a:t>WRONG</a:t>
              </a:r>
              <a:endParaRPr lang="en-US" sz="1200" dirty="0"/>
            </a:p>
          </p:txBody>
        </p:sp>
        <p:sp>
          <p:nvSpPr>
            <p:cNvPr id="14" name="rw1_a_bg"/>
            <p:cNvSpPr/>
            <p:nvPr/>
          </p:nvSpPr>
          <p:spPr>
            <a:xfrm>
              <a:off x="777240" y="4251960"/>
              <a:ext cx="2286000" cy="566928"/>
            </a:xfrm>
            <a:prstGeom prst="roundRect">
              <a:avLst>
                <a:gd name="adj" fmla="val 19355"/>
              </a:avLst>
            </a:prstGeom>
            <a:solidFill>
              <a:srgbClr val="FFFFFF"/>
            </a:solidFill>
            <a:ln w="17780">
              <a:solidFill>
                <a:srgbClr val="F0E4C8"/>
              </a:solidFill>
              <a:prstDash val="solid"/>
            </a:ln>
          </p:spPr>
        </p:sp>
        <p:sp>
          <p:nvSpPr>
            <p:cNvPr id="15" name="rw1_a_t"/>
            <p:cNvSpPr txBox="1"/>
            <p:nvPr/>
          </p:nvSpPr>
          <p:spPr>
            <a:xfrm>
              <a:off x="868680" y="4251960"/>
              <a:ext cx="2103120" cy="566928"/>
            </a:xfrm>
            <a:prstGeom prst="rect">
              <a:avLst/>
            </a:prstGeom>
            <a:noFill/>
            <a:ln/>
          </p:spPr>
          <p:txBody>
            <a:bodyPr wrap="square" lIns="0" tIns="0" rIns="0" bIns="0" rtlCol="0" anchor="ctr"/>
            <a:lstStyle/>
            <a:p>
              <a:pPr algn="ctr" indent="0" marL="0">
                <a:buNone/>
              </a:pPr>
              <a:r>
                <a:rPr lang="en-US" sz="1150" b="1" dirty="0">
                  <a:solidFill>
                    <a:srgbClr val="14282B"/>
                  </a:solidFill>
                  <a:latin typeface="Arial" pitchFamily="34" charset="0"/>
                  <a:ea typeface="Arial" pitchFamily="34" charset="-122"/>
                  <a:cs typeface="Arial" pitchFamily="34" charset="-120"/>
                </a:rPr>
                <a:t>ปูแสม  sesarmid crab</a:t>
              </a:r>
              <a:endParaRPr lang="en-US" sz="1150" dirty="0"/>
            </a:p>
          </p:txBody>
        </p:sp>
        <p:sp>
          <p:nvSpPr>
            <p:cNvPr id="16" name="rw1_b_bg"/>
            <p:cNvSpPr/>
            <p:nvPr/>
          </p:nvSpPr>
          <p:spPr>
            <a:xfrm>
              <a:off x="3749040" y="4251960"/>
              <a:ext cx="2286000" cy="566928"/>
            </a:xfrm>
            <a:prstGeom prst="roundRect">
              <a:avLst>
                <a:gd name="adj" fmla="val 19355"/>
              </a:avLst>
            </a:prstGeom>
            <a:solidFill>
              <a:srgbClr val="FFFFFF"/>
            </a:solidFill>
            <a:ln w="17780">
              <a:solidFill>
                <a:srgbClr val="F0E4C8"/>
              </a:solidFill>
              <a:prstDash val="solid"/>
            </a:ln>
          </p:spPr>
        </p:sp>
        <p:sp>
          <p:nvSpPr>
            <p:cNvPr id="17" name="rw1_b_t"/>
            <p:cNvSpPr txBox="1"/>
            <p:nvPr/>
          </p:nvSpPr>
          <p:spPr>
            <a:xfrm>
              <a:off x="3840480" y="4251960"/>
              <a:ext cx="2103120" cy="566928"/>
            </a:xfrm>
            <a:prstGeom prst="rect">
              <a:avLst/>
            </a:prstGeom>
            <a:noFill/>
            <a:ln/>
          </p:spPr>
          <p:txBody>
            <a:bodyPr wrap="square" lIns="0" tIns="0" rIns="0" bIns="0" rtlCol="0" anchor="ctr"/>
            <a:lstStyle/>
            <a:p>
              <a:pPr algn="ctr" indent="0" marL="0">
                <a:buNone/>
              </a:pPr>
              <a:r>
                <a:rPr lang="en-US" sz="1150" b="1" dirty="0">
                  <a:solidFill>
                    <a:srgbClr val="14282B"/>
                  </a:solidFill>
                  <a:latin typeface="Arial" pitchFamily="34" charset="0"/>
                  <a:ea typeface="Arial" pitchFamily="34" charset="-122"/>
                  <a:cs typeface="Arial" pitchFamily="34" charset="-120"/>
                </a:rPr>
                <a:t>ปูดำ  mud crab</a:t>
              </a:r>
              <a:endParaRPr lang="en-US" sz="1150" dirty="0"/>
            </a:p>
          </p:txBody>
        </p:sp>
        <p:sp>
          <p:nvSpPr>
            <p:cNvPr id="18" name="rw1_arrow"/>
            <p:cNvSpPr/>
            <p:nvPr/>
          </p:nvSpPr>
          <p:spPr>
            <a:xfrm rot="10800000">
              <a:off x="3118104" y="4425696"/>
              <a:ext cx="576072" cy="219456"/>
            </a:xfrm>
            <a:prstGeom prst="rightArrow">
              <a:avLst/>
            </a:prstGeom>
            <a:solidFill>
              <a:srgbClr val="E2572B"/>
            </a:solidFill>
            <a:ln w="12700">
              <a:solidFill>
                <a:srgbClr val="E2572B"/>
              </a:solidFill>
              <a:prstDash val="solid"/>
            </a:ln>
          </p:spPr>
        </p:sp>
      </p:grpSp>
      <p:sp>
        <p:nvSpPr>
          <p:cNvPr id="19" name="rw1_why"/>
          <p:cNvSpPr txBox="1"/>
          <p:nvPr/>
        </p:nvSpPr>
        <p:spPr>
          <a:xfrm>
            <a:off x="6355080" y="3904488"/>
            <a:ext cx="5059375" cy="950976"/>
          </a:xfrm>
          <a:prstGeom prst="rect">
            <a:avLst/>
          </a:prstGeom>
          <a:noFill/>
          <a:ln/>
        </p:spPr>
        <p:txBody>
          <a:bodyPr wrap="square" lIns="0" tIns="0" rIns="0" bIns="0" rtlCol="0" anchor="ctr"/>
          <a:lstStyle/>
          <a:p>
            <a:pPr indent="0" marL="0">
              <a:lnSpc>
                <a:spcPts val="1900"/>
              </a:lnSpc>
              <a:buNone/>
            </a:pPr>
            <a:r>
              <a:rPr lang="en-US" sz="1350" dirty="0">
                <a:solidFill>
                  <a:srgbClr val="14282B"/>
                </a:solidFill>
                <a:latin typeface="Arial" pitchFamily="34" charset="0"/>
                <a:ea typeface="Arial" pitchFamily="34" charset="-122"/>
                <a:cs typeface="Arial" pitchFamily="34" charset="-120"/>
              </a:rPr>
              <a:t>This says the mud crab gives energy to the sesarmid crab. It does not. It ate it.</a:t>
            </a:r>
            <a:endParaRPr lang="en-US" sz="1350" dirty="0"/>
          </a:p>
        </p:txBody>
      </p:sp>
      <p:sp>
        <p:nvSpPr>
          <p:cNvPr id="20" name="rule_banner"/>
          <p:cNvSpPr/>
          <p:nvPr/>
        </p:nvSpPr>
        <p:spPr>
          <a:xfrm>
            <a:off x="502920" y="5285232"/>
            <a:ext cx="11185855" cy="603504"/>
          </a:xfrm>
          <a:prstGeom prst="roundRect">
            <a:avLst>
              <a:gd name="adj" fmla="val 18182"/>
            </a:avLst>
          </a:prstGeom>
          <a:solidFill>
            <a:srgbClr val="0E3A3F"/>
          </a:solidFill>
          <a:ln>
            <a:solidFill>
              <a:srgbClr val="0E3A3F"/>
            </a:solidFill>
          </a:ln>
        </p:spPr>
        <p:txBody>
          <a:bodyPr wrap="square" lIns="0" tIns="0" rIns="0" bIns="0" rtlCol="0" anchor="ctr"/>
          <a:lstStyle/>
          <a:p>
            <a:pPr algn="ctr" indent="0" marL="0">
              <a:buNone/>
            </a:pPr>
            <a:r>
              <a:rPr lang="en-US" sz="1500" b="1" dirty="0">
                <a:solidFill>
                  <a:srgbClr val="F5B301"/>
                </a:solidFill>
                <a:latin typeface="Arial" pitchFamily="34" charset="0"/>
                <a:ea typeface="Arial" pitchFamily="34" charset="-122"/>
                <a:cs typeface="Arial" pitchFamily="34" charset="-120"/>
              </a:rPr>
              <a:t>Read every arrow out loud as "gives energy to". If the sentence is nonsense, the arrow is backwards.</a:t>
            </a:r>
            <a:endParaRPr lang="en-US" sz="15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5" presetID="10" presetClass="entr" presetSubtype="0" fill="hold" grpId="0"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500"/>
                                        <p:tgtEl>
                                          <p:spTgt spid="21"/>
                                        </p:tgtEl>
                                      </p:cBhvr>
                                    </p:animEffect>
                                  </p:childTnLst>
                                </p:cTn>
                              </p:par>
                              <p:par>
                                <p:cTn id="8" presetID="10" presetClass="entr" presetSubtype="0" fill="hold" grpId="0" nodeType="withEffect">
                                  <p:stCondLst>
                                    <p:cond delay="25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3" presetID="10" presetClass="entr" presetSubtype="0" fill="hold" grpId="0"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500"/>
                                        <p:tgtEl>
                                          <p:spTgt spid="22"/>
                                        </p:tgtEl>
                                      </p:cBhvr>
                                    </p:animEffect>
                                  </p:childTnLst>
                                </p:cTn>
                              </p:par>
                            </p:childTnLst>
                          </p:cTn>
                        </p:par>
                      </p:childTnLst>
                    </p:cTn>
                  </p:par>
                  <p:par>
                    <p:cTn id="19" fill="hold">
                      <p:stCondLst>
                        <p:cond delay="indefinite"/>
                      </p:stCondLst>
                      <p:childTnLst>
                        <p:par>
                          <p:cTn id="20" fill="hold">
                            <p:stCondLst>
                              <p:cond delay="0"/>
                            </p:stCondLst>
                            <p:childTnLst>
                              <p:par>
                                <p:cTn id="18" presetID="10"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500"/>
                                        <p:tgtEl>
                                          <p:spTgt spid="19"/>
                                        </p:tgtEl>
                                      </p:cBhvr>
                                    </p:animEffect>
                                  </p:childTnLst>
                                </p:cTn>
                              </p:par>
                            </p:childTnLst>
                          </p:cTn>
                        </p:par>
                      </p:childTnLst>
                    </p:cTn>
                  </p:par>
                  <p:par>
                    <p:cTn id="25" fill="hold">
                      <p:stCondLst>
                        <p:cond delay="indefinite"/>
                      </p:stCondLst>
                      <p:childTnLst>
                        <p:par>
                          <p:cTn id="26" fill="hold">
                            <p:stCondLst>
                              <p:cond delay="0"/>
                            </p:stCondLst>
                            <p:childTnLst>
                              <p:par>
                                <p:cTn id="24" presetID="23" presetClass="entr" presetSubtype="16" fill="hold" grpId="0"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500"/>
                                        <p:tgtEl>
                                          <p:spTgt spid="20"/>
                                        </p:tgtEl>
                                      </p:cBhvr>
                                    </p:animEffect>
                                    <p:animScale>
                                      <p:cBhvr>
                                        <p:cTn id="23" dur="500" fill="hold"/>
                                        <p:tgtEl>
                                          <p:spTgt spid="20"/>
                                        </p:tgtEl>
                                      </p:cBhvr>
                                      <p:from x="0" y="0"/>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4E6"/>
        </a:solidFill>
      </p:bgPr>
    </p:bg>
    <p:spTree>
      <p:nvGrpSpPr>
        <p:cNvPr id="1" name=""/>
        <p:cNvGrpSpPr/>
        <p:nvPr/>
      </p:nvGrpSpPr>
      <p:grpSpPr>
        <a:xfrm>
          <a:off x="0" y="0"/>
          <a:ext cx="0" cy="0"/>
          <a:chOff x="0" y="0"/>
          <a:chExt cx="0" cy="0"/>
        </a:xfrm>
      </p:grpSpPr>
      <p:sp>
        <p:nvSpPr>
          <p:cNvPr id="2" name="phase_pill"/>
          <p:cNvSpPr/>
          <p:nvPr/>
        </p:nvSpPr>
        <p:spPr>
          <a:xfrm>
            <a:off x="502920" y="274320"/>
            <a:ext cx="2286000" cy="347472"/>
          </a:xfrm>
          <a:prstGeom prst="roundRect">
            <a:avLst>
              <a:gd name="adj" fmla="val 50000"/>
            </a:avLst>
          </a:prstGeom>
          <a:solidFill>
            <a:srgbClr val="0E3A3F"/>
          </a:solidFill>
          <a:ln/>
        </p:spPr>
        <p:txBody>
          <a:bodyPr wrap="square" lIns="0" tIns="0" rIns="0" bIns="0" rtlCol="0" anchor="ctr"/>
          <a:lstStyle/>
          <a:p>
            <a:pPr algn="ctr" indent="0" marL="0">
              <a:buNone/>
            </a:pPr>
            <a:r>
              <a:rPr lang="en-US" sz="1100" b="1" spc="110" kern="0" dirty="0">
                <a:solidFill>
                  <a:srgbClr val="FAF4E6"/>
                </a:solidFill>
                <a:latin typeface="Arial" pitchFamily="34" charset="0"/>
                <a:ea typeface="Arial" pitchFamily="34" charset="-122"/>
                <a:cs typeface="Arial" pitchFamily="34" charset="-120"/>
              </a:rPr>
              <a:t>WE DO · 6 MIN</a:t>
            </a:r>
            <a:endParaRPr lang="en-US" sz="1100" dirty="0"/>
          </a:p>
        </p:txBody>
      </p:sp>
      <p:sp>
        <p:nvSpPr>
          <p:cNvPr id="3" name="keyword_strip"/>
          <p:cNvSpPr txBox="1"/>
          <p:nvPr/>
        </p:nvSpPr>
        <p:spPr>
          <a:xfrm>
            <a:off x="5836615" y="274320"/>
            <a:ext cx="5852160" cy="347472"/>
          </a:xfrm>
          <a:prstGeom prst="rect">
            <a:avLst/>
          </a:prstGeom>
          <a:noFill/>
          <a:ln/>
        </p:spPr>
        <p:txBody>
          <a:bodyPr wrap="square" lIns="0" tIns="0" rIns="0" bIns="0" rtlCol="0" anchor="ctr"/>
          <a:lstStyle/>
          <a:p>
            <a:pPr algn="r" indent="0" marL="0">
              <a:buNone/>
            </a:pPr>
            <a:r>
              <a:rPr lang="en-US" sz="1150" b="1" i="1" dirty="0">
                <a:solidFill>
                  <a:srgbClr val="2E9E6B"/>
                </a:solidFill>
                <a:latin typeface="Arial" pitchFamily="34" charset="0"/>
                <a:ea typeface="Arial" pitchFamily="34" charset="-122"/>
                <a:cs typeface="Arial" pitchFamily="34" charset="-120"/>
              </a:rPr>
              <a:t>food chain</a:t>
            </a:r>
            <a:endParaRPr lang="en-US" sz="1150" dirty="0"/>
          </a:p>
        </p:txBody>
      </p:sp>
      <p:sp>
        <p:nvSpPr>
          <p:cNvPr id="4" name="slide_title"/>
          <p:cNvSpPr txBox="1"/>
          <p:nvPr/>
        </p:nvSpPr>
        <p:spPr>
          <a:xfrm>
            <a:off x="502920" y="914400"/>
            <a:ext cx="11185855" cy="658368"/>
          </a:xfrm>
          <a:prstGeom prst="rect">
            <a:avLst/>
          </a:prstGeom>
          <a:noFill/>
          <a:ln/>
        </p:spPr>
        <p:txBody>
          <a:bodyPr wrap="square" lIns="0" tIns="0" rIns="0" bIns="0" rtlCol="0" anchor="ctr"/>
          <a:lstStyle/>
          <a:p>
            <a:pPr algn="l" indent="0" marL="0">
              <a:buNone/>
            </a:pPr>
            <a:r>
              <a:rPr lang="en-US" sz="3000" b="1" dirty="0">
                <a:solidFill>
                  <a:srgbClr val="0E3A3F"/>
                </a:solidFill>
                <a:latin typeface="Georgia" pitchFamily="34" charset="0"/>
                <a:ea typeface="Georgia" pitchFamily="34" charset="-122"/>
                <a:cs typeface="Georgia" pitchFamily="34" charset="-120"/>
              </a:rPr>
              <a:t>Your turn: which way round?</a:t>
            </a:r>
            <a:endParaRPr lang="en-US" sz="3000" dirty="0"/>
          </a:p>
        </p:txBody>
      </p:sp>
      <p:sp>
        <p:nvSpPr>
          <p:cNvPr id="5" name="we1_intro"/>
          <p:cNvSpPr txBox="1"/>
          <p:nvPr/>
        </p:nvSpPr>
        <p:spPr>
          <a:xfrm>
            <a:off x="502920" y="1554480"/>
            <a:ext cx="10241280" cy="310896"/>
          </a:xfrm>
          <a:prstGeom prst="rect">
            <a:avLst/>
          </a:prstGeom>
          <a:noFill/>
          <a:ln/>
        </p:spPr>
        <p:txBody>
          <a:bodyPr wrap="square" lIns="0" tIns="0" rIns="0" bIns="0" rtlCol="0" anchor="ctr"/>
          <a:lstStyle/>
          <a:p>
            <a:pPr indent="0" marL="0">
              <a:buNone/>
            </a:pPr>
            <a:r>
              <a:rPr lang="en-US" sz="1300" dirty="0">
                <a:solidFill>
                  <a:srgbClr val="4A6165"/>
                </a:solidFill>
                <a:latin typeface="Arial" pitchFamily="34" charset="0"/>
                <a:ea typeface="Arial" pitchFamily="34" charset="-122"/>
                <a:cs typeface="Arial" pitchFamily="34" charset="-120"/>
              </a:rPr>
              <a:t>Thumbs up if the arrow is right, thumbs down if it is backwards. Everyone votes before I click.</a:t>
            </a:r>
            <a:endParaRPr lang="en-US" sz="1300" dirty="0"/>
          </a:p>
        </p:txBody>
      </p:sp>
      <p:grpSp>
        <p:nvGrpSpPr>
          <p:cNvPr id="35" name="wd0_pair"/>
          <p:cNvGrpSpPr/>
          <p:nvPr/>
        </p:nvGrpSpPr>
        <p:grpSpPr>
          <a:xfrm>
            <a:off x="594360" y="2121408"/>
            <a:ext cx="5394960" cy="512064"/>
            <a:chOff x="594360" y="2121408"/>
            <a:chExt cx="5394960" cy="512064"/>
          </a:xfrm>
        </p:grpSpPr>
        <p:sp>
          <p:nvSpPr>
            <p:cNvPr id="6" name="wd0_a_bg"/>
            <p:cNvSpPr/>
            <p:nvPr/>
          </p:nvSpPr>
          <p:spPr>
            <a:xfrm>
              <a:off x="594360" y="2121408"/>
              <a:ext cx="2286000" cy="512064"/>
            </a:xfrm>
            <a:prstGeom prst="roundRect">
              <a:avLst>
                <a:gd name="adj" fmla="val 21429"/>
              </a:avLst>
            </a:prstGeom>
            <a:solidFill>
              <a:srgbClr val="FFFFFF"/>
            </a:solidFill>
            <a:ln w="17780">
              <a:solidFill>
                <a:srgbClr val="F0E4C8"/>
              </a:solidFill>
              <a:prstDash val="solid"/>
            </a:ln>
          </p:spPr>
        </p:sp>
        <p:sp>
          <p:nvSpPr>
            <p:cNvPr id="7" name="wd0_a_t"/>
            <p:cNvSpPr txBox="1"/>
            <p:nvPr/>
          </p:nvSpPr>
          <p:spPr>
            <a:xfrm>
              <a:off x="685800" y="2121408"/>
              <a:ext cx="2103120" cy="512064"/>
            </a:xfrm>
            <a:prstGeom prst="rect">
              <a:avLst/>
            </a:prstGeom>
            <a:noFill/>
            <a:ln/>
          </p:spPr>
          <p:txBody>
            <a:bodyPr wrap="square" lIns="0" tIns="0" rIns="0" bIns="0" rtlCol="0" anchor="ctr"/>
            <a:lstStyle/>
            <a:p>
              <a:pPr algn="ctr" indent="0" marL="0">
                <a:buNone/>
              </a:pPr>
              <a:r>
                <a:rPr lang="en-US" sz="1150" b="1" dirty="0">
                  <a:solidFill>
                    <a:srgbClr val="14282B"/>
                  </a:solidFill>
                  <a:latin typeface="Arial" pitchFamily="34" charset="0"/>
                  <a:ea typeface="Arial" pitchFamily="34" charset="-122"/>
                  <a:cs typeface="Arial" pitchFamily="34" charset="-120"/>
                </a:rPr>
                <a:t>Phytoplankton</a:t>
              </a:r>
              <a:endParaRPr lang="en-US" sz="1150" dirty="0"/>
            </a:p>
          </p:txBody>
        </p:sp>
        <p:sp>
          <p:nvSpPr>
            <p:cNvPr id="8" name="wd0_b_bg"/>
            <p:cNvSpPr/>
            <p:nvPr/>
          </p:nvSpPr>
          <p:spPr>
            <a:xfrm>
              <a:off x="3703320" y="2121408"/>
              <a:ext cx="2286000" cy="512064"/>
            </a:xfrm>
            <a:prstGeom prst="roundRect">
              <a:avLst>
                <a:gd name="adj" fmla="val 21429"/>
              </a:avLst>
            </a:prstGeom>
            <a:solidFill>
              <a:srgbClr val="FFFFFF"/>
            </a:solidFill>
            <a:ln w="17780">
              <a:solidFill>
                <a:srgbClr val="F0E4C8"/>
              </a:solidFill>
              <a:prstDash val="solid"/>
            </a:ln>
          </p:spPr>
        </p:sp>
        <p:sp>
          <p:nvSpPr>
            <p:cNvPr id="9" name="wd0_b_t"/>
            <p:cNvSpPr txBox="1"/>
            <p:nvPr/>
          </p:nvSpPr>
          <p:spPr>
            <a:xfrm>
              <a:off x="3794760" y="2121408"/>
              <a:ext cx="2103120" cy="512064"/>
            </a:xfrm>
            <a:prstGeom prst="rect">
              <a:avLst/>
            </a:prstGeom>
            <a:noFill/>
            <a:ln/>
          </p:spPr>
          <p:txBody>
            <a:bodyPr wrap="square" lIns="0" tIns="0" rIns="0" bIns="0" rtlCol="0" anchor="ctr"/>
            <a:lstStyle/>
            <a:p>
              <a:pPr algn="ctr" indent="0" marL="0">
                <a:buNone/>
              </a:pPr>
              <a:r>
                <a:rPr lang="en-US" sz="1150" b="1" dirty="0">
                  <a:solidFill>
                    <a:srgbClr val="14282B"/>
                  </a:solidFill>
                  <a:latin typeface="Arial" pitchFamily="34" charset="0"/>
                  <a:ea typeface="Arial" pitchFamily="34" charset="-122"/>
                  <a:cs typeface="Arial" pitchFamily="34" charset="-120"/>
                </a:rPr>
                <a:t>Copepod</a:t>
              </a:r>
              <a:endParaRPr lang="en-US" sz="1150" dirty="0"/>
            </a:p>
          </p:txBody>
        </p:sp>
        <p:sp>
          <p:nvSpPr>
            <p:cNvPr id="10" name="wd0_arrow"/>
            <p:cNvSpPr/>
            <p:nvPr/>
          </p:nvSpPr>
          <p:spPr>
            <a:xfrm>
              <a:off x="2935224" y="2276856"/>
              <a:ext cx="713232" cy="201168"/>
            </a:xfrm>
            <a:prstGeom prst="rightArrow">
              <a:avLst/>
            </a:prstGeom>
            <a:solidFill>
              <a:srgbClr val="4A6165"/>
            </a:solidFill>
            <a:ln w="12700">
              <a:solidFill>
                <a:srgbClr val="4A6165"/>
              </a:solidFill>
              <a:prstDash val="solid"/>
            </a:ln>
          </p:spPr>
        </p:sp>
      </p:grpSp>
      <p:sp>
        <p:nvSpPr>
          <p:cNvPr id="11" name="wd0_v"/>
          <p:cNvSpPr txBox="1"/>
          <p:nvPr/>
        </p:nvSpPr>
        <p:spPr>
          <a:xfrm>
            <a:off x="6309360" y="2121408"/>
            <a:ext cx="1371600" cy="512064"/>
          </a:xfrm>
          <a:prstGeom prst="rect">
            <a:avLst/>
          </a:prstGeom>
          <a:noFill/>
          <a:ln/>
        </p:spPr>
        <p:txBody>
          <a:bodyPr wrap="square" lIns="0" tIns="0" rIns="0" bIns="0" rtlCol="0" anchor="ctr"/>
          <a:lstStyle/>
          <a:p>
            <a:pPr indent="0" marL="0">
              <a:buNone/>
            </a:pPr>
            <a:r>
              <a:rPr lang="en-US" sz="1250" b="1" spc="80" kern="0" dirty="0">
                <a:solidFill>
                  <a:srgbClr val="2E9E6B"/>
                </a:solidFill>
                <a:latin typeface="Arial" pitchFamily="34" charset="0"/>
                <a:ea typeface="Arial" pitchFamily="34" charset="-122"/>
                <a:cs typeface="Arial" pitchFamily="34" charset="-120"/>
              </a:rPr>
              <a:t>RIGHT</a:t>
            </a:r>
            <a:endParaRPr lang="en-US" sz="1250" dirty="0"/>
          </a:p>
        </p:txBody>
      </p:sp>
      <p:sp>
        <p:nvSpPr>
          <p:cNvPr id="12" name="wd0_why"/>
          <p:cNvSpPr txBox="1"/>
          <p:nvPr/>
        </p:nvSpPr>
        <p:spPr>
          <a:xfrm>
            <a:off x="7680960" y="2121408"/>
            <a:ext cx="4099255" cy="512064"/>
          </a:xfrm>
          <a:prstGeom prst="rect">
            <a:avLst/>
          </a:prstGeom>
          <a:noFill/>
          <a:ln/>
        </p:spPr>
        <p:txBody>
          <a:bodyPr wrap="square" lIns="0" tIns="0" rIns="0" bIns="0" rtlCol="0" anchor="ctr"/>
          <a:lstStyle/>
          <a:p>
            <a:pPr indent="0" marL="0">
              <a:lnSpc>
                <a:spcPts val="1600"/>
              </a:lnSpc>
              <a:buNone/>
            </a:pPr>
            <a:r>
              <a:rPr lang="en-US" sz="1200" dirty="0">
                <a:solidFill>
                  <a:srgbClr val="14282B"/>
                </a:solidFill>
                <a:latin typeface="Arial" pitchFamily="34" charset="0"/>
                <a:ea typeface="Arial" pitchFamily="34" charset="-122"/>
                <a:cs typeface="Arial" pitchFamily="34" charset="-120"/>
              </a:rPr>
              <a:t>The copepod eats the phytoplankton, so energy flows into the copepod.</a:t>
            </a:r>
            <a:endParaRPr lang="en-US" sz="1200" dirty="0"/>
          </a:p>
        </p:txBody>
      </p:sp>
      <p:grpSp>
        <p:nvGrpSpPr>
          <p:cNvPr id="36" name="wd1_pair"/>
          <p:cNvGrpSpPr/>
          <p:nvPr/>
        </p:nvGrpSpPr>
        <p:grpSpPr>
          <a:xfrm>
            <a:off x="594360" y="2962656"/>
            <a:ext cx="5394960" cy="512064"/>
            <a:chOff x="594360" y="2962656"/>
            <a:chExt cx="5394960" cy="512064"/>
          </a:xfrm>
        </p:grpSpPr>
        <p:sp>
          <p:nvSpPr>
            <p:cNvPr id="13" name="wd1_a_bg"/>
            <p:cNvSpPr/>
            <p:nvPr/>
          </p:nvSpPr>
          <p:spPr>
            <a:xfrm>
              <a:off x="594360" y="2962656"/>
              <a:ext cx="2286000" cy="512064"/>
            </a:xfrm>
            <a:prstGeom prst="roundRect">
              <a:avLst>
                <a:gd name="adj" fmla="val 21429"/>
              </a:avLst>
            </a:prstGeom>
            <a:solidFill>
              <a:srgbClr val="FFFFFF"/>
            </a:solidFill>
            <a:ln w="17780">
              <a:solidFill>
                <a:srgbClr val="F0E4C8"/>
              </a:solidFill>
              <a:prstDash val="solid"/>
            </a:ln>
          </p:spPr>
        </p:sp>
        <p:sp>
          <p:nvSpPr>
            <p:cNvPr id="14" name="wd1_a_t"/>
            <p:cNvSpPr txBox="1"/>
            <p:nvPr/>
          </p:nvSpPr>
          <p:spPr>
            <a:xfrm>
              <a:off x="685800" y="2962656"/>
              <a:ext cx="2103120" cy="512064"/>
            </a:xfrm>
            <a:prstGeom prst="rect">
              <a:avLst/>
            </a:prstGeom>
            <a:noFill/>
            <a:ln/>
          </p:spPr>
          <p:txBody>
            <a:bodyPr wrap="square" lIns="0" tIns="0" rIns="0" bIns="0" rtlCol="0" anchor="ctr"/>
            <a:lstStyle/>
            <a:p>
              <a:pPr algn="ctr" indent="0" marL="0">
                <a:buNone/>
              </a:pPr>
              <a:r>
                <a:rPr lang="en-US" sz="1150" b="1" dirty="0">
                  <a:solidFill>
                    <a:srgbClr val="14282B"/>
                  </a:solidFill>
                  <a:latin typeface="Arial" pitchFamily="34" charset="0"/>
                  <a:ea typeface="Arial" pitchFamily="34" charset="-122"/>
                  <a:cs typeface="Arial" pitchFamily="34" charset="-120"/>
                </a:rPr>
                <a:t>Pla thu</a:t>
              </a:r>
              <a:endParaRPr lang="en-US" sz="1150" dirty="0"/>
            </a:p>
          </p:txBody>
        </p:sp>
        <p:sp>
          <p:nvSpPr>
            <p:cNvPr id="15" name="wd1_b_bg"/>
            <p:cNvSpPr/>
            <p:nvPr/>
          </p:nvSpPr>
          <p:spPr>
            <a:xfrm>
              <a:off x="3703320" y="2962656"/>
              <a:ext cx="2286000" cy="512064"/>
            </a:xfrm>
            <a:prstGeom prst="roundRect">
              <a:avLst>
                <a:gd name="adj" fmla="val 21429"/>
              </a:avLst>
            </a:prstGeom>
            <a:solidFill>
              <a:srgbClr val="FFFFFF"/>
            </a:solidFill>
            <a:ln w="17780">
              <a:solidFill>
                <a:srgbClr val="F0E4C8"/>
              </a:solidFill>
              <a:prstDash val="solid"/>
            </a:ln>
          </p:spPr>
        </p:sp>
        <p:sp>
          <p:nvSpPr>
            <p:cNvPr id="16" name="wd1_b_t"/>
            <p:cNvSpPr txBox="1"/>
            <p:nvPr/>
          </p:nvSpPr>
          <p:spPr>
            <a:xfrm>
              <a:off x="3794760" y="2962656"/>
              <a:ext cx="2103120" cy="512064"/>
            </a:xfrm>
            <a:prstGeom prst="rect">
              <a:avLst/>
            </a:prstGeom>
            <a:noFill/>
            <a:ln/>
          </p:spPr>
          <p:txBody>
            <a:bodyPr wrap="square" lIns="0" tIns="0" rIns="0" bIns="0" rtlCol="0" anchor="ctr"/>
            <a:lstStyle/>
            <a:p>
              <a:pPr algn="ctr" indent="0" marL="0">
                <a:buNone/>
              </a:pPr>
              <a:r>
                <a:rPr lang="en-US" sz="1150" b="1" dirty="0">
                  <a:solidFill>
                    <a:srgbClr val="14282B"/>
                  </a:solidFill>
                  <a:latin typeface="Arial" pitchFamily="34" charset="0"/>
                  <a:ea typeface="Arial" pitchFamily="34" charset="-122"/>
                  <a:cs typeface="Arial" pitchFamily="34" charset="-120"/>
                </a:rPr>
                <a:t>Copepod</a:t>
              </a:r>
              <a:endParaRPr lang="en-US" sz="1150" dirty="0"/>
            </a:p>
          </p:txBody>
        </p:sp>
        <p:sp>
          <p:nvSpPr>
            <p:cNvPr id="17" name="wd1_arrow"/>
            <p:cNvSpPr/>
            <p:nvPr/>
          </p:nvSpPr>
          <p:spPr>
            <a:xfrm>
              <a:off x="2935224" y="3118104"/>
              <a:ext cx="713232" cy="201168"/>
            </a:xfrm>
            <a:prstGeom prst="rightArrow">
              <a:avLst/>
            </a:prstGeom>
            <a:solidFill>
              <a:srgbClr val="4A6165"/>
            </a:solidFill>
            <a:ln w="12700">
              <a:solidFill>
                <a:srgbClr val="4A6165"/>
              </a:solidFill>
              <a:prstDash val="solid"/>
            </a:ln>
          </p:spPr>
        </p:sp>
      </p:grpSp>
      <p:sp>
        <p:nvSpPr>
          <p:cNvPr id="18" name="wd1_v"/>
          <p:cNvSpPr txBox="1"/>
          <p:nvPr/>
        </p:nvSpPr>
        <p:spPr>
          <a:xfrm>
            <a:off x="6309360" y="2962656"/>
            <a:ext cx="1371600" cy="512064"/>
          </a:xfrm>
          <a:prstGeom prst="rect">
            <a:avLst/>
          </a:prstGeom>
          <a:noFill/>
          <a:ln/>
        </p:spPr>
        <p:txBody>
          <a:bodyPr wrap="square" lIns="0" tIns="0" rIns="0" bIns="0" rtlCol="0" anchor="ctr"/>
          <a:lstStyle/>
          <a:p>
            <a:pPr indent="0" marL="0">
              <a:buNone/>
            </a:pPr>
            <a:r>
              <a:rPr lang="en-US" sz="1250" b="1" spc="80" kern="0" dirty="0">
                <a:solidFill>
                  <a:srgbClr val="E2572B"/>
                </a:solidFill>
                <a:latin typeface="Arial" pitchFamily="34" charset="0"/>
                <a:ea typeface="Arial" pitchFamily="34" charset="-122"/>
                <a:cs typeface="Arial" pitchFamily="34" charset="-120"/>
              </a:rPr>
              <a:t>BACKWARDS</a:t>
            </a:r>
            <a:endParaRPr lang="en-US" sz="1250" dirty="0"/>
          </a:p>
        </p:txBody>
      </p:sp>
      <p:sp>
        <p:nvSpPr>
          <p:cNvPr id="19" name="wd1_why"/>
          <p:cNvSpPr txBox="1"/>
          <p:nvPr/>
        </p:nvSpPr>
        <p:spPr>
          <a:xfrm>
            <a:off x="7680960" y="2962656"/>
            <a:ext cx="4099255" cy="512064"/>
          </a:xfrm>
          <a:prstGeom prst="rect">
            <a:avLst/>
          </a:prstGeom>
          <a:noFill/>
          <a:ln/>
        </p:spPr>
        <p:txBody>
          <a:bodyPr wrap="square" lIns="0" tIns="0" rIns="0" bIns="0" rtlCol="0" anchor="ctr"/>
          <a:lstStyle/>
          <a:p>
            <a:pPr indent="0" marL="0">
              <a:lnSpc>
                <a:spcPts val="1600"/>
              </a:lnSpc>
              <a:buNone/>
            </a:pPr>
            <a:r>
              <a:rPr lang="en-US" sz="1200" dirty="0">
                <a:solidFill>
                  <a:srgbClr val="14282B"/>
                </a:solidFill>
                <a:latin typeface="Arial" pitchFamily="34" charset="0"/>
                <a:ea typeface="Arial" pitchFamily="34" charset="-122"/>
                <a:cs typeface="Arial" pitchFamily="34" charset="-120"/>
              </a:rPr>
              <a:t>Pla thu eats copepods. The arrow should point at the pla thu.</a:t>
            </a:r>
            <a:endParaRPr lang="en-US" sz="1200" dirty="0"/>
          </a:p>
        </p:txBody>
      </p:sp>
      <p:grpSp>
        <p:nvGrpSpPr>
          <p:cNvPr id="37" name="wd2_pair"/>
          <p:cNvGrpSpPr/>
          <p:nvPr/>
        </p:nvGrpSpPr>
        <p:grpSpPr>
          <a:xfrm>
            <a:off x="594360" y="3803904"/>
            <a:ext cx="5394960" cy="512064"/>
            <a:chOff x="594360" y="3803904"/>
            <a:chExt cx="5394960" cy="512064"/>
          </a:xfrm>
        </p:grpSpPr>
        <p:sp>
          <p:nvSpPr>
            <p:cNvPr id="20" name="wd2_a_bg"/>
            <p:cNvSpPr/>
            <p:nvPr/>
          </p:nvSpPr>
          <p:spPr>
            <a:xfrm>
              <a:off x="594360" y="3803904"/>
              <a:ext cx="2286000" cy="512064"/>
            </a:xfrm>
            <a:prstGeom prst="roundRect">
              <a:avLst>
                <a:gd name="adj" fmla="val 21429"/>
              </a:avLst>
            </a:prstGeom>
            <a:solidFill>
              <a:srgbClr val="FFFFFF"/>
            </a:solidFill>
            <a:ln w="17780">
              <a:solidFill>
                <a:srgbClr val="F0E4C8"/>
              </a:solidFill>
              <a:prstDash val="solid"/>
            </a:ln>
          </p:spPr>
        </p:sp>
        <p:sp>
          <p:nvSpPr>
            <p:cNvPr id="21" name="wd2_a_t"/>
            <p:cNvSpPr txBox="1"/>
            <p:nvPr/>
          </p:nvSpPr>
          <p:spPr>
            <a:xfrm>
              <a:off x="685800" y="3803904"/>
              <a:ext cx="2103120" cy="512064"/>
            </a:xfrm>
            <a:prstGeom prst="rect">
              <a:avLst/>
            </a:prstGeom>
            <a:noFill/>
            <a:ln/>
          </p:spPr>
          <p:txBody>
            <a:bodyPr wrap="square" lIns="0" tIns="0" rIns="0" bIns="0" rtlCol="0" anchor="ctr"/>
            <a:lstStyle/>
            <a:p>
              <a:pPr algn="ctr" indent="0" marL="0">
                <a:buNone/>
              </a:pPr>
              <a:r>
                <a:rPr lang="en-US" sz="1150" b="1" dirty="0">
                  <a:solidFill>
                    <a:srgbClr val="14282B"/>
                  </a:solidFill>
                  <a:latin typeface="Arial" pitchFamily="34" charset="0"/>
                  <a:ea typeface="Arial" pitchFamily="34" charset="-122"/>
                  <a:cs typeface="Arial" pitchFamily="34" charset="-120"/>
                </a:rPr>
                <a:t>Fallen leaf</a:t>
              </a:r>
              <a:endParaRPr lang="en-US" sz="1150" dirty="0"/>
            </a:p>
          </p:txBody>
        </p:sp>
        <p:sp>
          <p:nvSpPr>
            <p:cNvPr id="22" name="wd2_b_bg"/>
            <p:cNvSpPr/>
            <p:nvPr/>
          </p:nvSpPr>
          <p:spPr>
            <a:xfrm>
              <a:off x="3703320" y="3803904"/>
              <a:ext cx="2286000" cy="512064"/>
            </a:xfrm>
            <a:prstGeom prst="roundRect">
              <a:avLst>
                <a:gd name="adj" fmla="val 21429"/>
              </a:avLst>
            </a:prstGeom>
            <a:solidFill>
              <a:srgbClr val="FFFFFF"/>
            </a:solidFill>
            <a:ln w="17780">
              <a:solidFill>
                <a:srgbClr val="F0E4C8"/>
              </a:solidFill>
              <a:prstDash val="solid"/>
            </a:ln>
          </p:spPr>
        </p:sp>
        <p:sp>
          <p:nvSpPr>
            <p:cNvPr id="23" name="wd2_b_t"/>
            <p:cNvSpPr txBox="1"/>
            <p:nvPr/>
          </p:nvSpPr>
          <p:spPr>
            <a:xfrm>
              <a:off x="3794760" y="3803904"/>
              <a:ext cx="2103120" cy="512064"/>
            </a:xfrm>
            <a:prstGeom prst="rect">
              <a:avLst/>
            </a:prstGeom>
            <a:noFill/>
            <a:ln/>
          </p:spPr>
          <p:txBody>
            <a:bodyPr wrap="square" lIns="0" tIns="0" rIns="0" bIns="0" rtlCol="0" anchor="ctr"/>
            <a:lstStyle/>
            <a:p>
              <a:pPr algn="ctr" indent="0" marL="0">
                <a:buNone/>
              </a:pPr>
              <a:r>
                <a:rPr lang="en-US" sz="1150" b="1" dirty="0">
                  <a:solidFill>
                    <a:srgbClr val="14282B"/>
                  </a:solidFill>
                  <a:latin typeface="Arial" pitchFamily="34" charset="0"/>
                  <a:ea typeface="Arial" pitchFamily="34" charset="-122"/>
                  <a:cs typeface="Arial" pitchFamily="34" charset="-120"/>
                </a:rPr>
                <a:t>ปูแสม sesarmid crab</a:t>
              </a:r>
              <a:endParaRPr lang="en-US" sz="1150" dirty="0"/>
            </a:p>
          </p:txBody>
        </p:sp>
        <p:sp>
          <p:nvSpPr>
            <p:cNvPr id="24" name="wd2_arrow"/>
            <p:cNvSpPr/>
            <p:nvPr/>
          </p:nvSpPr>
          <p:spPr>
            <a:xfrm>
              <a:off x="2935224" y="3959352"/>
              <a:ext cx="713232" cy="201168"/>
            </a:xfrm>
            <a:prstGeom prst="rightArrow">
              <a:avLst/>
            </a:prstGeom>
            <a:solidFill>
              <a:srgbClr val="4A6165"/>
            </a:solidFill>
            <a:ln w="12700">
              <a:solidFill>
                <a:srgbClr val="4A6165"/>
              </a:solidFill>
              <a:prstDash val="solid"/>
            </a:ln>
          </p:spPr>
        </p:sp>
      </p:grpSp>
      <p:sp>
        <p:nvSpPr>
          <p:cNvPr id="25" name="wd2_v"/>
          <p:cNvSpPr txBox="1"/>
          <p:nvPr/>
        </p:nvSpPr>
        <p:spPr>
          <a:xfrm>
            <a:off x="6309360" y="3803904"/>
            <a:ext cx="1371600" cy="512064"/>
          </a:xfrm>
          <a:prstGeom prst="rect">
            <a:avLst/>
          </a:prstGeom>
          <a:noFill/>
          <a:ln/>
        </p:spPr>
        <p:txBody>
          <a:bodyPr wrap="square" lIns="0" tIns="0" rIns="0" bIns="0" rtlCol="0" anchor="ctr"/>
          <a:lstStyle/>
          <a:p>
            <a:pPr indent="0" marL="0">
              <a:buNone/>
            </a:pPr>
            <a:r>
              <a:rPr lang="en-US" sz="1250" b="1" spc="80" kern="0" dirty="0">
                <a:solidFill>
                  <a:srgbClr val="2E9E6B"/>
                </a:solidFill>
                <a:latin typeface="Arial" pitchFamily="34" charset="0"/>
                <a:ea typeface="Arial" pitchFamily="34" charset="-122"/>
                <a:cs typeface="Arial" pitchFamily="34" charset="-120"/>
              </a:rPr>
              <a:t>RIGHT</a:t>
            </a:r>
            <a:endParaRPr lang="en-US" sz="1250" dirty="0"/>
          </a:p>
        </p:txBody>
      </p:sp>
      <p:sp>
        <p:nvSpPr>
          <p:cNvPr id="26" name="wd2_why"/>
          <p:cNvSpPr txBox="1"/>
          <p:nvPr/>
        </p:nvSpPr>
        <p:spPr>
          <a:xfrm>
            <a:off x="7680960" y="3803904"/>
            <a:ext cx="4099255" cy="512064"/>
          </a:xfrm>
          <a:prstGeom prst="rect">
            <a:avLst/>
          </a:prstGeom>
          <a:noFill/>
          <a:ln/>
        </p:spPr>
        <p:txBody>
          <a:bodyPr wrap="square" lIns="0" tIns="0" rIns="0" bIns="0" rtlCol="0" anchor="ctr"/>
          <a:lstStyle/>
          <a:p>
            <a:pPr indent="0" marL="0">
              <a:lnSpc>
                <a:spcPts val="1600"/>
              </a:lnSpc>
              <a:buNone/>
            </a:pPr>
            <a:r>
              <a:rPr lang="en-US" sz="1200" dirty="0">
                <a:solidFill>
                  <a:srgbClr val="14282B"/>
                </a:solidFill>
                <a:latin typeface="Arial" pitchFamily="34" charset="0"/>
                <a:ea typeface="Arial" pitchFamily="34" charset="-122"/>
                <a:cs typeface="Arial" pitchFamily="34" charset="-120"/>
              </a:rPr>
              <a:t>Leaf litter is where most mangrove energy actually enters the animals.</a:t>
            </a:r>
            <a:endParaRPr lang="en-US" sz="1200" dirty="0"/>
          </a:p>
        </p:txBody>
      </p:sp>
      <p:grpSp>
        <p:nvGrpSpPr>
          <p:cNvPr id="38" name="wd3_pair"/>
          <p:cNvGrpSpPr/>
          <p:nvPr/>
        </p:nvGrpSpPr>
        <p:grpSpPr>
          <a:xfrm>
            <a:off x="594360" y="4645152"/>
            <a:ext cx="5394960" cy="512064"/>
            <a:chOff x="594360" y="4645152"/>
            <a:chExt cx="5394960" cy="512064"/>
          </a:xfrm>
        </p:grpSpPr>
        <p:sp>
          <p:nvSpPr>
            <p:cNvPr id="27" name="wd3_a_bg"/>
            <p:cNvSpPr/>
            <p:nvPr/>
          </p:nvSpPr>
          <p:spPr>
            <a:xfrm>
              <a:off x="594360" y="4645152"/>
              <a:ext cx="2286000" cy="512064"/>
            </a:xfrm>
            <a:prstGeom prst="roundRect">
              <a:avLst>
                <a:gd name="adj" fmla="val 21429"/>
              </a:avLst>
            </a:prstGeom>
            <a:solidFill>
              <a:srgbClr val="FFFFFF"/>
            </a:solidFill>
            <a:ln w="17780">
              <a:solidFill>
                <a:srgbClr val="F0E4C8"/>
              </a:solidFill>
              <a:prstDash val="solid"/>
            </a:ln>
          </p:spPr>
        </p:sp>
        <p:sp>
          <p:nvSpPr>
            <p:cNvPr id="28" name="wd3_a_t"/>
            <p:cNvSpPr txBox="1"/>
            <p:nvPr/>
          </p:nvSpPr>
          <p:spPr>
            <a:xfrm>
              <a:off x="685800" y="4645152"/>
              <a:ext cx="2103120" cy="512064"/>
            </a:xfrm>
            <a:prstGeom prst="rect">
              <a:avLst/>
            </a:prstGeom>
            <a:noFill/>
            <a:ln/>
          </p:spPr>
          <p:txBody>
            <a:bodyPr wrap="square" lIns="0" tIns="0" rIns="0" bIns="0" rtlCol="0" anchor="ctr"/>
            <a:lstStyle/>
            <a:p>
              <a:pPr algn="ctr" indent="0" marL="0">
                <a:buNone/>
              </a:pPr>
              <a:r>
                <a:rPr lang="en-US" sz="1150" b="1" dirty="0">
                  <a:solidFill>
                    <a:srgbClr val="14282B"/>
                  </a:solidFill>
                  <a:latin typeface="Arial" pitchFamily="34" charset="0"/>
                  <a:ea typeface="Arial" pitchFamily="34" charset="-122"/>
                  <a:cs typeface="Arial" pitchFamily="34" charset="-120"/>
                </a:rPr>
                <a:t>Little egret</a:t>
              </a:r>
              <a:endParaRPr lang="en-US" sz="1150" dirty="0"/>
            </a:p>
          </p:txBody>
        </p:sp>
        <p:sp>
          <p:nvSpPr>
            <p:cNvPr id="29" name="wd3_b_bg"/>
            <p:cNvSpPr/>
            <p:nvPr/>
          </p:nvSpPr>
          <p:spPr>
            <a:xfrm>
              <a:off x="3703320" y="4645152"/>
              <a:ext cx="2286000" cy="512064"/>
            </a:xfrm>
            <a:prstGeom prst="roundRect">
              <a:avLst>
                <a:gd name="adj" fmla="val 21429"/>
              </a:avLst>
            </a:prstGeom>
            <a:solidFill>
              <a:srgbClr val="FFFFFF"/>
            </a:solidFill>
            <a:ln w="17780">
              <a:solidFill>
                <a:srgbClr val="F0E4C8"/>
              </a:solidFill>
              <a:prstDash val="solid"/>
            </a:ln>
          </p:spPr>
        </p:sp>
        <p:sp>
          <p:nvSpPr>
            <p:cNvPr id="30" name="wd3_b_t"/>
            <p:cNvSpPr txBox="1"/>
            <p:nvPr/>
          </p:nvSpPr>
          <p:spPr>
            <a:xfrm>
              <a:off x="3794760" y="4645152"/>
              <a:ext cx="2103120" cy="512064"/>
            </a:xfrm>
            <a:prstGeom prst="rect">
              <a:avLst/>
            </a:prstGeom>
            <a:noFill/>
            <a:ln/>
          </p:spPr>
          <p:txBody>
            <a:bodyPr wrap="square" lIns="0" tIns="0" rIns="0" bIns="0" rtlCol="0" anchor="ctr"/>
            <a:lstStyle/>
            <a:p>
              <a:pPr algn="ctr" indent="0" marL="0">
                <a:buNone/>
              </a:pPr>
              <a:r>
                <a:rPr lang="en-US" sz="1150" b="1" dirty="0">
                  <a:solidFill>
                    <a:srgbClr val="14282B"/>
                  </a:solidFill>
                  <a:latin typeface="Arial" pitchFamily="34" charset="0"/>
                  <a:ea typeface="Arial" pitchFamily="34" charset="-122"/>
                  <a:cs typeface="Arial" pitchFamily="34" charset="-120"/>
                </a:rPr>
                <a:t>Mudskipper</a:t>
              </a:r>
              <a:endParaRPr lang="en-US" sz="1150" dirty="0"/>
            </a:p>
          </p:txBody>
        </p:sp>
        <p:sp>
          <p:nvSpPr>
            <p:cNvPr id="31" name="wd3_arrow"/>
            <p:cNvSpPr/>
            <p:nvPr/>
          </p:nvSpPr>
          <p:spPr>
            <a:xfrm>
              <a:off x="2935224" y="4800600"/>
              <a:ext cx="713232" cy="201168"/>
            </a:xfrm>
            <a:prstGeom prst="rightArrow">
              <a:avLst/>
            </a:prstGeom>
            <a:solidFill>
              <a:srgbClr val="4A6165"/>
            </a:solidFill>
            <a:ln w="12700">
              <a:solidFill>
                <a:srgbClr val="4A6165"/>
              </a:solidFill>
              <a:prstDash val="solid"/>
            </a:ln>
          </p:spPr>
        </p:sp>
      </p:grpSp>
      <p:sp>
        <p:nvSpPr>
          <p:cNvPr id="32" name="wd3_v"/>
          <p:cNvSpPr txBox="1"/>
          <p:nvPr/>
        </p:nvSpPr>
        <p:spPr>
          <a:xfrm>
            <a:off x="6309360" y="4645152"/>
            <a:ext cx="1371600" cy="512064"/>
          </a:xfrm>
          <a:prstGeom prst="rect">
            <a:avLst/>
          </a:prstGeom>
          <a:noFill/>
          <a:ln/>
        </p:spPr>
        <p:txBody>
          <a:bodyPr wrap="square" lIns="0" tIns="0" rIns="0" bIns="0" rtlCol="0" anchor="ctr"/>
          <a:lstStyle/>
          <a:p>
            <a:pPr indent="0" marL="0">
              <a:buNone/>
            </a:pPr>
            <a:r>
              <a:rPr lang="en-US" sz="1250" b="1" spc="80" kern="0" dirty="0">
                <a:solidFill>
                  <a:srgbClr val="E2572B"/>
                </a:solidFill>
                <a:latin typeface="Arial" pitchFamily="34" charset="0"/>
                <a:ea typeface="Arial" pitchFamily="34" charset="-122"/>
                <a:cs typeface="Arial" pitchFamily="34" charset="-120"/>
              </a:rPr>
              <a:t>BACKWARDS</a:t>
            </a:r>
            <a:endParaRPr lang="en-US" sz="1250" dirty="0"/>
          </a:p>
        </p:txBody>
      </p:sp>
      <p:sp>
        <p:nvSpPr>
          <p:cNvPr id="33" name="wd3_why"/>
          <p:cNvSpPr txBox="1"/>
          <p:nvPr/>
        </p:nvSpPr>
        <p:spPr>
          <a:xfrm>
            <a:off x="7680960" y="4645152"/>
            <a:ext cx="4099255" cy="512064"/>
          </a:xfrm>
          <a:prstGeom prst="rect">
            <a:avLst/>
          </a:prstGeom>
          <a:noFill/>
          <a:ln/>
        </p:spPr>
        <p:txBody>
          <a:bodyPr wrap="square" lIns="0" tIns="0" rIns="0" bIns="0" rtlCol="0" anchor="ctr"/>
          <a:lstStyle/>
          <a:p>
            <a:pPr indent="0" marL="0">
              <a:lnSpc>
                <a:spcPts val="1600"/>
              </a:lnSpc>
              <a:buNone/>
            </a:pPr>
            <a:r>
              <a:rPr lang="en-US" sz="1200" dirty="0">
                <a:solidFill>
                  <a:srgbClr val="14282B"/>
                </a:solidFill>
                <a:latin typeface="Arial" pitchFamily="34" charset="0"/>
                <a:ea typeface="Arial" pitchFamily="34" charset="-122"/>
                <a:cs typeface="Arial" pitchFamily="34" charset="-120"/>
              </a:rPr>
              <a:t>The egret eats the mudskipper, so the energy ends up in the egret.</a:t>
            </a:r>
            <a:endParaRPr lang="en-US" sz="1200" dirty="0"/>
          </a:p>
        </p:txBody>
      </p:sp>
      <p:sp>
        <p:nvSpPr>
          <p:cNvPr id="34" name="footer_note"/>
          <p:cNvSpPr txBox="1"/>
          <p:nvPr/>
        </p:nvSpPr>
        <p:spPr>
          <a:xfrm>
            <a:off x="502920" y="6382512"/>
            <a:ext cx="11185855" cy="292608"/>
          </a:xfrm>
          <a:prstGeom prst="rect">
            <a:avLst/>
          </a:prstGeom>
          <a:noFill/>
          <a:ln/>
        </p:spPr>
        <p:txBody>
          <a:bodyPr wrap="square" lIns="0" tIns="0" rIns="0" bIns="0" rtlCol="0" anchor="ctr"/>
          <a:lstStyle/>
          <a:p>
            <a:pPr algn="l" indent="0" marL="0">
              <a:buNone/>
            </a:pPr>
            <a:r>
              <a:rPr lang="en-US" sz="1050" i="1" dirty="0">
                <a:solidFill>
                  <a:srgbClr val="4A6165"/>
                </a:solidFill>
                <a:latin typeface="Arial" pitchFamily="34" charset="0"/>
                <a:ea typeface="Arial" pitchFamily="34" charset="-122"/>
                <a:cs typeface="Arial" pitchFamily="34" charset="-120"/>
              </a:rPr>
              <a:t>Every arrow on this slide is drawn pointing right. That is the trap — read the words, not the picture.</a:t>
            </a:r>
            <a:endParaRPr lang="en-US" sz="10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grpId="0" nodeType="clickEffect">
                                  <p:stCondLst>
                                    <p:cond delay="0"/>
                                  </p:stCondLst>
                                  <p:childTnLst>
                                    <p:set>
                                      <p:cBhvr>
                                        <p:cTn id="3" dur="1" fill="hold">
                                          <p:stCondLst>
                                            <p:cond delay="0"/>
                                          </p:stCondLst>
                                        </p:cTn>
                                        <p:tgtEl>
                                          <p:spTgt spid="35"/>
                                        </p:tgtEl>
                                        <p:attrNameLst>
                                          <p:attrName>style.visibility</p:attrName>
                                        </p:attrNameLst>
                                      </p:cBhvr>
                                      <p:to>
                                        <p:strVal val="visible"/>
                                      </p:to>
                                    </p:set>
                                    <p:animEffect transition="in" filter="fade">
                                      <p:cBhvr>
                                        <p:cTn id="4" dur="500"/>
                                        <p:tgtEl>
                                          <p:spTgt spid="35"/>
                                        </p:tgtEl>
                                      </p:cBhvr>
                                    </p:animEffect>
                                  </p:childTnLst>
                                </p:cTn>
                              </p:par>
                            </p:childTnLst>
                          </p:cTn>
                        </p:par>
                      </p:childTnLst>
                    </p:cTn>
                  </p:par>
                  <p:par>
                    <p:cTn id="15" fill="hold">
                      <p:stCondLst>
                        <p:cond delay="indefinite"/>
                      </p:stCondLst>
                      <p:childTnLst>
                        <p:par>
                          <p:cTn id="16" fill="hold">
                            <p:stCondLst>
                              <p:cond delay="0"/>
                            </p:stCondLst>
                            <p:childTnLst>
                              <p:par>
                                <p:cTn id="11" presetID="23" presetClass="entr" presetSubtype="16" fill="hold" grpId="0" nodeType="clickEffect">
                                  <p:stCondLst>
                                    <p:cond delay="0"/>
                                  </p:stCondLst>
                                  <p:childTnLst>
                                    <p:set>
                                      <p:cBhvr>
                                        <p:cTn id="8" dur="1" fill="hold">
                                          <p:stCondLst>
                                            <p:cond delay="0"/>
                                          </p:stCondLst>
                                        </p:cTn>
                                        <p:tgtEl>
                                          <p:spTgt spid="11"/>
                                        </p:tgtEl>
                                        <p:attrNameLst>
                                          <p:attrName>style.visibility</p:attrName>
                                        </p:attrNameLst>
                                      </p:cBhvr>
                                      <p:to>
                                        <p:strVal val="visible"/>
                                      </p:to>
                                    </p:set>
                                    <p:animEffect transition="in" filter="fade">
                                      <p:cBhvr>
                                        <p:cTn id="9" dur="500"/>
                                        <p:tgtEl>
                                          <p:spTgt spid="11"/>
                                        </p:tgtEl>
                                      </p:cBhvr>
                                    </p:animEffect>
                                    <p:animScale>
                                      <p:cBhvr>
                                        <p:cTn id="10" dur="500" fill="hold"/>
                                        <p:tgtEl>
                                          <p:spTgt spid="11"/>
                                        </p:tgtEl>
                                      </p:cBhvr>
                                      <p:from x="0" y="0"/>
                                      <p:to x="100000" y="100000"/>
                                    </p:animScale>
                                  </p:childTnLst>
                                </p:cTn>
                              </p:par>
                              <p:par>
                                <p:cTn id="14" presetID="10" presetClass="entr" presetSubtype="0" fill="hold" grpId="0" nodeType="withEffect">
                                  <p:stCondLst>
                                    <p:cond delay="20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500"/>
                                        <p:tgtEl>
                                          <p:spTgt spid="12"/>
                                        </p:tgtEl>
                                      </p:cBhvr>
                                    </p:animEffect>
                                  </p:childTnLst>
                                </p:cTn>
                              </p:par>
                            </p:childTnLst>
                          </p:cTn>
                        </p:par>
                      </p:childTnLst>
                    </p:cTn>
                  </p:par>
                  <p:par>
                    <p:cTn id="20" fill="hold">
                      <p:stCondLst>
                        <p:cond delay="indefinite"/>
                      </p:stCondLst>
                      <p:childTnLst>
                        <p:par>
                          <p:cTn id="21" fill="hold">
                            <p:stCondLst>
                              <p:cond delay="0"/>
                            </p:stCondLst>
                            <p:childTnLst>
                              <p:par>
                                <p:cTn id="19" presetID="10" presetClass="entr" presetSubtype="0" fill="hold" grpId="0" nodeType="clickEffect">
                                  <p:stCondLst>
                                    <p:cond delay="0"/>
                                  </p:stCondLst>
                                  <p:childTnLst>
                                    <p:set>
                                      <p:cBhvr>
                                        <p:cTn id="17" dur="1" fill="hold">
                                          <p:stCondLst>
                                            <p:cond delay="0"/>
                                          </p:stCondLst>
                                        </p:cTn>
                                        <p:tgtEl>
                                          <p:spTgt spid="36"/>
                                        </p:tgtEl>
                                        <p:attrNameLst>
                                          <p:attrName>style.visibility</p:attrName>
                                        </p:attrNameLst>
                                      </p:cBhvr>
                                      <p:to>
                                        <p:strVal val="visible"/>
                                      </p:to>
                                    </p:set>
                                    <p:animEffect transition="in" filter="fade">
                                      <p:cBhvr>
                                        <p:cTn id="18" dur="500"/>
                                        <p:tgtEl>
                                          <p:spTgt spid="36"/>
                                        </p:tgtEl>
                                      </p:cBhvr>
                                    </p:animEffect>
                                  </p:childTnLst>
                                </p:cTn>
                              </p:par>
                            </p:childTnLst>
                          </p:cTn>
                        </p:par>
                      </p:childTnLst>
                    </p:cTn>
                  </p:par>
                  <p:par>
                    <p:cTn id="29" fill="hold">
                      <p:stCondLst>
                        <p:cond delay="indefinite"/>
                      </p:stCondLst>
                      <p:childTnLst>
                        <p:par>
                          <p:cTn id="30" fill="hold">
                            <p:stCondLst>
                              <p:cond delay="0"/>
                            </p:stCondLst>
                            <p:childTnLst>
                              <p:par>
                                <p:cTn id="25" presetID="23" presetClass="entr" presetSubtype="16"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animEffect transition="in" filter="fade">
                                      <p:cBhvr>
                                        <p:cTn id="23" dur="500"/>
                                        <p:tgtEl>
                                          <p:spTgt spid="18"/>
                                        </p:tgtEl>
                                      </p:cBhvr>
                                    </p:animEffect>
                                    <p:animScale>
                                      <p:cBhvr>
                                        <p:cTn id="24" dur="500" fill="hold"/>
                                        <p:tgtEl>
                                          <p:spTgt spid="18"/>
                                        </p:tgtEl>
                                      </p:cBhvr>
                                      <p:from x="0" y="0"/>
                                      <p:to x="100000" y="100000"/>
                                    </p:animScale>
                                  </p:childTnLst>
                                </p:cTn>
                              </p:par>
                              <p:par>
                                <p:cTn id="28" presetID="10" presetClass="entr" presetSubtype="0" fill="hold" grpId="0" nodeType="withEffect">
                                  <p:stCondLst>
                                    <p:cond delay="200"/>
                                  </p:stCondLst>
                                  <p:childTnLst>
                                    <p:set>
                                      <p:cBhvr>
                                        <p:cTn id="26" dur="1" fill="hold">
                                          <p:stCondLst>
                                            <p:cond delay="0"/>
                                          </p:stCondLst>
                                        </p:cTn>
                                        <p:tgtEl>
                                          <p:spTgt spid="19"/>
                                        </p:tgtEl>
                                        <p:attrNameLst>
                                          <p:attrName>style.visibility</p:attrName>
                                        </p:attrNameLst>
                                      </p:cBhvr>
                                      <p:to>
                                        <p:strVal val="visible"/>
                                      </p:to>
                                    </p:set>
                                    <p:animEffect transition="in" filter="fade">
                                      <p:cBhvr>
                                        <p:cTn id="27"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3" presetID="10" presetClass="entr" presetSubtype="0" fill="hold" grpId="0" nodeType="clickEffect">
                                  <p:stCondLst>
                                    <p:cond delay="0"/>
                                  </p:stCondLst>
                                  <p:childTnLst>
                                    <p:set>
                                      <p:cBhvr>
                                        <p:cTn id="31" dur="1" fill="hold">
                                          <p:stCondLst>
                                            <p:cond delay="0"/>
                                          </p:stCondLst>
                                        </p:cTn>
                                        <p:tgtEl>
                                          <p:spTgt spid="37"/>
                                        </p:tgtEl>
                                        <p:attrNameLst>
                                          <p:attrName>style.visibility</p:attrName>
                                        </p:attrNameLst>
                                      </p:cBhvr>
                                      <p:to>
                                        <p:strVal val="visible"/>
                                      </p:to>
                                    </p:set>
                                    <p:animEffect transition="in" filter="fade">
                                      <p:cBhvr>
                                        <p:cTn id="32" dur="500"/>
                                        <p:tgtEl>
                                          <p:spTgt spid="37"/>
                                        </p:tgtEl>
                                      </p:cBhvr>
                                    </p:animEffect>
                                  </p:childTnLst>
                                </p:cTn>
                              </p:par>
                            </p:childTnLst>
                          </p:cTn>
                        </p:par>
                      </p:childTnLst>
                    </p:cTn>
                  </p:par>
                  <p:par>
                    <p:cTn id="43" fill="hold">
                      <p:stCondLst>
                        <p:cond delay="indefinite"/>
                      </p:stCondLst>
                      <p:childTnLst>
                        <p:par>
                          <p:cTn id="44" fill="hold">
                            <p:stCondLst>
                              <p:cond delay="0"/>
                            </p:stCondLst>
                            <p:childTnLst>
                              <p:par>
                                <p:cTn id="39" presetID="23" presetClass="entr" presetSubtype="16" fill="hold" grpId="0" nodeType="click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fade">
                                      <p:cBhvr>
                                        <p:cTn id="37" dur="500"/>
                                        <p:tgtEl>
                                          <p:spTgt spid="25"/>
                                        </p:tgtEl>
                                      </p:cBhvr>
                                    </p:animEffect>
                                    <p:animScale>
                                      <p:cBhvr>
                                        <p:cTn id="38" dur="500" fill="hold"/>
                                        <p:tgtEl>
                                          <p:spTgt spid="25"/>
                                        </p:tgtEl>
                                      </p:cBhvr>
                                      <p:from x="0" y="0"/>
                                      <p:to x="100000" y="100000"/>
                                    </p:animScale>
                                  </p:childTnLst>
                                </p:cTn>
                              </p:par>
                              <p:par>
                                <p:cTn id="42" presetID="10" presetClass="entr" presetSubtype="0" fill="hold" grpId="0" nodeType="withEffect">
                                  <p:stCondLst>
                                    <p:cond delay="200"/>
                                  </p:stCondLst>
                                  <p:childTnLst>
                                    <p:set>
                                      <p:cBhvr>
                                        <p:cTn id="40" dur="1" fill="hold">
                                          <p:stCondLst>
                                            <p:cond delay="0"/>
                                          </p:stCondLst>
                                        </p:cTn>
                                        <p:tgtEl>
                                          <p:spTgt spid="26"/>
                                        </p:tgtEl>
                                        <p:attrNameLst>
                                          <p:attrName>style.visibility</p:attrName>
                                        </p:attrNameLst>
                                      </p:cBhvr>
                                      <p:to>
                                        <p:strVal val="visible"/>
                                      </p:to>
                                    </p:set>
                                    <p:animEffect transition="in" filter="fade">
                                      <p:cBhvr>
                                        <p:cTn id="41" dur="500"/>
                                        <p:tgtEl>
                                          <p:spTgt spid="26"/>
                                        </p:tgtEl>
                                      </p:cBhvr>
                                    </p:animEffect>
                                  </p:childTnLst>
                                </p:cTn>
                              </p:par>
                            </p:childTnLst>
                          </p:cTn>
                        </p:par>
                      </p:childTnLst>
                    </p:cTn>
                  </p:par>
                  <p:par>
                    <p:cTn id="48" fill="hold">
                      <p:stCondLst>
                        <p:cond delay="indefinite"/>
                      </p:stCondLst>
                      <p:childTnLst>
                        <p:par>
                          <p:cTn id="49" fill="hold">
                            <p:stCondLst>
                              <p:cond delay="0"/>
                            </p:stCondLst>
                            <p:childTnLst>
                              <p:par>
                                <p:cTn id="47" presetID="10" presetClass="entr" presetSubtype="0" fill="hold" grpId="0" nodeType="clickEffect">
                                  <p:stCondLst>
                                    <p:cond delay="0"/>
                                  </p:stCondLst>
                                  <p:childTnLst>
                                    <p:set>
                                      <p:cBhvr>
                                        <p:cTn id="45" dur="1" fill="hold">
                                          <p:stCondLst>
                                            <p:cond delay="0"/>
                                          </p:stCondLst>
                                        </p:cTn>
                                        <p:tgtEl>
                                          <p:spTgt spid="38"/>
                                        </p:tgtEl>
                                        <p:attrNameLst>
                                          <p:attrName>style.visibility</p:attrName>
                                        </p:attrNameLst>
                                      </p:cBhvr>
                                      <p:to>
                                        <p:strVal val="visible"/>
                                      </p:to>
                                    </p:set>
                                    <p:animEffect transition="in" filter="fade">
                                      <p:cBhvr>
                                        <p:cTn id="46" dur="500"/>
                                        <p:tgtEl>
                                          <p:spTgt spid="38"/>
                                        </p:tgtEl>
                                      </p:cBhvr>
                                    </p:animEffect>
                                  </p:childTnLst>
                                </p:cTn>
                              </p:par>
                            </p:childTnLst>
                          </p:cTn>
                        </p:par>
                      </p:childTnLst>
                    </p:cTn>
                  </p:par>
                  <p:par>
                    <p:cTn id="57" fill="hold">
                      <p:stCondLst>
                        <p:cond delay="indefinite"/>
                      </p:stCondLst>
                      <p:childTnLst>
                        <p:par>
                          <p:cTn id="58" fill="hold">
                            <p:stCondLst>
                              <p:cond delay="0"/>
                            </p:stCondLst>
                            <p:childTnLst>
                              <p:par>
                                <p:cTn id="53" presetID="23" presetClass="entr" presetSubtype="16" fill="hold" grpId="0" nodeType="clickEffect">
                                  <p:stCondLst>
                                    <p:cond delay="0"/>
                                  </p:stCondLst>
                                  <p:childTnLst>
                                    <p:set>
                                      <p:cBhvr>
                                        <p:cTn id="50" dur="1" fill="hold">
                                          <p:stCondLst>
                                            <p:cond delay="0"/>
                                          </p:stCondLst>
                                        </p:cTn>
                                        <p:tgtEl>
                                          <p:spTgt spid="32"/>
                                        </p:tgtEl>
                                        <p:attrNameLst>
                                          <p:attrName>style.visibility</p:attrName>
                                        </p:attrNameLst>
                                      </p:cBhvr>
                                      <p:to>
                                        <p:strVal val="visible"/>
                                      </p:to>
                                    </p:set>
                                    <p:animEffect transition="in" filter="fade">
                                      <p:cBhvr>
                                        <p:cTn id="51" dur="500"/>
                                        <p:tgtEl>
                                          <p:spTgt spid="32"/>
                                        </p:tgtEl>
                                      </p:cBhvr>
                                    </p:animEffect>
                                    <p:animScale>
                                      <p:cBhvr>
                                        <p:cTn id="52" dur="500" fill="hold"/>
                                        <p:tgtEl>
                                          <p:spTgt spid="32"/>
                                        </p:tgtEl>
                                      </p:cBhvr>
                                      <p:from x="0" y="0"/>
                                      <p:to x="100000" y="100000"/>
                                    </p:animScale>
                                  </p:childTnLst>
                                </p:cTn>
                              </p:par>
                              <p:par>
                                <p:cTn id="56" presetID="10" presetClass="entr" presetSubtype="0" fill="hold" grpId="0" nodeType="withEffect">
                                  <p:stCondLst>
                                    <p:cond delay="200"/>
                                  </p:stCondLst>
                                  <p:childTnLst>
                                    <p:set>
                                      <p:cBhvr>
                                        <p:cTn id="54" dur="1" fill="hold">
                                          <p:stCondLst>
                                            <p:cond delay="0"/>
                                          </p:stCondLst>
                                        </p:cTn>
                                        <p:tgtEl>
                                          <p:spTgt spid="33"/>
                                        </p:tgtEl>
                                        <p:attrNameLst>
                                          <p:attrName>style.visibility</p:attrName>
                                        </p:attrNameLst>
                                      </p:cBhvr>
                                      <p:to>
                                        <p:strVal val="visible"/>
                                      </p:to>
                                    </p:set>
                                    <p:animEffect transition="in" filter="fade">
                                      <p:cBhvr>
                                        <p:cTn id="55"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4E6"/>
        </a:solidFill>
      </p:bgPr>
    </p:bg>
    <p:spTree>
      <p:nvGrpSpPr>
        <p:cNvPr id="1" name=""/>
        <p:cNvGrpSpPr/>
        <p:nvPr/>
      </p:nvGrpSpPr>
      <p:grpSpPr>
        <a:xfrm>
          <a:off x="0" y="0"/>
          <a:ext cx="0" cy="0"/>
          <a:chOff x="0" y="0"/>
          <a:chExt cx="0" cy="0"/>
        </a:xfrm>
      </p:grpSpPr>
      <p:sp>
        <p:nvSpPr>
          <p:cNvPr id="2" name="phase_pill"/>
          <p:cNvSpPr/>
          <p:nvPr/>
        </p:nvSpPr>
        <p:spPr>
          <a:xfrm>
            <a:off x="502920" y="274320"/>
            <a:ext cx="2139696" cy="347472"/>
          </a:xfrm>
          <a:prstGeom prst="roundRect">
            <a:avLst>
              <a:gd name="adj" fmla="val 50000"/>
            </a:avLst>
          </a:prstGeom>
          <a:solidFill>
            <a:srgbClr val="0E3A3F"/>
          </a:solidFill>
          <a:ln/>
        </p:spPr>
        <p:txBody>
          <a:bodyPr wrap="square" lIns="0" tIns="0" rIns="0" bIns="0" rtlCol="0" anchor="ctr"/>
          <a:lstStyle/>
          <a:p>
            <a:pPr algn="ctr" indent="0" marL="0">
              <a:buNone/>
            </a:pPr>
            <a:r>
              <a:rPr lang="en-US" sz="1100" b="1" spc="110" kern="0" dirty="0">
                <a:solidFill>
                  <a:srgbClr val="FAF4E6"/>
                </a:solidFill>
                <a:latin typeface="Arial" pitchFamily="34" charset="0"/>
                <a:ea typeface="Arial" pitchFamily="34" charset="-122"/>
                <a:cs typeface="Arial" pitchFamily="34" charset="-120"/>
              </a:rPr>
              <a:t>I DO · 4 MIN</a:t>
            </a:r>
            <a:endParaRPr lang="en-US" sz="1100" dirty="0"/>
          </a:p>
        </p:txBody>
      </p:sp>
      <p:sp>
        <p:nvSpPr>
          <p:cNvPr id="3" name="keyword_strip"/>
          <p:cNvSpPr txBox="1"/>
          <p:nvPr/>
        </p:nvSpPr>
        <p:spPr>
          <a:xfrm>
            <a:off x="5836615" y="274320"/>
            <a:ext cx="5852160" cy="347472"/>
          </a:xfrm>
          <a:prstGeom prst="rect">
            <a:avLst/>
          </a:prstGeom>
          <a:noFill/>
          <a:ln/>
        </p:spPr>
        <p:txBody>
          <a:bodyPr wrap="square" lIns="0" tIns="0" rIns="0" bIns="0" rtlCol="0" anchor="ctr"/>
          <a:lstStyle/>
          <a:p>
            <a:pPr algn="r" indent="0" marL="0">
              <a:buNone/>
            </a:pPr>
            <a:r>
              <a:rPr lang="en-US" sz="1150" b="1" i="1" dirty="0">
                <a:solidFill>
                  <a:srgbClr val="2E9E6B"/>
                </a:solidFill>
                <a:latin typeface="Arial" pitchFamily="34" charset="0"/>
                <a:ea typeface="Arial" pitchFamily="34" charset="-122"/>
                <a:cs typeface="Arial" pitchFamily="34" charset="-120"/>
              </a:rPr>
              <a:t>herbivore   ·   carnivore   ·   omnivore   ·   scavenger   ·   grazer</a:t>
            </a:r>
            <a:endParaRPr lang="en-US" sz="1150" dirty="0"/>
          </a:p>
        </p:txBody>
      </p:sp>
      <p:sp>
        <p:nvSpPr>
          <p:cNvPr id="4" name="slide_title"/>
          <p:cNvSpPr txBox="1"/>
          <p:nvPr/>
        </p:nvSpPr>
        <p:spPr>
          <a:xfrm>
            <a:off x="502920" y="914400"/>
            <a:ext cx="11185855" cy="658368"/>
          </a:xfrm>
          <a:prstGeom prst="rect">
            <a:avLst/>
          </a:prstGeom>
          <a:noFill/>
          <a:ln/>
        </p:spPr>
        <p:txBody>
          <a:bodyPr wrap="square" lIns="0" tIns="0" rIns="0" bIns="0" rtlCol="0" anchor="ctr"/>
          <a:lstStyle/>
          <a:p>
            <a:pPr algn="l" indent="0" marL="0">
              <a:buNone/>
            </a:pPr>
            <a:r>
              <a:rPr lang="en-US" sz="3000" b="1" dirty="0">
                <a:solidFill>
                  <a:srgbClr val="0E3A3F"/>
                </a:solidFill>
                <a:latin typeface="Georgia" pitchFamily="34" charset="0"/>
                <a:ea typeface="Georgia" pitchFamily="34" charset="-122"/>
                <a:cs typeface="Georgia" pitchFamily="34" charset="-120"/>
              </a:rPr>
              <a:t>Not all consumers make a living the same way</a:t>
            </a:r>
            <a:endParaRPr lang="en-US" sz="3000" dirty="0"/>
          </a:p>
        </p:txBody>
      </p:sp>
      <p:grpSp>
        <p:nvGrpSpPr>
          <p:cNvPr id="29" name="kc0"/>
          <p:cNvGrpSpPr/>
          <p:nvPr/>
        </p:nvGrpSpPr>
        <p:grpSpPr>
          <a:xfrm>
            <a:off x="502920" y="2084832"/>
            <a:ext cx="2076237" cy="1874520"/>
            <a:chOff x="502920" y="2084832"/>
            <a:chExt cx="2076237" cy="1874520"/>
          </a:xfrm>
        </p:grpSpPr>
        <p:sp>
          <p:nvSpPr>
            <p:cNvPr id="5" name="kc0_bg"/>
            <p:cNvSpPr/>
            <p:nvPr/>
          </p:nvSpPr>
          <p:spPr>
            <a:xfrm>
              <a:off x="502920" y="2084832"/>
              <a:ext cx="2076237" cy="1874520"/>
            </a:xfrm>
            <a:prstGeom prst="roundRect">
              <a:avLst>
                <a:gd name="adj" fmla="val 6829"/>
              </a:avLst>
            </a:prstGeom>
            <a:solidFill>
              <a:srgbClr val="FFFFFF"/>
            </a:solidFill>
            <a:ln w="15875">
              <a:solidFill>
                <a:srgbClr val="F0E4C8"/>
              </a:solidFill>
              <a:prstDash val="solid"/>
            </a:ln>
          </p:spPr>
        </p:sp>
        <p:sp>
          <p:nvSpPr>
            <p:cNvPr id="6" name="kc0_h"/>
            <p:cNvSpPr txBox="1"/>
            <p:nvPr/>
          </p:nvSpPr>
          <p:spPr>
            <a:xfrm>
              <a:off x="630936" y="2212848"/>
              <a:ext cx="1820205" cy="274320"/>
            </a:xfrm>
            <a:prstGeom prst="rect">
              <a:avLst/>
            </a:prstGeom>
            <a:noFill/>
            <a:ln/>
          </p:spPr>
          <p:txBody>
            <a:bodyPr wrap="square" lIns="0" tIns="0" rIns="0" bIns="0" rtlCol="0" anchor="ctr"/>
            <a:lstStyle/>
            <a:p>
              <a:pPr indent="0" marL="0">
                <a:buNone/>
              </a:pPr>
              <a:r>
                <a:rPr lang="en-US" sz="1200" b="1" spc="80" kern="0" dirty="0">
                  <a:solidFill>
                    <a:srgbClr val="0E3A3F"/>
                  </a:solidFill>
                  <a:latin typeface="Arial" pitchFamily="34" charset="0"/>
                  <a:ea typeface="Arial" pitchFamily="34" charset="-122"/>
                  <a:cs typeface="Arial" pitchFamily="34" charset="-120"/>
                </a:rPr>
                <a:t>HERBIVORE</a:t>
              </a:r>
              <a:endParaRPr lang="en-US" sz="1200" dirty="0"/>
            </a:p>
          </p:txBody>
        </p:sp>
        <p:sp>
          <p:nvSpPr>
            <p:cNvPr id="7" name="kc0_d"/>
            <p:cNvSpPr txBox="1"/>
            <p:nvPr/>
          </p:nvSpPr>
          <p:spPr>
            <a:xfrm>
              <a:off x="630936" y="2505456"/>
              <a:ext cx="1820205" cy="274320"/>
            </a:xfrm>
            <a:prstGeom prst="rect">
              <a:avLst/>
            </a:prstGeom>
            <a:noFill/>
            <a:ln/>
          </p:spPr>
          <p:txBody>
            <a:bodyPr wrap="square" lIns="0" tIns="0" rIns="0" bIns="0" rtlCol="0" anchor="ctr"/>
            <a:lstStyle/>
            <a:p>
              <a:pPr indent="0" marL="0">
                <a:buNone/>
              </a:pPr>
              <a:r>
                <a:rPr lang="en-US" sz="1150" b="1" dirty="0">
                  <a:solidFill>
                    <a:srgbClr val="F5B301"/>
                  </a:solidFill>
                  <a:latin typeface="Arial" pitchFamily="34" charset="0"/>
                  <a:ea typeface="Arial" pitchFamily="34" charset="-122"/>
                  <a:cs typeface="Arial" pitchFamily="34" charset="-120"/>
                </a:rPr>
                <a:t>eats only plants</a:t>
              </a:r>
              <a:endParaRPr lang="en-US" sz="1150" dirty="0"/>
            </a:p>
          </p:txBody>
        </p:sp>
        <p:sp>
          <p:nvSpPr>
            <p:cNvPr id="8" name="kc0_e"/>
            <p:cNvSpPr txBox="1"/>
            <p:nvPr/>
          </p:nvSpPr>
          <p:spPr>
            <a:xfrm>
              <a:off x="630936" y="2816352"/>
              <a:ext cx="1820205" cy="777240"/>
            </a:xfrm>
            <a:prstGeom prst="rect">
              <a:avLst/>
            </a:prstGeom>
            <a:noFill/>
            <a:ln/>
          </p:spPr>
          <p:txBody>
            <a:bodyPr wrap="square" lIns="0" tIns="0" rIns="0" bIns="0" rtlCol="0" anchor="t"/>
            <a:lstStyle/>
            <a:p>
              <a:pPr indent="0" marL="0">
                <a:lnSpc>
                  <a:spcPts val="1400"/>
                </a:lnSpc>
                <a:buNone/>
              </a:pPr>
              <a:r>
                <a:rPr lang="en-US" sz="1050" dirty="0">
                  <a:solidFill>
                    <a:srgbClr val="4A6165"/>
                  </a:solidFill>
                  <a:latin typeface="Arial" pitchFamily="34" charset="0"/>
                  <a:ea typeface="Arial" pitchFamily="34" charset="-122"/>
                  <a:cs typeface="Arial" pitchFamily="34" charset="-120"/>
                </a:rPr>
                <a:t>ปูแสม sesarmid crab, eating fallen mangrove leaves.</a:t>
              </a:r>
              <a:endParaRPr lang="en-US" sz="1050" dirty="0"/>
            </a:p>
          </p:txBody>
        </p:sp>
      </p:grpSp>
      <p:grpSp>
        <p:nvGrpSpPr>
          <p:cNvPr id="30" name="kc1"/>
          <p:cNvGrpSpPr/>
          <p:nvPr/>
        </p:nvGrpSpPr>
        <p:grpSpPr>
          <a:xfrm>
            <a:off x="2780325" y="2084832"/>
            <a:ext cx="2076237" cy="1874520"/>
            <a:chOff x="2780325" y="2084832"/>
            <a:chExt cx="2076237" cy="1874520"/>
          </a:xfrm>
        </p:grpSpPr>
        <p:sp>
          <p:nvSpPr>
            <p:cNvPr id="9" name="kc1_bg"/>
            <p:cNvSpPr/>
            <p:nvPr/>
          </p:nvSpPr>
          <p:spPr>
            <a:xfrm>
              <a:off x="2780325" y="2084832"/>
              <a:ext cx="2076237" cy="1874520"/>
            </a:xfrm>
            <a:prstGeom prst="roundRect">
              <a:avLst>
                <a:gd name="adj" fmla="val 6829"/>
              </a:avLst>
            </a:prstGeom>
            <a:solidFill>
              <a:srgbClr val="FFFFFF"/>
            </a:solidFill>
            <a:ln w="15875">
              <a:solidFill>
                <a:srgbClr val="F0E4C8"/>
              </a:solidFill>
              <a:prstDash val="solid"/>
            </a:ln>
          </p:spPr>
        </p:sp>
        <p:sp>
          <p:nvSpPr>
            <p:cNvPr id="10" name="kc1_h"/>
            <p:cNvSpPr txBox="1"/>
            <p:nvPr/>
          </p:nvSpPr>
          <p:spPr>
            <a:xfrm>
              <a:off x="2908341" y="2212848"/>
              <a:ext cx="1820205" cy="274320"/>
            </a:xfrm>
            <a:prstGeom prst="rect">
              <a:avLst/>
            </a:prstGeom>
            <a:noFill/>
            <a:ln/>
          </p:spPr>
          <p:txBody>
            <a:bodyPr wrap="square" lIns="0" tIns="0" rIns="0" bIns="0" rtlCol="0" anchor="ctr"/>
            <a:lstStyle/>
            <a:p>
              <a:pPr indent="0" marL="0">
                <a:buNone/>
              </a:pPr>
              <a:r>
                <a:rPr lang="en-US" sz="1200" b="1" spc="80" kern="0" dirty="0">
                  <a:solidFill>
                    <a:srgbClr val="0E3A3F"/>
                  </a:solidFill>
                  <a:latin typeface="Arial" pitchFamily="34" charset="0"/>
                  <a:ea typeface="Arial" pitchFamily="34" charset="-122"/>
                  <a:cs typeface="Arial" pitchFamily="34" charset="-120"/>
                </a:rPr>
                <a:t>CARNIVORE</a:t>
              </a:r>
              <a:endParaRPr lang="en-US" sz="1200" dirty="0"/>
            </a:p>
          </p:txBody>
        </p:sp>
        <p:sp>
          <p:nvSpPr>
            <p:cNvPr id="11" name="kc1_d"/>
            <p:cNvSpPr txBox="1"/>
            <p:nvPr/>
          </p:nvSpPr>
          <p:spPr>
            <a:xfrm>
              <a:off x="2908341" y="2505456"/>
              <a:ext cx="1820205" cy="274320"/>
            </a:xfrm>
            <a:prstGeom prst="rect">
              <a:avLst/>
            </a:prstGeom>
            <a:noFill/>
            <a:ln/>
          </p:spPr>
          <p:txBody>
            <a:bodyPr wrap="square" lIns="0" tIns="0" rIns="0" bIns="0" rtlCol="0" anchor="ctr"/>
            <a:lstStyle/>
            <a:p>
              <a:pPr indent="0" marL="0">
                <a:buNone/>
              </a:pPr>
              <a:r>
                <a:rPr lang="en-US" sz="1150" b="1" dirty="0">
                  <a:solidFill>
                    <a:srgbClr val="F5B301"/>
                  </a:solidFill>
                  <a:latin typeface="Arial" pitchFamily="34" charset="0"/>
                  <a:ea typeface="Arial" pitchFamily="34" charset="-122"/>
                  <a:cs typeface="Arial" pitchFamily="34" charset="-120"/>
                </a:rPr>
                <a:t>eats only animals</a:t>
              </a:r>
              <a:endParaRPr lang="en-US" sz="1150" dirty="0"/>
            </a:p>
          </p:txBody>
        </p:sp>
        <p:sp>
          <p:nvSpPr>
            <p:cNvPr id="12" name="kc1_e"/>
            <p:cNvSpPr txBox="1"/>
            <p:nvPr/>
          </p:nvSpPr>
          <p:spPr>
            <a:xfrm>
              <a:off x="2908341" y="2816352"/>
              <a:ext cx="1820205" cy="777240"/>
            </a:xfrm>
            <a:prstGeom prst="rect">
              <a:avLst/>
            </a:prstGeom>
            <a:noFill/>
            <a:ln/>
          </p:spPr>
          <p:txBody>
            <a:bodyPr wrap="square" lIns="0" tIns="0" rIns="0" bIns="0" rtlCol="0" anchor="t"/>
            <a:lstStyle/>
            <a:p>
              <a:pPr indent="0" marL="0">
                <a:lnSpc>
                  <a:spcPts val="1400"/>
                </a:lnSpc>
                <a:buNone/>
              </a:pPr>
              <a:r>
                <a:rPr lang="en-US" sz="1050" dirty="0">
                  <a:solidFill>
                    <a:srgbClr val="4A6165"/>
                  </a:solidFill>
                  <a:latin typeface="Arial" pitchFamily="34" charset="0"/>
                  <a:ea typeface="Arial" pitchFamily="34" charset="-122"/>
                  <a:cs typeface="Arial" pitchFamily="34" charset="-120"/>
                </a:rPr>
                <a:t>Little egret, taking mudskippers off the mud.</a:t>
              </a:r>
              <a:endParaRPr lang="en-US" sz="1050" dirty="0"/>
            </a:p>
          </p:txBody>
        </p:sp>
      </p:grpSp>
      <p:grpSp>
        <p:nvGrpSpPr>
          <p:cNvPr id="31" name="kc2"/>
          <p:cNvGrpSpPr/>
          <p:nvPr/>
        </p:nvGrpSpPr>
        <p:grpSpPr>
          <a:xfrm>
            <a:off x="5057729" y="2084832"/>
            <a:ext cx="2076237" cy="1874520"/>
            <a:chOff x="5057729" y="2084832"/>
            <a:chExt cx="2076237" cy="1874520"/>
          </a:xfrm>
        </p:grpSpPr>
        <p:sp>
          <p:nvSpPr>
            <p:cNvPr id="13" name="kc2_bg"/>
            <p:cNvSpPr/>
            <p:nvPr/>
          </p:nvSpPr>
          <p:spPr>
            <a:xfrm>
              <a:off x="5057729" y="2084832"/>
              <a:ext cx="2076237" cy="1874520"/>
            </a:xfrm>
            <a:prstGeom prst="roundRect">
              <a:avLst>
                <a:gd name="adj" fmla="val 6829"/>
              </a:avLst>
            </a:prstGeom>
            <a:solidFill>
              <a:srgbClr val="FFFFFF"/>
            </a:solidFill>
            <a:ln w="15875">
              <a:solidFill>
                <a:srgbClr val="F0E4C8"/>
              </a:solidFill>
              <a:prstDash val="solid"/>
            </a:ln>
          </p:spPr>
        </p:sp>
        <p:sp>
          <p:nvSpPr>
            <p:cNvPr id="14" name="kc2_h"/>
            <p:cNvSpPr txBox="1"/>
            <p:nvPr/>
          </p:nvSpPr>
          <p:spPr>
            <a:xfrm>
              <a:off x="5185745" y="2212848"/>
              <a:ext cx="1820205" cy="274320"/>
            </a:xfrm>
            <a:prstGeom prst="rect">
              <a:avLst/>
            </a:prstGeom>
            <a:noFill/>
            <a:ln/>
          </p:spPr>
          <p:txBody>
            <a:bodyPr wrap="square" lIns="0" tIns="0" rIns="0" bIns="0" rtlCol="0" anchor="ctr"/>
            <a:lstStyle/>
            <a:p>
              <a:pPr indent="0" marL="0">
                <a:buNone/>
              </a:pPr>
              <a:r>
                <a:rPr lang="en-US" sz="1200" b="1" spc="80" kern="0" dirty="0">
                  <a:solidFill>
                    <a:srgbClr val="0E3A3F"/>
                  </a:solidFill>
                  <a:latin typeface="Arial" pitchFamily="34" charset="0"/>
                  <a:ea typeface="Arial" pitchFamily="34" charset="-122"/>
                  <a:cs typeface="Arial" pitchFamily="34" charset="-120"/>
                </a:rPr>
                <a:t>OMNIVORE</a:t>
              </a:r>
              <a:endParaRPr lang="en-US" sz="1200" dirty="0"/>
            </a:p>
          </p:txBody>
        </p:sp>
        <p:sp>
          <p:nvSpPr>
            <p:cNvPr id="15" name="kc2_d"/>
            <p:cNvSpPr txBox="1"/>
            <p:nvPr/>
          </p:nvSpPr>
          <p:spPr>
            <a:xfrm>
              <a:off x="5185745" y="2505456"/>
              <a:ext cx="1820205" cy="274320"/>
            </a:xfrm>
            <a:prstGeom prst="rect">
              <a:avLst/>
            </a:prstGeom>
            <a:noFill/>
            <a:ln/>
          </p:spPr>
          <p:txBody>
            <a:bodyPr wrap="square" lIns="0" tIns="0" rIns="0" bIns="0" rtlCol="0" anchor="ctr"/>
            <a:lstStyle/>
            <a:p>
              <a:pPr indent="0" marL="0">
                <a:buNone/>
              </a:pPr>
              <a:r>
                <a:rPr lang="en-US" sz="1150" b="1" dirty="0">
                  <a:solidFill>
                    <a:srgbClr val="F5B301"/>
                  </a:solidFill>
                  <a:latin typeface="Arial" pitchFamily="34" charset="0"/>
                  <a:ea typeface="Arial" pitchFamily="34" charset="-122"/>
                  <a:cs typeface="Arial" pitchFamily="34" charset="-120"/>
                </a:rPr>
                <a:t>eats both</a:t>
              </a:r>
              <a:endParaRPr lang="en-US" sz="1150" dirty="0"/>
            </a:p>
          </p:txBody>
        </p:sp>
        <p:sp>
          <p:nvSpPr>
            <p:cNvPr id="16" name="kc2_e"/>
            <p:cNvSpPr txBox="1"/>
            <p:nvPr/>
          </p:nvSpPr>
          <p:spPr>
            <a:xfrm>
              <a:off x="5185745" y="2816352"/>
              <a:ext cx="1820205" cy="777240"/>
            </a:xfrm>
            <a:prstGeom prst="rect">
              <a:avLst/>
            </a:prstGeom>
            <a:noFill/>
            <a:ln/>
          </p:spPr>
          <p:txBody>
            <a:bodyPr wrap="square" lIns="0" tIns="0" rIns="0" bIns="0" rtlCol="0" anchor="t"/>
            <a:lstStyle/>
            <a:p>
              <a:pPr indent="0" marL="0">
                <a:lnSpc>
                  <a:spcPts val="1400"/>
                </a:lnSpc>
                <a:buNone/>
              </a:pPr>
              <a:r>
                <a:rPr lang="en-US" sz="1050" dirty="0">
                  <a:solidFill>
                    <a:srgbClr val="4A6165"/>
                  </a:solidFill>
                  <a:latin typeface="Arial" pitchFamily="34" charset="0"/>
                  <a:ea typeface="Arial" pitchFamily="34" charset="-122"/>
                  <a:cs typeface="Arial" pitchFamily="34" charset="-120"/>
                </a:rPr>
                <a:t>Long-tailed macaque — crabs, shellfish and fruit.</a:t>
              </a:r>
              <a:endParaRPr lang="en-US" sz="1050" dirty="0"/>
            </a:p>
          </p:txBody>
        </p:sp>
      </p:grpSp>
      <p:grpSp>
        <p:nvGrpSpPr>
          <p:cNvPr id="32" name="kc3"/>
          <p:cNvGrpSpPr/>
          <p:nvPr/>
        </p:nvGrpSpPr>
        <p:grpSpPr>
          <a:xfrm>
            <a:off x="7335134" y="2084832"/>
            <a:ext cx="2076237" cy="1874520"/>
            <a:chOff x="7335134" y="2084832"/>
            <a:chExt cx="2076237" cy="1874520"/>
          </a:xfrm>
        </p:grpSpPr>
        <p:sp>
          <p:nvSpPr>
            <p:cNvPr id="17" name="kc3_bg"/>
            <p:cNvSpPr/>
            <p:nvPr/>
          </p:nvSpPr>
          <p:spPr>
            <a:xfrm>
              <a:off x="7335134" y="2084832"/>
              <a:ext cx="2076237" cy="1874520"/>
            </a:xfrm>
            <a:prstGeom prst="roundRect">
              <a:avLst>
                <a:gd name="adj" fmla="val 6829"/>
              </a:avLst>
            </a:prstGeom>
            <a:solidFill>
              <a:srgbClr val="FFFFFF"/>
            </a:solidFill>
            <a:ln w="15875">
              <a:solidFill>
                <a:srgbClr val="F0E4C8"/>
              </a:solidFill>
              <a:prstDash val="solid"/>
            </a:ln>
          </p:spPr>
        </p:sp>
        <p:sp>
          <p:nvSpPr>
            <p:cNvPr id="18" name="kc3_h"/>
            <p:cNvSpPr txBox="1"/>
            <p:nvPr/>
          </p:nvSpPr>
          <p:spPr>
            <a:xfrm>
              <a:off x="7463150" y="2212848"/>
              <a:ext cx="1820205" cy="274320"/>
            </a:xfrm>
            <a:prstGeom prst="rect">
              <a:avLst/>
            </a:prstGeom>
            <a:noFill/>
            <a:ln/>
          </p:spPr>
          <p:txBody>
            <a:bodyPr wrap="square" lIns="0" tIns="0" rIns="0" bIns="0" rtlCol="0" anchor="ctr"/>
            <a:lstStyle/>
            <a:p>
              <a:pPr indent="0" marL="0">
                <a:buNone/>
              </a:pPr>
              <a:r>
                <a:rPr lang="en-US" sz="1200" b="1" spc="80" kern="0" dirty="0">
                  <a:solidFill>
                    <a:srgbClr val="0E3A3F"/>
                  </a:solidFill>
                  <a:latin typeface="Arial" pitchFamily="34" charset="0"/>
                  <a:ea typeface="Arial" pitchFamily="34" charset="-122"/>
                  <a:cs typeface="Arial" pitchFamily="34" charset="-120"/>
                </a:rPr>
                <a:t>SCAVENGER</a:t>
              </a:r>
              <a:endParaRPr lang="en-US" sz="1200" dirty="0"/>
            </a:p>
          </p:txBody>
        </p:sp>
        <p:sp>
          <p:nvSpPr>
            <p:cNvPr id="19" name="kc3_d"/>
            <p:cNvSpPr txBox="1"/>
            <p:nvPr/>
          </p:nvSpPr>
          <p:spPr>
            <a:xfrm>
              <a:off x="7463150" y="2505456"/>
              <a:ext cx="1820205" cy="274320"/>
            </a:xfrm>
            <a:prstGeom prst="rect">
              <a:avLst/>
            </a:prstGeom>
            <a:noFill/>
            <a:ln/>
          </p:spPr>
          <p:txBody>
            <a:bodyPr wrap="square" lIns="0" tIns="0" rIns="0" bIns="0" rtlCol="0" anchor="ctr"/>
            <a:lstStyle/>
            <a:p>
              <a:pPr indent="0" marL="0">
                <a:buNone/>
              </a:pPr>
              <a:r>
                <a:rPr lang="en-US" sz="1150" b="1" dirty="0">
                  <a:solidFill>
                    <a:srgbClr val="F5B301"/>
                  </a:solidFill>
                  <a:latin typeface="Arial" pitchFamily="34" charset="0"/>
                  <a:ea typeface="Arial" pitchFamily="34" charset="-122"/>
                  <a:cs typeface="Arial" pitchFamily="34" charset="-120"/>
                </a:rPr>
                <a:t>eats things already dead</a:t>
              </a:r>
              <a:endParaRPr lang="en-US" sz="1150" dirty="0"/>
            </a:p>
          </p:txBody>
        </p:sp>
        <p:sp>
          <p:nvSpPr>
            <p:cNvPr id="20" name="kc3_e"/>
            <p:cNvSpPr txBox="1"/>
            <p:nvPr/>
          </p:nvSpPr>
          <p:spPr>
            <a:xfrm>
              <a:off x="7463150" y="2816352"/>
              <a:ext cx="1820205" cy="777240"/>
            </a:xfrm>
            <a:prstGeom prst="rect">
              <a:avLst/>
            </a:prstGeom>
            <a:noFill/>
            <a:ln/>
          </p:spPr>
          <p:txBody>
            <a:bodyPr wrap="square" lIns="0" tIns="0" rIns="0" bIns="0" rtlCol="0" anchor="t"/>
            <a:lstStyle/>
            <a:p>
              <a:pPr indent="0" marL="0">
                <a:lnSpc>
                  <a:spcPts val="1400"/>
                </a:lnSpc>
                <a:buNone/>
              </a:pPr>
              <a:r>
                <a:rPr lang="en-US" sz="1050" dirty="0">
                  <a:solidFill>
                    <a:srgbClr val="4A6165"/>
                  </a:solidFill>
                  <a:latin typeface="Arial" pitchFamily="34" charset="0"/>
                  <a:ea typeface="Arial" pitchFamily="34" charset="-122"/>
                  <a:cs typeface="Arial" pitchFamily="34" charset="-120"/>
                </a:rPr>
                <a:t>ปูดำ mud crab clearing a dead fish.</a:t>
              </a:r>
              <a:endParaRPr lang="en-US" sz="1050" dirty="0"/>
            </a:p>
          </p:txBody>
        </p:sp>
      </p:grpSp>
      <p:grpSp>
        <p:nvGrpSpPr>
          <p:cNvPr id="33" name="kc4"/>
          <p:cNvGrpSpPr/>
          <p:nvPr/>
        </p:nvGrpSpPr>
        <p:grpSpPr>
          <a:xfrm>
            <a:off x="9612539" y="2084832"/>
            <a:ext cx="2076237" cy="1874520"/>
            <a:chOff x="9612539" y="2084832"/>
            <a:chExt cx="2076237" cy="1874520"/>
          </a:xfrm>
        </p:grpSpPr>
        <p:sp>
          <p:nvSpPr>
            <p:cNvPr id="21" name="kc4_bg"/>
            <p:cNvSpPr/>
            <p:nvPr/>
          </p:nvSpPr>
          <p:spPr>
            <a:xfrm>
              <a:off x="9612539" y="2084832"/>
              <a:ext cx="2076237" cy="1874520"/>
            </a:xfrm>
            <a:prstGeom prst="roundRect">
              <a:avLst>
                <a:gd name="adj" fmla="val 6829"/>
              </a:avLst>
            </a:prstGeom>
            <a:solidFill>
              <a:srgbClr val="FFFFFF"/>
            </a:solidFill>
            <a:ln w="15875">
              <a:solidFill>
                <a:srgbClr val="F0E4C8"/>
              </a:solidFill>
              <a:prstDash val="solid"/>
            </a:ln>
          </p:spPr>
        </p:sp>
        <p:sp>
          <p:nvSpPr>
            <p:cNvPr id="22" name="kc4_h"/>
            <p:cNvSpPr txBox="1"/>
            <p:nvPr/>
          </p:nvSpPr>
          <p:spPr>
            <a:xfrm>
              <a:off x="9740555" y="2212848"/>
              <a:ext cx="1820205" cy="274320"/>
            </a:xfrm>
            <a:prstGeom prst="rect">
              <a:avLst/>
            </a:prstGeom>
            <a:noFill/>
            <a:ln/>
          </p:spPr>
          <p:txBody>
            <a:bodyPr wrap="square" lIns="0" tIns="0" rIns="0" bIns="0" rtlCol="0" anchor="ctr"/>
            <a:lstStyle/>
            <a:p>
              <a:pPr indent="0" marL="0">
                <a:buNone/>
              </a:pPr>
              <a:r>
                <a:rPr lang="en-US" sz="1200" b="1" spc="80" kern="0" dirty="0">
                  <a:solidFill>
                    <a:srgbClr val="0E3A3F"/>
                  </a:solidFill>
                  <a:latin typeface="Arial" pitchFamily="34" charset="0"/>
                  <a:ea typeface="Arial" pitchFamily="34" charset="-122"/>
                  <a:cs typeface="Arial" pitchFamily="34" charset="-120"/>
                </a:rPr>
                <a:t>GRAZER</a:t>
              </a:r>
              <a:endParaRPr lang="en-US" sz="1200" dirty="0"/>
            </a:p>
          </p:txBody>
        </p:sp>
        <p:sp>
          <p:nvSpPr>
            <p:cNvPr id="23" name="kc4_d"/>
            <p:cNvSpPr txBox="1"/>
            <p:nvPr/>
          </p:nvSpPr>
          <p:spPr>
            <a:xfrm>
              <a:off x="9740555" y="2505456"/>
              <a:ext cx="1820205" cy="274320"/>
            </a:xfrm>
            <a:prstGeom prst="rect">
              <a:avLst/>
            </a:prstGeom>
            <a:noFill/>
            <a:ln/>
          </p:spPr>
          <p:txBody>
            <a:bodyPr wrap="square" lIns="0" tIns="0" rIns="0" bIns="0" rtlCol="0" anchor="ctr"/>
            <a:lstStyle/>
            <a:p>
              <a:pPr indent="0" marL="0">
                <a:buNone/>
              </a:pPr>
              <a:r>
                <a:rPr lang="en-US" sz="1150" b="1" dirty="0">
                  <a:solidFill>
                    <a:srgbClr val="F5B301"/>
                  </a:solidFill>
                  <a:latin typeface="Arial" pitchFamily="34" charset="0"/>
                  <a:ea typeface="Arial" pitchFamily="34" charset="-122"/>
                  <a:cs typeface="Arial" pitchFamily="34" charset="-120"/>
                </a:rPr>
                <a:t>feeds without killing</a:t>
              </a:r>
              <a:endParaRPr lang="en-US" sz="1150" dirty="0"/>
            </a:p>
          </p:txBody>
        </p:sp>
        <p:sp>
          <p:nvSpPr>
            <p:cNvPr id="24" name="kc4_e"/>
            <p:cNvSpPr txBox="1"/>
            <p:nvPr/>
          </p:nvSpPr>
          <p:spPr>
            <a:xfrm>
              <a:off x="9740555" y="2816352"/>
              <a:ext cx="1820205" cy="777240"/>
            </a:xfrm>
            <a:prstGeom prst="rect">
              <a:avLst/>
            </a:prstGeom>
            <a:noFill/>
            <a:ln/>
          </p:spPr>
          <p:txBody>
            <a:bodyPr wrap="square" lIns="0" tIns="0" rIns="0" bIns="0" rtlCol="0" anchor="t"/>
            <a:lstStyle/>
            <a:p>
              <a:pPr indent="0" marL="0">
                <a:lnSpc>
                  <a:spcPts val="1400"/>
                </a:lnSpc>
                <a:buNone/>
              </a:pPr>
              <a:r>
                <a:rPr lang="en-US" sz="1050" dirty="0">
                  <a:solidFill>
                    <a:srgbClr val="4A6165"/>
                  </a:solidFill>
                  <a:latin typeface="Arial" pitchFamily="34" charset="0"/>
                  <a:ea typeface="Arial" pitchFamily="34" charset="-122"/>
                  <a:cs typeface="Arial" pitchFamily="34" charset="-120"/>
                </a:rPr>
                <a:t>Periwinkle snails rasping algae off the roots.</a:t>
              </a:r>
              <a:endParaRPr lang="en-US" sz="1050" dirty="0"/>
            </a:p>
          </p:txBody>
        </p:sp>
      </p:grpSp>
      <p:grpSp>
        <p:nvGrpSpPr>
          <p:cNvPr id="34" name="pp_block"/>
          <p:cNvGrpSpPr/>
          <p:nvPr/>
        </p:nvGrpSpPr>
        <p:grpSpPr>
          <a:xfrm>
            <a:off x="502920" y="4206240"/>
            <a:ext cx="11185855" cy="1298448"/>
            <a:chOff x="502920" y="4206240"/>
            <a:chExt cx="11185855" cy="1298448"/>
          </a:xfrm>
        </p:grpSpPr>
        <p:sp>
          <p:nvSpPr>
            <p:cNvPr id="25" name="pp_bg"/>
            <p:cNvSpPr/>
            <p:nvPr/>
          </p:nvSpPr>
          <p:spPr>
            <a:xfrm>
              <a:off x="502920" y="4206240"/>
              <a:ext cx="11185855" cy="1298448"/>
            </a:xfrm>
            <a:prstGeom prst="roundRect">
              <a:avLst>
                <a:gd name="adj" fmla="val 9859"/>
              </a:avLst>
            </a:prstGeom>
            <a:solidFill>
              <a:srgbClr val="F2F9F5"/>
            </a:solidFill>
            <a:ln w="15875">
              <a:solidFill>
                <a:srgbClr val="2E9E6B"/>
              </a:solidFill>
              <a:prstDash val="solid"/>
            </a:ln>
          </p:spPr>
        </p:sp>
        <p:sp>
          <p:nvSpPr>
            <p:cNvPr id="26" name="pp_h"/>
            <p:cNvSpPr txBox="1"/>
            <p:nvPr/>
          </p:nvSpPr>
          <p:spPr>
            <a:xfrm>
              <a:off x="740664" y="4352544"/>
              <a:ext cx="5486400" cy="292608"/>
            </a:xfrm>
            <a:prstGeom prst="rect">
              <a:avLst/>
            </a:prstGeom>
            <a:noFill/>
            <a:ln/>
          </p:spPr>
          <p:txBody>
            <a:bodyPr wrap="square" lIns="0" tIns="0" rIns="0" bIns="0" rtlCol="0" anchor="ctr"/>
            <a:lstStyle/>
            <a:p>
              <a:pPr indent="0" marL="0">
                <a:buNone/>
              </a:pPr>
              <a:r>
                <a:rPr lang="en-US" sz="1300" b="1" dirty="0">
                  <a:solidFill>
                    <a:srgbClr val="2E9E6B"/>
                  </a:solidFill>
                  <a:latin typeface="Arial" pitchFamily="34" charset="0"/>
                  <a:ea typeface="Arial" pitchFamily="34" charset="-122"/>
                  <a:cs typeface="Arial" pitchFamily="34" charset="-120"/>
                </a:rPr>
                <a:t>Predator and prey are different words again</a:t>
              </a:r>
              <a:endParaRPr lang="en-US" sz="1300" dirty="0"/>
            </a:p>
          </p:txBody>
        </p:sp>
        <p:sp>
          <p:nvSpPr>
            <p:cNvPr id="27" name="pp_t"/>
            <p:cNvSpPr txBox="1"/>
            <p:nvPr/>
          </p:nvSpPr>
          <p:spPr>
            <a:xfrm>
              <a:off x="740664" y="4663440"/>
              <a:ext cx="5577840" cy="658368"/>
            </a:xfrm>
            <a:prstGeom prst="rect">
              <a:avLst/>
            </a:prstGeom>
            <a:noFill/>
            <a:ln/>
          </p:spPr>
          <p:txBody>
            <a:bodyPr wrap="square" lIns="0" tIns="0" rIns="0" bIns="0" rtlCol="0" anchor="t"/>
            <a:lstStyle/>
            <a:p>
              <a:pPr indent="0" marL="0">
                <a:lnSpc>
                  <a:spcPts val="1800"/>
                </a:lnSpc>
                <a:buNone/>
              </a:pPr>
              <a:r>
                <a:rPr lang="en-US" sz="1300" dirty="0">
                  <a:solidFill>
                    <a:srgbClr val="14282B"/>
                  </a:solidFill>
                  <a:latin typeface="Arial" pitchFamily="34" charset="0"/>
                  <a:ea typeface="Arial" pitchFamily="34" charset="-122"/>
                  <a:cs typeface="Arial" pitchFamily="34" charset="-120"/>
                </a:rPr>
                <a:t>Herbivore, carnivore and omnivore describe the MENU. Predator and prey describe the ENCOUNTER — who hunted whom, this time.</a:t>
              </a:r>
              <a:endParaRPr lang="en-US" sz="1300" dirty="0"/>
            </a:p>
          </p:txBody>
        </p:sp>
      </p:grpSp>
      <p:sp>
        <p:nvSpPr>
          <p:cNvPr id="28" name="pp_eg"/>
          <p:cNvSpPr txBox="1"/>
          <p:nvPr/>
        </p:nvSpPr>
        <p:spPr>
          <a:xfrm>
            <a:off x="6629400" y="4462272"/>
            <a:ext cx="4876495" cy="877824"/>
          </a:xfrm>
          <a:prstGeom prst="rect">
            <a:avLst/>
          </a:prstGeom>
          <a:noFill/>
          <a:ln/>
        </p:spPr>
        <p:txBody>
          <a:bodyPr wrap="square" lIns="0" tIns="0" rIns="0" bIns="0" rtlCol="0" anchor="ctr"/>
          <a:lstStyle/>
          <a:p>
            <a:pPr indent="0" marL="0">
              <a:lnSpc>
                <a:spcPts val="1900"/>
              </a:lnSpc>
              <a:buNone/>
            </a:pPr>
            <a:r>
              <a:rPr lang="en-US" sz="1350" b="1" dirty="0">
                <a:solidFill>
                  <a:srgbClr val="0E3A3F"/>
                </a:solidFill>
                <a:latin typeface="Arial" pitchFamily="34" charset="0"/>
                <a:ea typeface="Arial" pitchFamily="34" charset="-122"/>
                <a:cs typeface="Arial" pitchFamily="34" charset="-120"/>
              </a:rPr>
              <a:t>So a mudskipper is a carnivore. It is a predator when it takes a small crab, and it is prey when the egret takes it. Same animal, same afternoon.</a:t>
            </a:r>
            <a:endParaRPr lang="en-US" sz="13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22" presetClass="entr" presetSubtype="1" fill="hold" grpId="0" nodeType="clickEffect">
                                  <p:stCondLst>
                                    <p:cond delay="0"/>
                                  </p:stCondLst>
                                  <p:childTnLst>
                                    <p:set>
                                      <p:cBhvr>
                                        <p:cTn id="3" dur="1" fill="hold">
                                          <p:stCondLst>
                                            <p:cond delay="0"/>
                                          </p:stCondLst>
                                        </p:cTn>
                                        <p:tgtEl>
                                          <p:spTgt spid="29"/>
                                        </p:tgtEl>
                                        <p:attrNameLst>
                                          <p:attrName>style.visibility</p:attrName>
                                        </p:attrNameLst>
                                      </p:cBhvr>
                                      <p:to>
                                        <p:strVal val="visible"/>
                                      </p:to>
                                    </p:set>
                                    <p:animEffect transition="in" filter="wipe(down)">
                                      <p:cBhvr>
                                        <p:cTn id="4" dur="500"/>
                                        <p:tgtEl>
                                          <p:spTgt spid="29"/>
                                        </p:tgtEl>
                                      </p:cBhvr>
                                    </p:animEffect>
                                  </p:childTnLst>
                                </p:cTn>
                              </p:par>
                            </p:childTnLst>
                          </p:cTn>
                        </p:par>
                      </p:childTnLst>
                    </p:cTn>
                  </p:par>
                  <p:par>
                    <p:cTn id="11" fill="hold">
                      <p:stCondLst>
                        <p:cond delay="indefinite"/>
                      </p:stCondLst>
                      <p:childTnLst>
                        <p:par>
                          <p:cTn id="12" fill="hold">
                            <p:stCondLst>
                              <p:cond delay="0"/>
                            </p:stCondLst>
                            <p:childTnLst>
                              <p:par>
                                <p:cTn id="10" presetID="22" presetClass="entr" presetSubtype="1" fill="hold" grpId="0" nodeType="clickEffect">
                                  <p:stCondLst>
                                    <p:cond delay="0"/>
                                  </p:stCondLst>
                                  <p:childTnLst>
                                    <p:set>
                                      <p:cBhvr>
                                        <p:cTn id="8" dur="1" fill="hold">
                                          <p:stCondLst>
                                            <p:cond delay="0"/>
                                          </p:stCondLst>
                                        </p:cTn>
                                        <p:tgtEl>
                                          <p:spTgt spid="30"/>
                                        </p:tgtEl>
                                        <p:attrNameLst>
                                          <p:attrName>style.visibility</p:attrName>
                                        </p:attrNameLst>
                                      </p:cBhvr>
                                      <p:to>
                                        <p:strVal val="visible"/>
                                      </p:to>
                                    </p:set>
                                    <p:animEffect transition="in" filter="wipe(down)">
                                      <p:cBhvr>
                                        <p:cTn id="9" dur="500"/>
                                        <p:tgtEl>
                                          <p:spTgt spid="30"/>
                                        </p:tgtEl>
                                      </p:cBhvr>
                                    </p:animEffect>
                                  </p:childTnLst>
                                </p:cTn>
                              </p:par>
                            </p:childTnLst>
                          </p:cTn>
                        </p:par>
                      </p:childTnLst>
                    </p:cTn>
                  </p:par>
                  <p:par>
                    <p:cTn id="16" fill="hold">
                      <p:stCondLst>
                        <p:cond delay="indefinite"/>
                      </p:stCondLst>
                      <p:childTnLst>
                        <p:par>
                          <p:cTn id="17" fill="hold">
                            <p:stCondLst>
                              <p:cond delay="0"/>
                            </p:stCondLst>
                            <p:childTnLst>
                              <p:par>
                                <p:cTn id="15" presetID="22" presetClass="entr" presetSubtype="1" fill="hold" grpId="0" nodeType="clickEffect">
                                  <p:stCondLst>
                                    <p:cond delay="0"/>
                                  </p:stCondLst>
                                  <p:childTnLst>
                                    <p:set>
                                      <p:cBhvr>
                                        <p:cTn id="13" dur="1" fill="hold">
                                          <p:stCondLst>
                                            <p:cond delay="0"/>
                                          </p:stCondLst>
                                        </p:cTn>
                                        <p:tgtEl>
                                          <p:spTgt spid="31"/>
                                        </p:tgtEl>
                                        <p:attrNameLst>
                                          <p:attrName>style.visibility</p:attrName>
                                        </p:attrNameLst>
                                      </p:cBhvr>
                                      <p:to>
                                        <p:strVal val="visible"/>
                                      </p:to>
                                    </p:set>
                                    <p:animEffect transition="in" filter="wipe(down)">
                                      <p:cBhvr>
                                        <p:cTn id="14" dur="500"/>
                                        <p:tgtEl>
                                          <p:spTgt spid="31"/>
                                        </p:tgtEl>
                                      </p:cBhvr>
                                    </p:animEffect>
                                  </p:childTnLst>
                                </p:cTn>
                              </p:par>
                            </p:childTnLst>
                          </p:cTn>
                        </p:par>
                      </p:childTnLst>
                    </p:cTn>
                  </p:par>
                  <p:par>
                    <p:cTn id="21" fill="hold">
                      <p:stCondLst>
                        <p:cond delay="indefinite"/>
                      </p:stCondLst>
                      <p:childTnLst>
                        <p:par>
                          <p:cTn id="22" fill="hold">
                            <p:stCondLst>
                              <p:cond delay="0"/>
                            </p:stCondLst>
                            <p:childTnLst>
                              <p:par>
                                <p:cTn id="20" presetID="22" presetClass="entr" presetSubtype="1" fill="hold" grpId="0" nodeType="clickEffect">
                                  <p:stCondLst>
                                    <p:cond delay="0"/>
                                  </p:stCondLst>
                                  <p:childTnLst>
                                    <p:set>
                                      <p:cBhvr>
                                        <p:cTn id="18" dur="1" fill="hold">
                                          <p:stCondLst>
                                            <p:cond delay="0"/>
                                          </p:stCondLst>
                                        </p:cTn>
                                        <p:tgtEl>
                                          <p:spTgt spid="32"/>
                                        </p:tgtEl>
                                        <p:attrNameLst>
                                          <p:attrName>style.visibility</p:attrName>
                                        </p:attrNameLst>
                                      </p:cBhvr>
                                      <p:to>
                                        <p:strVal val="visible"/>
                                      </p:to>
                                    </p:set>
                                    <p:animEffect transition="in" filter="wipe(down)">
                                      <p:cBhvr>
                                        <p:cTn id="19" dur="500"/>
                                        <p:tgtEl>
                                          <p:spTgt spid="32"/>
                                        </p:tgtEl>
                                      </p:cBhvr>
                                    </p:animEffect>
                                  </p:childTnLst>
                                </p:cTn>
                              </p:par>
                            </p:childTnLst>
                          </p:cTn>
                        </p:par>
                      </p:childTnLst>
                    </p:cTn>
                  </p:par>
                  <p:par>
                    <p:cTn id="26" fill="hold">
                      <p:stCondLst>
                        <p:cond delay="indefinite"/>
                      </p:stCondLst>
                      <p:childTnLst>
                        <p:par>
                          <p:cTn id="27" fill="hold">
                            <p:stCondLst>
                              <p:cond delay="0"/>
                            </p:stCondLst>
                            <p:childTnLst>
                              <p:par>
                                <p:cTn id="25" presetID="22" presetClass="entr" presetSubtype="1" fill="hold" grpId="0" nodeType="clickEffect">
                                  <p:stCondLst>
                                    <p:cond delay="0"/>
                                  </p:stCondLst>
                                  <p:childTnLst>
                                    <p:set>
                                      <p:cBhvr>
                                        <p:cTn id="23" dur="1" fill="hold">
                                          <p:stCondLst>
                                            <p:cond delay="0"/>
                                          </p:stCondLst>
                                        </p:cTn>
                                        <p:tgtEl>
                                          <p:spTgt spid="33"/>
                                        </p:tgtEl>
                                        <p:attrNameLst>
                                          <p:attrName>style.visibility</p:attrName>
                                        </p:attrNameLst>
                                      </p:cBhvr>
                                      <p:to>
                                        <p:strVal val="visible"/>
                                      </p:to>
                                    </p:set>
                                    <p:animEffect transition="in" filter="wipe(down)">
                                      <p:cBhvr>
                                        <p:cTn id="24" dur="500"/>
                                        <p:tgtEl>
                                          <p:spTgt spid="3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grpId="0" nodeType="clickEffect">
                                  <p:stCondLst>
                                    <p:cond delay="0"/>
                                  </p:stCondLst>
                                  <p:childTnLst>
                                    <p:set>
                                      <p:cBhvr>
                                        <p:cTn id="28" dur="1" fill="hold">
                                          <p:stCondLst>
                                            <p:cond delay="0"/>
                                          </p:stCondLst>
                                        </p:cTn>
                                        <p:tgtEl>
                                          <p:spTgt spid="34"/>
                                        </p:tgtEl>
                                        <p:attrNameLst>
                                          <p:attrName>style.visibility</p:attrName>
                                        </p:attrNameLst>
                                      </p:cBhvr>
                                      <p:to>
                                        <p:strVal val="visible"/>
                                      </p:to>
                                    </p:set>
                                    <p:animEffect transition="in" filter="fade">
                                      <p:cBhvr>
                                        <p:cTn id="29" dur="500"/>
                                        <p:tgtEl>
                                          <p:spTgt spid="34"/>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grpId="0" nodeType="click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4E6"/>
        </a:solidFill>
      </p:bgPr>
    </p:bg>
    <p:spTree>
      <p:nvGrpSpPr>
        <p:cNvPr id="1" name=""/>
        <p:cNvGrpSpPr/>
        <p:nvPr/>
      </p:nvGrpSpPr>
      <p:grpSpPr>
        <a:xfrm>
          <a:off x="0" y="0"/>
          <a:ext cx="0" cy="0"/>
          <a:chOff x="0" y="0"/>
          <a:chExt cx="0" cy="0"/>
        </a:xfrm>
      </p:grpSpPr>
      <p:sp>
        <p:nvSpPr>
          <p:cNvPr id="2" name="phase_pill"/>
          <p:cNvSpPr/>
          <p:nvPr/>
        </p:nvSpPr>
        <p:spPr>
          <a:xfrm>
            <a:off x="502920" y="274320"/>
            <a:ext cx="2286000" cy="347472"/>
          </a:xfrm>
          <a:prstGeom prst="roundRect">
            <a:avLst>
              <a:gd name="adj" fmla="val 50000"/>
            </a:avLst>
          </a:prstGeom>
          <a:solidFill>
            <a:srgbClr val="0E3A3F"/>
          </a:solidFill>
          <a:ln/>
        </p:spPr>
        <p:txBody>
          <a:bodyPr wrap="square" lIns="0" tIns="0" rIns="0" bIns="0" rtlCol="0" anchor="ctr"/>
          <a:lstStyle/>
          <a:p>
            <a:pPr algn="ctr" indent="0" marL="0">
              <a:buNone/>
            </a:pPr>
            <a:r>
              <a:rPr lang="en-US" sz="1100" b="1" spc="110" kern="0" dirty="0">
                <a:solidFill>
                  <a:srgbClr val="FAF4E6"/>
                </a:solidFill>
                <a:latin typeface="Arial" pitchFamily="34" charset="0"/>
                <a:ea typeface="Arial" pitchFamily="34" charset="-122"/>
                <a:cs typeface="Arial" pitchFamily="34" charset="-120"/>
              </a:rPr>
              <a:t>WE DO · 3 MIN</a:t>
            </a:r>
            <a:endParaRPr lang="en-US" sz="1100" dirty="0"/>
          </a:p>
        </p:txBody>
      </p:sp>
      <p:sp>
        <p:nvSpPr>
          <p:cNvPr id="3" name="keyword_strip"/>
          <p:cNvSpPr txBox="1"/>
          <p:nvPr/>
        </p:nvSpPr>
        <p:spPr>
          <a:xfrm>
            <a:off x="5836615" y="274320"/>
            <a:ext cx="5852160" cy="347472"/>
          </a:xfrm>
          <a:prstGeom prst="rect">
            <a:avLst/>
          </a:prstGeom>
          <a:noFill/>
          <a:ln/>
        </p:spPr>
        <p:txBody>
          <a:bodyPr wrap="square" lIns="0" tIns="0" rIns="0" bIns="0" rtlCol="0" anchor="ctr"/>
          <a:lstStyle/>
          <a:p>
            <a:pPr algn="r" indent="0" marL="0">
              <a:buNone/>
            </a:pPr>
            <a:r>
              <a:rPr lang="en-US" sz="1150" b="1" i="1" dirty="0">
                <a:solidFill>
                  <a:srgbClr val="2E9E6B"/>
                </a:solidFill>
                <a:latin typeface="Arial" pitchFamily="34" charset="0"/>
                <a:ea typeface="Arial" pitchFamily="34" charset="-122"/>
                <a:cs typeface="Arial" pitchFamily="34" charset="-120"/>
              </a:rPr>
              <a:t>herbivore   ·   carnivore   ·   omnivore   ·   scavenger</a:t>
            </a:r>
            <a:endParaRPr lang="en-US" sz="1150" dirty="0"/>
          </a:p>
        </p:txBody>
      </p:sp>
      <p:sp>
        <p:nvSpPr>
          <p:cNvPr id="4" name="slide_title"/>
          <p:cNvSpPr txBox="1"/>
          <p:nvPr/>
        </p:nvSpPr>
        <p:spPr>
          <a:xfrm>
            <a:off x="502920" y="914400"/>
            <a:ext cx="11185855" cy="658368"/>
          </a:xfrm>
          <a:prstGeom prst="rect">
            <a:avLst/>
          </a:prstGeom>
          <a:noFill/>
          <a:ln/>
        </p:spPr>
        <p:txBody>
          <a:bodyPr wrap="square" lIns="0" tIns="0" rIns="0" bIns="0" rtlCol="0" anchor="ctr"/>
          <a:lstStyle/>
          <a:p>
            <a:pPr algn="l" indent="0" marL="0">
              <a:buNone/>
            </a:pPr>
            <a:r>
              <a:rPr lang="en-US" sz="3000" b="1" dirty="0">
                <a:solidFill>
                  <a:srgbClr val="0E3A3F"/>
                </a:solidFill>
                <a:latin typeface="Georgia" pitchFamily="34" charset="0"/>
                <a:ea typeface="Georgia" pitchFamily="34" charset="-122"/>
                <a:cs typeface="Georgia" pitchFamily="34" charset="-120"/>
              </a:rPr>
              <a:t>Check: what kind of consumer?</a:t>
            </a:r>
            <a:endParaRPr lang="en-US" sz="3000" dirty="0"/>
          </a:p>
        </p:txBody>
      </p:sp>
      <p:sp>
        <p:nvSpPr>
          <p:cNvPr id="5" name="cl_intro"/>
          <p:cNvSpPr txBox="1"/>
          <p:nvPr/>
        </p:nvSpPr>
        <p:spPr>
          <a:xfrm>
            <a:off x="502920" y="1554480"/>
            <a:ext cx="10058400" cy="310896"/>
          </a:xfrm>
          <a:prstGeom prst="rect">
            <a:avLst/>
          </a:prstGeom>
          <a:noFill/>
          <a:ln/>
        </p:spPr>
        <p:txBody>
          <a:bodyPr wrap="square" lIns="0" tIns="0" rIns="0" bIns="0" rtlCol="0" anchor="ctr"/>
          <a:lstStyle/>
          <a:p>
            <a:pPr indent="0" marL="0">
              <a:buNone/>
            </a:pPr>
            <a:r>
              <a:rPr lang="en-US" sz="1300" dirty="0">
                <a:solidFill>
                  <a:srgbClr val="4A6165"/>
                </a:solidFill>
                <a:latin typeface="Arial" pitchFamily="34" charset="0"/>
                <a:ea typeface="Arial" pitchFamily="34" charset="-122"/>
                <a:cs typeface="Arial" pitchFamily="34" charset="-120"/>
              </a:rPr>
              <a:t>Whiteboards. Write H, C, O or S. Hold them up together on three.</a:t>
            </a:r>
            <a:endParaRPr lang="en-US" sz="1300" dirty="0"/>
          </a:p>
        </p:txBody>
      </p:sp>
      <p:sp>
        <p:nvSpPr>
          <p:cNvPr id="6" name="cr0_bg"/>
          <p:cNvSpPr/>
          <p:nvPr/>
        </p:nvSpPr>
        <p:spPr>
          <a:xfrm>
            <a:off x="502920" y="2121408"/>
            <a:ext cx="11185855" cy="566928"/>
          </a:xfrm>
          <a:prstGeom prst="roundRect">
            <a:avLst>
              <a:gd name="adj" fmla="val 22581"/>
            </a:avLst>
          </a:prstGeom>
          <a:solidFill>
            <a:srgbClr val="FFFFFF"/>
          </a:solidFill>
          <a:ln w="15875">
            <a:solidFill>
              <a:srgbClr val="F0E4C8"/>
            </a:solidFill>
            <a:prstDash val="solid"/>
          </a:ln>
        </p:spPr>
      </p:sp>
      <p:sp>
        <p:nvSpPr>
          <p:cNvPr id="7" name="cr0_q"/>
          <p:cNvSpPr txBox="1"/>
          <p:nvPr/>
        </p:nvSpPr>
        <p:spPr>
          <a:xfrm>
            <a:off x="704088" y="2121408"/>
            <a:ext cx="4572000" cy="566928"/>
          </a:xfrm>
          <a:prstGeom prst="rect">
            <a:avLst/>
          </a:prstGeom>
          <a:noFill/>
          <a:ln/>
        </p:spPr>
        <p:txBody>
          <a:bodyPr wrap="square" lIns="0" tIns="0" rIns="0" bIns="0" rtlCol="0" anchor="ctr"/>
          <a:lstStyle/>
          <a:p>
            <a:pPr indent="0" marL="0">
              <a:buNone/>
            </a:pPr>
            <a:r>
              <a:rPr lang="en-US" sz="1250" dirty="0">
                <a:solidFill>
                  <a:srgbClr val="14282B"/>
                </a:solidFill>
                <a:latin typeface="Arial" pitchFamily="34" charset="0"/>
                <a:ea typeface="Arial" pitchFamily="34" charset="-122"/>
                <a:cs typeface="Arial" pitchFamily="34" charset="-120"/>
              </a:rPr>
              <a:t>A sesarmid crab eating a fallen mangrove leaf</a:t>
            </a:r>
            <a:endParaRPr lang="en-US" sz="1250" dirty="0"/>
          </a:p>
        </p:txBody>
      </p:sp>
      <p:sp>
        <p:nvSpPr>
          <p:cNvPr id="8" name="cr0_a"/>
          <p:cNvSpPr/>
          <p:nvPr/>
        </p:nvSpPr>
        <p:spPr>
          <a:xfrm>
            <a:off x="5440680" y="2203704"/>
            <a:ext cx="420624" cy="402336"/>
          </a:xfrm>
          <a:prstGeom prst="roundRect">
            <a:avLst>
              <a:gd name="adj" fmla="val 20455"/>
            </a:avLst>
          </a:prstGeom>
          <a:solidFill>
            <a:srgbClr val="FDF3D6"/>
          </a:solidFill>
          <a:ln w="15240">
            <a:solidFill>
              <a:srgbClr val="F5B301"/>
            </a:solidFill>
          </a:ln>
        </p:spPr>
        <p:txBody>
          <a:bodyPr wrap="square" lIns="0" tIns="0" rIns="0" bIns="0" rtlCol="0" anchor="ctr"/>
          <a:lstStyle/>
          <a:p>
            <a:pPr algn="ctr" indent="0" marL="0">
              <a:buNone/>
            </a:pPr>
            <a:r>
              <a:rPr lang="en-US" sz="1400" b="1" dirty="0">
                <a:solidFill>
                  <a:srgbClr val="0E3A3F"/>
                </a:solidFill>
                <a:latin typeface="Arial" pitchFamily="34" charset="0"/>
                <a:ea typeface="Arial" pitchFamily="34" charset="-122"/>
                <a:cs typeface="Arial" pitchFamily="34" charset="-120"/>
              </a:rPr>
              <a:t>H</a:t>
            </a:r>
            <a:endParaRPr lang="en-US" sz="1400" dirty="0"/>
          </a:p>
        </p:txBody>
      </p:sp>
      <p:sp>
        <p:nvSpPr>
          <p:cNvPr id="9" name="cr0_w"/>
          <p:cNvSpPr txBox="1"/>
          <p:nvPr/>
        </p:nvSpPr>
        <p:spPr>
          <a:xfrm>
            <a:off x="6080760" y="2121408"/>
            <a:ext cx="5608015" cy="566928"/>
          </a:xfrm>
          <a:prstGeom prst="rect">
            <a:avLst/>
          </a:prstGeom>
          <a:noFill/>
          <a:ln/>
        </p:spPr>
        <p:txBody>
          <a:bodyPr wrap="square" lIns="0" tIns="0" rIns="0" bIns="0" rtlCol="0" anchor="ctr"/>
          <a:lstStyle/>
          <a:p>
            <a:pPr indent="0" marL="0">
              <a:buNone/>
            </a:pPr>
            <a:r>
              <a:rPr lang="en-US" sz="1200" dirty="0">
                <a:solidFill>
                  <a:srgbClr val="4A6165"/>
                </a:solidFill>
                <a:latin typeface="Arial" pitchFamily="34" charset="0"/>
                <a:ea typeface="Arial" pitchFamily="34" charset="-122"/>
                <a:cs typeface="Arial" pitchFamily="34" charset="-120"/>
              </a:rPr>
              <a:t>Only plant material — the leaf is still plant.</a:t>
            </a:r>
            <a:endParaRPr lang="en-US" sz="1200" dirty="0"/>
          </a:p>
        </p:txBody>
      </p:sp>
      <p:sp>
        <p:nvSpPr>
          <p:cNvPr id="10" name="cr1_bg"/>
          <p:cNvSpPr/>
          <p:nvPr/>
        </p:nvSpPr>
        <p:spPr>
          <a:xfrm>
            <a:off x="502920" y="2798064"/>
            <a:ext cx="11185855" cy="566928"/>
          </a:xfrm>
          <a:prstGeom prst="roundRect">
            <a:avLst>
              <a:gd name="adj" fmla="val 22581"/>
            </a:avLst>
          </a:prstGeom>
          <a:solidFill>
            <a:srgbClr val="FFFFFF"/>
          </a:solidFill>
          <a:ln w="15875">
            <a:solidFill>
              <a:srgbClr val="F0E4C8"/>
            </a:solidFill>
            <a:prstDash val="solid"/>
          </a:ln>
        </p:spPr>
      </p:sp>
      <p:sp>
        <p:nvSpPr>
          <p:cNvPr id="11" name="cr1_q"/>
          <p:cNvSpPr txBox="1"/>
          <p:nvPr/>
        </p:nvSpPr>
        <p:spPr>
          <a:xfrm>
            <a:off x="704088" y="2798064"/>
            <a:ext cx="4572000" cy="566928"/>
          </a:xfrm>
          <a:prstGeom prst="rect">
            <a:avLst/>
          </a:prstGeom>
          <a:noFill/>
          <a:ln/>
        </p:spPr>
        <p:txBody>
          <a:bodyPr wrap="square" lIns="0" tIns="0" rIns="0" bIns="0" rtlCol="0" anchor="ctr"/>
          <a:lstStyle/>
          <a:p>
            <a:pPr indent="0" marL="0">
              <a:buNone/>
            </a:pPr>
            <a:r>
              <a:rPr lang="en-US" sz="1250" dirty="0">
                <a:solidFill>
                  <a:srgbClr val="14282B"/>
                </a:solidFill>
                <a:latin typeface="Arial" pitchFamily="34" charset="0"/>
                <a:ea typeface="Arial" pitchFamily="34" charset="-122"/>
                <a:cs typeface="Arial" pitchFamily="34" charset="-120"/>
              </a:rPr>
              <a:t>A little egret taking a mudskipper</a:t>
            </a:r>
            <a:endParaRPr lang="en-US" sz="1250" dirty="0"/>
          </a:p>
        </p:txBody>
      </p:sp>
      <p:sp>
        <p:nvSpPr>
          <p:cNvPr id="12" name="cr1_a"/>
          <p:cNvSpPr/>
          <p:nvPr/>
        </p:nvSpPr>
        <p:spPr>
          <a:xfrm>
            <a:off x="5440680" y="2880360"/>
            <a:ext cx="420624" cy="402336"/>
          </a:xfrm>
          <a:prstGeom prst="roundRect">
            <a:avLst>
              <a:gd name="adj" fmla="val 20455"/>
            </a:avLst>
          </a:prstGeom>
          <a:solidFill>
            <a:srgbClr val="FDF3D6"/>
          </a:solidFill>
          <a:ln w="15240">
            <a:solidFill>
              <a:srgbClr val="F5B301"/>
            </a:solidFill>
          </a:ln>
        </p:spPr>
        <p:txBody>
          <a:bodyPr wrap="square" lIns="0" tIns="0" rIns="0" bIns="0" rtlCol="0" anchor="ctr"/>
          <a:lstStyle/>
          <a:p>
            <a:pPr algn="ctr" indent="0" marL="0">
              <a:buNone/>
            </a:pPr>
            <a:r>
              <a:rPr lang="en-US" sz="1400" b="1" dirty="0">
                <a:solidFill>
                  <a:srgbClr val="0E3A3F"/>
                </a:solidFill>
                <a:latin typeface="Arial" pitchFamily="34" charset="0"/>
                <a:ea typeface="Arial" pitchFamily="34" charset="-122"/>
                <a:cs typeface="Arial" pitchFamily="34" charset="-120"/>
              </a:rPr>
              <a:t>C</a:t>
            </a:r>
            <a:endParaRPr lang="en-US" sz="1400" dirty="0"/>
          </a:p>
        </p:txBody>
      </p:sp>
      <p:sp>
        <p:nvSpPr>
          <p:cNvPr id="13" name="cr1_w"/>
          <p:cNvSpPr txBox="1"/>
          <p:nvPr/>
        </p:nvSpPr>
        <p:spPr>
          <a:xfrm>
            <a:off x="6080760" y="2798064"/>
            <a:ext cx="5608015" cy="566928"/>
          </a:xfrm>
          <a:prstGeom prst="rect">
            <a:avLst/>
          </a:prstGeom>
          <a:noFill/>
          <a:ln/>
        </p:spPr>
        <p:txBody>
          <a:bodyPr wrap="square" lIns="0" tIns="0" rIns="0" bIns="0" rtlCol="0" anchor="ctr"/>
          <a:lstStyle/>
          <a:p>
            <a:pPr indent="0" marL="0">
              <a:buNone/>
            </a:pPr>
            <a:r>
              <a:rPr lang="en-US" sz="1200" dirty="0">
                <a:solidFill>
                  <a:srgbClr val="4A6165"/>
                </a:solidFill>
                <a:latin typeface="Arial" pitchFamily="34" charset="0"/>
                <a:ea typeface="Arial" pitchFamily="34" charset="-122"/>
                <a:cs typeface="Arial" pitchFamily="34" charset="-120"/>
              </a:rPr>
              <a:t>Only animals. Also a predator, in this encounter.</a:t>
            </a:r>
            <a:endParaRPr lang="en-US" sz="1200" dirty="0"/>
          </a:p>
        </p:txBody>
      </p:sp>
      <p:sp>
        <p:nvSpPr>
          <p:cNvPr id="14" name="cr2_bg"/>
          <p:cNvSpPr/>
          <p:nvPr/>
        </p:nvSpPr>
        <p:spPr>
          <a:xfrm>
            <a:off x="502920" y="3474720"/>
            <a:ext cx="11185855" cy="566928"/>
          </a:xfrm>
          <a:prstGeom prst="roundRect">
            <a:avLst>
              <a:gd name="adj" fmla="val 22581"/>
            </a:avLst>
          </a:prstGeom>
          <a:solidFill>
            <a:srgbClr val="FFFFFF"/>
          </a:solidFill>
          <a:ln w="15875">
            <a:solidFill>
              <a:srgbClr val="F0E4C8"/>
            </a:solidFill>
            <a:prstDash val="solid"/>
          </a:ln>
        </p:spPr>
      </p:sp>
      <p:sp>
        <p:nvSpPr>
          <p:cNvPr id="15" name="cr2_q"/>
          <p:cNvSpPr txBox="1"/>
          <p:nvPr/>
        </p:nvSpPr>
        <p:spPr>
          <a:xfrm>
            <a:off x="704088" y="3474720"/>
            <a:ext cx="4572000" cy="566928"/>
          </a:xfrm>
          <a:prstGeom prst="rect">
            <a:avLst/>
          </a:prstGeom>
          <a:noFill/>
          <a:ln/>
        </p:spPr>
        <p:txBody>
          <a:bodyPr wrap="square" lIns="0" tIns="0" rIns="0" bIns="0" rtlCol="0" anchor="ctr"/>
          <a:lstStyle/>
          <a:p>
            <a:pPr indent="0" marL="0">
              <a:buNone/>
            </a:pPr>
            <a:r>
              <a:rPr lang="en-US" sz="1250" dirty="0">
                <a:solidFill>
                  <a:srgbClr val="14282B"/>
                </a:solidFill>
                <a:latin typeface="Arial" pitchFamily="34" charset="0"/>
                <a:ea typeface="Arial" pitchFamily="34" charset="-122"/>
                <a:cs typeface="Arial" pitchFamily="34" charset="-120"/>
              </a:rPr>
              <a:t>A macaque eating crabs and figs</a:t>
            </a:r>
            <a:endParaRPr lang="en-US" sz="1250" dirty="0"/>
          </a:p>
        </p:txBody>
      </p:sp>
      <p:sp>
        <p:nvSpPr>
          <p:cNvPr id="16" name="cr2_a"/>
          <p:cNvSpPr/>
          <p:nvPr/>
        </p:nvSpPr>
        <p:spPr>
          <a:xfrm>
            <a:off x="5440680" y="3557016"/>
            <a:ext cx="420624" cy="402336"/>
          </a:xfrm>
          <a:prstGeom prst="roundRect">
            <a:avLst>
              <a:gd name="adj" fmla="val 20455"/>
            </a:avLst>
          </a:prstGeom>
          <a:solidFill>
            <a:srgbClr val="FDF3D6"/>
          </a:solidFill>
          <a:ln w="15240">
            <a:solidFill>
              <a:srgbClr val="F5B301"/>
            </a:solidFill>
          </a:ln>
        </p:spPr>
        <p:txBody>
          <a:bodyPr wrap="square" lIns="0" tIns="0" rIns="0" bIns="0" rtlCol="0" anchor="ctr"/>
          <a:lstStyle/>
          <a:p>
            <a:pPr algn="ctr" indent="0" marL="0">
              <a:buNone/>
            </a:pPr>
            <a:r>
              <a:rPr lang="en-US" sz="1400" b="1" dirty="0">
                <a:solidFill>
                  <a:srgbClr val="0E3A3F"/>
                </a:solidFill>
                <a:latin typeface="Arial" pitchFamily="34" charset="0"/>
                <a:ea typeface="Arial" pitchFamily="34" charset="-122"/>
                <a:cs typeface="Arial" pitchFamily="34" charset="-120"/>
              </a:rPr>
              <a:t>O</a:t>
            </a:r>
            <a:endParaRPr lang="en-US" sz="1400" dirty="0"/>
          </a:p>
        </p:txBody>
      </p:sp>
      <p:sp>
        <p:nvSpPr>
          <p:cNvPr id="17" name="cr2_w"/>
          <p:cNvSpPr txBox="1"/>
          <p:nvPr/>
        </p:nvSpPr>
        <p:spPr>
          <a:xfrm>
            <a:off x="6080760" y="3474720"/>
            <a:ext cx="5608015" cy="566928"/>
          </a:xfrm>
          <a:prstGeom prst="rect">
            <a:avLst/>
          </a:prstGeom>
          <a:noFill/>
          <a:ln/>
        </p:spPr>
        <p:txBody>
          <a:bodyPr wrap="square" lIns="0" tIns="0" rIns="0" bIns="0" rtlCol="0" anchor="ctr"/>
          <a:lstStyle/>
          <a:p>
            <a:pPr indent="0" marL="0">
              <a:buNone/>
            </a:pPr>
            <a:r>
              <a:rPr lang="en-US" sz="1200" dirty="0">
                <a:solidFill>
                  <a:srgbClr val="4A6165"/>
                </a:solidFill>
                <a:latin typeface="Arial" pitchFamily="34" charset="0"/>
                <a:ea typeface="Arial" pitchFamily="34" charset="-122"/>
                <a:cs typeface="Arial" pitchFamily="34" charset="-120"/>
              </a:rPr>
              <a:t>Both. Omni means all.</a:t>
            </a:r>
            <a:endParaRPr lang="en-US" sz="1200" dirty="0"/>
          </a:p>
        </p:txBody>
      </p:sp>
      <p:sp>
        <p:nvSpPr>
          <p:cNvPr id="18" name="cr3_bg"/>
          <p:cNvSpPr/>
          <p:nvPr/>
        </p:nvSpPr>
        <p:spPr>
          <a:xfrm>
            <a:off x="502920" y="4151376"/>
            <a:ext cx="11185855" cy="566928"/>
          </a:xfrm>
          <a:prstGeom prst="roundRect">
            <a:avLst>
              <a:gd name="adj" fmla="val 22581"/>
            </a:avLst>
          </a:prstGeom>
          <a:solidFill>
            <a:srgbClr val="FFFFFF"/>
          </a:solidFill>
          <a:ln w="15875">
            <a:solidFill>
              <a:srgbClr val="F0E4C8"/>
            </a:solidFill>
            <a:prstDash val="solid"/>
          </a:ln>
        </p:spPr>
      </p:sp>
      <p:sp>
        <p:nvSpPr>
          <p:cNvPr id="19" name="cr3_q"/>
          <p:cNvSpPr txBox="1"/>
          <p:nvPr/>
        </p:nvSpPr>
        <p:spPr>
          <a:xfrm>
            <a:off x="704088" y="4151376"/>
            <a:ext cx="4572000" cy="566928"/>
          </a:xfrm>
          <a:prstGeom prst="rect">
            <a:avLst/>
          </a:prstGeom>
          <a:noFill/>
          <a:ln/>
        </p:spPr>
        <p:txBody>
          <a:bodyPr wrap="square" lIns="0" tIns="0" rIns="0" bIns="0" rtlCol="0" anchor="ctr"/>
          <a:lstStyle/>
          <a:p>
            <a:pPr indent="0" marL="0">
              <a:buNone/>
            </a:pPr>
            <a:r>
              <a:rPr lang="en-US" sz="1250" dirty="0">
                <a:solidFill>
                  <a:srgbClr val="14282B"/>
                </a:solidFill>
                <a:latin typeface="Arial" pitchFamily="34" charset="0"/>
                <a:ea typeface="Arial" pitchFamily="34" charset="-122"/>
                <a:cs typeface="Arial" pitchFamily="34" charset="-120"/>
              </a:rPr>
              <a:t>A mud crab eating a fish that washed up dead</a:t>
            </a:r>
            <a:endParaRPr lang="en-US" sz="1250" dirty="0"/>
          </a:p>
        </p:txBody>
      </p:sp>
      <p:sp>
        <p:nvSpPr>
          <p:cNvPr id="20" name="cr3_a"/>
          <p:cNvSpPr/>
          <p:nvPr/>
        </p:nvSpPr>
        <p:spPr>
          <a:xfrm>
            <a:off x="5440680" y="4233672"/>
            <a:ext cx="420624" cy="402336"/>
          </a:xfrm>
          <a:prstGeom prst="roundRect">
            <a:avLst>
              <a:gd name="adj" fmla="val 20455"/>
            </a:avLst>
          </a:prstGeom>
          <a:solidFill>
            <a:srgbClr val="FDF3D6"/>
          </a:solidFill>
          <a:ln w="15240">
            <a:solidFill>
              <a:srgbClr val="F5B301"/>
            </a:solidFill>
          </a:ln>
        </p:spPr>
        <p:txBody>
          <a:bodyPr wrap="square" lIns="0" tIns="0" rIns="0" bIns="0" rtlCol="0" anchor="ctr"/>
          <a:lstStyle/>
          <a:p>
            <a:pPr algn="ctr" indent="0" marL="0">
              <a:buNone/>
            </a:pPr>
            <a:r>
              <a:rPr lang="en-US" sz="1400" b="1" dirty="0">
                <a:solidFill>
                  <a:srgbClr val="0E3A3F"/>
                </a:solidFill>
                <a:latin typeface="Arial" pitchFamily="34" charset="0"/>
                <a:ea typeface="Arial" pitchFamily="34" charset="-122"/>
                <a:cs typeface="Arial" pitchFamily="34" charset="-120"/>
              </a:rPr>
              <a:t>S</a:t>
            </a:r>
            <a:endParaRPr lang="en-US" sz="1400" dirty="0"/>
          </a:p>
        </p:txBody>
      </p:sp>
      <p:sp>
        <p:nvSpPr>
          <p:cNvPr id="21" name="cr3_w"/>
          <p:cNvSpPr txBox="1"/>
          <p:nvPr/>
        </p:nvSpPr>
        <p:spPr>
          <a:xfrm>
            <a:off x="6080760" y="4151376"/>
            <a:ext cx="5608015" cy="566928"/>
          </a:xfrm>
          <a:prstGeom prst="rect">
            <a:avLst/>
          </a:prstGeom>
          <a:noFill/>
          <a:ln/>
        </p:spPr>
        <p:txBody>
          <a:bodyPr wrap="square" lIns="0" tIns="0" rIns="0" bIns="0" rtlCol="0" anchor="ctr"/>
          <a:lstStyle/>
          <a:p>
            <a:pPr indent="0" marL="0">
              <a:buNone/>
            </a:pPr>
            <a:r>
              <a:rPr lang="en-US" sz="1200" dirty="0">
                <a:solidFill>
                  <a:srgbClr val="4A6165"/>
                </a:solidFill>
                <a:latin typeface="Arial" pitchFamily="34" charset="0"/>
                <a:ea typeface="Arial" pitchFamily="34" charset="-122"/>
                <a:cs typeface="Arial" pitchFamily="34" charset="-120"/>
              </a:rPr>
              <a:t>It did not kill it. Scavenger — and still a consumer.</a:t>
            </a:r>
            <a:endParaRPr lang="en-US" sz="1200" dirty="0"/>
          </a:p>
        </p:txBody>
      </p:sp>
      <p:sp>
        <p:nvSpPr>
          <p:cNvPr id="22" name="cr4_bg"/>
          <p:cNvSpPr/>
          <p:nvPr/>
        </p:nvSpPr>
        <p:spPr>
          <a:xfrm>
            <a:off x="502920" y="4828032"/>
            <a:ext cx="11185855" cy="566928"/>
          </a:xfrm>
          <a:prstGeom prst="roundRect">
            <a:avLst>
              <a:gd name="adj" fmla="val 22581"/>
            </a:avLst>
          </a:prstGeom>
          <a:solidFill>
            <a:srgbClr val="FFFFFF"/>
          </a:solidFill>
          <a:ln w="15875">
            <a:solidFill>
              <a:srgbClr val="F0E4C8"/>
            </a:solidFill>
            <a:prstDash val="solid"/>
          </a:ln>
        </p:spPr>
      </p:sp>
      <p:sp>
        <p:nvSpPr>
          <p:cNvPr id="23" name="cr4_q"/>
          <p:cNvSpPr txBox="1"/>
          <p:nvPr/>
        </p:nvSpPr>
        <p:spPr>
          <a:xfrm>
            <a:off x="704088" y="4828032"/>
            <a:ext cx="4572000" cy="566928"/>
          </a:xfrm>
          <a:prstGeom prst="rect">
            <a:avLst/>
          </a:prstGeom>
          <a:noFill/>
          <a:ln/>
        </p:spPr>
        <p:txBody>
          <a:bodyPr wrap="square" lIns="0" tIns="0" rIns="0" bIns="0" rtlCol="0" anchor="ctr"/>
          <a:lstStyle/>
          <a:p>
            <a:pPr indent="0" marL="0">
              <a:buNone/>
            </a:pPr>
            <a:r>
              <a:rPr lang="en-US" sz="1250" dirty="0">
                <a:solidFill>
                  <a:srgbClr val="14282B"/>
                </a:solidFill>
                <a:latin typeface="Arial" pitchFamily="34" charset="0"/>
                <a:ea typeface="Arial" pitchFamily="34" charset="-122"/>
                <a:cs typeface="Arial" pitchFamily="34" charset="-120"/>
              </a:rPr>
              <a:t>A mudskipper caught by an egret</a:t>
            </a:r>
            <a:endParaRPr lang="en-US" sz="1250" dirty="0"/>
          </a:p>
        </p:txBody>
      </p:sp>
      <p:sp>
        <p:nvSpPr>
          <p:cNvPr id="24" name="cr4_a"/>
          <p:cNvSpPr/>
          <p:nvPr/>
        </p:nvSpPr>
        <p:spPr>
          <a:xfrm>
            <a:off x="5440680" y="4910328"/>
            <a:ext cx="420624" cy="402336"/>
          </a:xfrm>
          <a:prstGeom prst="roundRect">
            <a:avLst>
              <a:gd name="adj" fmla="val 20455"/>
            </a:avLst>
          </a:prstGeom>
          <a:solidFill>
            <a:srgbClr val="FDF3D6"/>
          </a:solidFill>
          <a:ln w="15240">
            <a:solidFill>
              <a:srgbClr val="F5B301"/>
            </a:solidFill>
          </a:ln>
        </p:spPr>
        <p:txBody>
          <a:bodyPr wrap="square" lIns="0" tIns="0" rIns="0" bIns="0" rtlCol="0" anchor="ctr"/>
          <a:lstStyle/>
          <a:p>
            <a:pPr algn="ctr" indent="0" marL="0">
              <a:buNone/>
            </a:pPr>
            <a:r>
              <a:rPr lang="en-US" sz="1400" b="1" dirty="0">
                <a:solidFill>
                  <a:srgbClr val="0E3A3F"/>
                </a:solidFill>
                <a:latin typeface="Arial" pitchFamily="34" charset="0"/>
                <a:ea typeface="Arial" pitchFamily="34" charset="-122"/>
                <a:cs typeface="Arial" pitchFamily="34" charset="-120"/>
              </a:rPr>
              <a:t>C</a:t>
            </a:r>
            <a:endParaRPr lang="en-US" sz="1400" dirty="0"/>
          </a:p>
        </p:txBody>
      </p:sp>
      <p:sp>
        <p:nvSpPr>
          <p:cNvPr id="25" name="cr4_w"/>
          <p:cNvSpPr txBox="1"/>
          <p:nvPr/>
        </p:nvSpPr>
        <p:spPr>
          <a:xfrm>
            <a:off x="6080760" y="4828032"/>
            <a:ext cx="5608015" cy="566928"/>
          </a:xfrm>
          <a:prstGeom prst="rect">
            <a:avLst/>
          </a:prstGeom>
          <a:noFill/>
          <a:ln/>
        </p:spPr>
        <p:txBody>
          <a:bodyPr wrap="square" lIns="0" tIns="0" rIns="0" bIns="0" rtlCol="0" anchor="ctr"/>
          <a:lstStyle/>
          <a:p>
            <a:pPr indent="0" marL="0">
              <a:buNone/>
            </a:pPr>
            <a:r>
              <a:rPr lang="en-US" sz="1200" dirty="0">
                <a:solidFill>
                  <a:srgbClr val="4A6165"/>
                </a:solidFill>
                <a:latin typeface="Arial" pitchFamily="34" charset="0"/>
                <a:ea typeface="Arial" pitchFamily="34" charset="-122"/>
                <a:cs typeface="Arial" pitchFamily="34" charset="-120"/>
              </a:rPr>
              <a:t>Careful — the mudskipper is a carnivore AND prey. Both are true.</a:t>
            </a:r>
            <a:endParaRPr lang="en-US"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8" fill="hold">
                            <p:stCondLst>
                              <p:cond delay="0"/>
                            </p:stCondLst>
                            <p:childTnLst>
                              <p:par>
                                <p:cTn id="6" presetID="23" presetClass="entr" presetSubtype="16" fill="hold" grpId="0" nodeType="clickEffect">
                                  <p:stCondLst>
                                    <p:cond delay="0"/>
                                  </p:stCondLst>
                                  <p:childTnLst>
                                    <p:set>
                                      <p:cBhvr>
                                        <p:cTn id="3" dur="1" fill="hold">
                                          <p:stCondLst>
                                            <p:cond delay="0"/>
                                          </p:stCondLst>
                                        </p:cTn>
                                        <p:tgtEl>
                                          <p:spTgt spid="8"/>
                                        </p:tgtEl>
                                        <p:attrNameLst>
                                          <p:attrName>style.visibility</p:attrName>
                                        </p:attrNameLst>
                                      </p:cBhvr>
                                      <p:to>
                                        <p:strVal val="visible"/>
                                      </p:to>
                                    </p:set>
                                    <p:animEffect transition="in" filter="fade">
                                      <p:cBhvr>
                                        <p:cTn id="4" dur="500"/>
                                        <p:tgtEl>
                                          <p:spTgt spid="8"/>
                                        </p:tgtEl>
                                      </p:cBhvr>
                                    </p:animEffect>
                                    <p:animScale>
                                      <p:cBhvr>
                                        <p:cTn id="5" dur="500" fill="hold"/>
                                        <p:tgtEl>
                                          <p:spTgt spid="8"/>
                                        </p:tgtEl>
                                      </p:cBhvr>
                                      <p:from x="0" y="0"/>
                                      <p:to x="100000" y="100000"/>
                                    </p:animScale>
                                  </p:childTnLst>
                                </p:cTn>
                              </p:par>
                            </p:childTnLst>
                          </p:cTn>
                        </p:par>
                      </p:childTnLst>
                    </p:cTn>
                  </p:par>
                  <p:par>
                    <p:cTn id="12" fill="hold">
                      <p:stCondLst>
                        <p:cond delay="indefinite"/>
                      </p:stCondLst>
                      <p:childTnLst>
                        <p:par>
                          <p:cTn id="13" fill="hold">
                            <p:stCondLst>
                              <p:cond delay="0"/>
                            </p:stCondLst>
                            <p:childTnLst>
                              <p:par>
                                <p:cTn id="11" presetID="10" presetClass="entr" presetSubtype="0" fill="hold" grpId="0" nodeType="click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17" presetID="23" presetClass="entr" presetSubtype="16"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animScale>
                                      <p:cBhvr>
                                        <p:cTn id="16" dur="500" fill="hold"/>
                                        <p:tgtEl>
                                          <p:spTgt spid="12"/>
                                        </p:tgtEl>
                                      </p:cBhvr>
                                      <p:from x="0" y="0"/>
                                      <p:to x="100000" y="100000"/>
                                    </p:animScale>
                                  </p:childTnLst>
                                </p:cTn>
                              </p:par>
                            </p:childTnLst>
                          </p:cTn>
                        </p:par>
                      </p:childTnLst>
                    </p:cTn>
                  </p:par>
                  <p:par>
                    <p:cTn id="23" fill="hold">
                      <p:stCondLst>
                        <p:cond delay="indefinite"/>
                      </p:stCondLst>
                      <p:childTnLst>
                        <p:par>
                          <p:cTn id="24" fill="hold">
                            <p:stCondLst>
                              <p:cond delay="0"/>
                            </p:stCondLst>
                            <p:childTnLst>
                              <p:par>
                                <p:cTn id="22" presetID="10" presetClass="entr" presetSubtype="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500"/>
                                        <p:tgtEl>
                                          <p:spTgt spid="13"/>
                                        </p:tgtEl>
                                      </p:cBhvr>
                                    </p:animEffect>
                                  </p:childTnLst>
                                </p:cTn>
                              </p:par>
                            </p:childTnLst>
                          </p:cTn>
                        </p:par>
                      </p:childTnLst>
                    </p:cTn>
                  </p:par>
                  <p:par>
                    <p:cTn id="29" fill="hold">
                      <p:stCondLst>
                        <p:cond delay="indefinite"/>
                      </p:stCondLst>
                      <p:childTnLst>
                        <p:par>
                          <p:cTn id="30" fill="hold">
                            <p:stCondLst>
                              <p:cond delay="0"/>
                            </p:stCondLst>
                            <p:childTnLst>
                              <p:par>
                                <p:cTn id="28" presetID="23" presetClass="entr" presetSubtype="16" fill="hold" grpId="0" nodeType="click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500"/>
                                        <p:tgtEl>
                                          <p:spTgt spid="16"/>
                                        </p:tgtEl>
                                      </p:cBhvr>
                                    </p:animEffect>
                                    <p:animScale>
                                      <p:cBhvr>
                                        <p:cTn id="27" dur="500" fill="hold"/>
                                        <p:tgtEl>
                                          <p:spTgt spid="16"/>
                                        </p:tgtEl>
                                      </p:cBhvr>
                                      <p:from x="0" y="0"/>
                                      <p:to x="100000" y="100000"/>
                                    </p:animScale>
                                  </p:childTnLst>
                                </p:cTn>
                              </p:par>
                            </p:childTnLst>
                          </p:cTn>
                        </p:par>
                      </p:childTnLst>
                    </p:cTn>
                  </p:par>
                  <p:par>
                    <p:cTn id="34" fill="hold">
                      <p:stCondLst>
                        <p:cond delay="indefinite"/>
                      </p:stCondLst>
                      <p:childTnLst>
                        <p:par>
                          <p:cTn id="35" fill="hold">
                            <p:stCondLst>
                              <p:cond delay="0"/>
                            </p:stCondLst>
                            <p:childTnLst>
                              <p:par>
                                <p:cTn id="33" presetID="10" presetClass="entr" presetSubtype="0" fill="hold" grpId="0"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500"/>
                                        <p:tgtEl>
                                          <p:spTgt spid="17"/>
                                        </p:tgtEl>
                                      </p:cBhvr>
                                    </p:animEffect>
                                  </p:childTnLst>
                                </p:cTn>
                              </p:par>
                            </p:childTnLst>
                          </p:cTn>
                        </p:par>
                      </p:childTnLst>
                    </p:cTn>
                  </p:par>
                  <p:par>
                    <p:cTn id="40" fill="hold">
                      <p:stCondLst>
                        <p:cond delay="indefinite"/>
                      </p:stCondLst>
                      <p:childTnLst>
                        <p:par>
                          <p:cTn id="41" fill="hold">
                            <p:stCondLst>
                              <p:cond delay="0"/>
                            </p:stCondLst>
                            <p:childTnLst>
                              <p:par>
                                <p:cTn id="39" presetID="23" presetClass="entr" presetSubtype="16" fill="hold" grpId="0" nodeType="click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500"/>
                                        <p:tgtEl>
                                          <p:spTgt spid="20"/>
                                        </p:tgtEl>
                                      </p:cBhvr>
                                    </p:animEffect>
                                    <p:animScale>
                                      <p:cBhvr>
                                        <p:cTn id="38" dur="500" fill="hold"/>
                                        <p:tgtEl>
                                          <p:spTgt spid="20"/>
                                        </p:tgtEl>
                                      </p:cBhvr>
                                      <p:from x="0" y="0"/>
                                      <p:to x="100000" y="100000"/>
                                    </p:animScale>
                                  </p:childTnLst>
                                </p:cTn>
                              </p:par>
                            </p:childTnLst>
                          </p:cTn>
                        </p:par>
                      </p:childTnLst>
                    </p:cTn>
                  </p:par>
                  <p:par>
                    <p:cTn id="45" fill="hold">
                      <p:stCondLst>
                        <p:cond delay="indefinite"/>
                      </p:stCondLst>
                      <p:childTnLst>
                        <p:par>
                          <p:cTn id="46" fill="hold">
                            <p:stCondLst>
                              <p:cond delay="0"/>
                            </p:stCondLst>
                            <p:childTnLst>
                              <p:par>
                                <p:cTn id="44" presetID="10" presetClass="entr" presetSubtype="0" fill="hold" grpId="0" nodeType="click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500"/>
                                        <p:tgtEl>
                                          <p:spTgt spid="21"/>
                                        </p:tgtEl>
                                      </p:cBhvr>
                                    </p:animEffect>
                                  </p:childTnLst>
                                </p:cTn>
                              </p:par>
                            </p:childTnLst>
                          </p:cTn>
                        </p:par>
                      </p:childTnLst>
                    </p:cTn>
                  </p:par>
                  <p:par>
                    <p:cTn id="51" fill="hold">
                      <p:stCondLst>
                        <p:cond delay="indefinite"/>
                      </p:stCondLst>
                      <p:childTnLst>
                        <p:par>
                          <p:cTn id="52" fill="hold">
                            <p:stCondLst>
                              <p:cond delay="0"/>
                            </p:stCondLst>
                            <p:childTnLst>
                              <p:par>
                                <p:cTn id="50" presetID="23" presetClass="entr" presetSubtype="16" fill="hold" grpId="0" nodeType="clickEffect">
                                  <p:stCondLst>
                                    <p:cond delay="0"/>
                                  </p:stCondLst>
                                  <p:childTnLst>
                                    <p:set>
                                      <p:cBhvr>
                                        <p:cTn id="47" dur="1" fill="hold">
                                          <p:stCondLst>
                                            <p:cond delay="0"/>
                                          </p:stCondLst>
                                        </p:cTn>
                                        <p:tgtEl>
                                          <p:spTgt spid="24"/>
                                        </p:tgtEl>
                                        <p:attrNameLst>
                                          <p:attrName>style.visibility</p:attrName>
                                        </p:attrNameLst>
                                      </p:cBhvr>
                                      <p:to>
                                        <p:strVal val="visible"/>
                                      </p:to>
                                    </p:set>
                                    <p:animEffect transition="in" filter="fade">
                                      <p:cBhvr>
                                        <p:cTn id="48" dur="500"/>
                                        <p:tgtEl>
                                          <p:spTgt spid="24"/>
                                        </p:tgtEl>
                                      </p:cBhvr>
                                    </p:animEffect>
                                    <p:animScale>
                                      <p:cBhvr>
                                        <p:cTn id="49" dur="500" fill="hold"/>
                                        <p:tgtEl>
                                          <p:spTgt spid="24"/>
                                        </p:tgtEl>
                                      </p:cBhvr>
                                      <p:from x="0" y="0"/>
                                      <p:to x="100000" y="100000"/>
                                    </p:animScale>
                                  </p:childTnLst>
                                </p:cTn>
                              </p:par>
                            </p:childTnLst>
                          </p:cTn>
                        </p:par>
                      </p:childTnLst>
                    </p:cTn>
                  </p:par>
                  <p:par>
                    <p:cTn id="56" fill="hold">
                      <p:stCondLst>
                        <p:cond delay="indefinite"/>
                      </p:stCondLst>
                      <p:childTnLst>
                        <p:par>
                          <p:cTn id="57" fill="hold">
                            <p:stCondLst>
                              <p:cond delay="0"/>
                            </p:stCondLst>
                            <p:childTnLst>
                              <p:par>
                                <p:cTn id="55" presetID="10" presetClass="entr" presetSubtype="0" fill="hold" grpId="0" nodeType="clickEffect">
                                  <p:stCondLst>
                                    <p:cond delay="0"/>
                                  </p:stCondLst>
                                  <p:childTnLst>
                                    <p:set>
                                      <p:cBhvr>
                                        <p:cTn id="53" dur="1" fill="hold">
                                          <p:stCondLst>
                                            <p:cond delay="0"/>
                                          </p:stCondLst>
                                        </p:cTn>
                                        <p:tgtEl>
                                          <p:spTgt spid="25"/>
                                        </p:tgtEl>
                                        <p:attrNameLst>
                                          <p:attrName>style.visibility</p:attrName>
                                        </p:attrNameLst>
                                      </p:cBhvr>
                                      <p:to>
                                        <p:strVal val="visible"/>
                                      </p:to>
                                    </p:set>
                                    <p:animEffect transition="in" filter="fade">
                                      <p:cBhvr>
                                        <p:cTn id="54"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4E6"/>
        </a:solidFill>
      </p:bgPr>
    </p:bg>
    <p:spTree>
      <p:nvGrpSpPr>
        <p:cNvPr id="1" name=""/>
        <p:cNvGrpSpPr/>
        <p:nvPr/>
      </p:nvGrpSpPr>
      <p:grpSpPr>
        <a:xfrm>
          <a:off x="0" y="0"/>
          <a:ext cx="0" cy="0"/>
          <a:chOff x="0" y="0"/>
          <a:chExt cx="0" cy="0"/>
        </a:xfrm>
      </p:grpSpPr>
      <p:sp>
        <p:nvSpPr>
          <p:cNvPr id="2" name="phase_pill"/>
          <p:cNvSpPr/>
          <p:nvPr/>
        </p:nvSpPr>
        <p:spPr>
          <a:xfrm>
            <a:off x="502920" y="274320"/>
            <a:ext cx="2139696" cy="347472"/>
          </a:xfrm>
          <a:prstGeom prst="roundRect">
            <a:avLst>
              <a:gd name="adj" fmla="val 50000"/>
            </a:avLst>
          </a:prstGeom>
          <a:solidFill>
            <a:srgbClr val="0E3A3F"/>
          </a:solidFill>
          <a:ln/>
        </p:spPr>
        <p:txBody>
          <a:bodyPr wrap="square" lIns="0" tIns="0" rIns="0" bIns="0" rtlCol="0" anchor="ctr"/>
          <a:lstStyle/>
          <a:p>
            <a:pPr algn="ctr" indent="0" marL="0">
              <a:buNone/>
            </a:pPr>
            <a:r>
              <a:rPr lang="en-US" sz="1100" b="1" spc="110" kern="0" dirty="0">
                <a:solidFill>
                  <a:srgbClr val="FAF4E6"/>
                </a:solidFill>
                <a:latin typeface="Arial" pitchFamily="34" charset="0"/>
                <a:ea typeface="Arial" pitchFamily="34" charset="-122"/>
                <a:cs typeface="Arial" pitchFamily="34" charset="-120"/>
              </a:rPr>
              <a:t>I DO · 5 MIN</a:t>
            </a:r>
            <a:endParaRPr lang="en-US" sz="1100" dirty="0"/>
          </a:p>
        </p:txBody>
      </p:sp>
      <p:sp>
        <p:nvSpPr>
          <p:cNvPr id="3" name="keyword_strip"/>
          <p:cNvSpPr txBox="1"/>
          <p:nvPr/>
        </p:nvSpPr>
        <p:spPr>
          <a:xfrm>
            <a:off x="5836615" y="274320"/>
            <a:ext cx="5852160" cy="347472"/>
          </a:xfrm>
          <a:prstGeom prst="rect">
            <a:avLst/>
          </a:prstGeom>
          <a:noFill/>
          <a:ln/>
        </p:spPr>
        <p:txBody>
          <a:bodyPr wrap="square" lIns="0" tIns="0" rIns="0" bIns="0" rtlCol="0" anchor="ctr"/>
          <a:lstStyle/>
          <a:p>
            <a:pPr algn="r" indent="0" marL="0">
              <a:buNone/>
            </a:pPr>
            <a:r>
              <a:rPr lang="en-US" sz="1150" b="1" i="1" dirty="0">
                <a:solidFill>
                  <a:srgbClr val="2E9E6B"/>
                </a:solidFill>
                <a:latin typeface="Arial" pitchFamily="34" charset="0"/>
                <a:ea typeface="Arial" pitchFamily="34" charset="-122"/>
                <a:cs typeface="Arial" pitchFamily="34" charset="-120"/>
              </a:rPr>
              <a:t>food web</a:t>
            </a:r>
            <a:endParaRPr lang="en-US" sz="1150" dirty="0"/>
          </a:p>
        </p:txBody>
      </p:sp>
      <p:sp>
        <p:nvSpPr>
          <p:cNvPr id="4" name="slide_title"/>
          <p:cNvSpPr txBox="1"/>
          <p:nvPr/>
        </p:nvSpPr>
        <p:spPr>
          <a:xfrm>
            <a:off x="502920" y="914400"/>
            <a:ext cx="11185855" cy="658368"/>
          </a:xfrm>
          <a:prstGeom prst="rect">
            <a:avLst/>
          </a:prstGeom>
          <a:noFill/>
          <a:ln/>
        </p:spPr>
        <p:txBody>
          <a:bodyPr wrap="square" lIns="0" tIns="0" rIns="0" bIns="0" rtlCol="0" anchor="ctr"/>
          <a:lstStyle/>
          <a:p>
            <a:pPr algn="l" indent="0" marL="0">
              <a:buNone/>
            </a:pPr>
            <a:r>
              <a:rPr lang="en-US" sz="3000" b="1" dirty="0">
                <a:solidFill>
                  <a:srgbClr val="0E3A3F"/>
                </a:solidFill>
                <a:latin typeface="Georgia" pitchFamily="34" charset="0"/>
                <a:ea typeface="Georgia" pitchFamily="34" charset="-122"/>
                <a:cs typeface="Georgia" pitchFamily="34" charset="-120"/>
              </a:rPr>
              <a:t>Two chains, one estuary — and they share</a:t>
            </a:r>
            <a:endParaRPr lang="en-US" sz="3000" dirty="0"/>
          </a:p>
        </p:txBody>
      </p:sp>
      <p:grpSp>
        <p:nvGrpSpPr>
          <p:cNvPr id="38" name="wb_phyto"/>
          <p:cNvGrpSpPr/>
          <p:nvPr/>
        </p:nvGrpSpPr>
        <p:grpSpPr>
          <a:xfrm>
            <a:off x="566928" y="1883664"/>
            <a:ext cx="1920240" cy="530352"/>
            <a:chOff x="566928" y="1883664"/>
            <a:chExt cx="1920240" cy="530352"/>
          </a:xfrm>
        </p:grpSpPr>
        <p:sp>
          <p:nvSpPr>
            <p:cNvPr id="5" name="wb_phyto_bg"/>
            <p:cNvSpPr/>
            <p:nvPr/>
          </p:nvSpPr>
          <p:spPr>
            <a:xfrm>
              <a:off x="566928" y="1883664"/>
              <a:ext cx="1920240" cy="530352"/>
            </a:xfrm>
            <a:prstGeom prst="roundRect">
              <a:avLst>
                <a:gd name="adj" fmla="val 20690"/>
              </a:avLst>
            </a:prstGeom>
            <a:solidFill>
              <a:srgbClr val="EAF6F0"/>
            </a:solidFill>
            <a:ln w="17780">
              <a:solidFill>
                <a:srgbClr val="2E9E6B"/>
              </a:solidFill>
              <a:prstDash val="solid"/>
            </a:ln>
          </p:spPr>
        </p:sp>
        <p:sp>
          <p:nvSpPr>
            <p:cNvPr id="6" name="wb_phyto_t"/>
            <p:cNvSpPr txBox="1"/>
            <p:nvPr/>
          </p:nvSpPr>
          <p:spPr>
            <a:xfrm>
              <a:off x="658368" y="1883664"/>
              <a:ext cx="1737360" cy="530352"/>
            </a:xfrm>
            <a:prstGeom prst="rect">
              <a:avLst/>
            </a:prstGeom>
            <a:noFill/>
            <a:ln/>
          </p:spPr>
          <p:txBody>
            <a:bodyPr wrap="square" lIns="0" tIns="0" rIns="0" bIns="0" rtlCol="0" anchor="ctr"/>
            <a:lstStyle/>
            <a:p>
              <a:pPr algn="ctr" indent="0" marL="0">
                <a:buNone/>
              </a:pPr>
              <a:r>
                <a:rPr lang="en-US" sz="1150" b="1" dirty="0">
                  <a:solidFill>
                    <a:srgbClr val="14282B"/>
                  </a:solidFill>
                  <a:latin typeface="Arial" pitchFamily="34" charset="0"/>
                  <a:ea typeface="Arial" pitchFamily="34" charset="-122"/>
                  <a:cs typeface="Arial" pitchFamily="34" charset="-120"/>
                </a:rPr>
                <a:t>Phytoplankton</a:t>
              </a:r>
              <a:endParaRPr lang="en-US" sz="1150" dirty="0"/>
            </a:p>
          </p:txBody>
        </p:sp>
      </p:grpSp>
      <p:grpSp>
        <p:nvGrpSpPr>
          <p:cNvPr id="40" name="wb_cope"/>
          <p:cNvGrpSpPr/>
          <p:nvPr/>
        </p:nvGrpSpPr>
        <p:grpSpPr>
          <a:xfrm>
            <a:off x="3035808" y="1883664"/>
            <a:ext cx="1920240" cy="530352"/>
            <a:chOff x="3035808" y="1883664"/>
            <a:chExt cx="1920240" cy="530352"/>
          </a:xfrm>
        </p:grpSpPr>
        <p:sp>
          <p:nvSpPr>
            <p:cNvPr id="7" name="wb_cope_bg"/>
            <p:cNvSpPr/>
            <p:nvPr/>
          </p:nvSpPr>
          <p:spPr>
            <a:xfrm>
              <a:off x="3035808" y="1883664"/>
              <a:ext cx="1920240" cy="530352"/>
            </a:xfrm>
            <a:prstGeom prst="roundRect">
              <a:avLst>
                <a:gd name="adj" fmla="val 20690"/>
              </a:avLst>
            </a:prstGeom>
            <a:solidFill>
              <a:srgbClr val="FFFFFF"/>
            </a:solidFill>
            <a:ln w="17780">
              <a:solidFill>
                <a:srgbClr val="F0E4C8"/>
              </a:solidFill>
              <a:prstDash val="solid"/>
            </a:ln>
          </p:spPr>
        </p:sp>
        <p:sp>
          <p:nvSpPr>
            <p:cNvPr id="8" name="wb_cope_t"/>
            <p:cNvSpPr txBox="1"/>
            <p:nvPr/>
          </p:nvSpPr>
          <p:spPr>
            <a:xfrm>
              <a:off x="3127248" y="1883664"/>
              <a:ext cx="1737360" cy="530352"/>
            </a:xfrm>
            <a:prstGeom prst="rect">
              <a:avLst/>
            </a:prstGeom>
            <a:noFill/>
            <a:ln/>
          </p:spPr>
          <p:txBody>
            <a:bodyPr wrap="square" lIns="0" tIns="0" rIns="0" bIns="0" rtlCol="0" anchor="ctr"/>
            <a:lstStyle/>
            <a:p>
              <a:pPr algn="ctr" indent="0" marL="0">
                <a:buNone/>
              </a:pPr>
              <a:r>
                <a:rPr lang="en-US" sz="1150" b="1" dirty="0">
                  <a:solidFill>
                    <a:srgbClr val="14282B"/>
                  </a:solidFill>
                  <a:latin typeface="Arial" pitchFamily="34" charset="0"/>
                  <a:ea typeface="Arial" pitchFamily="34" charset="-122"/>
                  <a:cs typeface="Arial" pitchFamily="34" charset="-120"/>
                </a:rPr>
                <a:t>Copepod</a:t>
              </a:r>
              <a:endParaRPr lang="en-US" sz="1150" dirty="0"/>
            </a:p>
          </p:txBody>
        </p:sp>
      </p:grpSp>
      <p:grpSp>
        <p:nvGrpSpPr>
          <p:cNvPr id="42" name="wb_plathu"/>
          <p:cNvGrpSpPr/>
          <p:nvPr/>
        </p:nvGrpSpPr>
        <p:grpSpPr>
          <a:xfrm>
            <a:off x="5504688" y="1883664"/>
            <a:ext cx="1920240" cy="530352"/>
            <a:chOff x="5504688" y="1883664"/>
            <a:chExt cx="1920240" cy="530352"/>
          </a:xfrm>
        </p:grpSpPr>
        <p:sp>
          <p:nvSpPr>
            <p:cNvPr id="9" name="wb_plathu_bg"/>
            <p:cNvSpPr/>
            <p:nvPr/>
          </p:nvSpPr>
          <p:spPr>
            <a:xfrm>
              <a:off x="5504688" y="1883664"/>
              <a:ext cx="1920240" cy="530352"/>
            </a:xfrm>
            <a:prstGeom prst="roundRect">
              <a:avLst>
                <a:gd name="adj" fmla="val 20690"/>
              </a:avLst>
            </a:prstGeom>
            <a:solidFill>
              <a:srgbClr val="FFFFFF"/>
            </a:solidFill>
            <a:ln w="17780">
              <a:solidFill>
                <a:srgbClr val="F0E4C8"/>
              </a:solidFill>
              <a:prstDash val="solid"/>
            </a:ln>
          </p:spPr>
        </p:sp>
        <p:sp>
          <p:nvSpPr>
            <p:cNvPr id="10" name="wb_plathu_t"/>
            <p:cNvSpPr txBox="1"/>
            <p:nvPr/>
          </p:nvSpPr>
          <p:spPr>
            <a:xfrm>
              <a:off x="5596128" y="1883664"/>
              <a:ext cx="1737360" cy="530352"/>
            </a:xfrm>
            <a:prstGeom prst="rect">
              <a:avLst/>
            </a:prstGeom>
            <a:noFill/>
            <a:ln/>
          </p:spPr>
          <p:txBody>
            <a:bodyPr wrap="square" lIns="0" tIns="0" rIns="0" bIns="0" rtlCol="0" anchor="ctr"/>
            <a:lstStyle/>
            <a:p>
              <a:pPr algn="ctr" indent="0" marL="0">
                <a:buNone/>
              </a:pPr>
              <a:r>
                <a:rPr lang="en-US" sz="1150" b="1" dirty="0">
                  <a:solidFill>
                    <a:srgbClr val="14282B"/>
                  </a:solidFill>
                  <a:latin typeface="Arial" pitchFamily="34" charset="0"/>
                  <a:ea typeface="Arial" pitchFamily="34" charset="-122"/>
                  <a:cs typeface="Arial" pitchFamily="34" charset="-120"/>
                </a:rPr>
                <a:t>Pla thu</a:t>
              </a:r>
              <a:endParaRPr lang="en-US" sz="1150" dirty="0"/>
            </a:p>
          </p:txBody>
        </p:sp>
      </p:grpSp>
      <p:grpSp>
        <p:nvGrpSpPr>
          <p:cNvPr id="45" name="wb_kapong"/>
          <p:cNvGrpSpPr/>
          <p:nvPr/>
        </p:nvGrpSpPr>
        <p:grpSpPr>
          <a:xfrm>
            <a:off x="7973568" y="1883664"/>
            <a:ext cx="1920240" cy="530352"/>
            <a:chOff x="7973568" y="1883664"/>
            <a:chExt cx="1920240" cy="530352"/>
          </a:xfrm>
        </p:grpSpPr>
        <p:sp>
          <p:nvSpPr>
            <p:cNvPr id="11" name="wb_kapong_bg"/>
            <p:cNvSpPr/>
            <p:nvPr/>
          </p:nvSpPr>
          <p:spPr>
            <a:xfrm>
              <a:off x="7973568" y="1883664"/>
              <a:ext cx="1920240" cy="530352"/>
            </a:xfrm>
            <a:prstGeom prst="roundRect">
              <a:avLst>
                <a:gd name="adj" fmla="val 20690"/>
              </a:avLst>
            </a:prstGeom>
            <a:solidFill>
              <a:srgbClr val="FDF1EC"/>
            </a:solidFill>
            <a:ln w="17780">
              <a:solidFill>
                <a:srgbClr val="E2572B"/>
              </a:solidFill>
              <a:prstDash val="solid"/>
            </a:ln>
          </p:spPr>
        </p:sp>
        <p:sp>
          <p:nvSpPr>
            <p:cNvPr id="12" name="wb_kapong_t"/>
            <p:cNvSpPr txBox="1"/>
            <p:nvPr/>
          </p:nvSpPr>
          <p:spPr>
            <a:xfrm>
              <a:off x="8065008" y="1883664"/>
              <a:ext cx="1737360" cy="530352"/>
            </a:xfrm>
            <a:prstGeom prst="rect">
              <a:avLst/>
            </a:prstGeom>
            <a:noFill/>
            <a:ln/>
          </p:spPr>
          <p:txBody>
            <a:bodyPr wrap="square" lIns="0" tIns="0" rIns="0" bIns="0" rtlCol="0" anchor="ctr"/>
            <a:lstStyle/>
            <a:p>
              <a:pPr algn="ctr" indent="0" marL="0">
                <a:buNone/>
              </a:pPr>
              <a:r>
                <a:rPr lang="en-US" sz="1150" b="1" dirty="0">
                  <a:solidFill>
                    <a:srgbClr val="14282B"/>
                  </a:solidFill>
                  <a:latin typeface="Arial" pitchFamily="34" charset="0"/>
                  <a:ea typeface="Arial" pitchFamily="34" charset="-122"/>
                  <a:cs typeface="Arial" pitchFamily="34" charset="-120"/>
                </a:rPr>
                <a:t>Pla kapong</a:t>
              </a:r>
              <a:endParaRPr lang="en-US" sz="1150" dirty="0"/>
            </a:p>
          </p:txBody>
        </p:sp>
      </p:grpSp>
      <p:grpSp>
        <p:nvGrpSpPr>
          <p:cNvPr id="43" name="wb_mudsk"/>
          <p:cNvGrpSpPr/>
          <p:nvPr/>
        </p:nvGrpSpPr>
        <p:grpSpPr>
          <a:xfrm>
            <a:off x="5504688" y="3127248"/>
            <a:ext cx="1920240" cy="530352"/>
            <a:chOff x="5504688" y="3127248"/>
            <a:chExt cx="1920240" cy="530352"/>
          </a:xfrm>
        </p:grpSpPr>
        <p:sp>
          <p:nvSpPr>
            <p:cNvPr id="13" name="wb_mudsk_bg"/>
            <p:cNvSpPr/>
            <p:nvPr/>
          </p:nvSpPr>
          <p:spPr>
            <a:xfrm>
              <a:off x="5504688" y="3127248"/>
              <a:ext cx="1920240" cy="530352"/>
            </a:xfrm>
            <a:prstGeom prst="roundRect">
              <a:avLst>
                <a:gd name="adj" fmla="val 20690"/>
              </a:avLst>
            </a:prstGeom>
            <a:solidFill>
              <a:srgbClr val="FFFFFF"/>
            </a:solidFill>
            <a:ln w="17780">
              <a:solidFill>
                <a:srgbClr val="F0E4C8"/>
              </a:solidFill>
              <a:prstDash val="solid"/>
            </a:ln>
          </p:spPr>
        </p:sp>
        <p:sp>
          <p:nvSpPr>
            <p:cNvPr id="14" name="wb_mudsk_t"/>
            <p:cNvSpPr txBox="1"/>
            <p:nvPr/>
          </p:nvSpPr>
          <p:spPr>
            <a:xfrm>
              <a:off x="5596128" y="3127248"/>
              <a:ext cx="1737360" cy="530352"/>
            </a:xfrm>
            <a:prstGeom prst="rect">
              <a:avLst/>
            </a:prstGeom>
            <a:noFill/>
            <a:ln/>
          </p:spPr>
          <p:txBody>
            <a:bodyPr wrap="square" lIns="0" tIns="0" rIns="0" bIns="0" rtlCol="0" anchor="ctr"/>
            <a:lstStyle/>
            <a:p>
              <a:pPr algn="ctr" indent="0" marL="0">
                <a:buNone/>
              </a:pPr>
              <a:r>
                <a:rPr lang="en-US" sz="1150" b="1" dirty="0">
                  <a:solidFill>
                    <a:srgbClr val="14282B"/>
                  </a:solidFill>
                  <a:latin typeface="Arial" pitchFamily="34" charset="0"/>
                  <a:ea typeface="Arial" pitchFamily="34" charset="-122"/>
                  <a:cs typeface="Arial" pitchFamily="34" charset="-120"/>
                </a:rPr>
                <a:t>Mudskipper</a:t>
              </a:r>
              <a:endParaRPr lang="en-US" sz="1150" dirty="0"/>
            </a:p>
          </p:txBody>
        </p:sp>
      </p:grpSp>
      <p:grpSp>
        <p:nvGrpSpPr>
          <p:cNvPr id="37" name="wb_mang"/>
          <p:cNvGrpSpPr/>
          <p:nvPr/>
        </p:nvGrpSpPr>
        <p:grpSpPr>
          <a:xfrm>
            <a:off x="566928" y="4370832"/>
            <a:ext cx="1920240" cy="530352"/>
            <a:chOff x="566928" y="4370832"/>
            <a:chExt cx="1920240" cy="530352"/>
          </a:xfrm>
        </p:grpSpPr>
        <p:sp>
          <p:nvSpPr>
            <p:cNvPr id="15" name="wb_mang_bg"/>
            <p:cNvSpPr/>
            <p:nvPr/>
          </p:nvSpPr>
          <p:spPr>
            <a:xfrm>
              <a:off x="566928" y="4370832"/>
              <a:ext cx="1920240" cy="530352"/>
            </a:xfrm>
            <a:prstGeom prst="roundRect">
              <a:avLst>
                <a:gd name="adj" fmla="val 20690"/>
              </a:avLst>
            </a:prstGeom>
            <a:solidFill>
              <a:srgbClr val="EAF6F0"/>
            </a:solidFill>
            <a:ln w="17780">
              <a:solidFill>
                <a:srgbClr val="2E9E6B"/>
              </a:solidFill>
              <a:prstDash val="solid"/>
            </a:ln>
          </p:spPr>
        </p:sp>
        <p:sp>
          <p:nvSpPr>
            <p:cNvPr id="16" name="wb_mang_t"/>
            <p:cNvSpPr txBox="1"/>
            <p:nvPr/>
          </p:nvSpPr>
          <p:spPr>
            <a:xfrm>
              <a:off x="658368" y="4370832"/>
              <a:ext cx="1737360" cy="530352"/>
            </a:xfrm>
            <a:prstGeom prst="rect">
              <a:avLst/>
            </a:prstGeom>
            <a:noFill/>
            <a:ln/>
          </p:spPr>
          <p:txBody>
            <a:bodyPr wrap="square" lIns="0" tIns="0" rIns="0" bIns="0" rtlCol="0" anchor="ctr"/>
            <a:lstStyle/>
            <a:p>
              <a:pPr algn="ctr" indent="0" marL="0">
                <a:buNone/>
              </a:pPr>
              <a:r>
                <a:rPr lang="en-US" sz="1150" b="1" dirty="0">
                  <a:solidFill>
                    <a:srgbClr val="14282B"/>
                  </a:solidFill>
                  <a:latin typeface="Arial" pitchFamily="34" charset="0"/>
                  <a:ea typeface="Arial" pitchFamily="34" charset="-122"/>
                  <a:cs typeface="Arial" pitchFamily="34" charset="-120"/>
                </a:rPr>
                <a:t>Prong mangrove</a:t>
              </a:r>
              <a:endParaRPr lang="en-US" sz="1150" dirty="0"/>
            </a:p>
          </p:txBody>
        </p:sp>
      </p:grpSp>
      <p:grpSp>
        <p:nvGrpSpPr>
          <p:cNvPr id="39" name="wb_sesar"/>
          <p:cNvGrpSpPr/>
          <p:nvPr/>
        </p:nvGrpSpPr>
        <p:grpSpPr>
          <a:xfrm>
            <a:off x="3035808" y="4370832"/>
            <a:ext cx="1920240" cy="530352"/>
            <a:chOff x="3035808" y="4370832"/>
            <a:chExt cx="1920240" cy="530352"/>
          </a:xfrm>
        </p:grpSpPr>
        <p:sp>
          <p:nvSpPr>
            <p:cNvPr id="17" name="wb_sesar_bg"/>
            <p:cNvSpPr/>
            <p:nvPr/>
          </p:nvSpPr>
          <p:spPr>
            <a:xfrm>
              <a:off x="3035808" y="4370832"/>
              <a:ext cx="1920240" cy="530352"/>
            </a:xfrm>
            <a:prstGeom prst="roundRect">
              <a:avLst>
                <a:gd name="adj" fmla="val 20690"/>
              </a:avLst>
            </a:prstGeom>
            <a:solidFill>
              <a:srgbClr val="FFFFFF"/>
            </a:solidFill>
            <a:ln w="17780">
              <a:solidFill>
                <a:srgbClr val="F0E4C8"/>
              </a:solidFill>
              <a:prstDash val="solid"/>
            </a:ln>
          </p:spPr>
        </p:sp>
        <p:sp>
          <p:nvSpPr>
            <p:cNvPr id="18" name="wb_sesar_t"/>
            <p:cNvSpPr txBox="1"/>
            <p:nvPr/>
          </p:nvSpPr>
          <p:spPr>
            <a:xfrm>
              <a:off x="3127248" y="4370832"/>
              <a:ext cx="1737360" cy="530352"/>
            </a:xfrm>
            <a:prstGeom prst="rect">
              <a:avLst/>
            </a:prstGeom>
            <a:noFill/>
            <a:ln/>
          </p:spPr>
          <p:txBody>
            <a:bodyPr wrap="square" lIns="0" tIns="0" rIns="0" bIns="0" rtlCol="0" anchor="ctr"/>
            <a:lstStyle/>
            <a:p>
              <a:pPr algn="ctr" indent="0" marL="0">
                <a:buNone/>
              </a:pPr>
              <a:r>
                <a:rPr lang="en-US" sz="1150" b="1" dirty="0">
                  <a:solidFill>
                    <a:srgbClr val="14282B"/>
                  </a:solidFill>
                  <a:latin typeface="Arial" pitchFamily="34" charset="0"/>
                  <a:ea typeface="Arial" pitchFamily="34" charset="-122"/>
                  <a:cs typeface="Arial" pitchFamily="34" charset="-120"/>
                </a:rPr>
                <a:t>ปูแสม crab</a:t>
              </a:r>
              <a:endParaRPr lang="en-US" sz="1150" dirty="0"/>
            </a:p>
          </p:txBody>
        </p:sp>
      </p:grpSp>
      <p:grpSp>
        <p:nvGrpSpPr>
          <p:cNvPr id="41" name="wb_muddy"/>
          <p:cNvGrpSpPr/>
          <p:nvPr/>
        </p:nvGrpSpPr>
        <p:grpSpPr>
          <a:xfrm>
            <a:off x="5504688" y="4370832"/>
            <a:ext cx="1920240" cy="530352"/>
            <a:chOff x="5504688" y="4370832"/>
            <a:chExt cx="1920240" cy="530352"/>
          </a:xfrm>
        </p:grpSpPr>
        <p:sp>
          <p:nvSpPr>
            <p:cNvPr id="19" name="wb_muddy_bg"/>
            <p:cNvSpPr/>
            <p:nvPr/>
          </p:nvSpPr>
          <p:spPr>
            <a:xfrm>
              <a:off x="5504688" y="4370832"/>
              <a:ext cx="1920240" cy="530352"/>
            </a:xfrm>
            <a:prstGeom prst="roundRect">
              <a:avLst>
                <a:gd name="adj" fmla="val 20690"/>
              </a:avLst>
            </a:prstGeom>
            <a:solidFill>
              <a:srgbClr val="FFFFFF"/>
            </a:solidFill>
            <a:ln w="17780">
              <a:solidFill>
                <a:srgbClr val="F0E4C8"/>
              </a:solidFill>
              <a:prstDash val="solid"/>
            </a:ln>
          </p:spPr>
        </p:sp>
        <p:sp>
          <p:nvSpPr>
            <p:cNvPr id="20" name="wb_muddy_t"/>
            <p:cNvSpPr txBox="1"/>
            <p:nvPr/>
          </p:nvSpPr>
          <p:spPr>
            <a:xfrm>
              <a:off x="5596128" y="4370832"/>
              <a:ext cx="1737360" cy="530352"/>
            </a:xfrm>
            <a:prstGeom prst="rect">
              <a:avLst/>
            </a:prstGeom>
            <a:noFill/>
            <a:ln/>
          </p:spPr>
          <p:txBody>
            <a:bodyPr wrap="square" lIns="0" tIns="0" rIns="0" bIns="0" rtlCol="0" anchor="ctr"/>
            <a:lstStyle/>
            <a:p>
              <a:pPr algn="ctr" indent="0" marL="0">
                <a:buNone/>
              </a:pPr>
              <a:r>
                <a:rPr lang="en-US" sz="1150" b="1" dirty="0">
                  <a:solidFill>
                    <a:srgbClr val="14282B"/>
                  </a:solidFill>
                  <a:latin typeface="Arial" pitchFamily="34" charset="0"/>
                  <a:ea typeface="Arial" pitchFamily="34" charset="-122"/>
                  <a:cs typeface="Arial" pitchFamily="34" charset="-120"/>
                </a:rPr>
                <a:t>ปูดำ crab</a:t>
              </a:r>
              <a:endParaRPr lang="en-US" sz="1150" dirty="0"/>
            </a:p>
          </p:txBody>
        </p:sp>
      </p:grpSp>
      <p:grpSp>
        <p:nvGrpSpPr>
          <p:cNvPr id="44" name="wb_egret"/>
          <p:cNvGrpSpPr/>
          <p:nvPr/>
        </p:nvGrpSpPr>
        <p:grpSpPr>
          <a:xfrm>
            <a:off x="7973568" y="4370832"/>
            <a:ext cx="1920240" cy="530352"/>
            <a:chOff x="7973568" y="4370832"/>
            <a:chExt cx="1920240" cy="530352"/>
          </a:xfrm>
        </p:grpSpPr>
        <p:sp>
          <p:nvSpPr>
            <p:cNvPr id="21" name="wb_egret_bg"/>
            <p:cNvSpPr/>
            <p:nvPr/>
          </p:nvSpPr>
          <p:spPr>
            <a:xfrm>
              <a:off x="7973568" y="4370832"/>
              <a:ext cx="1920240" cy="530352"/>
            </a:xfrm>
            <a:prstGeom prst="roundRect">
              <a:avLst>
                <a:gd name="adj" fmla="val 20690"/>
              </a:avLst>
            </a:prstGeom>
            <a:solidFill>
              <a:srgbClr val="FFFFFF"/>
            </a:solidFill>
            <a:ln w="17780">
              <a:solidFill>
                <a:srgbClr val="F0E4C8"/>
              </a:solidFill>
              <a:prstDash val="solid"/>
            </a:ln>
          </p:spPr>
        </p:sp>
        <p:sp>
          <p:nvSpPr>
            <p:cNvPr id="22" name="wb_egret_t"/>
            <p:cNvSpPr txBox="1"/>
            <p:nvPr/>
          </p:nvSpPr>
          <p:spPr>
            <a:xfrm>
              <a:off x="8065008" y="4370832"/>
              <a:ext cx="1737360" cy="530352"/>
            </a:xfrm>
            <a:prstGeom prst="rect">
              <a:avLst/>
            </a:prstGeom>
            <a:noFill/>
            <a:ln/>
          </p:spPr>
          <p:txBody>
            <a:bodyPr wrap="square" lIns="0" tIns="0" rIns="0" bIns="0" rtlCol="0" anchor="ctr"/>
            <a:lstStyle/>
            <a:p>
              <a:pPr algn="ctr" indent="0" marL="0">
                <a:buNone/>
              </a:pPr>
              <a:r>
                <a:rPr lang="en-US" sz="1150" b="1" dirty="0">
                  <a:solidFill>
                    <a:srgbClr val="14282B"/>
                  </a:solidFill>
                  <a:latin typeface="Arial" pitchFamily="34" charset="0"/>
                  <a:ea typeface="Arial" pitchFamily="34" charset="-122"/>
                  <a:cs typeface="Arial" pitchFamily="34" charset="-120"/>
                </a:rPr>
                <a:t>Little egret</a:t>
              </a:r>
              <a:endParaRPr lang="en-US" sz="1150" dirty="0"/>
            </a:p>
          </p:txBody>
        </p:sp>
      </p:grpSp>
      <p:sp>
        <p:nvSpPr>
          <p:cNvPr id="23" name="wb_e0"/>
          <p:cNvSpPr/>
          <p:nvPr/>
        </p:nvSpPr>
        <p:spPr>
          <a:xfrm>
            <a:off x="2542032" y="4553712"/>
            <a:ext cx="438912" cy="164592"/>
          </a:xfrm>
          <a:prstGeom prst="rightArrow">
            <a:avLst/>
          </a:prstGeom>
          <a:solidFill>
            <a:srgbClr val="F5B301"/>
          </a:solidFill>
          <a:ln w="12700">
            <a:solidFill>
              <a:srgbClr val="F5B301"/>
            </a:solidFill>
            <a:prstDash val="solid"/>
          </a:ln>
        </p:spPr>
      </p:sp>
      <p:sp>
        <p:nvSpPr>
          <p:cNvPr id="24" name="wb_e1"/>
          <p:cNvSpPr/>
          <p:nvPr/>
        </p:nvSpPr>
        <p:spPr>
          <a:xfrm>
            <a:off x="5010912" y="4553712"/>
            <a:ext cx="438912" cy="164592"/>
          </a:xfrm>
          <a:prstGeom prst="rightArrow">
            <a:avLst/>
          </a:prstGeom>
          <a:solidFill>
            <a:srgbClr val="F5B301"/>
          </a:solidFill>
          <a:ln w="12700">
            <a:solidFill>
              <a:srgbClr val="F5B301"/>
            </a:solidFill>
            <a:prstDash val="solid"/>
          </a:ln>
        </p:spPr>
      </p:sp>
      <p:sp>
        <p:nvSpPr>
          <p:cNvPr id="25" name="wb_e2"/>
          <p:cNvSpPr/>
          <p:nvPr/>
        </p:nvSpPr>
        <p:spPr>
          <a:xfrm>
            <a:off x="7479792" y="4553712"/>
            <a:ext cx="438912" cy="164592"/>
          </a:xfrm>
          <a:prstGeom prst="rightArrow">
            <a:avLst/>
          </a:prstGeom>
          <a:solidFill>
            <a:srgbClr val="F5B301"/>
          </a:solidFill>
          <a:ln w="12700">
            <a:solidFill>
              <a:srgbClr val="F5B301"/>
            </a:solidFill>
            <a:prstDash val="solid"/>
          </a:ln>
        </p:spPr>
      </p:sp>
      <p:sp>
        <p:nvSpPr>
          <p:cNvPr id="26" name="wb_e3"/>
          <p:cNvSpPr/>
          <p:nvPr/>
        </p:nvSpPr>
        <p:spPr>
          <a:xfrm>
            <a:off x="2542032" y="2066544"/>
            <a:ext cx="438912" cy="164592"/>
          </a:xfrm>
          <a:prstGeom prst="rightArrow">
            <a:avLst/>
          </a:prstGeom>
          <a:solidFill>
            <a:srgbClr val="2E9E6B"/>
          </a:solidFill>
          <a:ln w="12700">
            <a:solidFill>
              <a:srgbClr val="2E9E6B"/>
            </a:solidFill>
            <a:prstDash val="solid"/>
          </a:ln>
        </p:spPr>
      </p:sp>
      <p:sp>
        <p:nvSpPr>
          <p:cNvPr id="27" name="wb_e4"/>
          <p:cNvSpPr/>
          <p:nvPr/>
        </p:nvSpPr>
        <p:spPr>
          <a:xfrm>
            <a:off x="5010912" y="2066544"/>
            <a:ext cx="438912" cy="164592"/>
          </a:xfrm>
          <a:prstGeom prst="rightArrow">
            <a:avLst/>
          </a:prstGeom>
          <a:solidFill>
            <a:srgbClr val="2E9E6B"/>
          </a:solidFill>
          <a:ln w="12700">
            <a:solidFill>
              <a:srgbClr val="2E9E6B"/>
            </a:solidFill>
            <a:prstDash val="solid"/>
          </a:ln>
        </p:spPr>
      </p:sp>
      <p:sp>
        <p:nvSpPr>
          <p:cNvPr id="28" name="wb_e5"/>
          <p:cNvSpPr/>
          <p:nvPr/>
        </p:nvSpPr>
        <p:spPr>
          <a:xfrm>
            <a:off x="7479792" y="2066544"/>
            <a:ext cx="438912" cy="164592"/>
          </a:xfrm>
          <a:prstGeom prst="rightArrow">
            <a:avLst/>
          </a:prstGeom>
          <a:solidFill>
            <a:srgbClr val="2E9E6B"/>
          </a:solidFill>
          <a:ln w="12700">
            <a:solidFill>
              <a:srgbClr val="2E9E6B"/>
            </a:solidFill>
            <a:prstDash val="solid"/>
          </a:ln>
        </p:spPr>
      </p:sp>
      <p:sp>
        <p:nvSpPr>
          <p:cNvPr id="29" name="wb_e6"/>
          <p:cNvSpPr/>
          <p:nvPr/>
        </p:nvSpPr>
        <p:spPr>
          <a:xfrm rot="1977768">
            <a:off x="3906056" y="2820924"/>
            <a:ext cx="1688504" cy="164592"/>
          </a:xfrm>
          <a:prstGeom prst="rightArrow">
            <a:avLst/>
          </a:prstGeom>
          <a:solidFill>
            <a:srgbClr val="17505A"/>
          </a:solidFill>
          <a:ln w="12700">
            <a:solidFill>
              <a:srgbClr val="17505A"/>
            </a:solidFill>
            <a:prstDash val="solid"/>
          </a:ln>
        </p:spPr>
      </p:sp>
      <p:sp>
        <p:nvSpPr>
          <p:cNvPr id="30" name="wb_e7"/>
          <p:cNvSpPr/>
          <p:nvPr/>
        </p:nvSpPr>
        <p:spPr>
          <a:xfrm rot="1977768">
            <a:off x="7335056" y="3799332"/>
            <a:ext cx="1688504" cy="164592"/>
          </a:xfrm>
          <a:prstGeom prst="rightArrow">
            <a:avLst/>
          </a:prstGeom>
          <a:solidFill>
            <a:srgbClr val="17505A"/>
          </a:solidFill>
          <a:ln w="12700">
            <a:solidFill>
              <a:srgbClr val="17505A"/>
            </a:solidFill>
            <a:prstDash val="solid"/>
          </a:ln>
        </p:spPr>
      </p:sp>
      <p:sp>
        <p:nvSpPr>
          <p:cNvPr id="31" name="wb_e8"/>
          <p:cNvSpPr/>
          <p:nvPr/>
        </p:nvSpPr>
        <p:spPr>
          <a:xfrm rot="-966805">
            <a:off x="6469193" y="2688336"/>
            <a:ext cx="2460110" cy="164592"/>
          </a:xfrm>
          <a:prstGeom prst="rightArrow">
            <a:avLst/>
          </a:prstGeom>
          <a:solidFill>
            <a:srgbClr val="17505A"/>
          </a:solidFill>
          <a:ln w="12700">
            <a:solidFill>
              <a:srgbClr val="17505A"/>
            </a:solidFill>
            <a:prstDash val="solid"/>
          </a:ln>
        </p:spPr>
      </p:sp>
      <p:sp>
        <p:nvSpPr>
          <p:cNvPr id="32" name="wb_lab_water"/>
          <p:cNvSpPr txBox="1"/>
          <p:nvPr/>
        </p:nvSpPr>
        <p:spPr>
          <a:xfrm>
            <a:off x="566928" y="1554480"/>
            <a:ext cx="2377440" cy="274320"/>
          </a:xfrm>
          <a:prstGeom prst="rect">
            <a:avLst/>
          </a:prstGeom>
          <a:noFill/>
          <a:ln/>
        </p:spPr>
        <p:txBody>
          <a:bodyPr wrap="square" lIns="0" tIns="0" rIns="0" bIns="0" rtlCol="0" anchor="ctr"/>
          <a:lstStyle/>
          <a:p>
            <a:pPr indent="0" marL="0">
              <a:buNone/>
            </a:pPr>
            <a:r>
              <a:rPr lang="en-US" sz="1100" b="1" dirty="0">
                <a:solidFill>
                  <a:srgbClr val="2E9E6B"/>
                </a:solidFill>
                <a:latin typeface="Arial" pitchFamily="34" charset="0"/>
                <a:ea typeface="Arial" pitchFamily="34" charset="-122"/>
                <a:cs typeface="Arial" pitchFamily="34" charset="-120"/>
              </a:rPr>
              <a:t>The water chain</a:t>
            </a:r>
            <a:endParaRPr lang="en-US" sz="1100" dirty="0"/>
          </a:p>
        </p:txBody>
      </p:sp>
      <p:sp>
        <p:nvSpPr>
          <p:cNvPr id="33" name="wb_lab_mud"/>
          <p:cNvSpPr txBox="1"/>
          <p:nvPr/>
        </p:nvSpPr>
        <p:spPr>
          <a:xfrm>
            <a:off x="566928" y="4974336"/>
            <a:ext cx="2377440" cy="274320"/>
          </a:xfrm>
          <a:prstGeom prst="rect">
            <a:avLst/>
          </a:prstGeom>
          <a:noFill/>
          <a:ln/>
        </p:spPr>
        <p:txBody>
          <a:bodyPr wrap="square" lIns="0" tIns="0" rIns="0" bIns="0" rtlCol="0" anchor="ctr"/>
          <a:lstStyle/>
          <a:p>
            <a:pPr indent="0" marL="0">
              <a:buNone/>
            </a:pPr>
            <a:r>
              <a:rPr lang="en-US" sz="1100" b="1" dirty="0">
                <a:solidFill>
                  <a:srgbClr val="F5B301"/>
                </a:solidFill>
                <a:latin typeface="Arial" pitchFamily="34" charset="0"/>
                <a:ea typeface="Arial" pitchFamily="34" charset="-122"/>
                <a:cs typeface="Arial" pitchFamily="34" charset="-120"/>
              </a:rPr>
              <a:t>The mud chain</a:t>
            </a:r>
            <a:endParaRPr lang="en-US" sz="1100" dirty="0"/>
          </a:p>
        </p:txBody>
      </p:sp>
      <p:grpSp>
        <p:nvGrpSpPr>
          <p:cNvPr id="46" name="wb_note"/>
          <p:cNvGrpSpPr/>
          <p:nvPr/>
        </p:nvGrpSpPr>
        <p:grpSpPr>
          <a:xfrm>
            <a:off x="10131552" y="2505456"/>
            <a:ext cx="1557223" cy="2103120"/>
            <a:chOff x="10131552" y="2505456"/>
            <a:chExt cx="1557223" cy="2103120"/>
          </a:xfrm>
        </p:grpSpPr>
        <p:sp>
          <p:nvSpPr>
            <p:cNvPr id="34" name="wb_note_bg"/>
            <p:cNvSpPr/>
            <p:nvPr/>
          </p:nvSpPr>
          <p:spPr>
            <a:xfrm>
              <a:off x="10131552" y="2505456"/>
              <a:ext cx="1557223" cy="2103120"/>
            </a:xfrm>
            <a:prstGeom prst="roundRect">
              <a:avLst>
                <a:gd name="adj" fmla="val 8221"/>
              </a:avLst>
            </a:prstGeom>
            <a:solidFill>
              <a:srgbClr val="F7F5EE"/>
            </a:solidFill>
            <a:ln w="15875">
              <a:solidFill>
                <a:srgbClr val="F0E4C8"/>
              </a:solidFill>
              <a:prstDash val="solid"/>
            </a:ln>
          </p:spPr>
        </p:sp>
        <p:sp>
          <p:nvSpPr>
            <p:cNvPr id="35" name="wb_note_t"/>
            <p:cNvSpPr txBox="1"/>
            <p:nvPr/>
          </p:nvSpPr>
          <p:spPr>
            <a:xfrm>
              <a:off x="10296144" y="2651760"/>
              <a:ext cx="1228039" cy="1828800"/>
            </a:xfrm>
            <a:prstGeom prst="rect">
              <a:avLst/>
            </a:prstGeom>
            <a:noFill/>
            <a:ln/>
          </p:spPr>
          <p:txBody>
            <a:bodyPr wrap="square" lIns="0" tIns="0" rIns="0" bIns="0" rtlCol="0" anchor="t"/>
            <a:lstStyle/>
            <a:p>
              <a:pPr indent="0" marL="0">
                <a:lnSpc>
                  <a:spcPts val="1400"/>
                </a:lnSpc>
                <a:buNone/>
              </a:pPr>
              <a:r>
                <a:rPr lang="en-US" sz="1100" dirty="0">
                  <a:solidFill>
                    <a:srgbClr val="14282B"/>
                  </a:solidFill>
                  <a:latin typeface="Arial" pitchFamily="34" charset="0"/>
                  <a:ea typeface="Arial" pitchFamily="34" charset="-122"/>
                  <a:cs typeface="Arial" pitchFamily="34" charset="-120"/>
                </a:rPr>
                <a:t>A food web is not a bigger chain.</a:t>
              </a:r>
              <a:endParaRPr lang="en-US" sz="1100" dirty="0"/>
            </a:p>
            <a:p>
              <a:pPr indent="0" marL="0">
                <a:lnSpc>
                  <a:spcPts val="1400"/>
                </a:lnSpc>
                <a:buNone/>
              </a:pPr>
              <a:endParaRPr lang="en-US" sz="1100" dirty="0"/>
            </a:p>
            <a:p>
              <a:pPr indent="0" marL="0">
                <a:lnSpc>
                  <a:spcPts val="1400"/>
                </a:lnSpc>
                <a:buNone/>
              </a:pPr>
              <a:r>
                <a:rPr lang="en-US" sz="1100" dirty="0">
                  <a:solidFill>
                    <a:srgbClr val="14282B"/>
                  </a:solidFill>
                  <a:latin typeface="Arial" pitchFamily="34" charset="0"/>
                  <a:ea typeface="Arial" pitchFamily="34" charset="-122"/>
                  <a:cs typeface="Arial" pitchFamily="34" charset="-120"/>
                </a:rPr>
                <a:t>It is the alternative routes — and alternatives are what keep an estuary standing when one species has a bad year.</a:t>
              </a:r>
              <a:endParaRPr lang="en-US" sz="1100" dirty="0"/>
            </a:p>
          </p:txBody>
        </p:sp>
      </p:grpSp>
      <p:sp>
        <p:nvSpPr>
          <p:cNvPr id="36" name="wb_decomp"/>
          <p:cNvSpPr/>
          <p:nvPr/>
        </p:nvSpPr>
        <p:spPr>
          <a:xfrm>
            <a:off x="502920" y="5504688"/>
            <a:ext cx="6035040" cy="475488"/>
          </a:xfrm>
          <a:prstGeom prst="roundRect">
            <a:avLst>
              <a:gd name="adj" fmla="val 19231"/>
            </a:avLst>
          </a:prstGeom>
          <a:solidFill>
            <a:srgbClr val="0E3A3F"/>
          </a:solidFill>
          <a:ln>
            <a:solidFill>
              <a:srgbClr val="0E3A3F"/>
            </a:solidFill>
          </a:ln>
        </p:spPr>
        <p:txBody>
          <a:bodyPr wrap="square" lIns="0" tIns="0" rIns="0" bIns="0" rtlCol="0" anchor="ctr"/>
          <a:lstStyle/>
          <a:p>
            <a:pPr algn="ctr" indent="0" marL="0">
              <a:buNone/>
            </a:pPr>
            <a:r>
              <a:rPr lang="en-US" sz="1250" b="1" dirty="0">
                <a:solidFill>
                  <a:srgbClr val="F5B301"/>
                </a:solidFill>
                <a:latin typeface="Arial" pitchFamily="34" charset="0"/>
                <a:ea typeface="Arial" pitchFamily="34" charset="-122"/>
                <a:cs typeface="Arial" pitchFamily="34" charset="-120"/>
              </a:rPr>
              <a:t>Decomposers feed on every single box on this slide.</a:t>
            </a:r>
            <a:endParaRPr lang="en-US" sz="12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5" presetID="10" presetClass="entr" presetSubtype="0" fill="hold" grpId="0" nodeType="clickEffect">
                                  <p:stCondLst>
                                    <p:cond delay="0"/>
                                  </p:stCondLst>
                                  <p:childTnLst>
                                    <p:set>
                                      <p:cBhvr>
                                        <p:cTn id="3" dur="1" fill="hold">
                                          <p:stCondLst>
                                            <p:cond delay="0"/>
                                          </p:stCondLst>
                                        </p:cTn>
                                        <p:tgtEl>
                                          <p:spTgt spid="37"/>
                                        </p:tgtEl>
                                        <p:attrNameLst>
                                          <p:attrName>style.visibility</p:attrName>
                                        </p:attrNameLst>
                                      </p:cBhvr>
                                      <p:to>
                                        <p:strVal val="visible"/>
                                      </p:to>
                                    </p:set>
                                    <p:animEffect transition="in" filter="fade">
                                      <p:cBhvr>
                                        <p:cTn id="4" dur="500"/>
                                        <p:tgtEl>
                                          <p:spTgt spid="37"/>
                                        </p:tgtEl>
                                      </p:cBhvr>
                                    </p:animEffect>
                                  </p:childTnLst>
                                </p:cTn>
                              </p:par>
                              <p:par>
                                <p:cTn id="8" presetID="10" presetClass="entr" presetSubtype="0" fill="hold" grpId="0" nodeType="withEffect">
                                  <p:stCondLst>
                                    <p:cond delay="15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500"/>
                                        <p:tgtEl>
                                          <p:spTgt spid="33"/>
                                        </p:tgtEl>
                                      </p:cBhvr>
                                    </p:animEffect>
                                  </p:childTnLst>
                                </p:cTn>
                              </p:par>
                            </p:childTnLst>
                          </p:cTn>
                        </p:par>
                      </p:childTnLst>
                    </p:cTn>
                  </p:par>
                  <p:par>
                    <p:cTn id="17" fill="hold">
                      <p:stCondLst>
                        <p:cond delay="indefinite"/>
                      </p:stCondLst>
                      <p:childTnLst>
                        <p:par>
                          <p:cTn id="18" fill="hold">
                            <p:stCondLst>
                              <p:cond delay="0"/>
                            </p:stCondLst>
                            <p:childTnLst>
                              <p:par>
                                <p:cTn id="13" presetID="22" presetClass="entr" presetSubtype="8"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wipe(right)">
                                      <p:cBhvr>
                                        <p:cTn id="12" dur="500"/>
                                        <p:tgtEl>
                                          <p:spTgt spid="23"/>
                                        </p:tgtEl>
                                      </p:cBhvr>
                                    </p:animEffect>
                                  </p:childTnLst>
                                </p:cTn>
                              </p:par>
                              <p:par>
                                <p:cTn id="16" presetID="10" presetClass="entr" presetSubtype="0" fill="hold" grpId="0" nodeType="withEffect">
                                  <p:stCondLst>
                                    <p:cond delay="200"/>
                                  </p:stCondLst>
                                  <p:childTnLst>
                                    <p:set>
                                      <p:cBhvr>
                                        <p:cTn id="14" dur="1" fill="hold">
                                          <p:stCondLst>
                                            <p:cond delay="0"/>
                                          </p:stCondLst>
                                        </p:cTn>
                                        <p:tgtEl>
                                          <p:spTgt spid="39"/>
                                        </p:tgtEl>
                                        <p:attrNameLst>
                                          <p:attrName>style.visibility</p:attrName>
                                        </p:attrNameLst>
                                      </p:cBhvr>
                                      <p:to>
                                        <p:strVal val="visible"/>
                                      </p:to>
                                    </p:set>
                                    <p:animEffect transition="in" filter="fade">
                                      <p:cBhvr>
                                        <p:cTn id="15" dur="500"/>
                                        <p:tgtEl>
                                          <p:spTgt spid="39"/>
                                        </p:tgtEl>
                                      </p:cBhvr>
                                    </p:animEffect>
                                  </p:childTnLst>
                                </p:cTn>
                              </p:par>
                            </p:childTnLst>
                          </p:cTn>
                        </p:par>
                      </p:childTnLst>
                    </p:cTn>
                  </p:par>
                  <p:par>
                    <p:cTn id="25" fill="hold">
                      <p:stCondLst>
                        <p:cond delay="indefinite"/>
                      </p:stCondLst>
                      <p:childTnLst>
                        <p:par>
                          <p:cTn id="26" fill="hold">
                            <p:stCondLst>
                              <p:cond delay="0"/>
                            </p:stCondLst>
                            <p:childTnLst>
                              <p:par>
                                <p:cTn id="21" presetID="22" presetClass="entr" presetSubtype="8" fill="hold" grpId="0" nodeType="click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wipe(right)">
                                      <p:cBhvr>
                                        <p:cTn id="20" dur="500"/>
                                        <p:tgtEl>
                                          <p:spTgt spid="24"/>
                                        </p:tgtEl>
                                      </p:cBhvr>
                                    </p:animEffect>
                                  </p:childTnLst>
                                </p:cTn>
                              </p:par>
                              <p:par>
                                <p:cTn id="24" presetID="10" presetClass="entr" presetSubtype="0" fill="hold" grpId="0" nodeType="withEffect">
                                  <p:stCondLst>
                                    <p:cond delay="200"/>
                                  </p:stCondLst>
                                  <p:childTnLst>
                                    <p:set>
                                      <p:cBhvr>
                                        <p:cTn id="22" dur="1" fill="hold">
                                          <p:stCondLst>
                                            <p:cond delay="0"/>
                                          </p:stCondLst>
                                        </p:cTn>
                                        <p:tgtEl>
                                          <p:spTgt spid="41"/>
                                        </p:tgtEl>
                                        <p:attrNameLst>
                                          <p:attrName>style.visibility</p:attrName>
                                        </p:attrNameLst>
                                      </p:cBhvr>
                                      <p:to>
                                        <p:strVal val="visible"/>
                                      </p:to>
                                    </p:set>
                                    <p:animEffect transition="in" filter="fade">
                                      <p:cBhvr>
                                        <p:cTn id="23" dur="500"/>
                                        <p:tgtEl>
                                          <p:spTgt spid="41"/>
                                        </p:tgtEl>
                                      </p:cBhvr>
                                    </p:animEffect>
                                  </p:childTnLst>
                                </p:cTn>
                              </p:par>
                            </p:childTnLst>
                          </p:cTn>
                        </p:par>
                      </p:childTnLst>
                    </p:cTn>
                  </p:par>
                  <p:par>
                    <p:cTn id="33" fill="hold">
                      <p:stCondLst>
                        <p:cond delay="indefinite"/>
                      </p:stCondLst>
                      <p:childTnLst>
                        <p:par>
                          <p:cTn id="34" fill="hold">
                            <p:stCondLst>
                              <p:cond delay="0"/>
                            </p:stCondLst>
                            <p:childTnLst>
                              <p:par>
                                <p:cTn id="29" presetID="22" presetClass="entr" presetSubtype="8" fill="hold" grpId="0" nodeType="click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wipe(right)">
                                      <p:cBhvr>
                                        <p:cTn id="28" dur="500"/>
                                        <p:tgtEl>
                                          <p:spTgt spid="25"/>
                                        </p:tgtEl>
                                      </p:cBhvr>
                                    </p:animEffect>
                                  </p:childTnLst>
                                </p:cTn>
                              </p:par>
                              <p:par>
                                <p:cTn id="32" presetID="10" presetClass="entr" presetSubtype="0" fill="hold" grpId="0" nodeType="withEffect">
                                  <p:stCondLst>
                                    <p:cond delay="200"/>
                                  </p:stCondLst>
                                  <p:childTnLst>
                                    <p:set>
                                      <p:cBhvr>
                                        <p:cTn id="30" dur="1" fill="hold">
                                          <p:stCondLst>
                                            <p:cond delay="0"/>
                                          </p:stCondLst>
                                        </p:cTn>
                                        <p:tgtEl>
                                          <p:spTgt spid="44"/>
                                        </p:tgtEl>
                                        <p:attrNameLst>
                                          <p:attrName>style.visibility</p:attrName>
                                        </p:attrNameLst>
                                      </p:cBhvr>
                                      <p:to>
                                        <p:strVal val="visible"/>
                                      </p:to>
                                    </p:set>
                                    <p:animEffect transition="in" filter="fade">
                                      <p:cBhvr>
                                        <p:cTn id="31" dur="500"/>
                                        <p:tgtEl>
                                          <p:spTgt spid="44"/>
                                        </p:tgtEl>
                                      </p:cBhvr>
                                    </p:animEffect>
                                  </p:childTnLst>
                                </p:cTn>
                              </p:par>
                            </p:childTnLst>
                          </p:cTn>
                        </p:par>
                      </p:childTnLst>
                    </p:cTn>
                  </p:par>
                  <p:par>
                    <p:cTn id="41" fill="hold">
                      <p:stCondLst>
                        <p:cond delay="indefinite"/>
                      </p:stCondLst>
                      <p:childTnLst>
                        <p:par>
                          <p:cTn id="42" fill="hold">
                            <p:stCondLst>
                              <p:cond delay="0"/>
                            </p:stCondLst>
                            <p:childTnLst>
                              <p:par>
                                <p:cTn id="37" presetID="10" presetClass="entr" presetSubtype="0" fill="hold" grpId="0" nodeType="clickEffect">
                                  <p:stCondLst>
                                    <p:cond delay="0"/>
                                  </p:stCondLst>
                                  <p:childTnLst>
                                    <p:set>
                                      <p:cBhvr>
                                        <p:cTn id="35" dur="1" fill="hold">
                                          <p:stCondLst>
                                            <p:cond delay="0"/>
                                          </p:stCondLst>
                                        </p:cTn>
                                        <p:tgtEl>
                                          <p:spTgt spid="38"/>
                                        </p:tgtEl>
                                        <p:attrNameLst>
                                          <p:attrName>style.visibility</p:attrName>
                                        </p:attrNameLst>
                                      </p:cBhvr>
                                      <p:to>
                                        <p:strVal val="visible"/>
                                      </p:to>
                                    </p:set>
                                    <p:animEffect transition="in" filter="fade">
                                      <p:cBhvr>
                                        <p:cTn id="36" dur="500"/>
                                        <p:tgtEl>
                                          <p:spTgt spid="38"/>
                                        </p:tgtEl>
                                      </p:cBhvr>
                                    </p:animEffect>
                                  </p:childTnLst>
                                </p:cTn>
                              </p:par>
                              <p:par>
                                <p:cTn id="40" presetID="10" presetClass="entr" presetSubtype="0" fill="hold" grpId="0" nodeType="withEffect">
                                  <p:stCondLst>
                                    <p:cond delay="15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500"/>
                                        <p:tgtEl>
                                          <p:spTgt spid="32"/>
                                        </p:tgtEl>
                                      </p:cBhvr>
                                    </p:animEffect>
                                  </p:childTnLst>
                                </p:cTn>
                              </p:par>
                            </p:childTnLst>
                          </p:cTn>
                        </p:par>
                      </p:childTnLst>
                    </p:cTn>
                  </p:par>
                  <p:par>
                    <p:cTn id="49" fill="hold">
                      <p:stCondLst>
                        <p:cond delay="indefinite"/>
                      </p:stCondLst>
                      <p:childTnLst>
                        <p:par>
                          <p:cTn id="50" fill="hold">
                            <p:stCondLst>
                              <p:cond delay="0"/>
                            </p:stCondLst>
                            <p:childTnLst>
                              <p:par>
                                <p:cTn id="45" presetID="22" presetClass="entr" presetSubtype="8" fill="hold" grpId="0" nodeType="clickEffect">
                                  <p:stCondLst>
                                    <p:cond delay="0"/>
                                  </p:stCondLst>
                                  <p:childTnLst>
                                    <p:set>
                                      <p:cBhvr>
                                        <p:cTn id="43" dur="1" fill="hold">
                                          <p:stCondLst>
                                            <p:cond delay="0"/>
                                          </p:stCondLst>
                                        </p:cTn>
                                        <p:tgtEl>
                                          <p:spTgt spid="26"/>
                                        </p:tgtEl>
                                        <p:attrNameLst>
                                          <p:attrName>style.visibility</p:attrName>
                                        </p:attrNameLst>
                                      </p:cBhvr>
                                      <p:to>
                                        <p:strVal val="visible"/>
                                      </p:to>
                                    </p:set>
                                    <p:animEffect transition="in" filter="wipe(right)">
                                      <p:cBhvr>
                                        <p:cTn id="44" dur="500"/>
                                        <p:tgtEl>
                                          <p:spTgt spid="26"/>
                                        </p:tgtEl>
                                      </p:cBhvr>
                                    </p:animEffect>
                                  </p:childTnLst>
                                </p:cTn>
                              </p:par>
                              <p:par>
                                <p:cTn id="48" presetID="10" presetClass="entr" presetSubtype="0" fill="hold" grpId="0" nodeType="withEffect">
                                  <p:stCondLst>
                                    <p:cond delay="200"/>
                                  </p:stCondLst>
                                  <p:childTnLst>
                                    <p:set>
                                      <p:cBhvr>
                                        <p:cTn id="46" dur="1" fill="hold">
                                          <p:stCondLst>
                                            <p:cond delay="0"/>
                                          </p:stCondLst>
                                        </p:cTn>
                                        <p:tgtEl>
                                          <p:spTgt spid="40"/>
                                        </p:tgtEl>
                                        <p:attrNameLst>
                                          <p:attrName>style.visibility</p:attrName>
                                        </p:attrNameLst>
                                      </p:cBhvr>
                                      <p:to>
                                        <p:strVal val="visible"/>
                                      </p:to>
                                    </p:set>
                                    <p:animEffect transition="in" filter="fade">
                                      <p:cBhvr>
                                        <p:cTn id="47" dur="500"/>
                                        <p:tgtEl>
                                          <p:spTgt spid="40"/>
                                        </p:tgtEl>
                                      </p:cBhvr>
                                    </p:animEffect>
                                  </p:childTnLst>
                                </p:cTn>
                              </p:par>
                            </p:childTnLst>
                          </p:cTn>
                        </p:par>
                      </p:childTnLst>
                    </p:cTn>
                  </p:par>
                  <p:par>
                    <p:cTn id="57" fill="hold">
                      <p:stCondLst>
                        <p:cond delay="indefinite"/>
                      </p:stCondLst>
                      <p:childTnLst>
                        <p:par>
                          <p:cTn id="58" fill="hold">
                            <p:stCondLst>
                              <p:cond delay="0"/>
                            </p:stCondLst>
                            <p:childTnLst>
                              <p:par>
                                <p:cTn id="53" presetID="22" presetClass="entr" presetSubtype="8" fill="hold" grpId="0" nodeType="clickEffect">
                                  <p:stCondLst>
                                    <p:cond delay="0"/>
                                  </p:stCondLst>
                                  <p:childTnLst>
                                    <p:set>
                                      <p:cBhvr>
                                        <p:cTn id="51" dur="1" fill="hold">
                                          <p:stCondLst>
                                            <p:cond delay="0"/>
                                          </p:stCondLst>
                                        </p:cTn>
                                        <p:tgtEl>
                                          <p:spTgt spid="27"/>
                                        </p:tgtEl>
                                        <p:attrNameLst>
                                          <p:attrName>style.visibility</p:attrName>
                                        </p:attrNameLst>
                                      </p:cBhvr>
                                      <p:to>
                                        <p:strVal val="visible"/>
                                      </p:to>
                                    </p:set>
                                    <p:animEffect transition="in" filter="wipe(right)">
                                      <p:cBhvr>
                                        <p:cTn id="52" dur="500"/>
                                        <p:tgtEl>
                                          <p:spTgt spid="27"/>
                                        </p:tgtEl>
                                      </p:cBhvr>
                                    </p:animEffect>
                                  </p:childTnLst>
                                </p:cTn>
                              </p:par>
                              <p:par>
                                <p:cTn id="56" presetID="10" presetClass="entr" presetSubtype="0" fill="hold" grpId="0" nodeType="withEffect">
                                  <p:stCondLst>
                                    <p:cond delay="200"/>
                                  </p:stCondLst>
                                  <p:childTnLst>
                                    <p:set>
                                      <p:cBhvr>
                                        <p:cTn id="54" dur="1" fill="hold">
                                          <p:stCondLst>
                                            <p:cond delay="0"/>
                                          </p:stCondLst>
                                        </p:cTn>
                                        <p:tgtEl>
                                          <p:spTgt spid="42"/>
                                        </p:tgtEl>
                                        <p:attrNameLst>
                                          <p:attrName>style.visibility</p:attrName>
                                        </p:attrNameLst>
                                      </p:cBhvr>
                                      <p:to>
                                        <p:strVal val="visible"/>
                                      </p:to>
                                    </p:set>
                                    <p:animEffect transition="in" filter="fade">
                                      <p:cBhvr>
                                        <p:cTn id="55" dur="500"/>
                                        <p:tgtEl>
                                          <p:spTgt spid="42"/>
                                        </p:tgtEl>
                                      </p:cBhvr>
                                    </p:animEffect>
                                  </p:childTnLst>
                                </p:cTn>
                              </p:par>
                            </p:childTnLst>
                          </p:cTn>
                        </p:par>
                      </p:childTnLst>
                    </p:cTn>
                  </p:par>
                  <p:par>
                    <p:cTn id="65" fill="hold">
                      <p:stCondLst>
                        <p:cond delay="indefinite"/>
                      </p:stCondLst>
                      <p:childTnLst>
                        <p:par>
                          <p:cTn id="66" fill="hold">
                            <p:stCondLst>
                              <p:cond delay="0"/>
                            </p:stCondLst>
                            <p:childTnLst>
                              <p:par>
                                <p:cTn id="61" presetID="22" presetClass="entr" presetSubtype="8" fill="hold" grpId="0" nodeType="clickEffect">
                                  <p:stCondLst>
                                    <p:cond delay="0"/>
                                  </p:stCondLst>
                                  <p:childTnLst>
                                    <p:set>
                                      <p:cBhvr>
                                        <p:cTn id="59" dur="1" fill="hold">
                                          <p:stCondLst>
                                            <p:cond delay="0"/>
                                          </p:stCondLst>
                                        </p:cTn>
                                        <p:tgtEl>
                                          <p:spTgt spid="28"/>
                                        </p:tgtEl>
                                        <p:attrNameLst>
                                          <p:attrName>style.visibility</p:attrName>
                                        </p:attrNameLst>
                                      </p:cBhvr>
                                      <p:to>
                                        <p:strVal val="visible"/>
                                      </p:to>
                                    </p:set>
                                    <p:animEffect transition="in" filter="wipe(right)">
                                      <p:cBhvr>
                                        <p:cTn id="60" dur="500"/>
                                        <p:tgtEl>
                                          <p:spTgt spid="28"/>
                                        </p:tgtEl>
                                      </p:cBhvr>
                                    </p:animEffect>
                                  </p:childTnLst>
                                </p:cTn>
                              </p:par>
                              <p:par>
                                <p:cTn id="64" presetID="10" presetClass="entr" presetSubtype="0" fill="hold" grpId="0" nodeType="withEffect">
                                  <p:stCondLst>
                                    <p:cond delay="200"/>
                                  </p:stCondLst>
                                  <p:childTnLst>
                                    <p:set>
                                      <p:cBhvr>
                                        <p:cTn id="62" dur="1" fill="hold">
                                          <p:stCondLst>
                                            <p:cond delay="0"/>
                                          </p:stCondLst>
                                        </p:cTn>
                                        <p:tgtEl>
                                          <p:spTgt spid="45"/>
                                        </p:tgtEl>
                                        <p:attrNameLst>
                                          <p:attrName>style.visibility</p:attrName>
                                        </p:attrNameLst>
                                      </p:cBhvr>
                                      <p:to>
                                        <p:strVal val="visible"/>
                                      </p:to>
                                    </p:set>
                                    <p:animEffect transition="in" filter="fade">
                                      <p:cBhvr>
                                        <p:cTn id="63" dur="500"/>
                                        <p:tgtEl>
                                          <p:spTgt spid="45"/>
                                        </p:tgtEl>
                                      </p:cBhvr>
                                    </p:animEffect>
                                  </p:childTnLst>
                                </p:cTn>
                              </p:par>
                            </p:childTnLst>
                          </p:cTn>
                        </p:par>
                      </p:childTnLst>
                    </p:cTn>
                  </p:par>
                  <p:par>
                    <p:cTn id="73" fill="hold">
                      <p:stCondLst>
                        <p:cond delay="indefinite"/>
                      </p:stCondLst>
                      <p:childTnLst>
                        <p:par>
                          <p:cTn id="74" fill="hold">
                            <p:stCondLst>
                              <p:cond delay="0"/>
                            </p:stCondLst>
                            <p:childTnLst>
                              <p:par>
                                <p:cTn id="69" presetID="22" presetClass="entr" presetSubtype="8" fill="hold" grpId="0" nodeType="clickEffect">
                                  <p:stCondLst>
                                    <p:cond delay="0"/>
                                  </p:stCondLst>
                                  <p:childTnLst>
                                    <p:set>
                                      <p:cBhvr>
                                        <p:cTn id="67" dur="1" fill="hold">
                                          <p:stCondLst>
                                            <p:cond delay="0"/>
                                          </p:stCondLst>
                                        </p:cTn>
                                        <p:tgtEl>
                                          <p:spTgt spid="29"/>
                                        </p:tgtEl>
                                        <p:attrNameLst>
                                          <p:attrName>style.visibility</p:attrName>
                                        </p:attrNameLst>
                                      </p:cBhvr>
                                      <p:to>
                                        <p:strVal val="visible"/>
                                      </p:to>
                                    </p:set>
                                    <p:animEffect transition="in" filter="wipe(right)">
                                      <p:cBhvr>
                                        <p:cTn id="68" dur="500"/>
                                        <p:tgtEl>
                                          <p:spTgt spid="29"/>
                                        </p:tgtEl>
                                      </p:cBhvr>
                                    </p:animEffect>
                                  </p:childTnLst>
                                </p:cTn>
                              </p:par>
                              <p:par>
                                <p:cTn id="72" presetID="10" presetClass="entr" presetSubtype="0" fill="hold" grpId="0" nodeType="withEffect">
                                  <p:stCondLst>
                                    <p:cond delay="200"/>
                                  </p:stCondLst>
                                  <p:childTnLst>
                                    <p:set>
                                      <p:cBhvr>
                                        <p:cTn id="70" dur="1" fill="hold">
                                          <p:stCondLst>
                                            <p:cond delay="0"/>
                                          </p:stCondLst>
                                        </p:cTn>
                                        <p:tgtEl>
                                          <p:spTgt spid="43"/>
                                        </p:tgtEl>
                                        <p:attrNameLst>
                                          <p:attrName>style.visibility</p:attrName>
                                        </p:attrNameLst>
                                      </p:cBhvr>
                                      <p:to>
                                        <p:strVal val="visible"/>
                                      </p:to>
                                    </p:set>
                                    <p:animEffect transition="in" filter="fade">
                                      <p:cBhvr>
                                        <p:cTn id="71" dur="500"/>
                                        <p:tgtEl>
                                          <p:spTgt spid="43"/>
                                        </p:tgtEl>
                                      </p:cBhvr>
                                    </p:animEffect>
                                  </p:childTnLst>
                                </p:cTn>
                              </p:par>
                            </p:childTnLst>
                          </p:cTn>
                        </p:par>
                      </p:childTnLst>
                    </p:cTn>
                  </p:par>
                  <p:par>
                    <p:cTn id="78" fill="hold">
                      <p:stCondLst>
                        <p:cond delay="indefinite"/>
                      </p:stCondLst>
                      <p:childTnLst>
                        <p:par>
                          <p:cTn id="79" fill="hold">
                            <p:stCondLst>
                              <p:cond delay="0"/>
                            </p:stCondLst>
                            <p:childTnLst>
                              <p:par>
                                <p:cTn id="77" presetID="22" presetClass="entr" presetSubtype="8" fill="hold" grpId="0" nodeType="clickEffect">
                                  <p:stCondLst>
                                    <p:cond delay="0"/>
                                  </p:stCondLst>
                                  <p:childTnLst>
                                    <p:set>
                                      <p:cBhvr>
                                        <p:cTn id="75" dur="1" fill="hold">
                                          <p:stCondLst>
                                            <p:cond delay="0"/>
                                          </p:stCondLst>
                                        </p:cTn>
                                        <p:tgtEl>
                                          <p:spTgt spid="30"/>
                                        </p:tgtEl>
                                        <p:attrNameLst>
                                          <p:attrName>style.visibility</p:attrName>
                                        </p:attrNameLst>
                                      </p:cBhvr>
                                      <p:to>
                                        <p:strVal val="visible"/>
                                      </p:to>
                                    </p:set>
                                    <p:animEffect transition="in" filter="wipe(right)">
                                      <p:cBhvr>
                                        <p:cTn id="76" dur="500"/>
                                        <p:tgtEl>
                                          <p:spTgt spid="30"/>
                                        </p:tgtEl>
                                      </p:cBhvr>
                                    </p:animEffect>
                                  </p:childTnLst>
                                </p:cTn>
                              </p:par>
                            </p:childTnLst>
                          </p:cTn>
                        </p:par>
                      </p:childTnLst>
                    </p:cTn>
                  </p:par>
                  <p:par>
                    <p:cTn id="83" fill="hold">
                      <p:stCondLst>
                        <p:cond delay="indefinite"/>
                      </p:stCondLst>
                      <p:childTnLst>
                        <p:par>
                          <p:cTn id="84" fill="hold">
                            <p:stCondLst>
                              <p:cond delay="0"/>
                            </p:stCondLst>
                            <p:childTnLst>
                              <p:par>
                                <p:cTn id="82" presetID="22" presetClass="entr" presetSubtype="8" fill="hold" grpId="0" nodeType="clickEffect">
                                  <p:stCondLst>
                                    <p:cond delay="0"/>
                                  </p:stCondLst>
                                  <p:childTnLst>
                                    <p:set>
                                      <p:cBhvr>
                                        <p:cTn id="80" dur="1" fill="hold">
                                          <p:stCondLst>
                                            <p:cond delay="0"/>
                                          </p:stCondLst>
                                        </p:cTn>
                                        <p:tgtEl>
                                          <p:spTgt spid="31"/>
                                        </p:tgtEl>
                                        <p:attrNameLst>
                                          <p:attrName>style.visibility</p:attrName>
                                        </p:attrNameLst>
                                      </p:cBhvr>
                                      <p:to>
                                        <p:strVal val="visible"/>
                                      </p:to>
                                    </p:set>
                                    <p:animEffect transition="in" filter="wipe(right)">
                                      <p:cBhvr>
                                        <p:cTn id="81" dur="500"/>
                                        <p:tgtEl>
                                          <p:spTgt spid="31"/>
                                        </p:tgtEl>
                                      </p:cBhvr>
                                    </p:animEffect>
                                  </p:childTnLst>
                                </p:cTn>
                              </p:par>
                            </p:childTnLst>
                          </p:cTn>
                        </p:par>
                      </p:childTnLst>
                    </p:cTn>
                  </p:par>
                  <p:par>
                    <p:cTn id="88" fill="hold">
                      <p:stCondLst>
                        <p:cond delay="indefinite"/>
                      </p:stCondLst>
                      <p:childTnLst>
                        <p:par>
                          <p:cTn id="89" fill="hold">
                            <p:stCondLst>
                              <p:cond delay="0"/>
                            </p:stCondLst>
                            <p:childTnLst>
                              <p:par>
                                <p:cTn id="87" presetID="10" presetClass="entr" presetSubtype="0" fill="hold" grpId="0" nodeType="clickEffect">
                                  <p:stCondLst>
                                    <p:cond delay="0"/>
                                  </p:stCondLst>
                                  <p:childTnLst>
                                    <p:set>
                                      <p:cBhvr>
                                        <p:cTn id="85" dur="1" fill="hold">
                                          <p:stCondLst>
                                            <p:cond delay="0"/>
                                          </p:stCondLst>
                                        </p:cTn>
                                        <p:tgtEl>
                                          <p:spTgt spid="46"/>
                                        </p:tgtEl>
                                        <p:attrNameLst>
                                          <p:attrName>style.visibility</p:attrName>
                                        </p:attrNameLst>
                                      </p:cBhvr>
                                      <p:to>
                                        <p:strVal val="visible"/>
                                      </p:to>
                                    </p:set>
                                    <p:animEffect transition="in" filter="fade">
                                      <p:cBhvr>
                                        <p:cTn id="86" dur="500"/>
                                        <p:tgtEl>
                                          <p:spTgt spid="46"/>
                                        </p:tgtEl>
                                      </p:cBhvr>
                                    </p:animEffect>
                                  </p:childTnLst>
                                </p:cTn>
                              </p:par>
                            </p:childTnLst>
                          </p:cTn>
                        </p:par>
                      </p:childTnLst>
                    </p:cTn>
                  </p:par>
                  <p:par>
                    <p:cTn id="94" fill="hold">
                      <p:stCondLst>
                        <p:cond delay="indefinite"/>
                      </p:stCondLst>
                      <p:childTnLst>
                        <p:par>
                          <p:cTn id="95" fill="hold">
                            <p:stCondLst>
                              <p:cond delay="0"/>
                            </p:stCondLst>
                            <p:childTnLst>
                              <p:par>
                                <p:cTn id="93" presetID="23" presetClass="entr" presetSubtype="16" fill="hold" grpId="0" nodeType="clickEffect">
                                  <p:stCondLst>
                                    <p:cond delay="0"/>
                                  </p:stCondLst>
                                  <p:childTnLst>
                                    <p:set>
                                      <p:cBhvr>
                                        <p:cTn id="90" dur="1" fill="hold">
                                          <p:stCondLst>
                                            <p:cond delay="0"/>
                                          </p:stCondLst>
                                        </p:cTn>
                                        <p:tgtEl>
                                          <p:spTgt spid="36"/>
                                        </p:tgtEl>
                                        <p:attrNameLst>
                                          <p:attrName>style.visibility</p:attrName>
                                        </p:attrNameLst>
                                      </p:cBhvr>
                                      <p:to>
                                        <p:strVal val="visible"/>
                                      </p:to>
                                    </p:set>
                                    <p:animEffect transition="in" filter="fade">
                                      <p:cBhvr>
                                        <p:cTn id="91" dur="500"/>
                                        <p:tgtEl>
                                          <p:spTgt spid="36"/>
                                        </p:tgtEl>
                                      </p:cBhvr>
                                    </p:animEffect>
                                    <p:animScale>
                                      <p:cBhvr>
                                        <p:cTn id="92" dur="500" fill="hold"/>
                                        <p:tgtEl>
                                          <p:spTgt spid="36"/>
                                        </p:tgtEl>
                                      </p:cBhvr>
                                      <p:from x="0" y="0"/>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4E6"/>
        </a:solidFill>
      </p:bgPr>
    </p:bg>
    <p:spTree>
      <p:nvGrpSpPr>
        <p:cNvPr id="1" name=""/>
        <p:cNvGrpSpPr/>
        <p:nvPr/>
      </p:nvGrpSpPr>
      <p:grpSpPr>
        <a:xfrm>
          <a:off x="0" y="0"/>
          <a:ext cx="0" cy="0"/>
          <a:chOff x="0" y="0"/>
          <a:chExt cx="0" cy="0"/>
        </a:xfrm>
      </p:grpSpPr>
      <p:sp>
        <p:nvSpPr>
          <p:cNvPr id="2" name="phase_pill"/>
          <p:cNvSpPr/>
          <p:nvPr/>
        </p:nvSpPr>
        <p:spPr>
          <a:xfrm>
            <a:off x="502920" y="274320"/>
            <a:ext cx="2578608" cy="347472"/>
          </a:xfrm>
          <a:prstGeom prst="roundRect">
            <a:avLst>
              <a:gd name="adj" fmla="val 50000"/>
            </a:avLst>
          </a:prstGeom>
          <a:solidFill>
            <a:srgbClr val="0E3A3F"/>
          </a:solidFill>
          <a:ln/>
        </p:spPr>
        <p:txBody>
          <a:bodyPr wrap="square" lIns="0" tIns="0" rIns="0" bIns="0" rtlCol="0" anchor="ctr"/>
          <a:lstStyle/>
          <a:p>
            <a:pPr algn="ctr" indent="0" marL="0">
              <a:buNone/>
            </a:pPr>
            <a:r>
              <a:rPr lang="en-US" sz="1100" b="1" spc="110" kern="0" dirty="0">
                <a:solidFill>
                  <a:srgbClr val="FAF4E6"/>
                </a:solidFill>
                <a:latin typeface="Arial" pitchFamily="34" charset="0"/>
                <a:ea typeface="Arial" pitchFamily="34" charset="-122"/>
                <a:cs typeface="Arial" pitchFamily="34" charset="-120"/>
              </a:rPr>
              <a:t>YOU DO · 11 MIN</a:t>
            </a:r>
            <a:endParaRPr lang="en-US" sz="1100" dirty="0"/>
          </a:p>
        </p:txBody>
      </p:sp>
      <p:sp>
        <p:nvSpPr>
          <p:cNvPr id="3" name="slide_title"/>
          <p:cNvSpPr txBox="1"/>
          <p:nvPr/>
        </p:nvSpPr>
        <p:spPr>
          <a:xfrm>
            <a:off x="502920" y="914400"/>
            <a:ext cx="11185855" cy="658368"/>
          </a:xfrm>
          <a:prstGeom prst="rect">
            <a:avLst/>
          </a:prstGeom>
          <a:noFill/>
          <a:ln/>
        </p:spPr>
        <p:txBody>
          <a:bodyPr wrap="square" lIns="0" tIns="0" rIns="0" bIns="0" rtlCol="0" anchor="ctr"/>
          <a:lstStyle/>
          <a:p>
            <a:pPr algn="l" indent="0" marL="0">
              <a:buNone/>
            </a:pPr>
            <a:r>
              <a:rPr lang="en-US" sz="3000" b="1" dirty="0">
                <a:solidFill>
                  <a:srgbClr val="0E3A3F"/>
                </a:solidFill>
                <a:latin typeface="Georgia" pitchFamily="34" charset="0"/>
                <a:ea typeface="Georgia" pitchFamily="34" charset="-122"/>
                <a:cs typeface="Georgia" pitchFamily="34" charset="-120"/>
              </a:rPr>
              <a:t>On your own — worksheet, Section A to C</a:t>
            </a:r>
            <a:endParaRPr lang="en-US" sz="3000" dirty="0"/>
          </a:p>
        </p:txBody>
      </p:sp>
      <p:sp>
        <p:nvSpPr>
          <p:cNvPr id="4" name="yd_intro"/>
          <p:cNvSpPr txBox="1"/>
          <p:nvPr/>
        </p:nvSpPr>
        <p:spPr>
          <a:xfrm>
            <a:off x="502920" y="1554480"/>
            <a:ext cx="10058400" cy="310896"/>
          </a:xfrm>
          <a:prstGeom prst="rect">
            <a:avLst/>
          </a:prstGeom>
          <a:noFill/>
          <a:ln/>
        </p:spPr>
        <p:txBody>
          <a:bodyPr wrap="square" lIns="0" tIns="0" rIns="0" bIns="0" rtlCol="0" anchor="ctr"/>
          <a:lstStyle/>
          <a:p>
            <a:pPr indent="0" marL="0">
              <a:buNone/>
            </a:pPr>
            <a:r>
              <a:rPr lang="en-US" sz="1300" dirty="0">
                <a:solidFill>
                  <a:srgbClr val="4A6165"/>
                </a:solidFill>
                <a:latin typeface="Arial" pitchFamily="34" charset="0"/>
                <a:ea typeface="Arial" pitchFamily="34" charset="-122"/>
                <a:cs typeface="Arial" pitchFamily="34" charset="-120"/>
              </a:rPr>
              <a:t>Start where you like. Move up when a question stops being hard.</a:t>
            </a:r>
            <a:endParaRPr lang="en-US" sz="1300" dirty="0"/>
          </a:p>
        </p:txBody>
      </p:sp>
      <p:sp>
        <p:nvSpPr>
          <p:cNvPr id="5" name="t0_bg"/>
          <p:cNvSpPr/>
          <p:nvPr/>
        </p:nvSpPr>
        <p:spPr>
          <a:xfrm>
            <a:off x="502920" y="2084832"/>
            <a:ext cx="3545738" cy="1737360"/>
          </a:xfrm>
          <a:prstGeom prst="roundRect">
            <a:avLst>
              <a:gd name="adj" fmla="val 7368"/>
            </a:avLst>
          </a:prstGeom>
          <a:solidFill>
            <a:srgbClr val="FDF1EC"/>
          </a:solidFill>
          <a:ln w="15875">
            <a:solidFill>
              <a:srgbClr val="E2572B"/>
            </a:solidFill>
            <a:prstDash val="solid"/>
          </a:ln>
        </p:spPr>
      </p:sp>
      <p:sp>
        <p:nvSpPr>
          <p:cNvPr id="6" name="t0_h"/>
          <p:cNvSpPr txBox="1"/>
          <p:nvPr/>
        </p:nvSpPr>
        <p:spPr>
          <a:xfrm>
            <a:off x="722376" y="2231136"/>
            <a:ext cx="3106826" cy="329184"/>
          </a:xfrm>
          <a:prstGeom prst="rect">
            <a:avLst/>
          </a:prstGeom>
          <a:noFill/>
          <a:ln/>
        </p:spPr>
        <p:txBody>
          <a:bodyPr wrap="square" lIns="0" tIns="0" rIns="0" bIns="0" rtlCol="0" anchor="ctr"/>
          <a:lstStyle/>
          <a:p>
            <a:pPr indent="0" marL="0">
              <a:buNone/>
            </a:pPr>
            <a:r>
              <a:rPr lang="en-US" sz="1600" b="1" spc="120" kern="0" dirty="0">
                <a:solidFill>
                  <a:srgbClr val="E2572B"/>
                </a:solidFill>
                <a:latin typeface="Arial" pitchFamily="34" charset="0"/>
                <a:ea typeface="Arial" pitchFamily="34" charset="-122"/>
                <a:cs typeface="Arial" pitchFamily="34" charset="-120"/>
              </a:rPr>
              <a:t>BRONZE</a:t>
            </a:r>
            <a:endParaRPr lang="en-US" sz="1600" dirty="0"/>
          </a:p>
        </p:txBody>
      </p:sp>
      <p:sp>
        <p:nvSpPr>
          <p:cNvPr id="7" name="t0_s"/>
          <p:cNvSpPr txBox="1"/>
          <p:nvPr/>
        </p:nvSpPr>
        <p:spPr>
          <a:xfrm>
            <a:off x="722376" y="2578608"/>
            <a:ext cx="3106826" cy="274320"/>
          </a:xfrm>
          <a:prstGeom prst="rect">
            <a:avLst/>
          </a:prstGeom>
          <a:noFill/>
          <a:ln/>
        </p:spPr>
        <p:txBody>
          <a:bodyPr wrap="square" lIns="0" tIns="0" rIns="0" bIns="0" rtlCol="0" anchor="ctr"/>
          <a:lstStyle/>
          <a:p>
            <a:pPr indent="0" marL="0">
              <a:buNone/>
            </a:pPr>
            <a:r>
              <a:rPr lang="en-US" sz="1250" b="1" dirty="0">
                <a:solidFill>
                  <a:srgbClr val="14282B"/>
                </a:solidFill>
                <a:latin typeface="Arial" pitchFamily="34" charset="0"/>
                <a:ea typeface="Arial" pitchFamily="34" charset="-122"/>
                <a:cs typeface="Arial" pitchFamily="34" charset="-120"/>
              </a:rPr>
              <a:t>Fluency</a:t>
            </a:r>
            <a:endParaRPr lang="en-US" sz="1250" dirty="0"/>
          </a:p>
        </p:txBody>
      </p:sp>
      <p:sp>
        <p:nvSpPr>
          <p:cNvPr id="8" name="t0_b"/>
          <p:cNvSpPr txBox="1"/>
          <p:nvPr/>
        </p:nvSpPr>
        <p:spPr>
          <a:xfrm>
            <a:off x="722376" y="2871216"/>
            <a:ext cx="3106826" cy="786384"/>
          </a:xfrm>
          <a:prstGeom prst="rect">
            <a:avLst/>
          </a:prstGeom>
          <a:noFill/>
          <a:ln/>
        </p:spPr>
        <p:txBody>
          <a:bodyPr wrap="square" lIns="0" tIns="0" rIns="0" bIns="0" rtlCol="0" anchor="t"/>
          <a:lstStyle/>
          <a:p>
            <a:pPr indent="0" marL="0">
              <a:lnSpc>
                <a:spcPts val="1600"/>
              </a:lnSpc>
              <a:buNone/>
            </a:pPr>
            <a:r>
              <a:rPr lang="en-US" sz="1200" dirty="0">
                <a:solidFill>
                  <a:srgbClr val="4A6165"/>
                </a:solidFill>
                <a:latin typeface="Arial" pitchFamily="34" charset="0"/>
                <a:ea typeface="Arial" pitchFamily="34" charset="-122"/>
                <a:cs typeface="Arial" pitchFamily="34" charset="-120"/>
              </a:rPr>
              <a:t>Arrows, names and groups. Get the direction automatic.</a:t>
            </a:r>
            <a:endParaRPr lang="en-US" sz="1200" dirty="0"/>
          </a:p>
        </p:txBody>
      </p:sp>
      <p:sp>
        <p:nvSpPr>
          <p:cNvPr id="9" name="t1_bg"/>
          <p:cNvSpPr/>
          <p:nvPr/>
        </p:nvSpPr>
        <p:spPr>
          <a:xfrm>
            <a:off x="4322978" y="2084832"/>
            <a:ext cx="3545738" cy="1737360"/>
          </a:xfrm>
          <a:prstGeom prst="roundRect">
            <a:avLst>
              <a:gd name="adj" fmla="val 7368"/>
            </a:avLst>
          </a:prstGeom>
          <a:solidFill>
            <a:srgbClr val="F2F3F1"/>
          </a:solidFill>
          <a:ln w="15875">
            <a:solidFill>
              <a:srgbClr val="6A7F82"/>
            </a:solidFill>
            <a:prstDash val="solid"/>
          </a:ln>
        </p:spPr>
      </p:sp>
      <p:sp>
        <p:nvSpPr>
          <p:cNvPr id="10" name="t1_h"/>
          <p:cNvSpPr txBox="1"/>
          <p:nvPr/>
        </p:nvSpPr>
        <p:spPr>
          <a:xfrm>
            <a:off x="4542434" y="2231136"/>
            <a:ext cx="3106826" cy="329184"/>
          </a:xfrm>
          <a:prstGeom prst="rect">
            <a:avLst/>
          </a:prstGeom>
          <a:noFill/>
          <a:ln/>
        </p:spPr>
        <p:txBody>
          <a:bodyPr wrap="square" lIns="0" tIns="0" rIns="0" bIns="0" rtlCol="0" anchor="ctr"/>
          <a:lstStyle/>
          <a:p>
            <a:pPr indent="0" marL="0">
              <a:buNone/>
            </a:pPr>
            <a:r>
              <a:rPr lang="en-US" sz="1600" b="1" spc="120" kern="0" dirty="0">
                <a:solidFill>
                  <a:srgbClr val="6A7F82"/>
                </a:solidFill>
                <a:latin typeface="Arial" pitchFamily="34" charset="0"/>
                <a:ea typeface="Arial" pitchFamily="34" charset="-122"/>
                <a:cs typeface="Arial" pitchFamily="34" charset="-120"/>
              </a:rPr>
              <a:t>SILVER</a:t>
            </a:r>
            <a:endParaRPr lang="en-US" sz="1600" dirty="0"/>
          </a:p>
        </p:txBody>
      </p:sp>
      <p:sp>
        <p:nvSpPr>
          <p:cNvPr id="11" name="t1_s"/>
          <p:cNvSpPr txBox="1"/>
          <p:nvPr/>
        </p:nvSpPr>
        <p:spPr>
          <a:xfrm>
            <a:off x="4542434" y="2578608"/>
            <a:ext cx="3106826" cy="274320"/>
          </a:xfrm>
          <a:prstGeom prst="rect">
            <a:avLst/>
          </a:prstGeom>
          <a:noFill/>
          <a:ln/>
        </p:spPr>
        <p:txBody>
          <a:bodyPr wrap="square" lIns="0" tIns="0" rIns="0" bIns="0" rtlCol="0" anchor="ctr"/>
          <a:lstStyle/>
          <a:p>
            <a:pPr indent="0" marL="0">
              <a:buNone/>
            </a:pPr>
            <a:r>
              <a:rPr lang="en-US" sz="1250" b="1" dirty="0">
                <a:solidFill>
                  <a:srgbClr val="14282B"/>
                </a:solidFill>
                <a:latin typeface="Arial" pitchFamily="34" charset="0"/>
                <a:ea typeface="Arial" pitchFamily="34" charset="-122"/>
                <a:cs typeface="Arial" pitchFamily="34" charset="-120"/>
              </a:rPr>
              <a:t>Mixed practice</a:t>
            </a:r>
            <a:endParaRPr lang="en-US" sz="1250" dirty="0"/>
          </a:p>
        </p:txBody>
      </p:sp>
      <p:sp>
        <p:nvSpPr>
          <p:cNvPr id="12" name="t1_b"/>
          <p:cNvSpPr txBox="1"/>
          <p:nvPr/>
        </p:nvSpPr>
        <p:spPr>
          <a:xfrm>
            <a:off x="4542434" y="2871216"/>
            <a:ext cx="3106826" cy="786384"/>
          </a:xfrm>
          <a:prstGeom prst="rect">
            <a:avLst/>
          </a:prstGeom>
          <a:noFill/>
          <a:ln/>
        </p:spPr>
        <p:txBody>
          <a:bodyPr wrap="square" lIns="0" tIns="0" rIns="0" bIns="0" rtlCol="0" anchor="t"/>
          <a:lstStyle/>
          <a:p>
            <a:pPr indent="0" marL="0">
              <a:lnSpc>
                <a:spcPts val="1600"/>
              </a:lnSpc>
              <a:buNone/>
            </a:pPr>
            <a:r>
              <a:rPr lang="en-US" sz="1200" dirty="0">
                <a:solidFill>
                  <a:srgbClr val="4A6165"/>
                </a:solidFill>
                <a:latin typeface="Arial" pitchFamily="34" charset="0"/>
                <a:ea typeface="Arial" pitchFamily="34" charset="-122"/>
                <a:cs typeface="Arial" pitchFamily="34" charset="-120"/>
              </a:rPr>
              <a:t>Build chains and read the web. Apply it to new animals.</a:t>
            </a:r>
            <a:endParaRPr lang="en-US" sz="1200" dirty="0"/>
          </a:p>
        </p:txBody>
      </p:sp>
      <p:sp>
        <p:nvSpPr>
          <p:cNvPr id="13" name="t2_bg"/>
          <p:cNvSpPr/>
          <p:nvPr/>
        </p:nvSpPr>
        <p:spPr>
          <a:xfrm>
            <a:off x="8143037" y="2084832"/>
            <a:ext cx="3545738" cy="1737360"/>
          </a:xfrm>
          <a:prstGeom prst="roundRect">
            <a:avLst>
              <a:gd name="adj" fmla="val 7368"/>
            </a:avLst>
          </a:prstGeom>
          <a:solidFill>
            <a:srgbClr val="FDF3D6"/>
          </a:solidFill>
          <a:ln w="15875">
            <a:solidFill>
              <a:srgbClr val="F5B301"/>
            </a:solidFill>
            <a:prstDash val="solid"/>
          </a:ln>
        </p:spPr>
      </p:sp>
      <p:sp>
        <p:nvSpPr>
          <p:cNvPr id="14" name="t2_h"/>
          <p:cNvSpPr txBox="1"/>
          <p:nvPr/>
        </p:nvSpPr>
        <p:spPr>
          <a:xfrm>
            <a:off x="8362493" y="2231136"/>
            <a:ext cx="3106826" cy="329184"/>
          </a:xfrm>
          <a:prstGeom prst="rect">
            <a:avLst/>
          </a:prstGeom>
          <a:noFill/>
          <a:ln/>
        </p:spPr>
        <p:txBody>
          <a:bodyPr wrap="square" lIns="0" tIns="0" rIns="0" bIns="0" rtlCol="0" anchor="ctr"/>
          <a:lstStyle/>
          <a:p>
            <a:pPr indent="0" marL="0">
              <a:buNone/>
            </a:pPr>
            <a:r>
              <a:rPr lang="en-US" sz="1600" b="1" spc="120" kern="0" dirty="0">
                <a:solidFill>
                  <a:srgbClr val="F5B301"/>
                </a:solidFill>
                <a:latin typeface="Arial" pitchFamily="34" charset="0"/>
                <a:ea typeface="Arial" pitchFamily="34" charset="-122"/>
                <a:cs typeface="Arial" pitchFamily="34" charset="-120"/>
              </a:rPr>
              <a:t>GOLD</a:t>
            </a:r>
            <a:endParaRPr lang="en-US" sz="1600" dirty="0"/>
          </a:p>
        </p:txBody>
      </p:sp>
      <p:sp>
        <p:nvSpPr>
          <p:cNvPr id="15" name="t2_s"/>
          <p:cNvSpPr txBox="1"/>
          <p:nvPr/>
        </p:nvSpPr>
        <p:spPr>
          <a:xfrm>
            <a:off x="8362493" y="2578608"/>
            <a:ext cx="3106826" cy="274320"/>
          </a:xfrm>
          <a:prstGeom prst="rect">
            <a:avLst/>
          </a:prstGeom>
          <a:noFill/>
          <a:ln/>
        </p:spPr>
        <p:txBody>
          <a:bodyPr wrap="square" lIns="0" tIns="0" rIns="0" bIns="0" rtlCol="0" anchor="ctr"/>
          <a:lstStyle/>
          <a:p>
            <a:pPr indent="0" marL="0">
              <a:buNone/>
            </a:pPr>
            <a:r>
              <a:rPr lang="en-US" sz="1250" b="1" dirty="0">
                <a:solidFill>
                  <a:srgbClr val="14282B"/>
                </a:solidFill>
                <a:latin typeface="Arial" pitchFamily="34" charset="0"/>
                <a:ea typeface="Arial" pitchFamily="34" charset="-122"/>
                <a:cs typeface="Arial" pitchFamily="34" charset="-120"/>
              </a:rPr>
              <a:t>Reasoning</a:t>
            </a:r>
            <a:endParaRPr lang="en-US" sz="1250" dirty="0"/>
          </a:p>
        </p:txBody>
      </p:sp>
      <p:sp>
        <p:nvSpPr>
          <p:cNvPr id="16" name="t2_b"/>
          <p:cNvSpPr txBox="1"/>
          <p:nvPr/>
        </p:nvSpPr>
        <p:spPr>
          <a:xfrm>
            <a:off x="8362493" y="2871216"/>
            <a:ext cx="3106826" cy="786384"/>
          </a:xfrm>
          <a:prstGeom prst="rect">
            <a:avLst/>
          </a:prstGeom>
          <a:noFill/>
          <a:ln/>
        </p:spPr>
        <p:txBody>
          <a:bodyPr wrap="square" lIns="0" tIns="0" rIns="0" bIns="0" rtlCol="0" anchor="t"/>
          <a:lstStyle/>
          <a:p>
            <a:pPr indent="0" marL="0">
              <a:lnSpc>
                <a:spcPts val="1600"/>
              </a:lnSpc>
              <a:buNone/>
            </a:pPr>
            <a:r>
              <a:rPr lang="en-US" sz="1200" dirty="0">
                <a:solidFill>
                  <a:srgbClr val="4A6165"/>
                </a:solidFill>
                <a:latin typeface="Arial" pitchFamily="34" charset="0"/>
                <a:ea typeface="Arial" pitchFamily="34" charset="-122"/>
                <a:cs typeface="Arial" pitchFamily="34" charset="-120"/>
              </a:rPr>
              <a:t>Predict, justify and explain the energy. Full sentences.</a:t>
            </a:r>
            <a:endParaRPr lang="en-US" sz="1200" dirty="0"/>
          </a:p>
        </p:txBody>
      </p:sp>
      <p:sp>
        <p:nvSpPr>
          <p:cNvPr id="17" name="gem_bg"/>
          <p:cNvSpPr/>
          <p:nvPr/>
        </p:nvSpPr>
        <p:spPr>
          <a:xfrm>
            <a:off x="502920" y="4059936"/>
            <a:ext cx="11185855" cy="1207008"/>
          </a:xfrm>
          <a:prstGeom prst="roundRect">
            <a:avLst>
              <a:gd name="adj" fmla="val 10606"/>
            </a:avLst>
          </a:prstGeom>
          <a:solidFill>
            <a:srgbClr val="EDF3F4"/>
          </a:solidFill>
          <a:ln w="15875">
            <a:solidFill>
              <a:srgbClr val="17505A"/>
            </a:solidFill>
            <a:prstDash val="solid"/>
          </a:ln>
        </p:spPr>
      </p:sp>
      <p:sp>
        <p:nvSpPr>
          <p:cNvPr id="18" name="gem_h"/>
          <p:cNvSpPr txBox="1"/>
          <p:nvPr/>
        </p:nvSpPr>
        <p:spPr>
          <a:xfrm>
            <a:off x="758952" y="4187952"/>
            <a:ext cx="7315200" cy="292608"/>
          </a:xfrm>
          <a:prstGeom prst="rect">
            <a:avLst/>
          </a:prstGeom>
          <a:noFill/>
          <a:ln/>
        </p:spPr>
        <p:txBody>
          <a:bodyPr wrap="square" lIns="0" tIns="0" rIns="0" bIns="0" rtlCol="0" anchor="ctr"/>
          <a:lstStyle/>
          <a:p>
            <a:pPr indent="0" marL="0">
              <a:buNone/>
            </a:pPr>
            <a:r>
              <a:rPr lang="en-US" sz="1350" b="1" dirty="0">
                <a:solidFill>
                  <a:srgbClr val="0E3A3F"/>
                </a:solidFill>
                <a:latin typeface="Arial" pitchFamily="34" charset="0"/>
                <a:ea typeface="Arial" pitchFamily="34" charset="-122"/>
                <a:cs typeface="Arial" pitchFamily="34" charset="-120"/>
              </a:rPr>
              <a:t>Stuck, or finished early? Use Gemini properly.</a:t>
            </a:r>
            <a:endParaRPr lang="en-US" sz="1350" dirty="0"/>
          </a:p>
        </p:txBody>
      </p:sp>
      <p:sp>
        <p:nvSpPr>
          <p:cNvPr id="19" name="gem_t"/>
          <p:cNvSpPr txBox="1"/>
          <p:nvPr/>
        </p:nvSpPr>
        <p:spPr>
          <a:xfrm>
            <a:off x="758952" y="4498848"/>
            <a:ext cx="10673791" cy="694944"/>
          </a:xfrm>
          <a:prstGeom prst="rect">
            <a:avLst/>
          </a:prstGeom>
          <a:noFill/>
          <a:ln/>
        </p:spPr>
        <p:txBody>
          <a:bodyPr wrap="square" lIns="0" tIns="0" rIns="0" bIns="0" rtlCol="0" anchor="t"/>
          <a:lstStyle/>
          <a:p>
            <a:pPr indent="0" marL="0">
              <a:lnSpc>
                <a:spcPts val="1600"/>
              </a:lnSpc>
              <a:buNone/>
            </a:pPr>
            <a:r>
              <a:rPr lang="en-US" sz="1200" dirty="0">
                <a:solidFill>
                  <a:srgbClr val="14282B"/>
                </a:solidFill>
                <a:latin typeface="Arial" pitchFamily="34" charset="0"/>
                <a:ea typeface="Arial" pitchFamily="34" charset="-122"/>
                <a:cs typeface="Arial" pitchFamily="34" charset="-120"/>
              </a:rPr>
              <a:t>The three prompts are on the last page of your worksheet — copy and paste them. One quizzes you on the arrow rule, one checks your food-web reasoning, one marks your Gold answer against the criteria. None of them will write an answer for you, and I can tell. Check everything it says against your own notes.</a:t>
            </a:r>
            <a:endParaRPr lang="en-US" sz="1200" dirty="0"/>
          </a:p>
        </p:txBody>
      </p:sp>
      <p:sp>
        <p:nvSpPr>
          <p:cNvPr id="20" name="yd_rag"/>
          <p:cNvSpPr txBox="1"/>
          <p:nvPr/>
        </p:nvSpPr>
        <p:spPr>
          <a:xfrm>
            <a:off x="502920" y="6291072"/>
            <a:ext cx="11185855" cy="310896"/>
          </a:xfrm>
          <a:prstGeom prst="rect">
            <a:avLst/>
          </a:prstGeom>
          <a:noFill/>
          <a:ln/>
        </p:spPr>
        <p:txBody>
          <a:bodyPr wrap="square" lIns="0" tIns="0" rIns="0" bIns="0" rtlCol="0" anchor="ctr"/>
          <a:lstStyle/>
          <a:p>
            <a:pPr indent="0" marL="0">
              <a:buNone/>
            </a:pPr>
            <a:r>
              <a:rPr lang="en-US" sz="1200" b="1" dirty="0">
                <a:solidFill>
                  <a:srgbClr val="E2572B"/>
                </a:solidFill>
                <a:latin typeface="Arial" pitchFamily="34" charset="0"/>
                <a:ea typeface="Arial" pitchFamily="34" charset="-122"/>
                <a:cs typeface="Arial" pitchFamily="34" charset="-120"/>
              </a:rPr>
              <a:t>RAG grid, front page — fill in the "end of lesson" column before you pack away.</a:t>
            </a:r>
            <a:endParaRPr lang="en-US" sz="1200" dirty="0"/>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4E6"/>
        </a:solidFill>
      </p:bgPr>
    </p:bg>
    <p:spTree>
      <p:nvGrpSpPr>
        <p:cNvPr id="1" name=""/>
        <p:cNvGrpSpPr/>
        <p:nvPr/>
      </p:nvGrpSpPr>
      <p:grpSpPr>
        <a:xfrm>
          <a:off x="0" y="0"/>
          <a:ext cx="0" cy="0"/>
          <a:chOff x="0" y="0"/>
          <a:chExt cx="0" cy="0"/>
        </a:xfrm>
      </p:grpSpPr>
      <p:sp>
        <p:nvSpPr>
          <p:cNvPr id="2" name="phase_pill"/>
          <p:cNvSpPr/>
          <p:nvPr/>
        </p:nvSpPr>
        <p:spPr>
          <a:xfrm>
            <a:off x="502920" y="274320"/>
            <a:ext cx="2432304" cy="347472"/>
          </a:xfrm>
          <a:prstGeom prst="roundRect">
            <a:avLst>
              <a:gd name="adj" fmla="val 50000"/>
            </a:avLst>
          </a:prstGeom>
          <a:solidFill>
            <a:srgbClr val="0E3A3F"/>
          </a:solidFill>
          <a:ln/>
        </p:spPr>
        <p:txBody>
          <a:bodyPr wrap="square" lIns="0" tIns="0" rIns="0" bIns="0" rtlCol="0" anchor="ctr"/>
          <a:lstStyle/>
          <a:p>
            <a:pPr algn="ctr" indent="0" marL="0">
              <a:buNone/>
            </a:pPr>
            <a:r>
              <a:rPr lang="en-US" sz="1100" b="1" spc="110" kern="0" dirty="0">
                <a:solidFill>
                  <a:srgbClr val="FAF4E6"/>
                </a:solidFill>
                <a:latin typeface="Arial" pitchFamily="34" charset="0"/>
                <a:ea typeface="Arial" pitchFamily="34" charset="-122"/>
                <a:cs typeface="Arial" pitchFamily="34" charset="-120"/>
              </a:rPr>
              <a:t>REVEAL · 3 MIN</a:t>
            </a:r>
            <a:endParaRPr lang="en-US" sz="1100" dirty="0"/>
          </a:p>
        </p:txBody>
      </p:sp>
      <p:sp>
        <p:nvSpPr>
          <p:cNvPr id="3" name="keyword_strip"/>
          <p:cNvSpPr txBox="1"/>
          <p:nvPr/>
        </p:nvSpPr>
        <p:spPr>
          <a:xfrm>
            <a:off x="5836615" y="274320"/>
            <a:ext cx="5852160" cy="347472"/>
          </a:xfrm>
          <a:prstGeom prst="rect">
            <a:avLst/>
          </a:prstGeom>
          <a:noFill/>
          <a:ln/>
        </p:spPr>
        <p:txBody>
          <a:bodyPr wrap="square" lIns="0" tIns="0" rIns="0" bIns="0" rtlCol="0" anchor="ctr"/>
          <a:lstStyle/>
          <a:p>
            <a:pPr algn="r" indent="0" marL="0">
              <a:buNone/>
            </a:pPr>
            <a:r>
              <a:rPr lang="en-US" sz="1150" b="1" i="1" dirty="0">
                <a:solidFill>
                  <a:srgbClr val="2E9E6B"/>
                </a:solidFill>
                <a:latin typeface="Arial" pitchFamily="34" charset="0"/>
                <a:ea typeface="Arial" pitchFamily="34" charset="-122"/>
                <a:cs typeface="Arial" pitchFamily="34" charset="-120"/>
              </a:rPr>
              <a:t>energy   ·   trophic level</a:t>
            </a:r>
            <a:endParaRPr lang="en-US" sz="1150" dirty="0"/>
          </a:p>
        </p:txBody>
      </p:sp>
      <p:sp>
        <p:nvSpPr>
          <p:cNvPr id="4" name="slide_title"/>
          <p:cNvSpPr txBox="1"/>
          <p:nvPr/>
        </p:nvSpPr>
        <p:spPr>
          <a:xfrm>
            <a:off x="502920" y="914400"/>
            <a:ext cx="11185855" cy="658368"/>
          </a:xfrm>
          <a:prstGeom prst="rect">
            <a:avLst/>
          </a:prstGeom>
          <a:noFill/>
          <a:ln/>
        </p:spPr>
        <p:txBody>
          <a:bodyPr wrap="square" lIns="0" tIns="0" rIns="0" bIns="0" rtlCol="0" anchor="ctr"/>
          <a:lstStyle/>
          <a:p>
            <a:pPr algn="l" indent="0" marL="0">
              <a:buNone/>
            </a:pPr>
            <a:r>
              <a:rPr lang="en-US" sz="3000" b="1" dirty="0">
                <a:solidFill>
                  <a:srgbClr val="0E3A3F"/>
                </a:solidFill>
                <a:latin typeface="Georgia" pitchFamily="34" charset="0"/>
                <a:ea typeface="Georgia" pitchFamily="34" charset="-122"/>
                <a:cs typeface="Georgia" pitchFamily="34" charset="-120"/>
              </a:rPr>
              <a:t>So — where did the big fish go?</a:t>
            </a:r>
            <a:endParaRPr lang="en-US" sz="3000" dirty="0"/>
          </a:p>
        </p:txBody>
      </p:sp>
      <p:sp>
        <p:nvSpPr>
          <p:cNvPr id="5" name="rv_intro"/>
          <p:cNvSpPr txBox="1"/>
          <p:nvPr/>
        </p:nvSpPr>
        <p:spPr>
          <a:xfrm>
            <a:off x="502920" y="1554480"/>
            <a:ext cx="10058400" cy="310896"/>
          </a:xfrm>
          <a:prstGeom prst="rect">
            <a:avLst/>
          </a:prstGeom>
          <a:noFill/>
          <a:ln/>
        </p:spPr>
        <p:txBody>
          <a:bodyPr wrap="square" lIns="0" tIns="0" rIns="0" bIns="0" rtlCol="0" anchor="ctr"/>
          <a:lstStyle/>
          <a:p>
            <a:pPr indent="0" marL="0">
              <a:buNone/>
            </a:pPr>
            <a:r>
              <a:rPr lang="en-US" sz="1300" dirty="0">
                <a:solidFill>
                  <a:srgbClr val="4A6165"/>
                </a:solidFill>
                <a:latin typeface="Arial" pitchFamily="34" charset="0"/>
                <a:ea typeface="Arial" pitchFamily="34" charset="-122"/>
                <a:cs typeface="Arial" pitchFamily="34" charset="-120"/>
              </a:rPr>
              <a:t>The answer was option B. There really are fewer of them, and here is why.</a:t>
            </a:r>
            <a:endParaRPr lang="en-US" sz="1300" dirty="0"/>
          </a:p>
        </p:txBody>
      </p:sp>
      <p:grpSp>
        <p:nvGrpSpPr>
          <p:cNvPr id="31" name="py0"/>
          <p:cNvGrpSpPr/>
          <p:nvPr/>
        </p:nvGrpSpPr>
        <p:grpSpPr>
          <a:xfrm>
            <a:off x="-45720" y="4901184"/>
            <a:ext cx="5422392" cy="786384"/>
            <a:chOff x="-45720" y="4901184"/>
            <a:chExt cx="5422392" cy="786384"/>
          </a:xfrm>
        </p:grpSpPr>
        <p:sp>
          <p:nvSpPr>
            <p:cNvPr id="6" name="py0_bar"/>
            <p:cNvSpPr/>
            <p:nvPr/>
          </p:nvSpPr>
          <p:spPr>
            <a:xfrm>
              <a:off x="2313432" y="4901184"/>
              <a:ext cx="3063240" cy="786384"/>
            </a:xfrm>
            <a:prstGeom prst="rect">
              <a:avLst/>
            </a:prstGeom>
            <a:solidFill>
              <a:srgbClr val="2E9E6B"/>
            </a:solidFill>
            <a:ln w="12700">
              <a:solidFill>
                <a:srgbClr val="2E9E6B"/>
              </a:solidFill>
              <a:prstDash val="solid"/>
            </a:ln>
          </p:spPr>
        </p:sp>
        <p:sp>
          <p:nvSpPr>
            <p:cNvPr id="7" name="py0_t"/>
            <p:cNvSpPr txBox="1"/>
            <p:nvPr/>
          </p:nvSpPr>
          <p:spPr>
            <a:xfrm>
              <a:off x="502920" y="4901184"/>
              <a:ext cx="1572768" cy="424647"/>
            </a:xfrm>
            <a:prstGeom prst="rect">
              <a:avLst/>
            </a:prstGeom>
            <a:noFill/>
            <a:ln/>
          </p:spPr>
          <p:txBody>
            <a:bodyPr wrap="square" lIns="0" tIns="0" rIns="0" bIns="0" rtlCol="0" anchor="b"/>
            <a:lstStyle/>
            <a:p>
              <a:pPr algn="r" indent="0" marL="0">
                <a:buNone/>
              </a:pPr>
              <a:r>
                <a:rPr lang="en-US" sz="1250" b="1" dirty="0">
                  <a:solidFill>
                    <a:srgbClr val="0E3A3F"/>
                  </a:solidFill>
                  <a:latin typeface="Arial" pitchFamily="34" charset="0"/>
                  <a:ea typeface="Arial" pitchFamily="34" charset="-122"/>
                  <a:cs typeface="Arial" pitchFamily="34" charset="-120"/>
                </a:rPr>
                <a:t>Phytoplankton</a:t>
              </a:r>
              <a:endParaRPr lang="en-US" sz="1250" dirty="0"/>
            </a:p>
          </p:txBody>
        </p:sp>
        <p:sp>
          <p:nvSpPr>
            <p:cNvPr id="8" name="py0_n"/>
            <p:cNvSpPr txBox="1"/>
            <p:nvPr/>
          </p:nvSpPr>
          <p:spPr>
            <a:xfrm>
              <a:off x="-45720" y="5310104"/>
              <a:ext cx="2121408" cy="361737"/>
            </a:xfrm>
            <a:prstGeom prst="rect">
              <a:avLst/>
            </a:prstGeom>
            <a:noFill/>
            <a:ln/>
          </p:spPr>
          <p:txBody>
            <a:bodyPr wrap="square" lIns="0" tIns="0" rIns="0" bIns="0" rtlCol="0" anchor="t"/>
            <a:lstStyle/>
            <a:p>
              <a:pPr algn="r" indent="0" marL="0">
                <a:buNone/>
              </a:pPr>
              <a:r>
                <a:rPr lang="en-US" sz="950" dirty="0">
                  <a:solidFill>
                    <a:srgbClr val="4A6165"/>
                  </a:solidFill>
                  <a:latin typeface="Arial" pitchFamily="34" charset="0"/>
                  <a:ea typeface="Arial" pitchFamily="34" charset="-122"/>
                  <a:cs typeface="Arial" pitchFamily="34" charset="-120"/>
                </a:rPr>
                <a:t>100 units of energy</a:t>
              </a:r>
              <a:endParaRPr lang="en-US" sz="950" dirty="0"/>
            </a:p>
          </p:txBody>
        </p:sp>
      </p:grpSp>
      <p:grpSp>
        <p:nvGrpSpPr>
          <p:cNvPr id="32" name="py1"/>
          <p:cNvGrpSpPr/>
          <p:nvPr/>
        </p:nvGrpSpPr>
        <p:grpSpPr>
          <a:xfrm>
            <a:off x="-45720" y="4005072"/>
            <a:ext cx="4809744" cy="786384"/>
            <a:chOff x="-45720" y="4005072"/>
            <a:chExt cx="4809744" cy="786384"/>
          </a:xfrm>
        </p:grpSpPr>
        <p:sp>
          <p:nvSpPr>
            <p:cNvPr id="9" name="py1_bar"/>
            <p:cNvSpPr/>
            <p:nvPr/>
          </p:nvSpPr>
          <p:spPr>
            <a:xfrm>
              <a:off x="2926080" y="4005072"/>
              <a:ext cx="1837944" cy="786384"/>
            </a:xfrm>
            <a:prstGeom prst="rect">
              <a:avLst/>
            </a:prstGeom>
            <a:solidFill>
              <a:srgbClr val="4FB98A"/>
            </a:solidFill>
            <a:ln w="12700">
              <a:solidFill>
                <a:srgbClr val="4FB98A"/>
              </a:solidFill>
              <a:prstDash val="solid"/>
            </a:ln>
          </p:spPr>
        </p:sp>
        <p:sp>
          <p:nvSpPr>
            <p:cNvPr id="10" name="py1_t"/>
            <p:cNvSpPr txBox="1"/>
            <p:nvPr/>
          </p:nvSpPr>
          <p:spPr>
            <a:xfrm>
              <a:off x="502920" y="4005072"/>
              <a:ext cx="1572768" cy="424647"/>
            </a:xfrm>
            <a:prstGeom prst="rect">
              <a:avLst/>
            </a:prstGeom>
            <a:noFill/>
            <a:ln/>
          </p:spPr>
          <p:txBody>
            <a:bodyPr wrap="square" lIns="0" tIns="0" rIns="0" bIns="0" rtlCol="0" anchor="b"/>
            <a:lstStyle/>
            <a:p>
              <a:pPr algn="r" indent="0" marL="0">
                <a:buNone/>
              </a:pPr>
              <a:r>
                <a:rPr lang="en-US" sz="1250" b="1" dirty="0">
                  <a:solidFill>
                    <a:srgbClr val="0E3A3F"/>
                  </a:solidFill>
                  <a:latin typeface="Arial" pitchFamily="34" charset="0"/>
                  <a:ea typeface="Arial" pitchFamily="34" charset="-122"/>
                  <a:cs typeface="Arial" pitchFamily="34" charset="-120"/>
                </a:rPr>
                <a:t>Copepods</a:t>
              </a:r>
              <a:endParaRPr lang="en-US" sz="1250" dirty="0"/>
            </a:p>
          </p:txBody>
        </p:sp>
        <p:sp>
          <p:nvSpPr>
            <p:cNvPr id="11" name="py1_n"/>
            <p:cNvSpPr txBox="1"/>
            <p:nvPr/>
          </p:nvSpPr>
          <p:spPr>
            <a:xfrm>
              <a:off x="-45720" y="4413992"/>
              <a:ext cx="2121408" cy="361737"/>
            </a:xfrm>
            <a:prstGeom prst="rect">
              <a:avLst/>
            </a:prstGeom>
            <a:noFill/>
            <a:ln/>
          </p:spPr>
          <p:txBody>
            <a:bodyPr wrap="square" lIns="0" tIns="0" rIns="0" bIns="0" rtlCol="0" anchor="t"/>
            <a:lstStyle/>
            <a:p>
              <a:pPr algn="r" indent="0" marL="0">
                <a:buNone/>
              </a:pPr>
              <a:r>
                <a:rPr lang="en-US" sz="950" dirty="0">
                  <a:solidFill>
                    <a:srgbClr val="4A6165"/>
                  </a:solidFill>
                  <a:latin typeface="Arial" pitchFamily="34" charset="0"/>
                  <a:ea typeface="Arial" pitchFamily="34" charset="-122"/>
                  <a:cs typeface="Arial" pitchFamily="34" charset="-120"/>
                </a:rPr>
                <a:t>about 10 units</a:t>
              </a:r>
              <a:endParaRPr lang="en-US" sz="950" dirty="0"/>
            </a:p>
          </p:txBody>
        </p:sp>
      </p:grpSp>
      <p:grpSp>
        <p:nvGrpSpPr>
          <p:cNvPr id="33" name="py2"/>
          <p:cNvGrpSpPr/>
          <p:nvPr/>
        </p:nvGrpSpPr>
        <p:grpSpPr>
          <a:xfrm>
            <a:off x="-45720" y="3108960"/>
            <a:ext cx="4380891" cy="786384"/>
            <a:chOff x="-45720" y="3108960"/>
            <a:chExt cx="4380891" cy="786384"/>
          </a:xfrm>
        </p:grpSpPr>
        <p:sp>
          <p:nvSpPr>
            <p:cNvPr id="12" name="py2_bar"/>
            <p:cNvSpPr/>
            <p:nvPr/>
          </p:nvSpPr>
          <p:spPr>
            <a:xfrm>
              <a:off x="3354934" y="3108960"/>
              <a:ext cx="980237" cy="786384"/>
            </a:xfrm>
            <a:prstGeom prst="rect">
              <a:avLst/>
            </a:prstGeom>
            <a:solidFill>
              <a:srgbClr val="F5B301"/>
            </a:solidFill>
            <a:ln w="12700">
              <a:solidFill>
                <a:srgbClr val="F5B301"/>
              </a:solidFill>
              <a:prstDash val="solid"/>
            </a:ln>
          </p:spPr>
        </p:sp>
        <p:sp>
          <p:nvSpPr>
            <p:cNvPr id="13" name="py2_t"/>
            <p:cNvSpPr txBox="1"/>
            <p:nvPr/>
          </p:nvSpPr>
          <p:spPr>
            <a:xfrm>
              <a:off x="502920" y="3108960"/>
              <a:ext cx="1572768" cy="424647"/>
            </a:xfrm>
            <a:prstGeom prst="rect">
              <a:avLst/>
            </a:prstGeom>
            <a:noFill/>
            <a:ln/>
          </p:spPr>
          <p:txBody>
            <a:bodyPr wrap="square" lIns="0" tIns="0" rIns="0" bIns="0" rtlCol="0" anchor="b"/>
            <a:lstStyle/>
            <a:p>
              <a:pPr algn="r" indent="0" marL="0">
                <a:buNone/>
              </a:pPr>
              <a:r>
                <a:rPr lang="en-US" sz="1250" b="1" dirty="0">
                  <a:solidFill>
                    <a:srgbClr val="0E3A3F"/>
                  </a:solidFill>
                  <a:latin typeface="Arial" pitchFamily="34" charset="0"/>
                  <a:ea typeface="Arial" pitchFamily="34" charset="-122"/>
                  <a:cs typeface="Arial" pitchFamily="34" charset="-120"/>
                </a:rPr>
                <a:t>Pla thu</a:t>
              </a:r>
              <a:endParaRPr lang="en-US" sz="1250" dirty="0"/>
            </a:p>
          </p:txBody>
        </p:sp>
        <p:sp>
          <p:nvSpPr>
            <p:cNvPr id="14" name="py2_n"/>
            <p:cNvSpPr txBox="1"/>
            <p:nvPr/>
          </p:nvSpPr>
          <p:spPr>
            <a:xfrm>
              <a:off x="-45720" y="3517880"/>
              <a:ext cx="2121408" cy="361737"/>
            </a:xfrm>
            <a:prstGeom prst="rect">
              <a:avLst/>
            </a:prstGeom>
            <a:noFill/>
            <a:ln/>
          </p:spPr>
          <p:txBody>
            <a:bodyPr wrap="square" lIns="0" tIns="0" rIns="0" bIns="0" rtlCol="0" anchor="t"/>
            <a:lstStyle/>
            <a:p>
              <a:pPr algn="r" indent="0" marL="0">
                <a:buNone/>
              </a:pPr>
              <a:r>
                <a:rPr lang="en-US" sz="950" dirty="0">
                  <a:solidFill>
                    <a:srgbClr val="4A6165"/>
                  </a:solidFill>
                  <a:latin typeface="Arial" pitchFamily="34" charset="0"/>
                  <a:ea typeface="Arial" pitchFamily="34" charset="-122"/>
                  <a:cs typeface="Arial" pitchFamily="34" charset="-120"/>
                </a:rPr>
                <a:t>about 1 unit  ·  trophic level 2.7</a:t>
              </a:r>
              <a:endParaRPr lang="en-US" sz="950" dirty="0"/>
            </a:p>
          </p:txBody>
        </p:sp>
      </p:grpSp>
      <p:grpSp>
        <p:nvGrpSpPr>
          <p:cNvPr id="34" name="py3"/>
          <p:cNvGrpSpPr/>
          <p:nvPr/>
        </p:nvGrpSpPr>
        <p:grpSpPr>
          <a:xfrm>
            <a:off x="-45720" y="2212848"/>
            <a:ext cx="4105199" cy="786384"/>
            <a:chOff x="-45720" y="2212848"/>
            <a:chExt cx="4105199" cy="786384"/>
          </a:xfrm>
        </p:grpSpPr>
        <p:sp>
          <p:nvSpPr>
            <p:cNvPr id="15" name="py3_bar"/>
            <p:cNvSpPr/>
            <p:nvPr/>
          </p:nvSpPr>
          <p:spPr>
            <a:xfrm>
              <a:off x="3630625" y="2212848"/>
              <a:ext cx="428854" cy="786384"/>
            </a:xfrm>
            <a:prstGeom prst="rect">
              <a:avLst/>
            </a:prstGeom>
            <a:solidFill>
              <a:srgbClr val="E2572B"/>
            </a:solidFill>
            <a:ln w="12700">
              <a:solidFill>
                <a:srgbClr val="E2572B"/>
              </a:solidFill>
              <a:prstDash val="solid"/>
            </a:ln>
          </p:spPr>
        </p:sp>
        <p:sp>
          <p:nvSpPr>
            <p:cNvPr id="16" name="py3_t"/>
            <p:cNvSpPr txBox="1"/>
            <p:nvPr/>
          </p:nvSpPr>
          <p:spPr>
            <a:xfrm>
              <a:off x="502920" y="2212848"/>
              <a:ext cx="1572768" cy="424647"/>
            </a:xfrm>
            <a:prstGeom prst="rect">
              <a:avLst/>
            </a:prstGeom>
            <a:noFill/>
            <a:ln/>
          </p:spPr>
          <p:txBody>
            <a:bodyPr wrap="square" lIns="0" tIns="0" rIns="0" bIns="0" rtlCol="0" anchor="b"/>
            <a:lstStyle/>
            <a:p>
              <a:pPr algn="r" indent="0" marL="0">
                <a:buNone/>
              </a:pPr>
              <a:r>
                <a:rPr lang="en-US" sz="1250" b="1" dirty="0">
                  <a:solidFill>
                    <a:srgbClr val="0E3A3F"/>
                  </a:solidFill>
                  <a:latin typeface="Arial" pitchFamily="34" charset="0"/>
                  <a:ea typeface="Arial" pitchFamily="34" charset="-122"/>
                  <a:cs typeface="Arial" pitchFamily="34" charset="-120"/>
                </a:rPr>
                <a:t>Pla kapong</a:t>
              </a:r>
              <a:endParaRPr lang="en-US" sz="1250" dirty="0"/>
            </a:p>
          </p:txBody>
        </p:sp>
        <p:sp>
          <p:nvSpPr>
            <p:cNvPr id="17" name="py3_n"/>
            <p:cNvSpPr txBox="1"/>
            <p:nvPr/>
          </p:nvSpPr>
          <p:spPr>
            <a:xfrm>
              <a:off x="-45720" y="2621768"/>
              <a:ext cx="2121408" cy="361737"/>
            </a:xfrm>
            <a:prstGeom prst="rect">
              <a:avLst/>
            </a:prstGeom>
            <a:noFill/>
            <a:ln/>
          </p:spPr>
          <p:txBody>
            <a:bodyPr wrap="square" lIns="0" tIns="0" rIns="0" bIns="0" rtlCol="0" anchor="t"/>
            <a:lstStyle/>
            <a:p>
              <a:pPr algn="r" indent="0" marL="0">
                <a:buNone/>
              </a:pPr>
              <a:r>
                <a:rPr lang="en-US" sz="950" dirty="0">
                  <a:solidFill>
                    <a:srgbClr val="4A6165"/>
                  </a:solidFill>
                  <a:latin typeface="Arial" pitchFamily="34" charset="0"/>
                  <a:ea typeface="Arial" pitchFamily="34" charset="-122"/>
                  <a:cs typeface="Arial" pitchFamily="34" charset="-120"/>
                </a:rPr>
                <a:t>a fraction of a unit  ·  level 3.8</a:t>
              </a:r>
              <a:endParaRPr lang="en-US" sz="950" dirty="0"/>
            </a:p>
          </p:txBody>
        </p:sp>
      </p:grpSp>
      <p:sp>
        <p:nvSpPr>
          <p:cNvPr id="18" name="rv0_n"/>
          <p:cNvSpPr txBox="1"/>
          <p:nvPr/>
        </p:nvSpPr>
        <p:spPr>
          <a:xfrm>
            <a:off x="6537960" y="2176272"/>
            <a:ext cx="310896" cy="292608"/>
          </a:xfrm>
          <a:prstGeom prst="rect">
            <a:avLst/>
          </a:prstGeom>
          <a:noFill/>
          <a:ln/>
        </p:spPr>
        <p:txBody>
          <a:bodyPr wrap="square" lIns="0" tIns="0" rIns="0" bIns="0" rtlCol="0" anchor="t"/>
          <a:lstStyle/>
          <a:p>
            <a:pPr indent="0" marL="0">
              <a:buNone/>
            </a:pPr>
            <a:r>
              <a:rPr lang="en-US" sz="1800" b="1" dirty="0">
                <a:solidFill>
                  <a:srgbClr val="F5B301"/>
                </a:solidFill>
                <a:latin typeface="Georgia" pitchFamily="34" charset="0"/>
                <a:ea typeface="Georgia" pitchFamily="34" charset="-122"/>
                <a:cs typeface="Georgia" pitchFamily="34" charset="-120"/>
              </a:rPr>
              <a:t>1</a:t>
            </a:r>
            <a:endParaRPr lang="en-US" sz="1800" dirty="0"/>
          </a:p>
        </p:txBody>
      </p:sp>
      <p:sp>
        <p:nvSpPr>
          <p:cNvPr id="19" name="rv0_h"/>
          <p:cNvSpPr txBox="1"/>
          <p:nvPr/>
        </p:nvSpPr>
        <p:spPr>
          <a:xfrm>
            <a:off x="6958584" y="2157984"/>
            <a:ext cx="4730191" cy="475488"/>
          </a:xfrm>
          <a:prstGeom prst="rect">
            <a:avLst/>
          </a:prstGeom>
          <a:noFill/>
          <a:ln/>
        </p:spPr>
        <p:txBody>
          <a:bodyPr wrap="square" lIns="0" tIns="0" rIns="0" bIns="0" rtlCol="0" anchor="t"/>
          <a:lstStyle/>
          <a:p>
            <a:pPr indent="0" marL="0">
              <a:lnSpc>
                <a:spcPts val="1700"/>
              </a:lnSpc>
              <a:buNone/>
            </a:pPr>
            <a:r>
              <a:rPr lang="en-US" sz="1300" b="1" dirty="0">
                <a:solidFill>
                  <a:srgbClr val="0E3A3F"/>
                </a:solidFill>
                <a:latin typeface="Arial" pitchFamily="34" charset="0"/>
                <a:ea typeface="Arial" pitchFamily="34" charset="-122"/>
                <a:cs typeface="Arial" pitchFamily="34" charset="-120"/>
              </a:rPr>
              <a:t>About nine tenths of the energy is lost at every step.</a:t>
            </a:r>
            <a:endParaRPr lang="en-US" sz="1300" dirty="0"/>
          </a:p>
        </p:txBody>
      </p:sp>
      <p:sp>
        <p:nvSpPr>
          <p:cNvPr id="20" name="rv0_b"/>
          <p:cNvSpPr txBox="1"/>
          <p:nvPr/>
        </p:nvSpPr>
        <p:spPr>
          <a:xfrm>
            <a:off x="6958584" y="2633472"/>
            <a:ext cx="4730191" cy="493776"/>
          </a:xfrm>
          <a:prstGeom prst="rect">
            <a:avLst/>
          </a:prstGeom>
          <a:noFill/>
          <a:ln/>
        </p:spPr>
        <p:txBody>
          <a:bodyPr wrap="square" lIns="0" tIns="0" rIns="0" bIns="0" rtlCol="0" anchor="t"/>
          <a:lstStyle/>
          <a:p>
            <a:pPr indent="0" marL="0">
              <a:lnSpc>
                <a:spcPts val="1500"/>
              </a:lnSpc>
              <a:buNone/>
            </a:pPr>
            <a:r>
              <a:rPr lang="en-US" sz="1150" dirty="0">
                <a:solidFill>
                  <a:srgbClr val="4A6165"/>
                </a:solidFill>
                <a:latin typeface="Arial" pitchFamily="34" charset="0"/>
                <a:ea typeface="Arial" pitchFamily="34" charset="-122"/>
                <a:cs typeface="Arial" pitchFamily="34" charset="-120"/>
              </a:rPr>
              <a:t>Most of it is spent just staying alive, and leaves as heat. Only what gets built into a body is left for the next mouth.</a:t>
            </a:r>
            <a:endParaRPr lang="en-US" sz="1150" dirty="0"/>
          </a:p>
        </p:txBody>
      </p:sp>
      <p:sp>
        <p:nvSpPr>
          <p:cNvPr id="21" name="rv1_n"/>
          <p:cNvSpPr txBox="1"/>
          <p:nvPr/>
        </p:nvSpPr>
        <p:spPr>
          <a:xfrm>
            <a:off x="6537960" y="3145536"/>
            <a:ext cx="310896" cy="292608"/>
          </a:xfrm>
          <a:prstGeom prst="rect">
            <a:avLst/>
          </a:prstGeom>
          <a:noFill/>
          <a:ln/>
        </p:spPr>
        <p:txBody>
          <a:bodyPr wrap="square" lIns="0" tIns="0" rIns="0" bIns="0" rtlCol="0" anchor="t"/>
          <a:lstStyle/>
          <a:p>
            <a:pPr indent="0" marL="0">
              <a:buNone/>
            </a:pPr>
            <a:r>
              <a:rPr lang="en-US" sz="1800" b="1" dirty="0">
                <a:solidFill>
                  <a:srgbClr val="F5B301"/>
                </a:solidFill>
                <a:latin typeface="Georgia" pitchFamily="34" charset="0"/>
                <a:ea typeface="Georgia" pitchFamily="34" charset="-122"/>
                <a:cs typeface="Georgia" pitchFamily="34" charset="-120"/>
              </a:rPr>
              <a:t>2</a:t>
            </a:r>
            <a:endParaRPr lang="en-US" sz="1800" dirty="0"/>
          </a:p>
        </p:txBody>
      </p:sp>
      <p:sp>
        <p:nvSpPr>
          <p:cNvPr id="22" name="rv1_h"/>
          <p:cNvSpPr txBox="1"/>
          <p:nvPr/>
        </p:nvSpPr>
        <p:spPr>
          <a:xfrm>
            <a:off x="6958584" y="3127248"/>
            <a:ext cx="4730191" cy="475488"/>
          </a:xfrm>
          <a:prstGeom prst="rect">
            <a:avLst/>
          </a:prstGeom>
          <a:noFill/>
          <a:ln/>
        </p:spPr>
        <p:txBody>
          <a:bodyPr wrap="square" lIns="0" tIns="0" rIns="0" bIns="0" rtlCol="0" anchor="t"/>
          <a:lstStyle/>
          <a:p>
            <a:pPr indent="0" marL="0">
              <a:lnSpc>
                <a:spcPts val="1700"/>
              </a:lnSpc>
              <a:buNone/>
            </a:pPr>
            <a:r>
              <a:rPr lang="en-US" sz="1300" b="1" dirty="0">
                <a:solidFill>
                  <a:srgbClr val="0E3A3F"/>
                </a:solidFill>
                <a:latin typeface="Arial" pitchFamily="34" charset="0"/>
                <a:ea typeface="Arial" pitchFamily="34" charset="-122"/>
                <a:cs typeface="Arial" pitchFamily="34" charset="-120"/>
              </a:rPr>
              <a:t>So each level up has roughly a tenth as much to build with.</a:t>
            </a:r>
            <a:endParaRPr lang="en-US" sz="1300" dirty="0"/>
          </a:p>
        </p:txBody>
      </p:sp>
      <p:sp>
        <p:nvSpPr>
          <p:cNvPr id="23" name="rv1_b"/>
          <p:cNvSpPr txBox="1"/>
          <p:nvPr/>
        </p:nvSpPr>
        <p:spPr>
          <a:xfrm>
            <a:off x="6958584" y="3602736"/>
            <a:ext cx="4730191" cy="493776"/>
          </a:xfrm>
          <a:prstGeom prst="rect">
            <a:avLst/>
          </a:prstGeom>
          <a:noFill/>
          <a:ln/>
        </p:spPr>
        <p:txBody>
          <a:bodyPr wrap="square" lIns="0" tIns="0" rIns="0" bIns="0" rtlCol="0" anchor="t"/>
          <a:lstStyle/>
          <a:p>
            <a:pPr indent="0" marL="0">
              <a:lnSpc>
                <a:spcPts val="1500"/>
              </a:lnSpc>
              <a:buNone/>
            </a:pPr>
            <a:r>
              <a:rPr lang="en-US" sz="1150" dirty="0">
                <a:solidFill>
                  <a:srgbClr val="4A6165"/>
                </a:solidFill>
                <a:latin typeface="Arial" pitchFamily="34" charset="0"/>
                <a:ea typeface="Arial" pitchFamily="34" charset="-122"/>
                <a:cs typeface="Arial" pitchFamily="34" charset="-120"/>
              </a:rPr>
              <a:t>A tenth of the ENERGY — not a tenth as many animals. Bigger animals need more each, so the numbers fall faster still.</a:t>
            </a:r>
            <a:endParaRPr lang="en-US" sz="1150" dirty="0"/>
          </a:p>
        </p:txBody>
      </p:sp>
      <p:sp>
        <p:nvSpPr>
          <p:cNvPr id="24" name="rv2_n"/>
          <p:cNvSpPr txBox="1"/>
          <p:nvPr/>
        </p:nvSpPr>
        <p:spPr>
          <a:xfrm>
            <a:off x="6537960" y="4114800"/>
            <a:ext cx="310896" cy="292608"/>
          </a:xfrm>
          <a:prstGeom prst="rect">
            <a:avLst/>
          </a:prstGeom>
          <a:noFill/>
          <a:ln/>
        </p:spPr>
        <p:txBody>
          <a:bodyPr wrap="square" lIns="0" tIns="0" rIns="0" bIns="0" rtlCol="0" anchor="t"/>
          <a:lstStyle/>
          <a:p>
            <a:pPr indent="0" marL="0">
              <a:buNone/>
            </a:pPr>
            <a:r>
              <a:rPr lang="en-US" sz="1800" b="1" dirty="0">
                <a:solidFill>
                  <a:srgbClr val="F5B301"/>
                </a:solidFill>
                <a:latin typeface="Georgia" pitchFamily="34" charset="0"/>
                <a:ea typeface="Georgia" pitchFamily="34" charset="-122"/>
                <a:cs typeface="Georgia" pitchFamily="34" charset="-120"/>
              </a:rPr>
              <a:t>3</a:t>
            </a:r>
            <a:endParaRPr lang="en-US" sz="1800" dirty="0"/>
          </a:p>
        </p:txBody>
      </p:sp>
      <p:sp>
        <p:nvSpPr>
          <p:cNvPr id="25" name="rv2_h"/>
          <p:cNvSpPr txBox="1"/>
          <p:nvPr/>
        </p:nvSpPr>
        <p:spPr>
          <a:xfrm>
            <a:off x="6958584" y="4096512"/>
            <a:ext cx="4730191" cy="475488"/>
          </a:xfrm>
          <a:prstGeom prst="rect">
            <a:avLst/>
          </a:prstGeom>
          <a:noFill/>
          <a:ln/>
        </p:spPr>
        <p:txBody>
          <a:bodyPr wrap="square" lIns="0" tIns="0" rIns="0" bIns="0" rtlCol="0" anchor="t"/>
          <a:lstStyle/>
          <a:p>
            <a:pPr indent="0" marL="0">
              <a:lnSpc>
                <a:spcPts val="1700"/>
              </a:lnSpc>
              <a:buNone/>
            </a:pPr>
            <a:r>
              <a:rPr lang="en-US" sz="1300" b="1" dirty="0">
                <a:solidFill>
                  <a:srgbClr val="0E3A3F"/>
                </a:solidFill>
                <a:latin typeface="Arial" pitchFamily="34" charset="0"/>
                <a:ea typeface="Arial" pitchFamily="34" charset="-122"/>
                <a:cs typeface="Arial" pitchFamily="34" charset="-120"/>
              </a:rPr>
              <a:t>Pla thu feeds at level 2.7. Pla kapong feeds at 3.8.</a:t>
            </a:r>
            <a:endParaRPr lang="en-US" sz="1300" dirty="0"/>
          </a:p>
        </p:txBody>
      </p:sp>
      <p:sp>
        <p:nvSpPr>
          <p:cNvPr id="26" name="rv2_b"/>
          <p:cNvSpPr txBox="1"/>
          <p:nvPr/>
        </p:nvSpPr>
        <p:spPr>
          <a:xfrm>
            <a:off x="6958584" y="4572000"/>
            <a:ext cx="4730191" cy="493776"/>
          </a:xfrm>
          <a:prstGeom prst="rect">
            <a:avLst/>
          </a:prstGeom>
          <a:noFill/>
          <a:ln/>
        </p:spPr>
        <p:txBody>
          <a:bodyPr wrap="square" lIns="0" tIns="0" rIns="0" bIns="0" rtlCol="0" anchor="t"/>
          <a:lstStyle/>
          <a:p>
            <a:pPr indent="0" marL="0">
              <a:lnSpc>
                <a:spcPts val="1500"/>
              </a:lnSpc>
              <a:buNone/>
            </a:pPr>
            <a:r>
              <a:rPr lang="en-US" sz="1150" dirty="0">
                <a:solidFill>
                  <a:srgbClr val="4A6165"/>
                </a:solidFill>
                <a:latin typeface="Arial" pitchFamily="34" charset="0"/>
                <a:ea typeface="Arial" pitchFamily="34" charset="-122"/>
                <a:cs typeface="Arial" pitchFamily="34" charset="-120"/>
              </a:rPr>
              <a:t>A whole extra step up the chain, so it takes roughly ten times more sea to make the same weight of pla kapong.</a:t>
            </a:r>
            <a:endParaRPr lang="en-US" sz="1150" dirty="0"/>
          </a:p>
        </p:txBody>
      </p:sp>
      <p:sp>
        <p:nvSpPr>
          <p:cNvPr id="27" name="rv3_n"/>
          <p:cNvSpPr txBox="1"/>
          <p:nvPr/>
        </p:nvSpPr>
        <p:spPr>
          <a:xfrm>
            <a:off x="6537960" y="5084064"/>
            <a:ext cx="310896" cy="292608"/>
          </a:xfrm>
          <a:prstGeom prst="rect">
            <a:avLst/>
          </a:prstGeom>
          <a:noFill/>
          <a:ln/>
        </p:spPr>
        <p:txBody>
          <a:bodyPr wrap="square" lIns="0" tIns="0" rIns="0" bIns="0" rtlCol="0" anchor="t"/>
          <a:lstStyle/>
          <a:p>
            <a:pPr indent="0" marL="0">
              <a:buNone/>
            </a:pPr>
            <a:r>
              <a:rPr lang="en-US" sz="1800" b="1" dirty="0">
                <a:solidFill>
                  <a:srgbClr val="F5B301"/>
                </a:solidFill>
                <a:latin typeface="Georgia" pitchFamily="34" charset="0"/>
                <a:ea typeface="Georgia" pitchFamily="34" charset="-122"/>
                <a:cs typeface="Georgia" pitchFamily="34" charset="-120"/>
              </a:rPr>
              <a:t>4</a:t>
            </a:r>
            <a:endParaRPr lang="en-US" sz="1800" dirty="0"/>
          </a:p>
        </p:txBody>
      </p:sp>
      <p:sp>
        <p:nvSpPr>
          <p:cNvPr id="28" name="rv3_h"/>
          <p:cNvSpPr txBox="1"/>
          <p:nvPr/>
        </p:nvSpPr>
        <p:spPr>
          <a:xfrm>
            <a:off x="6958584" y="5065776"/>
            <a:ext cx="4730191" cy="475488"/>
          </a:xfrm>
          <a:prstGeom prst="rect">
            <a:avLst/>
          </a:prstGeom>
          <a:noFill/>
          <a:ln/>
        </p:spPr>
        <p:txBody>
          <a:bodyPr wrap="square" lIns="0" tIns="0" rIns="0" bIns="0" rtlCol="0" anchor="t"/>
          <a:lstStyle/>
          <a:p>
            <a:pPr indent="0" marL="0">
              <a:lnSpc>
                <a:spcPts val="1700"/>
              </a:lnSpc>
              <a:buNone/>
            </a:pPr>
            <a:r>
              <a:rPr lang="en-US" sz="1300" b="1" dirty="0">
                <a:solidFill>
                  <a:srgbClr val="0E3A3F"/>
                </a:solidFill>
                <a:latin typeface="Arial" pitchFamily="34" charset="0"/>
                <a:ea typeface="Arial" pitchFamily="34" charset="-122"/>
                <a:cs typeface="Arial" pitchFamily="34" charset="-120"/>
              </a:rPr>
              <a:t>That is why the chain stops at four or five links.</a:t>
            </a:r>
            <a:endParaRPr lang="en-US" sz="1300" dirty="0"/>
          </a:p>
        </p:txBody>
      </p:sp>
      <p:sp>
        <p:nvSpPr>
          <p:cNvPr id="29" name="rv3_b"/>
          <p:cNvSpPr txBox="1"/>
          <p:nvPr/>
        </p:nvSpPr>
        <p:spPr>
          <a:xfrm>
            <a:off x="6958584" y="5541264"/>
            <a:ext cx="4730191" cy="493776"/>
          </a:xfrm>
          <a:prstGeom prst="rect">
            <a:avLst/>
          </a:prstGeom>
          <a:noFill/>
          <a:ln/>
        </p:spPr>
        <p:txBody>
          <a:bodyPr wrap="square" lIns="0" tIns="0" rIns="0" bIns="0" rtlCol="0" anchor="t"/>
          <a:lstStyle/>
          <a:p>
            <a:pPr indent="0" marL="0">
              <a:lnSpc>
                <a:spcPts val="1500"/>
              </a:lnSpc>
              <a:buNone/>
            </a:pPr>
            <a:r>
              <a:rPr lang="en-US" sz="1150" dirty="0">
                <a:solidFill>
                  <a:srgbClr val="4A6165"/>
                </a:solidFill>
                <a:latin typeface="Arial" pitchFamily="34" charset="0"/>
                <a:ea typeface="Arial" pitchFamily="34" charset="-122"/>
                <a:cs typeface="Arial" pitchFamily="34" charset="-120"/>
              </a:rPr>
              <a:t>There is not enough energy left to feed anything that would make a living out of eating pla kapong.</a:t>
            </a:r>
            <a:endParaRPr lang="en-US" sz="1150" dirty="0"/>
          </a:p>
        </p:txBody>
      </p:sp>
      <p:sp>
        <p:nvSpPr>
          <p:cNvPr id="30" name="footer_note"/>
          <p:cNvSpPr txBox="1"/>
          <p:nvPr/>
        </p:nvSpPr>
        <p:spPr>
          <a:xfrm>
            <a:off x="502920" y="6382512"/>
            <a:ext cx="11185855" cy="292608"/>
          </a:xfrm>
          <a:prstGeom prst="rect">
            <a:avLst/>
          </a:prstGeom>
          <a:noFill/>
          <a:ln/>
        </p:spPr>
        <p:txBody>
          <a:bodyPr wrap="square" lIns="0" tIns="0" rIns="0" bIns="0" rtlCol="0" anchor="ctr"/>
          <a:lstStyle/>
          <a:p>
            <a:pPr algn="l" indent="0" marL="0">
              <a:buNone/>
            </a:pPr>
            <a:r>
              <a:rPr lang="en-US" sz="1050" i="1" dirty="0">
                <a:solidFill>
                  <a:srgbClr val="4A6165"/>
                </a:solidFill>
                <a:latin typeface="Arial" pitchFamily="34" charset="0"/>
                <a:ea typeface="Arial" pitchFamily="34" charset="-122"/>
                <a:cs typeface="Arial" pitchFamily="34" charset="-120"/>
              </a:rPr>
              <a:t>Trophic levels from FishBase, based on stomach-content studies. Energy figures are the standard rough tenth — real ecosystems vary.</a:t>
            </a:r>
            <a:endParaRPr lang="en-US" sz="1050" dirty="0"/>
          </a:p>
        </p:txBody>
      </p:sp>
    </p:spTree>
  </p:cSld>
  <p:clrMapOvr>
    <a:masterClrMapping/>
  </p:clrMapOvr>
  <p:transition spd="med">
    <p:wipe dir="u"/>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22" presetClass="entr" presetSubtype="4" fill="hold" grpId="0" nodeType="clickEffect">
                                  <p:stCondLst>
                                    <p:cond delay="0"/>
                                  </p:stCondLst>
                                  <p:childTnLst>
                                    <p:set>
                                      <p:cBhvr>
                                        <p:cTn id="3" dur="1" fill="hold">
                                          <p:stCondLst>
                                            <p:cond delay="0"/>
                                          </p:stCondLst>
                                        </p:cTn>
                                        <p:tgtEl>
                                          <p:spTgt spid="31"/>
                                        </p:tgtEl>
                                        <p:attrNameLst>
                                          <p:attrName>style.visibility</p:attrName>
                                        </p:attrNameLst>
                                      </p:cBhvr>
                                      <p:to>
                                        <p:strVal val="visible"/>
                                      </p:to>
                                    </p:set>
                                    <p:animEffect transition="in" filter="wipe(up)">
                                      <p:cBhvr>
                                        <p:cTn id="4" dur="500"/>
                                        <p:tgtEl>
                                          <p:spTgt spid="31"/>
                                        </p:tgtEl>
                                      </p:cBhvr>
                                    </p:animEffect>
                                  </p:childTnLst>
                                </p:cTn>
                              </p:par>
                            </p:childTnLst>
                          </p:cTn>
                        </p:par>
                      </p:childTnLst>
                    </p:cTn>
                  </p:par>
                  <p:par>
                    <p:cTn id="11" fill="hold">
                      <p:stCondLst>
                        <p:cond delay="indefinite"/>
                      </p:stCondLst>
                      <p:childTnLst>
                        <p:par>
                          <p:cTn id="12" fill="hold">
                            <p:stCondLst>
                              <p:cond delay="0"/>
                            </p:stCondLst>
                            <p:childTnLst>
                              <p:par>
                                <p:cTn id="10" presetID="22" presetClass="entr" presetSubtype="4" fill="hold" grpId="0" nodeType="clickEffect">
                                  <p:stCondLst>
                                    <p:cond delay="0"/>
                                  </p:stCondLst>
                                  <p:childTnLst>
                                    <p:set>
                                      <p:cBhvr>
                                        <p:cTn id="8" dur="1" fill="hold">
                                          <p:stCondLst>
                                            <p:cond delay="0"/>
                                          </p:stCondLst>
                                        </p:cTn>
                                        <p:tgtEl>
                                          <p:spTgt spid="32"/>
                                        </p:tgtEl>
                                        <p:attrNameLst>
                                          <p:attrName>style.visibility</p:attrName>
                                        </p:attrNameLst>
                                      </p:cBhvr>
                                      <p:to>
                                        <p:strVal val="visible"/>
                                      </p:to>
                                    </p:set>
                                    <p:animEffect transition="in" filter="wipe(up)">
                                      <p:cBhvr>
                                        <p:cTn id="9" dur="500"/>
                                        <p:tgtEl>
                                          <p:spTgt spid="32"/>
                                        </p:tgtEl>
                                      </p:cBhvr>
                                    </p:animEffect>
                                  </p:childTnLst>
                                </p:cTn>
                              </p:par>
                            </p:childTnLst>
                          </p:cTn>
                        </p:par>
                      </p:childTnLst>
                    </p:cTn>
                  </p:par>
                  <p:par>
                    <p:cTn id="16" fill="hold">
                      <p:stCondLst>
                        <p:cond delay="indefinite"/>
                      </p:stCondLst>
                      <p:childTnLst>
                        <p:par>
                          <p:cTn id="17" fill="hold">
                            <p:stCondLst>
                              <p:cond delay="0"/>
                            </p:stCondLst>
                            <p:childTnLst>
                              <p:par>
                                <p:cTn id="15" presetID="22" presetClass="entr" presetSubtype="4" fill="hold" grpId="0" nodeType="clickEffect">
                                  <p:stCondLst>
                                    <p:cond delay="0"/>
                                  </p:stCondLst>
                                  <p:childTnLst>
                                    <p:set>
                                      <p:cBhvr>
                                        <p:cTn id="13" dur="1" fill="hold">
                                          <p:stCondLst>
                                            <p:cond delay="0"/>
                                          </p:stCondLst>
                                        </p:cTn>
                                        <p:tgtEl>
                                          <p:spTgt spid="33"/>
                                        </p:tgtEl>
                                        <p:attrNameLst>
                                          <p:attrName>style.visibility</p:attrName>
                                        </p:attrNameLst>
                                      </p:cBhvr>
                                      <p:to>
                                        <p:strVal val="visible"/>
                                      </p:to>
                                    </p:set>
                                    <p:animEffect transition="in" filter="wipe(up)">
                                      <p:cBhvr>
                                        <p:cTn id="14" dur="500"/>
                                        <p:tgtEl>
                                          <p:spTgt spid="33"/>
                                        </p:tgtEl>
                                      </p:cBhvr>
                                    </p:animEffect>
                                  </p:childTnLst>
                                </p:cTn>
                              </p:par>
                            </p:childTnLst>
                          </p:cTn>
                        </p:par>
                      </p:childTnLst>
                    </p:cTn>
                  </p:par>
                  <p:par>
                    <p:cTn id="21" fill="hold">
                      <p:stCondLst>
                        <p:cond delay="indefinite"/>
                      </p:stCondLst>
                      <p:childTnLst>
                        <p:par>
                          <p:cTn id="22" fill="hold">
                            <p:stCondLst>
                              <p:cond delay="0"/>
                            </p:stCondLst>
                            <p:childTnLst>
                              <p:par>
                                <p:cTn id="20" presetID="22" presetClass="entr" presetSubtype="4" fill="hold" grpId="0" nodeType="clickEffect">
                                  <p:stCondLst>
                                    <p:cond delay="0"/>
                                  </p:stCondLst>
                                  <p:childTnLst>
                                    <p:set>
                                      <p:cBhvr>
                                        <p:cTn id="18" dur="1" fill="hold">
                                          <p:stCondLst>
                                            <p:cond delay="0"/>
                                          </p:stCondLst>
                                        </p:cTn>
                                        <p:tgtEl>
                                          <p:spTgt spid="34"/>
                                        </p:tgtEl>
                                        <p:attrNameLst>
                                          <p:attrName>style.visibility</p:attrName>
                                        </p:attrNameLst>
                                      </p:cBhvr>
                                      <p:to>
                                        <p:strVal val="visible"/>
                                      </p:to>
                                    </p:set>
                                    <p:animEffect transition="in" filter="wipe(up)">
                                      <p:cBhvr>
                                        <p:cTn id="19" dur="500"/>
                                        <p:tgtEl>
                                          <p:spTgt spid="34"/>
                                        </p:tgtEl>
                                      </p:cBhvr>
                                    </p:animEffect>
                                  </p:childTnLst>
                                </p:cTn>
                              </p:par>
                            </p:childTnLst>
                          </p:cTn>
                        </p:par>
                      </p:childTnLst>
                    </p:cTn>
                  </p:par>
                  <p:par>
                    <p:cTn id="29" fill="hold">
                      <p:stCondLst>
                        <p:cond delay="indefinite"/>
                      </p:stCondLst>
                      <p:childTnLst>
                        <p:par>
                          <p:cTn id="30" fill="hold">
                            <p:stCondLst>
                              <p:cond delay="0"/>
                            </p:stCondLst>
                            <p:childTnLst>
                              <p:par>
                                <p:cTn id="25" presetID="10" presetClass="entr" presetSubtype="0" fill="hold" grpId="0" nodeType="click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500"/>
                                        <p:tgtEl>
                                          <p:spTgt spid="18"/>
                                        </p:tgtEl>
                                      </p:cBhvr>
                                    </p:animEffect>
                                  </p:childTnLst>
                                </p:cTn>
                              </p:par>
                              <p:par>
                                <p:cTn id="28" presetID="10" presetClass="entr" presetSubtype="0" fill="hold" grpId="0" nodeType="withEffect">
                                  <p:stCondLst>
                                    <p:cond delay="120"/>
                                  </p:stCondLst>
                                  <p:childTnLst>
                                    <p:set>
                                      <p:cBhvr>
                                        <p:cTn id="26" dur="1" fill="hold">
                                          <p:stCondLst>
                                            <p:cond delay="0"/>
                                          </p:stCondLst>
                                        </p:cTn>
                                        <p:tgtEl>
                                          <p:spTgt spid="19"/>
                                        </p:tgtEl>
                                        <p:attrNameLst>
                                          <p:attrName>style.visibility</p:attrName>
                                        </p:attrNameLst>
                                      </p:cBhvr>
                                      <p:to>
                                        <p:strVal val="visible"/>
                                      </p:to>
                                    </p:set>
                                    <p:animEffect transition="in" filter="fade">
                                      <p:cBhvr>
                                        <p:cTn id="27"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3" presetID="10" presetClass="entr" presetSubtype="0" fill="hold" grpId="0" nodeType="click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fade">
                                      <p:cBhvr>
                                        <p:cTn id="32" dur="500"/>
                                        <p:tgtEl>
                                          <p:spTgt spid="20"/>
                                        </p:tgtEl>
                                      </p:cBhvr>
                                    </p:animEffect>
                                  </p:childTnLst>
                                </p:cTn>
                              </p:par>
                            </p:childTnLst>
                          </p:cTn>
                        </p:par>
                      </p:childTnLst>
                    </p:cTn>
                  </p:par>
                  <p:par>
                    <p:cTn id="42" fill="hold">
                      <p:stCondLst>
                        <p:cond delay="indefinite"/>
                      </p:stCondLst>
                      <p:childTnLst>
                        <p:par>
                          <p:cTn id="43" fill="hold">
                            <p:stCondLst>
                              <p:cond delay="0"/>
                            </p:stCondLst>
                            <p:childTnLst>
                              <p:par>
                                <p:cTn id="38" presetID="10" presetClass="entr" presetSubtype="0" fill="hold" grpId="0" nodeType="click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fade">
                                      <p:cBhvr>
                                        <p:cTn id="37" dur="500"/>
                                        <p:tgtEl>
                                          <p:spTgt spid="21"/>
                                        </p:tgtEl>
                                      </p:cBhvr>
                                    </p:animEffect>
                                  </p:childTnLst>
                                </p:cTn>
                              </p:par>
                              <p:par>
                                <p:cTn id="41" presetID="10" presetClass="entr" presetSubtype="0" fill="hold" grpId="0" nodeType="withEffect">
                                  <p:stCondLst>
                                    <p:cond delay="120"/>
                                  </p:stCondLst>
                                  <p:childTnLst>
                                    <p:set>
                                      <p:cBhvr>
                                        <p:cTn id="39" dur="1" fill="hold">
                                          <p:stCondLst>
                                            <p:cond delay="0"/>
                                          </p:stCondLst>
                                        </p:cTn>
                                        <p:tgtEl>
                                          <p:spTgt spid="22"/>
                                        </p:tgtEl>
                                        <p:attrNameLst>
                                          <p:attrName>style.visibility</p:attrName>
                                        </p:attrNameLst>
                                      </p:cBhvr>
                                      <p:to>
                                        <p:strVal val="visible"/>
                                      </p:to>
                                    </p:set>
                                    <p:animEffect transition="in" filter="fade">
                                      <p:cBhvr>
                                        <p:cTn id="40" dur="500"/>
                                        <p:tgtEl>
                                          <p:spTgt spid="22"/>
                                        </p:tgtEl>
                                      </p:cBhvr>
                                    </p:animEffect>
                                  </p:childTnLst>
                                </p:cTn>
                              </p:par>
                            </p:childTnLst>
                          </p:cTn>
                        </p:par>
                      </p:childTnLst>
                    </p:cTn>
                  </p:par>
                  <p:par>
                    <p:cTn id="47" fill="hold">
                      <p:stCondLst>
                        <p:cond delay="indefinite"/>
                      </p:stCondLst>
                      <p:childTnLst>
                        <p:par>
                          <p:cTn id="48" fill="hold">
                            <p:stCondLst>
                              <p:cond delay="0"/>
                            </p:stCondLst>
                            <p:childTnLst>
                              <p:par>
                                <p:cTn id="46" presetID="10" presetClass="entr" presetSubtype="0" fill="hold" grpId="0" nodeType="clickEffect">
                                  <p:stCondLst>
                                    <p:cond delay="0"/>
                                  </p:stCondLst>
                                  <p:childTnLst>
                                    <p:set>
                                      <p:cBhvr>
                                        <p:cTn id="44" dur="1" fill="hold">
                                          <p:stCondLst>
                                            <p:cond delay="0"/>
                                          </p:stCondLst>
                                        </p:cTn>
                                        <p:tgtEl>
                                          <p:spTgt spid="23"/>
                                        </p:tgtEl>
                                        <p:attrNameLst>
                                          <p:attrName>style.visibility</p:attrName>
                                        </p:attrNameLst>
                                      </p:cBhvr>
                                      <p:to>
                                        <p:strVal val="visible"/>
                                      </p:to>
                                    </p:set>
                                    <p:animEffect transition="in" filter="fade">
                                      <p:cBhvr>
                                        <p:cTn id="45" dur="500"/>
                                        <p:tgtEl>
                                          <p:spTgt spid="23"/>
                                        </p:tgtEl>
                                      </p:cBhvr>
                                    </p:animEffect>
                                  </p:childTnLst>
                                </p:cTn>
                              </p:par>
                            </p:childTnLst>
                          </p:cTn>
                        </p:par>
                      </p:childTnLst>
                    </p:cTn>
                  </p:par>
                  <p:par>
                    <p:cTn id="55" fill="hold">
                      <p:stCondLst>
                        <p:cond delay="indefinite"/>
                      </p:stCondLst>
                      <p:childTnLst>
                        <p:par>
                          <p:cTn id="56" fill="hold">
                            <p:stCondLst>
                              <p:cond delay="0"/>
                            </p:stCondLst>
                            <p:childTnLst>
                              <p:par>
                                <p:cTn id="51" presetID="10" presetClass="entr" presetSubtype="0" fill="hold" grpId="0" nodeType="click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fade">
                                      <p:cBhvr>
                                        <p:cTn id="50" dur="500"/>
                                        <p:tgtEl>
                                          <p:spTgt spid="24"/>
                                        </p:tgtEl>
                                      </p:cBhvr>
                                    </p:animEffect>
                                  </p:childTnLst>
                                </p:cTn>
                              </p:par>
                              <p:par>
                                <p:cTn id="54" presetID="10" presetClass="entr" presetSubtype="0" fill="hold" grpId="0" nodeType="withEffect">
                                  <p:stCondLst>
                                    <p:cond delay="120"/>
                                  </p:stCondLst>
                                  <p:childTnLst>
                                    <p:set>
                                      <p:cBhvr>
                                        <p:cTn id="52" dur="1" fill="hold">
                                          <p:stCondLst>
                                            <p:cond delay="0"/>
                                          </p:stCondLst>
                                        </p:cTn>
                                        <p:tgtEl>
                                          <p:spTgt spid="25"/>
                                        </p:tgtEl>
                                        <p:attrNameLst>
                                          <p:attrName>style.visibility</p:attrName>
                                        </p:attrNameLst>
                                      </p:cBhvr>
                                      <p:to>
                                        <p:strVal val="visible"/>
                                      </p:to>
                                    </p:set>
                                    <p:animEffect transition="in" filter="fade">
                                      <p:cBhvr>
                                        <p:cTn id="53" dur="500"/>
                                        <p:tgtEl>
                                          <p:spTgt spid="25"/>
                                        </p:tgtEl>
                                      </p:cBhvr>
                                    </p:animEffect>
                                  </p:childTnLst>
                                </p:cTn>
                              </p:par>
                            </p:childTnLst>
                          </p:cTn>
                        </p:par>
                      </p:childTnLst>
                    </p:cTn>
                  </p:par>
                  <p:par>
                    <p:cTn id="60" fill="hold">
                      <p:stCondLst>
                        <p:cond delay="indefinite"/>
                      </p:stCondLst>
                      <p:childTnLst>
                        <p:par>
                          <p:cTn id="61" fill="hold">
                            <p:stCondLst>
                              <p:cond delay="0"/>
                            </p:stCondLst>
                            <p:childTnLst>
                              <p:par>
                                <p:cTn id="59" presetID="10" presetClass="entr" presetSubtype="0" fill="hold" grpId="0" nodeType="clickEffect">
                                  <p:stCondLst>
                                    <p:cond delay="0"/>
                                  </p:stCondLst>
                                  <p:childTnLst>
                                    <p:set>
                                      <p:cBhvr>
                                        <p:cTn id="57" dur="1" fill="hold">
                                          <p:stCondLst>
                                            <p:cond delay="0"/>
                                          </p:stCondLst>
                                        </p:cTn>
                                        <p:tgtEl>
                                          <p:spTgt spid="26"/>
                                        </p:tgtEl>
                                        <p:attrNameLst>
                                          <p:attrName>style.visibility</p:attrName>
                                        </p:attrNameLst>
                                      </p:cBhvr>
                                      <p:to>
                                        <p:strVal val="visible"/>
                                      </p:to>
                                    </p:set>
                                    <p:animEffect transition="in" filter="fade">
                                      <p:cBhvr>
                                        <p:cTn id="58" dur="500"/>
                                        <p:tgtEl>
                                          <p:spTgt spid="26"/>
                                        </p:tgtEl>
                                      </p:cBhvr>
                                    </p:animEffect>
                                  </p:childTnLst>
                                </p:cTn>
                              </p:par>
                            </p:childTnLst>
                          </p:cTn>
                        </p:par>
                      </p:childTnLst>
                    </p:cTn>
                  </p:par>
                  <p:par>
                    <p:cTn id="68" fill="hold">
                      <p:stCondLst>
                        <p:cond delay="indefinite"/>
                      </p:stCondLst>
                      <p:childTnLst>
                        <p:par>
                          <p:cTn id="69" fill="hold">
                            <p:stCondLst>
                              <p:cond delay="0"/>
                            </p:stCondLst>
                            <p:childTnLst>
                              <p:par>
                                <p:cTn id="64" presetID="10" presetClass="entr" presetSubtype="0" fill="hold" grpId="0" nodeType="clickEffect">
                                  <p:stCondLst>
                                    <p:cond delay="0"/>
                                  </p:stCondLst>
                                  <p:childTnLst>
                                    <p:set>
                                      <p:cBhvr>
                                        <p:cTn id="62" dur="1" fill="hold">
                                          <p:stCondLst>
                                            <p:cond delay="0"/>
                                          </p:stCondLst>
                                        </p:cTn>
                                        <p:tgtEl>
                                          <p:spTgt spid="27"/>
                                        </p:tgtEl>
                                        <p:attrNameLst>
                                          <p:attrName>style.visibility</p:attrName>
                                        </p:attrNameLst>
                                      </p:cBhvr>
                                      <p:to>
                                        <p:strVal val="visible"/>
                                      </p:to>
                                    </p:set>
                                    <p:animEffect transition="in" filter="fade">
                                      <p:cBhvr>
                                        <p:cTn id="63" dur="500"/>
                                        <p:tgtEl>
                                          <p:spTgt spid="27"/>
                                        </p:tgtEl>
                                      </p:cBhvr>
                                    </p:animEffect>
                                  </p:childTnLst>
                                </p:cTn>
                              </p:par>
                              <p:par>
                                <p:cTn id="67" presetID="10" presetClass="entr" presetSubtype="0" fill="hold" grpId="0" nodeType="withEffect">
                                  <p:stCondLst>
                                    <p:cond delay="120"/>
                                  </p:stCondLst>
                                  <p:childTnLst>
                                    <p:set>
                                      <p:cBhvr>
                                        <p:cTn id="65" dur="1" fill="hold">
                                          <p:stCondLst>
                                            <p:cond delay="0"/>
                                          </p:stCondLst>
                                        </p:cTn>
                                        <p:tgtEl>
                                          <p:spTgt spid="28"/>
                                        </p:tgtEl>
                                        <p:attrNameLst>
                                          <p:attrName>style.visibility</p:attrName>
                                        </p:attrNameLst>
                                      </p:cBhvr>
                                      <p:to>
                                        <p:strVal val="visible"/>
                                      </p:to>
                                    </p:set>
                                    <p:animEffect transition="in" filter="fade">
                                      <p:cBhvr>
                                        <p:cTn id="66" dur="500"/>
                                        <p:tgtEl>
                                          <p:spTgt spid="28"/>
                                        </p:tgtEl>
                                      </p:cBhvr>
                                    </p:animEffect>
                                  </p:childTnLst>
                                </p:cTn>
                              </p:par>
                            </p:childTnLst>
                          </p:cTn>
                        </p:par>
                      </p:childTnLst>
                    </p:cTn>
                  </p:par>
                  <p:par>
                    <p:cTn id="73" fill="hold">
                      <p:stCondLst>
                        <p:cond delay="indefinite"/>
                      </p:stCondLst>
                      <p:childTnLst>
                        <p:par>
                          <p:cTn id="74" fill="hold">
                            <p:stCondLst>
                              <p:cond delay="0"/>
                            </p:stCondLst>
                            <p:childTnLst>
                              <p:par>
                                <p:cTn id="72" presetID="10" presetClass="entr" presetSubtype="0" fill="hold" grpId="0" nodeType="clickEffect">
                                  <p:stCondLst>
                                    <p:cond delay="0"/>
                                  </p:stCondLst>
                                  <p:childTnLst>
                                    <p:set>
                                      <p:cBhvr>
                                        <p:cTn id="70" dur="1" fill="hold">
                                          <p:stCondLst>
                                            <p:cond delay="0"/>
                                          </p:stCondLst>
                                        </p:cTn>
                                        <p:tgtEl>
                                          <p:spTgt spid="29"/>
                                        </p:tgtEl>
                                        <p:attrNameLst>
                                          <p:attrName>style.visibility</p:attrName>
                                        </p:attrNameLst>
                                      </p:cBhvr>
                                      <p:to>
                                        <p:strVal val="visible"/>
                                      </p:to>
                                    </p:set>
                                    <p:animEffect transition="in" filter="fade">
                                      <p:cBhvr>
                                        <p:cTn id="71"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4E6"/>
        </a:solidFill>
      </p:bgPr>
    </p:bg>
    <p:spTree>
      <p:nvGrpSpPr>
        <p:cNvPr id="1" name=""/>
        <p:cNvGrpSpPr/>
        <p:nvPr/>
      </p:nvGrpSpPr>
      <p:grpSpPr>
        <a:xfrm>
          <a:off x="0" y="0"/>
          <a:ext cx="0" cy="0"/>
          <a:chOff x="0" y="0"/>
          <a:chExt cx="0" cy="0"/>
        </a:xfrm>
      </p:grpSpPr>
      <p:sp>
        <p:nvSpPr>
          <p:cNvPr id="2" name="phase_pill"/>
          <p:cNvSpPr/>
          <p:nvPr/>
        </p:nvSpPr>
        <p:spPr>
          <a:xfrm>
            <a:off x="502920" y="274320"/>
            <a:ext cx="2578608" cy="347472"/>
          </a:xfrm>
          <a:prstGeom prst="roundRect">
            <a:avLst>
              <a:gd name="adj" fmla="val 50000"/>
            </a:avLst>
          </a:prstGeom>
          <a:solidFill>
            <a:srgbClr val="0E3A3F"/>
          </a:solidFill>
          <a:ln/>
        </p:spPr>
        <p:txBody>
          <a:bodyPr wrap="square" lIns="0" tIns="0" rIns="0" bIns="0" rtlCol="0" anchor="ctr"/>
          <a:lstStyle/>
          <a:p>
            <a:pPr algn="ctr" indent="0" marL="0">
              <a:buNone/>
            </a:pPr>
            <a:r>
              <a:rPr lang="en-US" sz="1100" b="1" spc="110" kern="0" dirty="0">
                <a:solidFill>
                  <a:srgbClr val="FAF4E6"/>
                </a:solidFill>
                <a:latin typeface="Arial" pitchFamily="34" charset="0"/>
                <a:ea typeface="Arial" pitchFamily="34" charset="-122"/>
                <a:cs typeface="Arial" pitchFamily="34" charset="-120"/>
              </a:rPr>
              <a:t>CONTEXT · 1 MIN</a:t>
            </a:r>
            <a:endParaRPr lang="en-US" sz="1100" dirty="0"/>
          </a:p>
        </p:txBody>
      </p:sp>
      <p:sp>
        <p:nvSpPr>
          <p:cNvPr id="3" name="slide_title"/>
          <p:cNvSpPr txBox="1"/>
          <p:nvPr/>
        </p:nvSpPr>
        <p:spPr>
          <a:xfrm>
            <a:off x="502920" y="914400"/>
            <a:ext cx="11185855" cy="658368"/>
          </a:xfrm>
          <a:prstGeom prst="rect">
            <a:avLst/>
          </a:prstGeom>
          <a:noFill/>
          <a:ln/>
        </p:spPr>
        <p:txBody>
          <a:bodyPr wrap="square" lIns="0" tIns="0" rIns="0" bIns="0" rtlCol="0" anchor="ctr"/>
          <a:lstStyle/>
          <a:p>
            <a:pPr algn="l" indent="0" marL="0">
              <a:buNone/>
            </a:pPr>
            <a:r>
              <a:rPr lang="en-US" sz="3000" b="1" dirty="0">
                <a:solidFill>
                  <a:srgbClr val="0E3A3F"/>
                </a:solidFill>
                <a:latin typeface="Georgia" pitchFamily="34" charset="0"/>
                <a:ea typeface="Georgia" pitchFamily="34" charset="-122"/>
                <a:cs typeface="Georgia" pitchFamily="34" charset="-120"/>
              </a:rPr>
              <a:t>What a pla thu actually eats</a:t>
            </a:r>
            <a:endParaRPr lang="en-US" sz="3000" dirty="0"/>
          </a:p>
        </p:txBody>
      </p:sp>
      <p:grpSp>
        <p:nvGrpSpPr>
          <p:cNvPr id="11" name="pk_a"/>
          <p:cNvGrpSpPr/>
          <p:nvPr/>
        </p:nvGrpSpPr>
        <p:grpSpPr>
          <a:xfrm>
            <a:off x="502920" y="2029968"/>
            <a:ext cx="4480560" cy="3447288"/>
            <a:chOff x="502920" y="2029968"/>
            <a:chExt cx="4480560" cy="3447288"/>
          </a:xfrm>
        </p:grpSpPr>
        <p:pic>
          <p:nvPicPr>
            <p:cNvPr id="4" name="pk_img1" descr="/home/claude/build/img2/diatoms.jpg">    </p:cNvPr>
            <p:cNvPicPr>
              <a:picLocks noChangeAspect="1"/>
            </p:cNvPicPr>
            <p:nvPr/>
          </p:nvPicPr>
          <p:blipFill>
            <a:blip r:embed="rId1"/>
            <a:stretch>
              <a:fillRect/>
            </a:stretch>
          </p:blipFill>
          <p:spPr>
            <a:xfrm>
              <a:off x="502920" y="2029968"/>
              <a:ext cx="4480560" cy="2788920"/>
            </a:xfrm>
            <a:prstGeom prst="rect">
              <a:avLst/>
            </a:prstGeom>
          </p:spPr>
        </p:pic>
        <p:sp>
          <p:nvSpPr>
            <p:cNvPr id="5" name="pk_cap1"/>
            <p:cNvSpPr txBox="1"/>
            <p:nvPr/>
          </p:nvSpPr>
          <p:spPr>
            <a:xfrm>
              <a:off x="502920" y="4873752"/>
              <a:ext cx="4480560" cy="603504"/>
            </a:xfrm>
            <a:prstGeom prst="rect">
              <a:avLst/>
            </a:prstGeom>
            <a:noFill/>
            <a:ln/>
          </p:spPr>
          <p:txBody>
            <a:bodyPr wrap="square" lIns="0" tIns="0" rIns="0" bIns="0" rtlCol="0" anchor="t"/>
            <a:lstStyle/>
            <a:p>
              <a:pPr indent="0" marL="0">
                <a:lnSpc>
                  <a:spcPts val="1200"/>
                </a:lnSpc>
                <a:buNone/>
              </a:pPr>
              <a:r>
                <a:rPr lang="en-US" sz="900" i="1" dirty="0">
                  <a:solidFill>
                    <a:srgbClr val="4A6165"/>
                  </a:solidFill>
                  <a:latin typeface="Arial" pitchFamily="34" charset="0"/>
                  <a:ea typeface="Arial" pitchFamily="34" charset="-122"/>
                  <a:cs typeface="Arial" pitchFamily="34" charset="-120"/>
                </a:rPr>
                <a:t>Diatoms — single-celled algae, and producers. These particular ones came from Antarctic sea ice; the group is the same one that feeds the Gulf. Photo: Prof. Gordon T. Taylor, Stony Brook University, public domain.</a:t>
              </a:r>
              <a:endParaRPr lang="en-US" sz="900" dirty="0"/>
            </a:p>
          </p:txBody>
        </p:sp>
      </p:grpSp>
      <p:grpSp>
        <p:nvGrpSpPr>
          <p:cNvPr id="12" name="pk_b"/>
          <p:cNvGrpSpPr/>
          <p:nvPr/>
        </p:nvGrpSpPr>
        <p:grpSpPr>
          <a:xfrm>
            <a:off x="5303520" y="2029968"/>
            <a:ext cx="3108960" cy="2962656"/>
            <a:chOff x="5303520" y="2029968"/>
            <a:chExt cx="3108960" cy="2962656"/>
          </a:xfrm>
        </p:grpSpPr>
        <p:pic>
          <p:nvPicPr>
            <p:cNvPr id="6" name="pk_img2" descr="/home/claude/build/img2/copepods.jpg">    </p:cNvPr>
            <p:cNvPicPr>
              <a:picLocks noChangeAspect="1"/>
            </p:cNvPicPr>
            <p:nvPr/>
          </p:nvPicPr>
          <p:blipFill>
            <a:blip r:embed="rId2"/>
            <a:stretch>
              <a:fillRect/>
            </a:stretch>
          </p:blipFill>
          <p:spPr>
            <a:xfrm>
              <a:off x="5303520" y="2029968"/>
              <a:ext cx="3108960" cy="2331720"/>
            </a:xfrm>
            <a:prstGeom prst="rect">
              <a:avLst/>
            </a:prstGeom>
          </p:spPr>
        </p:pic>
        <p:sp>
          <p:nvSpPr>
            <p:cNvPr id="7" name="pk_cap2"/>
            <p:cNvSpPr txBox="1"/>
            <p:nvPr/>
          </p:nvSpPr>
          <p:spPr>
            <a:xfrm>
              <a:off x="5303520" y="4443984"/>
              <a:ext cx="3108960" cy="548640"/>
            </a:xfrm>
            <a:prstGeom prst="rect">
              <a:avLst/>
            </a:prstGeom>
            <a:noFill/>
            <a:ln/>
          </p:spPr>
          <p:txBody>
            <a:bodyPr wrap="square" lIns="0" tIns="0" rIns="0" bIns="0" rtlCol="0" anchor="t"/>
            <a:lstStyle/>
            <a:p>
              <a:pPr indent="0" marL="0">
                <a:lnSpc>
                  <a:spcPts val="1200"/>
                </a:lnSpc>
                <a:buNone/>
              </a:pPr>
              <a:r>
                <a:rPr lang="en-US" sz="900" i="1" dirty="0">
                  <a:solidFill>
                    <a:srgbClr val="4A6165"/>
                  </a:solidFill>
                  <a:latin typeface="Arial" pitchFamily="34" charset="0"/>
                  <a:ea typeface="Arial" pitchFamily="34" charset="-122"/>
                  <a:cs typeface="Arial" pitchFamily="34" charset="-120"/>
                </a:rPr>
                <a:t>A live copepod photographed in Thailand — a consumer, about a millimetre long. Photo: Lion Pods, CC BY 4.0.</a:t>
              </a:r>
              <a:endParaRPr lang="en-US" sz="900" dirty="0"/>
            </a:p>
          </p:txBody>
        </p:sp>
      </p:grpSp>
      <p:grpSp>
        <p:nvGrpSpPr>
          <p:cNvPr id="13" name="pk_c"/>
          <p:cNvGrpSpPr/>
          <p:nvPr/>
        </p:nvGrpSpPr>
        <p:grpSpPr>
          <a:xfrm>
            <a:off x="8641080" y="2029968"/>
            <a:ext cx="3047695" cy="3017520"/>
            <a:chOff x="8641080" y="2029968"/>
            <a:chExt cx="3047695" cy="3017520"/>
          </a:xfrm>
        </p:grpSpPr>
        <p:sp>
          <p:nvSpPr>
            <p:cNvPr id="8" name="pk_card"/>
            <p:cNvSpPr/>
            <p:nvPr/>
          </p:nvSpPr>
          <p:spPr>
            <a:xfrm>
              <a:off x="8641080" y="2029968"/>
              <a:ext cx="3047695" cy="3017520"/>
            </a:xfrm>
            <a:prstGeom prst="roundRect">
              <a:avLst>
                <a:gd name="adj" fmla="val 4242"/>
              </a:avLst>
            </a:prstGeom>
            <a:solidFill>
              <a:srgbClr val="F2F9F5"/>
            </a:solidFill>
            <a:ln w="15875">
              <a:solidFill>
                <a:srgbClr val="2E9E6B"/>
              </a:solidFill>
              <a:prstDash val="solid"/>
            </a:ln>
          </p:spPr>
        </p:sp>
        <p:sp>
          <p:nvSpPr>
            <p:cNvPr id="9" name="pk_h"/>
            <p:cNvSpPr txBox="1"/>
            <p:nvPr/>
          </p:nvSpPr>
          <p:spPr>
            <a:xfrm>
              <a:off x="8842248" y="2194560"/>
              <a:ext cx="2645359" cy="292608"/>
            </a:xfrm>
            <a:prstGeom prst="rect">
              <a:avLst/>
            </a:prstGeom>
            <a:noFill/>
            <a:ln/>
          </p:spPr>
          <p:txBody>
            <a:bodyPr wrap="square" lIns="0" tIns="0" rIns="0" bIns="0" rtlCol="0" anchor="ctr"/>
            <a:lstStyle/>
            <a:p>
              <a:pPr indent="0" marL="0">
                <a:buNone/>
              </a:pPr>
              <a:r>
                <a:rPr lang="en-US" sz="1300" b="1" dirty="0">
                  <a:solidFill>
                    <a:srgbClr val="2E9E6B"/>
                  </a:solidFill>
                  <a:latin typeface="Arial" pitchFamily="34" charset="0"/>
                  <a:ea typeface="Arial" pitchFamily="34" charset="-122"/>
                  <a:cs typeface="Arial" pitchFamily="34" charset="-120"/>
                </a:rPr>
                <a:t>One stomach, counted</a:t>
              </a:r>
              <a:endParaRPr lang="en-US" sz="1300" dirty="0"/>
            </a:p>
          </p:txBody>
        </p:sp>
        <p:sp>
          <p:nvSpPr>
            <p:cNvPr id="10" name="pk_t"/>
            <p:cNvSpPr txBox="1"/>
            <p:nvPr/>
          </p:nvSpPr>
          <p:spPr>
            <a:xfrm>
              <a:off x="8842248" y="2542032"/>
              <a:ext cx="2645359" cy="2377440"/>
            </a:xfrm>
            <a:prstGeom prst="rect">
              <a:avLst/>
            </a:prstGeom>
            <a:noFill/>
            <a:ln/>
          </p:spPr>
          <p:txBody>
            <a:bodyPr wrap="square" lIns="0" tIns="0" rIns="0" bIns="0" rtlCol="0" anchor="t"/>
            <a:lstStyle/>
            <a:p>
              <a:pPr indent="0" marL="0">
                <a:lnSpc>
                  <a:spcPts val="1700"/>
                </a:lnSpc>
                <a:buNone/>
              </a:pPr>
              <a:r>
                <a:rPr lang="en-US" sz="1200" dirty="0">
                  <a:solidFill>
                    <a:srgbClr val="14282B"/>
                  </a:solidFill>
                  <a:latin typeface="Arial" pitchFamily="34" charset="0"/>
                  <a:ea typeface="Arial" pitchFamily="34" charset="-122"/>
                  <a:cs typeface="Arial" pitchFamily="34" charset="-120"/>
                </a:rPr>
                <a:t>Researchers opened 541 pla thu from Pattani Bay and counted what was inside.</a:t>
              </a:r>
              <a:endParaRPr lang="en-US" sz="1200" dirty="0"/>
            </a:p>
            <a:p>
              <a:pPr indent="0" marL="0">
                <a:lnSpc>
                  <a:spcPts val="1700"/>
                </a:lnSpc>
                <a:buNone/>
              </a:pPr>
              <a:endParaRPr lang="en-US" sz="1200" dirty="0"/>
            </a:p>
            <a:p>
              <a:pPr indent="0" marL="0">
                <a:lnSpc>
                  <a:spcPts val="1700"/>
                </a:lnSpc>
                <a:buNone/>
              </a:pPr>
              <a:r>
                <a:rPr lang="en-US" sz="1200" dirty="0">
                  <a:solidFill>
                    <a:srgbClr val="14282B"/>
                  </a:solidFill>
                  <a:latin typeface="Arial" pitchFamily="34" charset="0"/>
                  <a:ea typeface="Arial" pitchFamily="34" charset="-122"/>
                  <a:cs typeface="Arial" pitchFamily="34" charset="-120"/>
                </a:rPr>
                <a:t>Diatoms — 47%</a:t>
              </a:r>
              <a:endParaRPr lang="en-US" sz="1200" dirty="0"/>
            </a:p>
            <a:p>
              <a:pPr indent="0" marL="0">
                <a:lnSpc>
                  <a:spcPts val="1700"/>
                </a:lnSpc>
                <a:buNone/>
              </a:pPr>
              <a:r>
                <a:rPr lang="en-US" sz="1200" dirty="0">
                  <a:solidFill>
                    <a:srgbClr val="14282B"/>
                  </a:solidFill>
                  <a:latin typeface="Arial" pitchFamily="34" charset="0"/>
                  <a:ea typeface="Arial" pitchFamily="34" charset="-122"/>
                  <a:cs typeface="Arial" pitchFamily="34" charset="-120"/>
                </a:rPr>
                <a:t>Copepods — 16%</a:t>
              </a:r>
              <a:endParaRPr lang="en-US" sz="1200" dirty="0"/>
            </a:p>
            <a:p>
              <a:pPr indent="0" marL="0">
                <a:lnSpc>
                  <a:spcPts val="1700"/>
                </a:lnSpc>
                <a:buNone/>
              </a:pPr>
              <a:r>
                <a:rPr lang="en-US" sz="1200" dirty="0">
                  <a:solidFill>
                    <a:srgbClr val="14282B"/>
                  </a:solidFill>
                  <a:latin typeface="Arial" pitchFamily="34" charset="0"/>
                  <a:ea typeface="Arial" pitchFamily="34" charset="-122"/>
                  <a:cs typeface="Arial" pitchFamily="34" charset="-120"/>
                </a:rPr>
                <a:t>Dinoflagellates — 14%</a:t>
              </a:r>
              <a:endParaRPr lang="en-US" sz="1200" dirty="0"/>
            </a:p>
            <a:p>
              <a:pPr indent="0" marL="0">
                <a:lnSpc>
                  <a:spcPts val="1700"/>
                </a:lnSpc>
                <a:buNone/>
              </a:pPr>
              <a:endParaRPr lang="en-US" sz="1200" dirty="0"/>
            </a:p>
            <a:p>
              <a:pPr indent="0" marL="0">
                <a:lnSpc>
                  <a:spcPts val="1700"/>
                </a:lnSpc>
                <a:buNone/>
              </a:pPr>
              <a:r>
                <a:rPr lang="en-US" sz="1200" dirty="0">
                  <a:solidFill>
                    <a:srgbClr val="14282B"/>
                  </a:solidFill>
                  <a:latin typeface="Arial" pitchFamily="34" charset="0"/>
                  <a:ea typeface="Arial" pitchFamily="34" charset="-122"/>
                  <a:cs typeface="Arial" pitchFamily="34" charset="-120"/>
                </a:rPr>
                <a:t>So nearly half of a pla thu is producer, eaten directly. That is why it sits at 2.7 and not at 3.</a:t>
              </a:r>
              <a:endParaRPr lang="en-US" sz="1200" dirty="0"/>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grpId="0"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grpId="0"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5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grpId="0" nodeType="click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4E6"/>
        </a:solidFill>
      </p:bgPr>
    </p:bg>
    <p:spTree>
      <p:nvGrpSpPr>
        <p:cNvPr id="1" name=""/>
        <p:cNvGrpSpPr/>
        <p:nvPr/>
      </p:nvGrpSpPr>
      <p:grpSpPr>
        <a:xfrm>
          <a:off x="0" y="0"/>
          <a:ext cx="0" cy="0"/>
          <a:chOff x="0" y="0"/>
          <a:chExt cx="0" cy="0"/>
        </a:xfrm>
      </p:grpSpPr>
      <p:sp>
        <p:nvSpPr>
          <p:cNvPr id="2" name="phase_pill"/>
          <p:cNvSpPr/>
          <p:nvPr/>
        </p:nvSpPr>
        <p:spPr>
          <a:xfrm>
            <a:off x="502920" y="274320"/>
            <a:ext cx="2578608" cy="347472"/>
          </a:xfrm>
          <a:prstGeom prst="roundRect">
            <a:avLst>
              <a:gd name="adj" fmla="val 50000"/>
            </a:avLst>
          </a:prstGeom>
          <a:solidFill>
            <a:srgbClr val="0E3A3F"/>
          </a:solidFill>
          <a:ln/>
        </p:spPr>
        <p:txBody>
          <a:bodyPr wrap="square" lIns="0" tIns="0" rIns="0" bIns="0" rtlCol="0" anchor="ctr"/>
          <a:lstStyle/>
          <a:p>
            <a:pPr algn="ctr" indent="0" marL="0">
              <a:buNone/>
            </a:pPr>
            <a:r>
              <a:rPr lang="en-US" sz="1100" b="1" spc="110" kern="0" dirty="0">
                <a:solidFill>
                  <a:srgbClr val="FAF4E6"/>
                </a:solidFill>
                <a:latin typeface="Arial" pitchFamily="34" charset="0"/>
                <a:ea typeface="Arial" pitchFamily="34" charset="-122"/>
                <a:cs typeface="Arial" pitchFamily="34" charset="-120"/>
              </a:rPr>
              <a:t>CONTEXT · 2 MIN</a:t>
            </a:r>
            <a:endParaRPr lang="en-US" sz="1100" dirty="0"/>
          </a:p>
        </p:txBody>
      </p:sp>
      <p:sp>
        <p:nvSpPr>
          <p:cNvPr id="3" name="slide_title"/>
          <p:cNvSpPr txBox="1"/>
          <p:nvPr/>
        </p:nvSpPr>
        <p:spPr>
          <a:xfrm>
            <a:off x="502920" y="914400"/>
            <a:ext cx="11185855" cy="658368"/>
          </a:xfrm>
          <a:prstGeom prst="rect">
            <a:avLst/>
          </a:prstGeom>
          <a:noFill/>
          <a:ln/>
        </p:spPr>
        <p:txBody>
          <a:bodyPr wrap="square" lIns="0" tIns="0" rIns="0" bIns="0" rtlCol="0" anchor="ctr"/>
          <a:lstStyle/>
          <a:p>
            <a:pPr algn="l" indent="0" marL="0">
              <a:buNone/>
            </a:pPr>
            <a:r>
              <a:rPr lang="en-US" sz="3000" b="1" dirty="0">
                <a:solidFill>
                  <a:srgbClr val="0E3A3F"/>
                </a:solidFill>
                <a:latin typeface="Georgia" pitchFamily="34" charset="0"/>
                <a:ea typeface="Georgia" pitchFamily="34" charset="-122"/>
                <a:cs typeface="Georgia" pitchFamily="34" charset="-120"/>
              </a:rPr>
              <a:t>Fishing down the food web</a:t>
            </a:r>
            <a:endParaRPr lang="en-US" sz="3000" dirty="0"/>
          </a:p>
        </p:txBody>
      </p:sp>
      <p:sp>
        <p:nvSpPr>
          <p:cNvPr id="4" name="fd_kick"/>
          <p:cNvSpPr txBox="1"/>
          <p:nvPr/>
        </p:nvSpPr>
        <p:spPr>
          <a:xfrm>
            <a:off x="502920" y="1554480"/>
            <a:ext cx="10058400" cy="310896"/>
          </a:xfrm>
          <a:prstGeom prst="rect">
            <a:avLst/>
          </a:prstGeom>
          <a:noFill/>
          <a:ln/>
        </p:spPr>
        <p:txBody>
          <a:bodyPr wrap="square" lIns="0" tIns="0" rIns="0" bIns="0" rtlCol="0" anchor="ctr"/>
          <a:lstStyle/>
          <a:p>
            <a:pPr indent="0" marL="0">
              <a:buNone/>
            </a:pPr>
            <a:r>
              <a:rPr lang="en-US" sz="1300" dirty="0">
                <a:solidFill>
                  <a:srgbClr val="4A6165"/>
                </a:solidFill>
                <a:latin typeface="Arial" pitchFamily="34" charset="0"/>
                <a:ea typeface="Arial" pitchFamily="34" charset="-122"/>
                <a:cs typeface="Arial" pitchFamily="34" charset="-120"/>
              </a:rPr>
              <a:t>The Gulf of Thailand, measured by the same survey boats since 1961.</a:t>
            </a:r>
            <a:endParaRPr lang="en-US" sz="1300" dirty="0"/>
          </a:p>
        </p:txBody>
      </p:sp>
      <p:grpSp>
        <p:nvGrpSpPr>
          <p:cNvPr id="19" name="fd0"/>
          <p:cNvGrpSpPr/>
          <p:nvPr/>
        </p:nvGrpSpPr>
        <p:grpSpPr>
          <a:xfrm>
            <a:off x="502920" y="2121408"/>
            <a:ext cx="2631872" cy="2286000"/>
            <a:chOff x="502920" y="2121408"/>
            <a:chExt cx="2631872" cy="2286000"/>
          </a:xfrm>
        </p:grpSpPr>
        <p:sp>
          <p:nvSpPr>
            <p:cNvPr id="5" name="fd0_bg"/>
            <p:cNvSpPr/>
            <p:nvPr/>
          </p:nvSpPr>
          <p:spPr>
            <a:xfrm>
              <a:off x="502920" y="2121408"/>
              <a:ext cx="2631872" cy="2286000"/>
            </a:xfrm>
            <a:prstGeom prst="roundRect">
              <a:avLst>
                <a:gd name="adj" fmla="val 5600"/>
              </a:avLst>
            </a:prstGeom>
            <a:solidFill>
              <a:srgbClr val="FFFFFF"/>
            </a:solidFill>
            <a:ln w="15875">
              <a:solidFill>
                <a:srgbClr val="2E9E6B"/>
              </a:solidFill>
              <a:prstDash val="solid"/>
            </a:ln>
          </p:spPr>
        </p:sp>
        <p:sp>
          <p:nvSpPr>
            <p:cNvPr id="6" name="fd0_h"/>
            <p:cNvSpPr txBox="1"/>
            <p:nvPr/>
          </p:nvSpPr>
          <p:spPr>
            <a:xfrm>
              <a:off x="685800" y="2286000"/>
              <a:ext cx="2266112" cy="310896"/>
            </a:xfrm>
            <a:prstGeom prst="rect">
              <a:avLst/>
            </a:prstGeom>
            <a:noFill/>
            <a:ln/>
          </p:spPr>
          <p:txBody>
            <a:bodyPr wrap="square" lIns="0" tIns="0" rIns="0" bIns="0" rtlCol="0" anchor="ctr"/>
            <a:lstStyle/>
            <a:p>
              <a:pPr indent="0" marL="0">
                <a:buNone/>
              </a:pPr>
              <a:r>
                <a:rPr lang="en-US" sz="1500" b="1" dirty="0">
                  <a:solidFill>
                    <a:srgbClr val="2E9E6B"/>
                  </a:solidFill>
                  <a:latin typeface="Georgia" pitchFamily="34" charset="0"/>
                  <a:ea typeface="Georgia" pitchFamily="34" charset="-122"/>
                  <a:cs typeface="Georgia" pitchFamily="34" charset="-120"/>
                </a:rPr>
                <a:t>EARLY 1960s</a:t>
              </a:r>
              <a:endParaRPr lang="en-US" sz="1500" dirty="0"/>
            </a:p>
          </p:txBody>
        </p:sp>
        <p:sp>
          <p:nvSpPr>
            <p:cNvPr id="7" name="fd0_b"/>
            <p:cNvSpPr txBox="1"/>
            <p:nvPr/>
          </p:nvSpPr>
          <p:spPr>
            <a:xfrm>
              <a:off x="685800" y="2651760"/>
              <a:ext cx="2266112" cy="1627632"/>
            </a:xfrm>
            <a:prstGeom prst="rect">
              <a:avLst/>
            </a:prstGeom>
            <a:noFill/>
            <a:ln/>
          </p:spPr>
          <p:txBody>
            <a:bodyPr wrap="square" lIns="0" tIns="0" rIns="0" bIns="0" rtlCol="0" anchor="t"/>
            <a:lstStyle/>
            <a:p>
              <a:pPr indent="0" marL="0">
                <a:lnSpc>
                  <a:spcPts val="1600"/>
                </a:lnSpc>
                <a:buNone/>
              </a:pPr>
              <a:r>
                <a:rPr lang="en-US" sz="1150" dirty="0">
                  <a:solidFill>
                    <a:srgbClr val="14282B"/>
                  </a:solidFill>
                  <a:latin typeface="Arial" pitchFamily="34" charset="0"/>
                  <a:ea typeface="Arial" pitchFamily="34" charset="-122"/>
                  <a:cs typeface="Arial" pitchFamily="34" charset="-120"/>
                </a:rPr>
                <a:t>A survey trawl brought up about 300 kg of fish for every hour it towed.</a:t>
              </a:r>
              <a:endParaRPr lang="en-US" sz="1150" dirty="0"/>
            </a:p>
          </p:txBody>
        </p:sp>
      </p:grpSp>
      <p:grpSp>
        <p:nvGrpSpPr>
          <p:cNvPr id="20" name="fd1"/>
          <p:cNvGrpSpPr/>
          <p:nvPr/>
        </p:nvGrpSpPr>
        <p:grpSpPr>
          <a:xfrm>
            <a:off x="3354248" y="2121408"/>
            <a:ext cx="2631872" cy="2286000"/>
            <a:chOff x="3354248" y="2121408"/>
            <a:chExt cx="2631872" cy="2286000"/>
          </a:xfrm>
        </p:grpSpPr>
        <p:sp>
          <p:nvSpPr>
            <p:cNvPr id="8" name="fd1_bg"/>
            <p:cNvSpPr/>
            <p:nvPr/>
          </p:nvSpPr>
          <p:spPr>
            <a:xfrm>
              <a:off x="3354248" y="2121408"/>
              <a:ext cx="2631872" cy="2286000"/>
            </a:xfrm>
            <a:prstGeom prst="roundRect">
              <a:avLst>
                <a:gd name="adj" fmla="val 5600"/>
              </a:avLst>
            </a:prstGeom>
            <a:solidFill>
              <a:srgbClr val="FFFFFF"/>
            </a:solidFill>
            <a:ln w="15875">
              <a:solidFill>
                <a:srgbClr val="E2572B"/>
              </a:solidFill>
              <a:prstDash val="solid"/>
            </a:ln>
          </p:spPr>
        </p:sp>
        <p:sp>
          <p:nvSpPr>
            <p:cNvPr id="9" name="fd1_h"/>
            <p:cNvSpPr txBox="1"/>
            <p:nvPr/>
          </p:nvSpPr>
          <p:spPr>
            <a:xfrm>
              <a:off x="3537128" y="2286000"/>
              <a:ext cx="2266112" cy="310896"/>
            </a:xfrm>
            <a:prstGeom prst="rect">
              <a:avLst/>
            </a:prstGeom>
            <a:noFill/>
            <a:ln/>
          </p:spPr>
          <p:txBody>
            <a:bodyPr wrap="square" lIns="0" tIns="0" rIns="0" bIns="0" rtlCol="0" anchor="ctr"/>
            <a:lstStyle/>
            <a:p>
              <a:pPr indent="0" marL="0">
                <a:buNone/>
              </a:pPr>
              <a:r>
                <a:rPr lang="en-US" sz="1500" b="1" dirty="0">
                  <a:solidFill>
                    <a:srgbClr val="E2572B"/>
                  </a:solidFill>
                  <a:latin typeface="Georgia" pitchFamily="34" charset="0"/>
                  <a:ea typeface="Georgia" pitchFamily="34" charset="-122"/>
                  <a:cs typeface="Georgia" pitchFamily="34" charset="-120"/>
                </a:rPr>
                <a:t>BY THE 1990s</a:t>
              </a:r>
              <a:endParaRPr lang="en-US" sz="1500" dirty="0"/>
            </a:p>
          </p:txBody>
        </p:sp>
        <p:sp>
          <p:nvSpPr>
            <p:cNvPr id="10" name="fd1_b"/>
            <p:cNvSpPr txBox="1"/>
            <p:nvPr/>
          </p:nvSpPr>
          <p:spPr>
            <a:xfrm>
              <a:off x="3537128" y="2651760"/>
              <a:ext cx="2266112" cy="1627632"/>
            </a:xfrm>
            <a:prstGeom prst="rect">
              <a:avLst/>
            </a:prstGeom>
            <a:noFill/>
            <a:ln/>
          </p:spPr>
          <p:txBody>
            <a:bodyPr wrap="square" lIns="0" tIns="0" rIns="0" bIns="0" rtlCol="0" anchor="t"/>
            <a:lstStyle/>
            <a:p>
              <a:pPr indent="0" marL="0">
                <a:lnSpc>
                  <a:spcPts val="1600"/>
                </a:lnSpc>
                <a:buNone/>
              </a:pPr>
              <a:r>
                <a:rPr lang="en-US" sz="1150" dirty="0">
                  <a:solidFill>
                    <a:srgbClr val="14282B"/>
                  </a:solidFill>
                  <a:latin typeface="Arial" pitchFamily="34" charset="0"/>
                  <a:ea typeface="Arial" pitchFamily="34" charset="-122"/>
                  <a:cs typeface="Arial" pitchFamily="34" charset="-120"/>
                </a:rPr>
                <a:t>The same survey, the same boats: 20 to 30 kg an hour. By 1995 the trawlable biomass was about 8% of the 1961 level.</a:t>
              </a:r>
              <a:endParaRPr lang="en-US" sz="1150" dirty="0"/>
            </a:p>
          </p:txBody>
        </p:sp>
      </p:grpSp>
      <p:grpSp>
        <p:nvGrpSpPr>
          <p:cNvPr id="21" name="fd2"/>
          <p:cNvGrpSpPr/>
          <p:nvPr/>
        </p:nvGrpSpPr>
        <p:grpSpPr>
          <a:xfrm>
            <a:off x="6205576" y="2121408"/>
            <a:ext cx="2631872" cy="2286000"/>
            <a:chOff x="6205576" y="2121408"/>
            <a:chExt cx="2631872" cy="2286000"/>
          </a:xfrm>
        </p:grpSpPr>
        <p:sp>
          <p:nvSpPr>
            <p:cNvPr id="11" name="fd2_bg"/>
            <p:cNvSpPr/>
            <p:nvPr/>
          </p:nvSpPr>
          <p:spPr>
            <a:xfrm>
              <a:off x="6205576" y="2121408"/>
              <a:ext cx="2631872" cy="2286000"/>
            </a:xfrm>
            <a:prstGeom prst="roundRect">
              <a:avLst>
                <a:gd name="adj" fmla="val 5600"/>
              </a:avLst>
            </a:prstGeom>
            <a:solidFill>
              <a:srgbClr val="FFFFFF"/>
            </a:solidFill>
            <a:ln w="15875">
              <a:solidFill>
                <a:srgbClr val="0E3A3F"/>
              </a:solidFill>
              <a:prstDash val="solid"/>
            </a:ln>
          </p:spPr>
        </p:sp>
        <p:sp>
          <p:nvSpPr>
            <p:cNvPr id="12" name="fd2_h"/>
            <p:cNvSpPr txBox="1"/>
            <p:nvPr/>
          </p:nvSpPr>
          <p:spPr>
            <a:xfrm>
              <a:off x="6388456" y="2286000"/>
              <a:ext cx="2266112" cy="310896"/>
            </a:xfrm>
            <a:prstGeom prst="rect">
              <a:avLst/>
            </a:prstGeom>
            <a:noFill/>
            <a:ln/>
          </p:spPr>
          <p:txBody>
            <a:bodyPr wrap="square" lIns="0" tIns="0" rIns="0" bIns="0" rtlCol="0" anchor="ctr"/>
            <a:lstStyle/>
            <a:p>
              <a:pPr indent="0" marL="0">
                <a:buNone/>
              </a:pPr>
              <a:r>
                <a:rPr lang="en-US" sz="1500" b="1" dirty="0">
                  <a:solidFill>
                    <a:srgbClr val="0E3A3F"/>
                  </a:solidFill>
                  <a:latin typeface="Georgia" pitchFamily="34" charset="0"/>
                  <a:ea typeface="Georgia" pitchFamily="34" charset="-122"/>
                  <a:cs typeface="Georgia" pitchFamily="34" charset="-120"/>
                </a:rPr>
                <a:t>WHAT CHANGED</a:t>
              </a:r>
              <a:endParaRPr lang="en-US" sz="1500" dirty="0"/>
            </a:p>
          </p:txBody>
        </p:sp>
        <p:sp>
          <p:nvSpPr>
            <p:cNvPr id="13" name="fd2_b"/>
            <p:cNvSpPr txBox="1"/>
            <p:nvPr/>
          </p:nvSpPr>
          <p:spPr>
            <a:xfrm>
              <a:off x="6388456" y="2651760"/>
              <a:ext cx="2266112" cy="1627632"/>
            </a:xfrm>
            <a:prstGeom prst="rect">
              <a:avLst/>
            </a:prstGeom>
            <a:noFill/>
            <a:ln/>
          </p:spPr>
          <p:txBody>
            <a:bodyPr wrap="square" lIns="0" tIns="0" rIns="0" bIns="0" rtlCol="0" anchor="t"/>
            <a:lstStyle/>
            <a:p>
              <a:pPr indent="0" marL="0">
                <a:lnSpc>
                  <a:spcPts val="1600"/>
                </a:lnSpc>
                <a:buNone/>
              </a:pPr>
              <a:r>
                <a:rPr lang="en-US" sz="1150" dirty="0">
                  <a:solidFill>
                    <a:srgbClr val="14282B"/>
                  </a:solidFill>
                  <a:latin typeface="Arial" pitchFamily="34" charset="0"/>
                  <a:ea typeface="Arial" pitchFamily="34" charset="-122"/>
                  <a:cs typeface="Arial" pitchFamily="34" charset="-120"/>
                </a:rPr>
                <a:t>The big, slow, high-level fish went first. More than 40% of the catch is now low-value or juvenile fish — smaller animals from further down the web.</a:t>
              </a:r>
              <a:endParaRPr lang="en-US" sz="1150" dirty="0"/>
            </a:p>
          </p:txBody>
        </p:sp>
      </p:grpSp>
      <p:grpSp>
        <p:nvGrpSpPr>
          <p:cNvPr id="22" name="fd3"/>
          <p:cNvGrpSpPr/>
          <p:nvPr/>
        </p:nvGrpSpPr>
        <p:grpSpPr>
          <a:xfrm>
            <a:off x="9056903" y="2121408"/>
            <a:ext cx="2631872" cy="2286000"/>
            <a:chOff x="9056903" y="2121408"/>
            <a:chExt cx="2631872" cy="2286000"/>
          </a:xfrm>
        </p:grpSpPr>
        <p:sp>
          <p:nvSpPr>
            <p:cNvPr id="14" name="fd3_bg"/>
            <p:cNvSpPr/>
            <p:nvPr/>
          </p:nvSpPr>
          <p:spPr>
            <a:xfrm>
              <a:off x="9056903" y="2121408"/>
              <a:ext cx="2631872" cy="2286000"/>
            </a:xfrm>
            <a:prstGeom prst="roundRect">
              <a:avLst>
                <a:gd name="adj" fmla="val 5600"/>
              </a:avLst>
            </a:prstGeom>
            <a:solidFill>
              <a:srgbClr val="FDF3D6"/>
            </a:solidFill>
            <a:ln w="22860">
              <a:solidFill>
                <a:srgbClr val="F5B301"/>
              </a:solidFill>
              <a:prstDash val="solid"/>
            </a:ln>
          </p:spPr>
        </p:sp>
        <p:sp>
          <p:nvSpPr>
            <p:cNvPr id="15" name="fd3_h"/>
            <p:cNvSpPr txBox="1"/>
            <p:nvPr/>
          </p:nvSpPr>
          <p:spPr>
            <a:xfrm>
              <a:off x="9239783" y="2286000"/>
              <a:ext cx="2266112" cy="310896"/>
            </a:xfrm>
            <a:prstGeom prst="rect">
              <a:avLst/>
            </a:prstGeom>
            <a:noFill/>
            <a:ln/>
          </p:spPr>
          <p:txBody>
            <a:bodyPr wrap="square" lIns="0" tIns="0" rIns="0" bIns="0" rtlCol="0" anchor="ctr"/>
            <a:lstStyle/>
            <a:p>
              <a:pPr indent="0" marL="0">
                <a:buNone/>
              </a:pPr>
              <a:r>
                <a:rPr lang="en-US" sz="1500" b="1" dirty="0">
                  <a:solidFill>
                    <a:srgbClr val="F5B301"/>
                  </a:solidFill>
                  <a:latin typeface="Georgia" pitchFamily="34" charset="0"/>
                  <a:ea typeface="Georgia" pitchFamily="34" charset="-122"/>
                  <a:cs typeface="Georgia" pitchFamily="34" charset="-120"/>
                </a:rPr>
                <a:t>EVERY FEB–MAY</a:t>
              </a:r>
              <a:endParaRPr lang="en-US" sz="1500" dirty="0"/>
            </a:p>
          </p:txBody>
        </p:sp>
        <p:sp>
          <p:nvSpPr>
            <p:cNvPr id="16" name="fd3_b"/>
            <p:cNvSpPr txBox="1"/>
            <p:nvPr/>
          </p:nvSpPr>
          <p:spPr>
            <a:xfrm>
              <a:off x="9239783" y="2651760"/>
              <a:ext cx="2266112" cy="1627632"/>
            </a:xfrm>
            <a:prstGeom prst="rect">
              <a:avLst/>
            </a:prstGeom>
            <a:noFill/>
            <a:ln/>
          </p:spPr>
          <p:txBody>
            <a:bodyPr wrap="square" lIns="0" tIns="0" rIns="0" bIns="0" rtlCol="0" anchor="t"/>
            <a:lstStyle/>
            <a:p>
              <a:pPr indent="0" marL="0">
                <a:lnSpc>
                  <a:spcPts val="1600"/>
                </a:lnSpc>
                <a:buNone/>
              </a:pPr>
              <a:r>
                <a:rPr lang="en-US" sz="1150" dirty="0">
                  <a:solidFill>
                    <a:srgbClr val="14282B"/>
                  </a:solidFill>
                  <a:latin typeface="Arial" pitchFamily="34" charset="0"/>
                  <a:ea typeface="Arial" pitchFamily="34" charset="-122"/>
                  <a:cs typeface="Arial" pitchFamily="34" charset="-120"/>
                </a:rPr>
                <a:t>For decades the central Gulf has been closed to trawlers from 15 February to 15 May, across the pla thu spawning season. In 2020 the Department of Fisheries reported yields of key species up 1.6 times year on year.</a:t>
              </a:r>
              <a:endParaRPr lang="en-US" sz="1150" dirty="0"/>
            </a:p>
          </p:txBody>
        </p:sp>
      </p:grpSp>
      <p:sp>
        <p:nvSpPr>
          <p:cNvPr id="17" name="fd_point"/>
          <p:cNvSpPr txBox="1"/>
          <p:nvPr/>
        </p:nvSpPr>
        <p:spPr>
          <a:xfrm>
            <a:off x="502920" y="4645152"/>
            <a:ext cx="11185855" cy="585216"/>
          </a:xfrm>
          <a:prstGeom prst="rect">
            <a:avLst/>
          </a:prstGeom>
          <a:noFill/>
          <a:ln/>
        </p:spPr>
        <p:txBody>
          <a:bodyPr wrap="square" lIns="0" tIns="0" rIns="0" bIns="0" rtlCol="0" anchor="t"/>
          <a:lstStyle/>
          <a:p>
            <a:pPr indent="0" marL="0">
              <a:lnSpc>
                <a:spcPts val="1900"/>
              </a:lnSpc>
              <a:buNone/>
            </a:pPr>
            <a:r>
              <a:rPr lang="en-US" sz="1350" b="1" dirty="0">
                <a:solidFill>
                  <a:srgbClr val="0E3A3F"/>
                </a:solidFill>
                <a:latin typeface="Arial" pitchFamily="34" charset="0"/>
                <a:ea typeface="Arial" pitchFamily="34" charset="-122"/>
                <a:cs typeface="Arial" pitchFamily="34" charset="-120"/>
              </a:rPr>
              <a:t>Energy flow explains the pattern: take out the top of the web and the fishing moves down it. Each step down is a step towards the producers — where the energy still is.</a:t>
            </a:r>
            <a:endParaRPr lang="en-US" sz="1350" dirty="0"/>
          </a:p>
        </p:txBody>
      </p:sp>
      <p:sp>
        <p:nvSpPr>
          <p:cNvPr id="18" name="footer_note"/>
          <p:cNvSpPr txBox="1"/>
          <p:nvPr/>
        </p:nvSpPr>
        <p:spPr>
          <a:xfrm>
            <a:off x="502920" y="6382512"/>
            <a:ext cx="11185855" cy="292608"/>
          </a:xfrm>
          <a:prstGeom prst="rect">
            <a:avLst/>
          </a:prstGeom>
          <a:noFill/>
          <a:ln/>
        </p:spPr>
        <p:txBody>
          <a:bodyPr wrap="square" lIns="0" tIns="0" rIns="0" bIns="0" rtlCol="0" anchor="ctr"/>
          <a:lstStyle/>
          <a:p>
            <a:pPr algn="l" indent="0" marL="0">
              <a:buNone/>
            </a:pPr>
            <a:r>
              <a:rPr lang="en-US" sz="1050" i="1" dirty="0">
                <a:solidFill>
                  <a:srgbClr val="4A6165"/>
                </a:solidFill>
                <a:latin typeface="Arial" pitchFamily="34" charset="0"/>
                <a:ea typeface="Arial" pitchFamily="34" charset="-122"/>
                <a:cs typeface="Arial" pitchFamily="34" charset="-120"/>
              </a:rPr>
              <a:t>Sources: Thai Dept. of Fisheries trawl surveys via Frontiers in Marine Science 2017; WorldFish 1961–95 biomass study; Bangkok Post, 12 June 2020.</a:t>
            </a:r>
            <a:endParaRPr lang="en-US" sz="10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grpId="0" nodeType="clickEffect">
                                  <p:stCondLst>
                                    <p:cond delay="0"/>
                                  </p:stCondLst>
                                  <p:childTnLst>
                                    <p:set>
                                      <p:cBhvr>
                                        <p:cTn id="3" dur="1" fill="hold">
                                          <p:stCondLst>
                                            <p:cond delay="0"/>
                                          </p:stCondLst>
                                        </p:cTn>
                                        <p:tgtEl>
                                          <p:spTgt spid="19"/>
                                        </p:tgtEl>
                                        <p:attrNameLst>
                                          <p:attrName>style.visibility</p:attrName>
                                        </p:attrNameLst>
                                      </p:cBhvr>
                                      <p:to>
                                        <p:strVal val="visible"/>
                                      </p:to>
                                    </p:set>
                                    <p:animEffect transition="in" filter="fade">
                                      <p:cBhvr>
                                        <p:cTn id="4" dur="5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grpId="0"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5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grpId="0" nodeType="clickEffect">
                                  <p:stCondLst>
                                    <p:cond delay="0"/>
                                  </p:stCondLst>
                                  <p:childTnLst>
                                    <p:set>
                                      <p:cBhvr>
                                        <p:cTn id="13" dur="1" fill="hold">
                                          <p:stCondLst>
                                            <p:cond delay="0"/>
                                          </p:stCondLst>
                                        </p:cTn>
                                        <p:tgtEl>
                                          <p:spTgt spid="21"/>
                                        </p:tgtEl>
                                        <p:attrNameLst>
                                          <p:attrName>style.visibility</p:attrName>
                                        </p:attrNameLst>
                                      </p:cBhvr>
                                      <p:to>
                                        <p:strVal val="visible"/>
                                      </p:to>
                                    </p:set>
                                    <p:animEffect transition="in" filter="fade">
                                      <p:cBhvr>
                                        <p:cTn id="14" dur="500"/>
                                        <p:tgtEl>
                                          <p:spTgt spid="21"/>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fade">
                                      <p:cBhvr>
                                        <p:cTn id="19" dur="500"/>
                                        <p:tgtEl>
                                          <p:spTgt spid="22"/>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grpId="0" nodeType="click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E3A3F"/>
        </a:solidFill>
      </p:bgPr>
    </p:bg>
    <p:spTree>
      <p:nvGrpSpPr>
        <p:cNvPr id="1" name=""/>
        <p:cNvGrpSpPr/>
        <p:nvPr/>
      </p:nvGrpSpPr>
      <p:grpSpPr>
        <a:xfrm>
          <a:off x="0" y="0"/>
          <a:ext cx="0" cy="0"/>
          <a:chOff x="0" y="0"/>
          <a:chExt cx="0" cy="0"/>
        </a:xfrm>
      </p:grpSpPr>
      <p:sp>
        <p:nvSpPr>
          <p:cNvPr id="2" name="phase_pill"/>
          <p:cNvSpPr/>
          <p:nvPr/>
        </p:nvSpPr>
        <p:spPr>
          <a:xfrm>
            <a:off x="502920" y="274320"/>
            <a:ext cx="2578608" cy="347472"/>
          </a:xfrm>
          <a:prstGeom prst="roundRect">
            <a:avLst>
              <a:gd name="adj" fmla="val 50000"/>
            </a:avLst>
          </a:prstGeom>
          <a:solidFill>
            <a:srgbClr val="F5B301"/>
          </a:solidFill>
          <a:ln/>
        </p:spPr>
        <p:txBody>
          <a:bodyPr wrap="square" lIns="0" tIns="0" rIns="0" bIns="0" rtlCol="0" anchor="ctr"/>
          <a:lstStyle/>
          <a:p>
            <a:pPr algn="ctr" indent="0" marL="0">
              <a:buNone/>
            </a:pPr>
            <a:r>
              <a:rPr lang="en-US" sz="1100" b="1" spc="110" kern="0" dirty="0">
                <a:solidFill>
                  <a:srgbClr val="0E3A3F"/>
                </a:solidFill>
                <a:latin typeface="Arial" pitchFamily="34" charset="0"/>
                <a:ea typeface="Arial" pitchFamily="34" charset="-122"/>
                <a:cs typeface="Arial" pitchFamily="34" charset="-120"/>
              </a:rPr>
              <a:t>PLENARY · 2 MIN</a:t>
            </a:r>
            <a:endParaRPr lang="en-US" sz="1100" dirty="0"/>
          </a:p>
        </p:txBody>
      </p:sp>
      <p:sp>
        <p:nvSpPr>
          <p:cNvPr id="3" name="slide_title"/>
          <p:cNvSpPr txBox="1"/>
          <p:nvPr/>
        </p:nvSpPr>
        <p:spPr>
          <a:xfrm>
            <a:off x="502920" y="914400"/>
            <a:ext cx="11185855" cy="658368"/>
          </a:xfrm>
          <a:prstGeom prst="rect">
            <a:avLst/>
          </a:prstGeom>
          <a:noFill/>
          <a:ln/>
        </p:spPr>
        <p:txBody>
          <a:bodyPr wrap="square" lIns="0" tIns="0" rIns="0" bIns="0" rtlCol="0" anchor="ctr"/>
          <a:lstStyle/>
          <a:p>
            <a:pPr algn="l" indent="0" marL="0">
              <a:buNone/>
            </a:pPr>
            <a:r>
              <a:rPr lang="en-US" sz="3000" b="1" dirty="0">
                <a:solidFill>
                  <a:srgbClr val="FAF4E6"/>
                </a:solidFill>
                <a:latin typeface="Georgia" pitchFamily="34" charset="0"/>
                <a:ea typeface="Georgia" pitchFamily="34" charset="-122"/>
                <a:cs typeface="Georgia" pitchFamily="34" charset="-120"/>
              </a:rPr>
              <a:t>True or false?</a:t>
            </a:r>
            <a:endParaRPr lang="en-US" sz="3000" dirty="0"/>
          </a:p>
        </p:txBody>
      </p:sp>
      <p:sp>
        <p:nvSpPr>
          <p:cNvPr id="4" name="pl_intro"/>
          <p:cNvSpPr txBox="1"/>
          <p:nvPr/>
        </p:nvSpPr>
        <p:spPr>
          <a:xfrm>
            <a:off x="502920" y="1554480"/>
            <a:ext cx="7315200" cy="310896"/>
          </a:xfrm>
          <a:prstGeom prst="rect">
            <a:avLst/>
          </a:prstGeom>
          <a:noFill/>
          <a:ln/>
        </p:spPr>
        <p:txBody>
          <a:bodyPr wrap="square" lIns="0" tIns="0" rIns="0" bIns="0" rtlCol="0" anchor="ctr"/>
          <a:lstStyle/>
          <a:p>
            <a:pPr indent="0" marL="0">
              <a:buNone/>
            </a:pPr>
            <a:r>
              <a:rPr lang="en-US" sz="1300" dirty="0">
                <a:solidFill>
                  <a:srgbClr val="F0E4C8"/>
                </a:solidFill>
                <a:latin typeface="Arial" pitchFamily="34" charset="0"/>
                <a:ea typeface="Arial" pitchFamily="34" charset="-122"/>
                <a:cs typeface="Arial" pitchFamily="34" charset="-120"/>
              </a:rPr>
              <a:t>Stand up for TRUE. Stay sitting for FALSE. No fence-sitting.</a:t>
            </a:r>
            <a:endParaRPr lang="en-US" sz="1300" dirty="0"/>
          </a:p>
        </p:txBody>
      </p:sp>
      <p:sp>
        <p:nvSpPr>
          <p:cNvPr id="5" name="pl_sun"/>
          <p:cNvSpPr/>
          <p:nvPr/>
        </p:nvSpPr>
        <p:spPr>
          <a:xfrm>
            <a:off x="11247120" y="128016"/>
            <a:ext cx="402336" cy="402336"/>
          </a:xfrm>
          <a:prstGeom prst="ellipse">
            <a:avLst/>
          </a:prstGeom>
          <a:solidFill>
            <a:srgbClr val="F5B301"/>
          </a:solidFill>
          <a:ln w="12700">
            <a:solidFill>
              <a:srgbClr val="F5B301"/>
            </a:solidFill>
            <a:prstDash val="solid"/>
          </a:ln>
        </p:spPr>
      </p:sp>
      <p:sp>
        <p:nvSpPr>
          <p:cNvPr id="6" name="pl_flow"/>
          <p:cNvSpPr/>
          <p:nvPr/>
        </p:nvSpPr>
        <p:spPr>
          <a:xfrm rot="8210857">
            <a:off x="10955136" y="676656"/>
            <a:ext cx="401087" cy="128016"/>
          </a:xfrm>
          <a:prstGeom prst="rightArrow">
            <a:avLst/>
          </a:prstGeom>
          <a:solidFill>
            <a:srgbClr val="F5B301"/>
          </a:solidFill>
          <a:ln w="12700">
            <a:solidFill>
              <a:srgbClr val="F5B301"/>
            </a:solidFill>
            <a:prstDash val="solid"/>
          </a:ln>
        </p:spPr>
      </p:sp>
      <p:sp>
        <p:nvSpPr>
          <p:cNvPr id="7" name="pl_motif_leaf0"/>
          <p:cNvSpPr/>
          <p:nvPr/>
        </p:nvSpPr>
        <p:spPr>
          <a:xfrm>
            <a:off x="10354666" y="1002182"/>
            <a:ext cx="519379" cy="329184"/>
          </a:xfrm>
          <a:prstGeom prst="ellipse">
            <a:avLst/>
          </a:prstGeom>
          <a:solidFill>
            <a:srgbClr val="F5B301"/>
          </a:solidFill>
          <a:ln w="12700">
            <a:solidFill>
              <a:srgbClr val="F5B301"/>
            </a:solidFill>
            <a:prstDash val="solid"/>
          </a:ln>
        </p:spPr>
      </p:sp>
      <p:sp>
        <p:nvSpPr>
          <p:cNvPr id="8" name="pl_motif_leaf1"/>
          <p:cNvSpPr/>
          <p:nvPr/>
        </p:nvSpPr>
        <p:spPr>
          <a:xfrm>
            <a:off x="10852099" y="1016813"/>
            <a:ext cx="475488" cy="314554"/>
          </a:xfrm>
          <a:prstGeom prst="ellipse">
            <a:avLst/>
          </a:prstGeom>
          <a:solidFill>
            <a:srgbClr val="F5B301"/>
          </a:solidFill>
          <a:ln w="12700">
            <a:solidFill>
              <a:srgbClr val="F5B301"/>
            </a:solidFill>
            <a:prstDash val="solid"/>
          </a:ln>
        </p:spPr>
      </p:sp>
      <p:sp>
        <p:nvSpPr>
          <p:cNvPr id="9" name="pl_motif_leaf2"/>
          <p:cNvSpPr/>
          <p:nvPr/>
        </p:nvSpPr>
        <p:spPr>
          <a:xfrm>
            <a:off x="10493654" y="892454"/>
            <a:ext cx="482803" cy="365760"/>
          </a:xfrm>
          <a:prstGeom prst="ellipse">
            <a:avLst/>
          </a:prstGeom>
          <a:solidFill>
            <a:srgbClr val="2E9E6B"/>
          </a:solidFill>
          <a:ln w="12700">
            <a:solidFill>
              <a:srgbClr val="2E9E6B"/>
            </a:solidFill>
            <a:prstDash val="solid"/>
          </a:ln>
        </p:spPr>
      </p:sp>
      <p:sp>
        <p:nvSpPr>
          <p:cNvPr id="10" name="pl_motif_leaf3"/>
          <p:cNvSpPr/>
          <p:nvPr/>
        </p:nvSpPr>
        <p:spPr>
          <a:xfrm>
            <a:off x="10808208" y="841248"/>
            <a:ext cx="460858" cy="380390"/>
          </a:xfrm>
          <a:prstGeom prst="ellipse">
            <a:avLst/>
          </a:prstGeom>
          <a:solidFill>
            <a:srgbClr val="2E9E6B"/>
          </a:solidFill>
          <a:ln w="12700">
            <a:solidFill>
              <a:srgbClr val="2E9E6B"/>
            </a:solidFill>
            <a:prstDash val="solid"/>
          </a:ln>
        </p:spPr>
      </p:sp>
      <p:sp>
        <p:nvSpPr>
          <p:cNvPr id="11" name="pl_motif_leaf4"/>
          <p:cNvSpPr/>
          <p:nvPr/>
        </p:nvSpPr>
        <p:spPr>
          <a:xfrm>
            <a:off x="10647274" y="972922"/>
            <a:ext cx="431597" cy="343814"/>
          </a:xfrm>
          <a:prstGeom prst="ellipse">
            <a:avLst/>
          </a:prstGeom>
          <a:solidFill>
            <a:srgbClr val="2E9E6B"/>
          </a:solidFill>
          <a:ln w="12700">
            <a:solidFill>
              <a:srgbClr val="2E9E6B"/>
            </a:solidFill>
            <a:prstDash val="solid"/>
          </a:ln>
        </p:spPr>
      </p:sp>
      <p:sp>
        <p:nvSpPr>
          <p:cNvPr id="12" name="pl_motif_trunk"/>
          <p:cNvSpPr/>
          <p:nvPr/>
        </p:nvSpPr>
        <p:spPr>
          <a:xfrm>
            <a:off x="10813694" y="1097280"/>
            <a:ext cx="62179" cy="713232"/>
          </a:xfrm>
          <a:prstGeom prst="rect">
            <a:avLst/>
          </a:prstGeom>
          <a:solidFill>
            <a:srgbClr val="FAF4E6"/>
          </a:solidFill>
          <a:ln w="12700">
            <a:solidFill>
              <a:srgbClr val="FAF4E6"/>
            </a:solidFill>
            <a:prstDash val="solid"/>
          </a:ln>
        </p:spPr>
      </p:sp>
      <p:sp>
        <p:nvSpPr>
          <p:cNvPr id="13" name="pl_motif_root0"/>
          <p:cNvSpPr/>
          <p:nvPr/>
        </p:nvSpPr>
        <p:spPr>
          <a:xfrm rot="2090839">
            <a:off x="10671962" y="1323997"/>
            <a:ext cx="31090" cy="550505"/>
          </a:xfrm>
          <a:prstGeom prst="rect">
            <a:avLst/>
          </a:prstGeom>
          <a:solidFill>
            <a:srgbClr val="FAF4E6"/>
          </a:solidFill>
          <a:ln w="12700">
            <a:solidFill>
              <a:srgbClr val="FAF4E6"/>
            </a:solidFill>
            <a:prstDash val="solid"/>
          </a:ln>
        </p:spPr>
      </p:sp>
      <p:sp>
        <p:nvSpPr>
          <p:cNvPr id="14" name="pl_motif_root1"/>
          <p:cNvSpPr/>
          <p:nvPr/>
        </p:nvSpPr>
        <p:spPr>
          <a:xfrm rot="1259724">
            <a:off x="10752430" y="1410622"/>
            <a:ext cx="31090" cy="428753"/>
          </a:xfrm>
          <a:prstGeom prst="rect">
            <a:avLst/>
          </a:prstGeom>
          <a:solidFill>
            <a:srgbClr val="FAF4E6"/>
          </a:solidFill>
          <a:ln w="12700">
            <a:solidFill>
              <a:srgbClr val="FAF4E6"/>
            </a:solidFill>
            <a:prstDash val="solid"/>
          </a:ln>
        </p:spPr>
      </p:sp>
      <p:sp>
        <p:nvSpPr>
          <p:cNvPr id="15" name="pl_motif_root2"/>
          <p:cNvSpPr/>
          <p:nvPr/>
        </p:nvSpPr>
        <p:spPr>
          <a:xfrm rot="-1259724">
            <a:off x="10906049" y="1410622"/>
            <a:ext cx="31090" cy="428753"/>
          </a:xfrm>
          <a:prstGeom prst="rect">
            <a:avLst/>
          </a:prstGeom>
          <a:solidFill>
            <a:srgbClr val="FAF4E6"/>
          </a:solidFill>
          <a:ln w="12700">
            <a:solidFill>
              <a:srgbClr val="FAF4E6"/>
            </a:solidFill>
            <a:prstDash val="solid"/>
          </a:ln>
        </p:spPr>
      </p:sp>
      <p:sp>
        <p:nvSpPr>
          <p:cNvPr id="16" name="pl_motif_root3"/>
          <p:cNvSpPr/>
          <p:nvPr/>
        </p:nvSpPr>
        <p:spPr>
          <a:xfrm rot="-2090839">
            <a:off x="10986516" y="1323997"/>
            <a:ext cx="31090" cy="550505"/>
          </a:xfrm>
          <a:prstGeom prst="rect">
            <a:avLst/>
          </a:prstGeom>
          <a:solidFill>
            <a:srgbClr val="FAF4E6"/>
          </a:solidFill>
          <a:ln w="12700">
            <a:solidFill>
              <a:srgbClr val="FAF4E6"/>
            </a:solidFill>
            <a:prstDash val="solid"/>
          </a:ln>
        </p:spPr>
      </p:sp>
      <p:sp>
        <p:nvSpPr>
          <p:cNvPr id="17" name="pl_motif_pneu0"/>
          <p:cNvSpPr/>
          <p:nvPr/>
        </p:nvSpPr>
        <p:spPr>
          <a:xfrm>
            <a:off x="10351740" y="1730045"/>
            <a:ext cx="20483" cy="87782"/>
          </a:xfrm>
          <a:prstGeom prst="rect">
            <a:avLst/>
          </a:prstGeom>
          <a:solidFill>
            <a:srgbClr val="FAF4E6"/>
          </a:solidFill>
          <a:ln w="12700">
            <a:solidFill>
              <a:srgbClr val="FAF4E6"/>
            </a:solidFill>
            <a:prstDash val="solid"/>
          </a:ln>
        </p:spPr>
      </p:sp>
      <p:sp>
        <p:nvSpPr>
          <p:cNvPr id="18" name="pl_motif_pneu1"/>
          <p:cNvSpPr/>
          <p:nvPr/>
        </p:nvSpPr>
        <p:spPr>
          <a:xfrm>
            <a:off x="10439522" y="1730045"/>
            <a:ext cx="20483" cy="87782"/>
          </a:xfrm>
          <a:prstGeom prst="rect">
            <a:avLst/>
          </a:prstGeom>
          <a:solidFill>
            <a:srgbClr val="FAF4E6"/>
          </a:solidFill>
          <a:ln w="12700">
            <a:solidFill>
              <a:srgbClr val="FAF4E6"/>
            </a:solidFill>
            <a:prstDash val="solid"/>
          </a:ln>
        </p:spPr>
      </p:sp>
      <p:sp>
        <p:nvSpPr>
          <p:cNvPr id="19" name="pl_motif_pneu2"/>
          <p:cNvSpPr/>
          <p:nvPr/>
        </p:nvSpPr>
        <p:spPr>
          <a:xfrm>
            <a:off x="11236879" y="1730045"/>
            <a:ext cx="20483" cy="87782"/>
          </a:xfrm>
          <a:prstGeom prst="rect">
            <a:avLst/>
          </a:prstGeom>
          <a:solidFill>
            <a:srgbClr val="FAF4E6"/>
          </a:solidFill>
          <a:ln w="12700">
            <a:solidFill>
              <a:srgbClr val="FAF4E6"/>
            </a:solidFill>
            <a:prstDash val="solid"/>
          </a:ln>
        </p:spPr>
      </p:sp>
      <p:sp>
        <p:nvSpPr>
          <p:cNvPr id="20" name="pl_motif_pneu3"/>
          <p:cNvSpPr/>
          <p:nvPr/>
        </p:nvSpPr>
        <p:spPr>
          <a:xfrm>
            <a:off x="11331976" y="1730045"/>
            <a:ext cx="20483" cy="87782"/>
          </a:xfrm>
          <a:prstGeom prst="rect">
            <a:avLst/>
          </a:prstGeom>
          <a:solidFill>
            <a:srgbClr val="FAF4E6"/>
          </a:solidFill>
          <a:ln w="12700">
            <a:solidFill>
              <a:srgbClr val="FAF4E6"/>
            </a:solidFill>
            <a:prstDash val="solid"/>
          </a:ln>
        </p:spPr>
      </p:sp>
      <p:grpSp>
        <p:nvGrpSpPr>
          <p:cNvPr id="42" name="pq0_stmt"/>
          <p:cNvGrpSpPr/>
          <p:nvPr/>
        </p:nvGrpSpPr>
        <p:grpSpPr>
          <a:xfrm>
            <a:off x="502920" y="2084832"/>
            <a:ext cx="6309360" cy="566928"/>
            <a:chOff x="502920" y="2084832"/>
            <a:chExt cx="6309360" cy="566928"/>
          </a:xfrm>
        </p:grpSpPr>
        <p:sp>
          <p:nvSpPr>
            <p:cNvPr id="21" name="pq0_bg"/>
            <p:cNvSpPr/>
            <p:nvPr/>
          </p:nvSpPr>
          <p:spPr>
            <a:xfrm>
              <a:off x="502920" y="2084832"/>
              <a:ext cx="6309360" cy="566928"/>
            </a:xfrm>
            <a:prstGeom prst="roundRect">
              <a:avLst>
                <a:gd name="adj" fmla="val 16129"/>
              </a:avLst>
            </a:prstGeom>
            <a:solidFill>
              <a:srgbClr val="16474D"/>
            </a:solidFill>
            <a:ln w="12700">
              <a:solidFill>
                <a:srgbClr val="17505A"/>
              </a:solidFill>
              <a:prstDash val="solid"/>
            </a:ln>
          </p:spPr>
        </p:sp>
        <p:sp>
          <p:nvSpPr>
            <p:cNvPr id="22" name="pq0_q"/>
            <p:cNvSpPr txBox="1"/>
            <p:nvPr/>
          </p:nvSpPr>
          <p:spPr>
            <a:xfrm>
              <a:off x="704088" y="2084832"/>
              <a:ext cx="5943600" cy="566928"/>
            </a:xfrm>
            <a:prstGeom prst="rect">
              <a:avLst/>
            </a:prstGeom>
            <a:noFill/>
            <a:ln/>
          </p:spPr>
          <p:txBody>
            <a:bodyPr wrap="square" lIns="0" tIns="0" rIns="0" bIns="0" rtlCol="0" anchor="ctr"/>
            <a:lstStyle/>
            <a:p>
              <a:pPr indent="0" marL="0">
                <a:buNone/>
              </a:pPr>
              <a:r>
                <a:rPr lang="en-US" sz="1250" dirty="0">
                  <a:solidFill>
                    <a:srgbClr val="FAF4E6"/>
                  </a:solidFill>
                  <a:latin typeface="Arial" pitchFamily="34" charset="0"/>
                  <a:ea typeface="Arial" pitchFamily="34" charset="-122"/>
                  <a:cs typeface="Arial" pitchFamily="34" charset="-120"/>
                </a:rPr>
                <a:t>1. The arrow in a food chain points from the eater to the food.</a:t>
              </a:r>
              <a:endParaRPr lang="en-US" sz="1250" dirty="0"/>
            </a:p>
          </p:txBody>
        </p:sp>
      </p:grpSp>
      <p:sp>
        <p:nvSpPr>
          <p:cNvPr id="23" name="pq0_v"/>
          <p:cNvSpPr txBox="1"/>
          <p:nvPr/>
        </p:nvSpPr>
        <p:spPr>
          <a:xfrm>
            <a:off x="7040880" y="2084832"/>
            <a:ext cx="868680" cy="566928"/>
          </a:xfrm>
          <a:prstGeom prst="rect">
            <a:avLst/>
          </a:prstGeom>
          <a:noFill/>
          <a:ln/>
        </p:spPr>
        <p:txBody>
          <a:bodyPr wrap="square" lIns="0" tIns="0" rIns="0" bIns="0" rtlCol="0" anchor="ctr"/>
          <a:lstStyle/>
          <a:p>
            <a:pPr indent="0" marL="0">
              <a:buNone/>
            </a:pPr>
            <a:r>
              <a:rPr lang="en-US" sz="1250" b="1" spc="80" kern="0" dirty="0">
                <a:solidFill>
                  <a:srgbClr val="F5B301"/>
                </a:solidFill>
                <a:latin typeface="Arial" pitchFamily="34" charset="0"/>
                <a:ea typeface="Arial" pitchFamily="34" charset="-122"/>
                <a:cs typeface="Arial" pitchFamily="34" charset="-120"/>
              </a:rPr>
              <a:t>FALSE</a:t>
            </a:r>
            <a:endParaRPr lang="en-US" sz="1250" dirty="0"/>
          </a:p>
        </p:txBody>
      </p:sp>
      <p:sp>
        <p:nvSpPr>
          <p:cNvPr id="24" name="pq0_w"/>
          <p:cNvSpPr txBox="1"/>
          <p:nvPr/>
        </p:nvSpPr>
        <p:spPr>
          <a:xfrm>
            <a:off x="7955280" y="2084832"/>
            <a:ext cx="2697480" cy="566928"/>
          </a:xfrm>
          <a:prstGeom prst="rect">
            <a:avLst/>
          </a:prstGeom>
          <a:noFill/>
          <a:ln/>
        </p:spPr>
        <p:txBody>
          <a:bodyPr wrap="square" lIns="0" tIns="0" rIns="0" bIns="0" rtlCol="0" anchor="ctr"/>
          <a:lstStyle/>
          <a:p>
            <a:pPr indent="0" marL="0">
              <a:lnSpc>
                <a:spcPts val="1400"/>
              </a:lnSpc>
              <a:buNone/>
            </a:pPr>
            <a:r>
              <a:rPr lang="en-US" sz="1050" dirty="0">
                <a:solidFill>
                  <a:srgbClr val="F0E4C8"/>
                </a:solidFill>
                <a:latin typeface="Arial" pitchFamily="34" charset="0"/>
                <a:ea typeface="Arial" pitchFamily="34" charset="-122"/>
                <a:cs typeface="Arial" pitchFamily="34" charset="-120"/>
              </a:rPr>
              <a:t>It follows the energy, so it points AT the eater.</a:t>
            </a:r>
            <a:endParaRPr lang="en-US" sz="1050" dirty="0"/>
          </a:p>
        </p:txBody>
      </p:sp>
      <p:grpSp>
        <p:nvGrpSpPr>
          <p:cNvPr id="43" name="pq1_stmt"/>
          <p:cNvGrpSpPr/>
          <p:nvPr/>
        </p:nvGrpSpPr>
        <p:grpSpPr>
          <a:xfrm>
            <a:off x="502920" y="2798064"/>
            <a:ext cx="6309360" cy="566928"/>
            <a:chOff x="502920" y="2798064"/>
            <a:chExt cx="6309360" cy="566928"/>
          </a:xfrm>
        </p:grpSpPr>
        <p:sp>
          <p:nvSpPr>
            <p:cNvPr id="25" name="pq1_bg"/>
            <p:cNvSpPr/>
            <p:nvPr/>
          </p:nvSpPr>
          <p:spPr>
            <a:xfrm>
              <a:off x="502920" y="2798064"/>
              <a:ext cx="6309360" cy="566928"/>
            </a:xfrm>
            <a:prstGeom prst="roundRect">
              <a:avLst>
                <a:gd name="adj" fmla="val 16129"/>
              </a:avLst>
            </a:prstGeom>
            <a:solidFill>
              <a:srgbClr val="16474D"/>
            </a:solidFill>
            <a:ln w="12700">
              <a:solidFill>
                <a:srgbClr val="17505A"/>
              </a:solidFill>
              <a:prstDash val="solid"/>
            </a:ln>
          </p:spPr>
        </p:sp>
        <p:sp>
          <p:nvSpPr>
            <p:cNvPr id="26" name="pq1_q"/>
            <p:cNvSpPr txBox="1"/>
            <p:nvPr/>
          </p:nvSpPr>
          <p:spPr>
            <a:xfrm>
              <a:off x="704088" y="2798064"/>
              <a:ext cx="5943600" cy="566928"/>
            </a:xfrm>
            <a:prstGeom prst="rect">
              <a:avLst/>
            </a:prstGeom>
            <a:noFill/>
            <a:ln/>
          </p:spPr>
          <p:txBody>
            <a:bodyPr wrap="square" lIns="0" tIns="0" rIns="0" bIns="0" rtlCol="0" anchor="ctr"/>
            <a:lstStyle/>
            <a:p>
              <a:pPr indent="0" marL="0">
                <a:buNone/>
              </a:pPr>
              <a:r>
                <a:rPr lang="en-US" sz="1250" dirty="0">
                  <a:solidFill>
                    <a:srgbClr val="FAF4E6"/>
                  </a:solidFill>
                  <a:latin typeface="Arial" pitchFamily="34" charset="0"/>
                  <a:ea typeface="Arial" pitchFamily="34" charset="-122"/>
                  <a:cs typeface="Arial" pitchFamily="34" charset="-120"/>
                </a:rPr>
                <a:t>2. A scavenger is a kind of decomposer.</a:t>
              </a:r>
              <a:endParaRPr lang="en-US" sz="1250" dirty="0"/>
            </a:p>
          </p:txBody>
        </p:sp>
      </p:grpSp>
      <p:sp>
        <p:nvSpPr>
          <p:cNvPr id="27" name="pq1_v"/>
          <p:cNvSpPr txBox="1"/>
          <p:nvPr/>
        </p:nvSpPr>
        <p:spPr>
          <a:xfrm>
            <a:off x="7040880" y="2798064"/>
            <a:ext cx="868680" cy="566928"/>
          </a:xfrm>
          <a:prstGeom prst="rect">
            <a:avLst/>
          </a:prstGeom>
          <a:noFill/>
          <a:ln/>
        </p:spPr>
        <p:txBody>
          <a:bodyPr wrap="square" lIns="0" tIns="0" rIns="0" bIns="0" rtlCol="0" anchor="ctr"/>
          <a:lstStyle/>
          <a:p>
            <a:pPr indent="0" marL="0">
              <a:buNone/>
            </a:pPr>
            <a:r>
              <a:rPr lang="en-US" sz="1250" b="1" spc="80" kern="0" dirty="0">
                <a:solidFill>
                  <a:srgbClr val="F5B301"/>
                </a:solidFill>
                <a:latin typeface="Arial" pitchFamily="34" charset="0"/>
                <a:ea typeface="Arial" pitchFamily="34" charset="-122"/>
                <a:cs typeface="Arial" pitchFamily="34" charset="-120"/>
              </a:rPr>
              <a:t>FALSE</a:t>
            </a:r>
            <a:endParaRPr lang="en-US" sz="1250" dirty="0"/>
          </a:p>
        </p:txBody>
      </p:sp>
      <p:sp>
        <p:nvSpPr>
          <p:cNvPr id="28" name="pq1_w"/>
          <p:cNvSpPr txBox="1"/>
          <p:nvPr/>
        </p:nvSpPr>
        <p:spPr>
          <a:xfrm>
            <a:off x="7955280" y="2798064"/>
            <a:ext cx="2697480" cy="566928"/>
          </a:xfrm>
          <a:prstGeom prst="rect">
            <a:avLst/>
          </a:prstGeom>
          <a:noFill/>
          <a:ln/>
        </p:spPr>
        <p:txBody>
          <a:bodyPr wrap="square" lIns="0" tIns="0" rIns="0" bIns="0" rtlCol="0" anchor="ctr"/>
          <a:lstStyle/>
          <a:p>
            <a:pPr indent="0" marL="0">
              <a:lnSpc>
                <a:spcPts val="1400"/>
              </a:lnSpc>
              <a:buNone/>
            </a:pPr>
            <a:r>
              <a:rPr lang="en-US" sz="1050" dirty="0">
                <a:solidFill>
                  <a:srgbClr val="F0E4C8"/>
                </a:solidFill>
                <a:latin typeface="Arial" pitchFamily="34" charset="0"/>
                <a:ea typeface="Arial" pitchFamily="34" charset="-122"/>
                <a:cs typeface="Arial" pitchFamily="34" charset="-120"/>
              </a:rPr>
              <a:t>A scavenger eats dead things whole. It is a consumer.</a:t>
            </a:r>
            <a:endParaRPr lang="en-US" sz="1050" dirty="0"/>
          </a:p>
        </p:txBody>
      </p:sp>
      <p:grpSp>
        <p:nvGrpSpPr>
          <p:cNvPr id="44" name="pq2_stmt"/>
          <p:cNvGrpSpPr/>
          <p:nvPr/>
        </p:nvGrpSpPr>
        <p:grpSpPr>
          <a:xfrm>
            <a:off x="502920" y="3511296"/>
            <a:ext cx="6309360" cy="566928"/>
            <a:chOff x="502920" y="3511296"/>
            <a:chExt cx="6309360" cy="566928"/>
          </a:xfrm>
        </p:grpSpPr>
        <p:sp>
          <p:nvSpPr>
            <p:cNvPr id="29" name="pq2_bg"/>
            <p:cNvSpPr/>
            <p:nvPr/>
          </p:nvSpPr>
          <p:spPr>
            <a:xfrm>
              <a:off x="502920" y="3511296"/>
              <a:ext cx="6309360" cy="566928"/>
            </a:xfrm>
            <a:prstGeom prst="roundRect">
              <a:avLst>
                <a:gd name="adj" fmla="val 16129"/>
              </a:avLst>
            </a:prstGeom>
            <a:solidFill>
              <a:srgbClr val="16474D"/>
            </a:solidFill>
            <a:ln w="12700">
              <a:solidFill>
                <a:srgbClr val="17505A"/>
              </a:solidFill>
              <a:prstDash val="solid"/>
            </a:ln>
          </p:spPr>
        </p:sp>
        <p:sp>
          <p:nvSpPr>
            <p:cNvPr id="30" name="pq2_q"/>
            <p:cNvSpPr txBox="1"/>
            <p:nvPr/>
          </p:nvSpPr>
          <p:spPr>
            <a:xfrm>
              <a:off x="704088" y="3511296"/>
              <a:ext cx="5943600" cy="566928"/>
            </a:xfrm>
            <a:prstGeom prst="rect">
              <a:avLst/>
            </a:prstGeom>
            <a:noFill/>
            <a:ln/>
          </p:spPr>
          <p:txBody>
            <a:bodyPr wrap="square" lIns="0" tIns="0" rIns="0" bIns="0" rtlCol="0" anchor="ctr"/>
            <a:lstStyle/>
            <a:p>
              <a:pPr indent="0" marL="0">
                <a:buNone/>
              </a:pPr>
              <a:r>
                <a:rPr lang="en-US" sz="1250" dirty="0">
                  <a:solidFill>
                    <a:srgbClr val="FAF4E6"/>
                  </a:solidFill>
                  <a:latin typeface="Arial" pitchFamily="34" charset="0"/>
                  <a:ea typeface="Arial" pitchFamily="34" charset="-122"/>
                  <a:cs typeface="Arial" pitchFamily="34" charset="-120"/>
                </a:rPr>
                <a:t>3. A carnivore can also be prey.</a:t>
              </a:r>
              <a:endParaRPr lang="en-US" sz="1250" dirty="0"/>
            </a:p>
          </p:txBody>
        </p:sp>
      </p:grpSp>
      <p:sp>
        <p:nvSpPr>
          <p:cNvPr id="31" name="pq2_v"/>
          <p:cNvSpPr txBox="1"/>
          <p:nvPr/>
        </p:nvSpPr>
        <p:spPr>
          <a:xfrm>
            <a:off x="7040880" y="3511296"/>
            <a:ext cx="868680" cy="566928"/>
          </a:xfrm>
          <a:prstGeom prst="rect">
            <a:avLst/>
          </a:prstGeom>
          <a:noFill/>
          <a:ln/>
        </p:spPr>
        <p:txBody>
          <a:bodyPr wrap="square" lIns="0" tIns="0" rIns="0" bIns="0" rtlCol="0" anchor="ctr"/>
          <a:lstStyle/>
          <a:p>
            <a:pPr indent="0" marL="0">
              <a:buNone/>
            </a:pPr>
            <a:r>
              <a:rPr lang="en-US" sz="1250" b="1" spc="80" kern="0" dirty="0">
                <a:solidFill>
                  <a:srgbClr val="2E9E6B"/>
                </a:solidFill>
                <a:latin typeface="Arial" pitchFamily="34" charset="0"/>
                <a:ea typeface="Arial" pitchFamily="34" charset="-122"/>
                <a:cs typeface="Arial" pitchFamily="34" charset="-120"/>
              </a:rPr>
              <a:t>TRUE</a:t>
            </a:r>
            <a:endParaRPr lang="en-US" sz="1250" dirty="0"/>
          </a:p>
        </p:txBody>
      </p:sp>
      <p:sp>
        <p:nvSpPr>
          <p:cNvPr id="32" name="pq2_w"/>
          <p:cNvSpPr txBox="1"/>
          <p:nvPr/>
        </p:nvSpPr>
        <p:spPr>
          <a:xfrm>
            <a:off x="7955280" y="3511296"/>
            <a:ext cx="2697480" cy="566928"/>
          </a:xfrm>
          <a:prstGeom prst="rect">
            <a:avLst/>
          </a:prstGeom>
          <a:noFill/>
          <a:ln/>
        </p:spPr>
        <p:txBody>
          <a:bodyPr wrap="square" lIns="0" tIns="0" rIns="0" bIns="0" rtlCol="0" anchor="ctr"/>
          <a:lstStyle/>
          <a:p>
            <a:pPr indent="0" marL="0">
              <a:lnSpc>
                <a:spcPts val="1400"/>
              </a:lnSpc>
              <a:buNone/>
            </a:pPr>
            <a:r>
              <a:rPr lang="en-US" sz="1050" dirty="0">
                <a:solidFill>
                  <a:srgbClr val="F0E4C8"/>
                </a:solidFill>
                <a:latin typeface="Arial" pitchFamily="34" charset="0"/>
                <a:ea typeface="Arial" pitchFamily="34" charset="-122"/>
                <a:cs typeface="Arial" pitchFamily="34" charset="-120"/>
              </a:rPr>
              <a:t>The mudskipper hunts crabs and is hunted by egrets.</a:t>
            </a:r>
            <a:endParaRPr lang="en-US" sz="1050" dirty="0"/>
          </a:p>
        </p:txBody>
      </p:sp>
      <p:grpSp>
        <p:nvGrpSpPr>
          <p:cNvPr id="45" name="pq3_stmt"/>
          <p:cNvGrpSpPr/>
          <p:nvPr/>
        </p:nvGrpSpPr>
        <p:grpSpPr>
          <a:xfrm>
            <a:off x="502920" y="4224528"/>
            <a:ext cx="6309360" cy="566928"/>
            <a:chOff x="502920" y="4224528"/>
            <a:chExt cx="6309360" cy="566928"/>
          </a:xfrm>
        </p:grpSpPr>
        <p:sp>
          <p:nvSpPr>
            <p:cNvPr id="33" name="pq3_bg"/>
            <p:cNvSpPr/>
            <p:nvPr/>
          </p:nvSpPr>
          <p:spPr>
            <a:xfrm>
              <a:off x="502920" y="4224528"/>
              <a:ext cx="6309360" cy="566928"/>
            </a:xfrm>
            <a:prstGeom prst="roundRect">
              <a:avLst>
                <a:gd name="adj" fmla="val 16129"/>
              </a:avLst>
            </a:prstGeom>
            <a:solidFill>
              <a:srgbClr val="16474D"/>
            </a:solidFill>
            <a:ln w="12700">
              <a:solidFill>
                <a:srgbClr val="17505A"/>
              </a:solidFill>
              <a:prstDash val="solid"/>
            </a:ln>
          </p:spPr>
        </p:sp>
        <p:sp>
          <p:nvSpPr>
            <p:cNvPr id="34" name="pq3_q"/>
            <p:cNvSpPr txBox="1"/>
            <p:nvPr/>
          </p:nvSpPr>
          <p:spPr>
            <a:xfrm>
              <a:off x="704088" y="4224528"/>
              <a:ext cx="5943600" cy="566928"/>
            </a:xfrm>
            <a:prstGeom prst="rect">
              <a:avLst/>
            </a:prstGeom>
            <a:noFill/>
            <a:ln/>
          </p:spPr>
          <p:txBody>
            <a:bodyPr wrap="square" lIns="0" tIns="0" rIns="0" bIns="0" rtlCol="0" anchor="ctr"/>
            <a:lstStyle/>
            <a:p>
              <a:pPr indent="0" marL="0">
                <a:buNone/>
              </a:pPr>
              <a:r>
                <a:rPr lang="en-US" sz="1250" dirty="0">
                  <a:solidFill>
                    <a:srgbClr val="FAF4E6"/>
                  </a:solidFill>
                  <a:latin typeface="Arial" pitchFamily="34" charset="0"/>
                  <a:ea typeface="Arial" pitchFamily="34" charset="-122"/>
                  <a:cs typeface="Arial" pitchFamily="34" charset="-120"/>
                </a:rPr>
                <a:t>4. Decomposers belong at the end of a food chain.</a:t>
              </a:r>
              <a:endParaRPr lang="en-US" sz="1250" dirty="0"/>
            </a:p>
          </p:txBody>
        </p:sp>
      </p:grpSp>
      <p:sp>
        <p:nvSpPr>
          <p:cNvPr id="35" name="pq3_v"/>
          <p:cNvSpPr txBox="1"/>
          <p:nvPr/>
        </p:nvSpPr>
        <p:spPr>
          <a:xfrm>
            <a:off x="7040880" y="4224528"/>
            <a:ext cx="868680" cy="566928"/>
          </a:xfrm>
          <a:prstGeom prst="rect">
            <a:avLst/>
          </a:prstGeom>
          <a:noFill/>
          <a:ln/>
        </p:spPr>
        <p:txBody>
          <a:bodyPr wrap="square" lIns="0" tIns="0" rIns="0" bIns="0" rtlCol="0" anchor="ctr"/>
          <a:lstStyle/>
          <a:p>
            <a:pPr indent="0" marL="0">
              <a:buNone/>
            </a:pPr>
            <a:r>
              <a:rPr lang="en-US" sz="1250" b="1" spc="80" kern="0" dirty="0">
                <a:solidFill>
                  <a:srgbClr val="F5B301"/>
                </a:solidFill>
                <a:latin typeface="Arial" pitchFamily="34" charset="0"/>
                <a:ea typeface="Arial" pitchFamily="34" charset="-122"/>
                <a:cs typeface="Arial" pitchFamily="34" charset="-120"/>
              </a:rPr>
              <a:t>FALSE</a:t>
            </a:r>
            <a:endParaRPr lang="en-US" sz="1250" dirty="0"/>
          </a:p>
        </p:txBody>
      </p:sp>
      <p:sp>
        <p:nvSpPr>
          <p:cNvPr id="36" name="pq3_w"/>
          <p:cNvSpPr txBox="1"/>
          <p:nvPr/>
        </p:nvSpPr>
        <p:spPr>
          <a:xfrm>
            <a:off x="7955280" y="4224528"/>
            <a:ext cx="2697480" cy="566928"/>
          </a:xfrm>
          <a:prstGeom prst="rect">
            <a:avLst/>
          </a:prstGeom>
          <a:noFill/>
          <a:ln/>
        </p:spPr>
        <p:txBody>
          <a:bodyPr wrap="square" lIns="0" tIns="0" rIns="0" bIns="0" rtlCol="0" anchor="ctr"/>
          <a:lstStyle/>
          <a:p>
            <a:pPr indent="0" marL="0">
              <a:lnSpc>
                <a:spcPts val="1400"/>
              </a:lnSpc>
              <a:buNone/>
            </a:pPr>
            <a:r>
              <a:rPr lang="en-US" sz="1050" dirty="0">
                <a:solidFill>
                  <a:srgbClr val="F0E4C8"/>
                </a:solidFill>
                <a:latin typeface="Arial" pitchFamily="34" charset="0"/>
                <a:ea typeface="Arial" pitchFamily="34" charset="-122"/>
                <a:cs typeface="Arial" pitchFamily="34" charset="-120"/>
              </a:rPr>
              <a:t>They feed on every level of the web.</a:t>
            </a:r>
            <a:endParaRPr lang="en-US" sz="1050" dirty="0"/>
          </a:p>
        </p:txBody>
      </p:sp>
      <p:grpSp>
        <p:nvGrpSpPr>
          <p:cNvPr id="46" name="pq4_stmt"/>
          <p:cNvGrpSpPr/>
          <p:nvPr/>
        </p:nvGrpSpPr>
        <p:grpSpPr>
          <a:xfrm>
            <a:off x="502920" y="4937760"/>
            <a:ext cx="6309360" cy="566928"/>
            <a:chOff x="502920" y="4937760"/>
            <a:chExt cx="6309360" cy="566928"/>
          </a:xfrm>
        </p:grpSpPr>
        <p:sp>
          <p:nvSpPr>
            <p:cNvPr id="37" name="pq4_bg"/>
            <p:cNvSpPr/>
            <p:nvPr/>
          </p:nvSpPr>
          <p:spPr>
            <a:xfrm>
              <a:off x="502920" y="4937760"/>
              <a:ext cx="6309360" cy="566928"/>
            </a:xfrm>
            <a:prstGeom prst="roundRect">
              <a:avLst>
                <a:gd name="adj" fmla="val 16129"/>
              </a:avLst>
            </a:prstGeom>
            <a:solidFill>
              <a:srgbClr val="16474D"/>
            </a:solidFill>
            <a:ln w="12700">
              <a:solidFill>
                <a:srgbClr val="17505A"/>
              </a:solidFill>
              <a:prstDash val="solid"/>
            </a:ln>
          </p:spPr>
        </p:sp>
        <p:sp>
          <p:nvSpPr>
            <p:cNvPr id="38" name="pq4_q"/>
            <p:cNvSpPr txBox="1"/>
            <p:nvPr/>
          </p:nvSpPr>
          <p:spPr>
            <a:xfrm>
              <a:off x="704088" y="4937760"/>
              <a:ext cx="5943600" cy="566928"/>
            </a:xfrm>
            <a:prstGeom prst="rect">
              <a:avLst/>
            </a:prstGeom>
            <a:noFill/>
            <a:ln/>
          </p:spPr>
          <p:txBody>
            <a:bodyPr wrap="square" lIns="0" tIns="0" rIns="0" bIns="0" rtlCol="0" anchor="ctr"/>
            <a:lstStyle/>
            <a:p>
              <a:pPr indent="0" marL="0">
                <a:buNone/>
              </a:pPr>
              <a:r>
                <a:rPr lang="en-US" sz="1250" dirty="0">
                  <a:solidFill>
                    <a:srgbClr val="FAF4E6"/>
                  </a:solidFill>
                  <a:latin typeface="Arial" pitchFamily="34" charset="0"/>
                  <a:ea typeface="Arial" pitchFamily="34" charset="-122"/>
                  <a:cs typeface="Arial" pitchFamily="34" charset="-120"/>
                </a:rPr>
                <a:t>5. Energy is recycled round and round an ecosystem.</a:t>
              </a:r>
              <a:endParaRPr lang="en-US" sz="1250" dirty="0"/>
            </a:p>
          </p:txBody>
        </p:sp>
      </p:grpSp>
      <p:sp>
        <p:nvSpPr>
          <p:cNvPr id="39" name="pq4_v"/>
          <p:cNvSpPr txBox="1"/>
          <p:nvPr/>
        </p:nvSpPr>
        <p:spPr>
          <a:xfrm>
            <a:off x="7040880" y="4937760"/>
            <a:ext cx="868680" cy="566928"/>
          </a:xfrm>
          <a:prstGeom prst="rect">
            <a:avLst/>
          </a:prstGeom>
          <a:noFill/>
          <a:ln/>
        </p:spPr>
        <p:txBody>
          <a:bodyPr wrap="square" lIns="0" tIns="0" rIns="0" bIns="0" rtlCol="0" anchor="ctr"/>
          <a:lstStyle/>
          <a:p>
            <a:pPr indent="0" marL="0">
              <a:buNone/>
            </a:pPr>
            <a:r>
              <a:rPr lang="en-US" sz="1250" b="1" spc="80" kern="0" dirty="0">
                <a:solidFill>
                  <a:srgbClr val="F5B301"/>
                </a:solidFill>
                <a:latin typeface="Arial" pitchFamily="34" charset="0"/>
                <a:ea typeface="Arial" pitchFamily="34" charset="-122"/>
                <a:cs typeface="Arial" pitchFamily="34" charset="-120"/>
              </a:rPr>
              <a:t>FALSE</a:t>
            </a:r>
            <a:endParaRPr lang="en-US" sz="1250" dirty="0"/>
          </a:p>
        </p:txBody>
      </p:sp>
      <p:sp>
        <p:nvSpPr>
          <p:cNvPr id="40" name="pq4_w"/>
          <p:cNvSpPr txBox="1"/>
          <p:nvPr/>
        </p:nvSpPr>
        <p:spPr>
          <a:xfrm>
            <a:off x="7955280" y="4937760"/>
            <a:ext cx="2697480" cy="566928"/>
          </a:xfrm>
          <a:prstGeom prst="rect">
            <a:avLst/>
          </a:prstGeom>
          <a:noFill/>
          <a:ln/>
        </p:spPr>
        <p:txBody>
          <a:bodyPr wrap="square" lIns="0" tIns="0" rIns="0" bIns="0" rtlCol="0" anchor="ctr"/>
          <a:lstStyle/>
          <a:p>
            <a:pPr indent="0" marL="0">
              <a:lnSpc>
                <a:spcPts val="1400"/>
              </a:lnSpc>
              <a:buNone/>
            </a:pPr>
            <a:r>
              <a:rPr lang="en-US" sz="1050" dirty="0">
                <a:solidFill>
                  <a:srgbClr val="F0E4C8"/>
                </a:solidFill>
                <a:latin typeface="Arial" pitchFamily="34" charset="0"/>
                <a:ea typeface="Arial" pitchFamily="34" charset="-122"/>
                <a:cs typeface="Arial" pitchFamily="34" charset="-120"/>
              </a:rPr>
              <a:t>It flows through once and leaves as heat. Matter is what cycles — next lesson.</a:t>
            </a:r>
            <a:endParaRPr lang="en-US" sz="1050" dirty="0"/>
          </a:p>
        </p:txBody>
      </p:sp>
      <p:sp>
        <p:nvSpPr>
          <p:cNvPr id="41" name="pl_next"/>
          <p:cNvSpPr txBox="1"/>
          <p:nvPr/>
        </p:nvSpPr>
        <p:spPr>
          <a:xfrm>
            <a:off x="502920" y="6181344"/>
            <a:ext cx="11185855" cy="384048"/>
          </a:xfrm>
          <a:prstGeom prst="rect">
            <a:avLst/>
          </a:prstGeom>
          <a:noFill/>
          <a:ln/>
        </p:spPr>
        <p:txBody>
          <a:bodyPr wrap="square" lIns="0" tIns="0" rIns="0" bIns="0" rtlCol="0" anchor="ctr"/>
          <a:lstStyle/>
          <a:p>
            <a:pPr indent="0" marL="0">
              <a:buNone/>
            </a:pPr>
            <a:r>
              <a:rPr lang="en-US" sz="1300" b="1" i="1" dirty="0">
                <a:solidFill>
                  <a:srgbClr val="F5B301"/>
                </a:solidFill>
                <a:latin typeface="Arial" pitchFamily="34" charset="0"/>
                <a:ea typeface="Arial" pitchFamily="34" charset="-122"/>
                <a:cs typeface="Arial" pitchFamily="34" charset="-120"/>
              </a:rPr>
              <a:t>Next lesson: the energy is gone — so why does the estuary not run out of nitrogen?</a:t>
            </a:r>
            <a:endParaRPr lang="en-US" sz="1300" dirty="0"/>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grpId="0" nodeType="clickEffect">
                                  <p:stCondLst>
                                    <p:cond delay="0"/>
                                  </p:stCondLst>
                                  <p:childTnLst>
                                    <p:set>
                                      <p:cBhvr>
                                        <p:cTn id="3" dur="1" fill="hold">
                                          <p:stCondLst>
                                            <p:cond delay="0"/>
                                          </p:stCondLst>
                                        </p:cTn>
                                        <p:tgtEl>
                                          <p:spTgt spid="42"/>
                                        </p:tgtEl>
                                        <p:attrNameLst>
                                          <p:attrName>style.visibility</p:attrName>
                                        </p:attrNameLst>
                                      </p:cBhvr>
                                      <p:to>
                                        <p:strVal val="visible"/>
                                      </p:to>
                                    </p:set>
                                    <p:animEffect transition="in" filter="fade">
                                      <p:cBhvr>
                                        <p:cTn id="4" dur="500"/>
                                        <p:tgtEl>
                                          <p:spTgt spid="42"/>
                                        </p:tgtEl>
                                      </p:cBhvr>
                                    </p:animEffect>
                                  </p:childTnLst>
                                </p:cTn>
                              </p:par>
                            </p:childTnLst>
                          </p:cTn>
                        </p:par>
                      </p:childTnLst>
                    </p:cTn>
                  </p:par>
                  <p:par>
                    <p:cTn id="15" fill="hold">
                      <p:stCondLst>
                        <p:cond delay="indefinite"/>
                      </p:stCondLst>
                      <p:childTnLst>
                        <p:par>
                          <p:cTn id="16" fill="hold">
                            <p:stCondLst>
                              <p:cond delay="0"/>
                            </p:stCondLst>
                            <p:childTnLst>
                              <p:par>
                                <p:cTn id="11" presetID="23" presetClass="entr" presetSubtype="16" fill="hold" grpId="0" nodeType="click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500"/>
                                        <p:tgtEl>
                                          <p:spTgt spid="23"/>
                                        </p:tgtEl>
                                      </p:cBhvr>
                                    </p:animEffect>
                                    <p:animScale>
                                      <p:cBhvr>
                                        <p:cTn id="10" dur="500" fill="hold"/>
                                        <p:tgtEl>
                                          <p:spTgt spid="23"/>
                                        </p:tgtEl>
                                      </p:cBhvr>
                                      <p:from x="0" y="0"/>
                                      <p:to x="100000" y="100000"/>
                                    </p:animScale>
                                  </p:childTnLst>
                                </p:cTn>
                              </p:par>
                              <p:par>
                                <p:cTn id="14" presetID="10" presetClass="entr" presetSubtype="0" fill="hold" grpId="0" nodeType="withEffect">
                                  <p:stCondLst>
                                    <p:cond delay="22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500"/>
                                        <p:tgtEl>
                                          <p:spTgt spid="24"/>
                                        </p:tgtEl>
                                      </p:cBhvr>
                                    </p:animEffect>
                                  </p:childTnLst>
                                </p:cTn>
                              </p:par>
                            </p:childTnLst>
                          </p:cTn>
                        </p:par>
                      </p:childTnLst>
                    </p:cTn>
                  </p:par>
                  <p:par>
                    <p:cTn id="20" fill="hold">
                      <p:stCondLst>
                        <p:cond delay="indefinite"/>
                      </p:stCondLst>
                      <p:childTnLst>
                        <p:par>
                          <p:cTn id="21" fill="hold">
                            <p:stCondLst>
                              <p:cond delay="0"/>
                            </p:stCondLst>
                            <p:childTnLst>
                              <p:par>
                                <p:cTn id="19" presetID="10" presetClass="entr" presetSubtype="0" fill="hold" grpId="0" nodeType="clickEffect">
                                  <p:stCondLst>
                                    <p:cond delay="0"/>
                                  </p:stCondLst>
                                  <p:childTnLst>
                                    <p:set>
                                      <p:cBhvr>
                                        <p:cTn id="17" dur="1" fill="hold">
                                          <p:stCondLst>
                                            <p:cond delay="0"/>
                                          </p:stCondLst>
                                        </p:cTn>
                                        <p:tgtEl>
                                          <p:spTgt spid="43"/>
                                        </p:tgtEl>
                                        <p:attrNameLst>
                                          <p:attrName>style.visibility</p:attrName>
                                        </p:attrNameLst>
                                      </p:cBhvr>
                                      <p:to>
                                        <p:strVal val="visible"/>
                                      </p:to>
                                    </p:set>
                                    <p:animEffect transition="in" filter="fade">
                                      <p:cBhvr>
                                        <p:cTn id="18" dur="500"/>
                                        <p:tgtEl>
                                          <p:spTgt spid="43"/>
                                        </p:tgtEl>
                                      </p:cBhvr>
                                    </p:animEffect>
                                  </p:childTnLst>
                                </p:cTn>
                              </p:par>
                            </p:childTnLst>
                          </p:cTn>
                        </p:par>
                      </p:childTnLst>
                    </p:cTn>
                  </p:par>
                  <p:par>
                    <p:cTn id="29" fill="hold">
                      <p:stCondLst>
                        <p:cond delay="indefinite"/>
                      </p:stCondLst>
                      <p:childTnLst>
                        <p:par>
                          <p:cTn id="30" fill="hold">
                            <p:stCondLst>
                              <p:cond delay="0"/>
                            </p:stCondLst>
                            <p:childTnLst>
                              <p:par>
                                <p:cTn id="25" presetID="23" presetClass="entr" presetSubtype="16" fill="hold" grpId="0" nodeType="clickEffect">
                                  <p:stCondLst>
                                    <p:cond delay="0"/>
                                  </p:stCondLst>
                                  <p:childTnLst>
                                    <p:set>
                                      <p:cBhvr>
                                        <p:cTn id="22" dur="1" fill="hold">
                                          <p:stCondLst>
                                            <p:cond delay="0"/>
                                          </p:stCondLst>
                                        </p:cTn>
                                        <p:tgtEl>
                                          <p:spTgt spid="27"/>
                                        </p:tgtEl>
                                        <p:attrNameLst>
                                          <p:attrName>style.visibility</p:attrName>
                                        </p:attrNameLst>
                                      </p:cBhvr>
                                      <p:to>
                                        <p:strVal val="visible"/>
                                      </p:to>
                                    </p:set>
                                    <p:animEffect transition="in" filter="fade">
                                      <p:cBhvr>
                                        <p:cTn id="23" dur="500"/>
                                        <p:tgtEl>
                                          <p:spTgt spid="27"/>
                                        </p:tgtEl>
                                      </p:cBhvr>
                                    </p:animEffect>
                                    <p:animScale>
                                      <p:cBhvr>
                                        <p:cTn id="24" dur="500" fill="hold"/>
                                        <p:tgtEl>
                                          <p:spTgt spid="27"/>
                                        </p:tgtEl>
                                      </p:cBhvr>
                                      <p:from x="0" y="0"/>
                                      <p:to x="100000" y="100000"/>
                                    </p:animScale>
                                  </p:childTnLst>
                                </p:cTn>
                              </p:par>
                              <p:par>
                                <p:cTn id="28" presetID="10" presetClass="entr" presetSubtype="0" fill="hold" grpId="0" nodeType="withEffect">
                                  <p:stCondLst>
                                    <p:cond delay="220"/>
                                  </p:stCondLst>
                                  <p:childTnLst>
                                    <p:set>
                                      <p:cBhvr>
                                        <p:cTn id="26" dur="1" fill="hold">
                                          <p:stCondLst>
                                            <p:cond delay="0"/>
                                          </p:stCondLst>
                                        </p:cTn>
                                        <p:tgtEl>
                                          <p:spTgt spid="28"/>
                                        </p:tgtEl>
                                        <p:attrNameLst>
                                          <p:attrName>style.visibility</p:attrName>
                                        </p:attrNameLst>
                                      </p:cBhvr>
                                      <p:to>
                                        <p:strVal val="visible"/>
                                      </p:to>
                                    </p:set>
                                    <p:animEffect transition="in" filter="fade">
                                      <p:cBhvr>
                                        <p:cTn id="27" dur="500"/>
                                        <p:tgtEl>
                                          <p:spTgt spid="28"/>
                                        </p:tgtEl>
                                      </p:cBhvr>
                                    </p:animEffect>
                                  </p:childTnLst>
                                </p:cTn>
                              </p:par>
                            </p:childTnLst>
                          </p:cTn>
                        </p:par>
                      </p:childTnLst>
                    </p:cTn>
                  </p:par>
                  <p:par>
                    <p:cTn id="34" fill="hold">
                      <p:stCondLst>
                        <p:cond delay="indefinite"/>
                      </p:stCondLst>
                      <p:childTnLst>
                        <p:par>
                          <p:cTn id="35" fill="hold">
                            <p:stCondLst>
                              <p:cond delay="0"/>
                            </p:stCondLst>
                            <p:childTnLst>
                              <p:par>
                                <p:cTn id="33" presetID="10" presetClass="entr" presetSubtype="0" fill="hold" grpId="0" nodeType="clickEffect">
                                  <p:stCondLst>
                                    <p:cond delay="0"/>
                                  </p:stCondLst>
                                  <p:childTnLst>
                                    <p:set>
                                      <p:cBhvr>
                                        <p:cTn id="31" dur="1" fill="hold">
                                          <p:stCondLst>
                                            <p:cond delay="0"/>
                                          </p:stCondLst>
                                        </p:cTn>
                                        <p:tgtEl>
                                          <p:spTgt spid="44"/>
                                        </p:tgtEl>
                                        <p:attrNameLst>
                                          <p:attrName>style.visibility</p:attrName>
                                        </p:attrNameLst>
                                      </p:cBhvr>
                                      <p:to>
                                        <p:strVal val="visible"/>
                                      </p:to>
                                    </p:set>
                                    <p:animEffect transition="in" filter="fade">
                                      <p:cBhvr>
                                        <p:cTn id="32" dur="500"/>
                                        <p:tgtEl>
                                          <p:spTgt spid="44"/>
                                        </p:tgtEl>
                                      </p:cBhvr>
                                    </p:animEffect>
                                  </p:childTnLst>
                                </p:cTn>
                              </p:par>
                            </p:childTnLst>
                          </p:cTn>
                        </p:par>
                      </p:childTnLst>
                    </p:cTn>
                  </p:par>
                  <p:par>
                    <p:cTn id="43" fill="hold">
                      <p:stCondLst>
                        <p:cond delay="indefinite"/>
                      </p:stCondLst>
                      <p:childTnLst>
                        <p:par>
                          <p:cTn id="44" fill="hold">
                            <p:stCondLst>
                              <p:cond delay="0"/>
                            </p:stCondLst>
                            <p:childTnLst>
                              <p:par>
                                <p:cTn id="39" presetID="23" presetClass="entr" presetSubtype="16" fill="hold" grpId="0" nodeType="clickEffect">
                                  <p:stCondLst>
                                    <p:cond delay="0"/>
                                  </p:stCondLst>
                                  <p:childTnLst>
                                    <p:set>
                                      <p:cBhvr>
                                        <p:cTn id="36" dur="1" fill="hold">
                                          <p:stCondLst>
                                            <p:cond delay="0"/>
                                          </p:stCondLst>
                                        </p:cTn>
                                        <p:tgtEl>
                                          <p:spTgt spid="31"/>
                                        </p:tgtEl>
                                        <p:attrNameLst>
                                          <p:attrName>style.visibility</p:attrName>
                                        </p:attrNameLst>
                                      </p:cBhvr>
                                      <p:to>
                                        <p:strVal val="visible"/>
                                      </p:to>
                                    </p:set>
                                    <p:animEffect transition="in" filter="fade">
                                      <p:cBhvr>
                                        <p:cTn id="37" dur="500"/>
                                        <p:tgtEl>
                                          <p:spTgt spid="31"/>
                                        </p:tgtEl>
                                      </p:cBhvr>
                                    </p:animEffect>
                                    <p:animScale>
                                      <p:cBhvr>
                                        <p:cTn id="38" dur="500" fill="hold"/>
                                        <p:tgtEl>
                                          <p:spTgt spid="31"/>
                                        </p:tgtEl>
                                      </p:cBhvr>
                                      <p:from x="0" y="0"/>
                                      <p:to x="100000" y="100000"/>
                                    </p:animScale>
                                  </p:childTnLst>
                                </p:cTn>
                              </p:par>
                              <p:par>
                                <p:cTn id="42" presetID="10" presetClass="entr" presetSubtype="0" fill="hold" grpId="0" nodeType="withEffect">
                                  <p:stCondLst>
                                    <p:cond delay="220"/>
                                  </p:stCondLst>
                                  <p:childTnLst>
                                    <p:set>
                                      <p:cBhvr>
                                        <p:cTn id="40" dur="1" fill="hold">
                                          <p:stCondLst>
                                            <p:cond delay="0"/>
                                          </p:stCondLst>
                                        </p:cTn>
                                        <p:tgtEl>
                                          <p:spTgt spid="32"/>
                                        </p:tgtEl>
                                        <p:attrNameLst>
                                          <p:attrName>style.visibility</p:attrName>
                                        </p:attrNameLst>
                                      </p:cBhvr>
                                      <p:to>
                                        <p:strVal val="visible"/>
                                      </p:to>
                                    </p:set>
                                    <p:animEffect transition="in" filter="fade">
                                      <p:cBhvr>
                                        <p:cTn id="41" dur="500"/>
                                        <p:tgtEl>
                                          <p:spTgt spid="32"/>
                                        </p:tgtEl>
                                      </p:cBhvr>
                                    </p:animEffect>
                                  </p:childTnLst>
                                </p:cTn>
                              </p:par>
                            </p:childTnLst>
                          </p:cTn>
                        </p:par>
                      </p:childTnLst>
                    </p:cTn>
                  </p:par>
                  <p:par>
                    <p:cTn id="48" fill="hold">
                      <p:stCondLst>
                        <p:cond delay="indefinite"/>
                      </p:stCondLst>
                      <p:childTnLst>
                        <p:par>
                          <p:cTn id="49" fill="hold">
                            <p:stCondLst>
                              <p:cond delay="0"/>
                            </p:stCondLst>
                            <p:childTnLst>
                              <p:par>
                                <p:cTn id="47" presetID="10" presetClass="entr" presetSubtype="0" fill="hold" grpId="0" nodeType="clickEffect">
                                  <p:stCondLst>
                                    <p:cond delay="0"/>
                                  </p:stCondLst>
                                  <p:childTnLst>
                                    <p:set>
                                      <p:cBhvr>
                                        <p:cTn id="45" dur="1" fill="hold">
                                          <p:stCondLst>
                                            <p:cond delay="0"/>
                                          </p:stCondLst>
                                        </p:cTn>
                                        <p:tgtEl>
                                          <p:spTgt spid="45"/>
                                        </p:tgtEl>
                                        <p:attrNameLst>
                                          <p:attrName>style.visibility</p:attrName>
                                        </p:attrNameLst>
                                      </p:cBhvr>
                                      <p:to>
                                        <p:strVal val="visible"/>
                                      </p:to>
                                    </p:set>
                                    <p:animEffect transition="in" filter="fade">
                                      <p:cBhvr>
                                        <p:cTn id="46" dur="500"/>
                                        <p:tgtEl>
                                          <p:spTgt spid="45"/>
                                        </p:tgtEl>
                                      </p:cBhvr>
                                    </p:animEffect>
                                  </p:childTnLst>
                                </p:cTn>
                              </p:par>
                            </p:childTnLst>
                          </p:cTn>
                        </p:par>
                      </p:childTnLst>
                    </p:cTn>
                  </p:par>
                  <p:par>
                    <p:cTn id="57" fill="hold">
                      <p:stCondLst>
                        <p:cond delay="indefinite"/>
                      </p:stCondLst>
                      <p:childTnLst>
                        <p:par>
                          <p:cTn id="58" fill="hold">
                            <p:stCondLst>
                              <p:cond delay="0"/>
                            </p:stCondLst>
                            <p:childTnLst>
                              <p:par>
                                <p:cTn id="53" presetID="23" presetClass="entr" presetSubtype="16" fill="hold" grpId="0" nodeType="clickEffect">
                                  <p:stCondLst>
                                    <p:cond delay="0"/>
                                  </p:stCondLst>
                                  <p:childTnLst>
                                    <p:set>
                                      <p:cBhvr>
                                        <p:cTn id="50" dur="1" fill="hold">
                                          <p:stCondLst>
                                            <p:cond delay="0"/>
                                          </p:stCondLst>
                                        </p:cTn>
                                        <p:tgtEl>
                                          <p:spTgt spid="35"/>
                                        </p:tgtEl>
                                        <p:attrNameLst>
                                          <p:attrName>style.visibility</p:attrName>
                                        </p:attrNameLst>
                                      </p:cBhvr>
                                      <p:to>
                                        <p:strVal val="visible"/>
                                      </p:to>
                                    </p:set>
                                    <p:animEffect transition="in" filter="fade">
                                      <p:cBhvr>
                                        <p:cTn id="51" dur="500"/>
                                        <p:tgtEl>
                                          <p:spTgt spid="35"/>
                                        </p:tgtEl>
                                      </p:cBhvr>
                                    </p:animEffect>
                                    <p:animScale>
                                      <p:cBhvr>
                                        <p:cTn id="52" dur="500" fill="hold"/>
                                        <p:tgtEl>
                                          <p:spTgt spid="35"/>
                                        </p:tgtEl>
                                      </p:cBhvr>
                                      <p:from x="0" y="0"/>
                                      <p:to x="100000" y="100000"/>
                                    </p:animScale>
                                  </p:childTnLst>
                                </p:cTn>
                              </p:par>
                              <p:par>
                                <p:cTn id="56" presetID="10" presetClass="entr" presetSubtype="0" fill="hold" grpId="0" nodeType="withEffect">
                                  <p:stCondLst>
                                    <p:cond delay="220"/>
                                  </p:stCondLst>
                                  <p:childTnLst>
                                    <p:set>
                                      <p:cBhvr>
                                        <p:cTn id="54" dur="1" fill="hold">
                                          <p:stCondLst>
                                            <p:cond delay="0"/>
                                          </p:stCondLst>
                                        </p:cTn>
                                        <p:tgtEl>
                                          <p:spTgt spid="36"/>
                                        </p:tgtEl>
                                        <p:attrNameLst>
                                          <p:attrName>style.visibility</p:attrName>
                                        </p:attrNameLst>
                                      </p:cBhvr>
                                      <p:to>
                                        <p:strVal val="visible"/>
                                      </p:to>
                                    </p:set>
                                    <p:animEffect transition="in" filter="fade">
                                      <p:cBhvr>
                                        <p:cTn id="55" dur="500"/>
                                        <p:tgtEl>
                                          <p:spTgt spid="36"/>
                                        </p:tgtEl>
                                      </p:cBhvr>
                                    </p:animEffect>
                                  </p:childTnLst>
                                </p:cTn>
                              </p:par>
                            </p:childTnLst>
                          </p:cTn>
                        </p:par>
                      </p:childTnLst>
                    </p:cTn>
                  </p:par>
                  <p:par>
                    <p:cTn id="62" fill="hold">
                      <p:stCondLst>
                        <p:cond delay="indefinite"/>
                      </p:stCondLst>
                      <p:childTnLst>
                        <p:par>
                          <p:cTn id="63" fill="hold">
                            <p:stCondLst>
                              <p:cond delay="0"/>
                            </p:stCondLst>
                            <p:childTnLst>
                              <p:par>
                                <p:cTn id="61" presetID="10" presetClass="entr" presetSubtype="0" fill="hold" grpId="0" nodeType="clickEffect">
                                  <p:stCondLst>
                                    <p:cond delay="0"/>
                                  </p:stCondLst>
                                  <p:childTnLst>
                                    <p:set>
                                      <p:cBhvr>
                                        <p:cTn id="59" dur="1" fill="hold">
                                          <p:stCondLst>
                                            <p:cond delay="0"/>
                                          </p:stCondLst>
                                        </p:cTn>
                                        <p:tgtEl>
                                          <p:spTgt spid="46"/>
                                        </p:tgtEl>
                                        <p:attrNameLst>
                                          <p:attrName>style.visibility</p:attrName>
                                        </p:attrNameLst>
                                      </p:cBhvr>
                                      <p:to>
                                        <p:strVal val="visible"/>
                                      </p:to>
                                    </p:set>
                                    <p:animEffect transition="in" filter="fade">
                                      <p:cBhvr>
                                        <p:cTn id="60" dur="500"/>
                                        <p:tgtEl>
                                          <p:spTgt spid="46"/>
                                        </p:tgtEl>
                                      </p:cBhvr>
                                    </p:animEffect>
                                  </p:childTnLst>
                                </p:cTn>
                              </p:par>
                            </p:childTnLst>
                          </p:cTn>
                        </p:par>
                      </p:childTnLst>
                    </p:cTn>
                  </p:par>
                  <p:par>
                    <p:cTn id="71" fill="hold">
                      <p:stCondLst>
                        <p:cond delay="indefinite"/>
                      </p:stCondLst>
                      <p:childTnLst>
                        <p:par>
                          <p:cTn id="72" fill="hold">
                            <p:stCondLst>
                              <p:cond delay="0"/>
                            </p:stCondLst>
                            <p:childTnLst>
                              <p:par>
                                <p:cTn id="67" presetID="23" presetClass="entr" presetSubtype="16" fill="hold" grpId="0" nodeType="clickEffect">
                                  <p:stCondLst>
                                    <p:cond delay="0"/>
                                  </p:stCondLst>
                                  <p:childTnLst>
                                    <p:set>
                                      <p:cBhvr>
                                        <p:cTn id="64" dur="1" fill="hold">
                                          <p:stCondLst>
                                            <p:cond delay="0"/>
                                          </p:stCondLst>
                                        </p:cTn>
                                        <p:tgtEl>
                                          <p:spTgt spid="39"/>
                                        </p:tgtEl>
                                        <p:attrNameLst>
                                          <p:attrName>style.visibility</p:attrName>
                                        </p:attrNameLst>
                                      </p:cBhvr>
                                      <p:to>
                                        <p:strVal val="visible"/>
                                      </p:to>
                                    </p:set>
                                    <p:animEffect transition="in" filter="fade">
                                      <p:cBhvr>
                                        <p:cTn id="65" dur="500"/>
                                        <p:tgtEl>
                                          <p:spTgt spid="39"/>
                                        </p:tgtEl>
                                      </p:cBhvr>
                                    </p:animEffect>
                                    <p:animScale>
                                      <p:cBhvr>
                                        <p:cTn id="66" dur="500" fill="hold"/>
                                        <p:tgtEl>
                                          <p:spTgt spid="39"/>
                                        </p:tgtEl>
                                      </p:cBhvr>
                                      <p:from x="0" y="0"/>
                                      <p:to x="100000" y="100000"/>
                                    </p:animScale>
                                  </p:childTnLst>
                                </p:cTn>
                              </p:par>
                              <p:par>
                                <p:cTn id="70" presetID="10" presetClass="entr" presetSubtype="0" fill="hold" grpId="0" nodeType="withEffect">
                                  <p:stCondLst>
                                    <p:cond delay="220"/>
                                  </p:stCondLst>
                                  <p:childTnLst>
                                    <p:set>
                                      <p:cBhvr>
                                        <p:cTn id="68" dur="1" fill="hold">
                                          <p:stCondLst>
                                            <p:cond delay="0"/>
                                          </p:stCondLst>
                                        </p:cTn>
                                        <p:tgtEl>
                                          <p:spTgt spid="40"/>
                                        </p:tgtEl>
                                        <p:attrNameLst>
                                          <p:attrName>style.visibility</p:attrName>
                                        </p:attrNameLst>
                                      </p:cBhvr>
                                      <p:to>
                                        <p:strVal val="visible"/>
                                      </p:to>
                                    </p:set>
                                    <p:animEffect transition="in" filter="fade">
                                      <p:cBhvr>
                                        <p:cTn id="69" dur="500"/>
                                        <p:tgtEl>
                                          <p:spTgt spid="40"/>
                                        </p:tgtEl>
                                      </p:cBhvr>
                                    </p:animEffect>
                                  </p:childTnLst>
                                </p:cTn>
                              </p:par>
                            </p:childTnLst>
                          </p:cTn>
                        </p:par>
                      </p:childTnLst>
                    </p:cTn>
                  </p:par>
                  <p:par>
                    <p:cTn id="76" fill="hold">
                      <p:stCondLst>
                        <p:cond delay="indefinite"/>
                      </p:stCondLst>
                      <p:childTnLst>
                        <p:par>
                          <p:cTn id="77" fill="hold">
                            <p:stCondLst>
                              <p:cond delay="0"/>
                            </p:stCondLst>
                            <p:childTnLst>
                              <p:par>
                                <p:cTn id="75" presetID="10" presetClass="entr" presetSubtype="0" fill="hold" grpId="0" nodeType="clickEffect">
                                  <p:stCondLst>
                                    <p:cond delay="0"/>
                                  </p:stCondLst>
                                  <p:childTnLst>
                                    <p:set>
                                      <p:cBhvr>
                                        <p:cTn id="73" dur="1" fill="hold">
                                          <p:stCondLst>
                                            <p:cond delay="0"/>
                                          </p:stCondLst>
                                        </p:cTn>
                                        <p:tgtEl>
                                          <p:spTgt spid="41"/>
                                        </p:tgtEl>
                                        <p:attrNameLst>
                                          <p:attrName>style.visibility</p:attrName>
                                        </p:attrNameLst>
                                      </p:cBhvr>
                                      <p:to>
                                        <p:strVal val="visible"/>
                                      </p:to>
                                    </p:set>
                                    <p:animEffect transition="in" filter="fade">
                                      <p:cBhvr>
                                        <p:cTn id="74"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E3A3F"/>
        </a:solidFill>
      </p:bgPr>
    </p:bg>
    <p:spTree>
      <p:nvGrpSpPr>
        <p:cNvPr id="1" name=""/>
        <p:cNvGrpSpPr/>
        <p:nvPr/>
      </p:nvGrpSpPr>
      <p:grpSpPr>
        <a:xfrm>
          <a:off x="0" y="0"/>
          <a:ext cx="0" cy="0"/>
          <a:chOff x="0" y="0"/>
          <a:chExt cx="0" cy="0"/>
        </a:xfrm>
      </p:grpSpPr>
      <p:sp>
        <p:nvSpPr>
          <p:cNvPr id="2" name="slide_title"/>
          <p:cNvSpPr txBox="1"/>
          <p:nvPr/>
        </p:nvSpPr>
        <p:spPr>
          <a:xfrm>
            <a:off x="502920" y="914400"/>
            <a:ext cx="11185855" cy="658368"/>
          </a:xfrm>
          <a:prstGeom prst="rect">
            <a:avLst/>
          </a:prstGeom>
          <a:noFill/>
          <a:ln/>
        </p:spPr>
        <p:txBody>
          <a:bodyPr wrap="square" lIns="0" tIns="0" rIns="0" bIns="0" rtlCol="0" anchor="ctr"/>
          <a:lstStyle/>
          <a:p>
            <a:pPr algn="l" indent="0" marL="0">
              <a:buNone/>
            </a:pPr>
            <a:r>
              <a:rPr lang="en-US" sz="3000" b="1" dirty="0">
                <a:solidFill>
                  <a:srgbClr val="FAF4E6"/>
                </a:solidFill>
                <a:latin typeface="Georgia" pitchFamily="34" charset="0"/>
                <a:ea typeface="Georgia" pitchFamily="34" charset="-122"/>
                <a:cs typeface="Georgia" pitchFamily="34" charset="-120"/>
              </a:rPr>
              <a:t>Credits and sources</a:t>
            </a:r>
            <a:endParaRPr lang="en-US" sz="3000" dirty="0"/>
          </a:p>
        </p:txBody>
      </p:sp>
      <p:sp>
        <p:nvSpPr>
          <p:cNvPr id="3" name="cred0_a"/>
          <p:cNvSpPr txBox="1"/>
          <p:nvPr/>
        </p:nvSpPr>
        <p:spPr>
          <a:xfrm>
            <a:off x="502920" y="1737360"/>
            <a:ext cx="5760720" cy="292608"/>
          </a:xfrm>
          <a:prstGeom prst="rect">
            <a:avLst/>
          </a:prstGeom>
          <a:noFill/>
          <a:ln/>
        </p:spPr>
        <p:txBody>
          <a:bodyPr wrap="square" lIns="0" tIns="0" rIns="0" bIns="0" rtlCol="0" anchor="ctr"/>
          <a:lstStyle/>
          <a:p>
            <a:pPr indent="0" marL="0">
              <a:buNone/>
            </a:pPr>
            <a:r>
              <a:rPr lang="en-US" sz="1150" b="1" spc="110" kern="0" dirty="0">
                <a:solidFill>
                  <a:srgbClr val="F5B301"/>
                </a:solidFill>
                <a:latin typeface="Arial" pitchFamily="34" charset="0"/>
                <a:ea typeface="Arial" pitchFamily="34" charset="-122"/>
                <a:cs typeface="Arial" pitchFamily="34" charset="-120"/>
              </a:rPr>
              <a:t>IMAGES — all Creative Commons or public domain</a:t>
            </a:r>
            <a:endParaRPr lang="en-US" sz="1150" dirty="0"/>
          </a:p>
        </p:txBody>
      </p:sp>
      <p:sp>
        <p:nvSpPr>
          <p:cNvPr id="4" name="cred1_a"/>
          <p:cNvSpPr txBox="1"/>
          <p:nvPr/>
        </p:nvSpPr>
        <p:spPr>
          <a:xfrm>
            <a:off x="502920" y="2066544"/>
            <a:ext cx="5760720" cy="292608"/>
          </a:xfrm>
          <a:prstGeom prst="rect">
            <a:avLst/>
          </a:prstGeom>
          <a:noFill/>
          <a:ln/>
        </p:spPr>
        <p:txBody>
          <a:bodyPr wrap="square" lIns="0" tIns="0" rIns="0" bIns="0" rtlCol="0" anchor="ctr"/>
          <a:lstStyle/>
          <a:p>
            <a:pPr indent="0" marL="0">
              <a:buNone/>
            </a:pPr>
            <a:r>
              <a:rPr lang="en-US" sz="1200" dirty="0">
                <a:solidFill>
                  <a:srgbClr val="FAF4E6"/>
                </a:solidFill>
                <a:latin typeface="Arial" pitchFamily="34" charset="0"/>
                <a:ea typeface="Arial" pitchFamily="34" charset="-122"/>
                <a:cs typeface="Arial" pitchFamily="34" charset="-120"/>
              </a:rPr>
              <a:t>Fresh pla thu, Rastrelliger brachysoma</a:t>
            </a:r>
            <a:endParaRPr lang="en-US" sz="1200" dirty="0"/>
          </a:p>
        </p:txBody>
      </p:sp>
      <p:sp>
        <p:nvSpPr>
          <p:cNvPr id="5" name="cred1_b"/>
          <p:cNvSpPr txBox="1"/>
          <p:nvPr/>
        </p:nvSpPr>
        <p:spPr>
          <a:xfrm>
            <a:off x="6446520" y="2066544"/>
            <a:ext cx="5242255" cy="292608"/>
          </a:xfrm>
          <a:prstGeom prst="rect">
            <a:avLst/>
          </a:prstGeom>
          <a:noFill/>
          <a:ln/>
        </p:spPr>
        <p:txBody>
          <a:bodyPr wrap="square" lIns="0" tIns="0" rIns="0" bIns="0" rtlCol="0" anchor="ctr"/>
          <a:lstStyle/>
          <a:p>
            <a:pPr indent="0" marL="0">
              <a:buNone/>
            </a:pPr>
            <a:r>
              <a:rPr lang="en-US" sz="1100" dirty="0">
                <a:solidFill>
                  <a:srgbClr val="F0E4C8"/>
                </a:solidFill>
                <a:latin typeface="Arial" pitchFamily="34" charset="0"/>
                <a:ea typeface="Arial" pitchFamily="34" charset="-122"/>
                <a:cs typeface="Arial" pitchFamily="34" charset="-120"/>
              </a:rPr>
              <a:t>Xufanc · CC BY-SA 3.0 · Wikimedia Commons</a:t>
            </a:r>
            <a:endParaRPr lang="en-US" sz="1100" dirty="0"/>
          </a:p>
        </p:txBody>
      </p:sp>
      <p:sp>
        <p:nvSpPr>
          <p:cNvPr id="6" name="cred2_a"/>
          <p:cNvSpPr txBox="1"/>
          <p:nvPr/>
        </p:nvSpPr>
        <p:spPr>
          <a:xfrm>
            <a:off x="502920" y="2395728"/>
            <a:ext cx="5760720" cy="292608"/>
          </a:xfrm>
          <a:prstGeom prst="rect">
            <a:avLst/>
          </a:prstGeom>
          <a:noFill/>
          <a:ln/>
        </p:spPr>
        <p:txBody>
          <a:bodyPr wrap="square" lIns="0" tIns="0" rIns="0" bIns="0" rtlCol="0" anchor="ctr"/>
          <a:lstStyle/>
          <a:p>
            <a:pPr indent="0" marL="0">
              <a:buNone/>
            </a:pPr>
            <a:r>
              <a:rPr lang="en-US" sz="1200" dirty="0">
                <a:solidFill>
                  <a:srgbClr val="FAF4E6"/>
                </a:solidFill>
                <a:latin typeface="Arial" pitchFamily="34" charset="0"/>
                <a:ea typeface="Arial" pitchFamily="34" charset="-122"/>
                <a:cs typeface="Arial" pitchFamily="34" charset="-120"/>
              </a:rPr>
              <a:t>Diatoms through the microscope</a:t>
            </a:r>
            <a:endParaRPr lang="en-US" sz="1200" dirty="0"/>
          </a:p>
        </p:txBody>
      </p:sp>
      <p:sp>
        <p:nvSpPr>
          <p:cNvPr id="7" name="cred2_b"/>
          <p:cNvSpPr txBox="1"/>
          <p:nvPr/>
        </p:nvSpPr>
        <p:spPr>
          <a:xfrm>
            <a:off x="6446520" y="2395728"/>
            <a:ext cx="5242255" cy="292608"/>
          </a:xfrm>
          <a:prstGeom prst="rect">
            <a:avLst/>
          </a:prstGeom>
          <a:noFill/>
          <a:ln/>
        </p:spPr>
        <p:txBody>
          <a:bodyPr wrap="square" lIns="0" tIns="0" rIns="0" bIns="0" rtlCol="0" anchor="ctr"/>
          <a:lstStyle/>
          <a:p>
            <a:pPr indent="0" marL="0">
              <a:buNone/>
            </a:pPr>
            <a:r>
              <a:rPr lang="en-US" sz="1100" dirty="0">
                <a:solidFill>
                  <a:srgbClr val="F0E4C8"/>
                </a:solidFill>
                <a:latin typeface="Arial" pitchFamily="34" charset="0"/>
                <a:ea typeface="Arial" pitchFamily="34" charset="-122"/>
                <a:cs typeface="Arial" pitchFamily="34" charset="-120"/>
              </a:rPr>
              <a:t>Prof. Gordon T. Taylor, Stony Brook University · public domain</a:t>
            </a:r>
            <a:endParaRPr lang="en-US" sz="1100" dirty="0"/>
          </a:p>
        </p:txBody>
      </p:sp>
      <p:sp>
        <p:nvSpPr>
          <p:cNvPr id="8" name="cred3_a"/>
          <p:cNvSpPr txBox="1"/>
          <p:nvPr/>
        </p:nvSpPr>
        <p:spPr>
          <a:xfrm>
            <a:off x="502920" y="2724912"/>
            <a:ext cx="5760720" cy="292608"/>
          </a:xfrm>
          <a:prstGeom prst="rect">
            <a:avLst/>
          </a:prstGeom>
          <a:noFill/>
          <a:ln/>
        </p:spPr>
        <p:txBody>
          <a:bodyPr wrap="square" lIns="0" tIns="0" rIns="0" bIns="0" rtlCol="0" anchor="ctr"/>
          <a:lstStyle/>
          <a:p>
            <a:pPr indent="0" marL="0">
              <a:buNone/>
            </a:pPr>
            <a:r>
              <a:rPr lang="en-US" sz="1200" dirty="0">
                <a:solidFill>
                  <a:srgbClr val="FAF4E6"/>
                </a:solidFill>
                <a:latin typeface="Arial" pitchFamily="34" charset="0"/>
                <a:ea typeface="Arial" pitchFamily="34" charset="-122"/>
                <a:cs typeface="Arial" pitchFamily="34" charset="-120"/>
              </a:rPr>
              <a:t>Live copepods, photographed in Thailand</a:t>
            </a:r>
            <a:endParaRPr lang="en-US" sz="1200" dirty="0"/>
          </a:p>
        </p:txBody>
      </p:sp>
      <p:sp>
        <p:nvSpPr>
          <p:cNvPr id="9" name="cred3_b"/>
          <p:cNvSpPr txBox="1"/>
          <p:nvPr/>
        </p:nvSpPr>
        <p:spPr>
          <a:xfrm>
            <a:off x="6446520" y="2724912"/>
            <a:ext cx="5242255" cy="292608"/>
          </a:xfrm>
          <a:prstGeom prst="rect">
            <a:avLst/>
          </a:prstGeom>
          <a:noFill/>
          <a:ln/>
        </p:spPr>
        <p:txBody>
          <a:bodyPr wrap="square" lIns="0" tIns="0" rIns="0" bIns="0" rtlCol="0" anchor="ctr"/>
          <a:lstStyle/>
          <a:p>
            <a:pPr indent="0" marL="0">
              <a:buNone/>
            </a:pPr>
            <a:r>
              <a:rPr lang="en-US" sz="1100" dirty="0">
                <a:solidFill>
                  <a:srgbClr val="F0E4C8"/>
                </a:solidFill>
                <a:latin typeface="Arial" pitchFamily="34" charset="0"/>
                <a:ea typeface="Arial" pitchFamily="34" charset="-122"/>
                <a:cs typeface="Arial" pitchFamily="34" charset="-120"/>
              </a:rPr>
              <a:t>Lion Pods · CC BY 4.0 · Wikimedia Commons</a:t>
            </a:r>
            <a:endParaRPr lang="en-US" sz="1100" dirty="0"/>
          </a:p>
        </p:txBody>
      </p:sp>
      <p:sp>
        <p:nvSpPr>
          <p:cNvPr id="10" name="cred4_a"/>
          <p:cNvSpPr txBox="1"/>
          <p:nvPr/>
        </p:nvSpPr>
        <p:spPr>
          <a:xfrm>
            <a:off x="502920" y="3054096"/>
            <a:ext cx="5760720" cy="292608"/>
          </a:xfrm>
          <a:prstGeom prst="rect">
            <a:avLst/>
          </a:prstGeom>
          <a:noFill/>
          <a:ln/>
        </p:spPr>
        <p:txBody>
          <a:bodyPr wrap="square" lIns="0" tIns="0" rIns="0" bIns="0" rtlCol="0" anchor="ctr"/>
          <a:lstStyle/>
          <a:p>
            <a:pPr indent="0" marL="0">
              <a:buNone/>
            </a:pPr>
            <a:r>
              <a:rPr lang="en-US" sz="1150" b="1" spc="110" kern="0" dirty="0">
                <a:solidFill>
                  <a:srgbClr val="F5B301"/>
                </a:solidFill>
                <a:latin typeface="Arial" pitchFamily="34" charset="0"/>
                <a:ea typeface="Arial" pitchFamily="34" charset="-122"/>
                <a:cs typeface="Arial" pitchFamily="34" charset="-120"/>
              </a:rPr>
              <a:t>SOURCES</a:t>
            </a:r>
            <a:endParaRPr lang="en-US" sz="1150" dirty="0"/>
          </a:p>
        </p:txBody>
      </p:sp>
      <p:sp>
        <p:nvSpPr>
          <p:cNvPr id="11" name="cred5_a"/>
          <p:cNvSpPr txBox="1"/>
          <p:nvPr/>
        </p:nvSpPr>
        <p:spPr>
          <a:xfrm>
            <a:off x="502920" y="3383280"/>
            <a:ext cx="5760720" cy="292608"/>
          </a:xfrm>
          <a:prstGeom prst="rect">
            <a:avLst/>
          </a:prstGeom>
          <a:noFill/>
          <a:ln/>
        </p:spPr>
        <p:txBody>
          <a:bodyPr wrap="square" lIns="0" tIns="0" rIns="0" bIns="0" rtlCol="0" anchor="ctr"/>
          <a:lstStyle/>
          <a:p>
            <a:pPr indent="0" marL="0">
              <a:buNone/>
            </a:pPr>
            <a:r>
              <a:rPr lang="en-US" sz="1200" dirty="0">
                <a:solidFill>
                  <a:srgbClr val="FAF4E6"/>
                </a:solidFill>
                <a:latin typeface="Arial" pitchFamily="34" charset="0"/>
                <a:ea typeface="Arial" pitchFamily="34" charset="-122"/>
                <a:cs typeface="Arial" pitchFamily="34" charset="-120"/>
              </a:rPr>
              <a:t>Trophic levels: pla thu 2.7, pla kapong 3.8</a:t>
            </a:r>
            <a:endParaRPr lang="en-US" sz="1200" dirty="0"/>
          </a:p>
        </p:txBody>
      </p:sp>
      <p:sp>
        <p:nvSpPr>
          <p:cNvPr id="12" name="cred5_b"/>
          <p:cNvSpPr txBox="1"/>
          <p:nvPr/>
        </p:nvSpPr>
        <p:spPr>
          <a:xfrm>
            <a:off x="6446520" y="3383280"/>
            <a:ext cx="5242255" cy="292608"/>
          </a:xfrm>
          <a:prstGeom prst="rect">
            <a:avLst/>
          </a:prstGeom>
          <a:noFill/>
          <a:ln/>
        </p:spPr>
        <p:txBody>
          <a:bodyPr wrap="square" lIns="0" tIns="0" rIns="0" bIns="0" rtlCol="0" anchor="ctr"/>
          <a:lstStyle/>
          <a:p>
            <a:pPr indent="0" marL="0">
              <a:buNone/>
            </a:pPr>
            <a:r>
              <a:rPr lang="en-US" sz="1100" dirty="0">
                <a:solidFill>
                  <a:srgbClr val="F0E4C8"/>
                </a:solidFill>
                <a:latin typeface="Arial" pitchFamily="34" charset="0"/>
                <a:ea typeface="Arial" pitchFamily="34" charset="-122"/>
                <a:cs typeface="Arial" pitchFamily="34" charset="-120"/>
              </a:rPr>
              <a:t>FishBase, species summaries, based on stomach-content studies</a:t>
            </a:r>
            <a:endParaRPr lang="en-US" sz="1100" dirty="0"/>
          </a:p>
        </p:txBody>
      </p:sp>
      <p:sp>
        <p:nvSpPr>
          <p:cNvPr id="13" name="cred6_a"/>
          <p:cNvSpPr txBox="1"/>
          <p:nvPr/>
        </p:nvSpPr>
        <p:spPr>
          <a:xfrm>
            <a:off x="502920" y="3712464"/>
            <a:ext cx="5760720" cy="292608"/>
          </a:xfrm>
          <a:prstGeom prst="rect">
            <a:avLst/>
          </a:prstGeom>
          <a:noFill/>
          <a:ln/>
        </p:spPr>
        <p:txBody>
          <a:bodyPr wrap="square" lIns="0" tIns="0" rIns="0" bIns="0" rtlCol="0" anchor="ctr"/>
          <a:lstStyle/>
          <a:p>
            <a:pPr indent="0" marL="0">
              <a:buNone/>
            </a:pPr>
            <a:r>
              <a:rPr lang="en-US" sz="1200" dirty="0">
                <a:solidFill>
                  <a:srgbClr val="FAF4E6"/>
                </a:solidFill>
                <a:latin typeface="Arial" pitchFamily="34" charset="0"/>
                <a:ea typeface="Arial" pitchFamily="34" charset="-122"/>
                <a:cs typeface="Arial" pitchFamily="34" charset="-120"/>
              </a:rPr>
              <a:t>Pla thu stomach contents, 541 fish, Pattani Bay</a:t>
            </a:r>
            <a:endParaRPr lang="en-US" sz="1200" dirty="0"/>
          </a:p>
        </p:txBody>
      </p:sp>
      <p:sp>
        <p:nvSpPr>
          <p:cNvPr id="14" name="cred6_b"/>
          <p:cNvSpPr txBox="1"/>
          <p:nvPr/>
        </p:nvSpPr>
        <p:spPr>
          <a:xfrm>
            <a:off x="6446520" y="3712464"/>
            <a:ext cx="5242255" cy="292608"/>
          </a:xfrm>
          <a:prstGeom prst="rect">
            <a:avLst/>
          </a:prstGeom>
          <a:noFill/>
          <a:ln/>
        </p:spPr>
        <p:txBody>
          <a:bodyPr wrap="square" lIns="0" tIns="0" rIns="0" bIns="0" rtlCol="0" anchor="ctr"/>
          <a:lstStyle/>
          <a:p>
            <a:pPr indent="0" marL="0">
              <a:buNone/>
            </a:pPr>
            <a:r>
              <a:rPr lang="en-US" sz="1100" dirty="0">
                <a:solidFill>
                  <a:srgbClr val="F0E4C8"/>
                </a:solidFill>
                <a:latin typeface="Arial" pitchFamily="34" charset="0"/>
                <a:ea typeface="Arial" pitchFamily="34" charset="-122"/>
                <a:cs typeface="Arial" pitchFamily="34" charset="-120"/>
              </a:rPr>
              <a:t>Feeding habits of Rastrelliger brachysoma in a tropical estuary, 2022</a:t>
            </a:r>
            <a:endParaRPr lang="en-US" sz="1100" dirty="0"/>
          </a:p>
        </p:txBody>
      </p:sp>
      <p:sp>
        <p:nvSpPr>
          <p:cNvPr id="15" name="cred7_a"/>
          <p:cNvSpPr txBox="1"/>
          <p:nvPr/>
        </p:nvSpPr>
        <p:spPr>
          <a:xfrm>
            <a:off x="502920" y="4041648"/>
            <a:ext cx="5760720" cy="292608"/>
          </a:xfrm>
          <a:prstGeom prst="rect">
            <a:avLst/>
          </a:prstGeom>
          <a:noFill/>
          <a:ln/>
        </p:spPr>
        <p:txBody>
          <a:bodyPr wrap="square" lIns="0" tIns="0" rIns="0" bIns="0" rtlCol="0" anchor="ctr"/>
          <a:lstStyle/>
          <a:p>
            <a:pPr indent="0" marL="0">
              <a:buNone/>
            </a:pPr>
            <a:r>
              <a:rPr lang="en-US" sz="1200" dirty="0">
                <a:solidFill>
                  <a:srgbClr val="FAF4E6"/>
                </a:solidFill>
                <a:latin typeface="Arial" pitchFamily="34" charset="0"/>
                <a:ea typeface="Arial" pitchFamily="34" charset="-122"/>
                <a:cs typeface="Arial" pitchFamily="34" charset="-120"/>
              </a:rPr>
              <a:t>Gulf trawl survey CPUE, 1961 to the 1990s</a:t>
            </a:r>
            <a:endParaRPr lang="en-US" sz="1200" dirty="0"/>
          </a:p>
        </p:txBody>
      </p:sp>
      <p:sp>
        <p:nvSpPr>
          <p:cNvPr id="16" name="cred7_b"/>
          <p:cNvSpPr txBox="1"/>
          <p:nvPr/>
        </p:nvSpPr>
        <p:spPr>
          <a:xfrm>
            <a:off x="6446520" y="4041648"/>
            <a:ext cx="5242255" cy="292608"/>
          </a:xfrm>
          <a:prstGeom prst="rect">
            <a:avLst/>
          </a:prstGeom>
          <a:noFill/>
          <a:ln/>
        </p:spPr>
        <p:txBody>
          <a:bodyPr wrap="square" lIns="0" tIns="0" rIns="0" bIns="0" rtlCol="0" anchor="ctr"/>
          <a:lstStyle/>
          <a:p>
            <a:pPr indent="0" marL="0">
              <a:buNone/>
            </a:pPr>
            <a:r>
              <a:rPr lang="en-US" sz="1100" dirty="0">
                <a:solidFill>
                  <a:srgbClr val="F0E4C8"/>
                </a:solidFill>
                <a:latin typeface="Arial" pitchFamily="34" charset="0"/>
                <a:ea typeface="Arial" pitchFamily="34" charset="-122"/>
                <a:cs typeface="Arial" pitchFamily="34" charset="-120"/>
              </a:rPr>
              <a:t>Thai Dept. of Fisheries surveys, via Frontiers in Marine Science, 2017</a:t>
            </a:r>
            <a:endParaRPr lang="en-US" sz="1100" dirty="0"/>
          </a:p>
        </p:txBody>
      </p:sp>
      <p:sp>
        <p:nvSpPr>
          <p:cNvPr id="17" name="cred8_a"/>
          <p:cNvSpPr txBox="1"/>
          <p:nvPr/>
        </p:nvSpPr>
        <p:spPr>
          <a:xfrm>
            <a:off x="502920" y="4370832"/>
            <a:ext cx="5760720" cy="292608"/>
          </a:xfrm>
          <a:prstGeom prst="rect">
            <a:avLst/>
          </a:prstGeom>
          <a:noFill/>
          <a:ln/>
        </p:spPr>
        <p:txBody>
          <a:bodyPr wrap="square" lIns="0" tIns="0" rIns="0" bIns="0" rtlCol="0" anchor="ctr"/>
          <a:lstStyle/>
          <a:p>
            <a:pPr indent="0" marL="0">
              <a:buNone/>
            </a:pPr>
            <a:r>
              <a:rPr lang="en-US" sz="1200" dirty="0">
                <a:solidFill>
                  <a:srgbClr val="FAF4E6"/>
                </a:solidFill>
                <a:latin typeface="Arial" pitchFamily="34" charset="0"/>
                <a:ea typeface="Arial" pitchFamily="34" charset="-122"/>
                <a:cs typeface="Arial" pitchFamily="34" charset="-120"/>
              </a:rPr>
              <a:t>Trawlable biomass 1961–95</a:t>
            </a:r>
            <a:endParaRPr lang="en-US" sz="1200" dirty="0"/>
          </a:p>
        </p:txBody>
      </p:sp>
      <p:sp>
        <p:nvSpPr>
          <p:cNvPr id="18" name="cred8_b"/>
          <p:cNvSpPr txBox="1"/>
          <p:nvPr/>
        </p:nvSpPr>
        <p:spPr>
          <a:xfrm>
            <a:off x="6446520" y="4370832"/>
            <a:ext cx="5242255" cy="292608"/>
          </a:xfrm>
          <a:prstGeom prst="rect">
            <a:avLst/>
          </a:prstGeom>
          <a:noFill/>
          <a:ln/>
        </p:spPr>
        <p:txBody>
          <a:bodyPr wrap="square" lIns="0" tIns="0" rIns="0" bIns="0" rtlCol="0" anchor="ctr"/>
          <a:lstStyle/>
          <a:p>
            <a:pPr indent="0" marL="0">
              <a:buNone/>
            </a:pPr>
            <a:r>
              <a:rPr lang="en-US" sz="1100" dirty="0">
                <a:solidFill>
                  <a:srgbClr val="F0E4C8"/>
                </a:solidFill>
                <a:latin typeface="Arial" pitchFamily="34" charset="0"/>
                <a:ea typeface="Arial" pitchFamily="34" charset="-122"/>
                <a:cs typeface="Arial" pitchFamily="34" charset="-120"/>
              </a:rPr>
              <a:t>Status of demersal fishery resources in the Gulf of Thailand, WorldFish</a:t>
            </a:r>
            <a:endParaRPr lang="en-US" sz="1100" dirty="0"/>
          </a:p>
        </p:txBody>
      </p:sp>
      <p:sp>
        <p:nvSpPr>
          <p:cNvPr id="19" name="cred9_a"/>
          <p:cNvSpPr txBox="1"/>
          <p:nvPr/>
        </p:nvSpPr>
        <p:spPr>
          <a:xfrm>
            <a:off x="502920" y="4700016"/>
            <a:ext cx="5760720" cy="292608"/>
          </a:xfrm>
          <a:prstGeom prst="rect">
            <a:avLst/>
          </a:prstGeom>
          <a:noFill/>
          <a:ln/>
        </p:spPr>
        <p:txBody>
          <a:bodyPr wrap="square" lIns="0" tIns="0" rIns="0" bIns="0" rtlCol="0" anchor="ctr"/>
          <a:lstStyle/>
          <a:p>
            <a:pPr indent="0" marL="0">
              <a:buNone/>
            </a:pPr>
            <a:r>
              <a:rPr lang="en-US" sz="1200" dirty="0">
                <a:solidFill>
                  <a:srgbClr val="FAF4E6"/>
                </a:solidFill>
                <a:latin typeface="Arial" pitchFamily="34" charset="0"/>
                <a:ea typeface="Arial" pitchFamily="34" charset="-122"/>
                <a:cs typeface="Arial" pitchFamily="34" charset="-120"/>
              </a:rPr>
              <a:t>Seasonal closure and 2020 yields</a:t>
            </a:r>
            <a:endParaRPr lang="en-US" sz="1200" dirty="0"/>
          </a:p>
        </p:txBody>
      </p:sp>
      <p:sp>
        <p:nvSpPr>
          <p:cNvPr id="20" name="cred9_b"/>
          <p:cNvSpPr txBox="1"/>
          <p:nvPr/>
        </p:nvSpPr>
        <p:spPr>
          <a:xfrm>
            <a:off x="6446520" y="4700016"/>
            <a:ext cx="5242255" cy="292608"/>
          </a:xfrm>
          <a:prstGeom prst="rect">
            <a:avLst/>
          </a:prstGeom>
          <a:noFill/>
          <a:ln/>
        </p:spPr>
        <p:txBody>
          <a:bodyPr wrap="square" lIns="0" tIns="0" rIns="0" bIns="0" rtlCol="0" anchor="ctr"/>
          <a:lstStyle/>
          <a:p>
            <a:pPr indent="0" marL="0">
              <a:buNone/>
            </a:pPr>
            <a:r>
              <a:rPr lang="en-US" sz="1100" dirty="0">
                <a:solidFill>
                  <a:srgbClr val="F0E4C8"/>
                </a:solidFill>
                <a:latin typeface="Arial" pitchFamily="34" charset="0"/>
                <a:ea typeface="Arial" pitchFamily="34" charset="-122"/>
                <a:cs typeface="Arial" pitchFamily="34" charset="-120"/>
              </a:rPr>
              <a:t>Bangkok Post, 12 June 2020, quoting Bancha Sukkaew, Dept. of Fisheries</a:t>
            </a:r>
            <a:endParaRPr lang="en-US" sz="1100" dirty="0"/>
          </a:p>
        </p:txBody>
      </p:sp>
      <p:sp>
        <p:nvSpPr>
          <p:cNvPr id="21" name="cred10_a"/>
          <p:cNvSpPr txBox="1"/>
          <p:nvPr/>
        </p:nvSpPr>
        <p:spPr>
          <a:xfrm>
            <a:off x="502920" y="5029200"/>
            <a:ext cx="5760720" cy="292608"/>
          </a:xfrm>
          <a:prstGeom prst="rect">
            <a:avLst/>
          </a:prstGeom>
          <a:noFill/>
          <a:ln/>
        </p:spPr>
        <p:txBody>
          <a:bodyPr wrap="square" lIns="0" tIns="0" rIns="0" bIns="0" rtlCol="0" anchor="ctr"/>
          <a:lstStyle/>
          <a:p>
            <a:pPr indent="0" marL="0">
              <a:buNone/>
            </a:pPr>
            <a:r>
              <a:rPr lang="en-US" sz="1200" dirty="0">
                <a:solidFill>
                  <a:srgbClr val="FAF4E6"/>
                </a:solidFill>
                <a:latin typeface="Arial" pitchFamily="34" charset="0"/>
                <a:ea typeface="Arial" pitchFamily="34" charset="-122"/>
                <a:cs typeface="Arial" pitchFamily="34" charset="-120"/>
              </a:rPr>
              <a:t>Mangrove crab feeding ecology</a:t>
            </a:r>
            <a:endParaRPr lang="en-US" sz="1200" dirty="0"/>
          </a:p>
        </p:txBody>
      </p:sp>
      <p:sp>
        <p:nvSpPr>
          <p:cNvPr id="22" name="cred10_b"/>
          <p:cNvSpPr txBox="1"/>
          <p:nvPr/>
        </p:nvSpPr>
        <p:spPr>
          <a:xfrm>
            <a:off x="6446520" y="5029200"/>
            <a:ext cx="5242255" cy="292608"/>
          </a:xfrm>
          <a:prstGeom prst="rect">
            <a:avLst/>
          </a:prstGeom>
          <a:noFill/>
          <a:ln/>
        </p:spPr>
        <p:txBody>
          <a:bodyPr wrap="square" lIns="0" tIns="0" rIns="0" bIns="0" rtlCol="0" anchor="ctr"/>
          <a:lstStyle/>
          <a:p>
            <a:pPr indent="0" marL="0">
              <a:buNone/>
            </a:pPr>
            <a:r>
              <a:rPr lang="en-US" sz="1100" dirty="0">
                <a:solidFill>
                  <a:srgbClr val="F0E4C8"/>
                </a:solidFill>
                <a:latin typeface="Arial" pitchFamily="34" charset="0"/>
                <a:ea typeface="Arial" pitchFamily="34" charset="-122"/>
                <a:cs typeface="Arial" pitchFamily="34" charset="-120"/>
              </a:rPr>
              <a:t>Sesarmid leaf consumption and Scylla serrata predation, peer-reviewed literature</a:t>
            </a:r>
            <a:endParaRPr lang="en-US" sz="1100" dirty="0"/>
          </a:p>
        </p:txBody>
      </p:sp>
      <p:sp>
        <p:nvSpPr>
          <p:cNvPr id="23" name="cred11_a"/>
          <p:cNvSpPr txBox="1"/>
          <p:nvPr/>
        </p:nvSpPr>
        <p:spPr>
          <a:xfrm>
            <a:off x="502920" y="5358384"/>
            <a:ext cx="5760720" cy="292608"/>
          </a:xfrm>
          <a:prstGeom prst="rect">
            <a:avLst/>
          </a:prstGeom>
          <a:noFill/>
          <a:ln/>
        </p:spPr>
        <p:txBody>
          <a:bodyPr wrap="square" lIns="0" tIns="0" rIns="0" bIns="0" rtlCol="0" anchor="ctr"/>
          <a:lstStyle/>
          <a:p>
            <a:pPr indent="0" marL="0">
              <a:buNone/>
            </a:pPr>
            <a:r>
              <a:rPr lang="en-US" sz="1200" dirty="0">
                <a:solidFill>
                  <a:srgbClr val="FAF4E6"/>
                </a:solidFill>
                <a:latin typeface="Arial" pitchFamily="34" charset="0"/>
                <a:ea typeface="Arial" pitchFamily="34" charset="-122"/>
                <a:cs typeface="Arial" pitchFamily="34" charset="-120"/>
              </a:rPr>
              <a:t>Objectives and vocabulary</a:t>
            </a:r>
            <a:endParaRPr lang="en-US" sz="1200" dirty="0"/>
          </a:p>
        </p:txBody>
      </p:sp>
      <p:sp>
        <p:nvSpPr>
          <p:cNvPr id="24" name="cred11_b"/>
          <p:cNvSpPr txBox="1"/>
          <p:nvPr/>
        </p:nvSpPr>
        <p:spPr>
          <a:xfrm>
            <a:off x="6446520" y="5358384"/>
            <a:ext cx="5242255" cy="292608"/>
          </a:xfrm>
          <a:prstGeom prst="rect">
            <a:avLst/>
          </a:prstGeom>
          <a:noFill/>
          <a:ln/>
        </p:spPr>
        <p:txBody>
          <a:bodyPr wrap="square" lIns="0" tIns="0" rIns="0" bIns="0" rtlCol="0" anchor="ctr"/>
          <a:lstStyle/>
          <a:p>
            <a:pPr indent="0" marL="0">
              <a:buNone/>
            </a:pPr>
            <a:r>
              <a:rPr lang="en-US" sz="1100" dirty="0">
                <a:solidFill>
                  <a:srgbClr val="F0E4C8"/>
                </a:solidFill>
                <a:latin typeface="Arial" pitchFamily="34" charset="0"/>
                <a:ea typeface="Arial" pitchFamily="34" charset="-122"/>
                <a:cs typeface="Arial" pitchFamily="34" charset="-120"/>
              </a:rPr>
              <a:t>CK-12 Lesson 19.2 · GIS KS3 SoW, Y9 Term 1.1 Unit 2</a:t>
            </a:r>
            <a:endParaRPr lang="en-US" sz="1100" dirty="0"/>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Y9 Science — Follow the energy</dc:title>
  <dc:subject>Y9 Term 1.1 Unit 2, Lesson 2 of 3</dc:subject>
  <dc:creator>Chuka</dc:creator>
  <cp:lastModifiedBy>Chuka</cp:lastModifiedBy>
  <cp:revision>1</cp:revision>
  <dcterms:created xsi:type="dcterms:W3CDTF">2026-09-12T16:59:22Z</dcterms:created>
  <dcterms:modified xsi:type="dcterms:W3CDTF">2026-09-12T16:59:22Z</dcterms:modified>
</cp:coreProperties>
</file>