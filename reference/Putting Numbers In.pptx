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media/media5.mp4" ContentType="video/unknown"/>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media6.mp4" ContentType="video/unknown"/>
  <Override PartName="/ppt/notesSlides/notesSlide9.xml" ContentType="application/vnd.openxmlformats-officedocument.presentationml.notesSlide+xml"/>
  <Override PartName="/ppt/media/media7.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 name="Shape 63"/>
          <p:cNvSpPr/>
          <p:nvPr>
            <p:ph type="sldImg"/>
          </p:nvPr>
        </p:nvSpPr>
        <p:spPr>
          <a:prstGeom prst="rect">
            <a:avLst/>
          </a:prstGeom>
        </p:spPr>
        <p:txBody>
          <a:bodyPr/>
          <a:lstStyle/>
          <a:p>
            <a:pPr/>
          </a:p>
        </p:txBody>
      </p:sp>
      <p:sp>
        <p:nvSpPr>
          <p:cNvPr id="64" name="Shape 64"/>
          <p:cNvSpPr/>
          <p:nvPr>
            <p:ph type="body" sz="quarter" idx="1"/>
          </p:nvPr>
        </p:nvSpPr>
        <p:spPr>
          <a:prstGeom prst="rect">
            <a:avLst/>
          </a:prstGeom>
        </p:spPr>
        <p:txBody>
          <a:bodyPr/>
          <a:lstStyle/>
          <a:p>
            <a:pPr/>
            <a:r>
              <a:t>DO NOW. 5 minutes, as in Expand and Simplify. Six clicks, one answer each.</a:t>
            </a:r>
          </a:p>
          <a:p>
            <a:pPr/>
          </a:p>
          <a:p>
            <a:pPr/>
            <a:r>
              <a:t>I READ reference/Expand and Simplify.pptx. That lesson ran 50 minutes and taught expanding, collecting and a minus in front of a bracket. The Do Now here is NEW QUESTIONS, not those ones again, and it is all positive numbers and no fractions, as you asked.</a:t>
            </a:r>
          </a:p>
          <a:p>
            <a:pPr/>
          </a:p>
          <a:p>
            <a:pPr/>
            <a:r>
              <a:t>Q1 AND Q5 ARE THE BRACKET SKILL THAT THEY FOUND HARD: multiply each term by the number outside. Q1 is easy. Q5 puts a number in front of the letter inside, 2(3k + 5), so 2 × 3k = 6k and 2 × 5 = 10. Expect 6k + 5 from the ones who stop after the first term. Do not fix it by telling them: say "check again, does the 2 reach both terms?"</a:t>
            </a:r>
          </a:p>
          <a:p>
            <a:pPr/>
          </a:p>
          <a:p>
            <a:pPr/>
            <a:r>
              <a:t>Q3 AND Q4 ARE PLAIN NUMBER ARITHMETIC, chosen on purpose. Q3 is 3 + 4 × 5 = 23, and 35 is the wrong answer from adding first. Q4 has the brackets first. Both are the order of operations that today runs on, with no letters to hide behind.</a:t>
            </a:r>
          </a:p>
          <a:p>
            <a:pPr/>
          </a:p>
          <a:p>
            <a:pPr/>
            <a:r>
              <a:t>Q2 IS COLLECTING LIKE TERMS, lesson 1. Q6 IS PLANTED: 5y means 5 × y. Expect "5 plus y" from some. Say that no sign between a number and a letter means times. The idea that a number next to a letter is multiplication is the first thing today teaches.</a:t>
            </a:r>
          </a:p>
          <a:p>
            <a:pPr/>
          </a:p>
          <a:p>
            <a:pPr/>
            <a:r>
              <a:t>THE BRIEF SAYS THIS IS THE FIRST TIME THEY PUT A NUMBER IN. The last lesson did teach a substitution check (put x = 2 into both sides), so they have done it as a check. Today it is a skill in its own right, and you can say "you did this last week as a check, today it is the whole lesson".</a:t>
            </a:r>
          </a:p>
          <a:p>
            <a:pPr/>
          </a:p>
          <a:p>
            <a:pPr/>
            <a:r>
              <a:t>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Shape 89"/>
          <p:cNvSpPr/>
          <p:nvPr>
            <p:ph type="sldImg"/>
          </p:nvPr>
        </p:nvSpPr>
        <p:spPr>
          <a:prstGeom prst="rect">
            <a:avLst/>
          </a:prstGeom>
        </p:spPr>
        <p:txBody>
          <a:bodyPr/>
          <a:lstStyle/>
          <a:p>
            <a:pPr/>
          </a:p>
        </p:txBody>
      </p:sp>
      <p:sp>
        <p:nvSpPr>
          <p:cNvPr id="90" name="Shape 90"/>
          <p:cNvSpPr/>
          <p:nvPr>
            <p:ph type="body" sz="quarter" idx="1"/>
          </p:nvPr>
        </p:nvSpPr>
        <p:spPr>
          <a:prstGeom prst="rect">
            <a:avLst/>
          </a:prstGeom>
        </p:spPr>
        <p:txBody>
          <a:bodyPr/>
          <a:lstStyle/>
          <a:p>
            <a:pPr/>
            <a:r>
              <a:t>TODAY. 1 minute. Four clicks.</a:t>
            </a:r>
          </a:p>
          <a:p>
            <a:pPr/>
          </a:p>
          <a:p>
            <a:pPr/>
            <a:r>
              <a:t>THE OBJECTIVES ARE YOUR WORDING. "Positive integer" is on the slide because that is what the objective says, and it is what you asked for. Do not say "negative" or "fraction" out loud today: there is plenty to go wrong without them.</a:t>
            </a:r>
          </a:p>
          <a:p>
            <a:pPr/>
          </a:p>
          <a:p>
            <a:pPr/>
            <a:r>
              <a:t>"SUBSTITUTE" IS THE NEW WORD. Say it means swap: "swap the letter for the number." It is the only new vocabulary in the lesson.</a:t>
            </a:r>
          </a:p>
          <a:p>
            <a:pPr/>
          </a:p>
          <a:p>
            <a:pPr/>
            <a:r>
              <a:t>THE BANNER IS THE WHOLE LESSON. Formula, number in, work it out.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Shape 110"/>
          <p:cNvSpPr/>
          <p:nvPr>
            <p:ph type="sldImg"/>
          </p:nvPr>
        </p:nvSpPr>
        <p:spPr>
          <a:prstGeom prst="rect">
            <a:avLst/>
          </a:prstGeom>
        </p:spPr>
        <p:txBody>
          <a:bodyPr/>
          <a:lstStyle/>
          <a:p>
            <a:pPr/>
          </a:p>
        </p:txBody>
      </p:sp>
      <p:sp>
        <p:nvSpPr>
          <p:cNvPr id="111" name="Shape 111"/>
          <p:cNvSpPr/>
          <p:nvPr>
            <p:ph type="body" sz="quarter" idx="1"/>
          </p:nvPr>
        </p:nvSpPr>
        <p:spPr>
          <a:prstGeom prst="rect">
            <a:avLst/>
          </a:prstGeom>
        </p:spPr>
        <p:txBody>
          <a:bodyPr/>
          <a:lstStyle/>
          <a:p>
            <a:pPr/>
            <a:r>
              <a:t>HOOK. 2 minutes. Two clicks: the question, then the three options together.</a:t>
            </a:r>
          </a:p>
          <a:p>
            <a:pPr/>
          </a:p>
          <a:p>
            <a:pPr/>
            <a:r>
              <a:t>Take the vote and tally it on the board. Do not settle it. The Plenary settles it.</a:t>
            </a:r>
          </a:p>
          <a:p>
            <a:pPr/>
          </a:p>
          <a:p>
            <a:pPr/>
            <a:r>
              <a:t>ANSWER, FOR YOU: A. £5 + 3 × 4 = 5 + 12 = £17. B is £32, from (5 + 3) × 4: adding the £5 and the £3 first, then multiplying. C is £12, from forgetting the £5. B is the order-of-operations error and C is the "only did part of it" error. Both come back.</a:t>
            </a:r>
          </a:p>
          <a:p>
            <a:pPr/>
          </a:p>
          <a:p>
            <a:pPr/>
            <a:r>
              <a:t>THIS IS A TWO-STEP FORMULA IN WORDS. Cost = 3 × (number of km) + 5. Do not write it as a formula yet: the I Do slides do that.</a:t>
            </a:r>
          </a:p>
          <a:p>
            <a:pPr/>
          </a:p>
          <a:p>
            <a:pPr/>
            <a:r>
              <a:t>THE VOTE WILL SPLIT BETWEEN A AND B. That is useful. Ask a B voter to say what they did.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Shape 137"/>
          <p:cNvSpPr/>
          <p:nvPr>
            <p:ph type="sldImg"/>
          </p:nvPr>
        </p:nvSpPr>
        <p:spPr>
          <a:prstGeom prst="rect">
            <a:avLst/>
          </a:prstGeom>
        </p:spPr>
        <p:txBody>
          <a:bodyPr/>
          <a:lstStyle/>
          <a:p>
            <a:pPr/>
          </a:p>
        </p:txBody>
      </p:sp>
      <p:sp>
        <p:nvSpPr>
          <p:cNvPr id="138" name="Shape 138"/>
          <p:cNvSpPr/>
          <p:nvPr>
            <p:ph type="body" sz="quarter" idx="1"/>
          </p:nvPr>
        </p:nvSpPr>
        <p:spPr>
          <a:prstGeom prst="rect">
            <a:avLst/>
          </a:prstGeom>
        </p:spPr>
        <p:txBody>
          <a:bodyPr/>
          <a:lstStyle/>
          <a:p>
            <a:pPr/>
            <a:r>
              <a:t>I DO. 6 minutes. Nine clicks: each line of working for the first example, each line for the second, then the two warnings. The machine on the right plays by itself when the slide opens.</a:t>
            </a:r>
          </a:p>
          <a:p>
            <a:pPr/>
          </a:p>
          <a:p>
            <a:pPr/>
            <a:r>
              <a:t>THE MACHINE (10 seconds). It shows the rule 3n + 2 working for n = 1, 2, 3 and 4: each number goes through "× 3" first and then "+ 2", and the answers build up along the bottom: 5, 8, 11, 14. It shows what words cannot: the same rule, in the same order, works for any number. Let it run while you read the title, then say "a formula is a machine, and today we put numbers in". You can click the video to play it again.</a:t>
            </a:r>
          </a:p>
          <a:p>
            <a:pPr/>
          </a:p>
          <a:p>
            <a:pPr/>
            <a:r>
              <a:t>EXAMPLE 1, 4n WHEN n = 3. Write 4n as 4 × n first, then swap: 4 × 3 = 12. The put-in number is brick red on the slide so the swap is visible. THE MISTAKE TO NAME: 43. A number next to a letter is multiplication, and there is nothing to join. That is the Do Now Q6.</a:t>
            </a:r>
          </a:p>
          <a:p>
            <a:pPr/>
          </a:p>
          <a:p>
            <a:pPr/>
            <a:r>
              <a:t>EXAMPLE 2, 3n + 2 WHEN n = 4. Write out the multiplication, swap, then do the multiplication BEFORE the addition: 12 + 2 = 14. Say it as "multiply before you add" every time. The wrong answer, 20, comes from (3 + 2) × 4, adding first. It is also the taxi question B from the Hook, so point at the tally.</a:t>
            </a:r>
          </a:p>
          <a:p>
            <a:pPr/>
          </a:p>
          <a:p>
            <a:pPr/>
            <a:r>
              <a:t>MODEL A THIRD ON THE BOARD in the same layout, with new numbers: 5n + 1 when n = 6 gives 5 × 6 + 1 = 31. Keep the colours, and make them say the three steps: write the multiplication, swap, work it out.</a:t>
            </a:r>
          </a:p>
          <a:p>
            <a:pPr/>
          </a:p>
          <a:p>
            <a:pPr/>
            <a:r>
              <a:t>IF THEY ARE QUICK: ask for 2 + 3n when n = 4. The plus comes first on the page, but the multiplication still comes first in the working: 2 + 12 = 14.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Shape 170"/>
          <p:cNvSpPr/>
          <p:nvPr>
            <p:ph type="sldImg"/>
          </p:nvPr>
        </p:nvSpPr>
        <p:spPr>
          <a:prstGeom prst="rect">
            <a:avLst/>
          </a:prstGeom>
        </p:spPr>
        <p:txBody>
          <a:bodyPr/>
          <a:lstStyle/>
          <a:p>
            <a:pPr/>
          </a:p>
        </p:txBody>
      </p:sp>
      <p:sp>
        <p:nvSpPr>
          <p:cNvPr id="171" name="Shape 171"/>
          <p:cNvSpPr/>
          <p:nvPr>
            <p:ph type="body" sz="quarter" idx="1"/>
          </p:nvPr>
        </p:nvSpPr>
        <p:spPr>
          <a:prstGeom prst="rect">
            <a:avLst/>
          </a:prstGeom>
        </p:spPr>
        <p:txBody>
          <a:bodyPr/>
          <a:lstStyle/>
          <a:p>
            <a:pPr/>
            <a:r>
              <a:t>I DO. 6 minutes. Twelve clicks: each line of the bracket example, each line of the two-letter example, the check, then the three warnings.</a:t>
            </a:r>
          </a:p>
          <a:p>
            <a:pPr/>
          </a:p>
          <a:p>
            <a:pPr/>
            <a:r>
              <a:t>THE BRACKET EXAMPLE IS THE ONE THEY FOUND HARD. 2(n + 3) with n = 4. Swap first: 2 × (4 + 3). Then the brackets: 2 × 7 = 14. The 2 multiplies the WHOLE bracket, which is the same idea as expanding 2(n + 3) = 2n + 6, and the wrong answer, 11, comes from 2 × 4 + 3, where the 2 only reached the first term. That is exactly the mistake from Expand and Simplify, so say so: "same mistake, new lesson".</a:t>
            </a:r>
          </a:p>
          <a:p>
            <a:pPr/>
          </a:p>
          <a:p>
            <a:pPr/>
            <a:r>
              <a:t>THE CHECK LINE IS LAST LESSON, USED. Expand 2(n + 3) to get 2n + 6, then put n = 4 into that: 2 × 4 + 6 = 8 + 6 = 14. Both routes give 14. It is the substitution check from Expand and Simplify, and it now has a purpose: two different methods that agree.</a:t>
            </a:r>
          </a:p>
          <a:p>
            <a:pPr/>
          </a:p>
          <a:p>
            <a:pPr/>
            <a:r>
              <a:t>THE TWO-LETTER EXAMPLE IS OBJECTIVE 3. 3a + 2b with a = 5 and b = 4: 3 × 5 + 2 × 4 = 15 + 8 = 23. Each letter gets its own number, and it is easy to swap them: 3 × 4 + 2 × 5 = 22. If the letters are the wrong way round, you get a different answer, so it is worth writing the values next to the letters first: a = 5, b = 4.</a:t>
            </a:r>
          </a:p>
          <a:p>
            <a:pPr/>
          </a:p>
          <a:p>
            <a:pPr/>
            <a:r>
              <a:t>"ab" MEANS a × b. If a = 2 and b = 3, ab is 6, and 23 is the joined-up mistake from the first I Do, back again with two letters.</a:t>
            </a:r>
          </a:p>
          <a:p>
            <a:pPr/>
          </a:p>
          <a:p>
            <a:pPr/>
            <a:r>
              <a:t>MODEL A SECOND BRACKET on the board: 3(n + 1) when n = 5. 3 × (5 + 1) = 3 × 6 = 18. Check by expanding: 3n + 3, so 15 + 3 = 18.</a:t>
            </a:r>
          </a:p>
          <a:p>
            <a:pPr/>
          </a:p>
          <a:p>
            <a:pPr/>
            <a:r>
              <a:t>IF THE ROOM IS STRUGGLING WITH BRACKETS, stop here and do three more together. The Cold Call can be cut down to Q1 to Q4.</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Shape 199"/>
          <p:cNvSpPr/>
          <p:nvPr>
            <p:ph type="sldImg"/>
          </p:nvPr>
        </p:nvSpPr>
        <p:spPr>
          <a:prstGeom prst="rect">
            <a:avLst/>
          </a:prstGeom>
        </p:spPr>
        <p:txBody>
          <a:bodyPr/>
          <a:lstStyle/>
          <a:p>
            <a:pPr/>
          </a:p>
        </p:txBody>
      </p:sp>
      <p:sp>
        <p:nvSpPr>
          <p:cNvPr id="200" name="Shape 200"/>
          <p:cNvSpPr/>
          <p:nvPr>
            <p:ph type="body" sz="quarter" idx="1"/>
          </p:nvPr>
        </p:nvSpPr>
        <p:spPr>
          <a:prstGeom prst="rect">
            <a:avLst/>
          </a:prstGeom>
        </p:spPr>
        <p:txBody>
          <a:bodyPr/>
          <a:lstStyle/>
          <a:p>
            <a:pPr/>
            <a:r>
              <a:t>WE DO. 5 minutes. Four clicks. Take answers from the room first, then click. THEY MUST SAY WHAT THE STUDENT DID: "it is wrong" earns nothing.</a:t>
            </a:r>
          </a:p>
          <a:p>
            <a:pPr/>
          </a:p>
          <a:p>
            <a:pPr/>
            <a:r>
              <a:t>ROW 1: DIGITS JOINED. 5n is 5 × n, so 52 is the two digits stuck together.</a:t>
            </a:r>
          </a:p>
          <a:p>
            <a:pPr/>
          </a:p>
          <a:p>
            <a:pPr/>
            <a:r>
              <a:t>ROW 2: ADDED FIRST. 4 + 3 = 7, then × 5. The multiplication has to come first: 4 × 5 = 20, then + 3.</a:t>
            </a:r>
          </a:p>
          <a:p>
            <a:pPr/>
          </a:p>
          <a:p>
            <a:pPr/>
            <a:r>
              <a:t>ROW 3 IS THE ONE THEY FOUND HARD, the bracket. 5 × 3 + 2 lets the 5 reach only the first term. Ask them to check it a second way: expand 5(n + 2) = 5n + 10, then put in n = 3: 15 + 10 = 25. If they get 25 both ways, they have proved it to themselves.</a:t>
            </a:r>
          </a:p>
          <a:p>
            <a:pPr/>
          </a:p>
          <a:p>
            <a:pPr/>
            <a:r>
              <a:t>ROW 4: LETTERS SWAPPED. They used 3 for a and 6 for b, the wrong way round. Ask "how could you have avoided that?" and take "write a = 6, b = 3 first".</a:t>
            </a:r>
          </a:p>
          <a:p>
            <a:pPr/>
          </a:p>
          <a:p>
            <a:pPr/>
            <a:r>
              <a:t>IF THEY ARE QUICK, ask them to write a wrong answer for a partner to diagnose.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Shape 242"/>
          <p:cNvSpPr/>
          <p:nvPr>
            <p:ph type="sldImg"/>
          </p:nvPr>
        </p:nvSpPr>
        <p:spPr>
          <a:prstGeom prst="rect">
            <a:avLst/>
          </a:prstGeom>
        </p:spPr>
        <p:txBody>
          <a:bodyPr/>
          <a:lstStyle/>
          <a:p>
            <a:pPr/>
          </a:p>
        </p:txBody>
      </p:sp>
      <p:sp>
        <p:nvSpPr>
          <p:cNvPr id="243" name="Shape 243"/>
          <p:cNvSpPr/>
          <p:nvPr>
            <p:ph type="body" sz="quarter" idx="1"/>
          </p:nvPr>
        </p:nvSpPr>
        <p:spPr>
          <a:prstGeom prst="rect">
            <a:avLst/>
          </a:prstGeom>
        </p:spPr>
        <p:txBody>
          <a:bodyPr/>
          <a:lstStyle/>
          <a:p>
            <a:pPr/>
            <a:r>
              <a:t>COLD CALL. 6 minutes. Six clicks. Name a student, then ask. Give thinking time, then ask for the working out loud: "what do you swap in, and what do you do first?" Students have no mini whiteboards, so the working is spoken.</a:t>
            </a:r>
          </a:p>
          <a:p>
            <a:pPr/>
          </a:p>
          <a:p>
            <a:pPr/>
            <a:r>
              <a:t>Q1 AND Q2 ARE OBJECTIVE 1. Q2 is 6 × 4 = 24. Wrong answer 64.</a:t>
            </a:r>
          </a:p>
          <a:p>
            <a:pPr/>
          </a:p>
          <a:p>
            <a:pPr/>
            <a:r>
              <a:t>Q3 AND Q4 ARE OBJECTIVE 2, ORDER OF OPERATIONS. Q3 is 3 × 5 + 4 = 15 + 4 = 19; adding first gives 35. Q4 is 20 − 2 × 6 = 20 − 12 = 8. The wrong answer, 108, comes from (20 − 2) × 6. Every step stays positive: 20 − 12 is 8.</a:t>
            </a:r>
          </a:p>
          <a:p>
            <a:pPr/>
          </a:p>
          <a:p>
            <a:pPr/>
            <a:r>
              <a:t>Q5 IS THE BRACKET. 2 × (3 + 5) = 2 × 8 = 16. The wrong answer is 2 × 3 + 5 = 11. This is the mistake they found hard, so give it the longest wait.</a:t>
            </a:r>
          </a:p>
          <a:p>
            <a:pPr/>
          </a:p>
          <a:p>
            <a:pPr/>
            <a:r>
              <a:t>Q6 IS OBJECTIVE 3. 4 × 2 + 3 × 5 = 8 + 15 = 23. If the letters are swapped, 4 × 5 + 3 × 2 = 26.</a:t>
            </a:r>
          </a:p>
          <a:p>
            <a:pPr/>
          </a:p>
          <a:p>
            <a:pPr/>
            <a:r>
              <a:t>IF MOST OF THE ROOM IS RIGHT BY Q4, spend longer on Q5 and Q6 and ask for a second bracket on the board. IF SHORT OF TIME, cut Q1 and Q2.</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Shape 268"/>
          <p:cNvSpPr/>
          <p:nvPr>
            <p:ph type="sldImg"/>
          </p:nvPr>
        </p:nvSpPr>
        <p:spPr>
          <a:prstGeom prst="rect">
            <a:avLst/>
          </a:prstGeom>
        </p:spPr>
        <p:txBody>
          <a:bodyPr/>
          <a:lstStyle/>
          <a:p>
            <a:pPr/>
          </a:p>
        </p:txBody>
      </p:sp>
      <p:sp>
        <p:nvSpPr>
          <p:cNvPr id="269" name="Shape 269"/>
          <p:cNvSpPr/>
          <p:nvPr>
            <p:ph type="body" sz="quarter" idx="1"/>
          </p:nvPr>
        </p:nvSpPr>
        <p:spPr>
          <a:prstGeom prst="rect">
            <a:avLst/>
          </a:prstGeom>
        </p:spPr>
        <p:txBody>
          <a:bodyPr/>
          <a:lstStyle/>
          <a:p>
            <a:pPr/>
            <a:r>
              <a:t>YOU DO. 13 minutes. Four clicks. THIS LESSON'S YOU DO IS A GAME, and the worksheet is the fallback.</a:t>
            </a:r>
          </a:p>
          <a:p>
            <a:pPr/>
          </a:p>
          <a:p>
            <a:pPr/>
            <a:r>
              <a:t>WHAT THEY DO. Open the file "Putting Numbers In game" from Google Classroom. Three rounds of six questions, each on their own device. They type an answer with the on-screen keypad or the keyboard, and press Check. A wrong answer says what the mistake probably was, in the same words as this deck, and shows the working. EVERY STUDENT GETS DIFFERENT NUMBERS AND A DIFFERENT ORDER, so a neighbour's answers are no use: Round 1 question 1 might be n + 7 with n = 5 for one student and 4 + t with t = 9 for another. The skills and their difficulty order are the same for everyone, so the end screen means the same thing for all of them. Each game has a six-character code, shown on the start and end screens. If a student says a question looked wrong, add #CODE to the end of the file's address and you will see exactly what they saw. There are no lives and no scores that punish slowness. At the end it shows what they got wrong by topic, not a single number.</a:t>
            </a:r>
          </a:p>
          <a:p>
            <a:pPr/>
          </a:p>
          <a:p>
            <a:pPr/>
            <a:r>
              <a:t>ROUNDS. Round 1 is one-step formulas and everyone should get it. Round 2 is two steps and brackets: three order-of-operations questions, then three bracket questions. Round 3 is two letters and gets harder, with two more bracket questions. About 4 minutes a round.</a:t>
            </a:r>
          </a:p>
          <a:p>
            <a:pPr/>
          </a:p>
          <a:p>
            <a:pPr/>
            <a:r>
              <a:t>THE BRACKET QUESTIONS ARE THE ONES THEY FOUND HARD: five of the eighteen. If a student's end screen says brackets, that is where to sit with them.</a:t>
            </a:r>
          </a:p>
          <a:p>
            <a:pPr/>
          </a:p>
          <a:p>
            <a:pPr/>
            <a:r>
              <a:t>ON AN iPAD, an HTML file attached in Google Classroom can be awkward to open. Check before relying on it. If a student cannot open it, or finishes early, or is absent, the worksheet is the fallback: the same ten skills in Bronze, Silver and Gold.</a:t>
            </a:r>
          </a:p>
          <a:p>
            <a:pPr/>
          </a:p>
          <a:p>
            <a:pPr/>
            <a:r>
              <a:t>CIRCULATE WITH ONE QUESTION: "what did you swap in, and what did you do first?" AT 3 MINUTES REMAINING, stop them. The Answers slide is for the worksheet.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Shape 297"/>
          <p:cNvSpPr/>
          <p:nvPr>
            <p:ph type="sldImg"/>
          </p:nvPr>
        </p:nvSpPr>
        <p:spPr>
          <a:prstGeom prst="rect">
            <a:avLst/>
          </a:prstGeom>
        </p:spPr>
        <p:txBody>
          <a:bodyPr/>
          <a:lstStyle/>
          <a:p>
            <a:pPr/>
          </a:p>
        </p:txBody>
      </p:sp>
      <p:sp>
        <p:nvSpPr>
          <p:cNvPr id="298" name="Shape 298"/>
          <p:cNvSpPr/>
          <p:nvPr>
            <p:ph type="body" sz="quarter" idx="1"/>
          </p:nvPr>
        </p:nvSpPr>
        <p:spPr>
          <a:prstGeom prst="rect">
            <a:avLst/>
          </a:prstGeom>
        </p:spPr>
        <p:txBody>
          <a:bodyPr/>
          <a:lstStyle/>
          <a:p>
            <a:pPr/>
            <a:r>
              <a:t>PLENARY. 3 minutes. Eleven clicks: each statement, then its answer, then the closing line.</a:t>
            </a:r>
          </a:p>
          <a:p>
            <a:pPr/>
          </a:p>
          <a:p>
            <a:pPr/>
            <a:r>
              <a:t>Q5 SETTLES THE HOOK. Go back to the tally first. £5 + 3 × 4 = £17, so A was right. B, £32, was adding first; C, £12, forgot the £5.</a:t>
            </a:r>
          </a:p>
          <a:p>
            <a:pPr/>
          </a:p>
          <a:p>
            <a:pPr/>
            <a:r>
              <a:t>EVERY FALSE IS A MISCONCEPTION FROM TODAY. Q1: the joined digits, 43. The answer is 12. Q3: adding first, 16 from (5 + 3) × 2. The answer is 5 + 6 = 11. Q4 IS THE ONE TO WATCH, the bracket that they found hard. 2 × 3 + 4 = 10 is the wrong answer, and 2 × (3 + 4) = 2 × 7 = 14 is right. If the room splits on Q4, that is the first thing to reteach next lesson.</a:t>
            </a:r>
          </a:p>
          <a:p>
            <a:pPr/>
          </a:p>
          <a:p>
            <a:pPr/>
            <a:r>
              <a:t>Q2 IS TRUE ON PURPOSE, the same example as I Do 1, to give some students a clean win.</a:t>
            </a:r>
          </a:p>
          <a:p>
            <a:pPr/>
          </a:p>
          <a:p>
            <a:pPr/>
            <a:r>
              <a:t>THE CLOSING LINE IS THE THREE MISTAKES IN ONE SENTENCE. THIS LESSON MAKES NO PROMISE FOR THE NEXT ONE. If you want to lead on, negative numbers and fractions are the natural next step, since today was kept to positive whole numbers.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video" Target="../media/media5.mp4"/><Relationship Id="rId7" Type="http://schemas.microsoft.com/office/2007/relationships/media" Target="../media/media5.mp4"/><Relationship Id="rId8"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 Id="rId6"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182879" y="182879"/>
            <a:ext cx="310897" cy="4777742"/>
          </a:xfrm>
          <a:prstGeom prst="rect">
            <a:avLst/>
          </a:prstGeom>
          <a:ln w="12700">
            <a:miter lim="400000"/>
          </a:ln>
        </p:spPr>
      </p:pic>
      <p:grpSp>
        <p:nvGrpSpPr>
          <p:cNvPr id="23" name="phase_pill"/>
          <p:cNvGrpSpPr/>
          <p:nvPr/>
        </p:nvGrpSpPr>
        <p:grpSpPr>
          <a:xfrm>
            <a:off x="777240" y="274320"/>
            <a:ext cx="1602029" cy="292609"/>
            <a:chOff x="0" y="0"/>
            <a:chExt cx="1602028" cy="292608"/>
          </a:xfrm>
        </p:grpSpPr>
        <p:sp>
          <p:nvSpPr>
            <p:cNvPr id="21" name="Rounded Rectangle"/>
            <p:cNvSpPr/>
            <p:nvPr/>
          </p:nvSpPr>
          <p:spPr>
            <a:xfrm>
              <a:off x="0" y="0"/>
              <a:ext cx="1602029" cy="292609"/>
            </a:xfrm>
            <a:prstGeom prst="roundRect">
              <a:avLst>
                <a:gd name="adj" fmla="val 4375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22" name="DO NOW · 5 MIN"/>
            <p:cNvSpPr txBox="1"/>
            <p:nvPr/>
          </p:nvSpPr>
          <p:spPr>
            <a:xfrm>
              <a:off x="37494" y="82803"/>
              <a:ext cx="1527041"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DO NOW · 5 MIN</a:t>
              </a:r>
            </a:p>
          </p:txBody>
        </p:sp>
      </p:grpSp>
      <p:sp>
        <p:nvSpPr>
          <p:cNvPr id="24" name="lesson_title"/>
          <p:cNvSpPr txBox="1"/>
          <p:nvPr/>
        </p:nvSpPr>
        <p:spPr>
          <a:xfrm>
            <a:off x="2331720" y="239268"/>
            <a:ext cx="4480560"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2B2350"/>
                </a:solidFill>
                <a:latin typeface="Georgia"/>
                <a:ea typeface="Georgia"/>
                <a:cs typeface="Georgia"/>
                <a:sym typeface="Georgia"/>
              </a:defRPr>
            </a:lvl1pPr>
          </a:lstStyle>
          <a:p>
            <a:pPr/>
            <a:r>
              <a:t>Putting Numbers In</a:t>
            </a:r>
          </a:p>
        </p:txBody>
      </p:sp>
      <p:sp>
        <p:nvSpPr>
          <p:cNvPr id="25" name="lesson_date"/>
          <p:cNvSpPr txBox="1"/>
          <p:nvPr/>
        </p:nvSpPr>
        <p:spPr>
          <a:xfrm>
            <a:off x="6629399" y="346709"/>
            <a:ext cx="210312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5E5A70"/>
                </a:solidFill>
                <a:latin typeface="Arial"/>
                <a:ea typeface="Arial"/>
                <a:cs typeface="Arial"/>
                <a:sym typeface="Arial"/>
              </a:defRPr>
            </a:lvl1pPr>
          </a:lstStyle>
          <a:p>
            <a:pPr/>
            <a:r>
              <a:t>Monday 5 October 2026</a:t>
            </a:r>
          </a:p>
        </p:txBody>
      </p:sp>
      <p:sp>
        <p:nvSpPr>
          <p:cNvPr id="26" name="rule"/>
          <p:cNvSpPr/>
          <p:nvPr/>
        </p:nvSpPr>
        <p:spPr>
          <a:xfrm>
            <a:off x="777239" y="786383"/>
            <a:ext cx="7955282" cy="32005"/>
          </a:xfrm>
          <a:prstGeom prst="rect">
            <a:avLst/>
          </a:prstGeom>
          <a:solidFill>
            <a:srgbClr val="EC6B58"/>
          </a:solidFill>
          <a:ln w="12700">
            <a:solidFill>
              <a:srgbClr val="EC6B58"/>
            </a:solidFill>
          </a:ln>
        </p:spPr>
        <p:txBody>
          <a:bodyPr lIns="45719" rIns="45719"/>
          <a:lstStyle/>
          <a:p>
            <a:pPr/>
          </a:p>
        </p:txBody>
      </p:sp>
      <p:sp>
        <p:nvSpPr>
          <p:cNvPr id="27" name="d0_bg"/>
          <p:cNvSpPr/>
          <p:nvPr/>
        </p:nvSpPr>
        <p:spPr>
          <a:xfrm>
            <a:off x="777240" y="932688"/>
            <a:ext cx="3867912" cy="1261873"/>
          </a:xfrm>
          <a:prstGeom prst="roundRect">
            <a:avLst>
              <a:gd name="adj" fmla="val 4348"/>
            </a:avLst>
          </a:prstGeom>
          <a:solidFill>
            <a:srgbClr val="F2F0F8"/>
          </a:solidFill>
          <a:ln w="12700">
            <a:solidFill>
              <a:srgbClr val="F2F0F8"/>
            </a:solidFill>
          </a:ln>
        </p:spPr>
        <p:txBody>
          <a:bodyPr lIns="45719" rIns="45719"/>
          <a:lstStyle/>
          <a:p>
            <a:pPr/>
          </a:p>
        </p:txBody>
      </p:sp>
      <p:sp>
        <p:nvSpPr>
          <p:cNvPr id="28" name="d0_n"/>
          <p:cNvSpPr txBox="1"/>
          <p:nvPr/>
        </p:nvSpPr>
        <p:spPr>
          <a:xfrm>
            <a:off x="941832" y="1094740"/>
            <a:ext cx="36576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C0392B"/>
                </a:solidFill>
                <a:latin typeface="Georgia"/>
                <a:ea typeface="Georgia"/>
                <a:cs typeface="Georgia"/>
                <a:sym typeface="Georgia"/>
              </a:defRPr>
            </a:lvl1pPr>
          </a:lstStyle>
          <a:p>
            <a:pPr/>
            <a:r>
              <a:t>1</a:t>
            </a:r>
          </a:p>
        </p:txBody>
      </p:sp>
      <p:sp>
        <p:nvSpPr>
          <p:cNvPr id="29" name="d0_q"/>
          <p:cNvSpPr txBox="1"/>
          <p:nvPr/>
        </p:nvSpPr>
        <p:spPr>
          <a:xfrm>
            <a:off x="1380744" y="1190887"/>
            <a:ext cx="3081529"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Expand 4(m + 3).</a:t>
            </a:r>
          </a:p>
        </p:txBody>
      </p:sp>
      <p:grpSp>
        <p:nvGrpSpPr>
          <p:cNvPr id="32" name="d0_a"/>
          <p:cNvGrpSpPr/>
          <p:nvPr/>
        </p:nvGrpSpPr>
        <p:grpSpPr>
          <a:xfrm>
            <a:off x="941832" y="1664207"/>
            <a:ext cx="3538729" cy="402337"/>
            <a:chOff x="0" y="0"/>
            <a:chExt cx="3538728" cy="402336"/>
          </a:xfrm>
        </p:grpSpPr>
        <p:sp>
          <p:nvSpPr>
            <p:cNvPr id="30" name="Rounded Rectangle"/>
            <p:cNvSpPr/>
            <p:nvPr/>
          </p:nvSpPr>
          <p:spPr>
            <a:xfrm>
              <a:off x="0" y="0"/>
              <a:ext cx="3538729" cy="402337"/>
            </a:xfrm>
            <a:prstGeom prst="roundRect">
              <a:avLst>
                <a:gd name="adj" fmla="val 20455"/>
              </a:avLst>
            </a:prstGeom>
            <a:solidFill>
              <a:srgbClr val="FDEEDC"/>
            </a:solidFill>
            <a:ln w="15240" cap="flat">
              <a:solidFill>
                <a:srgbClr val="EC6B58"/>
              </a:solidFill>
              <a:prstDash val="solid"/>
              <a:round/>
            </a:ln>
            <a:effectLst/>
          </p:spPr>
          <p:txBody>
            <a:bodyPr wrap="square" lIns="45719" tIns="45719" rIns="45719" bIns="45719" numCol="1" anchor="ctr">
              <a:noAutofit/>
            </a:bodyPr>
            <a:lstStyle/>
            <a:p>
              <a:pPr>
                <a:defRPr sz="1200"/>
              </a:pPr>
            </a:p>
          </p:txBody>
        </p:sp>
        <p:sp>
          <p:nvSpPr>
            <p:cNvPr id="31" name="4m + 12"/>
            <p:cNvSpPr txBox="1"/>
            <p:nvPr/>
          </p:nvSpPr>
          <p:spPr>
            <a:xfrm>
              <a:off x="31724" y="113744"/>
              <a:ext cx="347528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4m + 12</a:t>
              </a:r>
            </a:p>
          </p:txBody>
        </p:sp>
      </p:grpSp>
      <p:sp>
        <p:nvSpPr>
          <p:cNvPr id="33" name="d1_bg"/>
          <p:cNvSpPr/>
          <p:nvPr/>
        </p:nvSpPr>
        <p:spPr>
          <a:xfrm>
            <a:off x="4864608" y="932688"/>
            <a:ext cx="3867913" cy="1261873"/>
          </a:xfrm>
          <a:prstGeom prst="roundRect">
            <a:avLst>
              <a:gd name="adj" fmla="val 4348"/>
            </a:avLst>
          </a:prstGeom>
          <a:solidFill>
            <a:srgbClr val="F2F0F8"/>
          </a:solidFill>
          <a:ln w="12700">
            <a:solidFill>
              <a:srgbClr val="F2F0F8"/>
            </a:solidFill>
          </a:ln>
        </p:spPr>
        <p:txBody>
          <a:bodyPr lIns="45719" rIns="45719"/>
          <a:lstStyle/>
          <a:p>
            <a:pPr/>
          </a:p>
        </p:txBody>
      </p:sp>
      <p:sp>
        <p:nvSpPr>
          <p:cNvPr id="34" name="d1_n"/>
          <p:cNvSpPr txBox="1"/>
          <p:nvPr/>
        </p:nvSpPr>
        <p:spPr>
          <a:xfrm>
            <a:off x="5029199" y="1094740"/>
            <a:ext cx="36576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C0392B"/>
                </a:solidFill>
                <a:latin typeface="Georgia"/>
                <a:ea typeface="Georgia"/>
                <a:cs typeface="Georgia"/>
                <a:sym typeface="Georgia"/>
              </a:defRPr>
            </a:lvl1pPr>
          </a:lstStyle>
          <a:p>
            <a:pPr/>
            <a:r>
              <a:t>2</a:t>
            </a:r>
          </a:p>
        </p:txBody>
      </p:sp>
      <p:sp>
        <p:nvSpPr>
          <p:cNvPr id="35" name="d1_q"/>
          <p:cNvSpPr txBox="1"/>
          <p:nvPr/>
        </p:nvSpPr>
        <p:spPr>
          <a:xfrm>
            <a:off x="5468111" y="1190887"/>
            <a:ext cx="3081529"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Simplify 6a + 5 + 2a + 3.</a:t>
            </a:r>
          </a:p>
        </p:txBody>
      </p:sp>
      <p:grpSp>
        <p:nvGrpSpPr>
          <p:cNvPr id="38" name="d1_a"/>
          <p:cNvGrpSpPr/>
          <p:nvPr/>
        </p:nvGrpSpPr>
        <p:grpSpPr>
          <a:xfrm>
            <a:off x="5029200" y="1664207"/>
            <a:ext cx="3538729" cy="402337"/>
            <a:chOff x="0" y="0"/>
            <a:chExt cx="3538728" cy="402336"/>
          </a:xfrm>
        </p:grpSpPr>
        <p:sp>
          <p:nvSpPr>
            <p:cNvPr id="36" name="Rounded Rectangle"/>
            <p:cNvSpPr/>
            <p:nvPr/>
          </p:nvSpPr>
          <p:spPr>
            <a:xfrm>
              <a:off x="0" y="0"/>
              <a:ext cx="3538729" cy="402337"/>
            </a:xfrm>
            <a:prstGeom prst="roundRect">
              <a:avLst>
                <a:gd name="adj" fmla="val 20455"/>
              </a:avLst>
            </a:prstGeom>
            <a:solidFill>
              <a:srgbClr val="FDEEDC"/>
            </a:solidFill>
            <a:ln w="15240" cap="flat">
              <a:solidFill>
                <a:srgbClr val="EC6B58"/>
              </a:solidFill>
              <a:prstDash val="solid"/>
              <a:round/>
            </a:ln>
            <a:effectLst/>
          </p:spPr>
          <p:txBody>
            <a:bodyPr wrap="square" lIns="45719" tIns="45719" rIns="45719" bIns="45719" numCol="1" anchor="ctr">
              <a:noAutofit/>
            </a:bodyPr>
            <a:lstStyle/>
            <a:p>
              <a:pPr>
                <a:defRPr sz="1200"/>
              </a:pPr>
            </a:p>
          </p:txBody>
        </p:sp>
        <p:sp>
          <p:nvSpPr>
            <p:cNvPr id="37" name="8a + 8"/>
            <p:cNvSpPr txBox="1"/>
            <p:nvPr/>
          </p:nvSpPr>
          <p:spPr>
            <a:xfrm>
              <a:off x="31724" y="113744"/>
              <a:ext cx="347528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8a + 8</a:t>
              </a:r>
            </a:p>
          </p:txBody>
        </p:sp>
      </p:grpSp>
      <p:sp>
        <p:nvSpPr>
          <p:cNvPr id="39" name="d2_bg"/>
          <p:cNvSpPr/>
          <p:nvPr/>
        </p:nvSpPr>
        <p:spPr>
          <a:xfrm>
            <a:off x="777240" y="2313432"/>
            <a:ext cx="3867912" cy="1261873"/>
          </a:xfrm>
          <a:prstGeom prst="roundRect">
            <a:avLst>
              <a:gd name="adj" fmla="val 4348"/>
            </a:avLst>
          </a:prstGeom>
          <a:solidFill>
            <a:srgbClr val="F2F0F8"/>
          </a:solidFill>
          <a:ln w="12700">
            <a:solidFill>
              <a:srgbClr val="F2F0F8"/>
            </a:solidFill>
          </a:ln>
        </p:spPr>
        <p:txBody>
          <a:bodyPr lIns="45719" rIns="45719"/>
          <a:lstStyle/>
          <a:p>
            <a:pPr/>
          </a:p>
        </p:txBody>
      </p:sp>
      <p:sp>
        <p:nvSpPr>
          <p:cNvPr id="40" name="d2_n"/>
          <p:cNvSpPr txBox="1"/>
          <p:nvPr/>
        </p:nvSpPr>
        <p:spPr>
          <a:xfrm>
            <a:off x="941832" y="2475484"/>
            <a:ext cx="36576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C0392B"/>
                </a:solidFill>
                <a:latin typeface="Georgia"/>
                <a:ea typeface="Georgia"/>
                <a:cs typeface="Georgia"/>
                <a:sym typeface="Georgia"/>
              </a:defRPr>
            </a:lvl1pPr>
          </a:lstStyle>
          <a:p>
            <a:pPr/>
            <a:r>
              <a:t>3</a:t>
            </a:r>
          </a:p>
        </p:txBody>
      </p:sp>
      <p:sp>
        <p:nvSpPr>
          <p:cNvPr id="41" name="d2_q"/>
          <p:cNvSpPr txBox="1"/>
          <p:nvPr/>
        </p:nvSpPr>
        <p:spPr>
          <a:xfrm>
            <a:off x="1380744" y="2571631"/>
            <a:ext cx="3081529"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Work out 3 + 4 × 5.</a:t>
            </a:r>
          </a:p>
        </p:txBody>
      </p:sp>
      <p:grpSp>
        <p:nvGrpSpPr>
          <p:cNvPr id="44" name="d2_a"/>
          <p:cNvGrpSpPr/>
          <p:nvPr/>
        </p:nvGrpSpPr>
        <p:grpSpPr>
          <a:xfrm>
            <a:off x="941832" y="3044951"/>
            <a:ext cx="3538729" cy="402337"/>
            <a:chOff x="0" y="0"/>
            <a:chExt cx="3538728" cy="402336"/>
          </a:xfrm>
        </p:grpSpPr>
        <p:sp>
          <p:nvSpPr>
            <p:cNvPr id="42" name="Rounded Rectangle"/>
            <p:cNvSpPr/>
            <p:nvPr/>
          </p:nvSpPr>
          <p:spPr>
            <a:xfrm>
              <a:off x="0" y="0"/>
              <a:ext cx="3538729" cy="402337"/>
            </a:xfrm>
            <a:prstGeom prst="roundRect">
              <a:avLst>
                <a:gd name="adj" fmla="val 20455"/>
              </a:avLst>
            </a:prstGeom>
            <a:solidFill>
              <a:srgbClr val="FDEEDC"/>
            </a:solidFill>
            <a:ln w="15240" cap="flat">
              <a:solidFill>
                <a:srgbClr val="EC6B58"/>
              </a:solidFill>
              <a:prstDash val="solid"/>
              <a:round/>
            </a:ln>
            <a:effectLst/>
          </p:spPr>
          <p:txBody>
            <a:bodyPr wrap="square" lIns="45719" tIns="45719" rIns="45719" bIns="45719" numCol="1" anchor="ctr">
              <a:noAutofit/>
            </a:bodyPr>
            <a:lstStyle/>
            <a:p>
              <a:pPr>
                <a:defRPr sz="1200"/>
              </a:pPr>
            </a:p>
          </p:txBody>
        </p:sp>
        <p:sp>
          <p:nvSpPr>
            <p:cNvPr id="43" name="23"/>
            <p:cNvSpPr txBox="1"/>
            <p:nvPr/>
          </p:nvSpPr>
          <p:spPr>
            <a:xfrm>
              <a:off x="31724" y="113744"/>
              <a:ext cx="347528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23</a:t>
              </a:r>
            </a:p>
          </p:txBody>
        </p:sp>
      </p:grpSp>
      <p:sp>
        <p:nvSpPr>
          <p:cNvPr id="45" name="d3_bg"/>
          <p:cNvSpPr/>
          <p:nvPr/>
        </p:nvSpPr>
        <p:spPr>
          <a:xfrm>
            <a:off x="4864608" y="2313432"/>
            <a:ext cx="3867913" cy="1261873"/>
          </a:xfrm>
          <a:prstGeom prst="roundRect">
            <a:avLst>
              <a:gd name="adj" fmla="val 4348"/>
            </a:avLst>
          </a:prstGeom>
          <a:solidFill>
            <a:srgbClr val="F2F0F8"/>
          </a:solidFill>
          <a:ln w="12700">
            <a:solidFill>
              <a:srgbClr val="F2F0F8"/>
            </a:solidFill>
          </a:ln>
        </p:spPr>
        <p:txBody>
          <a:bodyPr lIns="45719" rIns="45719"/>
          <a:lstStyle/>
          <a:p>
            <a:pPr/>
          </a:p>
        </p:txBody>
      </p:sp>
      <p:sp>
        <p:nvSpPr>
          <p:cNvPr id="46" name="d3_n"/>
          <p:cNvSpPr txBox="1"/>
          <p:nvPr/>
        </p:nvSpPr>
        <p:spPr>
          <a:xfrm>
            <a:off x="5029199" y="2475484"/>
            <a:ext cx="36576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C0392B"/>
                </a:solidFill>
                <a:latin typeface="Georgia"/>
                <a:ea typeface="Georgia"/>
                <a:cs typeface="Georgia"/>
                <a:sym typeface="Georgia"/>
              </a:defRPr>
            </a:lvl1pPr>
          </a:lstStyle>
          <a:p>
            <a:pPr/>
            <a:r>
              <a:t>4</a:t>
            </a:r>
          </a:p>
        </p:txBody>
      </p:sp>
      <p:sp>
        <p:nvSpPr>
          <p:cNvPr id="47" name="d3_q"/>
          <p:cNvSpPr txBox="1"/>
          <p:nvPr/>
        </p:nvSpPr>
        <p:spPr>
          <a:xfrm>
            <a:off x="5468111" y="2571631"/>
            <a:ext cx="3081529"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Work out 2 × (6 + 3).</a:t>
            </a:r>
          </a:p>
        </p:txBody>
      </p:sp>
      <p:grpSp>
        <p:nvGrpSpPr>
          <p:cNvPr id="50" name="d3_a"/>
          <p:cNvGrpSpPr/>
          <p:nvPr/>
        </p:nvGrpSpPr>
        <p:grpSpPr>
          <a:xfrm>
            <a:off x="5029200" y="3044951"/>
            <a:ext cx="3538729" cy="402337"/>
            <a:chOff x="0" y="0"/>
            <a:chExt cx="3538728" cy="402336"/>
          </a:xfrm>
        </p:grpSpPr>
        <p:sp>
          <p:nvSpPr>
            <p:cNvPr id="48" name="Rounded Rectangle"/>
            <p:cNvSpPr/>
            <p:nvPr/>
          </p:nvSpPr>
          <p:spPr>
            <a:xfrm>
              <a:off x="0" y="0"/>
              <a:ext cx="3538729" cy="402337"/>
            </a:xfrm>
            <a:prstGeom prst="roundRect">
              <a:avLst>
                <a:gd name="adj" fmla="val 20455"/>
              </a:avLst>
            </a:prstGeom>
            <a:solidFill>
              <a:srgbClr val="FDEEDC"/>
            </a:solidFill>
            <a:ln w="15240" cap="flat">
              <a:solidFill>
                <a:srgbClr val="EC6B58"/>
              </a:solidFill>
              <a:prstDash val="solid"/>
              <a:round/>
            </a:ln>
            <a:effectLst/>
          </p:spPr>
          <p:txBody>
            <a:bodyPr wrap="square" lIns="45719" tIns="45719" rIns="45719" bIns="45719" numCol="1" anchor="ctr">
              <a:noAutofit/>
            </a:bodyPr>
            <a:lstStyle/>
            <a:p>
              <a:pPr>
                <a:defRPr sz="1200"/>
              </a:pPr>
            </a:p>
          </p:txBody>
        </p:sp>
        <p:sp>
          <p:nvSpPr>
            <p:cNvPr id="49" name="18"/>
            <p:cNvSpPr txBox="1"/>
            <p:nvPr/>
          </p:nvSpPr>
          <p:spPr>
            <a:xfrm>
              <a:off x="31724" y="113744"/>
              <a:ext cx="347528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18</a:t>
              </a:r>
            </a:p>
          </p:txBody>
        </p:sp>
      </p:grpSp>
      <p:sp>
        <p:nvSpPr>
          <p:cNvPr id="51" name="d4_bg"/>
          <p:cNvSpPr/>
          <p:nvPr/>
        </p:nvSpPr>
        <p:spPr>
          <a:xfrm>
            <a:off x="777240" y="3694176"/>
            <a:ext cx="3867912" cy="1261873"/>
          </a:xfrm>
          <a:prstGeom prst="roundRect">
            <a:avLst>
              <a:gd name="adj" fmla="val 4348"/>
            </a:avLst>
          </a:prstGeom>
          <a:solidFill>
            <a:srgbClr val="F2F0F8"/>
          </a:solidFill>
          <a:ln w="12700">
            <a:solidFill>
              <a:srgbClr val="F2F0F8"/>
            </a:solidFill>
          </a:ln>
        </p:spPr>
        <p:txBody>
          <a:bodyPr lIns="45719" rIns="45719"/>
          <a:lstStyle/>
          <a:p>
            <a:pPr/>
          </a:p>
        </p:txBody>
      </p:sp>
      <p:sp>
        <p:nvSpPr>
          <p:cNvPr id="52" name="d4_n"/>
          <p:cNvSpPr txBox="1"/>
          <p:nvPr/>
        </p:nvSpPr>
        <p:spPr>
          <a:xfrm>
            <a:off x="941832" y="3856227"/>
            <a:ext cx="36576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C0392B"/>
                </a:solidFill>
                <a:latin typeface="Georgia"/>
                <a:ea typeface="Georgia"/>
                <a:cs typeface="Georgia"/>
                <a:sym typeface="Georgia"/>
              </a:defRPr>
            </a:lvl1pPr>
          </a:lstStyle>
          <a:p>
            <a:pPr/>
            <a:r>
              <a:t>5</a:t>
            </a:r>
          </a:p>
        </p:txBody>
      </p:sp>
      <p:sp>
        <p:nvSpPr>
          <p:cNvPr id="53" name="d4_q"/>
          <p:cNvSpPr txBox="1"/>
          <p:nvPr/>
        </p:nvSpPr>
        <p:spPr>
          <a:xfrm>
            <a:off x="1380744" y="3952375"/>
            <a:ext cx="3081529"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Expand 2(3k + 5).</a:t>
            </a:r>
          </a:p>
        </p:txBody>
      </p:sp>
      <p:grpSp>
        <p:nvGrpSpPr>
          <p:cNvPr id="56" name="d4_a"/>
          <p:cNvGrpSpPr/>
          <p:nvPr/>
        </p:nvGrpSpPr>
        <p:grpSpPr>
          <a:xfrm>
            <a:off x="941832" y="4425696"/>
            <a:ext cx="3538729" cy="402337"/>
            <a:chOff x="0" y="0"/>
            <a:chExt cx="3538728" cy="402336"/>
          </a:xfrm>
        </p:grpSpPr>
        <p:sp>
          <p:nvSpPr>
            <p:cNvPr id="54" name="Rounded Rectangle"/>
            <p:cNvSpPr/>
            <p:nvPr/>
          </p:nvSpPr>
          <p:spPr>
            <a:xfrm>
              <a:off x="0" y="0"/>
              <a:ext cx="3538729" cy="402337"/>
            </a:xfrm>
            <a:prstGeom prst="roundRect">
              <a:avLst>
                <a:gd name="adj" fmla="val 20455"/>
              </a:avLst>
            </a:prstGeom>
            <a:solidFill>
              <a:srgbClr val="FDEEDC"/>
            </a:solidFill>
            <a:ln w="15240" cap="flat">
              <a:solidFill>
                <a:srgbClr val="EC6B58"/>
              </a:solidFill>
              <a:prstDash val="solid"/>
              <a:round/>
            </a:ln>
            <a:effectLst/>
          </p:spPr>
          <p:txBody>
            <a:bodyPr wrap="square" lIns="45719" tIns="45719" rIns="45719" bIns="45719" numCol="1" anchor="ctr">
              <a:noAutofit/>
            </a:bodyPr>
            <a:lstStyle/>
            <a:p>
              <a:pPr>
                <a:defRPr sz="1200"/>
              </a:pPr>
            </a:p>
          </p:txBody>
        </p:sp>
        <p:sp>
          <p:nvSpPr>
            <p:cNvPr id="55" name="6k + 10"/>
            <p:cNvSpPr txBox="1"/>
            <p:nvPr/>
          </p:nvSpPr>
          <p:spPr>
            <a:xfrm>
              <a:off x="31724" y="113744"/>
              <a:ext cx="347528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6k + 10</a:t>
              </a:r>
            </a:p>
          </p:txBody>
        </p:sp>
      </p:grpSp>
      <p:sp>
        <p:nvSpPr>
          <p:cNvPr id="57" name="d5_bg"/>
          <p:cNvSpPr/>
          <p:nvPr/>
        </p:nvSpPr>
        <p:spPr>
          <a:xfrm>
            <a:off x="4864608" y="3694176"/>
            <a:ext cx="3867913" cy="1261873"/>
          </a:xfrm>
          <a:prstGeom prst="roundRect">
            <a:avLst>
              <a:gd name="adj" fmla="val 4348"/>
            </a:avLst>
          </a:prstGeom>
          <a:solidFill>
            <a:srgbClr val="F2F0F8"/>
          </a:solidFill>
          <a:ln w="12700">
            <a:solidFill>
              <a:srgbClr val="F2F0F8"/>
            </a:solidFill>
          </a:ln>
        </p:spPr>
        <p:txBody>
          <a:bodyPr lIns="45719" rIns="45719"/>
          <a:lstStyle/>
          <a:p>
            <a:pPr/>
          </a:p>
        </p:txBody>
      </p:sp>
      <p:sp>
        <p:nvSpPr>
          <p:cNvPr id="58" name="d5_n"/>
          <p:cNvSpPr txBox="1"/>
          <p:nvPr/>
        </p:nvSpPr>
        <p:spPr>
          <a:xfrm>
            <a:off x="5029199" y="3856227"/>
            <a:ext cx="36576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C0392B"/>
                </a:solidFill>
                <a:latin typeface="Georgia"/>
                <a:ea typeface="Georgia"/>
                <a:cs typeface="Georgia"/>
                <a:sym typeface="Georgia"/>
              </a:defRPr>
            </a:lvl1pPr>
          </a:lstStyle>
          <a:p>
            <a:pPr/>
            <a:r>
              <a:t>6</a:t>
            </a:r>
          </a:p>
        </p:txBody>
      </p:sp>
      <p:sp>
        <p:nvSpPr>
          <p:cNvPr id="59" name="d5_q"/>
          <p:cNvSpPr txBox="1"/>
          <p:nvPr/>
        </p:nvSpPr>
        <p:spPr>
          <a:xfrm>
            <a:off x="5468111" y="3952375"/>
            <a:ext cx="3081529"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State what 5y means.</a:t>
            </a:r>
          </a:p>
        </p:txBody>
      </p:sp>
      <p:grpSp>
        <p:nvGrpSpPr>
          <p:cNvPr id="62" name="d5_a"/>
          <p:cNvGrpSpPr/>
          <p:nvPr/>
        </p:nvGrpSpPr>
        <p:grpSpPr>
          <a:xfrm>
            <a:off x="5029200" y="4425696"/>
            <a:ext cx="3538729" cy="402337"/>
            <a:chOff x="0" y="0"/>
            <a:chExt cx="3538728" cy="402336"/>
          </a:xfrm>
        </p:grpSpPr>
        <p:sp>
          <p:nvSpPr>
            <p:cNvPr id="60" name="Rounded Rectangle"/>
            <p:cNvSpPr/>
            <p:nvPr/>
          </p:nvSpPr>
          <p:spPr>
            <a:xfrm>
              <a:off x="0" y="0"/>
              <a:ext cx="3538729" cy="402337"/>
            </a:xfrm>
            <a:prstGeom prst="roundRect">
              <a:avLst>
                <a:gd name="adj" fmla="val 20455"/>
              </a:avLst>
            </a:prstGeom>
            <a:solidFill>
              <a:srgbClr val="FDEEDC"/>
            </a:solidFill>
            <a:ln w="15240" cap="flat">
              <a:solidFill>
                <a:srgbClr val="EC6B58"/>
              </a:solidFill>
              <a:prstDash val="solid"/>
              <a:round/>
            </a:ln>
            <a:effectLst/>
          </p:spPr>
          <p:txBody>
            <a:bodyPr wrap="square" lIns="45719" tIns="45719" rIns="45719" bIns="45719" numCol="1" anchor="ctr">
              <a:noAutofit/>
            </a:bodyPr>
            <a:lstStyle/>
            <a:p>
              <a:pPr>
                <a:defRPr sz="1200"/>
              </a:pPr>
            </a:p>
          </p:txBody>
        </p:sp>
        <p:sp>
          <p:nvSpPr>
            <p:cNvPr id="61" name="5 × y, which is 5 lots of y."/>
            <p:cNvSpPr txBox="1"/>
            <p:nvPr/>
          </p:nvSpPr>
          <p:spPr>
            <a:xfrm>
              <a:off x="31724" y="113744"/>
              <a:ext cx="347528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5 × y, which is 5 lots of y.</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2"/>
                                        </p:tgtEl>
                                        <p:attrNameLst>
                                          <p:attrName>style.visibility</p:attrName>
                                        </p:attrNameLst>
                                      </p:cBhvr>
                                      <p:to>
                                        <p:strVal val="visible"/>
                                      </p:to>
                                    </p:set>
                                    <p:animEffect filter="wipe(left)" transition="in">
                                      <p:cBhvr>
                                        <p:cTn id="11" dur="400"/>
                                        <p:tgtEl>
                                          <p:spTgt spid="3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38"/>
                                        </p:tgtEl>
                                        <p:attrNameLst>
                                          <p:attrName>style.visibility</p:attrName>
                                        </p:attrNameLst>
                                      </p:cBhvr>
                                      <p:to>
                                        <p:strVal val="visible"/>
                                      </p:to>
                                    </p:set>
                                    <p:animEffect filter="wipe(left)" transition="in">
                                      <p:cBhvr>
                                        <p:cTn id="16" dur="4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4"/>
                                        </p:tgtEl>
                                        <p:attrNameLst>
                                          <p:attrName>style.visibility</p:attrName>
                                        </p:attrNameLst>
                                      </p:cBhvr>
                                      <p:to>
                                        <p:strVal val="visible"/>
                                      </p:to>
                                    </p:set>
                                    <p:animEffect filter="wipe(left)" transition="in">
                                      <p:cBhvr>
                                        <p:cTn id="21" dur="400"/>
                                        <p:tgtEl>
                                          <p:spTgt spid="44"/>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0"/>
                                        </p:tgtEl>
                                        <p:attrNameLst>
                                          <p:attrName>style.visibility</p:attrName>
                                        </p:attrNameLst>
                                      </p:cBhvr>
                                      <p:to>
                                        <p:strVal val="visible"/>
                                      </p:to>
                                    </p:set>
                                    <p:animEffect filter="wipe(left)" transition="in">
                                      <p:cBhvr>
                                        <p:cTn id="26" dur="400"/>
                                        <p:tgtEl>
                                          <p:spTgt spid="50"/>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56"/>
                                        </p:tgtEl>
                                        <p:attrNameLst>
                                          <p:attrName>style.visibility</p:attrName>
                                        </p:attrNameLst>
                                      </p:cBhvr>
                                      <p:to>
                                        <p:strVal val="visible"/>
                                      </p:to>
                                    </p:set>
                                    <p:animEffect filter="wipe(left)" transition="in">
                                      <p:cBhvr>
                                        <p:cTn id="31" dur="400"/>
                                        <p:tgtEl>
                                          <p:spTgt spid="56"/>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2"/>
                                        </p:tgtEl>
                                        <p:attrNameLst>
                                          <p:attrName>style.visibility</p:attrName>
                                        </p:attrNameLst>
                                      </p:cBhvr>
                                      <p:to>
                                        <p:strVal val="visible"/>
                                      </p:to>
                                    </p:set>
                                    <p:animEffect filter="wipe(left)" transition="in">
                                      <p:cBhvr>
                                        <p:cTn id="36" dur="400"/>
                                        <p:tgtEl>
                                          <p:spTgt spid="62"/>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38" grpId="3"/>
      <p:bldP build="whole" bldLvl="1" animBg="1" rev="0" advAuto="0" spid="50" grpId="5"/>
      <p:bldP build="whole" bldLvl="1" animBg="1" rev="0" advAuto="0" spid="62" grpId="7"/>
      <p:bldP build="whole" bldLvl="1" animBg="1" rev="0" advAuto="0" spid="56" grpId="6"/>
      <p:bldP build="whole" bldLvl="1" animBg="1" rev="0" advAuto="0" spid="32" grpId="2"/>
      <p:bldP build="whole" bldLvl="1" animBg="1" rev="0" advAuto="0" spid="44" grpId="4"/>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182879" y="182879"/>
            <a:ext cx="310897" cy="4777742"/>
          </a:xfrm>
          <a:prstGeom prst="rect">
            <a:avLst/>
          </a:prstGeom>
          <a:ln w="12700">
            <a:miter lim="400000"/>
          </a:ln>
        </p:spPr>
      </p:pic>
      <p:grpSp>
        <p:nvGrpSpPr>
          <p:cNvPr id="69" name="phase_pill"/>
          <p:cNvGrpSpPr/>
          <p:nvPr/>
        </p:nvGrpSpPr>
        <p:grpSpPr>
          <a:xfrm>
            <a:off x="777240" y="274320"/>
            <a:ext cx="1512418" cy="292609"/>
            <a:chOff x="0" y="0"/>
            <a:chExt cx="1512417" cy="292608"/>
          </a:xfrm>
        </p:grpSpPr>
        <p:sp>
          <p:nvSpPr>
            <p:cNvPr id="67" name="Rounded Rectangle"/>
            <p:cNvSpPr/>
            <p:nvPr/>
          </p:nvSpPr>
          <p:spPr>
            <a:xfrm>
              <a:off x="0" y="0"/>
              <a:ext cx="1512418" cy="292609"/>
            </a:xfrm>
            <a:prstGeom prst="roundRect">
              <a:avLst>
                <a:gd name="adj" fmla="val 4375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68" name="TODAY · 1 MIN"/>
            <p:cNvSpPr txBox="1"/>
            <p:nvPr/>
          </p:nvSpPr>
          <p:spPr>
            <a:xfrm>
              <a:off x="37494" y="82803"/>
              <a:ext cx="1437430"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TODAY · 1 MIN</a:t>
              </a:r>
            </a:p>
          </p:txBody>
        </p:sp>
      </p:grpSp>
      <p:sp>
        <p:nvSpPr>
          <p:cNvPr id="70" name="slide_title"/>
          <p:cNvSpPr txBox="1"/>
          <p:nvPr/>
        </p:nvSpPr>
        <p:spPr>
          <a:xfrm>
            <a:off x="777239" y="775207"/>
            <a:ext cx="795528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2B2350"/>
                </a:solidFill>
                <a:latin typeface="Georgia"/>
                <a:ea typeface="Georgia"/>
                <a:cs typeface="Georgia"/>
                <a:sym typeface="Georgia"/>
              </a:defRPr>
            </a:lvl1pPr>
          </a:lstStyle>
          <a:p>
            <a:pPr/>
            <a:r>
              <a:t>Today’s goals</a:t>
            </a:r>
          </a:p>
        </p:txBody>
      </p:sp>
      <p:grpSp>
        <p:nvGrpSpPr>
          <p:cNvPr id="75" name="o0"/>
          <p:cNvGrpSpPr/>
          <p:nvPr/>
        </p:nvGrpSpPr>
        <p:grpSpPr>
          <a:xfrm>
            <a:off x="777240" y="1591055"/>
            <a:ext cx="2505456" cy="1463041"/>
            <a:chOff x="0" y="0"/>
            <a:chExt cx="2505455" cy="1463040"/>
          </a:xfrm>
        </p:grpSpPr>
        <p:sp>
          <p:nvSpPr>
            <p:cNvPr id="71" name="o0_bg"/>
            <p:cNvSpPr/>
            <p:nvPr/>
          </p:nvSpPr>
          <p:spPr>
            <a:xfrm>
              <a:off x="0" y="-1"/>
              <a:ext cx="2505456" cy="1463042"/>
            </a:xfrm>
            <a:prstGeom prst="roundRect">
              <a:avLst>
                <a:gd name="adj" fmla="val 3750"/>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72" name="o0_badge"/>
            <p:cNvSpPr/>
            <p:nvPr/>
          </p:nvSpPr>
          <p:spPr>
            <a:xfrm>
              <a:off x="164591" y="164591"/>
              <a:ext cx="347473" cy="347473"/>
            </a:xfrm>
            <a:prstGeom prst="ellipse">
              <a:avLst/>
            </a:prstGeom>
            <a:solidFill>
              <a:srgbClr val="EC6B58"/>
            </a:solidFill>
            <a:ln w="12700" cap="flat">
              <a:solidFill>
                <a:srgbClr val="EC6B58"/>
              </a:solidFill>
              <a:prstDash val="solid"/>
              <a:round/>
            </a:ln>
            <a:effectLst/>
          </p:spPr>
          <p:txBody>
            <a:bodyPr wrap="square" lIns="45719" tIns="45719" rIns="45719" bIns="45719" numCol="1" anchor="t">
              <a:noAutofit/>
            </a:bodyPr>
            <a:lstStyle/>
            <a:p>
              <a:pPr/>
            </a:p>
          </p:txBody>
        </p:sp>
        <p:sp>
          <p:nvSpPr>
            <p:cNvPr id="73" name="o0_num"/>
            <p:cNvSpPr txBox="1"/>
            <p:nvPr/>
          </p:nvSpPr>
          <p:spPr>
            <a:xfrm>
              <a:off x="164591" y="270555"/>
              <a:ext cx="347473"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2B2350"/>
                  </a:solidFill>
                  <a:latin typeface="Arial"/>
                  <a:ea typeface="Arial"/>
                  <a:cs typeface="Arial"/>
                  <a:sym typeface="Arial"/>
                </a:defRPr>
              </a:lvl1pPr>
            </a:lstStyle>
            <a:p>
              <a:pPr/>
              <a:r>
                <a:t>1</a:t>
              </a:r>
            </a:p>
          </p:txBody>
        </p:sp>
        <p:sp>
          <p:nvSpPr>
            <p:cNvPr id="74" name="o0_t"/>
            <p:cNvSpPr txBox="1"/>
            <p:nvPr/>
          </p:nvSpPr>
          <p:spPr>
            <a:xfrm>
              <a:off x="164591" y="640079"/>
              <a:ext cx="2176273" cy="3980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b="1" sz="1200">
                  <a:solidFill>
                    <a:srgbClr val="2B2350"/>
                  </a:solidFill>
                  <a:latin typeface="Arial"/>
                  <a:ea typeface="Arial"/>
                  <a:cs typeface="Arial"/>
                  <a:sym typeface="Arial"/>
                </a:defRPr>
              </a:lvl1pPr>
            </a:lstStyle>
            <a:p>
              <a:pPr/>
              <a:r>
                <a:t>Substitute a positive integer into a one-step formula.</a:t>
              </a:r>
            </a:p>
          </p:txBody>
        </p:sp>
      </p:grpSp>
      <p:grpSp>
        <p:nvGrpSpPr>
          <p:cNvPr id="80" name="o1"/>
          <p:cNvGrpSpPr/>
          <p:nvPr/>
        </p:nvGrpSpPr>
        <p:grpSpPr>
          <a:xfrm>
            <a:off x="3502152" y="1591055"/>
            <a:ext cx="2505457" cy="1463041"/>
            <a:chOff x="0" y="0"/>
            <a:chExt cx="2505455" cy="1463040"/>
          </a:xfrm>
        </p:grpSpPr>
        <p:sp>
          <p:nvSpPr>
            <p:cNvPr id="76" name="o1_bg"/>
            <p:cNvSpPr/>
            <p:nvPr/>
          </p:nvSpPr>
          <p:spPr>
            <a:xfrm>
              <a:off x="0" y="-1"/>
              <a:ext cx="2505456" cy="1463042"/>
            </a:xfrm>
            <a:prstGeom prst="roundRect">
              <a:avLst>
                <a:gd name="adj" fmla="val 3750"/>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77" name="o1_badge"/>
            <p:cNvSpPr/>
            <p:nvPr/>
          </p:nvSpPr>
          <p:spPr>
            <a:xfrm>
              <a:off x="164591" y="164591"/>
              <a:ext cx="347473" cy="347473"/>
            </a:xfrm>
            <a:prstGeom prst="ellipse">
              <a:avLst/>
            </a:prstGeom>
            <a:solidFill>
              <a:srgbClr val="EC6B58"/>
            </a:solidFill>
            <a:ln w="12700" cap="flat">
              <a:solidFill>
                <a:srgbClr val="EC6B58"/>
              </a:solidFill>
              <a:prstDash val="solid"/>
              <a:round/>
            </a:ln>
            <a:effectLst/>
          </p:spPr>
          <p:txBody>
            <a:bodyPr wrap="square" lIns="45719" tIns="45719" rIns="45719" bIns="45719" numCol="1" anchor="t">
              <a:noAutofit/>
            </a:bodyPr>
            <a:lstStyle/>
            <a:p>
              <a:pPr/>
            </a:p>
          </p:txBody>
        </p:sp>
        <p:sp>
          <p:nvSpPr>
            <p:cNvPr id="78" name="o1_num"/>
            <p:cNvSpPr txBox="1"/>
            <p:nvPr/>
          </p:nvSpPr>
          <p:spPr>
            <a:xfrm>
              <a:off x="164591" y="270555"/>
              <a:ext cx="347473"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2B2350"/>
                  </a:solidFill>
                  <a:latin typeface="Arial"/>
                  <a:ea typeface="Arial"/>
                  <a:cs typeface="Arial"/>
                  <a:sym typeface="Arial"/>
                </a:defRPr>
              </a:lvl1pPr>
            </a:lstStyle>
            <a:p>
              <a:pPr/>
              <a:r>
                <a:t>2</a:t>
              </a:r>
            </a:p>
          </p:txBody>
        </p:sp>
        <p:sp>
          <p:nvSpPr>
            <p:cNvPr id="79" name="o1_t"/>
            <p:cNvSpPr txBox="1"/>
            <p:nvPr/>
          </p:nvSpPr>
          <p:spPr>
            <a:xfrm>
              <a:off x="164591" y="640079"/>
              <a:ext cx="2176273" cy="6012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b="1" sz="1200">
                  <a:solidFill>
                    <a:srgbClr val="2B2350"/>
                  </a:solidFill>
                  <a:latin typeface="Arial"/>
                  <a:ea typeface="Arial"/>
                  <a:cs typeface="Arial"/>
                  <a:sym typeface="Arial"/>
                </a:defRPr>
              </a:lvl1pPr>
            </a:lstStyle>
            <a:p>
              <a:pPr/>
              <a:r>
                <a:t>Substitute into a two-step formula, respecting order of operations.</a:t>
              </a:r>
            </a:p>
          </p:txBody>
        </p:sp>
      </p:grpSp>
      <p:grpSp>
        <p:nvGrpSpPr>
          <p:cNvPr id="85" name="o2"/>
          <p:cNvGrpSpPr/>
          <p:nvPr/>
        </p:nvGrpSpPr>
        <p:grpSpPr>
          <a:xfrm>
            <a:off x="6227064" y="1591055"/>
            <a:ext cx="2505457" cy="1463041"/>
            <a:chOff x="0" y="0"/>
            <a:chExt cx="2505455" cy="1463040"/>
          </a:xfrm>
        </p:grpSpPr>
        <p:sp>
          <p:nvSpPr>
            <p:cNvPr id="81" name="o2_bg"/>
            <p:cNvSpPr/>
            <p:nvPr/>
          </p:nvSpPr>
          <p:spPr>
            <a:xfrm>
              <a:off x="0" y="-1"/>
              <a:ext cx="2505456" cy="1463042"/>
            </a:xfrm>
            <a:prstGeom prst="roundRect">
              <a:avLst>
                <a:gd name="adj" fmla="val 3750"/>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82" name="o2_badge"/>
            <p:cNvSpPr/>
            <p:nvPr/>
          </p:nvSpPr>
          <p:spPr>
            <a:xfrm>
              <a:off x="164591" y="164591"/>
              <a:ext cx="347473" cy="347473"/>
            </a:xfrm>
            <a:prstGeom prst="ellipse">
              <a:avLst/>
            </a:prstGeom>
            <a:solidFill>
              <a:srgbClr val="EC6B58"/>
            </a:solidFill>
            <a:ln w="12700" cap="flat">
              <a:solidFill>
                <a:srgbClr val="EC6B58"/>
              </a:solidFill>
              <a:prstDash val="solid"/>
              <a:round/>
            </a:ln>
            <a:effectLst/>
          </p:spPr>
          <p:txBody>
            <a:bodyPr wrap="square" lIns="45719" tIns="45719" rIns="45719" bIns="45719" numCol="1" anchor="t">
              <a:noAutofit/>
            </a:bodyPr>
            <a:lstStyle/>
            <a:p>
              <a:pPr/>
            </a:p>
          </p:txBody>
        </p:sp>
        <p:sp>
          <p:nvSpPr>
            <p:cNvPr id="83" name="o2_num"/>
            <p:cNvSpPr txBox="1"/>
            <p:nvPr/>
          </p:nvSpPr>
          <p:spPr>
            <a:xfrm>
              <a:off x="164591" y="270555"/>
              <a:ext cx="347473" cy="13554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2B2350"/>
                  </a:solidFill>
                  <a:latin typeface="Arial"/>
                  <a:ea typeface="Arial"/>
                  <a:cs typeface="Arial"/>
                  <a:sym typeface="Arial"/>
                </a:defRPr>
              </a:lvl1pPr>
            </a:lstStyle>
            <a:p>
              <a:pPr/>
              <a:r>
                <a:t>3</a:t>
              </a:r>
            </a:p>
          </p:txBody>
        </p:sp>
        <p:sp>
          <p:nvSpPr>
            <p:cNvPr id="84" name="o2_t"/>
            <p:cNvSpPr txBox="1"/>
            <p:nvPr/>
          </p:nvSpPr>
          <p:spPr>
            <a:xfrm>
              <a:off x="164591" y="640079"/>
              <a:ext cx="2176273" cy="39805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b="1" sz="1200">
                  <a:solidFill>
                    <a:srgbClr val="2B2350"/>
                  </a:solidFill>
                  <a:latin typeface="Arial"/>
                  <a:ea typeface="Arial"/>
                  <a:cs typeface="Arial"/>
                  <a:sym typeface="Arial"/>
                </a:defRPr>
              </a:lvl1pPr>
            </a:lstStyle>
            <a:p>
              <a:pPr/>
              <a:r>
                <a:t>Substitute into a formula with two different letters.</a:t>
              </a:r>
            </a:p>
          </p:txBody>
        </p:sp>
      </p:grpSp>
      <p:grpSp>
        <p:nvGrpSpPr>
          <p:cNvPr id="88" name="obj_banner"/>
          <p:cNvGrpSpPr/>
          <p:nvPr/>
        </p:nvGrpSpPr>
        <p:grpSpPr>
          <a:xfrm>
            <a:off x="777240" y="3364991"/>
            <a:ext cx="7955281" cy="512065"/>
            <a:chOff x="0" y="0"/>
            <a:chExt cx="7955280" cy="512063"/>
          </a:xfrm>
        </p:grpSpPr>
        <p:sp>
          <p:nvSpPr>
            <p:cNvPr id="86" name="Rounded Rectangle"/>
            <p:cNvSpPr/>
            <p:nvPr/>
          </p:nvSpPr>
          <p:spPr>
            <a:xfrm>
              <a:off x="0" y="0"/>
              <a:ext cx="7955281" cy="512064"/>
            </a:xfrm>
            <a:prstGeom prst="roundRect">
              <a:avLst>
                <a:gd name="adj" fmla="val 14286"/>
              </a:avLst>
            </a:prstGeom>
            <a:solidFill>
              <a:srgbClr val="2B2350"/>
            </a:solidFill>
            <a:ln w="9525" cap="flat">
              <a:solidFill>
                <a:srgbClr val="2B2350"/>
              </a:solidFill>
              <a:prstDash val="solid"/>
              <a:round/>
            </a:ln>
            <a:effectLst/>
          </p:spPr>
          <p:txBody>
            <a:bodyPr wrap="square" lIns="45719" tIns="45719" rIns="45719" bIns="45719" numCol="1" anchor="ctr">
              <a:noAutofit/>
            </a:bodyPr>
            <a:lstStyle/>
            <a:p>
              <a:pPr algn="ctr">
                <a:defRPr sz="1300"/>
              </a:pPr>
            </a:p>
          </p:txBody>
        </p:sp>
        <p:sp>
          <p:nvSpPr>
            <p:cNvPr id="87" name="A formula is a rule. Put the number in, then work it out."/>
            <p:cNvSpPr txBox="1"/>
            <p:nvPr/>
          </p:nvSpPr>
          <p:spPr>
            <a:xfrm>
              <a:off x="26188" y="162466"/>
              <a:ext cx="7902904"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gn="ctr">
                <a:defRPr b="1" sz="1300">
                  <a:solidFill>
                    <a:srgbClr val="FFFFFF"/>
                  </a:solidFill>
                  <a:latin typeface="Arial"/>
                  <a:ea typeface="Arial"/>
                  <a:cs typeface="Arial"/>
                  <a:sym typeface="Arial"/>
                </a:defRPr>
              </a:lvl1pPr>
            </a:lstStyle>
            <a:p>
              <a:pPr/>
              <a:r>
                <a:t>A formula is a rule. Put the number in, then work it out.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6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75"/>
                                        </p:tgtEl>
                                        <p:attrNameLst>
                                          <p:attrName>style.visibility</p:attrName>
                                        </p:attrNameLst>
                                      </p:cBhvr>
                                      <p:to>
                                        <p:strVal val="visible"/>
                                      </p:to>
                                    </p:set>
                                    <p:animEffect filter="fade" transition="in">
                                      <p:cBhvr>
                                        <p:cTn id="11" dur="400"/>
                                        <p:tgtEl>
                                          <p:spTgt spid="75"/>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0"/>
                                        </p:tgtEl>
                                        <p:attrNameLst>
                                          <p:attrName>style.visibility</p:attrName>
                                        </p:attrNameLst>
                                      </p:cBhvr>
                                      <p:to>
                                        <p:strVal val="visible"/>
                                      </p:to>
                                    </p:set>
                                    <p:animEffect filter="fade" transition="in">
                                      <p:cBhvr>
                                        <p:cTn id="16" dur="400"/>
                                        <p:tgtEl>
                                          <p:spTgt spid="8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85"/>
                                        </p:tgtEl>
                                        <p:attrNameLst>
                                          <p:attrName>style.visibility</p:attrName>
                                        </p:attrNameLst>
                                      </p:cBhvr>
                                      <p:to>
                                        <p:strVal val="visible"/>
                                      </p:to>
                                    </p:set>
                                    <p:animEffect filter="fade" transition="in">
                                      <p:cBhvr>
                                        <p:cTn id="21" dur="400"/>
                                        <p:tgtEl>
                                          <p:spTgt spid="85"/>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88"/>
                                        </p:tgtEl>
                                        <p:attrNameLst>
                                          <p:attrName>style.visibility</p:attrName>
                                        </p:attrNameLst>
                                      </p:cBhvr>
                                      <p:to>
                                        <p:strVal val="visible"/>
                                      </p:to>
                                    </p:set>
                                    <p:anim calcmode="lin" valueType="num">
                                      <p:cBhvr>
                                        <p:cTn id="26" dur="400" fill="hold"/>
                                        <p:tgtEl>
                                          <p:spTgt spid="88"/>
                                        </p:tgtEl>
                                        <p:attrNameLst>
                                          <p:attrName>ppt_w</p:attrName>
                                        </p:attrNameLst>
                                      </p:cBhvr>
                                      <p:tavLst>
                                        <p:tav tm="0">
                                          <p:val>
                                            <p:fltVal val="0"/>
                                          </p:val>
                                        </p:tav>
                                        <p:tav tm="100000">
                                          <p:val>
                                            <p:strVal val="#ppt_w"/>
                                          </p:val>
                                        </p:tav>
                                      </p:tavLst>
                                    </p:anim>
                                    <p:anim calcmode="lin" valueType="num">
                                      <p:cBhvr>
                                        <p:cTn id="27" dur="400" fill="hold"/>
                                        <p:tgtEl>
                                          <p:spTgt spid="8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66"/>
                </p:tgtEl>
              </p:cMediaNode>
            </p:video>
            <p:seq concurrent="1" prevAc="none" nextAc="seek">
              <p:cTn id="29" evtFilter="cancelBubble" nodeType="interactiveSeq" restart="whenNotActive" fill="hold">
                <p:stCondLst>
                  <p:cond delay="0" evt="onClick">
                    <p:tgtEl>
                      <p:spTgt spid="66"/>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66"/>
                                        </p:tgtEl>
                                      </p:cBhvr>
                                    </p:cmd>
                                  </p:childTnLst>
                                </p:cTn>
                              </p:par>
                            </p:childTnLst>
                          </p:cTn>
                        </p:par>
                      </p:childTnLst>
                    </p:cTn>
                  </p:par>
                </p:childTnLst>
              </p:cTn>
              <p:nextCondLst>
                <p:cond delay="0" evt="onClick">
                  <p:tgtEl>
                    <p:spTgt spid="66"/>
                  </p:tgtEl>
                </p:cond>
              </p:nextCondLst>
            </p:seq>
          </p:childTnLst>
        </p:cTn>
      </p:par>
    </p:tnLst>
    <p:bldLst>
      <p:bldP build="whole" bldLvl="1" animBg="1" rev="0" advAuto="0" spid="80" grpId="3"/>
      <p:bldP build="whole" bldLvl="1" animBg="1" rev="0" advAuto="0" spid="75" grpId="2"/>
      <p:bldP build="whole" bldLvl="1" animBg="1" rev="0" advAuto="0" spid="85" grpId="4"/>
      <p:bldP build="whole" bldLvl="1" animBg="1" rev="0" advAuto="0" spid="88" grpId="5"/>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182879" y="182879"/>
            <a:ext cx="310897" cy="4777742"/>
          </a:xfrm>
          <a:prstGeom prst="rect">
            <a:avLst/>
          </a:prstGeom>
          <a:ln w="12700">
            <a:miter lim="400000"/>
          </a:ln>
        </p:spPr>
      </p:pic>
      <p:grpSp>
        <p:nvGrpSpPr>
          <p:cNvPr id="95" name="phase_pill"/>
          <p:cNvGrpSpPr/>
          <p:nvPr/>
        </p:nvGrpSpPr>
        <p:grpSpPr>
          <a:xfrm>
            <a:off x="777240" y="274320"/>
            <a:ext cx="1422806" cy="292609"/>
            <a:chOff x="0" y="0"/>
            <a:chExt cx="1422805" cy="292608"/>
          </a:xfrm>
        </p:grpSpPr>
        <p:sp>
          <p:nvSpPr>
            <p:cNvPr id="93" name="Rounded Rectangle"/>
            <p:cNvSpPr/>
            <p:nvPr/>
          </p:nvSpPr>
          <p:spPr>
            <a:xfrm>
              <a:off x="0" y="0"/>
              <a:ext cx="1422806" cy="292609"/>
            </a:xfrm>
            <a:prstGeom prst="roundRect">
              <a:avLst>
                <a:gd name="adj" fmla="val 4375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94" name="HOOK · 2 MIN"/>
            <p:cNvSpPr txBox="1"/>
            <p:nvPr/>
          </p:nvSpPr>
          <p:spPr>
            <a:xfrm>
              <a:off x="37495" y="82803"/>
              <a:ext cx="134781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HOOK · 2 MIN</a:t>
              </a:r>
            </a:p>
          </p:txBody>
        </p:sp>
      </p:grpSp>
      <p:sp>
        <p:nvSpPr>
          <p:cNvPr id="96" name="slide_title"/>
          <p:cNvSpPr txBox="1"/>
          <p:nvPr/>
        </p:nvSpPr>
        <p:spPr>
          <a:xfrm>
            <a:off x="777239" y="775207"/>
            <a:ext cx="795528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2B2350"/>
                </a:solidFill>
                <a:latin typeface="Georgia"/>
                <a:ea typeface="Georgia"/>
                <a:cs typeface="Georgia"/>
                <a:sym typeface="Georgia"/>
              </a:defRPr>
            </a:lvl1pPr>
          </a:lstStyle>
          <a:p>
            <a:pPr/>
            <a:r>
              <a:t>Which one is right?</a:t>
            </a:r>
          </a:p>
        </p:txBody>
      </p:sp>
      <p:sp>
        <p:nvSpPr>
          <p:cNvPr id="97" name="hook_q"/>
          <p:cNvSpPr txBox="1"/>
          <p:nvPr/>
        </p:nvSpPr>
        <p:spPr>
          <a:xfrm>
            <a:off x="777239" y="1386296"/>
            <a:ext cx="7955282" cy="64726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600"/>
              </a:lnSpc>
              <a:defRPr b="1" sz="1900">
                <a:solidFill>
                  <a:srgbClr val="2B2350"/>
                </a:solidFill>
                <a:latin typeface="Georgia"/>
                <a:ea typeface="Georgia"/>
                <a:cs typeface="Georgia"/>
                <a:sym typeface="Georgia"/>
              </a:defRPr>
            </a:lvl1pPr>
          </a:lstStyle>
          <a:p>
            <a:pPr/>
            <a:r>
              <a:t>A taxi costs £5, plus £3 for every kilometre. How much is a 4 km journey?</a:t>
            </a:r>
          </a:p>
        </p:txBody>
      </p:sp>
      <p:grpSp>
        <p:nvGrpSpPr>
          <p:cNvPr id="101" name="h0"/>
          <p:cNvGrpSpPr/>
          <p:nvPr/>
        </p:nvGrpSpPr>
        <p:grpSpPr>
          <a:xfrm>
            <a:off x="777240" y="2359151"/>
            <a:ext cx="2505456" cy="1042417"/>
            <a:chOff x="0" y="0"/>
            <a:chExt cx="2505455" cy="1042416"/>
          </a:xfrm>
        </p:grpSpPr>
        <p:sp>
          <p:nvSpPr>
            <p:cNvPr id="98" name="h0_bg"/>
            <p:cNvSpPr/>
            <p:nvPr/>
          </p:nvSpPr>
          <p:spPr>
            <a:xfrm>
              <a:off x="0" y="0"/>
              <a:ext cx="2505456" cy="1042417"/>
            </a:xfrm>
            <a:prstGeom prst="roundRect">
              <a:avLst>
                <a:gd name="adj" fmla="val 5263"/>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99" name="h0_k"/>
            <p:cNvSpPr txBox="1"/>
            <p:nvPr/>
          </p:nvSpPr>
          <p:spPr>
            <a:xfrm>
              <a:off x="182879" y="159258"/>
              <a:ext cx="36576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0392B"/>
                  </a:solidFill>
                  <a:latin typeface="Georgia"/>
                  <a:ea typeface="Georgia"/>
                  <a:cs typeface="Georgia"/>
                  <a:sym typeface="Georgia"/>
                </a:defRPr>
              </a:lvl1pPr>
            </a:lstStyle>
            <a:p>
              <a:pPr/>
              <a:r>
                <a:t>A</a:t>
              </a:r>
            </a:p>
          </p:txBody>
        </p:sp>
        <p:sp>
          <p:nvSpPr>
            <p:cNvPr id="100" name="h0_t"/>
            <p:cNvSpPr txBox="1"/>
            <p:nvPr/>
          </p:nvSpPr>
          <p:spPr>
            <a:xfrm>
              <a:off x="182880" y="523494"/>
              <a:ext cx="2139696"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2B2350"/>
                  </a:solidFill>
                  <a:latin typeface="Georgia"/>
                  <a:ea typeface="Georgia"/>
                  <a:cs typeface="Georgia"/>
                  <a:sym typeface="Georgia"/>
                </a:defRPr>
              </a:lvl1pPr>
            </a:lstStyle>
            <a:p>
              <a:pPr/>
              <a:r>
                <a:t>£17</a:t>
              </a:r>
            </a:p>
          </p:txBody>
        </p:sp>
      </p:grpSp>
      <p:grpSp>
        <p:nvGrpSpPr>
          <p:cNvPr id="105" name="h1"/>
          <p:cNvGrpSpPr/>
          <p:nvPr/>
        </p:nvGrpSpPr>
        <p:grpSpPr>
          <a:xfrm>
            <a:off x="3502152" y="2359151"/>
            <a:ext cx="2505457" cy="1042417"/>
            <a:chOff x="0" y="0"/>
            <a:chExt cx="2505455" cy="1042416"/>
          </a:xfrm>
        </p:grpSpPr>
        <p:sp>
          <p:nvSpPr>
            <p:cNvPr id="102" name="h1_bg"/>
            <p:cNvSpPr/>
            <p:nvPr/>
          </p:nvSpPr>
          <p:spPr>
            <a:xfrm>
              <a:off x="0" y="0"/>
              <a:ext cx="2505456" cy="1042417"/>
            </a:xfrm>
            <a:prstGeom prst="roundRect">
              <a:avLst>
                <a:gd name="adj" fmla="val 5263"/>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103" name="h1_k"/>
            <p:cNvSpPr txBox="1"/>
            <p:nvPr/>
          </p:nvSpPr>
          <p:spPr>
            <a:xfrm>
              <a:off x="182879" y="159258"/>
              <a:ext cx="36576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0392B"/>
                  </a:solidFill>
                  <a:latin typeface="Georgia"/>
                  <a:ea typeface="Georgia"/>
                  <a:cs typeface="Georgia"/>
                  <a:sym typeface="Georgia"/>
                </a:defRPr>
              </a:lvl1pPr>
            </a:lstStyle>
            <a:p>
              <a:pPr/>
              <a:r>
                <a:t>B</a:t>
              </a:r>
            </a:p>
          </p:txBody>
        </p:sp>
        <p:sp>
          <p:nvSpPr>
            <p:cNvPr id="104" name="h1_t"/>
            <p:cNvSpPr txBox="1"/>
            <p:nvPr/>
          </p:nvSpPr>
          <p:spPr>
            <a:xfrm>
              <a:off x="182880" y="523494"/>
              <a:ext cx="2139696"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2B2350"/>
                  </a:solidFill>
                  <a:latin typeface="Georgia"/>
                  <a:ea typeface="Georgia"/>
                  <a:cs typeface="Georgia"/>
                  <a:sym typeface="Georgia"/>
                </a:defRPr>
              </a:lvl1pPr>
            </a:lstStyle>
            <a:p>
              <a:pPr/>
              <a:r>
                <a:t>£32</a:t>
              </a:r>
            </a:p>
          </p:txBody>
        </p:sp>
      </p:grpSp>
      <p:grpSp>
        <p:nvGrpSpPr>
          <p:cNvPr id="109" name="h2"/>
          <p:cNvGrpSpPr/>
          <p:nvPr/>
        </p:nvGrpSpPr>
        <p:grpSpPr>
          <a:xfrm>
            <a:off x="6227064" y="2359151"/>
            <a:ext cx="2505457" cy="1042417"/>
            <a:chOff x="0" y="0"/>
            <a:chExt cx="2505455" cy="1042416"/>
          </a:xfrm>
        </p:grpSpPr>
        <p:sp>
          <p:nvSpPr>
            <p:cNvPr id="106" name="h2_bg"/>
            <p:cNvSpPr/>
            <p:nvPr/>
          </p:nvSpPr>
          <p:spPr>
            <a:xfrm>
              <a:off x="0" y="0"/>
              <a:ext cx="2505456" cy="1042417"/>
            </a:xfrm>
            <a:prstGeom prst="roundRect">
              <a:avLst>
                <a:gd name="adj" fmla="val 5263"/>
              </a:avLst>
            </a:prstGeom>
            <a:solidFill>
              <a:srgbClr val="F2F0F8"/>
            </a:solidFill>
            <a:ln w="12700" cap="flat">
              <a:solidFill>
                <a:srgbClr val="F2F0F8"/>
              </a:solidFill>
              <a:prstDash val="solid"/>
              <a:round/>
            </a:ln>
            <a:effectLst/>
          </p:spPr>
          <p:txBody>
            <a:bodyPr wrap="square" lIns="45719" tIns="45719" rIns="45719" bIns="45719" numCol="1" anchor="t">
              <a:noAutofit/>
            </a:bodyPr>
            <a:lstStyle/>
            <a:p>
              <a:pPr/>
            </a:p>
          </p:txBody>
        </p:sp>
        <p:sp>
          <p:nvSpPr>
            <p:cNvPr id="107" name="h2_k"/>
            <p:cNvSpPr txBox="1"/>
            <p:nvPr/>
          </p:nvSpPr>
          <p:spPr>
            <a:xfrm>
              <a:off x="182879" y="159258"/>
              <a:ext cx="36576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C0392B"/>
                  </a:solidFill>
                  <a:latin typeface="Georgia"/>
                  <a:ea typeface="Georgia"/>
                  <a:cs typeface="Georgia"/>
                  <a:sym typeface="Georgia"/>
                </a:defRPr>
              </a:lvl1pPr>
            </a:lstStyle>
            <a:p>
              <a:pPr/>
              <a:r>
                <a:t>C</a:t>
              </a:r>
            </a:p>
          </p:txBody>
        </p:sp>
        <p:sp>
          <p:nvSpPr>
            <p:cNvPr id="108" name="h2_t"/>
            <p:cNvSpPr txBox="1"/>
            <p:nvPr/>
          </p:nvSpPr>
          <p:spPr>
            <a:xfrm>
              <a:off x="182880" y="523494"/>
              <a:ext cx="2139696"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2B2350"/>
                  </a:solidFill>
                  <a:latin typeface="Georgia"/>
                  <a:ea typeface="Georgia"/>
                  <a:cs typeface="Georgia"/>
                  <a:sym typeface="Georgia"/>
                </a:defRPr>
              </a:lvl1pPr>
            </a:lstStyle>
            <a:p>
              <a:pPr/>
              <a:r>
                <a:t>£12</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97"/>
                                        </p:tgtEl>
                                        <p:attrNameLst>
                                          <p:attrName>style.visibility</p:attrName>
                                        </p:attrNameLst>
                                      </p:cBhvr>
                                      <p:to>
                                        <p:strVal val="visible"/>
                                      </p:to>
                                    </p:set>
                                    <p:animEffect filter="fade" transition="in">
                                      <p:cBhvr>
                                        <p:cTn id="11" dur="400"/>
                                        <p:tgtEl>
                                          <p:spTgt spid="9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01"/>
                                        </p:tgtEl>
                                        <p:attrNameLst>
                                          <p:attrName>style.visibility</p:attrName>
                                        </p:attrNameLst>
                                      </p:cBhvr>
                                      <p:to>
                                        <p:strVal val="visible"/>
                                      </p:to>
                                    </p:set>
                                    <p:animEffect filter="fade" transition="in">
                                      <p:cBhvr>
                                        <p:cTn id="16" dur="400"/>
                                        <p:tgtEl>
                                          <p:spTgt spid="101"/>
                                        </p:tgtEl>
                                      </p:cBhvr>
                                    </p:animEffect>
                                  </p:childTnLst>
                                </p:cTn>
                              </p:par>
                            </p:childTnLst>
                          </p:cTn>
                        </p:par>
                        <p:par>
                          <p:cTn id="17" fill="hold">
                            <p:stCondLst>
                              <p:cond delay="400"/>
                            </p:stCondLst>
                            <p:childTnLst>
                              <p:par>
                                <p:cTn id="18" presetClass="entr" nodeType="afterEffect" presetID="10" grpId="4" fill="hold">
                                  <p:stCondLst>
                                    <p:cond delay="150"/>
                                  </p:stCondLst>
                                  <p:iterate type="el" backwards="0">
                                    <p:tmAbs val="0"/>
                                  </p:iterate>
                                  <p:childTnLst>
                                    <p:set>
                                      <p:cBhvr>
                                        <p:cTn id="19" fill="hold"/>
                                        <p:tgtEl>
                                          <p:spTgt spid="105"/>
                                        </p:tgtEl>
                                        <p:attrNameLst>
                                          <p:attrName>style.visibility</p:attrName>
                                        </p:attrNameLst>
                                      </p:cBhvr>
                                      <p:to>
                                        <p:strVal val="visible"/>
                                      </p:to>
                                    </p:set>
                                    <p:animEffect filter="fade" transition="in">
                                      <p:cBhvr>
                                        <p:cTn id="20" dur="400"/>
                                        <p:tgtEl>
                                          <p:spTgt spid="105"/>
                                        </p:tgtEl>
                                      </p:cBhvr>
                                    </p:animEffect>
                                  </p:childTnLst>
                                </p:cTn>
                              </p:par>
                            </p:childTnLst>
                          </p:cTn>
                        </p:par>
                        <p:par>
                          <p:cTn id="21" fill="hold">
                            <p:stCondLst>
                              <p:cond delay="950"/>
                            </p:stCondLst>
                            <p:childTnLst>
                              <p:par>
                                <p:cTn id="22" presetClass="entr" nodeType="afterEffect" presetID="10" grpId="5" fill="hold">
                                  <p:stCondLst>
                                    <p:cond delay="300"/>
                                  </p:stCondLst>
                                  <p:iterate type="el" backwards="0">
                                    <p:tmAbs val="0"/>
                                  </p:iterate>
                                  <p:childTnLst>
                                    <p:set>
                                      <p:cBhvr>
                                        <p:cTn id="23" fill="hold"/>
                                        <p:tgtEl>
                                          <p:spTgt spid="109"/>
                                        </p:tgtEl>
                                        <p:attrNameLst>
                                          <p:attrName>style.visibility</p:attrName>
                                        </p:attrNameLst>
                                      </p:cBhvr>
                                      <p:to>
                                        <p:strVal val="visible"/>
                                      </p:to>
                                    </p:set>
                                    <p:animEffect filter="fade" transition="in">
                                      <p:cBhvr>
                                        <p:cTn id="24" dur="4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5" fill="hold" display="0">
                  <p:stCondLst>
                    <p:cond delay="indefinite"/>
                  </p:stCondLst>
                </p:cTn>
                <p:tgtEl>
                  <p:spTgt spid="92"/>
                </p:tgtEl>
              </p:cMediaNode>
            </p:video>
            <p:seq concurrent="1" prevAc="none" nextAc="seek">
              <p:cTn id="26" evtFilter="cancelBubble" nodeType="interactiveSeq" restart="whenNotActive" fill="hold">
                <p:stCondLst>
                  <p:cond delay="0" evt="onClick">
                    <p:tgtEl>
                      <p:spTgt spid="92"/>
                    </p:tgtEl>
                  </p:cond>
                </p:stCondLst>
                <p:endSync delay="0" evt="end">
                  <p:rtn val="all"/>
                </p:endSync>
                <p:childTnLst>
                  <p:par>
                    <p:cTn id="27" fill="hold">
                      <p:stCondLst>
                        <p:cond delay="0"/>
                      </p:stCondLst>
                      <p:childTnLst>
                        <p:par>
                          <p:cTn id="28" fill="hold">
                            <p:stCondLst>
                              <p:cond delay="0"/>
                            </p:stCondLst>
                            <p:childTnLst>
                              <p:par>
                                <p:cTn id="29" presetClass="mediacall" nodeType="clickEffect" presetSubtype="0" presetID="2" fill="hold">
                                  <p:stCondLst>
                                    <p:cond delay="0"/>
                                  </p:stCondLst>
                                  <p:childTnLst>
                                    <p:cmd type="call" cmd="togglePause">
                                      <p:cBhvr>
                                        <p:cTn id="30" dur="1" fill="hold"/>
                                        <p:tgtEl>
                                          <p:spTgt spid="92"/>
                                        </p:tgtEl>
                                      </p:cBhvr>
                                    </p:cmd>
                                  </p:childTnLst>
                                </p:cTn>
                              </p:par>
                            </p:childTnLst>
                          </p:cTn>
                        </p:par>
                      </p:childTnLst>
                    </p:cTn>
                  </p:par>
                </p:childTnLst>
              </p:cTn>
              <p:nextCondLst>
                <p:cond delay="0" evt="onClick">
                  <p:tgtEl>
                    <p:spTgt spid="92"/>
                  </p:tgtEl>
                </p:cond>
              </p:nextCondLst>
            </p:seq>
          </p:childTnLst>
        </p:cTn>
      </p:par>
    </p:tnLst>
    <p:bldLst>
      <p:bldP build="whole" bldLvl="1" animBg="1" rev="0" advAuto="0" spid="101" grpId="3"/>
      <p:bldP build="whole" bldLvl="1" animBg="1" rev="0" advAuto="0" spid="105" grpId="4"/>
      <p:bldP build="whole" bldLvl="1" animBg="1" rev="0" advAuto="0" spid="109" grpId="5"/>
      <p:bldP build="whole" bldLvl="1" animBg="1" rev="0" advAuto="0" spid="97" grpId="2"/>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182879" y="182879"/>
            <a:ext cx="310897" cy="4777742"/>
          </a:xfrm>
          <a:prstGeom prst="rect">
            <a:avLst/>
          </a:prstGeom>
          <a:ln w="12700">
            <a:miter lim="400000"/>
          </a:ln>
        </p:spPr>
      </p:pic>
      <p:grpSp>
        <p:nvGrpSpPr>
          <p:cNvPr id="116" name="phase_pill"/>
          <p:cNvGrpSpPr/>
          <p:nvPr/>
        </p:nvGrpSpPr>
        <p:grpSpPr>
          <a:xfrm>
            <a:off x="777240" y="274320"/>
            <a:ext cx="1422806" cy="292609"/>
            <a:chOff x="0" y="0"/>
            <a:chExt cx="1422805" cy="292608"/>
          </a:xfrm>
        </p:grpSpPr>
        <p:sp>
          <p:nvSpPr>
            <p:cNvPr id="114" name="Rounded Rectangle"/>
            <p:cNvSpPr/>
            <p:nvPr/>
          </p:nvSpPr>
          <p:spPr>
            <a:xfrm>
              <a:off x="0" y="0"/>
              <a:ext cx="1422806" cy="292609"/>
            </a:xfrm>
            <a:prstGeom prst="roundRect">
              <a:avLst>
                <a:gd name="adj" fmla="val 4375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115" name="I DO · 6 MIN"/>
            <p:cNvSpPr txBox="1"/>
            <p:nvPr/>
          </p:nvSpPr>
          <p:spPr>
            <a:xfrm>
              <a:off x="37495" y="82803"/>
              <a:ext cx="134781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I DO · 6 MIN</a:t>
              </a:r>
            </a:p>
          </p:txBody>
        </p:sp>
      </p:grpSp>
      <p:sp>
        <p:nvSpPr>
          <p:cNvPr id="117" name="slide_title"/>
          <p:cNvSpPr txBox="1"/>
          <p:nvPr/>
        </p:nvSpPr>
        <p:spPr>
          <a:xfrm>
            <a:off x="777239" y="775207"/>
            <a:ext cx="795528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2B2350"/>
                </a:solidFill>
                <a:latin typeface="Georgia"/>
                <a:ea typeface="Georgia"/>
                <a:cs typeface="Georgia"/>
                <a:sym typeface="Georgia"/>
              </a:defRPr>
            </a:lvl1pPr>
          </a:lstStyle>
          <a:p>
            <a:pPr/>
            <a:r>
              <a:t>Put the number in</a:t>
            </a:r>
          </a:p>
        </p:txBody>
      </p:sp>
      <p:sp>
        <p:nvSpPr>
          <p:cNvPr id="118" name="slide_sub"/>
          <p:cNvSpPr txBox="1"/>
          <p:nvPr/>
        </p:nvSpPr>
        <p:spPr>
          <a:xfrm>
            <a:off x="777239" y="1288540"/>
            <a:ext cx="7955282"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E5A70"/>
                </a:solidFill>
                <a:latin typeface="Arial"/>
                <a:ea typeface="Arial"/>
                <a:cs typeface="Arial"/>
                <a:sym typeface="Arial"/>
              </a:defRPr>
            </a:lvl1pPr>
          </a:lstStyle>
          <a:p>
            <a:pPr/>
            <a:r>
              <a:t>Substitute means swap the letter for its number.</a:t>
            </a:r>
          </a:p>
        </p:txBody>
      </p:sp>
      <p:sp>
        <p:nvSpPr>
          <p:cNvPr id="119" name="ea_bg"/>
          <p:cNvSpPr/>
          <p:nvPr/>
        </p:nvSpPr>
        <p:spPr>
          <a:xfrm>
            <a:off x="777240" y="1591055"/>
            <a:ext cx="4572001" cy="1408177"/>
          </a:xfrm>
          <a:prstGeom prst="roundRect">
            <a:avLst>
              <a:gd name="adj" fmla="val 3896"/>
            </a:avLst>
          </a:prstGeom>
          <a:solidFill>
            <a:srgbClr val="F2F0F8"/>
          </a:solidFill>
          <a:ln w="12700">
            <a:solidFill>
              <a:srgbClr val="F2F0F8"/>
            </a:solidFill>
          </a:ln>
        </p:spPr>
        <p:txBody>
          <a:bodyPr lIns="45719" rIns="45719"/>
          <a:lstStyle/>
          <a:p>
            <a:pPr/>
          </a:p>
        </p:txBody>
      </p:sp>
      <p:sp>
        <p:nvSpPr>
          <p:cNvPr id="120" name="ea_h"/>
          <p:cNvSpPr txBox="1"/>
          <p:nvPr/>
        </p:nvSpPr>
        <p:spPr>
          <a:xfrm>
            <a:off x="960119" y="1724104"/>
            <a:ext cx="4206242"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5E5A70"/>
                </a:solidFill>
                <a:latin typeface="Arial"/>
                <a:ea typeface="Arial"/>
                <a:cs typeface="Arial"/>
                <a:sym typeface="Arial"/>
              </a:defRPr>
            </a:lvl1pPr>
          </a:lstStyle>
          <a:p>
            <a:pPr/>
            <a:r>
              <a:t>Find 4n when n = 3</a:t>
            </a:r>
          </a:p>
        </p:txBody>
      </p:sp>
      <p:sp>
        <p:nvSpPr>
          <p:cNvPr id="121" name="ea_l0"/>
          <p:cNvSpPr txBox="1"/>
          <p:nvPr/>
        </p:nvSpPr>
        <p:spPr>
          <a:xfrm>
            <a:off x="1014983" y="2019229"/>
            <a:ext cx="4114801"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solidFill>
                  <a:srgbClr val="2B2350"/>
                </a:solidFill>
                <a:latin typeface="Arial"/>
                <a:ea typeface="Arial"/>
                <a:cs typeface="Arial"/>
                <a:sym typeface="Arial"/>
              </a:defRPr>
            </a:pPr>
            <a:r>
              <a:t>4</a:t>
            </a:r>
            <a:r>
              <a:rPr>
                <a:solidFill>
                  <a:srgbClr val="1F6FB2"/>
                </a:solidFill>
              </a:rPr>
              <a:t>n</a:t>
            </a:r>
            <a:r>
              <a:t>  =  4 × </a:t>
            </a:r>
            <a:r>
              <a:rPr>
                <a:solidFill>
                  <a:srgbClr val="1F6FB2"/>
                </a:solidFill>
              </a:rPr>
              <a:t>n</a:t>
            </a:r>
          </a:p>
        </p:txBody>
      </p:sp>
      <p:sp>
        <p:nvSpPr>
          <p:cNvPr id="122" name="ea_l1"/>
          <p:cNvSpPr txBox="1"/>
          <p:nvPr/>
        </p:nvSpPr>
        <p:spPr>
          <a:xfrm>
            <a:off x="1014983" y="2348413"/>
            <a:ext cx="4114801"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solidFill>
                  <a:srgbClr val="2B2350"/>
                </a:solidFill>
                <a:latin typeface="Arial"/>
                <a:ea typeface="Arial"/>
                <a:cs typeface="Arial"/>
                <a:sym typeface="Arial"/>
              </a:defRPr>
            </a:pPr>
            <a:r>
              <a:t>=  4 × </a:t>
            </a:r>
            <a:r>
              <a:rPr>
                <a:solidFill>
                  <a:srgbClr val="C0392B"/>
                </a:solidFill>
              </a:rPr>
              <a:t>3</a:t>
            </a:r>
          </a:p>
        </p:txBody>
      </p:sp>
      <p:sp>
        <p:nvSpPr>
          <p:cNvPr id="123" name="ea_l2"/>
          <p:cNvSpPr txBox="1"/>
          <p:nvPr/>
        </p:nvSpPr>
        <p:spPr>
          <a:xfrm>
            <a:off x="1014983" y="2677597"/>
            <a:ext cx="4114801"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C0392B"/>
                </a:solidFill>
                <a:latin typeface="Arial"/>
                <a:ea typeface="Arial"/>
                <a:cs typeface="Arial"/>
                <a:sym typeface="Arial"/>
              </a:defRPr>
            </a:lvl1pPr>
          </a:lstStyle>
          <a:p>
            <a:pPr/>
            <a:r>
              <a:t>=  12</a:t>
            </a:r>
          </a:p>
        </p:txBody>
      </p:sp>
      <p:sp>
        <p:nvSpPr>
          <p:cNvPr id="124" name="eb_bg"/>
          <p:cNvSpPr/>
          <p:nvPr/>
        </p:nvSpPr>
        <p:spPr>
          <a:xfrm>
            <a:off x="777240" y="3108960"/>
            <a:ext cx="4572001" cy="1810513"/>
          </a:xfrm>
          <a:prstGeom prst="roundRect">
            <a:avLst>
              <a:gd name="adj" fmla="val 3030"/>
            </a:avLst>
          </a:prstGeom>
          <a:solidFill>
            <a:srgbClr val="F2F0F8"/>
          </a:solidFill>
          <a:ln w="12700">
            <a:solidFill>
              <a:srgbClr val="F2F0F8"/>
            </a:solidFill>
          </a:ln>
        </p:spPr>
        <p:txBody>
          <a:bodyPr lIns="45719" rIns="45719"/>
          <a:lstStyle/>
          <a:p>
            <a:pPr/>
          </a:p>
        </p:txBody>
      </p:sp>
      <p:sp>
        <p:nvSpPr>
          <p:cNvPr id="125" name="eb_h"/>
          <p:cNvSpPr txBox="1"/>
          <p:nvPr/>
        </p:nvSpPr>
        <p:spPr>
          <a:xfrm>
            <a:off x="960119" y="3242008"/>
            <a:ext cx="4206242"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5E5A70"/>
                </a:solidFill>
                <a:latin typeface="Arial"/>
                <a:ea typeface="Arial"/>
                <a:cs typeface="Arial"/>
                <a:sym typeface="Arial"/>
              </a:defRPr>
            </a:lvl1pPr>
          </a:lstStyle>
          <a:p>
            <a:pPr/>
            <a:r>
              <a:t>Find 3n + 2 when n = 4</a:t>
            </a:r>
          </a:p>
        </p:txBody>
      </p:sp>
      <p:sp>
        <p:nvSpPr>
          <p:cNvPr id="126" name="eb_l0"/>
          <p:cNvSpPr txBox="1"/>
          <p:nvPr/>
        </p:nvSpPr>
        <p:spPr>
          <a:xfrm>
            <a:off x="1014983" y="3537133"/>
            <a:ext cx="4114801"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solidFill>
                  <a:srgbClr val="2B2350"/>
                </a:solidFill>
                <a:latin typeface="Arial"/>
                <a:ea typeface="Arial"/>
                <a:cs typeface="Arial"/>
                <a:sym typeface="Arial"/>
              </a:defRPr>
            </a:pPr>
            <a:r>
              <a:t>3</a:t>
            </a:r>
            <a:r>
              <a:rPr>
                <a:solidFill>
                  <a:srgbClr val="1F6FB2"/>
                </a:solidFill>
              </a:rPr>
              <a:t>n</a:t>
            </a:r>
            <a:r>
              <a:t> + 2  =  3 × </a:t>
            </a:r>
            <a:r>
              <a:rPr>
                <a:solidFill>
                  <a:srgbClr val="1F6FB2"/>
                </a:solidFill>
              </a:rPr>
              <a:t>n</a:t>
            </a:r>
            <a:r>
              <a:t> + 2</a:t>
            </a:r>
          </a:p>
        </p:txBody>
      </p:sp>
      <p:sp>
        <p:nvSpPr>
          <p:cNvPr id="127" name="eb_l1"/>
          <p:cNvSpPr txBox="1"/>
          <p:nvPr/>
        </p:nvSpPr>
        <p:spPr>
          <a:xfrm>
            <a:off x="1014983" y="3866317"/>
            <a:ext cx="4114801"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solidFill>
                  <a:srgbClr val="2B2350"/>
                </a:solidFill>
                <a:latin typeface="Arial"/>
                <a:ea typeface="Arial"/>
                <a:cs typeface="Arial"/>
                <a:sym typeface="Arial"/>
              </a:defRPr>
            </a:pPr>
            <a:r>
              <a:t>=  3 × </a:t>
            </a:r>
            <a:r>
              <a:rPr>
                <a:solidFill>
                  <a:srgbClr val="C0392B"/>
                </a:solidFill>
              </a:rPr>
              <a:t>4</a:t>
            </a:r>
            <a:r>
              <a:t> + 2</a:t>
            </a:r>
          </a:p>
        </p:txBody>
      </p:sp>
      <p:sp>
        <p:nvSpPr>
          <p:cNvPr id="128" name="eb_l2"/>
          <p:cNvSpPr txBox="1"/>
          <p:nvPr/>
        </p:nvSpPr>
        <p:spPr>
          <a:xfrm>
            <a:off x="1014983" y="4195501"/>
            <a:ext cx="4114801"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a:solidFill>
                  <a:srgbClr val="2B2350"/>
                </a:solidFill>
                <a:latin typeface="Arial"/>
                <a:ea typeface="Arial"/>
                <a:cs typeface="Arial"/>
                <a:sym typeface="Arial"/>
              </a:defRPr>
            </a:pPr>
            <a:r>
              <a:t>=  12 + 2</a:t>
            </a:r>
            <a:r>
              <a:rPr>
                <a:solidFill>
                  <a:srgbClr val="5E5A70"/>
                </a:solidFill>
              </a:rPr>
              <a:t>     multiply first</a:t>
            </a:r>
          </a:p>
        </p:txBody>
      </p:sp>
      <p:sp>
        <p:nvSpPr>
          <p:cNvPr id="129" name="eb_l3"/>
          <p:cNvSpPr txBox="1"/>
          <p:nvPr/>
        </p:nvSpPr>
        <p:spPr>
          <a:xfrm>
            <a:off x="1014983" y="4524685"/>
            <a:ext cx="4114801"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C0392B"/>
                </a:solidFill>
                <a:latin typeface="Arial"/>
                <a:ea typeface="Arial"/>
                <a:cs typeface="Arial"/>
                <a:sym typeface="Arial"/>
              </a:defRPr>
            </a:lvl1pPr>
          </a:lstStyle>
          <a:p>
            <a:pPr/>
            <a:r>
              <a:t>=  14</a:t>
            </a:r>
          </a:p>
        </p:txBody>
      </p:sp>
      <p:pic>
        <p:nvPicPr>
          <p:cNvPr id="130" name="Media 1" descr="Media 1"/>
          <p:cNvPicPr>
            <a:picLocks noChangeAspect="0"/>
          </p:cNvPicPr>
          <p:nvPr>
            <a:videoFile r:link="rId6"/>
            <p:extLst>
              <p:ext uri="{DAA4B4D4-6D71-4841-9C94-3DE7FCFB9230}">
                <p14:media xmlns:p14="http://schemas.microsoft.com/office/powerpoint/2010/main" r:embed="rId7"/>
              </p:ext>
            </p:extLst>
          </p:nvPr>
        </p:nvPicPr>
        <p:blipFill>
          <a:blip r:embed="rId8">
            <a:extLst/>
          </a:blip>
          <a:stretch>
            <a:fillRect/>
          </a:stretch>
        </p:blipFill>
        <p:spPr>
          <a:xfrm>
            <a:off x="5486400" y="1591055"/>
            <a:ext cx="3246121" cy="1825944"/>
          </a:xfrm>
          <a:prstGeom prst="rect">
            <a:avLst/>
          </a:prstGeom>
          <a:ln w="12700">
            <a:miter lim="400000"/>
          </a:ln>
        </p:spPr>
      </p:pic>
      <p:grpSp>
        <p:nvGrpSpPr>
          <p:cNvPr id="133" name="wa"/>
          <p:cNvGrpSpPr/>
          <p:nvPr/>
        </p:nvGrpSpPr>
        <p:grpSpPr>
          <a:xfrm>
            <a:off x="5486400" y="3526726"/>
            <a:ext cx="3246121" cy="566929"/>
            <a:chOff x="0" y="0"/>
            <a:chExt cx="3246120" cy="566927"/>
          </a:xfrm>
        </p:grpSpPr>
        <p:sp>
          <p:nvSpPr>
            <p:cNvPr id="131" name="Rounded Rectangle"/>
            <p:cNvSpPr/>
            <p:nvPr/>
          </p:nvSpPr>
          <p:spPr>
            <a:xfrm>
              <a:off x="0" y="0"/>
              <a:ext cx="3246121" cy="566928"/>
            </a:xfrm>
            <a:prstGeom prst="roundRect">
              <a:avLst>
                <a:gd name="adj" fmla="val 9677"/>
              </a:avLst>
            </a:prstGeom>
            <a:solidFill>
              <a:srgbClr val="FDF0EE"/>
            </a:solidFill>
            <a:ln w="16510" cap="flat">
              <a:solidFill>
                <a:srgbClr val="EC6B58"/>
              </a:solidFill>
              <a:prstDash val="solid"/>
              <a:round/>
            </a:ln>
            <a:effectLst/>
          </p:spPr>
          <p:txBody>
            <a:bodyPr wrap="square" lIns="45719" tIns="45719" rIns="45719" bIns="45719" numCol="1" anchor="ctr">
              <a:noAutofit/>
            </a:bodyPr>
            <a:lstStyle/>
            <a:p>
              <a:pPr algn="ctr">
                <a:lnSpc>
                  <a:spcPts val="1600"/>
                </a:lnSpc>
                <a:defRPr sz="1200"/>
              </a:pPr>
            </a:p>
          </p:txBody>
        </p:sp>
        <p:sp>
          <p:nvSpPr>
            <p:cNvPr id="132" name="4n means 4 × n. It is not 43."/>
            <p:cNvSpPr txBox="1"/>
            <p:nvPr/>
          </p:nvSpPr>
          <p:spPr>
            <a:xfrm>
              <a:off x="24322" y="185020"/>
              <a:ext cx="3197476" cy="1968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gn="ctr">
                <a:lnSpc>
                  <a:spcPts val="1600"/>
                </a:lnSpc>
                <a:defRPr b="1" sz="1200">
                  <a:solidFill>
                    <a:srgbClr val="C0392B"/>
                  </a:solidFill>
                  <a:latin typeface="Arial"/>
                  <a:ea typeface="Arial"/>
                  <a:cs typeface="Arial"/>
                  <a:sym typeface="Arial"/>
                </a:defRPr>
              </a:lvl1pPr>
            </a:lstStyle>
            <a:p>
              <a:pPr/>
              <a:r>
                <a:t>4n means 4 × n. It is not 43.</a:t>
              </a:r>
            </a:p>
          </p:txBody>
        </p:sp>
      </p:grpSp>
      <p:grpSp>
        <p:nvGrpSpPr>
          <p:cNvPr id="136" name="wb"/>
          <p:cNvGrpSpPr/>
          <p:nvPr/>
        </p:nvGrpSpPr>
        <p:grpSpPr>
          <a:xfrm>
            <a:off x="5486400" y="4203382"/>
            <a:ext cx="3246121" cy="512065"/>
            <a:chOff x="0" y="0"/>
            <a:chExt cx="3246120" cy="512063"/>
          </a:xfrm>
        </p:grpSpPr>
        <p:sp>
          <p:nvSpPr>
            <p:cNvPr id="134" name="Rounded Rectangle"/>
            <p:cNvSpPr/>
            <p:nvPr/>
          </p:nvSpPr>
          <p:spPr>
            <a:xfrm>
              <a:off x="0" y="0"/>
              <a:ext cx="3246121" cy="512064"/>
            </a:xfrm>
            <a:prstGeom prst="roundRect">
              <a:avLst>
                <a:gd name="adj" fmla="val 10714"/>
              </a:avLst>
            </a:prstGeom>
            <a:solidFill>
              <a:srgbClr val="FDF0EE"/>
            </a:solidFill>
            <a:ln w="16510" cap="flat">
              <a:solidFill>
                <a:srgbClr val="EC6B58"/>
              </a:solidFill>
              <a:prstDash val="solid"/>
              <a:round/>
            </a:ln>
            <a:effectLst/>
          </p:spPr>
          <p:txBody>
            <a:bodyPr wrap="square" lIns="45719" tIns="45719" rIns="45719" bIns="45719" numCol="1" anchor="ctr">
              <a:noAutofit/>
            </a:bodyPr>
            <a:lstStyle/>
            <a:p>
              <a:pPr algn="ctr">
                <a:lnSpc>
                  <a:spcPts val="1600"/>
                </a:lnSpc>
                <a:defRPr sz="1200"/>
              </a:pPr>
            </a:p>
          </p:txBody>
        </p:sp>
        <p:sp>
          <p:nvSpPr>
            <p:cNvPr id="135" name="Multiply before you add."/>
            <p:cNvSpPr txBox="1"/>
            <p:nvPr/>
          </p:nvSpPr>
          <p:spPr>
            <a:xfrm>
              <a:off x="24323" y="157588"/>
              <a:ext cx="3197474" cy="1968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gn="ctr">
                <a:lnSpc>
                  <a:spcPts val="1600"/>
                </a:lnSpc>
                <a:defRPr b="1" sz="1200">
                  <a:solidFill>
                    <a:srgbClr val="C0392B"/>
                  </a:solidFill>
                  <a:latin typeface="Arial"/>
                  <a:ea typeface="Arial"/>
                  <a:cs typeface="Arial"/>
                  <a:sym typeface="Arial"/>
                </a:defRPr>
              </a:lvl1pPr>
            </a:lstStyle>
            <a:p>
              <a:pPr/>
              <a:r>
                <a:t>Multiply before you add.</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11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1"/>
                                        </p:tgtEl>
                                        <p:attrNameLst>
                                          <p:attrName>style.visibility</p:attrName>
                                        </p:attrNameLst>
                                      </p:cBhvr>
                                      <p:to>
                                        <p:strVal val="visible"/>
                                      </p:to>
                                    </p:set>
                                    <p:animEffect filter="fade" transition="in">
                                      <p:cBhvr>
                                        <p:cTn id="11" dur="400"/>
                                        <p:tgtEl>
                                          <p:spTgt spid="12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22"/>
                                        </p:tgtEl>
                                        <p:attrNameLst>
                                          <p:attrName>style.visibility</p:attrName>
                                        </p:attrNameLst>
                                      </p:cBhvr>
                                      <p:to>
                                        <p:strVal val="visible"/>
                                      </p:to>
                                    </p:set>
                                    <p:animEffect filter="fade" transition="in">
                                      <p:cBhvr>
                                        <p:cTn id="16" dur="400"/>
                                        <p:tgtEl>
                                          <p:spTgt spid="122"/>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23"/>
                                        </p:tgtEl>
                                        <p:attrNameLst>
                                          <p:attrName>style.visibility</p:attrName>
                                        </p:attrNameLst>
                                      </p:cBhvr>
                                      <p:to>
                                        <p:strVal val="visible"/>
                                      </p:to>
                                    </p:set>
                                    <p:animEffect filter="fade" transition="in">
                                      <p:cBhvr>
                                        <p:cTn id="21" dur="400"/>
                                        <p:tgtEl>
                                          <p:spTgt spid="123"/>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26"/>
                                        </p:tgtEl>
                                        <p:attrNameLst>
                                          <p:attrName>style.visibility</p:attrName>
                                        </p:attrNameLst>
                                      </p:cBhvr>
                                      <p:to>
                                        <p:strVal val="visible"/>
                                      </p:to>
                                    </p:set>
                                    <p:animEffect filter="fade" transition="in">
                                      <p:cBhvr>
                                        <p:cTn id="26" dur="400"/>
                                        <p:tgtEl>
                                          <p:spTgt spid="126"/>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ID="10" grpId="6" fill="hold">
                                  <p:stCondLst>
                                    <p:cond delay="0"/>
                                  </p:stCondLst>
                                  <p:iterate type="el" backwards="0">
                                    <p:tmAbs val="0"/>
                                  </p:iterate>
                                  <p:childTnLst>
                                    <p:set>
                                      <p:cBhvr>
                                        <p:cTn id="30" fill="hold"/>
                                        <p:tgtEl>
                                          <p:spTgt spid="127"/>
                                        </p:tgtEl>
                                        <p:attrNameLst>
                                          <p:attrName>style.visibility</p:attrName>
                                        </p:attrNameLst>
                                      </p:cBhvr>
                                      <p:to>
                                        <p:strVal val="visible"/>
                                      </p:to>
                                    </p:set>
                                    <p:animEffect filter="fade" transition="in">
                                      <p:cBhvr>
                                        <p:cTn id="31" dur="400"/>
                                        <p:tgtEl>
                                          <p:spTgt spid="127"/>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ID="10" grpId="7" fill="hold">
                                  <p:stCondLst>
                                    <p:cond delay="0"/>
                                  </p:stCondLst>
                                  <p:iterate type="el" backwards="0">
                                    <p:tmAbs val="0"/>
                                  </p:iterate>
                                  <p:childTnLst>
                                    <p:set>
                                      <p:cBhvr>
                                        <p:cTn id="35" fill="hold"/>
                                        <p:tgtEl>
                                          <p:spTgt spid="128"/>
                                        </p:tgtEl>
                                        <p:attrNameLst>
                                          <p:attrName>style.visibility</p:attrName>
                                        </p:attrNameLst>
                                      </p:cBhvr>
                                      <p:to>
                                        <p:strVal val="visible"/>
                                      </p:to>
                                    </p:set>
                                    <p:animEffect filter="fade" transition="in">
                                      <p:cBhvr>
                                        <p:cTn id="36" dur="400"/>
                                        <p:tgtEl>
                                          <p:spTgt spid="128"/>
                                        </p:tgtEl>
                                      </p:cBhvr>
                                    </p:animEffect>
                                  </p:childTnLst>
                                </p:cTn>
                              </p:par>
                            </p:childTnLst>
                          </p:cTn>
                        </p:par>
                      </p:childTnLst>
                    </p:cTn>
                  </p:par>
                  <p:par>
                    <p:cTn id="37" fill="hold">
                      <p:stCondLst>
                        <p:cond delay="indefinite"/>
                      </p:stCondLst>
                      <p:childTnLst>
                        <p:par>
                          <p:cTn id="38" fill="hold">
                            <p:stCondLst>
                              <p:cond delay="0"/>
                            </p:stCondLst>
                            <p:childTnLst>
                              <p:par>
                                <p:cTn id="39" presetClass="entr" nodeType="clickEffect" presetID="10" grpId="8" fill="hold">
                                  <p:stCondLst>
                                    <p:cond delay="0"/>
                                  </p:stCondLst>
                                  <p:iterate type="el" backwards="0">
                                    <p:tmAbs val="0"/>
                                  </p:iterate>
                                  <p:childTnLst>
                                    <p:set>
                                      <p:cBhvr>
                                        <p:cTn id="40" fill="hold"/>
                                        <p:tgtEl>
                                          <p:spTgt spid="129"/>
                                        </p:tgtEl>
                                        <p:attrNameLst>
                                          <p:attrName>style.visibility</p:attrName>
                                        </p:attrNameLst>
                                      </p:cBhvr>
                                      <p:to>
                                        <p:strVal val="visible"/>
                                      </p:to>
                                    </p:set>
                                    <p:animEffect filter="fade" transition="in">
                                      <p:cBhvr>
                                        <p:cTn id="41" dur="400"/>
                                        <p:tgtEl>
                                          <p:spTgt spid="129"/>
                                        </p:tgtEl>
                                      </p:cBhvr>
                                    </p:animEffect>
                                  </p:childTnLst>
                                </p:cTn>
                              </p:par>
                            </p:childTnLst>
                          </p:cTn>
                        </p:par>
                      </p:childTnLst>
                    </p:cTn>
                  </p:par>
                  <p:par>
                    <p:cTn id="42" fill="hold">
                      <p:stCondLst>
                        <p:cond delay="indefinite"/>
                      </p:stCondLst>
                      <p:childTnLst>
                        <p:par>
                          <p:cTn id="43" fill="hold">
                            <p:stCondLst>
                              <p:cond delay="0"/>
                            </p:stCondLst>
                            <p:childTnLst>
                              <p:par>
                                <p:cTn id="44" presetClass="mediacall" nodeType="clickEffect" presetSubtype="0" presetID="1" grpId="9" fill="hold">
                                  <p:stCondLst>
                                    <p:cond delay="0"/>
                                  </p:stCondLst>
                                  <p:childTnLst>
                                    <p:cmd type="call" cmd="playFrom(0.0)">
                                      <p:cBhvr>
                                        <p:cTn id="45" dur="10400" fill="hold"/>
                                        <p:tgtEl>
                                          <p:spTgt spid="130"/>
                                        </p:tgtEl>
                                      </p:cBhvr>
                                    </p:cmd>
                                  </p:childTnLst>
                                </p:cTn>
                              </p:par>
                            </p:childTnLst>
                          </p:cTn>
                        </p:par>
                      </p:childTnLst>
                    </p:cTn>
                  </p:par>
                  <p:par>
                    <p:cTn id="46" fill="hold">
                      <p:stCondLst>
                        <p:cond delay="indefinite"/>
                      </p:stCondLst>
                      <p:childTnLst>
                        <p:par>
                          <p:cTn id="47" fill="hold">
                            <p:stCondLst>
                              <p:cond delay="0"/>
                            </p:stCondLst>
                            <p:childTnLst>
                              <p:par>
                                <p:cTn id="48" presetClass="entr" nodeType="clickEffect" presetSubtype="16" presetID="23" grpId="10" fill="hold">
                                  <p:stCondLst>
                                    <p:cond delay="0"/>
                                  </p:stCondLst>
                                  <p:iterate type="el" backwards="0">
                                    <p:tmAbs val="0"/>
                                  </p:iterate>
                                  <p:childTnLst>
                                    <p:set>
                                      <p:cBhvr>
                                        <p:cTn id="49" fill="hold"/>
                                        <p:tgtEl>
                                          <p:spTgt spid="133"/>
                                        </p:tgtEl>
                                        <p:attrNameLst>
                                          <p:attrName>style.visibility</p:attrName>
                                        </p:attrNameLst>
                                      </p:cBhvr>
                                      <p:to>
                                        <p:strVal val="visible"/>
                                      </p:to>
                                    </p:set>
                                    <p:anim calcmode="lin" valueType="num">
                                      <p:cBhvr>
                                        <p:cTn id="50" dur="400" fill="hold"/>
                                        <p:tgtEl>
                                          <p:spTgt spid="133"/>
                                        </p:tgtEl>
                                        <p:attrNameLst>
                                          <p:attrName>ppt_w</p:attrName>
                                        </p:attrNameLst>
                                      </p:cBhvr>
                                      <p:tavLst>
                                        <p:tav tm="0">
                                          <p:val>
                                            <p:fltVal val="0"/>
                                          </p:val>
                                        </p:tav>
                                        <p:tav tm="100000">
                                          <p:val>
                                            <p:strVal val="#ppt_w"/>
                                          </p:val>
                                        </p:tav>
                                      </p:tavLst>
                                    </p:anim>
                                    <p:anim calcmode="lin" valueType="num">
                                      <p:cBhvr>
                                        <p:cTn id="51" dur="400" fill="hold"/>
                                        <p:tgtEl>
                                          <p:spTgt spid="133"/>
                                        </p:tgtEl>
                                        <p:attrNameLst>
                                          <p:attrName>ppt_h</p:attrName>
                                        </p:attrNameLst>
                                      </p:cBhvr>
                                      <p:tavLst>
                                        <p:tav tm="0">
                                          <p:val>
                                            <p:fltVal val="0"/>
                                          </p:val>
                                        </p:tav>
                                        <p:tav tm="100000">
                                          <p:val>
                                            <p:strVal val="#ppt_h"/>
                                          </p:val>
                                        </p:tav>
                                      </p:tavLst>
                                    </p:anim>
                                  </p:childTnLst>
                                </p:cTn>
                              </p:par>
                            </p:childTnLst>
                          </p:cTn>
                        </p:par>
                      </p:childTnLst>
                    </p:cTn>
                  </p:par>
                  <p:par>
                    <p:cTn id="52" fill="hold">
                      <p:stCondLst>
                        <p:cond delay="indefinite"/>
                      </p:stCondLst>
                      <p:childTnLst>
                        <p:par>
                          <p:cTn id="53" fill="hold">
                            <p:stCondLst>
                              <p:cond delay="0"/>
                            </p:stCondLst>
                            <p:childTnLst>
                              <p:par>
                                <p:cTn id="54" presetClass="entr" nodeType="clickEffect" presetSubtype="16" presetID="23" grpId="11" fill="hold">
                                  <p:stCondLst>
                                    <p:cond delay="0"/>
                                  </p:stCondLst>
                                  <p:iterate type="el" backwards="0">
                                    <p:tmAbs val="0"/>
                                  </p:iterate>
                                  <p:childTnLst>
                                    <p:set>
                                      <p:cBhvr>
                                        <p:cTn id="55" fill="hold"/>
                                        <p:tgtEl>
                                          <p:spTgt spid="136"/>
                                        </p:tgtEl>
                                        <p:attrNameLst>
                                          <p:attrName>style.visibility</p:attrName>
                                        </p:attrNameLst>
                                      </p:cBhvr>
                                      <p:to>
                                        <p:strVal val="visible"/>
                                      </p:to>
                                    </p:set>
                                    <p:anim calcmode="lin" valueType="num">
                                      <p:cBhvr>
                                        <p:cTn id="56" dur="400" fill="hold"/>
                                        <p:tgtEl>
                                          <p:spTgt spid="136"/>
                                        </p:tgtEl>
                                        <p:attrNameLst>
                                          <p:attrName>ppt_w</p:attrName>
                                        </p:attrNameLst>
                                      </p:cBhvr>
                                      <p:tavLst>
                                        <p:tav tm="0">
                                          <p:val>
                                            <p:fltVal val="0"/>
                                          </p:val>
                                        </p:tav>
                                        <p:tav tm="100000">
                                          <p:val>
                                            <p:strVal val="#ppt_w"/>
                                          </p:val>
                                        </p:tav>
                                      </p:tavLst>
                                    </p:anim>
                                    <p:anim calcmode="lin" valueType="num">
                                      <p:cBhvr>
                                        <p:cTn id="57" dur="400" fill="hold"/>
                                        <p:tgtEl>
                                          <p:spTgt spid="1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58" fill="hold" display="0">
                  <p:stCondLst>
                    <p:cond delay="indefinite"/>
                  </p:stCondLst>
                </p:cTn>
                <p:tgtEl>
                  <p:spTgt spid="113"/>
                </p:tgtEl>
              </p:cMediaNode>
            </p:video>
            <p:seq concurrent="1" prevAc="none" nextAc="seek">
              <p:cTn id="59" evtFilter="cancelBubble" nodeType="interactiveSeq" restart="whenNotActive" fill="hold">
                <p:stCondLst>
                  <p:cond delay="0" evt="onClick">
                    <p:tgtEl>
                      <p:spTgt spid="113"/>
                    </p:tgtEl>
                  </p:cond>
                </p:stCondLst>
                <p:endSync delay="0" evt="end">
                  <p:rtn val="all"/>
                </p:endSync>
                <p:childTnLst>
                  <p:par>
                    <p:cTn id="60" fill="hold">
                      <p:stCondLst>
                        <p:cond delay="0"/>
                      </p:stCondLst>
                      <p:childTnLst>
                        <p:par>
                          <p:cTn id="61" fill="hold">
                            <p:stCondLst>
                              <p:cond delay="0"/>
                            </p:stCondLst>
                            <p:childTnLst>
                              <p:par>
                                <p:cTn id="62" presetClass="mediacall" nodeType="clickEffect" presetSubtype="0" presetID="2" fill="hold">
                                  <p:stCondLst>
                                    <p:cond delay="0"/>
                                  </p:stCondLst>
                                  <p:childTnLst>
                                    <p:cmd type="call" cmd="togglePause">
                                      <p:cBhvr>
                                        <p:cTn id="63" dur="1" fill="hold"/>
                                        <p:tgtEl>
                                          <p:spTgt spid="113"/>
                                        </p:tgtEl>
                                      </p:cBhvr>
                                    </p:cmd>
                                  </p:childTnLst>
                                </p:cTn>
                              </p:par>
                            </p:childTnLst>
                          </p:cTn>
                        </p:par>
                      </p:childTnLst>
                    </p:cTn>
                  </p:par>
                </p:childTnLst>
              </p:cTn>
              <p:nextCondLst>
                <p:cond delay="0" evt="onClick">
                  <p:tgtEl>
                    <p:spTgt spid="113"/>
                  </p:tgtEl>
                </p:cond>
              </p:nextCondLst>
            </p:seq>
            <p:video fullScrn="0">
              <p:cMediaNode mute="0" showWhenStopped="1" numSld="1" vol="100000">
                <p:cTn id="64" fill="hold" display="0">
                  <p:stCondLst>
                    <p:cond delay="indefinite"/>
                  </p:stCondLst>
                </p:cTn>
                <p:tgtEl>
                  <p:spTgt spid="130"/>
                </p:tgtEl>
              </p:cMediaNode>
            </p:video>
            <p:seq concurrent="1" prevAc="none" nextAc="seek">
              <p:cTn id="65" evtFilter="cancelBubble" nodeType="interactiveSeq" restart="whenNotActive" fill="hold">
                <p:stCondLst>
                  <p:cond delay="0" evt="onClick">
                    <p:tgtEl>
                      <p:spTgt spid="130"/>
                    </p:tgtEl>
                  </p:cond>
                </p:stCondLst>
                <p:endSync delay="0" evt="end">
                  <p:rtn val="all"/>
                </p:endSync>
                <p:childTnLst>
                  <p:par>
                    <p:cTn id="66" fill="hold">
                      <p:stCondLst>
                        <p:cond delay="0"/>
                      </p:stCondLst>
                      <p:childTnLst>
                        <p:par>
                          <p:cTn id="67" fill="hold">
                            <p:stCondLst>
                              <p:cond delay="0"/>
                            </p:stCondLst>
                            <p:childTnLst>
                              <p:par>
                                <p:cTn id="68" presetClass="mediacall" nodeType="clickEffect" presetSubtype="0" presetID="2" fill="hold">
                                  <p:stCondLst>
                                    <p:cond delay="0"/>
                                  </p:stCondLst>
                                  <p:childTnLst>
                                    <p:cmd type="call" cmd="togglePause">
                                      <p:cBhvr>
                                        <p:cTn id="69" dur="1" fill="hold"/>
                                        <p:tgtEl>
                                          <p:spTgt spid="130"/>
                                        </p:tgtEl>
                                      </p:cBhvr>
                                    </p:cmd>
                                  </p:childTnLst>
                                </p:cTn>
                              </p:par>
                            </p:childTnLst>
                          </p:cTn>
                        </p:par>
                      </p:childTnLst>
                    </p:cTn>
                  </p:par>
                </p:childTnLst>
              </p:cTn>
              <p:nextCondLst>
                <p:cond delay="0" evt="onClick">
                  <p:tgtEl>
                    <p:spTgt spid="130"/>
                  </p:tgtEl>
                </p:cond>
              </p:nextCondLst>
            </p:seq>
          </p:childTnLst>
        </p:cTn>
      </p:par>
    </p:tnLst>
    <p:bldLst>
      <p:bldP build="whole" bldLvl="1" animBg="1" rev="0" advAuto="0" spid="129" grpId="8"/>
      <p:bldP build="whole" bldLvl="1" animBg="1" rev="0" advAuto="0" spid="121" grpId="2"/>
      <p:bldP build="whole" bldLvl="1" animBg="1" rev="0" advAuto="0" spid="133" grpId="10"/>
      <p:bldP build="whole" bldLvl="1" animBg="1" rev="0" advAuto="0" spid="136" grpId="11"/>
      <p:bldP build="whole" bldLvl="1" animBg="1" rev="0" advAuto="0" spid="126" grpId="5"/>
      <p:bldP build="whole" bldLvl="1" animBg="1" rev="0" advAuto="0" spid="123" grpId="4"/>
      <p:bldP build="whole" bldLvl="1" animBg="1" rev="0" advAuto="0" spid="128" grpId="7"/>
      <p:bldP build="whole" bldLvl="1" animBg="1" rev="0" advAuto="0" spid="127" grpId="6"/>
      <p:bldP build="whole" bldLvl="1" animBg="1" rev="0" advAuto="0" spid="122" grpId="3"/>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182879" y="182879"/>
            <a:ext cx="310897" cy="4777742"/>
          </a:xfrm>
          <a:prstGeom prst="rect">
            <a:avLst/>
          </a:prstGeom>
          <a:ln w="12700">
            <a:miter lim="400000"/>
          </a:ln>
        </p:spPr>
      </p:pic>
      <p:grpSp>
        <p:nvGrpSpPr>
          <p:cNvPr id="143" name="phase_pill"/>
          <p:cNvGrpSpPr/>
          <p:nvPr/>
        </p:nvGrpSpPr>
        <p:grpSpPr>
          <a:xfrm>
            <a:off x="777240" y="274320"/>
            <a:ext cx="1422806" cy="292609"/>
            <a:chOff x="0" y="0"/>
            <a:chExt cx="1422805" cy="292608"/>
          </a:xfrm>
        </p:grpSpPr>
        <p:sp>
          <p:nvSpPr>
            <p:cNvPr id="141" name="Rounded Rectangle"/>
            <p:cNvSpPr/>
            <p:nvPr/>
          </p:nvSpPr>
          <p:spPr>
            <a:xfrm>
              <a:off x="0" y="0"/>
              <a:ext cx="1422806" cy="292609"/>
            </a:xfrm>
            <a:prstGeom prst="roundRect">
              <a:avLst>
                <a:gd name="adj" fmla="val 4375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142" name="I DO · 6 MIN"/>
            <p:cNvSpPr txBox="1"/>
            <p:nvPr/>
          </p:nvSpPr>
          <p:spPr>
            <a:xfrm>
              <a:off x="37495" y="82803"/>
              <a:ext cx="134781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I DO · 6 MIN</a:t>
              </a:r>
            </a:p>
          </p:txBody>
        </p:sp>
      </p:grpSp>
      <p:sp>
        <p:nvSpPr>
          <p:cNvPr id="144" name="slide_title"/>
          <p:cNvSpPr txBox="1"/>
          <p:nvPr/>
        </p:nvSpPr>
        <p:spPr>
          <a:xfrm>
            <a:off x="777239" y="775207"/>
            <a:ext cx="795528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2B2350"/>
                </a:solidFill>
                <a:latin typeface="Georgia"/>
                <a:ea typeface="Georgia"/>
                <a:cs typeface="Georgia"/>
                <a:sym typeface="Georgia"/>
              </a:defRPr>
            </a:lvl1pPr>
          </a:lstStyle>
          <a:p>
            <a:pPr/>
            <a:r>
              <a:t>Brackets, and two letters</a:t>
            </a:r>
          </a:p>
        </p:txBody>
      </p:sp>
      <p:sp>
        <p:nvSpPr>
          <p:cNvPr id="145" name="slide_sub"/>
          <p:cNvSpPr txBox="1"/>
          <p:nvPr/>
        </p:nvSpPr>
        <p:spPr>
          <a:xfrm>
            <a:off x="777239" y="1288540"/>
            <a:ext cx="7955282"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E5A70"/>
                </a:solidFill>
                <a:latin typeface="Arial"/>
                <a:ea typeface="Arial"/>
                <a:cs typeface="Arial"/>
                <a:sym typeface="Arial"/>
              </a:defRPr>
            </a:lvl1pPr>
          </a:lstStyle>
          <a:p>
            <a:pPr/>
            <a:r>
              <a:t>The number outside the bracket multiplies everything inside.</a:t>
            </a:r>
          </a:p>
        </p:txBody>
      </p:sp>
      <p:sp>
        <p:nvSpPr>
          <p:cNvPr id="146" name="ec_bg"/>
          <p:cNvSpPr/>
          <p:nvPr/>
        </p:nvSpPr>
        <p:spPr>
          <a:xfrm>
            <a:off x="777240" y="1591055"/>
            <a:ext cx="3867912" cy="1810513"/>
          </a:xfrm>
          <a:prstGeom prst="roundRect">
            <a:avLst>
              <a:gd name="adj" fmla="val 3030"/>
            </a:avLst>
          </a:prstGeom>
          <a:solidFill>
            <a:srgbClr val="F2F0F8"/>
          </a:solidFill>
          <a:ln w="12700">
            <a:solidFill>
              <a:srgbClr val="F2F0F8"/>
            </a:solidFill>
          </a:ln>
        </p:spPr>
        <p:txBody>
          <a:bodyPr lIns="45719" rIns="45719"/>
          <a:lstStyle/>
          <a:p>
            <a:pPr/>
          </a:p>
        </p:txBody>
      </p:sp>
      <p:sp>
        <p:nvSpPr>
          <p:cNvPr id="147" name="ec_h"/>
          <p:cNvSpPr txBox="1"/>
          <p:nvPr/>
        </p:nvSpPr>
        <p:spPr>
          <a:xfrm>
            <a:off x="960119" y="1724104"/>
            <a:ext cx="3502154"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5E5A70"/>
                </a:solidFill>
                <a:latin typeface="Arial"/>
                <a:ea typeface="Arial"/>
                <a:cs typeface="Arial"/>
                <a:sym typeface="Arial"/>
              </a:defRPr>
            </a:lvl1pPr>
          </a:lstStyle>
          <a:p>
            <a:pPr/>
            <a:r>
              <a:t>Find 2(n + 3) when n = 4</a:t>
            </a:r>
          </a:p>
        </p:txBody>
      </p:sp>
      <p:sp>
        <p:nvSpPr>
          <p:cNvPr id="148" name="ec_l0"/>
          <p:cNvSpPr txBox="1"/>
          <p:nvPr/>
        </p:nvSpPr>
        <p:spPr>
          <a:xfrm>
            <a:off x="1014983" y="2037863"/>
            <a:ext cx="341071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B2350"/>
                </a:solidFill>
                <a:latin typeface="Arial"/>
                <a:ea typeface="Arial"/>
                <a:cs typeface="Arial"/>
                <a:sym typeface="Arial"/>
              </a:defRPr>
            </a:pPr>
            <a:r>
              <a:t>2(</a:t>
            </a:r>
            <a:r>
              <a:rPr>
                <a:solidFill>
                  <a:srgbClr val="1F6FB2"/>
                </a:solidFill>
              </a:rPr>
              <a:t>n</a:t>
            </a:r>
            <a:r>
              <a:t> + 3)  =  2 × (</a:t>
            </a:r>
            <a:r>
              <a:rPr>
                <a:solidFill>
                  <a:srgbClr val="1F6FB2"/>
                </a:solidFill>
              </a:rPr>
              <a:t>n</a:t>
            </a:r>
            <a:r>
              <a:t> + 3)</a:t>
            </a:r>
          </a:p>
        </p:txBody>
      </p:sp>
      <p:sp>
        <p:nvSpPr>
          <p:cNvPr id="149" name="ec_l1"/>
          <p:cNvSpPr txBox="1"/>
          <p:nvPr/>
        </p:nvSpPr>
        <p:spPr>
          <a:xfrm>
            <a:off x="1014983" y="2367047"/>
            <a:ext cx="341071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B2350"/>
                </a:solidFill>
                <a:latin typeface="Arial"/>
                <a:ea typeface="Arial"/>
                <a:cs typeface="Arial"/>
                <a:sym typeface="Arial"/>
              </a:defRPr>
            </a:pPr>
            <a:r>
              <a:t>=  2 × (</a:t>
            </a:r>
            <a:r>
              <a:rPr>
                <a:solidFill>
                  <a:srgbClr val="C0392B"/>
                </a:solidFill>
              </a:rPr>
              <a:t>4</a:t>
            </a:r>
            <a:r>
              <a:t> + 3)</a:t>
            </a:r>
          </a:p>
        </p:txBody>
      </p:sp>
      <p:sp>
        <p:nvSpPr>
          <p:cNvPr id="150" name="ec_l2"/>
          <p:cNvSpPr txBox="1"/>
          <p:nvPr/>
        </p:nvSpPr>
        <p:spPr>
          <a:xfrm>
            <a:off x="1014983" y="2696231"/>
            <a:ext cx="341071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B2350"/>
                </a:solidFill>
                <a:latin typeface="Arial"/>
                <a:ea typeface="Arial"/>
                <a:cs typeface="Arial"/>
                <a:sym typeface="Arial"/>
              </a:defRPr>
            </a:pPr>
            <a:r>
              <a:t>=  2 × 7</a:t>
            </a:r>
            <a:r>
              <a:rPr>
                <a:solidFill>
                  <a:srgbClr val="5E5A70"/>
                </a:solidFill>
              </a:rPr>
              <a:t>     brackets first</a:t>
            </a:r>
          </a:p>
        </p:txBody>
      </p:sp>
      <p:sp>
        <p:nvSpPr>
          <p:cNvPr id="151" name="ec_l3"/>
          <p:cNvSpPr txBox="1"/>
          <p:nvPr/>
        </p:nvSpPr>
        <p:spPr>
          <a:xfrm>
            <a:off x="1014983" y="3025415"/>
            <a:ext cx="341071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C0392B"/>
                </a:solidFill>
                <a:latin typeface="Arial"/>
                <a:ea typeface="Arial"/>
                <a:cs typeface="Arial"/>
                <a:sym typeface="Arial"/>
              </a:defRPr>
            </a:lvl1pPr>
          </a:lstStyle>
          <a:p>
            <a:pPr/>
            <a:r>
              <a:t>=  14</a:t>
            </a:r>
          </a:p>
        </p:txBody>
      </p:sp>
      <p:sp>
        <p:nvSpPr>
          <p:cNvPr id="152" name="ed_bg"/>
          <p:cNvSpPr/>
          <p:nvPr/>
        </p:nvSpPr>
        <p:spPr>
          <a:xfrm>
            <a:off x="4864608" y="1591055"/>
            <a:ext cx="3867913" cy="1810513"/>
          </a:xfrm>
          <a:prstGeom prst="roundRect">
            <a:avLst>
              <a:gd name="adj" fmla="val 3030"/>
            </a:avLst>
          </a:prstGeom>
          <a:solidFill>
            <a:srgbClr val="F2F0F8"/>
          </a:solidFill>
          <a:ln w="12700">
            <a:solidFill>
              <a:srgbClr val="F2F0F8"/>
            </a:solidFill>
          </a:ln>
        </p:spPr>
        <p:txBody>
          <a:bodyPr lIns="45719" rIns="45719"/>
          <a:lstStyle/>
          <a:p>
            <a:pPr/>
          </a:p>
        </p:txBody>
      </p:sp>
      <p:sp>
        <p:nvSpPr>
          <p:cNvPr id="153" name="ed_h"/>
          <p:cNvSpPr txBox="1"/>
          <p:nvPr/>
        </p:nvSpPr>
        <p:spPr>
          <a:xfrm>
            <a:off x="5047487" y="1724104"/>
            <a:ext cx="3502154"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5E5A70"/>
                </a:solidFill>
                <a:latin typeface="Arial"/>
                <a:ea typeface="Arial"/>
                <a:cs typeface="Arial"/>
                <a:sym typeface="Arial"/>
              </a:defRPr>
            </a:lvl1pPr>
          </a:lstStyle>
          <a:p>
            <a:pPr/>
            <a:r>
              <a:t>Find 3a + 2b when a = 5 and b = 4</a:t>
            </a:r>
          </a:p>
        </p:txBody>
      </p:sp>
      <p:sp>
        <p:nvSpPr>
          <p:cNvPr id="154" name="ed_l0"/>
          <p:cNvSpPr txBox="1"/>
          <p:nvPr/>
        </p:nvSpPr>
        <p:spPr>
          <a:xfrm>
            <a:off x="5102352" y="2037863"/>
            <a:ext cx="341071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B2350"/>
                </a:solidFill>
                <a:latin typeface="Arial"/>
                <a:ea typeface="Arial"/>
                <a:cs typeface="Arial"/>
                <a:sym typeface="Arial"/>
              </a:defRPr>
            </a:pPr>
            <a:r>
              <a:t>3</a:t>
            </a:r>
            <a:r>
              <a:rPr>
                <a:solidFill>
                  <a:srgbClr val="1F6FB2"/>
                </a:solidFill>
              </a:rPr>
              <a:t>a</a:t>
            </a:r>
            <a:r>
              <a:t> + 2</a:t>
            </a:r>
            <a:r>
              <a:rPr>
                <a:solidFill>
                  <a:srgbClr val="1F6FB2"/>
                </a:solidFill>
              </a:rPr>
              <a:t>b</a:t>
            </a:r>
            <a:r>
              <a:t>  =  3 × </a:t>
            </a:r>
            <a:r>
              <a:rPr>
                <a:solidFill>
                  <a:srgbClr val="1F6FB2"/>
                </a:solidFill>
              </a:rPr>
              <a:t>a</a:t>
            </a:r>
            <a:r>
              <a:t> + 2 × </a:t>
            </a:r>
            <a:r>
              <a:rPr>
                <a:solidFill>
                  <a:srgbClr val="1F6FB2"/>
                </a:solidFill>
              </a:rPr>
              <a:t>b</a:t>
            </a:r>
          </a:p>
        </p:txBody>
      </p:sp>
      <p:sp>
        <p:nvSpPr>
          <p:cNvPr id="155" name="ed_l1"/>
          <p:cNvSpPr txBox="1"/>
          <p:nvPr/>
        </p:nvSpPr>
        <p:spPr>
          <a:xfrm>
            <a:off x="5102352" y="2367047"/>
            <a:ext cx="341071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2B2350"/>
                </a:solidFill>
                <a:latin typeface="Arial"/>
                <a:ea typeface="Arial"/>
                <a:cs typeface="Arial"/>
                <a:sym typeface="Arial"/>
              </a:defRPr>
            </a:pPr>
            <a:r>
              <a:t>=  3 × </a:t>
            </a:r>
            <a:r>
              <a:rPr>
                <a:solidFill>
                  <a:srgbClr val="C0392B"/>
                </a:solidFill>
              </a:rPr>
              <a:t>5</a:t>
            </a:r>
            <a:r>
              <a:t> + 2 × </a:t>
            </a:r>
            <a:r>
              <a:rPr>
                <a:solidFill>
                  <a:srgbClr val="C0392B"/>
                </a:solidFill>
              </a:rPr>
              <a:t>4</a:t>
            </a:r>
          </a:p>
        </p:txBody>
      </p:sp>
      <p:sp>
        <p:nvSpPr>
          <p:cNvPr id="156" name="ed_l2"/>
          <p:cNvSpPr txBox="1"/>
          <p:nvPr/>
        </p:nvSpPr>
        <p:spPr>
          <a:xfrm>
            <a:off x="5102352" y="2696231"/>
            <a:ext cx="341071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2B2350"/>
                </a:solidFill>
                <a:latin typeface="Arial"/>
                <a:ea typeface="Arial"/>
                <a:cs typeface="Arial"/>
                <a:sym typeface="Arial"/>
              </a:defRPr>
            </a:lvl1pPr>
          </a:lstStyle>
          <a:p>
            <a:pPr/>
            <a:r>
              <a:t>=  15 + 8</a:t>
            </a:r>
          </a:p>
        </p:txBody>
      </p:sp>
      <p:sp>
        <p:nvSpPr>
          <p:cNvPr id="157" name="ed_l3"/>
          <p:cNvSpPr txBox="1"/>
          <p:nvPr/>
        </p:nvSpPr>
        <p:spPr>
          <a:xfrm>
            <a:off x="5102352" y="3025415"/>
            <a:ext cx="341071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C0392B"/>
                </a:solidFill>
                <a:latin typeface="Arial"/>
                <a:ea typeface="Arial"/>
                <a:cs typeface="Arial"/>
                <a:sym typeface="Arial"/>
              </a:defRPr>
            </a:lvl1pPr>
          </a:lstStyle>
          <a:p>
            <a:pPr/>
            <a:r>
              <a:t>=  23</a:t>
            </a:r>
          </a:p>
        </p:txBody>
      </p:sp>
      <p:grpSp>
        <p:nvGrpSpPr>
          <p:cNvPr id="160" name="chk"/>
          <p:cNvGrpSpPr/>
          <p:nvPr/>
        </p:nvGrpSpPr>
        <p:grpSpPr>
          <a:xfrm>
            <a:off x="777240" y="3511296"/>
            <a:ext cx="3867912" cy="640081"/>
            <a:chOff x="0" y="0"/>
            <a:chExt cx="3867911" cy="640080"/>
          </a:xfrm>
        </p:grpSpPr>
        <p:sp>
          <p:nvSpPr>
            <p:cNvPr id="158" name="chk_bg"/>
            <p:cNvSpPr/>
            <p:nvPr/>
          </p:nvSpPr>
          <p:spPr>
            <a:xfrm>
              <a:off x="0" y="0"/>
              <a:ext cx="3867912" cy="640081"/>
            </a:xfrm>
            <a:prstGeom prst="roundRect">
              <a:avLst>
                <a:gd name="adj" fmla="val 8571"/>
              </a:avLst>
            </a:prstGeom>
            <a:solidFill>
              <a:srgbClr val="FFFFFF"/>
            </a:solidFill>
            <a:ln w="17780" cap="flat">
              <a:solidFill>
                <a:srgbClr val="2B2350"/>
              </a:solidFill>
              <a:prstDash val="solid"/>
              <a:round/>
            </a:ln>
            <a:effectLst/>
          </p:spPr>
          <p:txBody>
            <a:bodyPr wrap="square" lIns="45719" tIns="45719" rIns="45719" bIns="45719" numCol="1" anchor="t">
              <a:noAutofit/>
            </a:bodyPr>
            <a:lstStyle/>
            <a:p>
              <a:pPr/>
            </a:p>
          </p:txBody>
        </p:sp>
        <p:sp>
          <p:nvSpPr>
            <p:cNvPr id="159" name="chk_t"/>
            <p:cNvSpPr txBox="1"/>
            <p:nvPr/>
          </p:nvSpPr>
          <p:spPr>
            <a:xfrm>
              <a:off x="164591" y="133787"/>
              <a:ext cx="3538729" cy="3725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b="1" sz="1100">
                  <a:solidFill>
                    <a:srgbClr val="2B2350"/>
                  </a:solidFill>
                  <a:latin typeface="Arial"/>
                  <a:ea typeface="Arial"/>
                  <a:cs typeface="Arial"/>
                  <a:sym typeface="Arial"/>
                </a:defRPr>
              </a:lvl1pPr>
            </a:lstStyle>
            <a:p>
              <a:pPr/>
              <a:r>
                <a:t>Check: 2(n + 3) = 2n + 6, and 2 × 4 + 6 = 14. Same answer.</a:t>
              </a:r>
            </a:p>
          </p:txBody>
        </p:sp>
      </p:grpSp>
      <p:grpSp>
        <p:nvGrpSpPr>
          <p:cNvPr id="163" name="wc"/>
          <p:cNvGrpSpPr/>
          <p:nvPr/>
        </p:nvGrpSpPr>
        <p:grpSpPr>
          <a:xfrm>
            <a:off x="777240" y="4261103"/>
            <a:ext cx="3867912" cy="658369"/>
            <a:chOff x="0" y="0"/>
            <a:chExt cx="3867911" cy="658368"/>
          </a:xfrm>
        </p:grpSpPr>
        <p:sp>
          <p:nvSpPr>
            <p:cNvPr id="161" name="Rounded Rectangle"/>
            <p:cNvSpPr/>
            <p:nvPr/>
          </p:nvSpPr>
          <p:spPr>
            <a:xfrm>
              <a:off x="0" y="0"/>
              <a:ext cx="3867912" cy="658369"/>
            </a:xfrm>
            <a:prstGeom prst="roundRect">
              <a:avLst>
                <a:gd name="adj" fmla="val 8333"/>
              </a:avLst>
            </a:prstGeom>
            <a:solidFill>
              <a:srgbClr val="FDF0EE"/>
            </a:solidFill>
            <a:ln w="16510" cap="flat">
              <a:solidFill>
                <a:srgbClr val="EC6B58"/>
              </a:solidFill>
              <a:prstDash val="solid"/>
              <a:round/>
            </a:ln>
            <a:effectLst/>
          </p:spPr>
          <p:txBody>
            <a:bodyPr wrap="square" lIns="45719" tIns="45719" rIns="45719" bIns="45719" numCol="1" anchor="ctr">
              <a:noAutofit/>
            </a:bodyPr>
            <a:lstStyle/>
            <a:p>
              <a:pPr algn="ctr">
                <a:lnSpc>
                  <a:spcPts val="1500"/>
                </a:lnSpc>
                <a:defRPr sz="1100"/>
              </a:pPr>
            </a:p>
          </p:txBody>
        </p:sp>
        <p:sp>
          <p:nvSpPr>
            <p:cNvPr id="162" name="The 2 multiplies both terms. 2 × 4 + 3 = 11 is wrong."/>
            <p:cNvSpPr txBox="1"/>
            <p:nvPr/>
          </p:nvSpPr>
          <p:spPr>
            <a:xfrm>
              <a:off x="24323" y="237165"/>
              <a:ext cx="3819266" cy="1840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gn="ctr">
                <a:lnSpc>
                  <a:spcPts val="1500"/>
                </a:lnSpc>
                <a:defRPr b="1" sz="1100">
                  <a:solidFill>
                    <a:srgbClr val="C0392B"/>
                  </a:solidFill>
                  <a:latin typeface="Arial"/>
                  <a:ea typeface="Arial"/>
                  <a:cs typeface="Arial"/>
                  <a:sym typeface="Arial"/>
                </a:defRPr>
              </a:lvl1pPr>
            </a:lstStyle>
            <a:p>
              <a:pPr/>
              <a:r>
                <a:t>The 2 multiplies both terms. 2 × 4 + 3 = 11 is wrong.</a:t>
              </a:r>
            </a:p>
          </p:txBody>
        </p:sp>
      </p:grpSp>
      <p:grpSp>
        <p:nvGrpSpPr>
          <p:cNvPr id="166" name="wd"/>
          <p:cNvGrpSpPr/>
          <p:nvPr/>
        </p:nvGrpSpPr>
        <p:grpSpPr>
          <a:xfrm>
            <a:off x="4864608" y="3511296"/>
            <a:ext cx="3867913" cy="640081"/>
            <a:chOff x="0" y="0"/>
            <a:chExt cx="3867911" cy="640080"/>
          </a:xfrm>
        </p:grpSpPr>
        <p:sp>
          <p:nvSpPr>
            <p:cNvPr id="164" name="Rounded Rectangle"/>
            <p:cNvSpPr/>
            <p:nvPr/>
          </p:nvSpPr>
          <p:spPr>
            <a:xfrm>
              <a:off x="0" y="0"/>
              <a:ext cx="3867912" cy="640081"/>
            </a:xfrm>
            <a:prstGeom prst="roundRect">
              <a:avLst>
                <a:gd name="adj" fmla="val 8571"/>
              </a:avLst>
            </a:prstGeom>
            <a:solidFill>
              <a:srgbClr val="FDF0EE"/>
            </a:solidFill>
            <a:ln w="16510" cap="flat">
              <a:solidFill>
                <a:srgbClr val="EC6B58"/>
              </a:solidFill>
              <a:prstDash val="solid"/>
              <a:round/>
            </a:ln>
            <a:effectLst/>
          </p:spPr>
          <p:txBody>
            <a:bodyPr wrap="square" lIns="45719" tIns="45719" rIns="45719" bIns="45719" numCol="1" anchor="ctr">
              <a:noAutofit/>
            </a:bodyPr>
            <a:lstStyle/>
            <a:p>
              <a:pPr algn="ctr">
                <a:lnSpc>
                  <a:spcPts val="1500"/>
                </a:lnSpc>
                <a:defRPr sz="1100"/>
              </a:pPr>
            </a:p>
          </p:txBody>
        </p:sp>
        <p:sp>
          <p:nvSpPr>
            <p:cNvPr id="165" name="Each letter gets its own number. Do not swap them."/>
            <p:cNvSpPr txBox="1"/>
            <p:nvPr/>
          </p:nvSpPr>
          <p:spPr>
            <a:xfrm>
              <a:off x="24323" y="228021"/>
              <a:ext cx="3819266" cy="1840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gn="ctr">
                <a:lnSpc>
                  <a:spcPts val="1500"/>
                </a:lnSpc>
                <a:defRPr b="1" sz="1100">
                  <a:solidFill>
                    <a:srgbClr val="C0392B"/>
                  </a:solidFill>
                  <a:latin typeface="Arial"/>
                  <a:ea typeface="Arial"/>
                  <a:cs typeface="Arial"/>
                  <a:sym typeface="Arial"/>
                </a:defRPr>
              </a:lvl1pPr>
            </a:lstStyle>
            <a:p>
              <a:pPr/>
              <a:r>
                <a:t>Each letter gets its own number. Do not swap them.</a:t>
              </a:r>
            </a:p>
          </p:txBody>
        </p:sp>
      </p:grpSp>
      <p:grpSp>
        <p:nvGrpSpPr>
          <p:cNvPr id="169" name="we"/>
          <p:cNvGrpSpPr/>
          <p:nvPr/>
        </p:nvGrpSpPr>
        <p:grpSpPr>
          <a:xfrm>
            <a:off x="4864608" y="4261103"/>
            <a:ext cx="3867913" cy="658369"/>
            <a:chOff x="0" y="0"/>
            <a:chExt cx="3867911" cy="658368"/>
          </a:xfrm>
        </p:grpSpPr>
        <p:sp>
          <p:nvSpPr>
            <p:cNvPr id="167" name="Rounded Rectangle"/>
            <p:cNvSpPr/>
            <p:nvPr/>
          </p:nvSpPr>
          <p:spPr>
            <a:xfrm>
              <a:off x="0" y="0"/>
              <a:ext cx="3867912" cy="658369"/>
            </a:xfrm>
            <a:prstGeom prst="roundRect">
              <a:avLst>
                <a:gd name="adj" fmla="val 8333"/>
              </a:avLst>
            </a:prstGeom>
            <a:solidFill>
              <a:srgbClr val="FDF0EE"/>
            </a:solidFill>
            <a:ln w="16510" cap="flat">
              <a:solidFill>
                <a:srgbClr val="EC6B58"/>
              </a:solidFill>
              <a:prstDash val="solid"/>
              <a:round/>
            </a:ln>
            <a:effectLst/>
          </p:spPr>
          <p:txBody>
            <a:bodyPr wrap="square" lIns="45719" tIns="45719" rIns="45719" bIns="45719" numCol="1" anchor="ctr">
              <a:noAutofit/>
            </a:bodyPr>
            <a:lstStyle/>
            <a:p>
              <a:pPr algn="ctr">
                <a:lnSpc>
                  <a:spcPts val="1500"/>
                </a:lnSpc>
                <a:defRPr sz="1100"/>
              </a:pPr>
            </a:p>
          </p:txBody>
        </p:sp>
        <p:sp>
          <p:nvSpPr>
            <p:cNvPr id="168" name="ab means a × b. If a = 2 and b = 3, ab is 6, not 23."/>
            <p:cNvSpPr txBox="1"/>
            <p:nvPr/>
          </p:nvSpPr>
          <p:spPr>
            <a:xfrm>
              <a:off x="24323" y="237165"/>
              <a:ext cx="3819266" cy="1840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gn="ctr">
                <a:lnSpc>
                  <a:spcPts val="1500"/>
                </a:lnSpc>
                <a:defRPr b="1" sz="1100">
                  <a:solidFill>
                    <a:srgbClr val="C0392B"/>
                  </a:solidFill>
                  <a:latin typeface="Arial"/>
                  <a:ea typeface="Arial"/>
                  <a:cs typeface="Arial"/>
                  <a:sym typeface="Arial"/>
                </a:defRPr>
              </a:lvl1pPr>
            </a:lstStyle>
            <a:p>
              <a:pPr/>
              <a:r>
                <a:t>ab means a × b. If a = 2 and b = 3, ab is 6, not 23.</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14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48"/>
                                        </p:tgtEl>
                                        <p:attrNameLst>
                                          <p:attrName>style.visibility</p:attrName>
                                        </p:attrNameLst>
                                      </p:cBhvr>
                                      <p:to>
                                        <p:strVal val="visible"/>
                                      </p:to>
                                    </p:set>
                                    <p:animEffect filter="fade" transition="in">
                                      <p:cBhvr>
                                        <p:cTn id="11" dur="400"/>
                                        <p:tgtEl>
                                          <p:spTgt spid="14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49"/>
                                        </p:tgtEl>
                                        <p:attrNameLst>
                                          <p:attrName>style.visibility</p:attrName>
                                        </p:attrNameLst>
                                      </p:cBhvr>
                                      <p:to>
                                        <p:strVal val="visible"/>
                                      </p:to>
                                    </p:set>
                                    <p:animEffect filter="fade" transition="in">
                                      <p:cBhvr>
                                        <p:cTn id="16" dur="400"/>
                                        <p:tgtEl>
                                          <p:spTgt spid="149"/>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50"/>
                                        </p:tgtEl>
                                        <p:attrNameLst>
                                          <p:attrName>style.visibility</p:attrName>
                                        </p:attrNameLst>
                                      </p:cBhvr>
                                      <p:to>
                                        <p:strVal val="visible"/>
                                      </p:to>
                                    </p:set>
                                    <p:animEffect filter="fade" transition="in">
                                      <p:cBhvr>
                                        <p:cTn id="21" dur="400"/>
                                        <p:tgtEl>
                                          <p:spTgt spid="150"/>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51"/>
                                        </p:tgtEl>
                                        <p:attrNameLst>
                                          <p:attrName>style.visibility</p:attrName>
                                        </p:attrNameLst>
                                      </p:cBhvr>
                                      <p:to>
                                        <p:strVal val="visible"/>
                                      </p:to>
                                    </p:set>
                                    <p:animEffect filter="fade" transition="in">
                                      <p:cBhvr>
                                        <p:cTn id="26" dur="400"/>
                                        <p:tgtEl>
                                          <p:spTgt spid="151"/>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ID="10" grpId="6" fill="hold">
                                  <p:stCondLst>
                                    <p:cond delay="0"/>
                                  </p:stCondLst>
                                  <p:iterate type="el" backwards="0">
                                    <p:tmAbs val="0"/>
                                  </p:iterate>
                                  <p:childTnLst>
                                    <p:set>
                                      <p:cBhvr>
                                        <p:cTn id="30" fill="hold"/>
                                        <p:tgtEl>
                                          <p:spTgt spid="154"/>
                                        </p:tgtEl>
                                        <p:attrNameLst>
                                          <p:attrName>style.visibility</p:attrName>
                                        </p:attrNameLst>
                                      </p:cBhvr>
                                      <p:to>
                                        <p:strVal val="visible"/>
                                      </p:to>
                                    </p:set>
                                    <p:animEffect filter="fade" transition="in">
                                      <p:cBhvr>
                                        <p:cTn id="31" dur="400"/>
                                        <p:tgtEl>
                                          <p:spTgt spid="154"/>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ID="10" grpId="7" fill="hold">
                                  <p:stCondLst>
                                    <p:cond delay="0"/>
                                  </p:stCondLst>
                                  <p:iterate type="el" backwards="0">
                                    <p:tmAbs val="0"/>
                                  </p:iterate>
                                  <p:childTnLst>
                                    <p:set>
                                      <p:cBhvr>
                                        <p:cTn id="35" fill="hold"/>
                                        <p:tgtEl>
                                          <p:spTgt spid="155"/>
                                        </p:tgtEl>
                                        <p:attrNameLst>
                                          <p:attrName>style.visibility</p:attrName>
                                        </p:attrNameLst>
                                      </p:cBhvr>
                                      <p:to>
                                        <p:strVal val="visible"/>
                                      </p:to>
                                    </p:set>
                                    <p:animEffect filter="fade" transition="in">
                                      <p:cBhvr>
                                        <p:cTn id="36" dur="400"/>
                                        <p:tgtEl>
                                          <p:spTgt spid="155"/>
                                        </p:tgtEl>
                                      </p:cBhvr>
                                    </p:animEffect>
                                  </p:childTnLst>
                                </p:cTn>
                              </p:par>
                            </p:childTnLst>
                          </p:cTn>
                        </p:par>
                      </p:childTnLst>
                    </p:cTn>
                  </p:par>
                  <p:par>
                    <p:cTn id="37" fill="hold">
                      <p:stCondLst>
                        <p:cond delay="indefinite"/>
                      </p:stCondLst>
                      <p:childTnLst>
                        <p:par>
                          <p:cTn id="38" fill="hold">
                            <p:stCondLst>
                              <p:cond delay="0"/>
                            </p:stCondLst>
                            <p:childTnLst>
                              <p:par>
                                <p:cTn id="39" presetClass="entr" nodeType="clickEffect" presetID="10" grpId="8" fill="hold">
                                  <p:stCondLst>
                                    <p:cond delay="0"/>
                                  </p:stCondLst>
                                  <p:iterate type="el" backwards="0">
                                    <p:tmAbs val="0"/>
                                  </p:iterate>
                                  <p:childTnLst>
                                    <p:set>
                                      <p:cBhvr>
                                        <p:cTn id="40" fill="hold"/>
                                        <p:tgtEl>
                                          <p:spTgt spid="156"/>
                                        </p:tgtEl>
                                        <p:attrNameLst>
                                          <p:attrName>style.visibility</p:attrName>
                                        </p:attrNameLst>
                                      </p:cBhvr>
                                      <p:to>
                                        <p:strVal val="visible"/>
                                      </p:to>
                                    </p:set>
                                    <p:animEffect filter="fade" transition="in">
                                      <p:cBhvr>
                                        <p:cTn id="41" dur="400"/>
                                        <p:tgtEl>
                                          <p:spTgt spid="156"/>
                                        </p:tgtEl>
                                      </p:cBhvr>
                                    </p:animEffect>
                                  </p:childTnLst>
                                </p:cTn>
                              </p:par>
                            </p:childTnLst>
                          </p:cTn>
                        </p:par>
                      </p:childTnLst>
                    </p:cTn>
                  </p:par>
                  <p:par>
                    <p:cTn id="42" fill="hold">
                      <p:stCondLst>
                        <p:cond delay="indefinite"/>
                      </p:stCondLst>
                      <p:childTnLst>
                        <p:par>
                          <p:cTn id="43" fill="hold">
                            <p:stCondLst>
                              <p:cond delay="0"/>
                            </p:stCondLst>
                            <p:childTnLst>
                              <p:par>
                                <p:cTn id="44" presetClass="entr" nodeType="clickEffect" presetID="10" grpId="9" fill="hold">
                                  <p:stCondLst>
                                    <p:cond delay="0"/>
                                  </p:stCondLst>
                                  <p:iterate type="el" backwards="0">
                                    <p:tmAbs val="0"/>
                                  </p:iterate>
                                  <p:childTnLst>
                                    <p:set>
                                      <p:cBhvr>
                                        <p:cTn id="45" fill="hold"/>
                                        <p:tgtEl>
                                          <p:spTgt spid="157"/>
                                        </p:tgtEl>
                                        <p:attrNameLst>
                                          <p:attrName>style.visibility</p:attrName>
                                        </p:attrNameLst>
                                      </p:cBhvr>
                                      <p:to>
                                        <p:strVal val="visible"/>
                                      </p:to>
                                    </p:set>
                                    <p:animEffect filter="fade" transition="in">
                                      <p:cBhvr>
                                        <p:cTn id="46" dur="400"/>
                                        <p:tgtEl>
                                          <p:spTgt spid="157"/>
                                        </p:tgtEl>
                                      </p:cBhvr>
                                    </p:animEffect>
                                  </p:childTnLst>
                                </p:cTn>
                              </p:par>
                            </p:childTnLst>
                          </p:cTn>
                        </p:par>
                      </p:childTnLst>
                    </p:cTn>
                  </p:par>
                  <p:par>
                    <p:cTn id="47" fill="hold">
                      <p:stCondLst>
                        <p:cond delay="indefinite"/>
                      </p:stCondLst>
                      <p:childTnLst>
                        <p:par>
                          <p:cTn id="48" fill="hold">
                            <p:stCondLst>
                              <p:cond delay="0"/>
                            </p:stCondLst>
                            <p:childTnLst>
                              <p:par>
                                <p:cTn id="49" presetClass="entr" nodeType="clickEffect" presetID="10" grpId="10" fill="hold">
                                  <p:stCondLst>
                                    <p:cond delay="0"/>
                                  </p:stCondLst>
                                  <p:iterate type="el" backwards="0">
                                    <p:tmAbs val="0"/>
                                  </p:iterate>
                                  <p:childTnLst>
                                    <p:set>
                                      <p:cBhvr>
                                        <p:cTn id="50" fill="hold"/>
                                        <p:tgtEl>
                                          <p:spTgt spid="160"/>
                                        </p:tgtEl>
                                        <p:attrNameLst>
                                          <p:attrName>style.visibility</p:attrName>
                                        </p:attrNameLst>
                                      </p:cBhvr>
                                      <p:to>
                                        <p:strVal val="visible"/>
                                      </p:to>
                                    </p:set>
                                    <p:animEffect filter="fade" transition="in">
                                      <p:cBhvr>
                                        <p:cTn id="51" dur="400"/>
                                        <p:tgtEl>
                                          <p:spTgt spid="160"/>
                                        </p:tgtEl>
                                      </p:cBhvr>
                                    </p:animEffect>
                                  </p:childTnLst>
                                </p:cTn>
                              </p:par>
                            </p:childTnLst>
                          </p:cTn>
                        </p:par>
                      </p:childTnLst>
                    </p:cTn>
                  </p:par>
                  <p:par>
                    <p:cTn id="52" fill="hold">
                      <p:stCondLst>
                        <p:cond delay="indefinite"/>
                      </p:stCondLst>
                      <p:childTnLst>
                        <p:par>
                          <p:cTn id="53" fill="hold">
                            <p:stCondLst>
                              <p:cond delay="0"/>
                            </p:stCondLst>
                            <p:childTnLst>
                              <p:par>
                                <p:cTn id="54" presetClass="entr" nodeType="clickEffect" presetSubtype="16" presetID="23" grpId="11" fill="hold">
                                  <p:stCondLst>
                                    <p:cond delay="0"/>
                                  </p:stCondLst>
                                  <p:iterate type="el" backwards="0">
                                    <p:tmAbs val="0"/>
                                  </p:iterate>
                                  <p:childTnLst>
                                    <p:set>
                                      <p:cBhvr>
                                        <p:cTn id="55" fill="hold"/>
                                        <p:tgtEl>
                                          <p:spTgt spid="163"/>
                                        </p:tgtEl>
                                        <p:attrNameLst>
                                          <p:attrName>style.visibility</p:attrName>
                                        </p:attrNameLst>
                                      </p:cBhvr>
                                      <p:to>
                                        <p:strVal val="visible"/>
                                      </p:to>
                                    </p:set>
                                    <p:anim calcmode="lin" valueType="num">
                                      <p:cBhvr>
                                        <p:cTn id="56" dur="400" fill="hold"/>
                                        <p:tgtEl>
                                          <p:spTgt spid="163"/>
                                        </p:tgtEl>
                                        <p:attrNameLst>
                                          <p:attrName>ppt_w</p:attrName>
                                        </p:attrNameLst>
                                      </p:cBhvr>
                                      <p:tavLst>
                                        <p:tav tm="0">
                                          <p:val>
                                            <p:fltVal val="0"/>
                                          </p:val>
                                        </p:tav>
                                        <p:tav tm="100000">
                                          <p:val>
                                            <p:strVal val="#ppt_w"/>
                                          </p:val>
                                        </p:tav>
                                      </p:tavLst>
                                    </p:anim>
                                    <p:anim calcmode="lin" valueType="num">
                                      <p:cBhvr>
                                        <p:cTn id="57" dur="400" fill="hold"/>
                                        <p:tgtEl>
                                          <p:spTgt spid="163"/>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Class="entr" nodeType="clickEffect" presetSubtype="16" presetID="23" grpId="12" fill="hold">
                                  <p:stCondLst>
                                    <p:cond delay="0"/>
                                  </p:stCondLst>
                                  <p:iterate type="el" backwards="0">
                                    <p:tmAbs val="0"/>
                                  </p:iterate>
                                  <p:childTnLst>
                                    <p:set>
                                      <p:cBhvr>
                                        <p:cTn id="61" fill="hold"/>
                                        <p:tgtEl>
                                          <p:spTgt spid="166"/>
                                        </p:tgtEl>
                                        <p:attrNameLst>
                                          <p:attrName>style.visibility</p:attrName>
                                        </p:attrNameLst>
                                      </p:cBhvr>
                                      <p:to>
                                        <p:strVal val="visible"/>
                                      </p:to>
                                    </p:set>
                                    <p:anim calcmode="lin" valueType="num">
                                      <p:cBhvr>
                                        <p:cTn id="62" dur="400" fill="hold"/>
                                        <p:tgtEl>
                                          <p:spTgt spid="166"/>
                                        </p:tgtEl>
                                        <p:attrNameLst>
                                          <p:attrName>ppt_w</p:attrName>
                                        </p:attrNameLst>
                                      </p:cBhvr>
                                      <p:tavLst>
                                        <p:tav tm="0">
                                          <p:val>
                                            <p:fltVal val="0"/>
                                          </p:val>
                                        </p:tav>
                                        <p:tav tm="100000">
                                          <p:val>
                                            <p:strVal val="#ppt_w"/>
                                          </p:val>
                                        </p:tav>
                                      </p:tavLst>
                                    </p:anim>
                                    <p:anim calcmode="lin" valueType="num">
                                      <p:cBhvr>
                                        <p:cTn id="63" dur="400" fill="hold"/>
                                        <p:tgtEl>
                                          <p:spTgt spid="166"/>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Class="entr" nodeType="clickEffect" presetSubtype="16" presetID="23" grpId="13" fill="hold">
                                  <p:stCondLst>
                                    <p:cond delay="0"/>
                                  </p:stCondLst>
                                  <p:iterate type="el" backwards="0">
                                    <p:tmAbs val="0"/>
                                  </p:iterate>
                                  <p:childTnLst>
                                    <p:set>
                                      <p:cBhvr>
                                        <p:cTn id="67" fill="hold"/>
                                        <p:tgtEl>
                                          <p:spTgt spid="169"/>
                                        </p:tgtEl>
                                        <p:attrNameLst>
                                          <p:attrName>style.visibility</p:attrName>
                                        </p:attrNameLst>
                                      </p:cBhvr>
                                      <p:to>
                                        <p:strVal val="visible"/>
                                      </p:to>
                                    </p:set>
                                    <p:anim calcmode="lin" valueType="num">
                                      <p:cBhvr>
                                        <p:cTn id="68" dur="400" fill="hold"/>
                                        <p:tgtEl>
                                          <p:spTgt spid="169"/>
                                        </p:tgtEl>
                                        <p:attrNameLst>
                                          <p:attrName>ppt_w</p:attrName>
                                        </p:attrNameLst>
                                      </p:cBhvr>
                                      <p:tavLst>
                                        <p:tav tm="0">
                                          <p:val>
                                            <p:fltVal val="0"/>
                                          </p:val>
                                        </p:tav>
                                        <p:tav tm="100000">
                                          <p:val>
                                            <p:strVal val="#ppt_w"/>
                                          </p:val>
                                        </p:tav>
                                      </p:tavLst>
                                    </p:anim>
                                    <p:anim calcmode="lin" valueType="num">
                                      <p:cBhvr>
                                        <p:cTn id="69" dur="400" fill="hold"/>
                                        <p:tgtEl>
                                          <p:spTgt spid="16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70" fill="hold" display="0">
                  <p:stCondLst>
                    <p:cond delay="indefinite"/>
                  </p:stCondLst>
                </p:cTn>
                <p:tgtEl>
                  <p:spTgt spid="140"/>
                </p:tgtEl>
              </p:cMediaNode>
            </p:video>
            <p:seq concurrent="1" prevAc="none" nextAc="seek">
              <p:cTn id="71" evtFilter="cancelBubble" nodeType="interactiveSeq" restart="whenNotActive" fill="hold">
                <p:stCondLst>
                  <p:cond delay="0" evt="onClick">
                    <p:tgtEl>
                      <p:spTgt spid="140"/>
                    </p:tgtEl>
                  </p:cond>
                </p:stCondLst>
                <p:endSync delay="0" evt="end">
                  <p:rtn val="all"/>
                </p:endSync>
                <p:childTnLst>
                  <p:par>
                    <p:cTn id="72" fill="hold">
                      <p:stCondLst>
                        <p:cond delay="0"/>
                      </p:stCondLst>
                      <p:childTnLst>
                        <p:par>
                          <p:cTn id="73" fill="hold">
                            <p:stCondLst>
                              <p:cond delay="0"/>
                            </p:stCondLst>
                            <p:childTnLst>
                              <p:par>
                                <p:cTn id="74" presetClass="mediacall" nodeType="clickEffect" presetSubtype="0" presetID="2" fill="hold">
                                  <p:stCondLst>
                                    <p:cond delay="0"/>
                                  </p:stCondLst>
                                  <p:childTnLst>
                                    <p:cmd type="call" cmd="togglePause">
                                      <p:cBhvr>
                                        <p:cTn id="75" dur="1" fill="hold"/>
                                        <p:tgtEl>
                                          <p:spTgt spid="140"/>
                                        </p:tgtEl>
                                      </p:cBhvr>
                                    </p:cmd>
                                  </p:childTnLst>
                                </p:cTn>
                              </p:par>
                            </p:childTnLst>
                          </p:cTn>
                        </p:par>
                      </p:childTnLst>
                    </p:cTn>
                  </p:par>
                </p:childTnLst>
              </p:cTn>
              <p:nextCondLst>
                <p:cond delay="0" evt="onClick">
                  <p:tgtEl>
                    <p:spTgt spid="140"/>
                  </p:tgtEl>
                </p:cond>
              </p:nextCondLst>
            </p:seq>
          </p:childTnLst>
        </p:cTn>
      </p:par>
    </p:tnLst>
    <p:bldLst>
      <p:bldP build="whole" bldLvl="1" animBg="1" rev="0" advAuto="0" spid="166" grpId="12"/>
      <p:bldP build="whole" bldLvl="1" animBg="1" rev="0" advAuto="0" spid="148" grpId="2"/>
      <p:bldP build="whole" bldLvl="1" animBg="1" rev="0" advAuto="0" spid="149" grpId="3"/>
      <p:bldP build="whole" bldLvl="1" animBg="1" rev="0" advAuto="0" spid="156" grpId="8"/>
      <p:bldP build="whole" bldLvl="1" animBg="1" rev="0" advAuto="0" spid="160" grpId="10"/>
      <p:bldP build="whole" bldLvl="1" animBg="1" rev="0" advAuto="0" spid="155" grpId="7"/>
      <p:bldP build="whole" bldLvl="1" animBg="1" rev="0" advAuto="0" spid="150" grpId="4"/>
      <p:bldP build="whole" bldLvl="1" animBg="1" rev="0" advAuto="0" spid="163" grpId="11"/>
      <p:bldP build="whole" bldLvl="1" animBg="1" rev="0" advAuto="0" spid="154" grpId="6"/>
      <p:bldP build="whole" bldLvl="1" animBg="1" rev="0" advAuto="0" spid="169" grpId="13"/>
      <p:bldP build="whole" bldLvl="1" animBg="1" rev="0" advAuto="0" spid="157" grpId="9"/>
      <p:bldP build="whole" bldLvl="1" animBg="1" rev="0" advAuto="0" spid="151" grpId="5"/>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182879" y="182879"/>
            <a:ext cx="310897" cy="4777742"/>
          </a:xfrm>
          <a:prstGeom prst="rect">
            <a:avLst/>
          </a:prstGeom>
          <a:ln w="12700">
            <a:miter lim="400000"/>
          </a:ln>
        </p:spPr>
      </p:pic>
      <p:grpSp>
        <p:nvGrpSpPr>
          <p:cNvPr id="176" name="phase_pill"/>
          <p:cNvGrpSpPr/>
          <p:nvPr/>
        </p:nvGrpSpPr>
        <p:grpSpPr>
          <a:xfrm>
            <a:off x="777240" y="274320"/>
            <a:ext cx="1512418" cy="292609"/>
            <a:chOff x="0" y="0"/>
            <a:chExt cx="1512417" cy="292608"/>
          </a:xfrm>
        </p:grpSpPr>
        <p:sp>
          <p:nvSpPr>
            <p:cNvPr id="174" name="Rounded Rectangle"/>
            <p:cNvSpPr/>
            <p:nvPr/>
          </p:nvSpPr>
          <p:spPr>
            <a:xfrm>
              <a:off x="0" y="0"/>
              <a:ext cx="1512418" cy="292609"/>
            </a:xfrm>
            <a:prstGeom prst="roundRect">
              <a:avLst>
                <a:gd name="adj" fmla="val 4375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175" name="WE DO · 5 MIN"/>
            <p:cNvSpPr txBox="1"/>
            <p:nvPr/>
          </p:nvSpPr>
          <p:spPr>
            <a:xfrm>
              <a:off x="37494" y="82803"/>
              <a:ext cx="1437430"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WE DO · 5 MIN</a:t>
              </a:r>
            </a:p>
          </p:txBody>
        </p:sp>
      </p:grpSp>
      <p:sp>
        <p:nvSpPr>
          <p:cNvPr id="177" name="slide_title"/>
          <p:cNvSpPr txBox="1"/>
          <p:nvPr/>
        </p:nvSpPr>
        <p:spPr>
          <a:xfrm>
            <a:off x="777239" y="775207"/>
            <a:ext cx="795528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2B2350"/>
                </a:solidFill>
                <a:latin typeface="Georgia"/>
                <a:ea typeface="Georgia"/>
                <a:cs typeface="Georgia"/>
                <a:sym typeface="Georgia"/>
              </a:defRPr>
            </a:lvl1pPr>
          </a:lstStyle>
          <a:p>
            <a:pPr/>
            <a:r>
              <a:t>What should be the correct answer?</a:t>
            </a:r>
          </a:p>
        </p:txBody>
      </p:sp>
      <p:sp>
        <p:nvSpPr>
          <p:cNvPr id="178" name="slide_sub"/>
          <p:cNvSpPr txBox="1"/>
          <p:nvPr/>
        </p:nvSpPr>
        <p:spPr>
          <a:xfrm>
            <a:off x="777239" y="1288540"/>
            <a:ext cx="7955282"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5E5A70"/>
                </a:solidFill>
                <a:latin typeface="Arial"/>
                <a:ea typeface="Arial"/>
                <a:cs typeface="Arial"/>
                <a:sym typeface="Arial"/>
              </a:defRPr>
            </a:lvl1pPr>
          </a:lstStyle>
          <a:p>
            <a:pPr/>
            <a:r>
              <a:t>Spot the mistake.</a:t>
            </a:r>
          </a:p>
        </p:txBody>
      </p:sp>
      <p:sp>
        <p:nvSpPr>
          <p:cNvPr id="179" name="wd0_bg"/>
          <p:cNvSpPr/>
          <p:nvPr/>
        </p:nvSpPr>
        <p:spPr>
          <a:xfrm>
            <a:off x="777240" y="1591055"/>
            <a:ext cx="7955281" cy="731521"/>
          </a:xfrm>
          <a:prstGeom prst="roundRect">
            <a:avLst>
              <a:gd name="adj" fmla="val 7500"/>
            </a:avLst>
          </a:prstGeom>
          <a:solidFill>
            <a:srgbClr val="F2F0F8"/>
          </a:solidFill>
          <a:ln w="12700">
            <a:solidFill>
              <a:srgbClr val="F2F0F8"/>
            </a:solidFill>
          </a:ln>
        </p:spPr>
        <p:txBody>
          <a:bodyPr lIns="45719" rIns="45719"/>
          <a:lstStyle/>
          <a:p>
            <a:pPr/>
          </a:p>
        </p:txBody>
      </p:sp>
      <p:sp>
        <p:nvSpPr>
          <p:cNvPr id="180" name="wd0_q"/>
          <p:cNvSpPr txBox="1"/>
          <p:nvPr/>
        </p:nvSpPr>
        <p:spPr>
          <a:xfrm>
            <a:off x="960119" y="1852962"/>
            <a:ext cx="3749042"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B2350"/>
                </a:solidFill>
                <a:latin typeface="Arial"/>
                <a:ea typeface="Arial"/>
                <a:cs typeface="Arial"/>
                <a:sym typeface="Arial"/>
              </a:defRPr>
            </a:lvl1pPr>
          </a:lstStyle>
          <a:p>
            <a:pPr/>
            <a:r>
              <a:t>When n = 2, 5n = 52</a:t>
            </a:r>
          </a:p>
        </p:txBody>
      </p:sp>
      <p:grpSp>
        <p:nvGrpSpPr>
          <p:cNvPr id="183" name="wd0_a"/>
          <p:cNvGrpSpPr/>
          <p:nvPr/>
        </p:nvGrpSpPr>
        <p:grpSpPr>
          <a:xfrm>
            <a:off x="4846320" y="1673351"/>
            <a:ext cx="3794760" cy="566929"/>
            <a:chOff x="0" y="0"/>
            <a:chExt cx="3794759" cy="566927"/>
          </a:xfrm>
        </p:grpSpPr>
        <p:sp>
          <p:nvSpPr>
            <p:cNvPr id="181" name="Rounded Rectangle"/>
            <p:cNvSpPr/>
            <p:nvPr/>
          </p:nvSpPr>
          <p:spPr>
            <a:xfrm>
              <a:off x="0" y="0"/>
              <a:ext cx="3794760" cy="566928"/>
            </a:xfrm>
            <a:prstGeom prst="roundRect">
              <a:avLst>
                <a:gd name="adj" fmla="val 12903"/>
              </a:avLst>
            </a:prstGeom>
            <a:solidFill>
              <a:srgbClr val="FDEEDC"/>
            </a:solidFill>
            <a:ln w="16510" cap="flat">
              <a:solidFill>
                <a:srgbClr val="EC6B58"/>
              </a:solidFill>
              <a:prstDash val="solid"/>
              <a:round/>
            </a:ln>
            <a:effectLst/>
          </p:spPr>
          <p:txBody>
            <a:bodyPr wrap="square" lIns="45719" tIns="45719" rIns="45719" bIns="45719" numCol="1" anchor="ctr">
              <a:noAutofit/>
            </a:bodyPr>
            <a:lstStyle/>
            <a:p>
              <a:pPr algn="ctr">
                <a:lnSpc>
                  <a:spcPts val="1500"/>
                </a:lnSpc>
                <a:defRPr sz="1100"/>
              </a:pPr>
            </a:p>
          </p:txBody>
        </p:sp>
        <p:sp>
          <p:nvSpPr>
            <p:cNvPr id="182" name="5n means 5 × n. So 5 × 2 = 10."/>
            <p:cNvSpPr txBox="1"/>
            <p:nvPr/>
          </p:nvSpPr>
          <p:spPr>
            <a:xfrm>
              <a:off x="29680" y="191699"/>
              <a:ext cx="3735399" cy="1835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lnSpc>
                  <a:spcPts val="1500"/>
                </a:lnSpc>
                <a:defRPr b="1" sz="1100">
                  <a:solidFill>
                    <a:srgbClr val="2B2350"/>
                  </a:solidFill>
                  <a:latin typeface="Arial"/>
                  <a:ea typeface="Arial"/>
                  <a:cs typeface="Arial"/>
                  <a:sym typeface="Arial"/>
                </a:defRPr>
              </a:lvl1pPr>
            </a:lstStyle>
            <a:p>
              <a:pPr/>
              <a:r>
                <a:t>5n means 5 × n. So 5 × 2 = 10.</a:t>
              </a:r>
            </a:p>
          </p:txBody>
        </p:sp>
      </p:grpSp>
      <p:sp>
        <p:nvSpPr>
          <p:cNvPr id="184" name="wd1_bg"/>
          <p:cNvSpPr/>
          <p:nvPr/>
        </p:nvSpPr>
        <p:spPr>
          <a:xfrm>
            <a:off x="777240" y="2414016"/>
            <a:ext cx="7955281" cy="731521"/>
          </a:xfrm>
          <a:prstGeom prst="roundRect">
            <a:avLst>
              <a:gd name="adj" fmla="val 7500"/>
            </a:avLst>
          </a:prstGeom>
          <a:solidFill>
            <a:srgbClr val="F2F0F8"/>
          </a:solidFill>
          <a:ln w="12700">
            <a:solidFill>
              <a:srgbClr val="F2F0F8"/>
            </a:solidFill>
          </a:ln>
        </p:spPr>
        <p:txBody>
          <a:bodyPr lIns="45719" rIns="45719"/>
          <a:lstStyle/>
          <a:p>
            <a:pPr/>
          </a:p>
        </p:txBody>
      </p:sp>
      <p:sp>
        <p:nvSpPr>
          <p:cNvPr id="185" name="wd1_q"/>
          <p:cNvSpPr txBox="1"/>
          <p:nvPr/>
        </p:nvSpPr>
        <p:spPr>
          <a:xfrm>
            <a:off x="960119" y="2675922"/>
            <a:ext cx="3749042"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B2350"/>
                </a:solidFill>
                <a:latin typeface="Arial"/>
                <a:ea typeface="Arial"/>
                <a:cs typeface="Arial"/>
                <a:sym typeface="Arial"/>
              </a:defRPr>
            </a:lvl1pPr>
          </a:lstStyle>
          <a:p>
            <a:pPr/>
            <a:r>
              <a:t>When n = 5, 4n + 3 = 7 × 5 = 35</a:t>
            </a:r>
          </a:p>
        </p:txBody>
      </p:sp>
      <p:grpSp>
        <p:nvGrpSpPr>
          <p:cNvPr id="188" name="wd1_a"/>
          <p:cNvGrpSpPr/>
          <p:nvPr/>
        </p:nvGrpSpPr>
        <p:grpSpPr>
          <a:xfrm>
            <a:off x="4846320" y="2496311"/>
            <a:ext cx="3794760" cy="566929"/>
            <a:chOff x="0" y="0"/>
            <a:chExt cx="3794759" cy="566927"/>
          </a:xfrm>
        </p:grpSpPr>
        <p:sp>
          <p:nvSpPr>
            <p:cNvPr id="186" name="Rounded Rectangle"/>
            <p:cNvSpPr/>
            <p:nvPr/>
          </p:nvSpPr>
          <p:spPr>
            <a:xfrm>
              <a:off x="0" y="0"/>
              <a:ext cx="3794760" cy="566928"/>
            </a:xfrm>
            <a:prstGeom prst="roundRect">
              <a:avLst>
                <a:gd name="adj" fmla="val 12903"/>
              </a:avLst>
            </a:prstGeom>
            <a:solidFill>
              <a:srgbClr val="FDEEDC"/>
            </a:solidFill>
            <a:ln w="16510" cap="flat">
              <a:solidFill>
                <a:srgbClr val="EC6B58"/>
              </a:solidFill>
              <a:prstDash val="solid"/>
              <a:round/>
            </a:ln>
            <a:effectLst/>
          </p:spPr>
          <p:txBody>
            <a:bodyPr wrap="square" lIns="45719" tIns="45719" rIns="45719" bIns="45719" numCol="1" anchor="ctr">
              <a:noAutofit/>
            </a:bodyPr>
            <a:lstStyle/>
            <a:p>
              <a:pPr algn="ctr">
                <a:lnSpc>
                  <a:spcPts val="1500"/>
                </a:lnSpc>
                <a:defRPr sz="1100"/>
              </a:pPr>
            </a:p>
          </p:txBody>
        </p:sp>
        <p:sp>
          <p:nvSpPr>
            <p:cNvPr id="187" name="Multiply first: 4 × 5 + 3 = 20 + 3 = 23."/>
            <p:cNvSpPr txBox="1"/>
            <p:nvPr/>
          </p:nvSpPr>
          <p:spPr>
            <a:xfrm>
              <a:off x="29680" y="191699"/>
              <a:ext cx="3735399" cy="1835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lnSpc>
                  <a:spcPts val="1500"/>
                </a:lnSpc>
                <a:defRPr b="1" sz="1100">
                  <a:solidFill>
                    <a:srgbClr val="2B2350"/>
                  </a:solidFill>
                  <a:latin typeface="Arial"/>
                  <a:ea typeface="Arial"/>
                  <a:cs typeface="Arial"/>
                  <a:sym typeface="Arial"/>
                </a:defRPr>
              </a:lvl1pPr>
            </a:lstStyle>
            <a:p>
              <a:pPr/>
              <a:r>
                <a:t>Multiply first: 4 × 5 + 3 = 20 + 3 = 23.</a:t>
              </a:r>
            </a:p>
          </p:txBody>
        </p:sp>
      </p:grpSp>
      <p:sp>
        <p:nvSpPr>
          <p:cNvPr id="189" name="wd2_bg"/>
          <p:cNvSpPr/>
          <p:nvPr/>
        </p:nvSpPr>
        <p:spPr>
          <a:xfrm>
            <a:off x="777240" y="3236976"/>
            <a:ext cx="7955281" cy="731521"/>
          </a:xfrm>
          <a:prstGeom prst="roundRect">
            <a:avLst>
              <a:gd name="adj" fmla="val 7500"/>
            </a:avLst>
          </a:prstGeom>
          <a:solidFill>
            <a:srgbClr val="F2F0F8"/>
          </a:solidFill>
          <a:ln w="12700">
            <a:solidFill>
              <a:srgbClr val="F2F0F8"/>
            </a:solidFill>
          </a:ln>
        </p:spPr>
        <p:txBody>
          <a:bodyPr lIns="45719" rIns="45719"/>
          <a:lstStyle/>
          <a:p>
            <a:pPr/>
          </a:p>
        </p:txBody>
      </p:sp>
      <p:sp>
        <p:nvSpPr>
          <p:cNvPr id="190" name="wd2_q"/>
          <p:cNvSpPr txBox="1"/>
          <p:nvPr/>
        </p:nvSpPr>
        <p:spPr>
          <a:xfrm>
            <a:off x="960119" y="3498882"/>
            <a:ext cx="3749042"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B2350"/>
                </a:solidFill>
                <a:latin typeface="Arial"/>
                <a:ea typeface="Arial"/>
                <a:cs typeface="Arial"/>
                <a:sym typeface="Arial"/>
              </a:defRPr>
            </a:lvl1pPr>
          </a:lstStyle>
          <a:p>
            <a:pPr/>
            <a:r>
              <a:t>When n = 3, 5(n + 2) = 5 × 3 + 2 = 17</a:t>
            </a:r>
          </a:p>
        </p:txBody>
      </p:sp>
      <p:grpSp>
        <p:nvGrpSpPr>
          <p:cNvPr id="193" name="wd2_a"/>
          <p:cNvGrpSpPr/>
          <p:nvPr/>
        </p:nvGrpSpPr>
        <p:grpSpPr>
          <a:xfrm>
            <a:off x="4846320" y="3319271"/>
            <a:ext cx="3794760" cy="566929"/>
            <a:chOff x="0" y="0"/>
            <a:chExt cx="3794759" cy="566927"/>
          </a:xfrm>
        </p:grpSpPr>
        <p:sp>
          <p:nvSpPr>
            <p:cNvPr id="191" name="Rounded Rectangle"/>
            <p:cNvSpPr/>
            <p:nvPr/>
          </p:nvSpPr>
          <p:spPr>
            <a:xfrm>
              <a:off x="0" y="0"/>
              <a:ext cx="3794760" cy="566928"/>
            </a:xfrm>
            <a:prstGeom prst="roundRect">
              <a:avLst>
                <a:gd name="adj" fmla="val 12903"/>
              </a:avLst>
            </a:prstGeom>
            <a:solidFill>
              <a:srgbClr val="FDEEDC"/>
            </a:solidFill>
            <a:ln w="16510" cap="flat">
              <a:solidFill>
                <a:srgbClr val="EC6B58"/>
              </a:solidFill>
              <a:prstDash val="solid"/>
              <a:round/>
            </a:ln>
            <a:effectLst/>
          </p:spPr>
          <p:txBody>
            <a:bodyPr wrap="square" lIns="45719" tIns="45719" rIns="45719" bIns="45719" numCol="1" anchor="ctr">
              <a:noAutofit/>
            </a:bodyPr>
            <a:lstStyle/>
            <a:p>
              <a:pPr algn="ctr">
                <a:lnSpc>
                  <a:spcPts val="1500"/>
                </a:lnSpc>
                <a:defRPr sz="1100"/>
              </a:pPr>
            </a:p>
          </p:txBody>
        </p:sp>
        <p:sp>
          <p:nvSpPr>
            <p:cNvPr id="192" name="The 5 multiplies the whole bracket: 5 × (3 + 2) = 5 × 5 = 25."/>
            <p:cNvSpPr txBox="1"/>
            <p:nvPr/>
          </p:nvSpPr>
          <p:spPr>
            <a:xfrm>
              <a:off x="29680" y="96449"/>
              <a:ext cx="3735399" cy="374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lnSpc>
                  <a:spcPts val="1500"/>
                </a:lnSpc>
                <a:defRPr b="1" sz="1100">
                  <a:solidFill>
                    <a:srgbClr val="2B2350"/>
                  </a:solidFill>
                  <a:latin typeface="Arial"/>
                  <a:ea typeface="Arial"/>
                  <a:cs typeface="Arial"/>
                  <a:sym typeface="Arial"/>
                </a:defRPr>
              </a:lvl1pPr>
            </a:lstStyle>
            <a:p>
              <a:pPr/>
              <a:r>
                <a:t>The 5 multiplies the whole bracket: 5 × (3 + 2) = 5 × 5 = 25.</a:t>
              </a:r>
            </a:p>
          </p:txBody>
        </p:sp>
      </p:grpSp>
      <p:sp>
        <p:nvSpPr>
          <p:cNvPr id="194" name="wd3_bg"/>
          <p:cNvSpPr/>
          <p:nvPr/>
        </p:nvSpPr>
        <p:spPr>
          <a:xfrm>
            <a:off x="777240" y="4059935"/>
            <a:ext cx="7955281" cy="731521"/>
          </a:xfrm>
          <a:prstGeom prst="roundRect">
            <a:avLst>
              <a:gd name="adj" fmla="val 7500"/>
            </a:avLst>
          </a:prstGeom>
          <a:solidFill>
            <a:srgbClr val="F2F0F8"/>
          </a:solidFill>
          <a:ln w="12700">
            <a:solidFill>
              <a:srgbClr val="F2F0F8"/>
            </a:solidFill>
          </a:ln>
        </p:spPr>
        <p:txBody>
          <a:bodyPr lIns="45719" rIns="45719"/>
          <a:lstStyle/>
          <a:p>
            <a:pPr/>
          </a:p>
        </p:txBody>
      </p:sp>
      <p:sp>
        <p:nvSpPr>
          <p:cNvPr id="195" name="wd3_q"/>
          <p:cNvSpPr txBox="1"/>
          <p:nvPr/>
        </p:nvSpPr>
        <p:spPr>
          <a:xfrm>
            <a:off x="960119" y="4321842"/>
            <a:ext cx="3749042" cy="2077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2B2350"/>
                </a:solidFill>
                <a:latin typeface="Arial"/>
                <a:ea typeface="Arial"/>
                <a:cs typeface="Arial"/>
                <a:sym typeface="Arial"/>
              </a:defRPr>
            </a:lvl1pPr>
          </a:lstStyle>
          <a:p>
            <a:pPr/>
            <a:r>
              <a:t>When a = 6 and b = 3, 2a + 4b = 2 × 3 + 4 × 6 = 30</a:t>
            </a:r>
          </a:p>
        </p:txBody>
      </p:sp>
      <p:grpSp>
        <p:nvGrpSpPr>
          <p:cNvPr id="198" name="wd3_a"/>
          <p:cNvGrpSpPr/>
          <p:nvPr/>
        </p:nvGrpSpPr>
        <p:grpSpPr>
          <a:xfrm>
            <a:off x="4846320" y="4142232"/>
            <a:ext cx="3794760" cy="566929"/>
            <a:chOff x="0" y="0"/>
            <a:chExt cx="3794759" cy="566927"/>
          </a:xfrm>
        </p:grpSpPr>
        <p:sp>
          <p:nvSpPr>
            <p:cNvPr id="196" name="Rounded Rectangle"/>
            <p:cNvSpPr/>
            <p:nvPr/>
          </p:nvSpPr>
          <p:spPr>
            <a:xfrm>
              <a:off x="0" y="0"/>
              <a:ext cx="3794760" cy="566928"/>
            </a:xfrm>
            <a:prstGeom prst="roundRect">
              <a:avLst>
                <a:gd name="adj" fmla="val 12903"/>
              </a:avLst>
            </a:prstGeom>
            <a:solidFill>
              <a:srgbClr val="FDEEDC"/>
            </a:solidFill>
            <a:ln w="16510" cap="flat">
              <a:solidFill>
                <a:srgbClr val="EC6B58"/>
              </a:solidFill>
              <a:prstDash val="solid"/>
              <a:round/>
            </a:ln>
            <a:effectLst/>
          </p:spPr>
          <p:txBody>
            <a:bodyPr wrap="square" lIns="45719" tIns="45719" rIns="45719" bIns="45719" numCol="1" anchor="ctr">
              <a:noAutofit/>
            </a:bodyPr>
            <a:lstStyle/>
            <a:p>
              <a:pPr algn="ctr">
                <a:lnSpc>
                  <a:spcPts val="1500"/>
                </a:lnSpc>
                <a:defRPr sz="1100"/>
              </a:pPr>
            </a:p>
          </p:txBody>
        </p:sp>
        <p:sp>
          <p:nvSpPr>
            <p:cNvPr id="197" name="Each letter gets its own number: 2 × 6 + 4 × 3 = 12 + 12 = 24."/>
            <p:cNvSpPr txBox="1"/>
            <p:nvPr/>
          </p:nvSpPr>
          <p:spPr>
            <a:xfrm>
              <a:off x="29680" y="96449"/>
              <a:ext cx="3735399" cy="3740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lnSpc>
                  <a:spcPts val="1500"/>
                </a:lnSpc>
                <a:defRPr b="1" sz="1100">
                  <a:solidFill>
                    <a:srgbClr val="2B2350"/>
                  </a:solidFill>
                  <a:latin typeface="Arial"/>
                  <a:ea typeface="Arial"/>
                  <a:cs typeface="Arial"/>
                  <a:sym typeface="Arial"/>
                </a:defRPr>
              </a:lvl1pPr>
            </a:lstStyle>
            <a:p>
              <a:pPr/>
              <a:r>
                <a:t>Each letter gets its own number: 2 × 6 + 4 × 3 = 12 + 12 = 24.</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7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83"/>
                                        </p:tgtEl>
                                        <p:attrNameLst>
                                          <p:attrName>style.visibility</p:attrName>
                                        </p:attrNameLst>
                                      </p:cBhvr>
                                      <p:to>
                                        <p:strVal val="visible"/>
                                      </p:to>
                                    </p:set>
                                    <p:anim calcmode="lin" valueType="num">
                                      <p:cBhvr>
                                        <p:cTn id="11" dur="400" fill="hold"/>
                                        <p:tgtEl>
                                          <p:spTgt spid="183"/>
                                        </p:tgtEl>
                                        <p:attrNameLst>
                                          <p:attrName>ppt_w</p:attrName>
                                        </p:attrNameLst>
                                      </p:cBhvr>
                                      <p:tavLst>
                                        <p:tav tm="0">
                                          <p:val>
                                            <p:fltVal val="0"/>
                                          </p:val>
                                        </p:tav>
                                        <p:tav tm="100000">
                                          <p:val>
                                            <p:strVal val="#ppt_w"/>
                                          </p:val>
                                        </p:tav>
                                      </p:tavLst>
                                    </p:anim>
                                    <p:anim calcmode="lin" valueType="num">
                                      <p:cBhvr>
                                        <p:cTn id="12" dur="400" fill="hold"/>
                                        <p:tgtEl>
                                          <p:spTgt spid="183"/>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88"/>
                                        </p:tgtEl>
                                        <p:attrNameLst>
                                          <p:attrName>style.visibility</p:attrName>
                                        </p:attrNameLst>
                                      </p:cBhvr>
                                      <p:to>
                                        <p:strVal val="visible"/>
                                      </p:to>
                                    </p:set>
                                    <p:anim calcmode="lin" valueType="num">
                                      <p:cBhvr>
                                        <p:cTn id="17" dur="400" fill="hold"/>
                                        <p:tgtEl>
                                          <p:spTgt spid="188"/>
                                        </p:tgtEl>
                                        <p:attrNameLst>
                                          <p:attrName>ppt_w</p:attrName>
                                        </p:attrNameLst>
                                      </p:cBhvr>
                                      <p:tavLst>
                                        <p:tav tm="0">
                                          <p:val>
                                            <p:fltVal val="0"/>
                                          </p:val>
                                        </p:tav>
                                        <p:tav tm="100000">
                                          <p:val>
                                            <p:strVal val="#ppt_w"/>
                                          </p:val>
                                        </p:tav>
                                      </p:tavLst>
                                    </p:anim>
                                    <p:anim calcmode="lin" valueType="num">
                                      <p:cBhvr>
                                        <p:cTn id="18" dur="400" fill="hold"/>
                                        <p:tgtEl>
                                          <p:spTgt spid="188"/>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193"/>
                                        </p:tgtEl>
                                        <p:attrNameLst>
                                          <p:attrName>style.visibility</p:attrName>
                                        </p:attrNameLst>
                                      </p:cBhvr>
                                      <p:to>
                                        <p:strVal val="visible"/>
                                      </p:to>
                                    </p:set>
                                    <p:anim calcmode="lin" valueType="num">
                                      <p:cBhvr>
                                        <p:cTn id="23" dur="400" fill="hold"/>
                                        <p:tgtEl>
                                          <p:spTgt spid="193"/>
                                        </p:tgtEl>
                                        <p:attrNameLst>
                                          <p:attrName>ppt_w</p:attrName>
                                        </p:attrNameLst>
                                      </p:cBhvr>
                                      <p:tavLst>
                                        <p:tav tm="0">
                                          <p:val>
                                            <p:fltVal val="0"/>
                                          </p:val>
                                        </p:tav>
                                        <p:tav tm="100000">
                                          <p:val>
                                            <p:strVal val="#ppt_w"/>
                                          </p:val>
                                        </p:tav>
                                      </p:tavLst>
                                    </p:anim>
                                    <p:anim calcmode="lin" valueType="num">
                                      <p:cBhvr>
                                        <p:cTn id="24" dur="400" fill="hold"/>
                                        <p:tgtEl>
                                          <p:spTgt spid="193"/>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198"/>
                                        </p:tgtEl>
                                        <p:attrNameLst>
                                          <p:attrName>style.visibility</p:attrName>
                                        </p:attrNameLst>
                                      </p:cBhvr>
                                      <p:to>
                                        <p:strVal val="visible"/>
                                      </p:to>
                                    </p:set>
                                    <p:anim calcmode="lin" valueType="num">
                                      <p:cBhvr>
                                        <p:cTn id="29" dur="400" fill="hold"/>
                                        <p:tgtEl>
                                          <p:spTgt spid="198"/>
                                        </p:tgtEl>
                                        <p:attrNameLst>
                                          <p:attrName>ppt_w</p:attrName>
                                        </p:attrNameLst>
                                      </p:cBhvr>
                                      <p:tavLst>
                                        <p:tav tm="0">
                                          <p:val>
                                            <p:fltVal val="0"/>
                                          </p:val>
                                        </p:tav>
                                        <p:tav tm="100000">
                                          <p:val>
                                            <p:strVal val="#ppt_w"/>
                                          </p:val>
                                        </p:tav>
                                      </p:tavLst>
                                    </p:anim>
                                    <p:anim calcmode="lin" valueType="num">
                                      <p:cBhvr>
                                        <p:cTn id="30" dur="400" fill="hold"/>
                                        <p:tgtEl>
                                          <p:spTgt spid="19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173"/>
                </p:tgtEl>
              </p:cMediaNode>
            </p:video>
            <p:seq concurrent="1" prevAc="none" nextAc="seek">
              <p:cTn id="32" evtFilter="cancelBubble" nodeType="interactiveSeq" restart="whenNotActive" fill="hold">
                <p:stCondLst>
                  <p:cond delay="0" evt="onClick">
                    <p:tgtEl>
                      <p:spTgt spid="173"/>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173"/>
                                        </p:tgtEl>
                                      </p:cBhvr>
                                    </p:cmd>
                                  </p:childTnLst>
                                </p:cTn>
                              </p:par>
                            </p:childTnLst>
                          </p:cTn>
                        </p:par>
                      </p:childTnLst>
                    </p:cTn>
                  </p:par>
                </p:childTnLst>
              </p:cTn>
              <p:nextCondLst>
                <p:cond delay="0" evt="onClick">
                  <p:tgtEl>
                    <p:spTgt spid="173"/>
                  </p:tgtEl>
                </p:cond>
              </p:nextCondLst>
            </p:seq>
          </p:childTnLst>
        </p:cTn>
      </p:par>
    </p:tnLst>
    <p:bldLst>
      <p:bldP build="whole" bldLvl="1" animBg="1" rev="0" advAuto="0" spid="188" grpId="3"/>
      <p:bldP build="whole" bldLvl="1" animBg="1" rev="0" advAuto="0" spid="198" grpId="5"/>
      <p:bldP build="whole" bldLvl="1" animBg="1" rev="0" advAuto="0" spid="183" grpId="2"/>
      <p:bldP build="whole" bldLvl="1" animBg="1" rev="0" advAuto="0" spid="193" grpId="4"/>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182879" y="182879"/>
            <a:ext cx="310897" cy="4777742"/>
          </a:xfrm>
          <a:prstGeom prst="rect">
            <a:avLst/>
          </a:prstGeom>
          <a:ln w="12700">
            <a:miter lim="400000"/>
          </a:ln>
        </p:spPr>
      </p:pic>
      <p:grpSp>
        <p:nvGrpSpPr>
          <p:cNvPr id="205" name="phase_pill"/>
          <p:cNvGrpSpPr/>
          <p:nvPr/>
        </p:nvGrpSpPr>
        <p:grpSpPr>
          <a:xfrm>
            <a:off x="777240" y="274320"/>
            <a:ext cx="1870862" cy="292609"/>
            <a:chOff x="0" y="0"/>
            <a:chExt cx="1870861" cy="292608"/>
          </a:xfrm>
        </p:grpSpPr>
        <p:sp>
          <p:nvSpPr>
            <p:cNvPr id="203" name="Rounded Rectangle"/>
            <p:cNvSpPr/>
            <p:nvPr/>
          </p:nvSpPr>
          <p:spPr>
            <a:xfrm>
              <a:off x="0" y="0"/>
              <a:ext cx="1870862" cy="292609"/>
            </a:xfrm>
            <a:prstGeom prst="roundRect">
              <a:avLst>
                <a:gd name="adj" fmla="val 4375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204" name="COLD CALL · 6 MIN"/>
            <p:cNvSpPr txBox="1"/>
            <p:nvPr/>
          </p:nvSpPr>
          <p:spPr>
            <a:xfrm>
              <a:off x="37495" y="82803"/>
              <a:ext cx="1795872"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COLD CALL · 6 MIN</a:t>
              </a:r>
            </a:p>
          </p:txBody>
        </p:sp>
      </p:grpSp>
      <p:sp>
        <p:nvSpPr>
          <p:cNvPr id="206" name="c0_bg"/>
          <p:cNvSpPr/>
          <p:nvPr/>
        </p:nvSpPr>
        <p:spPr>
          <a:xfrm>
            <a:off x="777240" y="786383"/>
            <a:ext cx="3867912" cy="1170434"/>
          </a:xfrm>
          <a:prstGeom prst="roundRect">
            <a:avLst>
              <a:gd name="adj" fmla="val 4688"/>
            </a:avLst>
          </a:prstGeom>
          <a:solidFill>
            <a:srgbClr val="F2F0F8"/>
          </a:solidFill>
          <a:ln w="12700">
            <a:solidFill>
              <a:srgbClr val="F2F0F8"/>
            </a:solidFill>
          </a:ln>
        </p:spPr>
        <p:txBody>
          <a:bodyPr lIns="45719" rIns="45719"/>
          <a:lstStyle/>
          <a:p>
            <a:pPr/>
          </a:p>
        </p:txBody>
      </p:sp>
      <p:sp>
        <p:nvSpPr>
          <p:cNvPr id="207" name="c0_n"/>
          <p:cNvSpPr txBox="1"/>
          <p:nvPr/>
        </p:nvSpPr>
        <p:spPr>
          <a:xfrm>
            <a:off x="941832" y="930148"/>
            <a:ext cx="36576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C0392B"/>
                </a:solidFill>
                <a:latin typeface="Georgia"/>
                <a:ea typeface="Georgia"/>
                <a:cs typeface="Georgia"/>
                <a:sym typeface="Georgia"/>
              </a:defRPr>
            </a:lvl1pPr>
          </a:lstStyle>
          <a:p>
            <a:pPr/>
            <a:r>
              <a:t>1</a:t>
            </a:r>
          </a:p>
        </p:txBody>
      </p:sp>
      <p:sp>
        <p:nvSpPr>
          <p:cNvPr id="208" name="c0_q"/>
          <p:cNvSpPr txBox="1"/>
          <p:nvPr/>
        </p:nvSpPr>
        <p:spPr>
          <a:xfrm>
            <a:off x="1380744" y="1008007"/>
            <a:ext cx="3081529"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Find n + 7 when n = 5.</a:t>
            </a:r>
          </a:p>
        </p:txBody>
      </p:sp>
      <p:grpSp>
        <p:nvGrpSpPr>
          <p:cNvPr id="211" name="c0_a"/>
          <p:cNvGrpSpPr/>
          <p:nvPr/>
        </p:nvGrpSpPr>
        <p:grpSpPr>
          <a:xfrm>
            <a:off x="941832" y="1463039"/>
            <a:ext cx="3538729" cy="365761"/>
            <a:chOff x="0" y="0"/>
            <a:chExt cx="3538728" cy="365759"/>
          </a:xfrm>
        </p:grpSpPr>
        <p:sp>
          <p:nvSpPr>
            <p:cNvPr id="209" name="Rounded Rectangle"/>
            <p:cNvSpPr/>
            <p:nvPr/>
          </p:nvSpPr>
          <p:spPr>
            <a:xfrm>
              <a:off x="0" y="0"/>
              <a:ext cx="3538729" cy="365760"/>
            </a:xfrm>
            <a:prstGeom prst="roundRect">
              <a:avLst>
                <a:gd name="adj" fmla="val 22500"/>
              </a:avLst>
            </a:prstGeom>
            <a:solidFill>
              <a:srgbClr val="FDEEDC"/>
            </a:solidFill>
            <a:ln w="15240" cap="flat">
              <a:solidFill>
                <a:srgbClr val="EC6B58"/>
              </a:solidFill>
              <a:prstDash val="solid"/>
              <a:round/>
            </a:ln>
            <a:effectLst/>
          </p:spPr>
          <p:txBody>
            <a:bodyPr wrap="square" lIns="45719" tIns="45719" rIns="45719" bIns="45719" numCol="1" anchor="ctr">
              <a:noAutofit/>
            </a:bodyPr>
            <a:lstStyle/>
            <a:p>
              <a:pPr>
                <a:defRPr sz="1200"/>
              </a:pPr>
            </a:p>
          </p:txBody>
        </p:sp>
        <p:sp>
          <p:nvSpPr>
            <p:cNvPr id="210" name="12"/>
            <p:cNvSpPr txBox="1"/>
            <p:nvPr/>
          </p:nvSpPr>
          <p:spPr>
            <a:xfrm>
              <a:off x="31724" y="95456"/>
              <a:ext cx="347528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12</a:t>
              </a:r>
            </a:p>
          </p:txBody>
        </p:sp>
      </p:grpSp>
      <p:sp>
        <p:nvSpPr>
          <p:cNvPr id="212" name="c1_bg"/>
          <p:cNvSpPr/>
          <p:nvPr/>
        </p:nvSpPr>
        <p:spPr>
          <a:xfrm>
            <a:off x="4864608" y="786383"/>
            <a:ext cx="3867913" cy="1170434"/>
          </a:xfrm>
          <a:prstGeom prst="roundRect">
            <a:avLst>
              <a:gd name="adj" fmla="val 4688"/>
            </a:avLst>
          </a:prstGeom>
          <a:solidFill>
            <a:srgbClr val="F2F0F8"/>
          </a:solidFill>
          <a:ln w="12700">
            <a:solidFill>
              <a:srgbClr val="F2F0F8"/>
            </a:solidFill>
          </a:ln>
        </p:spPr>
        <p:txBody>
          <a:bodyPr lIns="45719" rIns="45719"/>
          <a:lstStyle/>
          <a:p>
            <a:pPr/>
          </a:p>
        </p:txBody>
      </p:sp>
      <p:sp>
        <p:nvSpPr>
          <p:cNvPr id="213" name="c1_n"/>
          <p:cNvSpPr txBox="1"/>
          <p:nvPr/>
        </p:nvSpPr>
        <p:spPr>
          <a:xfrm>
            <a:off x="5029199" y="930148"/>
            <a:ext cx="36576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C0392B"/>
                </a:solidFill>
                <a:latin typeface="Georgia"/>
                <a:ea typeface="Georgia"/>
                <a:cs typeface="Georgia"/>
                <a:sym typeface="Georgia"/>
              </a:defRPr>
            </a:lvl1pPr>
          </a:lstStyle>
          <a:p>
            <a:pPr/>
            <a:r>
              <a:t>2</a:t>
            </a:r>
          </a:p>
        </p:txBody>
      </p:sp>
      <p:sp>
        <p:nvSpPr>
          <p:cNvPr id="214" name="c1_q"/>
          <p:cNvSpPr txBox="1"/>
          <p:nvPr/>
        </p:nvSpPr>
        <p:spPr>
          <a:xfrm>
            <a:off x="5468111" y="1008007"/>
            <a:ext cx="3081529"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Find 6n when n = 4.</a:t>
            </a:r>
          </a:p>
        </p:txBody>
      </p:sp>
      <p:grpSp>
        <p:nvGrpSpPr>
          <p:cNvPr id="217" name="c1_a"/>
          <p:cNvGrpSpPr/>
          <p:nvPr/>
        </p:nvGrpSpPr>
        <p:grpSpPr>
          <a:xfrm>
            <a:off x="5029200" y="1463039"/>
            <a:ext cx="3538729" cy="365761"/>
            <a:chOff x="0" y="0"/>
            <a:chExt cx="3538728" cy="365759"/>
          </a:xfrm>
        </p:grpSpPr>
        <p:sp>
          <p:nvSpPr>
            <p:cNvPr id="215" name="Rounded Rectangle"/>
            <p:cNvSpPr/>
            <p:nvPr/>
          </p:nvSpPr>
          <p:spPr>
            <a:xfrm>
              <a:off x="0" y="0"/>
              <a:ext cx="3538729" cy="365760"/>
            </a:xfrm>
            <a:prstGeom prst="roundRect">
              <a:avLst>
                <a:gd name="adj" fmla="val 22500"/>
              </a:avLst>
            </a:prstGeom>
            <a:solidFill>
              <a:srgbClr val="FDEEDC"/>
            </a:solidFill>
            <a:ln w="15240" cap="flat">
              <a:solidFill>
                <a:srgbClr val="EC6B58"/>
              </a:solidFill>
              <a:prstDash val="solid"/>
              <a:round/>
            </a:ln>
            <a:effectLst/>
          </p:spPr>
          <p:txBody>
            <a:bodyPr wrap="square" lIns="45719" tIns="45719" rIns="45719" bIns="45719" numCol="1" anchor="ctr">
              <a:noAutofit/>
            </a:bodyPr>
            <a:lstStyle/>
            <a:p>
              <a:pPr>
                <a:defRPr sz="1200"/>
              </a:pPr>
            </a:p>
          </p:txBody>
        </p:sp>
        <p:sp>
          <p:nvSpPr>
            <p:cNvPr id="216" name="24"/>
            <p:cNvSpPr txBox="1"/>
            <p:nvPr/>
          </p:nvSpPr>
          <p:spPr>
            <a:xfrm>
              <a:off x="31724" y="95456"/>
              <a:ext cx="347528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24</a:t>
              </a:r>
            </a:p>
          </p:txBody>
        </p:sp>
      </p:grpSp>
      <p:sp>
        <p:nvSpPr>
          <p:cNvPr id="218" name="c2_bg"/>
          <p:cNvSpPr/>
          <p:nvPr/>
        </p:nvSpPr>
        <p:spPr>
          <a:xfrm>
            <a:off x="777240" y="2075688"/>
            <a:ext cx="3867912" cy="1170433"/>
          </a:xfrm>
          <a:prstGeom prst="roundRect">
            <a:avLst>
              <a:gd name="adj" fmla="val 4688"/>
            </a:avLst>
          </a:prstGeom>
          <a:solidFill>
            <a:srgbClr val="F2F0F8"/>
          </a:solidFill>
          <a:ln w="12700">
            <a:solidFill>
              <a:srgbClr val="F2F0F8"/>
            </a:solidFill>
          </a:ln>
        </p:spPr>
        <p:txBody>
          <a:bodyPr lIns="45719" rIns="45719"/>
          <a:lstStyle/>
          <a:p>
            <a:pPr/>
          </a:p>
        </p:txBody>
      </p:sp>
      <p:sp>
        <p:nvSpPr>
          <p:cNvPr id="219" name="c2_n"/>
          <p:cNvSpPr txBox="1"/>
          <p:nvPr/>
        </p:nvSpPr>
        <p:spPr>
          <a:xfrm>
            <a:off x="941832" y="2219451"/>
            <a:ext cx="36576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C0392B"/>
                </a:solidFill>
                <a:latin typeface="Georgia"/>
                <a:ea typeface="Georgia"/>
                <a:cs typeface="Georgia"/>
                <a:sym typeface="Georgia"/>
              </a:defRPr>
            </a:lvl1pPr>
          </a:lstStyle>
          <a:p>
            <a:pPr/>
            <a:r>
              <a:t>3</a:t>
            </a:r>
          </a:p>
        </p:txBody>
      </p:sp>
      <p:sp>
        <p:nvSpPr>
          <p:cNvPr id="220" name="c2_q"/>
          <p:cNvSpPr txBox="1"/>
          <p:nvPr/>
        </p:nvSpPr>
        <p:spPr>
          <a:xfrm>
            <a:off x="1380744" y="2297311"/>
            <a:ext cx="3081529"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Find 3n + 4 when n = 5.</a:t>
            </a:r>
          </a:p>
        </p:txBody>
      </p:sp>
      <p:grpSp>
        <p:nvGrpSpPr>
          <p:cNvPr id="223" name="c2_a"/>
          <p:cNvGrpSpPr/>
          <p:nvPr/>
        </p:nvGrpSpPr>
        <p:grpSpPr>
          <a:xfrm>
            <a:off x="941832" y="2752344"/>
            <a:ext cx="3538729" cy="365761"/>
            <a:chOff x="0" y="0"/>
            <a:chExt cx="3538728" cy="365759"/>
          </a:xfrm>
        </p:grpSpPr>
        <p:sp>
          <p:nvSpPr>
            <p:cNvPr id="221" name="Rounded Rectangle"/>
            <p:cNvSpPr/>
            <p:nvPr/>
          </p:nvSpPr>
          <p:spPr>
            <a:xfrm>
              <a:off x="0" y="0"/>
              <a:ext cx="3538729" cy="365760"/>
            </a:xfrm>
            <a:prstGeom prst="roundRect">
              <a:avLst>
                <a:gd name="adj" fmla="val 22500"/>
              </a:avLst>
            </a:prstGeom>
            <a:solidFill>
              <a:srgbClr val="FDEEDC"/>
            </a:solidFill>
            <a:ln w="15240" cap="flat">
              <a:solidFill>
                <a:srgbClr val="EC6B58"/>
              </a:solidFill>
              <a:prstDash val="solid"/>
              <a:round/>
            </a:ln>
            <a:effectLst/>
          </p:spPr>
          <p:txBody>
            <a:bodyPr wrap="square" lIns="45719" tIns="45719" rIns="45719" bIns="45719" numCol="1" anchor="ctr">
              <a:noAutofit/>
            </a:bodyPr>
            <a:lstStyle/>
            <a:p>
              <a:pPr>
                <a:defRPr sz="1200"/>
              </a:pPr>
            </a:p>
          </p:txBody>
        </p:sp>
        <p:sp>
          <p:nvSpPr>
            <p:cNvPr id="222" name="19"/>
            <p:cNvSpPr txBox="1"/>
            <p:nvPr/>
          </p:nvSpPr>
          <p:spPr>
            <a:xfrm>
              <a:off x="31724" y="95456"/>
              <a:ext cx="347528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19</a:t>
              </a:r>
            </a:p>
          </p:txBody>
        </p:sp>
      </p:grpSp>
      <p:sp>
        <p:nvSpPr>
          <p:cNvPr id="224" name="c3_bg"/>
          <p:cNvSpPr/>
          <p:nvPr/>
        </p:nvSpPr>
        <p:spPr>
          <a:xfrm>
            <a:off x="4864608" y="2075688"/>
            <a:ext cx="3867913" cy="1170433"/>
          </a:xfrm>
          <a:prstGeom prst="roundRect">
            <a:avLst>
              <a:gd name="adj" fmla="val 4688"/>
            </a:avLst>
          </a:prstGeom>
          <a:solidFill>
            <a:srgbClr val="F2F0F8"/>
          </a:solidFill>
          <a:ln w="12700">
            <a:solidFill>
              <a:srgbClr val="F2F0F8"/>
            </a:solidFill>
          </a:ln>
        </p:spPr>
        <p:txBody>
          <a:bodyPr lIns="45719" rIns="45719"/>
          <a:lstStyle/>
          <a:p>
            <a:pPr/>
          </a:p>
        </p:txBody>
      </p:sp>
      <p:sp>
        <p:nvSpPr>
          <p:cNvPr id="225" name="c3_n"/>
          <p:cNvSpPr txBox="1"/>
          <p:nvPr/>
        </p:nvSpPr>
        <p:spPr>
          <a:xfrm>
            <a:off x="5029199" y="2219451"/>
            <a:ext cx="36576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C0392B"/>
                </a:solidFill>
                <a:latin typeface="Georgia"/>
                <a:ea typeface="Georgia"/>
                <a:cs typeface="Georgia"/>
                <a:sym typeface="Georgia"/>
              </a:defRPr>
            </a:lvl1pPr>
          </a:lstStyle>
          <a:p>
            <a:pPr/>
            <a:r>
              <a:t>4</a:t>
            </a:r>
          </a:p>
        </p:txBody>
      </p:sp>
      <p:sp>
        <p:nvSpPr>
          <p:cNvPr id="226" name="c3_q"/>
          <p:cNvSpPr txBox="1"/>
          <p:nvPr/>
        </p:nvSpPr>
        <p:spPr>
          <a:xfrm>
            <a:off x="5468111" y="2297311"/>
            <a:ext cx="3081529"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Find 20 − 2n when n = 6.</a:t>
            </a:r>
          </a:p>
        </p:txBody>
      </p:sp>
      <p:grpSp>
        <p:nvGrpSpPr>
          <p:cNvPr id="229" name="c3_a"/>
          <p:cNvGrpSpPr/>
          <p:nvPr/>
        </p:nvGrpSpPr>
        <p:grpSpPr>
          <a:xfrm>
            <a:off x="5029200" y="2752344"/>
            <a:ext cx="3538729" cy="365761"/>
            <a:chOff x="0" y="0"/>
            <a:chExt cx="3538728" cy="365759"/>
          </a:xfrm>
        </p:grpSpPr>
        <p:sp>
          <p:nvSpPr>
            <p:cNvPr id="227" name="Rounded Rectangle"/>
            <p:cNvSpPr/>
            <p:nvPr/>
          </p:nvSpPr>
          <p:spPr>
            <a:xfrm>
              <a:off x="0" y="0"/>
              <a:ext cx="3538729" cy="365760"/>
            </a:xfrm>
            <a:prstGeom prst="roundRect">
              <a:avLst>
                <a:gd name="adj" fmla="val 22500"/>
              </a:avLst>
            </a:prstGeom>
            <a:solidFill>
              <a:srgbClr val="FDEEDC"/>
            </a:solidFill>
            <a:ln w="15240" cap="flat">
              <a:solidFill>
                <a:srgbClr val="EC6B58"/>
              </a:solidFill>
              <a:prstDash val="solid"/>
              <a:round/>
            </a:ln>
            <a:effectLst/>
          </p:spPr>
          <p:txBody>
            <a:bodyPr wrap="square" lIns="45719" tIns="45719" rIns="45719" bIns="45719" numCol="1" anchor="ctr">
              <a:noAutofit/>
            </a:bodyPr>
            <a:lstStyle/>
            <a:p>
              <a:pPr>
                <a:defRPr sz="1200"/>
              </a:pPr>
            </a:p>
          </p:txBody>
        </p:sp>
        <p:sp>
          <p:nvSpPr>
            <p:cNvPr id="228" name="8"/>
            <p:cNvSpPr txBox="1"/>
            <p:nvPr/>
          </p:nvSpPr>
          <p:spPr>
            <a:xfrm>
              <a:off x="31724" y="95456"/>
              <a:ext cx="347528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8</a:t>
              </a:r>
            </a:p>
          </p:txBody>
        </p:sp>
      </p:grpSp>
      <p:sp>
        <p:nvSpPr>
          <p:cNvPr id="230" name="c4_bg"/>
          <p:cNvSpPr/>
          <p:nvPr/>
        </p:nvSpPr>
        <p:spPr>
          <a:xfrm>
            <a:off x="777240" y="3364991"/>
            <a:ext cx="3867912" cy="1170433"/>
          </a:xfrm>
          <a:prstGeom prst="roundRect">
            <a:avLst>
              <a:gd name="adj" fmla="val 4688"/>
            </a:avLst>
          </a:prstGeom>
          <a:solidFill>
            <a:srgbClr val="F2F0F8"/>
          </a:solidFill>
          <a:ln w="12700">
            <a:solidFill>
              <a:srgbClr val="F2F0F8"/>
            </a:solidFill>
          </a:ln>
        </p:spPr>
        <p:txBody>
          <a:bodyPr lIns="45719" rIns="45719"/>
          <a:lstStyle/>
          <a:p>
            <a:pPr/>
          </a:p>
        </p:txBody>
      </p:sp>
      <p:sp>
        <p:nvSpPr>
          <p:cNvPr id="231" name="c4_n"/>
          <p:cNvSpPr txBox="1"/>
          <p:nvPr/>
        </p:nvSpPr>
        <p:spPr>
          <a:xfrm>
            <a:off x="941832" y="3508756"/>
            <a:ext cx="365761"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C0392B"/>
                </a:solidFill>
                <a:latin typeface="Georgia"/>
                <a:ea typeface="Georgia"/>
                <a:cs typeface="Georgia"/>
                <a:sym typeface="Georgia"/>
              </a:defRPr>
            </a:lvl1pPr>
          </a:lstStyle>
          <a:p>
            <a:pPr/>
            <a:r>
              <a:t>5</a:t>
            </a:r>
          </a:p>
        </p:txBody>
      </p:sp>
      <p:sp>
        <p:nvSpPr>
          <p:cNvPr id="232" name="c4_q"/>
          <p:cNvSpPr txBox="1"/>
          <p:nvPr/>
        </p:nvSpPr>
        <p:spPr>
          <a:xfrm>
            <a:off x="1380744" y="3586615"/>
            <a:ext cx="3081529"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Find 2(n + 5) when n = 3.</a:t>
            </a:r>
          </a:p>
        </p:txBody>
      </p:sp>
      <p:grpSp>
        <p:nvGrpSpPr>
          <p:cNvPr id="235" name="c4_a"/>
          <p:cNvGrpSpPr/>
          <p:nvPr/>
        </p:nvGrpSpPr>
        <p:grpSpPr>
          <a:xfrm>
            <a:off x="941832" y="4041647"/>
            <a:ext cx="3538729" cy="365761"/>
            <a:chOff x="0" y="0"/>
            <a:chExt cx="3538728" cy="365759"/>
          </a:xfrm>
        </p:grpSpPr>
        <p:sp>
          <p:nvSpPr>
            <p:cNvPr id="233" name="Rounded Rectangle"/>
            <p:cNvSpPr/>
            <p:nvPr/>
          </p:nvSpPr>
          <p:spPr>
            <a:xfrm>
              <a:off x="0" y="0"/>
              <a:ext cx="3538729" cy="365760"/>
            </a:xfrm>
            <a:prstGeom prst="roundRect">
              <a:avLst>
                <a:gd name="adj" fmla="val 22500"/>
              </a:avLst>
            </a:prstGeom>
            <a:solidFill>
              <a:srgbClr val="FDEEDC"/>
            </a:solidFill>
            <a:ln w="15240" cap="flat">
              <a:solidFill>
                <a:srgbClr val="EC6B58"/>
              </a:solidFill>
              <a:prstDash val="solid"/>
              <a:round/>
            </a:ln>
            <a:effectLst/>
          </p:spPr>
          <p:txBody>
            <a:bodyPr wrap="square" lIns="45719" tIns="45719" rIns="45719" bIns="45719" numCol="1" anchor="ctr">
              <a:noAutofit/>
            </a:bodyPr>
            <a:lstStyle/>
            <a:p>
              <a:pPr>
                <a:defRPr sz="1200"/>
              </a:pPr>
            </a:p>
          </p:txBody>
        </p:sp>
        <p:sp>
          <p:nvSpPr>
            <p:cNvPr id="234" name="16"/>
            <p:cNvSpPr txBox="1"/>
            <p:nvPr/>
          </p:nvSpPr>
          <p:spPr>
            <a:xfrm>
              <a:off x="31724" y="95456"/>
              <a:ext cx="347528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16</a:t>
              </a:r>
            </a:p>
          </p:txBody>
        </p:sp>
      </p:grpSp>
      <p:sp>
        <p:nvSpPr>
          <p:cNvPr id="236" name="c5_bg"/>
          <p:cNvSpPr/>
          <p:nvPr/>
        </p:nvSpPr>
        <p:spPr>
          <a:xfrm>
            <a:off x="4864608" y="3364991"/>
            <a:ext cx="3867913" cy="1170433"/>
          </a:xfrm>
          <a:prstGeom prst="roundRect">
            <a:avLst>
              <a:gd name="adj" fmla="val 4688"/>
            </a:avLst>
          </a:prstGeom>
          <a:solidFill>
            <a:srgbClr val="F2F0F8"/>
          </a:solidFill>
          <a:ln w="12700">
            <a:solidFill>
              <a:srgbClr val="F2F0F8"/>
            </a:solidFill>
          </a:ln>
        </p:spPr>
        <p:txBody>
          <a:bodyPr lIns="45719" rIns="45719"/>
          <a:lstStyle/>
          <a:p>
            <a:pPr/>
          </a:p>
        </p:txBody>
      </p:sp>
      <p:sp>
        <p:nvSpPr>
          <p:cNvPr id="237" name="c5_n"/>
          <p:cNvSpPr txBox="1"/>
          <p:nvPr/>
        </p:nvSpPr>
        <p:spPr>
          <a:xfrm>
            <a:off x="5029199" y="3508756"/>
            <a:ext cx="36576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C0392B"/>
                </a:solidFill>
                <a:latin typeface="Georgia"/>
                <a:ea typeface="Georgia"/>
                <a:cs typeface="Georgia"/>
                <a:sym typeface="Georgia"/>
              </a:defRPr>
            </a:lvl1pPr>
          </a:lstStyle>
          <a:p>
            <a:pPr/>
            <a:r>
              <a:t>6</a:t>
            </a:r>
          </a:p>
        </p:txBody>
      </p:sp>
      <p:sp>
        <p:nvSpPr>
          <p:cNvPr id="238" name="c5_q"/>
          <p:cNvSpPr txBox="1"/>
          <p:nvPr/>
        </p:nvSpPr>
        <p:spPr>
          <a:xfrm>
            <a:off x="5468111" y="3586615"/>
            <a:ext cx="3081529"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2B2350"/>
                </a:solidFill>
                <a:latin typeface="Arial"/>
                <a:ea typeface="Arial"/>
                <a:cs typeface="Arial"/>
                <a:sym typeface="Arial"/>
              </a:defRPr>
            </a:lvl1pPr>
          </a:lstStyle>
          <a:p>
            <a:pPr/>
            <a:r>
              <a:t>Find 4a + 3b when a = 2 and b = 5.</a:t>
            </a:r>
          </a:p>
        </p:txBody>
      </p:sp>
      <p:grpSp>
        <p:nvGrpSpPr>
          <p:cNvPr id="241" name="c5_a"/>
          <p:cNvGrpSpPr/>
          <p:nvPr/>
        </p:nvGrpSpPr>
        <p:grpSpPr>
          <a:xfrm>
            <a:off x="5029200" y="4041647"/>
            <a:ext cx="3538729" cy="365761"/>
            <a:chOff x="0" y="0"/>
            <a:chExt cx="3538728" cy="365759"/>
          </a:xfrm>
        </p:grpSpPr>
        <p:sp>
          <p:nvSpPr>
            <p:cNvPr id="239" name="Rounded Rectangle"/>
            <p:cNvSpPr/>
            <p:nvPr/>
          </p:nvSpPr>
          <p:spPr>
            <a:xfrm>
              <a:off x="0" y="0"/>
              <a:ext cx="3538729" cy="365760"/>
            </a:xfrm>
            <a:prstGeom prst="roundRect">
              <a:avLst>
                <a:gd name="adj" fmla="val 22500"/>
              </a:avLst>
            </a:prstGeom>
            <a:solidFill>
              <a:srgbClr val="FDEEDC"/>
            </a:solidFill>
            <a:ln w="15240" cap="flat">
              <a:solidFill>
                <a:srgbClr val="EC6B58"/>
              </a:solidFill>
              <a:prstDash val="solid"/>
              <a:round/>
            </a:ln>
            <a:effectLst/>
          </p:spPr>
          <p:txBody>
            <a:bodyPr wrap="square" lIns="45719" tIns="45719" rIns="45719" bIns="45719" numCol="1" anchor="ctr">
              <a:noAutofit/>
            </a:bodyPr>
            <a:lstStyle/>
            <a:p>
              <a:pPr>
                <a:defRPr sz="1200"/>
              </a:pPr>
            </a:p>
          </p:txBody>
        </p:sp>
        <p:sp>
          <p:nvSpPr>
            <p:cNvPr id="240" name="23"/>
            <p:cNvSpPr txBox="1"/>
            <p:nvPr/>
          </p:nvSpPr>
          <p:spPr>
            <a:xfrm>
              <a:off x="31724" y="95456"/>
              <a:ext cx="3475280" cy="1748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200">
                  <a:solidFill>
                    <a:srgbClr val="2B2350"/>
                  </a:solidFill>
                  <a:latin typeface="Arial"/>
                  <a:ea typeface="Arial"/>
                  <a:cs typeface="Arial"/>
                  <a:sym typeface="Arial"/>
                </a:defRPr>
              </a:lvl1pPr>
            </a:lstStyle>
            <a:p>
              <a:pPr/>
              <a:r>
                <a:t>23</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0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11"/>
                                        </p:tgtEl>
                                        <p:attrNameLst>
                                          <p:attrName>style.visibility</p:attrName>
                                        </p:attrNameLst>
                                      </p:cBhvr>
                                      <p:to>
                                        <p:strVal val="visible"/>
                                      </p:to>
                                    </p:set>
                                    <p:animEffect filter="wipe(left)" transition="in">
                                      <p:cBhvr>
                                        <p:cTn id="11" dur="400"/>
                                        <p:tgtEl>
                                          <p:spTgt spid="21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17"/>
                                        </p:tgtEl>
                                        <p:attrNameLst>
                                          <p:attrName>style.visibility</p:attrName>
                                        </p:attrNameLst>
                                      </p:cBhvr>
                                      <p:to>
                                        <p:strVal val="visible"/>
                                      </p:to>
                                    </p:set>
                                    <p:animEffect filter="wipe(left)" transition="in">
                                      <p:cBhvr>
                                        <p:cTn id="16" dur="400"/>
                                        <p:tgtEl>
                                          <p:spTgt spid="217"/>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23"/>
                                        </p:tgtEl>
                                        <p:attrNameLst>
                                          <p:attrName>style.visibility</p:attrName>
                                        </p:attrNameLst>
                                      </p:cBhvr>
                                      <p:to>
                                        <p:strVal val="visible"/>
                                      </p:to>
                                    </p:set>
                                    <p:animEffect filter="wipe(left)" transition="in">
                                      <p:cBhvr>
                                        <p:cTn id="21" dur="400"/>
                                        <p:tgtEl>
                                          <p:spTgt spid="223"/>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29"/>
                                        </p:tgtEl>
                                        <p:attrNameLst>
                                          <p:attrName>style.visibility</p:attrName>
                                        </p:attrNameLst>
                                      </p:cBhvr>
                                      <p:to>
                                        <p:strVal val="visible"/>
                                      </p:to>
                                    </p:set>
                                    <p:animEffect filter="wipe(left)" transition="in">
                                      <p:cBhvr>
                                        <p:cTn id="26" dur="400"/>
                                        <p:tgtEl>
                                          <p:spTgt spid="229"/>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35"/>
                                        </p:tgtEl>
                                        <p:attrNameLst>
                                          <p:attrName>style.visibility</p:attrName>
                                        </p:attrNameLst>
                                      </p:cBhvr>
                                      <p:to>
                                        <p:strVal val="visible"/>
                                      </p:to>
                                    </p:set>
                                    <p:animEffect filter="wipe(left)" transition="in">
                                      <p:cBhvr>
                                        <p:cTn id="31" dur="400"/>
                                        <p:tgtEl>
                                          <p:spTgt spid="235"/>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41"/>
                                        </p:tgtEl>
                                        <p:attrNameLst>
                                          <p:attrName>style.visibility</p:attrName>
                                        </p:attrNameLst>
                                      </p:cBhvr>
                                      <p:to>
                                        <p:strVal val="visible"/>
                                      </p:to>
                                    </p:set>
                                    <p:animEffect filter="wipe(left)" transition="in">
                                      <p:cBhvr>
                                        <p:cTn id="36" dur="400"/>
                                        <p:tgtEl>
                                          <p:spTgt spid="241"/>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2"/>
                </p:tgtEl>
              </p:cMediaNode>
            </p:video>
            <p:seq concurrent="1" prevAc="none" nextAc="seek">
              <p:cTn id="38" evtFilter="cancelBubble" nodeType="interactiveSeq" restart="whenNotActive" fill="hold">
                <p:stCondLst>
                  <p:cond delay="0" evt="onClick">
                    <p:tgtEl>
                      <p:spTgt spid="202"/>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2"/>
                                        </p:tgtEl>
                                      </p:cBhvr>
                                    </p:cmd>
                                  </p:childTnLst>
                                </p:cTn>
                              </p:par>
                            </p:childTnLst>
                          </p:cTn>
                        </p:par>
                      </p:childTnLst>
                    </p:cTn>
                  </p:par>
                </p:childTnLst>
              </p:cTn>
              <p:nextCondLst>
                <p:cond delay="0" evt="onClick">
                  <p:tgtEl>
                    <p:spTgt spid="202"/>
                  </p:tgtEl>
                </p:cond>
              </p:nextCondLst>
            </p:seq>
          </p:childTnLst>
        </p:cTn>
      </p:par>
    </p:tnLst>
    <p:bldLst>
      <p:bldP build="whole" bldLvl="1" animBg="1" rev="0" advAuto="0" spid="211" grpId="2"/>
      <p:bldP build="whole" bldLvl="1" animBg="1" rev="0" advAuto="0" spid="217" grpId="3"/>
      <p:bldP build="whole" bldLvl="1" animBg="1" rev="0" advAuto="0" spid="223" grpId="4"/>
      <p:bldP build="whole" bldLvl="1" animBg="1" rev="0" advAuto="0" spid="229" grpId="5"/>
      <p:bldP build="whole" bldLvl="1" animBg="1" rev="0" advAuto="0" spid="235" grpId="6"/>
      <p:bldP build="whole" bldLvl="1" animBg="1" rev="0" advAuto="0" spid="241" grpId="7"/>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4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182879" y="182879"/>
            <a:ext cx="310897" cy="4777742"/>
          </a:xfrm>
          <a:prstGeom prst="rect">
            <a:avLst/>
          </a:prstGeom>
          <a:ln w="12700">
            <a:miter lim="400000"/>
          </a:ln>
        </p:spPr>
      </p:pic>
      <p:grpSp>
        <p:nvGrpSpPr>
          <p:cNvPr id="248" name="phase_pill"/>
          <p:cNvGrpSpPr/>
          <p:nvPr/>
        </p:nvGrpSpPr>
        <p:grpSpPr>
          <a:xfrm>
            <a:off x="777240" y="274320"/>
            <a:ext cx="1691640" cy="292609"/>
            <a:chOff x="0" y="0"/>
            <a:chExt cx="1691639" cy="292608"/>
          </a:xfrm>
        </p:grpSpPr>
        <p:sp>
          <p:nvSpPr>
            <p:cNvPr id="246" name="Rounded Rectangle"/>
            <p:cNvSpPr/>
            <p:nvPr/>
          </p:nvSpPr>
          <p:spPr>
            <a:xfrm>
              <a:off x="0" y="0"/>
              <a:ext cx="1691640" cy="292609"/>
            </a:xfrm>
            <a:prstGeom prst="roundRect">
              <a:avLst>
                <a:gd name="adj" fmla="val 43750"/>
              </a:avLst>
            </a:prstGeom>
            <a:solidFill>
              <a:srgbClr val="2B2350"/>
            </a:solidFill>
            <a:ln w="12700" cap="flat">
              <a:noFill/>
              <a:miter lim="400000"/>
            </a:ln>
            <a:effectLst/>
          </p:spPr>
          <p:txBody>
            <a:bodyPr wrap="square" lIns="45719" tIns="45719" rIns="45719" bIns="45719" numCol="1" anchor="ctr">
              <a:noAutofit/>
            </a:bodyPr>
            <a:lstStyle/>
            <a:p>
              <a:pPr algn="ctr">
                <a:defRPr sz="900"/>
              </a:pPr>
            </a:p>
          </p:txBody>
        </p:sp>
        <p:sp>
          <p:nvSpPr>
            <p:cNvPr id="247" name="YOU DO · 13 MIN"/>
            <p:cNvSpPr txBox="1"/>
            <p:nvPr/>
          </p:nvSpPr>
          <p:spPr>
            <a:xfrm>
              <a:off x="37494" y="82803"/>
              <a:ext cx="1616652"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FFFFFF"/>
                  </a:solidFill>
                  <a:latin typeface="Arial"/>
                  <a:ea typeface="Arial"/>
                  <a:cs typeface="Arial"/>
                  <a:sym typeface="Arial"/>
                </a:defRPr>
              </a:lvl1pPr>
            </a:lstStyle>
            <a:p>
              <a:pPr/>
              <a:r>
                <a:t>YOU DO · 13 MIN</a:t>
              </a:r>
            </a:p>
          </p:txBody>
        </p:sp>
      </p:grpSp>
      <p:pic>
        <p:nvPicPr>
          <p:cNvPr id="249" name="gc_logo" descr="gc_logo"/>
          <p:cNvPicPr>
            <a:picLocks noChangeAspect="1"/>
          </p:cNvPicPr>
          <p:nvPr/>
        </p:nvPicPr>
        <p:blipFill>
          <a:blip r:embed="rId6">
            <a:alphaModFix amt="38000"/>
            <a:extLst/>
          </a:blip>
          <a:stretch>
            <a:fillRect/>
          </a:stretch>
        </p:blipFill>
        <p:spPr>
          <a:xfrm>
            <a:off x="7589519" y="603504"/>
            <a:ext cx="1143001" cy="987553"/>
          </a:xfrm>
          <a:prstGeom prst="rect">
            <a:avLst/>
          </a:prstGeom>
          <a:ln w="12700">
            <a:miter lim="400000"/>
          </a:ln>
        </p:spPr>
      </p:pic>
      <p:sp>
        <p:nvSpPr>
          <p:cNvPr id="250" name="slide_title"/>
          <p:cNvSpPr txBox="1"/>
          <p:nvPr/>
        </p:nvSpPr>
        <p:spPr>
          <a:xfrm>
            <a:off x="777240" y="800608"/>
            <a:ext cx="6629401"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500">
                <a:solidFill>
                  <a:srgbClr val="2B2350"/>
                </a:solidFill>
                <a:latin typeface="Georgia"/>
                <a:ea typeface="Georgia"/>
                <a:cs typeface="Georgia"/>
                <a:sym typeface="Georgia"/>
              </a:defRPr>
            </a:lvl1pPr>
          </a:lstStyle>
          <a:p>
            <a:pPr/>
            <a:r>
              <a:t>Putting Numbers In game</a:t>
            </a:r>
          </a:p>
        </p:txBody>
      </p:sp>
      <p:sp>
        <p:nvSpPr>
          <p:cNvPr id="251" name="slide_sub"/>
          <p:cNvSpPr txBox="1"/>
          <p:nvPr/>
        </p:nvSpPr>
        <p:spPr>
          <a:xfrm>
            <a:off x="777240" y="1361346"/>
            <a:ext cx="66294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C0392B"/>
                </a:solidFill>
                <a:latin typeface="Arial"/>
                <a:ea typeface="Arial"/>
                <a:cs typeface="Arial"/>
                <a:sym typeface="Arial"/>
              </a:defRPr>
            </a:lvl1pPr>
          </a:lstStyle>
          <a:p>
            <a:pPr/>
            <a:r>
              <a:t>Open Google Classroom now.</a:t>
            </a:r>
          </a:p>
        </p:txBody>
      </p:sp>
      <p:grpSp>
        <p:nvGrpSpPr>
          <p:cNvPr id="256" name="t0"/>
          <p:cNvGrpSpPr/>
          <p:nvPr/>
        </p:nvGrpSpPr>
        <p:grpSpPr>
          <a:xfrm>
            <a:off x="777240" y="1847088"/>
            <a:ext cx="2505456" cy="1700785"/>
            <a:chOff x="0" y="0"/>
            <a:chExt cx="2505455" cy="1700783"/>
          </a:xfrm>
        </p:grpSpPr>
        <p:sp>
          <p:nvSpPr>
            <p:cNvPr id="252" name="t0_bg"/>
            <p:cNvSpPr/>
            <p:nvPr/>
          </p:nvSpPr>
          <p:spPr>
            <a:xfrm>
              <a:off x="0" y="0"/>
              <a:ext cx="2505456" cy="1700784"/>
            </a:xfrm>
            <a:prstGeom prst="roundRect">
              <a:avLst>
                <a:gd name="adj" fmla="val 3226"/>
              </a:avLst>
            </a:prstGeom>
            <a:solidFill>
              <a:srgbClr val="FDF0EE"/>
            </a:solidFill>
            <a:ln w="17780" cap="flat">
              <a:solidFill>
                <a:srgbClr val="EC6B58"/>
              </a:solidFill>
              <a:prstDash val="solid"/>
              <a:round/>
            </a:ln>
            <a:effectLst/>
          </p:spPr>
          <p:txBody>
            <a:bodyPr wrap="square" lIns="45719" tIns="45719" rIns="45719" bIns="45719" numCol="1" anchor="t">
              <a:noAutofit/>
            </a:bodyPr>
            <a:lstStyle/>
            <a:p>
              <a:pPr/>
            </a:p>
          </p:txBody>
        </p:sp>
        <p:sp>
          <p:nvSpPr>
            <p:cNvPr id="253" name="t0_h"/>
            <p:cNvSpPr txBox="1"/>
            <p:nvPr/>
          </p:nvSpPr>
          <p:spPr>
            <a:xfrm>
              <a:off x="182880" y="172973"/>
              <a:ext cx="213969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100">
                  <a:solidFill>
                    <a:srgbClr val="C0392B"/>
                  </a:solidFill>
                  <a:latin typeface="Arial"/>
                  <a:ea typeface="Arial"/>
                  <a:cs typeface="Arial"/>
                  <a:sym typeface="Arial"/>
                </a:defRPr>
              </a:lvl1pPr>
            </a:lstStyle>
            <a:p>
              <a:pPr/>
              <a:r>
                <a:t>ROUND 1</a:t>
              </a:r>
            </a:p>
          </p:txBody>
        </p:sp>
        <p:sp>
          <p:nvSpPr>
            <p:cNvPr id="254" name="t0_s"/>
            <p:cNvSpPr txBox="1"/>
            <p:nvPr/>
          </p:nvSpPr>
          <p:spPr>
            <a:xfrm>
              <a:off x="182880" y="458977"/>
              <a:ext cx="2139696"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2B2350"/>
                  </a:solidFill>
                  <a:latin typeface="Georgia"/>
                  <a:ea typeface="Georgia"/>
                  <a:cs typeface="Georgia"/>
                  <a:sym typeface="Georgia"/>
                </a:defRPr>
              </a:lvl1pPr>
            </a:lstStyle>
            <a:p>
              <a:pPr/>
              <a:r>
                <a:t>One-step formulas</a:t>
              </a:r>
            </a:p>
          </p:txBody>
        </p:sp>
        <p:sp>
          <p:nvSpPr>
            <p:cNvPr id="255" name="t0_b"/>
            <p:cNvSpPr txBox="1"/>
            <p:nvPr/>
          </p:nvSpPr>
          <p:spPr>
            <a:xfrm>
              <a:off x="182880" y="786383"/>
              <a:ext cx="2139696" cy="3725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100">
                  <a:solidFill>
                    <a:srgbClr val="5E5A70"/>
                  </a:solidFill>
                  <a:latin typeface="Arial"/>
                  <a:ea typeface="Arial"/>
                  <a:cs typeface="Arial"/>
                  <a:sym typeface="Arial"/>
                </a:defRPr>
              </a:lvl1pPr>
            </a:lstStyle>
            <a:p>
              <a:pPr/>
              <a:r>
                <a:t>Six questions. Swap the letter for the number.</a:t>
              </a:r>
            </a:p>
          </p:txBody>
        </p:sp>
      </p:grpSp>
      <p:grpSp>
        <p:nvGrpSpPr>
          <p:cNvPr id="261" name="t1"/>
          <p:cNvGrpSpPr/>
          <p:nvPr/>
        </p:nvGrpSpPr>
        <p:grpSpPr>
          <a:xfrm>
            <a:off x="3502152" y="1847088"/>
            <a:ext cx="2505457" cy="1700785"/>
            <a:chOff x="0" y="0"/>
            <a:chExt cx="2505455" cy="1700783"/>
          </a:xfrm>
        </p:grpSpPr>
        <p:sp>
          <p:nvSpPr>
            <p:cNvPr id="257" name="t1_bg"/>
            <p:cNvSpPr/>
            <p:nvPr/>
          </p:nvSpPr>
          <p:spPr>
            <a:xfrm>
              <a:off x="0" y="0"/>
              <a:ext cx="2505456" cy="1700784"/>
            </a:xfrm>
            <a:prstGeom prst="roundRect">
              <a:avLst>
                <a:gd name="adj" fmla="val 3226"/>
              </a:avLst>
            </a:prstGeom>
            <a:solidFill>
              <a:srgbClr val="FDF0EE"/>
            </a:solidFill>
            <a:ln w="17780" cap="flat">
              <a:solidFill>
                <a:srgbClr val="EC6B58"/>
              </a:solidFill>
              <a:prstDash val="solid"/>
              <a:round/>
            </a:ln>
            <a:effectLst/>
          </p:spPr>
          <p:txBody>
            <a:bodyPr wrap="square" lIns="45719" tIns="45719" rIns="45719" bIns="45719" numCol="1" anchor="t">
              <a:noAutofit/>
            </a:bodyPr>
            <a:lstStyle/>
            <a:p>
              <a:pPr/>
            </a:p>
          </p:txBody>
        </p:sp>
        <p:sp>
          <p:nvSpPr>
            <p:cNvPr id="258" name="t1_h"/>
            <p:cNvSpPr txBox="1"/>
            <p:nvPr/>
          </p:nvSpPr>
          <p:spPr>
            <a:xfrm>
              <a:off x="182880" y="172973"/>
              <a:ext cx="213969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100">
                  <a:solidFill>
                    <a:srgbClr val="C0392B"/>
                  </a:solidFill>
                  <a:latin typeface="Arial"/>
                  <a:ea typeface="Arial"/>
                  <a:cs typeface="Arial"/>
                  <a:sym typeface="Arial"/>
                </a:defRPr>
              </a:lvl1pPr>
            </a:lstStyle>
            <a:p>
              <a:pPr/>
              <a:r>
                <a:t>ROUND 2</a:t>
              </a:r>
            </a:p>
          </p:txBody>
        </p:sp>
        <p:sp>
          <p:nvSpPr>
            <p:cNvPr id="259" name="t1_s"/>
            <p:cNvSpPr txBox="1"/>
            <p:nvPr/>
          </p:nvSpPr>
          <p:spPr>
            <a:xfrm>
              <a:off x="182880" y="351027"/>
              <a:ext cx="2139696" cy="431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2B2350"/>
                  </a:solidFill>
                  <a:latin typeface="Georgia"/>
                  <a:ea typeface="Georgia"/>
                  <a:cs typeface="Georgia"/>
                  <a:sym typeface="Georgia"/>
                </a:defRPr>
              </a:lvl1pPr>
            </a:lstStyle>
            <a:p>
              <a:pPr/>
              <a:r>
                <a:t>Two steps and brackets</a:t>
              </a:r>
            </a:p>
          </p:txBody>
        </p:sp>
        <p:sp>
          <p:nvSpPr>
            <p:cNvPr id="260" name="t1_b"/>
            <p:cNvSpPr txBox="1"/>
            <p:nvPr/>
          </p:nvSpPr>
          <p:spPr>
            <a:xfrm>
              <a:off x="182880" y="786383"/>
              <a:ext cx="2139696" cy="5630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100">
                  <a:solidFill>
                    <a:srgbClr val="5E5A70"/>
                  </a:solidFill>
                  <a:latin typeface="Arial"/>
                  <a:ea typeface="Arial"/>
                  <a:cs typeface="Arial"/>
                  <a:sym typeface="Arial"/>
                </a:defRPr>
              </a:lvl1pPr>
            </a:lstStyle>
            <a:p>
              <a:pPr/>
              <a:r>
                <a:t>Multiply before you add. The number outside multiplies everything inside.</a:t>
              </a:r>
            </a:p>
          </p:txBody>
        </p:sp>
      </p:grpSp>
      <p:grpSp>
        <p:nvGrpSpPr>
          <p:cNvPr id="266" name="t2"/>
          <p:cNvGrpSpPr/>
          <p:nvPr/>
        </p:nvGrpSpPr>
        <p:grpSpPr>
          <a:xfrm>
            <a:off x="6227064" y="1847088"/>
            <a:ext cx="2505457" cy="1700785"/>
            <a:chOff x="0" y="0"/>
            <a:chExt cx="2505455" cy="1700783"/>
          </a:xfrm>
        </p:grpSpPr>
        <p:sp>
          <p:nvSpPr>
            <p:cNvPr id="262" name="t2_bg"/>
            <p:cNvSpPr/>
            <p:nvPr/>
          </p:nvSpPr>
          <p:spPr>
            <a:xfrm>
              <a:off x="0" y="0"/>
              <a:ext cx="2505456" cy="1700784"/>
            </a:xfrm>
            <a:prstGeom prst="roundRect">
              <a:avLst>
                <a:gd name="adj" fmla="val 3226"/>
              </a:avLst>
            </a:prstGeom>
            <a:solidFill>
              <a:srgbClr val="FDF0EE"/>
            </a:solidFill>
            <a:ln w="17780" cap="flat">
              <a:solidFill>
                <a:srgbClr val="EC6B58"/>
              </a:solidFill>
              <a:prstDash val="solid"/>
              <a:round/>
            </a:ln>
            <a:effectLst/>
          </p:spPr>
          <p:txBody>
            <a:bodyPr wrap="square" lIns="45719" tIns="45719" rIns="45719" bIns="45719" numCol="1" anchor="t">
              <a:noAutofit/>
            </a:bodyPr>
            <a:lstStyle/>
            <a:p>
              <a:pPr/>
            </a:p>
          </p:txBody>
        </p:sp>
        <p:sp>
          <p:nvSpPr>
            <p:cNvPr id="263" name="t2_h"/>
            <p:cNvSpPr txBox="1"/>
            <p:nvPr/>
          </p:nvSpPr>
          <p:spPr>
            <a:xfrm>
              <a:off x="182880" y="172973"/>
              <a:ext cx="213969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100">
                  <a:solidFill>
                    <a:srgbClr val="C0392B"/>
                  </a:solidFill>
                  <a:latin typeface="Arial"/>
                  <a:ea typeface="Arial"/>
                  <a:cs typeface="Arial"/>
                  <a:sym typeface="Arial"/>
                </a:defRPr>
              </a:lvl1pPr>
            </a:lstStyle>
            <a:p>
              <a:pPr/>
              <a:r>
                <a:t>ROUND 3</a:t>
              </a:r>
            </a:p>
          </p:txBody>
        </p:sp>
        <p:sp>
          <p:nvSpPr>
            <p:cNvPr id="264" name="t2_s"/>
            <p:cNvSpPr txBox="1"/>
            <p:nvPr/>
          </p:nvSpPr>
          <p:spPr>
            <a:xfrm>
              <a:off x="182880" y="458977"/>
              <a:ext cx="2139696"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2B2350"/>
                  </a:solidFill>
                  <a:latin typeface="Georgia"/>
                  <a:ea typeface="Georgia"/>
                  <a:cs typeface="Georgia"/>
                  <a:sym typeface="Georgia"/>
                </a:defRPr>
              </a:lvl1pPr>
            </a:lstStyle>
            <a:p>
              <a:pPr/>
              <a:r>
                <a:t>Two letters</a:t>
              </a:r>
            </a:p>
          </p:txBody>
        </p:sp>
        <p:sp>
          <p:nvSpPr>
            <p:cNvPr id="265" name="t2_b"/>
            <p:cNvSpPr txBox="1"/>
            <p:nvPr/>
          </p:nvSpPr>
          <p:spPr>
            <a:xfrm>
              <a:off x="182880" y="786383"/>
              <a:ext cx="2139696" cy="18200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100">
                  <a:solidFill>
                    <a:srgbClr val="5E5A70"/>
                  </a:solidFill>
                  <a:latin typeface="Arial"/>
                  <a:ea typeface="Arial"/>
                  <a:cs typeface="Arial"/>
                  <a:sym typeface="Arial"/>
                </a:defRPr>
              </a:lvl1pPr>
            </a:lstStyle>
            <a:p>
              <a:pPr/>
              <a:r>
                <a:t>Each letter gets its own number.</a:t>
              </a:r>
            </a:p>
          </p:txBody>
        </p:sp>
      </p:grpSp>
      <p:sp>
        <p:nvSpPr>
          <p:cNvPr id="267" name="yd_note"/>
          <p:cNvSpPr txBox="1"/>
          <p:nvPr/>
        </p:nvSpPr>
        <p:spPr>
          <a:xfrm>
            <a:off x="777239" y="3863801"/>
            <a:ext cx="7955282"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2B2350"/>
                </a:solidFill>
                <a:latin typeface="Arial"/>
                <a:ea typeface="Arial"/>
                <a:cs typeface="Arial"/>
                <a:sym typeface="Arial"/>
              </a:defRPr>
            </a:lvl1pPr>
          </a:lstStyle>
          <a:p>
            <a:pPr/>
            <a:r>
              <a:t>No timer on the questions. Read the feedback. Finished? The worksheet is there too.</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780000" fill="hold"/>
                                        <p:tgtEl>
                                          <p:spTgt spid="24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56"/>
                                        </p:tgtEl>
                                        <p:attrNameLst>
                                          <p:attrName>style.visibility</p:attrName>
                                        </p:attrNameLst>
                                      </p:cBhvr>
                                      <p:to>
                                        <p:strVal val="visible"/>
                                      </p:to>
                                    </p:set>
                                    <p:animEffect filter="fade" transition="in">
                                      <p:cBhvr>
                                        <p:cTn id="11" dur="400"/>
                                        <p:tgtEl>
                                          <p:spTgt spid="25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61"/>
                                        </p:tgtEl>
                                        <p:attrNameLst>
                                          <p:attrName>style.visibility</p:attrName>
                                        </p:attrNameLst>
                                      </p:cBhvr>
                                      <p:to>
                                        <p:strVal val="visible"/>
                                      </p:to>
                                    </p:set>
                                    <p:animEffect filter="fade" transition="in">
                                      <p:cBhvr>
                                        <p:cTn id="16" dur="400"/>
                                        <p:tgtEl>
                                          <p:spTgt spid="261"/>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66"/>
                                        </p:tgtEl>
                                        <p:attrNameLst>
                                          <p:attrName>style.visibility</p:attrName>
                                        </p:attrNameLst>
                                      </p:cBhvr>
                                      <p:to>
                                        <p:strVal val="visible"/>
                                      </p:to>
                                    </p:set>
                                    <p:animEffect filter="fade" transition="in">
                                      <p:cBhvr>
                                        <p:cTn id="21" dur="400"/>
                                        <p:tgtEl>
                                          <p:spTgt spid="266"/>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67"/>
                                        </p:tgtEl>
                                        <p:attrNameLst>
                                          <p:attrName>style.visibility</p:attrName>
                                        </p:attrNameLst>
                                      </p:cBhvr>
                                      <p:to>
                                        <p:strVal val="visible"/>
                                      </p:to>
                                    </p:set>
                                    <p:animEffect filter="fade" transition="in">
                                      <p:cBhvr>
                                        <p:cTn id="26" dur="4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45"/>
                </p:tgtEl>
              </p:cMediaNode>
            </p:video>
            <p:seq concurrent="1" prevAc="none" nextAc="seek">
              <p:cTn id="28" evtFilter="cancelBubble" nodeType="interactiveSeq" restart="whenNotActive" fill="hold">
                <p:stCondLst>
                  <p:cond delay="0" evt="onClick">
                    <p:tgtEl>
                      <p:spTgt spid="245"/>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45"/>
                                        </p:tgtEl>
                                      </p:cBhvr>
                                    </p:cmd>
                                  </p:childTnLst>
                                </p:cTn>
                              </p:par>
                            </p:childTnLst>
                          </p:cTn>
                        </p:par>
                      </p:childTnLst>
                    </p:cTn>
                  </p:par>
                </p:childTnLst>
              </p:cTn>
              <p:nextCondLst>
                <p:cond delay="0" evt="onClick">
                  <p:tgtEl>
                    <p:spTgt spid="245"/>
                  </p:tgtEl>
                </p:cond>
              </p:nextCondLst>
            </p:seq>
          </p:childTnLst>
        </p:cTn>
      </p:par>
    </p:tnLst>
    <p:bldLst>
      <p:bldP build="whole" bldLvl="1" animBg="1" rev="0" advAuto="0" spid="267" grpId="5"/>
      <p:bldP build="whole" bldLvl="1" animBg="1" rev="0" advAuto="0" spid="261" grpId="3"/>
      <p:bldP build="whole" bldLvl="1" animBg="1" rev="0" advAuto="0" spid="256" grpId="2"/>
      <p:bldP build="whole" bldLvl="1" animBg="1" rev="0" advAuto="0" spid="266" grpId="4"/>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B2350"/>
        </a:solidFill>
      </p:bgPr>
    </p:bg>
    <p:spTree>
      <p:nvGrpSpPr>
        <p:cNvPr id="1" name=""/>
        <p:cNvGrpSpPr/>
        <p:nvPr/>
      </p:nvGrpSpPr>
      <p:grpSpPr>
        <a:xfrm>
          <a:off x="0" y="0"/>
          <a:ext cx="0" cy="0"/>
          <a:chOff x="0" y="0"/>
          <a:chExt cx="0" cy="0"/>
        </a:xfrm>
      </p:grpSpPr>
      <p:pic>
        <p:nvPicPr>
          <p:cNvPr id="271"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182879" y="182879"/>
            <a:ext cx="310897" cy="4777742"/>
          </a:xfrm>
          <a:prstGeom prst="rect">
            <a:avLst/>
          </a:prstGeom>
          <a:ln w="12700">
            <a:miter lim="400000"/>
          </a:ln>
        </p:spPr>
      </p:pic>
      <p:grpSp>
        <p:nvGrpSpPr>
          <p:cNvPr id="274" name="phase_pill"/>
          <p:cNvGrpSpPr/>
          <p:nvPr/>
        </p:nvGrpSpPr>
        <p:grpSpPr>
          <a:xfrm>
            <a:off x="777240" y="274320"/>
            <a:ext cx="1691640" cy="292609"/>
            <a:chOff x="0" y="0"/>
            <a:chExt cx="1691639" cy="292608"/>
          </a:xfrm>
        </p:grpSpPr>
        <p:sp>
          <p:nvSpPr>
            <p:cNvPr id="272" name="Rounded Rectangle"/>
            <p:cNvSpPr/>
            <p:nvPr/>
          </p:nvSpPr>
          <p:spPr>
            <a:xfrm>
              <a:off x="0" y="0"/>
              <a:ext cx="1691640" cy="292609"/>
            </a:xfrm>
            <a:prstGeom prst="roundRect">
              <a:avLst>
                <a:gd name="adj" fmla="val 43750"/>
              </a:avLst>
            </a:prstGeom>
            <a:solidFill>
              <a:srgbClr val="EC6B58"/>
            </a:solidFill>
            <a:ln w="12700" cap="flat">
              <a:noFill/>
              <a:miter lim="400000"/>
            </a:ln>
            <a:effectLst/>
          </p:spPr>
          <p:txBody>
            <a:bodyPr wrap="square" lIns="45719" tIns="45719" rIns="45719" bIns="45719" numCol="1" anchor="ctr">
              <a:noAutofit/>
            </a:bodyPr>
            <a:lstStyle/>
            <a:p>
              <a:pPr algn="ctr">
                <a:defRPr sz="900"/>
              </a:pPr>
            </a:p>
          </p:txBody>
        </p:sp>
        <p:sp>
          <p:nvSpPr>
            <p:cNvPr id="273" name="PLENARY · 3 MIN"/>
            <p:cNvSpPr txBox="1"/>
            <p:nvPr/>
          </p:nvSpPr>
          <p:spPr>
            <a:xfrm>
              <a:off x="37494" y="82803"/>
              <a:ext cx="1616652"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900">
                  <a:solidFill>
                    <a:srgbClr val="2B2350"/>
                  </a:solidFill>
                  <a:latin typeface="Arial"/>
                  <a:ea typeface="Arial"/>
                  <a:cs typeface="Arial"/>
                  <a:sym typeface="Arial"/>
                </a:defRPr>
              </a:lvl1pPr>
            </a:lstStyle>
            <a:p>
              <a:pPr/>
              <a:r>
                <a:t>PLENARY · 3 MIN</a:t>
              </a:r>
            </a:p>
          </p:txBody>
        </p:sp>
      </p:grpSp>
      <p:sp>
        <p:nvSpPr>
          <p:cNvPr id="275" name="slide_title"/>
          <p:cNvSpPr txBox="1"/>
          <p:nvPr/>
        </p:nvSpPr>
        <p:spPr>
          <a:xfrm>
            <a:off x="777239" y="775207"/>
            <a:ext cx="7955282"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Georgia"/>
                <a:ea typeface="Georgia"/>
                <a:cs typeface="Georgia"/>
                <a:sym typeface="Georgia"/>
              </a:defRPr>
            </a:lvl1pPr>
          </a:lstStyle>
          <a:p>
            <a:pPr/>
            <a:r>
              <a:t>True or false?</a:t>
            </a:r>
          </a:p>
        </p:txBody>
      </p:sp>
      <p:grpSp>
        <p:nvGrpSpPr>
          <p:cNvPr id="278" name="p0_stmt"/>
          <p:cNvGrpSpPr/>
          <p:nvPr/>
        </p:nvGrpSpPr>
        <p:grpSpPr>
          <a:xfrm>
            <a:off x="777240" y="1517903"/>
            <a:ext cx="6720841" cy="512065"/>
            <a:chOff x="0" y="0"/>
            <a:chExt cx="6720840" cy="512063"/>
          </a:xfrm>
        </p:grpSpPr>
        <p:sp>
          <p:nvSpPr>
            <p:cNvPr id="276" name="p0_bg"/>
            <p:cNvSpPr/>
            <p:nvPr/>
          </p:nvSpPr>
          <p:spPr>
            <a:xfrm>
              <a:off x="0" y="0"/>
              <a:ext cx="6720841" cy="512064"/>
            </a:xfrm>
            <a:prstGeom prst="roundRect">
              <a:avLst>
                <a:gd name="adj" fmla="val 12500"/>
              </a:avLst>
            </a:prstGeom>
            <a:solidFill>
              <a:srgbClr val="3D3470"/>
            </a:solidFill>
            <a:ln w="12700" cap="flat">
              <a:solidFill>
                <a:srgbClr val="3D3470"/>
              </a:solidFill>
              <a:prstDash val="solid"/>
              <a:round/>
            </a:ln>
            <a:effectLst/>
          </p:spPr>
          <p:txBody>
            <a:bodyPr wrap="square" lIns="45719" tIns="45719" rIns="45719" bIns="45719" numCol="1" anchor="t">
              <a:noAutofit/>
            </a:bodyPr>
            <a:lstStyle/>
            <a:p>
              <a:pPr/>
            </a:p>
          </p:txBody>
        </p:sp>
        <p:sp>
          <p:nvSpPr>
            <p:cNvPr id="277" name="p0_q"/>
            <p:cNvSpPr txBox="1"/>
            <p:nvPr/>
          </p:nvSpPr>
          <p:spPr>
            <a:xfrm>
              <a:off x="182880" y="163482"/>
              <a:ext cx="6400801"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FFFFFF"/>
                  </a:solidFill>
                  <a:latin typeface="Arial"/>
                  <a:ea typeface="Arial"/>
                  <a:cs typeface="Arial"/>
                  <a:sym typeface="Arial"/>
                </a:defRPr>
              </a:lvl1pPr>
            </a:lstStyle>
            <a:p>
              <a:pPr/>
              <a:r>
                <a:t>When n = 3, 4n = 43.</a:t>
              </a:r>
            </a:p>
          </p:txBody>
        </p:sp>
      </p:grpSp>
      <p:sp>
        <p:nvSpPr>
          <p:cNvPr id="279" name="p0_v"/>
          <p:cNvSpPr txBox="1"/>
          <p:nvPr/>
        </p:nvSpPr>
        <p:spPr>
          <a:xfrm>
            <a:off x="7635240" y="1675244"/>
            <a:ext cx="109728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solidFill>
                  <a:srgbClr val="EC6B58"/>
                </a:solidFill>
                <a:latin typeface="Arial"/>
                <a:ea typeface="Arial"/>
                <a:cs typeface="Arial"/>
                <a:sym typeface="Arial"/>
              </a:defRPr>
            </a:lvl1pPr>
          </a:lstStyle>
          <a:p>
            <a:pPr/>
            <a:r>
              <a:t>FALSE</a:t>
            </a:r>
          </a:p>
        </p:txBody>
      </p:sp>
      <p:grpSp>
        <p:nvGrpSpPr>
          <p:cNvPr id="282" name="p1_stmt"/>
          <p:cNvGrpSpPr/>
          <p:nvPr/>
        </p:nvGrpSpPr>
        <p:grpSpPr>
          <a:xfrm>
            <a:off x="777240" y="2148839"/>
            <a:ext cx="6720841" cy="512065"/>
            <a:chOff x="0" y="0"/>
            <a:chExt cx="6720840" cy="512063"/>
          </a:xfrm>
        </p:grpSpPr>
        <p:sp>
          <p:nvSpPr>
            <p:cNvPr id="280" name="p1_bg"/>
            <p:cNvSpPr/>
            <p:nvPr/>
          </p:nvSpPr>
          <p:spPr>
            <a:xfrm>
              <a:off x="0" y="0"/>
              <a:ext cx="6720841" cy="512064"/>
            </a:xfrm>
            <a:prstGeom prst="roundRect">
              <a:avLst>
                <a:gd name="adj" fmla="val 12500"/>
              </a:avLst>
            </a:prstGeom>
            <a:solidFill>
              <a:srgbClr val="3D3470"/>
            </a:solidFill>
            <a:ln w="12700" cap="flat">
              <a:solidFill>
                <a:srgbClr val="3D3470"/>
              </a:solidFill>
              <a:prstDash val="solid"/>
              <a:round/>
            </a:ln>
            <a:effectLst/>
          </p:spPr>
          <p:txBody>
            <a:bodyPr wrap="square" lIns="45719" tIns="45719" rIns="45719" bIns="45719" numCol="1" anchor="t">
              <a:noAutofit/>
            </a:bodyPr>
            <a:lstStyle/>
            <a:p>
              <a:pPr/>
            </a:p>
          </p:txBody>
        </p:sp>
        <p:sp>
          <p:nvSpPr>
            <p:cNvPr id="281" name="p1_q"/>
            <p:cNvSpPr txBox="1"/>
            <p:nvPr/>
          </p:nvSpPr>
          <p:spPr>
            <a:xfrm>
              <a:off x="182880" y="163482"/>
              <a:ext cx="6400801"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FFFFFF"/>
                  </a:solidFill>
                  <a:latin typeface="Arial"/>
                  <a:ea typeface="Arial"/>
                  <a:cs typeface="Arial"/>
                  <a:sym typeface="Arial"/>
                </a:defRPr>
              </a:lvl1pPr>
            </a:lstStyle>
            <a:p>
              <a:pPr/>
              <a:r>
                <a:t>When n = 4, 3n + 2 = 14.</a:t>
              </a:r>
            </a:p>
          </p:txBody>
        </p:sp>
      </p:grpSp>
      <p:sp>
        <p:nvSpPr>
          <p:cNvPr id="283" name="p1_v"/>
          <p:cNvSpPr txBox="1"/>
          <p:nvPr/>
        </p:nvSpPr>
        <p:spPr>
          <a:xfrm>
            <a:off x="7635240" y="2306180"/>
            <a:ext cx="109728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solidFill>
                  <a:srgbClr val="5FCB92"/>
                </a:solidFill>
                <a:latin typeface="Arial"/>
                <a:ea typeface="Arial"/>
                <a:cs typeface="Arial"/>
                <a:sym typeface="Arial"/>
              </a:defRPr>
            </a:lvl1pPr>
          </a:lstStyle>
          <a:p>
            <a:pPr/>
            <a:r>
              <a:t>TRUE</a:t>
            </a:r>
          </a:p>
        </p:txBody>
      </p:sp>
      <p:grpSp>
        <p:nvGrpSpPr>
          <p:cNvPr id="286" name="p2_stmt"/>
          <p:cNvGrpSpPr/>
          <p:nvPr/>
        </p:nvGrpSpPr>
        <p:grpSpPr>
          <a:xfrm>
            <a:off x="777240" y="2779776"/>
            <a:ext cx="6720841" cy="512065"/>
            <a:chOff x="0" y="0"/>
            <a:chExt cx="6720840" cy="512063"/>
          </a:xfrm>
        </p:grpSpPr>
        <p:sp>
          <p:nvSpPr>
            <p:cNvPr id="284" name="p2_bg"/>
            <p:cNvSpPr/>
            <p:nvPr/>
          </p:nvSpPr>
          <p:spPr>
            <a:xfrm>
              <a:off x="0" y="0"/>
              <a:ext cx="6720841" cy="512064"/>
            </a:xfrm>
            <a:prstGeom prst="roundRect">
              <a:avLst>
                <a:gd name="adj" fmla="val 12500"/>
              </a:avLst>
            </a:prstGeom>
            <a:solidFill>
              <a:srgbClr val="3D3470"/>
            </a:solidFill>
            <a:ln w="12700" cap="flat">
              <a:solidFill>
                <a:srgbClr val="3D3470"/>
              </a:solidFill>
              <a:prstDash val="solid"/>
              <a:round/>
            </a:ln>
            <a:effectLst/>
          </p:spPr>
          <p:txBody>
            <a:bodyPr wrap="square" lIns="45719" tIns="45719" rIns="45719" bIns="45719" numCol="1" anchor="t">
              <a:noAutofit/>
            </a:bodyPr>
            <a:lstStyle/>
            <a:p>
              <a:pPr/>
            </a:p>
          </p:txBody>
        </p:sp>
        <p:sp>
          <p:nvSpPr>
            <p:cNvPr id="285" name="p2_q"/>
            <p:cNvSpPr txBox="1"/>
            <p:nvPr/>
          </p:nvSpPr>
          <p:spPr>
            <a:xfrm>
              <a:off x="182880" y="163482"/>
              <a:ext cx="6400801"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FFFFFF"/>
                  </a:solidFill>
                  <a:latin typeface="Arial"/>
                  <a:ea typeface="Arial"/>
                  <a:cs typeface="Arial"/>
                  <a:sym typeface="Arial"/>
                </a:defRPr>
              </a:lvl1pPr>
            </a:lstStyle>
            <a:p>
              <a:pPr/>
              <a:r>
                <a:t>When n = 2, 5 + 3n = 16.</a:t>
              </a:r>
            </a:p>
          </p:txBody>
        </p:sp>
      </p:grpSp>
      <p:sp>
        <p:nvSpPr>
          <p:cNvPr id="287" name="p2_v"/>
          <p:cNvSpPr txBox="1"/>
          <p:nvPr/>
        </p:nvSpPr>
        <p:spPr>
          <a:xfrm>
            <a:off x="7635240" y="2937116"/>
            <a:ext cx="109728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solidFill>
                  <a:srgbClr val="EC6B58"/>
                </a:solidFill>
                <a:latin typeface="Arial"/>
                <a:ea typeface="Arial"/>
                <a:cs typeface="Arial"/>
                <a:sym typeface="Arial"/>
              </a:defRPr>
            </a:lvl1pPr>
          </a:lstStyle>
          <a:p>
            <a:pPr/>
            <a:r>
              <a:t>FALSE</a:t>
            </a:r>
          </a:p>
        </p:txBody>
      </p:sp>
      <p:grpSp>
        <p:nvGrpSpPr>
          <p:cNvPr id="290" name="p3_stmt"/>
          <p:cNvGrpSpPr/>
          <p:nvPr/>
        </p:nvGrpSpPr>
        <p:grpSpPr>
          <a:xfrm>
            <a:off x="777240" y="3410711"/>
            <a:ext cx="6720841" cy="512065"/>
            <a:chOff x="0" y="0"/>
            <a:chExt cx="6720840" cy="512063"/>
          </a:xfrm>
        </p:grpSpPr>
        <p:sp>
          <p:nvSpPr>
            <p:cNvPr id="288" name="p3_bg"/>
            <p:cNvSpPr/>
            <p:nvPr/>
          </p:nvSpPr>
          <p:spPr>
            <a:xfrm>
              <a:off x="0" y="0"/>
              <a:ext cx="6720841" cy="512064"/>
            </a:xfrm>
            <a:prstGeom prst="roundRect">
              <a:avLst>
                <a:gd name="adj" fmla="val 12500"/>
              </a:avLst>
            </a:prstGeom>
            <a:solidFill>
              <a:srgbClr val="3D3470"/>
            </a:solidFill>
            <a:ln w="12700" cap="flat">
              <a:solidFill>
                <a:srgbClr val="3D3470"/>
              </a:solidFill>
              <a:prstDash val="solid"/>
              <a:round/>
            </a:ln>
            <a:effectLst/>
          </p:spPr>
          <p:txBody>
            <a:bodyPr wrap="square" lIns="45719" tIns="45719" rIns="45719" bIns="45719" numCol="1" anchor="t">
              <a:noAutofit/>
            </a:bodyPr>
            <a:lstStyle/>
            <a:p>
              <a:pPr/>
            </a:p>
          </p:txBody>
        </p:sp>
        <p:sp>
          <p:nvSpPr>
            <p:cNvPr id="289" name="p3_q"/>
            <p:cNvSpPr txBox="1"/>
            <p:nvPr/>
          </p:nvSpPr>
          <p:spPr>
            <a:xfrm>
              <a:off x="182880" y="163482"/>
              <a:ext cx="6400801"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FFFFFF"/>
                  </a:solidFill>
                  <a:latin typeface="Arial"/>
                  <a:ea typeface="Arial"/>
                  <a:cs typeface="Arial"/>
                  <a:sym typeface="Arial"/>
                </a:defRPr>
              </a:lvl1pPr>
            </a:lstStyle>
            <a:p>
              <a:pPr/>
              <a:r>
                <a:t>When n = 3, 2(n + 4) = 10.</a:t>
              </a:r>
            </a:p>
          </p:txBody>
        </p:sp>
      </p:grpSp>
      <p:sp>
        <p:nvSpPr>
          <p:cNvPr id="291" name="p3_v"/>
          <p:cNvSpPr txBox="1"/>
          <p:nvPr/>
        </p:nvSpPr>
        <p:spPr>
          <a:xfrm>
            <a:off x="7635240" y="3568052"/>
            <a:ext cx="109728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solidFill>
                  <a:srgbClr val="EC6B58"/>
                </a:solidFill>
                <a:latin typeface="Arial"/>
                <a:ea typeface="Arial"/>
                <a:cs typeface="Arial"/>
                <a:sym typeface="Arial"/>
              </a:defRPr>
            </a:lvl1pPr>
          </a:lstStyle>
          <a:p>
            <a:pPr/>
            <a:r>
              <a:t>FALSE</a:t>
            </a:r>
          </a:p>
        </p:txBody>
      </p:sp>
      <p:grpSp>
        <p:nvGrpSpPr>
          <p:cNvPr id="294" name="p4_stmt"/>
          <p:cNvGrpSpPr/>
          <p:nvPr/>
        </p:nvGrpSpPr>
        <p:grpSpPr>
          <a:xfrm>
            <a:off x="777240" y="4041647"/>
            <a:ext cx="6720841" cy="512065"/>
            <a:chOff x="0" y="0"/>
            <a:chExt cx="6720840" cy="512063"/>
          </a:xfrm>
        </p:grpSpPr>
        <p:sp>
          <p:nvSpPr>
            <p:cNvPr id="292" name="p4_bg"/>
            <p:cNvSpPr/>
            <p:nvPr/>
          </p:nvSpPr>
          <p:spPr>
            <a:xfrm>
              <a:off x="0" y="0"/>
              <a:ext cx="6720841" cy="512064"/>
            </a:xfrm>
            <a:prstGeom prst="roundRect">
              <a:avLst>
                <a:gd name="adj" fmla="val 12500"/>
              </a:avLst>
            </a:prstGeom>
            <a:solidFill>
              <a:srgbClr val="3D3470"/>
            </a:solidFill>
            <a:ln w="12700" cap="flat">
              <a:solidFill>
                <a:srgbClr val="3D3470"/>
              </a:solidFill>
              <a:prstDash val="solid"/>
              <a:round/>
            </a:ln>
            <a:effectLst/>
          </p:spPr>
          <p:txBody>
            <a:bodyPr wrap="square" lIns="45719" tIns="45719" rIns="45719" bIns="45719" numCol="1" anchor="t">
              <a:noAutofit/>
            </a:bodyPr>
            <a:lstStyle/>
            <a:p>
              <a:pPr/>
            </a:p>
          </p:txBody>
        </p:sp>
        <p:sp>
          <p:nvSpPr>
            <p:cNvPr id="293" name="p4_q"/>
            <p:cNvSpPr txBox="1"/>
            <p:nvPr/>
          </p:nvSpPr>
          <p:spPr>
            <a:xfrm>
              <a:off x="182880" y="163482"/>
              <a:ext cx="6400801"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300">
                  <a:solidFill>
                    <a:srgbClr val="FFFFFF"/>
                  </a:solidFill>
                  <a:latin typeface="Arial"/>
                  <a:ea typeface="Arial"/>
                  <a:cs typeface="Arial"/>
                  <a:sym typeface="Arial"/>
                </a:defRPr>
              </a:lvl1pPr>
            </a:lstStyle>
            <a:p>
              <a:pPr/>
              <a:r>
                <a:t>A taxi costs £5 plus £3 a kilometre. A 4 km journey costs £17.</a:t>
              </a:r>
            </a:p>
          </p:txBody>
        </p:sp>
      </p:grpSp>
      <p:sp>
        <p:nvSpPr>
          <p:cNvPr id="295" name="p4_v"/>
          <p:cNvSpPr txBox="1"/>
          <p:nvPr/>
        </p:nvSpPr>
        <p:spPr>
          <a:xfrm>
            <a:off x="7635240" y="4198988"/>
            <a:ext cx="109728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solidFill>
                  <a:srgbClr val="5FCB92"/>
                </a:solidFill>
                <a:latin typeface="Arial"/>
                <a:ea typeface="Arial"/>
                <a:cs typeface="Arial"/>
                <a:sym typeface="Arial"/>
              </a:defRPr>
            </a:lvl1pPr>
          </a:lstStyle>
          <a:p>
            <a:pPr/>
            <a:r>
              <a:t>TRUE</a:t>
            </a:r>
          </a:p>
        </p:txBody>
      </p:sp>
      <p:sp>
        <p:nvSpPr>
          <p:cNvPr id="296" name="pl_next"/>
          <p:cNvSpPr txBox="1"/>
          <p:nvPr/>
        </p:nvSpPr>
        <p:spPr>
          <a:xfrm>
            <a:off x="777239" y="4636469"/>
            <a:ext cx="7955282"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200">
                <a:solidFill>
                  <a:srgbClr val="EC6B58"/>
                </a:solidFill>
                <a:latin typeface="Arial"/>
                <a:ea typeface="Arial"/>
                <a:cs typeface="Arial"/>
                <a:sym typeface="Arial"/>
              </a:defRPr>
            </a:lvl1pPr>
          </a:lstStyle>
          <a:p>
            <a:pPr/>
            <a:r>
              <a:t>Swap the letter for the number. Multiply before you add. The bracket multiplies everything inside.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71"/>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78"/>
                                        </p:tgtEl>
                                        <p:attrNameLst>
                                          <p:attrName>style.visibility</p:attrName>
                                        </p:attrNameLst>
                                      </p:cBhvr>
                                      <p:to>
                                        <p:strVal val="visible"/>
                                      </p:to>
                                    </p:set>
                                    <p:animEffect filter="fade" transition="in">
                                      <p:cBhvr>
                                        <p:cTn id="11" dur="400"/>
                                        <p:tgtEl>
                                          <p:spTgt spid="278"/>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279"/>
                                        </p:tgtEl>
                                        <p:attrNameLst>
                                          <p:attrName>style.visibility</p:attrName>
                                        </p:attrNameLst>
                                      </p:cBhvr>
                                      <p:to>
                                        <p:strVal val="visible"/>
                                      </p:to>
                                    </p:set>
                                    <p:anim calcmode="lin" valueType="num">
                                      <p:cBhvr>
                                        <p:cTn id="16" dur="400" fill="hold"/>
                                        <p:tgtEl>
                                          <p:spTgt spid="279"/>
                                        </p:tgtEl>
                                        <p:attrNameLst>
                                          <p:attrName>ppt_w</p:attrName>
                                        </p:attrNameLst>
                                      </p:cBhvr>
                                      <p:tavLst>
                                        <p:tav tm="0">
                                          <p:val>
                                            <p:fltVal val="0"/>
                                          </p:val>
                                        </p:tav>
                                        <p:tav tm="100000">
                                          <p:val>
                                            <p:strVal val="#ppt_w"/>
                                          </p:val>
                                        </p:tav>
                                      </p:tavLst>
                                    </p:anim>
                                    <p:anim calcmode="lin" valueType="num">
                                      <p:cBhvr>
                                        <p:cTn id="17" dur="400" fill="hold"/>
                                        <p:tgtEl>
                                          <p:spTgt spid="279"/>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282"/>
                                        </p:tgtEl>
                                        <p:attrNameLst>
                                          <p:attrName>style.visibility</p:attrName>
                                        </p:attrNameLst>
                                      </p:cBhvr>
                                      <p:to>
                                        <p:strVal val="visible"/>
                                      </p:to>
                                    </p:set>
                                    <p:animEffect filter="fade" transition="in">
                                      <p:cBhvr>
                                        <p:cTn id="22" dur="400"/>
                                        <p:tgtEl>
                                          <p:spTgt spid="282"/>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283"/>
                                        </p:tgtEl>
                                        <p:attrNameLst>
                                          <p:attrName>style.visibility</p:attrName>
                                        </p:attrNameLst>
                                      </p:cBhvr>
                                      <p:to>
                                        <p:strVal val="visible"/>
                                      </p:to>
                                    </p:set>
                                    <p:anim calcmode="lin" valueType="num">
                                      <p:cBhvr>
                                        <p:cTn id="27" dur="400" fill="hold"/>
                                        <p:tgtEl>
                                          <p:spTgt spid="283"/>
                                        </p:tgtEl>
                                        <p:attrNameLst>
                                          <p:attrName>ppt_w</p:attrName>
                                        </p:attrNameLst>
                                      </p:cBhvr>
                                      <p:tavLst>
                                        <p:tav tm="0">
                                          <p:val>
                                            <p:fltVal val="0"/>
                                          </p:val>
                                        </p:tav>
                                        <p:tav tm="100000">
                                          <p:val>
                                            <p:strVal val="#ppt_w"/>
                                          </p:val>
                                        </p:tav>
                                      </p:tavLst>
                                    </p:anim>
                                    <p:anim calcmode="lin" valueType="num">
                                      <p:cBhvr>
                                        <p:cTn id="28" dur="400" fill="hold"/>
                                        <p:tgtEl>
                                          <p:spTgt spid="283"/>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286"/>
                                        </p:tgtEl>
                                        <p:attrNameLst>
                                          <p:attrName>style.visibility</p:attrName>
                                        </p:attrNameLst>
                                      </p:cBhvr>
                                      <p:to>
                                        <p:strVal val="visible"/>
                                      </p:to>
                                    </p:set>
                                    <p:animEffect filter="fade" transition="in">
                                      <p:cBhvr>
                                        <p:cTn id="33" dur="400"/>
                                        <p:tgtEl>
                                          <p:spTgt spid="286"/>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287"/>
                                        </p:tgtEl>
                                        <p:attrNameLst>
                                          <p:attrName>style.visibility</p:attrName>
                                        </p:attrNameLst>
                                      </p:cBhvr>
                                      <p:to>
                                        <p:strVal val="visible"/>
                                      </p:to>
                                    </p:set>
                                    <p:anim calcmode="lin" valueType="num">
                                      <p:cBhvr>
                                        <p:cTn id="38" dur="400" fill="hold"/>
                                        <p:tgtEl>
                                          <p:spTgt spid="287"/>
                                        </p:tgtEl>
                                        <p:attrNameLst>
                                          <p:attrName>ppt_w</p:attrName>
                                        </p:attrNameLst>
                                      </p:cBhvr>
                                      <p:tavLst>
                                        <p:tav tm="0">
                                          <p:val>
                                            <p:fltVal val="0"/>
                                          </p:val>
                                        </p:tav>
                                        <p:tav tm="100000">
                                          <p:val>
                                            <p:strVal val="#ppt_w"/>
                                          </p:val>
                                        </p:tav>
                                      </p:tavLst>
                                    </p:anim>
                                    <p:anim calcmode="lin" valueType="num">
                                      <p:cBhvr>
                                        <p:cTn id="39" dur="400" fill="hold"/>
                                        <p:tgtEl>
                                          <p:spTgt spid="287"/>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290"/>
                                        </p:tgtEl>
                                        <p:attrNameLst>
                                          <p:attrName>style.visibility</p:attrName>
                                        </p:attrNameLst>
                                      </p:cBhvr>
                                      <p:to>
                                        <p:strVal val="visible"/>
                                      </p:to>
                                    </p:set>
                                    <p:animEffect filter="fade" transition="in">
                                      <p:cBhvr>
                                        <p:cTn id="44" dur="400"/>
                                        <p:tgtEl>
                                          <p:spTgt spid="290"/>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291"/>
                                        </p:tgtEl>
                                        <p:attrNameLst>
                                          <p:attrName>style.visibility</p:attrName>
                                        </p:attrNameLst>
                                      </p:cBhvr>
                                      <p:to>
                                        <p:strVal val="visible"/>
                                      </p:to>
                                    </p:set>
                                    <p:anim calcmode="lin" valueType="num">
                                      <p:cBhvr>
                                        <p:cTn id="49" dur="400" fill="hold"/>
                                        <p:tgtEl>
                                          <p:spTgt spid="291"/>
                                        </p:tgtEl>
                                        <p:attrNameLst>
                                          <p:attrName>ppt_w</p:attrName>
                                        </p:attrNameLst>
                                      </p:cBhvr>
                                      <p:tavLst>
                                        <p:tav tm="0">
                                          <p:val>
                                            <p:fltVal val="0"/>
                                          </p:val>
                                        </p:tav>
                                        <p:tav tm="100000">
                                          <p:val>
                                            <p:strVal val="#ppt_w"/>
                                          </p:val>
                                        </p:tav>
                                      </p:tavLst>
                                    </p:anim>
                                    <p:anim calcmode="lin" valueType="num">
                                      <p:cBhvr>
                                        <p:cTn id="50" dur="400" fill="hold"/>
                                        <p:tgtEl>
                                          <p:spTgt spid="291"/>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294"/>
                                        </p:tgtEl>
                                        <p:attrNameLst>
                                          <p:attrName>style.visibility</p:attrName>
                                        </p:attrNameLst>
                                      </p:cBhvr>
                                      <p:to>
                                        <p:strVal val="visible"/>
                                      </p:to>
                                    </p:set>
                                    <p:animEffect filter="fade" transition="in">
                                      <p:cBhvr>
                                        <p:cTn id="55" dur="400"/>
                                        <p:tgtEl>
                                          <p:spTgt spid="294"/>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295"/>
                                        </p:tgtEl>
                                        <p:attrNameLst>
                                          <p:attrName>style.visibility</p:attrName>
                                        </p:attrNameLst>
                                      </p:cBhvr>
                                      <p:to>
                                        <p:strVal val="visible"/>
                                      </p:to>
                                    </p:set>
                                    <p:anim calcmode="lin" valueType="num">
                                      <p:cBhvr>
                                        <p:cTn id="60" dur="400" fill="hold"/>
                                        <p:tgtEl>
                                          <p:spTgt spid="295"/>
                                        </p:tgtEl>
                                        <p:attrNameLst>
                                          <p:attrName>ppt_w</p:attrName>
                                        </p:attrNameLst>
                                      </p:cBhvr>
                                      <p:tavLst>
                                        <p:tav tm="0">
                                          <p:val>
                                            <p:fltVal val="0"/>
                                          </p:val>
                                        </p:tav>
                                        <p:tav tm="100000">
                                          <p:val>
                                            <p:strVal val="#ppt_w"/>
                                          </p:val>
                                        </p:tav>
                                      </p:tavLst>
                                    </p:anim>
                                    <p:anim calcmode="lin" valueType="num">
                                      <p:cBhvr>
                                        <p:cTn id="61" dur="400" fill="hold"/>
                                        <p:tgtEl>
                                          <p:spTgt spid="295"/>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296"/>
                                        </p:tgtEl>
                                        <p:attrNameLst>
                                          <p:attrName>style.visibility</p:attrName>
                                        </p:attrNameLst>
                                      </p:cBhvr>
                                      <p:to>
                                        <p:strVal val="visible"/>
                                      </p:to>
                                    </p:set>
                                    <p:animEffect filter="fade" transition="in">
                                      <p:cBhvr>
                                        <p:cTn id="66" dur="400"/>
                                        <p:tgtEl>
                                          <p:spTgt spid="296"/>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271"/>
                </p:tgtEl>
              </p:cMediaNode>
            </p:video>
            <p:seq concurrent="1" prevAc="none" nextAc="seek">
              <p:cTn id="68" evtFilter="cancelBubble" nodeType="interactiveSeq" restart="whenNotActive" fill="hold">
                <p:stCondLst>
                  <p:cond delay="0" evt="onClick">
                    <p:tgtEl>
                      <p:spTgt spid="271"/>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271"/>
                                        </p:tgtEl>
                                      </p:cBhvr>
                                    </p:cmd>
                                  </p:childTnLst>
                                </p:cTn>
                              </p:par>
                            </p:childTnLst>
                          </p:cTn>
                        </p:par>
                      </p:childTnLst>
                    </p:cTn>
                  </p:par>
                </p:childTnLst>
              </p:cTn>
              <p:nextCondLst>
                <p:cond delay="0" evt="onClick">
                  <p:tgtEl>
                    <p:spTgt spid="271"/>
                  </p:tgtEl>
                </p:cond>
              </p:nextCondLst>
            </p:seq>
          </p:childTnLst>
        </p:cTn>
      </p:par>
    </p:tnLst>
    <p:bldLst>
      <p:bldP build="whole" bldLvl="1" animBg="1" rev="0" advAuto="0" spid="278" grpId="2"/>
      <p:bldP build="whole" bldLvl="1" animBg="1" rev="0" advAuto="0" spid="296" grpId="12"/>
      <p:bldP build="whole" bldLvl="1" animBg="1" rev="0" advAuto="0" spid="279" grpId="3"/>
      <p:bldP build="whole" bldLvl="1" animBg="1" rev="0" advAuto="0" spid="291" grpId="9"/>
      <p:bldP build="whole" bldLvl="1" animBg="1" rev="0" advAuto="0" spid="294" grpId="10"/>
      <p:bldP build="whole" bldLvl="1" animBg="1" rev="0" advAuto="0" spid="290" grpId="8"/>
      <p:bldP build="whole" bldLvl="1" animBg="1" rev="0" advAuto="0" spid="295" grpId="11"/>
      <p:bldP build="whole" bldLvl="1" animBg="1" rev="0" advAuto="0" spid="286" grpId="6"/>
      <p:bldP build="whole" bldLvl="1" animBg="1" rev="0" advAuto="0" spid="282" grpId="4"/>
      <p:bldP build="whole" bldLvl="1" animBg="1" rev="0" advAuto="0" spid="287" grpId="7"/>
      <p:bldP build="whole" bldLvl="1" animBg="1" rev="0" advAuto="0" spid="283" grpId="5"/>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