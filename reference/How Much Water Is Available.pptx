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 one answer each.</a:t>
            </a:r>
          </a:p>
          <a:p>
            <a:pPr/>
          </a:p>
          <a:p>
            <a:pPr/>
            <a:r>
              <a:t>I READ reference/Resource Depletion.pptx (the brief called it "Running Out", the name it was built under; there is no reference/Running Out.pptx), and checked every question against the last three Do Nows in the class (Resource Depletion, Making It Last, What The Earth Gives Us). Nothing repeats: no forest, fish-stock, helium, soil or oil question; the repeated-decline idea comes back as an error to explain (last lesson asked for the calculation); the "fresh water is always renewable" statement from What The Earth Gives Us is deliberately NOT reused as a spot-the-error.</a:t>
            </a:r>
          </a:p>
          <a:p>
            <a:pPr/>
          </a:p>
          <a:p>
            <a:pPr/>
            <a:r>
              <a:t>THE MIX FOLLOWS TEMPLATE.md. Q1 and Q2 are last lesson (repeated decline; managing a resource that is being depleted). Q3 and Q4 are earlier in the class (Making It Last: a sustainable amount; What The Earth Gives Us: why deep groundwater counts as non-renewable). THIS IS A NEW UNIT, so there is no "earlier in the unit": they come from the previous unit instead. Q5 is another science (chemistry: a solution of salt in water). Q6 previews today and is not taught yet.</a:t>
            </a:r>
          </a:p>
          <a:p>
            <a:pPr/>
          </a:p>
          <a:p>
            <a:pPr/>
            <a:r>
              <a:t>Q1: 625 → 500 → 400 → 320 → 256 → 204.8, so about 205 million litres are left after 5 years, and the reservoir is not empty. The student has taken a fifth of the ORIGINAL each year (125 × 5 = 625 gone): the fifth is of what REMAINS, so each loss is smaller than the last. Last lesson asked for this calculation; today it is an error to explain. Q3: 4 &lt; 5, so sustainable. Q4 is the groundwater idea from the Ogallala Aquifer; it is the bridge into today.</a:t>
            </a:r>
          </a:p>
          <a:p>
            <a:pPr/>
            <a:r>
              <a:t>Q5: sea water is a solution; the dissolved salt is mostly sodium chloride. Q6 IS INTUITIVE: accept "the sea", "clouds" or "evaporation". They did the water cycle in Year 7, so most will say clouds. It sets up objective 3.</a:t>
            </a:r>
          </a:p>
          <a:p>
            <a:pPr/>
          </a:p>
          <a:p>
            <a:pPr/>
            <a:r>
              <a:t>THEY FOUND HARD: left blank in the brief. Nothing guessed.</a:t>
            </a:r>
          </a:p>
          <a:p>
            <a:pPr/>
          </a:p>
          <a:p>
            <a:pPr/>
            <a:r>
              <a:t>CHANGE THE DATE before you teach, if the actual lesson falls on a different 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WHERE THIS SITS. This opens a new unit, Water, and it follows the resources lessons directly. The last three lessons gave them the rule: whether a resource is renewable is about the RATE. Say "we have talked about resources in general. Now one resource, the one nobody can live without, and how much of it there really is."</a:t>
            </a:r>
          </a:p>
          <a:p>
            <a:pPr/>
          </a:p>
          <a:p>
            <a:pPr/>
            <a:r>
              <a:t>THE LESSON IS BUILT AROUND A LITRE OF WATER. In a few minutes you will pour off the proportions of all the water on Earth, until there is almost nothing left. Tell them to watch for how much is left at the end, and to commit to a guess (the Hook).</a:t>
            </a:r>
          </a:p>
          <a:p>
            <a:pPr/>
          </a:p>
          <a:p>
            <a:pPr/>
            <a:r>
              <a:t>THE BANNER HAS TWO HALVES: only a tiny fraction is fresh and easy to reach (objectives 1 and 2), and the water cycle refills it (objective 3). Point back at each half as you reach it. The unit has more to come: Lesson 4 returns to what can go wrong with fresh water, and there is something to set up for it at the end of today.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Show of hands for each, and WRITE THE TALLY ON THE BOARD. Do not settle it: I Do 2 does, with the litre in your hands.</a:t>
            </a:r>
          </a:p>
          <a:p>
            <a:pPr/>
          </a:p>
          <a:p>
            <a:pPr/>
            <a:r>
              <a:t>ANSWER, FOR YOU: C. About one or two drops. Lakes, swamps and rivers hold about 0.0075% of all the water on Earth (USGS, from Shiklomanov and Gleick). In a litre that is 0.075 mL: about 1.5 drops from a dropper (a drop is about 0.05 mL). Lakes and rivers alone, leaving out the swamps, come to 0.067 mL, still about one and a half drops. Expect most of the room to vote A or B: "the lakes and rivers I can see" feels like a lot. Both are far too big, by a factor of about 3,000 and 70.</a:t>
            </a:r>
          </a:p>
          <a:p>
            <a:pPr/>
          </a:p>
          <a:p>
            <a:pPr/>
            <a:r>
              <a:t>A COMMITMENT THAT IS WRONG IS CORRECTED MORE STRONGLY (PEDAGOGY.md): do not tell them. Say "write down your vote, I am going to show you." The size of the surprise at the end is the lesson.</a:t>
            </a:r>
          </a:p>
          <a:p>
            <a:pPr/>
          </a:p>
          <a:p>
            <a:pPr/>
            <a:r>
              <a:t>DO NOT EXPLAIN YET. Say "all the water on Earth, the seas, the ice, the rain, everything, in one bottle" and move to I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I DO. 3 minutes. Five clicks: the four sources, one at a time, then the worked example.</a:t>
            </a:r>
          </a:p>
          <a:p>
            <a:pPr/>
          </a:p>
          <a:p>
            <a:pPr/>
            <a:r>
              <a:t>OBJECTIVE 1 ONLY, per TEMPLATE.md. Fresh water is water with very little salt in it. There are FOUR places it is stored, and the slide gives each its share of ALL the fresh water on Earth. The figures are the USGS ones, built from Shiklomanov and Gleick: ice caps, glaciers and ice in frozen ground about 70% (69.6%), groundwater about 30% (30.1%), lakes, swamps and rivers about 0.3% (0.30%), soil moisture, the atmosphere and living things about 0.1% (0.09%). They add to a little over 100% because of rounding: say "about". Some sources give 68.7% for ice, because they count frozen ground separately. Both are right; the point is "about two thirds to seven tenths".</a:t>
            </a:r>
          </a:p>
          <a:p>
            <a:pPr/>
          </a:p>
          <a:p>
            <a:pPr/>
            <a:r>
              <a:t>THE SURPRISE TO LAND: the water we use most, rivers and lakes, is the SMALLEST of the three big stores: 0.3% of the fresh water. Ice is more than two hundred times bigger. Say it once and leave it. I Do 2 puts it in a bottle.</a:t>
            </a:r>
          </a:p>
          <a:p>
            <a:pPr/>
          </a:p>
          <a:p>
            <a:pPr/>
            <a:r>
              <a:t>THE WORKED EXAMPLE IS SORTING, not defining: given a real water supply, name the source behind each part. A river that is fed by a glacier is both surface water and, behind it, ice; that is the point of the last line. If a student asks about rain, rain is on its way into one of the four (the water cycle, today's objective 3).</a:t>
            </a:r>
          </a:p>
          <a:p>
            <a:pPr/>
          </a:p>
          <a:p>
            <a:pPr/>
            <a:r>
              <a:t>MISCONCEPTIONS. (1) "Groundwater is an underground river or lake." It is mostly water held in the gaps in rock and soil (an aquifer), like water in a sponge. Say so. (2) "Ice is not a source of fresh water." It is: it is just frozen and far away. (3) "Fresh water means safe to drink." It does not: fresh means not salty; it can still carry germs or pollution.</a:t>
            </a:r>
          </a:p>
          <a:p>
            <a:pPr/>
          </a:p>
          <a:p>
            <a:pPr/>
            <a:r>
              <a:t>WHERE THE IDEA REAPPEARS: the Ogallala Aquifer from What The Earth Gives Us is groundwater; the Aral Sea from last lesson was surface water. Name both.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Shape 193"/>
          <p:cNvSpPr/>
          <p:nvPr>
            <p:ph type="sldImg"/>
          </p:nvPr>
        </p:nvSpPr>
        <p:spPr>
          <a:prstGeom prst="rect">
            <a:avLst/>
          </a:prstGeom>
        </p:spPr>
        <p:txBody>
          <a:bodyPr/>
          <a:lstStyle/>
          <a:p>
            <a:pPr/>
          </a:p>
        </p:txBody>
      </p:sp>
      <p:sp>
        <p:nvSpPr>
          <p:cNvPr id="194" name="Shape 194"/>
          <p:cNvSpPr/>
          <p:nvPr>
            <p:ph type="body" sz="quarter" idx="1"/>
          </p:nvPr>
        </p:nvSpPr>
        <p:spPr>
          <a:prstGeom prst="rect">
            <a:avLst/>
          </a:prstGeom>
        </p:spPr>
        <p:txBody>
          <a:bodyPr/>
          <a:lstStyle/>
          <a:p>
            <a:pPr/>
            <a:r>
              <a:t>I DO. 3 minutes. Five clicks: the four steps, then the working and the Hook answer. THE LITRE DEMONSTRATION IS DONE LIVE, AS EACH STEP APPEARS. Rehearse it once: it must fit in 3 minutes.</a:t>
            </a:r>
          </a:p>
          <a:p>
            <a:pPr/>
          </a:p>
          <a:p>
            <a:pPr/>
            <a:r>
              <a:t>OBJECTIVE 2 ONLY, per TEMPLATE.md. Why is so little usable? Because most water is salty, most fresh water is frozen, and most of the rest is underground. Each step on the slide is one reason, and the working under it shows each is a fraction OF THE ONE BEFORE.</a:t>
            </a:r>
          </a:p>
          <a:p>
            <a:pPr/>
          </a:p>
          <a:p>
            <a:pPr/>
            <a:r>
              <a:t>THE FIGURES WERE CHECKED FIRST (build/how-much-water-can-we-actually-use-check.py, from the USGS volumes of Shiklomanov and Gleick). Exact values, for you: salt water 974.7 mL (97.5%), fresh water 25.3 mL (2.53%), ice 17.6 mL, groundwater 7.6 mL, lakes, swamps and rivers 0.0755 mL. The slide rounds: 975, 25, 17.5, 7.5 and 0.075, all within 2% of the exact values. If a sharp student adds 17.5 and 7.5 and 0.075 and gets slightly more than 25, say it is rounding: the sources are estimates. About 0.02 mL more is soil moisture, air and living things, under half a drop: too small to measure or show.</a:t>
            </a:r>
          </a:p>
          <a:p>
            <a:pPr/>
          </a:p>
          <a:p>
            <a:pPr/>
            <a:r>
              <a:t>THE DEMONSTRATION. SET UP BEFORE THE LESSON: a 1 L jug or cylinder of water with a little blue food colouring (all the water on Earth, 1,000 mL); a bucket or large bowl labelled SALT WATER; a 25 mL measuring cylinder; two small beakers labelled ICE and GROUNDWATER; a dropper; a watch glass or white saucer; paper towel. Work out beforehand how many drops of YOUR dropper make 1 mL (often about 20, so a drop is 0.05 mL), because 0.075 mL is then 1.5 drops.</a:t>
            </a:r>
          </a:p>
          <a:p>
            <a:pPr/>
            <a:r>
              <a:t>Step 2: pour the salt water into the bucket until about 25 mL is left (you cannot read a litre jug to 25 mL, so pour the last bit into the 25 mL cylinder and top up or pour off to exactly 25). Step 3: pour 17.5 mL into the ICE beaker. Step 4: pour the remaining 7.5 mL into the GROUNDWATER beaker. What is left clinging to the cylinder is the lakes and rivers: put one and a half drops from the dropper on the watch glass and say "that is all of it". IF SHORT OF TIME, pre-pour the 975 mL before the lesson and show only steps 3 and 4.</a:t>
            </a:r>
          </a:p>
          <a:p>
            <a:pPr/>
          </a:p>
          <a:p>
            <a:pPr/>
            <a:r>
              <a:t>THE WORKING LINE IS THE WORKED EXAMPLE. Each step is a percentage of the PREVIOUS amount (2.5% of 1,000, then 30% of 25, then 0.3% of 25). The common worksheet error is taking 70% or 30% of the whole litre instead of the 25 mL: the worksheet has a "why" prompt on exactly that.</a:t>
            </a:r>
          </a:p>
          <a:p>
            <a:pPr/>
          </a:p>
          <a:p>
            <a:pPr/>
            <a:r>
              <a:t>SETTLE THE HOOK NOW, POINTING AT THE TALLY: "most of you voted ..." and read it off the board. The answer is C. Be honest about the limit: "usable" is a line we draw. Some groundwater CAN be reached, and wells and boreholes use it, but much of it is deep, costly to pump and very slow to refill (Do Now Q4, the Ogallala Aquifer), so the slide draws the line at lakes, swamps and rivers. Fresh water we can REACH and REFILL QUICKLY is what is left.</a:t>
            </a:r>
          </a:p>
          <a:p>
            <a:pPr/>
          </a:p>
          <a:p>
            <a:pPr/>
            <a:r>
              <a:t>WHERE THE IDEA REAPPEARS: the last line points to the We Do. If water is this scarce, how does the small share we use get refilled, and how fast?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Shape 272"/>
          <p:cNvSpPr/>
          <p:nvPr>
            <p:ph type="sldImg"/>
          </p:nvPr>
        </p:nvSpPr>
        <p:spPr>
          <a:prstGeom prst="rect">
            <a:avLst/>
          </a:prstGeom>
        </p:spPr>
        <p:txBody>
          <a:bodyPr/>
          <a:lstStyle/>
          <a:p>
            <a:pPr/>
          </a:p>
        </p:txBody>
      </p:sp>
      <p:sp>
        <p:nvSpPr>
          <p:cNvPr id="273" name="Shape 273"/>
          <p:cNvSpPr/>
          <p:nvPr>
            <p:ph type="body" sz="quarter" idx="1"/>
          </p:nvPr>
        </p:nvSpPr>
        <p:spPr>
          <a:prstGeom prst="rect">
            <a:avLst/>
          </a:prstGeom>
        </p:spPr>
        <p:txBody>
          <a:bodyPr/>
          <a:lstStyle/>
          <a:p>
            <a:pPr/>
            <a:r>
              <a:t>WE DO. 5 minutes. Four clicks: one per row, then the speeds. THE MODE IS "FINISH THIS ONE" (TEMPLATE.md): three partly worked journeys, and the class supplies the missing steps. The last lessons in the unit used spot-the-mistake, and the template says to alternate. THIS IS WHERE OBJECTIVE 3 IS TAUGHT, because the template gives each I Do one objective.</a:t>
            </a:r>
          </a:p>
          <a:p>
            <a:pPr/>
          </a:p>
          <a:p>
            <a:pPr/>
            <a:r>
              <a:t>THEY COMMIT BEFORE EACH REVEAL. Ask each table to agree the missing steps and say them, then click. Ask WHAT THEY DID, not just the answer: "how did you know the vapour cools into cloud?" Naming the reasoning is the point. They met the cycle in Year 7, so most of Row 1 should come quickly: say "you own this. Today is what it RETURNS, and how fast."</a:t>
            </a:r>
          </a:p>
          <a:p>
            <a:pPr/>
          </a:p>
          <a:p>
            <a:pPr/>
            <a:r>
              <a:t>ROW 1, ONE MISSING: the sea to rain. Evaporation needs heat from the Sun; condensation is the vapour cooling and turning back to liquid droplets, which make cloud. Precipitation is rain, snow, sleet or hail. THE KEY IDEA FOR OBJECTIVE 3: the sea is salty but evaporation LEAVES THE SALT BEHIND, so the cloud and the rain are fresh. That is how the cycle returns fresh water: it distils it. Say it.</a:t>
            </a:r>
          </a:p>
          <a:p>
            <a:pPr/>
            <a:r>
              <a:t>ROW 2, TWO MISSING: rain on a hill. It splits: runoff to a river, or infiltration into the ground to become groundwater. The last box sets up the speeds: the river refills in months, deep groundwater in thousands of years.</a:t>
            </a:r>
          </a:p>
          <a:p>
            <a:pPr/>
            <a:r>
              <a:t>ROW 3, THREE MISSING: snow on a mountain. Only the start is given. Snow builds into a glacier over years, melts in summer, and the meltwater refills rivers and lakes. THE ICE LANE IS SLOW: glaciers hold water for 20 to 100 years or more, ice in Antarctica for about 20,000.</a:t>
            </a:r>
          </a:p>
          <a:p>
            <a:pPr/>
          </a:p>
          <a:p>
            <a:pPr/>
            <a:r>
              <a:t>THE FOURTH CLICK, THE SPEEDS, IS THE POINT OF THE LESSON. Average residence times (from Physical Geography, as cited by Wikipedia's Water cycle article): the atmosphere about 9 days, rivers 2 to 6 months, lakes 50 to 100 years, shallow groundwater 100 to 200 years, deep groundwater about 10,000 years. THE WATER CYCLE RETURNS FRESH WATER AT VERY DIFFERENT SPEEDS. A river is refilled quickly, so it can be taken from; deep groundwater is refilled so slowly that taking it faster is, in practice, mining it. Link back to the unit: renewable or not is about the rate. These are AVERAGES, and they vary a lot between places.</a:t>
            </a:r>
          </a:p>
          <a:p>
            <a:pPr/>
          </a:p>
          <a:p>
            <a:pPr/>
            <a:r>
              <a:t>MISCONCEPTIONS. (1) "The water cycle makes new water." It moves the same water around; the total stays the same. (2) "Rain falls straight into rivers." Most first meets the ground; some runs off, some soaks in. IF SHORT OF TIME, cut the speeds line to the river, the lake and the deep groundwater.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Shape 321"/>
          <p:cNvSpPr/>
          <p:nvPr>
            <p:ph type="sldImg"/>
          </p:nvPr>
        </p:nvSpPr>
        <p:spPr>
          <a:prstGeom prst="rect">
            <a:avLst/>
          </a:prstGeom>
        </p:spPr>
        <p:txBody>
          <a:bodyPr/>
          <a:lstStyle/>
          <a:p>
            <a:pPr/>
          </a:p>
        </p:txBody>
      </p:sp>
      <p:sp>
        <p:nvSpPr>
          <p:cNvPr id="322" name="Shape 322"/>
          <p:cNvSpPr/>
          <p:nvPr>
            <p:ph type="body" sz="quarter" idx="1"/>
          </p:nvPr>
        </p:nvSpPr>
        <p:spPr>
          <a:prstGeom prst="rect">
            <a:avLst/>
          </a:prstGeom>
        </p:spPr>
        <p:txBody>
          <a:bodyPr/>
          <a:lstStyle/>
          <a:p>
            <a:pPr/>
            <a:r>
              <a:t>COLD CALL. 6 minutes. Six clicks. Name a student, then ask: thinking time first, no hands up, no whiteboards. If a student cannot answer, take it elsewhere and come back to them to repeat it.</a:t>
            </a:r>
          </a:p>
          <a:p>
            <a:pPr/>
          </a:p>
          <a:p>
            <a:pPr/>
            <a:r>
              <a:t>TWO OF THE SIX ARE FROM EARLIER LESSONS (TEMPLATE.md): Q5 (a renewable resource can still be depleted, from Resource Depletion) and Q6 (a sustainable amount, from Making It Last). Both are asked about WATER, so they are retrieval in a new shape.</a:t>
            </a:r>
          </a:p>
          <a:p>
            <a:pPr/>
          </a:p>
          <a:p>
            <a:pPr/>
            <a:r>
              <a:t>Q1 IS OBJECTIVE 1: take all three. Q2 IS OBJECTIVE 2 and needs "frozen" AND "far away", not just one. Q3 IS THE CALCULATION, a different volume from the demonstration: 4,000 × 2.5 ÷ 100 = 100 mL. Watch for 4,000 × 2.5 = 10,000 with no division (they stop at the multiplication), or 2.5% read as 25%. Q4 IS OBJECTIVE 3, THE SPEEDS: push for a reason ("rain falls into rivers directly; deep water moves through rock") and for the contrast in time, not just "it is slower".</a:t>
            </a:r>
          </a:p>
          <a:p>
            <a:pPr/>
          </a:p>
          <a:p>
            <a:pPr/>
            <a:r>
              <a:t>Q5 and Q6 should be fluent: if they are not, it is the previous lessons, not today. If a student says "the Aral Sea" for Q5, ask "what was the rate that went wrong?"</a:t>
            </a:r>
          </a:p>
          <a:p>
            <a:pPr/>
          </a:p>
          <a:p>
            <a:pPr/>
            <a:r>
              <a:t>IF MOST OF THE ROOM IS RIGHT BY Q4, spend longer on Q5. IF SHORT OF TIME, cut Q6.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Shape 347"/>
          <p:cNvSpPr/>
          <p:nvPr>
            <p:ph type="sldImg"/>
          </p:nvPr>
        </p:nvSpPr>
        <p:spPr>
          <a:prstGeom prst="rect">
            <a:avLst/>
          </a:prstGeom>
        </p:spPr>
        <p:txBody>
          <a:bodyPr/>
          <a:lstStyle/>
          <a:p>
            <a:pPr/>
          </a:p>
        </p:txBody>
      </p:sp>
      <p:sp>
        <p:nvSpPr>
          <p:cNvPr id="348" name="Shape 348"/>
          <p:cNvSpPr/>
          <p:nvPr>
            <p:ph type="body" sz="quarter" idx="1"/>
          </p:nvPr>
        </p:nvSpPr>
        <p:spPr>
          <a:prstGeom prst="rect">
            <a:avLst/>
          </a:prstGeom>
        </p:spPr>
        <p:txBody>
          <a:bodyPr/>
          <a:lstStyle/>
          <a:p>
            <a:pPr/>
            <a:r>
              <a:t>YOU DO. 14 minutes, then 3 to mark (the next slide). Four clicks: the three tiers, then the note. THE WORKSHEET IS THE TASK. There is no game today.</a:t>
            </a:r>
          </a:p>
          <a:p>
            <a:pPr/>
          </a:p>
          <a:p>
            <a:pPr/>
            <a:r>
              <a:t>THREE TIERS, THEY CHOOSE (TEMPLATE.md). BRONZE: sorting the sources, and taking a percentage of a volume, with a fully worked example, a half-worked one and a blank one. SILVER: the pours from the litre (percentage of a percentage), why ice and deep groundwater are out of reach, and the "why does that step work?" prompt. GOLD: the water cycle (a half-worked journey), a lake that is being drained faster than it refills (the unit's rate idea with real numbers), "where would you meet this outside the lesson", and the PREDICTION for the two jars. AIM FOR ABOUT FOUR RIGHT OUT OF FIVE on Bronze: if Bronze is producing lots of errors, the problem is the I Do, not the student.</a:t>
            </a:r>
          </a:p>
          <a:p>
            <a:pPr/>
          </a:p>
          <a:p>
            <a:pPr/>
            <a:r>
              <a:t>THE QUESTIONS ARE MIXED ON PURPOSE (interleaved): a calculation, then a sorting, then an explanation, so each one needs a decision about which method. The sheet says so. It feels harder and is meant to.</a:t>
            </a:r>
          </a:p>
          <a:p>
            <a:pPr/>
          </a:p>
          <a:p>
            <a:pPr/>
            <a:r>
              <a:t>THE WORST MISTAKE TO LOOK FOR: taking 70% or 30% of the whole litre instead of the 25 mL (Q8 is the prompt for it). A second: forgetting to divide by 100.</a:t>
            </a:r>
          </a:p>
          <a:p>
            <a:pPr/>
          </a:p>
          <a:p>
            <a:pPr/>
            <a:r>
              <a:t>THE JAR PREDICTION IS COMMITTED IN WRITING before anyone sees the result (PEDAGOGY.md): collect a few to compare in Lesson 4. THE WORKSHEET HAS A RAG GRID at the top: students colour the start column now and the end column at the end. Answers are printed UPSIDE DOWN on the last page.</a:t>
            </a:r>
          </a:p>
          <a:p>
            <a:pPr/>
          </a:p>
          <a:p>
            <a:pPr/>
            <a:r>
              <a:t>CIRCULATE WITH ONE QUESTION: "70% of what?" AT THE END OF 14 MINUTES, stop them and go straight to the Mark slide. It does not get absorbed into the You 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Shape 359"/>
          <p:cNvSpPr/>
          <p:nvPr>
            <p:ph type="sldImg"/>
          </p:nvPr>
        </p:nvSpPr>
        <p:spPr>
          <a:prstGeom prst="rect">
            <a:avLst/>
          </a:prstGeom>
        </p:spPr>
        <p:txBody>
          <a:bodyPr/>
          <a:lstStyle/>
          <a:p>
            <a:pPr/>
          </a:p>
        </p:txBody>
      </p:sp>
      <p:sp>
        <p:nvSpPr>
          <p:cNvPr id="360" name="Shape 360"/>
          <p:cNvSpPr/>
          <p:nvPr>
            <p:ph type="body" sz="quarter" idx="1"/>
          </p:nvPr>
        </p:nvSpPr>
        <p:spPr>
          <a:prstGeom prst="rect">
            <a:avLst/>
          </a:prstGeom>
        </p:spPr>
        <p:txBody>
          <a:bodyPr/>
          <a:lstStyle/>
          <a:p>
            <a:pPr/>
            <a:r>
              <a:t>MARK. 3 minutes. One click: the checklist. THE INSTRUCTION ON THE SLIDE IS "Turn to the back. Mark your own in a different colour." (TEMPLATE.md). This phase is not optional and is not absorbed into the You Do: marking straight after doing is a retrieval event and a feedback event at once.</a:t>
            </a:r>
          </a:p>
          <a:p>
            <a:pPr/>
          </a:p>
          <a:p>
            <a:pPr/>
            <a:r>
              <a:t>THE ANSWERS ARE PRINTED UPSIDE DOWN at the foot of the last worksheet page. The calculations have exact answers (Q1 75 mL, Q3 200 mL, Q6 30 mL, Q7 0.3 mL, Q12 20 years); the explanations say what a good answer contains. Q2 is the sorting. Q14, the jar prediction, has no wrong answer to mark, but they should have a reason, and they should keep it: you will ask for it in Lesson 4.</a:t>
            </a:r>
          </a:p>
          <a:p>
            <a:pPr/>
          </a:p>
          <a:p>
            <a:pPr/>
            <a:r>
              <a:t>WALK ROUND reading for the commonest mistake: 70% of 1,000 instead of 70% of 25. If someone has made it, ask "70% of WHAT?" and let them find it themselves.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Shape 391"/>
          <p:cNvSpPr/>
          <p:nvPr>
            <p:ph type="sldImg"/>
          </p:nvPr>
        </p:nvSpPr>
        <p:spPr>
          <a:prstGeom prst="rect">
            <a:avLst/>
          </a:prstGeom>
        </p:spPr>
        <p:txBody>
          <a:bodyPr/>
          <a:lstStyle/>
          <a:p>
            <a:pPr/>
          </a:p>
        </p:txBody>
      </p:sp>
      <p:sp>
        <p:nvSpPr>
          <p:cNvPr id="392" name="Shape 392"/>
          <p:cNvSpPr/>
          <p:nvPr>
            <p:ph type="body" sz="quarter" idx="1"/>
          </p:nvPr>
        </p:nvSpPr>
        <p:spPr>
          <a:prstGeom prst="rect">
            <a:avLst/>
          </a:prstGeom>
        </p:spPr>
        <p:txBody>
          <a:bodyPr/>
          <a:lstStyle/>
          <a:p>
            <a:pPr/>
            <a:r>
              <a:t>PLENARY. 3 minutes. Eleven clicks: each statement, then its answer, then the closing line about the jars.</a:t>
            </a:r>
          </a:p>
          <a:p>
            <a:pPr/>
          </a:p>
          <a:p>
            <a:pPr/>
            <a:r>
              <a:t>Q1 IS OBJECTIVE 1, PLAINLY TRUE (about 70%). Q2 IS THE BIG MISCONCEPTION AND OBJECTIVE 2: the Earth looks like a blue planet, but 97.5% of its water is salt water. If this splits the room, that is the first five minutes of next lesson, not a footnote.</a:t>
            </a:r>
          </a:p>
          <a:p>
            <a:pPr/>
            <a:r>
              <a:t>Q3 IS THE UNIT'S MISCONCEPTION, "rain keeps falling, so it cannot run out", and OBJECTIVE 3: the cycle returns fresh water, but only at its own speed. Point at the We Do speeds.</a:t>
            </a:r>
          </a:p>
          <a:p>
            <a:pPr/>
            <a:r>
              <a:t>Q4 IS THE APPLIED ITEM (TEMPLATE.md asks for at least one): it uses the unit's rate idea with numbers. Taking 10 million while 15 million is added is less than the lake replaces, so it is sustainable. Ask them to say "less than it replaces".</a:t>
            </a:r>
          </a:p>
          <a:p>
            <a:pPr/>
            <a:r>
              <a:t>Q5 IS OBJECTIVE 3 AGAIN, FLIPPED: rain does fall every week, but it does not reach deep groundwater quickly; it takes up to 10,000 years on average.</a:t>
            </a:r>
          </a:p>
          <a:p>
            <a:pPr/>
          </a:p>
          <a:p>
            <a:pPr/>
            <a:r>
              <a:t>THE CLOSING LINE IS NOT THE NEXT LESSON. TEMPLATE.md asks for what the next lesson does; Lessons 2 and 3 are not known, so it is not guessed. It points at the two jars (Lesson 4): CHANGE THIS LINE once Lessons 2 and 3 are decided.</a:t>
            </a:r>
          </a:p>
          <a:p>
            <a:pPr/>
          </a:p>
          <a:p>
            <a:pPr/>
            <a:r>
              <a:t>SET UP THE TWO JARS (about 2 minutes). THE LESSON IS TIMED TO 50 MINUTES AND THERE IS NO SPARE 2 MINUTES: do it as the class packs away, or ask two students to do it while the others finish marking. Do NOT take it from the plenary statements. YOU NEED two identical clear jars with lids, pond or aquarium (tank) water, not tap water (it must contain algae; tap water usually will not), and a general-purpose water-soluble plant fertiliser with nitrogen and phosphorus. Fill both jars to the same level with water from the same container. Add a pinch of fertiliser (about half a gram) to ONE jar and nothing to the other. Label them "Jar 1: nothing added" and "Jar 2: fertiliser added", with the date. Put them side by side on the same bright windowsill. Seal them and leave them. Do not open them.</a:t>
            </a:r>
          </a:p>
          <a:p>
            <a:pPr/>
            <a:r>
              <a:t>SAFETY. Follow your school's risk assessment (CLEAPSS hazard cards): pond water can carry germs, so wash hands after handling it, never open the jars once sealed, and handle the dry fertiliser with care and eye protection. It is an experiment with ONE difference, the fertiliser: say so, because it is a fair test, and they will meet the words independent variable and controlled variable again.</a:t>
            </a:r>
          </a:p>
          <a:p>
            <a:pPr/>
            <a:r>
              <a:t>WHAT SHOULD HAPPEN. The fertiliser feeds the algae already in the water, so they grow faster and the water turns green: eutrophication, in the room, over about two weeks. THIS IS LIKELY, NOT GUARANTEED. It depends on light and warmth, and on how much algae the water started with. Jar 1 may go slightly green too, only less: that is a comparison, not a failure. If neither changes by Lesson 4, say so honestly: nothing happening is still a result, and you can leave them another week. Keep the students' predictions (Q14) to read out then.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8.png"/><Relationship Id="rId8" Type="http://schemas.openxmlformats.org/officeDocument/2006/relationships/image" Target="../media/image3.png"/><Relationship Id="rId9" Type="http://schemas.openxmlformats.org/officeDocument/2006/relationships/image" Target="../media/image9.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10.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11.png"/><Relationship Id="rId6"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0A3550"/>
                </a:solidFill>
                <a:latin typeface="Georgia"/>
                <a:ea typeface="Georgia"/>
                <a:cs typeface="Georgia"/>
                <a:sym typeface="Georgia"/>
              </a:defRPr>
            </a:lvl1pPr>
          </a:lstStyle>
          <a:p>
            <a:pPr/>
            <a:r>
              <a:t>How Much Water Is Available</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4E6F82"/>
                </a:solidFill>
                <a:latin typeface="Arial"/>
                <a:ea typeface="Arial"/>
                <a:cs typeface="Arial"/>
                <a:sym typeface="Arial"/>
              </a:defRPr>
            </a:lvl1pPr>
          </a:lstStyle>
          <a:p>
            <a:pPr/>
            <a:r>
              <a:t>Wednesday 7 October 2026</a:t>
            </a:r>
          </a:p>
        </p:txBody>
      </p:sp>
      <p:sp>
        <p:nvSpPr>
          <p:cNvPr id="26" name="rule"/>
          <p:cNvSpPr/>
          <p:nvPr/>
        </p:nvSpPr>
        <p:spPr>
          <a:xfrm>
            <a:off x="1170432" y="896111"/>
            <a:ext cx="10472623" cy="36577"/>
          </a:xfrm>
          <a:prstGeom prst="rect">
            <a:avLst/>
          </a:prstGeom>
          <a:solidFill>
            <a:srgbClr val="4CC9FA"/>
          </a:solidFill>
          <a:ln w="12700">
            <a:solidFill>
              <a:srgbClr val="4CC9FA"/>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28" name="d0_badge"/>
          <p:cNvSpPr/>
          <p:nvPr/>
        </p:nvSpPr>
        <p:spPr>
          <a:xfrm>
            <a:off x="1371600" y="1426463"/>
            <a:ext cx="384048" cy="384049"/>
          </a:xfrm>
          <a:prstGeom prst="ellipse">
            <a:avLst/>
          </a:prstGeom>
          <a:solidFill>
            <a:srgbClr val="4CC9FA"/>
          </a:solidFill>
          <a:ln w="12700">
            <a:solidFill>
              <a:srgbClr val="4CC9FA"/>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1</a:t>
            </a:r>
          </a:p>
        </p:txBody>
      </p:sp>
      <p:sp>
        <p:nvSpPr>
          <p:cNvPr id="30" name="d0_q"/>
          <p:cNvSpPr txBox="1"/>
          <p:nvPr/>
        </p:nvSpPr>
        <p:spPr>
          <a:xfrm>
            <a:off x="1901951" y="1260483"/>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A reservoir holds 625 million litres and loses a fifth of what remains each year. A student says it will be empty after 5 years. Explain the mistake.</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300"/>
              </a:pPr>
            </a:p>
          </p:txBody>
        </p:sp>
        <p:sp>
          <p:nvSpPr>
            <p:cNvPr id="32" name="Each loss is a fifth of what is LEFT, so it shrinks. About 205 million litres remain by year 5."/>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A3550"/>
                  </a:solidFill>
                  <a:latin typeface="Arial"/>
                  <a:ea typeface="Arial"/>
                  <a:cs typeface="Arial"/>
                  <a:sym typeface="Arial"/>
                </a:defRPr>
              </a:lvl1pPr>
            </a:lstStyle>
            <a:p>
              <a:pPr/>
              <a:r>
                <a:t>Each loss is a fifth of what is LEFT, so it shrinks. About 205 million litres remain by year 5.</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35" name="d1_badge"/>
          <p:cNvSpPr/>
          <p:nvPr/>
        </p:nvSpPr>
        <p:spPr>
          <a:xfrm>
            <a:off x="6745072" y="1426463"/>
            <a:ext cx="384049" cy="384049"/>
          </a:xfrm>
          <a:prstGeom prst="ellipse">
            <a:avLst/>
          </a:prstGeom>
          <a:solidFill>
            <a:srgbClr val="4CC9FA"/>
          </a:solidFill>
          <a:ln w="12700">
            <a:solidFill>
              <a:srgbClr val="4CC9FA"/>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2</a:t>
            </a:r>
          </a:p>
        </p:txBody>
      </p:sp>
      <p:sp>
        <p:nvSpPr>
          <p:cNvPr id="37" name="d1_q"/>
          <p:cNvSpPr txBox="1"/>
          <p:nvPr/>
        </p:nvSpPr>
        <p:spPr>
          <a:xfrm>
            <a:off x="7275424" y="1260483"/>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Atlantic bluefin tuna were fished far faster than they could breed. State one thing introduced to protect them.</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300"/>
              </a:pPr>
            </a:p>
          </p:txBody>
        </p:sp>
        <p:sp>
          <p:nvSpPr>
            <p:cNvPr id="39" name="Strict international catch limits (quota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A3550"/>
                  </a:solidFill>
                  <a:latin typeface="Arial"/>
                  <a:ea typeface="Arial"/>
                  <a:cs typeface="Arial"/>
                  <a:sym typeface="Arial"/>
                </a:defRPr>
              </a:lvl1pPr>
            </a:lstStyle>
            <a:p>
              <a:pPr/>
              <a:r>
                <a:t>Strict international catch limits (quotas).</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42" name="d2_badge"/>
          <p:cNvSpPr/>
          <p:nvPr/>
        </p:nvSpPr>
        <p:spPr>
          <a:xfrm>
            <a:off x="1371600" y="3090672"/>
            <a:ext cx="384048" cy="384049"/>
          </a:xfrm>
          <a:prstGeom prst="ellipse">
            <a:avLst/>
          </a:prstGeom>
          <a:solidFill>
            <a:srgbClr val="4CC9FA"/>
          </a:solidFill>
          <a:ln w="12700">
            <a:solidFill>
              <a:srgbClr val="4CC9FA"/>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3</a:t>
            </a:r>
          </a:p>
        </p:txBody>
      </p:sp>
      <p:sp>
        <p:nvSpPr>
          <p:cNvPr id="44" name="d2_q"/>
          <p:cNvSpPr txBox="1"/>
          <p:nvPr/>
        </p:nvSpPr>
        <p:spPr>
          <a:xfrm>
            <a:off x="1901951" y="2924691"/>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A town takes 4 million litres of water a day from a river that refills at 5 million litres a day. State whether this is sustainable, and why.</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300"/>
              </a:pPr>
            </a:p>
          </p:txBody>
        </p:sp>
        <p:sp>
          <p:nvSpPr>
            <p:cNvPr id="46" name="Yes. It takes less than the river replace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A3550"/>
                  </a:solidFill>
                  <a:latin typeface="Arial"/>
                  <a:ea typeface="Arial"/>
                  <a:cs typeface="Arial"/>
                  <a:sym typeface="Arial"/>
                </a:defRPr>
              </a:lvl1pPr>
            </a:lstStyle>
            <a:p>
              <a:pPr/>
              <a:r>
                <a:t>Yes. It takes less than the river replaces.</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49" name="d3_badge"/>
          <p:cNvSpPr/>
          <p:nvPr/>
        </p:nvSpPr>
        <p:spPr>
          <a:xfrm>
            <a:off x="6745072" y="3090672"/>
            <a:ext cx="384049" cy="384049"/>
          </a:xfrm>
          <a:prstGeom prst="ellipse">
            <a:avLst/>
          </a:prstGeom>
          <a:solidFill>
            <a:srgbClr val="4CC9FA"/>
          </a:solidFill>
          <a:ln w="12700">
            <a:solidFill>
              <a:srgbClr val="4CC9FA"/>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4</a:t>
            </a:r>
          </a:p>
        </p:txBody>
      </p:sp>
      <p:sp>
        <p:nvSpPr>
          <p:cNvPr id="51" name="d3_q"/>
          <p:cNvSpPr txBox="1"/>
          <p:nvPr/>
        </p:nvSpPr>
        <p:spPr>
          <a:xfrm>
            <a:off x="7275424" y="2924691"/>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A farmer pumps groundwater that took 1,000 years to collect. Explain why it behaves like a non-renewable resource.</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300"/>
              </a:pPr>
            </a:p>
          </p:txBody>
        </p:sp>
        <p:sp>
          <p:nvSpPr>
            <p:cNvPr id="53" name="It is used far faster than it refills, so it will not come back in our lifetimes."/>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A3550"/>
                  </a:solidFill>
                  <a:latin typeface="Arial"/>
                  <a:ea typeface="Arial"/>
                  <a:cs typeface="Arial"/>
                  <a:sym typeface="Arial"/>
                </a:defRPr>
              </a:lvl1pPr>
            </a:lstStyle>
            <a:p>
              <a:pPr/>
              <a:r>
                <a:t>It is used far faster than it refills, so it will not come back in our lifetimes.</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56" name="d4_badge"/>
          <p:cNvSpPr/>
          <p:nvPr/>
        </p:nvSpPr>
        <p:spPr>
          <a:xfrm>
            <a:off x="1371600" y="4754879"/>
            <a:ext cx="384048" cy="384049"/>
          </a:xfrm>
          <a:prstGeom prst="ellipse">
            <a:avLst/>
          </a:prstGeom>
          <a:solidFill>
            <a:srgbClr val="4CC9FA"/>
          </a:solidFill>
          <a:ln w="12700">
            <a:solidFill>
              <a:srgbClr val="4CC9FA"/>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Name the substance dissolved in sea water that makes it unsafe to drink.</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300"/>
              </a:pPr>
            </a:p>
          </p:txBody>
        </p:sp>
        <p:sp>
          <p:nvSpPr>
            <p:cNvPr id="60" name="Salt, i.e. sodium chloride."/>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A3550"/>
                  </a:solidFill>
                  <a:latin typeface="Arial"/>
                  <a:ea typeface="Arial"/>
                  <a:cs typeface="Arial"/>
                  <a:sym typeface="Arial"/>
                </a:defRPr>
              </a:lvl1pPr>
            </a:lstStyle>
            <a:p>
              <a:pPr/>
              <a:r>
                <a:t>Salt, i.e. sodium chloride.</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63" name="d5_badge"/>
          <p:cNvSpPr/>
          <p:nvPr/>
        </p:nvSpPr>
        <p:spPr>
          <a:xfrm>
            <a:off x="6745072" y="4754879"/>
            <a:ext cx="384049" cy="384049"/>
          </a:xfrm>
          <a:prstGeom prst="ellipse">
            <a:avLst/>
          </a:prstGeom>
          <a:solidFill>
            <a:srgbClr val="4CC9FA"/>
          </a:solidFill>
          <a:ln w="12700">
            <a:solidFill>
              <a:srgbClr val="4CC9FA"/>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6</a:t>
            </a:r>
          </a:p>
        </p:txBody>
      </p:sp>
      <p:sp>
        <p:nvSpPr>
          <p:cNvPr id="65" name="d5_q"/>
          <p:cNvSpPr txBox="1"/>
          <p:nvPr/>
        </p:nvSpPr>
        <p:spPr>
          <a:xfrm>
            <a:off x="7275424"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Where does the water in rain come from in the first place? Say as much as you can.</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300"/>
              </a:pPr>
            </a:p>
          </p:txBody>
        </p:sp>
        <p:sp>
          <p:nvSpPr>
            <p:cNvPr id="67" name="Mostly the sea: the Sun evaporates it, then it cools and condenses into cloud."/>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A3550"/>
                  </a:solidFill>
                  <a:latin typeface="Arial"/>
                  <a:ea typeface="Arial"/>
                  <a:cs typeface="Arial"/>
                  <a:sym typeface="Arial"/>
                </a:defRPr>
              </a:lvl1pPr>
            </a:lstStyle>
            <a:p>
              <a:pPr/>
              <a:r>
                <a:t>Mostly the sea: the Sun evaporates it, then it cools and condenses into cloud.</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40" grpId="3"/>
      <p:bldP build="whole" bldLvl="1" animBg="1" rev="0" advAuto="0" spid="68" grpId="7"/>
      <p:bldP build="whole" bldLvl="1" animBg="1" rev="0" advAuto="0" spid="47" grpId="4"/>
      <p:bldP build="whole" bldLvl="1" animBg="1" rev="0" advAuto="0" spid="54" grpId="5"/>
      <p:bldP build="whole" bldLvl="1" animBg="1" rev="0" advAuto="0" spid="33" grpId="2"/>
      <p:bldP build="whole" bldLvl="1" animBg="1" rev="0" advAuto="0" spid="61" grpId="6"/>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A3550"/>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4CC9FA"/>
            </a:solidFill>
            <a:ln w="12700" cap="flat">
              <a:solidFill>
                <a:srgbClr val="4CC9FA"/>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A3550"/>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B2A3C"/>
                  </a:solidFill>
                  <a:latin typeface="Arial"/>
                  <a:ea typeface="Arial"/>
                  <a:cs typeface="Arial"/>
                  <a:sym typeface="Arial"/>
                </a:defRPr>
              </a:lvl1pPr>
            </a:lstStyle>
            <a:p>
              <a:pPr/>
              <a:r>
                <a:t>Name the sources of freshwater.</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4CC9FA"/>
            </a:solidFill>
            <a:ln w="12700" cap="flat">
              <a:solidFill>
                <a:srgbClr val="4CC9FA"/>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A3550"/>
                  </a:solidFill>
                  <a:latin typeface="Georgia"/>
                  <a:ea typeface="Georgia"/>
                  <a:cs typeface="Georgia"/>
                  <a:sym typeface="Georgia"/>
                </a:defRPr>
              </a:lvl1pPr>
            </a:lstStyle>
            <a:p>
              <a:pPr/>
              <a:r>
                <a:t>2</a:t>
              </a:r>
            </a:p>
          </p:txBody>
        </p:sp>
        <p:sp>
          <p:nvSpPr>
            <p:cNvPr id="85" name="o1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B2A3C"/>
                  </a:solidFill>
                  <a:latin typeface="Arial"/>
                  <a:ea typeface="Arial"/>
                  <a:cs typeface="Arial"/>
                  <a:sym typeface="Arial"/>
                </a:defRPr>
              </a:lvl1pPr>
            </a:lstStyle>
            <a:p>
              <a:pPr/>
              <a:r>
                <a:t>Explain why only a small fraction of Earth’s water is usable.</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4CC9FA"/>
            </a:solidFill>
            <a:ln w="12700" cap="flat">
              <a:solidFill>
                <a:srgbClr val="4CC9FA"/>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A3550"/>
                  </a:solidFill>
                  <a:latin typeface="Georgia"/>
                  <a:ea typeface="Georgia"/>
                  <a:cs typeface="Georgia"/>
                  <a:sym typeface="Georgia"/>
                </a:defRPr>
              </a:lvl1pPr>
            </a:lstStyle>
            <a:p>
              <a:pPr/>
              <a:r>
                <a:t>3</a:t>
              </a:r>
            </a:p>
          </p:txBody>
        </p:sp>
        <p:sp>
          <p:nvSpPr>
            <p:cNvPr id="90" name="o2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B2A3C"/>
                  </a:solidFill>
                  <a:latin typeface="Arial"/>
                  <a:ea typeface="Arial"/>
                  <a:cs typeface="Arial"/>
                  <a:sym typeface="Arial"/>
                </a:defRPr>
              </a:lvl1pPr>
            </a:lstStyle>
            <a:p>
              <a:pPr/>
              <a:r>
                <a:t>Describe how the water cycle returns freshwater.</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0A3550"/>
            </a:solidFill>
            <a:ln w="9525" cap="flat">
              <a:solidFill>
                <a:srgbClr val="0A3550"/>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Only a tiny fraction of Earth’s water is fresh and easy to reach, and the water cycle refills it."/>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4CC9FA"/>
                  </a:solidFill>
                  <a:latin typeface="Arial"/>
                  <a:ea typeface="Arial"/>
                  <a:cs typeface="Arial"/>
                  <a:sym typeface="Arial"/>
                </a:defRPr>
              </a:pPr>
              <a:r>
                <a:t>Only a </a:t>
              </a:r>
              <a:r>
                <a:rPr u="sng"/>
                <a:t>tiny fraction</a:t>
              </a:r>
              <a:r>
                <a:t> of Earth’s water is fresh and easy to reach, and the </a:t>
              </a:r>
              <a:r>
                <a:rPr u="sng"/>
                <a:t>water cycle</a:t>
              </a:r>
              <a:r>
                <a:t> refills it.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94" grpId="5"/>
      <p:bldP build="whole" bldLvl="1" animBg="1" rev="0" advAuto="0" spid="81" grpId="2"/>
      <p:bldP build="whole" bldLvl="1" animBg="1" rev="0" advAuto="0" spid="86" grpId="3"/>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054328"/>
            <a:ext cx="9055304" cy="65283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600"/>
              </a:lnSpc>
              <a:defRPr b="1" sz="2100">
                <a:solidFill>
                  <a:srgbClr val="0A3550"/>
                </a:solidFill>
                <a:latin typeface="Georgia"/>
                <a:ea typeface="Georgia"/>
                <a:cs typeface="Georgia"/>
                <a:sym typeface="Georgia"/>
              </a:defRPr>
            </a:lvl1pPr>
          </a:lstStyle>
          <a:p>
            <a:pPr/>
            <a:r>
              <a:t>Imagine all the water on Earth in a one-litre bottle. How much of it is fresh water in lakes and rivers?</a:t>
            </a:r>
          </a:p>
        </p:txBody>
      </p:sp>
      <p:pic>
        <p:nvPicPr>
          <p:cNvPr id="103" name="hook_bottle" descr="hook_bottle"/>
          <p:cNvPicPr>
            <a:picLocks noChangeAspect="1"/>
          </p:cNvPicPr>
          <p:nvPr/>
        </p:nvPicPr>
        <p:blipFill>
          <a:blip r:embed="rId6">
            <a:extLst/>
          </a:blip>
          <a:stretch>
            <a:fillRect/>
          </a:stretch>
        </p:blipFill>
        <p:spPr>
          <a:xfrm>
            <a:off x="10362895" y="822960"/>
            <a:ext cx="1188721" cy="1188721"/>
          </a:xfrm>
          <a:prstGeom prst="rect">
            <a:avLst/>
          </a:prstGeom>
          <a:ln w="12700">
            <a:miter lim="400000"/>
          </a:ln>
        </p:spPr>
      </p:pic>
      <p:grpSp>
        <p:nvGrpSpPr>
          <p:cNvPr id="107" name="h0"/>
          <p:cNvGrpSpPr/>
          <p:nvPr/>
        </p:nvGrpSpPr>
        <p:grpSpPr>
          <a:xfrm>
            <a:off x="1170432" y="2487167"/>
            <a:ext cx="3307994" cy="1828801"/>
            <a:chOff x="0" y="0"/>
            <a:chExt cx="3307993" cy="1828800"/>
          </a:xfrm>
        </p:grpSpPr>
        <p:sp>
          <p:nvSpPr>
            <p:cNvPr id="104" name="h0_bg"/>
            <p:cNvSpPr/>
            <p:nvPr/>
          </p:nvSpPr>
          <p:spPr>
            <a:xfrm>
              <a:off x="0" y="0"/>
              <a:ext cx="3307994" cy="1828800"/>
            </a:xfrm>
            <a:prstGeom prst="roundRect">
              <a:avLst>
                <a:gd name="adj" fmla="val 5000"/>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23A52"/>
                  </a:solidFill>
                  <a:latin typeface="Georgia"/>
                  <a:ea typeface="Georgia"/>
                  <a:cs typeface="Georgia"/>
                  <a:sym typeface="Georgia"/>
                </a:defRPr>
              </a:lvl1pPr>
            </a:lstStyle>
            <a:p>
              <a:pPr/>
              <a:r>
                <a:t>A</a:t>
              </a:r>
            </a:p>
          </p:txBody>
        </p:sp>
        <p:sp>
          <p:nvSpPr>
            <p:cNvPr id="106" name="h0_t"/>
            <p:cNvSpPr txBox="1"/>
            <p:nvPr/>
          </p:nvSpPr>
          <p:spPr>
            <a:xfrm>
              <a:off x="256032" y="676655"/>
              <a:ext cx="2795930" cy="2837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300"/>
                </a:lnSpc>
                <a:defRPr b="1">
                  <a:solidFill>
                    <a:srgbClr val="0A3550"/>
                  </a:solidFill>
                  <a:latin typeface="Georgia"/>
                  <a:ea typeface="Georgia"/>
                  <a:cs typeface="Georgia"/>
                  <a:sym typeface="Georgia"/>
                </a:defRPr>
              </a:lvl1pPr>
            </a:lstStyle>
            <a:p>
              <a:pPr/>
              <a:r>
                <a:t>About a glass (250 mL)</a:t>
              </a:r>
            </a:p>
          </p:txBody>
        </p:sp>
      </p:grpSp>
      <p:grpSp>
        <p:nvGrpSpPr>
          <p:cNvPr id="111" name="h1"/>
          <p:cNvGrpSpPr/>
          <p:nvPr/>
        </p:nvGrpSpPr>
        <p:grpSpPr>
          <a:xfrm>
            <a:off x="4752745" y="2487167"/>
            <a:ext cx="3307995" cy="1828801"/>
            <a:chOff x="0" y="0"/>
            <a:chExt cx="3307993" cy="1828800"/>
          </a:xfrm>
        </p:grpSpPr>
        <p:sp>
          <p:nvSpPr>
            <p:cNvPr id="108" name="h1_bg"/>
            <p:cNvSpPr/>
            <p:nvPr/>
          </p:nvSpPr>
          <p:spPr>
            <a:xfrm>
              <a:off x="0" y="0"/>
              <a:ext cx="3307994" cy="1828800"/>
            </a:xfrm>
            <a:prstGeom prst="roundRect">
              <a:avLst>
                <a:gd name="adj" fmla="val 5000"/>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23A52"/>
                  </a:solidFill>
                  <a:latin typeface="Georgia"/>
                  <a:ea typeface="Georgia"/>
                  <a:cs typeface="Georgia"/>
                  <a:sym typeface="Georgia"/>
                </a:defRPr>
              </a:lvl1pPr>
            </a:lstStyle>
            <a:p>
              <a:pPr/>
              <a:r>
                <a:t>B</a:t>
              </a:r>
            </a:p>
          </p:txBody>
        </p:sp>
        <p:sp>
          <p:nvSpPr>
            <p:cNvPr id="110" name="h1_t"/>
            <p:cNvSpPr txBox="1"/>
            <p:nvPr/>
          </p:nvSpPr>
          <p:spPr>
            <a:xfrm>
              <a:off x="256032" y="676655"/>
              <a:ext cx="2795930" cy="5758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300"/>
                </a:lnSpc>
                <a:defRPr b="1">
                  <a:solidFill>
                    <a:srgbClr val="0A3550"/>
                  </a:solidFill>
                  <a:latin typeface="Georgia"/>
                  <a:ea typeface="Georgia"/>
                  <a:cs typeface="Georgia"/>
                  <a:sym typeface="Georgia"/>
                </a:defRPr>
              </a:lvl1pPr>
            </a:lstStyle>
            <a:p>
              <a:pPr/>
              <a:r>
                <a:t>About a spoonful (5 mL)</a:t>
              </a:r>
            </a:p>
          </p:txBody>
        </p:sp>
      </p:grpSp>
      <p:grpSp>
        <p:nvGrpSpPr>
          <p:cNvPr id="115" name="h2"/>
          <p:cNvGrpSpPr/>
          <p:nvPr/>
        </p:nvGrpSpPr>
        <p:grpSpPr>
          <a:xfrm>
            <a:off x="8335061" y="2487167"/>
            <a:ext cx="3307994" cy="1828801"/>
            <a:chOff x="0" y="0"/>
            <a:chExt cx="3307993" cy="1828800"/>
          </a:xfrm>
        </p:grpSpPr>
        <p:sp>
          <p:nvSpPr>
            <p:cNvPr id="112" name="h2_bg"/>
            <p:cNvSpPr/>
            <p:nvPr/>
          </p:nvSpPr>
          <p:spPr>
            <a:xfrm>
              <a:off x="0" y="0"/>
              <a:ext cx="3307994" cy="1828800"/>
            </a:xfrm>
            <a:prstGeom prst="roundRect">
              <a:avLst>
                <a:gd name="adj" fmla="val 5000"/>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23A52"/>
                  </a:solidFill>
                  <a:latin typeface="Georgia"/>
                  <a:ea typeface="Georgia"/>
                  <a:cs typeface="Georgia"/>
                  <a:sym typeface="Georgia"/>
                </a:defRPr>
              </a:lvl1pPr>
            </a:lstStyle>
            <a:p>
              <a:pPr/>
              <a:r>
                <a:t>C</a:t>
              </a:r>
            </a:p>
          </p:txBody>
        </p:sp>
        <p:sp>
          <p:nvSpPr>
            <p:cNvPr id="114" name="h2_t"/>
            <p:cNvSpPr txBox="1"/>
            <p:nvPr/>
          </p:nvSpPr>
          <p:spPr>
            <a:xfrm>
              <a:off x="256032" y="676655"/>
              <a:ext cx="2795930" cy="2837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300"/>
                </a:lnSpc>
                <a:defRPr b="1">
                  <a:solidFill>
                    <a:srgbClr val="0A3550"/>
                  </a:solidFill>
                  <a:latin typeface="Georgia"/>
                  <a:ea typeface="Georgia"/>
                  <a:cs typeface="Georgia"/>
                  <a:sym typeface="Georgia"/>
                </a:defRPr>
              </a:lvl1pPr>
            </a:lstStyle>
            <a:p>
              <a:pPr/>
              <a:r>
                <a:t>About one or two drops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07" grpId="2"/>
      <p:bldP build="whole" bldLvl="1" animBg="1" rev="0" advAuto="0" spid="111" grpId="3"/>
      <p:bldP build="whole" bldLvl="1" animBg="1" rev="0" advAuto="0" spid="115"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A3550"/>
                </a:solidFill>
                <a:latin typeface="Georgia"/>
                <a:ea typeface="Georgia"/>
                <a:cs typeface="Georgia"/>
                <a:sym typeface="Georgia"/>
              </a:defRPr>
            </a:lvl1pPr>
          </a:lstStyle>
          <a:p>
            <a:pPr/>
            <a:r>
              <a:t>Where fresh water is found</a:t>
            </a:r>
          </a:p>
        </p:txBody>
      </p:sp>
      <p:grpSp>
        <p:nvGrpSpPr>
          <p:cNvPr id="129" name="iceg"/>
          <p:cNvGrpSpPr/>
          <p:nvPr/>
        </p:nvGrpSpPr>
        <p:grpSpPr>
          <a:xfrm>
            <a:off x="1170432" y="1865376"/>
            <a:ext cx="2467281" cy="2286001"/>
            <a:chOff x="0" y="0"/>
            <a:chExt cx="2467280" cy="2286000"/>
          </a:xfrm>
        </p:grpSpPr>
        <p:sp>
          <p:nvSpPr>
            <p:cNvPr id="124" name="ice_bg"/>
            <p:cNvSpPr/>
            <p:nvPr/>
          </p:nvSpPr>
          <p:spPr>
            <a:xfrm>
              <a:off x="0" y="0"/>
              <a:ext cx="2467281" cy="2286000"/>
            </a:xfrm>
            <a:prstGeom prst="roundRect">
              <a:avLst>
                <a:gd name="adj" fmla="val 4000"/>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25" name="ice_icon" descr="ice_icon"/>
            <p:cNvPicPr>
              <a:picLocks noChangeAspect="1"/>
            </p:cNvPicPr>
            <p:nvPr/>
          </p:nvPicPr>
          <p:blipFill>
            <a:blip r:embed="rId6">
              <a:extLst/>
            </a:blip>
            <a:stretch>
              <a:fillRect/>
            </a:stretch>
          </p:blipFill>
          <p:spPr>
            <a:xfrm>
              <a:off x="182880" y="164591"/>
              <a:ext cx="512064" cy="512065"/>
            </a:xfrm>
            <a:prstGeom prst="rect">
              <a:avLst/>
            </a:prstGeom>
            <a:ln w="12700" cap="flat">
              <a:noFill/>
              <a:miter lim="400000"/>
            </a:ln>
            <a:effectLst/>
          </p:spPr>
        </p:pic>
        <p:sp>
          <p:nvSpPr>
            <p:cNvPr id="126" name="ice_h"/>
            <p:cNvSpPr txBox="1"/>
            <p:nvPr/>
          </p:nvSpPr>
          <p:spPr>
            <a:xfrm>
              <a:off x="182880" y="749807"/>
              <a:ext cx="2101521" cy="3763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b="1" spc="50" sz="1200">
                  <a:solidFill>
                    <a:srgbClr val="0A3550"/>
                  </a:solidFill>
                  <a:latin typeface="Georgia"/>
                  <a:ea typeface="Georgia"/>
                  <a:cs typeface="Georgia"/>
                  <a:sym typeface="Georgia"/>
                </a:defRPr>
              </a:lvl1pPr>
            </a:lstStyle>
            <a:p>
              <a:pPr/>
              <a:r>
                <a:t>ICE CAPS AND GLACIERS</a:t>
              </a:r>
            </a:p>
          </p:txBody>
        </p:sp>
        <p:sp>
          <p:nvSpPr>
            <p:cNvPr id="127" name="ice_pct"/>
            <p:cNvSpPr txBox="1"/>
            <p:nvPr/>
          </p:nvSpPr>
          <p:spPr>
            <a:xfrm>
              <a:off x="182880" y="1282446"/>
              <a:ext cx="2101521"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0369A1"/>
                  </a:solidFill>
                  <a:latin typeface="Georgia"/>
                  <a:ea typeface="Georgia"/>
                  <a:cs typeface="Georgia"/>
                  <a:sym typeface="Georgia"/>
                </a:defRPr>
              </a:lvl1pPr>
            </a:lstStyle>
            <a:p>
              <a:pPr/>
              <a:r>
                <a:t>about 70%</a:t>
              </a:r>
            </a:p>
          </p:txBody>
        </p:sp>
        <p:sp>
          <p:nvSpPr>
            <p:cNvPr id="128" name="ice_t"/>
            <p:cNvSpPr txBox="1"/>
            <p:nvPr/>
          </p:nvSpPr>
          <p:spPr>
            <a:xfrm>
              <a:off x="182880" y="1700783"/>
              <a:ext cx="2101521" cy="3751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0B2A3C"/>
                  </a:solidFill>
                  <a:latin typeface="Arial"/>
                  <a:ea typeface="Arial"/>
                  <a:cs typeface="Arial"/>
                  <a:sym typeface="Arial"/>
                </a:defRPr>
              </a:lvl1pPr>
            </a:lstStyle>
            <a:p>
              <a:pPr/>
              <a:r>
                <a:t>Frozen, mostly in Antarctica and Greenland.</a:t>
              </a:r>
            </a:p>
          </p:txBody>
        </p:sp>
      </p:grpSp>
      <p:grpSp>
        <p:nvGrpSpPr>
          <p:cNvPr id="135" name="gwg"/>
          <p:cNvGrpSpPr/>
          <p:nvPr/>
        </p:nvGrpSpPr>
        <p:grpSpPr>
          <a:xfrm>
            <a:off x="3838880" y="1865376"/>
            <a:ext cx="2467281" cy="2286001"/>
            <a:chOff x="0" y="0"/>
            <a:chExt cx="2467280" cy="2286000"/>
          </a:xfrm>
        </p:grpSpPr>
        <p:sp>
          <p:nvSpPr>
            <p:cNvPr id="130" name="gw_bg"/>
            <p:cNvSpPr/>
            <p:nvPr/>
          </p:nvSpPr>
          <p:spPr>
            <a:xfrm>
              <a:off x="0" y="0"/>
              <a:ext cx="2467281" cy="2286000"/>
            </a:xfrm>
            <a:prstGeom prst="roundRect">
              <a:avLst>
                <a:gd name="adj" fmla="val 4000"/>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31" name="gw_icon" descr="gw_icon"/>
            <p:cNvPicPr>
              <a:picLocks noChangeAspect="1"/>
            </p:cNvPicPr>
            <p:nvPr/>
          </p:nvPicPr>
          <p:blipFill>
            <a:blip r:embed="rId7">
              <a:extLst/>
            </a:blip>
            <a:stretch>
              <a:fillRect/>
            </a:stretch>
          </p:blipFill>
          <p:spPr>
            <a:xfrm>
              <a:off x="182880" y="164591"/>
              <a:ext cx="512064" cy="512065"/>
            </a:xfrm>
            <a:prstGeom prst="rect">
              <a:avLst/>
            </a:prstGeom>
            <a:ln w="12700" cap="flat">
              <a:noFill/>
              <a:miter lim="400000"/>
            </a:ln>
            <a:effectLst/>
          </p:spPr>
        </p:pic>
        <p:sp>
          <p:nvSpPr>
            <p:cNvPr id="132" name="gw_h"/>
            <p:cNvSpPr txBox="1"/>
            <p:nvPr/>
          </p:nvSpPr>
          <p:spPr>
            <a:xfrm>
              <a:off x="182880" y="749807"/>
              <a:ext cx="2101521" cy="1858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b="1" spc="50" sz="1200">
                  <a:solidFill>
                    <a:srgbClr val="0A3550"/>
                  </a:solidFill>
                  <a:latin typeface="Georgia"/>
                  <a:ea typeface="Georgia"/>
                  <a:cs typeface="Georgia"/>
                  <a:sym typeface="Georgia"/>
                </a:defRPr>
              </a:lvl1pPr>
            </a:lstStyle>
            <a:p>
              <a:pPr/>
              <a:r>
                <a:t>GROUNDWATER</a:t>
              </a:r>
            </a:p>
          </p:txBody>
        </p:sp>
        <p:sp>
          <p:nvSpPr>
            <p:cNvPr id="133" name="gw_pct"/>
            <p:cNvSpPr txBox="1"/>
            <p:nvPr/>
          </p:nvSpPr>
          <p:spPr>
            <a:xfrm>
              <a:off x="182880" y="1282446"/>
              <a:ext cx="2101521"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0369A1"/>
                  </a:solidFill>
                  <a:latin typeface="Georgia"/>
                  <a:ea typeface="Georgia"/>
                  <a:cs typeface="Georgia"/>
                  <a:sym typeface="Georgia"/>
                </a:defRPr>
              </a:lvl1pPr>
            </a:lstStyle>
            <a:p>
              <a:pPr/>
              <a:r>
                <a:t>about 30%</a:t>
              </a:r>
            </a:p>
          </p:txBody>
        </p:sp>
        <p:sp>
          <p:nvSpPr>
            <p:cNvPr id="134" name="gw_t"/>
            <p:cNvSpPr txBox="1"/>
            <p:nvPr/>
          </p:nvSpPr>
          <p:spPr>
            <a:xfrm>
              <a:off x="182880" y="1700783"/>
              <a:ext cx="2101521" cy="3751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0B2A3C"/>
                  </a:solidFill>
                  <a:latin typeface="Arial"/>
                  <a:ea typeface="Arial"/>
                  <a:cs typeface="Arial"/>
                  <a:sym typeface="Arial"/>
                </a:defRPr>
              </a:lvl1pPr>
            </a:lstStyle>
            <a:p>
              <a:pPr/>
              <a:r>
                <a:t>Underground, in the tiny gaps in rock and soil.</a:t>
              </a:r>
            </a:p>
          </p:txBody>
        </p:sp>
      </p:grpSp>
      <p:grpSp>
        <p:nvGrpSpPr>
          <p:cNvPr id="141" name="swg"/>
          <p:cNvGrpSpPr/>
          <p:nvPr/>
        </p:nvGrpSpPr>
        <p:grpSpPr>
          <a:xfrm>
            <a:off x="6507328" y="1865376"/>
            <a:ext cx="2467281" cy="2286001"/>
            <a:chOff x="0" y="0"/>
            <a:chExt cx="2467280" cy="2286000"/>
          </a:xfrm>
        </p:grpSpPr>
        <p:sp>
          <p:nvSpPr>
            <p:cNvPr id="136" name="sw_bg"/>
            <p:cNvSpPr/>
            <p:nvPr/>
          </p:nvSpPr>
          <p:spPr>
            <a:xfrm>
              <a:off x="0" y="0"/>
              <a:ext cx="2467281" cy="2286000"/>
            </a:xfrm>
            <a:prstGeom prst="roundRect">
              <a:avLst>
                <a:gd name="adj" fmla="val 4000"/>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37" name="sw_icon" descr="sw_icon"/>
            <p:cNvPicPr>
              <a:picLocks noChangeAspect="1"/>
            </p:cNvPicPr>
            <p:nvPr/>
          </p:nvPicPr>
          <p:blipFill>
            <a:blip r:embed="rId8">
              <a:extLst/>
            </a:blip>
            <a:stretch>
              <a:fillRect/>
            </a:stretch>
          </p:blipFill>
          <p:spPr>
            <a:xfrm>
              <a:off x="182880" y="164591"/>
              <a:ext cx="512064" cy="512065"/>
            </a:xfrm>
            <a:prstGeom prst="rect">
              <a:avLst/>
            </a:prstGeom>
            <a:ln w="12700" cap="flat">
              <a:noFill/>
              <a:miter lim="400000"/>
            </a:ln>
            <a:effectLst/>
          </p:spPr>
        </p:pic>
        <p:sp>
          <p:nvSpPr>
            <p:cNvPr id="138" name="sw_h"/>
            <p:cNvSpPr txBox="1"/>
            <p:nvPr/>
          </p:nvSpPr>
          <p:spPr>
            <a:xfrm>
              <a:off x="182880" y="749807"/>
              <a:ext cx="2101521" cy="3763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b="1" spc="50" sz="1200">
                  <a:solidFill>
                    <a:srgbClr val="0A3550"/>
                  </a:solidFill>
                  <a:latin typeface="Georgia"/>
                  <a:ea typeface="Georgia"/>
                  <a:cs typeface="Georgia"/>
                  <a:sym typeface="Georgia"/>
                </a:defRPr>
              </a:lvl1pPr>
            </a:lstStyle>
            <a:p>
              <a:pPr/>
              <a:r>
                <a:t>LAKES, RIVERS AND SWAMPS</a:t>
              </a:r>
            </a:p>
          </p:txBody>
        </p:sp>
        <p:sp>
          <p:nvSpPr>
            <p:cNvPr id="139" name="sw_pct"/>
            <p:cNvSpPr txBox="1"/>
            <p:nvPr/>
          </p:nvSpPr>
          <p:spPr>
            <a:xfrm>
              <a:off x="182880" y="1282446"/>
              <a:ext cx="2101521"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0369A1"/>
                  </a:solidFill>
                  <a:latin typeface="Georgia"/>
                  <a:ea typeface="Georgia"/>
                  <a:cs typeface="Georgia"/>
                  <a:sym typeface="Georgia"/>
                </a:defRPr>
              </a:lvl1pPr>
            </a:lstStyle>
            <a:p>
              <a:pPr/>
              <a:r>
                <a:t>about 0.3%</a:t>
              </a:r>
            </a:p>
          </p:txBody>
        </p:sp>
        <p:sp>
          <p:nvSpPr>
            <p:cNvPr id="140" name="sw_t"/>
            <p:cNvSpPr txBox="1"/>
            <p:nvPr/>
          </p:nvSpPr>
          <p:spPr>
            <a:xfrm>
              <a:off x="182880" y="1700783"/>
              <a:ext cx="2101521" cy="3751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0B2A3C"/>
                  </a:solidFill>
                  <a:latin typeface="Arial"/>
                  <a:ea typeface="Arial"/>
                  <a:cs typeface="Arial"/>
                  <a:sym typeface="Arial"/>
                </a:defRPr>
              </a:lvl1pPr>
            </a:lstStyle>
            <a:p>
              <a:pPr/>
              <a:r>
                <a:t>On the surface. Where most people get their water.</a:t>
              </a:r>
            </a:p>
          </p:txBody>
        </p:sp>
      </p:grpSp>
      <p:grpSp>
        <p:nvGrpSpPr>
          <p:cNvPr id="147" name="otg"/>
          <p:cNvGrpSpPr/>
          <p:nvPr/>
        </p:nvGrpSpPr>
        <p:grpSpPr>
          <a:xfrm>
            <a:off x="9175774" y="1865376"/>
            <a:ext cx="2467281" cy="2286001"/>
            <a:chOff x="0" y="0"/>
            <a:chExt cx="2467280" cy="2286000"/>
          </a:xfrm>
        </p:grpSpPr>
        <p:sp>
          <p:nvSpPr>
            <p:cNvPr id="142" name="ot_bg"/>
            <p:cNvSpPr/>
            <p:nvPr/>
          </p:nvSpPr>
          <p:spPr>
            <a:xfrm>
              <a:off x="0" y="0"/>
              <a:ext cx="2467281" cy="2286000"/>
            </a:xfrm>
            <a:prstGeom prst="roundRect">
              <a:avLst>
                <a:gd name="adj" fmla="val 4000"/>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43" name="ot_icon" descr="ot_icon"/>
            <p:cNvPicPr>
              <a:picLocks noChangeAspect="1"/>
            </p:cNvPicPr>
            <p:nvPr/>
          </p:nvPicPr>
          <p:blipFill>
            <a:blip r:embed="rId9">
              <a:extLst/>
            </a:blip>
            <a:stretch>
              <a:fillRect/>
            </a:stretch>
          </p:blipFill>
          <p:spPr>
            <a:xfrm>
              <a:off x="182880" y="164591"/>
              <a:ext cx="512064" cy="512065"/>
            </a:xfrm>
            <a:prstGeom prst="rect">
              <a:avLst/>
            </a:prstGeom>
            <a:ln w="12700" cap="flat">
              <a:noFill/>
              <a:miter lim="400000"/>
            </a:ln>
            <a:effectLst/>
          </p:spPr>
        </p:pic>
        <p:sp>
          <p:nvSpPr>
            <p:cNvPr id="144" name="ot_h"/>
            <p:cNvSpPr txBox="1"/>
            <p:nvPr/>
          </p:nvSpPr>
          <p:spPr>
            <a:xfrm>
              <a:off x="182880" y="749807"/>
              <a:ext cx="2101521" cy="3763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b="1" spc="50" sz="1200">
                  <a:solidFill>
                    <a:srgbClr val="0A3550"/>
                  </a:solidFill>
                  <a:latin typeface="Georgia"/>
                  <a:ea typeface="Georgia"/>
                  <a:cs typeface="Georgia"/>
                  <a:sym typeface="Georgia"/>
                </a:defRPr>
              </a:lvl1pPr>
            </a:lstStyle>
            <a:p>
              <a:pPr/>
              <a:r>
                <a:t>SOIL, AIR AND LIVING THINGS</a:t>
              </a:r>
            </a:p>
          </p:txBody>
        </p:sp>
        <p:sp>
          <p:nvSpPr>
            <p:cNvPr id="145" name="ot_pct"/>
            <p:cNvSpPr txBox="1"/>
            <p:nvPr/>
          </p:nvSpPr>
          <p:spPr>
            <a:xfrm>
              <a:off x="182880" y="1282446"/>
              <a:ext cx="2101521"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0369A1"/>
                  </a:solidFill>
                  <a:latin typeface="Georgia"/>
                  <a:ea typeface="Georgia"/>
                  <a:cs typeface="Georgia"/>
                  <a:sym typeface="Georgia"/>
                </a:defRPr>
              </a:lvl1pPr>
            </a:lstStyle>
            <a:p>
              <a:pPr/>
              <a:r>
                <a:t>about 0.1%</a:t>
              </a:r>
            </a:p>
          </p:txBody>
        </p:sp>
        <p:sp>
          <p:nvSpPr>
            <p:cNvPr id="146" name="ot_t"/>
            <p:cNvSpPr txBox="1"/>
            <p:nvPr/>
          </p:nvSpPr>
          <p:spPr>
            <a:xfrm>
              <a:off x="182880" y="1700783"/>
              <a:ext cx="2101521" cy="3751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0B2A3C"/>
                  </a:solidFill>
                  <a:latin typeface="Arial"/>
                  <a:ea typeface="Arial"/>
                  <a:cs typeface="Arial"/>
                  <a:sym typeface="Arial"/>
                </a:defRPr>
              </a:lvl1pPr>
            </a:lstStyle>
            <a:p>
              <a:pPr/>
              <a:r>
                <a:t>Soil moisture, vapour in the air, and water in living things.</a:t>
              </a:r>
            </a:p>
          </p:txBody>
        </p:sp>
      </p:grpSp>
      <p:sp>
        <p:nvSpPr>
          <p:cNvPr id="148" name="share_note"/>
          <p:cNvSpPr txBox="1"/>
          <p:nvPr/>
        </p:nvSpPr>
        <p:spPr>
          <a:xfrm>
            <a:off x="1170432" y="4256993"/>
            <a:ext cx="10472623"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4E6F82"/>
                </a:solidFill>
                <a:latin typeface="Arial"/>
                <a:ea typeface="Arial"/>
                <a:cs typeface="Arial"/>
                <a:sym typeface="Arial"/>
              </a:defRPr>
            </a:lvl1pPr>
          </a:lstStyle>
          <a:p>
            <a:pPr/>
            <a:r>
              <a:t>share of all the fresh water</a:t>
            </a:r>
          </a:p>
        </p:txBody>
      </p:sp>
      <p:grpSp>
        <p:nvGrpSpPr>
          <p:cNvPr id="153" name="exg"/>
          <p:cNvGrpSpPr/>
          <p:nvPr/>
        </p:nvGrpSpPr>
        <p:grpSpPr>
          <a:xfrm>
            <a:off x="1170432" y="4571999"/>
            <a:ext cx="10472623" cy="1572770"/>
            <a:chOff x="0" y="0"/>
            <a:chExt cx="10472622" cy="1572768"/>
          </a:xfrm>
        </p:grpSpPr>
        <p:sp>
          <p:nvSpPr>
            <p:cNvPr id="149" name="ex_bg"/>
            <p:cNvSpPr/>
            <p:nvPr/>
          </p:nvSpPr>
          <p:spPr>
            <a:xfrm>
              <a:off x="0" y="-1"/>
              <a:ext cx="10472623" cy="1572770"/>
            </a:xfrm>
            <a:prstGeom prst="roundRect">
              <a:avLst>
                <a:gd name="adj" fmla="val 5814"/>
              </a:avLst>
            </a:prstGeom>
            <a:solidFill>
              <a:srgbClr val="FFF6CC"/>
            </a:solidFill>
            <a:ln w="19050" cap="flat">
              <a:solidFill>
                <a:srgbClr val="0369A1"/>
              </a:solidFill>
              <a:prstDash val="solid"/>
              <a:round/>
            </a:ln>
            <a:effectLst/>
          </p:spPr>
          <p:txBody>
            <a:bodyPr wrap="square" lIns="45719" tIns="45719" rIns="45719" bIns="45719" numCol="1" anchor="t">
              <a:noAutofit/>
            </a:bodyPr>
            <a:lstStyle/>
            <a:p>
              <a:pPr/>
            </a:p>
          </p:txBody>
        </p:sp>
        <p:pic>
          <p:nvPicPr>
            <p:cNvPr id="150" name="ex_icon" descr="ex_icon"/>
            <p:cNvPicPr>
              <a:picLocks noChangeAspect="1"/>
            </p:cNvPicPr>
            <p:nvPr/>
          </p:nvPicPr>
          <p:blipFill>
            <a:blip r:embed="rId10">
              <a:extLst/>
            </a:blip>
            <a:stretch>
              <a:fillRect/>
            </a:stretch>
          </p:blipFill>
          <p:spPr>
            <a:xfrm>
              <a:off x="9704526" y="146303"/>
              <a:ext cx="475489" cy="475489"/>
            </a:xfrm>
            <a:prstGeom prst="rect">
              <a:avLst/>
            </a:prstGeom>
            <a:ln w="12700" cap="flat">
              <a:noFill/>
              <a:miter lim="400000"/>
            </a:ln>
            <a:effectLst/>
          </p:spPr>
        </p:pic>
        <p:sp>
          <p:nvSpPr>
            <p:cNvPr id="151" name="ex_h"/>
            <p:cNvSpPr txBox="1"/>
            <p:nvPr/>
          </p:nvSpPr>
          <p:spPr>
            <a:xfrm>
              <a:off x="237743" y="197357"/>
              <a:ext cx="928390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0A3550"/>
                  </a:solidFill>
                  <a:latin typeface="Georgia"/>
                  <a:ea typeface="Georgia"/>
                  <a:cs typeface="Georgia"/>
                  <a:sym typeface="Georgia"/>
                </a:defRPr>
              </a:lvl1pPr>
            </a:lstStyle>
            <a:p>
              <a:pPr/>
              <a:r>
                <a:t>WORKED EXAMPLE: WHERE DOES THIS TOWN’S TAP WATER COME FROM?</a:t>
              </a:r>
            </a:p>
          </p:txBody>
        </p:sp>
        <p:sp>
          <p:nvSpPr>
            <p:cNvPr id="152" name="ex_t"/>
            <p:cNvSpPr txBox="1"/>
            <p:nvPr/>
          </p:nvSpPr>
          <p:spPr>
            <a:xfrm>
              <a:off x="237743" y="512063"/>
              <a:ext cx="9997137" cy="7030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spcBef>
                  <a:spcPts val="500"/>
                </a:spcBef>
                <a:defRPr sz="1300">
                  <a:solidFill>
                    <a:srgbClr val="0B2A3C"/>
                  </a:solidFill>
                  <a:latin typeface="Arial"/>
                  <a:ea typeface="Arial"/>
                  <a:cs typeface="Arial"/>
                  <a:sym typeface="Arial"/>
                </a:defRPr>
              </a:pPr>
              <a:r>
                <a:t>The town pumps water from a well and takes some from a river. </a:t>
              </a:r>
            </a:p>
            <a:p>
              <a:pPr>
                <a:lnSpc>
                  <a:spcPts val="1700"/>
                </a:lnSpc>
                <a:defRPr b="1" sz="1300">
                  <a:solidFill>
                    <a:srgbClr val="0369A1"/>
                  </a:solidFill>
                  <a:latin typeface="Arial"/>
                  <a:ea typeface="Arial"/>
                  <a:cs typeface="Arial"/>
                  <a:sym typeface="Arial"/>
                </a:defRPr>
              </a:pPr>
              <a:r>
                <a:t>The well: </a:t>
              </a:r>
              <a:r>
                <a:rPr b="0">
                  <a:solidFill>
                    <a:srgbClr val="0B2A3C"/>
                  </a:solidFill>
                </a:rPr>
                <a:t>groundwater.   </a:t>
              </a:r>
              <a:r>
                <a:t>The river: </a:t>
              </a:r>
              <a:r>
                <a:rPr b="0">
                  <a:solidFill>
                    <a:srgbClr val="0B2A3C"/>
                  </a:solidFill>
                </a:rPr>
                <a:t>surface water.   </a:t>
              </a:r>
              <a:r>
                <a:t>The river is fed by a glacier: </a:t>
              </a:r>
              <a:r>
                <a:rPr b="0">
                  <a:solidFill>
                    <a:srgbClr val="0B2A3C"/>
                  </a:solidFill>
                </a:rPr>
                <a:t>ice, melting.</a:t>
              </a:r>
            </a:p>
            <a:p>
              <a:pPr>
                <a:lnSpc>
                  <a:spcPts val="1700"/>
                </a:lnSpc>
                <a:defRPr sz="1300">
                  <a:solidFill>
                    <a:srgbClr val="0B2A3C"/>
                  </a:solidFill>
                  <a:latin typeface="Arial"/>
                  <a:ea typeface="Arial"/>
                  <a:cs typeface="Arial"/>
                  <a:sym typeface="Arial"/>
                </a:defRPr>
              </a:pPr>
              <a:r>
                <a:t>Three sources behind one tap. Only the river and the well are easy to reach; the glacier itself is too far away.</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9"/>
                                        </p:tgtEl>
                                        <p:attrNameLst>
                                          <p:attrName>style.visibility</p:attrName>
                                        </p:attrNameLst>
                                      </p:cBhvr>
                                      <p:to>
                                        <p:strVal val="visible"/>
                                      </p:to>
                                    </p:set>
                                    <p:animEffect filter="fade" transition="in">
                                      <p:cBhvr>
                                        <p:cTn id="11" dur="400"/>
                                        <p:tgtEl>
                                          <p:spTgt spid="129"/>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5"/>
                                        </p:tgtEl>
                                        <p:attrNameLst>
                                          <p:attrName>style.visibility</p:attrName>
                                        </p:attrNameLst>
                                      </p:cBhvr>
                                      <p:to>
                                        <p:strVal val="visible"/>
                                      </p:to>
                                    </p:set>
                                    <p:animEffect filter="fade" transition="in">
                                      <p:cBhvr>
                                        <p:cTn id="16" dur="400"/>
                                        <p:tgtEl>
                                          <p:spTgt spid="13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41"/>
                                        </p:tgtEl>
                                        <p:attrNameLst>
                                          <p:attrName>style.visibility</p:attrName>
                                        </p:attrNameLst>
                                      </p:cBhvr>
                                      <p:to>
                                        <p:strVal val="visible"/>
                                      </p:to>
                                    </p:set>
                                    <p:animEffect filter="fade" transition="in">
                                      <p:cBhvr>
                                        <p:cTn id="21" dur="400"/>
                                        <p:tgtEl>
                                          <p:spTgt spid="14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47"/>
                                        </p:tgtEl>
                                        <p:attrNameLst>
                                          <p:attrName>style.visibility</p:attrName>
                                        </p:attrNameLst>
                                      </p:cBhvr>
                                      <p:to>
                                        <p:strVal val="visible"/>
                                      </p:to>
                                    </p:set>
                                    <p:animEffect filter="fade" transition="in">
                                      <p:cBhvr>
                                        <p:cTn id="26" dur="400"/>
                                        <p:tgtEl>
                                          <p:spTgt spid="147"/>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153"/>
                                        </p:tgtEl>
                                        <p:attrNameLst>
                                          <p:attrName>style.visibility</p:attrName>
                                        </p:attrNameLst>
                                      </p:cBhvr>
                                      <p:to>
                                        <p:strVal val="visible"/>
                                      </p:to>
                                    </p:set>
                                    <p:animEffect filter="fade" transition="in">
                                      <p:cBhvr>
                                        <p:cTn id="31" dur="4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2" fill="hold" display="0">
                  <p:stCondLst>
                    <p:cond delay="indefinite"/>
                  </p:stCondLst>
                </p:cTn>
                <p:tgtEl>
                  <p:spTgt spid="119"/>
                </p:tgtEl>
              </p:cMediaNode>
            </p:video>
            <p:seq concurrent="1" prevAc="none" nextAc="seek">
              <p:cTn id="33" evtFilter="cancelBubble" nodeType="interactiveSeq" restart="whenNotActive" fill="hold">
                <p:stCondLst>
                  <p:cond delay="0" evt="onClick">
                    <p:tgtEl>
                      <p:spTgt spid="119"/>
                    </p:tgtEl>
                  </p:cond>
                </p:stCondLst>
                <p:endSync delay="0" evt="end">
                  <p:rtn val="all"/>
                </p:endSync>
                <p:childTnLst>
                  <p:par>
                    <p:cTn id="34" fill="hold">
                      <p:stCondLst>
                        <p:cond delay="0"/>
                      </p:stCondLst>
                      <p:childTnLst>
                        <p:par>
                          <p:cTn id="35" fill="hold">
                            <p:stCondLst>
                              <p:cond delay="0"/>
                            </p:stCondLst>
                            <p:childTnLst>
                              <p:par>
                                <p:cTn id="36" presetClass="mediacall" nodeType="clickEffect" presetSubtype="0" presetID="2" fill="hold">
                                  <p:stCondLst>
                                    <p:cond delay="0"/>
                                  </p:stCondLst>
                                  <p:childTnLst>
                                    <p:cmd type="call" cmd="togglePause">
                                      <p:cBhvr>
                                        <p:cTn id="37"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41" grpId="4"/>
      <p:bldP build="whole" bldLvl="1" animBg="1" rev="0" advAuto="0" spid="135" grpId="3"/>
      <p:bldP build="whole" bldLvl="1" animBg="1" rev="0" advAuto="0" spid="153" grpId="6"/>
      <p:bldP build="whole" bldLvl="1" animBg="1" rev="0" advAuto="0" spid="147" grpId="5"/>
      <p:bldP build="whole" bldLvl="1" animBg="1" rev="0" advAuto="0" spid="129"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15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60" name="phase_pill"/>
          <p:cNvGrpSpPr/>
          <p:nvPr/>
        </p:nvGrpSpPr>
        <p:grpSpPr>
          <a:xfrm>
            <a:off x="1170432" y="310895"/>
            <a:ext cx="1623975" cy="329185"/>
            <a:chOff x="0" y="0"/>
            <a:chExt cx="1623974" cy="329184"/>
          </a:xfrm>
        </p:grpSpPr>
        <p:sp>
          <p:nvSpPr>
            <p:cNvPr id="158" name="Rounded Rectangle"/>
            <p:cNvSpPr/>
            <p:nvPr/>
          </p:nvSpPr>
          <p:spPr>
            <a:xfrm>
              <a:off x="0" y="0"/>
              <a:ext cx="1623975"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159"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61"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A3550"/>
                </a:solidFill>
                <a:latin typeface="Georgia"/>
                <a:ea typeface="Georgia"/>
                <a:cs typeface="Georgia"/>
                <a:sym typeface="Georgia"/>
              </a:defRPr>
            </a:lvl1pPr>
          </a:lstStyle>
          <a:p>
            <a:pPr/>
            <a:r>
              <a:t>Why so little is usable</a:t>
            </a:r>
          </a:p>
        </p:txBody>
      </p:sp>
      <p:grpSp>
        <p:nvGrpSpPr>
          <p:cNvPr id="168" name="ltg0"/>
          <p:cNvGrpSpPr/>
          <p:nvPr/>
        </p:nvGrpSpPr>
        <p:grpSpPr>
          <a:xfrm>
            <a:off x="1170432" y="1865376"/>
            <a:ext cx="2705025" cy="3017521"/>
            <a:chOff x="0" y="0"/>
            <a:chExt cx="2705024" cy="3017520"/>
          </a:xfrm>
        </p:grpSpPr>
        <p:sp>
          <p:nvSpPr>
            <p:cNvPr id="162" name="lt0_bg"/>
            <p:cNvSpPr/>
            <p:nvPr/>
          </p:nvSpPr>
          <p:spPr>
            <a:xfrm>
              <a:off x="0" y="0"/>
              <a:ext cx="2357553" cy="3017521"/>
            </a:xfrm>
            <a:prstGeom prst="roundRect">
              <a:avLst>
                <a:gd name="adj" fmla="val 3879"/>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63" name="lt0_icon" descr="lt0_icon"/>
            <p:cNvPicPr>
              <a:picLocks noChangeAspect="1"/>
            </p:cNvPicPr>
            <p:nvPr/>
          </p:nvPicPr>
          <p:blipFill>
            <a:blip r:embed="rId6">
              <a:extLst/>
            </a:blip>
            <a:stretch>
              <a:fillRect/>
            </a:stretch>
          </p:blipFill>
          <p:spPr>
            <a:xfrm>
              <a:off x="182879" y="146304"/>
              <a:ext cx="694946" cy="694945"/>
            </a:xfrm>
            <a:prstGeom prst="rect">
              <a:avLst/>
            </a:prstGeom>
            <a:ln w="12700" cap="flat">
              <a:noFill/>
              <a:miter lim="400000"/>
            </a:ln>
            <a:effectLst/>
          </p:spPr>
        </p:pic>
        <p:sp>
          <p:nvSpPr>
            <p:cNvPr id="164" name="lt0_h"/>
            <p:cNvSpPr txBox="1"/>
            <p:nvPr/>
          </p:nvSpPr>
          <p:spPr>
            <a:xfrm>
              <a:off x="182879" y="877824"/>
              <a:ext cx="2028370" cy="3534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40" sz="1200">
                  <a:solidFill>
                    <a:srgbClr val="0A3550"/>
                  </a:solidFill>
                  <a:latin typeface="Georgia"/>
                  <a:ea typeface="Georgia"/>
                  <a:cs typeface="Georgia"/>
                  <a:sym typeface="Georgia"/>
                </a:defRPr>
              </a:lvl1pPr>
            </a:lstStyle>
            <a:p>
              <a:pPr/>
              <a:r>
                <a:t>ALL THE WATER ON EARTH</a:t>
              </a:r>
            </a:p>
          </p:txBody>
        </p:sp>
        <p:sp>
          <p:nvSpPr>
            <p:cNvPr id="165" name="lt0_big"/>
            <p:cNvSpPr txBox="1"/>
            <p:nvPr/>
          </p:nvSpPr>
          <p:spPr>
            <a:xfrm>
              <a:off x="182879" y="1419606"/>
              <a:ext cx="2028370"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0369A1"/>
                  </a:solidFill>
                  <a:latin typeface="Georgia"/>
                  <a:ea typeface="Georgia"/>
                  <a:cs typeface="Georgia"/>
                  <a:sym typeface="Georgia"/>
                </a:defRPr>
              </a:lvl1pPr>
            </a:lstStyle>
            <a:p>
              <a:pPr/>
              <a:r>
                <a:t>1,000 mL</a:t>
              </a:r>
            </a:p>
          </p:txBody>
        </p:sp>
        <p:sp>
          <p:nvSpPr>
            <p:cNvPr id="166" name="lt0_t"/>
            <p:cNvSpPr txBox="1"/>
            <p:nvPr/>
          </p:nvSpPr>
          <p:spPr>
            <a:xfrm>
              <a:off x="182879" y="1901952"/>
              <a:ext cx="2028370"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0B2A3C"/>
                  </a:solidFill>
                  <a:latin typeface="Arial"/>
                  <a:ea typeface="Arial"/>
                  <a:cs typeface="Arial"/>
                  <a:sym typeface="Arial"/>
                </a:defRPr>
              </a:lvl1pPr>
            </a:lstStyle>
            <a:p>
              <a:pPr/>
              <a:r>
                <a:t>One litre represents all the world’s superficial water!</a:t>
              </a:r>
            </a:p>
          </p:txBody>
        </p:sp>
        <p:sp>
          <p:nvSpPr>
            <p:cNvPr id="167" name="lt0_arrow"/>
            <p:cNvSpPr txBox="1"/>
            <p:nvPr/>
          </p:nvSpPr>
          <p:spPr>
            <a:xfrm>
              <a:off x="2357552" y="1348230"/>
              <a:ext cx="347473" cy="3210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0369A1"/>
                  </a:solidFill>
                  <a:latin typeface="Arial"/>
                  <a:ea typeface="Arial"/>
                  <a:cs typeface="Arial"/>
                  <a:sym typeface="Arial"/>
                </a:defRPr>
              </a:lvl1pPr>
            </a:lstStyle>
            <a:p>
              <a:pPr/>
              <a:r>
                <a:t>→</a:t>
              </a:r>
            </a:p>
          </p:txBody>
        </p:sp>
      </p:grpSp>
      <p:grpSp>
        <p:nvGrpSpPr>
          <p:cNvPr id="175" name="ltg1"/>
          <p:cNvGrpSpPr/>
          <p:nvPr/>
        </p:nvGrpSpPr>
        <p:grpSpPr>
          <a:xfrm>
            <a:off x="3875456" y="1865376"/>
            <a:ext cx="2705025" cy="3017521"/>
            <a:chOff x="0" y="0"/>
            <a:chExt cx="2705024" cy="3017520"/>
          </a:xfrm>
        </p:grpSpPr>
        <p:sp>
          <p:nvSpPr>
            <p:cNvPr id="169" name="lt1_bg"/>
            <p:cNvSpPr/>
            <p:nvPr/>
          </p:nvSpPr>
          <p:spPr>
            <a:xfrm>
              <a:off x="0" y="0"/>
              <a:ext cx="2357553" cy="3017521"/>
            </a:xfrm>
            <a:prstGeom prst="roundRect">
              <a:avLst>
                <a:gd name="adj" fmla="val 3879"/>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70" name="lt1_icon" descr="lt1_icon"/>
            <p:cNvPicPr>
              <a:picLocks noChangeAspect="1"/>
            </p:cNvPicPr>
            <p:nvPr/>
          </p:nvPicPr>
          <p:blipFill>
            <a:blip r:embed="rId7">
              <a:extLst/>
            </a:blip>
            <a:stretch>
              <a:fillRect/>
            </a:stretch>
          </p:blipFill>
          <p:spPr>
            <a:xfrm>
              <a:off x="182880" y="146304"/>
              <a:ext cx="566929" cy="566929"/>
            </a:xfrm>
            <a:prstGeom prst="rect">
              <a:avLst/>
            </a:prstGeom>
            <a:ln w="12700" cap="flat">
              <a:noFill/>
              <a:miter lim="400000"/>
            </a:ln>
            <a:effectLst/>
          </p:spPr>
        </p:pic>
        <p:sp>
          <p:nvSpPr>
            <p:cNvPr id="171" name="lt1_h"/>
            <p:cNvSpPr txBox="1"/>
            <p:nvPr/>
          </p:nvSpPr>
          <p:spPr>
            <a:xfrm>
              <a:off x="182879" y="877824"/>
              <a:ext cx="2028370" cy="3534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40" sz="1200">
                  <a:solidFill>
                    <a:srgbClr val="0A3550"/>
                  </a:solidFill>
                  <a:latin typeface="Georgia"/>
                  <a:ea typeface="Georgia"/>
                  <a:cs typeface="Georgia"/>
                  <a:sym typeface="Georgia"/>
                </a:defRPr>
              </a:lvl1pPr>
            </a:lstStyle>
            <a:p>
              <a:pPr/>
              <a:r>
                <a:t>POUR OFF THE SALT WATER</a:t>
              </a:r>
            </a:p>
          </p:txBody>
        </p:sp>
        <p:sp>
          <p:nvSpPr>
            <p:cNvPr id="172" name="lt1_big"/>
            <p:cNvSpPr txBox="1"/>
            <p:nvPr/>
          </p:nvSpPr>
          <p:spPr>
            <a:xfrm>
              <a:off x="182879" y="1419606"/>
              <a:ext cx="2028370"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0369A1"/>
                  </a:solidFill>
                  <a:latin typeface="Georgia"/>
                  <a:ea typeface="Georgia"/>
                  <a:cs typeface="Georgia"/>
                  <a:sym typeface="Georgia"/>
                </a:defRPr>
              </a:lvl1pPr>
            </a:lstStyle>
            <a:p>
              <a:pPr/>
              <a:r>
                <a:t>25 mL left</a:t>
              </a:r>
            </a:p>
          </p:txBody>
        </p:sp>
        <p:sp>
          <p:nvSpPr>
            <p:cNvPr id="173" name="lt1_t"/>
            <p:cNvSpPr txBox="1"/>
            <p:nvPr/>
          </p:nvSpPr>
          <p:spPr>
            <a:xfrm>
              <a:off x="182879" y="1901952"/>
              <a:ext cx="2028370" cy="565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0B2A3C"/>
                  </a:solidFill>
                  <a:latin typeface="Arial"/>
                  <a:ea typeface="Arial"/>
                  <a:cs typeface="Arial"/>
                  <a:sym typeface="Arial"/>
                </a:defRPr>
              </a:lvl1pPr>
            </a:lstStyle>
            <a:p>
              <a:pPr/>
              <a:r>
                <a:t>975 mL (97.5%) is salt water, too salty to drink or to water crops. The 25 mL is fresh.</a:t>
              </a:r>
            </a:p>
          </p:txBody>
        </p:sp>
        <p:sp>
          <p:nvSpPr>
            <p:cNvPr id="174" name="lt1_arrow"/>
            <p:cNvSpPr txBox="1"/>
            <p:nvPr/>
          </p:nvSpPr>
          <p:spPr>
            <a:xfrm>
              <a:off x="2357552" y="1348230"/>
              <a:ext cx="347473" cy="3210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0369A1"/>
                  </a:solidFill>
                  <a:latin typeface="Arial"/>
                  <a:ea typeface="Arial"/>
                  <a:cs typeface="Arial"/>
                  <a:sym typeface="Arial"/>
                </a:defRPr>
              </a:lvl1pPr>
            </a:lstStyle>
            <a:p>
              <a:pPr/>
              <a:r>
                <a:t>→</a:t>
              </a:r>
            </a:p>
          </p:txBody>
        </p:sp>
      </p:grpSp>
      <p:grpSp>
        <p:nvGrpSpPr>
          <p:cNvPr id="182" name="ltg2"/>
          <p:cNvGrpSpPr/>
          <p:nvPr/>
        </p:nvGrpSpPr>
        <p:grpSpPr>
          <a:xfrm>
            <a:off x="6580479" y="1865376"/>
            <a:ext cx="2705024" cy="3017521"/>
            <a:chOff x="0" y="0"/>
            <a:chExt cx="2705023" cy="3017520"/>
          </a:xfrm>
        </p:grpSpPr>
        <p:sp>
          <p:nvSpPr>
            <p:cNvPr id="176" name="lt2_bg"/>
            <p:cNvSpPr/>
            <p:nvPr/>
          </p:nvSpPr>
          <p:spPr>
            <a:xfrm>
              <a:off x="0" y="0"/>
              <a:ext cx="2357553" cy="3017521"/>
            </a:xfrm>
            <a:prstGeom prst="roundRect">
              <a:avLst>
                <a:gd name="adj" fmla="val 3879"/>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77" name="lt2_icon" descr="lt2_icon"/>
            <p:cNvPicPr>
              <a:picLocks noChangeAspect="1"/>
            </p:cNvPicPr>
            <p:nvPr/>
          </p:nvPicPr>
          <p:blipFill>
            <a:blip r:embed="rId8">
              <a:extLst/>
            </a:blip>
            <a:stretch>
              <a:fillRect/>
            </a:stretch>
          </p:blipFill>
          <p:spPr>
            <a:xfrm>
              <a:off x="182880" y="146304"/>
              <a:ext cx="457201" cy="457201"/>
            </a:xfrm>
            <a:prstGeom prst="rect">
              <a:avLst/>
            </a:prstGeom>
            <a:ln w="12700" cap="flat">
              <a:noFill/>
              <a:miter lim="400000"/>
            </a:ln>
            <a:effectLst/>
          </p:spPr>
        </p:pic>
        <p:sp>
          <p:nvSpPr>
            <p:cNvPr id="178" name="lt2_h"/>
            <p:cNvSpPr txBox="1"/>
            <p:nvPr/>
          </p:nvSpPr>
          <p:spPr>
            <a:xfrm>
              <a:off x="182879" y="877824"/>
              <a:ext cx="2028370" cy="1756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40" sz="1200">
                  <a:solidFill>
                    <a:srgbClr val="0A3550"/>
                  </a:solidFill>
                  <a:latin typeface="Georgia"/>
                  <a:ea typeface="Georgia"/>
                  <a:cs typeface="Georgia"/>
                  <a:sym typeface="Georgia"/>
                </a:defRPr>
              </a:lvl1pPr>
            </a:lstStyle>
            <a:p>
              <a:pPr/>
              <a:r>
                <a:t>POUR OFF THE ICE</a:t>
              </a:r>
            </a:p>
          </p:txBody>
        </p:sp>
        <p:sp>
          <p:nvSpPr>
            <p:cNvPr id="179" name="lt2_big"/>
            <p:cNvSpPr txBox="1"/>
            <p:nvPr/>
          </p:nvSpPr>
          <p:spPr>
            <a:xfrm>
              <a:off x="182879" y="1419606"/>
              <a:ext cx="2028370"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0369A1"/>
                  </a:solidFill>
                  <a:latin typeface="Georgia"/>
                  <a:ea typeface="Georgia"/>
                  <a:cs typeface="Georgia"/>
                  <a:sym typeface="Georgia"/>
                </a:defRPr>
              </a:lvl1pPr>
            </a:lstStyle>
            <a:p>
              <a:pPr/>
              <a:r>
                <a:t>7.5 mL left</a:t>
              </a:r>
            </a:p>
          </p:txBody>
        </p:sp>
        <p:sp>
          <p:nvSpPr>
            <p:cNvPr id="180" name="lt2_t"/>
            <p:cNvSpPr txBox="1"/>
            <p:nvPr/>
          </p:nvSpPr>
          <p:spPr>
            <a:xfrm>
              <a:off x="182879" y="1901952"/>
              <a:ext cx="2028370" cy="565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0B2A3C"/>
                  </a:solidFill>
                  <a:latin typeface="Arial"/>
                  <a:ea typeface="Arial"/>
                  <a:cs typeface="Arial"/>
                  <a:sym typeface="Arial"/>
                </a:defRPr>
              </a:lvl1pPr>
            </a:lstStyle>
            <a:p>
              <a:pPr/>
              <a:r>
                <a:t>17.5 mL (of the 25 mL) is frozen in ice caps and glaciers.</a:t>
              </a:r>
            </a:p>
          </p:txBody>
        </p:sp>
        <p:sp>
          <p:nvSpPr>
            <p:cNvPr id="181" name="lt2_arrow"/>
            <p:cNvSpPr txBox="1"/>
            <p:nvPr/>
          </p:nvSpPr>
          <p:spPr>
            <a:xfrm>
              <a:off x="2357551" y="1348230"/>
              <a:ext cx="347473" cy="3210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0369A1"/>
                  </a:solidFill>
                  <a:latin typeface="Arial"/>
                  <a:ea typeface="Arial"/>
                  <a:cs typeface="Arial"/>
                  <a:sym typeface="Arial"/>
                </a:defRPr>
              </a:lvl1pPr>
            </a:lstStyle>
            <a:p>
              <a:pPr/>
              <a:r>
                <a:t>→</a:t>
              </a:r>
            </a:p>
          </p:txBody>
        </p:sp>
      </p:grpSp>
      <p:grpSp>
        <p:nvGrpSpPr>
          <p:cNvPr id="188" name="ltg3"/>
          <p:cNvGrpSpPr/>
          <p:nvPr/>
        </p:nvGrpSpPr>
        <p:grpSpPr>
          <a:xfrm>
            <a:off x="9285502" y="1865376"/>
            <a:ext cx="2357554" cy="3017521"/>
            <a:chOff x="0" y="0"/>
            <a:chExt cx="2357552" cy="3017520"/>
          </a:xfrm>
        </p:grpSpPr>
        <p:sp>
          <p:nvSpPr>
            <p:cNvPr id="183" name="lt3_bg"/>
            <p:cNvSpPr/>
            <p:nvPr/>
          </p:nvSpPr>
          <p:spPr>
            <a:xfrm>
              <a:off x="0" y="0"/>
              <a:ext cx="2357553" cy="3017521"/>
            </a:xfrm>
            <a:prstGeom prst="roundRect">
              <a:avLst>
                <a:gd name="adj" fmla="val 3879"/>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84" name="lt3_icon" descr="lt3_icon"/>
            <p:cNvPicPr>
              <a:picLocks noChangeAspect="1"/>
            </p:cNvPicPr>
            <p:nvPr/>
          </p:nvPicPr>
          <p:blipFill>
            <a:blip r:embed="rId9">
              <a:extLst/>
            </a:blip>
            <a:stretch>
              <a:fillRect/>
            </a:stretch>
          </p:blipFill>
          <p:spPr>
            <a:xfrm>
              <a:off x="182879" y="146304"/>
              <a:ext cx="365762" cy="365761"/>
            </a:xfrm>
            <a:prstGeom prst="rect">
              <a:avLst/>
            </a:prstGeom>
            <a:ln w="12700" cap="flat">
              <a:noFill/>
              <a:miter lim="400000"/>
            </a:ln>
            <a:effectLst/>
          </p:spPr>
        </p:pic>
        <p:sp>
          <p:nvSpPr>
            <p:cNvPr id="185" name="lt3_h"/>
            <p:cNvSpPr txBox="1"/>
            <p:nvPr/>
          </p:nvSpPr>
          <p:spPr>
            <a:xfrm>
              <a:off x="182879" y="877824"/>
              <a:ext cx="2028370" cy="3534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400"/>
                </a:lnSpc>
                <a:defRPr b="1" spc="40" sz="1200">
                  <a:solidFill>
                    <a:srgbClr val="0A3550"/>
                  </a:solidFill>
                  <a:latin typeface="Georgia"/>
                  <a:ea typeface="Georgia"/>
                  <a:cs typeface="Georgia"/>
                  <a:sym typeface="Georgia"/>
                </a:defRPr>
              </a:lvl1pPr>
            </a:lstStyle>
            <a:p>
              <a:pPr/>
              <a:r>
                <a:t>POUR OFF THE GROUNDWATER</a:t>
              </a:r>
            </a:p>
          </p:txBody>
        </p:sp>
        <p:sp>
          <p:nvSpPr>
            <p:cNvPr id="186" name="lt3_big"/>
            <p:cNvSpPr txBox="1"/>
            <p:nvPr/>
          </p:nvSpPr>
          <p:spPr>
            <a:xfrm>
              <a:off x="182879" y="1248156"/>
              <a:ext cx="2028370" cy="685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C23A52"/>
                  </a:solidFill>
                  <a:latin typeface="Georgia"/>
                  <a:ea typeface="Georgia"/>
                  <a:cs typeface="Georgia"/>
                  <a:sym typeface="Georgia"/>
                </a:defRPr>
              </a:lvl1pPr>
            </a:lstStyle>
            <a:p>
              <a:pPr/>
              <a:r>
                <a:t>0.075 mL left</a:t>
              </a:r>
            </a:p>
          </p:txBody>
        </p:sp>
        <p:sp>
          <p:nvSpPr>
            <p:cNvPr id="187" name="lt3_t"/>
            <p:cNvSpPr txBox="1"/>
            <p:nvPr/>
          </p:nvSpPr>
          <p:spPr>
            <a:xfrm>
              <a:off x="182879" y="1901952"/>
              <a:ext cx="2028370" cy="756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0B2A3C"/>
                  </a:solidFill>
                  <a:latin typeface="Arial"/>
                  <a:ea typeface="Arial"/>
                  <a:cs typeface="Arial"/>
                  <a:sym typeface="Arial"/>
                </a:defRPr>
              </a:lvl1pPr>
            </a:lstStyle>
            <a:p>
              <a:pPr/>
              <a:r>
                <a:t>99% of what’s left is deep underground: costly to reach, slow to refill. A tiny drop is left.</a:t>
              </a:r>
            </a:p>
          </p:txBody>
        </p:sp>
      </p:grpSp>
      <p:grpSp>
        <p:nvGrpSpPr>
          <p:cNvPr id="191" name="lwg"/>
          <p:cNvGrpSpPr/>
          <p:nvPr/>
        </p:nvGrpSpPr>
        <p:grpSpPr>
          <a:xfrm>
            <a:off x="1170432" y="5065776"/>
            <a:ext cx="10472623" cy="713233"/>
            <a:chOff x="0" y="0"/>
            <a:chExt cx="10472622" cy="713231"/>
          </a:xfrm>
        </p:grpSpPr>
        <p:sp>
          <p:nvSpPr>
            <p:cNvPr id="189" name="lw_bg"/>
            <p:cNvSpPr/>
            <p:nvPr/>
          </p:nvSpPr>
          <p:spPr>
            <a:xfrm>
              <a:off x="0" y="0"/>
              <a:ext cx="10472623" cy="713232"/>
            </a:xfrm>
            <a:prstGeom prst="roundRect">
              <a:avLst>
                <a:gd name="adj" fmla="val 12821"/>
              </a:avLst>
            </a:prstGeom>
            <a:solidFill>
              <a:srgbClr val="FFF6CC"/>
            </a:solidFill>
            <a:ln w="19050" cap="flat">
              <a:solidFill>
                <a:srgbClr val="0369A1"/>
              </a:solidFill>
              <a:prstDash val="solid"/>
              <a:round/>
            </a:ln>
            <a:effectLst/>
          </p:spPr>
          <p:txBody>
            <a:bodyPr wrap="square" lIns="45719" tIns="45719" rIns="45719" bIns="45719" numCol="1" anchor="t">
              <a:noAutofit/>
            </a:bodyPr>
            <a:lstStyle/>
            <a:p>
              <a:pPr/>
            </a:p>
          </p:txBody>
        </p:sp>
        <p:sp>
          <p:nvSpPr>
            <p:cNvPr id="190" name="lw_t"/>
            <p:cNvSpPr txBox="1"/>
            <p:nvPr/>
          </p:nvSpPr>
          <p:spPr>
            <a:xfrm>
              <a:off x="237743" y="144812"/>
              <a:ext cx="9997137"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700"/>
                </a:lnSpc>
                <a:defRPr b="1" sz="1300">
                  <a:solidFill>
                    <a:srgbClr val="0369A1"/>
                  </a:solidFill>
                  <a:latin typeface="Arial"/>
                  <a:ea typeface="Arial"/>
                  <a:cs typeface="Arial"/>
                  <a:sym typeface="Arial"/>
                </a:defRPr>
              </a:pPr>
              <a:r>
                <a:t>The working: </a:t>
              </a:r>
              <a:r>
                <a:rPr b="0">
                  <a:solidFill>
                    <a:srgbClr val="0B2A3C"/>
                  </a:solidFill>
                </a:rPr>
                <a:t>1,000 × 2.5 ÷ 100 = 25 mL fresh.   25 × 30 ÷ 100 = 7.5 mL groundwater.   25 × 0.3 ÷ 100 = 0.075 mL in lakes, swamps and rivers.</a:t>
              </a:r>
            </a:p>
          </p:txBody>
        </p:sp>
      </p:grpSp>
      <p:sp>
        <p:nvSpPr>
          <p:cNvPr id="192" name="lw_hook"/>
          <p:cNvSpPr txBox="1"/>
          <p:nvPr/>
        </p:nvSpPr>
        <p:spPr>
          <a:xfrm>
            <a:off x="1170432" y="59880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C23A52"/>
                </a:solidFill>
                <a:latin typeface="Arial"/>
                <a:ea typeface="Arial"/>
                <a:cs typeface="Arial"/>
                <a:sym typeface="Arial"/>
              </a:defRPr>
            </a:pPr>
            <a:r>
              <a:t>Hook answer: C. </a:t>
            </a:r>
            <a:r>
              <a:rPr>
                <a:solidFill>
                  <a:srgbClr val="0A3550"/>
                </a:solidFill>
              </a:rPr>
              <a:t>About 1.5 drops. Next: the water cycle refills that tiny share.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5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68"/>
                                        </p:tgtEl>
                                        <p:attrNameLst>
                                          <p:attrName>style.visibility</p:attrName>
                                        </p:attrNameLst>
                                      </p:cBhvr>
                                      <p:to>
                                        <p:strVal val="visible"/>
                                      </p:to>
                                    </p:set>
                                    <p:animEffect filter="fade" transition="in">
                                      <p:cBhvr>
                                        <p:cTn id="11" dur="400"/>
                                        <p:tgtEl>
                                          <p:spTgt spid="16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75"/>
                                        </p:tgtEl>
                                        <p:attrNameLst>
                                          <p:attrName>style.visibility</p:attrName>
                                        </p:attrNameLst>
                                      </p:cBhvr>
                                      <p:to>
                                        <p:strVal val="visible"/>
                                      </p:to>
                                    </p:set>
                                    <p:animEffect filter="fade" transition="in">
                                      <p:cBhvr>
                                        <p:cTn id="16" dur="400"/>
                                        <p:tgtEl>
                                          <p:spTgt spid="17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82"/>
                                        </p:tgtEl>
                                        <p:attrNameLst>
                                          <p:attrName>style.visibility</p:attrName>
                                        </p:attrNameLst>
                                      </p:cBhvr>
                                      <p:to>
                                        <p:strVal val="visible"/>
                                      </p:to>
                                    </p:set>
                                    <p:animEffect filter="fade" transition="in">
                                      <p:cBhvr>
                                        <p:cTn id="21" dur="400"/>
                                        <p:tgtEl>
                                          <p:spTgt spid="182"/>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88"/>
                                        </p:tgtEl>
                                        <p:attrNameLst>
                                          <p:attrName>style.visibility</p:attrName>
                                        </p:attrNameLst>
                                      </p:cBhvr>
                                      <p:to>
                                        <p:strVal val="visible"/>
                                      </p:to>
                                    </p:set>
                                    <p:animEffect filter="fade" transition="in">
                                      <p:cBhvr>
                                        <p:cTn id="26" dur="400"/>
                                        <p:tgtEl>
                                          <p:spTgt spid="188"/>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191"/>
                                        </p:tgtEl>
                                        <p:attrNameLst>
                                          <p:attrName>style.visibility</p:attrName>
                                        </p:attrNameLst>
                                      </p:cBhvr>
                                      <p:to>
                                        <p:strVal val="visible"/>
                                      </p:to>
                                    </p:set>
                                    <p:animEffect filter="fade" transition="in">
                                      <p:cBhvr>
                                        <p:cTn id="31" dur="400"/>
                                        <p:tgtEl>
                                          <p:spTgt spid="191"/>
                                        </p:tgtEl>
                                      </p:cBhvr>
                                    </p:animEffect>
                                  </p:childTnLst>
                                </p:cTn>
                              </p:par>
                            </p:childTnLst>
                          </p:cTn>
                        </p:par>
                        <p:par>
                          <p:cTn id="32" fill="hold">
                            <p:stCondLst>
                              <p:cond delay="400"/>
                            </p:stCondLst>
                            <p:childTnLst>
                              <p:par>
                                <p:cTn id="33" presetClass="entr" nodeType="afterEffect" presetID="10" grpId="7" fill="hold">
                                  <p:stCondLst>
                                    <p:cond delay="0"/>
                                  </p:stCondLst>
                                  <p:iterate type="el" backwards="0">
                                    <p:tmAbs val="0"/>
                                  </p:iterate>
                                  <p:childTnLst>
                                    <p:set>
                                      <p:cBhvr>
                                        <p:cTn id="34" fill="hold"/>
                                        <p:tgtEl>
                                          <p:spTgt spid="192"/>
                                        </p:tgtEl>
                                        <p:attrNameLst>
                                          <p:attrName>style.visibility</p:attrName>
                                        </p:attrNameLst>
                                      </p:cBhvr>
                                      <p:to>
                                        <p:strVal val="visible"/>
                                      </p:to>
                                    </p:set>
                                    <p:animEffect filter="fade" transition="in">
                                      <p:cBhvr>
                                        <p:cTn id="35" dur="4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6" fill="hold" display="0">
                  <p:stCondLst>
                    <p:cond delay="indefinite"/>
                  </p:stCondLst>
                </p:cTn>
                <p:tgtEl>
                  <p:spTgt spid="157"/>
                </p:tgtEl>
              </p:cMediaNode>
            </p:video>
            <p:seq concurrent="1" prevAc="none" nextAc="seek">
              <p:cTn id="37" evtFilter="cancelBubble" nodeType="interactiveSeq" restart="whenNotActive" fill="hold">
                <p:stCondLst>
                  <p:cond delay="0" evt="onClick">
                    <p:tgtEl>
                      <p:spTgt spid="157"/>
                    </p:tgtEl>
                  </p:cond>
                </p:stCondLst>
                <p:endSync delay="0" evt="end">
                  <p:rtn val="all"/>
                </p:endSync>
                <p:childTnLst>
                  <p:par>
                    <p:cTn id="38" fill="hold">
                      <p:stCondLst>
                        <p:cond delay="0"/>
                      </p:stCondLst>
                      <p:childTnLst>
                        <p:par>
                          <p:cTn id="39" fill="hold">
                            <p:stCondLst>
                              <p:cond delay="0"/>
                            </p:stCondLst>
                            <p:childTnLst>
                              <p:par>
                                <p:cTn id="40" presetClass="mediacall" nodeType="clickEffect" presetSubtype="0" presetID="2" fill="hold">
                                  <p:stCondLst>
                                    <p:cond delay="0"/>
                                  </p:stCondLst>
                                  <p:childTnLst>
                                    <p:cmd type="call" cmd="togglePause">
                                      <p:cBhvr>
                                        <p:cTn id="41" dur="1" fill="hold"/>
                                        <p:tgtEl>
                                          <p:spTgt spid="157"/>
                                        </p:tgtEl>
                                      </p:cBhvr>
                                    </p:cmd>
                                  </p:childTnLst>
                                </p:cTn>
                              </p:par>
                            </p:childTnLst>
                          </p:cTn>
                        </p:par>
                      </p:childTnLst>
                    </p:cTn>
                  </p:par>
                </p:childTnLst>
              </p:cTn>
              <p:nextCondLst>
                <p:cond delay="0" evt="onClick">
                  <p:tgtEl>
                    <p:spTgt spid="157"/>
                  </p:tgtEl>
                </p:cond>
              </p:nextCondLst>
            </p:seq>
          </p:childTnLst>
        </p:cTn>
      </p:par>
    </p:tnLst>
    <p:bldLst>
      <p:bldP build="whole" bldLvl="1" animBg="1" rev="0" advAuto="0" spid="191" grpId="6"/>
      <p:bldP build="whole" bldLvl="1" animBg="1" rev="0" advAuto="0" spid="192" grpId="7"/>
      <p:bldP build="whole" bldLvl="1" animBg="1" rev="0" advAuto="0" spid="188" grpId="5"/>
      <p:bldP build="whole" bldLvl="1" animBg="1" rev="0" advAuto="0" spid="168" grpId="2"/>
      <p:bldP build="whole" bldLvl="1" animBg="1" rev="0" advAuto="0" spid="182" grpId="4"/>
      <p:bldP build="whole" bldLvl="1" animBg="1" rev="0" advAuto="0" spid="175" grpId="3"/>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19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99" name="phase_pill"/>
          <p:cNvGrpSpPr/>
          <p:nvPr/>
        </p:nvGrpSpPr>
        <p:grpSpPr>
          <a:xfrm>
            <a:off x="1170432" y="310895"/>
            <a:ext cx="1713586" cy="329185"/>
            <a:chOff x="0" y="0"/>
            <a:chExt cx="1713585" cy="329184"/>
          </a:xfrm>
        </p:grpSpPr>
        <p:sp>
          <p:nvSpPr>
            <p:cNvPr id="197" name="Rounded Rectangle"/>
            <p:cNvSpPr/>
            <p:nvPr/>
          </p:nvSpPr>
          <p:spPr>
            <a:xfrm>
              <a:off x="0" y="0"/>
              <a:ext cx="1713586"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198"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200"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A3550"/>
                </a:solidFill>
                <a:latin typeface="Georgia"/>
                <a:ea typeface="Georgia"/>
                <a:cs typeface="Georgia"/>
                <a:sym typeface="Georgia"/>
              </a:defRPr>
            </a:lvl1pPr>
          </a:lstStyle>
          <a:p>
            <a:pPr/>
            <a:r>
              <a:t>What is the missing step?</a:t>
            </a:r>
          </a:p>
        </p:txBody>
      </p:sp>
      <p:sp>
        <p:nvSpPr>
          <p:cNvPr id="201"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4E6F82"/>
                </a:solidFill>
                <a:latin typeface="Arial"/>
                <a:ea typeface="Arial"/>
                <a:cs typeface="Arial"/>
                <a:sym typeface="Arial"/>
              </a:defRPr>
            </a:lvl1pPr>
          </a:lstStyle>
          <a:p>
            <a:pPr/>
            <a:r>
              <a:t>Finish this one.</a:t>
            </a:r>
          </a:p>
        </p:txBody>
      </p:sp>
      <p:sp>
        <p:nvSpPr>
          <p:cNvPr id="202" name="wf_h0"/>
          <p:cNvSpPr txBox="1"/>
          <p:nvPr/>
        </p:nvSpPr>
        <p:spPr>
          <a:xfrm>
            <a:off x="1170432" y="2001773"/>
            <a:ext cx="238498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100">
                <a:solidFill>
                  <a:srgbClr val="4E6F82"/>
                </a:solidFill>
                <a:latin typeface="Arial"/>
                <a:ea typeface="Arial"/>
                <a:cs typeface="Arial"/>
                <a:sym typeface="Arial"/>
              </a:defRPr>
            </a:lvl1pPr>
          </a:lstStyle>
          <a:p>
            <a:pPr/>
            <a:r>
              <a:t>START</a:t>
            </a:r>
          </a:p>
        </p:txBody>
      </p:sp>
      <p:sp>
        <p:nvSpPr>
          <p:cNvPr id="203" name="wf_h1"/>
          <p:cNvSpPr txBox="1"/>
          <p:nvPr/>
        </p:nvSpPr>
        <p:spPr>
          <a:xfrm>
            <a:off x="3866312" y="2001773"/>
            <a:ext cx="238498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100">
                <a:solidFill>
                  <a:srgbClr val="4E6F82"/>
                </a:solidFill>
                <a:latin typeface="Arial"/>
                <a:ea typeface="Arial"/>
                <a:cs typeface="Arial"/>
                <a:sym typeface="Arial"/>
              </a:defRPr>
            </a:lvl1pPr>
          </a:lstStyle>
          <a:p>
            <a:pPr/>
            <a:r>
              <a:t>THEN</a:t>
            </a:r>
          </a:p>
        </p:txBody>
      </p:sp>
      <p:sp>
        <p:nvSpPr>
          <p:cNvPr id="204" name="wf_h2"/>
          <p:cNvSpPr txBox="1"/>
          <p:nvPr/>
        </p:nvSpPr>
        <p:spPr>
          <a:xfrm>
            <a:off x="6562191" y="2001773"/>
            <a:ext cx="238498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100">
                <a:solidFill>
                  <a:srgbClr val="4E6F82"/>
                </a:solidFill>
                <a:latin typeface="Arial"/>
                <a:ea typeface="Arial"/>
                <a:cs typeface="Arial"/>
                <a:sym typeface="Arial"/>
              </a:defRPr>
            </a:lvl1pPr>
          </a:lstStyle>
          <a:p>
            <a:pPr/>
            <a:r>
              <a:t>THEN</a:t>
            </a:r>
          </a:p>
        </p:txBody>
      </p:sp>
      <p:sp>
        <p:nvSpPr>
          <p:cNvPr id="205" name="wf_h3"/>
          <p:cNvSpPr txBox="1"/>
          <p:nvPr/>
        </p:nvSpPr>
        <p:spPr>
          <a:xfrm>
            <a:off x="9258071" y="2001773"/>
            <a:ext cx="238498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100">
                <a:solidFill>
                  <a:srgbClr val="4E6F82"/>
                </a:solidFill>
                <a:latin typeface="Arial"/>
                <a:ea typeface="Arial"/>
                <a:cs typeface="Arial"/>
                <a:sym typeface="Arial"/>
              </a:defRPr>
            </a:lvl1pPr>
          </a:lstStyle>
          <a:p>
            <a:pPr/>
            <a:r>
              <a:t>END</a:t>
            </a:r>
          </a:p>
        </p:txBody>
      </p:sp>
      <p:grpSp>
        <p:nvGrpSpPr>
          <p:cNvPr id="208" name="wf0_0_q"/>
          <p:cNvGrpSpPr/>
          <p:nvPr/>
        </p:nvGrpSpPr>
        <p:grpSpPr>
          <a:xfrm>
            <a:off x="1170432" y="2267711"/>
            <a:ext cx="2384985" cy="969265"/>
            <a:chOff x="0" y="0"/>
            <a:chExt cx="2384984" cy="969263"/>
          </a:xfrm>
        </p:grpSpPr>
        <p:sp>
          <p:nvSpPr>
            <p:cNvPr id="206" name="Rounded Rectangle"/>
            <p:cNvSpPr/>
            <p:nvPr/>
          </p:nvSpPr>
          <p:spPr>
            <a:xfrm>
              <a:off x="0" y="0"/>
              <a:ext cx="2384985" cy="969264"/>
            </a:xfrm>
            <a:prstGeom prst="roundRect">
              <a:avLst>
                <a:gd name="adj" fmla="val 9434"/>
              </a:avLst>
            </a:prstGeom>
            <a:solidFill>
              <a:srgbClr val="FFFFFF"/>
            </a:solidFill>
            <a:ln w="15240" cap="flat">
              <a:solidFill>
                <a:srgbClr val="B7D3E4"/>
              </a:solidFill>
              <a:prstDash val="solid"/>
              <a:round/>
            </a:ln>
            <a:effectLst/>
          </p:spPr>
          <p:txBody>
            <a:bodyPr wrap="square" lIns="45719" tIns="45719" rIns="45719" bIns="45719" numCol="1" anchor="ctr">
              <a:noAutofit/>
            </a:bodyPr>
            <a:lstStyle/>
            <a:p>
              <a:pPr algn="ctr">
                <a:lnSpc>
                  <a:spcPts val="1600"/>
                </a:lnSpc>
                <a:defRPr sz="1300"/>
              </a:pPr>
            </a:p>
          </p:txBody>
        </p:sp>
        <p:sp>
          <p:nvSpPr>
            <p:cNvPr id="207" name="The Sun warms the sea."/>
            <p:cNvSpPr txBox="1"/>
            <p:nvPr/>
          </p:nvSpPr>
          <p:spPr>
            <a:xfrm>
              <a:off x="34401" y="271558"/>
              <a:ext cx="2316182" cy="426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sz="1300">
                  <a:solidFill>
                    <a:srgbClr val="0B2A3C"/>
                  </a:solidFill>
                  <a:latin typeface="Arial"/>
                  <a:ea typeface="Arial"/>
                  <a:cs typeface="Arial"/>
                  <a:sym typeface="Arial"/>
                </a:defRPr>
              </a:lvl1pPr>
            </a:lstStyle>
            <a:p>
              <a:pPr/>
              <a:r>
                <a:t>The Sun warms the sea.</a:t>
              </a:r>
            </a:p>
          </p:txBody>
        </p:sp>
      </p:grpSp>
      <p:sp>
        <p:nvSpPr>
          <p:cNvPr id="209" name="wf0_0_arrow"/>
          <p:cNvSpPr txBox="1"/>
          <p:nvPr/>
        </p:nvSpPr>
        <p:spPr>
          <a:xfrm>
            <a:off x="3555415" y="2610448"/>
            <a:ext cx="310897"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369A1"/>
                </a:solidFill>
                <a:latin typeface="Arial"/>
                <a:ea typeface="Arial"/>
                <a:cs typeface="Arial"/>
                <a:sym typeface="Arial"/>
              </a:defRPr>
            </a:lvl1pPr>
          </a:lstStyle>
          <a:p>
            <a:pPr/>
            <a:r>
              <a:t>→</a:t>
            </a:r>
          </a:p>
        </p:txBody>
      </p:sp>
      <p:grpSp>
        <p:nvGrpSpPr>
          <p:cNvPr id="212" name="wf0_1_q"/>
          <p:cNvGrpSpPr/>
          <p:nvPr/>
        </p:nvGrpSpPr>
        <p:grpSpPr>
          <a:xfrm>
            <a:off x="3866312" y="2267711"/>
            <a:ext cx="2384985" cy="969265"/>
            <a:chOff x="0" y="0"/>
            <a:chExt cx="2384984" cy="969263"/>
          </a:xfrm>
        </p:grpSpPr>
        <p:sp>
          <p:nvSpPr>
            <p:cNvPr id="210" name="Rounded Rectangle"/>
            <p:cNvSpPr/>
            <p:nvPr/>
          </p:nvSpPr>
          <p:spPr>
            <a:xfrm>
              <a:off x="0" y="0"/>
              <a:ext cx="2384985" cy="969264"/>
            </a:xfrm>
            <a:prstGeom prst="roundRect">
              <a:avLst>
                <a:gd name="adj" fmla="val 9434"/>
              </a:avLst>
            </a:prstGeom>
            <a:solidFill>
              <a:srgbClr val="FFFFFF"/>
            </a:solidFill>
            <a:ln w="15240" cap="flat">
              <a:solidFill>
                <a:srgbClr val="B7D3E4"/>
              </a:solidFill>
              <a:prstDash val="solid"/>
              <a:round/>
            </a:ln>
            <a:effectLst/>
          </p:spPr>
          <p:txBody>
            <a:bodyPr wrap="square" lIns="45719" tIns="45719" rIns="45719" bIns="45719" numCol="1" anchor="ctr">
              <a:noAutofit/>
            </a:bodyPr>
            <a:lstStyle/>
            <a:p>
              <a:pPr algn="ctr">
                <a:lnSpc>
                  <a:spcPts val="1600"/>
                </a:lnSpc>
                <a:defRPr sz="1300"/>
              </a:pPr>
            </a:p>
          </p:txBody>
        </p:sp>
        <p:sp>
          <p:nvSpPr>
            <p:cNvPr id="211" name="Water evaporates: liquid becomes vapour."/>
            <p:cNvSpPr txBox="1"/>
            <p:nvPr/>
          </p:nvSpPr>
          <p:spPr>
            <a:xfrm>
              <a:off x="34401" y="169958"/>
              <a:ext cx="2316182" cy="6293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sz="1300">
                  <a:solidFill>
                    <a:srgbClr val="0B2A3C"/>
                  </a:solidFill>
                  <a:latin typeface="Arial"/>
                  <a:ea typeface="Arial"/>
                  <a:cs typeface="Arial"/>
                  <a:sym typeface="Arial"/>
                </a:defRPr>
              </a:lvl1pPr>
            </a:lstStyle>
            <a:p>
              <a:pPr/>
              <a:r>
                <a:t>Water evaporates: liquid becomes vapour.</a:t>
              </a:r>
            </a:p>
          </p:txBody>
        </p:sp>
      </p:grpSp>
      <p:sp>
        <p:nvSpPr>
          <p:cNvPr id="213" name="wf0_1_arrow"/>
          <p:cNvSpPr txBox="1"/>
          <p:nvPr/>
        </p:nvSpPr>
        <p:spPr>
          <a:xfrm>
            <a:off x="6251295" y="2610448"/>
            <a:ext cx="310897"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369A1"/>
                </a:solidFill>
                <a:latin typeface="Arial"/>
                <a:ea typeface="Arial"/>
                <a:cs typeface="Arial"/>
                <a:sym typeface="Arial"/>
              </a:defRPr>
            </a:lvl1pPr>
          </a:lstStyle>
          <a:p>
            <a:pPr/>
            <a:r>
              <a:t>→</a:t>
            </a:r>
          </a:p>
        </p:txBody>
      </p:sp>
      <p:grpSp>
        <p:nvGrpSpPr>
          <p:cNvPr id="216" name="wf0_2_q"/>
          <p:cNvGrpSpPr/>
          <p:nvPr/>
        </p:nvGrpSpPr>
        <p:grpSpPr>
          <a:xfrm>
            <a:off x="6562191" y="2267711"/>
            <a:ext cx="2384985" cy="969265"/>
            <a:chOff x="0" y="0"/>
            <a:chExt cx="2384984" cy="969263"/>
          </a:xfrm>
        </p:grpSpPr>
        <p:sp>
          <p:nvSpPr>
            <p:cNvPr id="214" name="Rounded Rectangle"/>
            <p:cNvSpPr/>
            <p:nvPr/>
          </p:nvSpPr>
          <p:spPr>
            <a:xfrm>
              <a:off x="0" y="0"/>
              <a:ext cx="2384985" cy="969264"/>
            </a:xfrm>
            <a:prstGeom prst="roundRect">
              <a:avLst>
                <a:gd name="adj" fmla="val 9434"/>
              </a:avLst>
            </a:prstGeom>
            <a:solidFill>
              <a:srgbClr val="DCEEF8"/>
            </a:solidFill>
            <a:ln w="22860" cap="flat">
              <a:solidFill>
                <a:srgbClr val="0A3550"/>
              </a:solidFill>
              <a:prstDash val="dash"/>
              <a:round/>
            </a:ln>
            <a:effectLst/>
          </p:spPr>
          <p:txBody>
            <a:bodyPr wrap="square" lIns="45719" tIns="45719" rIns="45719" bIns="45719" numCol="1" anchor="ctr">
              <a:noAutofit/>
            </a:bodyPr>
            <a:lstStyle/>
            <a:p>
              <a:pPr algn="ctr">
                <a:lnSpc>
                  <a:spcPts val="1600"/>
                </a:lnSpc>
                <a:defRPr sz="2600"/>
              </a:pPr>
            </a:p>
          </p:txBody>
        </p:sp>
        <p:sp>
          <p:nvSpPr>
            <p:cNvPr id="215" name="?"/>
            <p:cNvSpPr txBox="1"/>
            <p:nvPr/>
          </p:nvSpPr>
          <p:spPr>
            <a:xfrm>
              <a:off x="38211" y="252855"/>
              <a:ext cx="2308562" cy="463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b="1" sz="2600">
                  <a:solidFill>
                    <a:srgbClr val="0A3550"/>
                  </a:solidFill>
                  <a:latin typeface="Georgia"/>
                  <a:ea typeface="Georgia"/>
                  <a:cs typeface="Georgia"/>
                  <a:sym typeface="Georgia"/>
                </a:defRPr>
              </a:lvl1pPr>
            </a:lstStyle>
            <a:p>
              <a:pPr/>
              <a:r>
                <a:t>?</a:t>
              </a:r>
            </a:p>
          </p:txBody>
        </p:sp>
      </p:grpSp>
      <p:grpSp>
        <p:nvGrpSpPr>
          <p:cNvPr id="219" name="wf0_2_a"/>
          <p:cNvGrpSpPr/>
          <p:nvPr/>
        </p:nvGrpSpPr>
        <p:grpSpPr>
          <a:xfrm>
            <a:off x="6562191" y="2267711"/>
            <a:ext cx="2384985" cy="969265"/>
            <a:chOff x="0" y="0"/>
            <a:chExt cx="2384984" cy="969263"/>
          </a:xfrm>
        </p:grpSpPr>
        <p:sp>
          <p:nvSpPr>
            <p:cNvPr id="217" name="Rounded Rectangle"/>
            <p:cNvSpPr/>
            <p:nvPr/>
          </p:nvSpPr>
          <p:spPr>
            <a:xfrm>
              <a:off x="0" y="0"/>
              <a:ext cx="2384985" cy="969264"/>
            </a:xfrm>
            <a:prstGeom prst="roundRect">
              <a:avLst>
                <a:gd name="adj" fmla="val 9434"/>
              </a:avLst>
            </a:prstGeom>
            <a:solidFill>
              <a:srgbClr val="FFF6CC"/>
            </a:solidFill>
            <a:ln w="19050" cap="flat">
              <a:solidFill>
                <a:srgbClr val="C23A52"/>
              </a:solidFill>
              <a:prstDash val="solid"/>
              <a:round/>
            </a:ln>
            <a:effectLst/>
          </p:spPr>
          <p:txBody>
            <a:bodyPr wrap="square" lIns="45719" tIns="45719" rIns="45719" bIns="45719" numCol="1" anchor="ctr">
              <a:noAutofit/>
            </a:bodyPr>
            <a:lstStyle/>
            <a:p>
              <a:pPr algn="ctr">
                <a:lnSpc>
                  <a:spcPts val="1500"/>
                </a:lnSpc>
                <a:defRPr sz="1200"/>
              </a:pPr>
            </a:p>
          </p:txBody>
        </p:sp>
        <p:sp>
          <p:nvSpPr>
            <p:cNvPr id="218" name="The vapour rises, cools and condenses into cloud."/>
            <p:cNvSpPr txBox="1"/>
            <p:nvPr/>
          </p:nvSpPr>
          <p:spPr>
            <a:xfrm>
              <a:off x="36306" y="182734"/>
              <a:ext cx="2312372" cy="6037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500"/>
                </a:lnSpc>
                <a:defRPr b="1" sz="1200">
                  <a:solidFill>
                    <a:srgbClr val="0A3550"/>
                  </a:solidFill>
                  <a:latin typeface="Arial"/>
                  <a:ea typeface="Arial"/>
                  <a:cs typeface="Arial"/>
                  <a:sym typeface="Arial"/>
                </a:defRPr>
              </a:lvl1pPr>
            </a:lstStyle>
            <a:p>
              <a:pPr/>
              <a:r>
                <a:t>The vapour rises, cools and condenses into cloud.</a:t>
              </a:r>
            </a:p>
          </p:txBody>
        </p:sp>
      </p:grpSp>
      <p:sp>
        <p:nvSpPr>
          <p:cNvPr id="220" name="wf0_2_arrow"/>
          <p:cNvSpPr txBox="1"/>
          <p:nvPr/>
        </p:nvSpPr>
        <p:spPr>
          <a:xfrm>
            <a:off x="8947174" y="2610448"/>
            <a:ext cx="310897"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369A1"/>
                </a:solidFill>
                <a:latin typeface="Arial"/>
                <a:ea typeface="Arial"/>
                <a:cs typeface="Arial"/>
                <a:sym typeface="Arial"/>
              </a:defRPr>
            </a:lvl1pPr>
          </a:lstStyle>
          <a:p>
            <a:pPr/>
            <a:r>
              <a:t>→</a:t>
            </a:r>
          </a:p>
        </p:txBody>
      </p:sp>
      <p:grpSp>
        <p:nvGrpSpPr>
          <p:cNvPr id="223" name="wf0_3_q"/>
          <p:cNvGrpSpPr/>
          <p:nvPr/>
        </p:nvGrpSpPr>
        <p:grpSpPr>
          <a:xfrm>
            <a:off x="9258071" y="2267711"/>
            <a:ext cx="2384985" cy="969265"/>
            <a:chOff x="0" y="0"/>
            <a:chExt cx="2384984" cy="969263"/>
          </a:xfrm>
        </p:grpSpPr>
        <p:sp>
          <p:nvSpPr>
            <p:cNvPr id="221" name="Rounded Rectangle"/>
            <p:cNvSpPr/>
            <p:nvPr/>
          </p:nvSpPr>
          <p:spPr>
            <a:xfrm>
              <a:off x="0" y="0"/>
              <a:ext cx="2384985" cy="969264"/>
            </a:xfrm>
            <a:prstGeom prst="roundRect">
              <a:avLst>
                <a:gd name="adj" fmla="val 9434"/>
              </a:avLst>
            </a:prstGeom>
            <a:solidFill>
              <a:srgbClr val="FFFFFF"/>
            </a:solidFill>
            <a:ln w="15240" cap="flat">
              <a:solidFill>
                <a:srgbClr val="B7D3E4"/>
              </a:solidFill>
              <a:prstDash val="solid"/>
              <a:round/>
            </a:ln>
            <a:effectLst/>
          </p:spPr>
          <p:txBody>
            <a:bodyPr wrap="square" lIns="45719" tIns="45719" rIns="45719" bIns="45719" numCol="1" anchor="ctr">
              <a:noAutofit/>
            </a:bodyPr>
            <a:lstStyle/>
            <a:p>
              <a:pPr algn="ctr">
                <a:lnSpc>
                  <a:spcPts val="1600"/>
                </a:lnSpc>
                <a:defRPr sz="1300"/>
              </a:pPr>
            </a:p>
          </p:txBody>
        </p:sp>
        <p:sp>
          <p:nvSpPr>
            <p:cNvPr id="222" name="Rain and snow fall: precipitation."/>
            <p:cNvSpPr txBox="1"/>
            <p:nvPr/>
          </p:nvSpPr>
          <p:spPr>
            <a:xfrm>
              <a:off x="34401" y="169958"/>
              <a:ext cx="2316182" cy="6293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sz="1300">
                  <a:solidFill>
                    <a:srgbClr val="0B2A3C"/>
                  </a:solidFill>
                  <a:latin typeface="Arial"/>
                  <a:ea typeface="Arial"/>
                  <a:cs typeface="Arial"/>
                  <a:sym typeface="Arial"/>
                </a:defRPr>
              </a:lvl1pPr>
            </a:lstStyle>
            <a:p>
              <a:pPr/>
              <a:r>
                <a:t>Rain and snow fall: precipitation.</a:t>
              </a:r>
            </a:p>
          </p:txBody>
        </p:sp>
      </p:grpSp>
      <p:grpSp>
        <p:nvGrpSpPr>
          <p:cNvPr id="226" name="wf1_0_q"/>
          <p:cNvGrpSpPr/>
          <p:nvPr/>
        </p:nvGrpSpPr>
        <p:grpSpPr>
          <a:xfrm>
            <a:off x="1170432" y="3364991"/>
            <a:ext cx="2384985" cy="969265"/>
            <a:chOff x="0" y="0"/>
            <a:chExt cx="2384984" cy="969263"/>
          </a:xfrm>
        </p:grpSpPr>
        <p:sp>
          <p:nvSpPr>
            <p:cNvPr id="224" name="Rounded Rectangle"/>
            <p:cNvSpPr/>
            <p:nvPr/>
          </p:nvSpPr>
          <p:spPr>
            <a:xfrm>
              <a:off x="0" y="0"/>
              <a:ext cx="2384985" cy="969264"/>
            </a:xfrm>
            <a:prstGeom prst="roundRect">
              <a:avLst>
                <a:gd name="adj" fmla="val 9434"/>
              </a:avLst>
            </a:prstGeom>
            <a:solidFill>
              <a:srgbClr val="FFFFFF"/>
            </a:solidFill>
            <a:ln w="15240" cap="flat">
              <a:solidFill>
                <a:srgbClr val="B7D3E4"/>
              </a:solidFill>
              <a:prstDash val="solid"/>
              <a:round/>
            </a:ln>
            <a:effectLst/>
          </p:spPr>
          <p:txBody>
            <a:bodyPr wrap="square" lIns="45719" tIns="45719" rIns="45719" bIns="45719" numCol="1" anchor="ctr">
              <a:noAutofit/>
            </a:bodyPr>
            <a:lstStyle/>
            <a:p>
              <a:pPr algn="ctr">
                <a:lnSpc>
                  <a:spcPts val="1600"/>
                </a:lnSpc>
                <a:defRPr sz="1300"/>
              </a:pPr>
            </a:p>
          </p:txBody>
        </p:sp>
        <p:sp>
          <p:nvSpPr>
            <p:cNvPr id="225" name="Rain falls on a hill."/>
            <p:cNvSpPr txBox="1"/>
            <p:nvPr/>
          </p:nvSpPr>
          <p:spPr>
            <a:xfrm>
              <a:off x="34401" y="271558"/>
              <a:ext cx="2316182" cy="426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sz="1300">
                  <a:solidFill>
                    <a:srgbClr val="0B2A3C"/>
                  </a:solidFill>
                  <a:latin typeface="Arial"/>
                  <a:ea typeface="Arial"/>
                  <a:cs typeface="Arial"/>
                  <a:sym typeface="Arial"/>
                </a:defRPr>
              </a:lvl1pPr>
            </a:lstStyle>
            <a:p>
              <a:pPr/>
              <a:r>
                <a:t>Rain falls on a hill.</a:t>
              </a:r>
            </a:p>
          </p:txBody>
        </p:sp>
      </p:grpSp>
      <p:sp>
        <p:nvSpPr>
          <p:cNvPr id="227" name="wf1_0_arrow"/>
          <p:cNvSpPr txBox="1"/>
          <p:nvPr/>
        </p:nvSpPr>
        <p:spPr>
          <a:xfrm>
            <a:off x="3555415" y="3707728"/>
            <a:ext cx="310897"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369A1"/>
                </a:solidFill>
                <a:latin typeface="Arial"/>
                <a:ea typeface="Arial"/>
                <a:cs typeface="Arial"/>
                <a:sym typeface="Arial"/>
              </a:defRPr>
            </a:lvl1pPr>
          </a:lstStyle>
          <a:p>
            <a:pPr/>
            <a:r>
              <a:t>→</a:t>
            </a:r>
          </a:p>
        </p:txBody>
      </p:sp>
      <p:grpSp>
        <p:nvGrpSpPr>
          <p:cNvPr id="230" name="wf1_1_q"/>
          <p:cNvGrpSpPr/>
          <p:nvPr/>
        </p:nvGrpSpPr>
        <p:grpSpPr>
          <a:xfrm>
            <a:off x="3866312" y="3364991"/>
            <a:ext cx="2384985" cy="969265"/>
            <a:chOff x="0" y="0"/>
            <a:chExt cx="2384984" cy="969263"/>
          </a:xfrm>
        </p:grpSpPr>
        <p:sp>
          <p:nvSpPr>
            <p:cNvPr id="228" name="Rounded Rectangle"/>
            <p:cNvSpPr/>
            <p:nvPr/>
          </p:nvSpPr>
          <p:spPr>
            <a:xfrm>
              <a:off x="0" y="0"/>
              <a:ext cx="2384985" cy="969264"/>
            </a:xfrm>
            <a:prstGeom prst="roundRect">
              <a:avLst>
                <a:gd name="adj" fmla="val 9434"/>
              </a:avLst>
            </a:prstGeom>
            <a:solidFill>
              <a:srgbClr val="DCEEF8"/>
            </a:solidFill>
            <a:ln w="22860" cap="flat">
              <a:solidFill>
                <a:srgbClr val="0A3550"/>
              </a:solidFill>
              <a:prstDash val="dash"/>
              <a:round/>
            </a:ln>
            <a:effectLst/>
          </p:spPr>
          <p:txBody>
            <a:bodyPr wrap="square" lIns="45719" tIns="45719" rIns="45719" bIns="45719" numCol="1" anchor="ctr">
              <a:noAutofit/>
            </a:bodyPr>
            <a:lstStyle/>
            <a:p>
              <a:pPr algn="ctr">
                <a:lnSpc>
                  <a:spcPts val="1600"/>
                </a:lnSpc>
                <a:defRPr sz="2600"/>
              </a:pPr>
            </a:p>
          </p:txBody>
        </p:sp>
        <p:sp>
          <p:nvSpPr>
            <p:cNvPr id="229" name="?"/>
            <p:cNvSpPr txBox="1"/>
            <p:nvPr/>
          </p:nvSpPr>
          <p:spPr>
            <a:xfrm>
              <a:off x="38211" y="252855"/>
              <a:ext cx="2308562" cy="463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b="1" sz="2600">
                  <a:solidFill>
                    <a:srgbClr val="0A3550"/>
                  </a:solidFill>
                  <a:latin typeface="Georgia"/>
                  <a:ea typeface="Georgia"/>
                  <a:cs typeface="Georgia"/>
                  <a:sym typeface="Georgia"/>
                </a:defRPr>
              </a:lvl1pPr>
            </a:lstStyle>
            <a:p>
              <a:pPr/>
              <a:r>
                <a:t>?</a:t>
              </a:r>
            </a:p>
          </p:txBody>
        </p:sp>
      </p:grpSp>
      <p:grpSp>
        <p:nvGrpSpPr>
          <p:cNvPr id="233" name="wf1_1_a"/>
          <p:cNvGrpSpPr/>
          <p:nvPr/>
        </p:nvGrpSpPr>
        <p:grpSpPr>
          <a:xfrm>
            <a:off x="3866312" y="3364991"/>
            <a:ext cx="2384985" cy="969265"/>
            <a:chOff x="0" y="0"/>
            <a:chExt cx="2384984" cy="969263"/>
          </a:xfrm>
        </p:grpSpPr>
        <p:sp>
          <p:nvSpPr>
            <p:cNvPr id="231" name="Rounded Rectangle"/>
            <p:cNvSpPr/>
            <p:nvPr/>
          </p:nvSpPr>
          <p:spPr>
            <a:xfrm>
              <a:off x="0" y="0"/>
              <a:ext cx="2384985" cy="969264"/>
            </a:xfrm>
            <a:prstGeom prst="roundRect">
              <a:avLst>
                <a:gd name="adj" fmla="val 9434"/>
              </a:avLst>
            </a:prstGeom>
            <a:solidFill>
              <a:srgbClr val="FFF6CC"/>
            </a:solidFill>
            <a:ln w="19050" cap="flat">
              <a:solidFill>
                <a:srgbClr val="C23A52"/>
              </a:solidFill>
              <a:prstDash val="solid"/>
              <a:round/>
            </a:ln>
            <a:effectLst/>
          </p:spPr>
          <p:txBody>
            <a:bodyPr wrap="square" lIns="45719" tIns="45719" rIns="45719" bIns="45719" numCol="1" anchor="ctr">
              <a:noAutofit/>
            </a:bodyPr>
            <a:lstStyle/>
            <a:p>
              <a:pPr algn="ctr">
                <a:lnSpc>
                  <a:spcPts val="1500"/>
                </a:lnSpc>
                <a:defRPr sz="1200"/>
              </a:pPr>
            </a:p>
          </p:txBody>
        </p:sp>
        <p:sp>
          <p:nvSpPr>
            <p:cNvPr id="232" name="Some runs over the ground into a river (runoff)."/>
            <p:cNvSpPr txBox="1"/>
            <p:nvPr/>
          </p:nvSpPr>
          <p:spPr>
            <a:xfrm>
              <a:off x="36306" y="182734"/>
              <a:ext cx="2312372" cy="6037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500"/>
                </a:lnSpc>
                <a:defRPr b="1" sz="1200">
                  <a:solidFill>
                    <a:srgbClr val="0A3550"/>
                  </a:solidFill>
                  <a:latin typeface="Arial"/>
                  <a:ea typeface="Arial"/>
                  <a:cs typeface="Arial"/>
                  <a:sym typeface="Arial"/>
                </a:defRPr>
              </a:lvl1pPr>
            </a:lstStyle>
            <a:p>
              <a:pPr/>
              <a:r>
                <a:t>Some runs over the ground into a river (runoff).</a:t>
              </a:r>
            </a:p>
          </p:txBody>
        </p:sp>
      </p:grpSp>
      <p:sp>
        <p:nvSpPr>
          <p:cNvPr id="234" name="wf1_1_arrow"/>
          <p:cNvSpPr txBox="1"/>
          <p:nvPr/>
        </p:nvSpPr>
        <p:spPr>
          <a:xfrm>
            <a:off x="6251295" y="3707728"/>
            <a:ext cx="310897"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369A1"/>
                </a:solidFill>
                <a:latin typeface="Arial"/>
                <a:ea typeface="Arial"/>
                <a:cs typeface="Arial"/>
                <a:sym typeface="Arial"/>
              </a:defRPr>
            </a:lvl1pPr>
          </a:lstStyle>
          <a:p>
            <a:pPr/>
            <a:r>
              <a:t>→</a:t>
            </a:r>
          </a:p>
        </p:txBody>
      </p:sp>
      <p:grpSp>
        <p:nvGrpSpPr>
          <p:cNvPr id="237" name="wf1_2_q"/>
          <p:cNvGrpSpPr/>
          <p:nvPr/>
        </p:nvGrpSpPr>
        <p:grpSpPr>
          <a:xfrm>
            <a:off x="6562191" y="3364991"/>
            <a:ext cx="2384985" cy="969265"/>
            <a:chOff x="0" y="0"/>
            <a:chExt cx="2384984" cy="969263"/>
          </a:xfrm>
        </p:grpSpPr>
        <p:sp>
          <p:nvSpPr>
            <p:cNvPr id="235" name="Rounded Rectangle"/>
            <p:cNvSpPr/>
            <p:nvPr/>
          </p:nvSpPr>
          <p:spPr>
            <a:xfrm>
              <a:off x="0" y="0"/>
              <a:ext cx="2384985" cy="969264"/>
            </a:xfrm>
            <a:prstGeom prst="roundRect">
              <a:avLst>
                <a:gd name="adj" fmla="val 9434"/>
              </a:avLst>
            </a:prstGeom>
            <a:solidFill>
              <a:srgbClr val="DCEEF8"/>
            </a:solidFill>
            <a:ln w="22860" cap="flat">
              <a:solidFill>
                <a:srgbClr val="0A3550"/>
              </a:solidFill>
              <a:prstDash val="dash"/>
              <a:round/>
            </a:ln>
            <a:effectLst/>
          </p:spPr>
          <p:txBody>
            <a:bodyPr wrap="square" lIns="45719" tIns="45719" rIns="45719" bIns="45719" numCol="1" anchor="ctr">
              <a:noAutofit/>
            </a:bodyPr>
            <a:lstStyle/>
            <a:p>
              <a:pPr algn="ctr">
                <a:lnSpc>
                  <a:spcPts val="1600"/>
                </a:lnSpc>
                <a:defRPr sz="2600"/>
              </a:pPr>
            </a:p>
          </p:txBody>
        </p:sp>
        <p:sp>
          <p:nvSpPr>
            <p:cNvPr id="236" name="?"/>
            <p:cNvSpPr txBox="1"/>
            <p:nvPr/>
          </p:nvSpPr>
          <p:spPr>
            <a:xfrm>
              <a:off x="38211" y="252855"/>
              <a:ext cx="2308562" cy="463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b="1" sz="2600">
                  <a:solidFill>
                    <a:srgbClr val="0A3550"/>
                  </a:solidFill>
                  <a:latin typeface="Georgia"/>
                  <a:ea typeface="Georgia"/>
                  <a:cs typeface="Georgia"/>
                  <a:sym typeface="Georgia"/>
                </a:defRPr>
              </a:lvl1pPr>
            </a:lstStyle>
            <a:p>
              <a:pPr/>
              <a:r>
                <a:t>?</a:t>
              </a:r>
            </a:p>
          </p:txBody>
        </p:sp>
      </p:grpSp>
      <p:grpSp>
        <p:nvGrpSpPr>
          <p:cNvPr id="240" name="wf1_2_a"/>
          <p:cNvGrpSpPr/>
          <p:nvPr/>
        </p:nvGrpSpPr>
        <p:grpSpPr>
          <a:xfrm>
            <a:off x="6562191" y="3364991"/>
            <a:ext cx="2384985" cy="969265"/>
            <a:chOff x="0" y="0"/>
            <a:chExt cx="2384984" cy="969263"/>
          </a:xfrm>
        </p:grpSpPr>
        <p:sp>
          <p:nvSpPr>
            <p:cNvPr id="238" name="Rounded Rectangle"/>
            <p:cNvSpPr/>
            <p:nvPr/>
          </p:nvSpPr>
          <p:spPr>
            <a:xfrm>
              <a:off x="0" y="0"/>
              <a:ext cx="2384985" cy="969264"/>
            </a:xfrm>
            <a:prstGeom prst="roundRect">
              <a:avLst>
                <a:gd name="adj" fmla="val 9434"/>
              </a:avLst>
            </a:prstGeom>
            <a:solidFill>
              <a:srgbClr val="FFF6CC"/>
            </a:solidFill>
            <a:ln w="19050" cap="flat">
              <a:solidFill>
                <a:srgbClr val="C23A52"/>
              </a:solidFill>
              <a:prstDash val="solid"/>
              <a:round/>
            </a:ln>
            <a:effectLst/>
          </p:spPr>
          <p:txBody>
            <a:bodyPr wrap="square" lIns="45719" tIns="45719" rIns="45719" bIns="45719" numCol="1" anchor="ctr">
              <a:noAutofit/>
            </a:bodyPr>
            <a:lstStyle/>
            <a:p>
              <a:pPr algn="ctr">
                <a:lnSpc>
                  <a:spcPts val="1500"/>
                </a:lnSpc>
                <a:defRPr sz="1200"/>
              </a:pPr>
            </a:p>
          </p:txBody>
        </p:sp>
        <p:sp>
          <p:nvSpPr>
            <p:cNvPr id="239" name="Some soaks into the ground (infiltration) and becomes groundwater."/>
            <p:cNvSpPr txBox="1"/>
            <p:nvPr/>
          </p:nvSpPr>
          <p:spPr>
            <a:xfrm>
              <a:off x="36306" y="87484"/>
              <a:ext cx="2312372" cy="7942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500"/>
                </a:lnSpc>
                <a:defRPr b="1" sz="1200">
                  <a:solidFill>
                    <a:srgbClr val="0A3550"/>
                  </a:solidFill>
                  <a:latin typeface="Arial"/>
                  <a:ea typeface="Arial"/>
                  <a:cs typeface="Arial"/>
                  <a:sym typeface="Arial"/>
                </a:defRPr>
              </a:lvl1pPr>
            </a:lstStyle>
            <a:p>
              <a:pPr/>
              <a:r>
                <a:t>Some soaks into the ground (infiltration) and becomes groundwater.</a:t>
              </a:r>
            </a:p>
          </p:txBody>
        </p:sp>
      </p:grpSp>
      <p:sp>
        <p:nvSpPr>
          <p:cNvPr id="241" name="wf1_2_arrow"/>
          <p:cNvSpPr txBox="1"/>
          <p:nvPr/>
        </p:nvSpPr>
        <p:spPr>
          <a:xfrm>
            <a:off x="8947174" y="3707728"/>
            <a:ext cx="310897"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369A1"/>
                </a:solidFill>
                <a:latin typeface="Arial"/>
                <a:ea typeface="Arial"/>
                <a:cs typeface="Arial"/>
                <a:sym typeface="Arial"/>
              </a:defRPr>
            </a:lvl1pPr>
          </a:lstStyle>
          <a:p>
            <a:pPr/>
            <a:r>
              <a:t>→</a:t>
            </a:r>
          </a:p>
        </p:txBody>
      </p:sp>
      <p:grpSp>
        <p:nvGrpSpPr>
          <p:cNvPr id="244" name="wf1_3_q"/>
          <p:cNvGrpSpPr/>
          <p:nvPr/>
        </p:nvGrpSpPr>
        <p:grpSpPr>
          <a:xfrm>
            <a:off x="9258071" y="3364991"/>
            <a:ext cx="2384985" cy="969265"/>
            <a:chOff x="0" y="0"/>
            <a:chExt cx="2384984" cy="969263"/>
          </a:xfrm>
        </p:grpSpPr>
        <p:sp>
          <p:nvSpPr>
            <p:cNvPr id="242" name="Rounded Rectangle"/>
            <p:cNvSpPr/>
            <p:nvPr/>
          </p:nvSpPr>
          <p:spPr>
            <a:xfrm>
              <a:off x="0" y="0"/>
              <a:ext cx="2384985" cy="969264"/>
            </a:xfrm>
            <a:prstGeom prst="roundRect">
              <a:avLst>
                <a:gd name="adj" fmla="val 9434"/>
              </a:avLst>
            </a:prstGeom>
            <a:solidFill>
              <a:srgbClr val="FFFFFF"/>
            </a:solidFill>
            <a:ln w="15240" cap="flat">
              <a:solidFill>
                <a:srgbClr val="B7D3E4"/>
              </a:solidFill>
              <a:prstDash val="solid"/>
              <a:round/>
            </a:ln>
            <a:effectLst/>
          </p:spPr>
          <p:txBody>
            <a:bodyPr wrap="square" lIns="45719" tIns="45719" rIns="45719" bIns="45719" numCol="1" anchor="ctr">
              <a:noAutofit/>
            </a:bodyPr>
            <a:lstStyle/>
            <a:p>
              <a:pPr algn="ctr">
                <a:lnSpc>
                  <a:spcPts val="1600"/>
                </a:lnSpc>
                <a:defRPr sz="1300"/>
              </a:pPr>
            </a:p>
          </p:txBody>
        </p:sp>
        <p:sp>
          <p:nvSpPr>
            <p:cNvPr id="243" name="The river refills in months. Deep groundwater can take thousands of years."/>
            <p:cNvSpPr txBox="1"/>
            <p:nvPr/>
          </p:nvSpPr>
          <p:spPr>
            <a:xfrm>
              <a:off x="34401" y="68358"/>
              <a:ext cx="2316182" cy="832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sz="1300">
                  <a:solidFill>
                    <a:srgbClr val="0B2A3C"/>
                  </a:solidFill>
                  <a:latin typeface="Arial"/>
                  <a:ea typeface="Arial"/>
                  <a:cs typeface="Arial"/>
                  <a:sym typeface="Arial"/>
                </a:defRPr>
              </a:lvl1pPr>
            </a:lstStyle>
            <a:p>
              <a:pPr/>
              <a:r>
                <a:t>The river refills in months. Deep groundwater can take thousands of years.</a:t>
              </a:r>
            </a:p>
          </p:txBody>
        </p:sp>
      </p:grpSp>
      <p:grpSp>
        <p:nvGrpSpPr>
          <p:cNvPr id="247" name="wf2_0_q"/>
          <p:cNvGrpSpPr/>
          <p:nvPr/>
        </p:nvGrpSpPr>
        <p:grpSpPr>
          <a:xfrm>
            <a:off x="1170432" y="4462271"/>
            <a:ext cx="2384985" cy="969265"/>
            <a:chOff x="0" y="0"/>
            <a:chExt cx="2384984" cy="969263"/>
          </a:xfrm>
        </p:grpSpPr>
        <p:sp>
          <p:nvSpPr>
            <p:cNvPr id="245" name="Rounded Rectangle"/>
            <p:cNvSpPr/>
            <p:nvPr/>
          </p:nvSpPr>
          <p:spPr>
            <a:xfrm>
              <a:off x="0" y="0"/>
              <a:ext cx="2384985" cy="969264"/>
            </a:xfrm>
            <a:prstGeom prst="roundRect">
              <a:avLst>
                <a:gd name="adj" fmla="val 9434"/>
              </a:avLst>
            </a:prstGeom>
            <a:solidFill>
              <a:srgbClr val="FFFFFF"/>
            </a:solidFill>
            <a:ln w="15240" cap="flat">
              <a:solidFill>
                <a:srgbClr val="B7D3E4"/>
              </a:solidFill>
              <a:prstDash val="solid"/>
              <a:round/>
            </a:ln>
            <a:effectLst/>
          </p:spPr>
          <p:txBody>
            <a:bodyPr wrap="square" lIns="45719" tIns="45719" rIns="45719" bIns="45719" numCol="1" anchor="ctr">
              <a:noAutofit/>
            </a:bodyPr>
            <a:lstStyle/>
            <a:p>
              <a:pPr algn="ctr">
                <a:lnSpc>
                  <a:spcPts val="1600"/>
                </a:lnSpc>
                <a:defRPr sz="1300"/>
              </a:pPr>
            </a:p>
          </p:txBody>
        </p:sp>
        <p:sp>
          <p:nvSpPr>
            <p:cNvPr id="246" name="Snow falls on a mountain."/>
            <p:cNvSpPr txBox="1"/>
            <p:nvPr/>
          </p:nvSpPr>
          <p:spPr>
            <a:xfrm>
              <a:off x="34401" y="271558"/>
              <a:ext cx="2316182" cy="426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sz="1300">
                  <a:solidFill>
                    <a:srgbClr val="0B2A3C"/>
                  </a:solidFill>
                  <a:latin typeface="Arial"/>
                  <a:ea typeface="Arial"/>
                  <a:cs typeface="Arial"/>
                  <a:sym typeface="Arial"/>
                </a:defRPr>
              </a:lvl1pPr>
            </a:lstStyle>
            <a:p>
              <a:pPr/>
              <a:r>
                <a:t>Snow falls on a mountain.</a:t>
              </a:r>
            </a:p>
          </p:txBody>
        </p:sp>
      </p:grpSp>
      <p:sp>
        <p:nvSpPr>
          <p:cNvPr id="248" name="wf2_0_arrow"/>
          <p:cNvSpPr txBox="1"/>
          <p:nvPr/>
        </p:nvSpPr>
        <p:spPr>
          <a:xfrm>
            <a:off x="3555415" y="4805008"/>
            <a:ext cx="310897"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369A1"/>
                </a:solidFill>
                <a:latin typeface="Arial"/>
                <a:ea typeface="Arial"/>
                <a:cs typeface="Arial"/>
                <a:sym typeface="Arial"/>
              </a:defRPr>
            </a:lvl1pPr>
          </a:lstStyle>
          <a:p>
            <a:pPr/>
            <a:r>
              <a:t>→</a:t>
            </a:r>
          </a:p>
        </p:txBody>
      </p:sp>
      <p:grpSp>
        <p:nvGrpSpPr>
          <p:cNvPr id="251" name="wf2_1_q"/>
          <p:cNvGrpSpPr/>
          <p:nvPr/>
        </p:nvGrpSpPr>
        <p:grpSpPr>
          <a:xfrm>
            <a:off x="3866312" y="4462271"/>
            <a:ext cx="2384985" cy="969265"/>
            <a:chOff x="0" y="0"/>
            <a:chExt cx="2384984" cy="969263"/>
          </a:xfrm>
        </p:grpSpPr>
        <p:sp>
          <p:nvSpPr>
            <p:cNvPr id="249" name="Rounded Rectangle"/>
            <p:cNvSpPr/>
            <p:nvPr/>
          </p:nvSpPr>
          <p:spPr>
            <a:xfrm>
              <a:off x="0" y="0"/>
              <a:ext cx="2384985" cy="969264"/>
            </a:xfrm>
            <a:prstGeom prst="roundRect">
              <a:avLst>
                <a:gd name="adj" fmla="val 9434"/>
              </a:avLst>
            </a:prstGeom>
            <a:solidFill>
              <a:srgbClr val="DCEEF8"/>
            </a:solidFill>
            <a:ln w="22860" cap="flat">
              <a:solidFill>
                <a:srgbClr val="0A3550"/>
              </a:solidFill>
              <a:prstDash val="dash"/>
              <a:round/>
            </a:ln>
            <a:effectLst/>
          </p:spPr>
          <p:txBody>
            <a:bodyPr wrap="square" lIns="45719" tIns="45719" rIns="45719" bIns="45719" numCol="1" anchor="ctr">
              <a:noAutofit/>
            </a:bodyPr>
            <a:lstStyle/>
            <a:p>
              <a:pPr algn="ctr">
                <a:lnSpc>
                  <a:spcPts val="1600"/>
                </a:lnSpc>
                <a:defRPr sz="2600"/>
              </a:pPr>
            </a:p>
          </p:txBody>
        </p:sp>
        <p:sp>
          <p:nvSpPr>
            <p:cNvPr id="250" name="?"/>
            <p:cNvSpPr txBox="1"/>
            <p:nvPr/>
          </p:nvSpPr>
          <p:spPr>
            <a:xfrm>
              <a:off x="38211" y="252855"/>
              <a:ext cx="2308562" cy="463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b="1" sz="2600">
                  <a:solidFill>
                    <a:srgbClr val="0A3550"/>
                  </a:solidFill>
                  <a:latin typeface="Georgia"/>
                  <a:ea typeface="Georgia"/>
                  <a:cs typeface="Georgia"/>
                  <a:sym typeface="Georgia"/>
                </a:defRPr>
              </a:lvl1pPr>
            </a:lstStyle>
            <a:p>
              <a:pPr/>
              <a:r>
                <a:t>?</a:t>
              </a:r>
            </a:p>
          </p:txBody>
        </p:sp>
      </p:grpSp>
      <p:grpSp>
        <p:nvGrpSpPr>
          <p:cNvPr id="254" name="wf2_1_a"/>
          <p:cNvGrpSpPr/>
          <p:nvPr/>
        </p:nvGrpSpPr>
        <p:grpSpPr>
          <a:xfrm>
            <a:off x="3866312" y="4462271"/>
            <a:ext cx="2384985" cy="969265"/>
            <a:chOff x="0" y="0"/>
            <a:chExt cx="2384984" cy="969263"/>
          </a:xfrm>
        </p:grpSpPr>
        <p:sp>
          <p:nvSpPr>
            <p:cNvPr id="252" name="Rounded Rectangle"/>
            <p:cNvSpPr/>
            <p:nvPr/>
          </p:nvSpPr>
          <p:spPr>
            <a:xfrm>
              <a:off x="0" y="0"/>
              <a:ext cx="2384985" cy="969264"/>
            </a:xfrm>
            <a:prstGeom prst="roundRect">
              <a:avLst>
                <a:gd name="adj" fmla="val 9434"/>
              </a:avLst>
            </a:prstGeom>
            <a:solidFill>
              <a:srgbClr val="FFF6CC"/>
            </a:solidFill>
            <a:ln w="19050" cap="flat">
              <a:solidFill>
                <a:srgbClr val="C23A52"/>
              </a:solidFill>
              <a:prstDash val="solid"/>
              <a:round/>
            </a:ln>
            <a:effectLst/>
          </p:spPr>
          <p:txBody>
            <a:bodyPr wrap="square" lIns="45719" tIns="45719" rIns="45719" bIns="45719" numCol="1" anchor="ctr">
              <a:noAutofit/>
            </a:bodyPr>
            <a:lstStyle/>
            <a:p>
              <a:pPr algn="ctr">
                <a:lnSpc>
                  <a:spcPts val="1500"/>
                </a:lnSpc>
                <a:defRPr sz="1200"/>
              </a:pPr>
            </a:p>
          </p:txBody>
        </p:sp>
        <p:sp>
          <p:nvSpPr>
            <p:cNvPr id="253" name="It builds up as ice in a glacier."/>
            <p:cNvSpPr txBox="1"/>
            <p:nvPr/>
          </p:nvSpPr>
          <p:spPr>
            <a:xfrm>
              <a:off x="36306" y="182734"/>
              <a:ext cx="2312372" cy="6037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500"/>
                </a:lnSpc>
                <a:defRPr b="1" sz="1200">
                  <a:solidFill>
                    <a:srgbClr val="0A3550"/>
                  </a:solidFill>
                  <a:latin typeface="Arial"/>
                  <a:ea typeface="Arial"/>
                  <a:cs typeface="Arial"/>
                  <a:sym typeface="Arial"/>
                </a:defRPr>
              </a:lvl1pPr>
            </a:lstStyle>
            <a:p>
              <a:pPr/>
              <a:r>
                <a:t>It builds up as ice in a glacier.</a:t>
              </a:r>
            </a:p>
          </p:txBody>
        </p:sp>
      </p:grpSp>
      <p:sp>
        <p:nvSpPr>
          <p:cNvPr id="255" name="wf2_1_arrow"/>
          <p:cNvSpPr txBox="1"/>
          <p:nvPr/>
        </p:nvSpPr>
        <p:spPr>
          <a:xfrm>
            <a:off x="6251295" y="4805008"/>
            <a:ext cx="310897"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369A1"/>
                </a:solidFill>
                <a:latin typeface="Arial"/>
                <a:ea typeface="Arial"/>
                <a:cs typeface="Arial"/>
                <a:sym typeface="Arial"/>
              </a:defRPr>
            </a:lvl1pPr>
          </a:lstStyle>
          <a:p>
            <a:pPr/>
            <a:r>
              <a:t>→</a:t>
            </a:r>
          </a:p>
        </p:txBody>
      </p:sp>
      <p:grpSp>
        <p:nvGrpSpPr>
          <p:cNvPr id="258" name="wf2_2_q"/>
          <p:cNvGrpSpPr/>
          <p:nvPr/>
        </p:nvGrpSpPr>
        <p:grpSpPr>
          <a:xfrm>
            <a:off x="6562191" y="4462271"/>
            <a:ext cx="2384985" cy="969265"/>
            <a:chOff x="0" y="0"/>
            <a:chExt cx="2384984" cy="969263"/>
          </a:xfrm>
        </p:grpSpPr>
        <p:sp>
          <p:nvSpPr>
            <p:cNvPr id="256" name="Rounded Rectangle"/>
            <p:cNvSpPr/>
            <p:nvPr/>
          </p:nvSpPr>
          <p:spPr>
            <a:xfrm>
              <a:off x="0" y="0"/>
              <a:ext cx="2384985" cy="969264"/>
            </a:xfrm>
            <a:prstGeom prst="roundRect">
              <a:avLst>
                <a:gd name="adj" fmla="val 9434"/>
              </a:avLst>
            </a:prstGeom>
            <a:solidFill>
              <a:srgbClr val="DCEEF8"/>
            </a:solidFill>
            <a:ln w="22860" cap="flat">
              <a:solidFill>
                <a:srgbClr val="0A3550"/>
              </a:solidFill>
              <a:prstDash val="dash"/>
              <a:round/>
            </a:ln>
            <a:effectLst/>
          </p:spPr>
          <p:txBody>
            <a:bodyPr wrap="square" lIns="45719" tIns="45719" rIns="45719" bIns="45719" numCol="1" anchor="ctr">
              <a:noAutofit/>
            </a:bodyPr>
            <a:lstStyle/>
            <a:p>
              <a:pPr algn="ctr">
                <a:lnSpc>
                  <a:spcPts val="1600"/>
                </a:lnSpc>
                <a:defRPr sz="2600"/>
              </a:pPr>
            </a:p>
          </p:txBody>
        </p:sp>
        <p:sp>
          <p:nvSpPr>
            <p:cNvPr id="257" name="?"/>
            <p:cNvSpPr txBox="1"/>
            <p:nvPr/>
          </p:nvSpPr>
          <p:spPr>
            <a:xfrm>
              <a:off x="38211" y="252855"/>
              <a:ext cx="2308562" cy="463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b="1" sz="2600">
                  <a:solidFill>
                    <a:srgbClr val="0A3550"/>
                  </a:solidFill>
                  <a:latin typeface="Georgia"/>
                  <a:ea typeface="Georgia"/>
                  <a:cs typeface="Georgia"/>
                  <a:sym typeface="Georgia"/>
                </a:defRPr>
              </a:lvl1pPr>
            </a:lstStyle>
            <a:p>
              <a:pPr/>
              <a:r>
                <a:t>?</a:t>
              </a:r>
            </a:p>
          </p:txBody>
        </p:sp>
      </p:grpSp>
      <p:grpSp>
        <p:nvGrpSpPr>
          <p:cNvPr id="261" name="wf2_2_a"/>
          <p:cNvGrpSpPr/>
          <p:nvPr/>
        </p:nvGrpSpPr>
        <p:grpSpPr>
          <a:xfrm>
            <a:off x="6562191" y="4462271"/>
            <a:ext cx="2384985" cy="969265"/>
            <a:chOff x="0" y="0"/>
            <a:chExt cx="2384984" cy="969263"/>
          </a:xfrm>
        </p:grpSpPr>
        <p:sp>
          <p:nvSpPr>
            <p:cNvPr id="259" name="Rounded Rectangle"/>
            <p:cNvSpPr/>
            <p:nvPr/>
          </p:nvSpPr>
          <p:spPr>
            <a:xfrm>
              <a:off x="0" y="0"/>
              <a:ext cx="2384985" cy="969264"/>
            </a:xfrm>
            <a:prstGeom prst="roundRect">
              <a:avLst>
                <a:gd name="adj" fmla="val 9434"/>
              </a:avLst>
            </a:prstGeom>
            <a:solidFill>
              <a:srgbClr val="FFF6CC"/>
            </a:solidFill>
            <a:ln w="19050" cap="flat">
              <a:solidFill>
                <a:srgbClr val="C23A52"/>
              </a:solidFill>
              <a:prstDash val="solid"/>
              <a:round/>
            </a:ln>
            <a:effectLst/>
          </p:spPr>
          <p:txBody>
            <a:bodyPr wrap="square" lIns="45719" tIns="45719" rIns="45719" bIns="45719" numCol="1" anchor="ctr">
              <a:noAutofit/>
            </a:bodyPr>
            <a:lstStyle/>
            <a:p>
              <a:pPr algn="ctr">
                <a:lnSpc>
                  <a:spcPts val="1500"/>
                </a:lnSpc>
                <a:defRPr sz="1200"/>
              </a:pPr>
            </a:p>
          </p:txBody>
        </p:sp>
        <p:sp>
          <p:nvSpPr>
            <p:cNvPr id="260" name="In summer some of the ice melts."/>
            <p:cNvSpPr txBox="1"/>
            <p:nvPr/>
          </p:nvSpPr>
          <p:spPr>
            <a:xfrm>
              <a:off x="36306" y="182734"/>
              <a:ext cx="2312372" cy="6037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500"/>
                </a:lnSpc>
                <a:defRPr b="1" sz="1200">
                  <a:solidFill>
                    <a:srgbClr val="0A3550"/>
                  </a:solidFill>
                  <a:latin typeface="Arial"/>
                  <a:ea typeface="Arial"/>
                  <a:cs typeface="Arial"/>
                  <a:sym typeface="Arial"/>
                </a:defRPr>
              </a:lvl1pPr>
            </a:lstStyle>
            <a:p>
              <a:pPr/>
              <a:r>
                <a:t>In summer some of the ice melts.</a:t>
              </a:r>
            </a:p>
          </p:txBody>
        </p:sp>
      </p:grpSp>
      <p:sp>
        <p:nvSpPr>
          <p:cNvPr id="262" name="wf2_2_arrow"/>
          <p:cNvSpPr txBox="1"/>
          <p:nvPr/>
        </p:nvSpPr>
        <p:spPr>
          <a:xfrm>
            <a:off x="8947174" y="4805008"/>
            <a:ext cx="310897"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369A1"/>
                </a:solidFill>
                <a:latin typeface="Arial"/>
                <a:ea typeface="Arial"/>
                <a:cs typeface="Arial"/>
                <a:sym typeface="Arial"/>
              </a:defRPr>
            </a:lvl1pPr>
          </a:lstStyle>
          <a:p>
            <a:pPr/>
            <a:r>
              <a:t>→</a:t>
            </a:r>
          </a:p>
        </p:txBody>
      </p:sp>
      <p:grpSp>
        <p:nvGrpSpPr>
          <p:cNvPr id="265" name="wf2_3_q"/>
          <p:cNvGrpSpPr/>
          <p:nvPr/>
        </p:nvGrpSpPr>
        <p:grpSpPr>
          <a:xfrm>
            <a:off x="9258071" y="4462271"/>
            <a:ext cx="2384985" cy="969265"/>
            <a:chOff x="0" y="0"/>
            <a:chExt cx="2384984" cy="969263"/>
          </a:xfrm>
        </p:grpSpPr>
        <p:sp>
          <p:nvSpPr>
            <p:cNvPr id="263" name="Rounded Rectangle"/>
            <p:cNvSpPr/>
            <p:nvPr/>
          </p:nvSpPr>
          <p:spPr>
            <a:xfrm>
              <a:off x="0" y="0"/>
              <a:ext cx="2384985" cy="969264"/>
            </a:xfrm>
            <a:prstGeom prst="roundRect">
              <a:avLst>
                <a:gd name="adj" fmla="val 9434"/>
              </a:avLst>
            </a:prstGeom>
            <a:solidFill>
              <a:srgbClr val="DCEEF8"/>
            </a:solidFill>
            <a:ln w="22860" cap="flat">
              <a:solidFill>
                <a:srgbClr val="0A3550"/>
              </a:solidFill>
              <a:prstDash val="dash"/>
              <a:round/>
            </a:ln>
            <a:effectLst/>
          </p:spPr>
          <p:txBody>
            <a:bodyPr wrap="square" lIns="45719" tIns="45719" rIns="45719" bIns="45719" numCol="1" anchor="ctr">
              <a:noAutofit/>
            </a:bodyPr>
            <a:lstStyle/>
            <a:p>
              <a:pPr algn="ctr">
                <a:lnSpc>
                  <a:spcPts val="1600"/>
                </a:lnSpc>
                <a:defRPr sz="2600"/>
              </a:pPr>
            </a:p>
          </p:txBody>
        </p:sp>
        <p:sp>
          <p:nvSpPr>
            <p:cNvPr id="264" name="?"/>
            <p:cNvSpPr txBox="1"/>
            <p:nvPr/>
          </p:nvSpPr>
          <p:spPr>
            <a:xfrm>
              <a:off x="38211" y="252855"/>
              <a:ext cx="2308562" cy="463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600"/>
                </a:lnSpc>
                <a:defRPr b="1" sz="2600">
                  <a:solidFill>
                    <a:srgbClr val="0A3550"/>
                  </a:solidFill>
                  <a:latin typeface="Georgia"/>
                  <a:ea typeface="Georgia"/>
                  <a:cs typeface="Georgia"/>
                  <a:sym typeface="Georgia"/>
                </a:defRPr>
              </a:lvl1pPr>
            </a:lstStyle>
            <a:p>
              <a:pPr/>
              <a:r>
                <a:t>?</a:t>
              </a:r>
            </a:p>
          </p:txBody>
        </p:sp>
      </p:grpSp>
      <p:grpSp>
        <p:nvGrpSpPr>
          <p:cNvPr id="268" name="wf2_3_a"/>
          <p:cNvGrpSpPr/>
          <p:nvPr/>
        </p:nvGrpSpPr>
        <p:grpSpPr>
          <a:xfrm>
            <a:off x="9258071" y="4462271"/>
            <a:ext cx="2384985" cy="969265"/>
            <a:chOff x="0" y="0"/>
            <a:chExt cx="2384984" cy="969263"/>
          </a:xfrm>
        </p:grpSpPr>
        <p:sp>
          <p:nvSpPr>
            <p:cNvPr id="266" name="Rounded Rectangle"/>
            <p:cNvSpPr/>
            <p:nvPr/>
          </p:nvSpPr>
          <p:spPr>
            <a:xfrm>
              <a:off x="0" y="0"/>
              <a:ext cx="2384985" cy="969264"/>
            </a:xfrm>
            <a:prstGeom prst="roundRect">
              <a:avLst>
                <a:gd name="adj" fmla="val 9434"/>
              </a:avLst>
            </a:prstGeom>
            <a:solidFill>
              <a:srgbClr val="FFF6CC"/>
            </a:solidFill>
            <a:ln w="19050" cap="flat">
              <a:solidFill>
                <a:srgbClr val="C23A52"/>
              </a:solidFill>
              <a:prstDash val="solid"/>
              <a:round/>
            </a:ln>
            <a:effectLst/>
          </p:spPr>
          <p:txBody>
            <a:bodyPr wrap="square" lIns="45719" tIns="45719" rIns="45719" bIns="45719" numCol="1" anchor="ctr">
              <a:noAutofit/>
            </a:bodyPr>
            <a:lstStyle/>
            <a:p>
              <a:pPr algn="ctr">
                <a:lnSpc>
                  <a:spcPts val="1500"/>
                </a:lnSpc>
                <a:defRPr sz="1200"/>
              </a:pPr>
            </a:p>
          </p:txBody>
        </p:sp>
        <p:sp>
          <p:nvSpPr>
            <p:cNvPr id="267" name="Meltwater flows into rivers and lakes and refills them."/>
            <p:cNvSpPr txBox="1"/>
            <p:nvPr/>
          </p:nvSpPr>
          <p:spPr>
            <a:xfrm>
              <a:off x="36306" y="182734"/>
              <a:ext cx="2312372" cy="6037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500"/>
                </a:lnSpc>
                <a:defRPr b="1" sz="1200">
                  <a:solidFill>
                    <a:srgbClr val="0A3550"/>
                  </a:solidFill>
                  <a:latin typeface="Arial"/>
                  <a:ea typeface="Arial"/>
                  <a:cs typeface="Arial"/>
                  <a:sym typeface="Arial"/>
                </a:defRPr>
              </a:lvl1pPr>
            </a:lstStyle>
            <a:p>
              <a:pPr/>
              <a:r>
                <a:t>Meltwater flows into rivers and lakes and refills them.</a:t>
              </a:r>
            </a:p>
          </p:txBody>
        </p:sp>
      </p:grpSp>
      <p:grpSp>
        <p:nvGrpSpPr>
          <p:cNvPr id="271" name="wfsg"/>
          <p:cNvGrpSpPr/>
          <p:nvPr/>
        </p:nvGrpSpPr>
        <p:grpSpPr>
          <a:xfrm>
            <a:off x="1170432" y="5577840"/>
            <a:ext cx="10472623" cy="749809"/>
            <a:chOff x="0" y="0"/>
            <a:chExt cx="10472622" cy="749808"/>
          </a:xfrm>
        </p:grpSpPr>
        <p:sp>
          <p:nvSpPr>
            <p:cNvPr id="269" name="wfs_bg"/>
            <p:cNvSpPr/>
            <p:nvPr/>
          </p:nvSpPr>
          <p:spPr>
            <a:xfrm>
              <a:off x="0" y="0"/>
              <a:ext cx="10472623" cy="749809"/>
            </a:xfrm>
            <a:prstGeom prst="roundRect">
              <a:avLst>
                <a:gd name="adj" fmla="val 12195"/>
              </a:avLst>
            </a:prstGeom>
            <a:solidFill>
              <a:srgbClr val="FFF6CC"/>
            </a:solidFill>
            <a:ln w="19050" cap="flat">
              <a:solidFill>
                <a:srgbClr val="0369A1"/>
              </a:solidFill>
              <a:prstDash val="solid"/>
              <a:round/>
            </a:ln>
            <a:effectLst/>
          </p:spPr>
          <p:txBody>
            <a:bodyPr wrap="square" lIns="45719" tIns="45719" rIns="45719" bIns="45719" numCol="1" anchor="t">
              <a:noAutofit/>
            </a:bodyPr>
            <a:lstStyle/>
            <a:p>
              <a:pPr/>
            </a:p>
          </p:txBody>
        </p:sp>
        <p:sp>
          <p:nvSpPr>
            <p:cNvPr id="270" name="wfs_t"/>
            <p:cNvSpPr txBox="1"/>
            <p:nvPr/>
          </p:nvSpPr>
          <p:spPr>
            <a:xfrm>
              <a:off x="237743" y="163100"/>
              <a:ext cx="9997137"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700"/>
                </a:lnSpc>
                <a:defRPr b="1" sz="1300">
                  <a:solidFill>
                    <a:srgbClr val="0369A1"/>
                  </a:solidFill>
                  <a:latin typeface="Arial"/>
                  <a:ea typeface="Arial"/>
                  <a:cs typeface="Arial"/>
                  <a:sym typeface="Arial"/>
                </a:defRPr>
              </a:pPr>
              <a:r>
                <a:t>How long water stays, on average: </a:t>
              </a:r>
              <a:r>
                <a:rPr b="0">
                  <a:solidFill>
                    <a:srgbClr val="0B2A3C"/>
                  </a:solidFill>
                </a:rPr>
                <a:t>air 9 days  ·  rivers 2 to 6 months  ·  lakes 50 to 100 years  ·  shallow groundwater 100 to 200 years  ·  deep groundwater about 10,000 years.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9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219"/>
                                        </p:tgtEl>
                                        <p:attrNameLst>
                                          <p:attrName>style.visibility</p:attrName>
                                        </p:attrNameLst>
                                      </p:cBhvr>
                                      <p:to>
                                        <p:strVal val="visible"/>
                                      </p:to>
                                    </p:set>
                                    <p:anim calcmode="lin" valueType="num">
                                      <p:cBhvr>
                                        <p:cTn id="11" dur="400" fill="hold"/>
                                        <p:tgtEl>
                                          <p:spTgt spid="219"/>
                                        </p:tgtEl>
                                        <p:attrNameLst>
                                          <p:attrName>ppt_w</p:attrName>
                                        </p:attrNameLst>
                                      </p:cBhvr>
                                      <p:tavLst>
                                        <p:tav tm="0">
                                          <p:val>
                                            <p:fltVal val="0"/>
                                          </p:val>
                                        </p:tav>
                                        <p:tav tm="100000">
                                          <p:val>
                                            <p:strVal val="#ppt_w"/>
                                          </p:val>
                                        </p:tav>
                                      </p:tavLst>
                                    </p:anim>
                                    <p:anim calcmode="lin" valueType="num">
                                      <p:cBhvr>
                                        <p:cTn id="12" dur="400" fill="hold"/>
                                        <p:tgtEl>
                                          <p:spTgt spid="219"/>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233"/>
                                        </p:tgtEl>
                                        <p:attrNameLst>
                                          <p:attrName>style.visibility</p:attrName>
                                        </p:attrNameLst>
                                      </p:cBhvr>
                                      <p:to>
                                        <p:strVal val="visible"/>
                                      </p:to>
                                    </p:set>
                                    <p:anim calcmode="lin" valueType="num">
                                      <p:cBhvr>
                                        <p:cTn id="17" dur="400" fill="hold"/>
                                        <p:tgtEl>
                                          <p:spTgt spid="233"/>
                                        </p:tgtEl>
                                        <p:attrNameLst>
                                          <p:attrName>ppt_w</p:attrName>
                                        </p:attrNameLst>
                                      </p:cBhvr>
                                      <p:tavLst>
                                        <p:tav tm="0">
                                          <p:val>
                                            <p:fltVal val="0"/>
                                          </p:val>
                                        </p:tav>
                                        <p:tav tm="100000">
                                          <p:val>
                                            <p:strVal val="#ppt_w"/>
                                          </p:val>
                                        </p:tav>
                                      </p:tavLst>
                                    </p:anim>
                                    <p:anim calcmode="lin" valueType="num">
                                      <p:cBhvr>
                                        <p:cTn id="18" dur="400" fill="hold"/>
                                        <p:tgtEl>
                                          <p:spTgt spid="233"/>
                                        </p:tgtEl>
                                        <p:attrNameLst>
                                          <p:attrName>ppt_h</p:attrName>
                                        </p:attrNameLst>
                                      </p:cBhvr>
                                      <p:tavLst>
                                        <p:tav tm="0">
                                          <p:val>
                                            <p:fltVal val="0"/>
                                          </p:val>
                                        </p:tav>
                                        <p:tav tm="100000">
                                          <p:val>
                                            <p:strVal val="#ppt_h"/>
                                          </p:val>
                                        </p:tav>
                                      </p:tavLst>
                                    </p:anim>
                                  </p:childTnLst>
                                </p:cTn>
                              </p:par>
                            </p:childTnLst>
                          </p:cTn>
                        </p:par>
                        <p:par>
                          <p:cTn id="19" fill="hold">
                            <p:stCondLst>
                              <p:cond delay="400"/>
                            </p:stCondLst>
                            <p:childTnLst>
                              <p:par>
                                <p:cTn id="20" presetClass="entr" nodeType="afterEffect" presetSubtype="16" presetID="23" grpId="4" fill="hold">
                                  <p:stCondLst>
                                    <p:cond delay="0"/>
                                  </p:stCondLst>
                                  <p:iterate type="el" backwards="0">
                                    <p:tmAbs val="0"/>
                                  </p:iterate>
                                  <p:childTnLst>
                                    <p:set>
                                      <p:cBhvr>
                                        <p:cTn id="21" fill="hold"/>
                                        <p:tgtEl>
                                          <p:spTgt spid="240"/>
                                        </p:tgtEl>
                                        <p:attrNameLst>
                                          <p:attrName>style.visibility</p:attrName>
                                        </p:attrNameLst>
                                      </p:cBhvr>
                                      <p:to>
                                        <p:strVal val="visible"/>
                                      </p:to>
                                    </p:set>
                                    <p:anim calcmode="lin" valueType="num">
                                      <p:cBhvr>
                                        <p:cTn id="22" dur="400" fill="hold"/>
                                        <p:tgtEl>
                                          <p:spTgt spid="240"/>
                                        </p:tgtEl>
                                        <p:attrNameLst>
                                          <p:attrName>ppt_w</p:attrName>
                                        </p:attrNameLst>
                                      </p:cBhvr>
                                      <p:tavLst>
                                        <p:tav tm="0">
                                          <p:val>
                                            <p:fltVal val="0"/>
                                          </p:val>
                                        </p:tav>
                                        <p:tav tm="100000">
                                          <p:val>
                                            <p:strVal val="#ppt_w"/>
                                          </p:val>
                                        </p:tav>
                                      </p:tavLst>
                                    </p:anim>
                                    <p:anim calcmode="lin" valueType="num">
                                      <p:cBhvr>
                                        <p:cTn id="23" dur="400" fill="hold"/>
                                        <p:tgtEl>
                                          <p:spTgt spid="240"/>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16" presetID="23" grpId="5" fill="hold">
                                  <p:stCondLst>
                                    <p:cond delay="0"/>
                                  </p:stCondLst>
                                  <p:iterate type="el" backwards="0">
                                    <p:tmAbs val="0"/>
                                  </p:iterate>
                                  <p:childTnLst>
                                    <p:set>
                                      <p:cBhvr>
                                        <p:cTn id="27" fill="hold"/>
                                        <p:tgtEl>
                                          <p:spTgt spid="254"/>
                                        </p:tgtEl>
                                        <p:attrNameLst>
                                          <p:attrName>style.visibility</p:attrName>
                                        </p:attrNameLst>
                                      </p:cBhvr>
                                      <p:to>
                                        <p:strVal val="visible"/>
                                      </p:to>
                                    </p:set>
                                    <p:anim calcmode="lin" valueType="num">
                                      <p:cBhvr>
                                        <p:cTn id="28" dur="400" fill="hold"/>
                                        <p:tgtEl>
                                          <p:spTgt spid="254"/>
                                        </p:tgtEl>
                                        <p:attrNameLst>
                                          <p:attrName>ppt_w</p:attrName>
                                        </p:attrNameLst>
                                      </p:cBhvr>
                                      <p:tavLst>
                                        <p:tav tm="0">
                                          <p:val>
                                            <p:fltVal val="0"/>
                                          </p:val>
                                        </p:tav>
                                        <p:tav tm="100000">
                                          <p:val>
                                            <p:strVal val="#ppt_w"/>
                                          </p:val>
                                        </p:tav>
                                      </p:tavLst>
                                    </p:anim>
                                    <p:anim calcmode="lin" valueType="num">
                                      <p:cBhvr>
                                        <p:cTn id="29" dur="400" fill="hold"/>
                                        <p:tgtEl>
                                          <p:spTgt spid="254"/>
                                        </p:tgtEl>
                                        <p:attrNameLst>
                                          <p:attrName>ppt_h</p:attrName>
                                        </p:attrNameLst>
                                      </p:cBhvr>
                                      <p:tavLst>
                                        <p:tav tm="0">
                                          <p:val>
                                            <p:fltVal val="0"/>
                                          </p:val>
                                        </p:tav>
                                        <p:tav tm="100000">
                                          <p:val>
                                            <p:strVal val="#ppt_h"/>
                                          </p:val>
                                        </p:tav>
                                      </p:tavLst>
                                    </p:anim>
                                  </p:childTnLst>
                                </p:cTn>
                              </p:par>
                            </p:childTnLst>
                          </p:cTn>
                        </p:par>
                        <p:par>
                          <p:cTn id="30" fill="hold">
                            <p:stCondLst>
                              <p:cond delay="400"/>
                            </p:stCondLst>
                            <p:childTnLst>
                              <p:par>
                                <p:cTn id="31" presetClass="entr" nodeType="afterEffect" presetSubtype="16" presetID="23" grpId="6" fill="hold">
                                  <p:stCondLst>
                                    <p:cond delay="0"/>
                                  </p:stCondLst>
                                  <p:iterate type="el" backwards="0">
                                    <p:tmAbs val="0"/>
                                  </p:iterate>
                                  <p:childTnLst>
                                    <p:set>
                                      <p:cBhvr>
                                        <p:cTn id="32" fill="hold"/>
                                        <p:tgtEl>
                                          <p:spTgt spid="261"/>
                                        </p:tgtEl>
                                        <p:attrNameLst>
                                          <p:attrName>style.visibility</p:attrName>
                                        </p:attrNameLst>
                                      </p:cBhvr>
                                      <p:to>
                                        <p:strVal val="visible"/>
                                      </p:to>
                                    </p:set>
                                    <p:anim calcmode="lin" valueType="num">
                                      <p:cBhvr>
                                        <p:cTn id="33" dur="400" fill="hold"/>
                                        <p:tgtEl>
                                          <p:spTgt spid="261"/>
                                        </p:tgtEl>
                                        <p:attrNameLst>
                                          <p:attrName>ppt_w</p:attrName>
                                        </p:attrNameLst>
                                      </p:cBhvr>
                                      <p:tavLst>
                                        <p:tav tm="0">
                                          <p:val>
                                            <p:fltVal val="0"/>
                                          </p:val>
                                        </p:tav>
                                        <p:tav tm="100000">
                                          <p:val>
                                            <p:strVal val="#ppt_w"/>
                                          </p:val>
                                        </p:tav>
                                      </p:tavLst>
                                    </p:anim>
                                    <p:anim calcmode="lin" valueType="num">
                                      <p:cBhvr>
                                        <p:cTn id="34" dur="400" fill="hold"/>
                                        <p:tgtEl>
                                          <p:spTgt spid="261"/>
                                        </p:tgtEl>
                                        <p:attrNameLst>
                                          <p:attrName>ppt_h</p:attrName>
                                        </p:attrNameLst>
                                      </p:cBhvr>
                                      <p:tavLst>
                                        <p:tav tm="0">
                                          <p:val>
                                            <p:fltVal val="0"/>
                                          </p:val>
                                        </p:tav>
                                        <p:tav tm="100000">
                                          <p:val>
                                            <p:strVal val="#ppt_h"/>
                                          </p:val>
                                        </p:tav>
                                      </p:tavLst>
                                    </p:anim>
                                  </p:childTnLst>
                                </p:cTn>
                              </p:par>
                            </p:childTnLst>
                          </p:cTn>
                        </p:par>
                        <p:par>
                          <p:cTn id="35" fill="hold">
                            <p:stCondLst>
                              <p:cond delay="800"/>
                            </p:stCondLst>
                            <p:childTnLst>
                              <p:par>
                                <p:cTn id="36" presetClass="entr" nodeType="afterEffect" presetSubtype="16" presetID="23" grpId="7" fill="hold">
                                  <p:stCondLst>
                                    <p:cond delay="0"/>
                                  </p:stCondLst>
                                  <p:iterate type="el" backwards="0">
                                    <p:tmAbs val="0"/>
                                  </p:iterate>
                                  <p:childTnLst>
                                    <p:set>
                                      <p:cBhvr>
                                        <p:cTn id="37" fill="hold"/>
                                        <p:tgtEl>
                                          <p:spTgt spid="268"/>
                                        </p:tgtEl>
                                        <p:attrNameLst>
                                          <p:attrName>style.visibility</p:attrName>
                                        </p:attrNameLst>
                                      </p:cBhvr>
                                      <p:to>
                                        <p:strVal val="visible"/>
                                      </p:to>
                                    </p:set>
                                    <p:anim calcmode="lin" valueType="num">
                                      <p:cBhvr>
                                        <p:cTn id="38" dur="400" fill="hold"/>
                                        <p:tgtEl>
                                          <p:spTgt spid="268"/>
                                        </p:tgtEl>
                                        <p:attrNameLst>
                                          <p:attrName>ppt_w</p:attrName>
                                        </p:attrNameLst>
                                      </p:cBhvr>
                                      <p:tavLst>
                                        <p:tav tm="0">
                                          <p:val>
                                            <p:fltVal val="0"/>
                                          </p:val>
                                        </p:tav>
                                        <p:tav tm="100000">
                                          <p:val>
                                            <p:strVal val="#ppt_w"/>
                                          </p:val>
                                        </p:tav>
                                      </p:tavLst>
                                    </p:anim>
                                    <p:anim calcmode="lin" valueType="num">
                                      <p:cBhvr>
                                        <p:cTn id="39" dur="400" fill="hold"/>
                                        <p:tgtEl>
                                          <p:spTgt spid="268"/>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271"/>
                                        </p:tgtEl>
                                        <p:attrNameLst>
                                          <p:attrName>style.visibility</p:attrName>
                                        </p:attrNameLst>
                                      </p:cBhvr>
                                      <p:to>
                                        <p:strVal val="visible"/>
                                      </p:to>
                                    </p:set>
                                    <p:animEffect filter="fade" transition="in">
                                      <p:cBhvr>
                                        <p:cTn id="44" dur="4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5" fill="hold" display="0">
                  <p:stCondLst>
                    <p:cond delay="indefinite"/>
                  </p:stCondLst>
                </p:cTn>
                <p:tgtEl>
                  <p:spTgt spid="196"/>
                </p:tgtEl>
              </p:cMediaNode>
            </p:video>
            <p:seq concurrent="1" prevAc="none" nextAc="seek">
              <p:cTn id="46" evtFilter="cancelBubble" nodeType="interactiveSeq" restart="whenNotActive" fill="hold">
                <p:stCondLst>
                  <p:cond delay="0" evt="onClick">
                    <p:tgtEl>
                      <p:spTgt spid="196"/>
                    </p:tgtEl>
                  </p:cond>
                </p:stCondLst>
                <p:endSync delay="0" evt="end">
                  <p:rtn val="all"/>
                </p:endSync>
                <p:childTnLst>
                  <p:par>
                    <p:cTn id="47" fill="hold">
                      <p:stCondLst>
                        <p:cond delay="0"/>
                      </p:stCondLst>
                      <p:childTnLst>
                        <p:par>
                          <p:cTn id="48" fill="hold">
                            <p:stCondLst>
                              <p:cond delay="0"/>
                            </p:stCondLst>
                            <p:childTnLst>
                              <p:par>
                                <p:cTn id="49" presetClass="mediacall" nodeType="clickEffect" presetSubtype="0" presetID="2" fill="hold">
                                  <p:stCondLst>
                                    <p:cond delay="0"/>
                                  </p:stCondLst>
                                  <p:childTnLst>
                                    <p:cmd type="call" cmd="togglePause">
                                      <p:cBhvr>
                                        <p:cTn id="50" dur="1" fill="hold"/>
                                        <p:tgtEl>
                                          <p:spTgt spid="196"/>
                                        </p:tgtEl>
                                      </p:cBhvr>
                                    </p:cmd>
                                  </p:childTnLst>
                                </p:cTn>
                              </p:par>
                            </p:childTnLst>
                          </p:cTn>
                        </p:par>
                      </p:childTnLst>
                    </p:cTn>
                  </p:par>
                </p:childTnLst>
              </p:cTn>
              <p:nextCondLst>
                <p:cond delay="0" evt="onClick">
                  <p:tgtEl>
                    <p:spTgt spid="196"/>
                  </p:tgtEl>
                </p:cond>
              </p:nextCondLst>
            </p:seq>
          </p:childTnLst>
        </p:cTn>
      </p:par>
    </p:tnLst>
    <p:bldLst>
      <p:bldP build="whole" bldLvl="1" animBg="1" rev="0" advAuto="0" spid="261" grpId="6"/>
      <p:bldP build="whole" bldLvl="1" animBg="1" rev="0" advAuto="0" spid="240" grpId="4"/>
      <p:bldP build="whole" bldLvl="1" animBg="1" rev="0" advAuto="0" spid="219" grpId="2"/>
      <p:bldP build="whole" bldLvl="1" animBg="1" rev="0" advAuto="0" spid="254" grpId="5"/>
      <p:bldP build="whole" bldLvl="1" animBg="1" rev="0" advAuto="0" spid="233" grpId="3"/>
      <p:bldP build="whole" bldLvl="1" animBg="1" rev="0" advAuto="0" spid="268" grpId="7"/>
      <p:bldP build="whole" bldLvl="1" animBg="1" rev="0" advAuto="0" spid="271" grpId="8"/>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27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78" name="phase_pill"/>
          <p:cNvGrpSpPr/>
          <p:nvPr/>
        </p:nvGrpSpPr>
        <p:grpSpPr>
          <a:xfrm>
            <a:off x="1170432" y="310895"/>
            <a:ext cx="2072030" cy="329185"/>
            <a:chOff x="0" y="0"/>
            <a:chExt cx="2072029" cy="329184"/>
          </a:xfrm>
        </p:grpSpPr>
        <p:sp>
          <p:nvSpPr>
            <p:cNvPr id="276" name="Rounded Rectangle"/>
            <p:cNvSpPr/>
            <p:nvPr/>
          </p:nvSpPr>
          <p:spPr>
            <a:xfrm>
              <a:off x="0" y="0"/>
              <a:ext cx="2072030"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277"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79" name="c0_bg"/>
          <p:cNvSpPr/>
          <p:nvPr/>
        </p:nvSpPr>
        <p:spPr>
          <a:xfrm>
            <a:off x="1170432" y="960119"/>
            <a:ext cx="5099152"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280" name="c0_badge"/>
          <p:cNvSpPr/>
          <p:nvPr/>
        </p:nvSpPr>
        <p:spPr>
          <a:xfrm>
            <a:off x="1371600" y="1307591"/>
            <a:ext cx="384048" cy="384049"/>
          </a:xfrm>
          <a:prstGeom prst="ellipse">
            <a:avLst/>
          </a:prstGeom>
          <a:solidFill>
            <a:srgbClr val="4CC9FA"/>
          </a:solidFill>
          <a:ln w="12700">
            <a:solidFill>
              <a:srgbClr val="4CC9FA"/>
            </a:solidFill>
          </a:ln>
        </p:spPr>
        <p:txBody>
          <a:bodyPr lIns="45719" rIns="45719"/>
          <a:lstStyle/>
          <a:p>
            <a:pPr/>
          </a:p>
        </p:txBody>
      </p:sp>
      <p:sp>
        <p:nvSpPr>
          <p:cNvPr id="281"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1</a:t>
            </a:r>
          </a:p>
        </p:txBody>
      </p:sp>
      <p:sp>
        <p:nvSpPr>
          <p:cNvPr id="282" name="c0_q"/>
          <p:cNvSpPr txBox="1"/>
          <p:nvPr/>
        </p:nvSpPr>
        <p:spPr>
          <a:xfrm>
            <a:off x="1901951" y="1376485"/>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Name the main places fresh water is found.</a:t>
            </a:r>
          </a:p>
        </p:txBody>
      </p:sp>
      <p:grpSp>
        <p:nvGrpSpPr>
          <p:cNvPr id="285" name="c0_a"/>
          <p:cNvGrpSpPr/>
          <p:nvPr/>
        </p:nvGrpSpPr>
        <p:grpSpPr>
          <a:xfrm>
            <a:off x="1371600" y="1965960"/>
            <a:ext cx="4696817" cy="438913"/>
            <a:chOff x="0" y="0"/>
            <a:chExt cx="4696816" cy="438912"/>
          </a:xfrm>
        </p:grpSpPr>
        <p:sp>
          <p:nvSpPr>
            <p:cNvPr id="283"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284" name="Ice caps and glaciers, groundwater, and lakes, rivers and swamps."/>
            <p:cNvSpPr txBox="1"/>
            <p:nvPr/>
          </p:nvSpPr>
          <p:spPr>
            <a:xfrm>
              <a:off x="35035" y="43132"/>
              <a:ext cx="4626746" cy="352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0A3550"/>
                  </a:solidFill>
                  <a:latin typeface="Arial"/>
                  <a:ea typeface="Arial"/>
                  <a:cs typeface="Arial"/>
                  <a:sym typeface="Arial"/>
                </a:defRPr>
              </a:lvl1pPr>
            </a:lstStyle>
            <a:p>
              <a:pPr/>
              <a:r>
                <a:t>Ice caps and glaciers, groundwater, and lakes, rivers and swamps.</a:t>
              </a:r>
            </a:p>
          </p:txBody>
        </p:sp>
      </p:grpSp>
      <p:sp>
        <p:nvSpPr>
          <p:cNvPr id="286" name="c1_bg"/>
          <p:cNvSpPr/>
          <p:nvPr/>
        </p:nvSpPr>
        <p:spPr>
          <a:xfrm>
            <a:off x="6543903" y="960119"/>
            <a:ext cx="5099153"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287" name="c1_badge"/>
          <p:cNvSpPr/>
          <p:nvPr/>
        </p:nvSpPr>
        <p:spPr>
          <a:xfrm>
            <a:off x="6745072" y="1307591"/>
            <a:ext cx="384049" cy="384049"/>
          </a:xfrm>
          <a:prstGeom prst="ellipse">
            <a:avLst/>
          </a:prstGeom>
          <a:solidFill>
            <a:srgbClr val="4CC9FA"/>
          </a:solidFill>
          <a:ln w="12700">
            <a:solidFill>
              <a:srgbClr val="4CC9FA"/>
            </a:solidFill>
          </a:ln>
        </p:spPr>
        <p:txBody>
          <a:bodyPr lIns="45719" rIns="45719"/>
          <a:lstStyle/>
          <a:p>
            <a:pPr/>
          </a:p>
        </p:txBody>
      </p:sp>
      <p:sp>
        <p:nvSpPr>
          <p:cNvPr id="288"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2</a:t>
            </a:r>
          </a:p>
        </p:txBody>
      </p:sp>
      <p:sp>
        <p:nvSpPr>
          <p:cNvPr id="289" name="c1_q"/>
          <p:cNvSpPr txBox="1"/>
          <p:nvPr/>
        </p:nvSpPr>
        <p:spPr>
          <a:xfrm>
            <a:off x="7275424"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Explain why the ice caps hold most of Earth’s fresh water but cannot supply most cities.</a:t>
            </a:r>
          </a:p>
        </p:txBody>
      </p:sp>
      <p:grpSp>
        <p:nvGrpSpPr>
          <p:cNvPr id="292" name="c1_a"/>
          <p:cNvGrpSpPr/>
          <p:nvPr/>
        </p:nvGrpSpPr>
        <p:grpSpPr>
          <a:xfrm>
            <a:off x="6745072" y="1965960"/>
            <a:ext cx="4696817" cy="438913"/>
            <a:chOff x="0" y="0"/>
            <a:chExt cx="4696816" cy="438912"/>
          </a:xfrm>
        </p:grpSpPr>
        <p:sp>
          <p:nvSpPr>
            <p:cNvPr id="290"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291" name="It is frozen, and far from where most people live."/>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0A3550"/>
                  </a:solidFill>
                  <a:latin typeface="Arial"/>
                  <a:ea typeface="Arial"/>
                  <a:cs typeface="Arial"/>
                  <a:sym typeface="Arial"/>
                </a:defRPr>
              </a:lvl1pPr>
            </a:lstStyle>
            <a:p>
              <a:pPr/>
              <a:r>
                <a:t>It is frozen, and far from where most people live.</a:t>
              </a:r>
            </a:p>
          </p:txBody>
        </p:sp>
      </p:grpSp>
      <p:sp>
        <p:nvSpPr>
          <p:cNvPr id="293" name="c2_bg"/>
          <p:cNvSpPr/>
          <p:nvPr/>
        </p:nvSpPr>
        <p:spPr>
          <a:xfrm>
            <a:off x="1170432" y="2679192"/>
            <a:ext cx="5099152"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294" name="c2_badge"/>
          <p:cNvSpPr/>
          <p:nvPr/>
        </p:nvSpPr>
        <p:spPr>
          <a:xfrm>
            <a:off x="1371600" y="3026664"/>
            <a:ext cx="384048" cy="384049"/>
          </a:xfrm>
          <a:prstGeom prst="ellipse">
            <a:avLst/>
          </a:prstGeom>
          <a:solidFill>
            <a:srgbClr val="4CC9FA"/>
          </a:solidFill>
          <a:ln w="12700">
            <a:solidFill>
              <a:srgbClr val="4CC9FA"/>
            </a:solidFill>
          </a:ln>
        </p:spPr>
        <p:txBody>
          <a:bodyPr lIns="45719" rIns="45719"/>
          <a:lstStyle/>
          <a:p>
            <a:pPr/>
          </a:p>
        </p:txBody>
      </p:sp>
      <p:sp>
        <p:nvSpPr>
          <p:cNvPr id="295"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3</a:t>
            </a:r>
          </a:p>
        </p:txBody>
      </p:sp>
      <p:sp>
        <p:nvSpPr>
          <p:cNvPr id="296" name="c2_q"/>
          <p:cNvSpPr txBox="1"/>
          <p:nvPr/>
        </p:nvSpPr>
        <p:spPr>
          <a:xfrm>
            <a:off x="1901951"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In a 4,000 mL model of all Earth’s water, 2.5% is fresh. Calculate the volume of fresh water.</a:t>
            </a:r>
          </a:p>
        </p:txBody>
      </p:sp>
      <p:grpSp>
        <p:nvGrpSpPr>
          <p:cNvPr id="299" name="c2_a"/>
          <p:cNvGrpSpPr/>
          <p:nvPr/>
        </p:nvGrpSpPr>
        <p:grpSpPr>
          <a:xfrm>
            <a:off x="1371600" y="3685032"/>
            <a:ext cx="4696817" cy="438913"/>
            <a:chOff x="0" y="0"/>
            <a:chExt cx="4696816" cy="438912"/>
          </a:xfrm>
        </p:grpSpPr>
        <p:sp>
          <p:nvSpPr>
            <p:cNvPr id="297"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298" name="100 mL. 4,000 × 2.5 ÷ 100."/>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0A3550"/>
                  </a:solidFill>
                  <a:latin typeface="Arial"/>
                  <a:ea typeface="Arial"/>
                  <a:cs typeface="Arial"/>
                  <a:sym typeface="Arial"/>
                </a:defRPr>
              </a:lvl1pPr>
            </a:lstStyle>
            <a:p>
              <a:pPr/>
              <a:r>
                <a:t>100 mL. 4,000 × 2.5 ÷ 100.</a:t>
              </a:r>
            </a:p>
          </p:txBody>
        </p:sp>
      </p:grpSp>
      <p:sp>
        <p:nvSpPr>
          <p:cNvPr id="300" name="c3_bg"/>
          <p:cNvSpPr/>
          <p:nvPr/>
        </p:nvSpPr>
        <p:spPr>
          <a:xfrm>
            <a:off x="6543903" y="2679192"/>
            <a:ext cx="5099153"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301" name="c3_badge"/>
          <p:cNvSpPr/>
          <p:nvPr/>
        </p:nvSpPr>
        <p:spPr>
          <a:xfrm>
            <a:off x="6745072" y="3026664"/>
            <a:ext cx="384049" cy="384049"/>
          </a:xfrm>
          <a:prstGeom prst="ellipse">
            <a:avLst/>
          </a:prstGeom>
          <a:solidFill>
            <a:srgbClr val="4CC9FA"/>
          </a:solidFill>
          <a:ln w="12700">
            <a:solidFill>
              <a:srgbClr val="4CC9FA"/>
            </a:solidFill>
          </a:ln>
        </p:spPr>
        <p:txBody>
          <a:bodyPr lIns="45719" rIns="45719"/>
          <a:lstStyle/>
          <a:p>
            <a:pPr/>
          </a:p>
        </p:txBody>
      </p:sp>
      <p:sp>
        <p:nvSpPr>
          <p:cNvPr id="302"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4</a:t>
            </a:r>
          </a:p>
        </p:txBody>
      </p:sp>
      <p:sp>
        <p:nvSpPr>
          <p:cNvPr id="303" name="c3_q"/>
          <p:cNvSpPr txBox="1"/>
          <p:nvPr/>
        </p:nvSpPr>
        <p:spPr>
          <a:xfrm>
            <a:off x="7275424"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Explain why a river refills faster than deep groundwater.</a:t>
            </a:r>
          </a:p>
        </p:txBody>
      </p:sp>
      <p:grpSp>
        <p:nvGrpSpPr>
          <p:cNvPr id="306" name="c3_a"/>
          <p:cNvGrpSpPr/>
          <p:nvPr/>
        </p:nvGrpSpPr>
        <p:grpSpPr>
          <a:xfrm>
            <a:off x="6745072" y="3685032"/>
            <a:ext cx="4696817" cy="438913"/>
            <a:chOff x="0" y="0"/>
            <a:chExt cx="4696816" cy="438912"/>
          </a:xfrm>
        </p:grpSpPr>
        <p:sp>
          <p:nvSpPr>
            <p:cNvPr id="304"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305" name="Rain and runoff refill a river in months. Water moves through deep rock far more slowly: thousands of years."/>
            <p:cNvSpPr txBox="1"/>
            <p:nvPr/>
          </p:nvSpPr>
          <p:spPr>
            <a:xfrm>
              <a:off x="35035" y="43132"/>
              <a:ext cx="4626746" cy="352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0A3550"/>
                  </a:solidFill>
                  <a:latin typeface="Arial"/>
                  <a:ea typeface="Arial"/>
                  <a:cs typeface="Arial"/>
                  <a:sym typeface="Arial"/>
                </a:defRPr>
              </a:lvl1pPr>
            </a:lstStyle>
            <a:p>
              <a:pPr/>
              <a:r>
                <a:t>Rain and runoff refill a river in months. Water moves through deep rock far more slowly: thousands of years.</a:t>
              </a:r>
            </a:p>
          </p:txBody>
        </p:sp>
      </p:grpSp>
      <p:sp>
        <p:nvSpPr>
          <p:cNvPr id="307" name="c4_bg"/>
          <p:cNvSpPr/>
          <p:nvPr/>
        </p:nvSpPr>
        <p:spPr>
          <a:xfrm>
            <a:off x="1170432" y="4398264"/>
            <a:ext cx="5099152"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308" name="c4_badge"/>
          <p:cNvSpPr/>
          <p:nvPr/>
        </p:nvSpPr>
        <p:spPr>
          <a:xfrm>
            <a:off x="1371600" y="4745735"/>
            <a:ext cx="384048" cy="384049"/>
          </a:xfrm>
          <a:prstGeom prst="ellipse">
            <a:avLst/>
          </a:prstGeom>
          <a:solidFill>
            <a:srgbClr val="4CC9FA"/>
          </a:solidFill>
          <a:ln w="12700">
            <a:solidFill>
              <a:srgbClr val="4CC9FA"/>
            </a:solidFill>
          </a:ln>
        </p:spPr>
        <p:txBody>
          <a:bodyPr lIns="45719" rIns="45719"/>
          <a:lstStyle/>
          <a:p>
            <a:pPr/>
          </a:p>
        </p:txBody>
      </p:sp>
      <p:sp>
        <p:nvSpPr>
          <p:cNvPr id="309"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5</a:t>
            </a:r>
          </a:p>
        </p:txBody>
      </p:sp>
      <p:sp>
        <p:nvSpPr>
          <p:cNvPr id="310" name="c4_q"/>
          <p:cNvSpPr txBox="1"/>
          <p:nvPr/>
        </p:nvSpPr>
        <p:spPr>
          <a:xfrm>
            <a:off x="1901951"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Explain how fresh water, a renewable resource, can still run out.</a:t>
            </a:r>
          </a:p>
        </p:txBody>
      </p:sp>
      <p:grpSp>
        <p:nvGrpSpPr>
          <p:cNvPr id="313" name="c4_a"/>
          <p:cNvGrpSpPr/>
          <p:nvPr/>
        </p:nvGrpSpPr>
        <p:grpSpPr>
          <a:xfrm>
            <a:off x="1371600" y="5404103"/>
            <a:ext cx="4696817" cy="438913"/>
            <a:chOff x="0" y="0"/>
            <a:chExt cx="4696816" cy="438912"/>
          </a:xfrm>
        </p:grpSpPr>
        <p:sp>
          <p:nvSpPr>
            <p:cNvPr id="311"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312" name="Taken faster than it refills, like the Aral Sea or deep groundwater."/>
            <p:cNvSpPr txBox="1"/>
            <p:nvPr/>
          </p:nvSpPr>
          <p:spPr>
            <a:xfrm>
              <a:off x="35035" y="43132"/>
              <a:ext cx="4626746" cy="352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0A3550"/>
                  </a:solidFill>
                  <a:latin typeface="Arial"/>
                  <a:ea typeface="Arial"/>
                  <a:cs typeface="Arial"/>
                  <a:sym typeface="Arial"/>
                </a:defRPr>
              </a:lvl1pPr>
            </a:lstStyle>
            <a:p>
              <a:pPr/>
              <a:r>
                <a:t>Taken faster than it refills, like the Aral Sea or deep groundwater.</a:t>
              </a:r>
            </a:p>
          </p:txBody>
        </p:sp>
      </p:grpSp>
      <p:sp>
        <p:nvSpPr>
          <p:cNvPr id="314" name="c5_bg"/>
          <p:cNvSpPr/>
          <p:nvPr/>
        </p:nvSpPr>
        <p:spPr>
          <a:xfrm>
            <a:off x="6543903" y="4398264"/>
            <a:ext cx="5099153"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315" name="c5_badge"/>
          <p:cNvSpPr/>
          <p:nvPr/>
        </p:nvSpPr>
        <p:spPr>
          <a:xfrm>
            <a:off x="6745072" y="4745735"/>
            <a:ext cx="384049" cy="384049"/>
          </a:xfrm>
          <a:prstGeom prst="ellipse">
            <a:avLst/>
          </a:prstGeom>
          <a:solidFill>
            <a:srgbClr val="4CC9FA"/>
          </a:solidFill>
          <a:ln w="12700">
            <a:solidFill>
              <a:srgbClr val="4CC9FA"/>
            </a:solidFill>
          </a:ln>
        </p:spPr>
        <p:txBody>
          <a:bodyPr lIns="45719" rIns="45719"/>
          <a:lstStyle/>
          <a:p>
            <a:pPr/>
          </a:p>
        </p:txBody>
      </p:sp>
      <p:sp>
        <p:nvSpPr>
          <p:cNvPr id="316"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6</a:t>
            </a:r>
          </a:p>
        </p:txBody>
      </p:sp>
      <p:sp>
        <p:nvSpPr>
          <p:cNvPr id="317" name="c5_q"/>
          <p:cNvSpPr txBox="1"/>
          <p:nvPr/>
        </p:nvSpPr>
        <p:spPr>
          <a:xfrm>
            <a:off x="7275424"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State what taking a sustainable amount of water from a river means.</a:t>
            </a:r>
          </a:p>
        </p:txBody>
      </p:sp>
      <p:grpSp>
        <p:nvGrpSpPr>
          <p:cNvPr id="320" name="c5_a"/>
          <p:cNvGrpSpPr/>
          <p:nvPr/>
        </p:nvGrpSpPr>
        <p:grpSpPr>
          <a:xfrm>
            <a:off x="6745072" y="5404103"/>
            <a:ext cx="4696817" cy="438913"/>
            <a:chOff x="0" y="0"/>
            <a:chExt cx="4696816" cy="438912"/>
          </a:xfrm>
        </p:grpSpPr>
        <p:sp>
          <p:nvSpPr>
            <p:cNvPr id="318"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319" name="Taking no more than the river can replace."/>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0A3550"/>
                  </a:solidFill>
                  <a:latin typeface="Arial"/>
                  <a:ea typeface="Arial"/>
                  <a:cs typeface="Arial"/>
                  <a:sym typeface="Arial"/>
                </a:defRPr>
              </a:lvl1pPr>
            </a:lstStyle>
            <a:p>
              <a:pPr/>
              <a:r>
                <a:t>Taking no more than the river can replace.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7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85"/>
                                        </p:tgtEl>
                                        <p:attrNameLst>
                                          <p:attrName>style.visibility</p:attrName>
                                        </p:attrNameLst>
                                      </p:cBhvr>
                                      <p:to>
                                        <p:strVal val="visible"/>
                                      </p:to>
                                    </p:set>
                                    <p:animEffect filter="wipe(left)" transition="in">
                                      <p:cBhvr>
                                        <p:cTn id="11" dur="400"/>
                                        <p:tgtEl>
                                          <p:spTgt spid="28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92"/>
                                        </p:tgtEl>
                                        <p:attrNameLst>
                                          <p:attrName>style.visibility</p:attrName>
                                        </p:attrNameLst>
                                      </p:cBhvr>
                                      <p:to>
                                        <p:strVal val="visible"/>
                                      </p:to>
                                    </p:set>
                                    <p:animEffect filter="wipe(left)" transition="in">
                                      <p:cBhvr>
                                        <p:cTn id="16" dur="400"/>
                                        <p:tgtEl>
                                          <p:spTgt spid="292"/>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99"/>
                                        </p:tgtEl>
                                        <p:attrNameLst>
                                          <p:attrName>style.visibility</p:attrName>
                                        </p:attrNameLst>
                                      </p:cBhvr>
                                      <p:to>
                                        <p:strVal val="visible"/>
                                      </p:to>
                                    </p:set>
                                    <p:animEffect filter="wipe(left)" transition="in">
                                      <p:cBhvr>
                                        <p:cTn id="21" dur="400"/>
                                        <p:tgtEl>
                                          <p:spTgt spid="299"/>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306"/>
                                        </p:tgtEl>
                                        <p:attrNameLst>
                                          <p:attrName>style.visibility</p:attrName>
                                        </p:attrNameLst>
                                      </p:cBhvr>
                                      <p:to>
                                        <p:strVal val="visible"/>
                                      </p:to>
                                    </p:set>
                                    <p:animEffect filter="wipe(left)" transition="in">
                                      <p:cBhvr>
                                        <p:cTn id="26" dur="400"/>
                                        <p:tgtEl>
                                          <p:spTgt spid="306"/>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313"/>
                                        </p:tgtEl>
                                        <p:attrNameLst>
                                          <p:attrName>style.visibility</p:attrName>
                                        </p:attrNameLst>
                                      </p:cBhvr>
                                      <p:to>
                                        <p:strVal val="visible"/>
                                      </p:to>
                                    </p:set>
                                    <p:animEffect filter="wipe(left)" transition="in">
                                      <p:cBhvr>
                                        <p:cTn id="31" dur="400"/>
                                        <p:tgtEl>
                                          <p:spTgt spid="313"/>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320"/>
                                        </p:tgtEl>
                                        <p:attrNameLst>
                                          <p:attrName>style.visibility</p:attrName>
                                        </p:attrNameLst>
                                      </p:cBhvr>
                                      <p:to>
                                        <p:strVal val="visible"/>
                                      </p:to>
                                    </p:set>
                                    <p:animEffect filter="wipe(left)" transition="in">
                                      <p:cBhvr>
                                        <p:cTn id="36" dur="4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75"/>
                </p:tgtEl>
              </p:cMediaNode>
            </p:video>
            <p:seq concurrent="1" prevAc="none" nextAc="seek">
              <p:cTn id="38" evtFilter="cancelBubble" nodeType="interactiveSeq" restart="whenNotActive" fill="hold">
                <p:stCondLst>
                  <p:cond delay="0" evt="onClick">
                    <p:tgtEl>
                      <p:spTgt spid="275"/>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75"/>
                                        </p:tgtEl>
                                      </p:cBhvr>
                                    </p:cmd>
                                  </p:childTnLst>
                                </p:cTn>
                              </p:par>
                            </p:childTnLst>
                          </p:cTn>
                        </p:par>
                      </p:childTnLst>
                    </p:cTn>
                  </p:par>
                </p:childTnLst>
              </p:cTn>
              <p:nextCondLst>
                <p:cond delay="0" evt="onClick">
                  <p:tgtEl>
                    <p:spTgt spid="275"/>
                  </p:tgtEl>
                </p:cond>
              </p:nextCondLst>
            </p:seq>
          </p:childTnLst>
        </p:cTn>
      </p:par>
    </p:tnLst>
    <p:bldLst>
      <p:bldP build="whole" bldLvl="1" animBg="1" rev="0" advAuto="0" spid="285" grpId="2"/>
      <p:bldP build="whole" bldLvl="1" animBg="1" rev="0" advAuto="0" spid="306" grpId="5"/>
      <p:bldP build="whole" bldLvl="1" animBg="1" rev="0" advAuto="0" spid="299" grpId="4"/>
      <p:bldP build="whole" bldLvl="1" animBg="1" rev="0" advAuto="0" spid="313" grpId="6"/>
      <p:bldP build="whole" bldLvl="1" animBg="1" rev="0" advAuto="0" spid="320" grpId="7"/>
      <p:bldP build="whole" bldLvl="1" animBg="1" rev="0" advAuto="0" spid="292" grpId="3"/>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324"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27" name="phase_pill"/>
          <p:cNvGrpSpPr/>
          <p:nvPr/>
        </p:nvGrpSpPr>
        <p:grpSpPr>
          <a:xfrm>
            <a:off x="1170432" y="310895"/>
            <a:ext cx="1892808" cy="329185"/>
            <a:chOff x="0" y="0"/>
            <a:chExt cx="1892807" cy="329184"/>
          </a:xfrm>
        </p:grpSpPr>
        <p:sp>
          <p:nvSpPr>
            <p:cNvPr id="325" name="Rounded Rectangle"/>
            <p:cNvSpPr/>
            <p:nvPr/>
          </p:nvSpPr>
          <p:spPr>
            <a:xfrm>
              <a:off x="0" y="0"/>
              <a:ext cx="1892808"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326"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328"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329"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0A3550"/>
                </a:solidFill>
                <a:latin typeface="Georgia"/>
                <a:ea typeface="Georgia"/>
                <a:cs typeface="Georgia"/>
                <a:sym typeface="Georgia"/>
              </a:defRPr>
            </a:lvl1pPr>
          </a:lstStyle>
          <a:p>
            <a:pPr/>
            <a:r>
              <a:t>How Much Water Is Available worksheet</a:t>
            </a:r>
          </a:p>
        </p:txBody>
      </p:sp>
      <p:sp>
        <p:nvSpPr>
          <p:cNvPr id="330"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23A52"/>
                </a:solidFill>
                <a:latin typeface="Arial"/>
                <a:ea typeface="Arial"/>
                <a:cs typeface="Arial"/>
                <a:sym typeface="Arial"/>
              </a:defRPr>
            </a:lvl1pPr>
          </a:lstStyle>
          <a:p>
            <a:pPr/>
            <a:r>
              <a:t>Open Google Classroom now.</a:t>
            </a:r>
          </a:p>
        </p:txBody>
      </p:sp>
      <p:grpSp>
        <p:nvGrpSpPr>
          <p:cNvPr id="335" name="t0"/>
          <p:cNvGrpSpPr/>
          <p:nvPr/>
        </p:nvGrpSpPr>
        <p:grpSpPr>
          <a:xfrm>
            <a:off x="1170432" y="2322576"/>
            <a:ext cx="3307994" cy="2103121"/>
            <a:chOff x="0" y="0"/>
            <a:chExt cx="3307993" cy="2103120"/>
          </a:xfrm>
        </p:grpSpPr>
        <p:sp>
          <p:nvSpPr>
            <p:cNvPr id="331" name="t0_bg"/>
            <p:cNvSpPr/>
            <p:nvPr/>
          </p:nvSpPr>
          <p:spPr>
            <a:xfrm>
              <a:off x="0" y="0"/>
              <a:ext cx="3307994" cy="2103121"/>
            </a:xfrm>
            <a:prstGeom prst="roundRect">
              <a:avLst>
                <a:gd name="adj" fmla="val 4348"/>
              </a:avLst>
            </a:prstGeom>
            <a:solidFill>
              <a:srgbClr val="DCEEF8"/>
            </a:solidFill>
            <a:ln w="20320" cap="flat">
              <a:solidFill>
                <a:srgbClr val="0A3550"/>
              </a:solidFill>
              <a:prstDash val="solid"/>
              <a:round/>
            </a:ln>
            <a:effectLst/>
          </p:spPr>
          <p:txBody>
            <a:bodyPr wrap="square" lIns="45719" tIns="45719" rIns="45719" bIns="45719" numCol="1" anchor="t">
              <a:noAutofit/>
            </a:bodyPr>
            <a:lstStyle/>
            <a:p>
              <a:pPr/>
            </a:p>
          </p:txBody>
        </p:sp>
        <p:sp>
          <p:nvSpPr>
            <p:cNvPr id="332" name="t0_h"/>
            <p:cNvSpPr txBox="1"/>
            <p:nvPr/>
          </p:nvSpPr>
          <p:spPr>
            <a:xfrm>
              <a:off x="237744" y="20606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500">
                  <a:solidFill>
                    <a:srgbClr val="0A3550"/>
                  </a:solidFill>
                  <a:latin typeface="Arial"/>
                  <a:ea typeface="Arial"/>
                  <a:cs typeface="Arial"/>
                  <a:sym typeface="Arial"/>
                </a:defRPr>
              </a:lvl1pPr>
            </a:lstStyle>
            <a:p>
              <a:pPr/>
              <a:r>
                <a:t>BRONZE</a:t>
              </a:r>
            </a:p>
          </p:txBody>
        </p:sp>
        <p:sp>
          <p:nvSpPr>
            <p:cNvPr id="333" name="t0_s"/>
            <p:cNvSpPr txBox="1"/>
            <p:nvPr/>
          </p:nvSpPr>
          <p:spPr>
            <a:xfrm>
              <a:off x="237744" y="57182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A3550"/>
                  </a:solidFill>
                  <a:latin typeface="Arial"/>
                  <a:ea typeface="Arial"/>
                  <a:cs typeface="Arial"/>
                  <a:sym typeface="Arial"/>
                </a:defRPr>
              </a:lvl1pPr>
            </a:lstStyle>
            <a:p>
              <a:pPr/>
              <a:r>
                <a:t>Sources and fractions</a:t>
              </a:r>
            </a:p>
          </p:txBody>
        </p:sp>
        <p:sp>
          <p:nvSpPr>
            <p:cNvPr id="334" name="t0_b"/>
            <p:cNvSpPr txBox="1"/>
            <p:nvPr/>
          </p:nvSpPr>
          <p:spPr>
            <a:xfrm>
              <a:off x="237744" y="914400"/>
              <a:ext cx="2832506" cy="6039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4E6F82"/>
                  </a:solidFill>
                  <a:latin typeface="Arial"/>
                  <a:ea typeface="Arial"/>
                  <a:cs typeface="Arial"/>
                  <a:sym typeface="Arial"/>
                </a:defRPr>
              </a:lvl1pPr>
            </a:lstStyle>
            <a:p>
              <a:pPr/>
              <a:r>
                <a:t>Sort sources of fresh water and find a share of a volume. Read the worked example first.</a:t>
              </a:r>
            </a:p>
          </p:txBody>
        </p:sp>
      </p:grpSp>
      <p:grpSp>
        <p:nvGrpSpPr>
          <p:cNvPr id="340" name="t1"/>
          <p:cNvGrpSpPr/>
          <p:nvPr/>
        </p:nvGrpSpPr>
        <p:grpSpPr>
          <a:xfrm>
            <a:off x="4752745" y="2322576"/>
            <a:ext cx="3307995" cy="2103121"/>
            <a:chOff x="0" y="0"/>
            <a:chExt cx="3307993" cy="2103120"/>
          </a:xfrm>
        </p:grpSpPr>
        <p:sp>
          <p:nvSpPr>
            <p:cNvPr id="336" name="t1_bg"/>
            <p:cNvSpPr/>
            <p:nvPr/>
          </p:nvSpPr>
          <p:spPr>
            <a:xfrm>
              <a:off x="0" y="0"/>
              <a:ext cx="3307994" cy="2103121"/>
            </a:xfrm>
            <a:prstGeom prst="roundRect">
              <a:avLst>
                <a:gd name="adj" fmla="val 4348"/>
              </a:avLst>
            </a:prstGeom>
            <a:solidFill>
              <a:srgbClr val="FFF6CC"/>
            </a:solidFill>
            <a:ln w="20320" cap="flat">
              <a:solidFill>
                <a:srgbClr val="0369A1"/>
              </a:solidFill>
              <a:prstDash val="solid"/>
              <a:round/>
            </a:ln>
            <a:effectLst/>
          </p:spPr>
          <p:txBody>
            <a:bodyPr wrap="square" lIns="45719" tIns="45719" rIns="45719" bIns="45719" numCol="1" anchor="t">
              <a:noAutofit/>
            </a:bodyPr>
            <a:lstStyle/>
            <a:p>
              <a:pPr/>
            </a:p>
          </p:txBody>
        </p:sp>
        <p:sp>
          <p:nvSpPr>
            <p:cNvPr id="337" name="t1_h"/>
            <p:cNvSpPr txBox="1"/>
            <p:nvPr/>
          </p:nvSpPr>
          <p:spPr>
            <a:xfrm>
              <a:off x="237744" y="20606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500">
                  <a:solidFill>
                    <a:srgbClr val="0369A1"/>
                  </a:solidFill>
                  <a:latin typeface="Arial"/>
                  <a:ea typeface="Arial"/>
                  <a:cs typeface="Arial"/>
                  <a:sym typeface="Arial"/>
                </a:defRPr>
              </a:lvl1pPr>
            </a:lstStyle>
            <a:p>
              <a:pPr/>
              <a:r>
                <a:t>SILVER</a:t>
              </a:r>
            </a:p>
          </p:txBody>
        </p:sp>
        <p:sp>
          <p:nvSpPr>
            <p:cNvPr id="338" name="t1_s"/>
            <p:cNvSpPr txBox="1"/>
            <p:nvPr/>
          </p:nvSpPr>
          <p:spPr>
            <a:xfrm>
              <a:off x="237744" y="57182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A3550"/>
                  </a:solidFill>
                  <a:latin typeface="Arial"/>
                  <a:ea typeface="Arial"/>
                  <a:cs typeface="Arial"/>
                  <a:sym typeface="Arial"/>
                </a:defRPr>
              </a:lvl1pPr>
            </a:lstStyle>
            <a:p>
              <a:pPr/>
              <a:r>
                <a:t>Why so little is usable</a:t>
              </a:r>
            </a:p>
          </p:txBody>
        </p:sp>
        <p:sp>
          <p:nvSpPr>
            <p:cNvPr id="339" name="t1_b"/>
            <p:cNvSpPr txBox="1"/>
            <p:nvPr/>
          </p:nvSpPr>
          <p:spPr>
            <a:xfrm>
              <a:off x="237744" y="914400"/>
              <a:ext cx="2832506" cy="6039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4E6F82"/>
                  </a:solidFill>
                  <a:latin typeface="Arial"/>
                  <a:ea typeface="Arial"/>
                  <a:cs typeface="Arial"/>
                  <a:sym typeface="Arial"/>
                </a:defRPr>
              </a:lvl1pPr>
            </a:lstStyle>
            <a:p>
              <a:pPr/>
              <a:r>
                <a:t>Work out the pours, and explain why ice and deep groundwater are out of reach.</a:t>
              </a:r>
            </a:p>
          </p:txBody>
        </p:sp>
      </p:grpSp>
      <p:grpSp>
        <p:nvGrpSpPr>
          <p:cNvPr id="345" name="t2"/>
          <p:cNvGrpSpPr/>
          <p:nvPr/>
        </p:nvGrpSpPr>
        <p:grpSpPr>
          <a:xfrm>
            <a:off x="8335061" y="2322576"/>
            <a:ext cx="3307994" cy="2103121"/>
            <a:chOff x="0" y="0"/>
            <a:chExt cx="3307993" cy="2103120"/>
          </a:xfrm>
        </p:grpSpPr>
        <p:sp>
          <p:nvSpPr>
            <p:cNvPr id="341" name="t2_bg"/>
            <p:cNvSpPr/>
            <p:nvPr/>
          </p:nvSpPr>
          <p:spPr>
            <a:xfrm>
              <a:off x="0" y="0"/>
              <a:ext cx="3307994" cy="2103121"/>
            </a:xfrm>
            <a:prstGeom prst="roundRect">
              <a:avLst>
                <a:gd name="adj" fmla="val 4348"/>
              </a:avLst>
            </a:prstGeom>
            <a:solidFill>
              <a:srgbClr val="FBE4E8"/>
            </a:solidFill>
            <a:ln w="20320" cap="flat">
              <a:solidFill>
                <a:srgbClr val="C23A52"/>
              </a:solidFill>
              <a:prstDash val="solid"/>
              <a:round/>
            </a:ln>
            <a:effectLst/>
          </p:spPr>
          <p:txBody>
            <a:bodyPr wrap="square" lIns="45719" tIns="45719" rIns="45719" bIns="45719" numCol="1" anchor="t">
              <a:noAutofit/>
            </a:bodyPr>
            <a:lstStyle/>
            <a:p>
              <a:pPr/>
            </a:p>
          </p:txBody>
        </p:sp>
        <p:sp>
          <p:nvSpPr>
            <p:cNvPr id="342" name="t2_h"/>
            <p:cNvSpPr txBox="1"/>
            <p:nvPr/>
          </p:nvSpPr>
          <p:spPr>
            <a:xfrm>
              <a:off x="237744" y="20606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500">
                  <a:solidFill>
                    <a:srgbClr val="C23A52"/>
                  </a:solidFill>
                  <a:latin typeface="Arial"/>
                  <a:ea typeface="Arial"/>
                  <a:cs typeface="Arial"/>
                  <a:sym typeface="Arial"/>
                </a:defRPr>
              </a:lvl1pPr>
            </a:lstStyle>
            <a:p>
              <a:pPr/>
              <a:r>
                <a:t>GOLD</a:t>
              </a:r>
            </a:p>
          </p:txBody>
        </p:sp>
        <p:sp>
          <p:nvSpPr>
            <p:cNvPr id="343" name="t2_s"/>
            <p:cNvSpPr txBox="1"/>
            <p:nvPr/>
          </p:nvSpPr>
          <p:spPr>
            <a:xfrm>
              <a:off x="237744" y="57182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A3550"/>
                  </a:solidFill>
                  <a:latin typeface="Arial"/>
                  <a:ea typeface="Arial"/>
                  <a:cs typeface="Arial"/>
                  <a:sym typeface="Arial"/>
                </a:defRPr>
              </a:lvl1pPr>
            </a:lstStyle>
            <a:p>
              <a:pPr/>
              <a:r>
                <a:t>The cycle, rates and the jars</a:t>
              </a:r>
            </a:p>
          </p:txBody>
        </p:sp>
        <p:sp>
          <p:nvSpPr>
            <p:cNvPr id="344" name="t2_b"/>
            <p:cNvSpPr txBox="1"/>
            <p:nvPr/>
          </p:nvSpPr>
          <p:spPr>
            <a:xfrm>
              <a:off x="237744" y="914400"/>
              <a:ext cx="2832506" cy="6039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4E6F82"/>
                  </a:solidFill>
                  <a:latin typeface="Arial"/>
                  <a:ea typeface="Arial"/>
                  <a:cs typeface="Arial"/>
                  <a:sym typeface="Arial"/>
                </a:defRPr>
              </a:lvl1pPr>
            </a:lstStyle>
            <a:p>
              <a:pPr/>
              <a:r>
                <a:t>How the cycle refills water, when a lake runs dry, and your prediction for the two jars.</a:t>
              </a:r>
            </a:p>
          </p:txBody>
        </p:sp>
      </p:grpSp>
      <p:sp>
        <p:nvSpPr>
          <p:cNvPr id="346" name="yd_note"/>
          <p:cNvSpPr txBox="1"/>
          <p:nvPr/>
        </p:nvSpPr>
        <p:spPr>
          <a:xfrm>
            <a:off x="1170432" y="471830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0A3550"/>
                </a:solidFill>
                <a:latin typeface="Arial"/>
                <a:ea typeface="Arial"/>
                <a:cs typeface="Arial"/>
                <a:sym typeface="Arial"/>
              </a:defRPr>
            </a:lvl1pPr>
          </a:lstStyle>
          <a:p>
            <a:pPr/>
            <a:r>
              <a:t>Choose a tier. In each one read the worked example, finish the half-worked one, then do your own. The questions are mixed on purpose.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324"/>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35"/>
                                        </p:tgtEl>
                                        <p:attrNameLst>
                                          <p:attrName>style.visibility</p:attrName>
                                        </p:attrNameLst>
                                      </p:cBhvr>
                                      <p:to>
                                        <p:strVal val="visible"/>
                                      </p:to>
                                    </p:set>
                                    <p:animEffect filter="fade" transition="in">
                                      <p:cBhvr>
                                        <p:cTn id="11" dur="400"/>
                                        <p:tgtEl>
                                          <p:spTgt spid="33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340"/>
                                        </p:tgtEl>
                                        <p:attrNameLst>
                                          <p:attrName>style.visibility</p:attrName>
                                        </p:attrNameLst>
                                      </p:cBhvr>
                                      <p:to>
                                        <p:strVal val="visible"/>
                                      </p:to>
                                    </p:set>
                                    <p:animEffect filter="fade" transition="in">
                                      <p:cBhvr>
                                        <p:cTn id="16" dur="400"/>
                                        <p:tgtEl>
                                          <p:spTgt spid="3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45"/>
                                        </p:tgtEl>
                                        <p:attrNameLst>
                                          <p:attrName>style.visibility</p:attrName>
                                        </p:attrNameLst>
                                      </p:cBhvr>
                                      <p:to>
                                        <p:strVal val="visible"/>
                                      </p:to>
                                    </p:set>
                                    <p:animEffect filter="fade" transition="in">
                                      <p:cBhvr>
                                        <p:cTn id="21" dur="400"/>
                                        <p:tgtEl>
                                          <p:spTgt spid="345"/>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346"/>
                                        </p:tgtEl>
                                        <p:attrNameLst>
                                          <p:attrName>style.visibility</p:attrName>
                                        </p:attrNameLst>
                                      </p:cBhvr>
                                      <p:to>
                                        <p:strVal val="visible"/>
                                      </p:to>
                                    </p:set>
                                    <p:animEffect filter="fade" transition="in">
                                      <p:cBhvr>
                                        <p:cTn id="26" dur="400"/>
                                        <p:tgtEl>
                                          <p:spTgt spid="34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324"/>
                </p:tgtEl>
              </p:cMediaNode>
            </p:video>
            <p:seq concurrent="1" prevAc="none" nextAc="seek">
              <p:cTn id="28" evtFilter="cancelBubble" nodeType="interactiveSeq" restart="whenNotActive" fill="hold">
                <p:stCondLst>
                  <p:cond delay="0" evt="onClick">
                    <p:tgtEl>
                      <p:spTgt spid="324"/>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324"/>
                                        </p:tgtEl>
                                      </p:cBhvr>
                                    </p:cmd>
                                  </p:childTnLst>
                                </p:cTn>
                              </p:par>
                            </p:childTnLst>
                          </p:cTn>
                        </p:par>
                      </p:childTnLst>
                    </p:cTn>
                  </p:par>
                </p:childTnLst>
              </p:cTn>
              <p:nextCondLst>
                <p:cond delay="0" evt="onClick">
                  <p:tgtEl>
                    <p:spTgt spid="324"/>
                  </p:tgtEl>
                </p:cond>
              </p:nextCondLst>
            </p:seq>
          </p:childTnLst>
        </p:cTn>
      </p:par>
    </p:tnLst>
    <p:bldLst>
      <p:bldP build="whole" bldLvl="1" animBg="1" rev="0" advAuto="0" spid="345" grpId="4"/>
      <p:bldP build="whole" bldLvl="1" animBg="1" rev="0" advAuto="0" spid="340" grpId="3"/>
      <p:bldP build="whole" bldLvl="1" animBg="1" rev="0" advAuto="0" spid="346" grpId="5"/>
      <p:bldP build="whole" bldLvl="1" animBg="1" rev="0" advAuto="0" spid="335" grpId="2"/>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35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53" name="phase_pill"/>
          <p:cNvGrpSpPr/>
          <p:nvPr/>
        </p:nvGrpSpPr>
        <p:grpSpPr>
          <a:xfrm>
            <a:off x="1170432" y="310895"/>
            <a:ext cx="1623975" cy="329185"/>
            <a:chOff x="0" y="0"/>
            <a:chExt cx="1623974" cy="329184"/>
          </a:xfrm>
        </p:grpSpPr>
        <p:sp>
          <p:nvSpPr>
            <p:cNvPr id="351" name="Rounded Rectangle"/>
            <p:cNvSpPr/>
            <p:nvPr/>
          </p:nvSpPr>
          <p:spPr>
            <a:xfrm>
              <a:off x="0" y="0"/>
              <a:ext cx="1623975"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352" name="MARK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MARK · 3 MIN</a:t>
              </a:r>
            </a:p>
          </p:txBody>
        </p:sp>
      </p:grpSp>
      <p:sp>
        <p:nvSpPr>
          <p:cNvPr id="354" name="slide_title"/>
          <p:cNvSpPr txBox="1"/>
          <p:nvPr/>
        </p:nvSpPr>
        <p:spPr>
          <a:xfrm>
            <a:off x="1170432" y="1029870"/>
            <a:ext cx="10472623" cy="9577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800"/>
              </a:lnSpc>
              <a:defRPr b="1" sz="3200">
                <a:solidFill>
                  <a:srgbClr val="0A3550"/>
                </a:solidFill>
                <a:latin typeface="Georgia"/>
                <a:ea typeface="Georgia"/>
                <a:cs typeface="Georgia"/>
                <a:sym typeface="Georgia"/>
              </a:defRPr>
            </a:lvl1pPr>
          </a:lstStyle>
          <a:p>
            <a:pPr/>
            <a:r>
              <a:t>Turn to the back. Mark your own in a different colour.</a:t>
            </a:r>
          </a:p>
        </p:txBody>
      </p:sp>
      <p:grpSp>
        <p:nvGrpSpPr>
          <p:cNvPr id="358" name="mkc"/>
          <p:cNvGrpSpPr/>
          <p:nvPr/>
        </p:nvGrpSpPr>
        <p:grpSpPr>
          <a:xfrm>
            <a:off x="1170432" y="2395727"/>
            <a:ext cx="10472623" cy="2651762"/>
            <a:chOff x="0" y="0"/>
            <a:chExt cx="10472622" cy="2651760"/>
          </a:xfrm>
        </p:grpSpPr>
        <p:sp>
          <p:nvSpPr>
            <p:cNvPr id="355" name="mk_card_bg"/>
            <p:cNvSpPr/>
            <p:nvPr/>
          </p:nvSpPr>
          <p:spPr>
            <a:xfrm>
              <a:off x="0" y="0"/>
              <a:ext cx="10472623" cy="2651761"/>
            </a:xfrm>
            <a:prstGeom prst="roundRect">
              <a:avLst>
                <a:gd name="adj" fmla="val 3448"/>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356" name="mk_card_h"/>
            <p:cNvSpPr txBox="1"/>
            <p:nvPr/>
          </p:nvSpPr>
          <p:spPr>
            <a:xfrm>
              <a:off x="274319" y="206502"/>
              <a:ext cx="992398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0A3550"/>
                  </a:solidFill>
                  <a:latin typeface="Georgia"/>
                  <a:ea typeface="Georgia"/>
                  <a:cs typeface="Georgia"/>
                  <a:sym typeface="Georgia"/>
                </a:defRPr>
              </a:lvl1pPr>
            </a:lstStyle>
            <a:p>
              <a:pPr/>
              <a:r>
                <a:t>CHECK YOUR WORK AGAINST THIS</a:t>
              </a:r>
            </a:p>
          </p:txBody>
        </p:sp>
        <p:sp>
          <p:nvSpPr>
            <p:cNvPr id="357" name="mk_card_t"/>
            <p:cNvSpPr txBox="1"/>
            <p:nvPr/>
          </p:nvSpPr>
          <p:spPr>
            <a:xfrm>
              <a:off x="274319" y="548639"/>
              <a:ext cx="9923984" cy="1361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2100"/>
                </a:lnSpc>
                <a:spcBef>
                  <a:spcPts val="800"/>
                </a:spcBef>
                <a:buSzPct val="100000"/>
                <a:buChar char="•"/>
                <a:defRPr sz="1600">
                  <a:solidFill>
                    <a:srgbClr val="0B2A3C"/>
                  </a:solidFill>
                  <a:latin typeface="Arial"/>
                  <a:ea typeface="Arial"/>
                  <a:cs typeface="Arial"/>
                  <a:sym typeface="Arial"/>
                </a:defRPr>
              </a:pPr>
              <a:r>
                <a:t>Every calculation shows the working, and the unit (mL).</a:t>
              </a:r>
            </a:p>
            <a:p>
              <a:pPr marL="342900" indent="-342900">
                <a:lnSpc>
                  <a:spcPts val="2100"/>
                </a:lnSpc>
                <a:spcBef>
                  <a:spcPts val="800"/>
                </a:spcBef>
                <a:buSzPct val="100000"/>
                <a:buChar char="•"/>
                <a:defRPr sz="1600">
                  <a:solidFill>
                    <a:srgbClr val="0B2A3C"/>
                  </a:solidFill>
                  <a:latin typeface="Arial"/>
                  <a:ea typeface="Arial"/>
                  <a:cs typeface="Arial"/>
                  <a:sym typeface="Arial"/>
                </a:defRPr>
              </a:pPr>
              <a:r>
                <a:t>You took the percentage of the right amount: the 25 mL of fresh water, not the whole litre.</a:t>
              </a:r>
            </a:p>
            <a:p>
              <a:pPr marL="342900" indent="-342900">
                <a:lnSpc>
                  <a:spcPts val="2100"/>
                </a:lnSpc>
                <a:spcBef>
                  <a:spcPts val="800"/>
                </a:spcBef>
                <a:buSzPct val="100000"/>
                <a:buChar char="•"/>
                <a:defRPr sz="1600">
                  <a:solidFill>
                    <a:srgbClr val="0B2A3C"/>
                  </a:solidFill>
                  <a:latin typeface="Arial"/>
                  <a:ea typeface="Arial"/>
                  <a:cs typeface="Arial"/>
                  <a:sym typeface="Arial"/>
                </a:defRPr>
              </a:pPr>
              <a:r>
                <a:t>Your reasons say what makes the water hard to use: salty, frozen, deep or slow to refill.</a:t>
              </a:r>
            </a:p>
            <a:p>
              <a:pPr marL="342900" indent="-342900">
                <a:lnSpc>
                  <a:spcPts val="2100"/>
                </a:lnSpc>
                <a:buSzPct val="100000"/>
                <a:buChar char="•"/>
                <a:defRPr sz="1600">
                  <a:solidFill>
                    <a:srgbClr val="0B2A3C"/>
                  </a:solidFill>
                  <a:latin typeface="Arial"/>
                  <a:ea typeface="Arial"/>
                  <a:cs typeface="Arial"/>
                  <a:sym typeface="Arial"/>
                </a:defRPr>
              </a:pPr>
              <a:r>
                <a:t>Write the correct answer next to anything wrong. Do not rub it out.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5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58"/>
                                        </p:tgtEl>
                                        <p:attrNameLst>
                                          <p:attrName>style.visibility</p:attrName>
                                        </p:attrNameLst>
                                      </p:cBhvr>
                                      <p:to>
                                        <p:strVal val="visible"/>
                                      </p:to>
                                    </p:set>
                                    <p:animEffect filter="fade" transition="in">
                                      <p:cBhvr>
                                        <p:cTn id="11" dur="4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2" fill="hold" display="0">
                  <p:stCondLst>
                    <p:cond delay="indefinite"/>
                  </p:stCondLst>
                </p:cTn>
                <p:tgtEl>
                  <p:spTgt spid="350"/>
                </p:tgtEl>
              </p:cMediaNode>
            </p:video>
            <p:seq concurrent="1" prevAc="none" nextAc="seek">
              <p:cTn id="13" evtFilter="cancelBubble" nodeType="interactiveSeq" restart="whenNotActive" fill="hold">
                <p:stCondLst>
                  <p:cond delay="0" evt="onClick">
                    <p:tgtEl>
                      <p:spTgt spid="350"/>
                    </p:tgtEl>
                  </p:cond>
                </p:stCondLst>
                <p:endSync delay="0" evt="end">
                  <p:rtn val="all"/>
                </p:endSync>
                <p:childTnLst>
                  <p:par>
                    <p:cTn id="14" fill="hold">
                      <p:stCondLst>
                        <p:cond delay="0"/>
                      </p:stCondLst>
                      <p:childTnLst>
                        <p:par>
                          <p:cTn id="15" fill="hold">
                            <p:stCondLst>
                              <p:cond delay="0"/>
                            </p:stCondLst>
                            <p:childTnLst>
                              <p:par>
                                <p:cTn id="16" presetClass="mediacall" nodeType="clickEffect" presetSubtype="0" presetID="2" fill="hold">
                                  <p:stCondLst>
                                    <p:cond delay="0"/>
                                  </p:stCondLst>
                                  <p:childTnLst>
                                    <p:cmd type="call" cmd="togglePause">
                                      <p:cBhvr>
                                        <p:cTn id="17" dur="1" fill="hold"/>
                                        <p:tgtEl>
                                          <p:spTgt spid="350"/>
                                        </p:tgtEl>
                                      </p:cBhvr>
                                    </p:cmd>
                                  </p:childTnLst>
                                </p:cTn>
                              </p:par>
                            </p:childTnLst>
                          </p:cTn>
                        </p:par>
                      </p:childTnLst>
                    </p:cTn>
                  </p:par>
                </p:childTnLst>
              </p:cTn>
              <p:nextCondLst>
                <p:cond delay="0" evt="onClick">
                  <p:tgtEl>
                    <p:spTgt spid="350"/>
                  </p:tgtEl>
                </p:cond>
              </p:nextCondLst>
            </p:seq>
          </p:childTnLst>
        </p:cTn>
      </p:par>
    </p:tnLst>
    <p:bldLst>
      <p:bldP build="whole" bldLvl="1" animBg="1" rev="0" advAuto="0" spid="358" grpId="2"/>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3550"/>
        </a:solidFill>
      </p:bgPr>
    </p:bg>
    <p:spTree>
      <p:nvGrpSpPr>
        <p:cNvPr id="1" name=""/>
        <p:cNvGrpSpPr/>
        <p:nvPr/>
      </p:nvGrpSpPr>
      <p:grpSpPr>
        <a:xfrm>
          <a:off x="0" y="0"/>
          <a:ext cx="0" cy="0"/>
          <a:chOff x="0" y="0"/>
          <a:chExt cx="0" cy="0"/>
        </a:xfrm>
      </p:grpSpPr>
      <p:pic>
        <p:nvPicPr>
          <p:cNvPr id="36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65" name="phase_pill"/>
          <p:cNvGrpSpPr/>
          <p:nvPr/>
        </p:nvGrpSpPr>
        <p:grpSpPr>
          <a:xfrm>
            <a:off x="1170432" y="310895"/>
            <a:ext cx="1892808" cy="329185"/>
            <a:chOff x="0" y="0"/>
            <a:chExt cx="1892807" cy="329184"/>
          </a:xfrm>
        </p:grpSpPr>
        <p:sp>
          <p:nvSpPr>
            <p:cNvPr id="363" name="Rounded Rectangle"/>
            <p:cNvSpPr/>
            <p:nvPr/>
          </p:nvSpPr>
          <p:spPr>
            <a:xfrm>
              <a:off x="0" y="0"/>
              <a:ext cx="1892808" cy="329185"/>
            </a:xfrm>
            <a:prstGeom prst="roundRect">
              <a:avLst>
                <a:gd name="adj" fmla="val 44444"/>
              </a:avLst>
            </a:prstGeom>
            <a:solidFill>
              <a:srgbClr val="4CC9FA"/>
            </a:solidFill>
            <a:ln w="12700" cap="flat">
              <a:noFill/>
              <a:miter lim="400000"/>
            </a:ln>
            <a:effectLst/>
          </p:spPr>
          <p:txBody>
            <a:bodyPr wrap="square" lIns="45719" tIns="45719" rIns="45719" bIns="45719" numCol="1" anchor="ctr">
              <a:noAutofit/>
            </a:bodyPr>
            <a:lstStyle/>
            <a:p>
              <a:pPr algn="ctr">
                <a:defRPr sz="1100"/>
              </a:pPr>
            </a:p>
          </p:txBody>
        </p:sp>
        <p:sp>
          <p:nvSpPr>
            <p:cNvPr id="364"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0A3550"/>
                  </a:solidFill>
                  <a:latin typeface="Arial"/>
                  <a:ea typeface="Arial"/>
                  <a:cs typeface="Arial"/>
                  <a:sym typeface="Arial"/>
                </a:defRPr>
              </a:lvl1pPr>
            </a:lstStyle>
            <a:p>
              <a:pPr/>
              <a:r>
                <a:t>PLENARY · 3 MIN</a:t>
              </a:r>
            </a:p>
          </p:txBody>
        </p:sp>
      </p:grpSp>
      <p:sp>
        <p:nvSpPr>
          <p:cNvPr id="36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EEF7FB"/>
                </a:solidFill>
                <a:latin typeface="Georgia"/>
                <a:ea typeface="Georgia"/>
                <a:cs typeface="Georgia"/>
                <a:sym typeface="Georgia"/>
              </a:defRPr>
            </a:lvl1pPr>
          </a:lstStyle>
          <a:p>
            <a:pPr/>
            <a:r>
              <a:t>True or false?</a:t>
            </a:r>
          </a:p>
        </p:txBody>
      </p:sp>
      <p:grpSp>
        <p:nvGrpSpPr>
          <p:cNvPr id="369" name="p0_stmt"/>
          <p:cNvGrpSpPr/>
          <p:nvPr/>
        </p:nvGrpSpPr>
        <p:grpSpPr>
          <a:xfrm>
            <a:off x="1170432" y="2011679"/>
            <a:ext cx="8552383" cy="585217"/>
            <a:chOff x="0" y="0"/>
            <a:chExt cx="8552382" cy="585216"/>
          </a:xfrm>
        </p:grpSpPr>
        <p:sp>
          <p:nvSpPr>
            <p:cNvPr id="367" name="p0_bg"/>
            <p:cNvSpPr/>
            <p:nvPr/>
          </p:nvSpPr>
          <p:spPr>
            <a:xfrm>
              <a:off x="0" y="0"/>
              <a:ext cx="8552383" cy="585217"/>
            </a:xfrm>
            <a:prstGeom prst="roundRect">
              <a:avLst>
                <a:gd name="adj" fmla="val 15625"/>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68" name="p0_q"/>
            <p:cNvSpPr txBox="1"/>
            <p:nvPr/>
          </p:nvSpPr>
          <p:spPr>
            <a:xfrm>
              <a:off x="256032" y="180983"/>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Most of Earth’s fresh water is frozen in ice caps and glaciers.</a:t>
              </a:r>
            </a:p>
          </p:txBody>
        </p:sp>
      </p:grpSp>
      <p:sp>
        <p:nvSpPr>
          <p:cNvPr id="370" name="p0_v"/>
          <p:cNvSpPr txBox="1"/>
          <p:nvPr/>
        </p:nvSpPr>
        <p:spPr>
          <a:xfrm>
            <a:off x="9905695" y="2180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2E9E5B"/>
                </a:solidFill>
                <a:latin typeface="Arial"/>
                <a:ea typeface="Arial"/>
                <a:cs typeface="Arial"/>
                <a:sym typeface="Arial"/>
              </a:defRPr>
            </a:lvl1pPr>
          </a:lstStyle>
          <a:p>
            <a:pPr/>
            <a:r>
              <a:t>TRUE</a:t>
            </a:r>
          </a:p>
        </p:txBody>
      </p:sp>
      <p:grpSp>
        <p:nvGrpSpPr>
          <p:cNvPr id="373" name="p1_stmt"/>
          <p:cNvGrpSpPr/>
          <p:nvPr/>
        </p:nvGrpSpPr>
        <p:grpSpPr>
          <a:xfrm>
            <a:off x="1170432" y="2724911"/>
            <a:ext cx="8552383" cy="585217"/>
            <a:chOff x="0" y="0"/>
            <a:chExt cx="8552382" cy="585216"/>
          </a:xfrm>
        </p:grpSpPr>
        <p:sp>
          <p:nvSpPr>
            <p:cNvPr id="371" name="p1_bg"/>
            <p:cNvSpPr/>
            <p:nvPr/>
          </p:nvSpPr>
          <p:spPr>
            <a:xfrm>
              <a:off x="0" y="0"/>
              <a:ext cx="8552383" cy="585217"/>
            </a:xfrm>
            <a:prstGeom prst="roundRect">
              <a:avLst>
                <a:gd name="adj" fmla="val 15625"/>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72" name="p1_q"/>
            <p:cNvSpPr txBox="1"/>
            <p:nvPr/>
          </p:nvSpPr>
          <p:spPr>
            <a:xfrm>
              <a:off x="256032" y="180983"/>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Most of the water on Earth is fresh water.</a:t>
              </a:r>
            </a:p>
          </p:txBody>
        </p:sp>
      </p:grpSp>
      <p:sp>
        <p:nvSpPr>
          <p:cNvPr id="374" name="p1_v"/>
          <p:cNvSpPr txBox="1"/>
          <p:nvPr/>
        </p:nvSpPr>
        <p:spPr>
          <a:xfrm>
            <a:off x="9905695" y="289405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4CC9FA"/>
                </a:solidFill>
                <a:latin typeface="Arial"/>
                <a:ea typeface="Arial"/>
                <a:cs typeface="Arial"/>
                <a:sym typeface="Arial"/>
              </a:defRPr>
            </a:lvl1pPr>
          </a:lstStyle>
          <a:p>
            <a:pPr/>
            <a:r>
              <a:t>FALSE</a:t>
            </a:r>
          </a:p>
        </p:txBody>
      </p:sp>
      <p:grpSp>
        <p:nvGrpSpPr>
          <p:cNvPr id="377" name="p2_stmt"/>
          <p:cNvGrpSpPr/>
          <p:nvPr/>
        </p:nvGrpSpPr>
        <p:grpSpPr>
          <a:xfrm>
            <a:off x="1170432" y="3438144"/>
            <a:ext cx="8552383" cy="585217"/>
            <a:chOff x="0" y="0"/>
            <a:chExt cx="8552382" cy="585216"/>
          </a:xfrm>
        </p:grpSpPr>
        <p:sp>
          <p:nvSpPr>
            <p:cNvPr id="375" name="p2_bg"/>
            <p:cNvSpPr/>
            <p:nvPr/>
          </p:nvSpPr>
          <p:spPr>
            <a:xfrm>
              <a:off x="0" y="0"/>
              <a:ext cx="8552383" cy="585217"/>
            </a:xfrm>
            <a:prstGeom prst="roundRect">
              <a:avLst>
                <a:gd name="adj" fmla="val 15625"/>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76" name="p2_q"/>
            <p:cNvSpPr txBox="1"/>
            <p:nvPr/>
          </p:nvSpPr>
          <p:spPr>
            <a:xfrm>
              <a:off x="256032" y="180983"/>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Rain refills rivers and lakes, so fresh water cannot run out.</a:t>
              </a:r>
            </a:p>
          </p:txBody>
        </p:sp>
      </p:grpSp>
      <p:sp>
        <p:nvSpPr>
          <p:cNvPr id="378" name="p2_v"/>
          <p:cNvSpPr txBox="1"/>
          <p:nvPr/>
        </p:nvSpPr>
        <p:spPr>
          <a:xfrm>
            <a:off x="9905695" y="360728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4CC9FA"/>
                </a:solidFill>
                <a:latin typeface="Arial"/>
                <a:ea typeface="Arial"/>
                <a:cs typeface="Arial"/>
                <a:sym typeface="Arial"/>
              </a:defRPr>
            </a:lvl1pPr>
          </a:lstStyle>
          <a:p>
            <a:pPr/>
            <a:r>
              <a:t>FALSE</a:t>
            </a:r>
          </a:p>
        </p:txBody>
      </p:sp>
      <p:grpSp>
        <p:nvGrpSpPr>
          <p:cNvPr id="381" name="p3_stmt"/>
          <p:cNvGrpSpPr/>
          <p:nvPr/>
        </p:nvGrpSpPr>
        <p:grpSpPr>
          <a:xfrm>
            <a:off x="1170432" y="4151376"/>
            <a:ext cx="8552383" cy="585217"/>
            <a:chOff x="0" y="0"/>
            <a:chExt cx="8552382" cy="585216"/>
          </a:xfrm>
        </p:grpSpPr>
        <p:sp>
          <p:nvSpPr>
            <p:cNvPr id="379" name="p3_bg"/>
            <p:cNvSpPr/>
            <p:nvPr/>
          </p:nvSpPr>
          <p:spPr>
            <a:xfrm>
              <a:off x="0" y="0"/>
              <a:ext cx="8552383" cy="585217"/>
            </a:xfrm>
            <a:prstGeom prst="roundRect">
              <a:avLst>
                <a:gd name="adj" fmla="val 15625"/>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80" name="p3_q"/>
            <p:cNvSpPr txBox="1"/>
            <p:nvPr/>
          </p:nvSpPr>
          <p:spPr>
            <a:xfrm>
              <a:off x="256032" y="66683"/>
              <a:ext cx="8186623" cy="4518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A lake gains 15 million litres a year from rain and rivers. Taking 10 million litres a year from it is sustainable.</a:t>
              </a:r>
            </a:p>
          </p:txBody>
        </p:sp>
      </p:grpSp>
      <p:sp>
        <p:nvSpPr>
          <p:cNvPr id="382" name="p3_v"/>
          <p:cNvSpPr txBox="1"/>
          <p:nvPr/>
        </p:nvSpPr>
        <p:spPr>
          <a:xfrm>
            <a:off x="9905695" y="432051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2E9E5B"/>
                </a:solidFill>
                <a:latin typeface="Arial"/>
                <a:ea typeface="Arial"/>
                <a:cs typeface="Arial"/>
                <a:sym typeface="Arial"/>
              </a:defRPr>
            </a:lvl1pPr>
          </a:lstStyle>
          <a:p>
            <a:pPr/>
            <a:r>
              <a:t>TRUE</a:t>
            </a:r>
          </a:p>
        </p:txBody>
      </p:sp>
      <p:grpSp>
        <p:nvGrpSpPr>
          <p:cNvPr id="385" name="p4_stmt"/>
          <p:cNvGrpSpPr/>
          <p:nvPr/>
        </p:nvGrpSpPr>
        <p:grpSpPr>
          <a:xfrm>
            <a:off x="1170432" y="4864608"/>
            <a:ext cx="8552383" cy="585217"/>
            <a:chOff x="0" y="0"/>
            <a:chExt cx="8552382" cy="585216"/>
          </a:xfrm>
        </p:grpSpPr>
        <p:sp>
          <p:nvSpPr>
            <p:cNvPr id="383" name="p4_bg"/>
            <p:cNvSpPr/>
            <p:nvPr/>
          </p:nvSpPr>
          <p:spPr>
            <a:xfrm>
              <a:off x="0" y="0"/>
              <a:ext cx="8552383" cy="585217"/>
            </a:xfrm>
            <a:prstGeom prst="roundRect">
              <a:avLst>
                <a:gd name="adj" fmla="val 15625"/>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84" name="p4_q"/>
            <p:cNvSpPr txBox="1"/>
            <p:nvPr/>
          </p:nvSpPr>
          <p:spPr>
            <a:xfrm>
              <a:off x="256032" y="180983"/>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Deep groundwater refills as quickly as a river, because rain falls every week.</a:t>
              </a:r>
            </a:p>
          </p:txBody>
        </p:sp>
      </p:grpSp>
      <p:sp>
        <p:nvSpPr>
          <p:cNvPr id="386" name="p4_v"/>
          <p:cNvSpPr txBox="1"/>
          <p:nvPr/>
        </p:nvSpPr>
        <p:spPr>
          <a:xfrm>
            <a:off x="9905695" y="50337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4CC9FA"/>
                </a:solidFill>
                <a:latin typeface="Arial"/>
                <a:ea typeface="Arial"/>
                <a:cs typeface="Arial"/>
                <a:sym typeface="Arial"/>
              </a:defRPr>
            </a:lvl1pPr>
          </a:lstStyle>
          <a:p>
            <a:pPr/>
            <a:r>
              <a:t>FALSE</a:t>
            </a:r>
          </a:p>
        </p:txBody>
      </p:sp>
      <p:grpSp>
        <p:nvGrpSpPr>
          <p:cNvPr id="390" name="pl_jars"/>
          <p:cNvGrpSpPr/>
          <p:nvPr/>
        </p:nvGrpSpPr>
        <p:grpSpPr>
          <a:xfrm>
            <a:off x="1170432" y="5833872"/>
            <a:ext cx="10472623" cy="566929"/>
            <a:chOff x="0" y="0"/>
            <a:chExt cx="10472623" cy="566927"/>
          </a:xfrm>
        </p:grpSpPr>
        <p:pic>
          <p:nvPicPr>
            <p:cNvPr id="387" name="pl_jar1" descr="pl_jar1"/>
            <p:cNvPicPr>
              <a:picLocks noChangeAspect="1"/>
            </p:cNvPicPr>
            <p:nvPr/>
          </p:nvPicPr>
          <p:blipFill>
            <a:blip r:embed="rId6">
              <a:extLst/>
            </a:blip>
            <a:stretch>
              <a:fillRect/>
            </a:stretch>
          </p:blipFill>
          <p:spPr>
            <a:xfrm>
              <a:off x="0" y="0"/>
              <a:ext cx="566928" cy="566928"/>
            </a:xfrm>
            <a:prstGeom prst="rect">
              <a:avLst/>
            </a:prstGeom>
            <a:ln w="12700" cap="flat">
              <a:noFill/>
              <a:miter lim="400000"/>
            </a:ln>
            <a:effectLst/>
          </p:spPr>
        </p:pic>
        <p:pic>
          <p:nvPicPr>
            <p:cNvPr id="388" name="pl_jar2" descr="pl_jar2"/>
            <p:cNvPicPr>
              <a:picLocks noChangeAspect="1"/>
            </p:cNvPicPr>
            <p:nvPr/>
          </p:nvPicPr>
          <p:blipFill>
            <a:blip r:embed="rId6">
              <a:extLst/>
            </a:blip>
            <a:stretch>
              <a:fillRect/>
            </a:stretch>
          </p:blipFill>
          <p:spPr>
            <a:xfrm>
              <a:off x="676656" y="0"/>
              <a:ext cx="566929" cy="566928"/>
            </a:xfrm>
            <a:prstGeom prst="rect">
              <a:avLst/>
            </a:prstGeom>
            <a:ln w="12700" cap="flat">
              <a:noFill/>
              <a:miter lim="400000"/>
            </a:ln>
            <a:effectLst/>
          </p:spPr>
        </p:pic>
        <p:sp>
          <p:nvSpPr>
            <p:cNvPr id="389" name="pl_next"/>
            <p:cNvSpPr txBox="1"/>
            <p:nvPr/>
          </p:nvSpPr>
          <p:spPr>
            <a:xfrm>
              <a:off x="1481327" y="58884"/>
              <a:ext cx="8991297"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b="1" i="1" sz="1400">
                  <a:solidFill>
                    <a:srgbClr val="4CC9FA"/>
                  </a:solidFill>
                  <a:latin typeface="Arial"/>
                  <a:ea typeface="Arial"/>
                  <a:cs typeface="Arial"/>
                  <a:sym typeface="Arial"/>
                </a:defRPr>
              </a:lvl1pPr>
            </a:lstStyle>
            <a:p>
              <a:pPr/>
              <a:r>
                <a:t>Two jars are on the windowsill: one with nothing added, one with a pinch of fertiliser. Which one will change? Write your prediction. We come back to them in Lesson 4.</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6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69"/>
                                        </p:tgtEl>
                                        <p:attrNameLst>
                                          <p:attrName>style.visibility</p:attrName>
                                        </p:attrNameLst>
                                      </p:cBhvr>
                                      <p:to>
                                        <p:strVal val="visible"/>
                                      </p:to>
                                    </p:set>
                                    <p:animEffect filter="fade" transition="in">
                                      <p:cBhvr>
                                        <p:cTn id="11" dur="400"/>
                                        <p:tgtEl>
                                          <p:spTgt spid="369"/>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70"/>
                                        </p:tgtEl>
                                        <p:attrNameLst>
                                          <p:attrName>style.visibility</p:attrName>
                                        </p:attrNameLst>
                                      </p:cBhvr>
                                      <p:to>
                                        <p:strVal val="visible"/>
                                      </p:to>
                                    </p:set>
                                    <p:anim calcmode="lin" valueType="num">
                                      <p:cBhvr>
                                        <p:cTn id="16" dur="400" fill="hold"/>
                                        <p:tgtEl>
                                          <p:spTgt spid="370"/>
                                        </p:tgtEl>
                                        <p:attrNameLst>
                                          <p:attrName>ppt_w</p:attrName>
                                        </p:attrNameLst>
                                      </p:cBhvr>
                                      <p:tavLst>
                                        <p:tav tm="0">
                                          <p:val>
                                            <p:fltVal val="0"/>
                                          </p:val>
                                        </p:tav>
                                        <p:tav tm="100000">
                                          <p:val>
                                            <p:strVal val="#ppt_w"/>
                                          </p:val>
                                        </p:tav>
                                      </p:tavLst>
                                    </p:anim>
                                    <p:anim calcmode="lin" valueType="num">
                                      <p:cBhvr>
                                        <p:cTn id="17" dur="400" fill="hold"/>
                                        <p:tgtEl>
                                          <p:spTgt spid="370"/>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73"/>
                                        </p:tgtEl>
                                        <p:attrNameLst>
                                          <p:attrName>style.visibility</p:attrName>
                                        </p:attrNameLst>
                                      </p:cBhvr>
                                      <p:to>
                                        <p:strVal val="visible"/>
                                      </p:to>
                                    </p:set>
                                    <p:animEffect filter="fade" transition="in">
                                      <p:cBhvr>
                                        <p:cTn id="22" dur="400"/>
                                        <p:tgtEl>
                                          <p:spTgt spid="373"/>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74"/>
                                        </p:tgtEl>
                                        <p:attrNameLst>
                                          <p:attrName>style.visibility</p:attrName>
                                        </p:attrNameLst>
                                      </p:cBhvr>
                                      <p:to>
                                        <p:strVal val="visible"/>
                                      </p:to>
                                    </p:set>
                                    <p:anim calcmode="lin" valueType="num">
                                      <p:cBhvr>
                                        <p:cTn id="27" dur="400" fill="hold"/>
                                        <p:tgtEl>
                                          <p:spTgt spid="374"/>
                                        </p:tgtEl>
                                        <p:attrNameLst>
                                          <p:attrName>ppt_w</p:attrName>
                                        </p:attrNameLst>
                                      </p:cBhvr>
                                      <p:tavLst>
                                        <p:tav tm="0">
                                          <p:val>
                                            <p:fltVal val="0"/>
                                          </p:val>
                                        </p:tav>
                                        <p:tav tm="100000">
                                          <p:val>
                                            <p:strVal val="#ppt_w"/>
                                          </p:val>
                                        </p:tav>
                                      </p:tavLst>
                                    </p:anim>
                                    <p:anim calcmode="lin" valueType="num">
                                      <p:cBhvr>
                                        <p:cTn id="28" dur="400" fill="hold"/>
                                        <p:tgtEl>
                                          <p:spTgt spid="37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77"/>
                                        </p:tgtEl>
                                        <p:attrNameLst>
                                          <p:attrName>style.visibility</p:attrName>
                                        </p:attrNameLst>
                                      </p:cBhvr>
                                      <p:to>
                                        <p:strVal val="visible"/>
                                      </p:to>
                                    </p:set>
                                    <p:animEffect filter="fade" transition="in">
                                      <p:cBhvr>
                                        <p:cTn id="33" dur="400"/>
                                        <p:tgtEl>
                                          <p:spTgt spid="377"/>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78"/>
                                        </p:tgtEl>
                                        <p:attrNameLst>
                                          <p:attrName>style.visibility</p:attrName>
                                        </p:attrNameLst>
                                      </p:cBhvr>
                                      <p:to>
                                        <p:strVal val="visible"/>
                                      </p:to>
                                    </p:set>
                                    <p:anim calcmode="lin" valueType="num">
                                      <p:cBhvr>
                                        <p:cTn id="38" dur="400" fill="hold"/>
                                        <p:tgtEl>
                                          <p:spTgt spid="378"/>
                                        </p:tgtEl>
                                        <p:attrNameLst>
                                          <p:attrName>ppt_w</p:attrName>
                                        </p:attrNameLst>
                                      </p:cBhvr>
                                      <p:tavLst>
                                        <p:tav tm="0">
                                          <p:val>
                                            <p:fltVal val="0"/>
                                          </p:val>
                                        </p:tav>
                                        <p:tav tm="100000">
                                          <p:val>
                                            <p:strVal val="#ppt_w"/>
                                          </p:val>
                                        </p:tav>
                                      </p:tavLst>
                                    </p:anim>
                                    <p:anim calcmode="lin" valueType="num">
                                      <p:cBhvr>
                                        <p:cTn id="39" dur="400" fill="hold"/>
                                        <p:tgtEl>
                                          <p:spTgt spid="378"/>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81"/>
                                        </p:tgtEl>
                                        <p:attrNameLst>
                                          <p:attrName>style.visibility</p:attrName>
                                        </p:attrNameLst>
                                      </p:cBhvr>
                                      <p:to>
                                        <p:strVal val="visible"/>
                                      </p:to>
                                    </p:set>
                                    <p:animEffect filter="fade" transition="in">
                                      <p:cBhvr>
                                        <p:cTn id="44" dur="400"/>
                                        <p:tgtEl>
                                          <p:spTgt spid="381"/>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82"/>
                                        </p:tgtEl>
                                        <p:attrNameLst>
                                          <p:attrName>style.visibility</p:attrName>
                                        </p:attrNameLst>
                                      </p:cBhvr>
                                      <p:to>
                                        <p:strVal val="visible"/>
                                      </p:to>
                                    </p:set>
                                    <p:anim calcmode="lin" valueType="num">
                                      <p:cBhvr>
                                        <p:cTn id="49" dur="400" fill="hold"/>
                                        <p:tgtEl>
                                          <p:spTgt spid="382"/>
                                        </p:tgtEl>
                                        <p:attrNameLst>
                                          <p:attrName>ppt_w</p:attrName>
                                        </p:attrNameLst>
                                      </p:cBhvr>
                                      <p:tavLst>
                                        <p:tav tm="0">
                                          <p:val>
                                            <p:fltVal val="0"/>
                                          </p:val>
                                        </p:tav>
                                        <p:tav tm="100000">
                                          <p:val>
                                            <p:strVal val="#ppt_w"/>
                                          </p:val>
                                        </p:tav>
                                      </p:tavLst>
                                    </p:anim>
                                    <p:anim calcmode="lin" valueType="num">
                                      <p:cBhvr>
                                        <p:cTn id="50" dur="400" fill="hold"/>
                                        <p:tgtEl>
                                          <p:spTgt spid="382"/>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85"/>
                                        </p:tgtEl>
                                        <p:attrNameLst>
                                          <p:attrName>style.visibility</p:attrName>
                                        </p:attrNameLst>
                                      </p:cBhvr>
                                      <p:to>
                                        <p:strVal val="visible"/>
                                      </p:to>
                                    </p:set>
                                    <p:animEffect filter="fade" transition="in">
                                      <p:cBhvr>
                                        <p:cTn id="55" dur="400"/>
                                        <p:tgtEl>
                                          <p:spTgt spid="385"/>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86"/>
                                        </p:tgtEl>
                                        <p:attrNameLst>
                                          <p:attrName>style.visibility</p:attrName>
                                        </p:attrNameLst>
                                      </p:cBhvr>
                                      <p:to>
                                        <p:strVal val="visible"/>
                                      </p:to>
                                    </p:set>
                                    <p:anim calcmode="lin" valueType="num">
                                      <p:cBhvr>
                                        <p:cTn id="60" dur="400" fill="hold"/>
                                        <p:tgtEl>
                                          <p:spTgt spid="386"/>
                                        </p:tgtEl>
                                        <p:attrNameLst>
                                          <p:attrName>ppt_w</p:attrName>
                                        </p:attrNameLst>
                                      </p:cBhvr>
                                      <p:tavLst>
                                        <p:tav tm="0">
                                          <p:val>
                                            <p:fltVal val="0"/>
                                          </p:val>
                                        </p:tav>
                                        <p:tav tm="100000">
                                          <p:val>
                                            <p:strVal val="#ppt_w"/>
                                          </p:val>
                                        </p:tav>
                                      </p:tavLst>
                                    </p:anim>
                                    <p:anim calcmode="lin" valueType="num">
                                      <p:cBhvr>
                                        <p:cTn id="61" dur="400" fill="hold"/>
                                        <p:tgtEl>
                                          <p:spTgt spid="386"/>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90"/>
                                        </p:tgtEl>
                                        <p:attrNameLst>
                                          <p:attrName>style.visibility</p:attrName>
                                        </p:attrNameLst>
                                      </p:cBhvr>
                                      <p:to>
                                        <p:strVal val="visible"/>
                                      </p:to>
                                    </p:set>
                                    <p:animEffect filter="fade" transition="in">
                                      <p:cBhvr>
                                        <p:cTn id="66" dur="400"/>
                                        <p:tgtEl>
                                          <p:spTgt spid="390"/>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62"/>
                </p:tgtEl>
              </p:cMediaNode>
            </p:video>
            <p:seq concurrent="1" prevAc="none" nextAc="seek">
              <p:cTn id="68" evtFilter="cancelBubble" nodeType="interactiveSeq" restart="whenNotActive" fill="hold">
                <p:stCondLst>
                  <p:cond delay="0" evt="onClick">
                    <p:tgtEl>
                      <p:spTgt spid="362"/>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62"/>
                                        </p:tgtEl>
                                      </p:cBhvr>
                                    </p:cmd>
                                  </p:childTnLst>
                                </p:cTn>
                              </p:par>
                            </p:childTnLst>
                          </p:cTn>
                        </p:par>
                      </p:childTnLst>
                    </p:cTn>
                  </p:par>
                </p:childTnLst>
              </p:cTn>
              <p:nextCondLst>
                <p:cond delay="0" evt="onClick">
                  <p:tgtEl>
                    <p:spTgt spid="362"/>
                  </p:tgtEl>
                </p:cond>
              </p:nextCondLst>
            </p:seq>
          </p:childTnLst>
        </p:cTn>
      </p:par>
    </p:tnLst>
    <p:bldLst>
      <p:bldP build="whole" bldLvl="1" animBg="1" rev="0" advAuto="0" spid="382" grpId="9"/>
      <p:bldP build="whole" bldLvl="1" animBg="1" rev="0" advAuto="0" spid="373" grpId="4"/>
      <p:bldP build="whole" bldLvl="1" animBg="1" rev="0" advAuto="0" spid="386" grpId="11"/>
      <p:bldP build="whole" bldLvl="1" animBg="1" rev="0" advAuto="0" spid="369" grpId="2"/>
      <p:bldP build="whole" bldLvl="1" animBg="1" rev="0" advAuto="0" spid="378" grpId="7"/>
      <p:bldP build="whole" bldLvl="1" animBg="1" rev="0" advAuto="0" spid="390" grpId="12"/>
      <p:bldP build="whole" bldLvl="1" animBg="1" rev="0" advAuto="0" spid="385" grpId="10"/>
      <p:bldP build="whole" bldLvl="1" animBg="1" rev="0" advAuto="0" spid="370" grpId="3"/>
      <p:bldP build="whole" bldLvl="1" animBg="1" rev="0" advAuto="0" spid="381" grpId="8"/>
      <p:bldP build="whole" bldLvl="1" animBg="1" rev="0" advAuto="0" spid="374" grpId="5"/>
      <p:bldP build="whole" bldLvl="1" animBg="1" rev="0" advAuto="0" spid="377" grpId="6"/>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