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it will not appear in the slideshow.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1 minute. The dots lay themselves down, then the caption.
One dot is a different colour. Do not explain it.
SAY: "You have spent two lessons on how science works. Today is about who did it."
TIMING: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 1 minute. Four clicks.
Point at the red line. The poster is the unit task and they should know from the start that today feeds it.
RAG grid, START column,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5 minutes: 4 working, 1 marking. Six clicks.
Q1 to Q4 are Lessons 1 and 2. If Q2 and Q3 are shaky, the essay is in trouble — note who.
Q5 AND Q6 ARE THE HOOK LOADING ITSELF. Do not comment on the answers. Just collect the Q6 numbers by show of hands: who wrote zero? one? two or more? Write the tally on the board.
Expect a lot of zeros, and expect the room to notice that themselves. Let the silence sit for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 5 minutes. Five clicks: the three boxes, the counting line, the question, then the options.
GIVE THEM TWENTY SECONDS, then collect names on the board. Do not curate the list — write down whatever they say.
THEN COUNT, out loud, in front of them. Women. People from outside Europe and North America. The numbers do the teaching and you should not editorialise while you count.
ANSWER (slide 12, not now): B.
C IS WORTH TEN SECONDS. Somebody will pick it, and the timeline on the next slide answers it directly — the first entry is from Basra, five hundred years before Copernicus.
BE CAREFUL NOT TO SHAME THE LIST. Their list is the list they were given. That is precisely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5 minutes. Seven clicks: the six moments, then the banner.
THE FIRST ENTRY IS THE POINT and it answers option C from the hook. Ibn al-Haytham worked in Basra and Cairo around a thousand years ago, and he is the one who insisted that you test an idea rather than argue about it. Lesson 1 in one man.
SAY HIS NAME PROPERLY and get them to say it back. It is the only name on the board today that most of them have never heard.
THE LAST TWO ARE DELIBERATELY VAGUE. "A team in Cambridge." "A student in Cambridge." Say it in exactly those words and do not elaborate. Somebody will ask who. Tell them to hold on.
DO NOT TEACH THE SCIENCE of any of these. One line each. Today is about the story, not about optics or DNA.
STRETCH: "What is missing from this timeline?" Everything outside Europe after 1020, for a start. It is a British school timeline, and saying so out loud is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4 minutes. Ten clicks: answer then reason, row by row.
THIS IS AN ORDERING EXERCISE, not a memory test. Leave the timeline up if you can, or let them look back at their books.
ROW 2 is the one worth pausing on. Five hundred years before Copernicus, and almost none of them had heard the name twenty minutes ago.
ROW 4: only fourteen years between DNA and pulsars. Science sped up enormously in the twentieth century, and they can see that in the spacing on the timeline.
IF THE ROOM IS SECURE by row 3, do the last two orally.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8 minutes, the heart of the lesson. Nine clicks: for each person, the photo and name, then what they did, then what happened.
REVEAL WHAT THEY DID BEFORE WHAT HAPPENED TO THEM, every time. They should be impressed first and indignant second. That order matters.
ANNING: she was twelve. Say the age and wait — it is the same age as most of the room. She was also poor, and that mattered as much as being female.
JOHNSON: read the quotation aloud. She worked in a segregated building; the astronaut still would not fly until she said the numbers were right.
BELL BURNELL: connect her to the timeline. That 1967 entry, "a student in Cambridge", was her. She has said publicly that the Nobel did not bother her much, and then she gave away three million dollars to help people like her. Do not turn her into a victim — she would object.
ALL THREE ARE WOMEN and that is deliberate, but say aloud that the same thing happened by class, by country and by race. Anning was poor. Johnson was Black in a segregated America.
THE PHOTO OF BELL BURNELL is from 1967, the year she found it. She is the age of a sixth-former in it. Point that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4 minutes. Six clicks, one letter each. Boards up BEFORE you click.
Leave slide 8 up if you have a second screen, or let them use their books. This is a recall check, not a memory test.
ROWS 1 AND 4 ARE BOTH ANNING and that pairing is the point: the same person did something remarkable and was shut out of the room where it was discussed.
AFTER ROW 6, ask the open question: "which of these three do you want to find out more about?" That is the poster choice, and taking it now saves five minutes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3 minutes. Five clicks.
CHECK THE NOBEL NUMBER BEFORE YOU TEACH IT. Five is correct to 2023 and the five names are in the footer. If it has changed since, changing the slide takes ten seconds and modelling that you checked is worth more than the number itself.
THE CLOSING LINE DOES DOUBLE DUTY. Better is not finished — true of who gets recognised, and true of every scientific conclusion they met in Lesson 1. Say both halves.
DO NOT LET THIS BECOME GLOOMY. The 1904 card and the 2018 card are both good news. The direction of travel is clear; the arrival is not.
CUT THIS SLIDE FIRST if you are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9 minutes. Four clicks.
THE POSTER IS THE UNIT TASK. Nine minutes will not finish it, and it is not meant to. They choose a person and plan; the making happens for homework or in Lesson 4's spare time.
THE WORKSHEET LISTS SIX MORE SCIENTISTS to choose from beyond today's three, so nobody is stuck picking from a list of three.
CIRCULATE WITH ONE QUESTION: "how do you know that is true?" The second-source rule is the Lesson 1 idea doing real work.
AT 2 MINUTES REMAINING, stop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 2 minutes. Six clicks: the dots, the line, the three points, then the banner.
Go back to the board where their three names are still written. Announce B.
THE DARK DOT is the same device as the title slide and as the black swan in Lesson 1. Nobody will mention it.
THE BANNER IS THE ONE TO SAY SLOWLY. Their list was not their fault. It was the list they were handed. The point of the lesson is that they can now hand on a longer one.
DO NOT END ON GUILT. End on the poster.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PLENARY — 3 minutes. Eleven clicks.
Q3 IS THE ONE TO WATCH. If they stand up, they have heard "Bell Burnell" and "Nobel" in the same lesson and merged them. Worth correcting firmly — the whole point is that she did not get it.
Q5 pulls Lesson 1 back in. A conclusion is never closed, and neither is the list of who did the work.
THE MOTIF RETURNS top right.
REMIND THEM about the poster before they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shown in the lesson unless someone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show="0">
  <p:cSld name="Slide 1">
    <p:bg>
      <p:bgPr>
        <a:solidFill>
          <a:srgbClr val="FFFFFF"/>
        </a:solidFill>
      </p:bgPr>
    </p:bg>
    <p:spTree>
      <p:nvGrpSpPr>
        <p:cNvPr id="1" name=""/>
        <p:cNvGrpSpPr/>
        <p:nvPr/>
      </p:nvGrpSpPr>
      <p:grpSpPr>
        <a:xfrm>
          <a:off x="0" y="0"/>
          <a:ext cx="0" cy="0"/>
          <a:chOff x="0" y="0"/>
          <a:chExt cx="0" cy="0"/>
        </a:xfrm>
      </p:grpSpPr>
      <p:sp>
        <p:nvSpPr>
          <p:cNvPr id="2" name="teach_flag"/>
          <p:cNvSpPr txBox="1"/>
          <p:nvPr/>
        </p:nvSpPr>
        <p:spPr>
          <a:xfrm>
            <a:off x="502920" y="237744"/>
            <a:ext cx="6400800" cy="310896"/>
          </a:xfrm>
          <a:prstGeom prst="rect">
            <a:avLst/>
          </a:prstGeom>
          <a:noFill/>
          <a:ln/>
        </p:spPr>
        <p:txBody>
          <a:bodyPr wrap="square" lIns="0" tIns="0" rIns="0" bIns="0" rtlCol="0" anchor="ctr"/>
          <a:lstStyle/>
          <a:p>
            <a:pPr indent="0" marL="0">
              <a:buNone/>
            </a:pPr>
            <a:r>
              <a:rPr lang="en-US" sz="1100" b="1" spc="120" kern="0" dirty="0">
                <a:solidFill>
                  <a:srgbClr val="D94F6A"/>
                </a:solidFill>
                <a:latin typeface="Arial" pitchFamily="34" charset="0"/>
                <a:ea typeface="Arial" pitchFamily="34" charset="-122"/>
                <a:cs typeface="Arial" pitchFamily="34" charset="-120"/>
              </a:rPr>
              <a:t>TEACHER ONLY — hidden in slideshow</a:t>
            </a:r>
            <a:endParaRPr lang="en-US" sz="1100" dirty="0"/>
          </a:p>
        </p:txBody>
      </p:sp>
      <p:sp>
        <p:nvSpPr>
          <p:cNvPr id="3" name="teach_meta"/>
          <p:cNvSpPr txBox="1"/>
          <p:nvPr/>
        </p:nvSpPr>
        <p:spPr>
          <a:xfrm>
            <a:off x="6568135" y="237744"/>
            <a:ext cx="5120640" cy="310896"/>
          </a:xfrm>
          <a:prstGeom prst="rect">
            <a:avLst/>
          </a:prstGeom>
          <a:noFill/>
          <a:ln/>
        </p:spPr>
        <p:txBody>
          <a:bodyPr wrap="square" lIns="0" tIns="0" rIns="0" bIns="0" rtlCol="0" anchor="ctr"/>
          <a:lstStyle/>
          <a:p>
            <a:pPr algn="r" indent="0" marL="0">
              <a:buNone/>
            </a:pPr>
            <a:r>
              <a:rPr lang="en-US" sz="1100" dirty="0">
                <a:solidFill>
                  <a:srgbClr val="6A6180"/>
                </a:solidFill>
                <a:latin typeface="Arial" pitchFamily="34" charset="0"/>
                <a:ea typeface="Arial" pitchFamily="34" charset="-122"/>
                <a:cs typeface="Arial" pitchFamily="34" charset="-120"/>
              </a:rPr>
              <a:t>Y7 · Unit 1 · L3 of 4 · 50 minutes</a:t>
            </a:r>
            <a:endParaRPr lang="en-US" sz="1100" dirty="0"/>
          </a:p>
        </p:txBody>
      </p:sp>
      <p:sp>
        <p:nvSpPr>
          <p:cNvPr id="4" name="teach_title"/>
          <p:cNvSpPr txBox="1"/>
          <p:nvPr/>
        </p:nvSpPr>
        <p:spPr>
          <a:xfrm>
            <a:off x="502920" y="566928"/>
            <a:ext cx="11185855" cy="457200"/>
          </a:xfrm>
          <a:prstGeom prst="rect">
            <a:avLst/>
          </a:prstGeom>
          <a:noFill/>
          <a:ln/>
        </p:spPr>
        <p:txBody>
          <a:bodyPr wrap="square" lIns="0" tIns="0" rIns="0" bIns="0" rtlCol="0" anchor="ctr"/>
          <a:lstStyle/>
          <a:p>
            <a:pPr indent="0" marL="0">
              <a:buNone/>
            </a:pPr>
            <a:r>
              <a:rPr lang="en-US" sz="1900" b="1" dirty="0">
                <a:solidFill>
                  <a:srgbClr val="4A2C6F"/>
                </a:solidFill>
                <a:latin typeface="Georgia" pitchFamily="34" charset="0"/>
                <a:ea typeface="Georgia" pitchFamily="34" charset="-122"/>
                <a:cs typeface="Georgia" pitchFamily="34" charset="-120"/>
              </a:rPr>
              <a:t>Who got left out?  Milestones, and the names that went missing</a:t>
            </a:r>
            <a:endParaRPr lang="en-US" sz="1900" dirty="0"/>
          </a:p>
        </p:txBody>
      </p:sp>
      <p:sp>
        <p:nvSpPr>
          <p:cNvPr id="5" name="teach_col0_bg"/>
          <p:cNvSpPr/>
          <p:nvPr/>
        </p:nvSpPr>
        <p:spPr>
          <a:xfrm>
            <a:off x="502920" y="1188720"/>
            <a:ext cx="3576218" cy="5285232"/>
          </a:xfrm>
          <a:prstGeom prst="rect">
            <a:avLst/>
          </a:prstGeom>
          <a:solidFill>
            <a:srgbClr val="F7F4FB"/>
          </a:solidFill>
          <a:ln w="12700">
            <a:solidFill>
              <a:srgbClr val="E3DAF0"/>
            </a:solidFill>
            <a:prstDash val="solid"/>
          </a:ln>
        </p:spPr>
      </p:sp>
      <p:sp>
        <p:nvSpPr>
          <p:cNvPr id="6" name="teach_col0_h"/>
          <p:cNvSpPr txBox="1"/>
          <p:nvPr/>
        </p:nvSpPr>
        <p:spPr>
          <a:xfrm>
            <a:off x="649224" y="1316736"/>
            <a:ext cx="3283610" cy="274320"/>
          </a:xfrm>
          <a:prstGeom prst="rect">
            <a:avLst/>
          </a:prstGeom>
          <a:noFill/>
          <a:ln/>
        </p:spPr>
        <p:txBody>
          <a:bodyPr wrap="square" lIns="0" tIns="0" rIns="0" bIns="0" rtlCol="0" anchor="ctr"/>
          <a:lstStyle/>
          <a:p>
            <a:pPr indent="0" marL="0">
              <a:buNone/>
            </a:pPr>
            <a:r>
              <a:rPr lang="en-US" sz="1050" b="1" spc="100" kern="0" dirty="0">
                <a:solidFill>
                  <a:srgbClr val="4A2C6F"/>
                </a:solidFill>
                <a:latin typeface="Arial" pitchFamily="34" charset="0"/>
                <a:ea typeface="Arial" pitchFamily="34" charset="-122"/>
                <a:cs typeface="Arial" pitchFamily="34" charset="-120"/>
              </a:rPr>
              <a:t>PRIOR KNOWLEDGE &amp; HANDLING</a:t>
            </a:r>
            <a:endParaRPr lang="en-US" sz="1050" dirty="0"/>
          </a:p>
        </p:txBody>
      </p:sp>
      <p:sp>
        <p:nvSpPr>
          <p:cNvPr id="7" name="teach_col0_b"/>
          <p:cNvSpPr txBox="1"/>
          <p:nvPr/>
        </p:nvSpPr>
        <p:spPr>
          <a:xfrm>
            <a:off x="649224" y="1627632"/>
            <a:ext cx="3283610" cy="4718304"/>
          </a:xfrm>
          <a:prstGeom prst="rect">
            <a:avLst/>
          </a:prstGeom>
          <a:noFill/>
          <a:ln/>
        </p:spPr>
        <p:txBody>
          <a:bodyPr wrap="square" lIns="0" tIns="0" rIns="0" bIns="0" rtlCol="0" anchor="t"/>
          <a:lstStyle/>
          <a:p>
            <a:pPr indent="0" marL="0">
              <a:lnSpc>
                <a:spcPts val="1150"/>
              </a:lnSpc>
              <a:buNone/>
            </a:pPr>
            <a:r>
              <a:rPr lang="en-US" sz="820" dirty="0">
                <a:solidFill>
                  <a:srgbClr val="241535"/>
                </a:solidFill>
                <a:latin typeface="Arial" pitchFamily="34" charset="0"/>
                <a:ea typeface="Arial" pitchFamily="34" charset="-122"/>
                <a:cs typeface="Arial" pitchFamily="34" charset="-120"/>
              </a:rPr>
              <a:t>From Lesson 1: evidence, logic, induction, and that a conclusion is never closed. From Lesson 2: law describes, theory explains.</a:t>
            </a:r>
            <a:endParaRPr lang="en-US" sz="820" dirty="0"/>
          </a:p>
          <a:p>
            <a:pPr indent="0" marL="0">
              <a:lnSpc>
                <a:spcPts val="1150"/>
              </a:lnSpc>
              <a:buNone/>
            </a:pP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THIS IS OBJECTIVES 4 AND 5 of the unit, and the SDG 5 lesson. The SoW sets a female/minority scientist poster — the You Do slide starts it.</a:t>
            </a:r>
            <a:endParaRPr lang="en-US" sz="820" dirty="0"/>
          </a:p>
          <a:p>
            <a:pPr indent="0" marL="0">
              <a:lnSpc>
                <a:spcPts val="1150"/>
              </a:lnSpc>
              <a:buNone/>
            </a:pP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LESSON 1 ALREADY PLANTED THIS. The Noongar people knew the black swans long before any European wrote them down. Point back to it; they will remember.</a:t>
            </a:r>
            <a:endParaRPr lang="en-US" sz="820" dirty="0"/>
          </a:p>
          <a:p>
            <a:pPr indent="0" marL="0">
              <a:lnSpc>
                <a:spcPts val="1150"/>
              </a:lnSpc>
              <a:buNone/>
            </a:pP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HOW TO PITCH IT, and this matters: the lesson is not "science is unfair". It is "evidence only counts if somebody goes and looks, and for most of history a lot of people were never asked". Keep it about the record, not about blame.</a:t>
            </a:r>
            <a:endParaRPr lang="en-US" sz="820" dirty="0"/>
          </a:p>
          <a:p>
            <a:pPr indent="0" marL="0">
              <a:lnSpc>
                <a:spcPts val="1150"/>
              </a:lnSpc>
              <a:buNone/>
            </a:pP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ALL THREE PEOPLE ON SLIDE 8 ARE WOMEN. That is deliberate for SDG 5, but say aloud that the same thing happened by class, by country and by race — Mary Anning was poor as well as female, and Katherine Johnson worked in a segregated building.</a:t>
            </a:r>
            <a:endParaRPr lang="en-US" sz="820" dirty="0"/>
          </a:p>
        </p:txBody>
      </p:sp>
      <p:sp>
        <p:nvSpPr>
          <p:cNvPr id="8" name="teach_col1_bg"/>
          <p:cNvSpPr/>
          <p:nvPr/>
        </p:nvSpPr>
        <p:spPr>
          <a:xfrm>
            <a:off x="4307738" y="1188720"/>
            <a:ext cx="3576218" cy="5285232"/>
          </a:xfrm>
          <a:prstGeom prst="rect">
            <a:avLst/>
          </a:prstGeom>
          <a:solidFill>
            <a:srgbClr val="FCEDF0"/>
          </a:solidFill>
          <a:ln w="12700">
            <a:solidFill>
              <a:srgbClr val="D94F6A"/>
            </a:solidFill>
            <a:prstDash val="solid"/>
          </a:ln>
        </p:spPr>
      </p:sp>
      <p:sp>
        <p:nvSpPr>
          <p:cNvPr id="9" name="teach_col1_h"/>
          <p:cNvSpPr txBox="1"/>
          <p:nvPr/>
        </p:nvSpPr>
        <p:spPr>
          <a:xfrm>
            <a:off x="4454042" y="1316736"/>
            <a:ext cx="3283610" cy="274320"/>
          </a:xfrm>
          <a:prstGeom prst="rect">
            <a:avLst/>
          </a:prstGeom>
          <a:noFill/>
          <a:ln/>
        </p:spPr>
        <p:txBody>
          <a:bodyPr wrap="square" lIns="0" tIns="0" rIns="0" bIns="0" rtlCol="0" anchor="ctr"/>
          <a:lstStyle/>
          <a:p>
            <a:pPr indent="0" marL="0">
              <a:buNone/>
            </a:pPr>
            <a:r>
              <a:rPr lang="en-US" sz="1050" b="1" spc="100" kern="0" dirty="0">
                <a:solidFill>
                  <a:srgbClr val="D94F6A"/>
                </a:solidFill>
                <a:latin typeface="Arial" pitchFamily="34" charset="0"/>
                <a:ea typeface="Arial" pitchFamily="34" charset="-122"/>
                <a:cs typeface="Arial" pitchFamily="34" charset="-120"/>
              </a:rPr>
              <a:t>MISCONCEPTIONS  (wrong → right)</a:t>
            </a:r>
            <a:endParaRPr lang="en-US" sz="1050" dirty="0"/>
          </a:p>
        </p:txBody>
      </p:sp>
      <p:sp>
        <p:nvSpPr>
          <p:cNvPr id="10" name="teach_col1_b"/>
          <p:cNvSpPr txBox="1"/>
          <p:nvPr/>
        </p:nvSpPr>
        <p:spPr>
          <a:xfrm>
            <a:off x="4454042" y="1627632"/>
            <a:ext cx="3283610" cy="4718304"/>
          </a:xfrm>
          <a:prstGeom prst="rect">
            <a:avLst/>
          </a:prstGeom>
          <a:noFill/>
          <a:ln/>
        </p:spPr>
        <p:txBody>
          <a:bodyPr wrap="square" lIns="0" tIns="0" rIns="0" bIns="0" rtlCol="0" anchor="t"/>
          <a:lstStyle/>
          <a:p>
            <a:pPr indent="0" marL="0">
              <a:lnSpc>
                <a:spcPts val="1150"/>
              </a:lnSpc>
              <a:buNone/>
            </a:pPr>
            <a:r>
              <a:rPr lang="en-US" sz="820" dirty="0">
                <a:solidFill>
                  <a:srgbClr val="241535"/>
                </a:solidFill>
                <a:latin typeface="Arial" pitchFamily="34" charset="0"/>
                <a:ea typeface="Arial" pitchFamily="34" charset="-122"/>
                <a:cs typeface="Arial" pitchFamily="34" charset="-120"/>
              </a:rPr>
              <a:t>✗ "Science was invented in Europe."</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 The timeline starts in Basra around 1020. Say the name, put it first, move on.</a:t>
            </a:r>
            <a:endParaRPr lang="en-US" sz="820" dirty="0"/>
          </a:p>
          <a:p>
            <a:pPr indent="0" marL="0">
              <a:lnSpc>
                <a:spcPts val="1150"/>
              </a:lnSpc>
              <a:buNone/>
            </a:pP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 "There simply were not any women scientists."</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 There were. They were kept out of the societies, the universities and the papers. Being absent from the record is not the same as being absent.</a:t>
            </a:r>
            <a:endParaRPr lang="en-US" sz="820" dirty="0"/>
          </a:p>
          <a:p>
            <a:pPr indent="0" marL="0">
              <a:lnSpc>
                <a:spcPts val="1150"/>
              </a:lnSpc>
              <a:buNone/>
            </a:pP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 "If your name is not on it, you did not do it."</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 Bell Burnell found the pulsar. Somebody else got the prize.</a:t>
            </a:r>
            <a:endParaRPr lang="en-US" sz="820" dirty="0"/>
          </a:p>
          <a:p>
            <a:pPr indent="0" marL="0">
              <a:lnSpc>
                <a:spcPts val="1150"/>
              </a:lnSpc>
              <a:buNone/>
            </a:pP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 "That was all a long time ago and it is fixed now."</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 Slide 10 has the numbers. Improving is not the same as fixed.</a:t>
            </a:r>
            <a:endParaRPr lang="en-US" sz="820" dirty="0"/>
          </a:p>
          <a:p>
            <a:pPr indent="0" marL="0">
              <a:lnSpc>
                <a:spcPts val="1150"/>
              </a:lnSpc>
              <a:buNone/>
            </a:pP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 "Discoveries are made by one clever person."</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 Almost never. Teams, students, assistants and technicians. The name on the paper is a summary, not a headcount.</a:t>
            </a:r>
            <a:endParaRPr lang="en-US" sz="820" dirty="0"/>
          </a:p>
        </p:txBody>
      </p:sp>
      <p:sp>
        <p:nvSpPr>
          <p:cNvPr id="11" name="teach_col2_bg"/>
          <p:cNvSpPr/>
          <p:nvPr/>
        </p:nvSpPr>
        <p:spPr>
          <a:xfrm>
            <a:off x="8112557" y="1188720"/>
            <a:ext cx="3576218" cy="5285232"/>
          </a:xfrm>
          <a:prstGeom prst="rect">
            <a:avLst/>
          </a:prstGeom>
          <a:solidFill>
            <a:srgbClr val="F7F4FB"/>
          </a:solidFill>
          <a:ln w="12700">
            <a:solidFill>
              <a:srgbClr val="E3DAF0"/>
            </a:solidFill>
            <a:prstDash val="solid"/>
          </a:ln>
        </p:spPr>
      </p:sp>
      <p:sp>
        <p:nvSpPr>
          <p:cNvPr id="12" name="teach_col2_h"/>
          <p:cNvSpPr txBox="1"/>
          <p:nvPr/>
        </p:nvSpPr>
        <p:spPr>
          <a:xfrm>
            <a:off x="8258861" y="1316736"/>
            <a:ext cx="3283610" cy="274320"/>
          </a:xfrm>
          <a:prstGeom prst="rect">
            <a:avLst/>
          </a:prstGeom>
          <a:noFill/>
          <a:ln/>
        </p:spPr>
        <p:txBody>
          <a:bodyPr wrap="square" lIns="0" tIns="0" rIns="0" bIns="0" rtlCol="0" anchor="ctr"/>
          <a:lstStyle/>
          <a:p>
            <a:pPr indent="0" marL="0">
              <a:buNone/>
            </a:pPr>
            <a:r>
              <a:rPr lang="en-US" sz="1050" b="1" spc="100" kern="0" dirty="0">
                <a:solidFill>
                  <a:srgbClr val="4A2C6F"/>
                </a:solidFill>
                <a:latin typeface="Arial" pitchFamily="34" charset="0"/>
                <a:ea typeface="Arial" pitchFamily="34" charset="-122"/>
                <a:cs typeface="Arial" pitchFamily="34" charset="-120"/>
              </a:rPr>
              <a:t>LESSON FLOW  (50 min)</a:t>
            </a:r>
            <a:endParaRPr lang="en-US" sz="1050" dirty="0"/>
          </a:p>
        </p:txBody>
      </p:sp>
      <p:sp>
        <p:nvSpPr>
          <p:cNvPr id="13" name="teach_col2_b"/>
          <p:cNvSpPr txBox="1"/>
          <p:nvPr/>
        </p:nvSpPr>
        <p:spPr>
          <a:xfrm>
            <a:off x="8258861" y="1627632"/>
            <a:ext cx="3283610" cy="4718304"/>
          </a:xfrm>
          <a:prstGeom prst="rect">
            <a:avLst/>
          </a:prstGeom>
          <a:noFill/>
          <a:ln/>
        </p:spPr>
        <p:txBody>
          <a:bodyPr wrap="square" lIns="0" tIns="0" rIns="0" bIns="0" rtlCol="0" anchor="t"/>
          <a:lstStyle/>
          <a:p>
            <a:pPr indent="0" marL="0">
              <a:lnSpc>
                <a:spcPts val="1150"/>
              </a:lnSpc>
              <a:buNone/>
            </a:pPr>
            <a:r>
              <a:rPr lang="en-US" sz="820" dirty="0">
                <a:solidFill>
                  <a:srgbClr val="241535"/>
                </a:solidFill>
                <a:latin typeface="Arial" pitchFamily="34" charset="0"/>
                <a:ea typeface="Arial" pitchFamily="34" charset="-122"/>
                <a:cs typeface="Arial" pitchFamily="34" charset="-120"/>
              </a:rPr>
              <a:t>Title — 1</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Today — 1</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Do Now — 5</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Hook: name three scientists — 5</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I Do: the timeline — 5</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We Do: which came first? — 4</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I Do: three scientists — 8</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We Do: who did what? — 4</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Context: what changed — 3</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You Do: poster plan — 9</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Reveal — 2</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Plenary: true or false — 3</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a:t>
            </a: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TOTAL 50 min</a:t>
            </a:r>
            <a:endParaRPr lang="en-US" sz="820" dirty="0"/>
          </a:p>
          <a:p>
            <a:pPr indent="0" marL="0">
              <a:lnSpc>
                <a:spcPts val="1150"/>
              </a:lnSpc>
              <a:buNone/>
            </a:pP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THE HOOK NEEDS A BOARD. They write three names, you collect them, you count how many are women and how many are from outside Europe and North America. The tally IS the lesson. Do not skip it and do not pre-empt the result.</a:t>
            </a:r>
            <a:endParaRPr lang="en-US" sz="820" dirty="0"/>
          </a:p>
          <a:p>
            <a:pPr indent="0" marL="0">
              <a:lnSpc>
                <a:spcPts val="1150"/>
              </a:lnSpc>
              <a:buNone/>
            </a:pP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IF YOU ARE SHORT: cut slide 10. Do not cut slide 8.</a:t>
            </a:r>
            <a:endParaRPr lang="en-US" sz="820" dirty="0"/>
          </a:p>
          <a:p>
            <a:pPr indent="0" marL="0">
              <a:lnSpc>
                <a:spcPts val="1150"/>
              </a:lnSpc>
              <a:buNone/>
            </a:pPr>
            <a:endParaRPr lang="en-US" sz="820" dirty="0"/>
          </a:p>
          <a:p>
            <a:pPr indent="0" marL="0">
              <a:lnSpc>
                <a:spcPts val="1150"/>
              </a:lnSpc>
              <a:buNone/>
            </a:pPr>
            <a:r>
              <a:rPr lang="en-US" sz="820" dirty="0">
                <a:solidFill>
                  <a:srgbClr val="241535"/>
                </a:solidFill>
                <a:latin typeface="Arial" pitchFamily="34" charset="0"/>
                <a:ea typeface="Arial" pitchFamily="34" charset="-122"/>
                <a:cs typeface="Arial" pitchFamily="34" charset="-120"/>
              </a:rPr>
              <a:t>NEXT: Lesson 4, into the lab — physical science, equipment and careers.</a:t>
            </a:r>
            <a:endParaRPr lang="en-US" sz="82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A2C6F"/>
        </a:solidFill>
      </p:bgPr>
    </p:bg>
    <p:spTree>
      <p:nvGrpSpPr>
        <p:cNvPr id="1" name=""/>
        <p:cNvGrpSpPr/>
        <p:nvPr/>
      </p:nvGrpSpPr>
      <p:grpSpPr>
        <a:xfrm>
          <a:off x="0" y="0"/>
          <a:ext cx="0" cy="0"/>
          <a:chOff x="0" y="0"/>
          <a:chExt cx="0" cy="0"/>
        </a:xfrm>
      </p:grpSpPr>
      <p:grpSp>
        <p:nvGrpSpPr>
          <p:cNvPr id="12" name="motif_dots"/>
          <p:cNvGrpSpPr/>
          <p:nvPr/>
        </p:nvGrpSpPr>
        <p:grpSpPr>
          <a:xfrm>
            <a:off x="8503920" y="4123944"/>
            <a:ext cx="2377440" cy="274320"/>
            <a:chOff x="8503920" y="4123944"/>
            <a:chExt cx="2377440" cy="274320"/>
          </a:xfrm>
        </p:grpSpPr>
        <p:sp>
          <p:nvSpPr>
            <p:cNvPr id="2" name="motif_obs0"/>
            <p:cNvSpPr/>
            <p:nvPr/>
          </p:nvSpPr>
          <p:spPr>
            <a:xfrm>
              <a:off x="8503920" y="4123944"/>
              <a:ext cx="274320" cy="274320"/>
            </a:xfrm>
            <a:prstGeom prst="ellipse">
              <a:avLst/>
            </a:prstGeom>
            <a:solidFill>
              <a:srgbClr val="F7F4FB"/>
            </a:solidFill>
            <a:ln w="12700">
              <a:solidFill>
                <a:srgbClr val="F7F4FB"/>
              </a:solidFill>
              <a:prstDash val="solid"/>
            </a:ln>
          </p:spPr>
        </p:sp>
        <p:sp>
          <p:nvSpPr>
            <p:cNvPr id="3" name="motif_obs1"/>
            <p:cNvSpPr/>
            <p:nvPr/>
          </p:nvSpPr>
          <p:spPr>
            <a:xfrm>
              <a:off x="8924544" y="4123944"/>
              <a:ext cx="274320" cy="274320"/>
            </a:xfrm>
            <a:prstGeom prst="ellipse">
              <a:avLst/>
            </a:prstGeom>
            <a:solidFill>
              <a:srgbClr val="F7F4FB"/>
            </a:solidFill>
            <a:ln w="12700">
              <a:solidFill>
                <a:srgbClr val="F7F4FB"/>
              </a:solidFill>
              <a:prstDash val="solid"/>
            </a:ln>
          </p:spPr>
        </p:sp>
        <p:sp>
          <p:nvSpPr>
            <p:cNvPr id="4" name="motif_obs2"/>
            <p:cNvSpPr/>
            <p:nvPr/>
          </p:nvSpPr>
          <p:spPr>
            <a:xfrm>
              <a:off x="9345168" y="4123944"/>
              <a:ext cx="274320" cy="274320"/>
            </a:xfrm>
            <a:prstGeom prst="ellipse">
              <a:avLst/>
            </a:prstGeom>
            <a:solidFill>
              <a:srgbClr val="F7F4FB"/>
            </a:solidFill>
            <a:ln w="12700">
              <a:solidFill>
                <a:srgbClr val="F7F4FB"/>
              </a:solidFill>
              <a:prstDash val="solid"/>
            </a:ln>
          </p:spPr>
        </p:sp>
        <p:sp>
          <p:nvSpPr>
            <p:cNvPr id="5" name="motif_obs3"/>
            <p:cNvSpPr/>
            <p:nvPr/>
          </p:nvSpPr>
          <p:spPr>
            <a:xfrm>
              <a:off x="9765792" y="4123944"/>
              <a:ext cx="274320" cy="274320"/>
            </a:xfrm>
            <a:prstGeom prst="ellipse">
              <a:avLst/>
            </a:prstGeom>
            <a:solidFill>
              <a:srgbClr val="6B4E96"/>
            </a:solidFill>
            <a:ln w="12700">
              <a:solidFill>
                <a:srgbClr val="6B4E96"/>
              </a:solidFill>
              <a:prstDash val="solid"/>
            </a:ln>
          </p:spPr>
        </p:sp>
        <p:sp>
          <p:nvSpPr>
            <p:cNvPr id="6" name="motif_obs4"/>
            <p:cNvSpPr/>
            <p:nvPr/>
          </p:nvSpPr>
          <p:spPr>
            <a:xfrm>
              <a:off x="10186416" y="4123944"/>
              <a:ext cx="274320" cy="274320"/>
            </a:xfrm>
            <a:prstGeom prst="ellipse">
              <a:avLst/>
            </a:prstGeom>
            <a:solidFill>
              <a:srgbClr val="F7F4FB"/>
            </a:solidFill>
            <a:ln w="12700">
              <a:solidFill>
                <a:srgbClr val="F7F4FB"/>
              </a:solidFill>
              <a:prstDash val="solid"/>
            </a:ln>
          </p:spPr>
        </p:sp>
        <p:sp>
          <p:nvSpPr>
            <p:cNvPr id="7" name="motif_obs5"/>
            <p:cNvSpPr/>
            <p:nvPr/>
          </p:nvSpPr>
          <p:spPr>
            <a:xfrm>
              <a:off x="10607040" y="4123944"/>
              <a:ext cx="274320" cy="274320"/>
            </a:xfrm>
            <a:prstGeom prst="ellipse">
              <a:avLst/>
            </a:prstGeom>
            <a:solidFill>
              <a:srgbClr val="F7F4FB"/>
            </a:solidFill>
            <a:ln w="12700">
              <a:solidFill>
                <a:srgbClr val="F7F4FB"/>
              </a:solidFill>
              <a:prstDash val="solid"/>
            </a:ln>
          </p:spPr>
        </p:sp>
      </p:grpSp>
      <p:sp>
        <p:nvSpPr>
          <p:cNvPr id="8" name="motif_cap"/>
          <p:cNvSpPr txBox="1"/>
          <p:nvPr/>
        </p:nvSpPr>
        <p:spPr>
          <a:xfrm>
            <a:off x="8412480" y="4663440"/>
            <a:ext cx="3291840" cy="292608"/>
          </a:xfrm>
          <a:prstGeom prst="rect">
            <a:avLst/>
          </a:prstGeom>
          <a:noFill/>
          <a:ln/>
        </p:spPr>
        <p:txBody>
          <a:bodyPr wrap="square" lIns="0" tIns="0" rIns="0" bIns="0" rtlCol="0" anchor="ctr"/>
          <a:lstStyle/>
          <a:p>
            <a:pPr indent="0" marL="0">
              <a:buNone/>
            </a:pPr>
            <a:r>
              <a:rPr lang="en-US" sz="1100" i="1" dirty="0">
                <a:solidFill>
                  <a:srgbClr val="E3DAF0"/>
                </a:solidFill>
                <a:latin typeface="Arial" pitchFamily="34" charset="0"/>
                <a:ea typeface="Arial" pitchFamily="34" charset="-122"/>
                <a:cs typeface="Arial" pitchFamily="34" charset="-120"/>
              </a:rPr>
              <a:t>one of these is missing</a:t>
            </a:r>
            <a:endParaRPr lang="en-US" sz="1100" dirty="0"/>
          </a:p>
        </p:txBody>
      </p:sp>
      <p:sp>
        <p:nvSpPr>
          <p:cNvPr id="9" name="title_kicker"/>
          <p:cNvSpPr txBox="1"/>
          <p:nvPr/>
        </p:nvSpPr>
        <p:spPr>
          <a:xfrm>
            <a:off x="502920" y="1316736"/>
            <a:ext cx="7315200" cy="329184"/>
          </a:xfrm>
          <a:prstGeom prst="rect">
            <a:avLst/>
          </a:prstGeom>
          <a:noFill/>
          <a:ln/>
        </p:spPr>
        <p:txBody>
          <a:bodyPr wrap="square" lIns="0" tIns="0" rIns="0" bIns="0" rtlCol="0" anchor="ctr"/>
          <a:lstStyle/>
          <a:p>
            <a:pPr indent="0" marL="0">
              <a:buNone/>
            </a:pPr>
            <a:r>
              <a:rPr lang="en-US" sz="1250" b="1" spc="160" kern="0" dirty="0">
                <a:solidFill>
                  <a:srgbClr val="F2A03D"/>
                </a:solidFill>
                <a:latin typeface="Arial" pitchFamily="34" charset="0"/>
                <a:ea typeface="Arial" pitchFamily="34" charset="-122"/>
                <a:cs typeface="Arial" pitchFamily="34" charset="-120"/>
              </a:rPr>
              <a:t>Y7 SCIENCE  ·  UNIT 1  ·  LESSON 3 OF 4</a:t>
            </a:r>
            <a:endParaRPr lang="en-US" sz="1250" dirty="0"/>
          </a:p>
        </p:txBody>
      </p:sp>
      <p:sp>
        <p:nvSpPr>
          <p:cNvPr id="10" name="title_main"/>
          <p:cNvSpPr txBox="1"/>
          <p:nvPr/>
        </p:nvSpPr>
        <p:spPr>
          <a:xfrm>
            <a:off x="502920" y="1719072"/>
            <a:ext cx="6949440" cy="1700784"/>
          </a:xfrm>
          <a:prstGeom prst="rect">
            <a:avLst/>
          </a:prstGeom>
          <a:noFill/>
          <a:ln/>
        </p:spPr>
        <p:txBody>
          <a:bodyPr wrap="square" lIns="0" tIns="0" rIns="0" bIns="0" rtlCol="0" anchor="ctr"/>
          <a:lstStyle/>
          <a:p>
            <a:pPr indent="0" marL="0">
              <a:lnSpc>
                <a:spcPts val="5600"/>
              </a:lnSpc>
              <a:buNone/>
            </a:pPr>
            <a:r>
              <a:rPr lang="en-US" sz="5400" b="1" dirty="0">
                <a:solidFill>
                  <a:srgbClr val="F7F4FB"/>
                </a:solidFill>
                <a:latin typeface="Georgia" pitchFamily="34" charset="0"/>
                <a:ea typeface="Georgia" pitchFamily="34" charset="-122"/>
                <a:cs typeface="Georgia" pitchFamily="34" charset="-120"/>
              </a:rPr>
              <a:t>Who got</a:t>
            </a:r>
            <a:endParaRPr lang="en-US" sz="5400" dirty="0"/>
          </a:p>
          <a:p>
            <a:pPr indent="0" marL="0">
              <a:lnSpc>
                <a:spcPts val="5600"/>
              </a:lnSpc>
              <a:buNone/>
            </a:pPr>
            <a:r>
              <a:rPr lang="en-US" sz="5400" b="1" dirty="0">
                <a:solidFill>
                  <a:srgbClr val="F7F4FB"/>
                </a:solidFill>
                <a:latin typeface="Georgia" pitchFamily="34" charset="0"/>
                <a:ea typeface="Georgia" pitchFamily="34" charset="-122"/>
                <a:cs typeface="Georgia" pitchFamily="34" charset="-120"/>
              </a:rPr>
              <a:t>left out?</a:t>
            </a:r>
            <a:endParaRPr lang="en-US" sz="5400" dirty="0"/>
          </a:p>
        </p:txBody>
      </p:sp>
      <p:sp>
        <p:nvSpPr>
          <p:cNvPr id="11" name="title_sub"/>
          <p:cNvSpPr txBox="1"/>
          <p:nvPr/>
        </p:nvSpPr>
        <p:spPr>
          <a:xfrm>
            <a:off x="502920" y="3602736"/>
            <a:ext cx="7498080" cy="548640"/>
          </a:xfrm>
          <a:prstGeom prst="rect">
            <a:avLst/>
          </a:prstGeom>
          <a:noFill/>
          <a:ln/>
        </p:spPr>
        <p:txBody>
          <a:bodyPr wrap="square" lIns="0" tIns="0" rIns="0" bIns="0" rtlCol="0" anchor="t"/>
          <a:lstStyle/>
          <a:p>
            <a:pPr indent="0" marL="0">
              <a:lnSpc>
                <a:spcPts val="2300"/>
              </a:lnSpc>
              <a:buNone/>
            </a:pPr>
            <a:r>
              <a:rPr lang="en-US" sz="1500" dirty="0">
                <a:solidFill>
                  <a:srgbClr val="E3DAF0"/>
                </a:solidFill>
                <a:latin typeface="Arial" pitchFamily="34" charset="0"/>
                <a:ea typeface="Arial" pitchFamily="34" charset="-122"/>
                <a:cs typeface="Arial" pitchFamily="34" charset="-120"/>
              </a:rPr>
              <a:t>Science is a long story. Some of the people in it never got their name written down.</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0"/>
                      </p:stCondLst>
                      <p:childTnLst>
                        <p:par>
                          <p:cTn id="19" fill="hold">
                            <p:stCondLst>
                              <p:cond delay="0"/>
                            </p:stCondLst>
                            <p:childTnLst>
                              <p:par>
                                <p:cTn id="5" presetID="10" presetClass="entr" presetSubtype="0" fill="hold" grpId="0" nodeType="with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grpId="0" nodeType="withEffect">
                                  <p:stCondLst>
                                    <p:cond delay="15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11" presetID="10" presetClass="entr" presetSubtype="0" fill="hold" grpId="0" nodeType="withEffect">
                                  <p:stCondLst>
                                    <p:cond delay="30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par>
                                <p:cTn id="14" presetID="10" presetClass="entr" presetSubtype="0" fill="hold" grpId="0" nodeType="withEffect">
                                  <p:stCondLst>
                                    <p:cond delay="45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7" presetID="10" presetClass="entr" presetSubtype="0" fill="hold" grpId="0" nodeType="withEffect">
                                  <p:stCondLst>
                                    <p:cond delay="6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FB"/>
        </a:solidFill>
      </p:bgPr>
    </p:bg>
    <p:spTree>
      <p:nvGrpSpPr>
        <p:cNvPr id="1" name=""/>
        <p:cNvGrpSpPr/>
        <p:nvPr/>
      </p:nvGrpSpPr>
      <p:grpSpPr>
        <a:xfrm>
          <a:off x="0" y="0"/>
          <a:ext cx="0" cy="0"/>
          <a:chOff x="0" y="0"/>
          <a:chExt cx="0" cy="0"/>
        </a:xfrm>
      </p:grpSpPr>
      <p:sp>
        <p:nvSpPr>
          <p:cNvPr id="2" name="phase_pill"/>
          <p:cNvSpPr/>
          <p:nvPr/>
        </p:nvSpPr>
        <p:spPr>
          <a:xfrm>
            <a:off x="502920" y="274320"/>
            <a:ext cx="2286000" cy="347472"/>
          </a:xfrm>
          <a:prstGeom prst="roundRect">
            <a:avLst>
              <a:gd name="adj" fmla="val 50000"/>
            </a:avLst>
          </a:prstGeom>
          <a:solidFill>
            <a:srgbClr val="4A2C6F"/>
          </a:solidFill>
          <a:ln/>
        </p:spPr>
        <p:txBody>
          <a:bodyPr wrap="square" lIns="0" tIns="0" rIns="0" bIns="0" rtlCol="0" anchor="ctr"/>
          <a:lstStyle/>
          <a:p>
            <a:pPr algn="ctr" indent="0" marL="0">
              <a:buNone/>
            </a:pPr>
            <a:r>
              <a:rPr lang="en-US" sz="1100" b="1" spc="110" kern="0" dirty="0">
                <a:solidFill>
                  <a:srgbClr val="F7F4FB"/>
                </a:solidFill>
                <a:latin typeface="Arial" pitchFamily="34" charset="0"/>
                <a:ea typeface="Arial" pitchFamily="34" charset="-122"/>
                <a:cs typeface="Arial" pitchFamily="34" charset="-120"/>
              </a:rPr>
              <a:t>TODAY · 1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4A2C6F"/>
                </a:solidFill>
                <a:latin typeface="Georgia" pitchFamily="34" charset="0"/>
                <a:ea typeface="Georgia" pitchFamily="34" charset="-122"/>
                <a:cs typeface="Georgia" pitchFamily="34" charset="-120"/>
              </a:rPr>
              <a:t>Today’s goals</a:t>
            </a:r>
            <a:endParaRPr lang="en-US" sz="3000" dirty="0"/>
          </a:p>
        </p:txBody>
      </p:sp>
      <p:grpSp>
        <p:nvGrpSpPr>
          <p:cNvPr id="17" name="g0"/>
          <p:cNvGrpSpPr/>
          <p:nvPr/>
        </p:nvGrpSpPr>
        <p:grpSpPr>
          <a:xfrm>
            <a:off x="502920" y="2176272"/>
            <a:ext cx="3545738" cy="2377440"/>
            <a:chOff x="502920" y="2176272"/>
            <a:chExt cx="3545738" cy="2377440"/>
          </a:xfrm>
        </p:grpSpPr>
        <p:sp>
          <p:nvSpPr>
            <p:cNvPr id="4" name="g0_bg"/>
            <p:cNvSpPr/>
            <p:nvPr/>
          </p:nvSpPr>
          <p:spPr>
            <a:xfrm>
              <a:off x="502920" y="2176272"/>
              <a:ext cx="3545738" cy="2377440"/>
            </a:xfrm>
            <a:prstGeom prst="roundRect">
              <a:avLst>
                <a:gd name="adj" fmla="val 5385"/>
              </a:avLst>
            </a:prstGeom>
            <a:solidFill>
              <a:srgbClr val="FFFFFF"/>
            </a:solidFill>
            <a:ln w="15875">
              <a:solidFill>
                <a:srgbClr val="E3DAF0"/>
              </a:solidFill>
              <a:prstDash val="solid"/>
            </a:ln>
          </p:spPr>
        </p:sp>
        <p:pic>
          <p:nvPicPr>
            <p:cNvPr id="5" name="g0_icon" descr="/home/claude/build/img_y7/book_support.png">    </p:cNvPr>
            <p:cNvPicPr>
              <a:picLocks noChangeAspect="1"/>
            </p:cNvPicPr>
            <p:nvPr/>
          </p:nvPicPr>
          <p:blipFill>
            <a:blip r:embed="rId1"/>
            <a:stretch>
              <a:fillRect/>
            </a:stretch>
          </p:blipFill>
          <p:spPr>
            <a:xfrm>
              <a:off x="758952" y="2432304"/>
              <a:ext cx="731520" cy="731520"/>
            </a:xfrm>
            <a:prstGeom prst="rect">
              <a:avLst/>
            </a:prstGeom>
          </p:spPr>
        </p:pic>
        <p:sp>
          <p:nvSpPr>
            <p:cNvPr id="6" name="g0_n"/>
            <p:cNvSpPr txBox="1"/>
            <p:nvPr/>
          </p:nvSpPr>
          <p:spPr>
            <a:xfrm>
              <a:off x="3134258" y="2432304"/>
              <a:ext cx="694944" cy="731520"/>
            </a:xfrm>
            <a:prstGeom prst="rect">
              <a:avLst/>
            </a:prstGeom>
            <a:noFill/>
            <a:ln/>
          </p:spPr>
          <p:txBody>
            <a:bodyPr wrap="square" lIns="0" tIns="0" rIns="0" bIns="0" rtlCol="0" anchor="ctr"/>
            <a:lstStyle/>
            <a:p>
              <a:pPr algn="r" indent="0" marL="0">
                <a:buNone/>
              </a:pPr>
              <a:r>
                <a:rPr lang="en-US" sz="3000" b="1" dirty="0">
                  <a:solidFill>
                    <a:srgbClr val="F2A03D"/>
                  </a:solidFill>
                  <a:latin typeface="Georgia" pitchFamily="34" charset="0"/>
                  <a:ea typeface="Georgia" pitchFamily="34" charset="-122"/>
                  <a:cs typeface="Georgia" pitchFamily="34" charset="-120"/>
                </a:rPr>
                <a:t>1</a:t>
              </a:r>
              <a:endParaRPr lang="en-US" sz="3000" dirty="0"/>
            </a:p>
          </p:txBody>
        </p:sp>
        <p:sp>
          <p:nvSpPr>
            <p:cNvPr id="7" name="g0_t"/>
            <p:cNvSpPr txBox="1"/>
            <p:nvPr/>
          </p:nvSpPr>
          <p:spPr>
            <a:xfrm>
              <a:off x="758952" y="3310128"/>
              <a:ext cx="3033674" cy="731520"/>
            </a:xfrm>
            <a:prstGeom prst="rect">
              <a:avLst/>
            </a:prstGeom>
            <a:noFill/>
            <a:ln/>
          </p:spPr>
          <p:txBody>
            <a:bodyPr wrap="square" lIns="0" tIns="0" rIns="0" bIns="0" rtlCol="0" anchor="t"/>
            <a:lstStyle/>
            <a:p>
              <a:pPr indent="0" marL="0">
                <a:lnSpc>
                  <a:spcPts val="1900"/>
                </a:lnSpc>
                <a:buNone/>
              </a:pPr>
              <a:r>
                <a:rPr lang="en-US" sz="1400" b="1" dirty="0">
                  <a:solidFill>
                    <a:srgbClr val="241535"/>
                  </a:solidFill>
                  <a:latin typeface="Arial" pitchFamily="34" charset="0"/>
                  <a:ea typeface="Arial" pitchFamily="34" charset="-122"/>
                  <a:cs typeface="Arial" pitchFamily="34" charset="-120"/>
                </a:rPr>
                <a:t>Put four moments in science in order.</a:t>
              </a:r>
              <a:endParaRPr lang="en-US" sz="1400" dirty="0"/>
            </a:p>
          </p:txBody>
        </p:sp>
      </p:grpSp>
      <p:grpSp>
        <p:nvGrpSpPr>
          <p:cNvPr id="18" name="g1"/>
          <p:cNvGrpSpPr/>
          <p:nvPr/>
        </p:nvGrpSpPr>
        <p:grpSpPr>
          <a:xfrm>
            <a:off x="4322978" y="2176272"/>
            <a:ext cx="3545738" cy="2377440"/>
            <a:chOff x="4322978" y="2176272"/>
            <a:chExt cx="3545738" cy="2377440"/>
          </a:xfrm>
        </p:grpSpPr>
        <p:sp>
          <p:nvSpPr>
            <p:cNvPr id="8" name="g1_bg"/>
            <p:cNvSpPr/>
            <p:nvPr/>
          </p:nvSpPr>
          <p:spPr>
            <a:xfrm>
              <a:off x="4322978" y="2176272"/>
              <a:ext cx="3545738" cy="2377440"/>
            </a:xfrm>
            <a:prstGeom prst="roundRect">
              <a:avLst>
                <a:gd name="adj" fmla="val 5385"/>
              </a:avLst>
            </a:prstGeom>
            <a:solidFill>
              <a:srgbClr val="FFFFFF"/>
            </a:solidFill>
            <a:ln w="15875">
              <a:solidFill>
                <a:srgbClr val="E3DAF0"/>
              </a:solidFill>
              <a:prstDash val="solid"/>
            </a:ln>
          </p:spPr>
        </p:sp>
        <p:pic>
          <p:nvPicPr>
            <p:cNvPr id="9" name="g1_icon" descr="/home/claude/build/img_y7/question_support.png">    </p:cNvPr>
            <p:cNvPicPr>
              <a:picLocks noChangeAspect="1"/>
            </p:cNvPicPr>
            <p:nvPr/>
          </p:nvPicPr>
          <p:blipFill>
            <a:blip r:embed="rId2"/>
            <a:stretch>
              <a:fillRect/>
            </a:stretch>
          </p:blipFill>
          <p:spPr>
            <a:xfrm>
              <a:off x="4579010" y="2432304"/>
              <a:ext cx="731520" cy="731520"/>
            </a:xfrm>
            <a:prstGeom prst="rect">
              <a:avLst/>
            </a:prstGeom>
          </p:spPr>
        </p:pic>
        <p:sp>
          <p:nvSpPr>
            <p:cNvPr id="10" name="g1_n"/>
            <p:cNvSpPr txBox="1"/>
            <p:nvPr/>
          </p:nvSpPr>
          <p:spPr>
            <a:xfrm>
              <a:off x="6954317" y="2432304"/>
              <a:ext cx="694944" cy="731520"/>
            </a:xfrm>
            <a:prstGeom prst="rect">
              <a:avLst/>
            </a:prstGeom>
            <a:noFill/>
            <a:ln/>
          </p:spPr>
          <p:txBody>
            <a:bodyPr wrap="square" lIns="0" tIns="0" rIns="0" bIns="0" rtlCol="0" anchor="ctr"/>
            <a:lstStyle/>
            <a:p>
              <a:pPr algn="r" indent="0" marL="0">
                <a:buNone/>
              </a:pPr>
              <a:r>
                <a:rPr lang="en-US" sz="3000" b="1" dirty="0">
                  <a:solidFill>
                    <a:srgbClr val="F2A03D"/>
                  </a:solidFill>
                  <a:latin typeface="Georgia" pitchFamily="34" charset="0"/>
                  <a:ea typeface="Georgia" pitchFamily="34" charset="-122"/>
                  <a:cs typeface="Georgia" pitchFamily="34" charset="-120"/>
                </a:rPr>
                <a:t>2</a:t>
              </a:r>
              <a:endParaRPr lang="en-US" sz="3000" dirty="0"/>
            </a:p>
          </p:txBody>
        </p:sp>
        <p:sp>
          <p:nvSpPr>
            <p:cNvPr id="11" name="g1_t"/>
            <p:cNvSpPr txBox="1"/>
            <p:nvPr/>
          </p:nvSpPr>
          <p:spPr>
            <a:xfrm>
              <a:off x="4579010" y="3310128"/>
              <a:ext cx="3033674" cy="731520"/>
            </a:xfrm>
            <a:prstGeom prst="rect">
              <a:avLst/>
            </a:prstGeom>
            <a:noFill/>
            <a:ln/>
          </p:spPr>
          <p:txBody>
            <a:bodyPr wrap="square" lIns="0" tIns="0" rIns="0" bIns="0" rtlCol="0" anchor="t"/>
            <a:lstStyle/>
            <a:p>
              <a:pPr indent="0" marL="0">
                <a:lnSpc>
                  <a:spcPts val="1900"/>
                </a:lnSpc>
                <a:buNone/>
              </a:pPr>
              <a:r>
                <a:rPr lang="en-US" sz="1400" b="1" dirty="0">
                  <a:solidFill>
                    <a:srgbClr val="241535"/>
                  </a:solidFill>
                  <a:latin typeface="Arial" pitchFamily="34" charset="0"/>
                  <a:ea typeface="Arial" pitchFamily="34" charset="-122"/>
                  <a:cs typeface="Arial" pitchFamily="34" charset="-120"/>
                </a:rPr>
                <a:t>Explain why some names are remembered and some are not.</a:t>
              </a:r>
              <a:endParaRPr lang="en-US" sz="1400" dirty="0"/>
            </a:p>
          </p:txBody>
        </p:sp>
      </p:grpSp>
      <p:grpSp>
        <p:nvGrpSpPr>
          <p:cNvPr id="19" name="g2"/>
          <p:cNvGrpSpPr/>
          <p:nvPr/>
        </p:nvGrpSpPr>
        <p:grpSpPr>
          <a:xfrm>
            <a:off x="8143037" y="2176272"/>
            <a:ext cx="3545738" cy="2377440"/>
            <a:chOff x="8143037" y="2176272"/>
            <a:chExt cx="3545738" cy="2377440"/>
          </a:xfrm>
        </p:grpSpPr>
        <p:sp>
          <p:nvSpPr>
            <p:cNvPr id="12" name="g2_bg"/>
            <p:cNvSpPr/>
            <p:nvPr/>
          </p:nvSpPr>
          <p:spPr>
            <a:xfrm>
              <a:off x="8143037" y="2176272"/>
              <a:ext cx="3545738" cy="2377440"/>
            </a:xfrm>
            <a:prstGeom prst="roundRect">
              <a:avLst>
                <a:gd name="adj" fmla="val 5385"/>
              </a:avLst>
            </a:prstGeom>
            <a:solidFill>
              <a:srgbClr val="FFFFFF"/>
            </a:solidFill>
            <a:ln w="15875">
              <a:solidFill>
                <a:srgbClr val="E3DAF0"/>
              </a:solidFill>
              <a:prstDash val="solid"/>
            </a:ln>
          </p:spPr>
        </p:sp>
        <p:pic>
          <p:nvPicPr>
            <p:cNvPr id="13" name="g2_icon" descr="/home/claude/build/img_y7/star_support.png">    </p:cNvPr>
            <p:cNvPicPr>
              <a:picLocks noChangeAspect="1"/>
            </p:cNvPicPr>
            <p:nvPr/>
          </p:nvPicPr>
          <p:blipFill>
            <a:blip r:embed="rId3"/>
            <a:stretch>
              <a:fillRect/>
            </a:stretch>
          </p:blipFill>
          <p:spPr>
            <a:xfrm>
              <a:off x="8399069" y="2432304"/>
              <a:ext cx="731520" cy="731520"/>
            </a:xfrm>
            <a:prstGeom prst="rect">
              <a:avLst/>
            </a:prstGeom>
          </p:spPr>
        </p:pic>
        <p:sp>
          <p:nvSpPr>
            <p:cNvPr id="14" name="g2_n"/>
            <p:cNvSpPr txBox="1"/>
            <p:nvPr/>
          </p:nvSpPr>
          <p:spPr>
            <a:xfrm>
              <a:off x="10774375" y="2432304"/>
              <a:ext cx="694944" cy="731520"/>
            </a:xfrm>
            <a:prstGeom prst="rect">
              <a:avLst/>
            </a:prstGeom>
            <a:noFill/>
            <a:ln/>
          </p:spPr>
          <p:txBody>
            <a:bodyPr wrap="square" lIns="0" tIns="0" rIns="0" bIns="0" rtlCol="0" anchor="ctr"/>
            <a:lstStyle/>
            <a:p>
              <a:pPr algn="r" indent="0" marL="0">
                <a:buNone/>
              </a:pPr>
              <a:r>
                <a:rPr lang="en-US" sz="3000" b="1" dirty="0">
                  <a:solidFill>
                    <a:srgbClr val="F2A03D"/>
                  </a:solidFill>
                  <a:latin typeface="Georgia" pitchFamily="34" charset="0"/>
                  <a:ea typeface="Georgia" pitchFamily="34" charset="-122"/>
                  <a:cs typeface="Georgia" pitchFamily="34" charset="-120"/>
                </a:rPr>
                <a:t>3</a:t>
              </a:r>
              <a:endParaRPr lang="en-US" sz="3000" dirty="0"/>
            </a:p>
          </p:txBody>
        </p:sp>
        <p:sp>
          <p:nvSpPr>
            <p:cNvPr id="15" name="g2_t"/>
            <p:cNvSpPr txBox="1"/>
            <p:nvPr/>
          </p:nvSpPr>
          <p:spPr>
            <a:xfrm>
              <a:off x="8399069" y="3310128"/>
              <a:ext cx="3033674" cy="731520"/>
            </a:xfrm>
            <a:prstGeom prst="rect">
              <a:avLst/>
            </a:prstGeom>
            <a:noFill/>
            <a:ln/>
          </p:spPr>
          <p:txBody>
            <a:bodyPr wrap="square" lIns="0" tIns="0" rIns="0" bIns="0" rtlCol="0" anchor="t"/>
            <a:lstStyle/>
            <a:p>
              <a:pPr indent="0" marL="0">
                <a:lnSpc>
                  <a:spcPts val="1900"/>
                </a:lnSpc>
                <a:buNone/>
              </a:pPr>
              <a:r>
                <a:rPr lang="en-US" sz="1400" b="1" dirty="0">
                  <a:solidFill>
                    <a:srgbClr val="241535"/>
                  </a:solidFill>
                  <a:latin typeface="Arial" pitchFamily="34" charset="0"/>
                  <a:ea typeface="Arial" pitchFamily="34" charset="-122"/>
                  <a:cs typeface="Arial" pitchFamily="34" charset="-120"/>
                </a:rPr>
                <a:t>Name a scientist who was left out, and say what they did.</a:t>
              </a:r>
              <a:endParaRPr lang="en-US" sz="1400" dirty="0"/>
            </a:p>
          </p:txBody>
        </p:sp>
      </p:grpSp>
      <p:sp>
        <p:nvSpPr>
          <p:cNvPr id="16" name="g_note"/>
          <p:cNvSpPr txBox="1"/>
          <p:nvPr/>
        </p:nvSpPr>
        <p:spPr>
          <a:xfrm>
            <a:off x="502920" y="4828032"/>
            <a:ext cx="11185855" cy="329184"/>
          </a:xfrm>
          <a:prstGeom prst="rect">
            <a:avLst/>
          </a:prstGeom>
          <a:noFill/>
          <a:ln/>
        </p:spPr>
        <p:txBody>
          <a:bodyPr wrap="square" lIns="0" tIns="0" rIns="0" bIns="0" rtlCol="0" anchor="ctr"/>
          <a:lstStyle/>
          <a:p>
            <a:pPr indent="0" marL="0">
              <a:buNone/>
            </a:pPr>
            <a:r>
              <a:rPr lang="en-US" sz="1250" b="1" dirty="0">
                <a:solidFill>
                  <a:srgbClr val="D94F6A"/>
                </a:solidFill>
                <a:latin typeface="Arial" pitchFamily="34" charset="0"/>
                <a:ea typeface="Arial" pitchFamily="34" charset="-122"/>
                <a:cs typeface="Arial" pitchFamily="34" charset="-120"/>
              </a:rPr>
              <a:t>This is the lesson your poster comes from.</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3" presetClass="entr" presetSubtype="16" fill="hold" grpId="0"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animScale>
                                      <p:cBhvr>
                                        <p:cTn id="5" dur="400" fill="hold"/>
                                        <p:tgtEl>
                                          <p:spTgt spid="17"/>
                                        </p:tgtEl>
                                      </p:cBhvr>
                                      <p:from x="0" y="0"/>
                                      <p:to x="100000" y="100000"/>
                                    </p:animScale>
                                  </p:childTnLst>
                                </p:cTn>
                              </p:par>
                            </p:childTnLst>
                          </p:cTn>
                        </p:par>
                      </p:childTnLst>
                    </p:cTn>
                  </p:par>
                  <p:par>
                    <p:cTn id="13" fill="hold">
                      <p:stCondLst>
                        <p:cond delay="indefinite"/>
                      </p:stCondLst>
                      <p:childTnLst>
                        <p:par>
                          <p:cTn id="14" fill="hold">
                            <p:stCondLst>
                              <p:cond delay="0"/>
                            </p:stCondLst>
                            <p:childTnLst>
                              <p:par>
                                <p:cTn id="12" presetID="23" presetClass="entr" presetSubtype="16" fill="hold" grpId="0" nodeType="click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animScale>
                                      <p:cBhvr>
                                        <p:cTn id="11" dur="400" fill="hold"/>
                                        <p:tgtEl>
                                          <p:spTgt spid="18"/>
                                        </p:tgtEl>
                                      </p:cBhvr>
                                      <p:from x="0" y="0"/>
                                      <p:to x="100000" y="100000"/>
                                    </p:animScale>
                                  </p:childTnLst>
                                </p:cTn>
                              </p:par>
                            </p:childTnLst>
                          </p:cTn>
                        </p:par>
                      </p:childTnLst>
                    </p:cTn>
                  </p:par>
                  <p:par>
                    <p:cTn id="19" fill="hold">
                      <p:stCondLst>
                        <p:cond delay="indefinite"/>
                      </p:stCondLst>
                      <p:childTnLst>
                        <p:par>
                          <p:cTn id="20" fill="hold">
                            <p:stCondLst>
                              <p:cond delay="0"/>
                            </p:stCondLst>
                            <p:childTnLst>
                              <p:par>
                                <p:cTn id="18" presetID="23" presetClass="entr" presetSubtype="16"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400"/>
                                        <p:tgtEl>
                                          <p:spTgt spid="19"/>
                                        </p:tgtEl>
                                      </p:cBhvr>
                                    </p:animEffect>
                                    <p:animScale>
                                      <p:cBhvr>
                                        <p:cTn id="17" dur="400" fill="hold"/>
                                        <p:tgtEl>
                                          <p:spTgt spid="19"/>
                                        </p:tgtEl>
                                      </p:cBhvr>
                                      <p:from x="0" y="0"/>
                                      <p:to x="100000" y="100000"/>
                                    </p:animScale>
                                  </p:childTnLst>
                                </p:cTn>
                              </p:par>
                            </p:childTnLst>
                          </p:cTn>
                        </p:par>
                      </p:childTnLst>
                    </p:cTn>
                  </p:par>
                  <p:par>
                    <p:cTn id="24" fill="hold">
                      <p:stCondLst>
                        <p:cond delay="indefinite"/>
                      </p:stCondLst>
                      <p:childTnLst>
                        <p:par>
                          <p:cTn id="25" fill="hold">
                            <p:stCondLst>
                              <p:cond delay="0"/>
                            </p:stCondLst>
                            <p:childTnLst>
                              <p:par>
                                <p:cTn id="23"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FB"/>
        </a:solidFill>
      </p:bgPr>
    </p:bg>
    <p:spTree>
      <p:nvGrpSpPr>
        <p:cNvPr id="1" name=""/>
        <p:cNvGrpSpPr/>
        <p:nvPr/>
      </p:nvGrpSpPr>
      <p:grpSpPr>
        <a:xfrm>
          <a:off x="0" y="0"/>
          <a:ext cx="0" cy="0"/>
          <a:chOff x="0" y="0"/>
          <a:chExt cx="0" cy="0"/>
        </a:xfrm>
      </p:grpSpPr>
      <p:sp>
        <p:nvSpPr>
          <p:cNvPr id="2" name="phase_pill"/>
          <p:cNvSpPr/>
          <p:nvPr/>
        </p:nvSpPr>
        <p:spPr>
          <a:xfrm>
            <a:off x="502920" y="274320"/>
            <a:ext cx="2432304" cy="347472"/>
          </a:xfrm>
          <a:prstGeom prst="roundRect">
            <a:avLst>
              <a:gd name="adj" fmla="val 50000"/>
            </a:avLst>
          </a:prstGeom>
          <a:solidFill>
            <a:srgbClr val="4A2C6F"/>
          </a:solidFill>
          <a:ln/>
        </p:spPr>
        <p:txBody>
          <a:bodyPr wrap="square" lIns="0" tIns="0" rIns="0" bIns="0" rtlCol="0" anchor="ctr"/>
          <a:lstStyle/>
          <a:p>
            <a:pPr algn="ctr" indent="0" marL="0">
              <a:buNone/>
            </a:pPr>
            <a:r>
              <a:rPr lang="en-US" sz="1100" b="1" spc="110" kern="0" dirty="0">
                <a:solidFill>
                  <a:srgbClr val="F7F4FB"/>
                </a:solidFill>
                <a:latin typeface="Arial" pitchFamily="34" charset="0"/>
                <a:ea typeface="Arial" pitchFamily="34" charset="-122"/>
                <a:cs typeface="Arial" pitchFamily="34" charset="-120"/>
              </a:rPr>
              <a:t>DO NOW · 5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4A2C6F"/>
                </a:solidFill>
                <a:latin typeface="Georgia" pitchFamily="34" charset="0"/>
                <a:ea typeface="Georgia" pitchFamily="34" charset="-122"/>
                <a:cs typeface="Georgia" pitchFamily="34" charset="-120"/>
              </a:rPr>
              <a:t>Do Now</a:t>
            </a:r>
            <a:endParaRPr lang="en-US" sz="3000" dirty="0"/>
          </a:p>
        </p:txBody>
      </p:sp>
      <p:sp>
        <p:nvSpPr>
          <p:cNvPr id="4" name="do_intro"/>
          <p:cNvSpPr txBox="1"/>
          <p:nvPr/>
        </p:nvSpPr>
        <p:spPr>
          <a:xfrm>
            <a:off x="502920" y="1554480"/>
            <a:ext cx="10058400" cy="310896"/>
          </a:xfrm>
          <a:prstGeom prst="rect">
            <a:avLst/>
          </a:prstGeom>
          <a:noFill/>
          <a:ln/>
        </p:spPr>
        <p:txBody>
          <a:bodyPr wrap="square" lIns="0" tIns="0" rIns="0" bIns="0" rtlCol="0" anchor="ctr"/>
          <a:lstStyle/>
          <a:p>
            <a:pPr indent="0" marL="0">
              <a:buNone/>
            </a:pPr>
            <a:r>
              <a:rPr lang="en-US" sz="1300" dirty="0">
                <a:solidFill>
                  <a:srgbClr val="6A6180"/>
                </a:solidFill>
                <a:latin typeface="Arial" pitchFamily="34" charset="0"/>
                <a:ea typeface="Arial" pitchFamily="34" charset="-122"/>
                <a:cs typeface="Arial" pitchFamily="34" charset="-120"/>
              </a:rPr>
              <a:t>Books, name and date. All six. Four minutes.</a:t>
            </a:r>
            <a:endParaRPr lang="en-US" sz="1300" dirty="0"/>
          </a:p>
        </p:txBody>
      </p:sp>
      <p:sp>
        <p:nvSpPr>
          <p:cNvPr id="5" name="dq0_card"/>
          <p:cNvSpPr/>
          <p:nvPr/>
        </p:nvSpPr>
        <p:spPr>
          <a:xfrm>
            <a:off x="502920" y="2194560"/>
            <a:ext cx="5455768" cy="1024128"/>
          </a:xfrm>
          <a:prstGeom prst="roundRect">
            <a:avLst>
              <a:gd name="adj" fmla="val 12500"/>
            </a:avLst>
          </a:prstGeom>
          <a:solidFill>
            <a:srgbClr val="FFFFFF"/>
          </a:solidFill>
          <a:ln w="15875">
            <a:solidFill>
              <a:srgbClr val="E3DAF0"/>
            </a:solidFill>
            <a:prstDash val="solid"/>
          </a:ln>
        </p:spPr>
      </p:sp>
      <p:sp>
        <p:nvSpPr>
          <p:cNvPr id="6" name="dq0_n"/>
          <p:cNvSpPr txBox="1"/>
          <p:nvPr/>
        </p:nvSpPr>
        <p:spPr>
          <a:xfrm>
            <a:off x="649224" y="2304288"/>
            <a:ext cx="274320" cy="256032"/>
          </a:xfrm>
          <a:prstGeom prst="rect">
            <a:avLst/>
          </a:prstGeom>
          <a:noFill/>
          <a:ln/>
        </p:spPr>
        <p:txBody>
          <a:bodyPr wrap="square" lIns="0" tIns="0" rIns="0" bIns="0" rtlCol="0" anchor="ctr"/>
          <a:lstStyle/>
          <a:p>
            <a:pPr indent="0" marL="0">
              <a:buNone/>
            </a:pPr>
            <a:r>
              <a:rPr lang="en-US" sz="1300" b="1" dirty="0">
                <a:solidFill>
                  <a:srgbClr val="F2A03D"/>
                </a:solidFill>
                <a:latin typeface="Arial" pitchFamily="34" charset="0"/>
                <a:ea typeface="Arial" pitchFamily="34" charset="-122"/>
                <a:cs typeface="Arial" pitchFamily="34" charset="-120"/>
              </a:rPr>
              <a:t>1</a:t>
            </a:r>
            <a:endParaRPr lang="en-US" sz="1300" dirty="0"/>
          </a:p>
        </p:txBody>
      </p:sp>
      <p:sp>
        <p:nvSpPr>
          <p:cNvPr id="7" name="dq0_q"/>
          <p:cNvSpPr txBox="1"/>
          <p:nvPr/>
        </p:nvSpPr>
        <p:spPr>
          <a:xfrm>
            <a:off x="978408" y="2286000"/>
            <a:ext cx="4797400" cy="420624"/>
          </a:xfrm>
          <a:prstGeom prst="rect">
            <a:avLst/>
          </a:prstGeom>
          <a:noFill/>
          <a:ln/>
        </p:spPr>
        <p:txBody>
          <a:bodyPr wrap="square" lIns="0" tIns="0" rIns="0" bIns="0" rtlCol="0" anchor="t"/>
          <a:lstStyle/>
          <a:p>
            <a:pPr indent="0" marL="0">
              <a:lnSpc>
                <a:spcPts val="1500"/>
              </a:lnSpc>
              <a:buNone/>
            </a:pPr>
            <a:r>
              <a:rPr lang="en-US" sz="1250" dirty="0">
                <a:solidFill>
                  <a:srgbClr val="241535"/>
                </a:solidFill>
                <a:latin typeface="Arial" pitchFamily="34" charset="0"/>
                <a:ea typeface="Arial" pitchFamily="34" charset="-122"/>
                <a:cs typeface="Arial" pitchFamily="34" charset="-120"/>
              </a:rPr>
              <a:t>What two things does science run on?</a:t>
            </a:r>
            <a:endParaRPr lang="en-US" sz="1250" dirty="0"/>
          </a:p>
        </p:txBody>
      </p:sp>
      <p:sp>
        <p:nvSpPr>
          <p:cNvPr id="8" name="dq0_a"/>
          <p:cNvSpPr/>
          <p:nvPr/>
        </p:nvSpPr>
        <p:spPr>
          <a:xfrm>
            <a:off x="978408" y="2761488"/>
            <a:ext cx="4797400" cy="329184"/>
          </a:xfrm>
          <a:prstGeom prst="roundRect">
            <a:avLst>
              <a:gd name="adj" fmla="val 22222"/>
            </a:avLst>
          </a:prstGeom>
          <a:solidFill>
            <a:srgbClr val="FDEEDC"/>
          </a:solidFill>
          <a:ln w="12700">
            <a:solidFill>
              <a:srgbClr val="F2A03D"/>
            </a:solidFill>
          </a:ln>
        </p:spPr>
        <p:txBody>
          <a:bodyPr wrap="square" lIns="762" tIns="762" rIns="762" bIns="762" rtlCol="0" anchor="ctr"/>
          <a:lstStyle/>
          <a:p>
            <a:pPr algn="l" indent="0" marL="0">
              <a:buNone/>
            </a:pPr>
            <a:r>
              <a:rPr lang="en-US" sz="1100" b="1" dirty="0">
                <a:solidFill>
                  <a:srgbClr val="4A2C6F"/>
                </a:solidFill>
                <a:latin typeface="Arial" pitchFamily="34" charset="0"/>
                <a:ea typeface="Arial" pitchFamily="34" charset="-122"/>
                <a:cs typeface="Arial" pitchFamily="34" charset="-120"/>
              </a:rPr>
              <a:t>Evidence and logic.</a:t>
            </a:r>
            <a:endParaRPr lang="en-US" sz="1100" dirty="0"/>
          </a:p>
        </p:txBody>
      </p:sp>
      <p:sp>
        <p:nvSpPr>
          <p:cNvPr id="9" name="dq1_card"/>
          <p:cNvSpPr/>
          <p:nvPr/>
        </p:nvSpPr>
        <p:spPr>
          <a:xfrm>
            <a:off x="6233008" y="2194560"/>
            <a:ext cx="5455768" cy="1024128"/>
          </a:xfrm>
          <a:prstGeom prst="roundRect">
            <a:avLst>
              <a:gd name="adj" fmla="val 12500"/>
            </a:avLst>
          </a:prstGeom>
          <a:solidFill>
            <a:srgbClr val="FFFFFF"/>
          </a:solidFill>
          <a:ln w="15875">
            <a:solidFill>
              <a:srgbClr val="E3DAF0"/>
            </a:solidFill>
            <a:prstDash val="solid"/>
          </a:ln>
        </p:spPr>
      </p:sp>
      <p:sp>
        <p:nvSpPr>
          <p:cNvPr id="10" name="dq1_n"/>
          <p:cNvSpPr txBox="1"/>
          <p:nvPr/>
        </p:nvSpPr>
        <p:spPr>
          <a:xfrm>
            <a:off x="6379312" y="2304288"/>
            <a:ext cx="274320" cy="256032"/>
          </a:xfrm>
          <a:prstGeom prst="rect">
            <a:avLst/>
          </a:prstGeom>
          <a:noFill/>
          <a:ln/>
        </p:spPr>
        <p:txBody>
          <a:bodyPr wrap="square" lIns="0" tIns="0" rIns="0" bIns="0" rtlCol="0" anchor="ctr"/>
          <a:lstStyle/>
          <a:p>
            <a:pPr indent="0" marL="0">
              <a:buNone/>
            </a:pPr>
            <a:r>
              <a:rPr lang="en-US" sz="1300" b="1" dirty="0">
                <a:solidFill>
                  <a:srgbClr val="F2A03D"/>
                </a:solidFill>
                <a:latin typeface="Arial" pitchFamily="34" charset="0"/>
                <a:ea typeface="Arial" pitchFamily="34" charset="-122"/>
                <a:cs typeface="Arial" pitchFamily="34" charset="-120"/>
              </a:rPr>
              <a:t>2</a:t>
            </a:r>
            <a:endParaRPr lang="en-US" sz="1300" dirty="0"/>
          </a:p>
        </p:txBody>
      </p:sp>
      <p:sp>
        <p:nvSpPr>
          <p:cNvPr id="11" name="dq1_q"/>
          <p:cNvSpPr txBox="1"/>
          <p:nvPr/>
        </p:nvSpPr>
        <p:spPr>
          <a:xfrm>
            <a:off x="6708496" y="2286000"/>
            <a:ext cx="4797400" cy="420624"/>
          </a:xfrm>
          <a:prstGeom prst="rect">
            <a:avLst/>
          </a:prstGeom>
          <a:noFill/>
          <a:ln/>
        </p:spPr>
        <p:txBody>
          <a:bodyPr wrap="square" lIns="0" tIns="0" rIns="0" bIns="0" rtlCol="0" anchor="t"/>
          <a:lstStyle/>
          <a:p>
            <a:pPr indent="0" marL="0">
              <a:lnSpc>
                <a:spcPts val="1500"/>
              </a:lnSpc>
              <a:buNone/>
            </a:pPr>
            <a:r>
              <a:rPr lang="en-US" sz="1250" dirty="0">
                <a:solidFill>
                  <a:srgbClr val="241535"/>
                </a:solidFill>
                <a:latin typeface="Arial" pitchFamily="34" charset="0"/>
                <a:ea typeface="Arial" pitchFamily="34" charset="-122"/>
                <a:cs typeface="Arial" pitchFamily="34" charset="-120"/>
              </a:rPr>
              <a:t>What does a scientific law do?</a:t>
            </a:r>
            <a:endParaRPr lang="en-US" sz="1250" dirty="0"/>
          </a:p>
        </p:txBody>
      </p:sp>
      <p:sp>
        <p:nvSpPr>
          <p:cNvPr id="12" name="dq1_a"/>
          <p:cNvSpPr/>
          <p:nvPr/>
        </p:nvSpPr>
        <p:spPr>
          <a:xfrm>
            <a:off x="6708496" y="2761488"/>
            <a:ext cx="4797400" cy="329184"/>
          </a:xfrm>
          <a:prstGeom prst="roundRect">
            <a:avLst>
              <a:gd name="adj" fmla="val 22222"/>
            </a:avLst>
          </a:prstGeom>
          <a:solidFill>
            <a:srgbClr val="FDEEDC"/>
          </a:solidFill>
          <a:ln w="12700">
            <a:solidFill>
              <a:srgbClr val="F2A03D"/>
            </a:solidFill>
          </a:ln>
        </p:spPr>
        <p:txBody>
          <a:bodyPr wrap="square" lIns="762" tIns="762" rIns="762" bIns="762" rtlCol="0" anchor="ctr"/>
          <a:lstStyle/>
          <a:p>
            <a:pPr algn="l" indent="0" marL="0">
              <a:buNone/>
            </a:pPr>
            <a:r>
              <a:rPr lang="en-US" sz="1100" b="1" dirty="0">
                <a:solidFill>
                  <a:srgbClr val="4A2C6F"/>
                </a:solidFill>
                <a:latin typeface="Arial" pitchFamily="34" charset="0"/>
                <a:ea typeface="Arial" pitchFamily="34" charset="-122"/>
                <a:cs typeface="Arial" pitchFamily="34" charset="-120"/>
              </a:rPr>
              <a:t>It describes what happens.</a:t>
            </a:r>
            <a:endParaRPr lang="en-US" sz="1100" dirty="0"/>
          </a:p>
        </p:txBody>
      </p:sp>
      <p:sp>
        <p:nvSpPr>
          <p:cNvPr id="13" name="dq2_card"/>
          <p:cNvSpPr/>
          <p:nvPr/>
        </p:nvSpPr>
        <p:spPr>
          <a:xfrm>
            <a:off x="502920" y="3419856"/>
            <a:ext cx="5455768" cy="1024128"/>
          </a:xfrm>
          <a:prstGeom prst="roundRect">
            <a:avLst>
              <a:gd name="adj" fmla="val 12500"/>
            </a:avLst>
          </a:prstGeom>
          <a:solidFill>
            <a:srgbClr val="FFFFFF"/>
          </a:solidFill>
          <a:ln w="15875">
            <a:solidFill>
              <a:srgbClr val="E3DAF0"/>
            </a:solidFill>
            <a:prstDash val="solid"/>
          </a:ln>
        </p:spPr>
      </p:sp>
      <p:sp>
        <p:nvSpPr>
          <p:cNvPr id="14" name="dq2_n"/>
          <p:cNvSpPr txBox="1"/>
          <p:nvPr/>
        </p:nvSpPr>
        <p:spPr>
          <a:xfrm>
            <a:off x="649224" y="3529584"/>
            <a:ext cx="274320" cy="256032"/>
          </a:xfrm>
          <a:prstGeom prst="rect">
            <a:avLst/>
          </a:prstGeom>
          <a:noFill/>
          <a:ln/>
        </p:spPr>
        <p:txBody>
          <a:bodyPr wrap="square" lIns="0" tIns="0" rIns="0" bIns="0" rtlCol="0" anchor="ctr"/>
          <a:lstStyle/>
          <a:p>
            <a:pPr indent="0" marL="0">
              <a:buNone/>
            </a:pPr>
            <a:r>
              <a:rPr lang="en-US" sz="1300" b="1" dirty="0">
                <a:solidFill>
                  <a:srgbClr val="F2A03D"/>
                </a:solidFill>
                <a:latin typeface="Arial" pitchFamily="34" charset="0"/>
                <a:ea typeface="Arial" pitchFamily="34" charset="-122"/>
                <a:cs typeface="Arial" pitchFamily="34" charset="-120"/>
              </a:rPr>
              <a:t>3</a:t>
            </a:r>
            <a:endParaRPr lang="en-US" sz="1300" dirty="0"/>
          </a:p>
        </p:txBody>
      </p:sp>
      <p:sp>
        <p:nvSpPr>
          <p:cNvPr id="15" name="dq2_q"/>
          <p:cNvSpPr txBox="1"/>
          <p:nvPr/>
        </p:nvSpPr>
        <p:spPr>
          <a:xfrm>
            <a:off x="978408" y="3511296"/>
            <a:ext cx="4797400" cy="420624"/>
          </a:xfrm>
          <a:prstGeom prst="rect">
            <a:avLst/>
          </a:prstGeom>
          <a:noFill/>
          <a:ln/>
        </p:spPr>
        <p:txBody>
          <a:bodyPr wrap="square" lIns="0" tIns="0" rIns="0" bIns="0" rtlCol="0" anchor="t"/>
          <a:lstStyle/>
          <a:p>
            <a:pPr indent="0" marL="0">
              <a:lnSpc>
                <a:spcPts val="1500"/>
              </a:lnSpc>
              <a:buNone/>
            </a:pPr>
            <a:r>
              <a:rPr lang="en-US" sz="1250" dirty="0">
                <a:solidFill>
                  <a:srgbClr val="241535"/>
                </a:solidFill>
                <a:latin typeface="Arial" pitchFamily="34" charset="0"/>
                <a:ea typeface="Arial" pitchFamily="34" charset="-122"/>
                <a:cs typeface="Arial" pitchFamily="34" charset="-120"/>
              </a:rPr>
              <a:t>What does a scientific theory do?</a:t>
            </a:r>
            <a:endParaRPr lang="en-US" sz="1250" dirty="0"/>
          </a:p>
        </p:txBody>
      </p:sp>
      <p:sp>
        <p:nvSpPr>
          <p:cNvPr id="16" name="dq2_a"/>
          <p:cNvSpPr/>
          <p:nvPr/>
        </p:nvSpPr>
        <p:spPr>
          <a:xfrm>
            <a:off x="978408" y="3986784"/>
            <a:ext cx="4797400" cy="329184"/>
          </a:xfrm>
          <a:prstGeom prst="roundRect">
            <a:avLst>
              <a:gd name="adj" fmla="val 22222"/>
            </a:avLst>
          </a:prstGeom>
          <a:solidFill>
            <a:srgbClr val="FDEEDC"/>
          </a:solidFill>
          <a:ln w="12700">
            <a:solidFill>
              <a:srgbClr val="F2A03D"/>
            </a:solidFill>
          </a:ln>
        </p:spPr>
        <p:txBody>
          <a:bodyPr wrap="square" lIns="762" tIns="762" rIns="762" bIns="762" rtlCol="0" anchor="ctr"/>
          <a:lstStyle/>
          <a:p>
            <a:pPr algn="l" indent="0" marL="0">
              <a:buNone/>
            </a:pPr>
            <a:r>
              <a:rPr lang="en-US" sz="1100" b="1" dirty="0">
                <a:solidFill>
                  <a:srgbClr val="4A2C6F"/>
                </a:solidFill>
                <a:latin typeface="Arial" pitchFamily="34" charset="0"/>
                <a:ea typeface="Arial" pitchFamily="34" charset="-122"/>
                <a:cs typeface="Arial" pitchFamily="34" charset="-120"/>
              </a:rPr>
              <a:t>It explains why.</a:t>
            </a:r>
            <a:endParaRPr lang="en-US" sz="1100" dirty="0"/>
          </a:p>
        </p:txBody>
      </p:sp>
      <p:sp>
        <p:nvSpPr>
          <p:cNvPr id="17" name="dq3_card"/>
          <p:cNvSpPr/>
          <p:nvPr/>
        </p:nvSpPr>
        <p:spPr>
          <a:xfrm>
            <a:off x="6233008" y="3419856"/>
            <a:ext cx="5455768" cy="1024128"/>
          </a:xfrm>
          <a:prstGeom prst="roundRect">
            <a:avLst>
              <a:gd name="adj" fmla="val 12500"/>
            </a:avLst>
          </a:prstGeom>
          <a:solidFill>
            <a:srgbClr val="FFFFFF"/>
          </a:solidFill>
          <a:ln w="15875">
            <a:solidFill>
              <a:srgbClr val="E3DAF0"/>
            </a:solidFill>
            <a:prstDash val="solid"/>
          </a:ln>
        </p:spPr>
      </p:sp>
      <p:sp>
        <p:nvSpPr>
          <p:cNvPr id="18" name="dq3_n"/>
          <p:cNvSpPr txBox="1"/>
          <p:nvPr/>
        </p:nvSpPr>
        <p:spPr>
          <a:xfrm>
            <a:off x="6379312" y="3529584"/>
            <a:ext cx="274320" cy="256032"/>
          </a:xfrm>
          <a:prstGeom prst="rect">
            <a:avLst/>
          </a:prstGeom>
          <a:noFill/>
          <a:ln/>
        </p:spPr>
        <p:txBody>
          <a:bodyPr wrap="square" lIns="0" tIns="0" rIns="0" bIns="0" rtlCol="0" anchor="ctr"/>
          <a:lstStyle/>
          <a:p>
            <a:pPr indent="0" marL="0">
              <a:buNone/>
            </a:pPr>
            <a:r>
              <a:rPr lang="en-US" sz="1300" b="1" dirty="0">
                <a:solidFill>
                  <a:srgbClr val="F2A03D"/>
                </a:solidFill>
                <a:latin typeface="Arial" pitchFamily="34" charset="0"/>
                <a:ea typeface="Arial" pitchFamily="34" charset="-122"/>
                <a:cs typeface="Arial" pitchFamily="34" charset="-120"/>
              </a:rPr>
              <a:t>4</a:t>
            </a:r>
            <a:endParaRPr lang="en-US" sz="1300" dirty="0"/>
          </a:p>
        </p:txBody>
      </p:sp>
      <p:sp>
        <p:nvSpPr>
          <p:cNvPr id="19" name="dq3_q"/>
          <p:cNvSpPr txBox="1"/>
          <p:nvPr/>
        </p:nvSpPr>
        <p:spPr>
          <a:xfrm>
            <a:off x="6708496" y="3511296"/>
            <a:ext cx="4797400" cy="420624"/>
          </a:xfrm>
          <a:prstGeom prst="rect">
            <a:avLst/>
          </a:prstGeom>
          <a:noFill/>
          <a:ln/>
        </p:spPr>
        <p:txBody>
          <a:bodyPr wrap="square" lIns="0" tIns="0" rIns="0" bIns="0" rtlCol="0" anchor="t"/>
          <a:lstStyle/>
          <a:p>
            <a:pPr indent="0" marL="0">
              <a:lnSpc>
                <a:spcPts val="1500"/>
              </a:lnSpc>
              <a:buNone/>
            </a:pPr>
            <a:r>
              <a:rPr lang="en-US" sz="1250" dirty="0">
                <a:solidFill>
                  <a:srgbClr val="241535"/>
                </a:solidFill>
                <a:latin typeface="Arial" pitchFamily="34" charset="0"/>
                <a:ea typeface="Arial" pitchFamily="34" charset="-122"/>
                <a:cs typeface="Arial" pitchFamily="34" charset="-120"/>
              </a:rPr>
              <a:t>"A theory is just a guess." Right or wrong?</a:t>
            </a:r>
            <a:endParaRPr lang="en-US" sz="1250" dirty="0"/>
          </a:p>
        </p:txBody>
      </p:sp>
      <p:sp>
        <p:nvSpPr>
          <p:cNvPr id="20" name="dq3_a"/>
          <p:cNvSpPr/>
          <p:nvPr/>
        </p:nvSpPr>
        <p:spPr>
          <a:xfrm>
            <a:off x="6708496" y="3986784"/>
            <a:ext cx="4797400" cy="329184"/>
          </a:xfrm>
          <a:prstGeom prst="roundRect">
            <a:avLst>
              <a:gd name="adj" fmla="val 22222"/>
            </a:avLst>
          </a:prstGeom>
          <a:solidFill>
            <a:srgbClr val="FDEEDC"/>
          </a:solidFill>
          <a:ln w="12700">
            <a:solidFill>
              <a:srgbClr val="F2A03D"/>
            </a:solidFill>
          </a:ln>
        </p:spPr>
        <p:txBody>
          <a:bodyPr wrap="square" lIns="762" tIns="762" rIns="762" bIns="762" rtlCol="0" anchor="ctr"/>
          <a:lstStyle/>
          <a:p>
            <a:pPr algn="l" indent="0" marL="0">
              <a:buNone/>
            </a:pPr>
            <a:r>
              <a:rPr lang="en-US" sz="1100" b="1" dirty="0">
                <a:solidFill>
                  <a:srgbClr val="4A2C6F"/>
                </a:solidFill>
                <a:latin typeface="Arial" pitchFamily="34" charset="0"/>
                <a:ea typeface="Arial" pitchFamily="34" charset="-122"/>
                <a:cs typeface="Arial" pitchFamily="34" charset="-120"/>
              </a:rPr>
              <a:t>Wrong. It is the opposite.</a:t>
            </a:r>
            <a:endParaRPr lang="en-US" sz="1100" dirty="0"/>
          </a:p>
        </p:txBody>
      </p:sp>
      <p:sp>
        <p:nvSpPr>
          <p:cNvPr id="21" name="dq4_card"/>
          <p:cNvSpPr/>
          <p:nvPr/>
        </p:nvSpPr>
        <p:spPr>
          <a:xfrm>
            <a:off x="502920" y="4645152"/>
            <a:ext cx="5455768" cy="1024128"/>
          </a:xfrm>
          <a:prstGeom prst="roundRect">
            <a:avLst>
              <a:gd name="adj" fmla="val 12500"/>
            </a:avLst>
          </a:prstGeom>
          <a:solidFill>
            <a:srgbClr val="FFFFFF"/>
          </a:solidFill>
          <a:ln w="15875">
            <a:solidFill>
              <a:srgbClr val="E3DAF0"/>
            </a:solidFill>
            <a:prstDash val="solid"/>
          </a:ln>
        </p:spPr>
      </p:sp>
      <p:sp>
        <p:nvSpPr>
          <p:cNvPr id="22" name="dq4_n"/>
          <p:cNvSpPr txBox="1"/>
          <p:nvPr/>
        </p:nvSpPr>
        <p:spPr>
          <a:xfrm>
            <a:off x="649224" y="4754880"/>
            <a:ext cx="274320" cy="256032"/>
          </a:xfrm>
          <a:prstGeom prst="rect">
            <a:avLst/>
          </a:prstGeom>
          <a:noFill/>
          <a:ln/>
        </p:spPr>
        <p:txBody>
          <a:bodyPr wrap="square" lIns="0" tIns="0" rIns="0" bIns="0" rtlCol="0" anchor="ctr"/>
          <a:lstStyle/>
          <a:p>
            <a:pPr indent="0" marL="0">
              <a:buNone/>
            </a:pPr>
            <a:r>
              <a:rPr lang="en-US" sz="1300" b="1" dirty="0">
                <a:solidFill>
                  <a:srgbClr val="F2A03D"/>
                </a:solidFill>
                <a:latin typeface="Arial" pitchFamily="34" charset="0"/>
                <a:ea typeface="Arial" pitchFamily="34" charset="-122"/>
                <a:cs typeface="Arial" pitchFamily="34" charset="-120"/>
              </a:rPr>
              <a:t>5</a:t>
            </a:r>
            <a:endParaRPr lang="en-US" sz="1300" dirty="0"/>
          </a:p>
        </p:txBody>
      </p:sp>
      <p:sp>
        <p:nvSpPr>
          <p:cNvPr id="23" name="dq4_q"/>
          <p:cNvSpPr txBox="1"/>
          <p:nvPr/>
        </p:nvSpPr>
        <p:spPr>
          <a:xfrm>
            <a:off x="978408" y="4736592"/>
            <a:ext cx="4797400" cy="420624"/>
          </a:xfrm>
          <a:prstGeom prst="rect">
            <a:avLst/>
          </a:prstGeom>
          <a:noFill/>
          <a:ln/>
        </p:spPr>
        <p:txBody>
          <a:bodyPr wrap="square" lIns="0" tIns="0" rIns="0" bIns="0" rtlCol="0" anchor="t"/>
          <a:lstStyle/>
          <a:p>
            <a:pPr indent="0" marL="0">
              <a:lnSpc>
                <a:spcPts val="1500"/>
              </a:lnSpc>
              <a:buNone/>
            </a:pPr>
            <a:r>
              <a:rPr lang="en-US" sz="1250" dirty="0">
                <a:solidFill>
                  <a:srgbClr val="241535"/>
                </a:solidFill>
                <a:latin typeface="Arial" pitchFamily="34" charset="0"/>
                <a:ea typeface="Arial" pitchFamily="34" charset="-122"/>
                <a:cs typeface="Arial" pitchFamily="34" charset="-120"/>
              </a:rPr>
              <a:t>Name any scientist.</a:t>
            </a:r>
            <a:endParaRPr lang="en-US" sz="1250" dirty="0"/>
          </a:p>
        </p:txBody>
      </p:sp>
      <p:sp>
        <p:nvSpPr>
          <p:cNvPr id="24" name="dq4_a"/>
          <p:cNvSpPr/>
          <p:nvPr/>
        </p:nvSpPr>
        <p:spPr>
          <a:xfrm>
            <a:off x="978408" y="5212080"/>
            <a:ext cx="4797400" cy="329184"/>
          </a:xfrm>
          <a:prstGeom prst="roundRect">
            <a:avLst>
              <a:gd name="adj" fmla="val 22222"/>
            </a:avLst>
          </a:prstGeom>
          <a:solidFill>
            <a:srgbClr val="FDEEDC"/>
          </a:solidFill>
          <a:ln w="12700">
            <a:solidFill>
              <a:srgbClr val="F2A03D"/>
            </a:solidFill>
          </a:ln>
        </p:spPr>
        <p:txBody>
          <a:bodyPr wrap="square" lIns="762" tIns="762" rIns="762" bIns="762" rtlCol="0" anchor="ctr"/>
          <a:lstStyle/>
          <a:p>
            <a:pPr algn="l" indent="0" marL="0">
              <a:buNone/>
            </a:pPr>
            <a:r>
              <a:rPr lang="en-US" sz="1100" b="1" dirty="0">
                <a:solidFill>
                  <a:srgbClr val="4A2C6F"/>
                </a:solidFill>
                <a:latin typeface="Arial" pitchFamily="34" charset="0"/>
                <a:ea typeface="Arial" pitchFamily="34" charset="-122"/>
                <a:cs typeface="Arial" pitchFamily="34" charset="-120"/>
              </a:rPr>
              <a:t>Anyone at all.</a:t>
            </a:r>
            <a:endParaRPr lang="en-US" sz="1100" dirty="0"/>
          </a:p>
        </p:txBody>
      </p:sp>
      <p:sp>
        <p:nvSpPr>
          <p:cNvPr id="25" name="dq5_card"/>
          <p:cNvSpPr/>
          <p:nvPr/>
        </p:nvSpPr>
        <p:spPr>
          <a:xfrm>
            <a:off x="6233008" y="4645152"/>
            <a:ext cx="5455768" cy="1024128"/>
          </a:xfrm>
          <a:prstGeom prst="roundRect">
            <a:avLst>
              <a:gd name="adj" fmla="val 12500"/>
            </a:avLst>
          </a:prstGeom>
          <a:solidFill>
            <a:srgbClr val="FFFFFF"/>
          </a:solidFill>
          <a:ln w="15875">
            <a:solidFill>
              <a:srgbClr val="E3DAF0"/>
            </a:solidFill>
            <a:prstDash val="solid"/>
          </a:ln>
        </p:spPr>
      </p:sp>
      <p:sp>
        <p:nvSpPr>
          <p:cNvPr id="26" name="dq5_n"/>
          <p:cNvSpPr txBox="1"/>
          <p:nvPr/>
        </p:nvSpPr>
        <p:spPr>
          <a:xfrm>
            <a:off x="6379312" y="4754880"/>
            <a:ext cx="274320" cy="256032"/>
          </a:xfrm>
          <a:prstGeom prst="rect">
            <a:avLst/>
          </a:prstGeom>
          <a:noFill/>
          <a:ln/>
        </p:spPr>
        <p:txBody>
          <a:bodyPr wrap="square" lIns="0" tIns="0" rIns="0" bIns="0" rtlCol="0" anchor="ctr"/>
          <a:lstStyle/>
          <a:p>
            <a:pPr indent="0" marL="0">
              <a:buNone/>
            </a:pPr>
            <a:r>
              <a:rPr lang="en-US" sz="1300" b="1" dirty="0">
                <a:solidFill>
                  <a:srgbClr val="F2A03D"/>
                </a:solidFill>
                <a:latin typeface="Arial" pitchFamily="34" charset="0"/>
                <a:ea typeface="Arial" pitchFamily="34" charset="-122"/>
                <a:cs typeface="Arial" pitchFamily="34" charset="-120"/>
              </a:rPr>
              <a:t>6</a:t>
            </a:r>
            <a:endParaRPr lang="en-US" sz="1300" dirty="0"/>
          </a:p>
        </p:txBody>
      </p:sp>
      <p:sp>
        <p:nvSpPr>
          <p:cNvPr id="27" name="dq5_q"/>
          <p:cNvSpPr txBox="1"/>
          <p:nvPr/>
        </p:nvSpPr>
        <p:spPr>
          <a:xfrm>
            <a:off x="6708496" y="4736592"/>
            <a:ext cx="4797400" cy="420624"/>
          </a:xfrm>
          <a:prstGeom prst="rect">
            <a:avLst/>
          </a:prstGeom>
          <a:noFill/>
          <a:ln/>
        </p:spPr>
        <p:txBody>
          <a:bodyPr wrap="square" lIns="0" tIns="0" rIns="0" bIns="0" rtlCol="0" anchor="t"/>
          <a:lstStyle/>
          <a:p>
            <a:pPr indent="0" marL="0">
              <a:lnSpc>
                <a:spcPts val="1500"/>
              </a:lnSpc>
              <a:buNone/>
            </a:pPr>
            <a:r>
              <a:rPr lang="en-US" sz="1250" dirty="0">
                <a:solidFill>
                  <a:srgbClr val="241535"/>
                </a:solidFill>
                <a:latin typeface="Arial" pitchFamily="34" charset="0"/>
                <a:ea typeface="Arial" pitchFamily="34" charset="-122"/>
                <a:cs typeface="Arial" pitchFamily="34" charset="-120"/>
              </a:rPr>
              <a:t>How many women scientists can you name?</a:t>
            </a:r>
            <a:endParaRPr lang="en-US" sz="1250" dirty="0"/>
          </a:p>
        </p:txBody>
      </p:sp>
      <p:sp>
        <p:nvSpPr>
          <p:cNvPr id="28" name="dq5_a"/>
          <p:cNvSpPr/>
          <p:nvPr/>
        </p:nvSpPr>
        <p:spPr>
          <a:xfrm>
            <a:off x="6708496" y="5212080"/>
            <a:ext cx="4797400" cy="329184"/>
          </a:xfrm>
          <a:prstGeom prst="roundRect">
            <a:avLst>
              <a:gd name="adj" fmla="val 22222"/>
            </a:avLst>
          </a:prstGeom>
          <a:solidFill>
            <a:srgbClr val="FDEEDC"/>
          </a:solidFill>
          <a:ln w="12700">
            <a:solidFill>
              <a:srgbClr val="F2A03D"/>
            </a:solidFill>
          </a:ln>
        </p:spPr>
        <p:txBody>
          <a:bodyPr wrap="square" lIns="762" tIns="762" rIns="762" bIns="762" rtlCol="0" anchor="ctr"/>
          <a:lstStyle/>
          <a:p>
            <a:pPr algn="l" indent="0" marL="0">
              <a:buNone/>
            </a:pPr>
            <a:r>
              <a:rPr lang="en-US" sz="1100" b="1" dirty="0">
                <a:solidFill>
                  <a:srgbClr val="4A2C6F"/>
                </a:solidFill>
                <a:latin typeface="Arial" pitchFamily="34" charset="0"/>
                <a:ea typeface="Arial" pitchFamily="34" charset="-122"/>
                <a:cs typeface="Arial" pitchFamily="34" charset="-120"/>
              </a:rPr>
              <a:t>Keep your number. We need it.</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wipe(right)">
                                      <p:cBhvr>
                                        <p:cTn id="4" dur="400"/>
                                        <p:tgtEl>
                                          <p:spTgt spid="8"/>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8" fill="hold" grpId="0"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wipe(right)">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22" presetClass="entr" presetSubtype="8"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ipe(right)">
                                      <p:cBhvr>
                                        <p:cTn id="14" dur="4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0" presetID="22" presetClass="entr" presetSubtype="8"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right)">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22" presetClass="entr" presetSubtype="8" fill="hold" grpId="0" nodeType="click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wipe(right)">
                                      <p:cBhvr>
                                        <p:cTn id="24" dur="400"/>
                                        <p:tgtEl>
                                          <p:spTgt spid="24"/>
                                        </p:tgtEl>
                                      </p:cBhvr>
                                    </p:animEffect>
                                  </p:childTnLst>
                                </p:cTn>
                              </p:par>
                            </p:childTnLst>
                          </p:cTn>
                        </p:par>
                      </p:childTnLst>
                    </p:cTn>
                  </p:par>
                  <p:par>
                    <p:cTn id="31" fill="hold">
                      <p:stCondLst>
                        <p:cond delay="indefinite"/>
                      </p:stCondLst>
                      <p:childTnLst>
                        <p:par>
                          <p:cTn id="32" fill="hold">
                            <p:stCondLst>
                              <p:cond delay="0"/>
                            </p:stCondLst>
                            <p:childTnLst>
                              <p:par>
                                <p:cTn id="30" presetID="22" presetClass="entr" presetSubtype="8"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ipe(right)">
                                      <p:cBhvr>
                                        <p:cTn id="29"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FB"/>
        </a:solidFill>
      </p:bgPr>
    </p:bg>
    <p:spTree>
      <p:nvGrpSpPr>
        <p:cNvPr id="1" name=""/>
        <p:cNvGrpSpPr/>
        <p:nvPr/>
      </p:nvGrpSpPr>
      <p:grpSpPr>
        <a:xfrm>
          <a:off x="0" y="0"/>
          <a:ext cx="0" cy="0"/>
          <a:chOff x="0" y="0"/>
          <a:chExt cx="0" cy="0"/>
        </a:xfrm>
      </p:grpSpPr>
      <p:sp>
        <p:nvSpPr>
          <p:cNvPr id="2" name="phase_pill"/>
          <p:cNvSpPr/>
          <p:nvPr/>
        </p:nvSpPr>
        <p:spPr>
          <a:xfrm>
            <a:off x="502920" y="274320"/>
            <a:ext cx="2139696" cy="347472"/>
          </a:xfrm>
          <a:prstGeom prst="roundRect">
            <a:avLst>
              <a:gd name="adj" fmla="val 50000"/>
            </a:avLst>
          </a:prstGeom>
          <a:solidFill>
            <a:srgbClr val="4A2C6F"/>
          </a:solidFill>
          <a:ln/>
        </p:spPr>
        <p:txBody>
          <a:bodyPr wrap="square" lIns="0" tIns="0" rIns="0" bIns="0" rtlCol="0" anchor="ctr"/>
          <a:lstStyle/>
          <a:p>
            <a:pPr algn="ctr" indent="0" marL="0">
              <a:buNone/>
            </a:pPr>
            <a:r>
              <a:rPr lang="en-US" sz="1100" b="1" spc="110" kern="0" dirty="0">
                <a:solidFill>
                  <a:srgbClr val="F7F4FB"/>
                </a:solidFill>
                <a:latin typeface="Arial" pitchFamily="34" charset="0"/>
                <a:ea typeface="Arial" pitchFamily="34" charset="-122"/>
                <a:cs typeface="Arial" pitchFamily="34" charset="-120"/>
              </a:rPr>
              <a:t>HOOK · 5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4A2C6F"/>
                </a:solidFill>
                <a:latin typeface="Georgia" pitchFamily="34" charset="0"/>
                <a:ea typeface="Georgia" pitchFamily="34" charset="-122"/>
                <a:cs typeface="Georgia" pitchFamily="34" charset="-120"/>
              </a:rPr>
              <a:t>Three famous scientists. Twenty seconds.</a:t>
            </a:r>
            <a:endParaRPr lang="en-US" sz="3000" dirty="0"/>
          </a:p>
        </p:txBody>
      </p:sp>
      <p:grpSp>
        <p:nvGrpSpPr>
          <p:cNvPr id="22" name="hb"/>
          <p:cNvGrpSpPr/>
          <p:nvPr/>
        </p:nvGrpSpPr>
        <p:grpSpPr>
          <a:xfrm>
            <a:off x="502920" y="2066544"/>
            <a:ext cx="11185855" cy="841248"/>
            <a:chOff x="502920" y="2066544"/>
            <a:chExt cx="11185855" cy="841248"/>
          </a:xfrm>
        </p:grpSpPr>
        <p:sp>
          <p:nvSpPr>
            <p:cNvPr id="4" name="hb0_bg"/>
            <p:cNvSpPr/>
            <p:nvPr/>
          </p:nvSpPr>
          <p:spPr>
            <a:xfrm>
              <a:off x="502920" y="2066544"/>
              <a:ext cx="3545738" cy="841248"/>
            </a:xfrm>
            <a:prstGeom prst="roundRect">
              <a:avLst>
                <a:gd name="adj" fmla="val 15217"/>
              </a:avLst>
            </a:prstGeom>
            <a:solidFill>
              <a:srgbClr val="FFFFFF"/>
            </a:solidFill>
            <a:ln w="15875">
              <a:solidFill>
                <a:srgbClr val="E3DAF0"/>
              </a:solidFill>
              <a:prstDash val="solid"/>
            </a:ln>
          </p:spPr>
        </p:sp>
        <p:sp>
          <p:nvSpPr>
            <p:cNvPr id="5" name="hb0_n"/>
            <p:cNvSpPr txBox="1"/>
            <p:nvPr/>
          </p:nvSpPr>
          <p:spPr>
            <a:xfrm>
              <a:off x="722376" y="2066544"/>
              <a:ext cx="457200" cy="841248"/>
            </a:xfrm>
            <a:prstGeom prst="rect">
              <a:avLst/>
            </a:prstGeom>
            <a:noFill/>
            <a:ln/>
          </p:spPr>
          <p:txBody>
            <a:bodyPr wrap="square" lIns="0" tIns="0" rIns="0" bIns="0" rtlCol="0" anchor="ctr"/>
            <a:lstStyle/>
            <a:p>
              <a:pPr indent="0" marL="0">
                <a:buNone/>
              </a:pPr>
              <a:r>
                <a:rPr lang="en-US" sz="2200" b="1" dirty="0">
                  <a:solidFill>
                    <a:srgbClr val="F2A03D"/>
                  </a:solidFill>
                  <a:latin typeface="Georgia" pitchFamily="34" charset="0"/>
                  <a:ea typeface="Georgia" pitchFamily="34" charset="-122"/>
                  <a:cs typeface="Georgia" pitchFamily="34" charset="-120"/>
                </a:rPr>
                <a:t>1.</a:t>
              </a:r>
              <a:endParaRPr lang="en-US" sz="2200" dirty="0"/>
            </a:p>
          </p:txBody>
        </p:sp>
        <p:sp>
          <p:nvSpPr>
            <p:cNvPr id="6" name="hb1_bg"/>
            <p:cNvSpPr/>
            <p:nvPr/>
          </p:nvSpPr>
          <p:spPr>
            <a:xfrm>
              <a:off x="4322978" y="2066544"/>
              <a:ext cx="3545738" cy="841248"/>
            </a:xfrm>
            <a:prstGeom prst="roundRect">
              <a:avLst>
                <a:gd name="adj" fmla="val 15217"/>
              </a:avLst>
            </a:prstGeom>
            <a:solidFill>
              <a:srgbClr val="FFFFFF"/>
            </a:solidFill>
            <a:ln w="15875">
              <a:solidFill>
                <a:srgbClr val="E3DAF0"/>
              </a:solidFill>
              <a:prstDash val="solid"/>
            </a:ln>
          </p:spPr>
        </p:sp>
        <p:sp>
          <p:nvSpPr>
            <p:cNvPr id="7" name="hb1_n"/>
            <p:cNvSpPr txBox="1"/>
            <p:nvPr/>
          </p:nvSpPr>
          <p:spPr>
            <a:xfrm>
              <a:off x="4542434" y="2066544"/>
              <a:ext cx="457200" cy="841248"/>
            </a:xfrm>
            <a:prstGeom prst="rect">
              <a:avLst/>
            </a:prstGeom>
            <a:noFill/>
            <a:ln/>
          </p:spPr>
          <p:txBody>
            <a:bodyPr wrap="square" lIns="0" tIns="0" rIns="0" bIns="0" rtlCol="0" anchor="ctr"/>
            <a:lstStyle/>
            <a:p>
              <a:pPr indent="0" marL="0">
                <a:buNone/>
              </a:pPr>
              <a:r>
                <a:rPr lang="en-US" sz="2200" b="1" dirty="0">
                  <a:solidFill>
                    <a:srgbClr val="F2A03D"/>
                  </a:solidFill>
                  <a:latin typeface="Georgia" pitchFamily="34" charset="0"/>
                  <a:ea typeface="Georgia" pitchFamily="34" charset="-122"/>
                  <a:cs typeface="Georgia" pitchFamily="34" charset="-120"/>
                </a:rPr>
                <a:t>2.</a:t>
              </a:r>
              <a:endParaRPr lang="en-US" sz="2200" dirty="0"/>
            </a:p>
          </p:txBody>
        </p:sp>
        <p:sp>
          <p:nvSpPr>
            <p:cNvPr id="8" name="hb2_bg"/>
            <p:cNvSpPr/>
            <p:nvPr/>
          </p:nvSpPr>
          <p:spPr>
            <a:xfrm>
              <a:off x="8143037" y="2066544"/>
              <a:ext cx="3545738" cy="841248"/>
            </a:xfrm>
            <a:prstGeom prst="roundRect">
              <a:avLst>
                <a:gd name="adj" fmla="val 15217"/>
              </a:avLst>
            </a:prstGeom>
            <a:solidFill>
              <a:srgbClr val="FFFFFF"/>
            </a:solidFill>
            <a:ln w="15875">
              <a:solidFill>
                <a:srgbClr val="E3DAF0"/>
              </a:solidFill>
              <a:prstDash val="solid"/>
            </a:ln>
          </p:spPr>
        </p:sp>
        <p:sp>
          <p:nvSpPr>
            <p:cNvPr id="9" name="hb2_n"/>
            <p:cNvSpPr txBox="1"/>
            <p:nvPr/>
          </p:nvSpPr>
          <p:spPr>
            <a:xfrm>
              <a:off x="8362493" y="2066544"/>
              <a:ext cx="457200" cy="841248"/>
            </a:xfrm>
            <a:prstGeom prst="rect">
              <a:avLst/>
            </a:prstGeom>
            <a:noFill/>
            <a:ln/>
          </p:spPr>
          <p:txBody>
            <a:bodyPr wrap="square" lIns="0" tIns="0" rIns="0" bIns="0" rtlCol="0" anchor="ctr"/>
            <a:lstStyle/>
            <a:p>
              <a:pPr indent="0" marL="0">
                <a:buNone/>
              </a:pPr>
              <a:r>
                <a:rPr lang="en-US" sz="2200" b="1" dirty="0">
                  <a:solidFill>
                    <a:srgbClr val="F2A03D"/>
                  </a:solidFill>
                  <a:latin typeface="Georgia" pitchFamily="34" charset="0"/>
                  <a:ea typeface="Georgia" pitchFamily="34" charset="-122"/>
                  <a:cs typeface="Georgia" pitchFamily="34" charset="-120"/>
                </a:rPr>
                <a:t>3.</a:t>
              </a:r>
              <a:endParaRPr lang="en-US" sz="2200" dirty="0"/>
            </a:p>
          </p:txBody>
        </p:sp>
      </p:grpSp>
      <p:sp>
        <p:nvSpPr>
          <p:cNvPr id="10" name="hook_count"/>
          <p:cNvSpPr txBox="1"/>
          <p:nvPr/>
        </p:nvSpPr>
        <p:spPr>
          <a:xfrm>
            <a:off x="502920" y="3108960"/>
            <a:ext cx="11185855" cy="402336"/>
          </a:xfrm>
          <a:prstGeom prst="rect">
            <a:avLst/>
          </a:prstGeom>
          <a:noFill/>
          <a:ln/>
        </p:spPr>
        <p:txBody>
          <a:bodyPr wrap="square" lIns="0" tIns="0" rIns="0" bIns="0" rtlCol="0" anchor="ctr"/>
          <a:lstStyle/>
          <a:p>
            <a:pPr indent="0" marL="0">
              <a:buNone/>
            </a:pPr>
            <a:r>
              <a:rPr lang="en-US" sz="1500" b="1" dirty="0">
                <a:solidFill>
                  <a:srgbClr val="4A2C6F"/>
                </a:solidFill>
                <a:latin typeface="Arial" pitchFamily="34" charset="0"/>
                <a:ea typeface="Arial" pitchFamily="34" charset="-122"/>
                <a:cs typeface="Arial" pitchFamily="34" charset="-120"/>
              </a:rPr>
              <a:t>Now count. How many are women? How many are from outside Europe and North America?</a:t>
            </a:r>
            <a:endParaRPr lang="en-US" sz="1500" dirty="0"/>
          </a:p>
        </p:txBody>
      </p:sp>
      <p:sp>
        <p:nvSpPr>
          <p:cNvPr id="11" name="hook_q"/>
          <p:cNvSpPr txBox="1"/>
          <p:nvPr/>
        </p:nvSpPr>
        <p:spPr>
          <a:xfrm>
            <a:off x="502920" y="3602736"/>
            <a:ext cx="11185855" cy="457200"/>
          </a:xfrm>
          <a:prstGeom prst="rect">
            <a:avLst/>
          </a:prstGeom>
          <a:noFill/>
          <a:ln/>
        </p:spPr>
        <p:txBody>
          <a:bodyPr wrap="square" lIns="0" tIns="0" rIns="0" bIns="0" rtlCol="0" anchor="ctr"/>
          <a:lstStyle/>
          <a:p>
            <a:pPr indent="0" marL="0">
              <a:buNone/>
            </a:pPr>
            <a:r>
              <a:rPr lang="en-US" sz="2200" b="1" dirty="0">
                <a:solidFill>
                  <a:srgbClr val="4A2C6F"/>
                </a:solidFill>
                <a:latin typeface="Georgia" pitchFamily="34" charset="0"/>
                <a:ea typeface="Georgia" pitchFamily="34" charset="-122"/>
                <a:cs typeface="Georgia" pitchFamily="34" charset="-120"/>
              </a:rPr>
              <a:t>Why is nearly everybody’s list the same?</a:t>
            </a:r>
            <a:endParaRPr lang="en-US" sz="2200" dirty="0"/>
          </a:p>
        </p:txBody>
      </p:sp>
      <p:grpSp>
        <p:nvGrpSpPr>
          <p:cNvPr id="23" name="hook_opt0"/>
          <p:cNvGrpSpPr/>
          <p:nvPr/>
        </p:nvGrpSpPr>
        <p:grpSpPr>
          <a:xfrm>
            <a:off x="1965960" y="4169664"/>
            <a:ext cx="8259775" cy="512064"/>
            <a:chOff x="1965960" y="4169664"/>
            <a:chExt cx="8259775" cy="512064"/>
          </a:xfrm>
        </p:grpSpPr>
        <p:sp>
          <p:nvSpPr>
            <p:cNvPr id="12" name="hook_opt0_bg"/>
            <p:cNvSpPr/>
            <p:nvPr/>
          </p:nvSpPr>
          <p:spPr>
            <a:xfrm>
              <a:off x="1965960" y="4169664"/>
              <a:ext cx="8259775" cy="512064"/>
            </a:xfrm>
            <a:prstGeom prst="roundRect">
              <a:avLst>
                <a:gd name="adj" fmla="val 25000"/>
              </a:avLst>
            </a:prstGeom>
            <a:solidFill>
              <a:srgbClr val="FFFFFF"/>
            </a:solidFill>
            <a:ln w="15875">
              <a:solidFill>
                <a:srgbClr val="E3DAF0"/>
              </a:solidFill>
              <a:prstDash val="solid"/>
            </a:ln>
          </p:spPr>
        </p:sp>
        <p:sp>
          <p:nvSpPr>
            <p:cNvPr id="13" name="hook_opt0_k"/>
            <p:cNvSpPr txBox="1"/>
            <p:nvPr/>
          </p:nvSpPr>
          <p:spPr>
            <a:xfrm>
              <a:off x="2148840" y="4169664"/>
              <a:ext cx="292608" cy="512064"/>
            </a:xfrm>
            <a:prstGeom prst="rect">
              <a:avLst/>
            </a:prstGeom>
            <a:noFill/>
            <a:ln/>
          </p:spPr>
          <p:txBody>
            <a:bodyPr wrap="square" lIns="0" tIns="0" rIns="0" bIns="0" rtlCol="0" anchor="ctr"/>
            <a:lstStyle/>
            <a:p>
              <a:pPr indent="0" marL="0">
                <a:buNone/>
              </a:pPr>
              <a:r>
                <a:rPr lang="en-US" sz="1400" b="1" dirty="0">
                  <a:solidFill>
                    <a:srgbClr val="D94F6A"/>
                  </a:solidFill>
                  <a:latin typeface="Arial" pitchFamily="34" charset="0"/>
                  <a:ea typeface="Arial" pitchFamily="34" charset="-122"/>
                  <a:cs typeface="Arial" pitchFamily="34" charset="-120"/>
                </a:rPr>
                <a:t>A</a:t>
              </a:r>
              <a:endParaRPr lang="en-US" sz="1400" dirty="0"/>
            </a:p>
          </p:txBody>
        </p:sp>
        <p:sp>
          <p:nvSpPr>
            <p:cNvPr id="14" name="hook_opt0_t"/>
            <p:cNvSpPr txBox="1"/>
            <p:nvPr/>
          </p:nvSpPr>
          <p:spPr>
            <a:xfrm>
              <a:off x="2514600" y="4169664"/>
              <a:ext cx="7528255" cy="512064"/>
            </a:xfrm>
            <a:prstGeom prst="rect">
              <a:avLst/>
            </a:prstGeom>
            <a:noFill/>
            <a:ln/>
          </p:spPr>
          <p:txBody>
            <a:bodyPr wrap="square" lIns="0" tIns="0" rIns="0" bIns="0" rtlCol="0" anchor="ctr"/>
            <a:lstStyle/>
            <a:p>
              <a:pPr indent="0" marL="0">
                <a:buNone/>
              </a:pPr>
              <a:r>
                <a:rPr lang="en-US" sz="1350" dirty="0">
                  <a:solidFill>
                    <a:srgbClr val="241535"/>
                  </a:solidFill>
                  <a:latin typeface="Arial" pitchFamily="34" charset="0"/>
                  <a:ea typeface="Arial" pitchFamily="34" charset="-122"/>
                  <a:cs typeface="Arial" pitchFamily="34" charset="-120"/>
                </a:rPr>
                <a:t>There were no other scientists.</a:t>
              </a:r>
              <a:endParaRPr lang="en-US" sz="1350" dirty="0"/>
            </a:p>
          </p:txBody>
        </p:sp>
      </p:grpSp>
      <p:grpSp>
        <p:nvGrpSpPr>
          <p:cNvPr id="24" name="hook_opt1"/>
          <p:cNvGrpSpPr/>
          <p:nvPr/>
        </p:nvGrpSpPr>
        <p:grpSpPr>
          <a:xfrm>
            <a:off x="1965960" y="4809744"/>
            <a:ext cx="8259775" cy="512064"/>
            <a:chOff x="1965960" y="4809744"/>
            <a:chExt cx="8259775" cy="512064"/>
          </a:xfrm>
        </p:grpSpPr>
        <p:sp>
          <p:nvSpPr>
            <p:cNvPr id="15" name="hook_opt1_bg"/>
            <p:cNvSpPr/>
            <p:nvPr/>
          </p:nvSpPr>
          <p:spPr>
            <a:xfrm>
              <a:off x="1965960" y="4809744"/>
              <a:ext cx="8259775" cy="512064"/>
            </a:xfrm>
            <a:prstGeom prst="roundRect">
              <a:avLst>
                <a:gd name="adj" fmla="val 25000"/>
              </a:avLst>
            </a:prstGeom>
            <a:solidFill>
              <a:srgbClr val="FFFFFF"/>
            </a:solidFill>
            <a:ln w="15875">
              <a:solidFill>
                <a:srgbClr val="E3DAF0"/>
              </a:solidFill>
              <a:prstDash val="solid"/>
            </a:ln>
          </p:spPr>
        </p:sp>
        <p:sp>
          <p:nvSpPr>
            <p:cNvPr id="16" name="hook_opt1_k"/>
            <p:cNvSpPr txBox="1"/>
            <p:nvPr/>
          </p:nvSpPr>
          <p:spPr>
            <a:xfrm>
              <a:off x="2148840" y="4809744"/>
              <a:ext cx="292608" cy="512064"/>
            </a:xfrm>
            <a:prstGeom prst="rect">
              <a:avLst/>
            </a:prstGeom>
            <a:noFill/>
            <a:ln/>
          </p:spPr>
          <p:txBody>
            <a:bodyPr wrap="square" lIns="0" tIns="0" rIns="0" bIns="0" rtlCol="0" anchor="ctr"/>
            <a:lstStyle/>
            <a:p>
              <a:pPr indent="0" marL="0">
                <a:buNone/>
              </a:pPr>
              <a:r>
                <a:rPr lang="en-US" sz="1400" b="1" dirty="0">
                  <a:solidFill>
                    <a:srgbClr val="D94F6A"/>
                  </a:solidFill>
                  <a:latin typeface="Arial" pitchFamily="34" charset="0"/>
                  <a:ea typeface="Arial" pitchFamily="34" charset="-122"/>
                  <a:cs typeface="Arial" pitchFamily="34" charset="-120"/>
                </a:rPr>
                <a:t>B</a:t>
              </a:r>
              <a:endParaRPr lang="en-US" sz="1400" dirty="0"/>
            </a:p>
          </p:txBody>
        </p:sp>
        <p:sp>
          <p:nvSpPr>
            <p:cNvPr id="17" name="hook_opt1_t"/>
            <p:cNvSpPr txBox="1"/>
            <p:nvPr/>
          </p:nvSpPr>
          <p:spPr>
            <a:xfrm>
              <a:off x="2514600" y="4809744"/>
              <a:ext cx="7528255" cy="512064"/>
            </a:xfrm>
            <a:prstGeom prst="rect">
              <a:avLst/>
            </a:prstGeom>
            <a:noFill/>
            <a:ln/>
          </p:spPr>
          <p:txBody>
            <a:bodyPr wrap="square" lIns="0" tIns="0" rIns="0" bIns="0" rtlCol="0" anchor="ctr"/>
            <a:lstStyle/>
            <a:p>
              <a:pPr indent="0" marL="0">
                <a:buNone/>
              </a:pPr>
              <a:r>
                <a:rPr lang="en-US" sz="1350" dirty="0">
                  <a:solidFill>
                    <a:srgbClr val="241535"/>
                  </a:solidFill>
                  <a:latin typeface="Arial" pitchFamily="34" charset="0"/>
                  <a:ea typeface="Arial" pitchFamily="34" charset="-122"/>
                  <a:cs typeface="Arial" pitchFamily="34" charset="-120"/>
                </a:rPr>
                <a:t>There were. Their names were not written down.</a:t>
              </a:r>
              <a:endParaRPr lang="en-US" sz="1350" dirty="0"/>
            </a:p>
          </p:txBody>
        </p:sp>
      </p:grpSp>
      <p:grpSp>
        <p:nvGrpSpPr>
          <p:cNvPr id="25" name="hook_opt2"/>
          <p:cNvGrpSpPr/>
          <p:nvPr/>
        </p:nvGrpSpPr>
        <p:grpSpPr>
          <a:xfrm>
            <a:off x="1965960" y="5449824"/>
            <a:ext cx="8259775" cy="512064"/>
            <a:chOff x="1965960" y="5449824"/>
            <a:chExt cx="8259775" cy="512064"/>
          </a:xfrm>
        </p:grpSpPr>
        <p:sp>
          <p:nvSpPr>
            <p:cNvPr id="18" name="hook_opt2_bg"/>
            <p:cNvSpPr/>
            <p:nvPr/>
          </p:nvSpPr>
          <p:spPr>
            <a:xfrm>
              <a:off x="1965960" y="5449824"/>
              <a:ext cx="8259775" cy="512064"/>
            </a:xfrm>
            <a:prstGeom prst="roundRect">
              <a:avLst>
                <a:gd name="adj" fmla="val 25000"/>
              </a:avLst>
            </a:prstGeom>
            <a:solidFill>
              <a:srgbClr val="FFFFFF"/>
            </a:solidFill>
            <a:ln w="15875">
              <a:solidFill>
                <a:srgbClr val="E3DAF0"/>
              </a:solidFill>
              <a:prstDash val="solid"/>
            </a:ln>
          </p:spPr>
        </p:sp>
        <p:sp>
          <p:nvSpPr>
            <p:cNvPr id="19" name="hook_opt2_k"/>
            <p:cNvSpPr txBox="1"/>
            <p:nvPr/>
          </p:nvSpPr>
          <p:spPr>
            <a:xfrm>
              <a:off x="2148840" y="5449824"/>
              <a:ext cx="292608" cy="512064"/>
            </a:xfrm>
            <a:prstGeom prst="rect">
              <a:avLst/>
            </a:prstGeom>
            <a:noFill/>
            <a:ln/>
          </p:spPr>
          <p:txBody>
            <a:bodyPr wrap="square" lIns="0" tIns="0" rIns="0" bIns="0" rtlCol="0" anchor="ctr"/>
            <a:lstStyle/>
            <a:p>
              <a:pPr indent="0" marL="0">
                <a:buNone/>
              </a:pPr>
              <a:r>
                <a:rPr lang="en-US" sz="1400" b="1" dirty="0">
                  <a:solidFill>
                    <a:srgbClr val="D94F6A"/>
                  </a:solidFill>
                  <a:latin typeface="Arial" pitchFamily="34" charset="0"/>
                  <a:ea typeface="Arial" pitchFamily="34" charset="-122"/>
                  <a:cs typeface="Arial" pitchFamily="34" charset="-120"/>
                </a:rPr>
                <a:t>C</a:t>
              </a:r>
              <a:endParaRPr lang="en-US" sz="1400" dirty="0"/>
            </a:p>
          </p:txBody>
        </p:sp>
        <p:sp>
          <p:nvSpPr>
            <p:cNvPr id="20" name="hook_opt2_t"/>
            <p:cNvSpPr txBox="1"/>
            <p:nvPr/>
          </p:nvSpPr>
          <p:spPr>
            <a:xfrm>
              <a:off x="2514600" y="5449824"/>
              <a:ext cx="7528255" cy="512064"/>
            </a:xfrm>
            <a:prstGeom prst="rect">
              <a:avLst/>
            </a:prstGeom>
            <a:noFill/>
            <a:ln/>
          </p:spPr>
          <p:txBody>
            <a:bodyPr wrap="square" lIns="0" tIns="0" rIns="0" bIns="0" rtlCol="0" anchor="ctr"/>
            <a:lstStyle/>
            <a:p>
              <a:pPr indent="0" marL="0">
                <a:buNone/>
              </a:pPr>
              <a:r>
                <a:rPr lang="en-US" sz="1350" dirty="0">
                  <a:solidFill>
                    <a:srgbClr val="241535"/>
                  </a:solidFill>
                  <a:latin typeface="Arial" pitchFamily="34" charset="0"/>
                  <a:ea typeface="Arial" pitchFamily="34" charset="-122"/>
                  <a:cs typeface="Arial" pitchFamily="34" charset="-120"/>
                </a:rPr>
                <a:t>Science only happened in Europe.</a:t>
              </a:r>
              <a:endParaRPr lang="en-US" sz="1350" dirty="0"/>
            </a:p>
          </p:txBody>
        </p:sp>
      </p:grpSp>
      <p:sp>
        <p:nvSpPr>
          <p:cNvPr id="21" name="footer_note"/>
          <p:cNvSpPr txBox="1"/>
          <p:nvPr/>
        </p:nvSpPr>
        <p:spPr>
          <a:xfrm>
            <a:off x="502920" y="6382512"/>
            <a:ext cx="11185855" cy="292608"/>
          </a:xfrm>
          <a:prstGeom prst="rect">
            <a:avLst/>
          </a:prstGeom>
          <a:noFill/>
          <a:ln/>
        </p:spPr>
        <p:txBody>
          <a:bodyPr wrap="square" lIns="0" tIns="0" rIns="0" bIns="0" rtlCol="0" anchor="ctr"/>
          <a:lstStyle/>
          <a:p>
            <a:pPr algn="l" indent="0" marL="0">
              <a:buNone/>
            </a:pPr>
            <a:r>
              <a:rPr lang="en-US" sz="1050" i="1" dirty="0">
                <a:solidFill>
                  <a:srgbClr val="6A6180"/>
                </a:solidFill>
                <a:latin typeface="Arial" pitchFamily="34" charset="0"/>
                <a:ea typeface="Arial" pitchFamily="34" charset="-122"/>
                <a:cs typeface="Arial" pitchFamily="34" charset="-120"/>
              </a:rPr>
              <a:t>Vote. We come back to this at the end.</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2"/>
                                        </p:tgtEl>
                                        <p:attrNameLst>
                                          <p:attrName>style.visibility</p:attrName>
                                        </p:attrNameLst>
                                      </p:cBhvr>
                                      <p:to>
                                        <p:strVal val="visible"/>
                                      </p:to>
                                    </p:set>
                                    <p:animEffect transition="in" filter="fade">
                                      <p:cBhvr>
                                        <p:cTn id="4" dur="4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4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4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0" presetID="10"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3" presetID="10" presetClass="entr" presetSubtype="0" fill="hold" grpId="0" nodeType="withEffect">
                                  <p:stCondLst>
                                    <p:cond delay="15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par>
                                <p:cTn id="26" presetID="10" presetClass="entr" presetSubtype="0" fill="hold" grpId="0" nodeType="withEffect">
                                  <p:stCondLst>
                                    <p:cond delay="30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FB"/>
        </a:solidFill>
      </p:bgPr>
    </p:bg>
    <p:spTree>
      <p:nvGrpSpPr>
        <p:cNvPr id="1" name=""/>
        <p:cNvGrpSpPr/>
        <p:nvPr/>
      </p:nvGrpSpPr>
      <p:grpSpPr>
        <a:xfrm>
          <a:off x="0" y="0"/>
          <a:ext cx="0" cy="0"/>
          <a:chOff x="0" y="0"/>
          <a:chExt cx="0" cy="0"/>
        </a:xfrm>
      </p:grpSpPr>
      <p:sp>
        <p:nvSpPr>
          <p:cNvPr id="2" name="phase_pill"/>
          <p:cNvSpPr/>
          <p:nvPr/>
        </p:nvSpPr>
        <p:spPr>
          <a:xfrm>
            <a:off x="502920" y="274320"/>
            <a:ext cx="2139696" cy="347472"/>
          </a:xfrm>
          <a:prstGeom prst="roundRect">
            <a:avLst>
              <a:gd name="adj" fmla="val 50000"/>
            </a:avLst>
          </a:prstGeom>
          <a:solidFill>
            <a:srgbClr val="4A2C6F"/>
          </a:solidFill>
          <a:ln/>
        </p:spPr>
        <p:txBody>
          <a:bodyPr wrap="square" lIns="0" tIns="0" rIns="0" bIns="0" rtlCol="0" anchor="ctr"/>
          <a:lstStyle/>
          <a:p>
            <a:pPr algn="ctr" indent="0" marL="0">
              <a:buNone/>
            </a:pPr>
            <a:r>
              <a:rPr lang="en-US" sz="1100" b="1" spc="110" kern="0" dirty="0">
                <a:solidFill>
                  <a:srgbClr val="F7F4FB"/>
                </a:solidFill>
                <a:latin typeface="Arial" pitchFamily="34" charset="0"/>
                <a:ea typeface="Arial" pitchFamily="34" charset="-122"/>
                <a:cs typeface="Arial" pitchFamily="34" charset="-120"/>
              </a:rPr>
              <a:t>I DO · 5 MIN</a:t>
            </a:r>
            <a:endParaRPr lang="en-US" sz="1100" dirty="0"/>
          </a:p>
        </p:txBody>
      </p:sp>
      <p:sp>
        <p:nvSpPr>
          <p:cNvPr id="3" name="keyword_strip"/>
          <p:cNvSpPr txBox="1"/>
          <p:nvPr/>
        </p:nvSpPr>
        <p:spPr>
          <a:xfrm>
            <a:off x="5836615" y="274320"/>
            <a:ext cx="5852160" cy="347472"/>
          </a:xfrm>
          <a:prstGeom prst="rect">
            <a:avLst/>
          </a:prstGeom>
          <a:noFill/>
          <a:ln/>
        </p:spPr>
        <p:txBody>
          <a:bodyPr wrap="square" lIns="0" tIns="0" rIns="0" bIns="0" rtlCol="0" anchor="ctr"/>
          <a:lstStyle/>
          <a:p>
            <a:pPr algn="r" indent="0" marL="0">
              <a:buNone/>
            </a:pPr>
            <a:r>
              <a:rPr lang="en-US" sz="1150" b="1" i="1" dirty="0">
                <a:solidFill>
                  <a:srgbClr val="2BA6A0"/>
                </a:solidFill>
                <a:latin typeface="Arial" pitchFamily="34" charset="0"/>
                <a:ea typeface="Arial" pitchFamily="34" charset="-122"/>
                <a:cs typeface="Arial" pitchFamily="34" charset="-120"/>
              </a:rPr>
              <a:t>milestone</a:t>
            </a:r>
            <a:endParaRPr lang="en-US" sz="1150" dirty="0"/>
          </a:p>
        </p:txBody>
      </p:sp>
      <p:sp>
        <p:nvSpPr>
          <p:cNvPr id="4"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4A2C6F"/>
                </a:solidFill>
                <a:latin typeface="Georgia" pitchFamily="34" charset="0"/>
                <a:ea typeface="Georgia" pitchFamily="34" charset="-122"/>
                <a:cs typeface="Georgia" pitchFamily="34" charset="-120"/>
              </a:rPr>
              <a:t>A thousand years, six moments</a:t>
            </a:r>
            <a:endParaRPr lang="en-US" sz="3000" dirty="0"/>
          </a:p>
        </p:txBody>
      </p:sp>
      <p:sp>
        <p:nvSpPr>
          <p:cNvPr id="5" name="tl_rail"/>
          <p:cNvSpPr/>
          <p:nvPr/>
        </p:nvSpPr>
        <p:spPr>
          <a:xfrm>
            <a:off x="502920" y="2834640"/>
            <a:ext cx="11185855" cy="54864"/>
          </a:xfrm>
          <a:prstGeom prst="rect">
            <a:avLst/>
          </a:prstGeom>
          <a:solidFill>
            <a:srgbClr val="E3DAF0"/>
          </a:solidFill>
          <a:ln w="12700">
            <a:solidFill>
              <a:srgbClr val="E3DAF0"/>
            </a:solidFill>
            <a:prstDash val="solid"/>
          </a:ln>
        </p:spPr>
      </p:sp>
      <p:grpSp>
        <p:nvGrpSpPr>
          <p:cNvPr id="37" name="tl0"/>
          <p:cNvGrpSpPr/>
          <p:nvPr/>
        </p:nvGrpSpPr>
        <p:grpSpPr>
          <a:xfrm>
            <a:off x="502920" y="2121408"/>
            <a:ext cx="1742389" cy="2651760"/>
            <a:chOff x="502920" y="2121408"/>
            <a:chExt cx="1742389" cy="2651760"/>
          </a:xfrm>
        </p:grpSpPr>
        <p:pic>
          <p:nvPicPr>
            <p:cNvPr id="6" name="tl0_icon" descr="/home/claude/build/img_y7/book_support.png">    </p:cNvPr>
            <p:cNvPicPr>
              <a:picLocks noChangeAspect="1"/>
            </p:cNvPicPr>
            <p:nvPr/>
          </p:nvPicPr>
          <p:blipFill>
            <a:blip r:embed="rId1"/>
            <a:stretch>
              <a:fillRect/>
            </a:stretch>
          </p:blipFill>
          <p:spPr>
            <a:xfrm>
              <a:off x="1090651" y="2121408"/>
              <a:ext cx="566928" cy="566928"/>
            </a:xfrm>
            <a:prstGeom prst="rect">
              <a:avLst/>
            </a:prstGeom>
          </p:spPr>
        </p:pic>
        <p:sp>
          <p:nvSpPr>
            <p:cNvPr id="7" name="tl0_dot"/>
            <p:cNvSpPr/>
            <p:nvPr/>
          </p:nvSpPr>
          <p:spPr>
            <a:xfrm>
              <a:off x="1291819" y="2779776"/>
              <a:ext cx="164592" cy="164592"/>
            </a:xfrm>
            <a:prstGeom prst="ellipse">
              <a:avLst/>
            </a:prstGeom>
            <a:solidFill>
              <a:srgbClr val="2BA6A0"/>
            </a:solidFill>
            <a:ln w="17780">
              <a:solidFill>
                <a:srgbClr val="FFFFFF"/>
              </a:solidFill>
              <a:prstDash val="solid"/>
            </a:ln>
          </p:spPr>
        </p:sp>
        <p:sp>
          <p:nvSpPr>
            <p:cNvPr id="8" name="tl0_d"/>
            <p:cNvSpPr txBox="1"/>
            <p:nvPr/>
          </p:nvSpPr>
          <p:spPr>
            <a:xfrm>
              <a:off x="502920" y="3017520"/>
              <a:ext cx="1742389" cy="310896"/>
            </a:xfrm>
            <a:prstGeom prst="rect">
              <a:avLst/>
            </a:prstGeom>
            <a:noFill/>
            <a:ln/>
          </p:spPr>
          <p:txBody>
            <a:bodyPr wrap="square" lIns="0" tIns="0" rIns="0" bIns="0" rtlCol="0" anchor="ctr"/>
            <a:lstStyle/>
            <a:p>
              <a:pPr algn="ctr" indent="0" marL="0">
                <a:buNone/>
              </a:pPr>
              <a:r>
                <a:rPr lang="en-US" sz="1400" b="1" dirty="0">
                  <a:solidFill>
                    <a:srgbClr val="2BA6A0"/>
                  </a:solidFill>
                  <a:latin typeface="Georgia" pitchFamily="34" charset="0"/>
                  <a:ea typeface="Georgia" pitchFamily="34" charset="-122"/>
                  <a:cs typeface="Georgia" pitchFamily="34" charset="-120"/>
                </a:rPr>
                <a:t>about 1020</a:t>
              </a:r>
              <a:endParaRPr lang="en-US" sz="1400" dirty="0"/>
            </a:p>
          </p:txBody>
        </p:sp>
        <p:sp>
          <p:nvSpPr>
            <p:cNvPr id="9" name="tl0_w"/>
            <p:cNvSpPr txBox="1"/>
            <p:nvPr/>
          </p:nvSpPr>
          <p:spPr>
            <a:xfrm>
              <a:off x="502920" y="3328416"/>
              <a:ext cx="1742389" cy="402336"/>
            </a:xfrm>
            <a:prstGeom prst="rect">
              <a:avLst/>
            </a:prstGeom>
            <a:noFill/>
            <a:ln/>
          </p:spPr>
          <p:txBody>
            <a:bodyPr wrap="square" lIns="0" tIns="0" rIns="0" bIns="0" rtlCol="0" anchor="t"/>
            <a:lstStyle/>
            <a:p>
              <a:pPr algn="ctr" indent="0" marL="0">
                <a:lnSpc>
                  <a:spcPts val="1400"/>
                </a:lnSpc>
                <a:buNone/>
              </a:pPr>
              <a:r>
                <a:rPr lang="en-US" sz="1150" b="1" dirty="0">
                  <a:solidFill>
                    <a:srgbClr val="4A2C6F"/>
                  </a:solidFill>
                  <a:latin typeface="Arial" pitchFamily="34" charset="0"/>
                  <a:ea typeface="Arial" pitchFamily="34" charset="-122"/>
                  <a:cs typeface="Arial" pitchFamily="34" charset="-120"/>
                </a:rPr>
                <a:t>Ibn al-Haytham</a:t>
              </a:r>
              <a:endParaRPr lang="en-US" sz="1150" dirty="0"/>
            </a:p>
          </p:txBody>
        </p:sp>
        <p:sp>
          <p:nvSpPr>
            <p:cNvPr id="10" name="tl0_t"/>
            <p:cNvSpPr txBox="1"/>
            <p:nvPr/>
          </p:nvSpPr>
          <p:spPr>
            <a:xfrm>
              <a:off x="539496" y="3767328"/>
              <a:ext cx="1669237" cy="1005840"/>
            </a:xfrm>
            <a:prstGeom prst="rect">
              <a:avLst/>
            </a:prstGeom>
            <a:noFill/>
            <a:ln/>
          </p:spPr>
          <p:txBody>
            <a:bodyPr wrap="square" lIns="0" tIns="0" rIns="0" bIns="0" rtlCol="0" anchor="t"/>
            <a:lstStyle/>
            <a:p>
              <a:pPr algn="ctr" indent="0" marL="0">
                <a:lnSpc>
                  <a:spcPts val="1300"/>
                </a:lnSpc>
                <a:buNone/>
              </a:pPr>
              <a:r>
                <a:rPr lang="en-US" sz="1000" dirty="0">
                  <a:solidFill>
                    <a:srgbClr val="6A6180"/>
                  </a:solidFill>
                  <a:latin typeface="Arial" pitchFamily="34" charset="0"/>
                  <a:ea typeface="Arial" pitchFamily="34" charset="-122"/>
                  <a:cs typeface="Arial" pitchFamily="34" charset="-120"/>
                </a:rPr>
                <a:t>Writes about light — and insists on testing ideas, not just arguing.</a:t>
              </a:r>
              <a:endParaRPr lang="en-US" sz="1000" dirty="0"/>
            </a:p>
          </p:txBody>
        </p:sp>
      </p:grpSp>
      <p:grpSp>
        <p:nvGrpSpPr>
          <p:cNvPr id="38" name="tl1"/>
          <p:cNvGrpSpPr/>
          <p:nvPr/>
        </p:nvGrpSpPr>
        <p:grpSpPr>
          <a:xfrm>
            <a:off x="2391613" y="2121408"/>
            <a:ext cx="1742389" cy="2651760"/>
            <a:chOff x="2391613" y="2121408"/>
            <a:chExt cx="1742389" cy="2651760"/>
          </a:xfrm>
        </p:grpSpPr>
        <p:pic>
          <p:nvPicPr>
            <p:cNvPr id="11" name="tl1_icon" descr="/home/claude/build/img_y7/sun_support.png">    </p:cNvPr>
            <p:cNvPicPr>
              <a:picLocks noChangeAspect="1"/>
            </p:cNvPicPr>
            <p:nvPr/>
          </p:nvPicPr>
          <p:blipFill>
            <a:blip r:embed="rId2"/>
            <a:stretch>
              <a:fillRect/>
            </a:stretch>
          </p:blipFill>
          <p:spPr>
            <a:xfrm>
              <a:off x="2979344" y="2121408"/>
              <a:ext cx="566928" cy="566928"/>
            </a:xfrm>
            <a:prstGeom prst="rect">
              <a:avLst/>
            </a:prstGeom>
          </p:spPr>
        </p:pic>
        <p:sp>
          <p:nvSpPr>
            <p:cNvPr id="12" name="tl1_dot"/>
            <p:cNvSpPr/>
            <p:nvPr/>
          </p:nvSpPr>
          <p:spPr>
            <a:xfrm>
              <a:off x="3180512" y="2779776"/>
              <a:ext cx="164592" cy="164592"/>
            </a:xfrm>
            <a:prstGeom prst="ellipse">
              <a:avLst/>
            </a:prstGeom>
            <a:solidFill>
              <a:srgbClr val="2BA6A0"/>
            </a:solidFill>
            <a:ln w="17780">
              <a:solidFill>
                <a:srgbClr val="FFFFFF"/>
              </a:solidFill>
              <a:prstDash val="solid"/>
            </a:ln>
          </p:spPr>
        </p:sp>
        <p:sp>
          <p:nvSpPr>
            <p:cNvPr id="13" name="tl1_d"/>
            <p:cNvSpPr txBox="1"/>
            <p:nvPr/>
          </p:nvSpPr>
          <p:spPr>
            <a:xfrm>
              <a:off x="2391613" y="3017520"/>
              <a:ext cx="1742389" cy="310896"/>
            </a:xfrm>
            <a:prstGeom prst="rect">
              <a:avLst/>
            </a:prstGeom>
            <a:noFill/>
            <a:ln/>
          </p:spPr>
          <p:txBody>
            <a:bodyPr wrap="square" lIns="0" tIns="0" rIns="0" bIns="0" rtlCol="0" anchor="ctr"/>
            <a:lstStyle/>
            <a:p>
              <a:pPr algn="ctr" indent="0" marL="0">
                <a:buNone/>
              </a:pPr>
              <a:r>
                <a:rPr lang="en-US" sz="1400" b="1" dirty="0">
                  <a:solidFill>
                    <a:srgbClr val="2BA6A0"/>
                  </a:solidFill>
                  <a:latin typeface="Georgia" pitchFamily="34" charset="0"/>
                  <a:ea typeface="Georgia" pitchFamily="34" charset="-122"/>
                  <a:cs typeface="Georgia" pitchFamily="34" charset="-120"/>
                </a:rPr>
                <a:t>1543</a:t>
              </a:r>
              <a:endParaRPr lang="en-US" sz="1400" dirty="0"/>
            </a:p>
          </p:txBody>
        </p:sp>
        <p:sp>
          <p:nvSpPr>
            <p:cNvPr id="14" name="tl1_w"/>
            <p:cNvSpPr txBox="1"/>
            <p:nvPr/>
          </p:nvSpPr>
          <p:spPr>
            <a:xfrm>
              <a:off x="2391613" y="3328416"/>
              <a:ext cx="1742389" cy="402336"/>
            </a:xfrm>
            <a:prstGeom prst="rect">
              <a:avLst/>
            </a:prstGeom>
            <a:noFill/>
            <a:ln/>
          </p:spPr>
          <p:txBody>
            <a:bodyPr wrap="square" lIns="0" tIns="0" rIns="0" bIns="0" rtlCol="0" anchor="t"/>
            <a:lstStyle/>
            <a:p>
              <a:pPr algn="ctr" indent="0" marL="0">
                <a:lnSpc>
                  <a:spcPts val="1400"/>
                </a:lnSpc>
                <a:buNone/>
              </a:pPr>
              <a:r>
                <a:rPr lang="en-US" sz="1150" b="1" dirty="0">
                  <a:solidFill>
                    <a:srgbClr val="4A2C6F"/>
                  </a:solidFill>
                  <a:latin typeface="Arial" pitchFamily="34" charset="0"/>
                  <a:ea typeface="Arial" pitchFamily="34" charset="-122"/>
                  <a:cs typeface="Arial" pitchFamily="34" charset="-120"/>
                </a:rPr>
                <a:t>Copernicus</a:t>
              </a:r>
              <a:endParaRPr lang="en-US" sz="1150" dirty="0"/>
            </a:p>
          </p:txBody>
        </p:sp>
        <p:sp>
          <p:nvSpPr>
            <p:cNvPr id="15" name="tl1_t"/>
            <p:cNvSpPr txBox="1"/>
            <p:nvPr/>
          </p:nvSpPr>
          <p:spPr>
            <a:xfrm>
              <a:off x="2428189" y="3767328"/>
              <a:ext cx="1669237" cy="1005840"/>
            </a:xfrm>
            <a:prstGeom prst="rect">
              <a:avLst/>
            </a:prstGeom>
            <a:noFill/>
            <a:ln/>
          </p:spPr>
          <p:txBody>
            <a:bodyPr wrap="square" lIns="0" tIns="0" rIns="0" bIns="0" rtlCol="0" anchor="t"/>
            <a:lstStyle/>
            <a:p>
              <a:pPr algn="ctr" indent="0" marL="0">
                <a:lnSpc>
                  <a:spcPts val="1300"/>
                </a:lnSpc>
                <a:buNone/>
              </a:pPr>
              <a:r>
                <a:rPr lang="en-US" sz="1000" dirty="0">
                  <a:solidFill>
                    <a:srgbClr val="6A6180"/>
                  </a:solidFill>
                  <a:latin typeface="Arial" pitchFamily="34" charset="0"/>
                  <a:ea typeface="Arial" pitchFamily="34" charset="-122"/>
                  <a:cs typeface="Arial" pitchFamily="34" charset="-120"/>
                </a:rPr>
                <a:t>Says the Earth goes round the Sun, not the other way round.</a:t>
              </a:r>
              <a:endParaRPr lang="en-US" sz="1000" dirty="0"/>
            </a:p>
          </p:txBody>
        </p:sp>
      </p:grpSp>
      <p:grpSp>
        <p:nvGrpSpPr>
          <p:cNvPr id="39" name="tl2"/>
          <p:cNvGrpSpPr/>
          <p:nvPr/>
        </p:nvGrpSpPr>
        <p:grpSpPr>
          <a:xfrm>
            <a:off x="4280306" y="2121408"/>
            <a:ext cx="1742389" cy="2651760"/>
            <a:chOff x="4280306" y="2121408"/>
            <a:chExt cx="1742389" cy="2651760"/>
          </a:xfrm>
        </p:grpSpPr>
        <p:pic>
          <p:nvPicPr>
            <p:cNvPr id="16" name="tl2_icon" descr="/home/claude/build/img_y7/microscope_support.png">    </p:cNvPr>
            <p:cNvPicPr>
              <a:picLocks noChangeAspect="1"/>
            </p:cNvPicPr>
            <p:nvPr/>
          </p:nvPicPr>
          <p:blipFill>
            <a:blip r:embed="rId3"/>
            <a:stretch>
              <a:fillRect/>
            </a:stretch>
          </p:blipFill>
          <p:spPr>
            <a:xfrm>
              <a:off x="4868037" y="2121408"/>
              <a:ext cx="566928" cy="566928"/>
            </a:xfrm>
            <a:prstGeom prst="rect">
              <a:avLst/>
            </a:prstGeom>
          </p:spPr>
        </p:pic>
        <p:sp>
          <p:nvSpPr>
            <p:cNvPr id="17" name="tl2_dot"/>
            <p:cNvSpPr/>
            <p:nvPr/>
          </p:nvSpPr>
          <p:spPr>
            <a:xfrm>
              <a:off x="5069205" y="2779776"/>
              <a:ext cx="164592" cy="164592"/>
            </a:xfrm>
            <a:prstGeom prst="ellipse">
              <a:avLst/>
            </a:prstGeom>
            <a:solidFill>
              <a:srgbClr val="2BA6A0"/>
            </a:solidFill>
            <a:ln w="17780">
              <a:solidFill>
                <a:srgbClr val="FFFFFF"/>
              </a:solidFill>
              <a:prstDash val="solid"/>
            </a:ln>
          </p:spPr>
        </p:sp>
        <p:sp>
          <p:nvSpPr>
            <p:cNvPr id="18" name="tl2_d"/>
            <p:cNvSpPr txBox="1"/>
            <p:nvPr/>
          </p:nvSpPr>
          <p:spPr>
            <a:xfrm>
              <a:off x="4280306" y="3017520"/>
              <a:ext cx="1742389" cy="310896"/>
            </a:xfrm>
            <a:prstGeom prst="rect">
              <a:avLst/>
            </a:prstGeom>
            <a:noFill/>
            <a:ln/>
          </p:spPr>
          <p:txBody>
            <a:bodyPr wrap="square" lIns="0" tIns="0" rIns="0" bIns="0" rtlCol="0" anchor="ctr"/>
            <a:lstStyle/>
            <a:p>
              <a:pPr algn="ctr" indent="0" marL="0">
                <a:buNone/>
              </a:pPr>
              <a:r>
                <a:rPr lang="en-US" sz="1400" b="1" dirty="0">
                  <a:solidFill>
                    <a:srgbClr val="2BA6A0"/>
                  </a:solidFill>
                  <a:latin typeface="Georgia" pitchFamily="34" charset="0"/>
                  <a:ea typeface="Georgia" pitchFamily="34" charset="-122"/>
                  <a:cs typeface="Georgia" pitchFamily="34" charset="-120"/>
                </a:rPr>
                <a:t>1665</a:t>
              </a:r>
              <a:endParaRPr lang="en-US" sz="1400" dirty="0"/>
            </a:p>
          </p:txBody>
        </p:sp>
        <p:sp>
          <p:nvSpPr>
            <p:cNvPr id="19" name="tl2_w"/>
            <p:cNvSpPr txBox="1"/>
            <p:nvPr/>
          </p:nvSpPr>
          <p:spPr>
            <a:xfrm>
              <a:off x="4280306" y="3328416"/>
              <a:ext cx="1742389" cy="402336"/>
            </a:xfrm>
            <a:prstGeom prst="rect">
              <a:avLst/>
            </a:prstGeom>
            <a:noFill/>
            <a:ln/>
          </p:spPr>
          <p:txBody>
            <a:bodyPr wrap="square" lIns="0" tIns="0" rIns="0" bIns="0" rtlCol="0" anchor="t"/>
            <a:lstStyle/>
            <a:p>
              <a:pPr algn="ctr" indent="0" marL="0">
                <a:lnSpc>
                  <a:spcPts val="1400"/>
                </a:lnSpc>
                <a:buNone/>
              </a:pPr>
              <a:r>
                <a:rPr lang="en-US" sz="1150" b="1" dirty="0">
                  <a:solidFill>
                    <a:srgbClr val="4A2C6F"/>
                  </a:solidFill>
                  <a:latin typeface="Arial" pitchFamily="34" charset="0"/>
                  <a:ea typeface="Arial" pitchFamily="34" charset="-122"/>
                  <a:cs typeface="Arial" pitchFamily="34" charset="-120"/>
                </a:rPr>
                <a:t>Hooke</a:t>
              </a:r>
              <a:endParaRPr lang="en-US" sz="1150" dirty="0"/>
            </a:p>
          </p:txBody>
        </p:sp>
        <p:sp>
          <p:nvSpPr>
            <p:cNvPr id="20" name="tl2_t"/>
            <p:cNvSpPr txBox="1"/>
            <p:nvPr/>
          </p:nvSpPr>
          <p:spPr>
            <a:xfrm>
              <a:off x="4316882" y="3767328"/>
              <a:ext cx="1669237" cy="1005840"/>
            </a:xfrm>
            <a:prstGeom prst="rect">
              <a:avLst/>
            </a:prstGeom>
            <a:noFill/>
            <a:ln/>
          </p:spPr>
          <p:txBody>
            <a:bodyPr wrap="square" lIns="0" tIns="0" rIns="0" bIns="0" rtlCol="0" anchor="t"/>
            <a:lstStyle/>
            <a:p>
              <a:pPr algn="ctr" indent="0" marL="0">
                <a:lnSpc>
                  <a:spcPts val="1300"/>
                </a:lnSpc>
                <a:buNone/>
              </a:pPr>
              <a:r>
                <a:rPr lang="en-US" sz="1000" dirty="0">
                  <a:solidFill>
                    <a:srgbClr val="6A6180"/>
                  </a:solidFill>
                  <a:latin typeface="Arial" pitchFamily="34" charset="0"/>
                  <a:ea typeface="Arial" pitchFamily="34" charset="-122"/>
                  <a:cs typeface="Arial" pitchFamily="34" charset="-120"/>
                </a:rPr>
                <a:t>Looks through a microscope and sees cells for the first time.</a:t>
              </a:r>
              <a:endParaRPr lang="en-US" sz="1000" dirty="0"/>
            </a:p>
          </p:txBody>
        </p:sp>
      </p:grpSp>
      <p:grpSp>
        <p:nvGrpSpPr>
          <p:cNvPr id="40" name="tl3"/>
          <p:cNvGrpSpPr/>
          <p:nvPr/>
        </p:nvGrpSpPr>
        <p:grpSpPr>
          <a:xfrm>
            <a:off x="6169000" y="2121408"/>
            <a:ext cx="1742389" cy="2651760"/>
            <a:chOff x="6169000" y="2121408"/>
            <a:chExt cx="1742389" cy="2651760"/>
          </a:xfrm>
        </p:grpSpPr>
        <p:pic>
          <p:nvPicPr>
            <p:cNvPr id="21" name="tl3_icon" descr="/home/claude/build/img_y7/leaf_support.png">    </p:cNvPr>
            <p:cNvPicPr>
              <a:picLocks noChangeAspect="1"/>
            </p:cNvPicPr>
            <p:nvPr/>
          </p:nvPicPr>
          <p:blipFill>
            <a:blip r:embed="rId4"/>
            <a:stretch>
              <a:fillRect/>
            </a:stretch>
          </p:blipFill>
          <p:spPr>
            <a:xfrm>
              <a:off x="6756730" y="2121408"/>
              <a:ext cx="566928" cy="566928"/>
            </a:xfrm>
            <a:prstGeom prst="rect">
              <a:avLst/>
            </a:prstGeom>
          </p:spPr>
        </p:pic>
        <p:sp>
          <p:nvSpPr>
            <p:cNvPr id="22" name="tl3_dot"/>
            <p:cNvSpPr/>
            <p:nvPr/>
          </p:nvSpPr>
          <p:spPr>
            <a:xfrm>
              <a:off x="6957898" y="2779776"/>
              <a:ext cx="164592" cy="164592"/>
            </a:xfrm>
            <a:prstGeom prst="ellipse">
              <a:avLst/>
            </a:prstGeom>
            <a:solidFill>
              <a:srgbClr val="2BA6A0"/>
            </a:solidFill>
            <a:ln w="17780">
              <a:solidFill>
                <a:srgbClr val="FFFFFF"/>
              </a:solidFill>
              <a:prstDash val="solid"/>
            </a:ln>
          </p:spPr>
        </p:sp>
        <p:sp>
          <p:nvSpPr>
            <p:cNvPr id="23" name="tl3_d"/>
            <p:cNvSpPr txBox="1"/>
            <p:nvPr/>
          </p:nvSpPr>
          <p:spPr>
            <a:xfrm>
              <a:off x="6169000" y="3017520"/>
              <a:ext cx="1742389" cy="310896"/>
            </a:xfrm>
            <a:prstGeom prst="rect">
              <a:avLst/>
            </a:prstGeom>
            <a:noFill/>
            <a:ln/>
          </p:spPr>
          <p:txBody>
            <a:bodyPr wrap="square" lIns="0" tIns="0" rIns="0" bIns="0" rtlCol="0" anchor="ctr"/>
            <a:lstStyle/>
            <a:p>
              <a:pPr algn="ctr" indent="0" marL="0">
                <a:buNone/>
              </a:pPr>
              <a:r>
                <a:rPr lang="en-US" sz="1400" b="1" dirty="0">
                  <a:solidFill>
                    <a:srgbClr val="2BA6A0"/>
                  </a:solidFill>
                  <a:latin typeface="Georgia" pitchFamily="34" charset="0"/>
                  <a:ea typeface="Georgia" pitchFamily="34" charset="-122"/>
                  <a:cs typeface="Georgia" pitchFamily="34" charset="-120"/>
                </a:rPr>
                <a:t>1859</a:t>
              </a:r>
              <a:endParaRPr lang="en-US" sz="1400" dirty="0"/>
            </a:p>
          </p:txBody>
        </p:sp>
        <p:sp>
          <p:nvSpPr>
            <p:cNvPr id="24" name="tl3_w"/>
            <p:cNvSpPr txBox="1"/>
            <p:nvPr/>
          </p:nvSpPr>
          <p:spPr>
            <a:xfrm>
              <a:off x="6169000" y="3328416"/>
              <a:ext cx="1742389" cy="402336"/>
            </a:xfrm>
            <a:prstGeom prst="rect">
              <a:avLst/>
            </a:prstGeom>
            <a:noFill/>
            <a:ln/>
          </p:spPr>
          <p:txBody>
            <a:bodyPr wrap="square" lIns="0" tIns="0" rIns="0" bIns="0" rtlCol="0" anchor="t"/>
            <a:lstStyle/>
            <a:p>
              <a:pPr algn="ctr" indent="0" marL="0">
                <a:lnSpc>
                  <a:spcPts val="1400"/>
                </a:lnSpc>
                <a:buNone/>
              </a:pPr>
              <a:r>
                <a:rPr lang="en-US" sz="1150" b="1" dirty="0">
                  <a:solidFill>
                    <a:srgbClr val="4A2C6F"/>
                  </a:solidFill>
                  <a:latin typeface="Arial" pitchFamily="34" charset="0"/>
                  <a:ea typeface="Arial" pitchFamily="34" charset="-122"/>
                  <a:cs typeface="Arial" pitchFamily="34" charset="-120"/>
                </a:rPr>
                <a:t>Darwin</a:t>
              </a:r>
              <a:endParaRPr lang="en-US" sz="1150" dirty="0"/>
            </a:p>
          </p:txBody>
        </p:sp>
        <p:sp>
          <p:nvSpPr>
            <p:cNvPr id="25" name="tl3_t"/>
            <p:cNvSpPr txBox="1"/>
            <p:nvPr/>
          </p:nvSpPr>
          <p:spPr>
            <a:xfrm>
              <a:off x="6205576" y="3767328"/>
              <a:ext cx="1669237" cy="1005840"/>
            </a:xfrm>
            <a:prstGeom prst="rect">
              <a:avLst/>
            </a:prstGeom>
            <a:noFill/>
            <a:ln/>
          </p:spPr>
          <p:txBody>
            <a:bodyPr wrap="square" lIns="0" tIns="0" rIns="0" bIns="0" rtlCol="0" anchor="t"/>
            <a:lstStyle/>
            <a:p>
              <a:pPr algn="ctr" indent="0" marL="0">
                <a:lnSpc>
                  <a:spcPts val="1300"/>
                </a:lnSpc>
                <a:buNone/>
              </a:pPr>
              <a:r>
                <a:rPr lang="en-US" sz="1000" dirty="0">
                  <a:solidFill>
                    <a:srgbClr val="6A6180"/>
                  </a:solidFill>
                  <a:latin typeface="Arial" pitchFamily="34" charset="0"/>
                  <a:ea typeface="Arial" pitchFamily="34" charset="-122"/>
                  <a:cs typeface="Arial" pitchFamily="34" charset="-120"/>
                </a:rPr>
                <a:t>Publishes his explanation of how living things change.</a:t>
              </a:r>
              <a:endParaRPr lang="en-US" sz="1000" dirty="0"/>
            </a:p>
          </p:txBody>
        </p:sp>
      </p:grpSp>
      <p:grpSp>
        <p:nvGrpSpPr>
          <p:cNvPr id="41" name="tl4"/>
          <p:cNvGrpSpPr/>
          <p:nvPr/>
        </p:nvGrpSpPr>
        <p:grpSpPr>
          <a:xfrm>
            <a:off x="8057693" y="2121408"/>
            <a:ext cx="1742389" cy="2651760"/>
            <a:chOff x="8057693" y="2121408"/>
            <a:chExt cx="1742389" cy="2651760"/>
          </a:xfrm>
        </p:grpSpPr>
        <p:pic>
          <p:nvPicPr>
            <p:cNvPr id="26" name="tl4_icon" descr="/home/claude/build/img_y7/dna_accent.png">    </p:cNvPr>
            <p:cNvPicPr>
              <a:picLocks noChangeAspect="1"/>
            </p:cNvPicPr>
            <p:nvPr/>
          </p:nvPicPr>
          <p:blipFill>
            <a:blip r:embed="rId5"/>
            <a:stretch>
              <a:fillRect/>
            </a:stretch>
          </p:blipFill>
          <p:spPr>
            <a:xfrm>
              <a:off x="8645423" y="2121408"/>
              <a:ext cx="566928" cy="566928"/>
            </a:xfrm>
            <a:prstGeom prst="rect">
              <a:avLst/>
            </a:prstGeom>
          </p:spPr>
        </p:pic>
        <p:sp>
          <p:nvSpPr>
            <p:cNvPr id="27" name="tl4_dot"/>
            <p:cNvSpPr/>
            <p:nvPr/>
          </p:nvSpPr>
          <p:spPr>
            <a:xfrm>
              <a:off x="8846591" y="2779776"/>
              <a:ext cx="164592" cy="164592"/>
            </a:xfrm>
            <a:prstGeom prst="ellipse">
              <a:avLst/>
            </a:prstGeom>
            <a:solidFill>
              <a:srgbClr val="F2A03D"/>
            </a:solidFill>
            <a:ln w="17780">
              <a:solidFill>
                <a:srgbClr val="FFFFFF"/>
              </a:solidFill>
              <a:prstDash val="solid"/>
            </a:ln>
          </p:spPr>
        </p:sp>
        <p:sp>
          <p:nvSpPr>
            <p:cNvPr id="28" name="tl4_d"/>
            <p:cNvSpPr txBox="1"/>
            <p:nvPr/>
          </p:nvSpPr>
          <p:spPr>
            <a:xfrm>
              <a:off x="8057693" y="3017520"/>
              <a:ext cx="1742389" cy="310896"/>
            </a:xfrm>
            <a:prstGeom prst="rect">
              <a:avLst/>
            </a:prstGeom>
            <a:noFill/>
            <a:ln/>
          </p:spPr>
          <p:txBody>
            <a:bodyPr wrap="square" lIns="0" tIns="0" rIns="0" bIns="0" rtlCol="0" anchor="ctr"/>
            <a:lstStyle/>
            <a:p>
              <a:pPr algn="ctr" indent="0" marL="0">
                <a:buNone/>
              </a:pPr>
              <a:r>
                <a:rPr lang="en-US" sz="1400" b="1" dirty="0">
                  <a:solidFill>
                    <a:srgbClr val="F2A03D"/>
                  </a:solidFill>
                  <a:latin typeface="Georgia" pitchFamily="34" charset="0"/>
                  <a:ea typeface="Georgia" pitchFamily="34" charset="-122"/>
                  <a:cs typeface="Georgia" pitchFamily="34" charset="-120"/>
                </a:rPr>
                <a:t>1953</a:t>
              </a:r>
              <a:endParaRPr lang="en-US" sz="1400" dirty="0"/>
            </a:p>
          </p:txBody>
        </p:sp>
        <p:sp>
          <p:nvSpPr>
            <p:cNvPr id="29" name="tl4_w"/>
            <p:cNvSpPr txBox="1"/>
            <p:nvPr/>
          </p:nvSpPr>
          <p:spPr>
            <a:xfrm>
              <a:off x="8057693" y="3328416"/>
              <a:ext cx="1742389" cy="402336"/>
            </a:xfrm>
            <a:prstGeom prst="rect">
              <a:avLst/>
            </a:prstGeom>
            <a:noFill/>
            <a:ln/>
          </p:spPr>
          <p:txBody>
            <a:bodyPr wrap="square" lIns="0" tIns="0" rIns="0" bIns="0" rtlCol="0" anchor="t"/>
            <a:lstStyle/>
            <a:p>
              <a:pPr algn="ctr" indent="0" marL="0">
                <a:lnSpc>
                  <a:spcPts val="1400"/>
                </a:lnSpc>
                <a:buNone/>
              </a:pPr>
              <a:r>
                <a:rPr lang="en-US" sz="1150" b="1" dirty="0">
                  <a:solidFill>
                    <a:srgbClr val="4A2C6F"/>
                  </a:solidFill>
                  <a:latin typeface="Arial" pitchFamily="34" charset="0"/>
                  <a:ea typeface="Arial" pitchFamily="34" charset="-122"/>
                  <a:cs typeface="Arial" pitchFamily="34" charset="-120"/>
                </a:rPr>
                <a:t>A team in Cambridge</a:t>
              </a:r>
              <a:endParaRPr lang="en-US" sz="1150" dirty="0"/>
            </a:p>
          </p:txBody>
        </p:sp>
        <p:sp>
          <p:nvSpPr>
            <p:cNvPr id="30" name="tl4_t"/>
            <p:cNvSpPr txBox="1"/>
            <p:nvPr/>
          </p:nvSpPr>
          <p:spPr>
            <a:xfrm>
              <a:off x="8094269" y="3767328"/>
              <a:ext cx="1669237" cy="1005840"/>
            </a:xfrm>
            <a:prstGeom prst="rect">
              <a:avLst/>
            </a:prstGeom>
            <a:noFill/>
            <a:ln/>
          </p:spPr>
          <p:txBody>
            <a:bodyPr wrap="square" lIns="0" tIns="0" rIns="0" bIns="0" rtlCol="0" anchor="t"/>
            <a:lstStyle/>
            <a:p>
              <a:pPr algn="ctr" indent="0" marL="0">
                <a:lnSpc>
                  <a:spcPts val="1300"/>
                </a:lnSpc>
                <a:buNone/>
              </a:pPr>
              <a:r>
                <a:rPr lang="en-US" sz="1000" dirty="0">
                  <a:solidFill>
                    <a:srgbClr val="6A6180"/>
                  </a:solidFill>
                  <a:latin typeface="Arial" pitchFamily="34" charset="0"/>
                  <a:ea typeface="Arial" pitchFamily="34" charset="-122"/>
                  <a:cs typeface="Arial" pitchFamily="34" charset="-120"/>
                </a:rPr>
                <a:t>The shape of DNA is worked out. Hold that one.</a:t>
              </a:r>
              <a:endParaRPr lang="en-US" sz="1000" dirty="0"/>
            </a:p>
          </p:txBody>
        </p:sp>
      </p:grpSp>
      <p:grpSp>
        <p:nvGrpSpPr>
          <p:cNvPr id="42" name="tl5"/>
          <p:cNvGrpSpPr/>
          <p:nvPr/>
        </p:nvGrpSpPr>
        <p:grpSpPr>
          <a:xfrm>
            <a:off x="9946386" y="2121408"/>
            <a:ext cx="1742389" cy="2651760"/>
            <a:chOff x="9946386" y="2121408"/>
            <a:chExt cx="1742389" cy="2651760"/>
          </a:xfrm>
        </p:grpSpPr>
        <p:pic>
          <p:nvPicPr>
            <p:cNvPr id="31" name="tl5_icon" descr="/home/claude/build/img_y7/star_accent.png">    </p:cNvPr>
            <p:cNvPicPr>
              <a:picLocks noChangeAspect="1"/>
            </p:cNvPicPr>
            <p:nvPr/>
          </p:nvPicPr>
          <p:blipFill>
            <a:blip r:embed="rId6"/>
            <a:stretch>
              <a:fillRect/>
            </a:stretch>
          </p:blipFill>
          <p:spPr>
            <a:xfrm>
              <a:off x="10534117" y="2121408"/>
              <a:ext cx="566928" cy="566928"/>
            </a:xfrm>
            <a:prstGeom prst="rect">
              <a:avLst/>
            </a:prstGeom>
          </p:spPr>
        </p:pic>
        <p:sp>
          <p:nvSpPr>
            <p:cNvPr id="32" name="tl5_dot"/>
            <p:cNvSpPr/>
            <p:nvPr/>
          </p:nvSpPr>
          <p:spPr>
            <a:xfrm>
              <a:off x="10735285" y="2779776"/>
              <a:ext cx="164592" cy="164592"/>
            </a:xfrm>
            <a:prstGeom prst="ellipse">
              <a:avLst/>
            </a:prstGeom>
            <a:solidFill>
              <a:srgbClr val="F2A03D"/>
            </a:solidFill>
            <a:ln w="17780">
              <a:solidFill>
                <a:srgbClr val="FFFFFF"/>
              </a:solidFill>
              <a:prstDash val="solid"/>
            </a:ln>
          </p:spPr>
        </p:sp>
        <p:sp>
          <p:nvSpPr>
            <p:cNvPr id="33" name="tl5_d"/>
            <p:cNvSpPr txBox="1"/>
            <p:nvPr/>
          </p:nvSpPr>
          <p:spPr>
            <a:xfrm>
              <a:off x="9946386" y="3017520"/>
              <a:ext cx="1742389" cy="310896"/>
            </a:xfrm>
            <a:prstGeom prst="rect">
              <a:avLst/>
            </a:prstGeom>
            <a:noFill/>
            <a:ln/>
          </p:spPr>
          <p:txBody>
            <a:bodyPr wrap="square" lIns="0" tIns="0" rIns="0" bIns="0" rtlCol="0" anchor="ctr"/>
            <a:lstStyle/>
            <a:p>
              <a:pPr algn="ctr" indent="0" marL="0">
                <a:buNone/>
              </a:pPr>
              <a:r>
                <a:rPr lang="en-US" sz="1400" b="1" dirty="0">
                  <a:solidFill>
                    <a:srgbClr val="F2A03D"/>
                  </a:solidFill>
                  <a:latin typeface="Georgia" pitchFamily="34" charset="0"/>
                  <a:ea typeface="Georgia" pitchFamily="34" charset="-122"/>
                  <a:cs typeface="Georgia" pitchFamily="34" charset="-120"/>
                </a:rPr>
                <a:t>1967</a:t>
              </a:r>
              <a:endParaRPr lang="en-US" sz="1400" dirty="0"/>
            </a:p>
          </p:txBody>
        </p:sp>
        <p:sp>
          <p:nvSpPr>
            <p:cNvPr id="34" name="tl5_w"/>
            <p:cNvSpPr txBox="1"/>
            <p:nvPr/>
          </p:nvSpPr>
          <p:spPr>
            <a:xfrm>
              <a:off x="9946386" y="3328416"/>
              <a:ext cx="1742389" cy="402336"/>
            </a:xfrm>
            <a:prstGeom prst="rect">
              <a:avLst/>
            </a:prstGeom>
            <a:noFill/>
            <a:ln/>
          </p:spPr>
          <p:txBody>
            <a:bodyPr wrap="square" lIns="0" tIns="0" rIns="0" bIns="0" rtlCol="0" anchor="t"/>
            <a:lstStyle/>
            <a:p>
              <a:pPr algn="ctr" indent="0" marL="0">
                <a:lnSpc>
                  <a:spcPts val="1400"/>
                </a:lnSpc>
                <a:buNone/>
              </a:pPr>
              <a:r>
                <a:rPr lang="en-US" sz="1150" b="1" dirty="0">
                  <a:solidFill>
                    <a:srgbClr val="4A2C6F"/>
                  </a:solidFill>
                  <a:latin typeface="Arial" pitchFamily="34" charset="0"/>
                  <a:ea typeface="Arial" pitchFamily="34" charset="-122"/>
                  <a:cs typeface="Arial" pitchFamily="34" charset="-120"/>
                </a:rPr>
                <a:t>A student in Cambridge</a:t>
              </a:r>
              <a:endParaRPr lang="en-US" sz="1150" dirty="0"/>
            </a:p>
          </p:txBody>
        </p:sp>
        <p:sp>
          <p:nvSpPr>
            <p:cNvPr id="35" name="tl5_t"/>
            <p:cNvSpPr txBox="1"/>
            <p:nvPr/>
          </p:nvSpPr>
          <p:spPr>
            <a:xfrm>
              <a:off x="9982962" y="3767328"/>
              <a:ext cx="1669237" cy="1005840"/>
            </a:xfrm>
            <a:prstGeom prst="rect">
              <a:avLst/>
            </a:prstGeom>
            <a:noFill/>
            <a:ln/>
          </p:spPr>
          <p:txBody>
            <a:bodyPr wrap="square" lIns="0" tIns="0" rIns="0" bIns="0" rtlCol="0" anchor="t"/>
            <a:lstStyle/>
            <a:p>
              <a:pPr algn="ctr" indent="0" marL="0">
                <a:lnSpc>
                  <a:spcPts val="1300"/>
                </a:lnSpc>
                <a:buNone/>
              </a:pPr>
              <a:r>
                <a:rPr lang="en-US" sz="1000" dirty="0">
                  <a:solidFill>
                    <a:srgbClr val="6A6180"/>
                  </a:solidFill>
                  <a:latin typeface="Arial" pitchFamily="34" charset="0"/>
                  <a:ea typeface="Arial" pitchFamily="34" charset="-122"/>
                  <a:cs typeface="Arial" pitchFamily="34" charset="-120"/>
                </a:rPr>
                <a:t>Spots a signal nobody can explain. Hold that one too.</a:t>
              </a:r>
              <a:endParaRPr lang="en-US" sz="1000" dirty="0"/>
            </a:p>
          </p:txBody>
        </p:sp>
      </p:grpSp>
      <p:sp>
        <p:nvSpPr>
          <p:cNvPr id="36" name="tl_banner"/>
          <p:cNvSpPr/>
          <p:nvPr/>
        </p:nvSpPr>
        <p:spPr>
          <a:xfrm>
            <a:off x="502920" y="4956048"/>
            <a:ext cx="11185855" cy="566928"/>
          </a:xfrm>
          <a:prstGeom prst="roundRect">
            <a:avLst>
              <a:gd name="adj" fmla="val 17742"/>
            </a:avLst>
          </a:prstGeom>
          <a:solidFill>
            <a:srgbClr val="4A2C6F"/>
          </a:solidFill>
          <a:ln>
            <a:solidFill>
              <a:srgbClr val="4A2C6F"/>
            </a:solidFill>
          </a:ln>
        </p:spPr>
        <p:txBody>
          <a:bodyPr wrap="square" lIns="0" tIns="0" rIns="0" bIns="0" rtlCol="0" anchor="ctr"/>
          <a:lstStyle/>
          <a:p>
            <a:pPr algn="ctr" indent="0" marL="0">
              <a:buNone/>
            </a:pPr>
            <a:r>
              <a:rPr lang="en-US" sz="1400" b="1" dirty="0">
                <a:solidFill>
                  <a:srgbClr val="F2A03D"/>
                </a:solidFill>
                <a:latin typeface="Arial" pitchFamily="34" charset="0"/>
                <a:ea typeface="Arial" pitchFamily="34" charset="-122"/>
                <a:cs typeface="Arial" pitchFamily="34" charset="-120"/>
              </a:rPr>
              <a:t>The story starts in Basra, five hundred years before Copernicus.</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1" fill="hold" grpId="0" nodeType="clickEffect">
                                  <p:stCondLst>
                                    <p:cond delay="0"/>
                                  </p:stCondLst>
                                  <p:childTnLst>
                                    <p:set>
                                      <p:cBhvr>
                                        <p:cTn id="3" dur="1" fill="hold">
                                          <p:stCondLst>
                                            <p:cond delay="0"/>
                                          </p:stCondLst>
                                        </p:cTn>
                                        <p:tgtEl>
                                          <p:spTgt spid="37"/>
                                        </p:tgtEl>
                                        <p:attrNameLst>
                                          <p:attrName>style.visibility</p:attrName>
                                        </p:attrNameLst>
                                      </p:cBhvr>
                                      <p:to>
                                        <p:strVal val="visible"/>
                                      </p:to>
                                    </p:set>
                                    <p:animEffect transition="in" filter="wipe(down)">
                                      <p:cBhvr>
                                        <p:cTn id="4" dur="400"/>
                                        <p:tgtEl>
                                          <p:spTgt spid="37"/>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1" fill="hold" grpId="0" nodeType="clickEffect">
                                  <p:stCondLst>
                                    <p:cond delay="0"/>
                                  </p:stCondLst>
                                  <p:childTnLst>
                                    <p:set>
                                      <p:cBhvr>
                                        <p:cTn id="8" dur="1" fill="hold">
                                          <p:stCondLst>
                                            <p:cond delay="0"/>
                                          </p:stCondLst>
                                        </p:cTn>
                                        <p:tgtEl>
                                          <p:spTgt spid="38"/>
                                        </p:tgtEl>
                                        <p:attrNameLst>
                                          <p:attrName>style.visibility</p:attrName>
                                        </p:attrNameLst>
                                      </p:cBhvr>
                                      <p:to>
                                        <p:strVal val="visible"/>
                                      </p:to>
                                    </p:set>
                                    <p:animEffect transition="in" filter="wipe(down)">
                                      <p:cBhvr>
                                        <p:cTn id="9" dur="400"/>
                                        <p:tgtEl>
                                          <p:spTgt spid="38"/>
                                        </p:tgtEl>
                                      </p:cBhvr>
                                    </p:animEffect>
                                  </p:childTnLst>
                                </p:cTn>
                              </p:par>
                            </p:childTnLst>
                          </p:cTn>
                        </p:par>
                      </p:childTnLst>
                    </p:cTn>
                  </p:par>
                  <p:par>
                    <p:cTn id="16" fill="hold">
                      <p:stCondLst>
                        <p:cond delay="indefinite"/>
                      </p:stCondLst>
                      <p:childTnLst>
                        <p:par>
                          <p:cTn id="17" fill="hold">
                            <p:stCondLst>
                              <p:cond delay="0"/>
                            </p:stCondLst>
                            <p:childTnLst>
                              <p:par>
                                <p:cTn id="15" presetID="22" presetClass="entr" presetSubtype="1" fill="hold" grpId="0" nodeType="click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wipe(down)">
                                      <p:cBhvr>
                                        <p:cTn id="14" dur="400"/>
                                        <p:tgtEl>
                                          <p:spTgt spid="39"/>
                                        </p:tgtEl>
                                      </p:cBhvr>
                                    </p:animEffect>
                                  </p:childTnLst>
                                </p:cTn>
                              </p:par>
                            </p:childTnLst>
                          </p:cTn>
                        </p:par>
                      </p:childTnLst>
                    </p:cTn>
                  </p:par>
                  <p:par>
                    <p:cTn id="21" fill="hold">
                      <p:stCondLst>
                        <p:cond delay="indefinite"/>
                      </p:stCondLst>
                      <p:childTnLst>
                        <p:par>
                          <p:cTn id="22" fill="hold">
                            <p:stCondLst>
                              <p:cond delay="0"/>
                            </p:stCondLst>
                            <p:childTnLst>
                              <p:par>
                                <p:cTn id="20" presetID="22" presetClass="entr" presetSubtype="1" fill="hold" grpId="0" nodeType="click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wipe(down)">
                                      <p:cBhvr>
                                        <p:cTn id="19" dur="400"/>
                                        <p:tgtEl>
                                          <p:spTgt spid="40"/>
                                        </p:tgtEl>
                                      </p:cBhvr>
                                    </p:animEffect>
                                  </p:childTnLst>
                                </p:cTn>
                              </p:par>
                            </p:childTnLst>
                          </p:cTn>
                        </p:par>
                      </p:childTnLst>
                    </p:cTn>
                  </p:par>
                  <p:par>
                    <p:cTn id="26" fill="hold">
                      <p:stCondLst>
                        <p:cond delay="indefinite"/>
                      </p:stCondLst>
                      <p:childTnLst>
                        <p:par>
                          <p:cTn id="27" fill="hold">
                            <p:stCondLst>
                              <p:cond delay="0"/>
                            </p:stCondLst>
                            <p:childTnLst>
                              <p:par>
                                <p:cTn id="25" presetID="22" presetClass="entr" presetSubtype="1" fill="hold" grpId="0" nodeType="clickEffect">
                                  <p:stCondLst>
                                    <p:cond delay="0"/>
                                  </p:stCondLst>
                                  <p:childTnLst>
                                    <p:set>
                                      <p:cBhvr>
                                        <p:cTn id="23" dur="1" fill="hold">
                                          <p:stCondLst>
                                            <p:cond delay="0"/>
                                          </p:stCondLst>
                                        </p:cTn>
                                        <p:tgtEl>
                                          <p:spTgt spid="41"/>
                                        </p:tgtEl>
                                        <p:attrNameLst>
                                          <p:attrName>style.visibility</p:attrName>
                                        </p:attrNameLst>
                                      </p:cBhvr>
                                      <p:to>
                                        <p:strVal val="visible"/>
                                      </p:to>
                                    </p:set>
                                    <p:animEffect transition="in" filter="wipe(down)">
                                      <p:cBhvr>
                                        <p:cTn id="24" dur="400"/>
                                        <p:tgtEl>
                                          <p:spTgt spid="41"/>
                                        </p:tgtEl>
                                      </p:cBhvr>
                                    </p:animEffect>
                                  </p:childTnLst>
                                </p:cTn>
                              </p:par>
                            </p:childTnLst>
                          </p:cTn>
                        </p:par>
                      </p:childTnLst>
                    </p:cTn>
                  </p:par>
                  <p:par>
                    <p:cTn id="31" fill="hold">
                      <p:stCondLst>
                        <p:cond delay="indefinite"/>
                      </p:stCondLst>
                      <p:childTnLst>
                        <p:par>
                          <p:cTn id="32" fill="hold">
                            <p:stCondLst>
                              <p:cond delay="0"/>
                            </p:stCondLst>
                            <p:childTnLst>
                              <p:par>
                                <p:cTn id="30" presetID="22" presetClass="entr" presetSubtype="1" fill="hold" grpId="0" nodeType="click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wipe(down)">
                                      <p:cBhvr>
                                        <p:cTn id="29" dur="400"/>
                                        <p:tgtEl>
                                          <p:spTgt spid="42"/>
                                        </p:tgtEl>
                                      </p:cBhvr>
                                    </p:animEffect>
                                  </p:childTnLst>
                                </p:cTn>
                              </p:par>
                            </p:childTnLst>
                          </p:cTn>
                        </p:par>
                      </p:childTnLst>
                    </p:cTn>
                  </p:par>
                  <p:par>
                    <p:cTn id="37" fill="hold">
                      <p:stCondLst>
                        <p:cond delay="indefinite"/>
                      </p:stCondLst>
                      <p:childTnLst>
                        <p:par>
                          <p:cTn id="38" fill="hold">
                            <p:stCondLst>
                              <p:cond delay="0"/>
                            </p:stCondLst>
                            <p:childTnLst>
                              <p:par>
                                <p:cTn id="36" presetID="23" presetClass="entr" presetSubtype="16" fill="hold" grpId="0" nodeType="click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400"/>
                                        <p:tgtEl>
                                          <p:spTgt spid="36"/>
                                        </p:tgtEl>
                                      </p:cBhvr>
                                    </p:animEffect>
                                    <p:animScale>
                                      <p:cBhvr>
                                        <p:cTn id="35" dur="400" fill="hold"/>
                                        <p:tgtEl>
                                          <p:spTgt spid="36"/>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FB"/>
        </a:solidFill>
      </p:bgPr>
    </p:bg>
    <p:spTree>
      <p:nvGrpSpPr>
        <p:cNvPr id="1" name=""/>
        <p:cNvGrpSpPr/>
        <p:nvPr/>
      </p:nvGrpSpPr>
      <p:grpSpPr>
        <a:xfrm>
          <a:off x="0" y="0"/>
          <a:ext cx="0" cy="0"/>
          <a:chOff x="0" y="0"/>
          <a:chExt cx="0" cy="0"/>
        </a:xfrm>
      </p:grpSpPr>
      <p:sp>
        <p:nvSpPr>
          <p:cNvPr id="2" name="phase_pill"/>
          <p:cNvSpPr/>
          <p:nvPr/>
        </p:nvSpPr>
        <p:spPr>
          <a:xfrm>
            <a:off x="502920" y="274320"/>
            <a:ext cx="2286000" cy="347472"/>
          </a:xfrm>
          <a:prstGeom prst="roundRect">
            <a:avLst>
              <a:gd name="adj" fmla="val 50000"/>
            </a:avLst>
          </a:prstGeom>
          <a:solidFill>
            <a:srgbClr val="4A2C6F"/>
          </a:solidFill>
          <a:ln/>
        </p:spPr>
        <p:txBody>
          <a:bodyPr wrap="square" lIns="0" tIns="0" rIns="0" bIns="0" rtlCol="0" anchor="ctr"/>
          <a:lstStyle/>
          <a:p>
            <a:pPr algn="ctr" indent="0" marL="0">
              <a:buNone/>
            </a:pPr>
            <a:r>
              <a:rPr lang="en-US" sz="1100" b="1" spc="110" kern="0" dirty="0">
                <a:solidFill>
                  <a:srgbClr val="F7F4FB"/>
                </a:solidFill>
                <a:latin typeface="Arial" pitchFamily="34" charset="0"/>
                <a:ea typeface="Arial" pitchFamily="34" charset="-122"/>
                <a:cs typeface="Arial" pitchFamily="34" charset="-120"/>
              </a:rPr>
              <a:t>WE DO · 4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4A2C6F"/>
                </a:solidFill>
                <a:latin typeface="Georgia" pitchFamily="34" charset="0"/>
                <a:ea typeface="Georgia" pitchFamily="34" charset="-122"/>
                <a:cs typeface="Georgia" pitchFamily="34" charset="-120"/>
              </a:rPr>
              <a:t>Which came first?</a:t>
            </a:r>
            <a:endParaRPr lang="en-US" sz="3000" dirty="0"/>
          </a:p>
        </p:txBody>
      </p:sp>
      <p:sp>
        <p:nvSpPr>
          <p:cNvPr id="4" name="wc_intro"/>
          <p:cNvSpPr txBox="1"/>
          <p:nvPr/>
        </p:nvSpPr>
        <p:spPr>
          <a:xfrm>
            <a:off x="502920" y="1554480"/>
            <a:ext cx="10058400" cy="310896"/>
          </a:xfrm>
          <a:prstGeom prst="rect">
            <a:avLst/>
          </a:prstGeom>
          <a:noFill/>
          <a:ln/>
        </p:spPr>
        <p:txBody>
          <a:bodyPr wrap="square" lIns="0" tIns="0" rIns="0" bIns="0" rtlCol="0" anchor="ctr"/>
          <a:lstStyle/>
          <a:p>
            <a:pPr indent="0" marL="0">
              <a:buNone/>
            </a:pPr>
            <a:r>
              <a:rPr lang="en-US" sz="1300" dirty="0">
                <a:solidFill>
                  <a:srgbClr val="6A6180"/>
                </a:solidFill>
                <a:latin typeface="Arial" pitchFamily="34" charset="0"/>
                <a:ea typeface="Arial" pitchFamily="34" charset="-122"/>
                <a:cs typeface="Arial" pitchFamily="34" charset="-120"/>
              </a:rPr>
              <a:t>Whiteboards. Write the earlier one. Hold them up together.</a:t>
            </a:r>
            <a:endParaRPr lang="en-US" sz="1300" dirty="0"/>
          </a:p>
        </p:txBody>
      </p:sp>
      <p:sp>
        <p:nvSpPr>
          <p:cNvPr id="5" name="wc0_bg"/>
          <p:cNvSpPr/>
          <p:nvPr/>
        </p:nvSpPr>
        <p:spPr>
          <a:xfrm>
            <a:off x="502920" y="2523744"/>
            <a:ext cx="11185855" cy="566928"/>
          </a:xfrm>
          <a:prstGeom prst="roundRect">
            <a:avLst>
              <a:gd name="adj" fmla="val 22581"/>
            </a:avLst>
          </a:prstGeom>
          <a:solidFill>
            <a:srgbClr val="FFFFFF"/>
          </a:solidFill>
          <a:ln w="15875">
            <a:solidFill>
              <a:srgbClr val="E3DAF0"/>
            </a:solidFill>
            <a:prstDash val="solid"/>
          </a:ln>
        </p:spPr>
      </p:sp>
      <p:sp>
        <p:nvSpPr>
          <p:cNvPr id="6" name="wc0_q"/>
          <p:cNvSpPr txBox="1"/>
          <p:nvPr/>
        </p:nvSpPr>
        <p:spPr>
          <a:xfrm>
            <a:off x="722376" y="2523744"/>
            <a:ext cx="4297680" cy="566928"/>
          </a:xfrm>
          <a:prstGeom prst="rect">
            <a:avLst/>
          </a:prstGeom>
          <a:noFill/>
          <a:ln/>
        </p:spPr>
        <p:txBody>
          <a:bodyPr wrap="square" lIns="0" tIns="0" rIns="0" bIns="0" rtlCol="0" anchor="ctr"/>
          <a:lstStyle/>
          <a:p>
            <a:pPr indent="0" marL="0">
              <a:buNone/>
            </a:pPr>
            <a:r>
              <a:rPr lang="en-US" sz="1300" dirty="0">
                <a:solidFill>
                  <a:srgbClr val="241535"/>
                </a:solidFill>
                <a:latin typeface="Arial" pitchFamily="34" charset="0"/>
                <a:ea typeface="Arial" pitchFamily="34" charset="-122"/>
                <a:cs typeface="Arial" pitchFamily="34" charset="-120"/>
              </a:rPr>
              <a:t>Seeing cells  or  the shape of DNA?</a:t>
            </a:r>
            <a:endParaRPr lang="en-US" sz="1300" dirty="0"/>
          </a:p>
        </p:txBody>
      </p:sp>
      <p:sp>
        <p:nvSpPr>
          <p:cNvPr id="7" name="wc0_a"/>
          <p:cNvSpPr/>
          <p:nvPr/>
        </p:nvSpPr>
        <p:spPr>
          <a:xfrm>
            <a:off x="5166360" y="2596896"/>
            <a:ext cx="2103120" cy="420624"/>
          </a:xfrm>
          <a:prstGeom prst="roundRect">
            <a:avLst>
              <a:gd name="adj" fmla="val 19565"/>
            </a:avLst>
          </a:prstGeom>
          <a:solidFill>
            <a:srgbClr val="FDEEDC"/>
          </a:solidFill>
          <a:ln w="16510">
            <a:solidFill>
              <a:srgbClr val="F2A03D"/>
            </a:solidFill>
          </a:ln>
        </p:spPr>
        <p:txBody>
          <a:bodyPr wrap="square" lIns="0" tIns="0" rIns="0" bIns="0" rtlCol="0" anchor="ctr"/>
          <a:lstStyle/>
          <a:p>
            <a:pPr algn="ctr" indent="0" marL="0">
              <a:buNone/>
            </a:pPr>
            <a:r>
              <a:rPr lang="en-US" sz="1200" b="1" dirty="0">
                <a:solidFill>
                  <a:srgbClr val="4A2C6F"/>
                </a:solidFill>
                <a:latin typeface="Arial" pitchFamily="34" charset="0"/>
                <a:ea typeface="Arial" pitchFamily="34" charset="-122"/>
                <a:cs typeface="Arial" pitchFamily="34" charset="-120"/>
              </a:rPr>
              <a:t>cells</a:t>
            </a:r>
            <a:endParaRPr lang="en-US" sz="1200" dirty="0"/>
          </a:p>
        </p:txBody>
      </p:sp>
      <p:sp>
        <p:nvSpPr>
          <p:cNvPr id="8" name="wc0_w"/>
          <p:cNvSpPr txBox="1"/>
          <p:nvPr/>
        </p:nvSpPr>
        <p:spPr>
          <a:xfrm>
            <a:off x="7452360" y="2523744"/>
            <a:ext cx="4236415" cy="566928"/>
          </a:xfrm>
          <a:prstGeom prst="rect">
            <a:avLst/>
          </a:prstGeom>
          <a:noFill/>
          <a:ln/>
        </p:spPr>
        <p:txBody>
          <a:bodyPr wrap="square" lIns="0" tIns="0" rIns="0" bIns="0" rtlCol="0" anchor="ctr"/>
          <a:lstStyle/>
          <a:p>
            <a:pPr indent="0" marL="0">
              <a:buNone/>
            </a:pPr>
            <a:r>
              <a:rPr lang="en-US" sz="1150" dirty="0">
                <a:solidFill>
                  <a:srgbClr val="6A6180"/>
                </a:solidFill>
                <a:latin typeface="Arial" pitchFamily="34" charset="0"/>
                <a:ea typeface="Arial" pitchFamily="34" charset="-122"/>
                <a:cs typeface="Arial" pitchFamily="34" charset="-120"/>
              </a:rPr>
              <a:t>1665 against 1953. Nearly 300 years apart.</a:t>
            </a:r>
            <a:endParaRPr lang="en-US" sz="1150" dirty="0"/>
          </a:p>
        </p:txBody>
      </p:sp>
      <p:sp>
        <p:nvSpPr>
          <p:cNvPr id="9" name="wc1_bg"/>
          <p:cNvSpPr/>
          <p:nvPr/>
        </p:nvSpPr>
        <p:spPr>
          <a:xfrm>
            <a:off x="502920" y="3218688"/>
            <a:ext cx="11185855" cy="566928"/>
          </a:xfrm>
          <a:prstGeom prst="roundRect">
            <a:avLst>
              <a:gd name="adj" fmla="val 22581"/>
            </a:avLst>
          </a:prstGeom>
          <a:solidFill>
            <a:srgbClr val="FFFFFF"/>
          </a:solidFill>
          <a:ln w="15875">
            <a:solidFill>
              <a:srgbClr val="E3DAF0"/>
            </a:solidFill>
            <a:prstDash val="solid"/>
          </a:ln>
        </p:spPr>
      </p:sp>
      <p:sp>
        <p:nvSpPr>
          <p:cNvPr id="10" name="wc1_q"/>
          <p:cNvSpPr txBox="1"/>
          <p:nvPr/>
        </p:nvSpPr>
        <p:spPr>
          <a:xfrm>
            <a:off x="722376" y="3218688"/>
            <a:ext cx="4297680" cy="566928"/>
          </a:xfrm>
          <a:prstGeom prst="rect">
            <a:avLst/>
          </a:prstGeom>
          <a:noFill/>
          <a:ln/>
        </p:spPr>
        <p:txBody>
          <a:bodyPr wrap="square" lIns="0" tIns="0" rIns="0" bIns="0" rtlCol="0" anchor="ctr"/>
          <a:lstStyle/>
          <a:p>
            <a:pPr indent="0" marL="0">
              <a:buNone/>
            </a:pPr>
            <a:r>
              <a:rPr lang="en-US" sz="1300" dirty="0">
                <a:solidFill>
                  <a:srgbClr val="241535"/>
                </a:solidFill>
                <a:latin typeface="Arial" pitchFamily="34" charset="0"/>
                <a:ea typeface="Arial" pitchFamily="34" charset="-122"/>
                <a:cs typeface="Arial" pitchFamily="34" charset="-120"/>
              </a:rPr>
              <a:t>Copernicus  or  Ibn al-Haytham?</a:t>
            </a:r>
            <a:endParaRPr lang="en-US" sz="1300" dirty="0"/>
          </a:p>
        </p:txBody>
      </p:sp>
      <p:sp>
        <p:nvSpPr>
          <p:cNvPr id="11" name="wc1_a"/>
          <p:cNvSpPr/>
          <p:nvPr/>
        </p:nvSpPr>
        <p:spPr>
          <a:xfrm>
            <a:off x="5166360" y="3291840"/>
            <a:ext cx="2103120" cy="420624"/>
          </a:xfrm>
          <a:prstGeom prst="roundRect">
            <a:avLst>
              <a:gd name="adj" fmla="val 19565"/>
            </a:avLst>
          </a:prstGeom>
          <a:solidFill>
            <a:srgbClr val="FDEEDC"/>
          </a:solidFill>
          <a:ln w="16510">
            <a:solidFill>
              <a:srgbClr val="F2A03D"/>
            </a:solidFill>
          </a:ln>
        </p:spPr>
        <p:txBody>
          <a:bodyPr wrap="square" lIns="0" tIns="0" rIns="0" bIns="0" rtlCol="0" anchor="ctr"/>
          <a:lstStyle/>
          <a:p>
            <a:pPr algn="ctr" indent="0" marL="0">
              <a:buNone/>
            </a:pPr>
            <a:r>
              <a:rPr lang="en-US" sz="1200" b="1" dirty="0">
                <a:solidFill>
                  <a:srgbClr val="4A2C6F"/>
                </a:solidFill>
                <a:latin typeface="Arial" pitchFamily="34" charset="0"/>
                <a:ea typeface="Arial" pitchFamily="34" charset="-122"/>
                <a:cs typeface="Arial" pitchFamily="34" charset="-120"/>
              </a:rPr>
              <a:t>Ibn al-Haytham</a:t>
            </a:r>
            <a:endParaRPr lang="en-US" sz="1200" dirty="0"/>
          </a:p>
        </p:txBody>
      </p:sp>
      <p:sp>
        <p:nvSpPr>
          <p:cNvPr id="12" name="wc1_w"/>
          <p:cNvSpPr txBox="1"/>
          <p:nvPr/>
        </p:nvSpPr>
        <p:spPr>
          <a:xfrm>
            <a:off x="7452360" y="3218688"/>
            <a:ext cx="4236415" cy="566928"/>
          </a:xfrm>
          <a:prstGeom prst="rect">
            <a:avLst/>
          </a:prstGeom>
          <a:noFill/>
          <a:ln/>
        </p:spPr>
        <p:txBody>
          <a:bodyPr wrap="square" lIns="0" tIns="0" rIns="0" bIns="0" rtlCol="0" anchor="ctr"/>
          <a:lstStyle/>
          <a:p>
            <a:pPr indent="0" marL="0">
              <a:buNone/>
            </a:pPr>
            <a:r>
              <a:rPr lang="en-US" sz="1150" dirty="0">
                <a:solidFill>
                  <a:srgbClr val="6A6180"/>
                </a:solidFill>
                <a:latin typeface="Arial" pitchFamily="34" charset="0"/>
                <a:ea typeface="Arial" pitchFamily="34" charset="-122"/>
                <a:cs typeface="Arial" pitchFamily="34" charset="-120"/>
              </a:rPr>
              <a:t>About 1020 against 1543. Five centuries earlier.</a:t>
            </a:r>
            <a:endParaRPr lang="en-US" sz="1150" dirty="0"/>
          </a:p>
        </p:txBody>
      </p:sp>
      <p:sp>
        <p:nvSpPr>
          <p:cNvPr id="13" name="wc2_bg"/>
          <p:cNvSpPr/>
          <p:nvPr/>
        </p:nvSpPr>
        <p:spPr>
          <a:xfrm>
            <a:off x="502920" y="3913632"/>
            <a:ext cx="11185855" cy="566928"/>
          </a:xfrm>
          <a:prstGeom prst="roundRect">
            <a:avLst>
              <a:gd name="adj" fmla="val 22581"/>
            </a:avLst>
          </a:prstGeom>
          <a:solidFill>
            <a:srgbClr val="FFFFFF"/>
          </a:solidFill>
          <a:ln w="15875">
            <a:solidFill>
              <a:srgbClr val="E3DAF0"/>
            </a:solidFill>
            <a:prstDash val="solid"/>
          </a:ln>
        </p:spPr>
      </p:sp>
      <p:sp>
        <p:nvSpPr>
          <p:cNvPr id="14" name="wc2_q"/>
          <p:cNvSpPr txBox="1"/>
          <p:nvPr/>
        </p:nvSpPr>
        <p:spPr>
          <a:xfrm>
            <a:off x="722376" y="3913632"/>
            <a:ext cx="4297680" cy="566928"/>
          </a:xfrm>
          <a:prstGeom prst="rect">
            <a:avLst/>
          </a:prstGeom>
          <a:noFill/>
          <a:ln/>
        </p:spPr>
        <p:txBody>
          <a:bodyPr wrap="square" lIns="0" tIns="0" rIns="0" bIns="0" rtlCol="0" anchor="ctr"/>
          <a:lstStyle/>
          <a:p>
            <a:pPr indent="0" marL="0">
              <a:buNone/>
            </a:pPr>
            <a:r>
              <a:rPr lang="en-US" sz="1300" dirty="0">
                <a:solidFill>
                  <a:srgbClr val="241535"/>
                </a:solidFill>
                <a:latin typeface="Arial" pitchFamily="34" charset="0"/>
                <a:ea typeface="Arial" pitchFamily="34" charset="-122"/>
                <a:cs typeface="Arial" pitchFamily="34" charset="-120"/>
              </a:rPr>
              <a:t>Darwin  or  pulsars?</a:t>
            </a:r>
            <a:endParaRPr lang="en-US" sz="1300" dirty="0"/>
          </a:p>
        </p:txBody>
      </p:sp>
      <p:sp>
        <p:nvSpPr>
          <p:cNvPr id="15" name="wc2_a"/>
          <p:cNvSpPr/>
          <p:nvPr/>
        </p:nvSpPr>
        <p:spPr>
          <a:xfrm>
            <a:off x="5166360" y="3986784"/>
            <a:ext cx="2103120" cy="420624"/>
          </a:xfrm>
          <a:prstGeom prst="roundRect">
            <a:avLst>
              <a:gd name="adj" fmla="val 19565"/>
            </a:avLst>
          </a:prstGeom>
          <a:solidFill>
            <a:srgbClr val="FDEEDC"/>
          </a:solidFill>
          <a:ln w="16510">
            <a:solidFill>
              <a:srgbClr val="F2A03D"/>
            </a:solidFill>
          </a:ln>
        </p:spPr>
        <p:txBody>
          <a:bodyPr wrap="square" lIns="0" tIns="0" rIns="0" bIns="0" rtlCol="0" anchor="ctr"/>
          <a:lstStyle/>
          <a:p>
            <a:pPr algn="ctr" indent="0" marL="0">
              <a:buNone/>
            </a:pPr>
            <a:r>
              <a:rPr lang="en-US" sz="1200" b="1" dirty="0">
                <a:solidFill>
                  <a:srgbClr val="4A2C6F"/>
                </a:solidFill>
                <a:latin typeface="Arial" pitchFamily="34" charset="0"/>
                <a:ea typeface="Arial" pitchFamily="34" charset="-122"/>
                <a:cs typeface="Arial" pitchFamily="34" charset="-120"/>
              </a:rPr>
              <a:t>Darwin</a:t>
            </a:r>
            <a:endParaRPr lang="en-US" sz="1200" dirty="0"/>
          </a:p>
        </p:txBody>
      </p:sp>
      <p:sp>
        <p:nvSpPr>
          <p:cNvPr id="16" name="wc2_w"/>
          <p:cNvSpPr txBox="1"/>
          <p:nvPr/>
        </p:nvSpPr>
        <p:spPr>
          <a:xfrm>
            <a:off x="7452360" y="3913632"/>
            <a:ext cx="4236415" cy="566928"/>
          </a:xfrm>
          <a:prstGeom prst="rect">
            <a:avLst/>
          </a:prstGeom>
          <a:noFill/>
          <a:ln/>
        </p:spPr>
        <p:txBody>
          <a:bodyPr wrap="square" lIns="0" tIns="0" rIns="0" bIns="0" rtlCol="0" anchor="ctr"/>
          <a:lstStyle/>
          <a:p>
            <a:pPr indent="0" marL="0">
              <a:buNone/>
            </a:pPr>
            <a:r>
              <a:rPr lang="en-US" sz="1150" dirty="0">
                <a:solidFill>
                  <a:srgbClr val="6A6180"/>
                </a:solidFill>
                <a:latin typeface="Arial" pitchFamily="34" charset="0"/>
                <a:ea typeface="Arial" pitchFamily="34" charset="-122"/>
                <a:cs typeface="Arial" pitchFamily="34" charset="-120"/>
              </a:rPr>
              <a:t>1859 against 1967.</a:t>
            </a:r>
            <a:endParaRPr lang="en-US" sz="1150" dirty="0"/>
          </a:p>
        </p:txBody>
      </p:sp>
      <p:sp>
        <p:nvSpPr>
          <p:cNvPr id="17" name="wc3_bg"/>
          <p:cNvSpPr/>
          <p:nvPr/>
        </p:nvSpPr>
        <p:spPr>
          <a:xfrm>
            <a:off x="502920" y="4608576"/>
            <a:ext cx="11185855" cy="566928"/>
          </a:xfrm>
          <a:prstGeom prst="roundRect">
            <a:avLst>
              <a:gd name="adj" fmla="val 22581"/>
            </a:avLst>
          </a:prstGeom>
          <a:solidFill>
            <a:srgbClr val="FFFFFF"/>
          </a:solidFill>
          <a:ln w="15875">
            <a:solidFill>
              <a:srgbClr val="E3DAF0"/>
            </a:solidFill>
            <a:prstDash val="solid"/>
          </a:ln>
        </p:spPr>
      </p:sp>
      <p:sp>
        <p:nvSpPr>
          <p:cNvPr id="18" name="wc3_q"/>
          <p:cNvSpPr txBox="1"/>
          <p:nvPr/>
        </p:nvSpPr>
        <p:spPr>
          <a:xfrm>
            <a:off x="722376" y="4608576"/>
            <a:ext cx="4297680" cy="566928"/>
          </a:xfrm>
          <a:prstGeom prst="rect">
            <a:avLst/>
          </a:prstGeom>
          <a:noFill/>
          <a:ln/>
        </p:spPr>
        <p:txBody>
          <a:bodyPr wrap="square" lIns="0" tIns="0" rIns="0" bIns="0" rtlCol="0" anchor="ctr"/>
          <a:lstStyle/>
          <a:p>
            <a:pPr indent="0" marL="0">
              <a:buNone/>
            </a:pPr>
            <a:r>
              <a:rPr lang="en-US" sz="1300" dirty="0">
                <a:solidFill>
                  <a:srgbClr val="241535"/>
                </a:solidFill>
                <a:latin typeface="Arial" pitchFamily="34" charset="0"/>
                <a:ea typeface="Arial" pitchFamily="34" charset="-122"/>
                <a:cs typeface="Arial" pitchFamily="34" charset="-120"/>
              </a:rPr>
              <a:t>The shape of DNA  or  pulsars?</a:t>
            </a:r>
            <a:endParaRPr lang="en-US" sz="1300" dirty="0"/>
          </a:p>
        </p:txBody>
      </p:sp>
      <p:sp>
        <p:nvSpPr>
          <p:cNvPr id="19" name="wc3_a"/>
          <p:cNvSpPr/>
          <p:nvPr/>
        </p:nvSpPr>
        <p:spPr>
          <a:xfrm>
            <a:off x="5166360" y="4681728"/>
            <a:ext cx="2103120" cy="420624"/>
          </a:xfrm>
          <a:prstGeom prst="roundRect">
            <a:avLst>
              <a:gd name="adj" fmla="val 19565"/>
            </a:avLst>
          </a:prstGeom>
          <a:solidFill>
            <a:srgbClr val="FDEEDC"/>
          </a:solidFill>
          <a:ln w="16510">
            <a:solidFill>
              <a:srgbClr val="F2A03D"/>
            </a:solidFill>
          </a:ln>
        </p:spPr>
        <p:txBody>
          <a:bodyPr wrap="square" lIns="0" tIns="0" rIns="0" bIns="0" rtlCol="0" anchor="ctr"/>
          <a:lstStyle/>
          <a:p>
            <a:pPr algn="ctr" indent="0" marL="0">
              <a:buNone/>
            </a:pPr>
            <a:r>
              <a:rPr lang="en-US" sz="1200" b="1" dirty="0">
                <a:solidFill>
                  <a:srgbClr val="4A2C6F"/>
                </a:solidFill>
                <a:latin typeface="Arial" pitchFamily="34" charset="0"/>
                <a:ea typeface="Arial" pitchFamily="34" charset="-122"/>
                <a:cs typeface="Arial" pitchFamily="34" charset="-120"/>
              </a:rPr>
              <a:t>DNA</a:t>
            </a:r>
            <a:endParaRPr lang="en-US" sz="1200" dirty="0"/>
          </a:p>
        </p:txBody>
      </p:sp>
      <p:sp>
        <p:nvSpPr>
          <p:cNvPr id="20" name="wc3_w"/>
          <p:cNvSpPr txBox="1"/>
          <p:nvPr/>
        </p:nvSpPr>
        <p:spPr>
          <a:xfrm>
            <a:off x="7452360" y="4608576"/>
            <a:ext cx="4236415" cy="566928"/>
          </a:xfrm>
          <a:prstGeom prst="rect">
            <a:avLst/>
          </a:prstGeom>
          <a:noFill/>
          <a:ln/>
        </p:spPr>
        <p:txBody>
          <a:bodyPr wrap="square" lIns="0" tIns="0" rIns="0" bIns="0" rtlCol="0" anchor="ctr"/>
          <a:lstStyle/>
          <a:p>
            <a:pPr indent="0" marL="0">
              <a:buNone/>
            </a:pPr>
            <a:r>
              <a:rPr lang="en-US" sz="1150" dirty="0">
                <a:solidFill>
                  <a:srgbClr val="6A6180"/>
                </a:solidFill>
                <a:latin typeface="Arial" pitchFamily="34" charset="0"/>
                <a:ea typeface="Arial" pitchFamily="34" charset="-122"/>
                <a:cs typeface="Arial" pitchFamily="34" charset="-120"/>
              </a:rPr>
              <a:t>1953 against 1967. Only fourteen years apart.</a:t>
            </a:r>
            <a:endParaRPr lang="en-US" sz="1150" dirty="0"/>
          </a:p>
        </p:txBody>
      </p:sp>
      <p:sp>
        <p:nvSpPr>
          <p:cNvPr id="21" name="wc4_bg"/>
          <p:cNvSpPr/>
          <p:nvPr/>
        </p:nvSpPr>
        <p:spPr>
          <a:xfrm>
            <a:off x="502920" y="5303520"/>
            <a:ext cx="11185855" cy="566928"/>
          </a:xfrm>
          <a:prstGeom prst="roundRect">
            <a:avLst>
              <a:gd name="adj" fmla="val 22581"/>
            </a:avLst>
          </a:prstGeom>
          <a:solidFill>
            <a:srgbClr val="FFFFFF"/>
          </a:solidFill>
          <a:ln w="15875">
            <a:solidFill>
              <a:srgbClr val="E3DAF0"/>
            </a:solidFill>
            <a:prstDash val="solid"/>
          </a:ln>
        </p:spPr>
      </p:sp>
      <p:sp>
        <p:nvSpPr>
          <p:cNvPr id="22" name="wc4_q"/>
          <p:cNvSpPr txBox="1"/>
          <p:nvPr/>
        </p:nvSpPr>
        <p:spPr>
          <a:xfrm>
            <a:off x="722376" y="5303520"/>
            <a:ext cx="4297680" cy="566928"/>
          </a:xfrm>
          <a:prstGeom prst="rect">
            <a:avLst/>
          </a:prstGeom>
          <a:noFill/>
          <a:ln/>
        </p:spPr>
        <p:txBody>
          <a:bodyPr wrap="square" lIns="0" tIns="0" rIns="0" bIns="0" rtlCol="0" anchor="ctr"/>
          <a:lstStyle/>
          <a:p>
            <a:pPr indent="0" marL="0">
              <a:buNone/>
            </a:pPr>
            <a:r>
              <a:rPr lang="en-US" sz="1300" dirty="0">
                <a:solidFill>
                  <a:srgbClr val="241535"/>
                </a:solidFill>
                <a:latin typeface="Arial" pitchFamily="34" charset="0"/>
                <a:ea typeface="Arial" pitchFamily="34" charset="-122"/>
                <a:cs typeface="Arial" pitchFamily="34" charset="-120"/>
              </a:rPr>
              <a:t>Copernicus  or  seeing cells?</a:t>
            </a:r>
            <a:endParaRPr lang="en-US" sz="1300" dirty="0"/>
          </a:p>
        </p:txBody>
      </p:sp>
      <p:sp>
        <p:nvSpPr>
          <p:cNvPr id="23" name="wc4_a"/>
          <p:cNvSpPr/>
          <p:nvPr/>
        </p:nvSpPr>
        <p:spPr>
          <a:xfrm>
            <a:off x="5166360" y="5376672"/>
            <a:ext cx="2103120" cy="420624"/>
          </a:xfrm>
          <a:prstGeom prst="roundRect">
            <a:avLst>
              <a:gd name="adj" fmla="val 19565"/>
            </a:avLst>
          </a:prstGeom>
          <a:solidFill>
            <a:srgbClr val="FDEEDC"/>
          </a:solidFill>
          <a:ln w="16510">
            <a:solidFill>
              <a:srgbClr val="F2A03D"/>
            </a:solidFill>
          </a:ln>
        </p:spPr>
        <p:txBody>
          <a:bodyPr wrap="square" lIns="0" tIns="0" rIns="0" bIns="0" rtlCol="0" anchor="ctr"/>
          <a:lstStyle/>
          <a:p>
            <a:pPr algn="ctr" indent="0" marL="0">
              <a:buNone/>
            </a:pPr>
            <a:r>
              <a:rPr lang="en-US" sz="1200" b="1" dirty="0">
                <a:solidFill>
                  <a:srgbClr val="4A2C6F"/>
                </a:solidFill>
                <a:latin typeface="Arial" pitchFamily="34" charset="0"/>
                <a:ea typeface="Arial" pitchFamily="34" charset="-122"/>
                <a:cs typeface="Arial" pitchFamily="34" charset="-120"/>
              </a:rPr>
              <a:t>Copernicus</a:t>
            </a:r>
            <a:endParaRPr lang="en-US" sz="1200" dirty="0"/>
          </a:p>
        </p:txBody>
      </p:sp>
      <p:sp>
        <p:nvSpPr>
          <p:cNvPr id="24" name="wc4_w"/>
          <p:cNvSpPr txBox="1"/>
          <p:nvPr/>
        </p:nvSpPr>
        <p:spPr>
          <a:xfrm>
            <a:off x="7452360" y="5303520"/>
            <a:ext cx="4236415" cy="566928"/>
          </a:xfrm>
          <a:prstGeom prst="rect">
            <a:avLst/>
          </a:prstGeom>
          <a:noFill/>
          <a:ln/>
        </p:spPr>
        <p:txBody>
          <a:bodyPr wrap="square" lIns="0" tIns="0" rIns="0" bIns="0" rtlCol="0" anchor="ctr"/>
          <a:lstStyle/>
          <a:p>
            <a:pPr indent="0" marL="0">
              <a:buNone/>
            </a:pPr>
            <a:r>
              <a:rPr lang="en-US" sz="1150" dirty="0">
                <a:solidFill>
                  <a:srgbClr val="6A6180"/>
                </a:solidFill>
                <a:latin typeface="Arial" pitchFamily="34" charset="0"/>
                <a:ea typeface="Arial" pitchFamily="34" charset="-122"/>
                <a:cs typeface="Arial" pitchFamily="34" charset="-120"/>
              </a:rPr>
              <a:t>1543 against 1665.</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3" presetClass="entr" presetSubtype="16" fill="hold" grpId="0" nodeType="click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fade">
                                      <p:cBhvr>
                                        <p:cTn id="4" dur="400"/>
                                        <p:tgtEl>
                                          <p:spTgt spid="7"/>
                                        </p:tgtEl>
                                      </p:cBhvr>
                                    </p:animEffect>
                                    <p:animScale>
                                      <p:cBhvr>
                                        <p:cTn id="5" dur="400" fill="hold"/>
                                        <p:tgtEl>
                                          <p:spTgt spid="7"/>
                                        </p:tgtEl>
                                      </p:cBhvr>
                                      <p:from x="0" y="0"/>
                                      <p:to x="100000" y="100000"/>
                                    </p:animScale>
                                  </p:childTnLst>
                                </p:cTn>
                              </p:par>
                            </p:childTnLst>
                          </p:cTn>
                        </p:par>
                      </p:childTnLst>
                    </p:cTn>
                  </p:par>
                  <p:par>
                    <p:cTn id="12" fill="hold">
                      <p:stCondLst>
                        <p:cond delay="indefinite"/>
                      </p:stCondLst>
                      <p:childTnLst>
                        <p:par>
                          <p:cTn id="13" fill="hold">
                            <p:stCondLst>
                              <p:cond delay="0"/>
                            </p:stCondLst>
                            <p:childTnLst>
                              <p:par>
                                <p:cTn id="11" presetID="10" presetClass="entr" presetSubtype="0" fill="hold" grpId="0"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childTnLst>
                          </p:cTn>
                        </p:par>
                      </p:childTnLst>
                    </p:cTn>
                  </p:par>
                  <p:par>
                    <p:cTn id="18" fill="hold">
                      <p:stCondLst>
                        <p:cond delay="indefinite"/>
                      </p:stCondLst>
                      <p:childTnLst>
                        <p:par>
                          <p:cTn id="19" fill="hold">
                            <p:stCondLst>
                              <p:cond delay="0"/>
                            </p:stCondLst>
                            <p:childTnLst>
                              <p:par>
                                <p:cTn id="17" presetID="23" presetClass="entr" presetSubtype="16"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00"/>
                                        <p:tgtEl>
                                          <p:spTgt spid="11"/>
                                        </p:tgtEl>
                                      </p:cBhvr>
                                    </p:animEffect>
                                    <p:animScale>
                                      <p:cBhvr>
                                        <p:cTn id="16" dur="400" fill="hold"/>
                                        <p:tgtEl>
                                          <p:spTgt spid="11"/>
                                        </p:tgtEl>
                                      </p:cBhvr>
                                      <p:from x="0" y="0"/>
                                      <p:to x="100000" y="100000"/>
                                    </p:animScale>
                                  </p:childTnLst>
                                </p:cTn>
                              </p:par>
                            </p:childTnLst>
                          </p:cTn>
                        </p:par>
                      </p:childTnLst>
                    </p:cTn>
                  </p:par>
                  <p:par>
                    <p:cTn id="23" fill="hold">
                      <p:stCondLst>
                        <p:cond delay="indefinite"/>
                      </p:stCondLst>
                      <p:childTnLst>
                        <p:par>
                          <p:cTn id="24" fill="hold">
                            <p:stCondLst>
                              <p:cond delay="0"/>
                            </p:stCondLst>
                            <p:childTnLst>
                              <p:par>
                                <p:cTn id="22"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00"/>
                                        <p:tgtEl>
                                          <p:spTgt spid="12"/>
                                        </p:tgtEl>
                                      </p:cBhvr>
                                    </p:animEffect>
                                  </p:childTnLst>
                                </p:cTn>
                              </p:par>
                            </p:childTnLst>
                          </p:cTn>
                        </p:par>
                      </p:childTnLst>
                    </p:cTn>
                  </p:par>
                  <p:par>
                    <p:cTn id="29" fill="hold">
                      <p:stCondLst>
                        <p:cond delay="indefinite"/>
                      </p:stCondLst>
                      <p:childTnLst>
                        <p:par>
                          <p:cTn id="30" fill="hold">
                            <p:stCondLst>
                              <p:cond delay="0"/>
                            </p:stCondLst>
                            <p:childTnLst>
                              <p:par>
                                <p:cTn id="28" presetID="23" presetClass="entr" presetSubtype="16"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animScale>
                                      <p:cBhvr>
                                        <p:cTn id="27" dur="400" fill="hold"/>
                                        <p:tgtEl>
                                          <p:spTgt spid="15"/>
                                        </p:tgtEl>
                                      </p:cBhvr>
                                      <p:from x="0" y="0"/>
                                      <p:to x="100000" y="100000"/>
                                    </p:animScale>
                                  </p:childTnLst>
                                </p:cTn>
                              </p:par>
                            </p:childTnLst>
                          </p:cTn>
                        </p:par>
                      </p:childTnLst>
                    </p:cTn>
                  </p:par>
                  <p:par>
                    <p:cTn id="34" fill="hold">
                      <p:stCondLst>
                        <p:cond delay="indefinite"/>
                      </p:stCondLst>
                      <p:childTnLst>
                        <p:par>
                          <p:cTn id="35" fill="hold">
                            <p:stCondLst>
                              <p:cond delay="0"/>
                            </p:stCondLst>
                            <p:childTnLst>
                              <p:par>
                                <p:cTn id="33"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childTnLst>
                          </p:cTn>
                        </p:par>
                      </p:childTnLst>
                    </p:cTn>
                  </p:par>
                  <p:par>
                    <p:cTn id="40" fill="hold">
                      <p:stCondLst>
                        <p:cond delay="indefinite"/>
                      </p:stCondLst>
                      <p:childTnLst>
                        <p:par>
                          <p:cTn id="41" fill="hold">
                            <p:stCondLst>
                              <p:cond delay="0"/>
                            </p:stCondLst>
                            <p:childTnLst>
                              <p:par>
                                <p:cTn id="39" presetID="23" presetClass="entr" presetSubtype="16"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400"/>
                                        <p:tgtEl>
                                          <p:spTgt spid="19"/>
                                        </p:tgtEl>
                                      </p:cBhvr>
                                    </p:animEffect>
                                    <p:animScale>
                                      <p:cBhvr>
                                        <p:cTn id="38" dur="400" fill="hold"/>
                                        <p:tgtEl>
                                          <p:spTgt spid="19"/>
                                        </p:tgtEl>
                                      </p:cBhvr>
                                      <p:from x="0" y="0"/>
                                      <p:to x="100000" y="100000"/>
                                    </p:animScale>
                                  </p:childTnLst>
                                </p:cTn>
                              </p:par>
                            </p:childTnLst>
                          </p:cTn>
                        </p:par>
                      </p:childTnLst>
                    </p:cTn>
                  </p:par>
                  <p:par>
                    <p:cTn id="45" fill="hold">
                      <p:stCondLst>
                        <p:cond delay="indefinite"/>
                      </p:stCondLst>
                      <p:childTnLst>
                        <p:par>
                          <p:cTn id="46" fill="hold">
                            <p:stCondLst>
                              <p:cond delay="0"/>
                            </p:stCondLst>
                            <p:childTnLst>
                              <p:par>
                                <p:cTn id="44" presetID="10"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1" fill="hold">
                      <p:stCondLst>
                        <p:cond delay="indefinite"/>
                      </p:stCondLst>
                      <p:childTnLst>
                        <p:par>
                          <p:cTn id="52" fill="hold">
                            <p:stCondLst>
                              <p:cond delay="0"/>
                            </p:stCondLst>
                            <p:childTnLst>
                              <p:par>
                                <p:cTn id="50" presetID="23" presetClass="entr" presetSubtype="16" fill="hold" grpId="0" nodeType="click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400"/>
                                        <p:tgtEl>
                                          <p:spTgt spid="23"/>
                                        </p:tgtEl>
                                      </p:cBhvr>
                                    </p:animEffect>
                                    <p:animScale>
                                      <p:cBhvr>
                                        <p:cTn id="49" dur="400" fill="hold"/>
                                        <p:tgtEl>
                                          <p:spTgt spid="23"/>
                                        </p:tgtEl>
                                      </p:cBhvr>
                                      <p:from x="0" y="0"/>
                                      <p:to x="100000" y="100000"/>
                                    </p:animScale>
                                  </p:childTnLst>
                                </p:cTn>
                              </p:par>
                            </p:childTnLst>
                          </p:cTn>
                        </p:par>
                      </p:childTnLst>
                    </p:cTn>
                  </p:par>
                  <p:par>
                    <p:cTn id="56" fill="hold">
                      <p:stCondLst>
                        <p:cond delay="indefinite"/>
                      </p:stCondLst>
                      <p:childTnLst>
                        <p:par>
                          <p:cTn id="57" fill="hold">
                            <p:stCondLst>
                              <p:cond delay="0"/>
                            </p:stCondLst>
                            <p:childTnLst>
                              <p:par>
                                <p:cTn id="55" presetID="10" presetClass="entr" presetSubtype="0" fill="hold" grpId="0" nodeType="click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FB"/>
        </a:solidFill>
      </p:bgPr>
    </p:bg>
    <p:spTree>
      <p:nvGrpSpPr>
        <p:cNvPr id="1" name=""/>
        <p:cNvGrpSpPr/>
        <p:nvPr/>
      </p:nvGrpSpPr>
      <p:grpSpPr>
        <a:xfrm>
          <a:off x="0" y="0"/>
          <a:ext cx="0" cy="0"/>
          <a:chOff x="0" y="0"/>
          <a:chExt cx="0" cy="0"/>
        </a:xfrm>
      </p:grpSpPr>
      <p:sp>
        <p:nvSpPr>
          <p:cNvPr id="2" name="phase_pill"/>
          <p:cNvSpPr/>
          <p:nvPr/>
        </p:nvSpPr>
        <p:spPr>
          <a:xfrm>
            <a:off x="502920" y="274320"/>
            <a:ext cx="2139696" cy="347472"/>
          </a:xfrm>
          <a:prstGeom prst="roundRect">
            <a:avLst>
              <a:gd name="adj" fmla="val 50000"/>
            </a:avLst>
          </a:prstGeom>
          <a:solidFill>
            <a:srgbClr val="4A2C6F"/>
          </a:solidFill>
          <a:ln/>
        </p:spPr>
        <p:txBody>
          <a:bodyPr wrap="square" lIns="0" tIns="0" rIns="0" bIns="0" rtlCol="0" anchor="ctr"/>
          <a:lstStyle/>
          <a:p>
            <a:pPr algn="ctr" indent="0" marL="0">
              <a:buNone/>
            </a:pPr>
            <a:r>
              <a:rPr lang="en-US" sz="1100" b="1" spc="110" kern="0" dirty="0">
                <a:solidFill>
                  <a:srgbClr val="F7F4FB"/>
                </a:solidFill>
                <a:latin typeface="Arial" pitchFamily="34" charset="0"/>
                <a:ea typeface="Arial" pitchFamily="34" charset="-122"/>
                <a:cs typeface="Arial" pitchFamily="34" charset="-120"/>
              </a:rPr>
              <a:t>I DO · 8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4A2C6F"/>
                </a:solidFill>
                <a:latin typeface="Georgia" pitchFamily="34" charset="0"/>
                <a:ea typeface="Georgia" pitchFamily="34" charset="-122"/>
                <a:cs typeface="Georgia" pitchFamily="34" charset="-120"/>
              </a:rPr>
              <a:t>Three scientists you were not told about</a:t>
            </a:r>
            <a:endParaRPr lang="en-US" sz="3000" dirty="0"/>
          </a:p>
        </p:txBody>
      </p:sp>
      <p:sp>
        <p:nvSpPr>
          <p:cNvPr id="4" name="pp0_bg"/>
          <p:cNvSpPr/>
          <p:nvPr/>
        </p:nvSpPr>
        <p:spPr>
          <a:xfrm>
            <a:off x="502920" y="2011680"/>
            <a:ext cx="3557930" cy="3712464"/>
          </a:xfrm>
          <a:prstGeom prst="roundRect">
            <a:avLst>
              <a:gd name="adj" fmla="val 3598"/>
            </a:avLst>
          </a:prstGeom>
          <a:solidFill>
            <a:srgbClr val="FFFFFF"/>
          </a:solidFill>
          <a:ln w="15875">
            <a:solidFill>
              <a:srgbClr val="E3DAF0"/>
            </a:solidFill>
            <a:prstDash val="solid"/>
          </a:ln>
        </p:spPr>
      </p:sp>
      <p:grpSp>
        <p:nvGrpSpPr>
          <p:cNvPr id="22" name="pp0_head"/>
          <p:cNvGrpSpPr/>
          <p:nvPr/>
        </p:nvGrpSpPr>
        <p:grpSpPr>
          <a:xfrm>
            <a:off x="630936" y="2194560"/>
            <a:ext cx="3301898" cy="1865376"/>
            <a:chOff x="630936" y="2194560"/>
            <a:chExt cx="3301898" cy="1865376"/>
          </a:xfrm>
        </p:grpSpPr>
        <p:pic>
          <p:nvPicPr>
            <p:cNvPr id="5" name="pp0_face" descr="/home/claude/build/img_y7l3/anning_sq.jpg">    </p:cNvPr>
            <p:cNvPicPr>
              <a:picLocks noChangeAspect="1"/>
            </p:cNvPicPr>
            <p:nvPr/>
          </p:nvPicPr>
          <p:blipFill>
            <a:blip r:embed="rId1"/>
            <a:stretch>
              <a:fillRect/>
            </a:stretch>
          </p:blipFill>
          <p:spPr>
            <a:xfrm>
              <a:off x="1687525" y="2194560"/>
              <a:ext cx="1188720" cy="1188720"/>
            </a:xfrm>
            <a:prstGeom prst="rect">
              <a:avLst/>
            </a:prstGeom>
          </p:spPr>
        </p:pic>
        <p:sp>
          <p:nvSpPr>
            <p:cNvPr id="6" name="pp0_name"/>
            <p:cNvSpPr txBox="1"/>
            <p:nvPr/>
          </p:nvSpPr>
          <p:spPr>
            <a:xfrm>
              <a:off x="630936" y="3474720"/>
              <a:ext cx="3301898" cy="347472"/>
            </a:xfrm>
            <a:prstGeom prst="rect">
              <a:avLst/>
            </a:prstGeom>
            <a:noFill/>
            <a:ln/>
          </p:spPr>
          <p:txBody>
            <a:bodyPr wrap="square" lIns="0" tIns="0" rIns="0" bIns="0" rtlCol="0" anchor="ctr"/>
            <a:lstStyle/>
            <a:p>
              <a:pPr algn="ctr" indent="0" marL="0">
                <a:buNone/>
              </a:pPr>
              <a:r>
                <a:rPr lang="en-US" sz="1600" b="1" dirty="0">
                  <a:solidFill>
                    <a:srgbClr val="4A2C6F"/>
                  </a:solidFill>
                  <a:latin typeface="Georgia" pitchFamily="34" charset="0"/>
                  <a:ea typeface="Georgia" pitchFamily="34" charset="-122"/>
                  <a:cs typeface="Georgia" pitchFamily="34" charset="-120"/>
                </a:rPr>
                <a:t>Mary Anning</a:t>
              </a:r>
              <a:endParaRPr lang="en-US" sz="1600" dirty="0"/>
            </a:p>
          </p:txBody>
        </p:sp>
        <p:sp>
          <p:nvSpPr>
            <p:cNvPr id="7" name="pp0_dates"/>
            <p:cNvSpPr txBox="1"/>
            <p:nvPr/>
          </p:nvSpPr>
          <p:spPr>
            <a:xfrm>
              <a:off x="630936" y="3803904"/>
              <a:ext cx="3301898" cy="256032"/>
            </a:xfrm>
            <a:prstGeom prst="rect">
              <a:avLst/>
            </a:prstGeom>
            <a:noFill/>
            <a:ln/>
          </p:spPr>
          <p:txBody>
            <a:bodyPr wrap="square" lIns="0" tIns="0" rIns="0" bIns="0" rtlCol="0" anchor="ctr"/>
            <a:lstStyle/>
            <a:p>
              <a:pPr algn="ctr" indent="0" marL="0">
                <a:buNone/>
              </a:pPr>
              <a:r>
                <a:rPr lang="en-US" sz="1100" b="1" dirty="0">
                  <a:solidFill>
                    <a:srgbClr val="2BA6A0"/>
                  </a:solidFill>
                  <a:latin typeface="Arial" pitchFamily="34" charset="0"/>
                  <a:ea typeface="Arial" pitchFamily="34" charset="-122"/>
                  <a:cs typeface="Arial" pitchFamily="34" charset="-120"/>
                </a:rPr>
                <a:t>1799–1847</a:t>
              </a:r>
              <a:endParaRPr lang="en-US" sz="1100" dirty="0"/>
            </a:p>
          </p:txBody>
        </p:sp>
      </p:grpSp>
      <p:sp>
        <p:nvSpPr>
          <p:cNvPr id="8" name="pp0_did"/>
          <p:cNvSpPr txBox="1"/>
          <p:nvPr/>
        </p:nvSpPr>
        <p:spPr>
          <a:xfrm>
            <a:off x="685800" y="4114800"/>
            <a:ext cx="3192170" cy="640080"/>
          </a:xfrm>
          <a:prstGeom prst="rect">
            <a:avLst/>
          </a:prstGeom>
          <a:noFill/>
          <a:ln/>
        </p:spPr>
        <p:txBody>
          <a:bodyPr wrap="square" lIns="0" tIns="0" rIns="0" bIns="0" rtlCol="0" anchor="t"/>
          <a:lstStyle/>
          <a:p>
            <a:pPr algn="ctr" indent="0" marL="0">
              <a:lnSpc>
                <a:spcPts val="1600"/>
              </a:lnSpc>
              <a:buNone/>
            </a:pPr>
            <a:r>
              <a:rPr lang="en-US" sz="1200" dirty="0">
                <a:solidFill>
                  <a:srgbClr val="241535"/>
                </a:solidFill>
                <a:latin typeface="Arial" pitchFamily="34" charset="0"/>
                <a:ea typeface="Arial" pitchFamily="34" charset="-122"/>
                <a:cs typeface="Arial" pitchFamily="34" charset="-120"/>
              </a:rPr>
              <a:t>Aged twelve, she dug out the first complete fossil of an ichthyosaur.</a:t>
            </a:r>
            <a:endParaRPr lang="en-US" sz="1200" dirty="0"/>
          </a:p>
        </p:txBody>
      </p:sp>
      <p:sp>
        <p:nvSpPr>
          <p:cNvPr id="9" name="pp0_then"/>
          <p:cNvSpPr txBox="1"/>
          <p:nvPr/>
        </p:nvSpPr>
        <p:spPr>
          <a:xfrm>
            <a:off x="685800" y="4773168"/>
            <a:ext cx="3192170" cy="841248"/>
          </a:xfrm>
          <a:prstGeom prst="rect">
            <a:avLst/>
          </a:prstGeom>
          <a:noFill/>
          <a:ln/>
        </p:spPr>
        <p:txBody>
          <a:bodyPr wrap="square" lIns="0" tIns="0" rIns="0" bIns="0" rtlCol="0" anchor="t"/>
          <a:lstStyle/>
          <a:p>
            <a:pPr algn="ctr" indent="0" marL="0">
              <a:lnSpc>
                <a:spcPts val="1400"/>
              </a:lnSpc>
              <a:buNone/>
            </a:pPr>
            <a:r>
              <a:rPr lang="en-US" sz="1100" dirty="0">
                <a:solidFill>
                  <a:srgbClr val="D94F6A"/>
                </a:solidFill>
                <a:latin typeface="Arial" pitchFamily="34" charset="0"/>
                <a:ea typeface="Arial" pitchFamily="34" charset="-122"/>
                <a:cs typeface="Arial" pitchFamily="34" charset="-120"/>
              </a:rPr>
              <a:t>Papers about her fossils often left her name out. Women could not join the Geological Society of London until 1904 — fifty-seven years after she died.</a:t>
            </a:r>
            <a:endParaRPr lang="en-US" sz="1100" dirty="0"/>
          </a:p>
        </p:txBody>
      </p:sp>
      <p:sp>
        <p:nvSpPr>
          <p:cNvPr id="10" name="pp1_bg"/>
          <p:cNvSpPr/>
          <p:nvPr/>
        </p:nvSpPr>
        <p:spPr>
          <a:xfrm>
            <a:off x="4316882" y="2011680"/>
            <a:ext cx="3557930" cy="3712464"/>
          </a:xfrm>
          <a:prstGeom prst="roundRect">
            <a:avLst>
              <a:gd name="adj" fmla="val 3598"/>
            </a:avLst>
          </a:prstGeom>
          <a:solidFill>
            <a:srgbClr val="FFFFFF"/>
          </a:solidFill>
          <a:ln w="15875">
            <a:solidFill>
              <a:srgbClr val="E3DAF0"/>
            </a:solidFill>
            <a:prstDash val="solid"/>
          </a:ln>
        </p:spPr>
      </p:sp>
      <p:grpSp>
        <p:nvGrpSpPr>
          <p:cNvPr id="23" name="pp1_head"/>
          <p:cNvGrpSpPr/>
          <p:nvPr/>
        </p:nvGrpSpPr>
        <p:grpSpPr>
          <a:xfrm>
            <a:off x="4444898" y="2194560"/>
            <a:ext cx="3301898" cy="1865376"/>
            <a:chOff x="4444898" y="2194560"/>
            <a:chExt cx="3301898" cy="1865376"/>
          </a:xfrm>
        </p:grpSpPr>
        <p:pic>
          <p:nvPicPr>
            <p:cNvPr id="11" name="pp1_face" descr="/home/claude/build/img_y7l3/johnson_sq.jpg">    </p:cNvPr>
            <p:cNvPicPr>
              <a:picLocks noChangeAspect="1"/>
            </p:cNvPicPr>
            <p:nvPr/>
          </p:nvPicPr>
          <p:blipFill>
            <a:blip r:embed="rId2"/>
            <a:stretch>
              <a:fillRect/>
            </a:stretch>
          </p:blipFill>
          <p:spPr>
            <a:xfrm>
              <a:off x="5501488" y="2194560"/>
              <a:ext cx="1188720" cy="1188720"/>
            </a:xfrm>
            <a:prstGeom prst="rect">
              <a:avLst/>
            </a:prstGeom>
          </p:spPr>
        </p:pic>
        <p:sp>
          <p:nvSpPr>
            <p:cNvPr id="12" name="pp1_name"/>
            <p:cNvSpPr txBox="1"/>
            <p:nvPr/>
          </p:nvSpPr>
          <p:spPr>
            <a:xfrm>
              <a:off x="4444898" y="3474720"/>
              <a:ext cx="3301898" cy="347472"/>
            </a:xfrm>
            <a:prstGeom prst="rect">
              <a:avLst/>
            </a:prstGeom>
            <a:noFill/>
            <a:ln/>
          </p:spPr>
          <p:txBody>
            <a:bodyPr wrap="square" lIns="0" tIns="0" rIns="0" bIns="0" rtlCol="0" anchor="ctr"/>
            <a:lstStyle/>
            <a:p>
              <a:pPr algn="ctr" indent="0" marL="0">
                <a:buNone/>
              </a:pPr>
              <a:r>
                <a:rPr lang="en-US" sz="1600" b="1" dirty="0">
                  <a:solidFill>
                    <a:srgbClr val="4A2C6F"/>
                  </a:solidFill>
                  <a:latin typeface="Georgia" pitchFamily="34" charset="0"/>
                  <a:ea typeface="Georgia" pitchFamily="34" charset="-122"/>
                  <a:cs typeface="Georgia" pitchFamily="34" charset="-120"/>
                </a:rPr>
                <a:t>Katherine Johnson</a:t>
              </a:r>
              <a:endParaRPr lang="en-US" sz="1600" dirty="0"/>
            </a:p>
          </p:txBody>
        </p:sp>
        <p:sp>
          <p:nvSpPr>
            <p:cNvPr id="13" name="pp1_dates"/>
            <p:cNvSpPr txBox="1"/>
            <p:nvPr/>
          </p:nvSpPr>
          <p:spPr>
            <a:xfrm>
              <a:off x="4444898" y="3803904"/>
              <a:ext cx="3301898" cy="256032"/>
            </a:xfrm>
            <a:prstGeom prst="rect">
              <a:avLst/>
            </a:prstGeom>
            <a:noFill/>
            <a:ln/>
          </p:spPr>
          <p:txBody>
            <a:bodyPr wrap="square" lIns="0" tIns="0" rIns="0" bIns="0" rtlCol="0" anchor="ctr"/>
            <a:lstStyle/>
            <a:p>
              <a:pPr algn="ctr" indent="0" marL="0">
                <a:buNone/>
              </a:pPr>
              <a:r>
                <a:rPr lang="en-US" sz="1100" b="1" dirty="0">
                  <a:solidFill>
                    <a:srgbClr val="2BA6A0"/>
                  </a:solidFill>
                  <a:latin typeface="Arial" pitchFamily="34" charset="0"/>
                  <a:ea typeface="Arial" pitchFamily="34" charset="-122"/>
                  <a:cs typeface="Arial" pitchFamily="34" charset="-120"/>
                </a:rPr>
                <a:t>1918–2020</a:t>
              </a:r>
              <a:endParaRPr lang="en-US" sz="1100" dirty="0"/>
            </a:p>
          </p:txBody>
        </p:sp>
      </p:grpSp>
      <p:sp>
        <p:nvSpPr>
          <p:cNvPr id="14" name="pp1_did"/>
          <p:cNvSpPr txBox="1"/>
          <p:nvPr/>
        </p:nvSpPr>
        <p:spPr>
          <a:xfrm>
            <a:off x="4499762" y="4114800"/>
            <a:ext cx="3192170" cy="640080"/>
          </a:xfrm>
          <a:prstGeom prst="rect">
            <a:avLst/>
          </a:prstGeom>
          <a:noFill/>
          <a:ln/>
        </p:spPr>
        <p:txBody>
          <a:bodyPr wrap="square" lIns="0" tIns="0" rIns="0" bIns="0" rtlCol="0" anchor="t"/>
          <a:lstStyle/>
          <a:p>
            <a:pPr algn="ctr" indent="0" marL="0">
              <a:lnSpc>
                <a:spcPts val="1600"/>
              </a:lnSpc>
              <a:buNone/>
            </a:pPr>
            <a:r>
              <a:rPr lang="en-US" sz="1200" dirty="0">
                <a:solidFill>
                  <a:srgbClr val="241535"/>
                </a:solidFill>
                <a:latin typeface="Arial" pitchFamily="34" charset="0"/>
                <a:ea typeface="Arial" pitchFamily="34" charset="-122"/>
                <a:cs typeface="Arial" pitchFamily="34" charset="-120"/>
              </a:rPr>
              <a:t>She worked out the flight path for the first American to orbit the Earth.</a:t>
            </a:r>
            <a:endParaRPr lang="en-US" sz="1200" dirty="0"/>
          </a:p>
        </p:txBody>
      </p:sp>
      <p:sp>
        <p:nvSpPr>
          <p:cNvPr id="15" name="pp1_then"/>
          <p:cNvSpPr txBox="1"/>
          <p:nvPr/>
        </p:nvSpPr>
        <p:spPr>
          <a:xfrm>
            <a:off x="4499762" y="4773168"/>
            <a:ext cx="3192170" cy="841248"/>
          </a:xfrm>
          <a:prstGeom prst="rect">
            <a:avLst/>
          </a:prstGeom>
          <a:noFill/>
          <a:ln/>
        </p:spPr>
        <p:txBody>
          <a:bodyPr wrap="square" lIns="0" tIns="0" rIns="0" bIns="0" rtlCol="0" anchor="t"/>
          <a:lstStyle/>
          <a:p>
            <a:pPr algn="ctr" indent="0" marL="0">
              <a:lnSpc>
                <a:spcPts val="1400"/>
              </a:lnSpc>
              <a:buNone/>
            </a:pPr>
            <a:r>
              <a:rPr lang="en-US" sz="1100" dirty="0">
                <a:solidFill>
                  <a:srgbClr val="D94F6A"/>
                </a:solidFill>
                <a:latin typeface="Arial" pitchFamily="34" charset="0"/>
                <a:ea typeface="Arial" pitchFamily="34" charset="-122"/>
                <a:cs typeface="Arial" pitchFamily="34" charset="-120"/>
              </a:rPr>
              <a:t>He would not fly until she had checked the computer by hand. "If she says they’re good, then I’m ready to go."</a:t>
            </a:r>
            <a:endParaRPr lang="en-US" sz="1100" dirty="0"/>
          </a:p>
        </p:txBody>
      </p:sp>
      <p:sp>
        <p:nvSpPr>
          <p:cNvPr id="16" name="pp2_bg"/>
          <p:cNvSpPr/>
          <p:nvPr/>
        </p:nvSpPr>
        <p:spPr>
          <a:xfrm>
            <a:off x="8130845" y="2011680"/>
            <a:ext cx="3557930" cy="3712464"/>
          </a:xfrm>
          <a:prstGeom prst="roundRect">
            <a:avLst>
              <a:gd name="adj" fmla="val 3598"/>
            </a:avLst>
          </a:prstGeom>
          <a:solidFill>
            <a:srgbClr val="FFFFFF"/>
          </a:solidFill>
          <a:ln w="15875">
            <a:solidFill>
              <a:srgbClr val="E3DAF0"/>
            </a:solidFill>
            <a:prstDash val="solid"/>
          </a:ln>
        </p:spPr>
      </p:sp>
      <p:grpSp>
        <p:nvGrpSpPr>
          <p:cNvPr id="24" name="pp2_head"/>
          <p:cNvGrpSpPr/>
          <p:nvPr/>
        </p:nvGrpSpPr>
        <p:grpSpPr>
          <a:xfrm>
            <a:off x="8258861" y="2194560"/>
            <a:ext cx="3301898" cy="1865376"/>
            <a:chOff x="8258861" y="2194560"/>
            <a:chExt cx="3301898" cy="1865376"/>
          </a:xfrm>
        </p:grpSpPr>
        <p:pic>
          <p:nvPicPr>
            <p:cNvPr id="17" name="pp2_face" descr="/home/claude/build/img_y7l3/bell_sq.jpg">    </p:cNvPr>
            <p:cNvPicPr>
              <a:picLocks noChangeAspect="1"/>
            </p:cNvPicPr>
            <p:nvPr/>
          </p:nvPicPr>
          <p:blipFill>
            <a:blip r:embed="rId3"/>
            <a:stretch>
              <a:fillRect/>
            </a:stretch>
          </p:blipFill>
          <p:spPr>
            <a:xfrm>
              <a:off x="9315450" y="2194560"/>
              <a:ext cx="1188720" cy="1188720"/>
            </a:xfrm>
            <a:prstGeom prst="rect">
              <a:avLst/>
            </a:prstGeom>
          </p:spPr>
        </p:pic>
        <p:sp>
          <p:nvSpPr>
            <p:cNvPr id="18" name="pp2_name"/>
            <p:cNvSpPr txBox="1"/>
            <p:nvPr/>
          </p:nvSpPr>
          <p:spPr>
            <a:xfrm>
              <a:off x="8258861" y="3474720"/>
              <a:ext cx="3301898" cy="347472"/>
            </a:xfrm>
            <a:prstGeom prst="rect">
              <a:avLst/>
            </a:prstGeom>
            <a:noFill/>
            <a:ln/>
          </p:spPr>
          <p:txBody>
            <a:bodyPr wrap="square" lIns="0" tIns="0" rIns="0" bIns="0" rtlCol="0" anchor="ctr"/>
            <a:lstStyle/>
            <a:p>
              <a:pPr algn="ctr" indent="0" marL="0">
                <a:buNone/>
              </a:pPr>
              <a:r>
                <a:rPr lang="en-US" sz="1600" b="1" dirty="0">
                  <a:solidFill>
                    <a:srgbClr val="4A2C6F"/>
                  </a:solidFill>
                  <a:latin typeface="Georgia" pitchFamily="34" charset="0"/>
                  <a:ea typeface="Georgia" pitchFamily="34" charset="-122"/>
                  <a:cs typeface="Georgia" pitchFamily="34" charset="-120"/>
                </a:rPr>
                <a:t>Jocelyn Bell Burnell</a:t>
              </a:r>
              <a:endParaRPr lang="en-US" sz="1600" dirty="0"/>
            </a:p>
          </p:txBody>
        </p:sp>
        <p:sp>
          <p:nvSpPr>
            <p:cNvPr id="19" name="pp2_dates"/>
            <p:cNvSpPr txBox="1"/>
            <p:nvPr/>
          </p:nvSpPr>
          <p:spPr>
            <a:xfrm>
              <a:off x="8258861" y="3803904"/>
              <a:ext cx="3301898" cy="256032"/>
            </a:xfrm>
            <a:prstGeom prst="rect">
              <a:avLst/>
            </a:prstGeom>
            <a:noFill/>
            <a:ln/>
          </p:spPr>
          <p:txBody>
            <a:bodyPr wrap="square" lIns="0" tIns="0" rIns="0" bIns="0" rtlCol="0" anchor="ctr"/>
            <a:lstStyle/>
            <a:p>
              <a:pPr algn="ctr" indent="0" marL="0">
                <a:buNone/>
              </a:pPr>
              <a:r>
                <a:rPr lang="en-US" sz="1100" b="1" dirty="0">
                  <a:solidFill>
                    <a:srgbClr val="2BA6A0"/>
                  </a:solidFill>
                  <a:latin typeface="Arial" pitchFamily="34" charset="0"/>
                  <a:ea typeface="Arial" pitchFamily="34" charset="-122"/>
                  <a:cs typeface="Arial" pitchFamily="34" charset="-120"/>
                </a:rPr>
                <a:t>born 1943</a:t>
              </a:r>
              <a:endParaRPr lang="en-US" sz="1100" dirty="0"/>
            </a:p>
          </p:txBody>
        </p:sp>
      </p:grpSp>
      <p:sp>
        <p:nvSpPr>
          <p:cNvPr id="20" name="pp2_did"/>
          <p:cNvSpPr txBox="1"/>
          <p:nvPr/>
        </p:nvSpPr>
        <p:spPr>
          <a:xfrm>
            <a:off x="8313725" y="4114800"/>
            <a:ext cx="3192170" cy="640080"/>
          </a:xfrm>
          <a:prstGeom prst="rect">
            <a:avLst/>
          </a:prstGeom>
          <a:noFill/>
          <a:ln/>
        </p:spPr>
        <p:txBody>
          <a:bodyPr wrap="square" lIns="0" tIns="0" rIns="0" bIns="0" rtlCol="0" anchor="t"/>
          <a:lstStyle/>
          <a:p>
            <a:pPr algn="ctr" indent="0" marL="0">
              <a:lnSpc>
                <a:spcPts val="1600"/>
              </a:lnSpc>
              <a:buNone/>
            </a:pPr>
            <a:r>
              <a:rPr lang="en-US" sz="1200" dirty="0">
                <a:solidFill>
                  <a:srgbClr val="241535"/>
                </a:solidFill>
                <a:latin typeface="Arial" pitchFamily="34" charset="0"/>
                <a:ea typeface="Arial" pitchFamily="34" charset="-122"/>
                <a:cs typeface="Arial" pitchFamily="34" charset="-120"/>
              </a:rPr>
              <a:t>As a student in 1967 she spotted the first pulsar in a pile of paper charts.</a:t>
            </a:r>
            <a:endParaRPr lang="en-US" sz="1200" dirty="0"/>
          </a:p>
        </p:txBody>
      </p:sp>
      <p:sp>
        <p:nvSpPr>
          <p:cNvPr id="21" name="pp2_then"/>
          <p:cNvSpPr txBox="1"/>
          <p:nvPr/>
        </p:nvSpPr>
        <p:spPr>
          <a:xfrm>
            <a:off x="8313725" y="4773168"/>
            <a:ext cx="3192170" cy="841248"/>
          </a:xfrm>
          <a:prstGeom prst="rect">
            <a:avLst/>
          </a:prstGeom>
          <a:noFill/>
          <a:ln/>
        </p:spPr>
        <p:txBody>
          <a:bodyPr wrap="square" lIns="0" tIns="0" rIns="0" bIns="0" rtlCol="0" anchor="t"/>
          <a:lstStyle/>
          <a:p>
            <a:pPr algn="ctr" indent="0" marL="0">
              <a:lnSpc>
                <a:spcPts val="1400"/>
              </a:lnSpc>
              <a:buNone/>
            </a:pPr>
            <a:r>
              <a:rPr lang="en-US" sz="1100" dirty="0">
                <a:solidFill>
                  <a:srgbClr val="D94F6A"/>
                </a:solidFill>
                <a:latin typeface="Arial" pitchFamily="34" charset="0"/>
                <a:ea typeface="Arial" pitchFamily="34" charset="-122"/>
                <a:cs typeface="Arial" pitchFamily="34" charset="-120"/>
              </a:rPr>
              <a:t>The Nobel Prize went to her supervisor. In 2018 she won $3 million and gave every penny away to help under-represented students study physics.</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2"/>
                                        </p:tgtEl>
                                        <p:attrNameLst>
                                          <p:attrName>style.visibility</p:attrName>
                                        </p:attrNameLst>
                                      </p:cBhvr>
                                      <p:to>
                                        <p:strVal val="visible"/>
                                      </p:to>
                                    </p:set>
                                    <p:animEffect transition="in" filter="fade">
                                      <p:cBhvr>
                                        <p:cTn id="4" dur="4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400"/>
                                        <p:tgtEl>
                                          <p:spTgt spid="8"/>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grpId="0" nodeType="click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400"/>
                                        <p:tgtEl>
                                          <p:spTgt spid="24"/>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4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grpId="0" nodeType="click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FB"/>
        </a:solidFill>
      </p:bgPr>
    </p:bg>
    <p:spTree>
      <p:nvGrpSpPr>
        <p:cNvPr id="1" name=""/>
        <p:cNvGrpSpPr/>
        <p:nvPr/>
      </p:nvGrpSpPr>
      <p:grpSpPr>
        <a:xfrm>
          <a:off x="0" y="0"/>
          <a:ext cx="0" cy="0"/>
          <a:chOff x="0" y="0"/>
          <a:chExt cx="0" cy="0"/>
        </a:xfrm>
      </p:grpSpPr>
      <p:sp>
        <p:nvSpPr>
          <p:cNvPr id="2" name="phase_pill"/>
          <p:cNvSpPr/>
          <p:nvPr/>
        </p:nvSpPr>
        <p:spPr>
          <a:xfrm>
            <a:off x="502920" y="274320"/>
            <a:ext cx="2286000" cy="347472"/>
          </a:xfrm>
          <a:prstGeom prst="roundRect">
            <a:avLst>
              <a:gd name="adj" fmla="val 50000"/>
            </a:avLst>
          </a:prstGeom>
          <a:solidFill>
            <a:srgbClr val="4A2C6F"/>
          </a:solidFill>
          <a:ln/>
        </p:spPr>
        <p:txBody>
          <a:bodyPr wrap="square" lIns="0" tIns="0" rIns="0" bIns="0" rtlCol="0" anchor="ctr"/>
          <a:lstStyle/>
          <a:p>
            <a:pPr algn="ctr" indent="0" marL="0">
              <a:buNone/>
            </a:pPr>
            <a:r>
              <a:rPr lang="en-US" sz="1100" b="1" spc="110" kern="0" dirty="0">
                <a:solidFill>
                  <a:srgbClr val="F7F4FB"/>
                </a:solidFill>
                <a:latin typeface="Arial" pitchFamily="34" charset="0"/>
                <a:ea typeface="Arial" pitchFamily="34" charset="-122"/>
                <a:cs typeface="Arial" pitchFamily="34" charset="-120"/>
              </a:rPr>
              <a:t>WE DO · 4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4A2C6F"/>
                </a:solidFill>
                <a:latin typeface="Georgia" pitchFamily="34" charset="0"/>
                <a:ea typeface="Georgia" pitchFamily="34" charset="-122"/>
                <a:cs typeface="Georgia" pitchFamily="34" charset="-120"/>
              </a:rPr>
              <a:t>Who did what?</a:t>
            </a:r>
            <a:endParaRPr lang="en-US" sz="3000" dirty="0"/>
          </a:p>
        </p:txBody>
      </p:sp>
      <p:sp>
        <p:nvSpPr>
          <p:cNvPr id="4" name="wd_intro"/>
          <p:cNvSpPr txBox="1"/>
          <p:nvPr/>
        </p:nvSpPr>
        <p:spPr>
          <a:xfrm>
            <a:off x="502920" y="1554480"/>
            <a:ext cx="10058400" cy="310896"/>
          </a:xfrm>
          <a:prstGeom prst="rect">
            <a:avLst/>
          </a:prstGeom>
          <a:noFill/>
          <a:ln/>
        </p:spPr>
        <p:txBody>
          <a:bodyPr wrap="square" lIns="0" tIns="0" rIns="0" bIns="0" rtlCol="0" anchor="ctr"/>
          <a:lstStyle/>
          <a:p>
            <a:pPr indent="0" marL="0">
              <a:buNone/>
            </a:pPr>
            <a:r>
              <a:rPr lang="en-US" sz="1300" dirty="0">
                <a:solidFill>
                  <a:srgbClr val="6A6180"/>
                </a:solidFill>
                <a:latin typeface="Arial" pitchFamily="34" charset="0"/>
                <a:ea typeface="Arial" pitchFamily="34" charset="-122"/>
                <a:cs typeface="Arial" pitchFamily="34" charset="-120"/>
              </a:rPr>
              <a:t>Whiteboards. Write A for Anning, J for Johnson, B for Bell Burnell.</a:t>
            </a:r>
            <a:endParaRPr lang="en-US" sz="1300" dirty="0"/>
          </a:p>
        </p:txBody>
      </p:sp>
      <p:sp>
        <p:nvSpPr>
          <p:cNvPr id="5" name="wr0_bg"/>
          <p:cNvSpPr/>
          <p:nvPr/>
        </p:nvSpPr>
        <p:spPr>
          <a:xfrm>
            <a:off x="502920" y="2363724"/>
            <a:ext cx="11185855" cy="512064"/>
          </a:xfrm>
          <a:prstGeom prst="roundRect">
            <a:avLst>
              <a:gd name="adj" fmla="val 25000"/>
            </a:avLst>
          </a:prstGeom>
          <a:solidFill>
            <a:srgbClr val="FFFFFF"/>
          </a:solidFill>
          <a:ln w="15875">
            <a:solidFill>
              <a:srgbClr val="E3DAF0"/>
            </a:solidFill>
            <a:prstDash val="solid"/>
          </a:ln>
        </p:spPr>
      </p:sp>
      <p:sp>
        <p:nvSpPr>
          <p:cNvPr id="6" name="wr0_q"/>
          <p:cNvSpPr txBox="1"/>
          <p:nvPr/>
        </p:nvSpPr>
        <p:spPr>
          <a:xfrm>
            <a:off x="722376" y="2363724"/>
            <a:ext cx="7498080" cy="512064"/>
          </a:xfrm>
          <a:prstGeom prst="rect">
            <a:avLst/>
          </a:prstGeom>
          <a:noFill/>
          <a:ln/>
        </p:spPr>
        <p:txBody>
          <a:bodyPr wrap="square" lIns="0" tIns="0" rIns="0" bIns="0" rtlCol="0" anchor="ctr"/>
          <a:lstStyle/>
          <a:p>
            <a:pPr indent="0" marL="0">
              <a:buNone/>
            </a:pPr>
            <a:r>
              <a:rPr lang="en-US" sz="1300" dirty="0">
                <a:solidFill>
                  <a:srgbClr val="241535"/>
                </a:solidFill>
                <a:latin typeface="Arial" pitchFamily="34" charset="0"/>
                <a:ea typeface="Arial" pitchFamily="34" charset="-122"/>
                <a:cs typeface="Arial" pitchFamily="34" charset="-120"/>
              </a:rPr>
              <a:t>Found the first complete ichthyosaur, aged twelve.</a:t>
            </a:r>
            <a:endParaRPr lang="en-US" sz="1300" dirty="0"/>
          </a:p>
        </p:txBody>
      </p:sp>
      <p:sp>
        <p:nvSpPr>
          <p:cNvPr id="7" name="wr0_a"/>
          <p:cNvSpPr/>
          <p:nvPr/>
        </p:nvSpPr>
        <p:spPr>
          <a:xfrm>
            <a:off x="8641080" y="2418588"/>
            <a:ext cx="475488" cy="402336"/>
          </a:xfrm>
          <a:prstGeom prst="roundRect">
            <a:avLst>
              <a:gd name="adj" fmla="val 20455"/>
            </a:avLst>
          </a:prstGeom>
          <a:solidFill>
            <a:srgbClr val="FDEEDC"/>
          </a:solidFill>
          <a:ln w="17780">
            <a:solidFill>
              <a:srgbClr val="F2A03D"/>
            </a:solidFill>
          </a:ln>
        </p:spPr>
        <p:txBody>
          <a:bodyPr wrap="square" lIns="0" tIns="0" rIns="0" bIns="0" rtlCol="0" anchor="ctr"/>
          <a:lstStyle/>
          <a:p>
            <a:pPr algn="ctr" indent="0" marL="0">
              <a:buNone/>
            </a:pPr>
            <a:r>
              <a:rPr lang="en-US" sz="1600" b="1" dirty="0">
                <a:solidFill>
                  <a:srgbClr val="4A2C6F"/>
                </a:solidFill>
                <a:latin typeface="Georgia" pitchFamily="34" charset="0"/>
                <a:ea typeface="Georgia" pitchFamily="34" charset="-122"/>
                <a:cs typeface="Georgia" pitchFamily="34" charset="-120"/>
              </a:rPr>
              <a:t>A</a:t>
            </a:r>
            <a:endParaRPr lang="en-US" sz="1600" dirty="0"/>
          </a:p>
        </p:txBody>
      </p:sp>
      <p:sp>
        <p:nvSpPr>
          <p:cNvPr id="8" name="wr1_bg"/>
          <p:cNvSpPr/>
          <p:nvPr/>
        </p:nvSpPr>
        <p:spPr>
          <a:xfrm>
            <a:off x="502920" y="3003804"/>
            <a:ext cx="11185855" cy="512064"/>
          </a:xfrm>
          <a:prstGeom prst="roundRect">
            <a:avLst>
              <a:gd name="adj" fmla="val 25000"/>
            </a:avLst>
          </a:prstGeom>
          <a:solidFill>
            <a:srgbClr val="FFFFFF"/>
          </a:solidFill>
          <a:ln w="15875">
            <a:solidFill>
              <a:srgbClr val="E3DAF0"/>
            </a:solidFill>
            <a:prstDash val="solid"/>
          </a:ln>
        </p:spPr>
      </p:sp>
      <p:sp>
        <p:nvSpPr>
          <p:cNvPr id="9" name="wr1_q"/>
          <p:cNvSpPr txBox="1"/>
          <p:nvPr/>
        </p:nvSpPr>
        <p:spPr>
          <a:xfrm>
            <a:off x="722376" y="3003804"/>
            <a:ext cx="7498080" cy="512064"/>
          </a:xfrm>
          <a:prstGeom prst="rect">
            <a:avLst/>
          </a:prstGeom>
          <a:noFill/>
          <a:ln/>
        </p:spPr>
        <p:txBody>
          <a:bodyPr wrap="square" lIns="0" tIns="0" rIns="0" bIns="0" rtlCol="0" anchor="ctr"/>
          <a:lstStyle/>
          <a:p>
            <a:pPr indent="0" marL="0">
              <a:buNone/>
            </a:pPr>
            <a:r>
              <a:rPr lang="en-US" sz="1300" dirty="0">
                <a:solidFill>
                  <a:srgbClr val="241535"/>
                </a:solidFill>
                <a:latin typeface="Arial" pitchFamily="34" charset="0"/>
                <a:ea typeface="Arial" pitchFamily="34" charset="-122"/>
                <a:cs typeface="Arial" pitchFamily="34" charset="-120"/>
              </a:rPr>
              <a:t>Checked a computer by hand before a spaceflight.</a:t>
            </a:r>
            <a:endParaRPr lang="en-US" sz="1300" dirty="0"/>
          </a:p>
        </p:txBody>
      </p:sp>
      <p:sp>
        <p:nvSpPr>
          <p:cNvPr id="10" name="wr1_a"/>
          <p:cNvSpPr/>
          <p:nvPr/>
        </p:nvSpPr>
        <p:spPr>
          <a:xfrm>
            <a:off x="8641080" y="3058668"/>
            <a:ext cx="475488" cy="402336"/>
          </a:xfrm>
          <a:prstGeom prst="roundRect">
            <a:avLst>
              <a:gd name="adj" fmla="val 20455"/>
            </a:avLst>
          </a:prstGeom>
          <a:solidFill>
            <a:srgbClr val="FDEEDC"/>
          </a:solidFill>
          <a:ln w="17780">
            <a:solidFill>
              <a:srgbClr val="F2A03D"/>
            </a:solidFill>
          </a:ln>
        </p:spPr>
        <p:txBody>
          <a:bodyPr wrap="square" lIns="0" tIns="0" rIns="0" bIns="0" rtlCol="0" anchor="ctr"/>
          <a:lstStyle/>
          <a:p>
            <a:pPr algn="ctr" indent="0" marL="0">
              <a:buNone/>
            </a:pPr>
            <a:r>
              <a:rPr lang="en-US" sz="1600" b="1" dirty="0">
                <a:solidFill>
                  <a:srgbClr val="4A2C6F"/>
                </a:solidFill>
                <a:latin typeface="Georgia" pitchFamily="34" charset="0"/>
                <a:ea typeface="Georgia" pitchFamily="34" charset="-122"/>
                <a:cs typeface="Georgia" pitchFamily="34" charset="-120"/>
              </a:rPr>
              <a:t>J</a:t>
            </a:r>
            <a:endParaRPr lang="en-US" sz="1600" dirty="0"/>
          </a:p>
        </p:txBody>
      </p:sp>
      <p:sp>
        <p:nvSpPr>
          <p:cNvPr id="11" name="wr2_bg"/>
          <p:cNvSpPr/>
          <p:nvPr/>
        </p:nvSpPr>
        <p:spPr>
          <a:xfrm>
            <a:off x="502920" y="3643884"/>
            <a:ext cx="11185855" cy="512064"/>
          </a:xfrm>
          <a:prstGeom prst="roundRect">
            <a:avLst>
              <a:gd name="adj" fmla="val 25000"/>
            </a:avLst>
          </a:prstGeom>
          <a:solidFill>
            <a:srgbClr val="FFFFFF"/>
          </a:solidFill>
          <a:ln w="15875">
            <a:solidFill>
              <a:srgbClr val="E3DAF0"/>
            </a:solidFill>
            <a:prstDash val="solid"/>
          </a:ln>
        </p:spPr>
      </p:sp>
      <p:sp>
        <p:nvSpPr>
          <p:cNvPr id="12" name="wr2_q"/>
          <p:cNvSpPr txBox="1"/>
          <p:nvPr/>
        </p:nvSpPr>
        <p:spPr>
          <a:xfrm>
            <a:off x="722376" y="3643884"/>
            <a:ext cx="7498080" cy="512064"/>
          </a:xfrm>
          <a:prstGeom prst="rect">
            <a:avLst/>
          </a:prstGeom>
          <a:noFill/>
          <a:ln/>
        </p:spPr>
        <p:txBody>
          <a:bodyPr wrap="square" lIns="0" tIns="0" rIns="0" bIns="0" rtlCol="0" anchor="ctr"/>
          <a:lstStyle/>
          <a:p>
            <a:pPr indent="0" marL="0">
              <a:buNone/>
            </a:pPr>
            <a:r>
              <a:rPr lang="en-US" sz="1300" dirty="0">
                <a:solidFill>
                  <a:srgbClr val="241535"/>
                </a:solidFill>
                <a:latin typeface="Arial" pitchFamily="34" charset="0"/>
                <a:ea typeface="Arial" pitchFamily="34" charset="-122"/>
                <a:cs typeface="Arial" pitchFamily="34" charset="-120"/>
              </a:rPr>
              <a:t>Spotted the first pulsar while still a student.</a:t>
            </a:r>
            <a:endParaRPr lang="en-US" sz="1300" dirty="0"/>
          </a:p>
        </p:txBody>
      </p:sp>
      <p:sp>
        <p:nvSpPr>
          <p:cNvPr id="13" name="wr2_a"/>
          <p:cNvSpPr/>
          <p:nvPr/>
        </p:nvSpPr>
        <p:spPr>
          <a:xfrm>
            <a:off x="8641080" y="3698748"/>
            <a:ext cx="475488" cy="402336"/>
          </a:xfrm>
          <a:prstGeom prst="roundRect">
            <a:avLst>
              <a:gd name="adj" fmla="val 20455"/>
            </a:avLst>
          </a:prstGeom>
          <a:solidFill>
            <a:srgbClr val="FDEEDC"/>
          </a:solidFill>
          <a:ln w="17780">
            <a:solidFill>
              <a:srgbClr val="F2A03D"/>
            </a:solidFill>
          </a:ln>
        </p:spPr>
        <p:txBody>
          <a:bodyPr wrap="square" lIns="0" tIns="0" rIns="0" bIns="0" rtlCol="0" anchor="ctr"/>
          <a:lstStyle/>
          <a:p>
            <a:pPr algn="ctr" indent="0" marL="0">
              <a:buNone/>
            </a:pPr>
            <a:r>
              <a:rPr lang="en-US" sz="1600" b="1" dirty="0">
                <a:solidFill>
                  <a:srgbClr val="4A2C6F"/>
                </a:solidFill>
                <a:latin typeface="Georgia" pitchFamily="34" charset="0"/>
                <a:ea typeface="Georgia" pitchFamily="34" charset="-122"/>
                <a:cs typeface="Georgia" pitchFamily="34" charset="-120"/>
              </a:rPr>
              <a:t>B</a:t>
            </a:r>
            <a:endParaRPr lang="en-US" sz="1600" dirty="0"/>
          </a:p>
        </p:txBody>
      </p:sp>
      <p:sp>
        <p:nvSpPr>
          <p:cNvPr id="14" name="wr3_bg"/>
          <p:cNvSpPr/>
          <p:nvPr/>
        </p:nvSpPr>
        <p:spPr>
          <a:xfrm>
            <a:off x="502920" y="4283964"/>
            <a:ext cx="11185855" cy="512064"/>
          </a:xfrm>
          <a:prstGeom prst="roundRect">
            <a:avLst>
              <a:gd name="adj" fmla="val 25000"/>
            </a:avLst>
          </a:prstGeom>
          <a:solidFill>
            <a:srgbClr val="FFFFFF"/>
          </a:solidFill>
          <a:ln w="15875">
            <a:solidFill>
              <a:srgbClr val="E3DAF0"/>
            </a:solidFill>
            <a:prstDash val="solid"/>
          </a:ln>
        </p:spPr>
      </p:sp>
      <p:sp>
        <p:nvSpPr>
          <p:cNvPr id="15" name="wr3_q"/>
          <p:cNvSpPr txBox="1"/>
          <p:nvPr/>
        </p:nvSpPr>
        <p:spPr>
          <a:xfrm>
            <a:off x="722376" y="4283964"/>
            <a:ext cx="7498080" cy="512064"/>
          </a:xfrm>
          <a:prstGeom prst="rect">
            <a:avLst/>
          </a:prstGeom>
          <a:noFill/>
          <a:ln/>
        </p:spPr>
        <p:txBody>
          <a:bodyPr wrap="square" lIns="0" tIns="0" rIns="0" bIns="0" rtlCol="0" anchor="ctr"/>
          <a:lstStyle/>
          <a:p>
            <a:pPr indent="0" marL="0">
              <a:buNone/>
            </a:pPr>
            <a:r>
              <a:rPr lang="en-US" sz="1300" dirty="0">
                <a:solidFill>
                  <a:srgbClr val="241535"/>
                </a:solidFill>
                <a:latin typeface="Arial" pitchFamily="34" charset="0"/>
                <a:ea typeface="Arial" pitchFamily="34" charset="-122"/>
                <a:cs typeface="Arial" pitchFamily="34" charset="-120"/>
              </a:rPr>
              <a:t>Was not allowed to join the Geological Society.</a:t>
            </a:r>
            <a:endParaRPr lang="en-US" sz="1300" dirty="0"/>
          </a:p>
        </p:txBody>
      </p:sp>
      <p:sp>
        <p:nvSpPr>
          <p:cNvPr id="16" name="wr3_a"/>
          <p:cNvSpPr/>
          <p:nvPr/>
        </p:nvSpPr>
        <p:spPr>
          <a:xfrm>
            <a:off x="8641080" y="4338828"/>
            <a:ext cx="475488" cy="402336"/>
          </a:xfrm>
          <a:prstGeom prst="roundRect">
            <a:avLst>
              <a:gd name="adj" fmla="val 20455"/>
            </a:avLst>
          </a:prstGeom>
          <a:solidFill>
            <a:srgbClr val="FDEEDC"/>
          </a:solidFill>
          <a:ln w="17780">
            <a:solidFill>
              <a:srgbClr val="F2A03D"/>
            </a:solidFill>
          </a:ln>
        </p:spPr>
        <p:txBody>
          <a:bodyPr wrap="square" lIns="0" tIns="0" rIns="0" bIns="0" rtlCol="0" anchor="ctr"/>
          <a:lstStyle/>
          <a:p>
            <a:pPr algn="ctr" indent="0" marL="0">
              <a:buNone/>
            </a:pPr>
            <a:r>
              <a:rPr lang="en-US" sz="1600" b="1" dirty="0">
                <a:solidFill>
                  <a:srgbClr val="4A2C6F"/>
                </a:solidFill>
                <a:latin typeface="Georgia" pitchFamily="34" charset="0"/>
                <a:ea typeface="Georgia" pitchFamily="34" charset="-122"/>
                <a:cs typeface="Georgia" pitchFamily="34" charset="-120"/>
              </a:rPr>
              <a:t>A</a:t>
            </a:r>
            <a:endParaRPr lang="en-US" sz="1600" dirty="0"/>
          </a:p>
        </p:txBody>
      </p:sp>
      <p:sp>
        <p:nvSpPr>
          <p:cNvPr id="17" name="wr4_bg"/>
          <p:cNvSpPr/>
          <p:nvPr/>
        </p:nvSpPr>
        <p:spPr>
          <a:xfrm>
            <a:off x="502920" y="4924044"/>
            <a:ext cx="11185855" cy="512064"/>
          </a:xfrm>
          <a:prstGeom prst="roundRect">
            <a:avLst>
              <a:gd name="adj" fmla="val 25000"/>
            </a:avLst>
          </a:prstGeom>
          <a:solidFill>
            <a:srgbClr val="FFFFFF"/>
          </a:solidFill>
          <a:ln w="15875">
            <a:solidFill>
              <a:srgbClr val="E3DAF0"/>
            </a:solidFill>
            <a:prstDash val="solid"/>
          </a:ln>
        </p:spPr>
      </p:sp>
      <p:sp>
        <p:nvSpPr>
          <p:cNvPr id="18" name="wr4_q"/>
          <p:cNvSpPr txBox="1"/>
          <p:nvPr/>
        </p:nvSpPr>
        <p:spPr>
          <a:xfrm>
            <a:off x="722376" y="4924044"/>
            <a:ext cx="7498080" cy="512064"/>
          </a:xfrm>
          <a:prstGeom prst="rect">
            <a:avLst/>
          </a:prstGeom>
          <a:noFill/>
          <a:ln/>
        </p:spPr>
        <p:txBody>
          <a:bodyPr wrap="square" lIns="0" tIns="0" rIns="0" bIns="0" rtlCol="0" anchor="ctr"/>
          <a:lstStyle/>
          <a:p>
            <a:pPr indent="0" marL="0">
              <a:buNone/>
            </a:pPr>
            <a:r>
              <a:rPr lang="en-US" sz="1300" dirty="0">
                <a:solidFill>
                  <a:srgbClr val="241535"/>
                </a:solidFill>
                <a:latin typeface="Arial" pitchFamily="34" charset="0"/>
                <a:ea typeface="Arial" pitchFamily="34" charset="-122"/>
                <a:cs typeface="Arial" pitchFamily="34" charset="-120"/>
              </a:rPr>
              <a:t>Gave away a three million dollar prize.</a:t>
            </a:r>
            <a:endParaRPr lang="en-US" sz="1300" dirty="0"/>
          </a:p>
        </p:txBody>
      </p:sp>
      <p:sp>
        <p:nvSpPr>
          <p:cNvPr id="19" name="wr4_a"/>
          <p:cNvSpPr/>
          <p:nvPr/>
        </p:nvSpPr>
        <p:spPr>
          <a:xfrm>
            <a:off x="8641080" y="4978908"/>
            <a:ext cx="475488" cy="402336"/>
          </a:xfrm>
          <a:prstGeom prst="roundRect">
            <a:avLst>
              <a:gd name="adj" fmla="val 20455"/>
            </a:avLst>
          </a:prstGeom>
          <a:solidFill>
            <a:srgbClr val="FDEEDC"/>
          </a:solidFill>
          <a:ln w="17780">
            <a:solidFill>
              <a:srgbClr val="F2A03D"/>
            </a:solidFill>
          </a:ln>
        </p:spPr>
        <p:txBody>
          <a:bodyPr wrap="square" lIns="0" tIns="0" rIns="0" bIns="0" rtlCol="0" anchor="ctr"/>
          <a:lstStyle/>
          <a:p>
            <a:pPr algn="ctr" indent="0" marL="0">
              <a:buNone/>
            </a:pPr>
            <a:r>
              <a:rPr lang="en-US" sz="1600" b="1" dirty="0">
                <a:solidFill>
                  <a:srgbClr val="4A2C6F"/>
                </a:solidFill>
                <a:latin typeface="Georgia" pitchFamily="34" charset="0"/>
                <a:ea typeface="Georgia" pitchFamily="34" charset="-122"/>
                <a:cs typeface="Georgia" pitchFamily="34" charset="-120"/>
              </a:rPr>
              <a:t>B</a:t>
            </a:r>
            <a:endParaRPr lang="en-US" sz="1600" dirty="0"/>
          </a:p>
        </p:txBody>
      </p:sp>
      <p:sp>
        <p:nvSpPr>
          <p:cNvPr id="20" name="wr5_bg"/>
          <p:cNvSpPr/>
          <p:nvPr/>
        </p:nvSpPr>
        <p:spPr>
          <a:xfrm>
            <a:off x="502920" y="5564124"/>
            <a:ext cx="11185855" cy="512064"/>
          </a:xfrm>
          <a:prstGeom prst="roundRect">
            <a:avLst>
              <a:gd name="adj" fmla="val 25000"/>
            </a:avLst>
          </a:prstGeom>
          <a:solidFill>
            <a:srgbClr val="FFFFFF"/>
          </a:solidFill>
          <a:ln w="15875">
            <a:solidFill>
              <a:srgbClr val="E3DAF0"/>
            </a:solidFill>
            <a:prstDash val="solid"/>
          </a:ln>
        </p:spPr>
      </p:sp>
      <p:sp>
        <p:nvSpPr>
          <p:cNvPr id="21" name="wr5_q"/>
          <p:cNvSpPr txBox="1"/>
          <p:nvPr/>
        </p:nvSpPr>
        <p:spPr>
          <a:xfrm>
            <a:off x="722376" y="5564124"/>
            <a:ext cx="7498080" cy="512064"/>
          </a:xfrm>
          <a:prstGeom prst="rect">
            <a:avLst/>
          </a:prstGeom>
          <a:noFill/>
          <a:ln/>
        </p:spPr>
        <p:txBody>
          <a:bodyPr wrap="square" lIns="0" tIns="0" rIns="0" bIns="0" rtlCol="0" anchor="ctr"/>
          <a:lstStyle/>
          <a:p>
            <a:pPr indent="0" marL="0">
              <a:buNone/>
            </a:pPr>
            <a:r>
              <a:rPr lang="en-US" sz="1300" dirty="0">
                <a:solidFill>
                  <a:srgbClr val="241535"/>
                </a:solidFill>
                <a:latin typeface="Arial" pitchFamily="34" charset="0"/>
                <a:ea typeface="Arial" pitchFamily="34" charset="-122"/>
                <a:cs typeface="Arial" pitchFamily="34" charset="-120"/>
              </a:rPr>
              <a:t>Worked out the path for the first American to orbit Earth.</a:t>
            </a:r>
            <a:endParaRPr lang="en-US" sz="1300" dirty="0"/>
          </a:p>
        </p:txBody>
      </p:sp>
      <p:sp>
        <p:nvSpPr>
          <p:cNvPr id="22" name="wr5_a"/>
          <p:cNvSpPr/>
          <p:nvPr/>
        </p:nvSpPr>
        <p:spPr>
          <a:xfrm>
            <a:off x="8641080" y="5618988"/>
            <a:ext cx="475488" cy="402336"/>
          </a:xfrm>
          <a:prstGeom prst="roundRect">
            <a:avLst>
              <a:gd name="adj" fmla="val 20455"/>
            </a:avLst>
          </a:prstGeom>
          <a:solidFill>
            <a:srgbClr val="FDEEDC"/>
          </a:solidFill>
          <a:ln w="17780">
            <a:solidFill>
              <a:srgbClr val="F2A03D"/>
            </a:solidFill>
          </a:ln>
        </p:spPr>
        <p:txBody>
          <a:bodyPr wrap="square" lIns="0" tIns="0" rIns="0" bIns="0" rtlCol="0" anchor="ctr"/>
          <a:lstStyle/>
          <a:p>
            <a:pPr algn="ctr" indent="0" marL="0">
              <a:buNone/>
            </a:pPr>
            <a:r>
              <a:rPr lang="en-US" sz="1600" b="1" dirty="0">
                <a:solidFill>
                  <a:srgbClr val="4A2C6F"/>
                </a:solidFill>
                <a:latin typeface="Georgia" pitchFamily="34" charset="0"/>
                <a:ea typeface="Georgia" pitchFamily="34" charset="-122"/>
                <a:cs typeface="Georgia" pitchFamily="34" charset="-120"/>
              </a:rPr>
              <a:t>J</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3" presetClass="entr" presetSubtype="16" fill="hold" grpId="0" nodeType="click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fade">
                                      <p:cBhvr>
                                        <p:cTn id="4" dur="400"/>
                                        <p:tgtEl>
                                          <p:spTgt spid="7"/>
                                        </p:tgtEl>
                                      </p:cBhvr>
                                    </p:animEffect>
                                    <p:animScale>
                                      <p:cBhvr>
                                        <p:cTn id="5" dur="400" fill="hold"/>
                                        <p:tgtEl>
                                          <p:spTgt spid="7"/>
                                        </p:tgtEl>
                                      </p:cBhvr>
                                      <p:from x="0" y="0"/>
                                      <p:to x="100000" y="100000"/>
                                    </p:animScale>
                                  </p:childTnLst>
                                </p:cTn>
                              </p:par>
                            </p:childTnLst>
                          </p:cTn>
                        </p:par>
                      </p:childTnLst>
                    </p:cTn>
                  </p:par>
                  <p:par>
                    <p:cTn id="13" fill="hold">
                      <p:stCondLst>
                        <p:cond delay="indefinite"/>
                      </p:stCondLst>
                      <p:childTnLst>
                        <p:par>
                          <p:cTn id="14" fill="hold">
                            <p:stCondLst>
                              <p:cond delay="0"/>
                            </p:stCondLst>
                            <p:childTnLst>
                              <p:par>
                                <p:cTn id="12" presetID="23" presetClass="entr" presetSubtype="16"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animScale>
                                      <p:cBhvr>
                                        <p:cTn id="11" dur="400" fill="hold"/>
                                        <p:tgtEl>
                                          <p:spTgt spid="10"/>
                                        </p:tgtEl>
                                      </p:cBhvr>
                                      <p:from x="0" y="0"/>
                                      <p:to x="100000" y="100000"/>
                                    </p:animScale>
                                  </p:childTnLst>
                                </p:cTn>
                              </p:par>
                            </p:childTnLst>
                          </p:cTn>
                        </p:par>
                      </p:childTnLst>
                    </p:cTn>
                  </p:par>
                  <p:par>
                    <p:cTn id="19" fill="hold">
                      <p:stCondLst>
                        <p:cond delay="indefinite"/>
                      </p:stCondLst>
                      <p:childTnLst>
                        <p:par>
                          <p:cTn id="20" fill="hold">
                            <p:stCondLst>
                              <p:cond delay="0"/>
                            </p:stCondLst>
                            <p:childTnLst>
                              <p:par>
                                <p:cTn id="18" presetID="23" presetClass="entr" presetSubtype="16"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animScale>
                                      <p:cBhvr>
                                        <p:cTn id="17" dur="400" fill="hold"/>
                                        <p:tgtEl>
                                          <p:spTgt spid="13"/>
                                        </p:tgtEl>
                                      </p:cBhvr>
                                      <p:from x="0" y="0"/>
                                      <p:to x="100000" y="100000"/>
                                    </p:animScale>
                                  </p:childTnLst>
                                </p:cTn>
                              </p:par>
                            </p:childTnLst>
                          </p:cTn>
                        </p:par>
                      </p:childTnLst>
                    </p:cTn>
                  </p:par>
                  <p:par>
                    <p:cTn id="25" fill="hold">
                      <p:stCondLst>
                        <p:cond delay="indefinite"/>
                      </p:stCondLst>
                      <p:childTnLst>
                        <p:par>
                          <p:cTn id="26" fill="hold">
                            <p:stCondLst>
                              <p:cond delay="0"/>
                            </p:stCondLst>
                            <p:childTnLst>
                              <p:par>
                                <p:cTn id="24" presetID="23" presetClass="entr" presetSubtype="16"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animScale>
                                      <p:cBhvr>
                                        <p:cTn id="23" dur="400" fill="hold"/>
                                        <p:tgtEl>
                                          <p:spTgt spid="16"/>
                                        </p:tgtEl>
                                      </p:cBhvr>
                                      <p:from x="0" y="0"/>
                                      <p:to x="100000" y="100000"/>
                                    </p:animScale>
                                  </p:childTnLst>
                                </p:cTn>
                              </p:par>
                            </p:childTnLst>
                          </p:cTn>
                        </p:par>
                      </p:childTnLst>
                    </p:cTn>
                  </p:par>
                  <p:par>
                    <p:cTn id="31" fill="hold">
                      <p:stCondLst>
                        <p:cond delay="indefinite"/>
                      </p:stCondLst>
                      <p:childTnLst>
                        <p:par>
                          <p:cTn id="32" fill="hold">
                            <p:stCondLst>
                              <p:cond delay="0"/>
                            </p:stCondLst>
                            <p:childTnLst>
                              <p:par>
                                <p:cTn id="30" presetID="23" presetClass="entr" presetSubtype="16"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400"/>
                                        <p:tgtEl>
                                          <p:spTgt spid="19"/>
                                        </p:tgtEl>
                                      </p:cBhvr>
                                    </p:animEffect>
                                    <p:animScale>
                                      <p:cBhvr>
                                        <p:cTn id="29" dur="400" fill="hold"/>
                                        <p:tgtEl>
                                          <p:spTgt spid="19"/>
                                        </p:tgtEl>
                                      </p:cBhvr>
                                      <p:from x="0" y="0"/>
                                      <p:to x="100000" y="100000"/>
                                    </p:animScale>
                                  </p:childTnLst>
                                </p:cTn>
                              </p:par>
                            </p:childTnLst>
                          </p:cTn>
                        </p:par>
                      </p:childTnLst>
                    </p:cTn>
                  </p:par>
                  <p:par>
                    <p:cTn id="37" fill="hold">
                      <p:stCondLst>
                        <p:cond delay="indefinite"/>
                      </p:stCondLst>
                      <p:childTnLst>
                        <p:par>
                          <p:cTn id="38" fill="hold">
                            <p:stCondLst>
                              <p:cond delay="0"/>
                            </p:stCondLst>
                            <p:childTnLst>
                              <p:par>
                                <p:cTn id="36" presetID="23" presetClass="entr" presetSubtype="16" fill="hold" grpId="0" nodeType="click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animScale>
                                      <p:cBhvr>
                                        <p:cTn id="35" dur="400" fill="hold"/>
                                        <p:tgtEl>
                                          <p:spTgt spid="22"/>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FB"/>
        </a:solidFill>
      </p:bgPr>
    </p:bg>
    <p:spTree>
      <p:nvGrpSpPr>
        <p:cNvPr id="1" name=""/>
        <p:cNvGrpSpPr/>
        <p:nvPr/>
      </p:nvGrpSpPr>
      <p:grpSpPr>
        <a:xfrm>
          <a:off x="0" y="0"/>
          <a:ext cx="0" cy="0"/>
          <a:chOff x="0" y="0"/>
          <a:chExt cx="0" cy="0"/>
        </a:xfrm>
      </p:grpSpPr>
      <p:sp>
        <p:nvSpPr>
          <p:cNvPr id="2" name="phase_pill"/>
          <p:cNvSpPr/>
          <p:nvPr/>
        </p:nvSpPr>
        <p:spPr>
          <a:xfrm>
            <a:off x="502920" y="274320"/>
            <a:ext cx="2578608" cy="347472"/>
          </a:xfrm>
          <a:prstGeom prst="roundRect">
            <a:avLst>
              <a:gd name="adj" fmla="val 50000"/>
            </a:avLst>
          </a:prstGeom>
          <a:solidFill>
            <a:srgbClr val="4A2C6F"/>
          </a:solidFill>
          <a:ln/>
        </p:spPr>
        <p:txBody>
          <a:bodyPr wrap="square" lIns="0" tIns="0" rIns="0" bIns="0" rtlCol="0" anchor="ctr"/>
          <a:lstStyle/>
          <a:p>
            <a:pPr algn="ctr" indent="0" marL="0">
              <a:buNone/>
            </a:pPr>
            <a:r>
              <a:rPr lang="en-US" sz="1100" b="1" spc="110" kern="0" dirty="0">
                <a:solidFill>
                  <a:srgbClr val="F7F4FB"/>
                </a:solidFill>
                <a:latin typeface="Arial" pitchFamily="34" charset="0"/>
                <a:ea typeface="Arial" pitchFamily="34" charset="-122"/>
                <a:cs typeface="Arial" pitchFamily="34" charset="-120"/>
              </a:rPr>
              <a:t>CONTEXT · 3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4A2C6F"/>
                </a:solidFill>
                <a:latin typeface="Georgia" pitchFamily="34" charset="0"/>
                <a:ea typeface="Georgia" pitchFamily="34" charset="-122"/>
                <a:cs typeface="Georgia" pitchFamily="34" charset="-120"/>
              </a:rPr>
              <a:t>What changed, and what has not</a:t>
            </a:r>
            <a:endParaRPr lang="en-US" sz="3000" dirty="0"/>
          </a:p>
        </p:txBody>
      </p:sp>
      <p:grpSp>
        <p:nvGrpSpPr>
          <p:cNvPr id="18" name="ch0"/>
          <p:cNvGrpSpPr/>
          <p:nvPr/>
        </p:nvGrpSpPr>
        <p:grpSpPr>
          <a:xfrm>
            <a:off x="502920" y="2121408"/>
            <a:ext cx="2631872" cy="2286000"/>
            <a:chOff x="502920" y="2121408"/>
            <a:chExt cx="2631872" cy="2286000"/>
          </a:xfrm>
        </p:grpSpPr>
        <p:sp>
          <p:nvSpPr>
            <p:cNvPr id="4" name="ch0_bg"/>
            <p:cNvSpPr/>
            <p:nvPr/>
          </p:nvSpPr>
          <p:spPr>
            <a:xfrm>
              <a:off x="502920" y="2121408"/>
              <a:ext cx="2631872" cy="2286000"/>
            </a:xfrm>
            <a:prstGeom prst="roundRect">
              <a:avLst>
                <a:gd name="adj" fmla="val 5600"/>
              </a:avLst>
            </a:prstGeom>
            <a:solidFill>
              <a:srgbClr val="FFFFFF"/>
            </a:solidFill>
            <a:ln w="15875">
              <a:solidFill>
                <a:srgbClr val="2BA6A0"/>
              </a:solidFill>
              <a:prstDash val="solid"/>
            </a:ln>
          </p:spPr>
        </p:sp>
        <p:sp>
          <p:nvSpPr>
            <p:cNvPr id="5" name="ch0_h"/>
            <p:cNvSpPr txBox="1"/>
            <p:nvPr/>
          </p:nvSpPr>
          <p:spPr>
            <a:xfrm>
              <a:off x="685800" y="2304288"/>
              <a:ext cx="2266112" cy="402336"/>
            </a:xfrm>
            <a:prstGeom prst="rect">
              <a:avLst/>
            </a:prstGeom>
            <a:noFill/>
            <a:ln/>
          </p:spPr>
          <p:txBody>
            <a:bodyPr wrap="square" lIns="0" tIns="0" rIns="0" bIns="0" rtlCol="0" anchor="ctr"/>
            <a:lstStyle/>
            <a:p>
              <a:pPr indent="0" marL="0">
                <a:buNone/>
              </a:pPr>
              <a:r>
                <a:rPr lang="en-US" sz="2000" b="1" dirty="0">
                  <a:solidFill>
                    <a:srgbClr val="2BA6A0"/>
                  </a:solidFill>
                  <a:latin typeface="Georgia" pitchFamily="34" charset="0"/>
                  <a:ea typeface="Georgia" pitchFamily="34" charset="-122"/>
                  <a:cs typeface="Georgia" pitchFamily="34" charset="-120"/>
                </a:rPr>
                <a:t>1904</a:t>
              </a:r>
              <a:endParaRPr lang="en-US" sz="2000" dirty="0"/>
            </a:p>
          </p:txBody>
        </p:sp>
        <p:sp>
          <p:nvSpPr>
            <p:cNvPr id="6" name="ch0_b"/>
            <p:cNvSpPr txBox="1"/>
            <p:nvPr/>
          </p:nvSpPr>
          <p:spPr>
            <a:xfrm>
              <a:off x="685800" y="2761488"/>
              <a:ext cx="2266112" cy="1463040"/>
            </a:xfrm>
            <a:prstGeom prst="rect">
              <a:avLst/>
            </a:prstGeom>
            <a:noFill/>
            <a:ln/>
          </p:spPr>
          <p:txBody>
            <a:bodyPr wrap="square" lIns="0" tIns="0" rIns="0" bIns="0" rtlCol="0" anchor="t"/>
            <a:lstStyle/>
            <a:p>
              <a:pPr indent="0" marL="0">
                <a:lnSpc>
                  <a:spcPts val="1600"/>
                </a:lnSpc>
                <a:buNone/>
              </a:pPr>
              <a:r>
                <a:rPr lang="en-US" sz="1150" dirty="0">
                  <a:solidFill>
                    <a:srgbClr val="241535"/>
                  </a:solidFill>
                  <a:latin typeface="Arial" pitchFamily="34" charset="0"/>
                  <a:ea typeface="Arial" pitchFamily="34" charset="-122"/>
                  <a:cs typeface="Arial" pitchFamily="34" charset="-120"/>
                </a:rPr>
                <a:t>Women were finally allowed to join the Geological Society of London.</a:t>
              </a:r>
              <a:endParaRPr lang="en-US" sz="1150" dirty="0"/>
            </a:p>
          </p:txBody>
        </p:sp>
      </p:grpSp>
      <p:grpSp>
        <p:nvGrpSpPr>
          <p:cNvPr id="19" name="ch1"/>
          <p:cNvGrpSpPr/>
          <p:nvPr/>
        </p:nvGrpSpPr>
        <p:grpSpPr>
          <a:xfrm>
            <a:off x="3354248" y="2121408"/>
            <a:ext cx="2631872" cy="2286000"/>
            <a:chOff x="3354248" y="2121408"/>
            <a:chExt cx="2631872" cy="2286000"/>
          </a:xfrm>
        </p:grpSpPr>
        <p:sp>
          <p:nvSpPr>
            <p:cNvPr id="7" name="ch1_bg"/>
            <p:cNvSpPr/>
            <p:nvPr/>
          </p:nvSpPr>
          <p:spPr>
            <a:xfrm>
              <a:off x="3354248" y="2121408"/>
              <a:ext cx="2631872" cy="2286000"/>
            </a:xfrm>
            <a:prstGeom prst="roundRect">
              <a:avLst>
                <a:gd name="adj" fmla="val 5600"/>
              </a:avLst>
            </a:prstGeom>
            <a:solidFill>
              <a:srgbClr val="FFFFFF"/>
            </a:solidFill>
            <a:ln w="15875">
              <a:solidFill>
                <a:srgbClr val="D94F6A"/>
              </a:solidFill>
              <a:prstDash val="solid"/>
            </a:ln>
          </p:spPr>
        </p:sp>
        <p:sp>
          <p:nvSpPr>
            <p:cNvPr id="8" name="ch1_h"/>
            <p:cNvSpPr txBox="1"/>
            <p:nvPr/>
          </p:nvSpPr>
          <p:spPr>
            <a:xfrm>
              <a:off x="3537128" y="2304288"/>
              <a:ext cx="2266112" cy="402336"/>
            </a:xfrm>
            <a:prstGeom prst="rect">
              <a:avLst/>
            </a:prstGeom>
            <a:noFill/>
            <a:ln/>
          </p:spPr>
          <p:txBody>
            <a:bodyPr wrap="square" lIns="0" tIns="0" rIns="0" bIns="0" rtlCol="0" anchor="ctr"/>
            <a:lstStyle/>
            <a:p>
              <a:pPr indent="0" marL="0">
                <a:buNone/>
              </a:pPr>
              <a:r>
                <a:rPr lang="en-US" sz="2000" b="1" dirty="0">
                  <a:solidFill>
                    <a:srgbClr val="D94F6A"/>
                  </a:solidFill>
                  <a:latin typeface="Georgia" pitchFamily="34" charset="0"/>
                  <a:ea typeface="Georgia" pitchFamily="34" charset="-122"/>
                  <a:cs typeface="Georgia" pitchFamily="34" charset="-120"/>
                </a:rPr>
                <a:t>1974</a:t>
              </a:r>
              <a:endParaRPr lang="en-US" sz="2000" dirty="0"/>
            </a:p>
          </p:txBody>
        </p:sp>
        <p:sp>
          <p:nvSpPr>
            <p:cNvPr id="9" name="ch1_b"/>
            <p:cNvSpPr txBox="1"/>
            <p:nvPr/>
          </p:nvSpPr>
          <p:spPr>
            <a:xfrm>
              <a:off x="3537128" y="2761488"/>
              <a:ext cx="2266112" cy="1463040"/>
            </a:xfrm>
            <a:prstGeom prst="rect">
              <a:avLst/>
            </a:prstGeom>
            <a:noFill/>
            <a:ln/>
          </p:spPr>
          <p:txBody>
            <a:bodyPr wrap="square" lIns="0" tIns="0" rIns="0" bIns="0" rtlCol="0" anchor="t"/>
            <a:lstStyle/>
            <a:p>
              <a:pPr indent="0" marL="0">
                <a:lnSpc>
                  <a:spcPts val="1600"/>
                </a:lnSpc>
                <a:buNone/>
              </a:pPr>
              <a:r>
                <a:rPr lang="en-US" sz="1150" dirty="0">
                  <a:solidFill>
                    <a:srgbClr val="241535"/>
                  </a:solidFill>
                  <a:latin typeface="Arial" pitchFamily="34" charset="0"/>
                  <a:ea typeface="Arial" pitchFamily="34" charset="-122"/>
                  <a:cs typeface="Arial" pitchFamily="34" charset="-120"/>
                </a:rPr>
                <a:t>The Nobel Prize for pulsars went to the supervisor, not the student who found them.</a:t>
              </a:r>
              <a:endParaRPr lang="en-US" sz="1150" dirty="0"/>
            </a:p>
          </p:txBody>
        </p:sp>
      </p:grpSp>
      <p:grpSp>
        <p:nvGrpSpPr>
          <p:cNvPr id="20" name="ch2"/>
          <p:cNvGrpSpPr/>
          <p:nvPr/>
        </p:nvGrpSpPr>
        <p:grpSpPr>
          <a:xfrm>
            <a:off x="6205576" y="2121408"/>
            <a:ext cx="2631872" cy="2286000"/>
            <a:chOff x="6205576" y="2121408"/>
            <a:chExt cx="2631872" cy="2286000"/>
          </a:xfrm>
        </p:grpSpPr>
        <p:sp>
          <p:nvSpPr>
            <p:cNvPr id="10" name="ch2_bg"/>
            <p:cNvSpPr/>
            <p:nvPr/>
          </p:nvSpPr>
          <p:spPr>
            <a:xfrm>
              <a:off x="6205576" y="2121408"/>
              <a:ext cx="2631872" cy="2286000"/>
            </a:xfrm>
            <a:prstGeom prst="roundRect">
              <a:avLst>
                <a:gd name="adj" fmla="val 5600"/>
              </a:avLst>
            </a:prstGeom>
            <a:solidFill>
              <a:srgbClr val="FFFFFF"/>
            </a:solidFill>
            <a:ln w="15875">
              <a:solidFill>
                <a:srgbClr val="F2A03D"/>
              </a:solidFill>
              <a:prstDash val="solid"/>
            </a:ln>
          </p:spPr>
        </p:sp>
        <p:sp>
          <p:nvSpPr>
            <p:cNvPr id="11" name="ch2_h"/>
            <p:cNvSpPr txBox="1"/>
            <p:nvPr/>
          </p:nvSpPr>
          <p:spPr>
            <a:xfrm>
              <a:off x="6388456" y="2304288"/>
              <a:ext cx="2266112" cy="402336"/>
            </a:xfrm>
            <a:prstGeom prst="rect">
              <a:avLst/>
            </a:prstGeom>
            <a:noFill/>
            <a:ln/>
          </p:spPr>
          <p:txBody>
            <a:bodyPr wrap="square" lIns="0" tIns="0" rIns="0" bIns="0" rtlCol="0" anchor="ctr"/>
            <a:lstStyle/>
            <a:p>
              <a:pPr indent="0" marL="0">
                <a:buNone/>
              </a:pPr>
              <a:r>
                <a:rPr lang="en-US" sz="2000" b="1" dirty="0">
                  <a:solidFill>
                    <a:srgbClr val="F2A03D"/>
                  </a:solidFill>
                  <a:latin typeface="Georgia" pitchFamily="34" charset="0"/>
                  <a:ea typeface="Georgia" pitchFamily="34" charset="-122"/>
                  <a:cs typeface="Georgia" pitchFamily="34" charset="-120"/>
                </a:rPr>
                <a:t>2018</a:t>
              </a:r>
              <a:endParaRPr lang="en-US" sz="2000" dirty="0"/>
            </a:p>
          </p:txBody>
        </p:sp>
        <p:sp>
          <p:nvSpPr>
            <p:cNvPr id="12" name="ch2_b"/>
            <p:cNvSpPr txBox="1"/>
            <p:nvPr/>
          </p:nvSpPr>
          <p:spPr>
            <a:xfrm>
              <a:off x="6388456" y="2761488"/>
              <a:ext cx="2266112" cy="1463040"/>
            </a:xfrm>
            <a:prstGeom prst="rect">
              <a:avLst/>
            </a:prstGeom>
            <a:noFill/>
            <a:ln/>
          </p:spPr>
          <p:txBody>
            <a:bodyPr wrap="square" lIns="0" tIns="0" rIns="0" bIns="0" rtlCol="0" anchor="t"/>
            <a:lstStyle/>
            <a:p>
              <a:pPr indent="0" marL="0">
                <a:lnSpc>
                  <a:spcPts val="1600"/>
                </a:lnSpc>
                <a:buNone/>
              </a:pPr>
              <a:r>
                <a:rPr lang="en-US" sz="1150" dirty="0">
                  <a:solidFill>
                    <a:srgbClr val="241535"/>
                  </a:solidFill>
                  <a:latin typeface="Arial" pitchFamily="34" charset="0"/>
                  <a:ea typeface="Arial" pitchFamily="34" charset="-122"/>
                  <a:cs typeface="Arial" pitchFamily="34" charset="-120"/>
                </a:rPr>
                <a:t>Bell Burnell gave away a three million dollar prize to fund students from groups that are still missing.</a:t>
              </a:r>
              <a:endParaRPr lang="en-US" sz="1150" dirty="0"/>
            </a:p>
          </p:txBody>
        </p:sp>
      </p:grpSp>
      <p:grpSp>
        <p:nvGrpSpPr>
          <p:cNvPr id="21" name="ch3"/>
          <p:cNvGrpSpPr/>
          <p:nvPr/>
        </p:nvGrpSpPr>
        <p:grpSpPr>
          <a:xfrm>
            <a:off x="9056903" y="2121408"/>
            <a:ext cx="2631872" cy="2286000"/>
            <a:chOff x="9056903" y="2121408"/>
            <a:chExt cx="2631872" cy="2286000"/>
          </a:xfrm>
        </p:grpSpPr>
        <p:sp>
          <p:nvSpPr>
            <p:cNvPr id="13" name="ch3_bg"/>
            <p:cNvSpPr/>
            <p:nvPr/>
          </p:nvSpPr>
          <p:spPr>
            <a:xfrm>
              <a:off x="9056903" y="2121408"/>
              <a:ext cx="2631872" cy="2286000"/>
            </a:xfrm>
            <a:prstGeom prst="roundRect">
              <a:avLst>
                <a:gd name="adj" fmla="val 5600"/>
              </a:avLst>
            </a:prstGeom>
            <a:solidFill>
              <a:srgbClr val="FDEEDC"/>
            </a:solidFill>
            <a:ln w="22860">
              <a:solidFill>
                <a:srgbClr val="4A2C6F"/>
              </a:solidFill>
              <a:prstDash val="solid"/>
            </a:ln>
          </p:spPr>
        </p:sp>
        <p:sp>
          <p:nvSpPr>
            <p:cNvPr id="14" name="ch3_h"/>
            <p:cNvSpPr txBox="1"/>
            <p:nvPr/>
          </p:nvSpPr>
          <p:spPr>
            <a:xfrm>
              <a:off x="9239783" y="2304288"/>
              <a:ext cx="2266112" cy="402336"/>
            </a:xfrm>
            <a:prstGeom prst="rect">
              <a:avLst/>
            </a:prstGeom>
            <a:noFill/>
            <a:ln/>
          </p:spPr>
          <p:txBody>
            <a:bodyPr wrap="square" lIns="0" tIns="0" rIns="0" bIns="0" rtlCol="0" anchor="ctr"/>
            <a:lstStyle/>
            <a:p>
              <a:pPr indent="0" marL="0">
                <a:buNone/>
              </a:pPr>
              <a:r>
                <a:rPr lang="en-US" sz="2000" b="1" dirty="0">
                  <a:solidFill>
                    <a:srgbClr val="4A2C6F"/>
                  </a:solidFill>
                  <a:latin typeface="Georgia" pitchFamily="34" charset="0"/>
                  <a:ea typeface="Georgia" pitchFamily="34" charset="-122"/>
                  <a:cs typeface="Georgia" pitchFamily="34" charset="-120"/>
                </a:rPr>
                <a:t>now</a:t>
              </a:r>
              <a:endParaRPr lang="en-US" sz="2000" dirty="0"/>
            </a:p>
          </p:txBody>
        </p:sp>
        <p:sp>
          <p:nvSpPr>
            <p:cNvPr id="15" name="ch3_b"/>
            <p:cNvSpPr txBox="1"/>
            <p:nvPr/>
          </p:nvSpPr>
          <p:spPr>
            <a:xfrm>
              <a:off x="9239783" y="2761488"/>
              <a:ext cx="2266112" cy="1463040"/>
            </a:xfrm>
            <a:prstGeom prst="rect">
              <a:avLst/>
            </a:prstGeom>
            <a:noFill/>
            <a:ln/>
          </p:spPr>
          <p:txBody>
            <a:bodyPr wrap="square" lIns="0" tIns="0" rIns="0" bIns="0" rtlCol="0" anchor="t"/>
            <a:lstStyle/>
            <a:p>
              <a:pPr indent="0" marL="0">
                <a:lnSpc>
                  <a:spcPts val="1600"/>
                </a:lnSpc>
                <a:buNone/>
              </a:pPr>
              <a:r>
                <a:rPr lang="en-US" sz="1150" dirty="0">
                  <a:solidFill>
                    <a:srgbClr val="241535"/>
                  </a:solidFill>
                  <a:latin typeface="Arial" pitchFamily="34" charset="0"/>
                  <a:ea typeface="Arial" pitchFamily="34" charset="-122"/>
                  <a:cs typeface="Arial" pitchFamily="34" charset="-120"/>
                </a:rPr>
                <a:t>By 2023, five women had won the Nobel Prize in Physics. The first was in 1903.</a:t>
              </a:r>
              <a:endParaRPr lang="en-US" sz="1150" dirty="0"/>
            </a:p>
          </p:txBody>
        </p:sp>
      </p:grpSp>
      <p:sp>
        <p:nvSpPr>
          <p:cNvPr id="16" name="ch_point"/>
          <p:cNvSpPr txBox="1"/>
          <p:nvPr/>
        </p:nvSpPr>
        <p:spPr>
          <a:xfrm>
            <a:off x="502920" y="4645152"/>
            <a:ext cx="11185855" cy="475488"/>
          </a:xfrm>
          <a:prstGeom prst="rect">
            <a:avLst/>
          </a:prstGeom>
          <a:noFill/>
          <a:ln/>
        </p:spPr>
        <p:txBody>
          <a:bodyPr wrap="square" lIns="0" tIns="0" rIns="0" bIns="0" rtlCol="0" anchor="t"/>
          <a:lstStyle/>
          <a:p>
            <a:pPr indent="0" marL="0">
              <a:lnSpc>
                <a:spcPts val="1900"/>
              </a:lnSpc>
              <a:buNone/>
            </a:pPr>
            <a:r>
              <a:rPr lang="en-US" sz="1400" b="1" dirty="0">
                <a:solidFill>
                  <a:srgbClr val="4A2C6F"/>
                </a:solidFill>
                <a:latin typeface="Arial" pitchFamily="34" charset="0"/>
                <a:ea typeface="Arial" pitchFamily="34" charset="-122"/>
                <a:cs typeface="Arial" pitchFamily="34" charset="-120"/>
              </a:rPr>
              <a:t>Better is not the same as finished. That is a sentence about science as well as about scientists.</a:t>
            </a:r>
            <a:endParaRPr lang="en-US" sz="1400" dirty="0"/>
          </a:p>
        </p:txBody>
      </p:sp>
      <p:sp>
        <p:nvSpPr>
          <p:cNvPr id="17" name="footer_note"/>
          <p:cNvSpPr txBox="1"/>
          <p:nvPr/>
        </p:nvSpPr>
        <p:spPr>
          <a:xfrm>
            <a:off x="502920" y="6382512"/>
            <a:ext cx="11185855" cy="292608"/>
          </a:xfrm>
          <a:prstGeom prst="rect">
            <a:avLst/>
          </a:prstGeom>
          <a:noFill/>
          <a:ln/>
        </p:spPr>
        <p:txBody>
          <a:bodyPr wrap="square" lIns="0" tIns="0" rIns="0" bIns="0" rtlCol="0" anchor="ctr"/>
          <a:lstStyle/>
          <a:p>
            <a:pPr algn="l" indent="0" marL="0">
              <a:buNone/>
            </a:pPr>
            <a:r>
              <a:rPr lang="en-US" sz="1050" i="1" dirty="0">
                <a:solidFill>
                  <a:srgbClr val="6A6180"/>
                </a:solidFill>
                <a:latin typeface="Arial" pitchFamily="34" charset="0"/>
                <a:ea typeface="Arial" pitchFamily="34" charset="-122"/>
                <a:cs typeface="Arial" pitchFamily="34" charset="-120"/>
              </a:rPr>
              <a:t>Nobel figure correct to 2023: Curie 1903, Goeppert Mayer 1963, Strickland 2018, Ghez 2020, L’Huillier 2023.</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4" fill="hold" grpId="0" nodeType="clickEffect">
                                  <p:stCondLst>
                                    <p:cond delay="0"/>
                                  </p:stCondLst>
                                  <p:childTnLst>
                                    <p:set>
                                      <p:cBhvr>
                                        <p:cTn id="3" dur="1" fill="hold">
                                          <p:stCondLst>
                                            <p:cond delay="0"/>
                                          </p:stCondLst>
                                        </p:cTn>
                                        <p:tgtEl>
                                          <p:spTgt spid="18"/>
                                        </p:tgtEl>
                                        <p:attrNameLst>
                                          <p:attrName>style.visibility</p:attrName>
                                        </p:attrNameLst>
                                      </p:cBhvr>
                                      <p:to>
                                        <p:strVal val="visible"/>
                                      </p:to>
                                    </p:set>
                                    <p:animEffect transition="in" filter="wipe(up)">
                                      <p:cBhvr>
                                        <p:cTn id="4" dur="4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4" fill="hold" grpId="0"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wipe(up)">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22" presetClass="entr" presetSubtype="4"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wipe(up)">
                                      <p:cBhvr>
                                        <p:cTn id="14" dur="4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0" presetID="22" presetClass="entr" presetSubtype="4"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up)">
                                      <p:cBhvr>
                                        <p:cTn id="19" dur="4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FB"/>
        </a:solidFill>
      </p:bgPr>
    </p:bg>
    <p:spTree>
      <p:nvGrpSpPr>
        <p:cNvPr id="1" name=""/>
        <p:cNvGrpSpPr/>
        <p:nvPr/>
      </p:nvGrpSpPr>
      <p:grpSpPr>
        <a:xfrm>
          <a:off x="0" y="0"/>
          <a:ext cx="0" cy="0"/>
          <a:chOff x="0" y="0"/>
          <a:chExt cx="0" cy="0"/>
        </a:xfrm>
      </p:grpSpPr>
      <p:sp>
        <p:nvSpPr>
          <p:cNvPr id="2" name="phase_pill"/>
          <p:cNvSpPr/>
          <p:nvPr/>
        </p:nvSpPr>
        <p:spPr>
          <a:xfrm>
            <a:off x="502920" y="274320"/>
            <a:ext cx="2432304" cy="347472"/>
          </a:xfrm>
          <a:prstGeom prst="roundRect">
            <a:avLst>
              <a:gd name="adj" fmla="val 50000"/>
            </a:avLst>
          </a:prstGeom>
          <a:solidFill>
            <a:srgbClr val="4A2C6F"/>
          </a:solidFill>
          <a:ln/>
        </p:spPr>
        <p:txBody>
          <a:bodyPr wrap="square" lIns="0" tIns="0" rIns="0" bIns="0" rtlCol="0" anchor="ctr"/>
          <a:lstStyle/>
          <a:p>
            <a:pPr algn="ctr" indent="0" marL="0">
              <a:buNone/>
            </a:pPr>
            <a:r>
              <a:rPr lang="en-US" sz="1100" b="1" spc="110" kern="0" dirty="0">
                <a:solidFill>
                  <a:srgbClr val="F7F4FB"/>
                </a:solidFill>
                <a:latin typeface="Arial" pitchFamily="34" charset="0"/>
                <a:ea typeface="Arial" pitchFamily="34" charset="-122"/>
                <a:cs typeface="Arial" pitchFamily="34" charset="-120"/>
              </a:rPr>
              <a:t>YOU DO · 9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4A2C6F"/>
                </a:solidFill>
                <a:latin typeface="Georgia" pitchFamily="34" charset="0"/>
                <a:ea typeface="Georgia" pitchFamily="34" charset="-122"/>
                <a:cs typeface="Georgia" pitchFamily="34" charset="-120"/>
              </a:rPr>
              <a:t>Start your poster</a:t>
            </a:r>
            <a:endParaRPr lang="en-US" sz="3000" dirty="0"/>
          </a:p>
        </p:txBody>
      </p:sp>
      <p:sp>
        <p:nvSpPr>
          <p:cNvPr id="4" name="yd_intro"/>
          <p:cNvSpPr txBox="1"/>
          <p:nvPr/>
        </p:nvSpPr>
        <p:spPr>
          <a:xfrm>
            <a:off x="502920" y="1554480"/>
            <a:ext cx="10058400" cy="310896"/>
          </a:xfrm>
          <a:prstGeom prst="rect">
            <a:avLst/>
          </a:prstGeom>
          <a:noFill/>
          <a:ln/>
        </p:spPr>
        <p:txBody>
          <a:bodyPr wrap="square" lIns="0" tIns="0" rIns="0" bIns="0" rtlCol="0" anchor="ctr"/>
          <a:lstStyle/>
          <a:p>
            <a:pPr indent="0" marL="0">
              <a:buNone/>
            </a:pPr>
            <a:r>
              <a:rPr lang="en-US" sz="1300" dirty="0">
                <a:solidFill>
                  <a:srgbClr val="6A6180"/>
                </a:solidFill>
                <a:latin typeface="Arial" pitchFamily="34" charset="0"/>
                <a:ea typeface="Arial" pitchFamily="34" charset="-122"/>
                <a:cs typeface="Arial" pitchFamily="34" charset="-120"/>
              </a:rPr>
              <a:t>Worksheet sections A to C, then plan your poster on the back.</a:t>
            </a:r>
            <a:endParaRPr lang="en-US" sz="1300" dirty="0"/>
          </a:p>
        </p:txBody>
      </p:sp>
      <p:grpSp>
        <p:nvGrpSpPr>
          <p:cNvPr id="21" name="t0"/>
          <p:cNvGrpSpPr/>
          <p:nvPr/>
        </p:nvGrpSpPr>
        <p:grpSpPr>
          <a:xfrm>
            <a:off x="502920" y="2194560"/>
            <a:ext cx="3545738" cy="1645920"/>
            <a:chOff x="502920" y="2194560"/>
            <a:chExt cx="3545738" cy="1645920"/>
          </a:xfrm>
        </p:grpSpPr>
        <p:sp>
          <p:nvSpPr>
            <p:cNvPr id="5" name="t0_bg"/>
            <p:cNvSpPr/>
            <p:nvPr/>
          </p:nvSpPr>
          <p:spPr>
            <a:xfrm>
              <a:off x="502920" y="2194560"/>
              <a:ext cx="3545738" cy="1645920"/>
            </a:xfrm>
            <a:prstGeom prst="roundRect">
              <a:avLst>
                <a:gd name="adj" fmla="val 7778"/>
              </a:avLst>
            </a:prstGeom>
            <a:solidFill>
              <a:srgbClr val="FCEDF0"/>
            </a:solidFill>
            <a:ln w="15875">
              <a:solidFill>
                <a:srgbClr val="D94F6A"/>
              </a:solidFill>
              <a:prstDash val="solid"/>
            </a:ln>
          </p:spPr>
        </p:sp>
        <p:sp>
          <p:nvSpPr>
            <p:cNvPr id="6" name="t0_h"/>
            <p:cNvSpPr txBox="1"/>
            <p:nvPr/>
          </p:nvSpPr>
          <p:spPr>
            <a:xfrm>
              <a:off x="722376" y="2340864"/>
              <a:ext cx="3106826" cy="329184"/>
            </a:xfrm>
            <a:prstGeom prst="rect">
              <a:avLst/>
            </a:prstGeom>
            <a:noFill/>
            <a:ln/>
          </p:spPr>
          <p:txBody>
            <a:bodyPr wrap="square" lIns="0" tIns="0" rIns="0" bIns="0" rtlCol="0" anchor="ctr"/>
            <a:lstStyle/>
            <a:p>
              <a:pPr indent="0" marL="0">
                <a:buNone/>
              </a:pPr>
              <a:r>
                <a:rPr lang="en-US" sz="1600" b="1" spc="120" kern="0" dirty="0">
                  <a:solidFill>
                    <a:srgbClr val="D94F6A"/>
                  </a:solidFill>
                  <a:latin typeface="Arial" pitchFamily="34" charset="0"/>
                  <a:ea typeface="Arial" pitchFamily="34" charset="-122"/>
                  <a:cs typeface="Arial" pitchFamily="34" charset="-120"/>
                </a:rPr>
                <a:t>BRONZE</a:t>
              </a:r>
              <a:endParaRPr lang="en-US" sz="1600" dirty="0"/>
            </a:p>
          </p:txBody>
        </p:sp>
        <p:sp>
          <p:nvSpPr>
            <p:cNvPr id="7" name="t0_s"/>
            <p:cNvSpPr txBox="1"/>
            <p:nvPr/>
          </p:nvSpPr>
          <p:spPr>
            <a:xfrm>
              <a:off x="722376" y="2688336"/>
              <a:ext cx="3106826" cy="274320"/>
            </a:xfrm>
            <a:prstGeom prst="rect">
              <a:avLst/>
            </a:prstGeom>
            <a:noFill/>
            <a:ln/>
          </p:spPr>
          <p:txBody>
            <a:bodyPr wrap="square" lIns="0" tIns="0" rIns="0" bIns="0" rtlCol="0" anchor="ctr"/>
            <a:lstStyle/>
            <a:p>
              <a:pPr indent="0" marL="0">
                <a:buNone/>
              </a:pPr>
              <a:r>
                <a:rPr lang="en-US" sz="1250" b="1" dirty="0">
                  <a:solidFill>
                    <a:srgbClr val="241535"/>
                  </a:solidFill>
                  <a:latin typeface="Arial" pitchFamily="34" charset="0"/>
                  <a:ea typeface="Arial" pitchFamily="34" charset="-122"/>
                  <a:cs typeface="Arial" pitchFamily="34" charset="-120"/>
                </a:rPr>
                <a:t>Fluency</a:t>
              </a:r>
              <a:endParaRPr lang="en-US" sz="1250" dirty="0"/>
            </a:p>
          </p:txBody>
        </p:sp>
        <p:sp>
          <p:nvSpPr>
            <p:cNvPr id="8" name="t0_b"/>
            <p:cNvSpPr txBox="1"/>
            <p:nvPr/>
          </p:nvSpPr>
          <p:spPr>
            <a:xfrm>
              <a:off x="722376" y="2980944"/>
              <a:ext cx="3106826" cy="694944"/>
            </a:xfrm>
            <a:prstGeom prst="rect">
              <a:avLst/>
            </a:prstGeom>
            <a:noFill/>
            <a:ln/>
          </p:spPr>
          <p:txBody>
            <a:bodyPr wrap="square" lIns="0" tIns="0" rIns="0" bIns="0" rtlCol="0" anchor="t"/>
            <a:lstStyle/>
            <a:p>
              <a:pPr indent="0" marL="0">
                <a:lnSpc>
                  <a:spcPts val="1600"/>
                </a:lnSpc>
                <a:buNone/>
              </a:pPr>
              <a:r>
                <a:rPr lang="en-US" sz="1200" dirty="0">
                  <a:solidFill>
                    <a:srgbClr val="6A6180"/>
                  </a:solidFill>
                  <a:latin typeface="Arial" pitchFamily="34" charset="0"/>
                  <a:ea typeface="Arial" pitchFamily="34" charset="-122"/>
                  <a:cs typeface="Arial" pitchFamily="34" charset="-120"/>
                </a:rPr>
                <a:t>Order the timeline. Match the scientist to what they did.</a:t>
              </a:r>
              <a:endParaRPr lang="en-US" sz="1200" dirty="0"/>
            </a:p>
          </p:txBody>
        </p:sp>
      </p:grpSp>
      <p:grpSp>
        <p:nvGrpSpPr>
          <p:cNvPr id="22" name="t1"/>
          <p:cNvGrpSpPr/>
          <p:nvPr/>
        </p:nvGrpSpPr>
        <p:grpSpPr>
          <a:xfrm>
            <a:off x="4322978" y="2194560"/>
            <a:ext cx="3545738" cy="1645920"/>
            <a:chOff x="4322978" y="2194560"/>
            <a:chExt cx="3545738" cy="1645920"/>
          </a:xfrm>
        </p:grpSpPr>
        <p:sp>
          <p:nvSpPr>
            <p:cNvPr id="9" name="t1_bg"/>
            <p:cNvSpPr/>
            <p:nvPr/>
          </p:nvSpPr>
          <p:spPr>
            <a:xfrm>
              <a:off x="4322978" y="2194560"/>
              <a:ext cx="3545738" cy="1645920"/>
            </a:xfrm>
            <a:prstGeom prst="roundRect">
              <a:avLst>
                <a:gd name="adj" fmla="val 7778"/>
              </a:avLst>
            </a:prstGeom>
            <a:solidFill>
              <a:srgbClr val="F4F1F3"/>
            </a:solidFill>
            <a:ln w="15875">
              <a:solidFill>
                <a:srgbClr val="7C6B78"/>
              </a:solidFill>
              <a:prstDash val="solid"/>
            </a:ln>
          </p:spPr>
        </p:sp>
        <p:sp>
          <p:nvSpPr>
            <p:cNvPr id="10" name="t1_h"/>
            <p:cNvSpPr txBox="1"/>
            <p:nvPr/>
          </p:nvSpPr>
          <p:spPr>
            <a:xfrm>
              <a:off x="4542434" y="2340864"/>
              <a:ext cx="3106826" cy="329184"/>
            </a:xfrm>
            <a:prstGeom prst="rect">
              <a:avLst/>
            </a:prstGeom>
            <a:noFill/>
            <a:ln/>
          </p:spPr>
          <p:txBody>
            <a:bodyPr wrap="square" lIns="0" tIns="0" rIns="0" bIns="0" rtlCol="0" anchor="ctr"/>
            <a:lstStyle/>
            <a:p>
              <a:pPr indent="0" marL="0">
                <a:buNone/>
              </a:pPr>
              <a:r>
                <a:rPr lang="en-US" sz="1600" b="1" spc="120" kern="0" dirty="0">
                  <a:solidFill>
                    <a:srgbClr val="7C6B78"/>
                  </a:solidFill>
                  <a:latin typeface="Arial" pitchFamily="34" charset="0"/>
                  <a:ea typeface="Arial" pitchFamily="34" charset="-122"/>
                  <a:cs typeface="Arial" pitchFamily="34" charset="-120"/>
                </a:rPr>
                <a:t>SILVER</a:t>
              </a:r>
              <a:endParaRPr lang="en-US" sz="1600" dirty="0"/>
            </a:p>
          </p:txBody>
        </p:sp>
        <p:sp>
          <p:nvSpPr>
            <p:cNvPr id="11" name="t1_s"/>
            <p:cNvSpPr txBox="1"/>
            <p:nvPr/>
          </p:nvSpPr>
          <p:spPr>
            <a:xfrm>
              <a:off x="4542434" y="2688336"/>
              <a:ext cx="3106826" cy="274320"/>
            </a:xfrm>
            <a:prstGeom prst="rect">
              <a:avLst/>
            </a:prstGeom>
            <a:noFill/>
            <a:ln/>
          </p:spPr>
          <p:txBody>
            <a:bodyPr wrap="square" lIns="0" tIns="0" rIns="0" bIns="0" rtlCol="0" anchor="ctr"/>
            <a:lstStyle/>
            <a:p>
              <a:pPr indent="0" marL="0">
                <a:buNone/>
              </a:pPr>
              <a:r>
                <a:rPr lang="en-US" sz="1250" b="1" dirty="0">
                  <a:solidFill>
                    <a:srgbClr val="241535"/>
                  </a:solidFill>
                  <a:latin typeface="Arial" pitchFamily="34" charset="0"/>
                  <a:ea typeface="Arial" pitchFamily="34" charset="-122"/>
                  <a:cs typeface="Arial" pitchFamily="34" charset="-120"/>
                </a:rPr>
                <a:t>Mixed practice</a:t>
              </a:r>
              <a:endParaRPr lang="en-US" sz="1250" dirty="0"/>
            </a:p>
          </p:txBody>
        </p:sp>
        <p:sp>
          <p:nvSpPr>
            <p:cNvPr id="12" name="t1_b"/>
            <p:cNvSpPr txBox="1"/>
            <p:nvPr/>
          </p:nvSpPr>
          <p:spPr>
            <a:xfrm>
              <a:off x="4542434" y="2980944"/>
              <a:ext cx="3106826" cy="694944"/>
            </a:xfrm>
            <a:prstGeom prst="rect">
              <a:avLst/>
            </a:prstGeom>
            <a:noFill/>
            <a:ln/>
          </p:spPr>
          <p:txBody>
            <a:bodyPr wrap="square" lIns="0" tIns="0" rIns="0" bIns="0" rtlCol="0" anchor="t"/>
            <a:lstStyle/>
            <a:p>
              <a:pPr indent="0" marL="0">
                <a:lnSpc>
                  <a:spcPts val="1600"/>
                </a:lnSpc>
                <a:buNone/>
              </a:pPr>
              <a:r>
                <a:rPr lang="en-US" sz="1200" dirty="0">
                  <a:solidFill>
                    <a:srgbClr val="6A6180"/>
                  </a:solidFill>
                  <a:latin typeface="Arial" pitchFamily="34" charset="0"/>
                  <a:ea typeface="Arial" pitchFamily="34" charset="-122"/>
                  <a:cs typeface="Arial" pitchFamily="34" charset="-120"/>
                </a:rPr>
                <a:t>Explain why a name can go missing from the record.</a:t>
              </a:r>
              <a:endParaRPr lang="en-US" sz="1200" dirty="0"/>
            </a:p>
          </p:txBody>
        </p:sp>
      </p:grpSp>
      <p:grpSp>
        <p:nvGrpSpPr>
          <p:cNvPr id="23" name="t2"/>
          <p:cNvGrpSpPr/>
          <p:nvPr/>
        </p:nvGrpSpPr>
        <p:grpSpPr>
          <a:xfrm>
            <a:off x="8143037" y="2194560"/>
            <a:ext cx="3545738" cy="1645920"/>
            <a:chOff x="8143037" y="2194560"/>
            <a:chExt cx="3545738" cy="1645920"/>
          </a:xfrm>
        </p:grpSpPr>
        <p:sp>
          <p:nvSpPr>
            <p:cNvPr id="13" name="t2_bg"/>
            <p:cNvSpPr/>
            <p:nvPr/>
          </p:nvSpPr>
          <p:spPr>
            <a:xfrm>
              <a:off x="8143037" y="2194560"/>
              <a:ext cx="3545738" cy="1645920"/>
            </a:xfrm>
            <a:prstGeom prst="roundRect">
              <a:avLst>
                <a:gd name="adj" fmla="val 7778"/>
              </a:avLst>
            </a:prstGeom>
            <a:solidFill>
              <a:srgbClr val="FDEEDC"/>
            </a:solidFill>
            <a:ln w="15875">
              <a:solidFill>
                <a:srgbClr val="F2A03D"/>
              </a:solidFill>
              <a:prstDash val="solid"/>
            </a:ln>
          </p:spPr>
        </p:sp>
        <p:sp>
          <p:nvSpPr>
            <p:cNvPr id="14" name="t2_h"/>
            <p:cNvSpPr txBox="1"/>
            <p:nvPr/>
          </p:nvSpPr>
          <p:spPr>
            <a:xfrm>
              <a:off x="8362493" y="2340864"/>
              <a:ext cx="3106826" cy="329184"/>
            </a:xfrm>
            <a:prstGeom prst="rect">
              <a:avLst/>
            </a:prstGeom>
            <a:noFill/>
            <a:ln/>
          </p:spPr>
          <p:txBody>
            <a:bodyPr wrap="square" lIns="0" tIns="0" rIns="0" bIns="0" rtlCol="0" anchor="ctr"/>
            <a:lstStyle/>
            <a:p>
              <a:pPr indent="0" marL="0">
                <a:buNone/>
              </a:pPr>
              <a:r>
                <a:rPr lang="en-US" sz="1600" b="1" spc="120" kern="0" dirty="0">
                  <a:solidFill>
                    <a:srgbClr val="F2A03D"/>
                  </a:solidFill>
                  <a:latin typeface="Arial" pitchFamily="34" charset="0"/>
                  <a:ea typeface="Arial" pitchFamily="34" charset="-122"/>
                  <a:cs typeface="Arial" pitchFamily="34" charset="-120"/>
                </a:rPr>
                <a:t>GOLD</a:t>
              </a:r>
              <a:endParaRPr lang="en-US" sz="1600" dirty="0"/>
            </a:p>
          </p:txBody>
        </p:sp>
        <p:sp>
          <p:nvSpPr>
            <p:cNvPr id="15" name="t2_s"/>
            <p:cNvSpPr txBox="1"/>
            <p:nvPr/>
          </p:nvSpPr>
          <p:spPr>
            <a:xfrm>
              <a:off x="8362493" y="2688336"/>
              <a:ext cx="3106826" cy="274320"/>
            </a:xfrm>
            <a:prstGeom prst="rect">
              <a:avLst/>
            </a:prstGeom>
            <a:noFill/>
            <a:ln/>
          </p:spPr>
          <p:txBody>
            <a:bodyPr wrap="square" lIns="0" tIns="0" rIns="0" bIns="0" rtlCol="0" anchor="ctr"/>
            <a:lstStyle/>
            <a:p>
              <a:pPr indent="0" marL="0">
                <a:buNone/>
              </a:pPr>
              <a:r>
                <a:rPr lang="en-US" sz="1250" b="1" dirty="0">
                  <a:solidFill>
                    <a:srgbClr val="241535"/>
                  </a:solidFill>
                  <a:latin typeface="Arial" pitchFamily="34" charset="0"/>
                  <a:ea typeface="Arial" pitchFamily="34" charset="-122"/>
                  <a:cs typeface="Arial" pitchFamily="34" charset="-120"/>
                </a:rPr>
                <a:t>Reasoning</a:t>
              </a:r>
              <a:endParaRPr lang="en-US" sz="1250" dirty="0"/>
            </a:p>
          </p:txBody>
        </p:sp>
        <p:sp>
          <p:nvSpPr>
            <p:cNvPr id="16" name="t2_b"/>
            <p:cNvSpPr txBox="1"/>
            <p:nvPr/>
          </p:nvSpPr>
          <p:spPr>
            <a:xfrm>
              <a:off x="8362493" y="2980944"/>
              <a:ext cx="3106826" cy="694944"/>
            </a:xfrm>
            <a:prstGeom prst="rect">
              <a:avLst/>
            </a:prstGeom>
            <a:noFill/>
            <a:ln/>
          </p:spPr>
          <p:txBody>
            <a:bodyPr wrap="square" lIns="0" tIns="0" rIns="0" bIns="0" rtlCol="0" anchor="t"/>
            <a:lstStyle/>
            <a:p>
              <a:pPr indent="0" marL="0">
                <a:lnSpc>
                  <a:spcPts val="1600"/>
                </a:lnSpc>
                <a:buNone/>
              </a:pPr>
              <a:r>
                <a:rPr lang="en-US" sz="1200" dirty="0">
                  <a:solidFill>
                    <a:srgbClr val="6A6180"/>
                  </a:solidFill>
                  <a:latin typeface="Arial" pitchFamily="34" charset="0"/>
                  <a:ea typeface="Arial" pitchFamily="34" charset="-122"/>
                  <a:cs typeface="Arial" pitchFamily="34" charset="-120"/>
                </a:rPr>
                <a:t>Plan your poster. Choose your scientist and say why.</a:t>
              </a:r>
              <a:endParaRPr lang="en-US" sz="1200" dirty="0"/>
            </a:p>
          </p:txBody>
        </p:sp>
      </p:grpSp>
      <p:grpSp>
        <p:nvGrpSpPr>
          <p:cNvPr id="24" name="gem"/>
          <p:cNvGrpSpPr/>
          <p:nvPr/>
        </p:nvGrpSpPr>
        <p:grpSpPr>
          <a:xfrm>
            <a:off x="502920" y="4114800"/>
            <a:ext cx="11185855" cy="1133856"/>
            <a:chOff x="502920" y="4114800"/>
            <a:chExt cx="11185855" cy="1133856"/>
          </a:xfrm>
        </p:grpSpPr>
        <p:sp>
          <p:nvSpPr>
            <p:cNvPr id="17" name="gem_bg"/>
            <p:cNvSpPr/>
            <p:nvPr/>
          </p:nvSpPr>
          <p:spPr>
            <a:xfrm>
              <a:off x="502920" y="4114800"/>
              <a:ext cx="11185855" cy="1133856"/>
            </a:xfrm>
            <a:prstGeom prst="roundRect">
              <a:avLst>
                <a:gd name="adj" fmla="val 11290"/>
              </a:avLst>
            </a:prstGeom>
            <a:solidFill>
              <a:srgbClr val="E8F6F5"/>
            </a:solidFill>
            <a:ln w="15875">
              <a:solidFill>
                <a:srgbClr val="2BA6A0"/>
              </a:solidFill>
              <a:prstDash val="solid"/>
            </a:ln>
          </p:spPr>
        </p:sp>
        <p:sp>
          <p:nvSpPr>
            <p:cNvPr id="18" name="gem_h"/>
            <p:cNvSpPr txBox="1"/>
            <p:nvPr/>
          </p:nvSpPr>
          <p:spPr>
            <a:xfrm>
              <a:off x="758952" y="4242816"/>
              <a:ext cx="8229600" cy="292608"/>
            </a:xfrm>
            <a:prstGeom prst="rect">
              <a:avLst/>
            </a:prstGeom>
            <a:noFill/>
            <a:ln/>
          </p:spPr>
          <p:txBody>
            <a:bodyPr wrap="square" lIns="0" tIns="0" rIns="0" bIns="0" rtlCol="0" anchor="ctr"/>
            <a:lstStyle/>
            <a:p>
              <a:pPr indent="0" marL="0">
                <a:buNone/>
              </a:pPr>
              <a:r>
                <a:rPr lang="en-US" sz="1350" b="1" dirty="0">
                  <a:solidFill>
                    <a:srgbClr val="4A2C6F"/>
                  </a:solidFill>
                  <a:latin typeface="Arial" pitchFamily="34" charset="0"/>
                  <a:ea typeface="Arial" pitchFamily="34" charset="-122"/>
                  <a:cs typeface="Arial" pitchFamily="34" charset="-120"/>
                </a:rPr>
                <a:t>Researching your poster? Use Gemini properly.</a:t>
              </a:r>
              <a:endParaRPr lang="en-US" sz="1350" dirty="0"/>
            </a:p>
          </p:txBody>
        </p:sp>
        <p:sp>
          <p:nvSpPr>
            <p:cNvPr id="19" name="gem_t"/>
            <p:cNvSpPr txBox="1"/>
            <p:nvPr/>
          </p:nvSpPr>
          <p:spPr>
            <a:xfrm>
              <a:off x="758952" y="4553712"/>
              <a:ext cx="10673791" cy="621792"/>
            </a:xfrm>
            <a:prstGeom prst="rect">
              <a:avLst/>
            </a:prstGeom>
            <a:noFill/>
            <a:ln/>
          </p:spPr>
          <p:txBody>
            <a:bodyPr wrap="square" lIns="0" tIns="0" rIns="0" bIns="0" rtlCol="0" anchor="t"/>
            <a:lstStyle/>
            <a:p>
              <a:pPr indent="0" marL="0">
                <a:lnSpc>
                  <a:spcPts val="1600"/>
                </a:lnSpc>
                <a:buNone/>
              </a:pPr>
              <a:r>
                <a:rPr lang="en-US" sz="1200" dirty="0">
                  <a:solidFill>
                    <a:srgbClr val="241535"/>
                  </a:solidFill>
                  <a:latin typeface="Arial" pitchFamily="34" charset="0"/>
                  <a:ea typeface="Arial" pitchFamily="34" charset="-122"/>
                  <a:cs typeface="Arial" pitchFamily="34" charset="-120"/>
                </a:rPr>
                <a:t>Three prompts on the last page of your worksheet. One helps you find a scientist, one checks whether a fact is actually true, one marks your plan. None of them writes the poster for you. Anything it tells you, find a second source that says the same thing.</a:t>
              </a:r>
              <a:endParaRPr lang="en-US" sz="1200" dirty="0"/>
            </a:p>
          </p:txBody>
        </p:sp>
      </p:grpSp>
      <p:sp>
        <p:nvSpPr>
          <p:cNvPr id="20" name="yd_rag"/>
          <p:cNvSpPr txBox="1"/>
          <p:nvPr/>
        </p:nvSpPr>
        <p:spPr>
          <a:xfrm>
            <a:off x="502920" y="6291072"/>
            <a:ext cx="11185855" cy="310896"/>
          </a:xfrm>
          <a:prstGeom prst="rect">
            <a:avLst/>
          </a:prstGeom>
          <a:noFill/>
          <a:ln/>
        </p:spPr>
        <p:txBody>
          <a:bodyPr wrap="square" lIns="0" tIns="0" rIns="0" bIns="0" rtlCol="0" anchor="ctr"/>
          <a:lstStyle/>
          <a:p>
            <a:pPr indent="0" marL="0">
              <a:buNone/>
            </a:pPr>
            <a:r>
              <a:rPr lang="en-US" sz="1200" b="1" dirty="0">
                <a:solidFill>
                  <a:srgbClr val="D94F6A"/>
                </a:solidFill>
                <a:latin typeface="Arial" pitchFamily="34" charset="0"/>
                <a:ea typeface="Arial" pitchFamily="34" charset="-122"/>
                <a:cs typeface="Arial" pitchFamily="34" charset="-120"/>
              </a:rPr>
              <a:t>RAG grid, front page — fill in the "end of lesson" column before you pack away.</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FB"/>
        </a:solidFill>
      </p:bgPr>
    </p:bg>
    <p:spTree>
      <p:nvGrpSpPr>
        <p:cNvPr id="1" name=""/>
        <p:cNvGrpSpPr/>
        <p:nvPr/>
      </p:nvGrpSpPr>
      <p:grpSpPr>
        <a:xfrm>
          <a:off x="0" y="0"/>
          <a:ext cx="0" cy="0"/>
          <a:chOff x="0" y="0"/>
          <a:chExt cx="0" cy="0"/>
        </a:xfrm>
      </p:grpSpPr>
      <p:sp>
        <p:nvSpPr>
          <p:cNvPr id="2" name="phase_pill"/>
          <p:cNvSpPr/>
          <p:nvPr/>
        </p:nvSpPr>
        <p:spPr>
          <a:xfrm>
            <a:off x="502920" y="274320"/>
            <a:ext cx="2432304" cy="347472"/>
          </a:xfrm>
          <a:prstGeom prst="roundRect">
            <a:avLst>
              <a:gd name="adj" fmla="val 50000"/>
            </a:avLst>
          </a:prstGeom>
          <a:solidFill>
            <a:srgbClr val="4A2C6F"/>
          </a:solidFill>
          <a:ln/>
        </p:spPr>
        <p:txBody>
          <a:bodyPr wrap="square" lIns="0" tIns="0" rIns="0" bIns="0" rtlCol="0" anchor="ctr"/>
          <a:lstStyle/>
          <a:p>
            <a:pPr algn="ctr" indent="0" marL="0">
              <a:buNone/>
            </a:pPr>
            <a:r>
              <a:rPr lang="en-US" sz="1100" b="1" spc="110" kern="0" dirty="0">
                <a:solidFill>
                  <a:srgbClr val="F7F4FB"/>
                </a:solidFill>
                <a:latin typeface="Arial" pitchFamily="34" charset="0"/>
                <a:ea typeface="Arial" pitchFamily="34" charset="-122"/>
                <a:cs typeface="Arial" pitchFamily="34" charset="-120"/>
              </a:rPr>
              <a:t>REVEAL · 2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4A2C6F"/>
                </a:solidFill>
                <a:latin typeface="Georgia" pitchFamily="34" charset="0"/>
                <a:ea typeface="Georgia" pitchFamily="34" charset="-122"/>
                <a:cs typeface="Georgia" pitchFamily="34" charset="-120"/>
              </a:rPr>
              <a:t>So — why is everybody’s list the same?</a:t>
            </a:r>
            <a:endParaRPr lang="en-US" sz="3000" dirty="0"/>
          </a:p>
        </p:txBody>
      </p:sp>
      <p:sp>
        <p:nvSpPr>
          <p:cNvPr id="4" name="rv_kick"/>
          <p:cNvSpPr txBox="1"/>
          <p:nvPr/>
        </p:nvSpPr>
        <p:spPr>
          <a:xfrm>
            <a:off x="502920" y="1554480"/>
            <a:ext cx="10058400" cy="310896"/>
          </a:xfrm>
          <a:prstGeom prst="rect">
            <a:avLst/>
          </a:prstGeom>
          <a:noFill/>
          <a:ln/>
        </p:spPr>
        <p:txBody>
          <a:bodyPr wrap="square" lIns="0" tIns="0" rIns="0" bIns="0" rtlCol="0" anchor="ctr"/>
          <a:lstStyle/>
          <a:p>
            <a:pPr indent="0" marL="0">
              <a:buNone/>
            </a:pPr>
            <a:r>
              <a:rPr lang="en-US" sz="1300" dirty="0">
                <a:solidFill>
                  <a:srgbClr val="6A6180"/>
                </a:solidFill>
                <a:latin typeface="Arial" pitchFamily="34" charset="0"/>
                <a:ea typeface="Arial" pitchFamily="34" charset="-122"/>
                <a:cs typeface="Arial" pitchFamily="34" charset="-120"/>
              </a:rPr>
              <a:t>The answer was B.</a:t>
            </a:r>
            <a:endParaRPr lang="en-US" sz="1300" dirty="0"/>
          </a:p>
        </p:txBody>
      </p:sp>
      <p:grpSp>
        <p:nvGrpSpPr>
          <p:cNvPr id="28" name="rv_dots"/>
          <p:cNvGrpSpPr/>
          <p:nvPr/>
        </p:nvGrpSpPr>
        <p:grpSpPr>
          <a:xfrm>
            <a:off x="1188720" y="2304288"/>
            <a:ext cx="4919472" cy="292608"/>
            <a:chOff x="1188720" y="2304288"/>
            <a:chExt cx="4919472" cy="292608"/>
          </a:xfrm>
        </p:grpSpPr>
        <p:sp>
          <p:nvSpPr>
            <p:cNvPr id="5" name="rv_obs0"/>
            <p:cNvSpPr/>
            <p:nvPr/>
          </p:nvSpPr>
          <p:spPr>
            <a:xfrm>
              <a:off x="1188720" y="2304288"/>
              <a:ext cx="292608" cy="292608"/>
            </a:xfrm>
            <a:prstGeom prst="ellipse">
              <a:avLst/>
            </a:prstGeom>
            <a:solidFill>
              <a:srgbClr val="E3DAF0"/>
            </a:solidFill>
            <a:ln w="12700">
              <a:solidFill>
                <a:srgbClr val="E3DAF0"/>
              </a:solidFill>
              <a:prstDash val="solid"/>
            </a:ln>
          </p:spPr>
        </p:sp>
        <p:sp>
          <p:nvSpPr>
            <p:cNvPr id="6" name="rv_obs1"/>
            <p:cNvSpPr/>
            <p:nvPr/>
          </p:nvSpPr>
          <p:spPr>
            <a:xfrm>
              <a:off x="1609344" y="2304288"/>
              <a:ext cx="292608" cy="292608"/>
            </a:xfrm>
            <a:prstGeom prst="ellipse">
              <a:avLst/>
            </a:prstGeom>
            <a:solidFill>
              <a:srgbClr val="E3DAF0"/>
            </a:solidFill>
            <a:ln w="12700">
              <a:solidFill>
                <a:srgbClr val="E3DAF0"/>
              </a:solidFill>
              <a:prstDash val="solid"/>
            </a:ln>
          </p:spPr>
        </p:sp>
        <p:sp>
          <p:nvSpPr>
            <p:cNvPr id="7" name="rv_obs2"/>
            <p:cNvSpPr/>
            <p:nvPr/>
          </p:nvSpPr>
          <p:spPr>
            <a:xfrm>
              <a:off x="2029968" y="2304288"/>
              <a:ext cx="292608" cy="292608"/>
            </a:xfrm>
            <a:prstGeom prst="ellipse">
              <a:avLst/>
            </a:prstGeom>
            <a:solidFill>
              <a:srgbClr val="E3DAF0"/>
            </a:solidFill>
            <a:ln w="12700">
              <a:solidFill>
                <a:srgbClr val="E3DAF0"/>
              </a:solidFill>
              <a:prstDash val="solid"/>
            </a:ln>
          </p:spPr>
        </p:sp>
        <p:sp>
          <p:nvSpPr>
            <p:cNvPr id="8" name="rv_obs3"/>
            <p:cNvSpPr/>
            <p:nvPr/>
          </p:nvSpPr>
          <p:spPr>
            <a:xfrm>
              <a:off x="2450592" y="2304288"/>
              <a:ext cx="292608" cy="292608"/>
            </a:xfrm>
            <a:prstGeom prst="ellipse">
              <a:avLst/>
            </a:prstGeom>
            <a:solidFill>
              <a:srgbClr val="E3DAF0"/>
            </a:solidFill>
            <a:ln w="12700">
              <a:solidFill>
                <a:srgbClr val="E3DAF0"/>
              </a:solidFill>
              <a:prstDash val="solid"/>
            </a:ln>
          </p:spPr>
        </p:sp>
        <p:sp>
          <p:nvSpPr>
            <p:cNvPr id="9" name="rv_obs4"/>
            <p:cNvSpPr/>
            <p:nvPr/>
          </p:nvSpPr>
          <p:spPr>
            <a:xfrm>
              <a:off x="2871216" y="2304288"/>
              <a:ext cx="292608" cy="292608"/>
            </a:xfrm>
            <a:prstGeom prst="ellipse">
              <a:avLst/>
            </a:prstGeom>
            <a:solidFill>
              <a:srgbClr val="E3DAF0"/>
            </a:solidFill>
            <a:ln w="12700">
              <a:solidFill>
                <a:srgbClr val="E3DAF0"/>
              </a:solidFill>
              <a:prstDash val="solid"/>
            </a:ln>
          </p:spPr>
        </p:sp>
        <p:sp>
          <p:nvSpPr>
            <p:cNvPr id="10" name="rv_obs5"/>
            <p:cNvSpPr/>
            <p:nvPr/>
          </p:nvSpPr>
          <p:spPr>
            <a:xfrm>
              <a:off x="3291840" y="2304288"/>
              <a:ext cx="292608" cy="292608"/>
            </a:xfrm>
            <a:prstGeom prst="ellipse">
              <a:avLst/>
            </a:prstGeom>
            <a:solidFill>
              <a:srgbClr val="E3DAF0"/>
            </a:solidFill>
            <a:ln w="12700">
              <a:solidFill>
                <a:srgbClr val="E3DAF0"/>
              </a:solidFill>
              <a:prstDash val="solid"/>
            </a:ln>
          </p:spPr>
        </p:sp>
        <p:sp>
          <p:nvSpPr>
            <p:cNvPr id="11" name="rv_obs6"/>
            <p:cNvSpPr/>
            <p:nvPr/>
          </p:nvSpPr>
          <p:spPr>
            <a:xfrm>
              <a:off x="3712464" y="2304288"/>
              <a:ext cx="292608" cy="292608"/>
            </a:xfrm>
            <a:prstGeom prst="ellipse">
              <a:avLst/>
            </a:prstGeom>
            <a:solidFill>
              <a:srgbClr val="E3DAF0"/>
            </a:solidFill>
            <a:ln w="12700">
              <a:solidFill>
                <a:srgbClr val="E3DAF0"/>
              </a:solidFill>
              <a:prstDash val="solid"/>
            </a:ln>
          </p:spPr>
        </p:sp>
        <p:sp>
          <p:nvSpPr>
            <p:cNvPr id="12" name="rv_obs7"/>
            <p:cNvSpPr/>
            <p:nvPr/>
          </p:nvSpPr>
          <p:spPr>
            <a:xfrm>
              <a:off x="4133088" y="2304288"/>
              <a:ext cx="292608" cy="292608"/>
            </a:xfrm>
            <a:prstGeom prst="ellipse">
              <a:avLst/>
            </a:prstGeom>
            <a:solidFill>
              <a:srgbClr val="4A2C6F"/>
            </a:solidFill>
            <a:ln w="12700">
              <a:solidFill>
                <a:srgbClr val="4A2C6F"/>
              </a:solidFill>
              <a:prstDash val="solid"/>
            </a:ln>
          </p:spPr>
        </p:sp>
        <p:sp>
          <p:nvSpPr>
            <p:cNvPr id="13" name="rv_obs8"/>
            <p:cNvSpPr/>
            <p:nvPr/>
          </p:nvSpPr>
          <p:spPr>
            <a:xfrm>
              <a:off x="4553712" y="2304288"/>
              <a:ext cx="292608" cy="292608"/>
            </a:xfrm>
            <a:prstGeom prst="ellipse">
              <a:avLst/>
            </a:prstGeom>
            <a:solidFill>
              <a:srgbClr val="E3DAF0"/>
            </a:solidFill>
            <a:ln w="12700">
              <a:solidFill>
                <a:srgbClr val="E3DAF0"/>
              </a:solidFill>
              <a:prstDash val="solid"/>
            </a:ln>
          </p:spPr>
        </p:sp>
        <p:sp>
          <p:nvSpPr>
            <p:cNvPr id="14" name="rv_obs9"/>
            <p:cNvSpPr/>
            <p:nvPr/>
          </p:nvSpPr>
          <p:spPr>
            <a:xfrm>
              <a:off x="4974336" y="2304288"/>
              <a:ext cx="292608" cy="292608"/>
            </a:xfrm>
            <a:prstGeom prst="ellipse">
              <a:avLst/>
            </a:prstGeom>
            <a:solidFill>
              <a:srgbClr val="E3DAF0"/>
            </a:solidFill>
            <a:ln w="12700">
              <a:solidFill>
                <a:srgbClr val="E3DAF0"/>
              </a:solidFill>
              <a:prstDash val="solid"/>
            </a:ln>
          </p:spPr>
        </p:sp>
        <p:sp>
          <p:nvSpPr>
            <p:cNvPr id="15" name="rv_obs10"/>
            <p:cNvSpPr/>
            <p:nvPr/>
          </p:nvSpPr>
          <p:spPr>
            <a:xfrm>
              <a:off x="5394960" y="2304288"/>
              <a:ext cx="292608" cy="292608"/>
            </a:xfrm>
            <a:prstGeom prst="ellipse">
              <a:avLst/>
            </a:prstGeom>
            <a:solidFill>
              <a:srgbClr val="E3DAF0"/>
            </a:solidFill>
            <a:ln w="12700">
              <a:solidFill>
                <a:srgbClr val="E3DAF0"/>
              </a:solidFill>
              <a:prstDash val="solid"/>
            </a:ln>
          </p:spPr>
        </p:sp>
        <p:sp>
          <p:nvSpPr>
            <p:cNvPr id="16" name="rv_obs11"/>
            <p:cNvSpPr/>
            <p:nvPr/>
          </p:nvSpPr>
          <p:spPr>
            <a:xfrm>
              <a:off x="5815584" y="2304288"/>
              <a:ext cx="292608" cy="292608"/>
            </a:xfrm>
            <a:prstGeom prst="ellipse">
              <a:avLst/>
            </a:prstGeom>
            <a:solidFill>
              <a:srgbClr val="E3DAF0"/>
            </a:solidFill>
            <a:ln w="12700">
              <a:solidFill>
                <a:srgbClr val="E3DAF0"/>
              </a:solidFill>
              <a:prstDash val="solid"/>
            </a:ln>
          </p:spPr>
        </p:sp>
      </p:grpSp>
      <p:sp>
        <p:nvSpPr>
          <p:cNvPr id="17" name="rv_line"/>
          <p:cNvSpPr txBox="1"/>
          <p:nvPr/>
        </p:nvSpPr>
        <p:spPr>
          <a:xfrm>
            <a:off x="502920" y="2871216"/>
            <a:ext cx="11185855" cy="402336"/>
          </a:xfrm>
          <a:prstGeom prst="rect">
            <a:avLst/>
          </a:prstGeom>
          <a:noFill/>
          <a:ln/>
        </p:spPr>
        <p:txBody>
          <a:bodyPr wrap="square" lIns="0" tIns="0" rIns="0" bIns="0" rtlCol="0" anchor="ctr"/>
          <a:lstStyle/>
          <a:p>
            <a:pPr indent="0" marL="0">
              <a:buNone/>
            </a:pPr>
            <a:r>
              <a:rPr lang="en-US" sz="1900" b="1" dirty="0">
                <a:solidFill>
                  <a:srgbClr val="4A2C6F"/>
                </a:solidFill>
                <a:latin typeface="Georgia" pitchFamily="34" charset="0"/>
                <a:ea typeface="Georgia" pitchFamily="34" charset="-122"/>
                <a:cs typeface="Georgia" pitchFamily="34" charset="-120"/>
              </a:rPr>
              <a:t>They were there. Somebody just did not write them down.</a:t>
            </a:r>
            <a:endParaRPr lang="en-US" sz="1900" dirty="0"/>
          </a:p>
        </p:txBody>
      </p:sp>
      <p:grpSp>
        <p:nvGrpSpPr>
          <p:cNvPr id="29" name="rp0"/>
          <p:cNvGrpSpPr/>
          <p:nvPr/>
        </p:nvGrpSpPr>
        <p:grpSpPr>
          <a:xfrm>
            <a:off x="502920" y="3474720"/>
            <a:ext cx="3557930" cy="1371600"/>
            <a:chOff x="502920" y="3474720"/>
            <a:chExt cx="3557930" cy="1371600"/>
          </a:xfrm>
        </p:grpSpPr>
        <p:sp>
          <p:nvSpPr>
            <p:cNvPr id="18" name="rp0_bg"/>
            <p:cNvSpPr/>
            <p:nvPr/>
          </p:nvSpPr>
          <p:spPr>
            <a:xfrm>
              <a:off x="502920" y="3474720"/>
              <a:ext cx="3557930" cy="1371600"/>
            </a:xfrm>
            <a:prstGeom prst="roundRect">
              <a:avLst>
                <a:gd name="adj" fmla="val 9333"/>
              </a:avLst>
            </a:prstGeom>
            <a:solidFill>
              <a:srgbClr val="FFFFFF"/>
            </a:solidFill>
            <a:ln w="15875">
              <a:solidFill>
                <a:srgbClr val="E3DAF0"/>
              </a:solidFill>
              <a:prstDash val="solid"/>
            </a:ln>
          </p:spPr>
        </p:sp>
        <p:sp>
          <p:nvSpPr>
            <p:cNvPr id="19" name="rp0_h"/>
            <p:cNvSpPr txBox="1"/>
            <p:nvPr/>
          </p:nvSpPr>
          <p:spPr>
            <a:xfrm>
              <a:off x="704088" y="3621024"/>
              <a:ext cx="3155594" cy="347472"/>
            </a:xfrm>
            <a:prstGeom prst="rect">
              <a:avLst/>
            </a:prstGeom>
            <a:noFill/>
            <a:ln/>
          </p:spPr>
          <p:txBody>
            <a:bodyPr wrap="square" lIns="0" tIns="0" rIns="0" bIns="0" rtlCol="0" anchor="ctr"/>
            <a:lstStyle/>
            <a:p>
              <a:pPr indent="0" marL="0">
                <a:buNone/>
              </a:pPr>
              <a:r>
                <a:rPr lang="en-US" sz="1350" b="1" dirty="0">
                  <a:solidFill>
                    <a:srgbClr val="F2A03D"/>
                  </a:solidFill>
                  <a:latin typeface="Arial" pitchFamily="34" charset="0"/>
                  <a:ea typeface="Arial" pitchFamily="34" charset="-122"/>
                  <a:cs typeface="Arial" pitchFamily="34" charset="-120"/>
                </a:rPr>
                <a:t>They were kept out.</a:t>
              </a:r>
              <a:endParaRPr lang="en-US" sz="1350" dirty="0"/>
            </a:p>
          </p:txBody>
        </p:sp>
        <p:sp>
          <p:nvSpPr>
            <p:cNvPr id="20" name="rp0_b"/>
            <p:cNvSpPr txBox="1"/>
            <p:nvPr/>
          </p:nvSpPr>
          <p:spPr>
            <a:xfrm>
              <a:off x="704088" y="3986784"/>
              <a:ext cx="3155594" cy="786384"/>
            </a:xfrm>
            <a:prstGeom prst="rect">
              <a:avLst/>
            </a:prstGeom>
            <a:noFill/>
            <a:ln/>
          </p:spPr>
          <p:txBody>
            <a:bodyPr wrap="square" lIns="0" tIns="0" rIns="0" bIns="0" rtlCol="0" anchor="t"/>
            <a:lstStyle/>
            <a:p>
              <a:pPr indent="0" marL="0">
                <a:lnSpc>
                  <a:spcPts val="1600"/>
                </a:lnSpc>
                <a:buNone/>
              </a:pPr>
              <a:r>
                <a:rPr lang="en-US" sz="1200" dirty="0">
                  <a:solidFill>
                    <a:srgbClr val="241535"/>
                  </a:solidFill>
                  <a:latin typeface="Arial" pitchFamily="34" charset="0"/>
                  <a:ea typeface="Arial" pitchFamily="34" charset="-122"/>
                  <a:cs typeface="Arial" pitchFamily="34" charset="-120"/>
                </a:rPr>
                <a:t>Out of the societies, the universities, and the papers.</a:t>
              </a:r>
              <a:endParaRPr lang="en-US" sz="1200" dirty="0"/>
            </a:p>
          </p:txBody>
        </p:sp>
      </p:grpSp>
      <p:grpSp>
        <p:nvGrpSpPr>
          <p:cNvPr id="30" name="rp1"/>
          <p:cNvGrpSpPr/>
          <p:nvPr/>
        </p:nvGrpSpPr>
        <p:grpSpPr>
          <a:xfrm>
            <a:off x="4316882" y="3474720"/>
            <a:ext cx="3557930" cy="1371600"/>
            <a:chOff x="4316882" y="3474720"/>
            <a:chExt cx="3557930" cy="1371600"/>
          </a:xfrm>
        </p:grpSpPr>
        <p:sp>
          <p:nvSpPr>
            <p:cNvPr id="21" name="rp1_bg"/>
            <p:cNvSpPr/>
            <p:nvPr/>
          </p:nvSpPr>
          <p:spPr>
            <a:xfrm>
              <a:off x="4316882" y="3474720"/>
              <a:ext cx="3557930" cy="1371600"/>
            </a:xfrm>
            <a:prstGeom prst="roundRect">
              <a:avLst>
                <a:gd name="adj" fmla="val 9333"/>
              </a:avLst>
            </a:prstGeom>
            <a:solidFill>
              <a:srgbClr val="FFFFFF"/>
            </a:solidFill>
            <a:ln w="15875">
              <a:solidFill>
                <a:srgbClr val="E3DAF0"/>
              </a:solidFill>
              <a:prstDash val="solid"/>
            </a:ln>
          </p:spPr>
        </p:sp>
        <p:sp>
          <p:nvSpPr>
            <p:cNvPr id="22" name="rp1_h"/>
            <p:cNvSpPr txBox="1"/>
            <p:nvPr/>
          </p:nvSpPr>
          <p:spPr>
            <a:xfrm>
              <a:off x="4518050" y="3621024"/>
              <a:ext cx="3155594" cy="347472"/>
            </a:xfrm>
            <a:prstGeom prst="rect">
              <a:avLst/>
            </a:prstGeom>
            <a:noFill/>
            <a:ln/>
          </p:spPr>
          <p:txBody>
            <a:bodyPr wrap="square" lIns="0" tIns="0" rIns="0" bIns="0" rtlCol="0" anchor="ctr"/>
            <a:lstStyle/>
            <a:p>
              <a:pPr indent="0" marL="0">
                <a:buNone/>
              </a:pPr>
              <a:r>
                <a:rPr lang="en-US" sz="1350" b="1" dirty="0">
                  <a:solidFill>
                    <a:srgbClr val="F2A03D"/>
                  </a:solidFill>
                  <a:latin typeface="Arial" pitchFamily="34" charset="0"/>
                  <a:ea typeface="Arial" pitchFamily="34" charset="-122"/>
                  <a:cs typeface="Arial" pitchFamily="34" charset="-120"/>
                </a:rPr>
                <a:t>They were not asked.</a:t>
              </a:r>
              <a:endParaRPr lang="en-US" sz="1350" dirty="0"/>
            </a:p>
          </p:txBody>
        </p:sp>
        <p:sp>
          <p:nvSpPr>
            <p:cNvPr id="23" name="rp1_b"/>
            <p:cNvSpPr txBox="1"/>
            <p:nvPr/>
          </p:nvSpPr>
          <p:spPr>
            <a:xfrm>
              <a:off x="4518050" y="3986784"/>
              <a:ext cx="3155594" cy="786384"/>
            </a:xfrm>
            <a:prstGeom prst="rect">
              <a:avLst/>
            </a:prstGeom>
            <a:noFill/>
            <a:ln/>
          </p:spPr>
          <p:txBody>
            <a:bodyPr wrap="square" lIns="0" tIns="0" rIns="0" bIns="0" rtlCol="0" anchor="t"/>
            <a:lstStyle/>
            <a:p>
              <a:pPr indent="0" marL="0">
                <a:lnSpc>
                  <a:spcPts val="1600"/>
                </a:lnSpc>
                <a:buNone/>
              </a:pPr>
              <a:r>
                <a:rPr lang="en-US" sz="1200" dirty="0">
                  <a:solidFill>
                    <a:srgbClr val="241535"/>
                  </a:solidFill>
                  <a:latin typeface="Arial" pitchFamily="34" charset="0"/>
                  <a:ea typeface="Arial" pitchFamily="34" charset="-122"/>
                  <a:cs typeface="Arial" pitchFamily="34" charset="-120"/>
                </a:rPr>
                <a:t>Evidence only counts if somebody goes and looks. Often nobody did.</a:t>
              </a:r>
              <a:endParaRPr lang="en-US" sz="1200" dirty="0"/>
            </a:p>
          </p:txBody>
        </p:sp>
      </p:grpSp>
      <p:grpSp>
        <p:nvGrpSpPr>
          <p:cNvPr id="31" name="rp2"/>
          <p:cNvGrpSpPr/>
          <p:nvPr/>
        </p:nvGrpSpPr>
        <p:grpSpPr>
          <a:xfrm>
            <a:off x="8130845" y="3474720"/>
            <a:ext cx="3557930" cy="1371600"/>
            <a:chOff x="8130845" y="3474720"/>
            <a:chExt cx="3557930" cy="1371600"/>
          </a:xfrm>
        </p:grpSpPr>
        <p:sp>
          <p:nvSpPr>
            <p:cNvPr id="24" name="rp2_bg"/>
            <p:cNvSpPr/>
            <p:nvPr/>
          </p:nvSpPr>
          <p:spPr>
            <a:xfrm>
              <a:off x="8130845" y="3474720"/>
              <a:ext cx="3557930" cy="1371600"/>
            </a:xfrm>
            <a:prstGeom prst="roundRect">
              <a:avLst>
                <a:gd name="adj" fmla="val 9333"/>
              </a:avLst>
            </a:prstGeom>
            <a:solidFill>
              <a:srgbClr val="FFFFFF"/>
            </a:solidFill>
            <a:ln w="15875">
              <a:solidFill>
                <a:srgbClr val="E3DAF0"/>
              </a:solidFill>
              <a:prstDash val="solid"/>
            </a:ln>
          </p:spPr>
        </p:sp>
        <p:sp>
          <p:nvSpPr>
            <p:cNvPr id="25" name="rp2_h"/>
            <p:cNvSpPr txBox="1"/>
            <p:nvPr/>
          </p:nvSpPr>
          <p:spPr>
            <a:xfrm>
              <a:off x="8332013" y="3621024"/>
              <a:ext cx="3155594" cy="347472"/>
            </a:xfrm>
            <a:prstGeom prst="rect">
              <a:avLst/>
            </a:prstGeom>
            <a:noFill/>
            <a:ln/>
          </p:spPr>
          <p:txBody>
            <a:bodyPr wrap="square" lIns="0" tIns="0" rIns="0" bIns="0" rtlCol="0" anchor="ctr"/>
            <a:lstStyle/>
            <a:p>
              <a:pPr indent="0" marL="0">
                <a:buNone/>
              </a:pPr>
              <a:r>
                <a:rPr lang="en-US" sz="1350" b="1" dirty="0">
                  <a:solidFill>
                    <a:srgbClr val="F2A03D"/>
                  </a:solidFill>
                  <a:latin typeface="Arial" pitchFamily="34" charset="0"/>
                  <a:ea typeface="Arial" pitchFamily="34" charset="-122"/>
                  <a:cs typeface="Arial" pitchFamily="34" charset="-120"/>
                </a:rPr>
                <a:t>The credit went elsewhere.</a:t>
              </a:r>
              <a:endParaRPr lang="en-US" sz="1350" dirty="0"/>
            </a:p>
          </p:txBody>
        </p:sp>
        <p:sp>
          <p:nvSpPr>
            <p:cNvPr id="26" name="rp2_b"/>
            <p:cNvSpPr txBox="1"/>
            <p:nvPr/>
          </p:nvSpPr>
          <p:spPr>
            <a:xfrm>
              <a:off x="8332013" y="3986784"/>
              <a:ext cx="3155594" cy="786384"/>
            </a:xfrm>
            <a:prstGeom prst="rect">
              <a:avLst/>
            </a:prstGeom>
            <a:noFill/>
            <a:ln/>
          </p:spPr>
          <p:txBody>
            <a:bodyPr wrap="square" lIns="0" tIns="0" rIns="0" bIns="0" rtlCol="0" anchor="t"/>
            <a:lstStyle/>
            <a:p>
              <a:pPr indent="0" marL="0">
                <a:lnSpc>
                  <a:spcPts val="1600"/>
                </a:lnSpc>
                <a:buNone/>
              </a:pPr>
              <a:r>
                <a:rPr lang="en-US" sz="1200" dirty="0">
                  <a:solidFill>
                    <a:srgbClr val="241535"/>
                  </a:solidFill>
                  <a:latin typeface="Arial" pitchFamily="34" charset="0"/>
                  <a:ea typeface="Arial" pitchFamily="34" charset="-122"/>
                  <a:cs typeface="Arial" pitchFamily="34" charset="-120"/>
                </a:rPr>
                <a:t>The name on the paper is not always the person who found it.</a:t>
              </a:r>
              <a:endParaRPr lang="en-US" sz="1200" dirty="0"/>
            </a:p>
          </p:txBody>
        </p:sp>
      </p:grpSp>
      <p:sp>
        <p:nvSpPr>
          <p:cNvPr id="27" name="rv_banner"/>
          <p:cNvSpPr/>
          <p:nvPr/>
        </p:nvSpPr>
        <p:spPr>
          <a:xfrm>
            <a:off x="502920" y="5047488"/>
            <a:ext cx="11185855" cy="603504"/>
          </a:xfrm>
          <a:prstGeom prst="roundRect">
            <a:avLst>
              <a:gd name="adj" fmla="val 18182"/>
            </a:avLst>
          </a:prstGeom>
          <a:solidFill>
            <a:srgbClr val="4A2C6F"/>
          </a:solidFill>
          <a:ln>
            <a:solidFill>
              <a:srgbClr val="4A2C6F"/>
            </a:solidFill>
          </a:ln>
        </p:spPr>
        <p:txBody>
          <a:bodyPr wrap="square" lIns="0" tIns="0" rIns="0" bIns="0" rtlCol="0" anchor="ctr"/>
          <a:lstStyle/>
          <a:p>
            <a:pPr algn="ctr" indent="0" marL="0">
              <a:buNone/>
            </a:pPr>
            <a:r>
              <a:rPr lang="en-US" sz="1450" b="1" dirty="0">
                <a:solidFill>
                  <a:srgbClr val="F2A03D"/>
                </a:solidFill>
                <a:latin typeface="Arial" pitchFamily="34" charset="0"/>
                <a:ea typeface="Arial" pitchFamily="34" charset="-122"/>
                <a:cs typeface="Arial" pitchFamily="34" charset="-120"/>
              </a:rPr>
              <a:t>Your list was the list you were given. Now you can add to it.</a:t>
            </a:r>
            <a:endParaRPr lang="en-US" sz="1450" dirty="0"/>
          </a:p>
        </p:txBody>
      </p:sp>
    </p:spTree>
  </p:cSld>
  <p:clrMapOvr>
    <a:masterClrMapping/>
  </p:clrMapOvr>
  <p:transition spd="med">
    <p:wipe dir="u"/>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8"/>
                                        </p:tgtEl>
                                        <p:attrNameLst>
                                          <p:attrName>style.visibility</p:attrName>
                                        </p:attrNameLst>
                                      </p:cBhvr>
                                      <p:to>
                                        <p:strVal val="visible"/>
                                      </p:to>
                                    </p:set>
                                    <p:animEffect transition="in" filter="fade">
                                      <p:cBhvr>
                                        <p:cTn id="4" dur="4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7"/>
                                        </p:tgtEl>
                                        <p:attrNameLst>
                                          <p:attrName>style.visibility</p:attrName>
                                        </p:attrNameLst>
                                      </p:cBhvr>
                                      <p:to>
                                        <p:strVal val="visible"/>
                                      </p:to>
                                    </p:set>
                                    <p:animEffect transition="in" filter="fade">
                                      <p:cBhvr>
                                        <p:cTn id="9" dur="4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400"/>
                                        <p:tgtEl>
                                          <p:spTgt spid="29"/>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00"/>
                                        <p:tgtEl>
                                          <p:spTgt spid="3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grpId="0" nodeType="click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400"/>
                                        <p:tgtEl>
                                          <p:spTgt spid="31"/>
                                        </p:tgtEl>
                                      </p:cBhvr>
                                    </p:animEffect>
                                  </p:childTnLst>
                                </p:cTn>
                              </p:par>
                            </p:childTnLst>
                          </p:cTn>
                        </p:par>
                      </p:childTnLst>
                    </p:cTn>
                  </p:par>
                  <p:par>
                    <p:cTn id="32" fill="hold">
                      <p:stCondLst>
                        <p:cond delay="indefinite"/>
                      </p:stCondLst>
                      <p:childTnLst>
                        <p:par>
                          <p:cTn id="33" fill="hold">
                            <p:stCondLst>
                              <p:cond delay="0"/>
                            </p:stCondLst>
                            <p:childTnLst>
                              <p:par>
                                <p:cTn id="31" presetID="23" presetClass="entr" presetSubtype="16"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400"/>
                                        <p:tgtEl>
                                          <p:spTgt spid="27"/>
                                        </p:tgtEl>
                                      </p:cBhvr>
                                    </p:animEffect>
                                    <p:animScale>
                                      <p:cBhvr>
                                        <p:cTn id="30" dur="400" fill="hold"/>
                                        <p:tgtEl>
                                          <p:spTgt spid="27"/>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4A2C6F"/>
        </a:solidFill>
      </p:bgPr>
    </p:bg>
    <p:spTree>
      <p:nvGrpSpPr>
        <p:cNvPr id="1" name=""/>
        <p:cNvGrpSpPr/>
        <p:nvPr/>
      </p:nvGrpSpPr>
      <p:grpSpPr>
        <a:xfrm>
          <a:off x="0" y="0"/>
          <a:ext cx="0" cy="0"/>
          <a:chOff x="0" y="0"/>
          <a:chExt cx="0" cy="0"/>
        </a:xfrm>
      </p:grpSpPr>
      <p:sp>
        <p:nvSpPr>
          <p:cNvPr id="2" name="phase_pill"/>
          <p:cNvSpPr/>
          <p:nvPr/>
        </p:nvSpPr>
        <p:spPr>
          <a:xfrm>
            <a:off x="502920" y="274320"/>
            <a:ext cx="2578608" cy="347472"/>
          </a:xfrm>
          <a:prstGeom prst="roundRect">
            <a:avLst>
              <a:gd name="adj" fmla="val 50000"/>
            </a:avLst>
          </a:prstGeom>
          <a:solidFill>
            <a:srgbClr val="F2A03D"/>
          </a:solidFill>
          <a:ln/>
        </p:spPr>
        <p:txBody>
          <a:bodyPr wrap="square" lIns="0" tIns="0" rIns="0" bIns="0" rtlCol="0" anchor="ctr"/>
          <a:lstStyle/>
          <a:p>
            <a:pPr algn="ctr" indent="0" marL="0">
              <a:buNone/>
            </a:pPr>
            <a:r>
              <a:rPr lang="en-US" sz="1100" b="1" spc="110" kern="0" dirty="0">
                <a:solidFill>
                  <a:srgbClr val="4A2C6F"/>
                </a:solidFill>
                <a:latin typeface="Arial" pitchFamily="34" charset="0"/>
                <a:ea typeface="Arial" pitchFamily="34" charset="-122"/>
                <a:cs typeface="Arial" pitchFamily="34" charset="-120"/>
              </a:rPr>
              <a:t>PLENARY · 3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F7F4FB"/>
                </a:solidFill>
                <a:latin typeface="Georgia" pitchFamily="34" charset="0"/>
                <a:ea typeface="Georgia" pitchFamily="34" charset="-122"/>
                <a:cs typeface="Georgia" pitchFamily="34" charset="-120"/>
              </a:rPr>
              <a:t>True or false?</a:t>
            </a:r>
            <a:endParaRPr lang="en-US" sz="3000" dirty="0"/>
          </a:p>
        </p:txBody>
      </p:sp>
      <p:sp>
        <p:nvSpPr>
          <p:cNvPr id="4" name="pl_intro"/>
          <p:cNvSpPr txBox="1"/>
          <p:nvPr/>
        </p:nvSpPr>
        <p:spPr>
          <a:xfrm>
            <a:off x="502920" y="1554480"/>
            <a:ext cx="7315200" cy="310896"/>
          </a:xfrm>
          <a:prstGeom prst="rect">
            <a:avLst/>
          </a:prstGeom>
          <a:noFill/>
          <a:ln/>
        </p:spPr>
        <p:txBody>
          <a:bodyPr wrap="square" lIns="0" tIns="0" rIns="0" bIns="0" rtlCol="0" anchor="ctr"/>
          <a:lstStyle/>
          <a:p>
            <a:pPr indent="0" marL="0">
              <a:buNone/>
            </a:pPr>
            <a:r>
              <a:rPr lang="en-US" sz="1300" dirty="0">
                <a:solidFill>
                  <a:srgbClr val="E3DAF0"/>
                </a:solidFill>
                <a:latin typeface="Arial" pitchFamily="34" charset="0"/>
                <a:ea typeface="Arial" pitchFamily="34" charset="-122"/>
                <a:cs typeface="Arial" pitchFamily="34" charset="-120"/>
              </a:rPr>
              <a:t>Stand up for TRUE. Stay sitting for FALSE.</a:t>
            </a:r>
            <a:endParaRPr lang="en-US" sz="1300" dirty="0"/>
          </a:p>
        </p:txBody>
      </p:sp>
      <p:sp>
        <p:nvSpPr>
          <p:cNvPr id="5" name="pl_motif_obs0"/>
          <p:cNvSpPr/>
          <p:nvPr/>
        </p:nvSpPr>
        <p:spPr>
          <a:xfrm>
            <a:off x="9646920" y="932688"/>
            <a:ext cx="182880" cy="182880"/>
          </a:xfrm>
          <a:prstGeom prst="ellipse">
            <a:avLst/>
          </a:prstGeom>
          <a:solidFill>
            <a:srgbClr val="F7F4FB"/>
          </a:solidFill>
          <a:ln w="12700">
            <a:solidFill>
              <a:srgbClr val="F7F4FB"/>
            </a:solidFill>
            <a:prstDash val="solid"/>
          </a:ln>
        </p:spPr>
      </p:sp>
      <p:sp>
        <p:nvSpPr>
          <p:cNvPr id="6" name="pl_motif_obs1"/>
          <p:cNvSpPr/>
          <p:nvPr/>
        </p:nvSpPr>
        <p:spPr>
          <a:xfrm>
            <a:off x="9921240" y="932688"/>
            <a:ext cx="182880" cy="182880"/>
          </a:xfrm>
          <a:prstGeom prst="ellipse">
            <a:avLst/>
          </a:prstGeom>
          <a:solidFill>
            <a:srgbClr val="F7F4FB"/>
          </a:solidFill>
          <a:ln w="12700">
            <a:solidFill>
              <a:srgbClr val="F7F4FB"/>
            </a:solidFill>
            <a:prstDash val="solid"/>
          </a:ln>
        </p:spPr>
      </p:sp>
      <p:sp>
        <p:nvSpPr>
          <p:cNvPr id="7" name="pl_motif_obs2"/>
          <p:cNvSpPr/>
          <p:nvPr/>
        </p:nvSpPr>
        <p:spPr>
          <a:xfrm>
            <a:off x="10195560" y="932688"/>
            <a:ext cx="182880" cy="182880"/>
          </a:xfrm>
          <a:prstGeom prst="ellipse">
            <a:avLst/>
          </a:prstGeom>
          <a:solidFill>
            <a:srgbClr val="F7F4FB"/>
          </a:solidFill>
          <a:ln w="12700">
            <a:solidFill>
              <a:srgbClr val="F7F4FB"/>
            </a:solidFill>
            <a:prstDash val="solid"/>
          </a:ln>
        </p:spPr>
      </p:sp>
      <p:sp>
        <p:nvSpPr>
          <p:cNvPr id="8" name="pl_motif_obs3"/>
          <p:cNvSpPr/>
          <p:nvPr/>
        </p:nvSpPr>
        <p:spPr>
          <a:xfrm>
            <a:off x="10469880" y="932688"/>
            <a:ext cx="182880" cy="182880"/>
          </a:xfrm>
          <a:prstGeom prst="ellipse">
            <a:avLst/>
          </a:prstGeom>
          <a:solidFill>
            <a:srgbClr val="F7F4FB"/>
          </a:solidFill>
          <a:ln w="12700">
            <a:solidFill>
              <a:srgbClr val="F7F4FB"/>
            </a:solidFill>
            <a:prstDash val="solid"/>
          </a:ln>
        </p:spPr>
      </p:sp>
      <p:sp>
        <p:nvSpPr>
          <p:cNvPr id="9" name="pl_motif_obs4"/>
          <p:cNvSpPr/>
          <p:nvPr/>
        </p:nvSpPr>
        <p:spPr>
          <a:xfrm>
            <a:off x="10744200" y="932688"/>
            <a:ext cx="182880" cy="182880"/>
          </a:xfrm>
          <a:prstGeom prst="ellipse">
            <a:avLst/>
          </a:prstGeom>
          <a:solidFill>
            <a:srgbClr val="F2A03D"/>
          </a:solidFill>
          <a:ln w="12700">
            <a:solidFill>
              <a:srgbClr val="F2A03D"/>
            </a:solidFill>
            <a:prstDash val="solid"/>
          </a:ln>
        </p:spPr>
      </p:sp>
      <p:sp>
        <p:nvSpPr>
          <p:cNvPr id="10" name="pl_motif_obs5"/>
          <p:cNvSpPr/>
          <p:nvPr/>
        </p:nvSpPr>
        <p:spPr>
          <a:xfrm>
            <a:off x="11018520" y="932688"/>
            <a:ext cx="182880" cy="182880"/>
          </a:xfrm>
          <a:prstGeom prst="ellipse">
            <a:avLst/>
          </a:prstGeom>
          <a:solidFill>
            <a:srgbClr val="F7F4FB"/>
          </a:solidFill>
          <a:ln w="12700">
            <a:solidFill>
              <a:srgbClr val="F7F4FB"/>
            </a:solidFill>
            <a:prstDash val="solid"/>
          </a:ln>
        </p:spPr>
      </p:sp>
      <p:sp>
        <p:nvSpPr>
          <p:cNvPr id="11" name="pl_motif_obs6"/>
          <p:cNvSpPr/>
          <p:nvPr/>
        </p:nvSpPr>
        <p:spPr>
          <a:xfrm>
            <a:off x="11292840" y="932688"/>
            <a:ext cx="182880" cy="182880"/>
          </a:xfrm>
          <a:prstGeom prst="ellipse">
            <a:avLst/>
          </a:prstGeom>
          <a:solidFill>
            <a:srgbClr val="F7F4FB"/>
          </a:solidFill>
          <a:ln w="12700">
            <a:solidFill>
              <a:srgbClr val="F7F4FB"/>
            </a:solidFill>
            <a:prstDash val="solid"/>
          </a:ln>
        </p:spPr>
      </p:sp>
      <p:grpSp>
        <p:nvGrpSpPr>
          <p:cNvPr id="33" name="pq0_stmt"/>
          <p:cNvGrpSpPr/>
          <p:nvPr/>
        </p:nvGrpSpPr>
        <p:grpSpPr>
          <a:xfrm>
            <a:off x="502920" y="2304288"/>
            <a:ext cx="6309360" cy="566928"/>
            <a:chOff x="502920" y="2304288"/>
            <a:chExt cx="6309360" cy="566928"/>
          </a:xfrm>
        </p:grpSpPr>
        <p:sp>
          <p:nvSpPr>
            <p:cNvPr id="12" name="pq0_bg"/>
            <p:cNvSpPr/>
            <p:nvPr/>
          </p:nvSpPr>
          <p:spPr>
            <a:xfrm>
              <a:off x="502920" y="2304288"/>
              <a:ext cx="6309360" cy="566928"/>
            </a:xfrm>
            <a:prstGeom prst="roundRect">
              <a:avLst>
                <a:gd name="adj" fmla="val 16129"/>
              </a:avLst>
            </a:prstGeom>
            <a:solidFill>
              <a:srgbClr val="5C3A85"/>
            </a:solidFill>
            <a:ln w="12700">
              <a:solidFill>
                <a:srgbClr val="6B4E96"/>
              </a:solidFill>
              <a:prstDash val="solid"/>
            </a:ln>
          </p:spPr>
        </p:sp>
        <p:sp>
          <p:nvSpPr>
            <p:cNvPr id="13" name="pq0_q"/>
            <p:cNvSpPr txBox="1"/>
            <p:nvPr/>
          </p:nvSpPr>
          <p:spPr>
            <a:xfrm>
              <a:off x="704088" y="2304288"/>
              <a:ext cx="5943600" cy="566928"/>
            </a:xfrm>
            <a:prstGeom prst="rect">
              <a:avLst/>
            </a:prstGeom>
            <a:noFill/>
            <a:ln/>
          </p:spPr>
          <p:txBody>
            <a:bodyPr wrap="square" lIns="0" tIns="0" rIns="0" bIns="0" rtlCol="0" anchor="ctr"/>
            <a:lstStyle/>
            <a:p>
              <a:pPr indent="0" marL="0">
                <a:buNone/>
              </a:pPr>
              <a:r>
                <a:rPr lang="en-US" sz="1200" dirty="0">
                  <a:solidFill>
                    <a:srgbClr val="F7F4FB"/>
                  </a:solidFill>
                  <a:latin typeface="Arial" pitchFamily="34" charset="0"/>
                  <a:ea typeface="Arial" pitchFamily="34" charset="-122"/>
                  <a:cs typeface="Arial" pitchFamily="34" charset="-120"/>
                </a:rPr>
                <a:t>1. Science has only ever been done in Europe.</a:t>
              </a:r>
              <a:endParaRPr lang="en-US" sz="1200" dirty="0"/>
            </a:p>
          </p:txBody>
        </p:sp>
      </p:grpSp>
      <p:sp>
        <p:nvSpPr>
          <p:cNvPr id="14" name="pq0_v"/>
          <p:cNvSpPr txBox="1"/>
          <p:nvPr/>
        </p:nvSpPr>
        <p:spPr>
          <a:xfrm>
            <a:off x="7040880" y="2304288"/>
            <a:ext cx="868680" cy="566928"/>
          </a:xfrm>
          <a:prstGeom prst="rect">
            <a:avLst/>
          </a:prstGeom>
          <a:noFill/>
          <a:ln/>
        </p:spPr>
        <p:txBody>
          <a:bodyPr wrap="square" lIns="0" tIns="0" rIns="0" bIns="0" rtlCol="0" anchor="ctr"/>
          <a:lstStyle/>
          <a:p>
            <a:pPr indent="0" marL="0">
              <a:buNone/>
            </a:pPr>
            <a:r>
              <a:rPr lang="en-US" sz="1250" b="1" spc="80" kern="0" dirty="0">
                <a:solidFill>
                  <a:srgbClr val="F2A03D"/>
                </a:solidFill>
                <a:latin typeface="Arial" pitchFamily="34" charset="0"/>
                <a:ea typeface="Arial" pitchFamily="34" charset="-122"/>
                <a:cs typeface="Arial" pitchFamily="34" charset="-120"/>
              </a:rPr>
              <a:t>FALSE</a:t>
            </a:r>
            <a:endParaRPr lang="en-US" sz="1250" dirty="0"/>
          </a:p>
        </p:txBody>
      </p:sp>
      <p:sp>
        <p:nvSpPr>
          <p:cNvPr id="15" name="pq0_w"/>
          <p:cNvSpPr txBox="1"/>
          <p:nvPr/>
        </p:nvSpPr>
        <p:spPr>
          <a:xfrm>
            <a:off x="7955280" y="2304288"/>
            <a:ext cx="2697480" cy="566928"/>
          </a:xfrm>
          <a:prstGeom prst="rect">
            <a:avLst/>
          </a:prstGeom>
          <a:noFill/>
          <a:ln/>
        </p:spPr>
        <p:txBody>
          <a:bodyPr wrap="square" lIns="0" tIns="0" rIns="0" bIns="0" rtlCol="0" anchor="ctr"/>
          <a:lstStyle/>
          <a:p>
            <a:pPr indent="0" marL="0">
              <a:lnSpc>
                <a:spcPts val="1400"/>
              </a:lnSpc>
              <a:buNone/>
            </a:pPr>
            <a:r>
              <a:rPr lang="en-US" sz="1050" dirty="0">
                <a:solidFill>
                  <a:srgbClr val="E3DAF0"/>
                </a:solidFill>
                <a:latin typeface="Arial" pitchFamily="34" charset="0"/>
                <a:ea typeface="Arial" pitchFamily="34" charset="-122"/>
                <a:cs typeface="Arial" pitchFamily="34" charset="-120"/>
              </a:rPr>
              <a:t>The timeline starts in Basra.</a:t>
            </a:r>
            <a:endParaRPr lang="en-US" sz="1050" dirty="0"/>
          </a:p>
        </p:txBody>
      </p:sp>
      <p:grpSp>
        <p:nvGrpSpPr>
          <p:cNvPr id="34" name="pq1_stmt"/>
          <p:cNvGrpSpPr/>
          <p:nvPr/>
        </p:nvGrpSpPr>
        <p:grpSpPr>
          <a:xfrm>
            <a:off x="502920" y="3017520"/>
            <a:ext cx="6309360" cy="566928"/>
            <a:chOff x="502920" y="3017520"/>
            <a:chExt cx="6309360" cy="566928"/>
          </a:xfrm>
        </p:grpSpPr>
        <p:sp>
          <p:nvSpPr>
            <p:cNvPr id="16" name="pq1_bg"/>
            <p:cNvSpPr/>
            <p:nvPr/>
          </p:nvSpPr>
          <p:spPr>
            <a:xfrm>
              <a:off x="502920" y="3017520"/>
              <a:ext cx="6309360" cy="566928"/>
            </a:xfrm>
            <a:prstGeom prst="roundRect">
              <a:avLst>
                <a:gd name="adj" fmla="val 16129"/>
              </a:avLst>
            </a:prstGeom>
            <a:solidFill>
              <a:srgbClr val="5C3A85"/>
            </a:solidFill>
            <a:ln w="12700">
              <a:solidFill>
                <a:srgbClr val="6B4E96"/>
              </a:solidFill>
              <a:prstDash val="solid"/>
            </a:ln>
          </p:spPr>
        </p:sp>
        <p:sp>
          <p:nvSpPr>
            <p:cNvPr id="17" name="pq1_q"/>
            <p:cNvSpPr txBox="1"/>
            <p:nvPr/>
          </p:nvSpPr>
          <p:spPr>
            <a:xfrm>
              <a:off x="704088" y="3017520"/>
              <a:ext cx="5943600" cy="566928"/>
            </a:xfrm>
            <a:prstGeom prst="rect">
              <a:avLst/>
            </a:prstGeom>
            <a:noFill/>
            <a:ln/>
          </p:spPr>
          <p:txBody>
            <a:bodyPr wrap="square" lIns="0" tIns="0" rIns="0" bIns="0" rtlCol="0" anchor="ctr"/>
            <a:lstStyle/>
            <a:p>
              <a:pPr indent="0" marL="0">
                <a:buNone/>
              </a:pPr>
              <a:r>
                <a:rPr lang="en-US" sz="1200" dirty="0">
                  <a:solidFill>
                    <a:srgbClr val="F7F4FB"/>
                  </a:solidFill>
                  <a:latin typeface="Arial" pitchFamily="34" charset="0"/>
                  <a:ea typeface="Arial" pitchFamily="34" charset="-122"/>
                  <a:cs typeface="Arial" pitchFamily="34" charset="-120"/>
                </a:rPr>
                <a:t>2. Mary Anning was kept out of the Geological Society for being a woman.</a:t>
              </a:r>
              <a:endParaRPr lang="en-US" sz="1200" dirty="0"/>
            </a:p>
          </p:txBody>
        </p:sp>
      </p:grpSp>
      <p:sp>
        <p:nvSpPr>
          <p:cNvPr id="18" name="pq1_v"/>
          <p:cNvSpPr txBox="1"/>
          <p:nvPr/>
        </p:nvSpPr>
        <p:spPr>
          <a:xfrm>
            <a:off x="7040880" y="3017520"/>
            <a:ext cx="868680" cy="566928"/>
          </a:xfrm>
          <a:prstGeom prst="rect">
            <a:avLst/>
          </a:prstGeom>
          <a:noFill/>
          <a:ln/>
        </p:spPr>
        <p:txBody>
          <a:bodyPr wrap="square" lIns="0" tIns="0" rIns="0" bIns="0" rtlCol="0" anchor="ctr"/>
          <a:lstStyle/>
          <a:p>
            <a:pPr indent="0" marL="0">
              <a:buNone/>
            </a:pPr>
            <a:r>
              <a:rPr lang="en-US" sz="1250" b="1" spc="80" kern="0" dirty="0">
                <a:solidFill>
                  <a:srgbClr val="2BA6A0"/>
                </a:solidFill>
                <a:latin typeface="Arial" pitchFamily="34" charset="0"/>
                <a:ea typeface="Arial" pitchFamily="34" charset="-122"/>
                <a:cs typeface="Arial" pitchFamily="34" charset="-120"/>
              </a:rPr>
              <a:t>TRUE</a:t>
            </a:r>
            <a:endParaRPr lang="en-US" sz="1250" dirty="0"/>
          </a:p>
        </p:txBody>
      </p:sp>
      <p:sp>
        <p:nvSpPr>
          <p:cNvPr id="19" name="pq1_w"/>
          <p:cNvSpPr txBox="1"/>
          <p:nvPr/>
        </p:nvSpPr>
        <p:spPr>
          <a:xfrm>
            <a:off x="7955280" y="3017520"/>
            <a:ext cx="2697480" cy="566928"/>
          </a:xfrm>
          <a:prstGeom prst="rect">
            <a:avLst/>
          </a:prstGeom>
          <a:noFill/>
          <a:ln/>
        </p:spPr>
        <p:txBody>
          <a:bodyPr wrap="square" lIns="0" tIns="0" rIns="0" bIns="0" rtlCol="0" anchor="ctr"/>
          <a:lstStyle/>
          <a:p>
            <a:pPr indent="0" marL="0">
              <a:lnSpc>
                <a:spcPts val="1400"/>
              </a:lnSpc>
              <a:buNone/>
            </a:pPr>
            <a:r>
              <a:rPr lang="en-US" sz="1050" dirty="0">
                <a:solidFill>
                  <a:srgbClr val="E3DAF0"/>
                </a:solidFill>
                <a:latin typeface="Arial" pitchFamily="34" charset="0"/>
                <a:ea typeface="Arial" pitchFamily="34" charset="-122"/>
                <a:cs typeface="Arial" pitchFamily="34" charset="-120"/>
              </a:rPr>
              <a:t>Women could not join until 1904.</a:t>
            </a:r>
            <a:endParaRPr lang="en-US" sz="1050" dirty="0"/>
          </a:p>
        </p:txBody>
      </p:sp>
      <p:grpSp>
        <p:nvGrpSpPr>
          <p:cNvPr id="35" name="pq2_stmt"/>
          <p:cNvGrpSpPr/>
          <p:nvPr/>
        </p:nvGrpSpPr>
        <p:grpSpPr>
          <a:xfrm>
            <a:off x="502920" y="3730752"/>
            <a:ext cx="6309360" cy="566928"/>
            <a:chOff x="502920" y="3730752"/>
            <a:chExt cx="6309360" cy="566928"/>
          </a:xfrm>
        </p:grpSpPr>
        <p:sp>
          <p:nvSpPr>
            <p:cNvPr id="20" name="pq2_bg"/>
            <p:cNvSpPr/>
            <p:nvPr/>
          </p:nvSpPr>
          <p:spPr>
            <a:xfrm>
              <a:off x="502920" y="3730752"/>
              <a:ext cx="6309360" cy="566928"/>
            </a:xfrm>
            <a:prstGeom prst="roundRect">
              <a:avLst>
                <a:gd name="adj" fmla="val 16129"/>
              </a:avLst>
            </a:prstGeom>
            <a:solidFill>
              <a:srgbClr val="5C3A85"/>
            </a:solidFill>
            <a:ln w="12700">
              <a:solidFill>
                <a:srgbClr val="6B4E96"/>
              </a:solidFill>
              <a:prstDash val="solid"/>
            </a:ln>
          </p:spPr>
        </p:sp>
        <p:sp>
          <p:nvSpPr>
            <p:cNvPr id="21" name="pq2_q"/>
            <p:cNvSpPr txBox="1"/>
            <p:nvPr/>
          </p:nvSpPr>
          <p:spPr>
            <a:xfrm>
              <a:off x="704088" y="3730752"/>
              <a:ext cx="5943600" cy="566928"/>
            </a:xfrm>
            <a:prstGeom prst="rect">
              <a:avLst/>
            </a:prstGeom>
            <a:noFill/>
            <a:ln/>
          </p:spPr>
          <p:txBody>
            <a:bodyPr wrap="square" lIns="0" tIns="0" rIns="0" bIns="0" rtlCol="0" anchor="ctr"/>
            <a:lstStyle/>
            <a:p>
              <a:pPr indent="0" marL="0">
                <a:buNone/>
              </a:pPr>
              <a:r>
                <a:rPr lang="en-US" sz="1200" dirty="0">
                  <a:solidFill>
                    <a:srgbClr val="F7F4FB"/>
                  </a:solidFill>
                  <a:latin typeface="Arial" pitchFamily="34" charset="0"/>
                  <a:ea typeface="Arial" pitchFamily="34" charset="-122"/>
                  <a:cs typeface="Arial" pitchFamily="34" charset="-120"/>
                </a:rPr>
                <a:t>3. Jocelyn Bell Burnell won the Nobel Prize for finding pulsars.</a:t>
              </a:r>
              <a:endParaRPr lang="en-US" sz="1200" dirty="0"/>
            </a:p>
          </p:txBody>
        </p:sp>
      </p:grpSp>
      <p:sp>
        <p:nvSpPr>
          <p:cNvPr id="22" name="pq2_v"/>
          <p:cNvSpPr txBox="1"/>
          <p:nvPr/>
        </p:nvSpPr>
        <p:spPr>
          <a:xfrm>
            <a:off x="7040880" y="3730752"/>
            <a:ext cx="868680" cy="566928"/>
          </a:xfrm>
          <a:prstGeom prst="rect">
            <a:avLst/>
          </a:prstGeom>
          <a:noFill/>
          <a:ln/>
        </p:spPr>
        <p:txBody>
          <a:bodyPr wrap="square" lIns="0" tIns="0" rIns="0" bIns="0" rtlCol="0" anchor="ctr"/>
          <a:lstStyle/>
          <a:p>
            <a:pPr indent="0" marL="0">
              <a:buNone/>
            </a:pPr>
            <a:r>
              <a:rPr lang="en-US" sz="1250" b="1" spc="80" kern="0" dirty="0">
                <a:solidFill>
                  <a:srgbClr val="F2A03D"/>
                </a:solidFill>
                <a:latin typeface="Arial" pitchFamily="34" charset="0"/>
                <a:ea typeface="Arial" pitchFamily="34" charset="-122"/>
                <a:cs typeface="Arial" pitchFamily="34" charset="-120"/>
              </a:rPr>
              <a:t>FALSE</a:t>
            </a:r>
            <a:endParaRPr lang="en-US" sz="1250" dirty="0"/>
          </a:p>
        </p:txBody>
      </p:sp>
      <p:sp>
        <p:nvSpPr>
          <p:cNvPr id="23" name="pq2_w"/>
          <p:cNvSpPr txBox="1"/>
          <p:nvPr/>
        </p:nvSpPr>
        <p:spPr>
          <a:xfrm>
            <a:off x="7955280" y="3730752"/>
            <a:ext cx="2697480" cy="566928"/>
          </a:xfrm>
          <a:prstGeom prst="rect">
            <a:avLst/>
          </a:prstGeom>
          <a:noFill/>
          <a:ln/>
        </p:spPr>
        <p:txBody>
          <a:bodyPr wrap="square" lIns="0" tIns="0" rIns="0" bIns="0" rtlCol="0" anchor="ctr"/>
          <a:lstStyle/>
          <a:p>
            <a:pPr indent="0" marL="0">
              <a:lnSpc>
                <a:spcPts val="1400"/>
              </a:lnSpc>
              <a:buNone/>
            </a:pPr>
            <a:r>
              <a:rPr lang="en-US" sz="1050" dirty="0">
                <a:solidFill>
                  <a:srgbClr val="E3DAF0"/>
                </a:solidFill>
                <a:latin typeface="Arial" pitchFamily="34" charset="0"/>
                <a:ea typeface="Arial" pitchFamily="34" charset="-122"/>
                <a:cs typeface="Arial" pitchFamily="34" charset="-120"/>
              </a:rPr>
              <a:t>She found them. Her supervisor got the prize.</a:t>
            </a:r>
            <a:endParaRPr lang="en-US" sz="1050" dirty="0"/>
          </a:p>
        </p:txBody>
      </p:sp>
      <p:grpSp>
        <p:nvGrpSpPr>
          <p:cNvPr id="36" name="pq3_stmt"/>
          <p:cNvGrpSpPr/>
          <p:nvPr/>
        </p:nvGrpSpPr>
        <p:grpSpPr>
          <a:xfrm>
            <a:off x="502920" y="4443984"/>
            <a:ext cx="6309360" cy="566928"/>
            <a:chOff x="502920" y="4443984"/>
            <a:chExt cx="6309360" cy="566928"/>
          </a:xfrm>
        </p:grpSpPr>
        <p:sp>
          <p:nvSpPr>
            <p:cNvPr id="24" name="pq3_bg"/>
            <p:cNvSpPr/>
            <p:nvPr/>
          </p:nvSpPr>
          <p:spPr>
            <a:xfrm>
              <a:off x="502920" y="4443984"/>
              <a:ext cx="6309360" cy="566928"/>
            </a:xfrm>
            <a:prstGeom prst="roundRect">
              <a:avLst>
                <a:gd name="adj" fmla="val 16129"/>
              </a:avLst>
            </a:prstGeom>
            <a:solidFill>
              <a:srgbClr val="5C3A85"/>
            </a:solidFill>
            <a:ln w="12700">
              <a:solidFill>
                <a:srgbClr val="6B4E96"/>
              </a:solidFill>
              <a:prstDash val="solid"/>
            </a:ln>
          </p:spPr>
        </p:sp>
        <p:sp>
          <p:nvSpPr>
            <p:cNvPr id="25" name="pq3_q"/>
            <p:cNvSpPr txBox="1"/>
            <p:nvPr/>
          </p:nvSpPr>
          <p:spPr>
            <a:xfrm>
              <a:off x="704088" y="4443984"/>
              <a:ext cx="5943600" cy="566928"/>
            </a:xfrm>
            <a:prstGeom prst="rect">
              <a:avLst/>
            </a:prstGeom>
            <a:noFill/>
            <a:ln/>
          </p:spPr>
          <p:txBody>
            <a:bodyPr wrap="square" lIns="0" tIns="0" rIns="0" bIns="0" rtlCol="0" anchor="ctr"/>
            <a:lstStyle/>
            <a:p>
              <a:pPr indent="0" marL="0">
                <a:buNone/>
              </a:pPr>
              <a:r>
                <a:rPr lang="en-US" sz="1200" dirty="0">
                  <a:solidFill>
                    <a:srgbClr val="F7F4FB"/>
                  </a:solidFill>
                  <a:latin typeface="Arial" pitchFamily="34" charset="0"/>
                  <a:ea typeface="Arial" pitchFamily="34" charset="-122"/>
                  <a:cs typeface="Arial" pitchFamily="34" charset="-120"/>
                </a:rPr>
                <a:t>4. A discovery can be made by someone whose name is not on it.</a:t>
              </a:r>
              <a:endParaRPr lang="en-US" sz="1200" dirty="0"/>
            </a:p>
          </p:txBody>
        </p:sp>
      </p:grpSp>
      <p:sp>
        <p:nvSpPr>
          <p:cNvPr id="26" name="pq3_v"/>
          <p:cNvSpPr txBox="1"/>
          <p:nvPr/>
        </p:nvSpPr>
        <p:spPr>
          <a:xfrm>
            <a:off x="7040880" y="4443984"/>
            <a:ext cx="868680" cy="566928"/>
          </a:xfrm>
          <a:prstGeom prst="rect">
            <a:avLst/>
          </a:prstGeom>
          <a:noFill/>
          <a:ln/>
        </p:spPr>
        <p:txBody>
          <a:bodyPr wrap="square" lIns="0" tIns="0" rIns="0" bIns="0" rtlCol="0" anchor="ctr"/>
          <a:lstStyle/>
          <a:p>
            <a:pPr indent="0" marL="0">
              <a:buNone/>
            </a:pPr>
            <a:r>
              <a:rPr lang="en-US" sz="1250" b="1" spc="80" kern="0" dirty="0">
                <a:solidFill>
                  <a:srgbClr val="2BA6A0"/>
                </a:solidFill>
                <a:latin typeface="Arial" pitchFamily="34" charset="0"/>
                <a:ea typeface="Arial" pitchFamily="34" charset="-122"/>
                <a:cs typeface="Arial" pitchFamily="34" charset="-120"/>
              </a:rPr>
              <a:t>TRUE</a:t>
            </a:r>
            <a:endParaRPr lang="en-US" sz="1250" dirty="0"/>
          </a:p>
        </p:txBody>
      </p:sp>
      <p:sp>
        <p:nvSpPr>
          <p:cNvPr id="27" name="pq3_w"/>
          <p:cNvSpPr txBox="1"/>
          <p:nvPr/>
        </p:nvSpPr>
        <p:spPr>
          <a:xfrm>
            <a:off x="7955280" y="4443984"/>
            <a:ext cx="2697480" cy="566928"/>
          </a:xfrm>
          <a:prstGeom prst="rect">
            <a:avLst/>
          </a:prstGeom>
          <a:noFill/>
          <a:ln/>
        </p:spPr>
        <p:txBody>
          <a:bodyPr wrap="square" lIns="0" tIns="0" rIns="0" bIns="0" rtlCol="0" anchor="ctr"/>
          <a:lstStyle/>
          <a:p>
            <a:pPr indent="0" marL="0">
              <a:lnSpc>
                <a:spcPts val="1400"/>
              </a:lnSpc>
              <a:buNone/>
            </a:pPr>
            <a:r>
              <a:rPr lang="en-US" sz="1050" dirty="0">
                <a:solidFill>
                  <a:srgbClr val="E3DAF0"/>
                </a:solidFill>
                <a:latin typeface="Arial" pitchFamily="34" charset="0"/>
                <a:ea typeface="Arial" pitchFamily="34" charset="-122"/>
                <a:cs typeface="Arial" pitchFamily="34" charset="-120"/>
              </a:rPr>
              <a:t>That is most of today’s lesson.</a:t>
            </a:r>
            <a:endParaRPr lang="en-US" sz="1050" dirty="0"/>
          </a:p>
        </p:txBody>
      </p:sp>
      <p:grpSp>
        <p:nvGrpSpPr>
          <p:cNvPr id="37" name="pq4_stmt"/>
          <p:cNvGrpSpPr/>
          <p:nvPr/>
        </p:nvGrpSpPr>
        <p:grpSpPr>
          <a:xfrm>
            <a:off x="502920" y="5157216"/>
            <a:ext cx="6309360" cy="566928"/>
            <a:chOff x="502920" y="5157216"/>
            <a:chExt cx="6309360" cy="566928"/>
          </a:xfrm>
        </p:grpSpPr>
        <p:sp>
          <p:nvSpPr>
            <p:cNvPr id="28" name="pq4_bg"/>
            <p:cNvSpPr/>
            <p:nvPr/>
          </p:nvSpPr>
          <p:spPr>
            <a:xfrm>
              <a:off x="502920" y="5157216"/>
              <a:ext cx="6309360" cy="566928"/>
            </a:xfrm>
            <a:prstGeom prst="roundRect">
              <a:avLst>
                <a:gd name="adj" fmla="val 16129"/>
              </a:avLst>
            </a:prstGeom>
            <a:solidFill>
              <a:srgbClr val="5C3A85"/>
            </a:solidFill>
            <a:ln w="12700">
              <a:solidFill>
                <a:srgbClr val="6B4E96"/>
              </a:solidFill>
              <a:prstDash val="solid"/>
            </a:ln>
          </p:spPr>
        </p:sp>
        <p:sp>
          <p:nvSpPr>
            <p:cNvPr id="29" name="pq4_q"/>
            <p:cNvSpPr txBox="1"/>
            <p:nvPr/>
          </p:nvSpPr>
          <p:spPr>
            <a:xfrm>
              <a:off x="704088" y="5157216"/>
              <a:ext cx="5943600" cy="566928"/>
            </a:xfrm>
            <a:prstGeom prst="rect">
              <a:avLst/>
            </a:prstGeom>
            <a:noFill/>
            <a:ln/>
          </p:spPr>
          <p:txBody>
            <a:bodyPr wrap="square" lIns="0" tIns="0" rIns="0" bIns="0" rtlCol="0" anchor="ctr"/>
            <a:lstStyle/>
            <a:p>
              <a:pPr indent="0" marL="0">
                <a:buNone/>
              </a:pPr>
              <a:r>
                <a:rPr lang="en-US" sz="1200" dirty="0">
                  <a:solidFill>
                    <a:srgbClr val="F7F4FB"/>
                  </a:solidFill>
                  <a:latin typeface="Arial" pitchFamily="34" charset="0"/>
                  <a:ea typeface="Arial" pitchFamily="34" charset="-122"/>
                  <a:cs typeface="Arial" pitchFamily="34" charset="-120"/>
                </a:rPr>
                <a:t>5. All the important science has already been found.</a:t>
              </a:r>
              <a:endParaRPr lang="en-US" sz="1200" dirty="0"/>
            </a:p>
          </p:txBody>
        </p:sp>
      </p:grpSp>
      <p:sp>
        <p:nvSpPr>
          <p:cNvPr id="30" name="pq4_v"/>
          <p:cNvSpPr txBox="1"/>
          <p:nvPr/>
        </p:nvSpPr>
        <p:spPr>
          <a:xfrm>
            <a:off x="7040880" y="5157216"/>
            <a:ext cx="868680" cy="566928"/>
          </a:xfrm>
          <a:prstGeom prst="rect">
            <a:avLst/>
          </a:prstGeom>
          <a:noFill/>
          <a:ln/>
        </p:spPr>
        <p:txBody>
          <a:bodyPr wrap="square" lIns="0" tIns="0" rIns="0" bIns="0" rtlCol="0" anchor="ctr"/>
          <a:lstStyle/>
          <a:p>
            <a:pPr indent="0" marL="0">
              <a:buNone/>
            </a:pPr>
            <a:r>
              <a:rPr lang="en-US" sz="1250" b="1" spc="80" kern="0" dirty="0">
                <a:solidFill>
                  <a:srgbClr val="F2A03D"/>
                </a:solidFill>
                <a:latin typeface="Arial" pitchFamily="34" charset="0"/>
                <a:ea typeface="Arial" pitchFamily="34" charset="-122"/>
                <a:cs typeface="Arial" pitchFamily="34" charset="-120"/>
              </a:rPr>
              <a:t>FALSE</a:t>
            </a:r>
            <a:endParaRPr lang="en-US" sz="1250" dirty="0"/>
          </a:p>
        </p:txBody>
      </p:sp>
      <p:sp>
        <p:nvSpPr>
          <p:cNvPr id="31" name="pq4_w"/>
          <p:cNvSpPr txBox="1"/>
          <p:nvPr/>
        </p:nvSpPr>
        <p:spPr>
          <a:xfrm>
            <a:off x="7955280" y="5157216"/>
            <a:ext cx="2697480" cy="566928"/>
          </a:xfrm>
          <a:prstGeom prst="rect">
            <a:avLst/>
          </a:prstGeom>
          <a:noFill/>
          <a:ln/>
        </p:spPr>
        <p:txBody>
          <a:bodyPr wrap="square" lIns="0" tIns="0" rIns="0" bIns="0" rtlCol="0" anchor="ctr"/>
          <a:lstStyle/>
          <a:p>
            <a:pPr indent="0" marL="0">
              <a:lnSpc>
                <a:spcPts val="1400"/>
              </a:lnSpc>
              <a:buNone/>
            </a:pPr>
            <a:r>
              <a:rPr lang="en-US" sz="1050" dirty="0">
                <a:solidFill>
                  <a:srgbClr val="E3DAF0"/>
                </a:solidFill>
                <a:latin typeface="Arial" pitchFamily="34" charset="0"/>
                <a:ea typeface="Arial" pitchFamily="34" charset="-122"/>
                <a:cs typeface="Arial" pitchFamily="34" charset="-120"/>
              </a:rPr>
              <a:t>Lesson 1: a conclusion is never closed.</a:t>
            </a:r>
            <a:endParaRPr lang="en-US" sz="1050" dirty="0"/>
          </a:p>
        </p:txBody>
      </p:sp>
      <p:sp>
        <p:nvSpPr>
          <p:cNvPr id="32" name="pl_next"/>
          <p:cNvSpPr txBox="1"/>
          <p:nvPr/>
        </p:nvSpPr>
        <p:spPr>
          <a:xfrm>
            <a:off x="502920" y="6181344"/>
            <a:ext cx="11185855" cy="384048"/>
          </a:xfrm>
          <a:prstGeom prst="rect">
            <a:avLst/>
          </a:prstGeom>
          <a:noFill/>
          <a:ln/>
        </p:spPr>
        <p:txBody>
          <a:bodyPr wrap="square" lIns="0" tIns="0" rIns="0" bIns="0" rtlCol="0" anchor="ctr"/>
          <a:lstStyle/>
          <a:p>
            <a:pPr indent="0" marL="0">
              <a:buNone/>
            </a:pPr>
            <a:r>
              <a:rPr lang="en-US" sz="1300" b="1" i="1" dirty="0">
                <a:solidFill>
                  <a:srgbClr val="F2A03D"/>
                </a:solidFill>
                <a:latin typeface="Arial" pitchFamily="34" charset="0"/>
                <a:ea typeface="Arial" pitchFamily="34" charset="-122"/>
                <a:cs typeface="Arial" pitchFamily="34" charset="-120"/>
              </a:rPr>
              <a:t>Next lesson: into the lab — and what this subject can actually get you.</a:t>
            </a:r>
            <a:endParaRPr lang="en-US" sz="13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33"/>
                                        </p:tgtEl>
                                        <p:attrNameLst>
                                          <p:attrName>style.visibility</p:attrName>
                                        </p:attrNameLst>
                                      </p:cBhvr>
                                      <p:to>
                                        <p:strVal val="visible"/>
                                      </p:to>
                                    </p:set>
                                    <p:animEffect transition="in" filter="fade">
                                      <p:cBhvr>
                                        <p:cTn id="4" dur="400"/>
                                        <p:tgtEl>
                                          <p:spTgt spid="33"/>
                                        </p:tgtEl>
                                      </p:cBhvr>
                                    </p:animEffect>
                                  </p:childTnLst>
                                </p:cTn>
                              </p:par>
                            </p:childTnLst>
                          </p:cTn>
                        </p:par>
                      </p:childTnLst>
                    </p:cTn>
                  </p:par>
                  <p:par>
                    <p:cTn id="15" fill="hold">
                      <p:stCondLst>
                        <p:cond delay="indefinite"/>
                      </p:stCondLst>
                      <p:childTnLst>
                        <p:par>
                          <p:cTn id="16" fill="hold">
                            <p:stCondLst>
                              <p:cond delay="0"/>
                            </p:stCondLst>
                            <p:childTnLst>
                              <p:par>
                                <p:cTn id="11" presetID="23" presetClass="entr" presetSubtype="16" fill="hold" grpId="0"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animScale>
                                      <p:cBhvr>
                                        <p:cTn id="10" dur="400" fill="hold"/>
                                        <p:tgtEl>
                                          <p:spTgt spid="14"/>
                                        </p:tgtEl>
                                      </p:cBhvr>
                                      <p:from x="0" y="0"/>
                                      <p:to x="100000" y="100000"/>
                                    </p:animScale>
                                  </p:childTnLst>
                                </p:cTn>
                              </p:par>
                              <p:par>
                                <p:cTn id="14" presetID="10" presetClass="entr" presetSubtype="0" fill="hold" grpId="0" nodeType="withEffect">
                                  <p:stCondLst>
                                    <p:cond delay="15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childTnLst>
                          </p:cTn>
                        </p:par>
                      </p:childTnLst>
                    </p:cTn>
                  </p:par>
                  <p:par>
                    <p:cTn id="20" fill="hold">
                      <p:stCondLst>
                        <p:cond delay="indefinite"/>
                      </p:stCondLst>
                      <p:childTnLst>
                        <p:par>
                          <p:cTn id="21" fill="hold">
                            <p:stCondLst>
                              <p:cond delay="0"/>
                            </p:stCondLst>
                            <p:childTnLst>
                              <p:par>
                                <p:cTn id="19" presetID="10" presetClass="entr" presetSubtype="0" fill="hold" grpId="0" nodeType="click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fade">
                                      <p:cBhvr>
                                        <p:cTn id="18" dur="400"/>
                                        <p:tgtEl>
                                          <p:spTgt spid="34"/>
                                        </p:tgtEl>
                                      </p:cBhvr>
                                    </p:animEffect>
                                  </p:childTnLst>
                                </p:cTn>
                              </p:par>
                            </p:childTnLst>
                          </p:cTn>
                        </p:par>
                      </p:childTnLst>
                    </p:cTn>
                  </p:par>
                  <p:par>
                    <p:cTn id="29" fill="hold">
                      <p:stCondLst>
                        <p:cond delay="indefinite"/>
                      </p:stCondLst>
                      <p:childTnLst>
                        <p:par>
                          <p:cTn id="30" fill="hold">
                            <p:stCondLst>
                              <p:cond delay="0"/>
                            </p:stCondLst>
                            <p:childTnLst>
                              <p:par>
                                <p:cTn id="25" presetID="23" presetClass="entr" presetSubtype="16"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400"/>
                                        <p:tgtEl>
                                          <p:spTgt spid="18"/>
                                        </p:tgtEl>
                                      </p:cBhvr>
                                    </p:animEffect>
                                    <p:animScale>
                                      <p:cBhvr>
                                        <p:cTn id="24" dur="400" fill="hold"/>
                                        <p:tgtEl>
                                          <p:spTgt spid="18"/>
                                        </p:tgtEl>
                                      </p:cBhvr>
                                      <p:from x="0" y="0"/>
                                      <p:to x="100000" y="100000"/>
                                    </p:animScale>
                                  </p:childTnLst>
                                </p:cTn>
                              </p:par>
                              <p:par>
                                <p:cTn id="28" presetID="10" presetClass="entr" presetSubtype="0" fill="hold" grpId="0" nodeType="withEffect">
                                  <p:stCondLst>
                                    <p:cond delay="15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4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3" presetID="10" presetClass="entr" presetSubtype="0" fill="hold" grpId="0"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00"/>
                                        <p:tgtEl>
                                          <p:spTgt spid="35"/>
                                        </p:tgtEl>
                                      </p:cBhvr>
                                    </p:animEffect>
                                  </p:childTnLst>
                                </p:cTn>
                              </p:par>
                            </p:childTnLst>
                          </p:cTn>
                        </p:par>
                      </p:childTnLst>
                    </p:cTn>
                  </p:par>
                  <p:par>
                    <p:cTn id="43" fill="hold">
                      <p:stCondLst>
                        <p:cond delay="indefinite"/>
                      </p:stCondLst>
                      <p:childTnLst>
                        <p:par>
                          <p:cTn id="44" fill="hold">
                            <p:stCondLst>
                              <p:cond delay="0"/>
                            </p:stCondLst>
                            <p:childTnLst>
                              <p:par>
                                <p:cTn id="39" presetID="23" presetClass="entr" presetSubtype="16"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00"/>
                                        <p:tgtEl>
                                          <p:spTgt spid="22"/>
                                        </p:tgtEl>
                                      </p:cBhvr>
                                    </p:animEffect>
                                    <p:animScale>
                                      <p:cBhvr>
                                        <p:cTn id="38" dur="400" fill="hold"/>
                                        <p:tgtEl>
                                          <p:spTgt spid="22"/>
                                        </p:tgtEl>
                                      </p:cBhvr>
                                      <p:from x="0" y="0"/>
                                      <p:to x="100000" y="100000"/>
                                    </p:animScale>
                                  </p:childTnLst>
                                </p:cTn>
                              </p:par>
                              <p:par>
                                <p:cTn id="42" presetID="10" presetClass="entr" presetSubtype="0" fill="hold" grpId="0" nodeType="withEffect">
                                  <p:stCondLst>
                                    <p:cond delay="15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400"/>
                                        <p:tgtEl>
                                          <p:spTgt spid="23"/>
                                        </p:tgtEl>
                                      </p:cBhvr>
                                    </p:animEffect>
                                  </p:childTnLst>
                                </p:cTn>
                              </p:par>
                            </p:childTnLst>
                          </p:cTn>
                        </p:par>
                      </p:childTnLst>
                    </p:cTn>
                  </p:par>
                  <p:par>
                    <p:cTn id="48" fill="hold">
                      <p:stCondLst>
                        <p:cond delay="indefinite"/>
                      </p:stCondLst>
                      <p:childTnLst>
                        <p:par>
                          <p:cTn id="49" fill="hold">
                            <p:stCondLst>
                              <p:cond delay="0"/>
                            </p:stCondLst>
                            <p:childTnLst>
                              <p:par>
                                <p:cTn id="47" presetID="10" presetClass="entr" presetSubtype="0" fill="hold" grpId="0" nodeType="clickEffect">
                                  <p:stCondLst>
                                    <p:cond delay="0"/>
                                  </p:stCondLst>
                                  <p:childTnLst>
                                    <p:set>
                                      <p:cBhvr>
                                        <p:cTn id="45" dur="1" fill="hold">
                                          <p:stCondLst>
                                            <p:cond delay="0"/>
                                          </p:stCondLst>
                                        </p:cTn>
                                        <p:tgtEl>
                                          <p:spTgt spid="36"/>
                                        </p:tgtEl>
                                        <p:attrNameLst>
                                          <p:attrName>style.visibility</p:attrName>
                                        </p:attrNameLst>
                                      </p:cBhvr>
                                      <p:to>
                                        <p:strVal val="visible"/>
                                      </p:to>
                                    </p:set>
                                    <p:animEffect transition="in" filter="fade">
                                      <p:cBhvr>
                                        <p:cTn id="46" dur="400"/>
                                        <p:tgtEl>
                                          <p:spTgt spid="36"/>
                                        </p:tgtEl>
                                      </p:cBhvr>
                                    </p:animEffect>
                                  </p:childTnLst>
                                </p:cTn>
                              </p:par>
                            </p:childTnLst>
                          </p:cTn>
                        </p:par>
                      </p:childTnLst>
                    </p:cTn>
                  </p:par>
                  <p:par>
                    <p:cTn id="57" fill="hold">
                      <p:stCondLst>
                        <p:cond delay="indefinite"/>
                      </p:stCondLst>
                      <p:childTnLst>
                        <p:par>
                          <p:cTn id="58" fill="hold">
                            <p:stCondLst>
                              <p:cond delay="0"/>
                            </p:stCondLst>
                            <p:childTnLst>
                              <p:par>
                                <p:cTn id="53" presetID="23" presetClass="entr" presetSubtype="16"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400"/>
                                        <p:tgtEl>
                                          <p:spTgt spid="26"/>
                                        </p:tgtEl>
                                      </p:cBhvr>
                                    </p:animEffect>
                                    <p:animScale>
                                      <p:cBhvr>
                                        <p:cTn id="52" dur="400" fill="hold"/>
                                        <p:tgtEl>
                                          <p:spTgt spid="26"/>
                                        </p:tgtEl>
                                      </p:cBhvr>
                                      <p:from x="0" y="0"/>
                                      <p:to x="100000" y="100000"/>
                                    </p:animScale>
                                  </p:childTnLst>
                                </p:cTn>
                              </p:par>
                              <p:par>
                                <p:cTn id="56" presetID="10" presetClass="entr" presetSubtype="0" fill="hold" grpId="0" nodeType="withEffect">
                                  <p:stCondLst>
                                    <p:cond delay="15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400"/>
                                        <p:tgtEl>
                                          <p:spTgt spid="27"/>
                                        </p:tgtEl>
                                      </p:cBhvr>
                                    </p:animEffect>
                                  </p:childTnLst>
                                </p:cTn>
                              </p:par>
                            </p:childTnLst>
                          </p:cTn>
                        </p:par>
                      </p:childTnLst>
                    </p:cTn>
                  </p:par>
                  <p:par>
                    <p:cTn id="62" fill="hold">
                      <p:stCondLst>
                        <p:cond delay="indefinite"/>
                      </p:stCondLst>
                      <p:childTnLst>
                        <p:par>
                          <p:cTn id="63" fill="hold">
                            <p:stCondLst>
                              <p:cond delay="0"/>
                            </p:stCondLst>
                            <p:childTnLst>
                              <p:par>
                                <p:cTn id="61" presetID="10" presetClass="entr" presetSubtype="0" fill="hold" grpId="0" nodeType="clickEffect">
                                  <p:stCondLst>
                                    <p:cond delay="0"/>
                                  </p:stCondLst>
                                  <p:childTnLst>
                                    <p:set>
                                      <p:cBhvr>
                                        <p:cTn id="59" dur="1" fill="hold">
                                          <p:stCondLst>
                                            <p:cond delay="0"/>
                                          </p:stCondLst>
                                        </p:cTn>
                                        <p:tgtEl>
                                          <p:spTgt spid="37"/>
                                        </p:tgtEl>
                                        <p:attrNameLst>
                                          <p:attrName>style.visibility</p:attrName>
                                        </p:attrNameLst>
                                      </p:cBhvr>
                                      <p:to>
                                        <p:strVal val="visible"/>
                                      </p:to>
                                    </p:set>
                                    <p:animEffect transition="in" filter="fade">
                                      <p:cBhvr>
                                        <p:cTn id="60" dur="400"/>
                                        <p:tgtEl>
                                          <p:spTgt spid="37"/>
                                        </p:tgtEl>
                                      </p:cBhvr>
                                    </p:animEffect>
                                  </p:childTnLst>
                                </p:cTn>
                              </p:par>
                            </p:childTnLst>
                          </p:cTn>
                        </p:par>
                      </p:childTnLst>
                    </p:cTn>
                  </p:par>
                  <p:par>
                    <p:cTn id="71" fill="hold">
                      <p:stCondLst>
                        <p:cond delay="indefinite"/>
                      </p:stCondLst>
                      <p:childTnLst>
                        <p:par>
                          <p:cTn id="72" fill="hold">
                            <p:stCondLst>
                              <p:cond delay="0"/>
                            </p:stCondLst>
                            <p:childTnLst>
                              <p:par>
                                <p:cTn id="67" presetID="23" presetClass="entr" presetSubtype="16" fill="hold" grpId="0" nodeType="click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400"/>
                                        <p:tgtEl>
                                          <p:spTgt spid="30"/>
                                        </p:tgtEl>
                                      </p:cBhvr>
                                    </p:animEffect>
                                    <p:animScale>
                                      <p:cBhvr>
                                        <p:cTn id="66" dur="400" fill="hold"/>
                                        <p:tgtEl>
                                          <p:spTgt spid="30"/>
                                        </p:tgtEl>
                                      </p:cBhvr>
                                      <p:from x="0" y="0"/>
                                      <p:to x="100000" y="100000"/>
                                    </p:animScale>
                                  </p:childTnLst>
                                </p:cTn>
                              </p:par>
                              <p:par>
                                <p:cTn id="70" presetID="10" presetClass="entr" presetSubtype="0" fill="hold" grpId="0" nodeType="withEffect">
                                  <p:stCondLst>
                                    <p:cond delay="150"/>
                                  </p:stCondLst>
                                  <p:childTnLst>
                                    <p:set>
                                      <p:cBhvr>
                                        <p:cTn id="68" dur="1" fill="hold">
                                          <p:stCondLst>
                                            <p:cond delay="0"/>
                                          </p:stCondLst>
                                        </p:cTn>
                                        <p:tgtEl>
                                          <p:spTgt spid="31"/>
                                        </p:tgtEl>
                                        <p:attrNameLst>
                                          <p:attrName>style.visibility</p:attrName>
                                        </p:attrNameLst>
                                      </p:cBhvr>
                                      <p:to>
                                        <p:strVal val="visible"/>
                                      </p:to>
                                    </p:set>
                                    <p:animEffect transition="in" filter="fade">
                                      <p:cBhvr>
                                        <p:cTn id="69" dur="400"/>
                                        <p:tgtEl>
                                          <p:spTgt spid="31"/>
                                        </p:tgtEl>
                                      </p:cBhvr>
                                    </p:animEffect>
                                  </p:childTnLst>
                                </p:cTn>
                              </p:par>
                            </p:childTnLst>
                          </p:cTn>
                        </p:par>
                      </p:childTnLst>
                    </p:cTn>
                  </p:par>
                  <p:par>
                    <p:cTn id="76" fill="hold">
                      <p:stCondLst>
                        <p:cond delay="indefinite"/>
                      </p:stCondLst>
                      <p:childTnLst>
                        <p:par>
                          <p:cTn id="77" fill="hold">
                            <p:stCondLst>
                              <p:cond delay="0"/>
                            </p:stCondLst>
                            <p:childTnLst>
                              <p:par>
                                <p:cTn id="75" presetID="10" presetClass="entr" presetSubtype="0" fill="hold" grpId="0" nodeType="click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fade">
                                      <p:cBhvr>
                                        <p:cTn id="74"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4A2C6F"/>
        </a:solidFill>
      </p:bgPr>
    </p:bg>
    <p:spTree>
      <p:nvGrpSpPr>
        <p:cNvPr id="1" name=""/>
        <p:cNvGrpSpPr/>
        <p:nvPr/>
      </p:nvGrpSpPr>
      <p:grpSpPr>
        <a:xfrm>
          <a:off x="0" y="0"/>
          <a:ext cx="0" cy="0"/>
          <a:chOff x="0" y="0"/>
          <a:chExt cx="0" cy="0"/>
        </a:xfrm>
      </p:grpSpPr>
      <p:sp>
        <p:nvSpPr>
          <p:cNvPr id="2"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F7F4FB"/>
                </a:solidFill>
                <a:latin typeface="Georgia" pitchFamily="34" charset="0"/>
                <a:ea typeface="Georgia" pitchFamily="34" charset="-122"/>
                <a:cs typeface="Georgia" pitchFamily="34" charset="-120"/>
              </a:rPr>
              <a:t>Credits and sources</a:t>
            </a:r>
            <a:endParaRPr lang="en-US" sz="3000" dirty="0"/>
          </a:p>
        </p:txBody>
      </p:sp>
      <p:sp>
        <p:nvSpPr>
          <p:cNvPr id="3" name="cred0_a"/>
          <p:cNvSpPr txBox="1"/>
          <p:nvPr/>
        </p:nvSpPr>
        <p:spPr>
          <a:xfrm>
            <a:off x="502920" y="1700784"/>
            <a:ext cx="5943600" cy="310896"/>
          </a:xfrm>
          <a:prstGeom prst="rect">
            <a:avLst/>
          </a:prstGeom>
          <a:noFill/>
          <a:ln/>
        </p:spPr>
        <p:txBody>
          <a:bodyPr wrap="square" lIns="0" tIns="0" rIns="0" bIns="0" rtlCol="0" anchor="ctr"/>
          <a:lstStyle/>
          <a:p>
            <a:pPr indent="0" marL="0">
              <a:buNone/>
            </a:pPr>
            <a:r>
              <a:rPr lang="en-US" sz="1100" b="1" spc="110" kern="0" dirty="0">
                <a:solidFill>
                  <a:srgbClr val="F2A03D"/>
                </a:solidFill>
                <a:latin typeface="Arial" pitchFamily="34" charset="0"/>
                <a:ea typeface="Arial" pitchFamily="34" charset="-122"/>
                <a:cs typeface="Arial" pitchFamily="34" charset="-120"/>
              </a:rPr>
              <a:t>IMAGES</a:t>
            </a:r>
            <a:endParaRPr lang="en-US" sz="1100" dirty="0"/>
          </a:p>
        </p:txBody>
      </p:sp>
      <p:sp>
        <p:nvSpPr>
          <p:cNvPr id="4" name="cred1_a"/>
          <p:cNvSpPr txBox="1"/>
          <p:nvPr/>
        </p:nvSpPr>
        <p:spPr>
          <a:xfrm>
            <a:off x="502920" y="2066544"/>
            <a:ext cx="5943600" cy="310896"/>
          </a:xfrm>
          <a:prstGeom prst="rect">
            <a:avLst/>
          </a:prstGeom>
          <a:noFill/>
          <a:ln/>
        </p:spPr>
        <p:txBody>
          <a:bodyPr wrap="square" lIns="0" tIns="0" rIns="0" bIns="0" rtlCol="0" anchor="ctr"/>
          <a:lstStyle/>
          <a:p>
            <a:pPr indent="0" marL="0">
              <a:buNone/>
            </a:pPr>
            <a:r>
              <a:rPr lang="en-US" sz="1100" dirty="0">
                <a:solidFill>
                  <a:srgbClr val="F7F4FB"/>
                </a:solidFill>
                <a:latin typeface="Arial" pitchFamily="34" charset="0"/>
                <a:ea typeface="Arial" pitchFamily="34" charset="-122"/>
                <a:cs typeface="Arial" pitchFamily="34" charset="-120"/>
              </a:rPr>
              <a:t>Mary Anning, painted about 1842</a:t>
            </a:r>
            <a:endParaRPr lang="en-US" sz="1100" dirty="0"/>
          </a:p>
        </p:txBody>
      </p:sp>
      <p:sp>
        <p:nvSpPr>
          <p:cNvPr id="5" name="cred1_b"/>
          <p:cNvSpPr txBox="1"/>
          <p:nvPr/>
        </p:nvSpPr>
        <p:spPr>
          <a:xfrm>
            <a:off x="6629400" y="2066544"/>
            <a:ext cx="5059375" cy="310896"/>
          </a:xfrm>
          <a:prstGeom prst="rect">
            <a:avLst/>
          </a:prstGeom>
          <a:noFill/>
          <a:ln/>
        </p:spPr>
        <p:txBody>
          <a:bodyPr wrap="square" lIns="0" tIns="0" rIns="0" bIns="0" rtlCol="0" anchor="ctr"/>
          <a:lstStyle/>
          <a:p>
            <a:pPr indent="0" marL="0">
              <a:buNone/>
            </a:pPr>
            <a:r>
              <a:rPr lang="en-US" sz="1000" dirty="0">
                <a:solidFill>
                  <a:srgbClr val="E3DAF0"/>
                </a:solidFill>
                <a:latin typeface="Arial" pitchFamily="34" charset="0"/>
                <a:ea typeface="Arial" pitchFamily="34" charset="-122"/>
                <a:cs typeface="Arial" pitchFamily="34" charset="-120"/>
              </a:rPr>
              <a:t>Credited to "Mr Grey" · public domain · Wikimedia Commons</a:t>
            </a:r>
            <a:endParaRPr lang="en-US" sz="1000" dirty="0"/>
          </a:p>
        </p:txBody>
      </p:sp>
      <p:sp>
        <p:nvSpPr>
          <p:cNvPr id="6" name="cred2_a"/>
          <p:cNvSpPr txBox="1"/>
          <p:nvPr/>
        </p:nvSpPr>
        <p:spPr>
          <a:xfrm>
            <a:off x="502920" y="2432304"/>
            <a:ext cx="5943600" cy="310896"/>
          </a:xfrm>
          <a:prstGeom prst="rect">
            <a:avLst/>
          </a:prstGeom>
          <a:noFill/>
          <a:ln/>
        </p:spPr>
        <p:txBody>
          <a:bodyPr wrap="square" lIns="0" tIns="0" rIns="0" bIns="0" rtlCol="0" anchor="ctr"/>
          <a:lstStyle/>
          <a:p>
            <a:pPr indent="0" marL="0">
              <a:buNone/>
            </a:pPr>
            <a:r>
              <a:rPr lang="en-US" sz="1100" dirty="0">
                <a:solidFill>
                  <a:srgbClr val="F7F4FB"/>
                </a:solidFill>
                <a:latin typeface="Arial" pitchFamily="34" charset="0"/>
                <a:ea typeface="Arial" pitchFamily="34" charset="-122"/>
                <a:cs typeface="Arial" pitchFamily="34" charset="-120"/>
              </a:rPr>
              <a:t>Katherine Johnson at NASA Langley, 1966</a:t>
            </a:r>
            <a:endParaRPr lang="en-US" sz="1100" dirty="0"/>
          </a:p>
        </p:txBody>
      </p:sp>
      <p:sp>
        <p:nvSpPr>
          <p:cNvPr id="7" name="cred2_b"/>
          <p:cNvSpPr txBox="1"/>
          <p:nvPr/>
        </p:nvSpPr>
        <p:spPr>
          <a:xfrm>
            <a:off x="6629400" y="2432304"/>
            <a:ext cx="5059375" cy="310896"/>
          </a:xfrm>
          <a:prstGeom prst="rect">
            <a:avLst/>
          </a:prstGeom>
          <a:noFill/>
          <a:ln/>
        </p:spPr>
        <p:txBody>
          <a:bodyPr wrap="square" lIns="0" tIns="0" rIns="0" bIns="0" rtlCol="0" anchor="ctr"/>
          <a:lstStyle/>
          <a:p>
            <a:pPr indent="0" marL="0">
              <a:buNone/>
            </a:pPr>
            <a:r>
              <a:rPr lang="en-US" sz="1000" dirty="0">
                <a:solidFill>
                  <a:srgbClr val="E3DAF0"/>
                </a:solidFill>
                <a:latin typeface="Arial" pitchFamily="34" charset="0"/>
                <a:ea typeface="Arial" pitchFamily="34" charset="-122"/>
                <a:cs typeface="Arial" pitchFamily="34" charset="-120"/>
              </a:rPr>
              <a:t>NASA · public domain</a:t>
            </a:r>
            <a:endParaRPr lang="en-US" sz="1000" dirty="0"/>
          </a:p>
        </p:txBody>
      </p:sp>
      <p:sp>
        <p:nvSpPr>
          <p:cNvPr id="8" name="cred3_a"/>
          <p:cNvSpPr txBox="1"/>
          <p:nvPr/>
        </p:nvSpPr>
        <p:spPr>
          <a:xfrm>
            <a:off x="502920" y="2798064"/>
            <a:ext cx="5943600" cy="310896"/>
          </a:xfrm>
          <a:prstGeom prst="rect">
            <a:avLst/>
          </a:prstGeom>
          <a:noFill/>
          <a:ln/>
        </p:spPr>
        <p:txBody>
          <a:bodyPr wrap="square" lIns="0" tIns="0" rIns="0" bIns="0" rtlCol="0" anchor="ctr"/>
          <a:lstStyle/>
          <a:p>
            <a:pPr indent="0" marL="0">
              <a:buNone/>
            </a:pPr>
            <a:r>
              <a:rPr lang="en-US" sz="1100" dirty="0">
                <a:solidFill>
                  <a:srgbClr val="F7F4FB"/>
                </a:solidFill>
                <a:latin typeface="Arial" pitchFamily="34" charset="0"/>
                <a:ea typeface="Arial" pitchFamily="34" charset="-122"/>
                <a:cs typeface="Arial" pitchFamily="34" charset="-120"/>
              </a:rPr>
              <a:t>Jocelyn Bell Burnell, 1967</a:t>
            </a:r>
            <a:endParaRPr lang="en-US" sz="1100" dirty="0"/>
          </a:p>
        </p:txBody>
      </p:sp>
      <p:sp>
        <p:nvSpPr>
          <p:cNvPr id="9" name="cred3_b"/>
          <p:cNvSpPr txBox="1"/>
          <p:nvPr/>
        </p:nvSpPr>
        <p:spPr>
          <a:xfrm>
            <a:off x="6629400" y="2798064"/>
            <a:ext cx="5059375" cy="310896"/>
          </a:xfrm>
          <a:prstGeom prst="rect">
            <a:avLst/>
          </a:prstGeom>
          <a:noFill/>
          <a:ln/>
        </p:spPr>
        <p:txBody>
          <a:bodyPr wrap="square" lIns="0" tIns="0" rIns="0" bIns="0" rtlCol="0" anchor="ctr"/>
          <a:lstStyle/>
          <a:p>
            <a:pPr indent="0" marL="0">
              <a:buNone/>
            </a:pPr>
            <a:r>
              <a:rPr lang="en-US" sz="1000" dirty="0">
                <a:solidFill>
                  <a:srgbClr val="E3DAF0"/>
                </a:solidFill>
                <a:latin typeface="Arial" pitchFamily="34" charset="0"/>
                <a:ea typeface="Arial" pitchFamily="34" charset="-122"/>
                <a:cs typeface="Arial" pitchFamily="34" charset="-120"/>
              </a:rPr>
              <a:t>Roger W Haworth · CC BY-SA 2.0 · Wikimedia Commons</a:t>
            </a:r>
            <a:endParaRPr lang="en-US" sz="1000" dirty="0"/>
          </a:p>
        </p:txBody>
      </p:sp>
      <p:sp>
        <p:nvSpPr>
          <p:cNvPr id="10" name="cred4_a"/>
          <p:cNvSpPr txBox="1"/>
          <p:nvPr/>
        </p:nvSpPr>
        <p:spPr>
          <a:xfrm>
            <a:off x="502920" y="3163824"/>
            <a:ext cx="5943600" cy="310896"/>
          </a:xfrm>
          <a:prstGeom prst="rect">
            <a:avLst/>
          </a:prstGeom>
          <a:noFill/>
          <a:ln/>
        </p:spPr>
        <p:txBody>
          <a:bodyPr wrap="square" lIns="0" tIns="0" rIns="0" bIns="0" rtlCol="0" anchor="ctr"/>
          <a:lstStyle/>
          <a:p>
            <a:pPr indent="0" marL="0">
              <a:buNone/>
            </a:pPr>
            <a:r>
              <a:rPr lang="en-US" sz="1100" b="1" spc="110" kern="0" dirty="0">
                <a:solidFill>
                  <a:srgbClr val="F2A03D"/>
                </a:solidFill>
                <a:latin typeface="Arial" pitchFamily="34" charset="0"/>
                <a:ea typeface="Arial" pitchFamily="34" charset="-122"/>
                <a:cs typeface="Arial" pitchFamily="34" charset="-120"/>
              </a:rPr>
              <a:t>SOURCES</a:t>
            </a:r>
            <a:endParaRPr lang="en-US" sz="1100" dirty="0"/>
          </a:p>
        </p:txBody>
      </p:sp>
      <p:sp>
        <p:nvSpPr>
          <p:cNvPr id="11" name="cred5_a"/>
          <p:cNvSpPr txBox="1"/>
          <p:nvPr/>
        </p:nvSpPr>
        <p:spPr>
          <a:xfrm>
            <a:off x="502920" y="3529584"/>
            <a:ext cx="5943600" cy="310896"/>
          </a:xfrm>
          <a:prstGeom prst="rect">
            <a:avLst/>
          </a:prstGeom>
          <a:noFill/>
          <a:ln/>
        </p:spPr>
        <p:txBody>
          <a:bodyPr wrap="square" lIns="0" tIns="0" rIns="0" bIns="0" rtlCol="0" anchor="ctr"/>
          <a:lstStyle/>
          <a:p>
            <a:pPr indent="0" marL="0">
              <a:buNone/>
            </a:pPr>
            <a:r>
              <a:rPr lang="en-US" sz="1100" dirty="0">
                <a:solidFill>
                  <a:srgbClr val="F7F4FB"/>
                </a:solidFill>
                <a:latin typeface="Arial" pitchFamily="34" charset="0"/>
                <a:ea typeface="Arial" pitchFamily="34" charset="-122"/>
                <a:cs typeface="Arial" pitchFamily="34" charset="-120"/>
              </a:rPr>
              <a:t>Anning: first complete ichthyosaur, 1811; she was twelve</a:t>
            </a:r>
            <a:endParaRPr lang="en-US" sz="1100" dirty="0"/>
          </a:p>
        </p:txBody>
      </p:sp>
      <p:sp>
        <p:nvSpPr>
          <p:cNvPr id="12" name="cred5_b"/>
          <p:cNvSpPr txBox="1"/>
          <p:nvPr/>
        </p:nvSpPr>
        <p:spPr>
          <a:xfrm>
            <a:off x="6629400" y="3529584"/>
            <a:ext cx="5059375" cy="310896"/>
          </a:xfrm>
          <a:prstGeom prst="rect">
            <a:avLst/>
          </a:prstGeom>
          <a:noFill/>
          <a:ln/>
        </p:spPr>
        <p:txBody>
          <a:bodyPr wrap="square" lIns="0" tIns="0" rIns="0" bIns="0" rtlCol="0" anchor="ctr"/>
          <a:lstStyle/>
          <a:p>
            <a:pPr indent="0" marL="0">
              <a:buNone/>
            </a:pPr>
            <a:r>
              <a:rPr lang="en-US" sz="1000" dirty="0">
                <a:solidFill>
                  <a:srgbClr val="E3DAF0"/>
                </a:solidFill>
                <a:latin typeface="Arial" pitchFamily="34" charset="0"/>
                <a:ea typeface="Arial" pitchFamily="34" charset="-122"/>
                <a:cs typeface="Arial" pitchFamily="34" charset="-120"/>
              </a:rPr>
              <a:t>Natural History Museum; Lyme Regis Museum</a:t>
            </a:r>
            <a:endParaRPr lang="en-US" sz="1000" dirty="0"/>
          </a:p>
        </p:txBody>
      </p:sp>
      <p:sp>
        <p:nvSpPr>
          <p:cNvPr id="13" name="cred6_a"/>
          <p:cNvSpPr txBox="1"/>
          <p:nvPr/>
        </p:nvSpPr>
        <p:spPr>
          <a:xfrm>
            <a:off x="502920" y="3895344"/>
            <a:ext cx="5943600" cy="310896"/>
          </a:xfrm>
          <a:prstGeom prst="rect">
            <a:avLst/>
          </a:prstGeom>
          <a:noFill/>
          <a:ln/>
        </p:spPr>
        <p:txBody>
          <a:bodyPr wrap="square" lIns="0" tIns="0" rIns="0" bIns="0" rtlCol="0" anchor="ctr"/>
          <a:lstStyle/>
          <a:p>
            <a:pPr indent="0" marL="0">
              <a:buNone/>
            </a:pPr>
            <a:r>
              <a:rPr lang="en-US" sz="1100" dirty="0">
                <a:solidFill>
                  <a:srgbClr val="F7F4FB"/>
                </a:solidFill>
                <a:latin typeface="Arial" pitchFamily="34" charset="0"/>
                <a:ea typeface="Arial" pitchFamily="34" charset="-122"/>
                <a:cs typeface="Arial" pitchFamily="34" charset="-120"/>
              </a:rPr>
              <a:t>Women admitted to the Geological Society of London in 1904</a:t>
            </a:r>
            <a:endParaRPr lang="en-US" sz="1100" dirty="0"/>
          </a:p>
        </p:txBody>
      </p:sp>
      <p:sp>
        <p:nvSpPr>
          <p:cNvPr id="14" name="cred6_b"/>
          <p:cNvSpPr txBox="1"/>
          <p:nvPr/>
        </p:nvSpPr>
        <p:spPr>
          <a:xfrm>
            <a:off x="6629400" y="3895344"/>
            <a:ext cx="5059375" cy="310896"/>
          </a:xfrm>
          <a:prstGeom prst="rect">
            <a:avLst/>
          </a:prstGeom>
          <a:noFill/>
          <a:ln/>
        </p:spPr>
        <p:txBody>
          <a:bodyPr wrap="square" lIns="0" tIns="0" rIns="0" bIns="0" rtlCol="0" anchor="ctr"/>
          <a:lstStyle/>
          <a:p>
            <a:pPr indent="0" marL="0">
              <a:buNone/>
            </a:pPr>
            <a:r>
              <a:rPr lang="en-US" sz="1000" dirty="0">
                <a:solidFill>
                  <a:srgbClr val="E3DAF0"/>
                </a:solidFill>
                <a:latin typeface="Arial" pitchFamily="34" charset="0"/>
                <a:ea typeface="Arial" pitchFamily="34" charset="-122"/>
                <a:cs typeface="Arial" pitchFamily="34" charset="-120"/>
              </a:rPr>
              <a:t>Lyme Regis Museum</a:t>
            </a:r>
            <a:endParaRPr lang="en-US" sz="1000" dirty="0"/>
          </a:p>
        </p:txBody>
      </p:sp>
      <p:sp>
        <p:nvSpPr>
          <p:cNvPr id="15" name="cred7_a"/>
          <p:cNvSpPr txBox="1"/>
          <p:nvPr/>
        </p:nvSpPr>
        <p:spPr>
          <a:xfrm>
            <a:off x="502920" y="4261104"/>
            <a:ext cx="5943600" cy="310896"/>
          </a:xfrm>
          <a:prstGeom prst="rect">
            <a:avLst/>
          </a:prstGeom>
          <a:noFill/>
          <a:ln/>
        </p:spPr>
        <p:txBody>
          <a:bodyPr wrap="square" lIns="0" tIns="0" rIns="0" bIns="0" rtlCol="0" anchor="ctr"/>
          <a:lstStyle/>
          <a:p>
            <a:pPr indent="0" marL="0">
              <a:buNone/>
            </a:pPr>
            <a:r>
              <a:rPr lang="en-US" sz="1100" dirty="0">
                <a:solidFill>
                  <a:srgbClr val="F7F4FB"/>
                </a:solidFill>
                <a:latin typeface="Arial" pitchFamily="34" charset="0"/>
                <a:ea typeface="Arial" pitchFamily="34" charset="-122"/>
                <a:cs typeface="Arial" pitchFamily="34" charset="-120"/>
              </a:rPr>
              <a:t>Johnson: Glenn asked for her to check the numbers by hand, 1962</a:t>
            </a:r>
            <a:endParaRPr lang="en-US" sz="1100" dirty="0"/>
          </a:p>
        </p:txBody>
      </p:sp>
      <p:sp>
        <p:nvSpPr>
          <p:cNvPr id="16" name="cred7_b"/>
          <p:cNvSpPr txBox="1"/>
          <p:nvPr/>
        </p:nvSpPr>
        <p:spPr>
          <a:xfrm>
            <a:off x="6629400" y="4261104"/>
            <a:ext cx="5059375" cy="310896"/>
          </a:xfrm>
          <a:prstGeom prst="rect">
            <a:avLst/>
          </a:prstGeom>
          <a:noFill/>
          <a:ln/>
        </p:spPr>
        <p:txBody>
          <a:bodyPr wrap="square" lIns="0" tIns="0" rIns="0" bIns="0" rtlCol="0" anchor="ctr"/>
          <a:lstStyle/>
          <a:p>
            <a:pPr indent="0" marL="0">
              <a:buNone/>
            </a:pPr>
            <a:r>
              <a:rPr lang="en-US" sz="1000" dirty="0">
                <a:solidFill>
                  <a:srgbClr val="E3DAF0"/>
                </a:solidFill>
                <a:latin typeface="Arial" pitchFamily="34" charset="0"/>
                <a:ea typeface="Arial" pitchFamily="34" charset="-122"/>
                <a:cs typeface="Arial" pitchFamily="34" charset="-120"/>
              </a:rPr>
              <a:t>NASA, Katherine Johnson Biography</a:t>
            </a:r>
            <a:endParaRPr lang="en-US" sz="1000" dirty="0"/>
          </a:p>
        </p:txBody>
      </p:sp>
      <p:sp>
        <p:nvSpPr>
          <p:cNvPr id="17" name="cred8_a"/>
          <p:cNvSpPr txBox="1"/>
          <p:nvPr/>
        </p:nvSpPr>
        <p:spPr>
          <a:xfrm>
            <a:off x="502920" y="4626864"/>
            <a:ext cx="5943600" cy="310896"/>
          </a:xfrm>
          <a:prstGeom prst="rect">
            <a:avLst/>
          </a:prstGeom>
          <a:noFill/>
          <a:ln/>
        </p:spPr>
        <p:txBody>
          <a:bodyPr wrap="square" lIns="0" tIns="0" rIns="0" bIns="0" rtlCol="0" anchor="ctr"/>
          <a:lstStyle/>
          <a:p>
            <a:pPr indent="0" marL="0">
              <a:buNone/>
            </a:pPr>
            <a:r>
              <a:rPr lang="en-US" sz="1100" dirty="0">
                <a:solidFill>
                  <a:srgbClr val="F7F4FB"/>
                </a:solidFill>
                <a:latin typeface="Arial" pitchFamily="34" charset="0"/>
                <a:ea typeface="Arial" pitchFamily="34" charset="-122"/>
                <a:cs typeface="Arial" pitchFamily="34" charset="-120"/>
              </a:rPr>
              <a:t>Bell Burnell: pulsar 28 November 1967; Nobel 1974 to Hewish and Ryle</a:t>
            </a:r>
            <a:endParaRPr lang="en-US" sz="1100" dirty="0"/>
          </a:p>
        </p:txBody>
      </p:sp>
      <p:sp>
        <p:nvSpPr>
          <p:cNvPr id="18" name="cred8_b"/>
          <p:cNvSpPr txBox="1"/>
          <p:nvPr/>
        </p:nvSpPr>
        <p:spPr>
          <a:xfrm>
            <a:off x="6629400" y="4626864"/>
            <a:ext cx="5059375" cy="310896"/>
          </a:xfrm>
          <a:prstGeom prst="rect">
            <a:avLst/>
          </a:prstGeom>
          <a:noFill/>
          <a:ln/>
        </p:spPr>
        <p:txBody>
          <a:bodyPr wrap="square" lIns="0" tIns="0" rIns="0" bIns="0" rtlCol="0" anchor="ctr"/>
          <a:lstStyle/>
          <a:p>
            <a:pPr indent="0" marL="0">
              <a:buNone/>
            </a:pPr>
            <a:r>
              <a:rPr lang="en-US" sz="1000" dirty="0">
                <a:solidFill>
                  <a:srgbClr val="E3DAF0"/>
                </a:solidFill>
                <a:latin typeface="Arial" pitchFamily="34" charset="0"/>
                <a:ea typeface="Arial" pitchFamily="34" charset="-122"/>
                <a:cs typeface="Arial" pitchFamily="34" charset="-120"/>
              </a:rPr>
              <a:t>University of Cambridge; Britannica</a:t>
            </a:r>
            <a:endParaRPr lang="en-US" sz="1000" dirty="0"/>
          </a:p>
        </p:txBody>
      </p:sp>
      <p:sp>
        <p:nvSpPr>
          <p:cNvPr id="19" name="cred9_a"/>
          <p:cNvSpPr txBox="1"/>
          <p:nvPr/>
        </p:nvSpPr>
        <p:spPr>
          <a:xfrm>
            <a:off x="502920" y="4992624"/>
            <a:ext cx="5943600" cy="310896"/>
          </a:xfrm>
          <a:prstGeom prst="rect">
            <a:avLst/>
          </a:prstGeom>
          <a:noFill/>
          <a:ln/>
        </p:spPr>
        <p:txBody>
          <a:bodyPr wrap="square" lIns="0" tIns="0" rIns="0" bIns="0" rtlCol="0" anchor="ctr"/>
          <a:lstStyle/>
          <a:p>
            <a:pPr indent="0" marL="0">
              <a:buNone/>
            </a:pPr>
            <a:r>
              <a:rPr lang="en-US" sz="1100" dirty="0">
                <a:solidFill>
                  <a:srgbClr val="F7F4FB"/>
                </a:solidFill>
                <a:latin typeface="Arial" pitchFamily="34" charset="0"/>
                <a:ea typeface="Arial" pitchFamily="34" charset="-122"/>
                <a:cs typeface="Arial" pitchFamily="34" charset="-120"/>
              </a:rPr>
              <a:t>Bell Burnell: $3m Breakthrough Prize 2018, donated in full</a:t>
            </a:r>
            <a:endParaRPr lang="en-US" sz="1100" dirty="0"/>
          </a:p>
        </p:txBody>
      </p:sp>
      <p:sp>
        <p:nvSpPr>
          <p:cNvPr id="20" name="cred9_b"/>
          <p:cNvSpPr txBox="1"/>
          <p:nvPr/>
        </p:nvSpPr>
        <p:spPr>
          <a:xfrm>
            <a:off x="6629400" y="4992624"/>
            <a:ext cx="5059375" cy="310896"/>
          </a:xfrm>
          <a:prstGeom prst="rect">
            <a:avLst/>
          </a:prstGeom>
          <a:noFill/>
          <a:ln/>
        </p:spPr>
        <p:txBody>
          <a:bodyPr wrap="square" lIns="0" tIns="0" rIns="0" bIns="0" rtlCol="0" anchor="ctr"/>
          <a:lstStyle/>
          <a:p>
            <a:pPr indent="0" marL="0">
              <a:buNone/>
            </a:pPr>
            <a:r>
              <a:rPr lang="en-US" sz="1000" dirty="0">
                <a:solidFill>
                  <a:srgbClr val="E3DAF0"/>
                </a:solidFill>
                <a:latin typeface="Arial" pitchFamily="34" charset="0"/>
                <a:ea typeface="Arial" pitchFamily="34" charset="-122"/>
                <a:cs typeface="Arial" pitchFamily="34" charset="-120"/>
              </a:rPr>
              <a:t>Institute of Physics studentships for under-represented groups</a:t>
            </a:r>
            <a:endParaRPr lang="en-US" sz="10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Y7 Science — Who got left out?</dc:title>
  <dc:subject>Y7 Unit 1 · Lesson 3 of 4</dc:subject>
  <dc:creator>Chuka</dc:creator>
  <cp:lastModifiedBy>Chuka</cp:lastModifiedBy>
  <cp:revision>1</cp:revision>
  <dcterms:created xsi:type="dcterms:W3CDTF">2026-09-15T14:51:55Z</dcterms:created>
  <dcterms:modified xsi:type="dcterms:W3CDTF">2026-09-15T14:51:55Z</dcterms:modified>
</cp:coreProperties>
</file>