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media5.mp4" ContentType="video/unknown"/>
  <Override PartName="/ppt/notesSlides/notesSlide6.xml" ContentType="application/vnd.openxmlformats-officedocument.presentationml.notesSlide+xml"/>
  <Override PartName="/ppt/media/media6.mp4" ContentType="video/unknown"/>
  <Override PartName="/ppt/notesSlides/notesSlide7.xml" ContentType="application/vnd.openxmlformats-officedocument.presentationml.notesSlide+xml"/>
  <Override PartName="/ppt/media/media7.mp4" ContentType="video/unknown"/>
  <Override PartName="/ppt/notesSlides/notesSlide8.xml" ContentType="application/vnd.openxmlformats-officedocument.presentationml.notesSlide+xml"/>
  <Override PartName="/ppt/media/media8.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9.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I READ out/More Evidence/More Evidence.pptx, the lesson the brief calls "Bones Embryos And DNA" (there is no such file in reference/, so I used the built copy), and the three before it, and checked every question against the last three Do Nows (More Evidence, Fossils And The Fossil Record, Natural Selection In Action). Nothing repeats: no "state how sedimentary rock forms", no "name the molecule", no "4 of 200 DNA letters, calculate the percentage the same" (this one runs the other way: from the percentage to the number of letters), no "beak depth went up or down".</a:t>
            </a:r>
          </a:p>
          <a:p>
            <a:pPr/>
          </a:p>
          <a:p>
            <a:pPr/>
            <a:r>
              <a:t>THE MIX FOLLOWS TEMPLATE.md. Q1 and Q2 are last lesson (embryos; DNA as a percentage, run the other way). Q3 and Q4 are earlier in the unit (a "needed to" mistake from Natural Selection; why the Daphne Major chicks had deeper beaks). Q5 is maths, another subject: a fraction as a percentage, which is the exact skill today needs (allele frequency). Q6 previews today and is not taught yet.</a:t>
            </a:r>
          </a:p>
          <a:p>
            <a:pPr/>
          </a:p>
          <a:p>
            <a:pPr/>
            <a:r>
              <a:t>Q1 IS THE ONE YOU SAID THEY FOUND HARD, so it asks for the REASONING, not the fact. The answer has two parts: the features are inherited, and they come from an ancestor that had them. If the answer is only "they are related", ask "related how?". Unrelated animals would have no reason to build the same early features. Do not explain more yet: the lesson comes back to it in I Do 2.</a:t>
            </a:r>
          </a:p>
          <a:p>
            <a:pPr/>
            <a:r>
              <a:t>Q2: the same 96% leaves 100 − 96 = 4% different, and 4% of 200 is 200 × 4 ÷ 100 = 8. Watch for 4 (the percentage, not the number of letters) and for 192 (the number that are the SAME). Q3: variation exists first, by chance; "needed" is the mistake. Q4: the beak depth is inherited. Q5: 3 ÷ 20 = 0.15. Q6 IS A GUESS: accept "the genes of a group". It is the first word of today.</a:t>
            </a:r>
          </a:p>
          <a:p>
            <a:pPr/>
          </a:p>
          <a:p>
            <a:pPr/>
            <a:r>
              <a:t>THEY FOUND HARD: "embryo similarities as evidence of common ancestors". Q1 is deliberate.</a:t>
            </a:r>
          </a:p>
          <a:p>
            <a:pPr/>
          </a:p>
          <a:p>
            <a:pPr/>
            <a:r>
              <a:t>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The unit so far: how natural selection works, how Darwin got there, evidence you can watch (finches, bacteria), then the evidence from the past (fossils) and from living things (bones, embryos, DNA). Today it joins up. You have seen populations change, and you have seen that living things share ancestors. Today is the link: small changes in a population, repeated for a very long time, are what the big changes are. Say "last time the evidence was the DNA, today we look at what DNA is doing inside a population".</a:t>
            </a:r>
          </a:p>
          <a:p>
            <a:pPr/>
          </a:p>
          <a:p>
            <a:pPr/>
            <a:r>
              <a:t>THREE NEW WORDS, one picture each: GENE POOL, ALLELE and the pair MICROEVOLUTION and MACROEVOLUTION. Objective 1 gives them gene pool and allele; objectives 2 and 3 give them the two scales. Tell them the game at the end is a sorting game with two bins, micro and macro.</a:t>
            </a:r>
          </a:p>
          <a:p>
            <a:pPr/>
          </a:p>
          <a:p>
            <a:pPr/>
            <a:r>
              <a:t>THE BANNER IS THE LESSON IN ONE SENTENCE: small changes in a gene pool, repeated over a very long time, add up to big changes. Underline "gene pool" and "very long time" in your head.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YOU NEED A BAG OF 20 BEADS: 15 green and 5 brown (any two colours; the slides use green and brown). Hold up a handful of 5 that you have arranged to be 4 green and 1 brown ("I took a handful out earlier"), then put it back. Show of hands for each option, and WRITE THE TALLY ON THE BOARD. Do not settle it: I Do 1 does, by counting the whole bag.</a:t>
            </a:r>
          </a:p>
          <a:p>
            <a:pPr/>
          </a:p>
          <a:p>
            <a:pPr/>
            <a:r>
              <a:t>ANSWER, FOR YOU: C. A handful of 5 is 80% green, but the whole bag is 15 green and 5 brown, which is 75% green. Nobody could have known that from the handful: it might have been 18, or 12. Expect most votes for A, because "the same share" feels like the fair guess. The point for today: THE ONLY WAY TO KNOW HOW COMMON SOMETHING IS IN A GROUP IS TO COUNT THE WHOLE GROUP. That count is called an allele frequency, and the bag is a gene pool.</a:t>
            </a:r>
          </a:p>
          <a:p>
            <a:pPr/>
          </a:p>
          <a:p>
            <a:pPr/>
            <a:r>
              <a:t>DO NOT EXPLAIN YET. Say "the beads are going to turn out to be something much more important than beads" and move to I Do.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Shape 141"/>
          <p:cNvSpPr/>
          <p:nvPr>
            <p:ph type="sldImg"/>
          </p:nvPr>
        </p:nvSpPr>
        <p:spPr>
          <a:prstGeom prst="rect">
            <a:avLst/>
          </a:prstGeom>
        </p:spPr>
        <p:txBody>
          <a:bodyPr/>
          <a:lstStyle/>
          <a:p>
            <a:pPr/>
          </a:p>
        </p:txBody>
      </p:sp>
      <p:sp>
        <p:nvSpPr>
          <p:cNvPr id="142" name="Shape 142"/>
          <p:cNvSpPr/>
          <p:nvPr>
            <p:ph type="body" sz="quarter" idx="1"/>
          </p:nvPr>
        </p:nvSpPr>
        <p:spPr>
          <a:prstGeom prst="rect">
            <a:avLst/>
          </a:prstGeom>
        </p:spPr>
        <p:txBody>
          <a:bodyPr/>
          <a:lstStyle/>
          <a:p>
            <a:pPr/>
            <a:r>
              <a:t>I DO. 3 minutes. Five clicks: gene, allele (with the eyes), gene pool, then the bag, then the count.</a:t>
            </a:r>
          </a:p>
          <a:p>
            <a:pPr/>
          </a:p>
          <a:p>
            <a:pPr/>
            <a:r>
              <a:t>OBJECTIVE 1 ONLY, per TEMPLATE.md. Three words, in order, each built on the last. GENE: a section of DNA that carries one instruction (they met DNA last lesson as "the molecule that carries the instructions"). ALLELE: a version of a gene. THE PICTURE IS EYE COLOUR, as the brief asks: one gene for eye colour, with a version that gives brown eyes and a version that gives blue eyes. THAT IS A SIMPLIFICATION: real eye colour depends on several genes. Say so in one sentence if a student asks, and say the idea (one gene, different versions) is the same. GENE POOL: ALL the alleles of ALL the individuals in a population. A POPULATION is a group of the same species living in the same place, which can breed together (they used the word for the finches).</a:t>
            </a:r>
          </a:p>
          <a:p>
            <a:pPr/>
          </a:p>
          <a:p>
            <a:pPr/>
            <a:r>
              <a:t>EACH ANIMAL HAS TWO ALLELES FOR EACH GENE (one from each parent). So a pool of 10 beetles has 20 alleles. That is the commonest mistake of the lesson: dividing by the number of animals instead of the number of alleles. The worksheet (Q3, Q8, Q13) and the game both test it.</a:t>
            </a:r>
          </a:p>
          <a:p>
            <a:pPr/>
          </a:p>
          <a:p>
            <a:pPr/>
            <a:r>
              <a:t>THE BAG. Pour the beads out and COUNT THEM, class counting aloud: 15 green, 5 brown, 20 in all. A bead is an allele; the bag is the gene pool of a beetle population (green-shell and brown-shell alleles). Allele frequency is a count turned into a proportion or a percentage: 15 ÷ 20 = 0.75, so 75%, and the other allele is 5 ÷ 20 = 25%; they add to 100%. NEVER HARDY–WEINBERG: it does not appear in this lesson or the next.</a:t>
            </a:r>
          </a:p>
          <a:p>
            <a:pPr/>
          </a:p>
          <a:p>
            <a:pPr/>
            <a:r>
              <a:t>SETTLE THE HOOK NOW, POINTING AT THE TALLY: "most of you voted ...". The answer is C. The handful of 5 said 80% green; the whole bag says 75%. A sample can be misleading, and only counting the whole pool gives the frequency. (Tomorrow is about why a small group can wander away from the true value.)</a:t>
            </a:r>
          </a:p>
          <a:p>
            <a:pPr/>
          </a:p>
          <a:p>
            <a:pPr/>
            <a:r>
              <a:t>THEY FOUND HARD: nothing stated in the brief about the gene pool, but it is the new idea of the lesson: if the room is unsure, redo the count with a different mixture of beads.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p>
            <a:pPr/>
            <a:r>
              <a:t>I DO. 3 minutes. Six clicks: the micro column and the animation (ON CLICK, so say the idea first), then the macro column, the three steps, the example line, then the banner.</a:t>
            </a:r>
          </a:p>
          <a:p>
            <a:pPr/>
          </a:p>
          <a:p>
            <a:pPr/>
            <a:r>
              <a:t>OBJECTIVES 2 AND 3 TOGETHER, ON PURPOSE. TEMPLATE.md gives each I Do one objective, but it also says to use the same layout on both slides "where the two ideas contrast". The lesson IS the contrast (its title; the sorting game), so the two ideas sit side by side in two columns with the same shape: a definition, a picture, an example. Objective 1 had its own slide.</a:t>
            </a:r>
          </a:p>
          <a:p>
            <a:pPr/>
          </a:p>
          <a:p>
            <a:pPr/>
            <a:r>
              <a:t>MICROEVOLUTION (objective 2): a change in allele frequencies within a population. Berkeley's Understanding Evolution describes it as evolution within a population. THE ANIMATION (about 26 seconds) shows the beetle gene pool over three generations and PAUSES at every step: generation 1, the count (15 of 20 green, 75%), an arrow with the reason (birds eat more brown beetles, so fewer brown alleles are passed on), generation 2 (17, 85%), another arrow, generation 3 (19, 95%). The allele frequency of green has changed: that IS microevolution. Nothing in the pool is "trying": the brown beetles are eaten more, so fewer brown alleles reach the next generation. The numbers are small so you can count them; real pools are huge. Real examples they know or will like: the Daphne Major beaks, antibiotic resistance, and the peppered moth (the dark form was rare when first collected in Manchester in 1848 and was 98% of moths there by 1895).</a:t>
            </a:r>
          </a:p>
          <a:p>
            <a:pPr/>
          </a:p>
          <a:p>
            <a:pPr/>
            <a:r>
              <a:t>MACROEVOLUTION (objective 3): large changes over long periods, above the species level, such as the origin of new groups: whales from land mammals, birds from dinosaurs, land animals from fish. The three steps on the slide are ones they already know: Tiktaalik, a fish with limb bones, about 375 million years ago; Archaeopteryx, about 150 million years ago, with feathers and teeth; and an early whale ancestor, about 50 million years ago (Pakicetus, a four-legged land mammal; cetacean ancestors went from land mammals to fully aquatic swimmers in about 8 million years). THE LINE UNDER IT: THE SAME PROCESS, WITH A LOT MORE TIME. Small changes in gene pools, repeated for a very long time, add up to the big changes. Do not say "micro turns into macro" as if it were a different process.</a:t>
            </a:r>
          </a:p>
          <a:p>
            <a:pPr/>
          </a:p>
          <a:p>
            <a:pPr/>
            <a:r>
              <a:t>THE EXAMPLE LINE IS THE EMBRYO IDEA YOU SAID THEY FOUND HARD, SO SAY IT SLOWLY. Fish, chickens and humans all have a tail and pharyngeal arches as early embryos. WHY DOES THAT SUGGEST A COMMON ANCESTOR? Because the instructions to build those features are inherited. If the three kinds of animal were unrelated, there would be no reason for them to build the same early features. The simplest explanation is that they all inherited the instructions from an ancestor that had them (the earliest vertebrates are over 500 million years old). Later development changes the features: the arches become gills in a fish and parts of the jaw and ear in a human. NOTHING TURNS INTO ANOTHER ANIMAL. This is a macroevolution pattern: it shows a shared ancestor far above the species level.</a:t>
            </a:r>
          </a:p>
          <a:p>
            <a:pPr/>
          </a:p>
          <a:p>
            <a:pPr/>
            <a:r>
              <a:t>THE BOUNDARY. Where one species becomes two (speciation) sits between the two ideas, and some textbooks count it as macroevolution. Today uses the lesson's own line: within a population is micro; above the species level is macro. The game avoids the boundary on purpose, so that every answer is unambiguous. TIME AND SIZE ARE TRAPS: a change within one population stays microevolution however long it takes or however dramatic it looks.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r>
              <a:t>WE DO. 5 minutes. Three clicks, one row each. THE MODE IS "FINISH THIS ONE" (TEMPLATE.md): three partly worked cases, and the class supplies the missing steps. The last two lessons in the unit used spot-the-mistake, and the template says to alternate. It practises objectives 1 (the gene pool: allele frequency as a count over the whole pool), 2 and 3 (which scale?).</a:t>
            </a:r>
          </a:p>
          <a:p>
            <a:pPr/>
          </a:p>
          <a:p>
            <a:pPr/>
            <a:r>
              <a:t>THEY COMMIT BEFORE EACH REVEAL. Ask each pair to agree the missing step and say it, then click. ASK WHAT THEY DID, not just the answer: "what did you divide by, and why?" Naming the step is the point.</a:t>
            </a:r>
          </a:p>
          <a:p>
            <a:pPr/>
          </a:p>
          <a:p>
            <a:pPr/>
            <a:r>
              <a:t>ROW 1, ONE MISSING: the name. It is the beetles from the animation (15 green of 20, then 18 of 20): green went from 75% to 90%, so the allele frequency changed within one population: microevolution. It is the same pool as I Do 1, one generation on. ROW 2, TWO MISSING: the working and the name. 10 ÷ 40 = 25%, and 24 ÷ 40 = 60%. The pool is 40 ALLELES, so the divisor is 40, not the number of beetles. The frequency rose 35 percentage points: microevolution. ROW 3, TWO MISSING, AND THE SCALE CHANGE: no numbers. This is above the species level (new groups: whales), over a very long time, so macroevolution. About 50 million years is the age of the earliest whale ancestors (Pakicetus).</a:t>
            </a:r>
          </a:p>
          <a:p>
            <a:pPr/>
          </a:p>
          <a:p>
            <a:pPr/>
            <a:r>
              <a:t>THE MISTAKES TO NAME: (1) dividing by the number of beetles, not alleles (row 2 is a pool of 40 ALLELES); (2) calling row 3 microevolution because "evolution is a small change"; (3) calling a change that takes a long time macroevolution just because it takes a long time: the test is "within one population, or above the species level".</a:t>
            </a:r>
          </a:p>
          <a:p>
            <a:pPr/>
          </a:p>
          <a:p>
            <a:pPr/>
            <a:r>
              <a:t>IF THEY ARE QUICK, ask for a case of their own and a partner says micro or macro. IF SHORT OF TIME, do rows 2 and 3 only.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COLD CALL. 6 minutes. Six clicks. Name a student, then ask: thinking time first, no hands up, no whiteboards. If a student cannot answer, take it elsewhere and come back to them to repeat it.</a:t>
            </a:r>
          </a:p>
          <a:p>
            <a:pPr/>
          </a:p>
          <a:p>
            <a:pPr/>
            <a:r>
              <a:t>TWO OF THE SIX ARE FROM EARLIER LESSONS (TEMPLATE.md): Q5 (embryos, from More Evidence, the topic they found hard) and Q6 (antibiotic resistance, from Natural Selection In Action, asked with today's new word).</a:t>
            </a:r>
          </a:p>
          <a:p>
            <a:pPr/>
          </a:p>
          <a:p>
            <a:pPr/>
            <a:r>
              <a:t>Q1 AND Q2 ARE OBJECTIVE 1: both need the whole definition. Q1 needs "ALL the alleles", "ALL the individuals" and "a population"; "all the genes" is half an answer. Q3 IS THE CALCULATION: 10 ÷ 50 = 0.2, so 20%. Watch for 10 (the count) and for 80% (the other allele). Q4 IS OBJECTIVES 2 AND 3 TOGETHER: ask "within one population, or above the species level?" The answer needs "new groups" or "above the species level" AND "a very long time". Q5: a tail and pharyngeal arches suggest a COMMON ANCESTOR; push for "inherited from an ancestor that had them". Q6: the resistance allele becomes more common in the bacteria population: that IS microevolution; the word "allele" is the new part.</a:t>
            </a:r>
          </a:p>
          <a:p>
            <a:pPr/>
          </a:p>
          <a:p>
            <a:pPr/>
            <a:r>
              <a:t>IF MOST OF THE ROOM IS RIGHT BY Q4, spend longer on Q5. IF SHORT OF TIME, cut Q2.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Shape 313"/>
          <p:cNvSpPr/>
          <p:nvPr>
            <p:ph type="sldImg"/>
          </p:nvPr>
        </p:nvSpPr>
        <p:spPr>
          <a:prstGeom prst="rect">
            <a:avLst/>
          </a:prstGeom>
        </p:spPr>
        <p:txBody>
          <a:bodyPr/>
          <a:lstStyle/>
          <a:p>
            <a:pPr/>
          </a:p>
        </p:txBody>
      </p:sp>
      <p:sp>
        <p:nvSpPr>
          <p:cNvPr id="314" name="Shape 314"/>
          <p:cNvSpPr/>
          <p:nvPr>
            <p:ph type="body" sz="quarter" idx="1"/>
          </p:nvPr>
        </p:nvSpPr>
        <p:spPr>
          <a:prstGeom prst="rect">
            <a:avLst/>
          </a:prstGeom>
        </p:spPr>
        <p:txBody>
          <a:bodyPr/>
          <a:lstStyle/>
          <a:p>
            <a:pPr/>
            <a:r>
              <a:t>YOU DO. 14 minutes, then 3 to mark (the next slide). Five clicks: the three rounds, then the note. THE GAME IS A SORTER, and the worksheet is the fallback, built every time.</a:t>
            </a:r>
          </a:p>
          <a:p>
            <a:pPr/>
          </a:p>
          <a:p>
            <a:pPr/>
            <a:r>
              <a:t>WHAT THEY DO. Open the file "Small Changes, Big Changes game" from Google Classroom. Three rounds of six, each on their own device. Most questions are the two bins: a description appears, and they tap MICROEVOLUTION or MACROEVOLUTION (or press 1 or 2: the bins swap sides from question to question, so read the label). Round 2 adds allele-frequency questions where they count the alleles in a picture of a gene pool and TYPE a percentage. EVERY STUDENT GETS A DIFFERENT GAME: different cases from a bigger pool, different numbers, bins on different sides, so a neighbour's answers are no use. The skills and their order are the same for everyone. Each game has a six-character code, shown on the start and end screens; add #CODE to the file's address to see exactly what a student saw. A wrong answer names the mistake (judging by how big the change looks, or by how long it took) and gives the reason. There are no lives and no penalty for being slow.</a:t>
            </a:r>
          </a:p>
          <a:p>
            <a:pPr/>
          </a:p>
          <a:p>
            <a:pPr/>
            <a:r>
              <a:t>THE DIFFICULTY RAMPS ON PURPOSE, AND THE TOP IS MEANT TO BE HARD. Round 1 is the lesson (obvious cases). Round 2 is the lesson plus one step (counting alleles; trickier cases). Round 3 goes far past the lesson: cases where the obvious cue is WRONG (a dramatic change over a few generations is still micro; a very long change inside one species is still micro; a small-sounding step that made a new group is macro), then a question where each beetle has TWO alleles, and then two questions from small pools of very hard puzzles (a frequency change measured in percentage points, and a pool that shrinks while alleles are lost). Expect most of the room to fail the last two. That is the design. Tell them before they start, so nobody reads a red dot as "I am bad at science". Some of the species in round 3 are invented, and the start screen says so.</a:t>
            </a:r>
          </a:p>
          <a:p>
            <a:pPr/>
          </a:p>
          <a:p>
            <a:pPr/>
            <a:r>
              <a:t>THE GAME AVOIDS THE BOUNDARY CASE (one species becoming two) so that every answer is unambiguous under today's definitions. AT THE END OF EACH ROUND, and again on the last screen, there is a drop-down with how long each question took, whether it was right and, for a wrong one, what the student wrote and how to get to the answer.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fourteen questions in Bronze, Silver and Gold, with the answers printed UPSIDE DOWN on its last page.</a:t>
            </a:r>
          </a:p>
          <a:p>
            <a:pPr/>
          </a:p>
          <a:p>
            <a:pPr/>
            <a:r>
              <a:t>CIRCULATE WITH ONE QUESTION: "within one population, or above the species level?"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328"/>
          <p:cNvSpPr/>
          <p:nvPr>
            <p:ph type="sldImg"/>
          </p:nvPr>
        </p:nvSpPr>
        <p:spPr>
          <a:prstGeom prst="rect">
            <a:avLst/>
          </a:prstGeom>
        </p:spPr>
        <p:txBody>
          <a:bodyPr/>
          <a:lstStyle/>
          <a:p>
            <a:pPr/>
          </a:p>
        </p:txBody>
      </p:sp>
      <p:sp>
        <p:nvSpPr>
          <p:cNvPr id="329" name="Shape 329"/>
          <p:cNvSpPr/>
          <p:nvPr>
            <p:ph type="body" sz="quarter" idx="1"/>
          </p:nvPr>
        </p:nvSpPr>
        <p:spPr>
          <a:prstGeom prst="rect">
            <a:avLst/>
          </a:prstGeom>
        </p:spPr>
        <p:txBody>
          <a:bodyPr/>
          <a:lstStyle/>
          <a:p>
            <a:pPr/>
            <a:r>
              <a:t>MARK. 3 minutes. Two clicks: the game line, then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ON THE WORKSHEET the answers are printed UPSIDE DOWN at the foot of the last page. The calculations have exact answers (Q1, Q3, Q4, Q9, Q13, Q14); the others say what a good answer contains. ON THE GAME, the drop-down for each round already shows how to get to each right answer; students read the ones they got wrong, then check their understanding against the four lines on the slide.</a:t>
            </a:r>
          </a:p>
          <a:p>
            <a:pPr/>
          </a:p>
          <a:p>
            <a:pPr/>
            <a:r>
              <a:t>WALK ROUND for the two commonest mistakes: dividing by the number of beetles instead of alleles (Q13), and sorting by how big or how slow a change is instead of by scale (Q7).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Shape 357"/>
          <p:cNvSpPr/>
          <p:nvPr>
            <p:ph type="sldImg"/>
          </p:nvPr>
        </p:nvSpPr>
        <p:spPr>
          <a:prstGeom prst="rect">
            <a:avLst/>
          </a:prstGeom>
        </p:spPr>
        <p:txBody>
          <a:bodyPr/>
          <a:lstStyle/>
          <a:p>
            <a:pPr/>
          </a:p>
        </p:txBody>
      </p:sp>
      <p:sp>
        <p:nvSpPr>
          <p:cNvPr id="358" name="Shape 358"/>
          <p:cNvSpPr/>
          <p:nvPr>
            <p:ph type="body" sz="quarter" idx="1"/>
          </p:nvPr>
        </p:nvSpPr>
        <p:spPr>
          <a:prstGeom prst="rect">
            <a:avLst/>
          </a:prstGeom>
        </p:spPr>
        <p:txBody>
          <a:bodyPr/>
          <a:lstStyle/>
          <a:p>
            <a:pPr/>
            <a:r>
              <a:t>PLENARY. 3 minutes. Eleven clicks: each statement, then its answer, then the closing line.</a:t>
            </a:r>
          </a:p>
          <a:p>
            <a:pPr/>
          </a:p>
          <a:p>
            <a:pPr/>
            <a:r>
              <a:t>EVERY FALSE IS A MISCONCEPTION FROM TODAY. Q1: a gene pool is ALL the alleles of ALL the individuals in a POPULATION, not the genes of one animal (objective 1; the thing this lesson is built on). Q2: microevolution is a change in allele frequencies in a population over generations; one animal does not evolve in its life (the first lesson's idea, now with the new word). Q4: macroevolution is large changes over a very long time, above the species level; no animal suddenly turns into another (the same mistake as "a human embryo turns into a fish").</a:t>
            </a:r>
          </a:p>
          <a:p>
            <a:pPr/>
            <a:r>
              <a:t>Q3 IS THE APPLIED ITEM (TEMPLATE.md asks for at least one): it is a calculation, not a definition. 10 ÷ 40 = 25%, and 20 ÷ 40 = 50%, so the allele frequency changed within one population: TRUE. Ask them to say the two percentages.</a:t>
            </a:r>
          </a:p>
          <a:p>
            <a:pPr/>
            <a:r>
              <a:t>Q5 IS THE EMBRYO IDEA THEY FOUND HARD, ONE LAST TIME, and it is TRUE: the shared early features are inherited from an ancestor that had them.</a:t>
            </a:r>
          </a:p>
          <a:p>
            <a:pPr/>
          </a:p>
          <a:p>
            <a:pPr/>
            <a:r>
              <a:t>THE CLOSING LINE SAYS WHAT THE NEXT LESSON DOES. You told me the next lesson is Shuffling The Gene Pool: natural selection is not the only thing that changes a gene pool; there are four forces, and one of them is random. If the room splits on Q1, that is the first five minutes of next lesson, not a footnote.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 Id="rId6" Type="http://schemas.openxmlformats.org/officeDocument/2006/relationships/image" Target="../media/image9.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F3D2B"/>
                </a:solidFill>
                <a:latin typeface="Georgia"/>
                <a:ea typeface="Georgia"/>
                <a:cs typeface="Georgia"/>
                <a:sym typeface="Georgia"/>
              </a:defRPr>
            </a:lvl1pPr>
          </a:lstStyle>
          <a:p>
            <a:pPr/>
            <a:r>
              <a:t>Small Changes, Big Changes</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2685A"/>
                </a:solidFill>
                <a:latin typeface="Arial"/>
                <a:ea typeface="Arial"/>
                <a:cs typeface="Arial"/>
                <a:sym typeface="Arial"/>
              </a:defRPr>
            </a:lvl1pPr>
          </a:lstStyle>
          <a:p>
            <a:pPr/>
            <a:r>
              <a:t>Tuesday 6 October 2026</a:t>
            </a:r>
          </a:p>
        </p:txBody>
      </p:sp>
      <p:sp>
        <p:nvSpPr>
          <p:cNvPr id="26" name="rule"/>
          <p:cNvSpPr/>
          <p:nvPr/>
        </p:nvSpPr>
        <p:spPr>
          <a:xfrm>
            <a:off x="1170432" y="896111"/>
            <a:ext cx="10472623" cy="36577"/>
          </a:xfrm>
          <a:prstGeom prst="rect">
            <a:avLst/>
          </a:prstGeom>
          <a:solidFill>
            <a:srgbClr val="DE9A4C"/>
          </a:solidFill>
          <a:ln w="12700">
            <a:solidFill>
              <a:srgbClr val="DE9A4C"/>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28" name="d0_badge"/>
          <p:cNvSpPr/>
          <p:nvPr/>
        </p:nvSpPr>
        <p:spPr>
          <a:xfrm>
            <a:off x="1371600" y="1426463"/>
            <a:ext cx="384048" cy="384049"/>
          </a:xfrm>
          <a:prstGeom prst="ellipse">
            <a:avLst/>
          </a:prstGeom>
          <a:solidFill>
            <a:srgbClr val="DE9A4C"/>
          </a:solidFill>
          <a:ln w="12700">
            <a:solidFill>
              <a:srgbClr val="DE9A4C"/>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30" name="d0_q"/>
          <p:cNvSpPr txBox="1"/>
          <p:nvPr/>
        </p:nvSpPr>
        <p:spPr>
          <a:xfrm>
            <a:off x="1901951"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Fish, chicken and human embryos all have a tail and pharyngeal arches early on. Explain what this suggests.</a:t>
            </a:r>
          </a:p>
        </p:txBody>
      </p:sp>
      <p:grpSp>
        <p:nvGrpSpPr>
          <p:cNvPr id="33" name="d0_a"/>
          <p:cNvGrpSpPr/>
          <p:nvPr/>
        </p:nvGrpSpPr>
        <p:grpSpPr>
          <a:xfrm>
            <a:off x="1371600" y="2007060"/>
            <a:ext cx="4696817" cy="503016"/>
            <a:chOff x="0" y="0"/>
            <a:chExt cx="4696816" cy="503014"/>
          </a:xfrm>
        </p:grpSpPr>
        <p:sp>
          <p:nvSpPr>
            <p:cNvPr id="31"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32" name="They inherited the features from a common ancestor that had them."/>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They inherited the features from a common ancestor that had them.</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35" name="d1_badge"/>
          <p:cNvSpPr/>
          <p:nvPr/>
        </p:nvSpPr>
        <p:spPr>
          <a:xfrm>
            <a:off x="6745072" y="1426463"/>
            <a:ext cx="384049" cy="384049"/>
          </a:xfrm>
          <a:prstGeom prst="ellipse">
            <a:avLst/>
          </a:prstGeom>
          <a:solidFill>
            <a:srgbClr val="DE9A4C"/>
          </a:solidFill>
          <a:ln w="12700">
            <a:solidFill>
              <a:srgbClr val="DE9A4C"/>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37" name="d1_q"/>
          <p:cNvSpPr txBox="1"/>
          <p:nvPr/>
        </p:nvSpPr>
        <p:spPr>
          <a:xfrm>
            <a:off x="7275424"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Two species are 96% the same in 200 DNA letters. Calculate how many letters are different.</a:t>
            </a:r>
          </a:p>
        </p:txBody>
      </p:sp>
      <p:grpSp>
        <p:nvGrpSpPr>
          <p:cNvPr id="40" name="d1_a"/>
          <p:cNvGrpSpPr/>
          <p:nvPr/>
        </p:nvGrpSpPr>
        <p:grpSpPr>
          <a:xfrm>
            <a:off x="6745072" y="2029967"/>
            <a:ext cx="4696817" cy="457201"/>
            <a:chOff x="0" y="0"/>
            <a:chExt cx="4696816" cy="457200"/>
          </a:xfrm>
        </p:grpSpPr>
        <p:sp>
          <p:nvSpPr>
            <p:cNvPr id="38"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39" name="4% of 200 = 200 × 4 ÷ 100 = 8"/>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4% of 200 = 200 × 4 ÷ 100 = 8</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2" name="d2_badge"/>
          <p:cNvSpPr/>
          <p:nvPr/>
        </p:nvSpPr>
        <p:spPr>
          <a:xfrm>
            <a:off x="1371600" y="3090672"/>
            <a:ext cx="384048" cy="384049"/>
          </a:xfrm>
          <a:prstGeom prst="ellipse">
            <a:avLst/>
          </a:prstGeom>
          <a:solidFill>
            <a:srgbClr val="DE9A4C"/>
          </a:solidFill>
          <a:ln w="12700">
            <a:solidFill>
              <a:srgbClr val="DE9A4C"/>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 student says: “The beetles turned green because they needed to hide.” Find the mistake.</a:t>
            </a:r>
          </a:p>
        </p:txBody>
      </p:sp>
      <p:grpSp>
        <p:nvGrpSpPr>
          <p:cNvPr id="47" name="d2_a"/>
          <p:cNvGrpSpPr/>
          <p:nvPr/>
        </p:nvGrpSpPr>
        <p:grpSpPr>
          <a:xfrm>
            <a:off x="1371600" y="3671268"/>
            <a:ext cx="4696817" cy="503016"/>
            <a:chOff x="0" y="0"/>
            <a:chExt cx="4696816" cy="503014"/>
          </a:xfrm>
        </p:grpSpPr>
        <p:sp>
          <p:nvSpPr>
            <p:cNvPr id="45"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46" name="Green already existed, by chance, due to random variations. Green beetles survived more and passed it o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Green already existed, by chance, due to random variations. Green beetles survived more and passed it on.</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49" name="d3_badge"/>
          <p:cNvSpPr/>
          <p:nvPr/>
        </p:nvSpPr>
        <p:spPr>
          <a:xfrm>
            <a:off x="6745072" y="3090672"/>
            <a:ext cx="384049" cy="384049"/>
          </a:xfrm>
          <a:prstGeom prst="ellipse">
            <a:avLst/>
          </a:prstGeom>
          <a:solidFill>
            <a:srgbClr val="DE9A4C"/>
          </a:solidFill>
          <a:ln w="12700">
            <a:solidFill>
              <a:srgbClr val="DE9A4C"/>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51" name="d3_q"/>
          <p:cNvSpPr txBox="1"/>
          <p:nvPr/>
        </p:nvSpPr>
        <p:spPr>
          <a:xfrm>
            <a:off x="7275424"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After the 1977 drought the survivors’ chicks had deeper beaks too. Explain why.</a:t>
            </a:r>
          </a:p>
        </p:txBody>
      </p:sp>
      <p:grpSp>
        <p:nvGrpSpPr>
          <p:cNvPr id="54" name="d3_a"/>
          <p:cNvGrpSpPr/>
          <p:nvPr/>
        </p:nvGrpSpPr>
        <p:grpSpPr>
          <a:xfrm>
            <a:off x="6745072" y="3694176"/>
            <a:ext cx="4696817" cy="457201"/>
            <a:chOff x="0" y="0"/>
            <a:chExt cx="4696816" cy="457200"/>
          </a:xfrm>
        </p:grpSpPr>
        <p:sp>
          <p:nvSpPr>
            <p:cNvPr id="52"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53" name="Beak depth is inherited, so the survivors passed it on."/>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Beak depth is inherited, so the survivors passed it on.</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56" name="d4_badge"/>
          <p:cNvSpPr/>
          <p:nvPr/>
        </p:nvSpPr>
        <p:spPr>
          <a:xfrm>
            <a:off x="1371600" y="4754879"/>
            <a:ext cx="384048" cy="384049"/>
          </a:xfrm>
          <a:prstGeom prst="ellipse">
            <a:avLst/>
          </a:prstGeom>
          <a:solidFill>
            <a:srgbClr val="DE9A4C"/>
          </a:solidFill>
          <a:ln w="12700">
            <a:solidFill>
              <a:srgbClr val="DE9A4C"/>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58" name="d4_q"/>
          <p:cNvSpPr txBox="1"/>
          <p:nvPr/>
        </p:nvSpPr>
        <p:spPr>
          <a:xfrm>
            <a:off x="1901951"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Write 3 out of 20 as a percentage.</a:t>
            </a:r>
          </a:p>
        </p:txBody>
      </p:sp>
      <p:grpSp>
        <p:nvGrpSpPr>
          <p:cNvPr id="61" name="d4_a"/>
          <p:cNvGrpSpPr/>
          <p:nvPr/>
        </p:nvGrpSpPr>
        <p:grpSpPr>
          <a:xfrm>
            <a:off x="1371600" y="5358384"/>
            <a:ext cx="4696817" cy="457201"/>
            <a:chOff x="0" y="0"/>
            <a:chExt cx="4696816" cy="457200"/>
          </a:xfrm>
        </p:grpSpPr>
        <p:sp>
          <p:nvSpPr>
            <p:cNvPr id="59"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60" name="3 ÷ 20 = 0.15 = 15%"/>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3 ÷ 20 = 0.15 = 15%</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9C9A8"/>
            </a:solidFill>
          </a:ln>
        </p:spPr>
        <p:txBody>
          <a:bodyPr lIns="45719" rIns="45719"/>
          <a:lstStyle/>
          <a:p>
            <a:pPr/>
          </a:p>
        </p:txBody>
      </p:sp>
      <p:sp>
        <p:nvSpPr>
          <p:cNvPr id="63" name="d5_badge"/>
          <p:cNvSpPr/>
          <p:nvPr/>
        </p:nvSpPr>
        <p:spPr>
          <a:xfrm>
            <a:off x="6745072" y="4754879"/>
            <a:ext cx="384049" cy="384049"/>
          </a:xfrm>
          <a:prstGeom prst="ellipse">
            <a:avLst/>
          </a:prstGeom>
          <a:solidFill>
            <a:srgbClr val="DE9A4C"/>
          </a:solidFill>
          <a:ln w="12700">
            <a:solidFill>
              <a:srgbClr val="DE9A4C"/>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65" name="d5_q"/>
          <p:cNvSpPr txBox="1"/>
          <p:nvPr/>
        </p:nvSpPr>
        <p:spPr>
          <a:xfrm>
            <a:off x="7275424"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Say what you think a “gene pool” might be.</a:t>
            </a:r>
          </a:p>
        </p:txBody>
      </p:sp>
      <p:grpSp>
        <p:nvGrpSpPr>
          <p:cNvPr id="68" name="d5_a"/>
          <p:cNvGrpSpPr/>
          <p:nvPr/>
        </p:nvGrpSpPr>
        <p:grpSpPr>
          <a:xfrm>
            <a:off x="6745072" y="5358384"/>
            <a:ext cx="4696817" cy="457201"/>
            <a:chOff x="0" y="0"/>
            <a:chExt cx="4696816" cy="457200"/>
          </a:xfrm>
        </p:grpSpPr>
        <p:sp>
          <p:nvSpPr>
            <p:cNvPr id="66"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67" name="All the versions of genes in a population (defined today)."/>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i="1" sz="1200">
                  <a:solidFill>
                    <a:srgbClr val="1F3D2B"/>
                  </a:solidFill>
                  <a:latin typeface="Arial"/>
                  <a:ea typeface="Arial"/>
                  <a:cs typeface="Arial"/>
                  <a:sym typeface="Arial"/>
                </a:defRPr>
              </a:lvl1pPr>
            </a:lstStyle>
            <a:p>
              <a:pPr/>
              <a:r>
                <a:t>All the versions of genes in a population (defined today).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7" grpId="4"/>
      <p:bldP build="whole" bldLvl="1" animBg="1" rev="0" advAuto="0" spid="61" grpId="6"/>
      <p:bldP build="whole" bldLvl="1" animBg="1" rev="0" advAuto="0" spid="68" grpId="7"/>
      <p:bldP build="whole" bldLvl="1" animBg="1" rev="0" advAuto="0" spid="33" grpId="2"/>
      <p:bldP build="whole" bldLvl="1" animBg="1" rev="0" advAuto="0" spid="40" grpId="3"/>
      <p:bldP build="whole" bldLvl="1" animBg="1" rev="0" advAuto="0" spid="54" grpId="5"/>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80" name="o0_t"/>
            <p:cNvSpPr txBox="1"/>
            <p:nvPr/>
          </p:nvSpPr>
          <p:spPr>
            <a:xfrm>
              <a:off x="237744" y="713231"/>
              <a:ext cx="2832506" cy="243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Define a gene pool.</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85" name="o1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microevolution as a change in allele frequencies within a population.</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90" name="o2_t"/>
            <p:cNvSpPr txBox="1"/>
            <p:nvPr/>
          </p:nvSpPr>
          <p:spPr>
            <a:xfrm>
              <a:off x="237744" y="713231"/>
              <a:ext cx="2832506" cy="1005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macroevolution as large changes over long periods, above the species level.</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Small changes in a gene pool, repeated over a very long time, add up to big changes."/>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DE9A4C"/>
                  </a:solidFill>
                  <a:latin typeface="Arial"/>
                  <a:ea typeface="Arial"/>
                  <a:cs typeface="Arial"/>
                  <a:sym typeface="Arial"/>
                </a:defRPr>
              </a:pPr>
              <a:r>
                <a:t>Small changes in a </a:t>
              </a:r>
              <a:r>
                <a:rPr u="sng"/>
                <a:t>gene pool</a:t>
              </a:r>
              <a:r>
                <a:t>, repeated over a </a:t>
              </a:r>
              <a:r>
                <a:rPr u="sng"/>
                <a:t>very long time</a:t>
              </a:r>
              <a:r>
                <a:t>, add up to big changes.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4" grpId="5"/>
      <p:bldP build="whole" bldLvl="1" animBg="1" rev="0" advAuto="0" spid="81" grpId="2"/>
      <p:bldP build="whole" bldLvl="1" animBg="1" rev="0" advAuto="0" spid="86" grpId="3"/>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1" y="890620"/>
            <a:ext cx="7089345" cy="9802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000">
                <a:solidFill>
                  <a:srgbClr val="1F3D2B"/>
                </a:solidFill>
                <a:latin typeface="Georgia"/>
                <a:ea typeface="Georgia"/>
                <a:cs typeface="Georgia"/>
                <a:sym typeface="Georgia"/>
              </a:defRPr>
            </a:lvl1pPr>
          </a:lstStyle>
          <a:p>
            <a:pPr/>
            <a:r>
              <a:t>A bag holds 20 beads, green and brown. I looked at a handful of 5 and put them back: 4 green and 1 brown. What is in the whole bag?</a:t>
            </a:r>
          </a:p>
        </p:txBody>
      </p:sp>
      <p:pic>
        <p:nvPicPr>
          <p:cNvPr id="103" name="hook_handful" descr="hook_handful"/>
          <p:cNvPicPr>
            <a:picLocks noChangeAspect="1"/>
          </p:cNvPicPr>
          <p:nvPr/>
        </p:nvPicPr>
        <p:blipFill>
          <a:blip r:embed="rId6">
            <a:extLst/>
          </a:blip>
          <a:stretch>
            <a:fillRect/>
          </a:stretch>
        </p:blipFill>
        <p:spPr>
          <a:xfrm>
            <a:off x="8396934" y="841247"/>
            <a:ext cx="3246121" cy="749809"/>
          </a:xfrm>
          <a:prstGeom prst="rect">
            <a:avLst/>
          </a:prstGeom>
          <a:ln w="12700">
            <a:miter lim="400000"/>
          </a:ln>
        </p:spPr>
      </p:pic>
      <p:grpSp>
        <p:nvGrpSpPr>
          <p:cNvPr id="107" name="h0"/>
          <p:cNvGrpSpPr/>
          <p:nvPr/>
        </p:nvGrpSpPr>
        <p:grpSpPr>
          <a:xfrm>
            <a:off x="1170432" y="2487167"/>
            <a:ext cx="3307994" cy="2103122"/>
            <a:chOff x="0" y="0"/>
            <a:chExt cx="3307993" cy="2103120"/>
          </a:xfrm>
        </p:grpSpPr>
        <p:sp>
          <p:nvSpPr>
            <p:cNvPr id="104" name="h0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A</a:t>
              </a:r>
            </a:p>
          </p:txBody>
        </p:sp>
        <p:sp>
          <p:nvSpPr>
            <p:cNvPr id="106" name="h0_t"/>
            <p:cNvSpPr txBox="1"/>
            <p:nvPr/>
          </p:nvSpPr>
          <p:spPr>
            <a:xfrm>
              <a:off x="256032" y="676656"/>
              <a:ext cx="2795930" cy="829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16 green and 4 brown. The same share as my handful.</a:t>
              </a:r>
            </a:p>
          </p:txBody>
        </p:sp>
      </p:grpSp>
      <p:grpSp>
        <p:nvGrpSpPr>
          <p:cNvPr id="111" name="h1"/>
          <p:cNvGrpSpPr/>
          <p:nvPr/>
        </p:nvGrpSpPr>
        <p:grpSpPr>
          <a:xfrm>
            <a:off x="4752745" y="2487167"/>
            <a:ext cx="3307995" cy="2103122"/>
            <a:chOff x="0" y="0"/>
            <a:chExt cx="3307993" cy="2103120"/>
          </a:xfrm>
        </p:grpSpPr>
        <p:sp>
          <p:nvSpPr>
            <p:cNvPr id="108" name="h1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B</a:t>
              </a:r>
            </a:p>
          </p:txBody>
        </p:sp>
        <p:sp>
          <p:nvSpPr>
            <p:cNvPr id="110" name="h1_t"/>
            <p:cNvSpPr txBox="1"/>
            <p:nvPr/>
          </p:nvSpPr>
          <p:spPr>
            <a:xfrm>
              <a:off x="256032" y="676656"/>
              <a:ext cx="2795930" cy="5502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More green than my handful. About 18 green.</a:t>
              </a:r>
            </a:p>
          </p:txBody>
        </p:sp>
      </p:grpSp>
      <p:grpSp>
        <p:nvGrpSpPr>
          <p:cNvPr id="115" name="h2"/>
          <p:cNvGrpSpPr/>
          <p:nvPr/>
        </p:nvGrpSpPr>
        <p:grpSpPr>
          <a:xfrm>
            <a:off x="8335061" y="2487167"/>
            <a:ext cx="3307994" cy="2103122"/>
            <a:chOff x="0" y="0"/>
            <a:chExt cx="3307993" cy="2103120"/>
          </a:xfrm>
        </p:grpSpPr>
        <p:sp>
          <p:nvSpPr>
            <p:cNvPr id="112" name="h2_bg"/>
            <p:cNvSpPr/>
            <p:nvPr/>
          </p:nvSpPr>
          <p:spPr>
            <a:xfrm>
              <a:off x="0" y="0"/>
              <a:ext cx="3307994" cy="2103121"/>
            </a:xfrm>
            <a:prstGeom prst="roundRect">
              <a:avLst>
                <a:gd name="adj" fmla="val 4348"/>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C</a:t>
              </a:r>
            </a:p>
          </p:txBody>
        </p:sp>
        <p:sp>
          <p:nvSpPr>
            <p:cNvPr id="114" name="h2_t"/>
            <p:cNvSpPr txBox="1"/>
            <p:nvPr/>
          </p:nvSpPr>
          <p:spPr>
            <a:xfrm>
              <a:off x="256032" y="676656"/>
              <a:ext cx="2795930" cy="8296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200"/>
                </a:lnSpc>
                <a:defRPr b="1" sz="1700">
                  <a:solidFill>
                    <a:srgbClr val="1F3D2B"/>
                  </a:solidFill>
                  <a:latin typeface="Georgia"/>
                  <a:ea typeface="Georgia"/>
                  <a:cs typeface="Georgia"/>
                  <a:sym typeface="Georgia"/>
                </a:defRPr>
              </a:lvl1pPr>
            </a:lstStyle>
            <a:p>
              <a:pPr/>
              <a:r>
                <a:t>I cannot tell from a handful. Only counting every bead tells me.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7" grpId="2"/>
      <p:bldP build="whole" bldLvl="1" animBg="1" rev="0" advAuto="0" spid="111" grpId="3"/>
      <p:bldP build="whole" bldLvl="1" animBg="1" rev="0" advAuto="0" spid="11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The gene pool</a:t>
            </a:r>
          </a:p>
        </p:txBody>
      </p:sp>
      <p:grpSp>
        <p:nvGrpSpPr>
          <p:cNvPr id="126" name="gng"/>
          <p:cNvGrpSpPr/>
          <p:nvPr/>
        </p:nvGrpSpPr>
        <p:grpSpPr>
          <a:xfrm>
            <a:off x="1170432" y="1792223"/>
            <a:ext cx="5989321" cy="896113"/>
            <a:chOff x="0" y="0"/>
            <a:chExt cx="5989320" cy="896111"/>
          </a:xfrm>
        </p:grpSpPr>
        <p:sp>
          <p:nvSpPr>
            <p:cNvPr id="124" name="gn_bg"/>
            <p:cNvSpPr/>
            <p:nvPr/>
          </p:nvSpPr>
          <p:spPr>
            <a:xfrm>
              <a:off x="0" y="0"/>
              <a:ext cx="5989321" cy="896112"/>
            </a:xfrm>
            <a:prstGeom prst="roundRect">
              <a:avLst>
                <a:gd name="adj" fmla="val 10204"/>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25" name="gn_t"/>
            <p:cNvSpPr txBox="1"/>
            <p:nvPr/>
          </p:nvSpPr>
          <p:spPr>
            <a:xfrm>
              <a:off x="219455" y="199271"/>
              <a:ext cx="5550410" cy="4975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000"/>
                </a:lnSpc>
                <a:defRPr b="1" spc="100" sz="1500">
                  <a:solidFill>
                    <a:srgbClr val="A8651F"/>
                  </a:solidFill>
                  <a:latin typeface="Arial"/>
                  <a:ea typeface="Arial"/>
                  <a:cs typeface="Arial"/>
                  <a:sym typeface="Arial"/>
                </a:defRPr>
              </a:pPr>
              <a:r>
                <a:t>GENE   </a:t>
              </a:r>
              <a:r>
                <a:rPr b="0" spc="0">
                  <a:solidFill>
                    <a:srgbClr val="182B1E"/>
                  </a:solidFill>
                </a:rPr>
                <a:t>A section of DNA with one instruction, such as the instruction for eye colour.</a:t>
              </a:r>
            </a:p>
          </p:txBody>
        </p:sp>
      </p:grpSp>
      <p:grpSp>
        <p:nvGrpSpPr>
          <p:cNvPr id="132" name="alg"/>
          <p:cNvGrpSpPr/>
          <p:nvPr/>
        </p:nvGrpSpPr>
        <p:grpSpPr>
          <a:xfrm>
            <a:off x="1170432" y="2816351"/>
            <a:ext cx="5989321" cy="1792225"/>
            <a:chOff x="0" y="0"/>
            <a:chExt cx="5989320" cy="1792223"/>
          </a:xfrm>
        </p:grpSpPr>
        <p:sp>
          <p:nvSpPr>
            <p:cNvPr id="127" name="al_bg"/>
            <p:cNvSpPr/>
            <p:nvPr/>
          </p:nvSpPr>
          <p:spPr>
            <a:xfrm>
              <a:off x="0" y="0"/>
              <a:ext cx="5989321" cy="1792224"/>
            </a:xfrm>
            <a:prstGeom prst="roundRect">
              <a:avLst>
                <a:gd name="adj" fmla="val 5102"/>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128" name="al_t"/>
            <p:cNvSpPr txBox="1"/>
            <p:nvPr/>
          </p:nvSpPr>
          <p:spPr>
            <a:xfrm>
              <a:off x="219455" y="160342"/>
              <a:ext cx="5550410"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pc="100" sz="1500">
                  <a:solidFill>
                    <a:srgbClr val="A8651F"/>
                  </a:solidFill>
                  <a:latin typeface="Arial"/>
                  <a:ea typeface="Arial"/>
                  <a:cs typeface="Arial"/>
                  <a:sym typeface="Arial"/>
                </a:defRPr>
              </a:pPr>
              <a:r>
                <a:t>ALLELE   </a:t>
              </a:r>
              <a:r>
                <a:rPr b="0" spc="0">
                  <a:solidFill>
                    <a:srgbClr val="182B1E"/>
                  </a:solidFill>
                </a:rPr>
                <a:t>A version of a gene.</a:t>
              </a:r>
            </a:p>
          </p:txBody>
        </p:sp>
        <p:pic>
          <p:nvPicPr>
            <p:cNvPr id="129" name="al_eyes" descr="al_eyes"/>
            <p:cNvPicPr>
              <a:picLocks noChangeAspect="1"/>
            </p:cNvPicPr>
            <p:nvPr/>
          </p:nvPicPr>
          <p:blipFill>
            <a:blip r:embed="rId6">
              <a:extLst/>
            </a:blip>
            <a:stretch>
              <a:fillRect/>
            </a:stretch>
          </p:blipFill>
          <p:spPr>
            <a:xfrm>
              <a:off x="365759" y="512063"/>
              <a:ext cx="2468882" cy="749809"/>
            </a:xfrm>
            <a:prstGeom prst="rect">
              <a:avLst/>
            </a:prstGeom>
            <a:ln w="12700" cap="flat">
              <a:noFill/>
              <a:miter lim="400000"/>
            </a:ln>
            <a:effectLst/>
          </p:spPr>
        </p:pic>
        <p:sp>
          <p:nvSpPr>
            <p:cNvPr id="130" name="al_cap"/>
            <p:cNvSpPr txBox="1"/>
            <p:nvPr/>
          </p:nvSpPr>
          <p:spPr>
            <a:xfrm>
              <a:off x="2971800" y="558070"/>
              <a:ext cx="2834641"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52685A"/>
                  </a:solidFill>
                  <a:latin typeface="Arial"/>
                  <a:ea typeface="Arial"/>
                  <a:cs typeface="Arial"/>
                  <a:sym typeface="Arial"/>
                </a:defRPr>
              </a:lvl1pPr>
            </a:lstStyle>
            <a:p>
              <a:pPr/>
              <a:r>
                <a:t>One gene for eye colour. One allele gives brown eyes, another gives blue eyes.</a:t>
              </a:r>
            </a:p>
          </p:txBody>
        </p:sp>
        <p:sp>
          <p:nvSpPr>
            <p:cNvPr id="131" name="al_two"/>
            <p:cNvSpPr txBox="1"/>
            <p:nvPr/>
          </p:nvSpPr>
          <p:spPr>
            <a:xfrm>
              <a:off x="219455" y="1397922"/>
              <a:ext cx="5550410" cy="185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300">
                  <a:solidFill>
                    <a:srgbClr val="182B1E"/>
                  </a:solidFill>
                  <a:latin typeface="Arial"/>
                  <a:ea typeface="Arial"/>
                  <a:cs typeface="Arial"/>
                  <a:sym typeface="Arial"/>
                </a:defRPr>
              </a:lvl1pPr>
            </a:lstStyle>
            <a:p>
              <a:pPr/>
              <a:r>
                <a:t>Each animal has two alleles for each gene.</a:t>
              </a:r>
            </a:p>
          </p:txBody>
        </p:sp>
      </p:grpSp>
      <p:grpSp>
        <p:nvGrpSpPr>
          <p:cNvPr id="135" name="gpg"/>
          <p:cNvGrpSpPr/>
          <p:nvPr/>
        </p:nvGrpSpPr>
        <p:grpSpPr>
          <a:xfrm>
            <a:off x="1170432" y="4736591"/>
            <a:ext cx="5989321" cy="1005841"/>
            <a:chOff x="0" y="0"/>
            <a:chExt cx="5989320" cy="1005839"/>
          </a:xfrm>
        </p:grpSpPr>
        <p:sp>
          <p:nvSpPr>
            <p:cNvPr id="133" name="gp_bg"/>
            <p:cNvSpPr/>
            <p:nvPr/>
          </p:nvSpPr>
          <p:spPr>
            <a:xfrm>
              <a:off x="0" y="0"/>
              <a:ext cx="5989321" cy="1005840"/>
            </a:xfrm>
            <a:prstGeom prst="roundRect">
              <a:avLst>
                <a:gd name="adj" fmla="val 9091"/>
              </a:avLst>
            </a:prstGeom>
            <a:solidFill>
              <a:srgbClr val="F6E7C8"/>
            </a:solidFill>
            <a:ln w="19050" cap="flat">
              <a:solidFill>
                <a:srgbClr val="A8651F"/>
              </a:solidFill>
              <a:prstDash val="solid"/>
              <a:round/>
            </a:ln>
            <a:effectLst/>
          </p:spPr>
          <p:txBody>
            <a:bodyPr wrap="square" lIns="45719" tIns="45719" rIns="45719" bIns="45719" numCol="1" anchor="t">
              <a:noAutofit/>
            </a:bodyPr>
            <a:lstStyle/>
            <a:p>
              <a:pPr/>
            </a:p>
          </p:txBody>
        </p:sp>
        <p:sp>
          <p:nvSpPr>
            <p:cNvPr id="134" name="gp_t"/>
            <p:cNvSpPr txBox="1"/>
            <p:nvPr/>
          </p:nvSpPr>
          <p:spPr>
            <a:xfrm>
              <a:off x="219455" y="254134"/>
              <a:ext cx="5550410"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000"/>
                </a:lnSpc>
                <a:defRPr b="1" spc="100" sz="1500">
                  <a:solidFill>
                    <a:srgbClr val="A8651F"/>
                  </a:solidFill>
                  <a:latin typeface="Arial"/>
                  <a:ea typeface="Arial"/>
                  <a:cs typeface="Arial"/>
                  <a:sym typeface="Arial"/>
                </a:defRPr>
              </a:pPr>
              <a:r>
                <a:t>GENE POOL   </a:t>
              </a:r>
              <a:r>
                <a:rPr b="0" spc="0">
                  <a:solidFill>
                    <a:srgbClr val="182B1E"/>
                  </a:solidFill>
                </a:rPr>
                <a:t>All the alleles of all the individuals in a population.</a:t>
              </a:r>
            </a:p>
          </p:txBody>
        </p:sp>
      </p:grpSp>
      <p:grpSp>
        <p:nvGrpSpPr>
          <p:cNvPr id="139" name="bgg"/>
          <p:cNvGrpSpPr/>
          <p:nvPr/>
        </p:nvGrpSpPr>
        <p:grpSpPr>
          <a:xfrm>
            <a:off x="7434071" y="1792223"/>
            <a:ext cx="4208984" cy="3950210"/>
            <a:chOff x="0" y="0"/>
            <a:chExt cx="4208983" cy="3950208"/>
          </a:xfrm>
        </p:grpSpPr>
        <p:sp>
          <p:nvSpPr>
            <p:cNvPr id="136" name="bg_bg"/>
            <p:cNvSpPr/>
            <p:nvPr/>
          </p:nvSpPr>
          <p:spPr>
            <a:xfrm>
              <a:off x="0" y="0"/>
              <a:ext cx="4208984" cy="3950209"/>
            </a:xfrm>
            <a:prstGeom prst="roundRect">
              <a:avLst>
                <a:gd name="adj" fmla="val 2315"/>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37" name="bg_img" descr="bg_img"/>
            <p:cNvPicPr>
              <a:picLocks noChangeAspect="1"/>
            </p:cNvPicPr>
            <p:nvPr/>
          </p:nvPicPr>
          <p:blipFill>
            <a:blip r:embed="rId7">
              <a:extLst/>
            </a:blip>
            <a:stretch>
              <a:fillRect/>
            </a:stretch>
          </p:blipFill>
          <p:spPr>
            <a:xfrm>
              <a:off x="182879" y="128016"/>
              <a:ext cx="1828801" cy="1481329"/>
            </a:xfrm>
            <a:prstGeom prst="rect">
              <a:avLst/>
            </a:prstGeom>
            <a:ln w="12700" cap="flat">
              <a:noFill/>
              <a:miter lim="400000"/>
            </a:ln>
            <a:effectLst/>
          </p:spPr>
        </p:pic>
        <p:sp>
          <p:nvSpPr>
            <p:cNvPr id="138" name="bg_cap"/>
            <p:cNvSpPr txBox="1"/>
            <p:nvPr/>
          </p:nvSpPr>
          <p:spPr>
            <a:xfrm>
              <a:off x="2148840" y="656876"/>
              <a:ext cx="192298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182B1E"/>
                  </a:solidFill>
                  <a:latin typeface="Arial"/>
                  <a:ea typeface="Arial"/>
                  <a:cs typeface="Arial"/>
                  <a:sym typeface="Arial"/>
                </a:defRPr>
              </a:lvl1pPr>
            </a:lstStyle>
            <a:p>
              <a:pPr/>
              <a:r>
                <a:t>10 beetles, 2 alleles each: a gene pool of 20 alleles.</a:t>
              </a:r>
            </a:p>
          </p:txBody>
        </p:sp>
      </p:grpSp>
      <p:sp>
        <p:nvSpPr>
          <p:cNvPr id="140" name="bg_t"/>
          <p:cNvSpPr txBox="1"/>
          <p:nvPr/>
        </p:nvSpPr>
        <p:spPr>
          <a:xfrm>
            <a:off x="7653528" y="3474720"/>
            <a:ext cx="3770072" cy="19222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700"/>
              </a:lnSpc>
              <a:spcBef>
                <a:spcPts val="400"/>
              </a:spcBef>
              <a:defRPr b="1" sz="1300">
                <a:solidFill>
                  <a:srgbClr val="A8651F"/>
                </a:solidFill>
                <a:latin typeface="Arial"/>
                <a:ea typeface="Arial"/>
                <a:cs typeface="Arial"/>
                <a:sym typeface="Arial"/>
              </a:defRPr>
            </a:pPr>
            <a:r>
              <a:t>Count every bead.</a:t>
            </a:r>
          </a:p>
          <a:p>
            <a:pPr>
              <a:lnSpc>
                <a:spcPts val="1700"/>
              </a:lnSpc>
              <a:spcBef>
                <a:spcPts val="300"/>
              </a:spcBef>
              <a:defRPr sz="1300">
                <a:solidFill>
                  <a:srgbClr val="182B1E"/>
                </a:solidFill>
                <a:latin typeface="Arial"/>
                <a:ea typeface="Arial"/>
                <a:cs typeface="Arial"/>
                <a:sym typeface="Arial"/>
              </a:defRPr>
            </a:pPr>
            <a:r>
              <a:t>Green: 15 out of 20 = 15 ÷ 20 = 0.75 = 75%</a:t>
            </a:r>
          </a:p>
          <a:p>
            <a:pPr>
              <a:lnSpc>
                <a:spcPts val="1700"/>
              </a:lnSpc>
              <a:spcBef>
                <a:spcPts val="300"/>
              </a:spcBef>
              <a:defRPr sz="1300">
                <a:solidFill>
                  <a:srgbClr val="182B1E"/>
                </a:solidFill>
                <a:latin typeface="Arial"/>
                <a:ea typeface="Arial"/>
                <a:cs typeface="Arial"/>
                <a:sym typeface="Arial"/>
              </a:defRPr>
            </a:pPr>
            <a:r>
              <a:t>Brown: 5 out of 20 = 5 ÷ 20 = 0.25 = 25%</a:t>
            </a:r>
          </a:p>
          <a:p>
            <a:pPr>
              <a:lnSpc>
                <a:spcPts val="1700"/>
              </a:lnSpc>
              <a:spcBef>
                <a:spcPts val="600"/>
              </a:spcBef>
              <a:defRPr sz="1300">
                <a:solidFill>
                  <a:srgbClr val="52685A"/>
                </a:solidFill>
                <a:latin typeface="Arial"/>
                <a:ea typeface="Arial"/>
                <a:cs typeface="Arial"/>
                <a:sym typeface="Arial"/>
              </a:defRPr>
            </a:pPr>
            <a:r>
              <a:t>The two add up to 100%.</a:t>
            </a:r>
          </a:p>
          <a:p>
            <a:pPr>
              <a:lnSpc>
                <a:spcPts val="1700"/>
              </a:lnSpc>
              <a:defRPr b="1" sz="1300">
                <a:solidFill>
                  <a:srgbClr val="A8651F"/>
                </a:solidFill>
                <a:latin typeface="Arial"/>
                <a:ea typeface="Arial"/>
                <a:cs typeface="Arial"/>
                <a:sym typeface="Arial"/>
              </a:defRPr>
            </a:pPr>
            <a:r>
              <a:t>Allele frequency</a:t>
            </a:r>
            <a:r>
              <a:rPr b="0">
                <a:solidFill>
                  <a:srgbClr val="182B1E"/>
                </a:solidFill>
              </a:rPr>
              <a:t>: how common an allele is in the gene pool.</a:t>
            </a:r>
          </a:p>
          <a:p>
            <a:pPr>
              <a:lnSpc>
                <a:spcPts val="1700"/>
              </a:lnSpc>
              <a:defRPr b="1" sz="1300">
                <a:solidFill>
                  <a:srgbClr val="C1442D"/>
                </a:solidFill>
                <a:latin typeface="Arial"/>
                <a:ea typeface="Arial"/>
                <a:cs typeface="Arial"/>
                <a:sym typeface="Arial"/>
              </a:defRPr>
            </a:pPr>
            <a:r>
              <a:t>Hook answer: C. The handful said 80%; the bag says 75%.</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6"/>
                                        </p:tgtEl>
                                        <p:attrNameLst>
                                          <p:attrName>style.visibility</p:attrName>
                                        </p:attrNameLst>
                                      </p:cBhvr>
                                      <p:to>
                                        <p:strVal val="visible"/>
                                      </p:to>
                                    </p:set>
                                    <p:animEffect filter="fade" transition="in">
                                      <p:cBhvr>
                                        <p:cTn id="11" dur="400"/>
                                        <p:tgtEl>
                                          <p:spTgt spid="12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2"/>
                                        </p:tgtEl>
                                        <p:attrNameLst>
                                          <p:attrName>style.visibility</p:attrName>
                                        </p:attrNameLst>
                                      </p:cBhvr>
                                      <p:to>
                                        <p:strVal val="visible"/>
                                      </p:to>
                                    </p:set>
                                    <p:animEffect filter="fade" transition="in">
                                      <p:cBhvr>
                                        <p:cTn id="16" dur="400"/>
                                        <p:tgtEl>
                                          <p:spTgt spid="13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35"/>
                                        </p:tgtEl>
                                        <p:attrNameLst>
                                          <p:attrName>style.visibility</p:attrName>
                                        </p:attrNameLst>
                                      </p:cBhvr>
                                      <p:to>
                                        <p:strVal val="visible"/>
                                      </p:to>
                                    </p:set>
                                    <p:animEffect filter="fade" transition="in">
                                      <p:cBhvr>
                                        <p:cTn id="21" dur="4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39"/>
                                        </p:tgtEl>
                                        <p:attrNameLst>
                                          <p:attrName>style.visibility</p:attrName>
                                        </p:attrNameLst>
                                      </p:cBhvr>
                                      <p:to>
                                        <p:strVal val="visible"/>
                                      </p:to>
                                    </p:set>
                                    <p:animEffect filter="fade" transition="in">
                                      <p:cBhvr>
                                        <p:cTn id="26" dur="400"/>
                                        <p:tgtEl>
                                          <p:spTgt spid="139"/>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40"/>
                                        </p:tgtEl>
                                        <p:attrNameLst>
                                          <p:attrName>style.visibility</p:attrName>
                                        </p:attrNameLst>
                                      </p:cBhvr>
                                      <p:to>
                                        <p:strVal val="visible"/>
                                      </p:to>
                                    </p:set>
                                    <p:animEffect filter="fade" transition="in">
                                      <p:cBhvr>
                                        <p:cTn id="31" dur="4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2" fill="hold" display="0">
                  <p:stCondLst>
                    <p:cond delay="indefinite"/>
                  </p:stCondLst>
                </p:cTn>
                <p:tgtEl>
                  <p:spTgt spid="119"/>
                </p:tgtEl>
              </p:cMediaNode>
            </p:video>
            <p:seq concurrent="1" prevAc="none" nextAc="seek">
              <p:cTn id="33" evtFilter="cancelBubble" nodeType="interactiveSeq" restart="whenNotActive" fill="hold">
                <p:stCondLst>
                  <p:cond delay="0" evt="onClick">
                    <p:tgtEl>
                      <p:spTgt spid="119"/>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26" grpId="2"/>
      <p:bldP build="whole" bldLvl="1" animBg="1" rev="0" advAuto="0" spid="139" grpId="5"/>
      <p:bldP build="whole" bldLvl="1" animBg="1" rev="0" advAuto="0" spid="135" grpId="4"/>
      <p:bldP build="whole" bldLvl="1" animBg="1" rev="0" advAuto="0" spid="140" grpId="6"/>
      <p:bldP build="whole" bldLvl="1" animBg="1" rev="0" advAuto="0" spid="132" grpId="3"/>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4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47" name="phase_pill"/>
          <p:cNvGrpSpPr/>
          <p:nvPr/>
        </p:nvGrpSpPr>
        <p:grpSpPr>
          <a:xfrm>
            <a:off x="1170432" y="310895"/>
            <a:ext cx="1623975" cy="329185"/>
            <a:chOff x="0" y="0"/>
            <a:chExt cx="1623974" cy="329184"/>
          </a:xfrm>
        </p:grpSpPr>
        <p:sp>
          <p:nvSpPr>
            <p:cNvPr id="145"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46"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48"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Small changes, big changes</a:t>
            </a:r>
          </a:p>
        </p:txBody>
      </p:sp>
      <p:grpSp>
        <p:nvGrpSpPr>
          <p:cNvPr id="153" name="mig"/>
          <p:cNvGrpSpPr/>
          <p:nvPr/>
        </p:nvGrpSpPr>
        <p:grpSpPr>
          <a:xfrm>
            <a:off x="1170432" y="1645920"/>
            <a:ext cx="5099152" cy="4040059"/>
            <a:chOff x="0" y="0"/>
            <a:chExt cx="5099151" cy="4040058"/>
          </a:xfrm>
        </p:grpSpPr>
        <p:sp>
          <p:nvSpPr>
            <p:cNvPr id="149" name="mi_hd_bg"/>
            <p:cNvSpPr/>
            <p:nvPr/>
          </p:nvSpPr>
          <p:spPr>
            <a:xfrm>
              <a:off x="0" y="0"/>
              <a:ext cx="5099152" cy="420624"/>
            </a:xfrm>
            <a:prstGeom prst="roundRect">
              <a:avLst>
                <a:gd name="adj" fmla="val 21739"/>
              </a:avLst>
            </a:prstGeom>
            <a:solidFill>
              <a:srgbClr val="1F3D2B"/>
            </a:solidFill>
            <a:ln w="16510" cap="flat">
              <a:solidFill>
                <a:srgbClr val="1F3D2B"/>
              </a:solidFill>
              <a:prstDash val="solid"/>
              <a:round/>
            </a:ln>
            <a:effectLst/>
          </p:spPr>
          <p:txBody>
            <a:bodyPr wrap="square" lIns="45719" tIns="45719" rIns="45719" bIns="45719" numCol="1" anchor="t">
              <a:noAutofit/>
            </a:bodyPr>
            <a:lstStyle/>
            <a:p>
              <a:pPr/>
            </a:p>
          </p:txBody>
        </p:sp>
        <p:sp>
          <p:nvSpPr>
            <p:cNvPr id="150" name="mi_h"/>
            <p:cNvSpPr txBox="1"/>
            <p:nvPr/>
          </p:nvSpPr>
          <p:spPr>
            <a:xfrm>
              <a:off x="201167" y="102361"/>
              <a:ext cx="46968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DE9A4C"/>
                  </a:solidFill>
                  <a:latin typeface="Georgia"/>
                  <a:ea typeface="Georgia"/>
                  <a:cs typeface="Georgia"/>
                  <a:sym typeface="Georgia"/>
                </a:defRPr>
              </a:lvl1pPr>
            </a:lstStyle>
            <a:p>
              <a:pPr/>
              <a:r>
                <a:t>MICROEVOLUTION</a:t>
              </a:r>
            </a:p>
          </p:txBody>
        </p:sp>
        <p:sp>
          <p:nvSpPr>
            <p:cNvPr id="151" name="mi_d"/>
            <p:cNvSpPr txBox="1"/>
            <p:nvPr/>
          </p:nvSpPr>
          <p:spPr>
            <a:xfrm>
              <a:off x="0" y="681540"/>
              <a:ext cx="5099152" cy="246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1F3D2B"/>
                  </a:solidFill>
                  <a:latin typeface="Arial"/>
                  <a:ea typeface="Arial"/>
                  <a:cs typeface="Arial"/>
                  <a:sym typeface="Arial"/>
                </a:defRPr>
              </a:lvl1pPr>
            </a:lstStyle>
            <a:p>
              <a:pPr/>
              <a:r>
                <a:t>A change in allele frequencies within a population.</a:t>
              </a:r>
            </a:p>
          </p:txBody>
        </p:sp>
        <p:sp>
          <p:nvSpPr>
            <p:cNvPr id="152" name="mi_e"/>
            <p:cNvSpPr txBox="1"/>
            <p:nvPr/>
          </p:nvSpPr>
          <p:spPr>
            <a:xfrm>
              <a:off x="0" y="3639311"/>
              <a:ext cx="5099152"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182B1E"/>
                  </a:solidFill>
                  <a:latin typeface="Arial"/>
                  <a:ea typeface="Arial"/>
                  <a:cs typeface="Arial"/>
                  <a:sym typeface="Arial"/>
                </a:defRPr>
              </a:lvl1pPr>
            </a:lstStyle>
            <a:p>
              <a:pPr/>
              <a:r>
                <a:t>For instance, finch beaks, resistant bacteria, and the beetles, over a few generations.</a:t>
              </a:r>
            </a:p>
          </p:txBody>
        </p:sp>
      </p:grpSp>
      <p:grpSp>
        <p:nvGrpSpPr>
          <p:cNvPr id="157" name="mag"/>
          <p:cNvGrpSpPr/>
          <p:nvPr/>
        </p:nvGrpSpPr>
        <p:grpSpPr>
          <a:xfrm>
            <a:off x="6543903" y="1645920"/>
            <a:ext cx="5099153" cy="1054803"/>
            <a:chOff x="0" y="0"/>
            <a:chExt cx="5099151" cy="1054802"/>
          </a:xfrm>
        </p:grpSpPr>
        <p:sp>
          <p:nvSpPr>
            <p:cNvPr id="154" name="ma_hd_bg"/>
            <p:cNvSpPr/>
            <p:nvPr/>
          </p:nvSpPr>
          <p:spPr>
            <a:xfrm>
              <a:off x="0" y="0"/>
              <a:ext cx="5099152" cy="420624"/>
            </a:xfrm>
            <a:prstGeom prst="roundRect">
              <a:avLst>
                <a:gd name="adj" fmla="val 21739"/>
              </a:avLst>
            </a:prstGeom>
            <a:solidFill>
              <a:srgbClr val="1F3D2B"/>
            </a:solidFill>
            <a:ln w="16510" cap="flat">
              <a:solidFill>
                <a:srgbClr val="1F3D2B"/>
              </a:solidFill>
              <a:prstDash val="solid"/>
              <a:round/>
            </a:ln>
            <a:effectLst/>
          </p:spPr>
          <p:txBody>
            <a:bodyPr wrap="square" lIns="45719" tIns="45719" rIns="45719" bIns="45719" numCol="1" anchor="t">
              <a:noAutofit/>
            </a:bodyPr>
            <a:lstStyle/>
            <a:p>
              <a:pPr/>
            </a:p>
          </p:txBody>
        </p:sp>
        <p:sp>
          <p:nvSpPr>
            <p:cNvPr id="155" name="ma_h"/>
            <p:cNvSpPr txBox="1"/>
            <p:nvPr/>
          </p:nvSpPr>
          <p:spPr>
            <a:xfrm>
              <a:off x="201167" y="102361"/>
              <a:ext cx="4696817"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DE9A4C"/>
                  </a:solidFill>
                  <a:latin typeface="Georgia"/>
                  <a:ea typeface="Georgia"/>
                  <a:cs typeface="Georgia"/>
                  <a:sym typeface="Georgia"/>
                </a:defRPr>
              </a:lvl1pPr>
            </a:lstStyle>
            <a:p>
              <a:pPr/>
              <a:r>
                <a:t>MACROEVOLUTION</a:t>
              </a:r>
            </a:p>
          </p:txBody>
        </p:sp>
        <p:sp>
          <p:nvSpPr>
            <p:cNvPr id="156" name="ma_d"/>
            <p:cNvSpPr txBox="1"/>
            <p:nvPr/>
          </p:nvSpPr>
          <p:spPr>
            <a:xfrm>
              <a:off x="0" y="554541"/>
              <a:ext cx="5099152" cy="500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1F3D2B"/>
                  </a:solidFill>
                  <a:latin typeface="Arial"/>
                  <a:ea typeface="Arial"/>
                  <a:cs typeface="Arial"/>
                  <a:sym typeface="Arial"/>
                </a:defRPr>
              </a:lvl1pPr>
            </a:lstStyle>
            <a:p>
              <a:pPr/>
              <a:r>
                <a:t>Large changes over long periods, above the species level.</a:t>
              </a:r>
            </a:p>
          </p:txBody>
        </p:sp>
      </p:grpSp>
      <p:sp>
        <p:nvSpPr>
          <p:cNvPr id="158" name="ma_e"/>
          <p:cNvSpPr txBox="1"/>
          <p:nvPr/>
        </p:nvSpPr>
        <p:spPr>
          <a:xfrm>
            <a:off x="6543903" y="5285232"/>
            <a:ext cx="5099153" cy="6039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600"/>
              </a:lnSpc>
              <a:defRPr sz="1300">
                <a:solidFill>
                  <a:srgbClr val="182B1E"/>
                </a:solidFill>
                <a:latin typeface="Arial"/>
                <a:ea typeface="Arial"/>
                <a:cs typeface="Arial"/>
                <a:sym typeface="Arial"/>
              </a:defRPr>
            </a:lvl1pPr>
          </a:lstStyle>
          <a:p>
            <a:pPr/>
            <a:r>
              <a:t>Shown by fossils, bones, DNA and embryos: fish, chickens and humans share a tail and pharyngeal arches because they share an ancestor that lived over 500 million years ago.</a:t>
            </a:r>
          </a:p>
        </p:txBody>
      </p:sp>
      <p:pic>
        <p:nvPicPr>
          <p:cNvPr id="159" name="vid_gen" descr="vid_gen"/>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606727" y="2834639"/>
            <a:ext cx="4226561" cy="2377441"/>
          </a:xfrm>
          <a:prstGeom prst="rect">
            <a:avLst/>
          </a:prstGeom>
          <a:ln w="12700">
            <a:miter lim="400000"/>
          </a:ln>
        </p:spPr>
      </p:pic>
      <p:grpSp>
        <p:nvGrpSpPr>
          <p:cNvPr id="164" name="msg0"/>
          <p:cNvGrpSpPr/>
          <p:nvPr/>
        </p:nvGrpSpPr>
        <p:grpSpPr>
          <a:xfrm>
            <a:off x="6543903" y="2834639"/>
            <a:ext cx="1577798" cy="2377441"/>
            <a:chOff x="0" y="0"/>
            <a:chExt cx="1577797" cy="2377439"/>
          </a:xfrm>
        </p:grpSpPr>
        <p:sp>
          <p:nvSpPr>
            <p:cNvPr id="160" name="ms0_bg"/>
            <p:cNvSpPr/>
            <p:nvPr/>
          </p:nvSpPr>
          <p:spPr>
            <a:xfrm>
              <a:off x="0" y="0"/>
              <a:ext cx="1577798" cy="2377440"/>
            </a:xfrm>
            <a:prstGeom prst="roundRect">
              <a:avLst>
                <a:gd name="adj" fmla="val 5795"/>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61" name="ms0_icon" descr="ms0_icon"/>
            <p:cNvPicPr>
              <a:picLocks noChangeAspect="1"/>
            </p:cNvPicPr>
            <p:nvPr/>
          </p:nvPicPr>
          <p:blipFill>
            <a:blip r:embed="rId9">
              <a:extLst/>
            </a:blip>
            <a:stretch>
              <a:fillRect/>
            </a:stretch>
          </p:blipFill>
          <p:spPr>
            <a:xfrm>
              <a:off x="404850" y="146303"/>
              <a:ext cx="768097" cy="768097"/>
            </a:xfrm>
            <a:prstGeom prst="rect">
              <a:avLst/>
            </a:prstGeom>
            <a:ln w="12700" cap="flat">
              <a:noFill/>
              <a:miter lim="400000"/>
            </a:ln>
            <a:effectLst/>
          </p:spPr>
        </p:pic>
        <p:sp>
          <p:nvSpPr>
            <p:cNvPr id="162" name="ms0_w"/>
            <p:cNvSpPr txBox="1"/>
            <p:nvPr/>
          </p:nvSpPr>
          <p:spPr>
            <a:xfrm>
              <a:off x="91440" y="1039984"/>
              <a:ext cx="1394918"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ts val="1400"/>
                </a:lnSpc>
                <a:defRPr b="1" sz="1200">
                  <a:solidFill>
                    <a:srgbClr val="A8651F"/>
                  </a:solidFill>
                  <a:latin typeface="Arial"/>
                  <a:ea typeface="Arial"/>
                  <a:cs typeface="Arial"/>
                  <a:sym typeface="Arial"/>
                </a:defRPr>
              </a:lvl1pPr>
            </a:lstStyle>
            <a:p>
              <a:pPr/>
              <a:r>
                <a:t>375 million years ago</a:t>
              </a:r>
            </a:p>
          </p:txBody>
        </p:sp>
        <p:sp>
          <p:nvSpPr>
            <p:cNvPr id="163" name="ms0_t"/>
            <p:cNvSpPr txBox="1"/>
            <p:nvPr/>
          </p:nvSpPr>
          <p:spPr>
            <a:xfrm>
              <a:off x="91440" y="1463039"/>
              <a:ext cx="1394918"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500"/>
                </a:lnSpc>
                <a:defRPr sz="1200">
                  <a:solidFill>
                    <a:srgbClr val="182B1E"/>
                  </a:solidFill>
                  <a:latin typeface="Arial"/>
                  <a:ea typeface="Arial"/>
                  <a:cs typeface="Arial"/>
                  <a:sym typeface="Arial"/>
                </a:defRPr>
              </a:lvl1pPr>
            </a:lstStyle>
            <a:p>
              <a:pPr/>
              <a:r>
                <a:t>A fish with limb bones</a:t>
              </a:r>
            </a:p>
          </p:txBody>
        </p:sp>
      </p:grpSp>
      <p:grpSp>
        <p:nvGrpSpPr>
          <p:cNvPr id="169" name="msg1"/>
          <p:cNvGrpSpPr/>
          <p:nvPr/>
        </p:nvGrpSpPr>
        <p:grpSpPr>
          <a:xfrm>
            <a:off x="8304580" y="2834639"/>
            <a:ext cx="1577798" cy="2377441"/>
            <a:chOff x="0" y="0"/>
            <a:chExt cx="1577797" cy="2377439"/>
          </a:xfrm>
        </p:grpSpPr>
        <p:sp>
          <p:nvSpPr>
            <p:cNvPr id="165" name="ms1_bg"/>
            <p:cNvSpPr/>
            <p:nvPr/>
          </p:nvSpPr>
          <p:spPr>
            <a:xfrm>
              <a:off x="0" y="0"/>
              <a:ext cx="1577798" cy="2377440"/>
            </a:xfrm>
            <a:prstGeom prst="roundRect">
              <a:avLst>
                <a:gd name="adj" fmla="val 5795"/>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66" name="ms1_icon" descr="ms1_icon"/>
            <p:cNvPicPr>
              <a:picLocks noChangeAspect="1"/>
            </p:cNvPicPr>
            <p:nvPr/>
          </p:nvPicPr>
          <p:blipFill>
            <a:blip r:embed="rId10">
              <a:extLst/>
            </a:blip>
            <a:stretch>
              <a:fillRect/>
            </a:stretch>
          </p:blipFill>
          <p:spPr>
            <a:xfrm>
              <a:off x="404850" y="146303"/>
              <a:ext cx="768097" cy="768097"/>
            </a:xfrm>
            <a:prstGeom prst="rect">
              <a:avLst/>
            </a:prstGeom>
            <a:ln w="12700" cap="flat">
              <a:noFill/>
              <a:miter lim="400000"/>
            </a:ln>
            <a:effectLst/>
          </p:spPr>
        </p:pic>
        <p:sp>
          <p:nvSpPr>
            <p:cNvPr id="167" name="ms1_w"/>
            <p:cNvSpPr txBox="1"/>
            <p:nvPr/>
          </p:nvSpPr>
          <p:spPr>
            <a:xfrm>
              <a:off x="91440" y="1039984"/>
              <a:ext cx="1394918"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ts val="1400"/>
                </a:lnSpc>
                <a:defRPr b="1" sz="1200">
                  <a:solidFill>
                    <a:srgbClr val="A8651F"/>
                  </a:solidFill>
                  <a:latin typeface="Arial"/>
                  <a:ea typeface="Arial"/>
                  <a:cs typeface="Arial"/>
                  <a:sym typeface="Arial"/>
                </a:defRPr>
              </a:lvl1pPr>
            </a:lstStyle>
            <a:p>
              <a:pPr/>
              <a:r>
                <a:t>150 million years ago</a:t>
              </a:r>
            </a:p>
          </p:txBody>
        </p:sp>
        <p:sp>
          <p:nvSpPr>
            <p:cNvPr id="168" name="ms1_t"/>
            <p:cNvSpPr txBox="1"/>
            <p:nvPr/>
          </p:nvSpPr>
          <p:spPr>
            <a:xfrm>
              <a:off x="91440" y="1463039"/>
              <a:ext cx="1394918"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500"/>
                </a:lnSpc>
                <a:defRPr sz="1200">
                  <a:solidFill>
                    <a:srgbClr val="182B1E"/>
                  </a:solidFill>
                  <a:latin typeface="Arial"/>
                  <a:ea typeface="Arial"/>
                  <a:cs typeface="Arial"/>
                  <a:sym typeface="Arial"/>
                </a:defRPr>
              </a:lvl1pPr>
            </a:lstStyle>
            <a:p>
              <a:pPr/>
              <a:r>
                <a:t>A feathered dinosaur</a:t>
              </a:r>
            </a:p>
          </p:txBody>
        </p:sp>
      </p:grpSp>
      <p:grpSp>
        <p:nvGrpSpPr>
          <p:cNvPr id="174" name="msg2"/>
          <p:cNvGrpSpPr/>
          <p:nvPr/>
        </p:nvGrpSpPr>
        <p:grpSpPr>
          <a:xfrm>
            <a:off x="10065257" y="2834639"/>
            <a:ext cx="1577798" cy="2377441"/>
            <a:chOff x="0" y="0"/>
            <a:chExt cx="1577797" cy="2377439"/>
          </a:xfrm>
        </p:grpSpPr>
        <p:sp>
          <p:nvSpPr>
            <p:cNvPr id="170" name="ms2_bg"/>
            <p:cNvSpPr/>
            <p:nvPr/>
          </p:nvSpPr>
          <p:spPr>
            <a:xfrm>
              <a:off x="0" y="0"/>
              <a:ext cx="1577798" cy="2377440"/>
            </a:xfrm>
            <a:prstGeom prst="roundRect">
              <a:avLst>
                <a:gd name="adj" fmla="val 5795"/>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pic>
          <p:nvPicPr>
            <p:cNvPr id="171" name="ms2_icon" descr="ms2_icon"/>
            <p:cNvPicPr>
              <a:picLocks noChangeAspect="1"/>
            </p:cNvPicPr>
            <p:nvPr/>
          </p:nvPicPr>
          <p:blipFill>
            <a:blip r:embed="rId11">
              <a:extLst/>
            </a:blip>
            <a:stretch>
              <a:fillRect/>
            </a:stretch>
          </p:blipFill>
          <p:spPr>
            <a:xfrm>
              <a:off x="404851" y="146303"/>
              <a:ext cx="768097" cy="768097"/>
            </a:xfrm>
            <a:prstGeom prst="rect">
              <a:avLst/>
            </a:prstGeom>
            <a:ln w="12700" cap="flat">
              <a:noFill/>
              <a:miter lim="400000"/>
            </a:ln>
            <a:effectLst/>
          </p:spPr>
        </p:pic>
        <p:sp>
          <p:nvSpPr>
            <p:cNvPr id="172" name="ms2_w"/>
            <p:cNvSpPr txBox="1"/>
            <p:nvPr/>
          </p:nvSpPr>
          <p:spPr>
            <a:xfrm>
              <a:off x="91440" y="1039984"/>
              <a:ext cx="1394918"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lnSpc>
                  <a:spcPts val="1400"/>
                </a:lnSpc>
                <a:defRPr b="1" sz="1200">
                  <a:solidFill>
                    <a:srgbClr val="A8651F"/>
                  </a:solidFill>
                  <a:latin typeface="Arial"/>
                  <a:ea typeface="Arial"/>
                  <a:cs typeface="Arial"/>
                  <a:sym typeface="Arial"/>
                </a:defRPr>
              </a:lvl1pPr>
            </a:lstStyle>
            <a:p>
              <a:pPr/>
              <a:r>
                <a:t>50 million years ago</a:t>
              </a:r>
            </a:p>
          </p:txBody>
        </p:sp>
        <p:sp>
          <p:nvSpPr>
            <p:cNvPr id="173" name="ms2_t"/>
            <p:cNvSpPr txBox="1"/>
            <p:nvPr/>
          </p:nvSpPr>
          <p:spPr>
            <a:xfrm>
              <a:off x="91440" y="1463039"/>
              <a:ext cx="1394918" cy="3751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500"/>
                </a:lnSpc>
                <a:defRPr sz="1200">
                  <a:solidFill>
                    <a:srgbClr val="182B1E"/>
                  </a:solidFill>
                  <a:latin typeface="Arial"/>
                  <a:ea typeface="Arial"/>
                  <a:cs typeface="Arial"/>
                  <a:sym typeface="Arial"/>
                </a:defRPr>
              </a:lvl1pPr>
            </a:lstStyle>
            <a:p>
              <a:pPr/>
              <a:r>
                <a:t>An early whale ancestor</a:t>
              </a:r>
            </a:p>
          </p:txBody>
        </p:sp>
      </p:grpSp>
      <p:grpSp>
        <p:nvGrpSpPr>
          <p:cNvPr id="177" name="mm_banner"/>
          <p:cNvGrpSpPr/>
          <p:nvPr/>
        </p:nvGrpSpPr>
        <p:grpSpPr>
          <a:xfrm>
            <a:off x="1170432" y="6199632"/>
            <a:ext cx="10472623" cy="438913"/>
            <a:chOff x="0" y="0"/>
            <a:chExt cx="10472622" cy="438912"/>
          </a:xfrm>
        </p:grpSpPr>
        <p:sp>
          <p:nvSpPr>
            <p:cNvPr id="175" name="Rounded Rectangle"/>
            <p:cNvSpPr/>
            <p:nvPr/>
          </p:nvSpPr>
          <p:spPr>
            <a:xfrm>
              <a:off x="0" y="0"/>
              <a:ext cx="10472623" cy="438913"/>
            </a:xfrm>
            <a:prstGeom prst="roundRect">
              <a:avLst>
                <a:gd name="adj" fmla="val 25000"/>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lnSpc>
                  <a:spcPts val="2100"/>
                </a:lnSpc>
                <a:defRPr sz="1600"/>
              </a:pPr>
            </a:p>
          </p:txBody>
        </p:sp>
        <p:sp>
          <p:nvSpPr>
            <p:cNvPr id="176" name="The same process, with a lot more time."/>
            <p:cNvSpPr txBox="1"/>
            <p:nvPr/>
          </p:nvSpPr>
          <p:spPr>
            <a:xfrm>
              <a:off x="36900" y="89721"/>
              <a:ext cx="10398823" cy="2594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100"/>
                </a:lnSpc>
                <a:defRPr b="1" sz="1600">
                  <a:solidFill>
                    <a:srgbClr val="DE9A4C"/>
                  </a:solidFill>
                  <a:latin typeface="Arial"/>
                  <a:ea typeface="Arial"/>
                  <a:cs typeface="Arial"/>
                  <a:sym typeface="Arial"/>
                </a:defRPr>
              </a:pPr>
              <a:r>
                <a:t>The same process, with a lot more </a:t>
              </a:r>
              <a:r>
                <a:rPr u="sng"/>
                <a:t>time</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3"/>
                                        </p:tgtEl>
                                        <p:attrNameLst>
                                          <p:attrName>style.visibility</p:attrName>
                                        </p:attrNameLst>
                                      </p:cBhvr>
                                      <p:to>
                                        <p:strVal val="visible"/>
                                      </p:to>
                                    </p:set>
                                    <p:animEffect filter="fade" transition="in">
                                      <p:cBhvr>
                                        <p:cTn id="11" dur="400"/>
                                        <p:tgtEl>
                                          <p:spTgt spid="153"/>
                                        </p:tgtEl>
                                      </p:cBhvr>
                                    </p:animEffect>
                                  </p:childTnLst>
                                </p:cTn>
                              </p:par>
                            </p:childTnLst>
                          </p:cTn>
                        </p:par>
                      </p:childTnLst>
                    </p:cTn>
                  </p:par>
                  <p:par>
                    <p:cTn id="12" fill="hold">
                      <p:stCondLst>
                        <p:cond delay="indefinite"/>
                      </p:stCondLst>
                      <p:childTnLst>
                        <p:par>
                          <p:cTn id="13" fill="hold">
                            <p:stCondLst>
                              <p:cond delay="0"/>
                            </p:stCondLst>
                            <p:childTnLst>
                              <p:par>
                                <p:cTn id="14" presetClass="mediacall" nodeType="clickEffect" presetSubtype="0" presetID="1" grpId="3" fill="hold">
                                  <p:stCondLst>
                                    <p:cond delay="0"/>
                                  </p:stCondLst>
                                  <p:childTnLst>
                                    <p:cmd type="call" cmd="playFrom(0.0)">
                                      <p:cBhvr>
                                        <p:cTn id="15" dur="26400" fill="hold"/>
                                        <p:tgtEl>
                                          <p:spTgt spid="159"/>
                                        </p:tgtEl>
                                      </p:cBhvr>
                                    </p:cmd>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57"/>
                                        </p:tgtEl>
                                        <p:attrNameLst>
                                          <p:attrName>style.visibility</p:attrName>
                                        </p:attrNameLst>
                                      </p:cBhvr>
                                      <p:to>
                                        <p:strVal val="visible"/>
                                      </p:to>
                                    </p:set>
                                    <p:animEffect filter="fade" transition="in">
                                      <p:cBhvr>
                                        <p:cTn id="20" dur="400"/>
                                        <p:tgtEl>
                                          <p:spTgt spid="157"/>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164"/>
                                        </p:tgtEl>
                                        <p:attrNameLst>
                                          <p:attrName>style.visibility</p:attrName>
                                        </p:attrNameLst>
                                      </p:cBhvr>
                                      <p:to>
                                        <p:strVal val="visible"/>
                                      </p:to>
                                    </p:set>
                                    <p:animEffect filter="fade" transition="in">
                                      <p:cBhvr>
                                        <p:cTn id="25" dur="400"/>
                                        <p:tgtEl>
                                          <p:spTgt spid="164"/>
                                        </p:tgtEl>
                                      </p:cBhvr>
                                    </p:animEffect>
                                  </p:childTnLst>
                                </p:cTn>
                              </p:par>
                            </p:childTnLst>
                          </p:cTn>
                        </p:par>
                        <p:par>
                          <p:cTn id="26" fill="hold">
                            <p:stCondLst>
                              <p:cond delay="400"/>
                            </p:stCondLst>
                            <p:childTnLst>
                              <p:par>
                                <p:cTn id="27" presetClass="entr" nodeType="afterEffect" presetID="10" grpId="6" fill="hold">
                                  <p:stCondLst>
                                    <p:cond delay="150"/>
                                  </p:stCondLst>
                                  <p:iterate type="el" backwards="0">
                                    <p:tmAbs val="0"/>
                                  </p:iterate>
                                  <p:childTnLst>
                                    <p:set>
                                      <p:cBhvr>
                                        <p:cTn id="28" fill="hold"/>
                                        <p:tgtEl>
                                          <p:spTgt spid="169"/>
                                        </p:tgtEl>
                                        <p:attrNameLst>
                                          <p:attrName>style.visibility</p:attrName>
                                        </p:attrNameLst>
                                      </p:cBhvr>
                                      <p:to>
                                        <p:strVal val="visible"/>
                                      </p:to>
                                    </p:set>
                                    <p:animEffect filter="fade" transition="in">
                                      <p:cBhvr>
                                        <p:cTn id="29" dur="400"/>
                                        <p:tgtEl>
                                          <p:spTgt spid="169"/>
                                        </p:tgtEl>
                                      </p:cBhvr>
                                    </p:animEffect>
                                  </p:childTnLst>
                                </p:cTn>
                              </p:par>
                            </p:childTnLst>
                          </p:cTn>
                        </p:par>
                        <p:par>
                          <p:cTn id="30" fill="hold">
                            <p:stCondLst>
                              <p:cond delay="950"/>
                            </p:stCondLst>
                            <p:childTnLst>
                              <p:par>
                                <p:cTn id="31" presetClass="entr" nodeType="afterEffect" presetID="10" grpId="7" fill="hold">
                                  <p:stCondLst>
                                    <p:cond delay="300"/>
                                  </p:stCondLst>
                                  <p:iterate type="el" backwards="0">
                                    <p:tmAbs val="0"/>
                                  </p:iterate>
                                  <p:childTnLst>
                                    <p:set>
                                      <p:cBhvr>
                                        <p:cTn id="32" fill="hold"/>
                                        <p:tgtEl>
                                          <p:spTgt spid="174"/>
                                        </p:tgtEl>
                                        <p:attrNameLst>
                                          <p:attrName>style.visibility</p:attrName>
                                        </p:attrNameLst>
                                      </p:cBhvr>
                                      <p:to>
                                        <p:strVal val="visible"/>
                                      </p:to>
                                    </p:set>
                                    <p:animEffect filter="fade" transition="in">
                                      <p:cBhvr>
                                        <p:cTn id="33" dur="400"/>
                                        <p:tgtEl>
                                          <p:spTgt spid="174"/>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158"/>
                                        </p:tgtEl>
                                        <p:attrNameLst>
                                          <p:attrName>style.visibility</p:attrName>
                                        </p:attrNameLst>
                                      </p:cBhvr>
                                      <p:to>
                                        <p:strVal val="visible"/>
                                      </p:to>
                                    </p:set>
                                    <p:animEffect filter="fade" transition="in">
                                      <p:cBhvr>
                                        <p:cTn id="38" dur="400"/>
                                        <p:tgtEl>
                                          <p:spTgt spid="158"/>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16" presetID="23" grpId="9" fill="hold">
                                  <p:stCondLst>
                                    <p:cond delay="0"/>
                                  </p:stCondLst>
                                  <p:iterate type="el" backwards="0">
                                    <p:tmAbs val="0"/>
                                  </p:iterate>
                                  <p:childTnLst>
                                    <p:set>
                                      <p:cBhvr>
                                        <p:cTn id="42" fill="hold"/>
                                        <p:tgtEl>
                                          <p:spTgt spid="177"/>
                                        </p:tgtEl>
                                        <p:attrNameLst>
                                          <p:attrName>style.visibility</p:attrName>
                                        </p:attrNameLst>
                                      </p:cBhvr>
                                      <p:to>
                                        <p:strVal val="visible"/>
                                      </p:to>
                                    </p:set>
                                    <p:anim calcmode="lin" valueType="num">
                                      <p:cBhvr>
                                        <p:cTn id="43" dur="400" fill="hold"/>
                                        <p:tgtEl>
                                          <p:spTgt spid="177"/>
                                        </p:tgtEl>
                                        <p:attrNameLst>
                                          <p:attrName>ppt_w</p:attrName>
                                        </p:attrNameLst>
                                      </p:cBhvr>
                                      <p:tavLst>
                                        <p:tav tm="0">
                                          <p:val>
                                            <p:fltVal val="0"/>
                                          </p:val>
                                        </p:tav>
                                        <p:tav tm="100000">
                                          <p:val>
                                            <p:strVal val="#ppt_w"/>
                                          </p:val>
                                        </p:tav>
                                      </p:tavLst>
                                    </p:anim>
                                    <p:anim calcmode="lin" valueType="num">
                                      <p:cBhvr>
                                        <p:cTn id="44" dur="400" fill="hold"/>
                                        <p:tgtEl>
                                          <p:spTgt spid="17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5" fill="hold" display="0">
                  <p:stCondLst>
                    <p:cond delay="indefinite"/>
                  </p:stCondLst>
                </p:cTn>
                <p:tgtEl>
                  <p:spTgt spid="144"/>
                </p:tgtEl>
              </p:cMediaNode>
            </p:video>
            <p:seq concurrent="1" prevAc="none" nextAc="seek">
              <p:cTn id="46" evtFilter="cancelBubble" nodeType="interactiveSeq" restart="whenNotActive" fill="hold">
                <p:stCondLst>
                  <p:cond delay="0" evt="onClick">
                    <p:tgtEl>
                      <p:spTgt spid="144"/>
                    </p:tgtEl>
                  </p:cond>
                </p:stCondLst>
                <p:endSync delay="0" evt="end">
                  <p:rtn val="all"/>
                </p:endSync>
                <p:childTnLst>
                  <p:par>
                    <p:cTn id="47" fill="hold">
                      <p:stCondLst>
                        <p:cond delay="0"/>
                      </p:stCondLst>
                      <p:childTnLst>
                        <p:par>
                          <p:cTn id="48" fill="hold">
                            <p:stCondLst>
                              <p:cond delay="0"/>
                            </p:stCondLst>
                            <p:childTnLst>
                              <p:par>
                                <p:cTn id="49" presetClass="mediacall" nodeType="clickEffect" presetSubtype="0" presetID="2" fill="hold">
                                  <p:stCondLst>
                                    <p:cond delay="0"/>
                                  </p:stCondLst>
                                  <p:childTnLst>
                                    <p:cmd type="call" cmd="togglePause">
                                      <p:cBhvr>
                                        <p:cTn id="50" dur="1" fill="hold"/>
                                        <p:tgtEl>
                                          <p:spTgt spid="144"/>
                                        </p:tgtEl>
                                      </p:cBhvr>
                                    </p:cmd>
                                  </p:childTnLst>
                                </p:cTn>
                              </p:par>
                            </p:childTnLst>
                          </p:cTn>
                        </p:par>
                      </p:childTnLst>
                    </p:cTn>
                  </p:par>
                </p:childTnLst>
              </p:cTn>
              <p:nextCondLst>
                <p:cond delay="0" evt="onClick">
                  <p:tgtEl>
                    <p:spTgt spid="144"/>
                  </p:tgtEl>
                </p:cond>
              </p:nextCondLst>
            </p:seq>
            <p:video fullScrn="0">
              <p:cMediaNode mute="0" showWhenStopped="1" numSld="1" vol="100000">
                <p:cTn id="51" fill="hold" display="0">
                  <p:stCondLst>
                    <p:cond delay="indefinite"/>
                  </p:stCondLst>
                </p:cTn>
                <p:tgtEl>
                  <p:spTgt spid="159"/>
                </p:tgtEl>
              </p:cMediaNode>
            </p:video>
            <p:seq concurrent="1" prevAc="none" nextAc="seek">
              <p:cTn id="52" evtFilter="cancelBubble" nodeType="interactiveSeq" restart="whenNotActive" fill="hold">
                <p:stCondLst>
                  <p:cond delay="0" evt="onClick">
                    <p:tgtEl>
                      <p:spTgt spid="159"/>
                    </p:tgtEl>
                  </p:cond>
                </p:stCondLst>
                <p:endSync delay="0" evt="end">
                  <p:rtn val="all"/>
                </p:endSync>
                <p:childTnLst>
                  <p:par>
                    <p:cTn id="53" fill="hold">
                      <p:stCondLst>
                        <p:cond delay="0"/>
                      </p:stCondLst>
                      <p:childTnLst>
                        <p:par>
                          <p:cTn id="54" fill="hold">
                            <p:stCondLst>
                              <p:cond delay="0"/>
                            </p:stCondLst>
                            <p:childTnLst>
                              <p:par>
                                <p:cTn id="55" presetClass="mediacall" nodeType="clickEffect" presetSubtype="0" presetID="2" fill="hold">
                                  <p:stCondLst>
                                    <p:cond delay="0"/>
                                  </p:stCondLst>
                                  <p:childTnLst>
                                    <p:cmd type="call" cmd="togglePause">
                                      <p:cBhvr>
                                        <p:cTn id="56" dur="1" fill="hold"/>
                                        <p:tgtEl>
                                          <p:spTgt spid="159"/>
                                        </p:tgtEl>
                                      </p:cBhvr>
                                    </p:cmd>
                                  </p:childTnLst>
                                </p:cTn>
                              </p:par>
                            </p:childTnLst>
                          </p:cTn>
                        </p:par>
                      </p:childTnLst>
                    </p:cTn>
                  </p:par>
                </p:childTnLst>
              </p:cTn>
              <p:nextCondLst>
                <p:cond delay="0" evt="onClick">
                  <p:tgtEl>
                    <p:spTgt spid="159"/>
                  </p:tgtEl>
                </p:cond>
              </p:nextCondLst>
            </p:seq>
          </p:childTnLst>
        </p:cTn>
      </p:par>
    </p:tnLst>
    <p:bldLst>
      <p:bldP build="whole" bldLvl="1" animBg="1" rev="0" advAuto="0" spid="157" grpId="4"/>
      <p:bldP build="whole" bldLvl="1" animBg="1" rev="0" advAuto="0" spid="164" grpId="5"/>
      <p:bldP build="whole" bldLvl="1" animBg="1" rev="0" advAuto="0" spid="153" grpId="2"/>
      <p:bldP build="whole" bldLvl="1" animBg="1" rev="0" advAuto="0" spid="158" grpId="8"/>
      <p:bldP build="whole" bldLvl="1" animBg="1" rev="0" advAuto="0" spid="174" grpId="7"/>
      <p:bldP build="whole" bldLvl="1" animBg="1" rev="0" advAuto="0" spid="177" grpId="9"/>
      <p:bldP build="whole" bldLvl="1" animBg="1" rev="0" advAuto="0" spid="169" grpId="6"/>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8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4" name="phase_pill"/>
          <p:cNvGrpSpPr/>
          <p:nvPr/>
        </p:nvGrpSpPr>
        <p:grpSpPr>
          <a:xfrm>
            <a:off x="1170432" y="310895"/>
            <a:ext cx="1713586" cy="329185"/>
            <a:chOff x="0" y="0"/>
            <a:chExt cx="1713585" cy="329184"/>
          </a:xfrm>
        </p:grpSpPr>
        <p:sp>
          <p:nvSpPr>
            <p:cNvPr id="182"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83"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What is the missing step?</a:t>
            </a:r>
          </a:p>
        </p:txBody>
      </p:sp>
      <p:sp>
        <p:nvSpPr>
          <p:cNvPr id="186"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2685A"/>
                </a:solidFill>
                <a:latin typeface="Arial"/>
                <a:ea typeface="Arial"/>
                <a:cs typeface="Arial"/>
                <a:sym typeface="Arial"/>
              </a:defRPr>
            </a:lvl1pPr>
          </a:lstStyle>
          <a:p>
            <a:pPr/>
            <a:r>
              <a:t>Finish this one.</a:t>
            </a:r>
          </a:p>
        </p:txBody>
      </p:sp>
      <p:sp>
        <p:nvSpPr>
          <p:cNvPr id="187" name="wf_h0"/>
          <p:cNvSpPr txBox="1"/>
          <p:nvPr/>
        </p:nvSpPr>
        <p:spPr>
          <a:xfrm>
            <a:off x="1170432" y="2001773"/>
            <a:ext cx="402336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52685A"/>
                </a:solidFill>
                <a:latin typeface="Arial"/>
                <a:ea typeface="Arial"/>
                <a:cs typeface="Arial"/>
                <a:sym typeface="Arial"/>
              </a:defRPr>
            </a:lvl1pPr>
          </a:lstStyle>
          <a:p>
            <a:pPr/>
            <a:r>
              <a:t>WHAT HAPPENED</a:t>
            </a:r>
          </a:p>
        </p:txBody>
      </p:sp>
      <p:sp>
        <p:nvSpPr>
          <p:cNvPr id="188" name="wf_h1"/>
          <p:cNvSpPr txBox="1"/>
          <p:nvPr/>
        </p:nvSpPr>
        <p:spPr>
          <a:xfrm>
            <a:off x="5469483" y="2001773"/>
            <a:ext cx="379476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52685A"/>
                </a:solidFill>
                <a:latin typeface="Arial"/>
                <a:ea typeface="Arial"/>
                <a:cs typeface="Arial"/>
                <a:sym typeface="Arial"/>
              </a:defRPr>
            </a:lvl1pPr>
          </a:lstStyle>
          <a:p>
            <a:pPr/>
            <a:r>
              <a:t>THE WORKING, OR THE REASON</a:t>
            </a:r>
          </a:p>
        </p:txBody>
      </p:sp>
      <p:sp>
        <p:nvSpPr>
          <p:cNvPr id="189" name="wf_h2"/>
          <p:cNvSpPr txBox="1"/>
          <p:nvPr/>
        </p:nvSpPr>
        <p:spPr>
          <a:xfrm>
            <a:off x="9539934" y="2001773"/>
            <a:ext cx="210312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100" sz="1100">
                <a:solidFill>
                  <a:srgbClr val="52685A"/>
                </a:solidFill>
                <a:latin typeface="Arial"/>
                <a:ea typeface="Arial"/>
                <a:cs typeface="Arial"/>
                <a:sym typeface="Arial"/>
              </a:defRPr>
            </a:lvl1pPr>
          </a:lstStyle>
          <a:p>
            <a:pPr/>
            <a:r>
              <a:t>WHAT IT IS</a:t>
            </a:r>
          </a:p>
        </p:txBody>
      </p:sp>
      <p:grpSp>
        <p:nvGrpSpPr>
          <p:cNvPr id="192" name="wf0_0_q"/>
          <p:cNvGrpSpPr/>
          <p:nvPr/>
        </p:nvGrpSpPr>
        <p:grpSpPr>
          <a:xfrm>
            <a:off x="1170432" y="2286000"/>
            <a:ext cx="4023360" cy="1188720"/>
            <a:chOff x="0" y="0"/>
            <a:chExt cx="4023359" cy="1188719"/>
          </a:xfrm>
        </p:grpSpPr>
        <p:sp>
          <p:nvSpPr>
            <p:cNvPr id="190" name="Rounded Rectangle"/>
            <p:cNvSpPr/>
            <p:nvPr/>
          </p:nvSpPr>
          <p:spPr>
            <a:xfrm>
              <a:off x="0" y="0"/>
              <a:ext cx="4023360" cy="1188720"/>
            </a:xfrm>
            <a:prstGeom prst="roundRect">
              <a:avLst>
                <a:gd name="adj" fmla="val 7692"/>
              </a:avLst>
            </a:prstGeom>
            <a:solidFill>
              <a:srgbClr val="FFFFFF"/>
            </a:solidFill>
            <a:ln w="15240" cap="flat">
              <a:solidFill>
                <a:srgbClr val="D9C9A8"/>
              </a:solidFill>
              <a:prstDash val="solid"/>
              <a:round/>
            </a:ln>
            <a:effectLst/>
          </p:spPr>
          <p:txBody>
            <a:bodyPr wrap="square" lIns="45719" tIns="45719" rIns="45719" bIns="45719" numCol="1" anchor="ctr">
              <a:noAutofit/>
            </a:bodyPr>
            <a:lstStyle/>
            <a:p>
              <a:pPr>
                <a:lnSpc>
                  <a:spcPts val="1700"/>
                </a:lnSpc>
                <a:defRPr sz="1300"/>
              </a:pPr>
            </a:p>
          </p:txBody>
        </p:sp>
        <p:sp>
          <p:nvSpPr>
            <p:cNvPr id="191" name="A beetle gene pool has 20 alleles: 15 green and 5 brown. Birds eat brown beetles. In the next generation 18 are green."/>
            <p:cNvSpPr txBox="1"/>
            <p:nvPr/>
          </p:nvSpPr>
          <p:spPr>
            <a:xfrm>
              <a:off x="34400" y="160306"/>
              <a:ext cx="3954559" cy="8681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700"/>
                </a:lnSpc>
                <a:defRPr sz="1300">
                  <a:solidFill>
                    <a:srgbClr val="1F3D2B"/>
                  </a:solidFill>
                  <a:latin typeface="Arial"/>
                  <a:ea typeface="Arial"/>
                  <a:cs typeface="Arial"/>
                  <a:sym typeface="Arial"/>
                </a:defRPr>
              </a:lvl1pPr>
            </a:lstStyle>
            <a:p>
              <a:pPr/>
              <a:r>
                <a:t>A beetle gene pool has 20 alleles: 15 green and 5 brown. Birds eat brown beetles. In the next generation 18 are green.</a:t>
              </a:r>
            </a:p>
          </p:txBody>
        </p:sp>
      </p:grpSp>
      <p:sp>
        <p:nvSpPr>
          <p:cNvPr id="193" name="wf0_0_arrow"/>
          <p:cNvSpPr txBox="1"/>
          <p:nvPr/>
        </p:nvSpPr>
        <p:spPr>
          <a:xfrm>
            <a:off x="5193791" y="2738464"/>
            <a:ext cx="275693"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A8651F"/>
                </a:solidFill>
                <a:latin typeface="Arial"/>
                <a:ea typeface="Arial"/>
                <a:cs typeface="Arial"/>
                <a:sym typeface="Arial"/>
              </a:defRPr>
            </a:lvl1pPr>
          </a:lstStyle>
          <a:p>
            <a:pPr/>
            <a:r>
              <a:t>→</a:t>
            </a:r>
          </a:p>
        </p:txBody>
      </p:sp>
      <p:grpSp>
        <p:nvGrpSpPr>
          <p:cNvPr id="196" name="wf0_1_q"/>
          <p:cNvGrpSpPr/>
          <p:nvPr/>
        </p:nvGrpSpPr>
        <p:grpSpPr>
          <a:xfrm>
            <a:off x="5469483" y="2286000"/>
            <a:ext cx="3794761" cy="1188720"/>
            <a:chOff x="0" y="0"/>
            <a:chExt cx="3794759" cy="1188719"/>
          </a:xfrm>
        </p:grpSpPr>
        <p:sp>
          <p:nvSpPr>
            <p:cNvPr id="194" name="Rounded Rectangle"/>
            <p:cNvSpPr/>
            <p:nvPr/>
          </p:nvSpPr>
          <p:spPr>
            <a:xfrm>
              <a:off x="0" y="0"/>
              <a:ext cx="3794760" cy="1188720"/>
            </a:xfrm>
            <a:prstGeom prst="roundRect">
              <a:avLst>
                <a:gd name="adj" fmla="val 7692"/>
              </a:avLst>
            </a:prstGeom>
            <a:solidFill>
              <a:srgbClr val="FFFFFF"/>
            </a:solidFill>
            <a:ln w="15240" cap="flat">
              <a:solidFill>
                <a:srgbClr val="D9C9A8"/>
              </a:solidFill>
              <a:prstDash val="solid"/>
              <a:round/>
            </a:ln>
            <a:effectLst/>
          </p:spPr>
          <p:txBody>
            <a:bodyPr wrap="square" lIns="45719" tIns="45719" rIns="45719" bIns="45719" numCol="1" anchor="ctr">
              <a:noAutofit/>
            </a:bodyPr>
            <a:lstStyle/>
            <a:p>
              <a:pPr>
                <a:lnSpc>
                  <a:spcPts val="1700"/>
                </a:lnSpc>
                <a:defRPr sz="1300"/>
              </a:pPr>
            </a:p>
          </p:txBody>
        </p:sp>
        <p:sp>
          <p:nvSpPr>
            <p:cNvPr id="195" name="Green before: 15 ÷ 20 = 75%. Green after: 18 ÷ 20 = 90%."/>
            <p:cNvSpPr txBox="1"/>
            <p:nvPr/>
          </p:nvSpPr>
          <p:spPr>
            <a:xfrm>
              <a:off x="34400" y="268256"/>
              <a:ext cx="3725959" cy="6522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700"/>
                </a:lnSpc>
                <a:defRPr sz="1300">
                  <a:solidFill>
                    <a:srgbClr val="1F3D2B"/>
                  </a:solidFill>
                  <a:latin typeface="Arial"/>
                  <a:ea typeface="Arial"/>
                  <a:cs typeface="Arial"/>
                  <a:sym typeface="Arial"/>
                </a:defRPr>
              </a:lvl1pPr>
            </a:lstStyle>
            <a:p>
              <a:pPr/>
              <a:r>
                <a:t>Green before: 15 ÷ 20 = 75%. Green after: 18 ÷ 20 = 90%.</a:t>
              </a:r>
            </a:p>
          </p:txBody>
        </p:sp>
      </p:grpSp>
      <p:sp>
        <p:nvSpPr>
          <p:cNvPr id="197" name="wf0_1_arrow"/>
          <p:cNvSpPr txBox="1"/>
          <p:nvPr/>
        </p:nvSpPr>
        <p:spPr>
          <a:xfrm>
            <a:off x="9264243" y="2738464"/>
            <a:ext cx="275693"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A8651F"/>
                </a:solidFill>
                <a:latin typeface="Arial"/>
                <a:ea typeface="Arial"/>
                <a:cs typeface="Arial"/>
                <a:sym typeface="Arial"/>
              </a:defRPr>
            </a:lvl1pPr>
          </a:lstStyle>
          <a:p>
            <a:pPr/>
            <a:r>
              <a:t>→</a:t>
            </a:r>
          </a:p>
        </p:txBody>
      </p:sp>
      <p:grpSp>
        <p:nvGrpSpPr>
          <p:cNvPr id="200" name="wf0_2_q"/>
          <p:cNvGrpSpPr/>
          <p:nvPr/>
        </p:nvGrpSpPr>
        <p:grpSpPr>
          <a:xfrm>
            <a:off x="9539934" y="2286000"/>
            <a:ext cx="2103121" cy="1188720"/>
            <a:chOff x="0" y="0"/>
            <a:chExt cx="2103120" cy="1188719"/>
          </a:xfrm>
        </p:grpSpPr>
        <p:sp>
          <p:nvSpPr>
            <p:cNvPr id="198" name="Rounded Rectangle"/>
            <p:cNvSpPr/>
            <p:nvPr/>
          </p:nvSpPr>
          <p:spPr>
            <a:xfrm>
              <a:off x="0" y="0"/>
              <a:ext cx="2103121" cy="1188720"/>
            </a:xfrm>
            <a:prstGeom prst="roundRect">
              <a:avLst>
                <a:gd name="adj" fmla="val 7692"/>
              </a:avLst>
            </a:prstGeom>
            <a:solidFill>
              <a:srgbClr val="E8E0CC"/>
            </a:solidFill>
            <a:ln w="22860" cap="flat">
              <a:solidFill>
                <a:srgbClr val="1F3D2B"/>
              </a:solidFill>
              <a:prstDash val="dash"/>
              <a:round/>
            </a:ln>
            <a:effectLst/>
          </p:spPr>
          <p:txBody>
            <a:bodyPr wrap="square" lIns="45719" tIns="45719" rIns="45719" bIns="45719" numCol="1" anchor="ctr">
              <a:noAutofit/>
            </a:bodyPr>
            <a:lstStyle/>
            <a:p>
              <a:pPr algn="ctr">
                <a:lnSpc>
                  <a:spcPts val="1700"/>
                </a:lnSpc>
                <a:defRPr sz="2600"/>
              </a:pPr>
            </a:p>
          </p:txBody>
        </p:sp>
        <p:sp>
          <p:nvSpPr>
            <p:cNvPr id="199" name="?"/>
            <p:cNvSpPr txBox="1"/>
            <p:nvPr/>
          </p:nvSpPr>
          <p:spPr>
            <a:xfrm>
              <a:off x="38210" y="357503"/>
              <a:ext cx="2026700" cy="4737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700"/>
                </a:lnSpc>
                <a:defRPr b="1" sz="2600">
                  <a:solidFill>
                    <a:srgbClr val="1F3D2B"/>
                  </a:solidFill>
                  <a:latin typeface="Georgia"/>
                  <a:ea typeface="Georgia"/>
                  <a:cs typeface="Georgia"/>
                  <a:sym typeface="Georgia"/>
                </a:defRPr>
              </a:lvl1pPr>
            </a:lstStyle>
            <a:p>
              <a:pPr/>
              <a:r>
                <a:t>?</a:t>
              </a:r>
            </a:p>
          </p:txBody>
        </p:sp>
      </p:grpSp>
      <p:grpSp>
        <p:nvGrpSpPr>
          <p:cNvPr id="203" name="wf0_2_a"/>
          <p:cNvGrpSpPr/>
          <p:nvPr/>
        </p:nvGrpSpPr>
        <p:grpSpPr>
          <a:xfrm>
            <a:off x="9539934" y="2286000"/>
            <a:ext cx="2103121" cy="1188720"/>
            <a:chOff x="0" y="0"/>
            <a:chExt cx="2103120" cy="1188719"/>
          </a:xfrm>
        </p:grpSpPr>
        <p:sp>
          <p:nvSpPr>
            <p:cNvPr id="201" name="Rounded Rectangle"/>
            <p:cNvSpPr/>
            <p:nvPr/>
          </p:nvSpPr>
          <p:spPr>
            <a:xfrm>
              <a:off x="0" y="0"/>
              <a:ext cx="2103121" cy="1188720"/>
            </a:xfrm>
            <a:prstGeom prst="roundRect">
              <a:avLst>
                <a:gd name="adj" fmla="val 7692"/>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600"/>
                </a:lnSpc>
                <a:defRPr sz="1300"/>
              </a:pPr>
            </a:p>
          </p:txBody>
        </p:sp>
        <p:sp>
          <p:nvSpPr>
            <p:cNvPr id="202" name="Microevolution. The allele frequency changed in one population."/>
            <p:cNvSpPr txBox="1"/>
            <p:nvPr/>
          </p:nvSpPr>
          <p:spPr>
            <a:xfrm>
              <a:off x="36305" y="76486"/>
              <a:ext cx="2030510" cy="1035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600"/>
                </a:lnSpc>
                <a:defRPr b="1" sz="1300">
                  <a:solidFill>
                    <a:srgbClr val="1F3D2B"/>
                  </a:solidFill>
                  <a:latin typeface="Arial"/>
                  <a:ea typeface="Arial"/>
                  <a:cs typeface="Arial"/>
                  <a:sym typeface="Arial"/>
                </a:defRPr>
              </a:lvl1pPr>
            </a:lstStyle>
            <a:p>
              <a:pPr/>
              <a:r>
                <a:t>Microevolution. The allele frequency changed in one population.</a:t>
              </a:r>
            </a:p>
          </p:txBody>
        </p:sp>
      </p:grpSp>
      <p:grpSp>
        <p:nvGrpSpPr>
          <p:cNvPr id="206" name="wf1_0_q"/>
          <p:cNvGrpSpPr/>
          <p:nvPr/>
        </p:nvGrpSpPr>
        <p:grpSpPr>
          <a:xfrm>
            <a:off x="1170432" y="3621023"/>
            <a:ext cx="4023360" cy="1188721"/>
            <a:chOff x="0" y="0"/>
            <a:chExt cx="4023359" cy="1188719"/>
          </a:xfrm>
        </p:grpSpPr>
        <p:sp>
          <p:nvSpPr>
            <p:cNvPr id="204" name="Rounded Rectangle"/>
            <p:cNvSpPr/>
            <p:nvPr/>
          </p:nvSpPr>
          <p:spPr>
            <a:xfrm>
              <a:off x="0" y="0"/>
              <a:ext cx="4023360" cy="1188720"/>
            </a:xfrm>
            <a:prstGeom prst="roundRect">
              <a:avLst>
                <a:gd name="adj" fmla="val 7692"/>
              </a:avLst>
            </a:prstGeom>
            <a:solidFill>
              <a:srgbClr val="FFFFFF"/>
            </a:solidFill>
            <a:ln w="15240" cap="flat">
              <a:solidFill>
                <a:srgbClr val="D9C9A8"/>
              </a:solidFill>
              <a:prstDash val="solid"/>
              <a:round/>
            </a:ln>
            <a:effectLst/>
          </p:spPr>
          <p:txBody>
            <a:bodyPr wrap="square" lIns="45719" tIns="45719" rIns="45719" bIns="45719" numCol="1" anchor="ctr">
              <a:noAutofit/>
            </a:bodyPr>
            <a:lstStyle/>
            <a:p>
              <a:pPr>
                <a:lnSpc>
                  <a:spcPts val="1700"/>
                </a:lnSpc>
                <a:defRPr sz="1300"/>
              </a:pPr>
            </a:p>
          </p:txBody>
        </p:sp>
        <p:sp>
          <p:nvSpPr>
            <p:cNvPr id="205" name="A gene pool has 40 alleles, 10 of them brown. After many generations, 24 of the 40 are brown."/>
            <p:cNvSpPr txBox="1"/>
            <p:nvPr/>
          </p:nvSpPr>
          <p:spPr>
            <a:xfrm>
              <a:off x="34400" y="268256"/>
              <a:ext cx="3954559" cy="6522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700"/>
                </a:lnSpc>
                <a:defRPr sz="1300">
                  <a:solidFill>
                    <a:srgbClr val="1F3D2B"/>
                  </a:solidFill>
                  <a:latin typeface="Arial"/>
                  <a:ea typeface="Arial"/>
                  <a:cs typeface="Arial"/>
                  <a:sym typeface="Arial"/>
                </a:defRPr>
              </a:lvl1pPr>
            </a:lstStyle>
            <a:p>
              <a:pPr/>
              <a:r>
                <a:t>A gene pool has 40 alleles, 10 of them brown. After many generations, 24 of the 40 are brown.</a:t>
              </a:r>
            </a:p>
          </p:txBody>
        </p:sp>
      </p:grpSp>
      <p:sp>
        <p:nvSpPr>
          <p:cNvPr id="207" name="wf1_0_arrow"/>
          <p:cNvSpPr txBox="1"/>
          <p:nvPr/>
        </p:nvSpPr>
        <p:spPr>
          <a:xfrm>
            <a:off x="5193791" y="4073488"/>
            <a:ext cx="275693"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A8651F"/>
                </a:solidFill>
                <a:latin typeface="Arial"/>
                <a:ea typeface="Arial"/>
                <a:cs typeface="Arial"/>
                <a:sym typeface="Arial"/>
              </a:defRPr>
            </a:lvl1pPr>
          </a:lstStyle>
          <a:p>
            <a:pPr/>
            <a:r>
              <a:t>→</a:t>
            </a:r>
          </a:p>
        </p:txBody>
      </p:sp>
      <p:grpSp>
        <p:nvGrpSpPr>
          <p:cNvPr id="210" name="wf1_1_q"/>
          <p:cNvGrpSpPr/>
          <p:nvPr/>
        </p:nvGrpSpPr>
        <p:grpSpPr>
          <a:xfrm>
            <a:off x="5469483" y="3621023"/>
            <a:ext cx="3794761" cy="1188721"/>
            <a:chOff x="0" y="0"/>
            <a:chExt cx="3794759" cy="1188719"/>
          </a:xfrm>
        </p:grpSpPr>
        <p:sp>
          <p:nvSpPr>
            <p:cNvPr id="208" name="Rounded Rectangle"/>
            <p:cNvSpPr/>
            <p:nvPr/>
          </p:nvSpPr>
          <p:spPr>
            <a:xfrm>
              <a:off x="0" y="0"/>
              <a:ext cx="3794760" cy="1188720"/>
            </a:xfrm>
            <a:prstGeom prst="roundRect">
              <a:avLst>
                <a:gd name="adj" fmla="val 7692"/>
              </a:avLst>
            </a:prstGeom>
            <a:solidFill>
              <a:srgbClr val="E8E0CC"/>
            </a:solidFill>
            <a:ln w="22860" cap="flat">
              <a:solidFill>
                <a:srgbClr val="1F3D2B"/>
              </a:solidFill>
              <a:prstDash val="dash"/>
              <a:round/>
            </a:ln>
            <a:effectLst/>
          </p:spPr>
          <p:txBody>
            <a:bodyPr wrap="square" lIns="45719" tIns="45719" rIns="45719" bIns="45719" numCol="1" anchor="ctr">
              <a:noAutofit/>
            </a:bodyPr>
            <a:lstStyle/>
            <a:p>
              <a:pPr algn="ctr">
                <a:lnSpc>
                  <a:spcPts val="1700"/>
                </a:lnSpc>
                <a:defRPr sz="2600"/>
              </a:pPr>
            </a:p>
          </p:txBody>
        </p:sp>
        <p:sp>
          <p:nvSpPr>
            <p:cNvPr id="209" name="?"/>
            <p:cNvSpPr txBox="1"/>
            <p:nvPr/>
          </p:nvSpPr>
          <p:spPr>
            <a:xfrm>
              <a:off x="38210" y="357503"/>
              <a:ext cx="3718339" cy="4737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700"/>
                </a:lnSpc>
                <a:defRPr b="1" sz="2600">
                  <a:solidFill>
                    <a:srgbClr val="1F3D2B"/>
                  </a:solidFill>
                  <a:latin typeface="Georgia"/>
                  <a:ea typeface="Georgia"/>
                  <a:cs typeface="Georgia"/>
                  <a:sym typeface="Georgia"/>
                </a:defRPr>
              </a:lvl1pPr>
            </a:lstStyle>
            <a:p>
              <a:pPr/>
              <a:r>
                <a:t>?</a:t>
              </a:r>
            </a:p>
          </p:txBody>
        </p:sp>
      </p:grpSp>
      <p:grpSp>
        <p:nvGrpSpPr>
          <p:cNvPr id="213" name="wf1_1_a"/>
          <p:cNvGrpSpPr/>
          <p:nvPr/>
        </p:nvGrpSpPr>
        <p:grpSpPr>
          <a:xfrm>
            <a:off x="5469483" y="3621023"/>
            <a:ext cx="3794761" cy="1188721"/>
            <a:chOff x="0" y="0"/>
            <a:chExt cx="3794759" cy="1188719"/>
          </a:xfrm>
        </p:grpSpPr>
        <p:sp>
          <p:nvSpPr>
            <p:cNvPr id="211" name="Rounded Rectangle"/>
            <p:cNvSpPr/>
            <p:nvPr/>
          </p:nvSpPr>
          <p:spPr>
            <a:xfrm>
              <a:off x="0" y="0"/>
              <a:ext cx="3794760" cy="1188720"/>
            </a:xfrm>
            <a:prstGeom prst="roundRect">
              <a:avLst>
                <a:gd name="adj" fmla="val 7692"/>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600"/>
                </a:lnSpc>
                <a:defRPr sz="1300"/>
              </a:pPr>
            </a:p>
          </p:txBody>
        </p:sp>
        <p:sp>
          <p:nvSpPr>
            <p:cNvPr id="212" name="Before: 10 ÷ 40 = 25%. After: 24 ÷ 40 = 60%."/>
            <p:cNvSpPr txBox="1"/>
            <p:nvPr/>
          </p:nvSpPr>
          <p:spPr>
            <a:xfrm>
              <a:off x="36305" y="381286"/>
              <a:ext cx="3722149" cy="426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600"/>
                </a:lnSpc>
                <a:defRPr b="1" sz="1300">
                  <a:solidFill>
                    <a:srgbClr val="1F3D2B"/>
                  </a:solidFill>
                  <a:latin typeface="Arial"/>
                  <a:ea typeface="Arial"/>
                  <a:cs typeface="Arial"/>
                  <a:sym typeface="Arial"/>
                </a:defRPr>
              </a:lvl1pPr>
            </a:lstStyle>
            <a:p>
              <a:pPr/>
              <a:r>
                <a:t>Before: 10 ÷ 40 = 25%. After: 24 ÷ 40 = 60%.</a:t>
              </a:r>
            </a:p>
          </p:txBody>
        </p:sp>
      </p:grpSp>
      <p:sp>
        <p:nvSpPr>
          <p:cNvPr id="214" name="wf1_1_arrow"/>
          <p:cNvSpPr txBox="1"/>
          <p:nvPr/>
        </p:nvSpPr>
        <p:spPr>
          <a:xfrm>
            <a:off x="9264243" y="4073488"/>
            <a:ext cx="275693"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A8651F"/>
                </a:solidFill>
                <a:latin typeface="Arial"/>
                <a:ea typeface="Arial"/>
                <a:cs typeface="Arial"/>
                <a:sym typeface="Arial"/>
              </a:defRPr>
            </a:lvl1pPr>
          </a:lstStyle>
          <a:p>
            <a:pPr/>
            <a:r>
              <a:t>→</a:t>
            </a:r>
          </a:p>
        </p:txBody>
      </p:sp>
      <p:grpSp>
        <p:nvGrpSpPr>
          <p:cNvPr id="217" name="wf1_2_q"/>
          <p:cNvGrpSpPr/>
          <p:nvPr/>
        </p:nvGrpSpPr>
        <p:grpSpPr>
          <a:xfrm>
            <a:off x="9539934" y="3621023"/>
            <a:ext cx="2103121" cy="1188721"/>
            <a:chOff x="0" y="0"/>
            <a:chExt cx="2103120" cy="1188719"/>
          </a:xfrm>
        </p:grpSpPr>
        <p:sp>
          <p:nvSpPr>
            <p:cNvPr id="215" name="Rounded Rectangle"/>
            <p:cNvSpPr/>
            <p:nvPr/>
          </p:nvSpPr>
          <p:spPr>
            <a:xfrm>
              <a:off x="0" y="0"/>
              <a:ext cx="2103121" cy="1188720"/>
            </a:xfrm>
            <a:prstGeom prst="roundRect">
              <a:avLst>
                <a:gd name="adj" fmla="val 7692"/>
              </a:avLst>
            </a:prstGeom>
            <a:solidFill>
              <a:srgbClr val="E8E0CC"/>
            </a:solidFill>
            <a:ln w="22860" cap="flat">
              <a:solidFill>
                <a:srgbClr val="1F3D2B"/>
              </a:solidFill>
              <a:prstDash val="dash"/>
              <a:round/>
            </a:ln>
            <a:effectLst/>
          </p:spPr>
          <p:txBody>
            <a:bodyPr wrap="square" lIns="45719" tIns="45719" rIns="45719" bIns="45719" numCol="1" anchor="ctr">
              <a:noAutofit/>
            </a:bodyPr>
            <a:lstStyle/>
            <a:p>
              <a:pPr algn="ctr">
                <a:lnSpc>
                  <a:spcPts val="1700"/>
                </a:lnSpc>
                <a:defRPr sz="2600"/>
              </a:pPr>
            </a:p>
          </p:txBody>
        </p:sp>
        <p:sp>
          <p:nvSpPr>
            <p:cNvPr id="216" name="?"/>
            <p:cNvSpPr txBox="1"/>
            <p:nvPr/>
          </p:nvSpPr>
          <p:spPr>
            <a:xfrm>
              <a:off x="38210" y="357503"/>
              <a:ext cx="2026700" cy="4737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700"/>
                </a:lnSpc>
                <a:defRPr b="1" sz="2600">
                  <a:solidFill>
                    <a:srgbClr val="1F3D2B"/>
                  </a:solidFill>
                  <a:latin typeface="Georgia"/>
                  <a:ea typeface="Georgia"/>
                  <a:cs typeface="Georgia"/>
                  <a:sym typeface="Georgia"/>
                </a:defRPr>
              </a:lvl1pPr>
            </a:lstStyle>
            <a:p>
              <a:pPr/>
              <a:r>
                <a:t>?</a:t>
              </a:r>
            </a:p>
          </p:txBody>
        </p:sp>
      </p:grpSp>
      <p:grpSp>
        <p:nvGrpSpPr>
          <p:cNvPr id="220" name="wf1_2_a"/>
          <p:cNvGrpSpPr/>
          <p:nvPr/>
        </p:nvGrpSpPr>
        <p:grpSpPr>
          <a:xfrm>
            <a:off x="9539934" y="3621023"/>
            <a:ext cx="2103121" cy="1188721"/>
            <a:chOff x="0" y="0"/>
            <a:chExt cx="2103120" cy="1188719"/>
          </a:xfrm>
        </p:grpSpPr>
        <p:sp>
          <p:nvSpPr>
            <p:cNvPr id="218" name="Rounded Rectangle"/>
            <p:cNvSpPr/>
            <p:nvPr/>
          </p:nvSpPr>
          <p:spPr>
            <a:xfrm>
              <a:off x="0" y="0"/>
              <a:ext cx="2103121" cy="1188720"/>
            </a:xfrm>
            <a:prstGeom prst="roundRect">
              <a:avLst>
                <a:gd name="adj" fmla="val 7692"/>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600"/>
                </a:lnSpc>
                <a:defRPr sz="1300"/>
              </a:pPr>
            </a:p>
          </p:txBody>
        </p:sp>
        <p:sp>
          <p:nvSpPr>
            <p:cNvPr id="219" name="Microevolution. Brown rose from 25% to 60%."/>
            <p:cNvSpPr txBox="1"/>
            <p:nvPr/>
          </p:nvSpPr>
          <p:spPr>
            <a:xfrm>
              <a:off x="36305" y="279686"/>
              <a:ext cx="2030510" cy="6293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600"/>
                </a:lnSpc>
                <a:defRPr b="1" sz="1300">
                  <a:solidFill>
                    <a:srgbClr val="1F3D2B"/>
                  </a:solidFill>
                  <a:latin typeface="Arial"/>
                  <a:ea typeface="Arial"/>
                  <a:cs typeface="Arial"/>
                  <a:sym typeface="Arial"/>
                </a:defRPr>
              </a:lvl1pPr>
            </a:lstStyle>
            <a:p>
              <a:pPr/>
              <a:r>
                <a:t>Microevolution. Brown rose from 25% to 60%.</a:t>
              </a:r>
            </a:p>
          </p:txBody>
        </p:sp>
      </p:grpSp>
      <p:grpSp>
        <p:nvGrpSpPr>
          <p:cNvPr id="223" name="wf2_0_q"/>
          <p:cNvGrpSpPr/>
          <p:nvPr/>
        </p:nvGrpSpPr>
        <p:grpSpPr>
          <a:xfrm>
            <a:off x="1170432" y="4956047"/>
            <a:ext cx="4023360" cy="1188721"/>
            <a:chOff x="0" y="0"/>
            <a:chExt cx="4023359" cy="1188719"/>
          </a:xfrm>
        </p:grpSpPr>
        <p:sp>
          <p:nvSpPr>
            <p:cNvPr id="221" name="Rounded Rectangle"/>
            <p:cNvSpPr/>
            <p:nvPr/>
          </p:nvSpPr>
          <p:spPr>
            <a:xfrm>
              <a:off x="0" y="0"/>
              <a:ext cx="4023360" cy="1188720"/>
            </a:xfrm>
            <a:prstGeom prst="roundRect">
              <a:avLst>
                <a:gd name="adj" fmla="val 7692"/>
              </a:avLst>
            </a:prstGeom>
            <a:solidFill>
              <a:srgbClr val="FFFFFF"/>
            </a:solidFill>
            <a:ln w="15240" cap="flat">
              <a:solidFill>
                <a:srgbClr val="D9C9A8"/>
              </a:solidFill>
              <a:prstDash val="solid"/>
              <a:round/>
            </a:ln>
            <a:effectLst/>
          </p:spPr>
          <p:txBody>
            <a:bodyPr wrap="square" lIns="45719" tIns="45719" rIns="45719" bIns="45719" numCol="1" anchor="ctr">
              <a:noAutofit/>
            </a:bodyPr>
            <a:lstStyle/>
            <a:p>
              <a:pPr>
                <a:lnSpc>
                  <a:spcPts val="1700"/>
                </a:lnSpc>
                <a:defRPr sz="1300"/>
              </a:pPr>
            </a:p>
          </p:txBody>
        </p:sp>
        <p:sp>
          <p:nvSpPr>
            <p:cNvPr id="222" name="Over about 50 million years, the descendants of a small four-legged land mammal included whales."/>
            <p:cNvSpPr txBox="1"/>
            <p:nvPr/>
          </p:nvSpPr>
          <p:spPr>
            <a:xfrm>
              <a:off x="34400" y="268256"/>
              <a:ext cx="3954559" cy="6522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700"/>
                </a:lnSpc>
                <a:defRPr sz="1300">
                  <a:solidFill>
                    <a:srgbClr val="1F3D2B"/>
                  </a:solidFill>
                  <a:latin typeface="Arial"/>
                  <a:ea typeface="Arial"/>
                  <a:cs typeface="Arial"/>
                  <a:sym typeface="Arial"/>
                </a:defRPr>
              </a:lvl1pPr>
            </a:lstStyle>
            <a:p>
              <a:pPr/>
              <a:r>
                <a:t>Over about 50 million years, the descendants of a small four-legged land mammal included whales.</a:t>
              </a:r>
            </a:p>
          </p:txBody>
        </p:sp>
      </p:grpSp>
      <p:sp>
        <p:nvSpPr>
          <p:cNvPr id="224" name="wf2_0_arrow"/>
          <p:cNvSpPr txBox="1"/>
          <p:nvPr/>
        </p:nvSpPr>
        <p:spPr>
          <a:xfrm>
            <a:off x="5193791" y="5408512"/>
            <a:ext cx="275693"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A8651F"/>
                </a:solidFill>
                <a:latin typeface="Arial"/>
                <a:ea typeface="Arial"/>
                <a:cs typeface="Arial"/>
                <a:sym typeface="Arial"/>
              </a:defRPr>
            </a:lvl1pPr>
          </a:lstStyle>
          <a:p>
            <a:pPr/>
            <a:r>
              <a:t>→</a:t>
            </a:r>
          </a:p>
        </p:txBody>
      </p:sp>
      <p:grpSp>
        <p:nvGrpSpPr>
          <p:cNvPr id="227" name="wf2_1_q"/>
          <p:cNvGrpSpPr/>
          <p:nvPr/>
        </p:nvGrpSpPr>
        <p:grpSpPr>
          <a:xfrm>
            <a:off x="5469483" y="4956047"/>
            <a:ext cx="3794761" cy="1188721"/>
            <a:chOff x="0" y="0"/>
            <a:chExt cx="3794759" cy="1188719"/>
          </a:xfrm>
        </p:grpSpPr>
        <p:sp>
          <p:nvSpPr>
            <p:cNvPr id="225" name="Rounded Rectangle"/>
            <p:cNvSpPr/>
            <p:nvPr/>
          </p:nvSpPr>
          <p:spPr>
            <a:xfrm>
              <a:off x="0" y="0"/>
              <a:ext cx="3794760" cy="1188720"/>
            </a:xfrm>
            <a:prstGeom prst="roundRect">
              <a:avLst>
                <a:gd name="adj" fmla="val 7692"/>
              </a:avLst>
            </a:prstGeom>
            <a:solidFill>
              <a:srgbClr val="E8E0CC"/>
            </a:solidFill>
            <a:ln w="22860" cap="flat">
              <a:solidFill>
                <a:srgbClr val="1F3D2B"/>
              </a:solidFill>
              <a:prstDash val="dash"/>
              <a:round/>
            </a:ln>
            <a:effectLst/>
          </p:spPr>
          <p:txBody>
            <a:bodyPr wrap="square" lIns="45719" tIns="45719" rIns="45719" bIns="45719" numCol="1" anchor="ctr">
              <a:noAutofit/>
            </a:bodyPr>
            <a:lstStyle/>
            <a:p>
              <a:pPr algn="ctr">
                <a:lnSpc>
                  <a:spcPts val="1700"/>
                </a:lnSpc>
                <a:defRPr sz="2600"/>
              </a:pPr>
            </a:p>
          </p:txBody>
        </p:sp>
        <p:sp>
          <p:nvSpPr>
            <p:cNvPr id="226" name="?"/>
            <p:cNvSpPr txBox="1"/>
            <p:nvPr/>
          </p:nvSpPr>
          <p:spPr>
            <a:xfrm>
              <a:off x="38210" y="357503"/>
              <a:ext cx="3718339" cy="4737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700"/>
                </a:lnSpc>
                <a:defRPr b="1" sz="2600">
                  <a:solidFill>
                    <a:srgbClr val="1F3D2B"/>
                  </a:solidFill>
                  <a:latin typeface="Georgia"/>
                  <a:ea typeface="Georgia"/>
                  <a:cs typeface="Georgia"/>
                  <a:sym typeface="Georgia"/>
                </a:defRPr>
              </a:lvl1pPr>
            </a:lstStyle>
            <a:p>
              <a:pPr/>
              <a:r>
                <a:t>?</a:t>
              </a:r>
            </a:p>
          </p:txBody>
        </p:sp>
      </p:grpSp>
      <p:grpSp>
        <p:nvGrpSpPr>
          <p:cNvPr id="230" name="wf2_1_a"/>
          <p:cNvGrpSpPr/>
          <p:nvPr/>
        </p:nvGrpSpPr>
        <p:grpSpPr>
          <a:xfrm>
            <a:off x="5469483" y="4956047"/>
            <a:ext cx="3794761" cy="1188721"/>
            <a:chOff x="0" y="0"/>
            <a:chExt cx="3794759" cy="1188719"/>
          </a:xfrm>
        </p:grpSpPr>
        <p:sp>
          <p:nvSpPr>
            <p:cNvPr id="228" name="Rounded Rectangle"/>
            <p:cNvSpPr/>
            <p:nvPr/>
          </p:nvSpPr>
          <p:spPr>
            <a:xfrm>
              <a:off x="0" y="0"/>
              <a:ext cx="3794760" cy="1188720"/>
            </a:xfrm>
            <a:prstGeom prst="roundRect">
              <a:avLst>
                <a:gd name="adj" fmla="val 7692"/>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600"/>
                </a:lnSpc>
                <a:defRPr sz="1300"/>
              </a:pPr>
            </a:p>
          </p:txBody>
        </p:sp>
        <p:sp>
          <p:nvSpPr>
            <p:cNvPr id="229" name="A large change, over a very long time, that made new groups. It is above the species level."/>
            <p:cNvSpPr txBox="1"/>
            <p:nvPr/>
          </p:nvSpPr>
          <p:spPr>
            <a:xfrm>
              <a:off x="36305" y="178086"/>
              <a:ext cx="3722149" cy="8325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600"/>
                </a:lnSpc>
                <a:defRPr b="1" sz="1300">
                  <a:solidFill>
                    <a:srgbClr val="1F3D2B"/>
                  </a:solidFill>
                  <a:latin typeface="Arial"/>
                  <a:ea typeface="Arial"/>
                  <a:cs typeface="Arial"/>
                  <a:sym typeface="Arial"/>
                </a:defRPr>
              </a:lvl1pPr>
            </a:lstStyle>
            <a:p>
              <a:pPr/>
              <a:r>
                <a:t>A large change, over a very long time, that made new groups. It is above the species level.</a:t>
              </a:r>
            </a:p>
          </p:txBody>
        </p:sp>
      </p:grpSp>
      <p:sp>
        <p:nvSpPr>
          <p:cNvPr id="231" name="wf2_1_arrow"/>
          <p:cNvSpPr txBox="1"/>
          <p:nvPr/>
        </p:nvSpPr>
        <p:spPr>
          <a:xfrm>
            <a:off x="9264243" y="5408512"/>
            <a:ext cx="275693"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A8651F"/>
                </a:solidFill>
                <a:latin typeface="Arial"/>
                <a:ea typeface="Arial"/>
                <a:cs typeface="Arial"/>
                <a:sym typeface="Arial"/>
              </a:defRPr>
            </a:lvl1pPr>
          </a:lstStyle>
          <a:p>
            <a:pPr/>
            <a:r>
              <a:t>→</a:t>
            </a:r>
          </a:p>
        </p:txBody>
      </p:sp>
      <p:grpSp>
        <p:nvGrpSpPr>
          <p:cNvPr id="234" name="wf2_2_q"/>
          <p:cNvGrpSpPr/>
          <p:nvPr/>
        </p:nvGrpSpPr>
        <p:grpSpPr>
          <a:xfrm>
            <a:off x="9539934" y="4956047"/>
            <a:ext cx="2103121" cy="1188721"/>
            <a:chOff x="0" y="0"/>
            <a:chExt cx="2103120" cy="1188719"/>
          </a:xfrm>
        </p:grpSpPr>
        <p:sp>
          <p:nvSpPr>
            <p:cNvPr id="232" name="Rounded Rectangle"/>
            <p:cNvSpPr/>
            <p:nvPr/>
          </p:nvSpPr>
          <p:spPr>
            <a:xfrm>
              <a:off x="0" y="0"/>
              <a:ext cx="2103121" cy="1188720"/>
            </a:xfrm>
            <a:prstGeom prst="roundRect">
              <a:avLst>
                <a:gd name="adj" fmla="val 7692"/>
              </a:avLst>
            </a:prstGeom>
            <a:solidFill>
              <a:srgbClr val="E8E0CC"/>
            </a:solidFill>
            <a:ln w="22860" cap="flat">
              <a:solidFill>
                <a:srgbClr val="1F3D2B"/>
              </a:solidFill>
              <a:prstDash val="dash"/>
              <a:round/>
            </a:ln>
            <a:effectLst/>
          </p:spPr>
          <p:txBody>
            <a:bodyPr wrap="square" lIns="45719" tIns="45719" rIns="45719" bIns="45719" numCol="1" anchor="ctr">
              <a:noAutofit/>
            </a:bodyPr>
            <a:lstStyle/>
            <a:p>
              <a:pPr algn="ctr">
                <a:lnSpc>
                  <a:spcPts val="1700"/>
                </a:lnSpc>
                <a:defRPr sz="2600"/>
              </a:pPr>
            </a:p>
          </p:txBody>
        </p:sp>
        <p:sp>
          <p:nvSpPr>
            <p:cNvPr id="233" name="?"/>
            <p:cNvSpPr txBox="1"/>
            <p:nvPr/>
          </p:nvSpPr>
          <p:spPr>
            <a:xfrm>
              <a:off x="38210" y="357503"/>
              <a:ext cx="2026700" cy="47371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gn="ctr">
                <a:lnSpc>
                  <a:spcPts val="1700"/>
                </a:lnSpc>
                <a:defRPr b="1" sz="2600">
                  <a:solidFill>
                    <a:srgbClr val="1F3D2B"/>
                  </a:solidFill>
                  <a:latin typeface="Georgia"/>
                  <a:ea typeface="Georgia"/>
                  <a:cs typeface="Georgia"/>
                  <a:sym typeface="Georgia"/>
                </a:defRPr>
              </a:lvl1pPr>
            </a:lstStyle>
            <a:p>
              <a:pPr/>
              <a:r>
                <a:t>?</a:t>
              </a:r>
            </a:p>
          </p:txBody>
        </p:sp>
      </p:grpSp>
      <p:grpSp>
        <p:nvGrpSpPr>
          <p:cNvPr id="237" name="wf2_2_a"/>
          <p:cNvGrpSpPr/>
          <p:nvPr/>
        </p:nvGrpSpPr>
        <p:grpSpPr>
          <a:xfrm>
            <a:off x="9539934" y="4956047"/>
            <a:ext cx="2103121" cy="1188721"/>
            <a:chOff x="0" y="0"/>
            <a:chExt cx="2103120" cy="1188719"/>
          </a:xfrm>
        </p:grpSpPr>
        <p:sp>
          <p:nvSpPr>
            <p:cNvPr id="235" name="Rounded Rectangle"/>
            <p:cNvSpPr/>
            <p:nvPr/>
          </p:nvSpPr>
          <p:spPr>
            <a:xfrm>
              <a:off x="0" y="0"/>
              <a:ext cx="2103121" cy="1188720"/>
            </a:xfrm>
            <a:prstGeom prst="roundRect">
              <a:avLst>
                <a:gd name="adj" fmla="val 7692"/>
              </a:avLst>
            </a:prstGeom>
            <a:solidFill>
              <a:srgbClr val="F6E7C8"/>
            </a:solidFill>
            <a:ln w="19050" cap="flat">
              <a:solidFill>
                <a:srgbClr val="C1442D"/>
              </a:solidFill>
              <a:prstDash val="solid"/>
              <a:round/>
            </a:ln>
            <a:effectLst/>
          </p:spPr>
          <p:txBody>
            <a:bodyPr wrap="square" lIns="45719" tIns="45719" rIns="45719" bIns="45719" numCol="1" anchor="ctr">
              <a:noAutofit/>
            </a:bodyPr>
            <a:lstStyle/>
            <a:p>
              <a:pPr>
                <a:lnSpc>
                  <a:spcPts val="1600"/>
                </a:lnSpc>
                <a:defRPr sz="1300"/>
              </a:pPr>
            </a:p>
          </p:txBody>
        </p:sp>
        <p:sp>
          <p:nvSpPr>
            <p:cNvPr id="236" name="Macroevolution."/>
            <p:cNvSpPr txBox="1"/>
            <p:nvPr/>
          </p:nvSpPr>
          <p:spPr>
            <a:xfrm>
              <a:off x="36305" y="381286"/>
              <a:ext cx="2030510" cy="426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ctr">
              <a:spAutoFit/>
            </a:bodyPr>
            <a:lstStyle>
              <a:lvl1pPr>
                <a:lnSpc>
                  <a:spcPts val="1600"/>
                </a:lnSpc>
                <a:defRPr b="1" sz="1300">
                  <a:solidFill>
                    <a:srgbClr val="1F3D2B"/>
                  </a:solidFill>
                  <a:latin typeface="Arial"/>
                  <a:ea typeface="Arial"/>
                  <a:cs typeface="Arial"/>
                  <a:sym typeface="Arial"/>
                </a:defRPr>
              </a:lvl1pPr>
            </a:lstStyle>
            <a:p>
              <a:pPr/>
              <a:r>
                <a:t>Macroevolution.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8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03"/>
                                        </p:tgtEl>
                                        <p:attrNameLst>
                                          <p:attrName>style.visibility</p:attrName>
                                        </p:attrNameLst>
                                      </p:cBhvr>
                                      <p:to>
                                        <p:strVal val="visible"/>
                                      </p:to>
                                    </p:set>
                                    <p:anim calcmode="lin" valueType="num">
                                      <p:cBhvr>
                                        <p:cTn id="11" dur="400" fill="hold"/>
                                        <p:tgtEl>
                                          <p:spTgt spid="203"/>
                                        </p:tgtEl>
                                        <p:attrNameLst>
                                          <p:attrName>ppt_w</p:attrName>
                                        </p:attrNameLst>
                                      </p:cBhvr>
                                      <p:tavLst>
                                        <p:tav tm="0">
                                          <p:val>
                                            <p:fltVal val="0"/>
                                          </p:val>
                                        </p:tav>
                                        <p:tav tm="100000">
                                          <p:val>
                                            <p:strVal val="#ppt_w"/>
                                          </p:val>
                                        </p:tav>
                                      </p:tavLst>
                                    </p:anim>
                                    <p:anim calcmode="lin" valueType="num">
                                      <p:cBhvr>
                                        <p:cTn id="12" dur="400" fill="hold"/>
                                        <p:tgtEl>
                                          <p:spTgt spid="203"/>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213"/>
                                        </p:tgtEl>
                                        <p:attrNameLst>
                                          <p:attrName>style.visibility</p:attrName>
                                        </p:attrNameLst>
                                      </p:cBhvr>
                                      <p:to>
                                        <p:strVal val="visible"/>
                                      </p:to>
                                    </p:set>
                                    <p:anim calcmode="lin" valueType="num">
                                      <p:cBhvr>
                                        <p:cTn id="17" dur="400" fill="hold"/>
                                        <p:tgtEl>
                                          <p:spTgt spid="213"/>
                                        </p:tgtEl>
                                        <p:attrNameLst>
                                          <p:attrName>ppt_w</p:attrName>
                                        </p:attrNameLst>
                                      </p:cBhvr>
                                      <p:tavLst>
                                        <p:tav tm="0">
                                          <p:val>
                                            <p:fltVal val="0"/>
                                          </p:val>
                                        </p:tav>
                                        <p:tav tm="100000">
                                          <p:val>
                                            <p:strVal val="#ppt_w"/>
                                          </p:val>
                                        </p:tav>
                                      </p:tavLst>
                                    </p:anim>
                                    <p:anim calcmode="lin" valueType="num">
                                      <p:cBhvr>
                                        <p:cTn id="18" dur="400" fill="hold"/>
                                        <p:tgtEl>
                                          <p:spTgt spid="213"/>
                                        </p:tgtEl>
                                        <p:attrNameLst>
                                          <p:attrName>ppt_h</p:attrName>
                                        </p:attrNameLst>
                                      </p:cBhvr>
                                      <p:tavLst>
                                        <p:tav tm="0">
                                          <p:val>
                                            <p:fltVal val="0"/>
                                          </p:val>
                                        </p:tav>
                                        <p:tav tm="100000">
                                          <p:val>
                                            <p:strVal val="#ppt_h"/>
                                          </p:val>
                                        </p:tav>
                                      </p:tavLst>
                                    </p:anim>
                                  </p:childTnLst>
                                </p:cTn>
                              </p:par>
                            </p:childTnLst>
                          </p:cTn>
                        </p:par>
                        <p:par>
                          <p:cTn id="19" fill="hold">
                            <p:stCondLst>
                              <p:cond delay="400"/>
                            </p:stCondLst>
                            <p:childTnLst>
                              <p:par>
                                <p:cTn id="20" presetClass="entr" nodeType="afterEffect" presetSubtype="16" presetID="23" grpId="4" fill="hold">
                                  <p:stCondLst>
                                    <p:cond delay="0"/>
                                  </p:stCondLst>
                                  <p:iterate type="el" backwards="0">
                                    <p:tmAbs val="0"/>
                                  </p:iterate>
                                  <p:childTnLst>
                                    <p:set>
                                      <p:cBhvr>
                                        <p:cTn id="21" fill="hold"/>
                                        <p:tgtEl>
                                          <p:spTgt spid="220"/>
                                        </p:tgtEl>
                                        <p:attrNameLst>
                                          <p:attrName>style.visibility</p:attrName>
                                        </p:attrNameLst>
                                      </p:cBhvr>
                                      <p:to>
                                        <p:strVal val="visible"/>
                                      </p:to>
                                    </p:set>
                                    <p:anim calcmode="lin" valueType="num">
                                      <p:cBhvr>
                                        <p:cTn id="22" dur="400" fill="hold"/>
                                        <p:tgtEl>
                                          <p:spTgt spid="220"/>
                                        </p:tgtEl>
                                        <p:attrNameLst>
                                          <p:attrName>ppt_w</p:attrName>
                                        </p:attrNameLst>
                                      </p:cBhvr>
                                      <p:tavLst>
                                        <p:tav tm="0">
                                          <p:val>
                                            <p:fltVal val="0"/>
                                          </p:val>
                                        </p:tav>
                                        <p:tav tm="100000">
                                          <p:val>
                                            <p:strVal val="#ppt_w"/>
                                          </p:val>
                                        </p:tav>
                                      </p:tavLst>
                                    </p:anim>
                                    <p:anim calcmode="lin" valueType="num">
                                      <p:cBhvr>
                                        <p:cTn id="23" dur="400" fill="hold"/>
                                        <p:tgtEl>
                                          <p:spTgt spid="220"/>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16" presetID="23" grpId="5" fill="hold">
                                  <p:stCondLst>
                                    <p:cond delay="0"/>
                                  </p:stCondLst>
                                  <p:iterate type="el" backwards="0">
                                    <p:tmAbs val="0"/>
                                  </p:iterate>
                                  <p:childTnLst>
                                    <p:set>
                                      <p:cBhvr>
                                        <p:cTn id="27" fill="hold"/>
                                        <p:tgtEl>
                                          <p:spTgt spid="230"/>
                                        </p:tgtEl>
                                        <p:attrNameLst>
                                          <p:attrName>style.visibility</p:attrName>
                                        </p:attrNameLst>
                                      </p:cBhvr>
                                      <p:to>
                                        <p:strVal val="visible"/>
                                      </p:to>
                                    </p:set>
                                    <p:anim calcmode="lin" valueType="num">
                                      <p:cBhvr>
                                        <p:cTn id="28" dur="400" fill="hold"/>
                                        <p:tgtEl>
                                          <p:spTgt spid="230"/>
                                        </p:tgtEl>
                                        <p:attrNameLst>
                                          <p:attrName>ppt_w</p:attrName>
                                        </p:attrNameLst>
                                      </p:cBhvr>
                                      <p:tavLst>
                                        <p:tav tm="0">
                                          <p:val>
                                            <p:fltVal val="0"/>
                                          </p:val>
                                        </p:tav>
                                        <p:tav tm="100000">
                                          <p:val>
                                            <p:strVal val="#ppt_w"/>
                                          </p:val>
                                        </p:tav>
                                      </p:tavLst>
                                    </p:anim>
                                    <p:anim calcmode="lin" valueType="num">
                                      <p:cBhvr>
                                        <p:cTn id="29" dur="400" fill="hold"/>
                                        <p:tgtEl>
                                          <p:spTgt spid="230"/>
                                        </p:tgtEl>
                                        <p:attrNameLst>
                                          <p:attrName>ppt_h</p:attrName>
                                        </p:attrNameLst>
                                      </p:cBhvr>
                                      <p:tavLst>
                                        <p:tav tm="0">
                                          <p:val>
                                            <p:fltVal val="0"/>
                                          </p:val>
                                        </p:tav>
                                        <p:tav tm="100000">
                                          <p:val>
                                            <p:strVal val="#ppt_h"/>
                                          </p:val>
                                        </p:tav>
                                      </p:tavLst>
                                    </p:anim>
                                  </p:childTnLst>
                                </p:cTn>
                              </p:par>
                            </p:childTnLst>
                          </p:cTn>
                        </p:par>
                        <p:par>
                          <p:cTn id="30" fill="hold">
                            <p:stCondLst>
                              <p:cond delay="400"/>
                            </p:stCondLst>
                            <p:childTnLst>
                              <p:par>
                                <p:cTn id="31" presetClass="entr" nodeType="afterEffect" presetSubtype="16" presetID="23" grpId="6" fill="hold">
                                  <p:stCondLst>
                                    <p:cond delay="0"/>
                                  </p:stCondLst>
                                  <p:iterate type="el" backwards="0">
                                    <p:tmAbs val="0"/>
                                  </p:iterate>
                                  <p:childTnLst>
                                    <p:set>
                                      <p:cBhvr>
                                        <p:cTn id="32" fill="hold"/>
                                        <p:tgtEl>
                                          <p:spTgt spid="237"/>
                                        </p:tgtEl>
                                        <p:attrNameLst>
                                          <p:attrName>style.visibility</p:attrName>
                                        </p:attrNameLst>
                                      </p:cBhvr>
                                      <p:to>
                                        <p:strVal val="visible"/>
                                      </p:to>
                                    </p:set>
                                    <p:anim calcmode="lin" valueType="num">
                                      <p:cBhvr>
                                        <p:cTn id="33" dur="400" fill="hold"/>
                                        <p:tgtEl>
                                          <p:spTgt spid="237"/>
                                        </p:tgtEl>
                                        <p:attrNameLst>
                                          <p:attrName>ppt_w</p:attrName>
                                        </p:attrNameLst>
                                      </p:cBhvr>
                                      <p:tavLst>
                                        <p:tav tm="0">
                                          <p:val>
                                            <p:fltVal val="0"/>
                                          </p:val>
                                        </p:tav>
                                        <p:tav tm="100000">
                                          <p:val>
                                            <p:strVal val="#ppt_w"/>
                                          </p:val>
                                        </p:tav>
                                      </p:tavLst>
                                    </p:anim>
                                    <p:anim calcmode="lin" valueType="num">
                                      <p:cBhvr>
                                        <p:cTn id="34" dur="400" fill="hold"/>
                                        <p:tgtEl>
                                          <p:spTgt spid="2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5" fill="hold" display="0">
                  <p:stCondLst>
                    <p:cond delay="indefinite"/>
                  </p:stCondLst>
                </p:cTn>
                <p:tgtEl>
                  <p:spTgt spid="181"/>
                </p:tgtEl>
              </p:cMediaNode>
            </p:video>
            <p:seq concurrent="1" prevAc="none" nextAc="seek">
              <p:cTn id="36" evtFilter="cancelBubble" nodeType="interactiveSeq" restart="whenNotActive" fill="hold">
                <p:stCondLst>
                  <p:cond delay="0" evt="onClick">
                    <p:tgtEl>
                      <p:spTgt spid="181"/>
                    </p:tgtEl>
                  </p:cond>
                </p:stCondLst>
                <p:endSync delay="0" evt="end">
                  <p:rtn val="all"/>
                </p:endSync>
                <p:childTnLst>
                  <p:par>
                    <p:cTn id="37" fill="hold">
                      <p:stCondLst>
                        <p:cond delay="0"/>
                      </p:stCondLst>
                      <p:childTnLst>
                        <p:par>
                          <p:cTn id="38" fill="hold">
                            <p:stCondLst>
                              <p:cond delay="0"/>
                            </p:stCondLst>
                            <p:childTnLst>
                              <p:par>
                                <p:cTn id="39" presetClass="mediacall" nodeType="clickEffect" presetSubtype="0" presetID="2" fill="hold">
                                  <p:stCondLst>
                                    <p:cond delay="0"/>
                                  </p:stCondLst>
                                  <p:childTnLst>
                                    <p:cmd type="call" cmd="togglePause">
                                      <p:cBhvr>
                                        <p:cTn id="40" dur="1" fill="hold"/>
                                        <p:tgtEl>
                                          <p:spTgt spid="181"/>
                                        </p:tgtEl>
                                      </p:cBhvr>
                                    </p:cmd>
                                  </p:childTnLst>
                                </p:cTn>
                              </p:par>
                            </p:childTnLst>
                          </p:cTn>
                        </p:par>
                      </p:childTnLst>
                    </p:cTn>
                  </p:par>
                </p:childTnLst>
              </p:cTn>
              <p:nextCondLst>
                <p:cond delay="0" evt="onClick">
                  <p:tgtEl>
                    <p:spTgt spid="181"/>
                  </p:tgtEl>
                </p:cond>
              </p:nextCondLst>
            </p:seq>
          </p:childTnLst>
        </p:cTn>
      </p:par>
    </p:tnLst>
    <p:bldLst>
      <p:bldP build="whole" bldLvl="1" animBg="1" rev="0" advAuto="0" spid="237" grpId="6"/>
      <p:bldP build="whole" bldLvl="1" animBg="1" rev="0" advAuto="0" spid="220" grpId="4"/>
      <p:bldP build="whole" bldLvl="1" animBg="1" rev="0" advAuto="0" spid="203" grpId="2"/>
      <p:bldP build="whole" bldLvl="1" animBg="1" rev="0" advAuto="0" spid="213" grpId="3"/>
      <p:bldP build="whole" bldLvl="1" animBg="1" rev="0" advAuto="0" spid="230" grpId="5"/>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4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44" name="phase_pill"/>
          <p:cNvGrpSpPr/>
          <p:nvPr/>
        </p:nvGrpSpPr>
        <p:grpSpPr>
          <a:xfrm>
            <a:off x="1170432" y="310895"/>
            <a:ext cx="2072030" cy="329185"/>
            <a:chOff x="0" y="0"/>
            <a:chExt cx="2072029" cy="329184"/>
          </a:xfrm>
        </p:grpSpPr>
        <p:sp>
          <p:nvSpPr>
            <p:cNvPr id="242" name="Rounded Rectangle"/>
            <p:cNvSpPr/>
            <p:nvPr/>
          </p:nvSpPr>
          <p:spPr>
            <a:xfrm>
              <a:off x="0" y="0"/>
              <a:ext cx="2072030"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43"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45" name="c0_bg"/>
          <p:cNvSpPr/>
          <p:nvPr/>
        </p:nvSpPr>
        <p:spPr>
          <a:xfrm>
            <a:off x="1170432" y="960119"/>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46" name="c0_badge"/>
          <p:cNvSpPr/>
          <p:nvPr/>
        </p:nvSpPr>
        <p:spPr>
          <a:xfrm>
            <a:off x="1371600" y="1307591"/>
            <a:ext cx="384048" cy="384049"/>
          </a:xfrm>
          <a:prstGeom prst="ellipse">
            <a:avLst/>
          </a:prstGeom>
          <a:solidFill>
            <a:srgbClr val="DE9A4C"/>
          </a:solidFill>
          <a:ln w="12700">
            <a:solidFill>
              <a:srgbClr val="DE9A4C"/>
            </a:solidFill>
          </a:ln>
        </p:spPr>
        <p:txBody>
          <a:bodyPr lIns="45719" rIns="45719"/>
          <a:lstStyle/>
          <a:p>
            <a:pPr/>
          </a:p>
        </p:txBody>
      </p:sp>
      <p:sp>
        <p:nvSpPr>
          <p:cNvPr id="247"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248" name="c0_q"/>
          <p:cNvSpPr txBox="1"/>
          <p:nvPr/>
        </p:nvSpPr>
        <p:spPr>
          <a:xfrm>
            <a:off x="1901951"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Define a gene pool.</a:t>
            </a:r>
          </a:p>
        </p:txBody>
      </p:sp>
      <p:grpSp>
        <p:nvGrpSpPr>
          <p:cNvPr id="251" name="c0_a"/>
          <p:cNvGrpSpPr/>
          <p:nvPr/>
        </p:nvGrpSpPr>
        <p:grpSpPr>
          <a:xfrm>
            <a:off x="1371600" y="1947672"/>
            <a:ext cx="4696817" cy="457201"/>
            <a:chOff x="0" y="0"/>
            <a:chExt cx="4696816" cy="457200"/>
          </a:xfrm>
        </p:grpSpPr>
        <p:sp>
          <p:nvSpPr>
            <p:cNvPr id="249"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50" name="All the alleles of all the individuals in a population."/>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All the alleles of all the individuals in a population.</a:t>
              </a:r>
            </a:p>
          </p:txBody>
        </p:sp>
      </p:grpSp>
      <p:sp>
        <p:nvSpPr>
          <p:cNvPr id="252" name="c1_bg"/>
          <p:cNvSpPr/>
          <p:nvPr/>
        </p:nvSpPr>
        <p:spPr>
          <a:xfrm>
            <a:off x="6543903" y="960119"/>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53" name="c1_badge"/>
          <p:cNvSpPr/>
          <p:nvPr/>
        </p:nvSpPr>
        <p:spPr>
          <a:xfrm>
            <a:off x="6745072" y="1307591"/>
            <a:ext cx="384049" cy="384049"/>
          </a:xfrm>
          <a:prstGeom prst="ellipse">
            <a:avLst/>
          </a:prstGeom>
          <a:solidFill>
            <a:srgbClr val="DE9A4C"/>
          </a:solidFill>
          <a:ln w="12700">
            <a:solidFill>
              <a:srgbClr val="DE9A4C"/>
            </a:solidFill>
          </a:ln>
        </p:spPr>
        <p:txBody>
          <a:bodyPr lIns="45719" rIns="45719"/>
          <a:lstStyle/>
          <a:p>
            <a:pPr/>
          </a:p>
        </p:txBody>
      </p:sp>
      <p:sp>
        <p:nvSpPr>
          <p:cNvPr id="254"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255" name="c1_q"/>
          <p:cNvSpPr txBox="1"/>
          <p:nvPr/>
        </p:nvSpPr>
        <p:spPr>
          <a:xfrm>
            <a:off x="7275424"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what an allele is. Give an example.</a:t>
            </a:r>
          </a:p>
        </p:txBody>
      </p:sp>
      <p:grpSp>
        <p:nvGrpSpPr>
          <p:cNvPr id="258" name="c1_a"/>
          <p:cNvGrpSpPr/>
          <p:nvPr/>
        </p:nvGrpSpPr>
        <p:grpSpPr>
          <a:xfrm>
            <a:off x="6745072" y="1924764"/>
            <a:ext cx="4696817" cy="503016"/>
            <a:chOff x="0" y="0"/>
            <a:chExt cx="4696816" cy="503014"/>
          </a:xfrm>
        </p:grpSpPr>
        <p:sp>
          <p:nvSpPr>
            <p:cNvPr id="256"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57" name="A version of a gene, for example the brown-eye or the blue-eye allele."/>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version of a gene, for example the brown-eye or the blue-eye allele.</a:t>
              </a:r>
            </a:p>
          </p:txBody>
        </p:sp>
      </p:grpSp>
      <p:sp>
        <p:nvSpPr>
          <p:cNvPr id="259" name="c2_bg"/>
          <p:cNvSpPr/>
          <p:nvPr/>
        </p:nvSpPr>
        <p:spPr>
          <a:xfrm>
            <a:off x="1170432" y="2679192"/>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60" name="c2_badge"/>
          <p:cNvSpPr/>
          <p:nvPr/>
        </p:nvSpPr>
        <p:spPr>
          <a:xfrm>
            <a:off x="1371600" y="3026664"/>
            <a:ext cx="384048" cy="384049"/>
          </a:xfrm>
          <a:prstGeom prst="ellipse">
            <a:avLst/>
          </a:prstGeom>
          <a:solidFill>
            <a:srgbClr val="DE9A4C"/>
          </a:solidFill>
          <a:ln w="12700">
            <a:solidFill>
              <a:srgbClr val="DE9A4C"/>
            </a:solidFill>
          </a:ln>
        </p:spPr>
        <p:txBody>
          <a:bodyPr lIns="45719" rIns="45719"/>
          <a:lstStyle/>
          <a:p>
            <a:pPr/>
          </a:p>
        </p:txBody>
      </p:sp>
      <p:sp>
        <p:nvSpPr>
          <p:cNvPr id="261"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262" name="c2_q"/>
          <p:cNvSpPr txBox="1"/>
          <p:nvPr/>
        </p:nvSpPr>
        <p:spPr>
          <a:xfrm>
            <a:off x="1901951" y="2841557"/>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A gene pool has 50 alleles. 10 are brown. Calculate the allele frequency of brown, as a percentage.</a:t>
            </a:r>
          </a:p>
        </p:txBody>
      </p:sp>
      <p:grpSp>
        <p:nvGrpSpPr>
          <p:cNvPr id="265" name="c2_a"/>
          <p:cNvGrpSpPr/>
          <p:nvPr/>
        </p:nvGrpSpPr>
        <p:grpSpPr>
          <a:xfrm>
            <a:off x="1371600" y="3666744"/>
            <a:ext cx="4696817" cy="457201"/>
            <a:chOff x="0" y="0"/>
            <a:chExt cx="4696816" cy="457200"/>
          </a:xfrm>
        </p:grpSpPr>
        <p:sp>
          <p:nvSpPr>
            <p:cNvPr id="263"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64" name="10 ÷ 50 = 0.2 = 20%"/>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10 ÷ 50 = 0.2 = 20%</a:t>
              </a:r>
            </a:p>
          </p:txBody>
        </p:sp>
      </p:grpSp>
      <p:sp>
        <p:nvSpPr>
          <p:cNvPr id="266" name="c3_bg"/>
          <p:cNvSpPr/>
          <p:nvPr/>
        </p:nvSpPr>
        <p:spPr>
          <a:xfrm>
            <a:off x="6543903" y="2679192"/>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67" name="c3_badge"/>
          <p:cNvSpPr/>
          <p:nvPr/>
        </p:nvSpPr>
        <p:spPr>
          <a:xfrm>
            <a:off x="6745072" y="3026664"/>
            <a:ext cx="384049" cy="384049"/>
          </a:xfrm>
          <a:prstGeom prst="ellipse">
            <a:avLst/>
          </a:prstGeom>
          <a:solidFill>
            <a:srgbClr val="DE9A4C"/>
          </a:solidFill>
          <a:ln w="12700">
            <a:solidFill>
              <a:srgbClr val="DE9A4C"/>
            </a:solidFill>
          </a:ln>
        </p:spPr>
        <p:txBody>
          <a:bodyPr lIns="45719" rIns="45719"/>
          <a:lstStyle/>
          <a:p>
            <a:pPr/>
          </a:p>
        </p:txBody>
      </p:sp>
      <p:sp>
        <p:nvSpPr>
          <p:cNvPr id="268"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269"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Explain why fish giving rise to land animals is macroevolution, not microevolution.</a:t>
            </a:r>
          </a:p>
        </p:txBody>
      </p:sp>
      <p:grpSp>
        <p:nvGrpSpPr>
          <p:cNvPr id="272" name="c3_a"/>
          <p:cNvGrpSpPr/>
          <p:nvPr/>
        </p:nvGrpSpPr>
        <p:grpSpPr>
          <a:xfrm>
            <a:off x="6745072" y="3643836"/>
            <a:ext cx="4696817" cy="503016"/>
            <a:chOff x="0" y="0"/>
            <a:chExt cx="4696816" cy="503014"/>
          </a:xfrm>
        </p:grpSpPr>
        <p:sp>
          <p:nvSpPr>
            <p:cNvPr id="270"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71" name="It made new groups, above the species level, over a very long time."/>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It made new groups, above the species level, over a very long time.</a:t>
              </a:r>
            </a:p>
          </p:txBody>
        </p:sp>
      </p:grpSp>
      <p:sp>
        <p:nvSpPr>
          <p:cNvPr id="273" name="c4_bg"/>
          <p:cNvSpPr/>
          <p:nvPr/>
        </p:nvSpPr>
        <p:spPr>
          <a:xfrm>
            <a:off x="1170432" y="4398264"/>
            <a:ext cx="5099152"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74" name="c4_badge"/>
          <p:cNvSpPr/>
          <p:nvPr/>
        </p:nvSpPr>
        <p:spPr>
          <a:xfrm>
            <a:off x="1371600" y="4745735"/>
            <a:ext cx="384048" cy="384049"/>
          </a:xfrm>
          <a:prstGeom prst="ellipse">
            <a:avLst/>
          </a:prstGeom>
          <a:solidFill>
            <a:srgbClr val="DE9A4C"/>
          </a:solidFill>
          <a:ln w="12700">
            <a:solidFill>
              <a:srgbClr val="DE9A4C"/>
            </a:solidFill>
          </a:ln>
        </p:spPr>
        <p:txBody>
          <a:bodyPr lIns="45719" rIns="45719"/>
          <a:lstStyle/>
          <a:p>
            <a:pPr/>
          </a:p>
        </p:txBody>
      </p:sp>
      <p:sp>
        <p:nvSpPr>
          <p:cNvPr id="275"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276"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State two features that early vertebrate embryos share, and what they suggest.</a:t>
            </a:r>
          </a:p>
        </p:txBody>
      </p:sp>
      <p:grpSp>
        <p:nvGrpSpPr>
          <p:cNvPr id="279" name="c4_a"/>
          <p:cNvGrpSpPr/>
          <p:nvPr/>
        </p:nvGrpSpPr>
        <p:grpSpPr>
          <a:xfrm>
            <a:off x="1371600" y="5385815"/>
            <a:ext cx="4696817" cy="457201"/>
            <a:chOff x="0" y="0"/>
            <a:chExt cx="4696816" cy="457200"/>
          </a:xfrm>
        </p:grpSpPr>
        <p:sp>
          <p:nvSpPr>
            <p:cNvPr id="277" name="Rounded Rectangle"/>
            <p:cNvSpPr/>
            <p:nvPr/>
          </p:nvSpPr>
          <p:spPr>
            <a:xfrm>
              <a:off x="0" y="0"/>
              <a:ext cx="4696817" cy="457200"/>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78" name="A tail and pharyngeal arches. A common ancestor."/>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A tail and pharyngeal arches. A common ancestor.</a:t>
              </a:r>
            </a:p>
          </p:txBody>
        </p:sp>
      </p:grpSp>
      <p:sp>
        <p:nvSpPr>
          <p:cNvPr id="280" name="c5_bg"/>
          <p:cNvSpPr/>
          <p:nvPr/>
        </p:nvSpPr>
        <p:spPr>
          <a:xfrm>
            <a:off x="6543903" y="4398264"/>
            <a:ext cx="5099153" cy="1572769"/>
          </a:xfrm>
          <a:prstGeom prst="roundRect">
            <a:avLst>
              <a:gd name="adj" fmla="val 5814"/>
            </a:avLst>
          </a:prstGeom>
          <a:solidFill>
            <a:srgbClr val="FFFFFF"/>
          </a:solidFill>
          <a:ln w="16510">
            <a:solidFill>
              <a:srgbClr val="D9C9A8"/>
            </a:solidFill>
          </a:ln>
        </p:spPr>
        <p:txBody>
          <a:bodyPr lIns="45719" rIns="45719"/>
          <a:lstStyle/>
          <a:p>
            <a:pPr/>
          </a:p>
        </p:txBody>
      </p:sp>
      <p:sp>
        <p:nvSpPr>
          <p:cNvPr id="281" name="c5_badge"/>
          <p:cNvSpPr/>
          <p:nvPr/>
        </p:nvSpPr>
        <p:spPr>
          <a:xfrm>
            <a:off x="6745072" y="4745735"/>
            <a:ext cx="384049" cy="384049"/>
          </a:xfrm>
          <a:prstGeom prst="ellipse">
            <a:avLst/>
          </a:prstGeom>
          <a:solidFill>
            <a:srgbClr val="DE9A4C"/>
          </a:solidFill>
          <a:ln w="12700">
            <a:solidFill>
              <a:srgbClr val="DE9A4C"/>
            </a:solidFill>
          </a:ln>
        </p:spPr>
        <p:txBody>
          <a:bodyPr lIns="45719" rIns="45719"/>
          <a:lstStyle/>
          <a:p>
            <a:pPr/>
          </a:p>
        </p:txBody>
      </p:sp>
      <p:sp>
        <p:nvSpPr>
          <p:cNvPr id="282"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283"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82B1E"/>
                </a:solidFill>
                <a:latin typeface="Arial"/>
                <a:ea typeface="Arial"/>
                <a:cs typeface="Arial"/>
                <a:sym typeface="Arial"/>
              </a:defRPr>
            </a:lvl1pPr>
          </a:lstStyle>
          <a:p>
            <a:pPr/>
            <a:r>
              <a:t>Explain how antibiotic resistance spreads, using the word “allele”.</a:t>
            </a:r>
          </a:p>
        </p:txBody>
      </p:sp>
      <p:grpSp>
        <p:nvGrpSpPr>
          <p:cNvPr id="286" name="c5_a"/>
          <p:cNvGrpSpPr/>
          <p:nvPr/>
        </p:nvGrpSpPr>
        <p:grpSpPr>
          <a:xfrm>
            <a:off x="6745072" y="5362908"/>
            <a:ext cx="4696817" cy="503015"/>
            <a:chOff x="0" y="0"/>
            <a:chExt cx="4696816" cy="503014"/>
          </a:xfrm>
        </p:grpSpPr>
        <p:sp>
          <p:nvSpPr>
            <p:cNvPr id="284" name="Rounded Rectangle"/>
            <p:cNvSpPr/>
            <p:nvPr/>
          </p:nvSpPr>
          <p:spPr>
            <a:xfrm>
              <a:off x="0" y="22907"/>
              <a:ext cx="4696817" cy="457201"/>
            </a:xfrm>
            <a:prstGeom prst="roundRect">
              <a:avLst>
                <a:gd name="adj" fmla="val 20000"/>
              </a:avLst>
            </a:prstGeom>
            <a:solidFill>
              <a:srgbClr val="F6E7C8"/>
            </a:solidFill>
            <a:ln w="16510" cap="flat">
              <a:solidFill>
                <a:srgbClr val="DE9A4C"/>
              </a:solidFill>
              <a:prstDash val="solid"/>
              <a:round/>
            </a:ln>
            <a:effectLst/>
          </p:spPr>
          <p:txBody>
            <a:bodyPr wrap="square" lIns="45719" tIns="45719" rIns="45719" bIns="45719" numCol="1" anchor="ctr">
              <a:noAutofit/>
            </a:bodyPr>
            <a:lstStyle/>
            <a:p>
              <a:pPr>
                <a:defRPr sz="1200"/>
              </a:pPr>
            </a:p>
          </p:txBody>
        </p:sp>
        <p:sp>
          <p:nvSpPr>
            <p:cNvPr id="285" name="Resistant bacteria survive and reproduce, so the resistance allele becomes more commo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F3D2B"/>
                  </a:solidFill>
                  <a:latin typeface="Arial"/>
                  <a:ea typeface="Arial"/>
                  <a:cs typeface="Arial"/>
                  <a:sym typeface="Arial"/>
                </a:defRPr>
              </a:lvl1pPr>
            </a:lstStyle>
            <a:p>
              <a:pPr/>
              <a:r>
                <a:t>Resistant bacteria survive and reproduce, so the resistance allele becomes more common.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4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51"/>
                                        </p:tgtEl>
                                        <p:attrNameLst>
                                          <p:attrName>style.visibility</p:attrName>
                                        </p:attrNameLst>
                                      </p:cBhvr>
                                      <p:to>
                                        <p:strVal val="visible"/>
                                      </p:to>
                                    </p:set>
                                    <p:animEffect filter="wipe(left)" transition="in">
                                      <p:cBhvr>
                                        <p:cTn id="11" dur="400"/>
                                        <p:tgtEl>
                                          <p:spTgt spid="25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58"/>
                                        </p:tgtEl>
                                        <p:attrNameLst>
                                          <p:attrName>style.visibility</p:attrName>
                                        </p:attrNameLst>
                                      </p:cBhvr>
                                      <p:to>
                                        <p:strVal val="visible"/>
                                      </p:to>
                                    </p:set>
                                    <p:animEffect filter="wipe(left)" transition="in">
                                      <p:cBhvr>
                                        <p:cTn id="16" dur="400"/>
                                        <p:tgtEl>
                                          <p:spTgt spid="25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65"/>
                                        </p:tgtEl>
                                        <p:attrNameLst>
                                          <p:attrName>style.visibility</p:attrName>
                                        </p:attrNameLst>
                                      </p:cBhvr>
                                      <p:to>
                                        <p:strVal val="visible"/>
                                      </p:to>
                                    </p:set>
                                    <p:animEffect filter="wipe(left)" transition="in">
                                      <p:cBhvr>
                                        <p:cTn id="21" dur="400"/>
                                        <p:tgtEl>
                                          <p:spTgt spid="26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72"/>
                                        </p:tgtEl>
                                        <p:attrNameLst>
                                          <p:attrName>style.visibility</p:attrName>
                                        </p:attrNameLst>
                                      </p:cBhvr>
                                      <p:to>
                                        <p:strVal val="visible"/>
                                      </p:to>
                                    </p:set>
                                    <p:animEffect filter="wipe(left)" transition="in">
                                      <p:cBhvr>
                                        <p:cTn id="26" dur="400"/>
                                        <p:tgtEl>
                                          <p:spTgt spid="272"/>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79"/>
                                        </p:tgtEl>
                                        <p:attrNameLst>
                                          <p:attrName>style.visibility</p:attrName>
                                        </p:attrNameLst>
                                      </p:cBhvr>
                                      <p:to>
                                        <p:strVal val="visible"/>
                                      </p:to>
                                    </p:set>
                                    <p:animEffect filter="wipe(left)" transition="in">
                                      <p:cBhvr>
                                        <p:cTn id="31" dur="400"/>
                                        <p:tgtEl>
                                          <p:spTgt spid="279"/>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86"/>
                                        </p:tgtEl>
                                        <p:attrNameLst>
                                          <p:attrName>style.visibility</p:attrName>
                                        </p:attrNameLst>
                                      </p:cBhvr>
                                      <p:to>
                                        <p:strVal val="visible"/>
                                      </p:to>
                                    </p:set>
                                    <p:animEffect filter="wipe(left)" transition="in">
                                      <p:cBhvr>
                                        <p:cTn id="36" dur="4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41"/>
                </p:tgtEl>
              </p:cMediaNode>
            </p:video>
            <p:seq concurrent="1" prevAc="none" nextAc="seek">
              <p:cTn id="38" evtFilter="cancelBubble" nodeType="interactiveSeq" restart="whenNotActive" fill="hold">
                <p:stCondLst>
                  <p:cond delay="0" evt="onClick">
                    <p:tgtEl>
                      <p:spTgt spid="241"/>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41"/>
                                        </p:tgtEl>
                                      </p:cBhvr>
                                    </p:cmd>
                                  </p:childTnLst>
                                </p:cTn>
                              </p:par>
                            </p:childTnLst>
                          </p:cTn>
                        </p:par>
                      </p:childTnLst>
                    </p:cTn>
                  </p:par>
                </p:childTnLst>
              </p:cTn>
              <p:nextCondLst>
                <p:cond delay="0" evt="onClick">
                  <p:tgtEl>
                    <p:spTgt spid="241"/>
                  </p:tgtEl>
                </p:cond>
              </p:nextCondLst>
            </p:seq>
          </p:childTnLst>
        </p:cTn>
      </p:par>
    </p:tnLst>
    <p:bldLst>
      <p:bldP build="whole" bldLvl="1" animBg="1" rev="0" advAuto="0" spid="279" grpId="6"/>
      <p:bldP build="whole" bldLvl="1" animBg="1" rev="0" advAuto="0" spid="265" grpId="4"/>
      <p:bldP build="whole" bldLvl="1" animBg="1" rev="0" advAuto="0" spid="251" grpId="2"/>
      <p:bldP build="whole" bldLvl="1" animBg="1" rev="0" advAuto="0" spid="286" grpId="7"/>
      <p:bldP build="whole" bldLvl="1" animBg="1" rev="0" advAuto="0" spid="272" grpId="5"/>
      <p:bldP build="whole" bldLvl="1" animBg="1" rev="0" advAuto="0" spid="258"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9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3" name="phase_pill"/>
          <p:cNvGrpSpPr/>
          <p:nvPr/>
        </p:nvGrpSpPr>
        <p:grpSpPr>
          <a:xfrm>
            <a:off x="1170432" y="310895"/>
            <a:ext cx="1892808" cy="329185"/>
            <a:chOff x="0" y="0"/>
            <a:chExt cx="1892807" cy="329184"/>
          </a:xfrm>
        </p:grpSpPr>
        <p:sp>
          <p:nvSpPr>
            <p:cNvPr id="291"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92"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94"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95"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F3D2B"/>
                </a:solidFill>
                <a:latin typeface="Georgia"/>
                <a:ea typeface="Georgia"/>
                <a:cs typeface="Georgia"/>
                <a:sym typeface="Georgia"/>
              </a:defRPr>
            </a:lvl1pPr>
          </a:lstStyle>
          <a:p>
            <a:pPr/>
            <a:r>
              <a:t>Small Changes, Big Changes game</a:t>
            </a:r>
          </a:p>
        </p:txBody>
      </p:sp>
      <p:sp>
        <p:nvSpPr>
          <p:cNvPr id="296"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1442D"/>
                </a:solidFill>
                <a:latin typeface="Arial"/>
                <a:ea typeface="Arial"/>
                <a:cs typeface="Arial"/>
                <a:sym typeface="Arial"/>
              </a:defRPr>
            </a:lvl1pPr>
          </a:lstStyle>
          <a:p>
            <a:pPr/>
            <a:r>
              <a:t>Open Google Classroom now.</a:t>
            </a:r>
          </a:p>
        </p:txBody>
      </p:sp>
      <p:grpSp>
        <p:nvGrpSpPr>
          <p:cNvPr id="301" name="t0"/>
          <p:cNvGrpSpPr/>
          <p:nvPr/>
        </p:nvGrpSpPr>
        <p:grpSpPr>
          <a:xfrm>
            <a:off x="1170432" y="2322576"/>
            <a:ext cx="3307994" cy="2103121"/>
            <a:chOff x="0" y="0"/>
            <a:chExt cx="3307993" cy="2103120"/>
          </a:xfrm>
        </p:grpSpPr>
        <p:sp>
          <p:nvSpPr>
            <p:cNvPr id="297" name="t0_bg"/>
            <p:cNvSpPr/>
            <p:nvPr/>
          </p:nvSpPr>
          <p:spPr>
            <a:xfrm>
              <a:off x="0" y="0"/>
              <a:ext cx="3307994" cy="2103121"/>
            </a:xfrm>
            <a:prstGeom prst="roundRect">
              <a:avLst>
                <a:gd name="adj" fmla="val 4348"/>
              </a:avLst>
            </a:prstGeom>
            <a:solidFill>
              <a:srgbClr val="FFFFFF"/>
            </a:solidFill>
            <a:ln w="20320" cap="flat">
              <a:solidFill>
                <a:srgbClr val="A8651F"/>
              </a:solidFill>
              <a:prstDash val="solid"/>
              <a:round/>
            </a:ln>
            <a:effectLst/>
          </p:spPr>
          <p:txBody>
            <a:bodyPr wrap="square" lIns="45719" tIns="45719" rIns="45719" bIns="45719" numCol="1" anchor="t">
              <a:noAutofit/>
            </a:bodyPr>
            <a:lstStyle/>
            <a:p>
              <a:pPr/>
            </a:p>
          </p:txBody>
        </p:sp>
        <p:sp>
          <p:nvSpPr>
            <p:cNvPr id="298" name="t0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A8651F"/>
                  </a:solidFill>
                  <a:latin typeface="Arial"/>
                  <a:ea typeface="Arial"/>
                  <a:cs typeface="Arial"/>
                  <a:sym typeface="Arial"/>
                </a:defRPr>
              </a:lvl1pPr>
            </a:lstStyle>
            <a:p>
              <a:pPr/>
              <a:r>
                <a:t>ROUND 1</a:t>
              </a:r>
            </a:p>
          </p:txBody>
        </p:sp>
        <p:sp>
          <p:nvSpPr>
            <p:cNvPr id="299" name="t0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Two bins</a:t>
              </a:r>
            </a:p>
          </p:txBody>
        </p:sp>
        <p:sp>
          <p:nvSpPr>
            <p:cNvPr id="300" name="t0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Microevolution or macroevolution? Sort each one.</a:t>
              </a:r>
            </a:p>
          </p:txBody>
        </p:sp>
      </p:grpSp>
      <p:grpSp>
        <p:nvGrpSpPr>
          <p:cNvPr id="306" name="t1"/>
          <p:cNvGrpSpPr/>
          <p:nvPr/>
        </p:nvGrpSpPr>
        <p:grpSpPr>
          <a:xfrm>
            <a:off x="4752745" y="2322576"/>
            <a:ext cx="3307995" cy="2103121"/>
            <a:chOff x="0" y="0"/>
            <a:chExt cx="3307993" cy="2103120"/>
          </a:xfrm>
        </p:grpSpPr>
        <p:sp>
          <p:nvSpPr>
            <p:cNvPr id="302" name="t1_bg"/>
            <p:cNvSpPr/>
            <p:nvPr/>
          </p:nvSpPr>
          <p:spPr>
            <a:xfrm>
              <a:off x="0" y="0"/>
              <a:ext cx="3307994" cy="2103121"/>
            </a:xfrm>
            <a:prstGeom prst="roundRect">
              <a:avLst>
                <a:gd name="adj" fmla="val 4348"/>
              </a:avLst>
            </a:prstGeom>
            <a:solidFill>
              <a:srgbClr val="FFFFFF"/>
            </a:solidFill>
            <a:ln w="20320" cap="flat">
              <a:solidFill>
                <a:srgbClr val="A8651F"/>
              </a:solidFill>
              <a:prstDash val="solid"/>
              <a:round/>
            </a:ln>
            <a:effectLst/>
          </p:spPr>
          <p:txBody>
            <a:bodyPr wrap="square" lIns="45719" tIns="45719" rIns="45719" bIns="45719" numCol="1" anchor="t">
              <a:noAutofit/>
            </a:bodyPr>
            <a:lstStyle/>
            <a:p>
              <a:pPr/>
            </a:p>
          </p:txBody>
        </p:sp>
        <p:sp>
          <p:nvSpPr>
            <p:cNvPr id="303" name="t1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A8651F"/>
                  </a:solidFill>
                  <a:latin typeface="Arial"/>
                  <a:ea typeface="Arial"/>
                  <a:cs typeface="Arial"/>
                  <a:sym typeface="Arial"/>
                </a:defRPr>
              </a:lvl1pPr>
            </a:lstStyle>
            <a:p>
              <a:pPr/>
              <a:r>
                <a:t>ROUND 2</a:t>
              </a:r>
            </a:p>
          </p:txBody>
        </p:sp>
        <p:sp>
          <p:nvSpPr>
            <p:cNvPr id="304" name="t1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Count and sort</a:t>
              </a:r>
            </a:p>
          </p:txBody>
        </p:sp>
        <p:sp>
          <p:nvSpPr>
            <p:cNvPr id="305" name="t1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Work out allele frequencies from a gene pool, and sort harder cases.</a:t>
              </a:r>
            </a:p>
          </p:txBody>
        </p:sp>
      </p:grpSp>
      <p:grpSp>
        <p:nvGrpSpPr>
          <p:cNvPr id="311" name="t2"/>
          <p:cNvGrpSpPr/>
          <p:nvPr/>
        </p:nvGrpSpPr>
        <p:grpSpPr>
          <a:xfrm>
            <a:off x="8335061" y="2322576"/>
            <a:ext cx="3307994" cy="2103121"/>
            <a:chOff x="0" y="0"/>
            <a:chExt cx="3307993" cy="2103120"/>
          </a:xfrm>
        </p:grpSpPr>
        <p:sp>
          <p:nvSpPr>
            <p:cNvPr id="307" name="t2_bg"/>
            <p:cNvSpPr/>
            <p:nvPr/>
          </p:nvSpPr>
          <p:spPr>
            <a:xfrm>
              <a:off x="0" y="0"/>
              <a:ext cx="3307994" cy="2103121"/>
            </a:xfrm>
            <a:prstGeom prst="roundRect">
              <a:avLst>
                <a:gd name="adj" fmla="val 4348"/>
              </a:avLst>
            </a:prstGeom>
            <a:solidFill>
              <a:srgbClr val="F3D9D2"/>
            </a:solidFill>
            <a:ln w="20320" cap="flat">
              <a:solidFill>
                <a:srgbClr val="C1442D"/>
              </a:solidFill>
              <a:prstDash val="solid"/>
              <a:round/>
            </a:ln>
            <a:effectLst/>
          </p:spPr>
          <p:txBody>
            <a:bodyPr wrap="square" lIns="45719" tIns="45719" rIns="45719" bIns="45719" numCol="1" anchor="t">
              <a:noAutofit/>
            </a:bodyPr>
            <a:lstStyle/>
            <a:p>
              <a:pPr/>
            </a:p>
          </p:txBody>
        </p:sp>
        <p:sp>
          <p:nvSpPr>
            <p:cNvPr id="308" name="t2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1442D"/>
                  </a:solidFill>
                  <a:latin typeface="Arial"/>
                  <a:ea typeface="Arial"/>
                  <a:cs typeface="Arial"/>
                  <a:sym typeface="Arial"/>
                </a:defRPr>
              </a:lvl1pPr>
            </a:lstStyle>
            <a:p>
              <a:pPr/>
              <a:r>
                <a:t>ROUND 3</a:t>
              </a:r>
            </a:p>
          </p:txBody>
        </p:sp>
        <p:sp>
          <p:nvSpPr>
            <p:cNvPr id="309" name="t2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F3D2B"/>
                  </a:solidFill>
                  <a:latin typeface="Georgia"/>
                  <a:ea typeface="Georgia"/>
                  <a:cs typeface="Georgia"/>
                  <a:sym typeface="Georgia"/>
                </a:defRPr>
              </a:lvl1pPr>
            </a:lstStyle>
            <a:p>
              <a:pPr/>
              <a:r>
                <a:t>Beat the sorter</a:t>
              </a:r>
            </a:p>
          </p:txBody>
        </p:sp>
        <p:sp>
          <p:nvSpPr>
            <p:cNvPr id="310" name="t2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2685A"/>
                  </a:solidFill>
                  <a:latin typeface="Arial"/>
                  <a:ea typeface="Arial"/>
                  <a:cs typeface="Arial"/>
                  <a:sym typeface="Arial"/>
                </a:defRPr>
              </a:lvl1pPr>
            </a:lstStyle>
            <a:p>
              <a:pPr/>
              <a:r>
                <a:t>Very hard. The last questions are meant to be almost impossible.</a:t>
              </a:r>
            </a:p>
          </p:txBody>
        </p:sp>
      </p:grpSp>
      <p:sp>
        <p:nvSpPr>
          <p:cNvPr id="312"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F3D2B"/>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9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01"/>
                                        </p:tgtEl>
                                        <p:attrNameLst>
                                          <p:attrName>style.visibility</p:attrName>
                                        </p:attrNameLst>
                                      </p:cBhvr>
                                      <p:to>
                                        <p:strVal val="visible"/>
                                      </p:to>
                                    </p:set>
                                    <p:animEffect filter="fade" transition="in">
                                      <p:cBhvr>
                                        <p:cTn id="11" dur="400"/>
                                        <p:tgtEl>
                                          <p:spTgt spid="30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06"/>
                                        </p:tgtEl>
                                        <p:attrNameLst>
                                          <p:attrName>style.visibility</p:attrName>
                                        </p:attrNameLst>
                                      </p:cBhvr>
                                      <p:to>
                                        <p:strVal val="visible"/>
                                      </p:to>
                                    </p:set>
                                    <p:animEffect filter="fade" transition="in">
                                      <p:cBhvr>
                                        <p:cTn id="16" dur="400"/>
                                        <p:tgtEl>
                                          <p:spTgt spid="30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11"/>
                                        </p:tgtEl>
                                        <p:attrNameLst>
                                          <p:attrName>style.visibility</p:attrName>
                                        </p:attrNameLst>
                                      </p:cBhvr>
                                      <p:to>
                                        <p:strVal val="visible"/>
                                      </p:to>
                                    </p:set>
                                    <p:animEffect filter="fade" transition="in">
                                      <p:cBhvr>
                                        <p:cTn id="21" dur="400"/>
                                        <p:tgtEl>
                                          <p:spTgt spid="31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12"/>
                                        </p:tgtEl>
                                        <p:attrNameLst>
                                          <p:attrName>style.visibility</p:attrName>
                                        </p:attrNameLst>
                                      </p:cBhvr>
                                      <p:to>
                                        <p:strVal val="visible"/>
                                      </p:to>
                                    </p:set>
                                    <p:animEffect filter="fade" transition="in">
                                      <p:cBhvr>
                                        <p:cTn id="26" dur="400"/>
                                        <p:tgtEl>
                                          <p:spTgt spid="31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90"/>
                </p:tgtEl>
              </p:cMediaNode>
            </p:video>
            <p:seq concurrent="1" prevAc="none" nextAc="seek">
              <p:cTn id="28" evtFilter="cancelBubble" nodeType="interactiveSeq" restart="whenNotActive" fill="hold">
                <p:stCondLst>
                  <p:cond delay="0" evt="onClick">
                    <p:tgtEl>
                      <p:spTgt spid="290"/>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90"/>
                                        </p:tgtEl>
                                      </p:cBhvr>
                                    </p:cmd>
                                  </p:childTnLst>
                                </p:cTn>
                              </p:par>
                            </p:childTnLst>
                          </p:cTn>
                        </p:par>
                      </p:childTnLst>
                    </p:cTn>
                  </p:par>
                </p:childTnLst>
              </p:cTn>
              <p:nextCondLst>
                <p:cond delay="0" evt="onClick">
                  <p:tgtEl>
                    <p:spTgt spid="290"/>
                  </p:tgtEl>
                </p:cond>
              </p:nextCondLst>
            </p:seq>
          </p:childTnLst>
        </p:cTn>
      </p:par>
    </p:tnLst>
    <p:bldLst>
      <p:bldP build="whole" bldLvl="1" animBg="1" rev="0" advAuto="0" spid="301" grpId="2"/>
      <p:bldP build="whole" bldLvl="1" animBg="1" rev="0" advAuto="0" spid="311" grpId="4"/>
      <p:bldP build="whole" bldLvl="1" animBg="1" rev="0" advAuto="0" spid="312" grpId="5"/>
      <p:bldP build="whole" bldLvl="1" animBg="1" rev="0" advAuto="0" spid="306"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31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19" name="phase_pill"/>
          <p:cNvGrpSpPr/>
          <p:nvPr/>
        </p:nvGrpSpPr>
        <p:grpSpPr>
          <a:xfrm>
            <a:off x="1170432" y="310895"/>
            <a:ext cx="1623975" cy="329185"/>
            <a:chOff x="0" y="0"/>
            <a:chExt cx="1623974" cy="329184"/>
          </a:xfrm>
        </p:grpSpPr>
        <p:sp>
          <p:nvSpPr>
            <p:cNvPr id="317"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318" name="MARK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320"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1F3D2B"/>
                </a:solidFill>
                <a:latin typeface="Georgia"/>
                <a:ea typeface="Georgia"/>
                <a:cs typeface="Georgia"/>
                <a:sym typeface="Georgia"/>
              </a:defRPr>
            </a:lvl1pPr>
          </a:lstStyle>
          <a:p>
            <a:pPr/>
            <a:r>
              <a:t>Turn to the back. Mark your own in a different colour.</a:t>
            </a:r>
          </a:p>
        </p:txBody>
      </p:sp>
      <p:grpSp>
        <p:nvGrpSpPr>
          <p:cNvPr id="323" name="mkg"/>
          <p:cNvGrpSpPr/>
          <p:nvPr/>
        </p:nvGrpSpPr>
        <p:grpSpPr>
          <a:xfrm>
            <a:off x="1170432" y="2395727"/>
            <a:ext cx="10472623" cy="1097282"/>
            <a:chOff x="0" y="0"/>
            <a:chExt cx="10472622" cy="1097280"/>
          </a:xfrm>
        </p:grpSpPr>
        <p:sp>
          <p:nvSpPr>
            <p:cNvPr id="321" name="mk_game_bg"/>
            <p:cNvSpPr/>
            <p:nvPr/>
          </p:nvSpPr>
          <p:spPr>
            <a:xfrm>
              <a:off x="0" y="0"/>
              <a:ext cx="10472623" cy="1097281"/>
            </a:xfrm>
            <a:prstGeom prst="roundRect">
              <a:avLst>
                <a:gd name="adj" fmla="val 8333"/>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322" name="mk_game_t"/>
            <p:cNvSpPr txBox="1"/>
            <p:nvPr/>
          </p:nvSpPr>
          <p:spPr>
            <a:xfrm>
              <a:off x="274319" y="274303"/>
              <a:ext cx="9923984" cy="5486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200"/>
                </a:lnSpc>
                <a:defRPr b="1" sz="1700">
                  <a:solidFill>
                    <a:srgbClr val="A8651F"/>
                  </a:solidFill>
                  <a:latin typeface="Arial"/>
                  <a:ea typeface="Arial"/>
                  <a:cs typeface="Arial"/>
                  <a:sym typeface="Arial"/>
                </a:defRPr>
              </a:pPr>
              <a:r>
                <a:t>Played the game? </a:t>
              </a:r>
              <a:r>
                <a:rPr b="0">
                  <a:solidFill>
                    <a:srgbClr val="182B1E"/>
                  </a:solidFill>
                </a:rPr>
                <a:t>Open the drop-down for each round. Read what you got wrong, and how to get to the answer.</a:t>
              </a:r>
            </a:p>
          </p:txBody>
        </p:sp>
      </p:grpSp>
      <p:grpSp>
        <p:nvGrpSpPr>
          <p:cNvPr id="327" name="mkc"/>
          <p:cNvGrpSpPr/>
          <p:nvPr/>
        </p:nvGrpSpPr>
        <p:grpSpPr>
          <a:xfrm>
            <a:off x="1170432" y="3694176"/>
            <a:ext cx="10472623" cy="2286001"/>
            <a:chOff x="0" y="0"/>
            <a:chExt cx="10472622" cy="2286000"/>
          </a:xfrm>
        </p:grpSpPr>
        <p:sp>
          <p:nvSpPr>
            <p:cNvPr id="324" name="mk_card_bg"/>
            <p:cNvSpPr/>
            <p:nvPr/>
          </p:nvSpPr>
          <p:spPr>
            <a:xfrm>
              <a:off x="0" y="0"/>
              <a:ext cx="10472623" cy="2286000"/>
            </a:xfrm>
            <a:prstGeom prst="roundRect">
              <a:avLst>
                <a:gd name="adj" fmla="val 4000"/>
              </a:avLst>
            </a:prstGeom>
            <a:solidFill>
              <a:srgbClr val="FFFFFF"/>
            </a:solidFill>
            <a:ln w="16510" cap="flat">
              <a:solidFill>
                <a:srgbClr val="D9C9A8"/>
              </a:solidFill>
              <a:prstDash val="solid"/>
              <a:round/>
            </a:ln>
            <a:effectLst/>
          </p:spPr>
          <p:txBody>
            <a:bodyPr wrap="square" lIns="45719" tIns="45719" rIns="45719" bIns="45719" numCol="1" anchor="t">
              <a:noAutofit/>
            </a:bodyPr>
            <a:lstStyle/>
            <a:p>
              <a:pPr/>
            </a:p>
          </p:txBody>
        </p:sp>
        <p:sp>
          <p:nvSpPr>
            <p:cNvPr id="325" name="mk_card_h"/>
            <p:cNvSpPr txBox="1"/>
            <p:nvPr/>
          </p:nvSpPr>
          <p:spPr>
            <a:xfrm>
              <a:off x="274319" y="188213"/>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1F3D2B"/>
                  </a:solidFill>
                  <a:latin typeface="Georgia"/>
                  <a:ea typeface="Georgia"/>
                  <a:cs typeface="Georgia"/>
                  <a:sym typeface="Georgia"/>
                </a:defRPr>
              </a:lvl1pPr>
            </a:lstStyle>
            <a:p>
              <a:pPr/>
              <a:r>
                <a:t>CHECK YOUR WORK AGAINST THIS</a:t>
              </a:r>
            </a:p>
          </p:txBody>
        </p:sp>
        <p:sp>
          <p:nvSpPr>
            <p:cNvPr id="326" name="mk_card_t"/>
            <p:cNvSpPr txBox="1"/>
            <p:nvPr/>
          </p:nvSpPr>
          <p:spPr>
            <a:xfrm>
              <a:off x="274319" y="512064"/>
              <a:ext cx="9923984" cy="12240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900"/>
                </a:lnSpc>
                <a:spcBef>
                  <a:spcPts val="700"/>
                </a:spcBef>
                <a:buSzPct val="100000"/>
                <a:buChar char="•"/>
                <a:defRPr sz="1500">
                  <a:solidFill>
                    <a:srgbClr val="182B1E"/>
                  </a:solidFill>
                  <a:latin typeface="Arial"/>
                  <a:ea typeface="Arial"/>
                  <a:cs typeface="Arial"/>
                  <a:sym typeface="Arial"/>
                </a:defRPr>
              </a:pPr>
              <a:r>
                <a:t>A gene pool is ALL the alleles of ALL the individuals in a population, not one animal’s genes.</a:t>
              </a:r>
            </a:p>
            <a:p>
              <a:pPr marL="342900" indent="-342900">
                <a:lnSpc>
                  <a:spcPts val="1900"/>
                </a:lnSpc>
                <a:spcBef>
                  <a:spcPts val="700"/>
                </a:spcBef>
                <a:buSzPct val="100000"/>
                <a:buChar char="•"/>
                <a:defRPr sz="1500">
                  <a:solidFill>
                    <a:srgbClr val="182B1E"/>
                  </a:solidFill>
                  <a:latin typeface="Arial"/>
                  <a:ea typeface="Arial"/>
                  <a:cs typeface="Arial"/>
                  <a:sym typeface="Arial"/>
                </a:defRPr>
              </a:pPr>
              <a:r>
                <a:t>Allele frequency is the number of copies of one allele ÷ the total number of alleles in the pool.</a:t>
              </a:r>
            </a:p>
            <a:p>
              <a:pPr marL="342900" indent="-342900">
                <a:lnSpc>
                  <a:spcPts val="1900"/>
                </a:lnSpc>
                <a:spcBef>
                  <a:spcPts val="700"/>
                </a:spcBef>
                <a:buSzPct val="100000"/>
                <a:buChar char="•"/>
                <a:defRPr sz="1500">
                  <a:solidFill>
                    <a:srgbClr val="182B1E"/>
                  </a:solidFill>
                  <a:latin typeface="Arial"/>
                  <a:ea typeface="Arial"/>
                  <a:cs typeface="Arial"/>
                  <a:sym typeface="Arial"/>
                </a:defRPr>
              </a:pPr>
              <a:r>
                <a:t>Microevolution is a change in allele frequencies within one population, however long it takes.</a:t>
              </a:r>
            </a:p>
            <a:p>
              <a:pPr marL="342900" indent="-342900">
                <a:lnSpc>
                  <a:spcPts val="1900"/>
                </a:lnSpc>
                <a:buSzPct val="100000"/>
                <a:buChar char="•"/>
                <a:defRPr sz="1500">
                  <a:solidFill>
                    <a:srgbClr val="182B1E"/>
                  </a:solidFill>
                  <a:latin typeface="Arial"/>
                  <a:ea typeface="Arial"/>
                  <a:cs typeface="Arial"/>
                  <a:sym typeface="Arial"/>
                </a:defRPr>
              </a:pPr>
              <a:r>
                <a:t>Macroevolution is large changes over long periods, above the species level.</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1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23"/>
                                        </p:tgtEl>
                                        <p:attrNameLst>
                                          <p:attrName>style.visibility</p:attrName>
                                        </p:attrNameLst>
                                      </p:cBhvr>
                                      <p:to>
                                        <p:strVal val="visible"/>
                                      </p:to>
                                    </p:set>
                                    <p:animEffect filter="fade" transition="in">
                                      <p:cBhvr>
                                        <p:cTn id="11" dur="400"/>
                                        <p:tgtEl>
                                          <p:spTgt spid="32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27"/>
                                        </p:tgtEl>
                                        <p:attrNameLst>
                                          <p:attrName>style.visibility</p:attrName>
                                        </p:attrNameLst>
                                      </p:cBhvr>
                                      <p:to>
                                        <p:strVal val="visible"/>
                                      </p:to>
                                    </p:set>
                                    <p:animEffect filter="fade" transition="in">
                                      <p:cBhvr>
                                        <p:cTn id="16" dur="4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316"/>
                </p:tgtEl>
              </p:cMediaNode>
            </p:video>
            <p:seq concurrent="1" prevAc="none" nextAc="seek">
              <p:cTn id="18" evtFilter="cancelBubble" nodeType="interactiveSeq" restart="whenNotActive" fill="hold">
                <p:stCondLst>
                  <p:cond delay="0" evt="onClick">
                    <p:tgtEl>
                      <p:spTgt spid="316"/>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316"/>
                                        </p:tgtEl>
                                      </p:cBhvr>
                                    </p:cmd>
                                  </p:childTnLst>
                                </p:cTn>
                              </p:par>
                            </p:childTnLst>
                          </p:cTn>
                        </p:par>
                      </p:childTnLst>
                    </p:cTn>
                  </p:par>
                </p:childTnLst>
              </p:cTn>
              <p:nextCondLst>
                <p:cond delay="0" evt="onClick">
                  <p:tgtEl>
                    <p:spTgt spid="316"/>
                  </p:tgtEl>
                </p:cond>
              </p:nextCondLst>
            </p:seq>
          </p:childTnLst>
        </p:cTn>
      </p:par>
    </p:tnLst>
    <p:bldLst>
      <p:bldP build="whole" bldLvl="1" animBg="1" rev="0" advAuto="0" spid="323" grpId="2"/>
      <p:bldP build="whole" bldLvl="1" animBg="1" rev="0" advAuto="0" spid="327"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D2B"/>
        </a:solidFill>
      </p:bgPr>
    </p:bg>
    <p:spTree>
      <p:nvGrpSpPr>
        <p:cNvPr id="1" name=""/>
        <p:cNvGrpSpPr/>
        <p:nvPr/>
      </p:nvGrpSpPr>
      <p:grpSpPr>
        <a:xfrm>
          <a:off x="0" y="0"/>
          <a:ext cx="0" cy="0"/>
          <a:chOff x="0" y="0"/>
          <a:chExt cx="0" cy="0"/>
        </a:xfrm>
      </p:grpSpPr>
      <p:pic>
        <p:nvPicPr>
          <p:cNvPr id="33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34" name="phase_pill"/>
          <p:cNvGrpSpPr/>
          <p:nvPr/>
        </p:nvGrpSpPr>
        <p:grpSpPr>
          <a:xfrm>
            <a:off x="1170432" y="310895"/>
            <a:ext cx="1892808" cy="329185"/>
            <a:chOff x="0" y="0"/>
            <a:chExt cx="1892807" cy="329184"/>
          </a:xfrm>
        </p:grpSpPr>
        <p:sp>
          <p:nvSpPr>
            <p:cNvPr id="332" name="Rounded Rectangle"/>
            <p:cNvSpPr/>
            <p:nvPr/>
          </p:nvSpPr>
          <p:spPr>
            <a:xfrm>
              <a:off x="0" y="0"/>
              <a:ext cx="1892808" cy="329185"/>
            </a:xfrm>
            <a:prstGeom prst="roundRect">
              <a:avLst>
                <a:gd name="adj" fmla="val 44444"/>
              </a:avLst>
            </a:prstGeom>
            <a:solidFill>
              <a:srgbClr val="DE9A4C"/>
            </a:solidFill>
            <a:ln w="12700" cap="flat">
              <a:noFill/>
              <a:miter lim="400000"/>
            </a:ln>
            <a:effectLst/>
          </p:spPr>
          <p:txBody>
            <a:bodyPr wrap="square" lIns="45719" tIns="45719" rIns="45719" bIns="45719" numCol="1" anchor="ctr">
              <a:noAutofit/>
            </a:bodyPr>
            <a:lstStyle/>
            <a:p>
              <a:pPr algn="ctr">
                <a:defRPr sz="1100"/>
              </a:pPr>
            </a:p>
          </p:txBody>
        </p:sp>
        <p:sp>
          <p:nvSpPr>
            <p:cNvPr id="333"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F3D2B"/>
                  </a:solidFill>
                  <a:latin typeface="Arial"/>
                  <a:ea typeface="Arial"/>
                  <a:cs typeface="Arial"/>
                  <a:sym typeface="Arial"/>
                </a:defRPr>
              </a:lvl1pPr>
            </a:lstStyle>
            <a:p>
              <a:pPr/>
              <a:r>
                <a:t>PLENARY · 3 MIN</a:t>
              </a:r>
            </a:p>
          </p:txBody>
        </p:sp>
      </p:grpSp>
      <p:sp>
        <p:nvSpPr>
          <p:cNvPr id="335"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5F1E6"/>
                </a:solidFill>
                <a:latin typeface="Georgia"/>
                <a:ea typeface="Georgia"/>
                <a:cs typeface="Georgia"/>
                <a:sym typeface="Georgia"/>
              </a:defRPr>
            </a:lvl1pPr>
          </a:lstStyle>
          <a:p>
            <a:pPr/>
            <a:r>
              <a:t>True or false?</a:t>
            </a:r>
          </a:p>
        </p:txBody>
      </p:sp>
      <p:grpSp>
        <p:nvGrpSpPr>
          <p:cNvPr id="338" name="p0_stmt"/>
          <p:cNvGrpSpPr/>
          <p:nvPr/>
        </p:nvGrpSpPr>
        <p:grpSpPr>
          <a:xfrm>
            <a:off x="1170432" y="2103120"/>
            <a:ext cx="8552383" cy="603505"/>
            <a:chOff x="0" y="0"/>
            <a:chExt cx="8552382" cy="603504"/>
          </a:xfrm>
        </p:grpSpPr>
        <p:sp>
          <p:nvSpPr>
            <p:cNvPr id="336" name="p0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37" name="p0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A gene pool is all the genes in one animal.</a:t>
              </a:r>
            </a:p>
          </p:txBody>
        </p:sp>
      </p:grpSp>
      <p:sp>
        <p:nvSpPr>
          <p:cNvPr id="339" name="p0_v"/>
          <p:cNvSpPr txBox="1"/>
          <p:nvPr/>
        </p:nvSpPr>
        <p:spPr>
          <a:xfrm>
            <a:off x="9905695" y="22814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42" name="p1_stmt"/>
          <p:cNvGrpSpPr/>
          <p:nvPr/>
        </p:nvGrpSpPr>
        <p:grpSpPr>
          <a:xfrm>
            <a:off x="1170432" y="2834639"/>
            <a:ext cx="8552383" cy="603505"/>
            <a:chOff x="0" y="0"/>
            <a:chExt cx="8552382" cy="603504"/>
          </a:xfrm>
        </p:grpSpPr>
        <p:sp>
          <p:nvSpPr>
            <p:cNvPr id="340" name="p1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41" name="p1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Microevolution is one animal changing during its life.</a:t>
              </a:r>
            </a:p>
          </p:txBody>
        </p:sp>
      </p:grpSp>
      <p:sp>
        <p:nvSpPr>
          <p:cNvPr id="343" name="p1_v"/>
          <p:cNvSpPr txBox="1"/>
          <p:nvPr/>
        </p:nvSpPr>
        <p:spPr>
          <a:xfrm>
            <a:off x="9905695" y="301292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46" name="p2_stmt"/>
          <p:cNvGrpSpPr/>
          <p:nvPr/>
        </p:nvGrpSpPr>
        <p:grpSpPr>
          <a:xfrm>
            <a:off x="1170432" y="3566159"/>
            <a:ext cx="8552383" cy="603505"/>
            <a:chOff x="0" y="0"/>
            <a:chExt cx="8552382" cy="603504"/>
          </a:xfrm>
        </p:grpSpPr>
        <p:sp>
          <p:nvSpPr>
            <p:cNvPr id="344" name="p2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45" name="p2_q"/>
            <p:cNvSpPr txBox="1"/>
            <p:nvPr/>
          </p:nvSpPr>
          <p:spPr>
            <a:xfrm>
              <a:off x="256032" y="75827"/>
              <a:ext cx="8186623" cy="4518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A pool of 40 alleles has 10 brown. Many generations later it has 20 brown. That is microevolution.</a:t>
              </a:r>
            </a:p>
          </p:txBody>
        </p:sp>
      </p:grpSp>
      <p:sp>
        <p:nvSpPr>
          <p:cNvPr id="347" name="p2_v"/>
          <p:cNvSpPr txBox="1"/>
          <p:nvPr/>
        </p:nvSpPr>
        <p:spPr>
          <a:xfrm>
            <a:off x="9905695" y="374444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50" name="p3_stmt"/>
          <p:cNvGrpSpPr/>
          <p:nvPr/>
        </p:nvGrpSpPr>
        <p:grpSpPr>
          <a:xfrm>
            <a:off x="1170432" y="4297679"/>
            <a:ext cx="8552383" cy="603505"/>
            <a:chOff x="0" y="0"/>
            <a:chExt cx="8552382" cy="603504"/>
          </a:xfrm>
        </p:grpSpPr>
        <p:sp>
          <p:nvSpPr>
            <p:cNvPr id="348" name="p3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49" name="p3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Macroevolution means one animal suddenly turns into a new kind of animal.</a:t>
              </a:r>
            </a:p>
          </p:txBody>
        </p:sp>
      </p:grpSp>
      <p:sp>
        <p:nvSpPr>
          <p:cNvPr id="351" name="p3_v"/>
          <p:cNvSpPr txBox="1"/>
          <p:nvPr/>
        </p:nvSpPr>
        <p:spPr>
          <a:xfrm>
            <a:off x="9905695" y="447596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54" name="p4_stmt"/>
          <p:cNvGrpSpPr/>
          <p:nvPr/>
        </p:nvGrpSpPr>
        <p:grpSpPr>
          <a:xfrm>
            <a:off x="1170432" y="5029200"/>
            <a:ext cx="8552383" cy="603505"/>
            <a:chOff x="0" y="0"/>
            <a:chExt cx="8552382" cy="603504"/>
          </a:xfrm>
        </p:grpSpPr>
        <p:sp>
          <p:nvSpPr>
            <p:cNvPr id="352" name="p4_bg"/>
            <p:cNvSpPr/>
            <p:nvPr/>
          </p:nvSpPr>
          <p:spPr>
            <a:xfrm>
              <a:off x="0" y="0"/>
              <a:ext cx="8552383" cy="603505"/>
            </a:xfrm>
            <a:prstGeom prst="roundRect">
              <a:avLst>
                <a:gd name="adj" fmla="val 15152"/>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53" name="p4_q"/>
            <p:cNvSpPr txBox="1"/>
            <p:nvPr/>
          </p:nvSpPr>
          <p:spPr>
            <a:xfrm>
              <a:off x="256032" y="75827"/>
              <a:ext cx="8186623" cy="4518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5F1E6"/>
                  </a:solidFill>
                  <a:latin typeface="Arial"/>
                  <a:ea typeface="Arial"/>
                  <a:cs typeface="Arial"/>
                  <a:sym typeface="Arial"/>
                </a:defRPr>
              </a:lvl1pPr>
            </a:lstStyle>
            <a:p>
              <a:pPr/>
              <a:r>
                <a:t>Fish, chickens and humans share early embryo features because they share a common ancestor.</a:t>
              </a:r>
            </a:p>
          </p:txBody>
        </p:sp>
      </p:grpSp>
      <p:sp>
        <p:nvSpPr>
          <p:cNvPr id="355" name="p4_v"/>
          <p:cNvSpPr txBox="1"/>
          <p:nvPr/>
        </p:nvSpPr>
        <p:spPr>
          <a:xfrm>
            <a:off x="9905695" y="52074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sp>
        <p:nvSpPr>
          <p:cNvPr id="356"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DE9A4C"/>
                </a:solidFill>
                <a:latin typeface="Arial"/>
                <a:ea typeface="Arial"/>
                <a:cs typeface="Arial"/>
                <a:sym typeface="Arial"/>
              </a:defRPr>
            </a:lvl1pPr>
          </a:lstStyle>
          <a:p>
            <a:pPr/>
            <a:r>
              <a:t>Next lesson: what else changes a gene pool? Natural selection is only one of four forces.</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3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38"/>
                                        </p:tgtEl>
                                        <p:attrNameLst>
                                          <p:attrName>style.visibility</p:attrName>
                                        </p:attrNameLst>
                                      </p:cBhvr>
                                      <p:to>
                                        <p:strVal val="visible"/>
                                      </p:to>
                                    </p:set>
                                    <p:animEffect filter="fade" transition="in">
                                      <p:cBhvr>
                                        <p:cTn id="11" dur="400"/>
                                        <p:tgtEl>
                                          <p:spTgt spid="33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39"/>
                                        </p:tgtEl>
                                        <p:attrNameLst>
                                          <p:attrName>style.visibility</p:attrName>
                                        </p:attrNameLst>
                                      </p:cBhvr>
                                      <p:to>
                                        <p:strVal val="visible"/>
                                      </p:to>
                                    </p:set>
                                    <p:anim calcmode="lin" valueType="num">
                                      <p:cBhvr>
                                        <p:cTn id="16" dur="400" fill="hold"/>
                                        <p:tgtEl>
                                          <p:spTgt spid="339"/>
                                        </p:tgtEl>
                                        <p:attrNameLst>
                                          <p:attrName>ppt_w</p:attrName>
                                        </p:attrNameLst>
                                      </p:cBhvr>
                                      <p:tavLst>
                                        <p:tav tm="0">
                                          <p:val>
                                            <p:fltVal val="0"/>
                                          </p:val>
                                        </p:tav>
                                        <p:tav tm="100000">
                                          <p:val>
                                            <p:strVal val="#ppt_w"/>
                                          </p:val>
                                        </p:tav>
                                      </p:tavLst>
                                    </p:anim>
                                    <p:anim calcmode="lin" valueType="num">
                                      <p:cBhvr>
                                        <p:cTn id="17" dur="400" fill="hold"/>
                                        <p:tgtEl>
                                          <p:spTgt spid="339"/>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42"/>
                                        </p:tgtEl>
                                        <p:attrNameLst>
                                          <p:attrName>style.visibility</p:attrName>
                                        </p:attrNameLst>
                                      </p:cBhvr>
                                      <p:to>
                                        <p:strVal val="visible"/>
                                      </p:to>
                                    </p:set>
                                    <p:animEffect filter="fade" transition="in">
                                      <p:cBhvr>
                                        <p:cTn id="22" dur="400"/>
                                        <p:tgtEl>
                                          <p:spTgt spid="34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43"/>
                                        </p:tgtEl>
                                        <p:attrNameLst>
                                          <p:attrName>style.visibility</p:attrName>
                                        </p:attrNameLst>
                                      </p:cBhvr>
                                      <p:to>
                                        <p:strVal val="visible"/>
                                      </p:to>
                                    </p:set>
                                    <p:anim calcmode="lin" valueType="num">
                                      <p:cBhvr>
                                        <p:cTn id="27" dur="400" fill="hold"/>
                                        <p:tgtEl>
                                          <p:spTgt spid="343"/>
                                        </p:tgtEl>
                                        <p:attrNameLst>
                                          <p:attrName>ppt_w</p:attrName>
                                        </p:attrNameLst>
                                      </p:cBhvr>
                                      <p:tavLst>
                                        <p:tav tm="0">
                                          <p:val>
                                            <p:fltVal val="0"/>
                                          </p:val>
                                        </p:tav>
                                        <p:tav tm="100000">
                                          <p:val>
                                            <p:strVal val="#ppt_w"/>
                                          </p:val>
                                        </p:tav>
                                      </p:tavLst>
                                    </p:anim>
                                    <p:anim calcmode="lin" valueType="num">
                                      <p:cBhvr>
                                        <p:cTn id="28" dur="400" fill="hold"/>
                                        <p:tgtEl>
                                          <p:spTgt spid="343"/>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46"/>
                                        </p:tgtEl>
                                        <p:attrNameLst>
                                          <p:attrName>style.visibility</p:attrName>
                                        </p:attrNameLst>
                                      </p:cBhvr>
                                      <p:to>
                                        <p:strVal val="visible"/>
                                      </p:to>
                                    </p:set>
                                    <p:animEffect filter="fade" transition="in">
                                      <p:cBhvr>
                                        <p:cTn id="33" dur="400"/>
                                        <p:tgtEl>
                                          <p:spTgt spid="346"/>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47"/>
                                        </p:tgtEl>
                                        <p:attrNameLst>
                                          <p:attrName>style.visibility</p:attrName>
                                        </p:attrNameLst>
                                      </p:cBhvr>
                                      <p:to>
                                        <p:strVal val="visible"/>
                                      </p:to>
                                    </p:set>
                                    <p:anim calcmode="lin" valueType="num">
                                      <p:cBhvr>
                                        <p:cTn id="38" dur="400" fill="hold"/>
                                        <p:tgtEl>
                                          <p:spTgt spid="347"/>
                                        </p:tgtEl>
                                        <p:attrNameLst>
                                          <p:attrName>ppt_w</p:attrName>
                                        </p:attrNameLst>
                                      </p:cBhvr>
                                      <p:tavLst>
                                        <p:tav tm="0">
                                          <p:val>
                                            <p:fltVal val="0"/>
                                          </p:val>
                                        </p:tav>
                                        <p:tav tm="100000">
                                          <p:val>
                                            <p:strVal val="#ppt_w"/>
                                          </p:val>
                                        </p:tav>
                                      </p:tavLst>
                                    </p:anim>
                                    <p:anim calcmode="lin" valueType="num">
                                      <p:cBhvr>
                                        <p:cTn id="39" dur="400" fill="hold"/>
                                        <p:tgtEl>
                                          <p:spTgt spid="347"/>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50"/>
                                        </p:tgtEl>
                                        <p:attrNameLst>
                                          <p:attrName>style.visibility</p:attrName>
                                        </p:attrNameLst>
                                      </p:cBhvr>
                                      <p:to>
                                        <p:strVal val="visible"/>
                                      </p:to>
                                    </p:set>
                                    <p:animEffect filter="fade" transition="in">
                                      <p:cBhvr>
                                        <p:cTn id="44" dur="400"/>
                                        <p:tgtEl>
                                          <p:spTgt spid="350"/>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51"/>
                                        </p:tgtEl>
                                        <p:attrNameLst>
                                          <p:attrName>style.visibility</p:attrName>
                                        </p:attrNameLst>
                                      </p:cBhvr>
                                      <p:to>
                                        <p:strVal val="visible"/>
                                      </p:to>
                                    </p:set>
                                    <p:anim calcmode="lin" valueType="num">
                                      <p:cBhvr>
                                        <p:cTn id="49" dur="400" fill="hold"/>
                                        <p:tgtEl>
                                          <p:spTgt spid="351"/>
                                        </p:tgtEl>
                                        <p:attrNameLst>
                                          <p:attrName>ppt_w</p:attrName>
                                        </p:attrNameLst>
                                      </p:cBhvr>
                                      <p:tavLst>
                                        <p:tav tm="0">
                                          <p:val>
                                            <p:fltVal val="0"/>
                                          </p:val>
                                        </p:tav>
                                        <p:tav tm="100000">
                                          <p:val>
                                            <p:strVal val="#ppt_w"/>
                                          </p:val>
                                        </p:tav>
                                      </p:tavLst>
                                    </p:anim>
                                    <p:anim calcmode="lin" valueType="num">
                                      <p:cBhvr>
                                        <p:cTn id="50" dur="400" fill="hold"/>
                                        <p:tgtEl>
                                          <p:spTgt spid="351"/>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54"/>
                                        </p:tgtEl>
                                        <p:attrNameLst>
                                          <p:attrName>style.visibility</p:attrName>
                                        </p:attrNameLst>
                                      </p:cBhvr>
                                      <p:to>
                                        <p:strVal val="visible"/>
                                      </p:to>
                                    </p:set>
                                    <p:animEffect filter="fade" transition="in">
                                      <p:cBhvr>
                                        <p:cTn id="55" dur="400"/>
                                        <p:tgtEl>
                                          <p:spTgt spid="354"/>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55"/>
                                        </p:tgtEl>
                                        <p:attrNameLst>
                                          <p:attrName>style.visibility</p:attrName>
                                        </p:attrNameLst>
                                      </p:cBhvr>
                                      <p:to>
                                        <p:strVal val="visible"/>
                                      </p:to>
                                    </p:set>
                                    <p:anim calcmode="lin" valueType="num">
                                      <p:cBhvr>
                                        <p:cTn id="60" dur="400" fill="hold"/>
                                        <p:tgtEl>
                                          <p:spTgt spid="355"/>
                                        </p:tgtEl>
                                        <p:attrNameLst>
                                          <p:attrName>ppt_w</p:attrName>
                                        </p:attrNameLst>
                                      </p:cBhvr>
                                      <p:tavLst>
                                        <p:tav tm="0">
                                          <p:val>
                                            <p:fltVal val="0"/>
                                          </p:val>
                                        </p:tav>
                                        <p:tav tm="100000">
                                          <p:val>
                                            <p:strVal val="#ppt_w"/>
                                          </p:val>
                                        </p:tav>
                                      </p:tavLst>
                                    </p:anim>
                                    <p:anim calcmode="lin" valueType="num">
                                      <p:cBhvr>
                                        <p:cTn id="61" dur="400" fill="hold"/>
                                        <p:tgtEl>
                                          <p:spTgt spid="355"/>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56"/>
                                        </p:tgtEl>
                                        <p:attrNameLst>
                                          <p:attrName>style.visibility</p:attrName>
                                        </p:attrNameLst>
                                      </p:cBhvr>
                                      <p:to>
                                        <p:strVal val="visible"/>
                                      </p:to>
                                    </p:set>
                                    <p:animEffect filter="fade" transition="in">
                                      <p:cBhvr>
                                        <p:cTn id="66" dur="4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31"/>
                </p:tgtEl>
              </p:cMediaNode>
            </p:video>
            <p:seq concurrent="1" prevAc="none" nextAc="seek">
              <p:cTn id="68" evtFilter="cancelBubble" nodeType="interactiveSeq" restart="whenNotActive" fill="hold">
                <p:stCondLst>
                  <p:cond delay="0" evt="onClick">
                    <p:tgtEl>
                      <p:spTgt spid="331"/>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31"/>
                                        </p:tgtEl>
                                      </p:cBhvr>
                                    </p:cmd>
                                  </p:childTnLst>
                                </p:cTn>
                              </p:par>
                            </p:childTnLst>
                          </p:cTn>
                        </p:par>
                      </p:childTnLst>
                    </p:cTn>
                  </p:par>
                </p:childTnLst>
              </p:cTn>
              <p:nextCondLst>
                <p:cond delay="0" evt="onClick">
                  <p:tgtEl>
                    <p:spTgt spid="331"/>
                  </p:tgtEl>
                </p:cond>
              </p:nextCondLst>
            </p:seq>
          </p:childTnLst>
        </p:cTn>
      </p:par>
    </p:tnLst>
    <p:bldLst>
      <p:bldP build="whole" bldLvl="1" animBg="1" rev="0" advAuto="0" spid="354" grpId="10"/>
      <p:bldP build="whole" bldLvl="1" animBg="1" rev="0" advAuto="0" spid="351" grpId="9"/>
      <p:bldP build="whole" bldLvl="1" animBg="1" rev="0" advAuto="0" spid="350" grpId="8"/>
      <p:bldP build="whole" bldLvl="1" animBg="1" rev="0" advAuto="0" spid="356" grpId="12"/>
      <p:bldP build="whole" bldLvl="1" animBg="1" rev="0" advAuto="0" spid="343" grpId="5"/>
      <p:bldP build="whole" bldLvl="1" animBg="1" rev="0" advAuto="0" spid="346" grpId="6"/>
      <p:bldP build="whole" bldLvl="1" animBg="1" rev="0" advAuto="0" spid="338" grpId="2"/>
      <p:bldP build="whole" bldLvl="1" animBg="1" rev="0" advAuto="0" spid="355" grpId="11"/>
      <p:bldP build="whole" bldLvl="1" animBg="1" rev="0" advAuto="0" spid="339" grpId="3"/>
      <p:bldP build="whole" bldLvl="1" animBg="1" rev="0" advAuto="0" spid="347" grpId="7"/>
      <p:bldP build="whole" bldLvl="1" animBg="1" rev="0" advAuto="0" spid="342" grpId="4"/>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