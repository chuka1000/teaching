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media5.mp4" ContentType="video/unknown"/>
  <Override PartName="/ppt/notesSlides/notesSlide7.xml" ContentType="application/vnd.openxmlformats-officedocument.presentationml.notesSlide+xml"/>
  <Override PartName="/ppt/media/media6.mp4" ContentType="video/unknown"/>
  <Override PartName="/ppt/notesSlides/notesSlide8.xml" ContentType="application/vnd.openxmlformats-officedocument.presentationml.notesSlide+xml"/>
  <Override PartName="/ppt/media/media7.mp4" ContentType="video/unknown"/>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8.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Six clicks.</a:t>
            </a:r>
          </a:p>
          <a:p>
            <a:pPr/>
          </a:p>
          <a:p>
            <a:pPr/>
            <a:r>
              <a:t>Q1 IS THE ONE THAT MATTERS MOST. Cuboid volume comes straight back in I Do 1. If this stalls, that is the five minutes to spend before moving on.</a:t>
            </a:r>
          </a:p>
          <a:p>
            <a:pPr/>
          </a:p>
          <a:p>
            <a:pPr/>
            <a:r>
              <a:t>Q3 IS RETRIEVAL FROM GRAVITATIONAL FIELDS AND FREE FALL. g stays at 9.8, same as last lesson.</a:t>
            </a:r>
          </a:p>
          <a:p>
            <a:pPr/>
          </a:p>
          <a:p>
            <a:pPr/>
            <a:r>
              <a:t>Q4 AND Q6 seed today's vocabulary: measuring cylinder, cm³. Neither has been used yet this term.</a:t>
            </a:r>
          </a:p>
          <a:p>
            <a:pPr/>
          </a:p>
          <a:p>
            <a:pPr/>
            <a:r>
              <a:t>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TODAY. 1 minute. Four clicks. The banner is the whole lesson in one line: two objects can be the same size and have very different masses. Density is what measures that.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r>
              <a:t>HOOK. 2 minutes. Four clicks.</a:t>
            </a:r>
          </a:p>
          <a:p>
            <a:pPr/>
          </a:p>
          <a:p>
            <a:pPr/>
            <a:r>
              <a:t>Hands up for each. Tally on the board.</a:t>
            </a:r>
          </a:p>
          <a:p>
            <a:pPr/>
          </a:p>
          <a:p>
            <a:pPr/>
            <a:r>
              <a:t>ANSWER: A. The ship's steel hull encloses a huge volume of air, so its average density (mass over the whole hull-plus-air volume) is less than water's. A solid marble is steel all the way through.</a:t>
            </a:r>
          </a:p>
          <a:p>
            <a:pPr/>
          </a:p>
          <a:p>
            <a:pPr/>
            <a:r>
              <a:t>C IS THE TRAP. The ship weighs far more than the marble in total, so "lighter" cannot be the reason it floats. That is the point to land before I Do.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Shape 136"/>
          <p:cNvSpPr/>
          <p:nvPr>
            <p:ph type="sldImg"/>
          </p:nvPr>
        </p:nvSpPr>
        <p:spPr>
          <a:prstGeom prst="rect">
            <a:avLst/>
          </a:prstGeom>
        </p:spPr>
        <p:txBody>
          <a:bodyPr/>
          <a:lstStyle/>
          <a:p>
            <a:pPr/>
          </a:p>
        </p:txBody>
      </p:sp>
      <p:sp>
        <p:nvSpPr>
          <p:cNvPr id="137" name="Shape 137"/>
          <p:cNvSpPr/>
          <p:nvPr>
            <p:ph type="body" sz="quarter" idx="1"/>
          </p:nvPr>
        </p:nvSpPr>
        <p:spPr>
          <a:prstGeom prst="rect">
            <a:avLst/>
          </a:prstGeom>
        </p:spPr>
        <p:txBody>
          <a:bodyPr/>
          <a:lstStyle/>
          <a:p>
            <a:pPr/>
            <a:r>
              <a:t>I DO. 3 minutes. Three clicks: the equation, then the two unit cards.</a:t>
            </a:r>
          </a:p>
          <a:p>
            <a:pPr/>
          </a:p>
          <a:p>
            <a:pPr/>
            <a:r>
              <a:t>"MASS PER UNIT VOLUME" MEANS "how much mass is packed into each cm³ (or m³)". Say it that way at least once. The phrase alone does not land for most students.</a:t>
            </a:r>
          </a:p>
          <a:p>
            <a:pPr/>
          </a:p>
          <a:p>
            <a:pPr/>
            <a:r>
              <a:t>CONVERSION, IF IT COMES UP: 1 g/cm³ = 1000 kg/m³. Not needed for today's calculations, but worth having ready.</a:t>
            </a:r>
          </a:p>
          <a:p>
            <a:pPr/>
          </a:p>
          <a:p>
            <a:pPr/>
            <a:r>
              <a:t>THIS CLASS HAS ALREADY MET MASS (kg) FROM THE LAST TWO LESSONS. Do not re-teach it. Volume is the new idea here.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Shape 165"/>
          <p:cNvSpPr/>
          <p:nvPr>
            <p:ph type="sldImg"/>
          </p:nvPr>
        </p:nvSpPr>
        <p:spPr>
          <a:prstGeom prst="rect">
            <a:avLst/>
          </a:prstGeom>
        </p:spPr>
        <p:txBody>
          <a:bodyPr/>
          <a:lstStyle/>
          <a:p>
            <a:pPr/>
          </a:p>
        </p:txBody>
      </p:sp>
      <p:sp>
        <p:nvSpPr>
          <p:cNvPr id="166" name="Shape 166"/>
          <p:cNvSpPr/>
          <p:nvPr>
            <p:ph type="body" sz="quarter" idx="1"/>
          </p:nvPr>
        </p:nvSpPr>
        <p:spPr>
          <a:prstGeom prst="rect">
            <a:avLst/>
          </a:prstGeom>
        </p:spPr>
        <p:txBody>
          <a:bodyPr/>
          <a:lstStyle/>
          <a:p>
            <a:pPr/>
            <a:r>
              <a:t>I DO. 3 minutes. Three clicks, one per method.</a:t>
            </a:r>
          </a:p>
          <a:p>
            <a:pPr/>
          </a:p>
          <a:p>
            <a:pPr/>
            <a:r>
              <a:t>THIS IS DESCRIBED, NOT DEMONSTRATED. The practical for this cannot happen before next week, so talk through each method with the numbers rather than running it live. Say that plainly if anyone asks.</a:t>
            </a:r>
          </a:p>
          <a:p>
            <a:pPr/>
          </a:p>
          <a:p>
            <a:pPr/>
            <a:r>
              <a:t>THE THIRD CARD IS THE ONE THAT NEEDS THE MOST TIME. "The rise in level IS the volume" is the idea students most often get backwards. Some will try to read the volume off the final level alone rather than the rise.</a:t>
            </a:r>
          </a:p>
          <a:p>
            <a:pPr/>
          </a:p>
          <a:p>
            <a:pPr/>
            <a:r>
              <a:t>ALL THREE METHODS END THE SAME WAY: mass ÷ volume. That repetition is deliberate.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Shape 194"/>
          <p:cNvSpPr/>
          <p:nvPr>
            <p:ph type="sldImg"/>
          </p:nvPr>
        </p:nvSpPr>
        <p:spPr>
          <a:prstGeom prst="rect">
            <a:avLst/>
          </a:prstGeom>
        </p:spPr>
        <p:txBody>
          <a:bodyPr/>
          <a:lstStyle/>
          <a:p>
            <a:pPr/>
          </a:p>
        </p:txBody>
      </p:sp>
      <p:sp>
        <p:nvSpPr>
          <p:cNvPr id="195" name="Shape 195"/>
          <p:cNvSpPr/>
          <p:nvPr>
            <p:ph type="body" sz="quarter" idx="1"/>
          </p:nvPr>
        </p:nvSpPr>
        <p:spPr>
          <a:prstGeom prst="rect">
            <a:avLst/>
          </a:prstGeom>
        </p:spPr>
        <p:txBody>
          <a:bodyPr/>
          <a:lstStyle/>
          <a:p>
            <a:pPr/>
            <a:r>
              <a:t>WE DO. 5 minutes. Four clicks. Take answers from the room first.</a:t>
            </a:r>
          </a:p>
          <a:p>
            <a:pPr/>
          </a:p>
          <a:p>
            <a:pPr/>
            <a:r>
              <a:t>ROW 1 IS THE FORMULA FLIP, the single most common error today. Some will confidently divide the wrong way round.</a:t>
            </a:r>
          </a:p>
          <a:p>
            <a:pPr/>
          </a:p>
          <a:p>
            <a:pPr/>
            <a:r>
              <a:t>ROW 3 AND ROW 4 BOTH ATTACK THE SAME MISCONCEPTION AS THE HOOK: size and weight are not density. Refer back to the ship if either row stalls.</a:t>
            </a:r>
          </a:p>
          <a:p>
            <a:pPr/>
          </a:p>
          <a:p>
            <a:pPr/>
            <a:r>
              <a:t>ROW 4 IS THE HOOK, IN WORDS. If this lands cleanly, the ship answer will make sense properly rather than just being memorised.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Shape 243"/>
          <p:cNvSpPr/>
          <p:nvPr>
            <p:ph type="sldImg"/>
          </p:nvPr>
        </p:nvSpPr>
        <p:spPr>
          <a:prstGeom prst="rect">
            <a:avLst/>
          </a:prstGeom>
        </p:spPr>
        <p:txBody>
          <a:bodyPr/>
          <a:lstStyle/>
          <a:p>
            <a:pPr/>
          </a:p>
        </p:txBody>
      </p:sp>
      <p:sp>
        <p:nvSpPr>
          <p:cNvPr id="244" name="Shape 244"/>
          <p:cNvSpPr/>
          <p:nvPr>
            <p:ph type="body" sz="quarter" idx="1"/>
          </p:nvPr>
        </p:nvSpPr>
        <p:spPr>
          <a:prstGeom prst="rect">
            <a:avLst/>
          </a:prstGeom>
        </p:spPr>
        <p:txBody>
          <a:bodyPr/>
          <a:lstStyle/>
          <a:p>
            <a:pPr/>
            <a:r>
              <a:t>COLD CALL. 6 minutes. Six clicks. Name a student, then ask. Thinking time before the answer.</a:t>
            </a:r>
          </a:p>
          <a:p>
            <a:pPr/>
          </a:p>
          <a:p>
            <a:pPr/>
            <a:r>
              <a:t>Q1 WANTS THE DEFINITION, not the equation. If a student answers "ρ = m ÷ V" to Q1, that is Q2's answer. Push once: "say it in words."</a:t>
            </a:r>
          </a:p>
          <a:p>
            <a:pPr/>
          </a:p>
          <a:p>
            <a:pPr/>
            <a:r>
              <a:t>Q3 IS THE FIRST TIMED CALCULATION. Watch for the formula flip from We Do.</a:t>
            </a:r>
          </a:p>
          <a:p>
            <a:pPr/>
          </a:p>
          <a:p>
            <a:pPr/>
            <a:r>
              <a:t>Q6 CHECKS DISPLACEMENT SPECIFICALLY. They need this exact skill on the worksheet's Gold questions.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9" name="Shape 269"/>
          <p:cNvSpPr/>
          <p:nvPr>
            <p:ph type="sldImg"/>
          </p:nvPr>
        </p:nvSpPr>
        <p:spPr>
          <a:prstGeom prst="rect">
            <a:avLst/>
          </a:prstGeom>
        </p:spPr>
        <p:txBody>
          <a:bodyPr/>
          <a:lstStyle/>
          <a:p>
            <a:pPr/>
          </a:p>
        </p:txBody>
      </p:sp>
      <p:sp>
        <p:nvSpPr>
          <p:cNvPr id="270" name="Shape 270"/>
          <p:cNvSpPr/>
          <p:nvPr>
            <p:ph type="body" sz="quarter" idx="1"/>
          </p:nvPr>
        </p:nvSpPr>
        <p:spPr>
          <a:prstGeom prst="rect">
            <a:avLst/>
          </a:prstGeom>
        </p:spPr>
        <p:txBody>
          <a:bodyPr/>
          <a:lstStyle/>
          <a:p>
            <a:pPr/>
            <a:r>
              <a:t>YOU DO. 14 minutes. Four clicks.</a:t>
            </a:r>
          </a:p>
          <a:p>
            <a:pPr/>
          </a:p>
          <a:p>
            <a:pPr/>
            <a:r>
              <a:t>CIRCULATE WITH ONE QUESTION: "which way round does the divide go?"</a:t>
            </a:r>
          </a:p>
          <a:p>
            <a:pPr/>
          </a:p>
          <a:p>
            <a:pPr/>
            <a:r>
              <a:t>WHERE THEY WILL STALL: Gold Q9, reading the displacement rise from two given levels rather than the smaller one alone. Point them back to I Do 2's third card if they freeze.</a:t>
            </a:r>
          </a:p>
          <a:p>
            <a:pPr/>
          </a:p>
          <a:p>
            <a:pPr/>
            <a:r>
              <a:t>AT 3 MINUTES REMAINING, stop them. Answers are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0" name="Shape 330"/>
          <p:cNvSpPr/>
          <p:nvPr>
            <p:ph type="sldImg"/>
          </p:nvPr>
        </p:nvSpPr>
        <p:spPr>
          <a:prstGeom prst="rect">
            <a:avLst/>
          </a:prstGeom>
        </p:spPr>
        <p:txBody>
          <a:bodyPr/>
          <a:lstStyle/>
          <a:p>
            <a:pPr/>
          </a:p>
        </p:txBody>
      </p:sp>
      <p:sp>
        <p:nvSpPr>
          <p:cNvPr id="331" name="Shape 331"/>
          <p:cNvSpPr/>
          <p:nvPr>
            <p:ph type="body" sz="quarter" idx="1"/>
          </p:nvPr>
        </p:nvSpPr>
        <p:spPr>
          <a:prstGeom prst="rect">
            <a:avLst/>
          </a:prstGeom>
        </p:spPr>
        <p:txBody>
          <a:bodyPr/>
          <a:lstStyle/>
          <a:p>
            <a:pPr/>
            <a:r>
              <a:t>ANSWERS. 3 minutes. Five clicks, two at a time. They mark their own in a different colour.</a:t>
            </a:r>
          </a:p>
          <a:p>
            <a:pPr/>
          </a:p>
          <a:p>
            <a:pPr/>
            <a:r>
              <a:t>Q9 AND Q10 ARE THE CONCEPTUAL PAYOFF. Q10 should come easily if the Hook and Row 4 of We Do both landed. If it does not, that is worth five minutes at the start of next lesson.</a:t>
            </a:r>
          </a:p>
          <a:p>
            <a:pPr/>
          </a:p>
          <a:p>
            <a:pPr/>
            <a:r>
              <a:t>Q7 AND Q8 use the same displacement data. Do not let anyone skip straight to Q8 without the working from Q7.</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Shape 359"/>
          <p:cNvSpPr/>
          <p:nvPr>
            <p:ph type="sldImg"/>
          </p:nvPr>
        </p:nvSpPr>
        <p:spPr>
          <a:prstGeom prst="rect">
            <a:avLst/>
          </a:prstGeom>
        </p:spPr>
        <p:txBody>
          <a:bodyPr/>
          <a:lstStyle/>
          <a:p>
            <a:pPr/>
          </a:p>
        </p:txBody>
      </p:sp>
      <p:sp>
        <p:nvSpPr>
          <p:cNvPr id="360" name="Shape 360"/>
          <p:cNvSpPr/>
          <p:nvPr>
            <p:ph type="body" sz="quarter" idx="1"/>
          </p:nvPr>
        </p:nvSpPr>
        <p:spPr>
          <a:prstGeom prst="rect">
            <a:avLst/>
          </a:prstGeom>
        </p:spPr>
        <p:txBody>
          <a:bodyPr/>
          <a:lstStyle/>
          <a:p>
            <a:pPr/>
            <a:r>
              <a:t>PLENARY. 3 minutes. Six clicks.</a:t>
            </a:r>
          </a:p>
          <a:p>
            <a:pPr/>
          </a:p>
          <a:p>
            <a:pPr/>
            <a:r>
              <a:t>Q3 AND Q5 ARE THE MISCONCEPTIONS FROM WE DO AND THE HOOK, ASKED DIRECTLY. If either is wrong, that is the first five minutes of next lesson.</a:t>
            </a:r>
          </a:p>
          <a:p>
            <a:pPr/>
          </a:p>
          <a:p>
            <a:pPr/>
            <a:r>
              <a:t>Q4 CHECKS THE METHOD, NOT JUST THE VOCABULARY. Ask a follow-up: "what do you actually measure to get that volume?"</a:t>
            </a:r>
          </a:p>
          <a:p>
            <a:pPr/>
          </a:p>
          <a:p>
            <a:pPr/>
            <a:r>
              <a:t>The closing line is the habit to leave them with.</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824780" y="769937"/>
            <a:ext cx="974344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6797994" y="2438400"/>
            <a:ext cx="4770227"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69877" y="6232199"/>
            <a:ext cx="258622" cy="248303"/>
          </a:xfrm>
          <a:prstGeom prst="rect">
            <a:avLst/>
          </a:prstGeom>
          <a:ln w="12700">
            <a:miter lim="400000"/>
          </a:ln>
        </p:spPr>
        <p:txBody>
          <a:bodyPr wrap="none" lIns="45718" tIns="45718" rIns="45718" bIns="45718"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 Id="rId6" Type="http://schemas.openxmlformats.org/officeDocument/2006/relationships/image" Target="../media/image1.tif"/></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23" name="phase_pill"/>
          <p:cNvGrpSpPr/>
          <p:nvPr/>
        </p:nvGrpSpPr>
        <p:grpSpPr>
          <a:xfrm>
            <a:off x="1170432" y="310894"/>
            <a:ext cx="1892809" cy="329188"/>
            <a:chOff x="0" y="0"/>
            <a:chExt cx="1892808" cy="329186"/>
          </a:xfrm>
        </p:grpSpPr>
        <p:sp>
          <p:nvSpPr>
            <p:cNvPr id="21" name="Rounded Rectangle"/>
            <p:cNvSpPr/>
            <p:nvPr/>
          </p:nvSpPr>
          <p:spPr>
            <a:xfrm>
              <a:off x="0" y="-1"/>
              <a:ext cx="1892809" cy="329188"/>
            </a:xfrm>
            <a:prstGeom prst="roundRect">
              <a:avLst>
                <a:gd name="adj" fmla="val 44444"/>
              </a:avLst>
            </a:prstGeom>
            <a:solidFill>
              <a:srgbClr val="0B3D4C"/>
            </a:solidFill>
            <a:ln w="12700" cap="flat">
              <a:noFill/>
              <a:miter lim="400000"/>
            </a:ln>
            <a:effectLst/>
          </p:spPr>
          <p:txBody>
            <a:bodyPr wrap="square" lIns="45718" tIns="45718" rIns="45718" bIns="45718" numCol="1" anchor="ctr">
              <a:noAutofit/>
            </a:bodyPr>
            <a:lstStyle/>
            <a:p>
              <a:pPr algn="ctr">
                <a:defRPr sz="1100"/>
              </a:pPr>
            </a:p>
          </p:txBody>
        </p:sp>
        <p:sp>
          <p:nvSpPr>
            <p:cNvPr id="22" name="DO NOW · 10 MIN"/>
            <p:cNvSpPr txBox="1"/>
            <p:nvPr/>
          </p:nvSpPr>
          <p:spPr>
            <a:xfrm>
              <a:off x="42850" y="90677"/>
              <a:ext cx="1807107"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gn="ctr">
                <a:defRPr b="1" spc="10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3840479" y="312419"/>
            <a:ext cx="4754882" cy="3810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b="1" sz="2600">
                <a:solidFill>
                  <a:srgbClr val="0B3D4C"/>
                </a:solidFill>
                <a:latin typeface="Georgia"/>
                <a:ea typeface="Georgia"/>
                <a:cs typeface="Georgia"/>
                <a:sym typeface="Georgia"/>
              </a:defRPr>
            </a:lvl1pPr>
          </a:lstStyle>
          <a:p>
            <a:pPr/>
            <a:r>
              <a:t>Density Practical</a:t>
            </a:r>
          </a:p>
        </p:txBody>
      </p:sp>
      <p:sp>
        <p:nvSpPr>
          <p:cNvPr id="25" name="lesson_date"/>
          <p:cNvSpPr txBox="1"/>
          <p:nvPr/>
        </p:nvSpPr>
        <p:spPr>
          <a:xfrm>
            <a:off x="8534095" y="382938"/>
            <a:ext cx="3108962" cy="18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r">
              <a:defRPr sz="1300">
                <a:solidFill>
                  <a:srgbClr val="4E6D74"/>
                </a:solidFill>
                <a:latin typeface="Arial"/>
                <a:ea typeface="Arial"/>
                <a:cs typeface="Arial"/>
                <a:sym typeface="Arial"/>
              </a:defRPr>
            </a:lvl1pPr>
          </a:lstStyle>
          <a:p>
            <a:pPr/>
            <a:r>
              <a:t>Monday 5 October 2026</a:t>
            </a:r>
          </a:p>
        </p:txBody>
      </p:sp>
      <p:sp>
        <p:nvSpPr>
          <p:cNvPr id="26" name="rule"/>
          <p:cNvSpPr/>
          <p:nvPr/>
        </p:nvSpPr>
        <p:spPr>
          <a:xfrm>
            <a:off x="1170432" y="896110"/>
            <a:ext cx="10472623" cy="36579"/>
          </a:xfrm>
          <a:prstGeom prst="rect">
            <a:avLst/>
          </a:prstGeom>
          <a:solidFill>
            <a:srgbClr val="FF8952"/>
          </a:solidFill>
          <a:ln w="12700">
            <a:solidFill>
              <a:srgbClr val="FF8952"/>
            </a:solidFill>
          </a:ln>
        </p:spPr>
        <p:txBody>
          <a:bodyPr lIns="45718" tIns="45718" rIns="45718" bIns="45718"/>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8DEEC"/>
            </a:solidFill>
          </a:ln>
        </p:spPr>
        <p:txBody>
          <a:bodyPr lIns="45718" tIns="45718" rIns="45718" bIns="45718"/>
          <a:lstStyle/>
          <a:p>
            <a:pPr/>
          </a:p>
        </p:txBody>
      </p:sp>
      <p:sp>
        <p:nvSpPr>
          <p:cNvPr id="28" name="d0_badge"/>
          <p:cNvSpPr/>
          <p:nvPr/>
        </p:nvSpPr>
        <p:spPr>
          <a:xfrm>
            <a:off x="1371600" y="1298447"/>
            <a:ext cx="384048" cy="384051"/>
          </a:xfrm>
          <a:prstGeom prst="ellipse">
            <a:avLst/>
          </a:prstGeom>
          <a:solidFill>
            <a:srgbClr val="FF8952"/>
          </a:solidFill>
          <a:ln w="12700">
            <a:solidFill>
              <a:srgbClr val="FF8952"/>
            </a:solidFill>
          </a:ln>
        </p:spPr>
        <p:txBody>
          <a:bodyPr lIns="45718" tIns="45718" rIns="45718" bIns="45718"/>
          <a:lstStyle/>
          <a:p>
            <a:pPr/>
          </a:p>
        </p:txBody>
      </p:sp>
      <p:sp>
        <p:nvSpPr>
          <p:cNvPr id="29" name="d0_num"/>
          <p:cNvSpPr txBox="1"/>
          <p:nvPr/>
        </p:nvSpPr>
        <p:spPr>
          <a:xfrm>
            <a:off x="1371600" y="1388871"/>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1</a:t>
            </a:r>
          </a:p>
        </p:txBody>
      </p:sp>
      <p:sp>
        <p:nvSpPr>
          <p:cNvPr id="30" name="d0_q"/>
          <p:cNvSpPr txBox="1"/>
          <p:nvPr/>
        </p:nvSpPr>
        <p:spPr>
          <a:xfrm>
            <a:off x="1901950" y="1292097"/>
            <a:ext cx="4166466"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nSpc>
                <a:spcPts val="2100"/>
              </a:lnSpc>
              <a:defRPr sz="1500">
                <a:solidFill>
                  <a:srgbClr val="0C2730"/>
                </a:solidFill>
                <a:latin typeface="Arial"/>
                <a:ea typeface="Arial"/>
                <a:cs typeface="Arial"/>
                <a:sym typeface="Arial"/>
              </a:defRPr>
            </a:lvl1pPr>
          </a:lstStyle>
          <a:p>
            <a:pPr/>
            <a:r>
              <a:t>A stone has a mass of 40 g and a volume of 20 cm³. Find its density.</a:t>
            </a:r>
          </a:p>
        </p:txBody>
      </p:sp>
      <p:grpSp>
        <p:nvGrpSpPr>
          <p:cNvPr id="33" name="d0_a"/>
          <p:cNvGrpSpPr/>
          <p:nvPr/>
        </p:nvGrpSpPr>
        <p:grpSpPr>
          <a:xfrm>
            <a:off x="1371599" y="2048255"/>
            <a:ext cx="4696820" cy="438916"/>
            <a:chOff x="0" y="0"/>
            <a:chExt cx="4696818" cy="438914"/>
          </a:xfrm>
        </p:grpSpPr>
        <p:sp>
          <p:nvSpPr>
            <p:cNvPr id="31" name="Rounded Rectangle"/>
            <p:cNvSpPr/>
            <p:nvPr/>
          </p:nvSpPr>
          <p:spPr>
            <a:xfrm>
              <a:off x="-1" y="0"/>
              <a:ext cx="4696820" cy="438915"/>
            </a:xfrm>
            <a:prstGeom prst="roundRect">
              <a:avLst>
                <a:gd name="adj" fmla="val 20833"/>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defRPr sz="1500"/>
              </a:pPr>
            </a:p>
          </p:txBody>
        </p:sp>
        <p:sp>
          <p:nvSpPr>
            <p:cNvPr id="32" name="4 × 2 × 3 = 24 cm³"/>
            <p:cNvSpPr txBox="1"/>
            <p:nvPr/>
          </p:nvSpPr>
          <p:spPr>
            <a:xfrm>
              <a:off x="35034" y="113606"/>
              <a:ext cx="4626748" cy="211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normAutofit fontScale="100000" lnSpcReduction="0"/>
            </a:bodyPr>
            <a:lstStyle>
              <a:lvl1pPr>
                <a:defRPr b="1" sz="1500">
                  <a:solidFill>
                    <a:srgbClr val="0B3D4C"/>
                  </a:solidFill>
                  <a:latin typeface="Arial"/>
                  <a:ea typeface="Arial"/>
                  <a:cs typeface="Arial"/>
                  <a:sym typeface="Arial"/>
                </a:defRPr>
              </a:lvl1pPr>
            </a:lstStyle>
            <a:p>
              <a:pPr/>
              <a:r>
                <a:t>40 ÷ 20 = 2.0 g/cm³</a:t>
              </a:r>
            </a:p>
          </p:txBody>
        </p:sp>
      </p:grpSp>
      <p:sp>
        <p:nvSpPr>
          <p:cNvPr id="34" name="d1_bg"/>
          <p:cNvSpPr/>
          <p:nvPr/>
        </p:nvSpPr>
        <p:spPr>
          <a:xfrm>
            <a:off x="6543902" y="1133855"/>
            <a:ext cx="5099154" cy="1481329"/>
          </a:xfrm>
          <a:prstGeom prst="roundRect">
            <a:avLst>
              <a:gd name="adj" fmla="val 6173"/>
            </a:avLst>
          </a:prstGeom>
          <a:solidFill>
            <a:srgbClr val="FFFFFF"/>
          </a:solidFill>
          <a:ln w="16510">
            <a:solidFill>
              <a:srgbClr val="D8DEEC"/>
            </a:solidFill>
          </a:ln>
        </p:spPr>
        <p:txBody>
          <a:bodyPr lIns="45718" tIns="45718" rIns="45718" bIns="45718"/>
          <a:lstStyle/>
          <a:p>
            <a:pPr/>
          </a:p>
        </p:txBody>
      </p:sp>
      <p:sp>
        <p:nvSpPr>
          <p:cNvPr id="35" name="d1_badge"/>
          <p:cNvSpPr/>
          <p:nvPr/>
        </p:nvSpPr>
        <p:spPr>
          <a:xfrm>
            <a:off x="6745072" y="1298447"/>
            <a:ext cx="384051" cy="384051"/>
          </a:xfrm>
          <a:prstGeom prst="ellipse">
            <a:avLst/>
          </a:prstGeom>
          <a:solidFill>
            <a:srgbClr val="FF8952"/>
          </a:solidFill>
          <a:ln w="12700">
            <a:solidFill>
              <a:srgbClr val="FF8952"/>
            </a:solidFill>
          </a:ln>
        </p:spPr>
        <p:txBody>
          <a:bodyPr lIns="45718" tIns="45718" rIns="45718" bIns="45718"/>
          <a:lstStyle/>
          <a:p>
            <a:pPr/>
          </a:p>
        </p:txBody>
      </p:sp>
      <p:sp>
        <p:nvSpPr>
          <p:cNvPr id="36" name="d1_num"/>
          <p:cNvSpPr txBox="1"/>
          <p:nvPr/>
        </p:nvSpPr>
        <p:spPr>
          <a:xfrm>
            <a:off x="6745072" y="1388871"/>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2</a:t>
            </a:r>
          </a:p>
        </p:txBody>
      </p:sp>
      <p:sp>
        <p:nvSpPr>
          <p:cNvPr id="37" name="d1_q"/>
          <p:cNvSpPr txBox="1"/>
          <p:nvPr/>
        </p:nvSpPr>
        <p:spPr>
          <a:xfrm>
            <a:off x="7275424" y="1335650"/>
            <a:ext cx="4166466" cy="2564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822959">
              <a:lnSpc>
                <a:spcPts val="1800"/>
              </a:lnSpc>
              <a:defRPr sz="1440">
                <a:solidFill>
                  <a:srgbClr val="0C2730"/>
                </a:solidFill>
                <a:latin typeface="Arial"/>
                <a:ea typeface="Arial"/>
                <a:cs typeface="Arial"/>
                <a:sym typeface="Arial"/>
              </a:defRPr>
            </a:lvl1pPr>
          </a:lstStyle>
          <a:p>
            <a:pPr/>
            <a:r>
              <a:t>State the unit used for the volume of a small object.</a:t>
            </a:r>
          </a:p>
        </p:txBody>
      </p:sp>
      <p:grpSp>
        <p:nvGrpSpPr>
          <p:cNvPr id="40" name="d1_a"/>
          <p:cNvGrpSpPr/>
          <p:nvPr/>
        </p:nvGrpSpPr>
        <p:grpSpPr>
          <a:xfrm>
            <a:off x="6745071" y="2048255"/>
            <a:ext cx="4696820" cy="438916"/>
            <a:chOff x="0" y="0"/>
            <a:chExt cx="4696818" cy="438914"/>
          </a:xfrm>
        </p:grpSpPr>
        <p:sp>
          <p:nvSpPr>
            <p:cNvPr id="38" name="Rounded Rectangle"/>
            <p:cNvSpPr/>
            <p:nvPr/>
          </p:nvSpPr>
          <p:spPr>
            <a:xfrm>
              <a:off x="-1" y="0"/>
              <a:ext cx="4696820" cy="438915"/>
            </a:xfrm>
            <a:prstGeom prst="roundRect">
              <a:avLst>
                <a:gd name="adj" fmla="val 20833"/>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defRPr sz="1500"/>
              </a:pPr>
            </a:p>
          </p:txBody>
        </p:sp>
        <p:sp>
          <p:nvSpPr>
            <p:cNvPr id="39" name="Kilograms (kg)."/>
            <p:cNvSpPr txBox="1"/>
            <p:nvPr/>
          </p:nvSpPr>
          <p:spPr>
            <a:xfrm>
              <a:off x="35034" y="113606"/>
              <a:ext cx="4626748" cy="211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normAutofit fontScale="100000" lnSpcReduction="0"/>
            </a:bodyPr>
            <a:lstStyle>
              <a:lvl1pPr>
                <a:defRPr b="1" sz="1500">
                  <a:solidFill>
                    <a:srgbClr val="0B3D4C"/>
                  </a:solidFill>
                  <a:latin typeface="Arial"/>
                  <a:ea typeface="Arial"/>
                  <a:cs typeface="Arial"/>
                  <a:sym typeface="Arial"/>
                </a:defRPr>
              </a:lvl1pPr>
            </a:lstStyle>
            <a:p>
              <a:pPr/>
              <a:r>
                <a:t>cm³ (cubic centimetres).</a:t>
              </a:r>
            </a:p>
          </p:txBody>
        </p:sp>
      </p:grpSp>
      <p:sp>
        <p:nvSpPr>
          <p:cNvPr id="41" name="d2_bg"/>
          <p:cNvSpPr/>
          <p:nvPr/>
        </p:nvSpPr>
        <p:spPr>
          <a:xfrm>
            <a:off x="1170432" y="2798064"/>
            <a:ext cx="5099152" cy="1481330"/>
          </a:xfrm>
          <a:prstGeom prst="roundRect">
            <a:avLst>
              <a:gd name="adj" fmla="val 6173"/>
            </a:avLst>
          </a:prstGeom>
          <a:solidFill>
            <a:srgbClr val="FFFFFF"/>
          </a:solidFill>
          <a:ln w="16510">
            <a:solidFill>
              <a:srgbClr val="D8DEEC"/>
            </a:solidFill>
          </a:ln>
        </p:spPr>
        <p:txBody>
          <a:bodyPr lIns="45718" tIns="45718" rIns="45718" bIns="45718"/>
          <a:lstStyle/>
          <a:p>
            <a:pPr/>
          </a:p>
        </p:txBody>
      </p:sp>
      <p:sp>
        <p:nvSpPr>
          <p:cNvPr id="42" name="d2_badge"/>
          <p:cNvSpPr/>
          <p:nvPr/>
        </p:nvSpPr>
        <p:spPr>
          <a:xfrm>
            <a:off x="1371600" y="2962655"/>
            <a:ext cx="384048" cy="384051"/>
          </a:xfrm>
          <a:prstGeom prst="ellipse">
            <a:avLst/>
          </a:prstGeom>
          <a:solidFill>
            <a:srgbClr val="FF8952"/>
          </a:solidFill>
          <a:ln w="12700">
            <a:solidFill>
              <a:srgbClr val="FF8952"/>
            </a:solidFill>
          </a:ln>
        </p:spPr>
        <p:txBody>
          <a:bodyPr lIns="45718" tIns="45718" rIns="45718" bIns="45718"/>
          <a:lstStyle/>
          <a:p>
            <a:pPr/>
          </a:p>
        </p:txBody>
      </p:sp>
      <p:sp>
        <p:nvSpPr>
          <p:cNvPr id="43" name="d2_num"/>
          <p:cNvSpPr txBox="1"/>
          <p:nvPr/>
        </p:nvSpPr>
        <p:spPr>
          <a:xfrm>
            <a:off x="1371600" y="305307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3</a:t>
            </a:r>
          </a:p>
        </p:txBody>
      </p:sp>
      <p:sp>
        <p:nvSpPr>
          <p:cNvPr id="44" name="d2_q"/>
          <p:cNvSpPr txBox="1"/>
          <p:nvPr/>
        </p:nvSpPr>
        <p:spPr>
          <a:xfrm>
            <a:off x="1901950" y="3026469"/>
            <a:ext cx="4166466" cy="2564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905255">
              <a:lnSpc>
                <a:spcPts val="2000"/>
              </a:lnSpc>
              <a:defRPr sz="1584">
                <a:solidFill>
                  <a:srgbClr val="0C2730"/>
                </a:solidFill>
                <a:latin typeface="Arial"/>
                <a:ea typeface="Arial"/>
                <a:cs typeface="Arial"/>
                <a:sym typeface="Arial"/>
              </a:defRPr>
            </a:lvl1pPr>
          </a:lstStyle>
          <a:p>
            <a:pPr/>
            <a:r>
              <a:t>What does a balance measure?</a:t>
            </a:r>
          </a:p>
        </p:txBody>
      </p:sp>
      <p:grpSp>
        <p:nvGrpSpPr>
          <p:cNvPr id="47" name="d2_a"/>
          <p:cNvGrpSpPr/>
          <p:nvPr/>
        </p:nvGrpSpPr>
        <p:grpSpPr>
          <a:xfrm>
            <a:off x="1371599" y="3712464"/>
            <a:ext cx="4696820" cy="438915"/>
            <a:chOff x="0" y="0"/>
            <a:chExt cx="4696818" cy="438914"/>
          </a:xfrm>
        </p:grpSpPr>
        <p:sp>
          <p:nvSpPr>
            <p:cNvPr id="45" name="Rounded Rectangle"/>
            <p:cNvSpPr/>
            <p:nvPr/>
          </p:nvSpPr>
          <p:spPr>
            <a:xfrm>
              <a:off x="-1" y="-1"/>
              <a:ext cx="4696820" cy="438915"/>
            </a:xfrm>
            <a:prstGeom prst="roundRect">
              <a:avLst>
                <a:gd name="adj" fmla="val 20833"/>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defRPr sz="1500"/>
              </a:pPr>
            </a:p>
          </p:txBody>
        </p:sp>
        <p:sp>
          <p:nvSpPr>
            <p:cNvPr id="46" name="5 × 9.8 = 49 N"/>
            <p:cNvSpPr txBox="1"/>
            <p:nvPr/>
          </p:nvSpPr>
          <p:spPr>
            <a:xfrm>
              <a:off x="35034" y="113606"/>
              <a:ext cx="4626748" cy="211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normAutofit fontScale="100000" lnSpcReduction="0"/>
            </a:bodyPr>
            <a:lstStyle>
              <a:lvl1pPr>
                <a:defRPr b="1" sz="1500">
                  <a:solidFill>
                    <a:srgbClr val="0B3D4C"/>
                  </a:solidFill>
                  <a:latin typeface="Arial"/>
                  <a:ea typeface="Arial"/>
                  <a:cs typeface="Arial"/>
                  <a:sym typeface="Arial"/>
                </a:defRPr>
              </a:lvl1pPr>
            </a:lstStyle>
            <a:p>
              <a:pPr/>
              <a:r>
                <a:t>Mass.</a:t>
              </a:r>
            </a:p>
          </p:txBody>
        </p:sp>
      </p:grpSp>
      <p:sp>
        <p:nvSpPr>
          <p:cNvPr id="48" name="d3_bg"/>
          <p:cNvSpPr/>
          <p:nvPr/>
        </p:nvSpPr>
        <p:spPr>
          <a:xfrm>
            <a:off x="6543902" y="2798064"/>
            <a:ext cx="5099154" cy="1481330"/>
          </a:xfrm>
          <a:prstGeom prst="roundRect">
            <a:avLst>
              <a:gd name="adj" fmla="val 6173"/>
            </a:avLst>
          </a:prstGeom>
          <a:solidFill>
            <a:srgbClr val="FFFFFF"/>
          </a:solidFill>
          <a:ln w="16510">
            <a:solidFill>
              <a:srgbClr val="D8DEEC"/>
            </a:solidFill>
          </a:ln>
        </p:spPr>
        <p:txBody>
          <a:bodyPr lIns="45718" tIns="45718" rIns="45718" bIns="45718"/>
          <a:lstStyle/>
          <a:p>
            <a:pPr/>
          </a:p>
        </p:txBody>
      </p:sp>
      <p:sp>
        <p:nvSpPr>
          <p:cNvPr id="49" name="d3_badge"/>
          <p:cNvSpPr/>
          <p:nvPr/>
        </p:nvSpPr>
        <p:spPr>
          <a:xfrm>
            <a:off x="6745072" y="2962655"/>
            <a:ext cx="384051" cy="384051"/>
          </a:xfrm>
          <a:prstGeom prst="ellipse">
            <a:avLst/>
          </a:prstGeom>
          <a:solidFill>
            <a:srgbClr val="FF8952"/>
          </a:solidFill>
          <a:ln w="12700">
            <a:solidFill>
              <a:srgbClr val="FF8952"/>
            </a:solidFill>
          </a:ln>
        </p:spPr>
        <p:txBody>
          <a:bodyPr lIns="45718" tIns="45718" rIns="45718" bIns="45718"/>
          <a:lstStyle/>
          <a:p>
            <a:pPr/>
          </a:p>
        </p:txBody>
      </p:sp>
      <p:sp>
        <p:nvSpPr>
          <p:cNvPr id="50" name="d3_num"/>
          <p:cNvSpPr txBox="1"/>
          <p:nvPr/>
        </p:nvSpPr>
        <p:spPr>
          <a:xfrm>
            <a:off x="6745072" y="3053078"/>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4</a:t>
            </a:r>
          </a:p>
        </p:txBody>
      </p:sp>
      <p:sp>
        <p:nvSpPr>
          <p:cNvPr id="51" name="d3_q"/>
          <p:cNvSpPr txBox="1"/>
          <p:nvPr/>
        </p:nvSpPr>
        <p:spPr>
          <a:xfrm>
            <a:off x="7275424" y="2943354"/>
            <a:ext cx="4166466" cy="5231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905255">
              <a:lnSpc>
                <a:spcPts val="2000"/>
              </a:lnSpc>
              <a:defRPr sz="1584">
                <a:solidFill>
                  <a:srgbClr val="0C2730"/>
                </a:solidFill>
                <a:latin typeface="Arial"/>
                <a:ea typeface="Arial"/>
                <a:cs typeface="Arial"/>
                <a:sym typeface="Arial"/>
              </a:defRPr>
            </a:lvl1pPr>
          </a:lstStyle>
          <a:p>
            <a:pPr/>
            <a:r>
              <a:t>Name the equipment used to measure a volume of water.</a:t>
            </a:r>
          </a:p>
        </p:txBody>
      </p:sp>
      <p:grpSp>
        <p:nvGrpSpPr>
          <p:cNvPr id="54" name="d3_a"/>
          <p:cNvGrpSpPr/>
          <p:nvPr/>
        </p:nvGrpSpPr>
        <p:grpSpPr>
          <a:xfrm>
            <a:off x="6745071" y="3712464"/>
            <a:ext cx="4696820" cy="438915"/>
            <a:chOff x="0" y="0"/>
            <a:chExt cx="4696818" cy="438914"/>
          </a:xfrm>
        </p:grpSpPr>
        <p:sp>
          <p:nvSpPr>
            <p:cNvPr id="52" name="Rounded Rectangle"/>
            <p:cNvSpPr/>
            <p:nvPr/>
          </p:nvSpPr>
          <p:spPr>
            <a:xfrm>
              <a:off x="-1" y="-1"/>
              <a:ext cx="4696820" cy="438915"/>
            </a:xfrm>
            <a:prstGeom prst="roundRect">
              <a:avLst>
                <a:gd name="adj" fmla="val 20833"/>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defRPr sz="1500"/>
              </a:pPr>
            </a:p>
          </p:txBody>
        </p:sp>
        <p:sp>
          <p:nvSpPr>
            <p:cNvPr id="53" name="A measuring cylinder."/>
            <p:cNvSpPr txBox="1"/>
            <p:nvPr/>
          </p:nvSpPr>
          <p:spPr>
            <a:xfrm>
              <a:off x="35034" y="113606"/>
              <a:ext cx="4626748" cy="211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normAutofit fontScale="100000" lnSpcReduction="0"/>
            </a:bodyPr>
            <a:lstStyle>
              <a:lvl1pPr>
                <a:defRPr b="1" sz="1500">
                  <a:solidFill>
                    <a:srgbClr val="0B3D4C"/>
                  </a:solidFill>
                  <a:latin typeface="Arial"/>
                  <a:ea typeface="Arial"/>
                  <a:cs typeface="Arial"/>
                  <a:sym typeface="Arial"/>
                </a:defRPr>
              </a:lvl1pPr>
            </a:lstStyle>
            <a:p>
              <a:pPr/>
              <a:r>
                <a:t>A measuring cylinder.</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8DEEC"/>
            </a:solidFill>
          </a:ln>
        </p:spPr>
        <p:txBody>
          <a:bodyPr lIns="45718" tIns="45718" rIns="45718" bIns="45718"/>
          <a:lstStyle/>
          <a:p>
            <a:pPr/>
          </a:p>
        </p:txBody>
      </p:sp>
      <p:sp>
        <p:nvSpPr>
          <p:cNvPr id="56" name="d4_badge"/>
          <p:cNvSpPr/>
          <p:nvPr/>
        </p:nvSpPr>
        <p:spPr>
          <a:xfrm>
            <a:off x="1371600" y="4626864"/>
            <a:ext cx="384048" cy="384051"/>
          </a:xfrm>
          <a:prstGeom prst="ellipse">
            <a:avLst/>
          </a:prstGeom>
          <a:solidFill>
            <a:srgbClr val="FF8952"/>
          </a:solidFill>
          <a:ln w="12700">
            <a:solidFill>
              <a:srgbClr val="FF8952"/>
            </a:solidFill>
          </a:ln>
        </p:spPr>
        <p:txBody>
          <a:bodyPr lIns="45718" tIns="45718" rIns="45718" bIns="45718"/>
          <a:lstStyle/>
          <a:p>
            <a:pPr/>
          </a:p>
        </p:txBody>
      </p:sp>
      <p:sp>
        <p:nvSpPr>
          <p:cNvPr id="57" name="d4_num"/>
          <p:cNvSpPr txBox="1"/>
          <p:nvPr/>
        </p:nvSpPr>
        <p:spPr>
          <a:xfrm>
            <a:off x="1371600" y="47172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5</a:t>
            </a:r>
          </a:p>
        </p:txBody>
      </p:sp>
      <p:sp>
        <p:nvSpPr>
          <p:cNvPr id="58" name="d4_q"/>
          <p:cNvSpPr txBox="1"/>
          <p:nvPr/>
        </p:nvSpPr>
        <p:spPr>
          <a:xfrm>
            <a:off x="1901950" y="4502468"/>
            <a:ext cx="4166466" cy="715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nSpc>
                <a:spcPts val="2100"/>
              </a:lnSpc>
              <a:defRPr sz="1400">
                <a:solidFill>
                  <a:srgbClr val="0C2730"/>
                </a:solidFill>
                <a:latin typeface="Arial"/>
                <a:ea typeface="Arial"/>
                <a:cs typeface="Arial"/>
                <a:sym typeface="Arial"/>
              </a:defRPr>
            </a:lvl1pPr>
          </a:lstStyle>
          <a:p>
            <a:pPr/>
            <a:r>
              <a:t>Water starts at 50 cm³ and ends at 68 cm³. What volume of water was displaced?</a:t>
            </a:r>
          </a:p>
        </p:txBody>
      </p:sp>
      <p:grpSp>
        <p:nvGrpSpPr>
          <p:cNvPr id="61" name="d4_a"/>
          <p:cNvGrpSpPr/>
          <p:nvPr/>
        </p:nvGrpSpPr>
        <p:grpSpPr>
          <a:xfrm>
            <a:off x="1371599" y="5376671"/>
            <a:ext cx="4696820" cy="438915"/>
            <a:chOff x="0" y="0"/>
            <a:chExt cx="4696818" cy="438914"/>
          </a:xfrm>
        </p:grpSpPr>
        <p:sp>
          <p:nvSpPr>
            <p:cNvPr id="59" name="Rounded Rectangle"/>
            <p:cNvSpPr/>
            <p:nvPr/>
          </p:nvSpPr>
          <p:spPr>
            <a:xfrm>
              <a:off x="-1" y="-1"/>
              <a:ext cx="4696820" cy="438915"/>
            </a:xfrm>
            <a:prstGeom prst="roundRect">
              <a:avLst>
                <a:gd name="adj" fmla="val 20833"/>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defRPr sz="1500"/>
              </a:pPr>
            </a:p>
          </p:txBody>
        </p:sp>
        <p:sp>
          <p:nvSpPr>
            <p:cNvPr id="60" name="200 cm"/>
            <p:cNvSpPr txBox="1"/>
            <p:nvPr/>
          </p:nvSpPr>
          <p:spPr>
            <a:xfrm>
              <a:off x="35034" y="113606"/>
              <a:ext cx="4626748" cy="211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normAutofit fontScale="100000" lnSpcReduction="0"/>
            </a:bodyPr>
            <a:lstStyle>
              <a:lvl1pPr>
                <a:defRPr b="1" sz="1500">
                  <a:solidFill>
                    <a:srgbClr val="0B3D4C"/>
                  </a:solidFill>
                  <a:latin typeface="Arial"/>
                  <a:ea typeface="Arial"/>
                  <a:cs typeface="Arial"/>
                  <a:sym typeface="Arial"/>
                </a:defRPr>
              </a:lvl1pPr>
            </a:lstStyle>
            <a:p>
              <a:pPr/>
              <a:r>
                <a:t>18 cm³</a:t>
              </a:r>
            </a:p>
          </p:txBody>
        </p:sp>
      </p:grpSp>
      <p:sp>
        <p:nvSpPr>
          <p:cNvPr id="62" name="d5_bg"/>
          <p:cNvSpPr/>
          <p:nvPr/>
        </p:nvSpPr>
        <p:spPr>
          <a:xfrm>
            <a:off x="6543902" y="4462271"/>
            <a:ext cx="5099154" cy="1481329"/>
          </a:xfrm>
          <a:prstGeom prst="roundRect">
            <a:avLst>
              <a:gd name="adj" fmla="val 6173"/>
            </a:avLst>
          </a:prstGeom>
          <a:solidFill>
            <a:srgbClr val="FFFFFF"/>
          </a:solidFill>
          <a:ln w="16510">
            <a:solidFill>
              <a:srgbClr val="D8DEEC"/>
            </a:solidFill>
          </a:ln>
        </p:spPr>
        <p:txBody>
          <a:bodyPr lIns="45718" tIns="45718" rIns="45718" bIns="45718"/>
          <a:lstStyle/>
          <a:p>
            <a:pPr/>
          </a:p>
        </p:txBody>
      </p:sp>
      <p:sp>
        <p:nvSpPr>
          <p:cNvPr id="63" name="d5_badge"/>
          <p:cNvSpPr/>
          <p:nvPr/>
        </p:nvSpPr>
        <p:spPr>
          <a:xfrm>
            <a:off x="6745072" y="4626864"/>
            <a:ext cx="384051" cy="384051"/>
          </a:xfrm>
          <a:prstGeom prst="ellipse">
            <a:avLst/>
          </a:prstGeom>
          <a:solidFill>
            <a:srgbClr val="FF8952"/>
          </a:solidFill>
          <a:ln w="12700">
            <a:solidFill>
              <a:srgbClr val="FF8952"/>
            </a:solidFill>
          </a:ln>
        </p:spPr>
        <p:txBody>
          <a:bodyPr lIns="45718" tIns="45718" rIns="45718" bIns="45718"/>
          <a:lstStyle/>
          <a:p>
            <a:pPr/>
          </a:p>
        </p:txBody>
      </p:sp>
      <p:sp>
        <p:nvSpPr>
          <p:cNvPr id="64" name="d5_num"/>
          <p:cNvSpPr txBox="1"/>
          <p:nvPr/>
        </p:nvSpPr>
        <p:spPr>
          <a:xfrm>
            <a:off x="6745072" y="4717288"/>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6</a:t>
            </a:r>
          </a:p>
        </p:txBody>
      </p:sp>
      <p:sp>
        <p:nvSpPr>
          <p:cNvPr id="65" name="d5_q"/>
          <p:cNvSpPr txBox="1"/>
          <p:nvPr/>
        </p:nvSpPr>
        <p:spPr>
          <a:xfrm>
            <a:off x="7275424" y="4590286"/>
            <a:ext cx="4166466"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905255">
              <a:lnSpc>
                <a:spcPts val="2000"/>
              </a:lnSpc>
              <a:defRPr sz="1584">
                <a:solidFill>
                  <a:srgbClr val="0C2730"/>
                </a:solidFill>
                <a:latin typeface="Arial"/>
                <a:ea typeface="Arial"/>
                <a:cs typeface="Arial"/>
                <a:sym typeface="Arial"/>
              </a:defRPr>
            </a:lvl1pPr>
          </a:lstStyle>
          <a:p>
            <a:pPr/>
            <a:r>
              <a:t>Complete the equation: density = mass ÷ ______.</a:t>
            </a:r>
          </a:p>
        </p:txBody>
      </p:sp>
      <p:grpSp>
        <p:nvGrpSpPr>
          <p:cNvPr id="68" name="d5_a"/>
          <p:cNvGrpSpPr/>
          <p:nvPr/>
        </p:nvGrpSpPr>
        <p:grpSpPr>
          <a:xfrm>
            <a:off x="6745071" y="5376671"/>
            <a:ext cx="4696820" cy="438915"/>
            <a:chOff x="0" y="0"/>
            <a:chExt cx="4696818" cy="438914"/>
          </a:xfrm>
        </p:grpSpPr>
        <p:sp>
          <p:nvSpPr>
            <p:cNvPr id="66" name="Rounded Rectangle"/>
            <p:cNvSpPr/>
            <p:nvPr/>
          </p:nvSpPr>
          <p:spPr>
            <a:xfrm>
              <a:off x="-1" y="-1"/>
              <a:ext cx="4696820" cy="438915"/>
            </a:xfrm>
            <a:prstGeom prst="roundRect">
              <a:avLst>
                <a:gd name="adj" fmla="val 20833"/>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defRPr sz="1500"/>
              </a:pPr>
            </a:p>
          </p:txBody>
        </p:sp>
        <p:sp>
          <p:nvSpPr>
            <p:cNvPr id="67" name="cm³ (cubic centimetres)."/>
            <p:cNvSpPr txBox="1"/>
            <p:nvPr/>
          </p:nvSpPr>
          <p:spPr>
            <a:xfrm>
              <a:off x="35034" y="113606"/>
              <a:ext cx="4626748" cy="211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normAutofit fontScale="100000" lnSpcReduction="0"/>
            </a:bodyPr>
            <a:lstStyle>
              <a:lvl1pPr>
                <a:defRPr b="1" sz="1500">
                  <a:solidFill>
                    <a:srgbClr val="0B3D4C"/>
                  </a:solidFill>
                  <a:latin typeface="Arial"/>
                  <a:ea typeface="Arial"/>
                  <a:cs typeface="Arial"/>
                  <a:sym typeface="Arial"/>
                </a:defRPr>
              </a:lvl1pPr>
            </a:lstStyle>
            <a:p>
              <a:pPr/>
              <a:r>
                <a:t>volume</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par>
                    <p:cTn id="37" fill="hold">
                      <p:stCondLst>
                        <p:cond delay="indefinite"/>
                      </p:stCondLst>
                      <p:childTnLst>
                        <p:par>
                          <p:cTn id="38" fill="hold">
                            <p:stCondLst>
                              <p:cond delay="0"/>
                            </p:stCondLst>
                            <p:childTnLst>
                              <p:par>
                                <p:cTn id="39" presetClass="mediacall" nodeType="clickEffect" presetSubtype="0" presetID="3" grpId="1" fill="hold">
                                  <p:stCondLst>
                                    <p:cond delay="0"/>
                                  </p:stCondLst>
                                  <p:childTnLst>
                                    <p:cmd type="call" cmd="stop">
                                      <p:cBhvr>
                                        <p:cTn id="40" dur="1000" fill="hold"/>
                                        <p:tgtEl>
                                          <p:spTgt spid="20"/>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41" fill="hold" display="0">
                  <p:stCondLst>
                    <p:cond delay="indefinite"/>
                  </p:stCondLst>
                </p:cTn>
                <p:tgtEl>
                  <p:spTgt spid="20"/>
                </p:tgtEl>
              </p:cMediaNode>
            </p:video>
            <p:seq concurrent="1" prevAc="none" nextAc="seek">
              <p:cTn id="42" evtFilter="cancelBubble" nodeType="interactiveSeq" restart="whenNotActive" fill="hold">
                <p:stCondLst>
                  <p:cond delay="0" evt="onClick">
                    <p:tgtEl>
                      <p:spTgt spid="20"/>
                    </p:tgtEl>
                  </p:cond>
                </p:stCondLst>
                <p:endSync delay="0" evt="end">
                  <p:rtn val="all"/>
                </p:endSync>
                <p:childTnLst>
                  <p:par>
                    <p:cTn id="43" fill="hold">
                      <p:stCondLst>
                        <p:cond delay="0"/>
                      </p:stCondLst>
                      <p:childTnLst>
                        <p:par>
                          <p:cTn id="44" fill="hold">
                            <p:stCondLst>
                              <p:cond delay="0"/>
                            </p:stCondLst>
                            <p:childTnLst>
                              <p:par>
                                <p:cTn id="45" presetClass="mediacall" nodeType="clickEffect" presetSubtype="0" presetID="2" fill="hold">
                                  <p:stCondLst>
                                    <p:cond delay="0"/>
                                  </p:stCondLst>
                                  <p:childTnLst>
                                    <p:cmd type="call" cmd="togglePause">
                                      <p:cBhvr>
                                        <p:cTn id="46"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54" grpId="5"/>
      <p:bldP build="whole" bldLvl="1" animBg="1" rev="0" advAuto="0" spid="47" grpId="4"/>
      <p:bldP build="whole" bldLvl="1" animBg="1" rev="0" advAuto="0" spid="40" grpId="3"/>
      <p:bldP build="whole" bldLvl="1" animBg="1" rev="0" advAuto="0" spid="61" grpId="6"/>
      <p:bldP build="whole" bldLvl="1" animBg="1" rev="0" advAuto="0" spid="68" grpId="7"/>
      <p:bldP build="whole" bldLvl="1" animBg="1" rev="0" advAuto="0" spid="33" grpId="2"/>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75" name="phase_pill"/>
          <p:cNvGrpSpPr/>
          <p:nvPr/>
        </p:nvGrpSpPr>
        <p:grpSpPr>
          <a:xfrm>
            <a:off x="1170431" y="310894"/>
            <a:ext cx="1713589" cy="329188"/>
            <a:chOff x="0" y="0"/>
            <a:chExt cx="1713587" cy="329186"/>
          </a:xfrm>
        </p:grpSpPr>
        <p:sp>
          <p:nvSpPr>
            <p:cNvPr id="73" name="Rounded Rectangle"/>
            <p:cNvSpPr/>
            <p:nvPr/>
          </p:nvSpPr>
          <p:spPr>
            <a:xfrm>
              <a:off x="-1" y="-1"/>
              <a:ext cx="1713588" cy="329188"/>
            </a:xfrm>
            <a:prstGeom prst="roundRect">
              <a:avLst>
                <a:gd name="adj" fmla="val 44444"/>
              </a:avLst>
            </a:prstGeom>
            <a:solidFill>
              <a:srgbClr val="0B3D4C"/>
            </a:solidFill>
            <a:ln w="12700" cap="flat">
              <a:noFill/>
              <a:miter lim="400000"/>
            </a:ln>
            <a:effectLst/>
          </p:spPr>
          <p:txBody>
            <a:bodyPr wrap="square" lIns="45718" tIns="45718" rIns="45718" bIns="45718" numCol="1" anchor="ctr">
              <a:noAutofit/>
            </a:bodyPr>
            <a:lstStyle/>
            <a:p>
              <a:pPr algn="ctr">
                <a:defRPr sz="1100"/>
              </a:pPr>
            </a:p>
          </p:txBody>
        </p:sp>
        <p:sp>
          <p:nvSpPr>
            <p:cNvPr id="74" name="TODAY · 1 MIN"/>
            <p:cNvSpPr txBox="1"/>
            <p:nvPr/>
          </p:nvSpPr>
          <p:spPr>
            <a:xfrm>
              <a:off x="42850" y="90677"/>
              <a:ext cx="1627885"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gn="ctr">
                <a:defRPr b="1" spc="10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65707"/>
            <a:ext cx="10472623" cy="482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b="1" sz="3400">
                <a:solidFill>
                  <a:srgbClr val="0B3D4C"/>
                </a:solidFill>
                <a:latin typeface="Georgia"/>
                <a:ea typeface="Georgia"/>
                <a:cs typeface="Georgia"/>
                <a:sym typeface="Georgia"/>
              </a:defRPr>
            </a:lvl1pPr>
          </a:lstStyle>
          <a:p>
            <a:pPr/>
            <a:r>
              <a:t>Objectives</a:t>
            </a:r>
          </a:p>
        </p:txBody>
      </p:sp>
      <p:grpSp>
        <p:nvGrpSpPr>
          <p:cNvPr id="81" name="o0"/>
          <p:cNvGrpSpPr/>
          <p:nvPr/>
        </p:nvGrpSpPr>
        <p:grpSpPr>
          <a:xfrm>
            <a:off x="1170431" y="2194559"/>
            <a:ext cx="3307996" cy="1792227"/>
            <a:chOff x="0" y="0"/>
            <a:chExt cx="3307994" cy="1792225"/>
          </a:xfrm>
        </p:grpSpPr>
        <p:sp>
          <p:nvSpPr>
            <p:cNvPr id="77" name="o0_bg"/>
            <p:cNvSpPr/>
            <p:nvPr/>
          </p:nvSpPr>
          <p:spPr>
            <a:xfrm>
              <a:off x="-1" y="-1"/>
              <a:ext cx="3307996" cy="1792227"/>
            </a:xfrm>
            <a:prstGeom prst="roundRect">
              <a:avLst>
                <a:gd name="adj" fmla="val 5102"/>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78" name="o0_badge"/>
            <p:cNvSpPr/>
            <p:nvPr/>
          </p:nvSpPr>
          <p:spPr>
            <a:xfrm>
              <a:off x="237744" y="201168"/>
              <a:ext cx="384050" cy="384051"/>
            </a:xfrm>
            <a:prstGeom prst="ellipse">
              <a:avLst/>
            </a:prstGeom>
            <a:solidFill>
              <a:srgbClr val="FF8952"/>
            </a:solidFill>
            <a:ln w="12700" cap="flat">
              <a:solidFill>
                <a:srgbClr val="FF8952"/>
              </a:solidFill>
              <a:prstDash val="solid"/>
              <a:round/>
            </a:ln>
            <a:effectLst/>
          </p:spPr>
          <p:txBody>
            <a:bodyPr wrap="square" lIns="45718" tIns="45718" rIns="45718" bIns="45718" numCol="1" anchor="t">
              <a:noAutofit/>
            </a:bodyPr>
            <a:lstStyle/>
            <a:p>
              <a:pPr/>
            </a:p>
          </p:txBody>
        </p:sp>
        <p:sp>
          <p:nvSpPr>
            <p:cNvPr id="79" name="o0_num"/>
            <p:cNvSpPr txBox="1"/>
            <p:nvPr/>
          </p:nvSpPr>
          <p:spPr>
            <a:xfrm>
              <a:off x="237743" y="29159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B3D4C"/>
                  </a:solidFill>
                  <a:latin typeface="Georgia"/>
                  <a:ea typeface="Georgia"/>
                  <a:cs typeface="Georgia"/>
                  <a:sym typeface="Georgia"/>
                </a:defRPr>
              </a:lvl1pPr>
            </a:lstStyle>
            <a:p>
              <a:pPr/>
              <a:r>
                <a:t>1</a:t>
              </a:r>
            </a:p>
          </p:txBody>
        </p:sp>
        <p:sp>
          <p:nvSpPr>
            <p:cNvPr id="80" name="o0_t"/>
            <p:cNvSpPr txBox="1"/>
            <p:nvPr/>
          </p:nvSpPr>
          <p:spPr>
            <a:xfrm>
              <a:off x="237744" y="713231"/>
              <a:ext cx="2832507" cy="9362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lvl1pPr>
                <a:lnSpc>
                  <a:spcPts val="2000"/>
                </a:lnSpc>
                <a:defRPr b="1" sz="1400">
                  <a:solidFill>
                    <a:srgbClr val="0C2730"/>
                  </a:solidFill>
                  <a:latin typeface="Arial"/>
                  <a:ea typeface="Arial"/>
                  <a:cs typeface="Arial"/>
                  <a:sym typeface="Arial"/>
                </a:defRPr>
              </a:lvl1pPr>
            </a:lstStyle>
            <a:p>
              <a:pPr/>
              <a:r>
                <a:t>Explain that displaced-water volume equals the volume of a fully submerged object.</a:t>
              </a:r>
            </a:p>
          </p:txBody>
        </p:sp>
      </p:grpSp>
      <p:grpSp>
        <p:nvGrpSpPr>
          <p:cNvPr id="86" name="o1"/>
          <p:cNvGrpSpPr/>
          <p:nvPr/>
        </p:nvGrpSpPr>
        <p:grpSpPr>
          <a:xfrm>
            <a:off x="4752745" y="2194559"/>
            <a:ext cx="3307997" cy="1792227"/>
            <a:chOff x="0" y="0"/>
            <a:chExt cx="3307995" cy="1792225"/>
          </a:xfrm>
        </p:grpSpPr>
        <p:sp>
          <p:nvSpPr>
            <p:cNvPr id="82" name="o1_bg"/>
            <p:cNvSpPr/>
            <p:nvPr/>
          </p:nvSpPr>
          <p:spPr>
            <a:xfrm>
              <a:off x="0" y="-1"/>
              <a:ext cx="3307996" cy="1792227"/>
            </a:xfrm>
            <a:prstGeom prst="roundRect">
              <a:avLst>
                <a:gd name="adj" fmla="val 5102"/>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83" name="o1_badge"/>
            <p:cNvSpPr/>
            <p:nvPr/>
          </p:nvSpPr>
          <p:spPr>
            <a:xfrm>
              <a:off x="237744" y="201168"/>
              <a:ext cx="384051" cy="384051"/>
            </a:xfrm>
            <a:prstGeom prst="ellipse">
              <a:avLst/>
            </a:prstGeom>
            <a:solidFill>
              <a:srgbClr val="FF8952"/>
            </a:solidFill>
            <a:ln w="12700" cap="flat">
              <a:solidFill>
                <a:srgbClr val="FF8952"/>
              </a:solidFill>
              <a:prstDash val="solid"/>
              <a:round/>
            </a:ln>
            <a:effectLst/>
          </p:spPr>
          <p:txBody>
            <a:bodyPr wrap="square" lIns="45718" tIns="45718" rIns="45718" bIns="45718" numCol="1" anchor="t">
              <a:noAutofit/>
            </a:bodyPr>
            <a:lstStyle/>
            <a:p>
              <a:pPr/>
            </a:p>
          </p:txBody>
        </p:sp>
        <p:sp>
          <p:nvSpPr>
            <p:cNvPr id="84" name="o1_num"/>
            <p:cNvSpPr txBox="1"/>
            <p:nvPr/>
          </p:nvSpPr>
          <p:spPr>
            <a:xfrm>
              <a:off x="237744" y="29159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B3D4C"/>
                  </a:solidFill>
                  <a:latin typeface="Georgia"/>
                  <a:ea typeface="Georgia"/>
                  <a:cs typeface="Georgia"/>
                  <a:sym typeface="Georgia"/>
                </a:defRPr>
              </a:lvl1pPr>
            </a:lstStyle>
            <a:p>
              <a:pPr/>
              <a:r>
                <a:t>2</a:t>
              </a:r>
            </a:p>
          </p:txBody>
        </p:sp>
        <p:sp>
          <p:nvSpPr>
            <p:cNvPr id="85" name="o1_t"/>
            <p:cNvSpPr txBox="1"/>
            <p:nvPr/>
          </p:nvSpPr>
          <p:spPr>
            <a:xfrm>
              <a:off x="237744" y="713231"/>
              <a:ext cx="2832508" cy="10055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lvl1pPr>
                <a:lnSpc>
                  <a:spcPts val="2000"/>
                </a:lnSpc>
                <a:defRPr b="1" sz="1400">
                  <a:solidFill>
                    <a:srgbClr val="0C2730"/>
                  </a:solidFill>
                  <a:latin typeface="Arial"/>
                  <a:ea typeface="Arial"/>
                  <a:cs typeface="Arial"/>
                  <a:sym typeface="Arial"/>
                </a:defRPr>
              </a:lvl1pPr>
            </a:lstStyle>
            <a:p>
              <a:pPr/>
              <a:r>
                <a:t>Carry out a Eureka can practical safely and record mass and volume accurately.</a:t>
              </a:r>
            </a:p>
          </p:txBody>
        </p:sp>
      </p:grpSp>
      <p:grpSp>
        <p:nvGrpSpPr>
          <p:cNvPr id="91" name="o2"/>
          <p:cNvGrpSpPr/>
          <p:nvPr/>
        </p:nvGrpSpPr>
        <p:grpSpPr>
          <a:xfrm>
            <a:off x="8335060" y="2194559"/>
            <a:ext cx="3307996" cy="1792227"/>
            <a:chOff x="0" y="0"/>
            <a:chExt cx="3307994" cy="1792225"/>
          </a:xfrm>
        </p:grpSpPr>
        <p:sp>
          <p:nvSpPr>
            <p:cNvPr id="87" name="o2_bg"/>
            <p:cNvSpPr/>
            <p:nvPr/>
          </p:nvSpPr>
          <p:spPr>
            <a:xfrm>
              <a:off x="-1" y="-1"/>
              <a:ext cx="3307996" cy="1792227"/>
            </a:xfrm>
            <a:prstGeom prst="roundRect">
              <a:avLst>
                <a:gd name="adj" fmla="val 5102"/>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88" name="o2_badge"/>
            <p:cNvSpPr/>
            <p:nvPr/>
          </p:nvSpPr>
          <p:spPr>
            <a:xfrm>
              <a:off x="237744" y="201168"/>
              <a:ext cx="384050" cy="384051"/>
            </a:xfrm>
            <a:prstGeom prst="ellipse">
              <a:avLst/>
            </a:prstGeom>
            <a:solidFill>
              <a:srgbClr val="FF8952"/>
            </a:solidFill>
            <a:ln w="12700" cap="flat">
              <a:solidFill>
                <a:srgbClr val="FF8952"/>
              </a:solidFill>
              <a:prstDash val="solid"/>
              <a:round/>
            </a:ln>
            <a:effectLst/>
          </p:spPr>
          <p:txBody>
            <a:bodyPr wrap="square" lIns="45718" tIns="45718" rIns="45718" bIns="45718" numCol="1" anchor="t">
              <a:noAutofit/>
            </a:bodyPr>
            <a:lstStyle/>
            <a:p>
              <a:pPr/>
            </a:p>
          </p:txBody>
        </p:sp>
        <p:sp>
          <p:nvSpPr>
            <p:cNvPr id="89" name="o2_num"/>
            <p:cNvSpPr txBox="1"/>
            <p:nvPr/>
          </p:nvSpPr>
          <p:spPr>
            <a:xfrm>
              <a:off x="237743" y="291591"/>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B3D4C"/>
                  </a:solidFill>
                  <a:latin typeface="Georgia"/>
                  <a:ea typeface="Georgia"/>
                  <a:cs typeface="Georgia"/>
                  <a:sym typeface="Georgia"/>
                </a:defRPr>
              </a:lvl1pPr>
            </a:lstStyle>
            <a:p>
              <a:pPr/>
              <a:r>
                <a:t>3</a:t>
              </a:r>
            </a:p>
          </p:txBody>
        </p:sp>
        <p:sp>
          <p:nvSpPr>
            <p:cNvPr id="90" name="o2_t"/>
            <p:cNvSpPr txBox="1"/>
            <p:nvPr/>
          </p:nvSpPr>
          <p:spPr>
            <a:xfrm>
              <a:off x="237744" y="713231"/>
              <a:ext cx="2832507" cy="7515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lvl1pPr>
                <a:lnSpc>
                  <a:spcPts val="2000"/>
                </a:lnSpc>
                <a:defRPr b="1" sz="1400">
                  <a:solidFill>
                    <a:srgbClr val="0C2730"/>
                  </a:solidFill>
                  <a:latin typeface="Arial"/>
                  <a:ea typeface="Arial"/>
                  <a:cs typeface="Arial"/>
                  <a:sym typeface="Arial"/>
                </a:defRPr>
              </a:lvl1pPr>
            </a:lstStyle>
            <a:p>
              <a:pPr/>
              <a:r>
                <a:t>Calculate density using ρ = m ÷ V and give the correct unit.</a:t>
              </a:r>
            </a:p>
          </p:txBody>
        </p:sp>
      </p:grpSp>
      <p:grpSp>
        <p:nvGrpSpPr>
          <p:cNvPr id="94" name="obj_banner"/>
          <p:cNvGrpSpPr/>
          <p:nvPr/>
        </p:nvGrpSpPr>
        <p:grpSpPr>
          <a:xfrm>
            <a:off x="1170431" y="4279391"/>
            <a:ext cx="10472626" cy="640083"/>
            <a:chOff x="0" y="0"/>
            <a:chExt cx="10472624" cy="640082"/>
          </a:xfrm>
        </p:grpSpPr>
        <p:sp>
          <p:nvSpPr>
            <p:cNvPr id="92" name="Rounded Rectangle"/>
            <p:cNvSpPr/>
            <p:nvPr/>
          </p:nvSpPr>
          <p:spPr>
            <a:xfrm>
              <a:off x="-1" y="-1"/>
              <a:ext cx="10472626" cy="640083"/>
            </a:xfrm>
            <a:prstGeom prst="roundRect">
              <a:avLst>
                <a:gd name="adj" fmla="val 17143"/>
              </a:avLst>
            </a:prstGeom>
            <a:solidFill>
              <a:srgbClr val="0B3D4C"/>
            </a:solidFill>
            <a:ln w="9525" cap="flat">
              <a:solidFill>
                <a:srgbClr val="0B3D4C"/>
              </a:solidFill>
              <a:prstDash val="solid"/>
              <a:round/>
            </a:ln>
            <a:effectLst/>
          </p:spPr>
          <p:txBody>
            <a:bodyPr wrap="square" lIns="45718" tIns="45718" rIns="45718" bIns="45718" numCol="1" anchor="ctr">
              <a:noAutofit/>
            </a:bodyPr>
            <a:lstStyle/>
            <a:p>
              <a:pPr algn="ctr">
                <a:defRPr sz="1600"/>
              </a:pPr>
            </a:p>
          </p:txBody>
        </p:sp>
        <p:sp>
          <p:nvSpPr>
            <p:cNvPr id="93" name="Same size, different mass. That is density."/>
            <p:cNvSpPr txBox="1"/>
            <p:nvPr/>
          </p:nvSpPr>
          <p:spPr>
            <a:xfrm>
              <a:off x="36901" y="209063"/>
              <a:ext cx="10398822" cy="2219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gn="ctr" defTabSz="868680">
                <a:defRPr b="1" sz="1520">
                  <a:solidFill>
                    <a:srgbClr val="FF8952"/>
                  </a:solidFill>
                  <a:latin typeface="Arial"/>
                  <a:ea typeface="Arial"/>
                  <a:cs typeface="Arial"/>
                  <a:sym typeface="Arial"/>
                </a:defRPr>
              </a:lvl1pPr>
            </a:lstStyle>
            <a:p>
              <a:pPr/>
              <a:r>
                <a:t>Fill → displace → measure → calculate.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Class="mediacall" nodeType="clickEffect" presetSubtype="0" presetID="3" grpId="1" fill="hold">
                                  <p:stCondLst>
                                    <p:cond delay="0"/>
                                  </p:stCondLst>
                                  <p:childTnLst>
                                    <p:cmd type="call" cmd="stop">
                                      <p:cBhvr>
                                        <p:cTn id="31" dur="1000" fill="hold"/>
                                        <p:tgtEl>
                                          <p:spTgt spid="72"/>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2" fill="hold" display="0">
                  <p:stCondLst>
                    <p:cond delay="indefinite"/>
                  </p:stCondLst>
                </p:cTn>
                <p:tgtEl>
                  <p:spTgt spid="72"/>
                </p:tgtEl>
              </p:cMediaNode>
            </p:video>
            <p:seq concurrent="1" prevAc="none" nextAc="seek">
              <p:cTn id="33" evtFilter="cancelBubble" nodeType="interactiveSeq" restart="whenNotActive" fill="hold">
                <p:stCondLst>
                  <p:cond delay="0" evt="onClick">
                    <p:tgtEl>
                      <p:spTgt spid="72"/>
                    </p:tgtEl>
                  </p:cond>
                </p:stCondLst>
                <p:endSync delay="0" evt="end">
                  <p:rtn val="all"/>
                </p:endSync>
                <p:childTnLst>
                  <p:par>
                    <p:cTn id="34" fill="hold">
                      <p:stCondLst>
                        <p:cond delay="0"/>
                      </p:stCondLst>
                      <p:childTnLst>
                        <p:par>
                          <p:cTn id="35" fill="hold">
                            <p:stCondLst>
                              <p:cond delay="0"/>
                            </p:stCondLst>
                            <p:childTnLst>
                              <p:par>
                                <p:cTn id="36" presetClass="mediacall" nodeType="clickEffect" presetSubtype="0" presetID="2" fill="hold">
                                  <p:stCondLst>
                                    <p:cond delay="0"/>
                                  </p:stCondLst>
                                  <p:childTnLst>
                                    <p:cmd type="call" cmd="togglePause">
                                      <p:cBhvr>
                                        <p:cTn id="37"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81" grpId="2"/>
      <p:bldP build="whole" bldLvl="1" animBg="1" rev="0" advAuto="0" spid="94" grpId="5"/>
      <p:bldP build="whole" bldLvl="1" animBg="1" rev="0" advAuto="0" spid="86" grpId="3"/>
      <p:bldP build="whole" bldLvl="1" animBg="1" rev="0" advAuto="0" spid="91" grpId="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101" name="phase_pill"/>
          <p:cNvGrpSpPr/>
          <p:nvPr/>
        </p:nvGrpSpPr>
        <p:grpSpPr>
          <a:xfrm>
            <a:off x="1170432" y="310894"/>
            <a:ext cx="1623977" cy="329188"/>
            <a:chOff x="0" y="0"/>
            <a:chExt cx="1623976" cy="329186"/>
          </a:xfrm>
        </p:grpSpPr>
        <p:sp>
          <p:nvSpPr>
            <p:cNvPr id="99" name="Rounded Rectangle"/>
            <p:cNvSpPr/>
            <p:nvPr/>
          </p:nvSpPr>
          <p:spPr>
            <a:xfrm>
              <a:off x="-1" y="-1"/>
              <a:ext cx="1623978" cy="329188"/>
            </a:xfrm>
            <a:prstGeom prst="roundRect">
              <a:avLst>
                <a:gd name="adj" fmla="val 44444"/>
              </a:avLst>
            </a:prstGeom>
            <a:solidFill>
              <a:srgbClr val="0B3D4C"/>
            </a:solidFill>
            <a:ln w="12700" cap="flat">
              <a:noFill/>
              <a:miter lim="400000"/>
            </a:ln>
            <a:effectLst/>
          </p:spPr>
          <p:txBody>
            <a:bodyPr wrap="square" lIns="45718" tIns="45718" rIns="45718" bIns="45718" numCol="1" anchor="ctr">
              <a:noAutofit/>
            </a:bodyPr>
            <a:lstStyle/>
            <a:p>
              <a:pPr algn="ctr">
                <a:defRPr sz="1100"/>
              </a:pPr>
            </a:p>
          </p:txBody>
        </p:sp>
        <p:sp>
          <p:nvSpPr>
            <p:cNvPr id="100" name="HOOK · 2 MIN"/>
            <p:cNvSpPr txBox="1"/>
            <p:nvPr/>
          </p:nvSpPr>
          <p:spPr>
            <a:xfrm>
              <a:off x="42851" y="90677"/>
              <a:ext cx="1538273"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gn="ctr">
                <a:defRPr b="1" spc="10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1041553"/>
            <a:ext cx="10472623" cy="495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nSpc>
                <a:spcPts val="4000"/>
              </a:lnSpc>
              <a:defRPr b="1" sz="2700">
                <a:solidFill>
                  <a:srgbClr val="0B3D4C"/>
                </a:solidFill>
                <a:latin typeface="Georgia"/>
                <a:ea typeface="Georgia"/>
                <a:cs typeface="Georgia"/>
                <a:sym typeface="Georgia"/>
              </a:defRPr>
            </a:lvl1pPr>
          </a:lstStyle>
          <a:p>
            <a:pPr/>
            <a:r>
              <a:t>A stone has no neat shape. How can we find its volume?</a:t>
            </a:r>
          </a:p>
        </p:txBody>
      </p:sp>
      <p:sp>
        <p:nvSpPr>
          <p:cNvPr id="103" name="slide_sub"/>
          <p:cNvSpPr txBox="1"/>
          <p:nvPr/>
        </p:nvSpPr>
        <p:spPr>
          <a:xfrm>
            <a:off x="1170432" y="1872925"/>
            <a:ext cx="10472623" cy="2592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868680">
              <a:defRPr sz="1710">
                <a:solidFill>
                  <a:srgbClr val="4E6D74"/>
                </a:solidFill>
                <a:latin typeface="Arial"/>
                <a:ea typeface="Arial"/>
                <a:cs typeface="Arial"/>
                <a:sym typeface="Arial"/>
              </a:defRPr>
            </a:lvl1pPr>
          </a:lstStyle>
          <a:p>
            <a:pPr/>
            <a:r>
              <a:t>Choose the best method.</a:t>
            </a:r>
          </a:p>
        </p:txBody>
      </p:sp>
      <p:grpSp>
        <p:nvGrpSpPr>
          <p:cNvPr id="107" name="h0"/>
          <p:cNvGrpSpPr/>
          <p:nvPr/>
        </p:nvGrpSpPr>
        <p:grpSpPr>
          <a:xfrm>
            <a:off x="1170431" y="2487166"/>
            <a:ext cx="3307996" cy="1554484"/>
            <a:chOff x="0" y="0"/>
            <a:chExt cx="3307994" cy="1554482"/>
          </a:xfrm>
        </p:grpSpPr>
        <p:sp>
          <p:nvSpPr>
            <p:cNvPr id="104" name="h0_bg"/>
            <p:cNvSpPr/>
            <p:nvPr/>
          </p:nvSpPr>
          <p:spPr>
            <a:xfrm>
              <a:off x="-1" y="-1"/>
              <a:ext cx="3307996" cy="1554484"/>
            </a:xfrm>
            <a:prstGeom prst="roundRect">
              <a:avLst>
                <a:gd name="adj" fmla="val 5882"/>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105" name="h0_k"/>
            <p:cNvSpPr txBox="1"/>
            <p:nvPr/>
          </p:nvSpPr>
          <p:spPr>
            <a:xfrm>
              <a:off x="256031" y="239268"/>
              <a:ext cx="548642" cy="3810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b="1" sz="2600">
                  <a:solidFill>
                    <a:srgbClr val="D63447"/>
                  </a:solidFill>
                  <a:latin typeface="Georgia"/>
                  <a:ea typeface="Georgia"/>
                  <a:cs typeface="Georgia"/>
                  <a:sym typeface="Georgia"/>
                </a:defRPr>
              </a:lvl1pPr>
            </a:lstStyle>
            <a:p>
              <a:pPr/>
              <a:r>
                <a:t>A</a:t>
              </a:r>
            </a:p>
          </p:txBody>
        </p:sp>
        <p:sp>
          <p:nvSpPr>
            <p:cNvPr id="106" name="h0_t"/>
            <p:cNvSpPr txBox="1"/>
            <p:nvPr/>
          </p:nvSpPr>
          <p:spPr>
            <a:xfrm>
              <a:off x="256032" y="727533"/>
              <a:ext cx="2795931" cy="501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defTabSz="786384">
                <a:lnSpc>
                  <a:spcPts val="1700"/>
                </a:lnSpc>
                <a:defRPr b="1" sz="1376">
                  <a:solidFill>
                    <a:srgbClr val="0B3D4C"/>
                  </a:solidFill>
                  <a:latin typeface="Georgia"/>
                  <a:ea typeface="Georgia"/>
                  <a:cs typeface="Georgia"/>
                  <a:sym typeface="Georgia"/>
                </a:defRPr>
              </a:lvl1pPr>
            </a:lstStyle>
            <a:p>
              <a:pPr/>
              <a:r>
                <a:t>Put it in a Eureka can and measure the water it displaces.</a:t>
              </a:r>
            </a:p>
          </p:txBody>
        </p:sp>
      </p:grpSp>
      <p:grpSp>
        <p:nvGrpSpPr>
          <p:cNvPr id="111" name="h1"/>
          <p:cNvGrpSpPr/>
          <p:nvPr/>
        </p:nvGrpSpPr>
        <p:grpSpPr>
          <a:xfrm>
            <a:off x="4752745" y="2487166"/>
            <a:ext cx="3307997" cy="1554484"/>
            <a:chOff x="0" y="0"/>
            <a:chExt cx="3307995" cy="1554482"/>
          </a:xfrm>
        </p:grpSpPr>
        <p:sp>
          <p:nvSpPr>
            <p:cNvPr id="108" name="h1_bg"/>
            <p:cNvSpPr/>
            <p:nvPr/>
          </p:nvSpPr>
          <p:spPr>
            <a:xfrm>
              <a:off x="0" y="-1"/>
              <a:ext cx="3307996" cy="1554484"/>
            </a:xfrm>
            <a:prstGeom prst="roundRect">
              <a:avLst>
                <a:gd name="adj" fmla="val 5882"/>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109" name="h1_k"/>
            <p:cNvSpPr txBox="1"/>
            <p:nvPr/>
          </p:nvSpPr>
          <p:spPr>
            <a:xfrm>
              <a:off x="256032" y="239268"/>
              <a:ext cx="548641" cy="3810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b="1" sz="2600">
                  <a:solidFill>
                    <a:srgbClr val="D63447"/>
                  </a:solidFill>
                  <a:latin typeface="Georgia"/>
                  <a:ea typeface="Georgia"/>
                  <a:cs typeface="Georgia"/>
                  <a:sym typeface="Georgia"/>
                </a:defRPr>
              </a:lvl1pPr>
            </a:lstStyle>
            <a:p>
              <a:pPr/>
              <a:r>
                <a:t>B</a:t>
              </a:r>
            </a:p>
          </p:txBody>
        </p:sp>
        <p:sp>
          <p:nvSpPr>
            <p:cNvPr id="110" name="h1_t"/>
            <p:cNvSpPr txBox="1"/>
            <p:nvPr/>
          </p:nvSpPr>
          <p:spPr>
            <a:xfrm>
              <a:off x="256032" y="727533"/>
              <a:ext cx="2795932" cy="501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defTabSz="822959">
                <a:lnSpc>
                  <a:spcPts val="1700"/>
                </a:lnSpc>
                <a:defRPr b="1" sz="1440">
                  <a:solidFill>
                    <a:srgbClr val="0B3D4C"/>
                  </a:solidFill>
                  <a:latin typeface="Georgia"/>
                  <a:ea typeface="Georgia"/>
                  <a:cs typeface="Georgia"/>
                  <a:sym typeface="Georgia"/>
                </a:defRPr>
              </a:lvl1pPr>
            </a:lstStyle>
            <a:p>
              <a:pPr/>
              <a:r>
                <a:t>Measure one side with a ruler and use that as its volume.</a:t>
              </a:r>
            </a:p>
          </p:txBody>
        </p:sp>
      </p:grpSp>
      <p:grpSp>
        <p:nvGrpSpPr>
          <p:cNvPr id="115" name="h2"/>
          <p:cNvGrpSpPr/>
          <p:nvPr/>
        </p:nvGrpSpPr>
        <p:grpSpPr>
          <a:xfrm>
            <a:off x="8335060" y="2487166"/>
            <a:ext cx="3307996" cy="1554484"/>
            <a:chOff x="0" y="0"/>
            <a:chExt cx="3307994" cy="1554482"/>
          </a:xfrm>
        </p:grpSpPr>
        <p:sp>
          <p:nvSpPr>
            <p:cNvPr id="112" name="h2_bg"/>
            <p:cNvSpPr/>
            <p:nvPr/>
          </p:nvSpPr>
          <p:spPr>
            <a:xfrm>
              <a:off x="-1" y="-1"/>
              <a:ext cx="3307996" cy="1554484"/>
            </a:xfrm>
            <a:prstGeom prst="roundRect">
              <a:avLst>
                <a:gd name="adj" fmla="val 5882"/>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113" name="h2_k"/>
            <p:cNvSpPr txBox="1"/>
            <p:nvPr/>
          </p:nvSpPr>
          <p:spPr>
            <a:xfrm>
              <a:off x="256031" y="239268"/>
              <a:ext cx="548642" cy="3810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b="1" sz="2600">
                  <a:solidFill>
                    <a:srgbClr val="D63447"/>
                  </a:solidFill>
                  <a:latin typeface="Georgia"/>
                  <a:ea typeface="Georgia"/>
                  <a:cs typeface="Georgia"/>
                  <a:sym typeface="Georgia"/>
                </a:defRPr>
              </a:lvl1pPr>
            </a:lstStyle>
            <a:p>
              <a:pPr/>
              <a:r>
                <a:t>C</a:t>
              </a:r>
            </a:p>
          </p:txBody>
        </p:sp>
        <p:sp>
          <p:nvSpPr>
            <p:cNvPr id="114" name="h2_t"/>
            <p:cNvSpPr txBox="1"/>
            <p:nvPr/>
          </p:nvSpPr>
          <p:spPr>
            <a:xfrm>
              <a:off x="256032" y="727533"/>
              <a:ext cx="2795931" cy="501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nSpc>
                  <a:spcPts val="2000"/>
                </a:lnSpc>
                <a:defRPr b="1" sz="1600">
                  <a:solidFill>
                    <a:srgbClr val="0B3D4C"/>
                  </a:solidFill>
                  <a:latin typeface="Georgia"/>
                  <a:ea typeface="Georgia"/>
                  <a:cs typeface="Georgia"/>
                  <a:sym typeface="Georgia"/>
                </a:defRPr>
              </a:lvl1pPr>
            </a:lstStyle>
            <a:p>
              <a:pPr/>
              <a:r>
                <a:t>Guess the volume from its mass.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7"/>
                                        </p:tgtEl>
                                        <p:attrNameLst>
                                          <p:attrName>style.visibility</p:attrName>
                                        </p:attrNameLst>
                                      </p:cBhvr>
                                      <p:to>
                                        <p:strVal val="visible"/>
                                      </p:to>
                                    </p:set>
                                    <p:animEffect filter="fade" transition="in">
                                      <p:cBhvr>
                                        <p:cTn id="11" dur="400"/>
                                        <p:tgtEl>
                                          <p:spTgt spid="107"/>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1"/>
                                        </p:tgtEl>
                                        <p:attrNameLst>
                                          <p:attrName>style.visibility</p:attrName>
                                        </p:attrNameLst>
                                      </p:cBhvr>
                                      <p:to>
                                        <p:strVal val="visible"/>
                                      </p:to>
                                    </p:set>
                                    <p:animEffect filter="fade" transition="in">
                                      <p:cBhvr>
                                        <p:cTn id="15" dur="400"/>
                                        <p:tgtEl>
                                          <p:spTgt spid="111"/>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5"/>
                                        </p:tgtEl>
                                        <p:attrNameLst>
                                          <p:attrName>style.visibility</p:attrName>
                                        </p:attrNameLst>
                                      </p:cBhvr>
                                      <p:to>
                                        <p:strVal val="visible"/>
                                      </p:to>
                                    </p:set>
                                    <p:animEffect filter="fade" transition="in">
                                      <p:cBhvr>
                                        <p:cTn id="19" dur="400"/>
                                        <p:tgtEl>
                                          <p:spTgt spid="115"/>
                                        </p:tgtEl>
                                      </p:cBhvr>
                                    </p:animEffect>
                                  </p:childTnLst>
                                </p:cTn>
                              </p:par>
                            </p:childTnLst>
                          </p:cTn>
                        </p:par>
                      </p:childTnLst>
                    </p:cTn>
                  </p:par>
                  <p:par>
                    <p:cTn id="20" fill="hold">
                      <p:stCondLst>
                        <p:cond delay="indefinite"/>
                      </p:stCondLst>
                      <p:childTnLst>
                        <p:par>
                          <p:cTn id="21" fill="hold">
                            <p:stCondLst>
                              <p:cond delay="0"/>
                            </p:stCondLst>
                            <p:childTnLst>
                              <p:par>
                                <p:cTn id="22" presetClass="mediacall" nodeType="clickEffect" presetSubtype="0" presetID="3" grpId="1" fill="hold">
                                  <p:stCondLst>
                                    <p:cond delay="0"/>
                                  </p:stCondLst>
                                  <p:childTnLst>
                                    <p:cmd type="call" cmd="stop">
                                      <p:cBhvr>
                                        <p:cTn id="23" dur="1000" fill="hold"/>
                                        <p:tgtEl>
                                          <p:spTgt spid="98"/>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4" fill="hold" display="0">
                  <p:stCondLst>
                    <p:cond delay="indefinite"/>
                  </p:stCondLst>
                </p:cTn>
                <p:tgtEl>
                  <p:spTgt spid="98"/>
                </p:tgtEl>
              </p:cMediaNode>
            </p:video>
            <p:seq concurrent="1" prevAc="none" nextAc="seek">
              <p:cTn id="25" evtFilter="cancelBubble" nodeType="interactiveSeq" restart="whenNotActive" fill="hold">
                <p:stCondLst>
                  <p:cond delay="0" evt="onClick">
                    <p:tgtEl>
                      <p:spTgt spid="98"/>
                    </p:tgtEl>
                  </p:cond>
                </p:stCondLst>
                <p:endSync delay="0" evt="end">
                  <p:rtn val="all"/>
                </p:endSync>
                <p:childTnLst>
                  <p:par>
                    <p:cTn id="26" fill="hold">
                      <p:stCondLst>
                        <p:cond delay="0"/>
                      </p:stCondLst>
                      <p:childTnLst>
                        <p:par>
                          <p:cTn id="27" fill="hold">
                            <p:stCondLst>
                              <p:cond delay="0"/>
                            </p:stCondLst>
                            <p:childTnLst>
                              <p:par>
                                <p:cTn id="28" presetClass="mediacall" nodeType="clickEffect" presetSubtype="0" presetID="2" fill="hold">
                                  <p:stCondLst>
                                    <p:cond delay="0"/>
                                  </p:stCondLst>
                                  <p:childTnLst>
                                    <p:cmd type="call" cmd="togglePause">
                                      <p:cBhvr>
                                        <p:cTn id="29"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15" grpId="4"/>
      <p:bldP build="whole" bldLvl="1" animBg="1" rev="0" advAuto="0" spid="107" grpId="2"/>
      <p:bldP build="whole" bldLvl="1" animBg="1" rev="0" advAuto="0" spid="111" grpId="3"/>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11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122" name="phase_pill"/>
          <p:cNvGrpSpPr/>
          <p:nvPr/>
        </p:nvGrpSpPr>
        <p:grpSpPr>
          <a:xfrm>
            <a:off x="1170432" y="310894"/>
            <a:ext cx="1623977" cy="329188"/>
            <a:chOff x="0" y="0"/>
            <a:chExt cx="1623976" cy="329186"/>
          </a:xfrm>
        </p:grpSpPr>
        <p:sp>
          <p:nvSpPr>
            <p:cNvPr id="120" name="Rounded Rectangle"/>
            <p:cNvSpPr/>
            <p:nvPr/>
          </p:nvSpPr>
          <p:spPr>
            <a:xfrm>
              <a:off x="-1" y="-1"/>
              <a:ext cx="1623978" cy="329188"/>
            </a:xfrm>
            <a:prstGeom prst="roundRect">
              <a:avLst>
                <a:gd name="adj" fmla="val 44444"/>
              </a:avLst>
            </a:prstGeom>
            <a:solidFill>
              <a:srgbClr val="0B3D4C"/>
            </a:solidFill>
            <a:ln w="12700" cap="flat">
              <a:noFill/>
              <a:miter lim="400000"/>
            </a:ln>
            <a:effectLst/>
          </p:spPr>
          <p:txBody>
            <a:bodyPr wrap="square" lIns="45718" tIns="45718" rIns="45718" bIns="45718" numCol="1" anchor="ctr">
              <a:noAutofit/>
            </a:bodyPr>
            <a:lstStyle/>
            <a:p>
              <a:pPr algn="ctr">
                <a:defRPr sz="1100"/>
              </a:pPr>
            </a:p>
          </p:txBody>
        </p:sp>
        <p:sp>
          <p:nvSpPr>
            <p:cNvPr id="121" name="I DO · 3 MIN"/>
            <p:cNvSpPr txBox="1"/>
            <p:nvPr/>
          </p:nvSpPr>
          <p:spPr>
            <a:xfrm>
              <a:off x="42851" y="90677"/>
              <a:ext cx="1538273"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gn="ctr">
                <a:defRPr b="1" spc="100" sz="1100">
                  <a:solidFill>
                    <a:srgbClr val="FFFFFF"/>
                  </a:solidFill>
                  <a:latin typeface="Arial"/>
                  <a:ea typeface="Arial"/>
                  <a:cs typeface="Arial"/>
                  <a:sym typeface="Arial"/>
                </a:defRPr>
              </a:lvl1pPr>
            </a:lstStyle>
            <a:p>
              <a:pPr/>
              <a:r>
                <a:t>I DO · 3 MIN</a:t>
              </a:r>
            </a:p>
          </p:txBody>
        </p:sp>
      </p:grpSp>
      <p:sp>
        <p:nvSpPr>
          <p:cNvPr id="123" name="slide_title"/>
          <p:cNvSpPr txBox="1"/>
          <p:nvPr/>
        </p:nvSpPr>
        <p:spPr>
          <a:xfrm>
            <a:off x="1170432" y="965707"/>
            <a:ext cx="10472623" cy="482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b="1" sz="3400">
                <a:solidFill>
                  <a:srgbClr val="0B3D4C"/>
                </a:solidFill>
                <a:latin typeface="Georgia"/>
                <a:ea typeface="Georgia"/>
                <a:cs typeface="Georgia"/>
                <a:sym typeface="Georgia"/>
              </a:defRPr>
            </a:lvl1pPr>
          </a:lstStyle>
          <a:p>
            <a:pPr/>
            <a:r>
              <a:t>Eureka can: the key idea</a:t>
            </a:r>
          </a:p>
        </p:txBody>
      </p:sp>
      <p:grpSp>
        <p:nvGrpSpPr>
          <p:cNvPr id="127" name="eq_group"/>
          <p:cNvGrpSpPr/>
          <p:nvPr/>
        </p:nvGrpSpPr>
        <p:grpSpPr>
          <a:xfrm>
            <a:off x="1170431" y="2103120"/>
            <a:ext cx="10472626" cy="1005843"/>
            <a:chOff x="0" y="0"/>
            <a:chExt cx="10472624" cy="1005842"/>
          </a:xfrm>
        </p:grpSpPr>
        <p:sp>
          <p:nvSpPr>
            <p:cNvPr id="124" name="eq_bg"/>
            <p:cNvSpPr/>
            <p:nvPr/>
          </p:nvSpPr>
          <p:spPr>
            <a:xfrm>
              <a:off x="-1" y="-1"/>
              <a:ext cx="10472626" cy="1005844"/>
            </a:xfrm>
            <a:prstGeom prst="roundRect">
              <a:avLst>
                <a:gd name="adj" fmla="val 9091"/>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125" name="eq_e"/>
            <p:cNvSpPr txBox="1"/>
            <p:nvPr/>
          </p:nvSpPr>
          <p:spPr>
            <a:xfrm>
              <a:off x="274318" y="261619"/>
              <a:ext cx="3108962" cy="4826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p>
              <a:pPr>
                <a:defRPr b="1" sz="2100">
                  <a:solidFill>
                    <a:srgbClr val="0B3D4C"/>
                  </a:solidFill>
                  <a:latin typeface="Georgia"/>
                  <a:ea typeface="Georgia"/>
                  <a:cs typeface="Georgia"/>
                  <a:sym typeface="Georgia"/>
                </a:defRPr>
              </a:pPr>
              <a:r>
                <a:t>V</a:t>
              </a:r>
              <a:r>
                <a:rPr baseline="-5999"/>
                <a:t>(object)</a:t>
              </a:r>
              <a:r>
                <a:t> = V</a:t>
              </a:r>
              <a:r>
                <a:rPr baseline="-5999"/>
                <a:t>(water displaced)</a:t>
              </a:r>
            </a:p>
          </p:txBody>
        </p:sp>
        <p:sp>
          <p:nvSpPr>
            <p:cNvPr id="126" name="eq_note"/>
            <p:cNvSpPr txBox="1"/>
            <p:nvPr/>
          </p:nvSpPr>
          <p:spPr>
            <a:xfrm>
              <a:off x="3566159" y="379451"/>
              <a:ext cx="663214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defTabSz="886968">
                <a:defRPr sz="1649">
                  <a:solidFill>
                    <a:srgbClr val="4E6D74"/>
                  </a:solidFill>
                  <a:latin typeface="Arial"/>
                  <a:ea typeface="Arial"/>
                  <a:cs typeface="Arial"/>
                  <a:sym typeface="Arial"/>
                </a:defRPr>
              </a:lvl1pPr>
            </a:lstStyle>
            <a:p>
              <a:pPr/>
              <a:r>
                <a:t>when the object is fully submerged</a:t>
              </a:r>
            </a:p>
          </p:txBody>
        </p:sp>
      </p:grpSp>
      <p:grpSp>
        <p:nvGrpSpPr>
          <p:cNvPr id="131" name="un0"/>
          <p:cNvGrpSpPr/>
          <p:nvPr/>
        </p:nvGrpSpPr>
        <p:grpSpPr>
          <a:xfrm>
            <a:off x="1170431" y="3310128"/>
            <a:ext cx="5099155" cy="1188723"/>
            <a:chOff x="0" y="0"/>
            <a:chExt cx="5099153" cy="1188722"/>
          </a:xfrm>
        </p:grpSpPr>
        <p:sp>
          <p:nvSpPr>
            <p:cNvPr id="128" name="un0_bg"/>
            <p:cNvSpPr/>
            <p:nvPr/>
          </p:nvSpPr>
          <p:spPr>
            <a:xfrm>
              <a:off x="-1" y="0"/>
              <a:ext cx="5099155" cy="1188723"/>
            </a:xfrm>
            <a:prstGeom prst="roundRect">
              <a:avLst>
                <a:gd name="adj" fmla="val 7692"/>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129" name="un0_u"/>
            <p:cNvSpPr txBox="1"/>
            <p:nvPr/>
          </p:nvSpPr>
          <p:spPr>
            <a:xfrm>
              <a:off x="219456" y="170433"/>
              <a:ext cx="4660241" cy="3175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b="1" sz="2200">
                  <a:solidFill>
                    <a:srgbClr val="C25A29"/>
                  </a:solidFill>
                  <a:latin typeface="Georgia"/>
                  <a:ea typeface="Georgia"/>
                  <a:cs typeface="Georgia"/>
                  <a:sym typeface="Georgia"/>
                </a:defRPr>
              </a:lvl1pPr>
            </a:lstStyle>
            <a:p>
              <a:pPr/>
              <a:r>
                <a:t>V (cm³)</a:t>
              </a:r>
            </a:p>
          </p:txBody>
        </p:sp>
        <p:sp>
          <p:nvSpPr>
            <p:cNvPr id="130" name="un0_n"/>
            <p:cNvSpPr txBox="1"/>
            <p:nvPr/>
          </p:nvSpPr>
          <p:spPr>
            <a:xfrm>
              <a:off x="219456" y="548639"/>
              <a:ext cx="4660241" cy="2178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lvl1pPr defTabSz="859536">
                <a:lnSpc>
                  <a:spcPts val="1600"/>
                </a:lnSpc>
                <a:defRPr sz="1222">
                  <a:solidFill>
                    <a:srgbClr val="0C2730"/>
                  </a:solidFill>
                  <a:latin typeface="Arial"/>
                  <a:ea typeface="Arial"/>
                  <a:cs typeface="Arial"/>
                  <a:sym typeface="Arial"/>
                </a:defRPr>
              </a:lvl1pPr>
            </a:lstStyle>
            <a:p>
              <a:pPr/>
              <a:r>
                <a:t>The collected water has the same volume as the submerged object.</a:t>
              </a:r>
            </a:p>
          </p:txBody>
        </p:sp>
      </p:grpSp>
      <p:grpSp>
        <p:nvGrpSpPr>
          <p:cNvPr id="135" name="un1"/>
          <p:cNvGrpSpPr/>
          <p:nvPr/>
        </p:nvGrpSpPr>
        <p:grpSpPr>
          <a:xfrm>
            <a:off x="6543903" y="3310128"/>
            <a:ext cx="5099154" cy="1188723"/>
            <a:chOff x="0" y="0"/>
            <a:chExt cx="5099153" cy="1188722"/>
          </a:xfrm>
        </p:grpSpPr>
        <p:sp>
          <p:nvSpPr>
            <p:cNvPr id="132" name="un1_bg"/>
            <p:cNvSpPr/>
            <p:nvPr/>
          </p:nvSpPr>
          <p:spPr>
            <a:xfrm>
              <a:off x="0" y="0"/>
              <a:ext cx="5099154" cy="1188723"/>
            </a:xfrm>
            <a:prstGeom prst="roundRect">
              <a:avLst>
                <a:gd name="adj" fmla="val 7692"/>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133" name="un1_u"/>
            <p:cNvSpPr txBox="1"/>
            <p:nvPr/>
          </p:nvSpPr>
          <p:spPr>
            <a:xfrm>
              <a:off x="219456" y="170433"/>
              <a:ext cx="4660243" cy="3175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b="1" sz="2200">
                  <a:solidFill>
                    <a:srgbClr val="C25A29"/>
                  </a:solidFill>
                  <a:latin typeface="Georgia"/>
                  <a:ea typeface="Georgia"/>
                  <a:cs typeface="Georgia"/>
                  <a:sym typeface="Georgia"/>
                </a:defRPr>
              </a:lvl1pPr>
            </a:lstStyle>
            <a:p>
              <a:pPr/>
              <a:r>
                <a:t>ρ = m ÷ V</a:t>
              </a:r>
            </a:p>
          </p:txBody>
        </p:sp>
        <p:sp>
          <p:nvSpPr>
            <p:cNvPr id="134" name="un1_n"/>
            <p:cNvSpPr txBox="1"/>
            <p:nvPr/>
          </p:nvSpPr>
          <p:spPr>
            <a:xfrm>
              <a:off x="219456" y="548639"/>
              <a:ext cx="4660243" cy="2178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lvl1pPr defTabSz="832104">
                <a:lnSpc>
                  <a:spcPts val="1600"/>
                </a:lnSpc>
                <a:defRPr sz="1183">
                  <a:solidFill>
                    <a:srgbClr val="0C2730"/>
                  </a:solidFill>
                  <a:latin typeface="Arial"/>
                  <a:ea typeface="Arial"/>
                  <a:cs typeface="Arial"/>
                  <a:sym typeface="Arial"/>
                </a:defRPr>
              </a:lvl1pPr>
            </a:lstStyle>
            <a:p>
              <a:pPr/>
              <a:r>
                <a:t>Measure the object’s mass, then divide by its displaced-water volume.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7"/>
                                        </p:tgtEl>
                                        <p:attrNameLst>
                                          <p:attrName>style.visibility</p:attrName>
                                        </p:attrNameLst>
                                      </p:cBhvr>
                                      <p:to>
                                        <p:strVal val="visible"/>
                                      </p:to>
                                    </p:set>
                                    <p:animEffect filter="fade" transition="in">
                                      <p:cBhvr>
                                        <p:cTn id="11" dur="400"/>
                                        <p:tgtEl>
                                          <p:spTgt spid="12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31"/>
                                        </p:tgtEl>
                                        <p:attrNameLst>
                                          <p:attrName>style.visibility</p:attrName>
                                        </p:attrNameLst>
                                      </p:cBhvr>
                                      <p:to>
                                        <p:strVal val="visible"/>
                                      </p:to>
                                    </p:set>
                                    <p:animEffect filter="fade" transition="in">
                                      <p:cBhvr>
                                        <p:cTn id="16" dur="400"/>
                                        <p:tgtEl>
                                          <p:spTgt spid="131"/>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35"/>
                                        </p:tgtEl>
                                        <p:attrNameLst>
                                          <p:attrName>style.visibility</p:attrName>
                                        </p:attrNameLst>
                                      </p:cBhvr>
                                      <p:to>
                                        <p:strVal val="visible"/>
                                      </p:to>
                                    </p:set>
                                    <p:animEffect filter="fade" transition="in">
                                      <p:cBhvr>
                                        <p:cTn id="21" dur="400"/>
                                        <p:tgtEl>
                                          <p:spTgt spid="135"/>
                                        </p:tgtEl>
                                      </p:cBhvr>
                                    </p:animEffect>
                                  </p:childTnLst>
                                </p:cTn>
                              </p:par>
                            </p:childTnLst>
                          </p:cTn>
                        </p:par>
                      </p:childTnLst>
                    </p:cTn>
                  </p:par>
                  <p:par>
                    <p:cTn id="22" fill="hold">
                      <p:stCondLst>
                        <p:cond delay="indefinite"/>
                      </p:stCondLst>
                      <p:childTnLst>
                        <p:par>
                          <p:cTn id="23" fill="hold">
                            <p:stCondLst>
                              <p:cond delay="0"/>
                            </p:stCondLst>
                            <p:childTnLst>
                              <p:par>
                                <p:cTn id="24" presetClass="mediacall" nodeType="clickEffect" presetSubtype="0" presetID="3" grpId="1" fill="hold">
                                  <p:stCondLst>
                                    <p:cond delay="0"/>
                                  </p:stCondLst>
                                  <p:childTnLst>
                                    <p:cmd type="call" cmd="stop">
                                      <p:cBhvr>
                                        <p:cTn id="25" dur="1000" fill="hold"/>
                                        <p:tgtEl>
                                          <p:spTgt spid="119"/>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6" fill="hold" display="0">
                  <p:stCondLst>
                    <p:cond delay="indefinite"/>
                  </p:stCondLst>
                </p:cTn>
                <p:tgtEl>
                  <p:spTgt spid="119"/>
                </p:tgtEl>
              </p:cMediaNode>
            </p:video>
            <p:seq concurrent="1" prevAc="none" nextAc="seek">
              <p:cTn id="27" evtFilter="cancelBubble" nodeType="interactiveSeq" restart="whenNotActive" fill="hold">
                <p:stCondLst>
                  <p:cond delay="0" evt="onClick">
                    <p:tgtEl>
                      <p:spTgt spid="119"/>
                    </p:tgtEl>
                  </p:cond>
                </p:stCondLst>
                <p:endSync delay="0" evt="end">
                  <p:rtn val="all"/>
                </p:endSync>
                <p:childTnLst>
                  <p:par>
                    <p:cTn id="28" fill="hold">
                      <p:stCondLst>
                        <p:cond delay="0"/>
                      </p:stCondLst>
                      <p:childTnLst>
                        <p:par>
                          <p:cTn id="29" fill="hold">
                            <p:stCondLst>
                              <p:cond delay="0"/>
                            </p:stCondLst>
                            <p:childTnLst>
                              <p:par>
                                <p:cTn id="30" presetClass="mediacall" nodeType="clickEffect" presetSubtype="0" presetID="2" fill="hold">
                                  <p:stCondLst>
                                    <p:cond delay="0"/>
                                  </p:stCondLst>
                                  <p:childTnLst>
                                    <p:cmd type="call" cmd="togglePause">
                                      <p:cBhvr>
                                        <p:cTn id="31" dur="1" fill="hold"/>
                                        <p:tgtEl>
                                          <p:spTgt spid="119"/>
                                        </p:tgtEl>
                                      </p:cBhvr>
                                    </p:cmd>
                                  </p:childTnLst>
                                </p:cTn>
                              </p:par>
                            </p:childTnLst>
                          </p:cTn>
                        </p:par>
                      </p:childTnLst>
                    </p:cTn>
                  </p:par>
                </p:childTnLst>
              </p:cTn>
              <p:nextCondLst>
                <p:cond delay="0" evt="onClick">
                  <p:tgtEl>
                    <p:spTgt spid="119"/>
                  </p:tgtEl>
                </p:cond>
              </p:nextCondLst>
            </p:seq>
          </p:childTnLst>
        </p:cTn>
      </p:par>
    </p:tnLst>
    <p:bldLst>
      <p:bldP build="whole" bldLvl="1" animBg="1" rev="0" advAuto="0" spid="127" grpId="2"/>
      <p:bldP build="whole" bldLvl="1" animBg="1" rev="0" advAuto="0" spid="131" grpId="3"/>
      <p:bldP build="whole" bldLvl="1" animBg="1" rev="0" advAuto="0" spid="135" grpId="4"/>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13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142" name="phase_pill"/>
          <p:cNvGrpSpPr/>
          <p:nvPr/>
        </p:nvGrpSpPr>
        <p:grpSpPr>
          <a:xfrm>
            <a:off x="1170432" y="310894"/>
            <a:ext cx="1623977" cy="329188"/>
            <a:chOff x="0" y="0"/>
            <a:chExt cx="1623976" cy="329186"/>
          </a:xfrm>
        </p:grpSpPr>
        <p:sp>
          <p:nvSpPr>
            <p:cNvPr id="140" name="Rounded Rectangle"/>
            <p:cNvSpPr/>
            <p:nvPr/>
          </p:nvSpPr>
          <p:spPr>
            <a:xfrm>
              <a:off x="-1" y="-1"/>
              <a:ext cx="1623978" cy="329188"/>
            </a:xfrm>
            <a:prstGeom prst="roundRect">
              <a:avLst>
                <a:gd name="adj" fmla="val 44444"/>
              </a:avLst>
            </a:prstGeom>
            <a:solidFill>
              <a:srgbClr val="0B3D4C"/>
            </a:solidFill>
            <a:ln w="12700" cap="flat">
              <a:noFill/>
              <a:miter lim="400000"/>
            </a:ln>
            <a:effectLst/>
          </p:spPr>
          <p:txBody>
            <a:bodyPr wrap="square" lIns="45718" tIns="45718" rIns="45718" bIns="45718" numCol="1" anchor="ctr">
              <a:noAutofit/>
            </a:bodyPr>
            <a:lstStyle/>
            <a:p>
              <a:pPr algn="ctr">
                <a:defRPr sz="1100"/>
              </a:pPr>
            </a:p>
          </p:txBody>
        </p:sp>
        <p:sp>
          <p:nvSpPr>
            <p:cNvPr id="141" name="I DO · 3 MIN"/>
            <p:cNvSpPr txBox="1"/>
            <p:nvPr/>
          </p:nvSpPr>
          <p:spPr>
            <a:xfrm>
              <a:off x="42851" y="90677"/>
              <a:ext cx="1538273"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gn="ctr">
                <a:defRPr b="1" spc="100" sz="1100">
                  <a:solidFill>
                    <a:srgbClr val="FFFFFF"/>
                  </a:solidFill>
                  <a:latin typeface="Arial"/>
                  <a:ea typeface="Arial"/>
                  <a:cs typeface="Arial"/>
                  <a:sym typeface="Arial"/>
                </a:defRPr>
              </a:lvl1pPr>
            </a:lstStyle>
            <a:p>
              <a:pPr/>
              <a:r>
                <a:t>I DO · 4 MIN</a:t>
              </a:r>
            </a:p>
          </p:txBody>
        </p:sp>
      </p:grpSp>
      <p:sp>
        <p:nvSpPr>
          <p:cNvPr id="143" name="slide_title"/>
          <p:cNvSpPr txBox="1"/>
          <p:nvPr/>
        </p:nvSpPr>
        <p:spPr>
          <a:xfrm>
            <a:off x="1170432" y="965707"/>
            <a:ext cx="10472623" cy="482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b="1" sz="3400">
                <a:solidFill>
                  <a:srgbClr val="0B3D4C"/>
                </a:solidFill>
                <a:latin typeface="Georgia"/>
                <a:ea typeface="Georgia"/>
                <a:cs typeface="Georgia"/>
                <a:sym typeface="Georgia"/>
              </a:defRPr>
            </a:lvl1pPr>
          </a:lstStyle>
          <a:p>
            <a:pPr/>
            <a:r>
              <a:t>Three stages of the Eureka can practical</a:t>
            </a:r>
          </a:p>
        </p:txBody>
      </p:sp>
      <p:grpSp>
        <p:nvGrpSpPr>
          <p:cNvPr id="150" name="me0"/>
          <p:cNvGrpSpPr/>
          <p:nvPr/>
        </p:nvGrpSpPr>
        <p:grpSpPr>
          <a:xfrm>
            <a:off x="1170431" y="2011678"/>
            <a:ext cx="3344573" cy="2455337"/>
            <a:chOff x="0" y="0"/>
            <a:chExt cx="3344571" cy="2455335"/>
          </a:xfrm>
        </p:grpSpPr>
        <p:sp>
          <p:nvSpPr>
            <p:cNvPr id="144" name="me0_bg"/>
            <p:cNvSpPr/>
            <p:nvPr/>
          </p:nvSpPr>
          <p:spPr>
            <a:xfrm>
              <a:off x="-1" y="0"/>
              <a:ext cx="3344572" cy="2103123"/>
            </a:xfrm>
            <a:prstGeom prst="roundRect">
              <a:avLst>
                <a:gd name="adj" fmla="val 4348"/>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145" name="me0_h"/>
            <p:cNvSpPr txBox="1"/>
            <p:nvPr/>
          </p:nvSpPr>
          <p:spPr>
            <a:xfrm>
              <a:off x="201167" y="239522"/>
              <a:ext cx="2942237" cy="2159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b="1" sz="1500">
                  <a:solidFill>
                    <a:srgbClr val="0B3D4C"/>
                  </a:solidFill>
                  <a:latin typeface="Georgia"/>
                  <a:ea typeface="Georgia"/>
                  <a:cs typeface="Georgia"/>
                  <a:sym typeface="Georgia"/>
                </a:defRPr>
              </a:lvl1pPr>
            </a:lstStyle>
            <a:p>
              <a:pPr/>
              <a:r>
                <a:t>1. FILL</a:t>
              </a:r>
            </a:p>
          </p:txBody>
        </p:sp>
        <p:sp>
          <p:nvSpPr>
            <p:cNvPr id="146" name="me0_s"/>
            <p:cNvSpPr txBox="1"/>
            <p:nvPr/>
          </p:nvSpPr>
          <p:spPr>
            <a:xfrm>
              <a:off x="201167" y="603504"/>
              <a:ext cx="2942237" cy="18518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p>
              <a:pPr>
                <a:lnSpc>
                  <a:spcPts val="1700"/>
                </a:lnSpc>
                <a:defRPr sz="1200">
                  <a:solidFill>
                    <a:srgbClr val="0C2730"/>
                  </a:solidFill>
                  <a:latin typeface="Arial"/>
                  <a:ea typeface="Arial"/>
                  <a:cs typeface="Arial"/>
                  <a:sym typeface="Arial"/>
                </a:defRPr>
              </a:pPr>
              <a:r>
                <a:t>Fill the can until water reaches the spout. Let the extra water stop running before you begin.</a:t>
              </a:r>
            </a:p>
            <a:p>
              <a:pPr>
                <a:lnSpc>
                  <a:spcPts val="1700"/>
                </a:lnSpc>
                <a:defRPr sz="1200">
                  <a:solidFill>
                    <a:srgbClr val="0C2730"/>
                  </a:solidFill>
                  <a:latin typeface="Arial"/>
                  <a:ea typeface="Arial"/>
                  <a:cs typeface="Arial"/>
                  <a:sym typeface="Arial"/>
                </a:defRPr>
              </a:pPr>
            </a:p>
            <a:p>
              <a:pPr>
                <a:lnSpc>
                  <a:spcPts val="1700"/>
                </a:lnSpc>
                <a:defRPr sz="1200">
                  <a:solidFill>
                    <a:srgbClr val="0C2730"/>
                  </a:solidFill>
                  <a:latin typeface="Arial"/>
                  <a:ea typeface="Arial"/>
                  <a:cs typeface="Arial"/>
                  <a:sym typeface="Arial"/>
                </a:defRPr>
              </a:pPr>
            </a:p>
            <a:p>
              <a:pPr>
                <a:lnSpc>
                  <a:spcPts val="1700"/>
                </a:lnSpc>
                <a:defRPr sz="1200">
                  <a:solidFill>
                    <a:srgbClr val="0C2730"/>
                  </a:solidFill>
                  <a:latin typeface="Arial"/>
                  <a:ea typeface="Arial"/>
                  <a:cs typeface="Arial"/>
                  <a:sym typeface="Arial"/>
                </a:defRPr>
              </a:pPr>
            </a:p>
          </p:txBody>
        </p:sp>
        <p:grpSp>
          <p:nvGrpSpPr>
            <p:cNvPr id="149" name="me0_c"/>
            <p:cNvGrpSpPr/>
            <p:nvPr/>
          </p:nvGrpSpPr>
          <p:grpSpPr>
            <a:xfrm>
              <a:off x="164591" y="1536192"/>
              <a:ext cx="3015389" cy="438915"/>
              <a:chOff x="0" y="0"/>
              <a:chExt cx="3015388" cy="438914"/>
            </a:xfrm>
          </p:grpSpPr>
          <p:sp>
            <p:nvSpPr>
              <p:cNvPr id="147" name="Rounded Rectangle"/>
              <p:cNvSpPr/>
              <p:nvPr/>
            </p:nvSpPr>
            <p:spPr>
              <a:xfrm>
                <a:off x="-1" y="-1"/>
                <a:ext cx="3015389" cy="438916"/>
              </a:xfrm>
              <a:prstGeom prst="roundRect">
                <a:avLst>
                  <a:gd name="adj" fmla="val 16667"/>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lgn="ctr">
                  <a:defRPr sz="1200"/>
                </a:pPr>
              </a:p>
            </p:txBody>
          </p:sp>
          <p:sp>
            <p:nvSpPr>
              <p:cNvPr id="148" name="180 g ÷ 24 cm³ = 7.5 g/cm³"/>
              <p:cNvSpPr txBox="1"/>
              <p:nvPr/>
            </p:nvSpPr>
            <p:spPr>
              <a:xfrm>
                <a:off x="29679" y="51359"/>
                <a:ext cx="2956029" cy="33619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rmAutofit fontScale="100000" lnSpcReduction="0"/>
              </a:bodyPr>
              <a:lstStyle>
                <a:lvl1pPr algn="ctr" defTabSz="896111">
                  <a:defRPr b="1" sz="1176">
                    <a:solidFill>
                      <a:srgbClr val="0B3D4C"/>
                    </a:solidFill>
                    <a:latin typeface="Arial"/>
                    <a:ea typeface="Arial"/>
                    <a:cs typeface="Arial"/>
                    <a:sym typeface="Arial"/>
                  </a:defRPr>
                </a:lvl1pPr>
              </a:lstStyle>
              <a:p>
                <a:pPr/>
                <a:r>
                  <a:t>Start with a full can and a dry collector underneath the spout.</a:t>
                </a:r>
              </a:p>
            </p:txBody>
          </p:sp>
        </p:grpSp>
      </p:grpSp>
      <p:grpSp>
        <p:nvGrpSpPr>
          <p:cNvPr id="157" name="me1"/>
          <p:cNvGrpSpPr/>
          <p:nvPr/>
        </p:nvGrpSpPr>
        <p:grpSpPr>
          <a:xfrm>
            <a:off x="4734457" y="2011678"/>
            <a:ext cx="3344573" cy="2335711"/>
            <a:chOff x="0" y="0"/>
            <a:chExt cx="3344571" cy="2335709"/>
          </a:xfrm>
        </p:grpSpPr>
        <p:sp>
          <p:nvSpPr>
            <p:cNvPr id="151" name="me1_bg"/>
            <p:cNvSpPr/>
            <p:nvPr/>
          </p:nvSpPr>
          <p:spPr>
            <a:xfrm>
              <a:off x="0" y="0"/>
              <a:ext cx="3344572" cy="2103123"/>
            </a:xfrm>
            <a:prstGeom prst="roundRect">
              <a:avLst>
                <a:gd name="adj" fmla="val 4348"/>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152" name="me1_h"/>
            <p:cNvSpPr txBox="1"/>
            <p:nvPr/>
          </p:nvSpPr>
          <p:spPr>
            <a:xfrm>
              <a:off x="201168" y="239522"/>
              <a:ext cx="2942236" cy="2159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b="1" sz="1500">
                  <a:solidFill>
                    <a:srgbClr val="0B3D4C"/>
                  </a:solidFill>
                  <a:latin typeface="Georgia"/>
                  <a:ea typeface="Georgia"/>
                  <a:cs typeface="Georgia"/>
                  <a:sym typeface="Georgia"/>
                </a:defRPr>
              </a:lvl1pPr>
            </a:lstStyle>
            <a:p>
              <a:pPr/>
              <a:r>
                <a:t>2. SUBMERGE</a:t>
              </a:r>
            </a:p>
          </p:txBody>
        </p:sp>
        <p:sp>
          <p:nvSpPr>
            <p:cNvPr id="153" name="me1_s"/>
            <p:cNvSpPr txBox="1"/>
            <p:nvPr/>
          </p:nvSpPr>
          <p:spPr>
            <a:xfrm>
              <a:off x="201168" y="603504"/>
              <a:ext cx="2942236" cy="17322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p>
              <a:pPr>
                <a:lnSpc>
                  <a:spcPts val="1700"/>
                </a:lnSpc>
                <a:defRPr sz="1200">
                  <a:solidFill>
                    <a:srgbClr val="0C2730"/>
                  </a:solidFill>
                  <a:latin typeface="Arial"/>
                  <a:ea typeface="Arial"/>
                  <a:cs typeface="Arial"/>
                  <a:sym typeface="Arial"/>
                </a:defRPr>
              </a:pPr>
              <a:r>
                <a:t>Lower the object gently and completely into the water. Keep it from touching the spout or splashing.</a:t>
              </a:r>
            </a:p>
            <a:p>
              <a:pPr>
                <a:lnSpc>
                  <a:spcPts val="1700"/>
                </a:lnSpc>
                <a:defRPr sz="1200">
                  <a:solidFill>
                    <a:srgbClr val="0C2730"/>
                  </a:solidFill>
                  <a:latin typeface="Arial"/>
                  <a:ea typeface="Arial"/>
                  <a:cs typeface="Arial"/>
                  <a:sym typeface="Arial"/>
                </a:defRPr>
              </a:pPr>
            </a:p>
            <a:p>
              <a:pPr>
                <a:lnSpc>
                  <a:spcPts val="1700"/>
                </a:lnSpc>
                <a:defRPr sz="1200">
                  <a:solidFill>
                    <a:srgbClr val="0C2730"/>
                  </a:solidFill>
                  <a:latin typeface="Arial"/>
                  <a:ea typeface="Arial"/>
                  <a:cs typeface="Arial"/>
                  <a:sym typeface="Arial"/>
                </a:defRPr>
              </a:pPr>
            </a:p>
            <a:p>
              <a:pPr>
                <a:lnSpc>
                  <a:spcPts val="1700"/>
                </a:lnSpc>
                <a:defRPr sz="1200">
                  <a:solidFill>
                    <a:srgbClr val="0C2730"/>
                  </a:solidFill>
                  <a:latin typeface="Arial"/>
                  <a:ea typeface="Arial"/>
                  <a:cs typeface="Arial"/>
                  <a:sym typeface="Arial"/>
                </a:defRPr>
              </a:pPr>
            </a:p>
          </p:txBody>
        </p:sp>
        <p:grpSp>
          <p:nvGrpSpPr>
            <p:cNvPr id="156" name="me1_c"/>
            <p:cNvGrpSpPr/>
            <p:nvPr/>
          </p:nvGrpSpPr>
          <p:grpSpPr>
            <a:xfrm>
              <a:off x="164592" y="1536192"/>
              <a:ext cx="3015389" cy="438915"/>
              <a:chOff x="0" y="0"/>
              <a:chExt cx="3015388" cy="438914"/>
            </a:xfrm>
          </p:grpSpPr>
          <p:sp>
            <p:nvSpPr>
              <p:cNvPr id="154" name="Rounded Rectangle"/>
              <p:cNvSpPr/>
              <p:nvPr/>
            </p:nvSpPr>
            <p:spPr>
              <a:xfrm>
                <a:off x="0" y="-1"/>
                <a:ext cx="3015389" cy="438916"/>
              </a:xfrm>
              <a:prstGeom prst="roundRect">
                <a:avLst>
                  <a:gd name="adj" fmla="val 16667"/>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lgn="ctr">
                  <a:defRPr sz="1200"/>
                </a:pPr>
              </a:p>
            </p:txBody>
          </p:sp>
          <p:sp>
            <p:nvSpPr>
              <p:cNvPr id="155" name="80 g ÷ 100 cm³ = 0.8 g/cm³"/>
              <p:cNvSpPr txBox="1"/>
              <p:nvPr/>
            </p:nvSpPr>
            <p:spPr>
              <a:xfrm>
                <a:off x="29680" y="24794"/>
                <a:ext cx="2956028" cy="38932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rmAutofit fontScale="100000" lnSpcReduction="0"/>
              </a:bodyPr>
              <a:lstStyle>
                <a:lvl1pPr algn="ctr" defTabSz="795527">
                  <a:defRPr b="1" sz="1044">
                    <a:solidFill>
                      <a:srgbClr val="0B3D4C"/>
                    </a:solidFill>
                    <a:latin typeface="Arial"/>
                    <a:ea typeface="Arial"/>
                    <a:cs typeface="Arial"/>
                    <a:sym typeface="Arial"/>
                  </a:defRPr>
                </a:lvl1pPr>
              </a:lstStyle>
              <a:p>
                <a:pPr/>
                <a:r>
                  <a:t>Catch all the displaced water. Fully submerged means the whole volume is displaced.</a:t>
                </a:r>
              </a:p>
            </p:txBody>
          </p:sp>
        </p:grpSp>
      </p:grpSp>
      <p:grpSp>
        <p:nvGrpSpPr>
          <p:cNvPr id="164" name="me2"/>
          <p:cNvGrpSpPr/>
          <p:nvPr/>
        </p:nvGrpSpPr>
        <p:grpSpPr>
          <a:xfrm>
            <a:off x="8298484" y="2011678"/>
            <a:ext cx="3344573" cy="2119229"/>
            <a:chOff x="0" y="0"/>
            <a:chExt cx="3344571" cy="2119227"/>
          </a:xfrm>
        </p:grpSpPr>
        <p:sp>
          <p:nvSpPr>
            <p:cNvPr id="158" name="me2_bg"/>
            <p:cNvSpPr/>
            <p:nvPr/>
          </p:nvSpPr>
          <p:spPr>
            <a:xfrm>
              <a:off x="0" y="0"/>
              <a:ext cx="3344572" cy="2103123"/>
            </a:xfrm>
            <a:prstGeom prst="roundRect">
              <a:avLst>
                <a:gd name="adj" fmla="val 4348"/>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159" name="me2_h"/>
            <p:cNvSpPr txBox="1"/>
            <p:nvPr/>
          </p:nvSpPr>
          <p:spPr>
            <a:xfrm>
              <a:off x="201168" y="239522"/>
              <a:ext cx="2942236" cy="2159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b="1" sz="1500">
                  <a:solidFill>
                    <a:srgbClr val="0B3D4C"/>
                  </a:solidFill>
                  <a:latin typeface="Georgia"/>
                  <a:ea typeface="Georgia"/>
                  <a:cs typeface="Georgia"/>
                  <a:sym typeface="Georgia"/>
                </a:defRPr>
              </a:lvl1pPr>
            </a:lstStyle>
            <a:p>
              <a:pPr/>
              <a:r>
                <a:t>3. MEASURE</a:t>
              </a:r>
            </a:p>
          </p:txBody>
        </p:sp>
        <p:sp>
          <p:nvSpPr>
            <p:cNvPr id="160" name="me2_s"/>
            <p:cNvSpPr txBox="1"/>
            <p:nvPr/>
          </p:nvSpPr>
          <p:spPr>
            <a:xfrm>
              <a:off x="201168" y="603504"/>
              <a:ext cx="2942236" cy="151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p>
              <a:pPr>
                <a:lnSpc>
                  <a:spcPts val="1700"/>
                </a:lnSpc>
                <a:defRPr sz="1200">
                  <a:solidFill>
                    <a:srgbClr val="0C2730"/>
                  </a:solidFill>
                  <a:latin typeface="Arial"/>
                  <a:ea typeface="Arial"/>
                  <a:cs typeface="Arial"/>
                  <a:sym typeface="Arial"/>
                </a:defRPr>
              </a:pPr>
              <a:r>
                <a:t>Measure the collected water in a measuring cylinder. Measure the object’s mass with a balance.</a:t>
              </a:r>
            </a:p>
            <a:p>
              <a:pPr>
                <a:lnSpc>
                  <a:spcPts val="1700"/>
                </a:lnSpc>
                <a:defRPr sz="1200">
                  <a:solidFill>
                    <a:srgbClr val="0C2730"/>
                  </a:solidFill>
                  <a:latin typeface="Arial"/>
                  <a:ea typeface="Arial"/>
                  <a:cs typeface="Arial"/>
                  <a:sym typeface="Arial"/>
                </a:defRPr>
              </a:pPr>
            </a:p>
            <a:p>
              <a:pPr>
                <a:lnSpc>
                  <a:spcPts val="1700"/>
                </a:lnSpc>
                <a:defRPr sz="1200">
                  <a:solidFill>
                    <a:srgbClr val="0C2730"/>
                  </a:solidFill>
                  <a:latin typeface="Arial"/>
                  <a:ea typeface="Arial"/>
                  <a:cs typeface="Arial"/>
                  <a:sym typeface="Arial"/>
                </a:defRPr>
              </a:pPr>
            </a:p>
            <a:p>
              <a:pPr>
                <a:lnSpc>
                  <a:spcPts val="1700"/>
                </a:lnSpc>
                <a:defRPr sz="1200">
                  <a:solidFill>
                    <a:srgbClr val="0C2730"/>
                  </a:solidFill>
                  <a:latin typeface="Arial"/>
                  <a:ea typeface="Arial"/>
                  <a:cs typeface="Arial"/>
                  <a:sym typeface="Arial"/>
                </a:defRPr>
              </a:pPr>
            </a:p>
          </p:txBody>
        </p:sp>
        <p:grpSp>
          <p:nvGrpSpPr>
            <p:cNvPr id="163" name="me2_c"/>
            <p:cNvGrpSpPr/>
            <p:nvPr/>
          </p:nvGrpSpPr>
          <p:grpSpPr>
            <a:xfrm>
              <a:off x="164592" y="1536192"/>
              <a:ext cx="3015389" cy="438915"/>
              <a:chOff x="0" y="0"/>
              <a:chExt cx="3015388" cy="438914"/>
            </a:xfrm>
          </p:grpSpPr>
          <p:sp>
            <p:nvSpPr>
              <p:cNvPr id="161" name="Rounded Rectangle"/>
              <p:cNvSpPr/>
              <p:nvPr/>
            </p:nvSpPr>
            <p:spPr>
              <a:xfrm>
                <a:off x="0" y="-1"/>
                <a:ext cx="3015389" cy="438916"/>
              </a:xfrm>
              <a:prstGeom prst="roundRect">
                <a:avLst>
                  <a:gd name="adj" fmla="val 16667"/>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lgn="ctr">
                  <a:defRPr sz="1200"/>
                </a:pPr>
              </a:p>
            </p:txBody>
          </p:sp>
          <p:sp>
            <p:nvSpPr>
              <p:cNvPr id="162" name="26 g ÷ 10 cm³ = 2.6 g/cm³"/>
              <p:cNvSpPr txBox="1"/>
              <p:nvPr/>
            </p:nvSpPr>
            <p:spPr>
              <a:xfrm>
                <a:off x="29680" y="132540"/>
                <a:ext cx="2956028" cy="1738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7" tIns="507" rIns="507" bIns="507" numCol="1" anchor="ctr">
                <a:normAutofit fontScale="100000" lnSpcReduction="0"/>
              </a:bodyPr>
              <a:lstStyle>
                <a:lvl1pPr algn="ctr">
                  <a:defRPr b="1" sz="1200">
                    <a:solidFill>
                      <a:srgbClr val="0B3D4C"/>
                    </a:solidFill>
                    <a:latin typeface="Arial"/>
                    <a:ea typeface="Arial"/>
                    <a:cs typeface="Arial"/>
                    <a:sym typeface="Arial"/>
                  </a:defRPr>
                </a:lvl1pPr>
              </a:lstStyle>
              <a:p>
                <a:pPr/>
                <a:r>
                  <a:t>Example: 54 g ÷ 20 cm³ = 2.7 g/cm³</a:t>
                </a:r>
              </a:p>
            </p:txBody>
          </p:sp>
        </p:gr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3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50"/>
                                        </p:tgtEl>
                                        <p:attrNameLst>
                                          <p:attrName>style.visibility</p:attrName>
                                        </p:attrNameLst>
                                      </p:cBhvr>
                                      <p:to>
                                        <p:strVal val="visible"/>
                                      </p:to>
                                    </p:set>
                                    <p:animEffect filter="fade" transition="in">
                                      <p:cBhvr>
                                        <p:cTn id="11" dur="400"/>
                                        <p:tgtEl>
                                          <p:spTgt spid="150"/>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57"/>
                                        </p:tgtEl>
                                        <p:attrNameLst>
                                          <p:attrName>style.visibility</p:attrName>
                                        </p:attrNameLst>
                                      </p:cBhvr>
                                      <p:to>
                                        <p:strVal val="visible"/>
                                      </p:to>
                                    </p:set>
                                    <p:animEffect filter="fade" transition="in">
                                      <p:cBhvr>
                                        <p:cTn id="16" dur="400"/>
                                        <p:tgtEl>
                                          <p:spTgt spid="157"/>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64"/>
                                        </p:tgtEl>
                                        <p:attrNameLst>
                                          <p:attrName>style.visibility</p:attrName>
                                        </p:attrNameLst>
                                      </p:cBhvr>
                                      <p:to>
                                        <p:strVal val="visible"/>
                                      </p:to>
                                    </p:set>
                                    <p:animEffect filter="fade" transition="in">
                                      <p:cBhvr>
                                        <p:cTn id="21" dur="400"/>
                                        <p:tgtEl>
                                          <p:spTgt spid="164"/>
                                        </p:tgtEl>
                                      </p:cBhvr>
                                    </p:animEffect>
                                  </p:childTnLst>
                                </p:cTn>
                              </p:par>
                            </p:childTnLst>
                          </p:cTn>
                        </p:par>
                      </p:childTnLst>
                    </p:cTn>
                  </p:par>
                  <p:par>
                    <p:cTn id="22" fill="hold">
                      <p:stCondLst>
                        <p:cond delay="indefinite"/>
                      </p:stCondLst>
                      <p:childTnLst>
                        <p:par>
                          <p:cTn id="23" fill="hold">
                            <p:stCondLst>
                              <p:cond delay="0"/>
                            </p:stCondLst>
                            <p:childTnLst>
                              <p:par>
                                <p:cTn id="24" presetClass="mediacall" nodeType="clickEffect" presetSubtype="0" presetID="3" grpId="1" fill="hold">
                                  <p:stCondLst>
                                    <p:cond delay="0"/>
                                  </p:stCondLst>
                                  <p:childTnLst>
                                    <p:cmd type="call" cmd="stop">
                                      <p:cBhvr>
                                        <p:cTn id="25" dur="1000" fill="hold"/>
                                        <p:tgtEl>
                                          <p:spTgt spid="139"/>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6" fill="hold" display="0">
                  <p:stCondLst>
                    <p:cond delay="indefinite"/>
                  </p:stCondLst>
                </p:cTn>
                <p:tgtEl>
                  <p:spTgt spid="139"/>
                </p:tgtEl>
              </p:cMediaNode>
            </p:video>
            <p:seq concurrent="1" prevAc="none" nextAc="seek">
              <p:cTn id="27" evtFilter="cancelBubble" nodeType="interactiveSeq" restart="whenNotActive" fill="hold">
                <p:stCondLst>
                  <p:cond delay="0" evt="onClick">
                    <p:tgtEl>
                      <p:spTgt spid="139"/>
                    </p:tgtEl>
                  </p:cond>
                </p:stCondLst>
                <p:endSync delay="0" evt="end">
                  <p:rtn val="all"/>
                </p:endSync>
                <p:childTnLst>
                  <p:par>
                    <p:cTn id="28" fill="hold">
                      <p:stCondLst>
                        <p:cond delay="0"/>
                      </p:stCondLst>
                      <p:childTnLst>
                        <p:par>
                          <p:cTn id="29" fill="hold">
                            <p:stCondLst>
                              <p:cond delay="0"/>
                            </p:stCondLst>
                            <p:childTnLst>
                              <p:par>
                                <p:cTn id="30" presetClass="mediacall" nodeType="clickEffect" presetSubtype="0" presetID="2" fill="hold">
                                  <p:stCondLst>
                                    <p:cond delay="0"/>
                                  </p:stCondLst>
                                  <p:childTnLst>
                                    <p:cmd type="call" cmd="togglePause">
                                      <p:cBhvr>
                                        <p:cTn id="31" dur="1" fill="hold"/>
                                        <p:tgtEl>
                                          <p:spTgt spid="139"/>
                                        </p:tgtEl>
                                      </p:cBhvr>
                                    </p:cmd>
                                  </p:childTnLst>
                                </p:cTn>
                              </p:par>
                            </p:childTnLst>
                          </p:cTn>
                        </p:par>
                      </p:childTnLst>
                    </p:cTn>
                  </p:par>
                </p:childTnLst>
              </p:cTn>
              <p:nextCondLst>
                <p:cond delay="0" evt="onClick">
                  <p:tgtEl>
                    <p:spTgt spid="139"/>
                  </p:tgtEl>
                </p:cond>
              </p:nextCondLst>
            </p:seq>
          </p:childTnLst>
        </p:cTn>
      </p:par>
    </p:tnLst>
    <p:bldLst>
      <p:bldP build="whole" bldLvl="1" animBg="1" rev="0" advAuto="0" spid="150" grpId="2"/>
      <p:bldP build="whole" bldLvl="1" animBg="1" rev="0" advAuto="0" spid="157" grpId="3"/>
      <p:bldP build="whole" bldLvl="1" animBg="1" rev="0" advAuto="0" spid="164" grpId="4"/>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16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171" name="phase_pill"/>
          <p:cNvGrpSpPr/>
          <p:nvPr/>
        </p:nvGrpSpPr>
        <p:grpSpPr>
          <a:xfrm>
            <a:off x="1170431" y="310894"/>
            <a:ext cx="1713589" cy="329188"/>
            <a:chOff x="0" y="0"/>
            <a:chExt cx="1713587" cy="329186"/>
          </a:xfrm>
        </p:grpSpPr>
        <p:sp>
          <p:nvSpPr>
            <p:cNvPr id="169" name="Rounded Rectangle"/>
            <p:cNvSpPr/>
            <p:nvPr/>
          </p:nvSpPr>
          <p:spPr>
            <a:xfrm>
              <a:off x="-1" y="-1"/>
              <a:ext cx="1713588" cy="329188"/>
            </a:xfrm>
            <a:prstGeom prst="roundRect">
              <a:avLst>
                <a:gd name="adj" fmla="val 44444"/>
              </a:avLst>
            </a:prstGeom>
            <a:solidFill>
              <a:srgbClr val="0B3D4C"/>
            </a:solidFill>
            <a:ln w="12700" cap="flat">
              <a:noFill/>
              <a:miter lim="400000"/>
            </a:ln>
            <a:effectLst/>
          </p:spPr>
          <p:txBody>
            <a:bodyPr wrap="square" lIns="45718" tIns="45718" rIns="45718" bIns="45718" numCol="1" anchor="ctr">
              <a:noAutofit/>
            </a:bodyPr>
            <a:lstStyle/>
            <a:p>
              <a:pPr algn="ctr">
                <a:defRPr sz="1100"/>
              </a:pPr>
            </a:p>
          </p:txBody>
        </p:sp>
        <p:sp>
          <p:nvSpPr>
            <p:cNvPr id="170" name="WE DO · 5 MIN"/>
            <p:cNvSpPr txBox="1"/>
            <p:nvPr/>
          </p:nvSpPr>
          <p:spPr>
            <a:xfrm>
              <a:off x="42850" y="90677"/>
              <a:ext cx="1627885"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gn="ctr">
                <a:defRPr b="1" spc="100" sz="1100">
                  <a:solidFill>
                    <a:srgbClr val="FFFFFF"/>
                  </a:solidFill>
                  <a:latin typeface="Arial"/>
                  <a:ea typeface="Arial"/>
                  <a:cs typeface="Arial"/>
                  <a:sym typeface="Arial"/>
                </a:defRPr>
              </a:lvl1pPr>
            </a:lstStyle>
            <a:p>
              <a:pPr/>
              <a:r>
                <a:t>WE DO · 5 MIN</a:t>
              </a:r>
            </a:p>
          </p:txBody>
        </p:sp>
      </p:grpSp>
      <p:sp>
        <p:nvSpPr>
          <p:cNvPr id="172" name="slide_title"/>
          <p:cNvSpPr txBox="1"/>
          <p:nvPr/>
        </p:nvSpPr>
        <p:spPr>
          <a:xfrm>
            <a:off x="1170432" y="965707"/>
            <a:ext cx="10472623" cy="482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b="1" sz="3400">
                <a:solidFill>
                  <a:srgbClr val="0B3D4C"/>
                </a:solidFill>
                <a:latin typeface="Georgia"/>
                <a:ea typeface="Georgia"/>
                <a:cs typeface="Georgia"/>
                <a:sym typeface="Georgia"/>
              </a:defRPr>
            </a:lvl1pPr>
          </a:lstStyle>
          <a:p>
            <a:pPr/>
            <a:r>
              <a:t>Which practical step is wrong?</a:t>
            </a:r>
          </a:p>
        </p:txBody>
      </p:sp>
      <p:sp>
        <p:nvSpPr>
          <p:cNvPr id="173" name="slide_sub"/>
          <p:cNvSpPr txBox="1"/>
          <p:nvPr/>
        </p:nvSpPr>
        <p:spPr>
          <a:xfrm>
            <a:off x="1170432" y="1644670"/>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868680">
              <a:defRPr sz="1520">
                <a:solidFill>
                  <a:srgbClr val="4E6D74"/>
                </a:solidFill>
                <a:latin typeface="Arial"/>
                <a:ea typeface="Arial"/>
                <a:cs typeface="Arial"/>
                <a:sym typeface="Arial"/>
              </a:defRPr>
            </a:lvl1pPr>
          </a:lstStyle>
          <a:p>
            <a:pPr/>
            <a:r>
              <a:t>Spot the mistake before the answer appears.</a:t>
            </a:r>
          </a:p>
        </p:txBody>
      </p:sp>
      <p:sp>
        <p:nvSpPr>
          <p:cNvPr id="174" name="wd0_bg"/>
          <p:cNvSpPr/>
          <p:nvPr/>
        </p:nvSpPr>
        <p:spPr>
          <a:xfrm>
            <a:off x="1170432" y="2322576"/>
            <a:ext cx="10472623" cy="841250"/>
          </a:xfrm>
          <a:prstGeom prst="roundRect">
            <a:avLst>
              <a:gd name="adj" fmla="val 10870"/>
            </a:avLst>
          </a:prstGeom>
          <a:solidFill>
            <a:srgbClr val="FFFFFF"/>
          </a:solidFill>
          <a:ln w="16510">
            <a:solidFill>
              <a:srgbClr val="D8DEEC"/>
            </a:solidFill>
          </a:ln>
        </p:spPr>
        <p:txBody>
          <a:bodyPr lIns="45718" tIns="45718" rIns="45718" bIns="45718"/>
          <a:lstStyle/>
          <a:p>
            <a:pPr/>
          </a:p>
        </p:txBody>
      </p:sp>
      <p:sp>
        <p:nvSpPr>
          <p:cNvPr id="175" name="wd0_q"/>
          <p:cNvSpPr txBox="1"/>
          <p:nvPr/>
        </p:nvSpPr>
        <p:spPr>
          <a:xfrm>
            <a:off x="1426462" y="2614989"/>
            <a:ext cx="6035044" cy="2564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nSpc>
                <a:spcPts val="2100"/>
              </a:lnSpc>
              <a:defRPr sz="1300">
                <a:solidFill>
                  <a:srgbClr val="0C2730"/>
                </a:solidFill>
                <a:latin typeface="Arial"/>
                <a:ea typeface="Arial"/>
                <a:cs typeface="Arial"/>
                <a:sym typeface="Arial"/>
              </a:defRPr>
            </a:lvl1pPr>
          </a:lstStyle>
          <a:p>
            <a:pPr/>
            <a:r>
              <a:t>“The Eureka can is only half full before the object goes in.”</a:t>
            </a:r>
          </a:p>
        </p:txBody>
      </p:sp>
      <p:grpSp>
        <p:nvGrpSpPr>
          <p:cNvPr id="178" name="wd0_a"/>
          <p:cNvGrpSpPr/>
          <p:nvPr/>
        </p:nvGrpSpPr>
        <p:grpSpPr>
          <a:xfrm>
            <a:off x="7662671" y="2414016"/>
            <a:ext cx="3888945" cy="658371"/>
            <a:chOff x="0" y="0"/>
            <a:chExt cx="3888944" cy="658370"/>
          </a:xfrm>
        </p:grpSpPr>
        <p:sp>
          <p:nvSpPr>
            <p:cNvPr id="176" name="Rounded Rectangle"/>
            <p:cNvSpPr/>
            <p:nvPr/>
          </p:nvSpPr>
          <p:spPr>
            <a:xfrm>
              <a:off x="0" y="-1"/>
              <a:ext cx="3888945" cy="658372"/>
            </a:xfrm>
            <a:prstGeom prst="roundRect">
              <a:avLst>
                <a:gd name="adj" fmla="val 13889"/>
              </a:avLst>
            </a:prstGeom>
            <a:solidFill>
              <a:srgbClr val="FFEEE4"/>
            </a:solidFill>
            <a:ln w="19050" cap="flat">
              <a:solidFill>
                <a:srgbClr val="D63447"/>
              </a:solidFill>
              <a:prstDash val="solid"/>
              <a:round/>
            </a:ln>
            <a:effectLst/>
          </p:spPr>
          <p:txBody>
            <a:bodyPr wrap="square" lIns="45718" tIns="45718" rIns="45718" bIns="45718" numCol="1" anchor="ctr">
              <a:noAutofit/>
            </a:bodyPr>
            <a:lstStyle/>
            <a:p>
              <a:pPr algn="ctr">
                <a:defRPr sz="1300"/>
              </a:pPr>
            </a:p>
          </p:txBody>
        </p:sp>
        <p:sp>
          <p:nvSpPr>
            <p:cNvPr id="177" name="Density = mass ÷ volume (ρ = m ÷ V)."/>
            <p:cNvSpPr txBox="1"/>
            <p:nvPr/>
          </p:nvSpPr>
          <p:spPr>
            <a:xfrm>
              <a:off x="36307" y="235872"/>
              <a:ext cx="3816330" cy="18662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normAutofit fontScale="100000" lnSpcReduction="0"/>
            </a:bodyPr>
            <a:lstStyle>
              <a:lvl1pPr algn="ctr">
                <a:defRPr b="1" sz="1300">
                  <a:solidFill>
                    <a:srgbClr val="0B3D4C"/>
                  </a:solidFill>
                  <a:latin typeface="Arial"/>
                  <a:ea typeface="Arial"/>
                  <a:cs typeface="Arial"/>
                  <a:sym typeface="Arial"/>
                </a:defRPr>
              </a:lvl1pPr>
            </a:lstStyle>
            <a:p>
              <a:pPr/>
              <a:r>
                <a:t>Fill to the spout; let excess water stop.</a:t>
              </a:r>
            </a:p>
          </p:txBody>
        </p:sp>
      </p:grpSp>
      <p:sp>
        <p:nvSpPr>
          <p:cNvPr id="179" name="wd1_bg"/>
          <p:cNvSpPr/>
          <p:nvPr/>
        </p:nvSpPr>
        <p:spPr>
          <a:xfrm>
            <a:off x="1170432" y="3346703"/>
            <a:ext cx="10472623" cy="841250"/>
          </a:xfrm>
          <a:prstGeom prst="roundRect">
            <a:avLst>
              <a:gd name="adj" fmla="val 10870"/>
            </a:avLst>
          </a:prstGeom>
          <a:solidFill>
            <a:srgbClr val="FFFFFF"/>
          </a:solidFill>
          <a:ln w="16510">
            <a:solidFill>
              <a:srgbClr val="D8DEEC"/>
            </a:solidFill>
          </a:ln>
        </p:spPr>
        <p:txBody>
          <a:bodyPr lIns="45718" tIns="45718" rIns="45718" bIns="45718"/>
          <a:lstStyle/>
          <a:p>
            <a:pPr/>
          </a:p>
        </p:txBody>
      </p:sp>
      <p:sp>
        <p:nvSpPr>
          <p:cNvPr id="180" name="wd1_q"/>
          <p:cNvSpPr txBox="1"/>
          <p:nvPr/>
        </p:nvSpPr>
        <p:spPr>
          <a:xfrm>
            <a:off x="1426462" y="3639117"/>
            <a:ext cx="6035044" cy="2564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nSpc>
                <a:spcPts val="2100"/>
              </a:lnSpc>
              <a:defRPr sz="1300">
                <a:solidFill>
                  <a:srgbClr val="0C2730"/>
                </a:solidFill>
                <a:latin typeface="Arial"/>
                <a:ea typeface="Arial"/>
                <a:cs typeface="Arial"/>
                <a:sym typeface="Arial"/>
              </a:defRPr>
            </a:lvl1pPr>
          </a:lstStyle>
          <a:p>
            <a:pPr/>
            <a:r>
              <a:t>“I drop the stone in from above to make it sink quickly.”</a:t>
            </a:r>
          </a:p>
        </p:txBody>
      </p:sp>
      <p:grpSp>
        <p:nvGrpSpPr>
          <p:cNvPr id="183" name="wd1_a"/>
          <p:cNvGrpSpPr/>
          <p:nvPr/>
        </p:nvGrpSpPr>
        <p:grpSpPr>
          <a:xfrm>
            <a:off x="7662671" y="3438144"/>
            <a:ext cx="3888945" cy="658371"/>
            <a:chOff x="0" y="0"/>
            <a:chExt cx="3888944" cy="658370"/>
          </a:xfrm>
        </p:grpSpPr>
        <p:sp>
          <p:nvSpPr>
            <p:cNvPr id="181" name="Rounded Rectangle"/>
            <p:cNvSpPr/>
            <p:nvPr/>
          </p:nvSpPr>
          <p:spPr>
            <a:xfrm>
              <a:off x="0" y="-1"/>
              <a:ext cx="3888945" cy="658372"/>
            </a:xfrm>
            <a:prstGeom prst="roundRect">
              <a:avLst>
                <a:gd name="adj" fmla="val 13889"/>
              </a:avLst>
            </a:prstGeom>
            <a:solidFill>
              <a:srgbClr val="FFEEE4"/>
            </a:solidFill>
            <a:ln w="19050" cap="flat">
              <a:solidFill>
                <a:srgbClr val="D63447"/>
              </a:solidFill>
              <a:prstDash val="solid"/>
              <a:round/>
            </a:ln>
            <a:effectLst/>
          </p:spPr>
          <p:txBody>
            <a:bodyPr wrap="square" lIns="45718" tIns="45718" rIns="45718" bIns="45718" numCol="1" anchor="ctr">
              <a:noAutofit/>
            </a:bodyPr>
            <a:lstStyle/>
            <a:p>
              <a:pPr algn="ctr">
                <a:defRPr sz="1300"/>
              </a:pPr>
            </a:p>
          </p:txBody>
        </p:sp>
        <p:sp>
          <p:nvSpPr>
            <p:cNvPr id="182" name="The unit of density is g/cm³ or kg/m³."/>
            <p:cNvSpPr txBox="1"/>
            <p:nvPr/>
          </p:nvSpPr>
          <p:spPr>
            <a:xfrm>
              <a:off x="36307" y="235872"/>
              <a:ext cx="3816330" cy="18662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normAutofit fontScale="100000" lnSpcReduction="0"/>
            </a:bodyPr>
            <a:lstStyle>
              <a:lvl1pPr algn="ctr">
                <a:defRPr b="1" sz="1300">
                  <a:solidFill>
                    <a:srgbClr val="0B3D4C"/>
                  </a:solidFill>
                  <a:latin typeface="Arial"/>
                  <a:ea typeface="Arial"/>
                  <a:cs typeface="Arial"/>
                  <a:sym typeface="Arial"/>
                </a:defRPr>
              </a:lvl1pPr>
            </a:lstStyle>
            <a:p>
              <a:pPr/>
              <a:r>
                <a:t>Lower gently to avoid splashing.</a:t>
              </a:r>
            </a:p>
          </p:txBody>
        </p:sp>
      </p:grpSp>
      <p:sp>
        <p:nvSpPr>
          <p:cNvPr id="184" name="wd2_bg"/>
          <p:cNvSpPr/>
          <p:nvPr/>
        </p:nvSpPr>
        <p:spPr>
          <a:xfrm>
            <a:off x="1170432" y="4370832"/>
            <a:ext cx="10472623" cy="841250"/>
          </a:xfrm>
          <a:prstGeom prst="roundRect">
            <a:avLst>
              <a:gd name="adj" fmla="val 10870"/>
            </a:avLst>
          </a:prstGeom>
          <a:solidFill>
            <a:srgbClr val="FFFFFF"/>
          </a:solidFill>
          <a:ln w="16510">
            <a:solidFill>
              <a:srgbClr val="D8DEEC"/>
            </a:solidFill>
          </a:ln>
        </p:spPr>
        <p:txBody>
          <a:bodyPr lIns="45718" tIns="45718" rIns="45718" bIns="45718"/>
          <a:lstStyle/>
          <a:p>
            <a:pPr/>
          </a:p>
        </p:txBody>
      </p:sp>
      <p:sp>
        <p:nvSpPr>
          <p:cNvPr id="185" name="wd2_q"/>
          <p:cNvSpPr txBox="1"/>
          <p:nvPr/>
        </p:nvSpPr>
        <p:spPr>
          <a:xfrm>
            <a:off x="1426462" y="4663244"/>
            <a:ext cx="6035044" cy="2564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nSpc>
                <a:spcPts val="2100"/>
              </a:lnSpc>
              <a:defRPr sz="1300">
                <a:solidFill>
                  <a:srgbClr val="0C2730"/>
                </a:solidFill>
                <a:latin typeface="Arial"/>
                <a:ea typeface="Arial"/>
                <a:cs typeface="Arial"/>
                <a:sym typeface="Arial"/>
              </a:defRPr>
            </a:lvl1pPr>
          </a:lstStyle>
          <a:p>
            <a:pPr/>
            <a:r>
              <a:t>“The stone is only partly underwater, but that is enough.”</a:t>
            </a:r>
          </a:p>
        </p:txBody>
      </p:sp>
      <p:grpSp>
        <p:nvGrpSpPr>
          <p:cNvPr id="188" name="wd2_a"/>
          <p:cNvGrpSpPr/>
          <p:nvPr/>
        </p:nvGrpSpPr>
        <p:grpSpPr>
          <a:xfrm>
            <a:off x="7662671" y="4462271"/>
            <a:ext cx="3888945" cy="658371"/>
            <a:chOff x="0" y="0"/>
            <a:chExt cx="3888944" cy="658370"/>
          </a:xfrm>
        </p:grpSpPr>
        <p:sp>
          <p:nvSpPr>
            <p:cNvPr id="186" name="Rounded Rectangle"/>
            <p:cNvSpPr/>
            <p:nvPr/>
          </p:nvSpPr>
          <p:spPr>
            <a:xfrm>
              <a:off x="0" y="-1"/>
              <a:ext cx="3888945" cy="658372"/>
            </a:xfrm>
            <a:prstGeom prst="roundRect">
              <a:avLst>
                <a:gd name="adj" fmla="val 13889"/>
              </a:avLst>
            </a:prstGeom>
            <a:solidFill>
              <a:srgbClr val="FFEEE4"/>
            </a:solidFill>
            <a:ln w="19050" cap="flat">
              <a:solidFill>
                <a:srgbClr val="D63447"/>
              </a:solidFill>
              <a:prstDash val="solid"/>
              <a:round/>
            </a:ln>
            <a:effectLst/>
          </p:spPr>
          <p:txBody>
            <a:bodyPr wrap="square" lIns="45718" tIns="45718" rIns="45718" bIns="45718" numCol="1" anchor="ctr">
              <a:noAutofit/>
            </a:bodyPr>
            <a:lstStyle/>
            <a:p>
              <a:pPr algn="ctr">
                <a:defRPr sz="1300"/>
              </a:pPr>
            </a:p>
          </p:txBody>
        </p:sp>
        <p:sp>
          <p:nvSpPr>
            <p:cNvPr id="187" name="Size does not decide density. A big block of foam is less dense than a small pebble."/>
            <p:cNvSpPr txBox="1"/>
            <p:nvPr/>
          </p:nvSpPr>
          <p:spPr>
            <a:xfrm>
              <a:off x="36307" y="140622"/>
              <a:ext cx="3816330" cy="37712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normAutofit fontScale="100000" lnSpcReduction="0"/>
            </a:bodyPr>
            <a:lstStyle>
              <a:lvl1pPr algn="ctr">
                <a:defRPr b="1" sz="1300">
                  <a:solidFill>
                    <a:srgbClr val="0B3D4C"/>
                  </a:solidFill>
                  <a:latin typeface="Arial"/>
                  <a:ea typeface="Arial"/>
                  <a:cs typeface="Arial"/>
                  <a:sym typeface="Arial"/>
                </a:defRPr>
              </a:lvl1pPr>
            </a:lstStyle>
            <a:p>
              <a:pPr/>
              <a:r>
                <a:t>The object must be fully submerged, or you only measure part of its volume.</a:t>
              </a:r>
            </a:p>
          </p:txBody>
        </p:sp>
      </p:grpSp>
      <p:sp>
        <p:nvSpPr>
          <p:cNvPr id="189" name="wd3_bg"/>
          <p:cNvSpPr/>
          <p:nvPr/>
        </p:nvSpPr>
        <p:spPr>
          <a:xfrm>
            <a:off x="1170432" y="5394959"/>
            <a:ext cx="10472623" cy="841250"/>
          </a:xfrm>
          <a:prstGeom prst="roundRect">
            <a:avLst>
              <a:gd name="adj" fmla="val 10870"/>
            </a:avLst>
          </a:prstGeom>
          <a:solidFill>
            <a:srgbClr val="FFFFFF"/>
          </a:solidFill>
          <a:ln w="16510">
            <a:solidFill>
              <a:srgbClr val="D8DEEC"/>
            </a:solidFill>
          </a:ln>
        </p:spPr>
        <p:txBody>
          <a:bodyPr lIns="45718" tIns="45718" rIns="45718" bIns="45718"/>
          <a:lstStyle/>
          <a:p>
            <a:pPr/>
          </a:p>
        </p:txBody>
      </p:sp>
      <p:sp>
        <p:nvSpPr>
          <p:cNvPr id="190" name="wd3_q"/>
          <p:cNvSpPr txBox="1"/>
          <p:nvPr/>
        </p:nvSpPr>
        <p:spPr>
          <a:xfrm>
            <a:off x="1426462" y="5687373"/>
            <a:ext cx="6035044" cy="25642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nSpc>
                <a:spcPts val="2100"/>
              </a:lnSpc>
              <a:defRPr sz="1300">
                <a:solidFill>
                  <a:srgbClr val="0C2730"/>
                </a:solidFill>
                <a:latin typeface="Arial"/>
                <a:ea typeface="Arial"/>
                <a:cs typeface="Arial"/>
                <a:sym typeface="Arial"/>
              </a:defRPr>
            </a:lvl1pPr>
          </a:lstStyle>
          <a:p>
            <a:pPr/>
            <a:r>
              <a:t>“I read the amount of displaced water from the Eureka can itself.”</a:t>
            </a:r>
          </a:p>
        </p:txBody>
      </p:sp>
      <p:grpSp>
        <p:nvGrpSpPr>
          <p:cNvPr id="193" name="wd3_a"/>
          <p:cNvGrpSpPr/>
          <p:nvPr/>
        </p:nvGrpSpPr>
        <p:grpSpPr>
          <a:xfrm>
            <a:off x="7662671" y="5486399"/>
            <a:ext cx="3888945" cy="658372"/>
            <a:chOff x="0" y="0"/>
            <a:chExt cx="3888944" cy="658370"/>
          </a:xfrm>
        </p:grpSpPr>
        <p:sp>
          <p:nvSpPr>
            <p:cNvPr id="191" name="Rounded Rectangle"/>
            <p:cNvSpPr/>
            <p:nvPr/>
          </p:nvSpPr>
          <p:spPr>
            <a:xfrm>
              <a:off x="0" y="-1"/>
              <a:ext cx="3888945" cy="658372"/>
            </a:xfrm>
            <a:prstGeom prst="roundRect">
              <a:avLst>
                <a:gd name="adj" fmla="val 13889"/>
              </a:avLst>
            </a:prstGeom>
            <a:solidFill>
              <a:srgbClr val="FFEEE4"/>
            </a:solidFill>
            <a:ln w="19050" cap="flat">
              <a:solidFill>
                <a:srgbClr val="D63447"/>
              </a:solidFill>
              <a:prstDash val="solid"/>
              <a:round/>
            </a:ln>
            <a:effectLst/>
          </p:spPr>
          <p:txBody>
            <a:bodyPr wrap="square" lIns="45718" tIns="45718" rIns="45718" bIns="45718" numCol="1" anchor="ctr">
              <a:noAutofit/>
            </a:bodyPr>
            <a:lstStyle/>
            <a:p>
              <a:pPr algn="ctr">
                <a:defRPr sz="1300"/>
              </a:pPr>
            </a:p>
          </p:txBody>
        </p:sp>
        <p:sp>
          <p:nvSpPr>
            <p:cNvPr id="192" name="Whether it sinks depends on density compared with the liquid, not on weight alone."/>
            <p:cNvSpPr txBox="1"/>
            <p:nvPr/>
          </p:nvSpPr>
          <p:spPr>
            <a:xfrm>
              <a:off x="36307" y="140622"/>
              <a:ext cx="3816330" cy="37712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normAutofit fontScale="100000" lnSpcReduction="0"/>
            </a:bodyPr>
            <a:lstStyle>
              <a:lvl1pPr algn="ctr">
                <a:defRPr b="1" sz="1300">
                  <a:solidFill>
                    <a:srgbClr val="0B3D4C"/>
                  </a:solidFill>
                  <a:latin typeface="Arial"/>
                  <a:ea typeface="Arial"/>
                  <a:cs typeface="Arial"/>
                  <a:sym typeface="Arial"/>
                </a:defRPr>
              </a:lvl1pPr>
            </a:lstStyle>
            <a:p>
              <a:pPr/>
              <a:r>
                <a:t>Collect the water, then measure its volume with a measuring cylinder.</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6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178"/>
                                        </p:tgtEl>
                                        <p:attrNameLst>
                                          <p:attrName>style.visibility</p:attrName>
                                        </p:attrNameLst>
                                      </p:cBhvr>
                                      <p:to>
                                        <p:strVal val="visible"/>
                                      </p:to>
                                    </p:set>
                                    <p:anim calcmode="lin" valueType="num">
                                      <p:cBhvr>
                                        <p:cTn id="11" dur="400" fill="hold"/>
                                        <p:tgtEl>
                                          <p:spTgt spid="178"/>
                                        </p:tgtEl>
                                        <p:attrNameLst>
                                          <p:attrName>ppt_w</p:attrName>
                                        </p:attrNameLst>
                                      </p:cBhvr>
                                      <p:tavLst>
                                        <p:tav tm="0">
                                          <p:val>
                                            <p:fltVal val="0"/>
                                          </p:val>
                                        </p:tav>
                                        <p:tav tm="100000">
                                          <p:val>
                                            <p:strVal val="#ppt_w"/>
                                          </p:val>
                                        </p:tav>
                                      </p:tavLst>
                                    </p:anim>
                                    <p:anim calcmode="lin" valueType="num">
                                      <p:cBhvr>
                                        <p:cTn id="12" dur="400" fill="hold"/>
                                        <p:tgtEl>
                                          <p:spTgt spid="178"/>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183"/>
                                        </p:tgtEl>
                                        <p:attrNameLst>
                                          <p:attrName>style.visibility</p:attrName>
                                        </p:attrNameLst>
                                      </p:cBhvr>
                                      <p:to>
                                        <p:strVal val="visible"/>
                                      </p:to>
                                    </p:set>
                                    <p:anim calcmode="lin" valueType="num">
                                      <p:cBhvr>
                                        <p:cTn id="17" dur="400" fill="hold"/>
                                        <p:tgtEl>
                                          <p:spTgt spid="183"/>
                                        </p:tgtEl>
                                        <p:attrNameLst>
                                          <p:attrName>ppt_w</p:attrName>
                                        </p:attrNameLst>
                                      </p:cBhvr>
                                      <p:tavLst>
                                        <p:tav tm="0">
                                          <p:val>
                                            <p:fltVal val="0"/>
                                          </p:val>
                                        </p:tav>
                                        <p:tav tm="100000">
                                          <p:val>
                                            <p:strVal val="#ppt_w"/>
                                          </p:val>
                                        </p:tav>
                                      </p:tavLst>
                                    </p:anim>
                                    <p:anim calcmode="lin" valueType="num">
                                      <p:cBhvr>
                                        <p:cTn id="18" dur="400" fill="hold"/>
                                        <p:tgtEl>
                                          <p:spTgt spid="183"/>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188"/>
                                        </p:tgtEl>
                                        <p:attrNameLst>
                                          <p:attrName>style.visibility</p:attrName>
                                        </p:attrNameLst>
                                      </p:cBhvr>
                                      <p:to>
                                        <p:strVal val="visible"/>
                                      </p:to>
                                    </p:set>
                                    <p:anim calcmode="lin" valueType="num">
                                      <p:cBhvr>
                                        <p:cTn id="23" dur="400" fill="hold"/>
                                        <p:tgtEl>
                                          <p:spTgt spid="188"/>
                                        </p:tgtEl>
                                        <p:attrNameLst>
                                          <p:attrName>ppt_w</p:attrName>
                                        </p:attrNameLst>
                                      </p:cBhvr>
                                      <p:tavLst>
                                        <p:tav tm="0">
                                          <p:val>
                                            <p:fltVal val="0"/>
                                          </p:val>
                                        </p:tav>
                                        <p:tav tm="100000">
                                          <p:val>
                                            <p:strVal val="#ppt_w"/>
                                          </p:val>
                                        </p:tav>
                                      </p:tavLst>
                                    </p:anim>
                                    <p:anim calcmode="lin" valueType="num">
                                      <p:cBhvr>
                                        <p:cTn id="24" dur="400" fill="hold"/>
                                        <p:tgtEl>
                                          <p:spTgt spid="188"/>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193"/>
                                        </p:tgtEl>
                                        <p:attrNameLst>
                                          <p:attrName>style.visibility</p:attrName>
                                        </p:attrNameLst>
                                      </p:cBhvr>
                                      <p:to>
                                        <p:strVal val="visible"/>
                                      </p:to>
                                    </p:set>
                                    <p:anim calcmode="lin" valueType="num">
                                      <p:cBhvr>
                                        <p:cTn id="29" dur="400" fill="hold"/>
                                        <p:tgtEl>
                                          <p:spTgt spid="193"/>
                                        </p:tgtEl>
                                        <p:attrNameLst>
                                          <p:attrName>ppt_w</p:attrName>
                                        </p:attrNameLst>
                                      </p:cBhvr>
                                      <p:tavLst>
                                        <p:tav tm="0">
                                          <p:val>
                                            <p:fltVal val="0"/>
                                          </p:val>
                                        </p:tav>
                                        <p:tav tm="100000">
                                          <p:val>
                                            <p:strVal val="#ppt_w"/>
                                          </p:val>
                                        </p:tav>
                                      </p:tavLst>
                                    </p:anim>
                                    <p:anim calcmode="lin" valueType="num">
                                      <p:cBhvr>
                                        <p:cTn id="30" dur="400" fill="hold"/>
                                        <p:tgtEl>
                                          <p:spTgt spid="193"/>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Class="mediacall" nodeType="clickEffect" presetSubtype="0" presetID="3" grpId="1" fill="hold">
                                  <p:stCondLst>
                                    <p:cond delay="0"/>
                                  </p:stCondLst>
                                  <p:childTnLst>
                                    <p:cmd type="call" cmd="stop">
                                      <p:cBhvr>
                                        <p:cTn id="34" dur="1000" fill="hold"/>
                                        <p:tgtEl>
                                          <p:spTgt spid="168"/>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5" fill="hold" display="0">
                  <p:stCondLst>
                    <p:cond delay="indefinite"/>
                  </p:stCondLst>
                </p:cTn>
                <p:tgtEl>
                  <p:spTgt spid="168"/>
                </p:tgtEl>
              </p:cMediaNode>
            </p:video>
            <p:seq concurrent="1" prevAc="none" nextAc="seek">
              <p:cTn id="36" evtFilter="cancelBubble" nodeType="interactiveSeq" restart="whenNotActive" fill="hold">
                <p:stCondLst>
                  <p:cond delay="0" evt="onClick">
                    <p:tgtEl>
                      <p:spTgt spid="168"/>
                    </p:tgtEl>
                  </p:cond>
                </p:stCondLst>
                <p:endSync delay="0" evt="end">
                  <p:rtn val="all"/>
                </p:endSync>
                <p:childTnLst>
                  <p:par>
                    <p:cTn id="37" fill="hold">
                      <p:stCondLst>
                        <p:cond delay="0"/>
                      </p:stCondLst>
                      <p:childTnLst>
                        <p:par>
                          <p:cTn id="38" fill="hold">
                            <p:stCondLst>
                              <p:cond delay="0"/>
                            </p:stCondLst>
                            <p:childTnLst>
                              <p:par>
                                <p:cTn id="39" presetClass="mediacall" nodeType="clickEffect" presetSubtype="0" presetID="2" fill="hold">
                                  <p:stCondLst>
                                    <p:cond delay="0"/>
                                  </p:stCondLst>
                                  <p:childTnLst>
                                    <p:cmd type="call" cmd="togglePause">
                                      <p:cBhvr>
                                        <p:cTn id="40" dur="1" fill="hold"/>
                                        <p:tgtEl>
                                          <p:spTgt spid="168"/>
                                        </p:tgtEl>
                                      </p:cBhvr>
                                    </p:cmd>
                                  </p:childTnLst>
                                </p:cTn>
                              </p:par>
                            </p:childTnLst>
                          </p:cTn>
                        </p:par>
                      </p:childTnLst>
                    </p:cTn>
                  </p:par>
                </p:childTnLst>
              </p:cTn>
              <p:nextCondLst>
                <p:cond delay="0" evt="onClick">
                  <p:tgtEl>
                    <p:spTgt spid="168"/>
                  </p:tgtEl>
                </p:cond>
              </p:nextCondLst>
            </p:seq>
          </p:childTnLst>
        </p:cTn>
      </p:par>
    </p:tnLst>
    <p:bldLst>
      <p:bldP build="whole" bldLvl="1" animBg="1" rev="0" advAuto="0" spid="193" grpId="5"/>
      <p:bldP build="whole" bldLvl="1" animBg="1" rev="0" advAuto="0" spid="178" grpId="2"/>
      <p:bldP build="whole" bldLvl="1" animBg="1" rev="0" advAuto="0" spid="188" grpId="4"/>
      <p:bldP build="whole" bldLvl="1" animBg="1" rev="0" advAuto="0" spid="183" grpId="3"/>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197"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200" name="phase_pill"/>
          <p:cNvGrpSpPr/>
          <p:nvPr/>
        </p:nvGrpSpPr>
        <p:grpSpPr>
          <a:xfrm>
            <a:off x="1170431" y="310894"/>
            <a:ext cx="2072033" cy="329188"/>
            <a:chOff x="0" y="0"/>
            <a:chExt cx="2072031" cy="329186"/>
          </a:xfrm>
        </p:grpSpPr>
        <p:sp>
          <p:nvSpPr>
            <p:cNvPr id="198" name="Rounded Rectangle"/>
            <p:cNvSpPr/>
            <p:nvPr/>
          </p:nvSpPr>
          <p:spPr>
            <a:xfrm>
              <a:off x="-1" y="-1"/>
              <a:ext cx="2072033" cy="329188"/>
            </a:xfrm>
            <a:prstGeom prst="roundRect">
              <a:avLst>
                <a:gd name="adj" fmla="val 44444"/>
              </a:avLst>
            </a:prstGeom>
            <a:solidFill>
              <a:srgbClr val="0B3D4C"/>
            </a:solidFill>
            <a:ln w="12700" cap="flat">
              <a:noFill/>
              <a:miter lim="400000"/>
            </a:ln>
            <a:effectLst/>
          </p:spPr>
          <p:txBody>
            <a:bodyPr wrap="square" lIns="45718" tIns="45718" rIns="45718" bIns="45718" numCol="1" anchor="ctr">
              <a:noAutofit/>
            </a:bodyPr>
            <a:lstStyle/>
            <a:p>
              <a:pPr algn="ctr">
                <a:defRPr sz="1100"/>
              </a:pPr>
            </a:p>
          </p:txBody>
        </p:sp>
        <p:sp>
          <p:nvSpPr>
            <p:cNvPr id="199" name="COLD CALL · 6 MIN"/>
            <p:cNvSpPr txBox="1"/>
            <p:nvPr/>
          </p:nvSpPr>
          <p:spPr>
            <a:xfrm>
              <a:off x="42850" y="90677"/>
              <a:ext cx="1986329"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gn="ctr">
                <a:defRPr b="1" spc="100" sz="1100">
                  <a:solidFill>
                    <a:srgbClr val="FFFFFF"/>
                  </a:solidFill>
                  <a:latin typeface="Arial"/>
                  <a:ea typeface="Arial"/>
                  <a:cs typeface="Arial"/>
                  <a:sym typeface="Arial"/>
                </a:defRPr>
              </a:lvl1pPr>
            </a:lstStyle>
            <a:p>
              <a:pPr/>
              <a:r>
                <a:t>COLD CALL · 6 MIN</a:t>
              </a:r>
            </a:p>
          </p:txBody>
        </p:sp>
      </p:grpSp>
      <p:sp>
        <p:nvSpPr>
          <p:cNvPr id="201" name="c0_bg"/>
          <p:cNvSpPr/>
          <p:nvPr/>
        </p:nvSpPr>
        <p:spPr>
          <a:xfrm>
            <a:off x="1170432" y="969263"/>
            <a:ext cx="5117442" cy="1389890"/>
          </a:xfrm>
          <a:prstGeom prst="roundRect">
            <a:avLst>
              <a:gd name="adj" fmla="val 6579"/>
            </a:avLst>
          </a:prstGeom>
          <a:solidFill>
            <a:srgbClr val="FFFFFF"/>
          </a:solidFill>
          <a:ln w="16510">
            <a:solidFill>
              <a:srgbClr val="D8DEEC"/>
            </a:solidFill>
          </a:ln>
        </p:spPr>
        <p:txBody>
          <a:bodyPr lIns="45718" tIns="45718" rIns="45718" bIns="45718"/>
          <a:lstStyle/>
          <a:p>
            <a:pPr/>
          </a:p>
        </p:txBody>
      </p:sp>
      <p:sp>
        <p:nvSpPr>
          <p:cNvPr id="202" name="c0_badge"/>
          <p:cNvSpPr/>
          <p:nvPr/>
        </p:nvSpPr>
        <p:spPr>
          <a:xfrm>
            <a:off x="1371600" y="1133855"/>
            <a:ext cx="384048" cy="384051"/>
          </a:xfrm>
          <a:prstGeom prst="ellipse">
            <a:avLst/>
          </a:prstGeom>
          <a:solidFill>
            <a:srgbClr val="FF8952"/>
          </a:solidFill>
          <a:ln w="12700">
            <a:solidFill>
              <a:srgbClr val="FF8952"/>
            </a:solidFill>
          </a:ln>
        </p:spPr>
        <p:txBody>
          <a:bodyPr lIns="45718" tIns="45718" rIns="45718" bIns="45718"/>
          <a:lstStyle/>
          <a:p>
            <a:pPr/>
          </a:p>
        </p:txBody>
      </p:sp>
      <p:sp>
        <p:nvSpPr>
          <p:cNvPr id="203" name="c0_num"/>
          <p:cNvSpPr txBox="1"/>
          <p:nvPr/>
        </p:nvSpPr>
        <p:spPr>
          <a:xfrm>
            <a:off x="1371600" y="122427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1</a:t>
            </a:r>
          </a:p>
        </p:txBody>
      </p:sp>
      <p:sp>
        <p:nvSpPr>
          <p:cNvPr id="204" name="c0_q"/>
          <p:cNvSpPr txBox="1"/>
          <p:nvPr/>
        </p:nvSpPr>
        <p:spPr>
          <a:xfrm>
            <a:off x="1901950" y="1170195"/>
            <a:ext cx="4184755" cy="2334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nSpc>
                <a:spcPts val="1900"/>
              </a:lnSpc>
              <a:defRPr sz="1300">
                <a:solidFill>
                  <a:srgbClr val="0C2730"/>
                </a:solidFill>
                <a:latin typeface="Arial"/>
                <a:ea typeface="Arial"/>
                <a:cs typeface="Arial"/>
                <a:sym typeface="Arial"/>
              </a:defRPr>
            </a:lvl1pPr>
          </a:lstStyle>
          <a:p>
            <a:pPr/>
            <a:r>
              <a:t>What does the volume of displaced water equal?</a:t>
            </a:r>
          </a:p>
        </p:txBody>
      </p:sp>
      <p:grpSp>
        <p:nvGrpSpPr>
          <p:cNvPr id="207" name="c0_a"/>
          <p:cNvGrpSpPr/>
          <p:nvPr/>
        </p:nvGrpSpPr>
        <p:grpSpPr>
          <a:xfrm>
            <a:off x="1371599" y="1810510"/>
            <a:ext cx="4715107" cy="402340"/>
            <a:chOff x="0" y="0"/>
            <a:chExt cx="4715105" cy="402338"/>
          </a:xfrm>
        </p:grpSpPr>
        <p:sp>
          <p:nvSpPr>
            <p:cNvPr id="205" name="Rounded Rectangle"/>
            <p:cNvSpPr/>
            <p:nvPr/>
          </p:nvSpPr>
          <p:spPr>
            <a:xfrm>
              <a:off x="-1" y="-1"/>
              <a:ext cx="4715107" cy="402340"/>
            </a:xfrm>
            <a:prstGeom prst="roundRect">
              <a:avLst>
                <a:gd name="adj" fmla="val 22727"/>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defRPr sz="1500"/>
              </a:pPr>
            </a:p>
          </p:txBody>
        </p:sp>
        <p:sp>
          <p:nvSpPr>
            <p:cNvPr id="206" name="Mass per unit volume."/>
            <p:cNvSpPr txBox="1"/>
            <p:nvPr/>
          </p:nvSpPr>
          <p:spPr>
            <a:xfrm>
              <a:off x="35037" y="95318"/>
              <a:ext cx="4645031" cy="211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normAutofit fontScale="100000" lnSpcReduction="0"/>
            </a:bodyPr>
            <a:lstStyle>
              <a:lvl1pPr>
                <a:defRPr b="1" sz="1500">
                  <a:solidFill>
                    <a:srgbClr val="0B3D4C"/>
                  </a:solidFill>
                  <a:latin typeface="Arial"/>
                  <a:ea typeface="Arial"/>
                  <a:cs typeface="Arial"/>
                  <a:sym typeface="Arial"/>
                </a:defRPr>
              </a:lvl1pPr>
            </a:lstStyle>
            <a:p>
              <a:pPr/>
              <a:r>
                <a:t>The object’s volume (when fully submerged).</a:t>
              </a:r>
            </a:p>
          </p:txBody>
        </p:sp>
      </p:grpSp>
      <p:sp>
        <p:nvSpPr>
          <p:cNvPr id="208" name="c1_bg"/>
          <p:cNvSpPr/>
          <p:nvPr/>
        </p:nvSpPr>
        <p:spPr>
          <a:xfrm>
            <a:off x="6525614" y="969263"/>
            <a:ext cx="5117442" cy="1389890"/>
          </a:xfrm>
          <a:prstGeom prst="roundRect">
            <a:avLst>
              <a:gd name="adj" fmla="val 6579"/>
            </a:avLst>
          </a:prstGeom>
          <a:solidFill>
            <a:srgbClr val="FFFFFF"/>
          </a:solidFill>
          <a:ln w="16510">
            <a:solidFill>
              <a:srgbClr val="D8DEEC"/>
            </a:solidFill>
          </a:ln>
        </p:spPr>
        <p:txBody>
          <a:bodyPr lIns="45718" tIns="45718" rIns="45718" bIns="45718"/>
          <a:lstStyle/>
          <a:p>
            <a:pPr/>
          </a:p>
        </p:txBody>
      </p:sp>
      <p:sp>
        <p:nvSpPr>
          <p:cNvPr id="209" name="c1_badge"/>
          <p:cNvSpPr/>
          <p:nvPr/>
        </p:nvSpPr>
        <p:spPr>
          <a:xfrm>
            <a:off x="6726783" y="1133855"/>
            <a:ext cx="384051" cy="384051"/>
          </a:xfrm>
          <a:prstGeom prst="ellipse">
            <a:avLst/>
          </a:prstGeom>
          <a:solidFill>
            <a:srgbClr val="FF8952"/>
          </a:solidFill>
          <a:ln w="12700">
            <a:solidFill>
              <a:srgbClr val="FF8952"/>
            </a:solidFill>
          </a:ln>
        </p:spPr>
        <p:txBody>
          <a:bodyPr lIns="45718" tIns="45718" rIns="45718" bIns="45718"/>
          <a:lstStyle/>
          <a:p>
            <a:pPr/>
          </a:p>
        </p:txBody>
      </p:sp>
      <p:sp>
        <p:nvSpPr>
          <p:cNvPr id="210" name="c1_num"/>
          <p:cNvSpPr txBox="1"/>
          <p:nvPr/>
        </p:nvSpPr>
        <p:spPr>
          <a:xfrm>
            <a:off x="6726783" y="1224278"/>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2</a:t>
            </a:r>
          </a:p>
        </p:txBody>
      </p:sp>
      <p:sp>
        <p:nvSpPr>
          <p:cNvPr id="211" name="c1_q"/>
          <p:cNvSpPr txBox="1"/>
          <p:nvPr/>
        </p:nvSpPr>
        <p:spPr>
          <a:xfrm>
            <a:off x="7257136" y="1170195"/>
            <a:ext cx="4184754" cy="2334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896111">
              <a:lnSpc>
                <a:spcPts val="1800"/>
              </a:lnSpc>
              <a:defRPr sz="1274">
                <a:solidFill>
                  <a:srgbClr val="0C2730"/>
                </a:solidFill>
                <a:latin typeface="Arial"/>
                <a:ea typeface="Arial"/>
                <a:cs typeface="Arial"/>
                <a:sym typeface="Arial"/>
              </a:defRPr>
            </a:lvl1pPr>
          </a:lstStyle>
          <a:p>
            <a:pPr/>
            <a:r>
              <a:t>What equipment measures the collected displaced water?</a:t>
            </a:r>
          </a:p>
        </p:txBody>
      </p:sp>
      <p:grpSp>
        <p:nvGrpSpPr>
          <p:cNvPr id="214" name="c1_a"/>
          <p:cNvGrpSpPr/>
          <p:nvPr/>
        </p:nvGrpSpPr>
        <p:grpSpPr>
          <a:xfrm>
            <a:off x="6726783" y="1810510"/>
            <a:ext cx="4715108" cy="402340"/>
            <a:chOff x="0" y="0"/>
            <a:chExt cx="4715106" cy="402338"/>
          </a:xfrm>
        </p:grpSpPr>
        <p:sp>
          <p:nvSpPr>
            <p:cNvPr id="212" name="Rounded Rectangle"/>
            <p:cNvSpPr/>
            <p:nvPr/>
          </p:nvSpPr>
          <p:spPr>
            <a:xfrm>
              <a:off x="0" y="-1"/>
              <a:ext cx="4715107" cy="402340"/>
            </a:xfrm>
            <a:prstGeom prst="roundRect">
              <a:avLst>
                <a:gd name="adj" fmla="val 22727"/>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defRPr sz="1500"/>
              </a:pPr>
            </a:p>
          </p:txBody>
        </p:sp>
        <p:sp>
          <p:nvSpPr>
            <p:cNvPr id="213" name="ρ = m ÷ V"/>
            <p:cNvSpPr txBox="1"/>
            <p:nvPr/>
          </p:nvSpPr>
          <p:spPr>
            <a:xfrm>
              <a:off x="35037" y="95318"/>
              <a:ext cx="4645032" cy="211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normAutofit fontScale="100000" lnSpcReduction="0"/>
            </a:bodyPr>
            <a:lstStyle>
              <a:lvl1pPr>
                <a:defRPr b="1" sz="1500">
                  <a:solidFill>
                    <a:srgbClr val="0B3D4C"/>
                  </a:solidFill>
                  <a:latin typeface="Arial"/>
                  <a:ea typeface="Arial"/>
                  <a:cs typeface="Arial"/>
                  <a:sym typeface="Arial"/>
                </a:defRPr>
              </a:lvl1pPr>
            </a:lstStyle>
            <a:p>
              <a:pPr/>
              <a:r>
                <a:t>A measuring cylinder.</a:t>
              </a:r>
            </a:p>
          </p:txBody>
        </p:sp>
      </p:grpSp>
      <p:sp>
        <p:nvSpPr>
          <p:cNvPr id="215" name="c2_bg"/>
          <p:cNvSpPr/>
          <p:nvPr/>
        </p:nvSpPr>
        <p:spPr>
          <a:xfrm>
            <a:off x="1170432" y="2560320"/>
            <a:ext cx="5117442" cy="1389890"/>
          </a:xfrm>
          <a:prstGeom prst="roundRect">
            <a:avLst>
              <a:gd name="adj" fmla="val 6579"/>
            </a:avLst>
          </a:prstGeom>
          <a:solidFill>
            <a:srgbClr val="FFFFFF"/>
          </a:solidFill>
          <a:ln w="16510">
            <a:solidFill>
              <a:srgbClr val="D8DEEC"/>
            </a:solidFill>
          </a:ln>
        </p:spPr>
        <p:txBody>
          <a:bodyPr lIns="45718" tIns="45718" rIns="45718" bIns="45718"/>
          <a:lstStyle/>
          <a:p>
            <a:pPr/>
          </a:p>
        </p:txBody>
      </p:sp>
      <p:sp>
        <p:nvSpPr>
          <p:cNvPr id="216" name="c2_badge"/>
          <p:cNvSpPr/>
          <p:nvPr/>
        </p:nvSpPr>
        <p:spPr>
          <a:xfrm>
            <a:off x="1371600" y="2724910"/>
            <a:ext cx="384048" cy="384052"/>
          </a:xfrm>
          <a:prstGeom prst="ellipse">
            <a:avLst/>
          </a:prstGeom>
          <a:solidFill>
            <a:srgbClr val="FF8952"/>
          </a:solidFill>
          <a:ln w="12700">
            <a:solidFill>
              <a:srgbClr val="FF8952"/>
            </a:solidFill>
          </a:ln>
        </p:spPr>
        <p:txBody>
          <a:bodyPr lIns="45718" tIns="45718" rIns="45718" bIns="45718"/>
          <a:lstStyle/>
          <a:p>
            <a:pPr/>
          </a:p>
        </p:txBody>
      </p:sp>
      <p:sp>
        <p:nvSpPr>
          <p:cNvPr id="217" name="c2_num"/>
          <p:cNvSpPr txBox="1"/>
          <p:nvPr/>
        </p:nvSpPr>
        <p:spPr>
          <a:xfrm>
            <a:off x="1371600" y="2815334"/>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3</a:t>
            </a:r>
          </a:p>
        </p:txBody>
      </p:sp>
      <p:sp>
        <p:nvSpPr>
          <p:cNvPr id="218" name="c2_q"/>
          <p:cNvSpPr txBox="1"/>
          <p:nvPr/>
        </p:nvSpPr>
        <p:spPr>
          <a:xfrm>
            <a:off x="1901950" y="2640601"/>
            <a:ext cx="418475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nSpc>
                <a:spcPts val="1900"/>
              </a:lnSpc>
              <a:defRPr sz="1200">
                <a:solidFill>
                  <a:srgbClr val="0C2730"/>
                </a:solidFill>
                <a:latin typeface="Arial"/>
                <a:ea typeface="Arial"/>
                <a:cs typeface="Arial"/>
                <a:sym typeface="Arial"/>
              </a:defRPr>
            </a:lvl1pPr>
          </a:lstStyle>
          <a:p>
            <a:pPr/>
            <a:r>
              <a:t>Why must the can be filled to the spout before starting?</a:t>
            </a:r>
          </a:p>
        </p:txBody>
      </p:sp>
      <p:grpSp>
        <p:nvGrpSpPr>
          <p:cNvPr id="221" name="c2_a"/>
          <p:cNvGrpSpPr/>
          <p:nvPr/>
        </p:nvGrpSpPr>
        <p:grpSpPr>
          <a:xfrm>
            <a:off x="1371599" y="3401567"/>
            <a:ext cx="4715107" cy="402339"/>
            <a:chOff x="0" y="0"/>
            <a:chExt cx="4715105" cy="402338"/>
          </a:xfrm>
        </p:grpSpPr>
        <p:sp>
          <p:nvSpPr>
            <p:cNvPr id="219" name="Rounded Rectangle"/>
            <p:cNvSpPr/>
            <p:nvPr/>
          </p:nvSpPr>
          <p:spPr>
            <a:xfrm>
              <a:off x="-1" y="-1"/>
              <a:ext cx="4715107" cy="402340"/>
            </a:xfrm>
            <a:prstGeom prst="roundRect">
              <a:avLst>
                <a:gd name="adj" fmla="val 22727"/>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defRPr sz="1500"/>
              </a:pPr>
            </a:p>
          </p:txBody>
        </p:sp>
        <p:sp>
          <p:nvSpPr>
            <p:cNvPr id="220" name="63 ÷ 9 = 7 g/cm³"/>
            <p:cNvSpPr txBox="1"/>
            <p:nvPr/>
          </p:nvSpPr>
          <p:spPr>
            <a:xfrm>
              <a:off x="35037" y="95318"/>
              <a:ext cx="4645031" cy="211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normAutofit fontScale="100000" lnSpcReduction="0"/>
            </a:bodyPr>
            <a:lstStyle>
              <a:lvl1pPr defTabSz="886968">
                <a:defRPr b="1" sz="1455">
                  <a:solidFill>
                    <a:srgbClr val="0B3D4C"/>
                  </a:solidFill>
                  <a:latin typeface="Arial"/>
                  <a:ea typeface="Arial"/>
                  <a:cs typeface="Arial"/>
                  <a:sym typeface="Arial"/>
                </a:defRPr>
              </a:lvl1pPr>
            </a:lstStyle>
            <a:p>
              <a:pPr/>
              <a:r>
                <a:t>So the starting level is known; extra water flows out.</a:t>
              </a:r>
            </a:p>
          </p:txBody>
        </p:sp>
      </p:grpSp>
      <p:sp>
        <p:nvSpPr>
          <p:cNvPr id="222" name="c3_bg"/>
          <p:cNvSpPr/>
          <p:nvPr/>
        </p:nvSpPr>
        <p:spPr>
          <a:xfrm>
            <a:off x="6525614" y="2560320"/>
            <a:ext cx="5117442" cy="1389890"/>
          </a:xfrm>
          <a:prstGeom prst="roundRect">
            <a:avLst>
              <a:gd name="adj" fmla="val 6579"/>
            </a:avLst>
          </a:prstGeom>
          <a:solidFill>
            <a:srgbClr val="FFFFFF"/>
          </a:solidFill>
          <a:ln w="16510">
            <a:solidFill>
              <a:srgbClr val="D8DEEC"/>
            </a:solidFill>
          </a:ln>
        </p:spPr>
        <p:txBody>
          <a:bodyPr lIns="45718" tIns="45718" rIns="45718" bIns="45718"/>
          <a:lstStyle/>
          <a:p>
            <a:pPr/>
          </a:p>
        </p:txBody>
      </p:sp>
      <p:sp>
        <p:nvSpPr>
          <p:cNvPr id="223" name="c3_badge"/>
          <p:cNvSpPr/>
          <p:nvPr/>
        </p:nvSpPr>
        <p:spPr>
          <a:xfrm>
            <a:off x="6726783" y="2724910"/>
            <a:ext cx="384051" cy="384052"/>
          </a:xfrm>
          <a:prstGeom prst="ellipse">
            <a:avLst/>
          </a:prstGeom>
          <a:solidFill>
            <a:srgbClr val="FF8952"/>
          </a:solidFill>
          <a:ln w="12700">
            <a:solidFill>
              <a:srgbClr val="FF8952"/>
            </a:solidFill>
          </a:ln>
        </p:spPr>
        <p:txBody>
          <a:bodyPr lIns="45718" tIns="45718" rIns="45718" bIns="45718"/>
          <a:lstStyle/>
          <a:p>
            <a:pPr/>
          </a:p>
        </p:txBody>
      </p:sp>
      <p:sp>
        <p:nvSpPr>
          <p:cNvPr id="224" name="c3_num"/>
          <p:cNvSpPr txBox="1"/>
          <p:nvPr/>
        </p:nvSpPr>
        <p:spPr>
          <a:xfrm>
            <a:off x="6726783" y="2815334"/>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4</a:t>
            </a:r>
          </a:p>
        </p:txBody>
      </p:sp>
      <p:sp>
        <p:nvSpPr>
          <p:cNvPr id="225" name="c3_q"/>
          <p:cNvSpPr txBox="1"/>
          <p:nvPr/>
        </p:nvSpPr>
        <p:spPr>
          <a:xfrm>
            <a:off x="7257136" y="2640601"/>
            <a:ext cx="4184754"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nSpc>
                <a:spcPts val="1900"/>
              </a:lnSpc>
              <a:defRPr sz="1300">
                <a:solidFill>
                  <a:srgbClr val="0C2730"/>
                </a:solidFill>
                <a:latin typeface="Arial"/>
                <a:ea typeface="Arial"/>
                <a:cs typeface="Arial"/>
                <a:sym typeface="Arial"/>
              </a:defRPr>
            </a:lvl1pPr>
          </a:lstStyle>
          <a:p>
            <a:pPr/>
            <a:r>
              <a:t>Give one reason for lowering the object slowly.</a:t>
            </a:r>
          </a:p>
        </p:txBody>
      </p:sp>
      <p:grpSp>
        <p:nvGrpSpPr>
          <p:cNvPr id="228" name="c3_a"/>
          <p:cNvGrpSpPr/>
          <p:nvPr/>
        </p:nvGrpSpPr>
        <p:grpSpPr>
          <a:xfrm>
            <a:off x="6726783" y="3401567"/>
            <a:ext cx="4715108" cy="402339"/>
            <a:chOff x="0" y="0"/>
            <a:chExt cx="4715106" cy="402338"/>
          </a:xfrm>
        </p:grpSpPr>
        <p:sp>
          <p:nvSpPr>
            <p:cNvPr id="226" name="Rounded Rectangle"/>
            <p:cNvSpPr/>
            <p:nvPr/>
          </p:nvSpPr>
          <p:spPr>
            <a:xfrm>
              <a:off x="0" y="-1"/>
              <a:ext cx="4715107" cy="402340"/>
            </a:xfrm>
            <a:prstGeom prst="roundRect">
              <a:avLst>
                <a:gd name="adj" fmla="val 22727"/>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defRPr sz="1500"/>
              </a:pPr>
            </a:p>
          </p:txBody>
        </p:sp>
        <p:sp>
          <p:nvSpPr>
            <p:cNvPr id="227" name="A measuring cylinder, by displacement."/>
            <p:cNvSpPr txBox="1"/>
            <p:nvPr/>
          </p:nvSpPr>
          <p:spPr>
            <a:xfrm>
              <a:off x="35037" y="95318"/>
              <a:ext cx="4645032" cy="211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normAutofit fontScale="100000" lnSpcReduction="0"/>
            </a:bodyPr>
            <a:lstStyle>
              <a:lvl1pPr defTabSz="877823">
                <a:defRPr b="1" sz="1440">
                  <a:solidFill>
                    <a:srgbClr val="0B3D4C"/>
                  </a:solidFill>
                  <a:latin typeface="Arial"/>
                  <a:ea typeface="Arial"/>
                  <a:cs typeface="Arial"/>
                  <a:sym typeface="Arial"/>
                </a:defRPr>
              </a:lvl1pPr>
            </a:lstStyle>
            <a:p>
              <a:pPr/>
              <a:r>
                <a:t>To avoid splashing and losing some displaced water.</a:t>
              </a:r>
            </a:p>
          </p:txBody>
        </p:sp>
      </p:grpSp>
      <p:sp>
        <p:nvSpPr>
          <p:cNvPr id="229" name="c4_bg"/>
          <p:cNvSpPr/>
          <p:nvPr/>
        </p:nvSpPr>
        <p:spPr>
          <a:xfrm>
            <a:off x="1170432" y="4151376"/>
            <a:ext cx="5117442" cy="1389890"/>
          </a:xfrm>
          <a:prstGeom prst="roundRect">
            <a:avLst>
              <a:gd name="adj" fmla="val 6579"/>
            </a:avLst>
          </a:prstGeom>
          <a:solidFill>
            <a:srgbClr val="FFFFFF"/>
          </a:solidFill>
          <a:ln w="16510">
            <a:solidFill>
              <a:srgbClr val="D8DEEC"/>
            </a:solidFill>
          </a:ln>
        </p:spPr>
        <p:txBody>
          <a:bodyPr lIns="45718" tIns="45718" rIns="45718" bIns="45718"/>
          <a:lstStyle/>
          <a:p>
            <a:pPr/>
          </a:p>
        </p:txBody>
      </p:sp>
      <p:sp>
        <p:nvSpPr>
          <p:cNvPr id="230" name="c4_badge"/>
          <p:cNvSpPr/>
          <p:nvPr/>
        </p:nvSpPr>
        <p:spPr>
          <a:xfrm>
            <a:off x="1371600" y="4315967"/>
            <a:ext cx="384048" cy="384051"/>
          </a:xfrm>
          <a:prstGeom prst="ellipse">
            <a:avLst/>
          </a:prstGeom>
          <a:solidFill>
            <a:srgbClr val="FF8952"/>
          </a:solidFill>
          <a:ln w="12700">
            <a:solidFill>
              <a:srgbClr val="FF8952"/>
            </a:solidFill>
          </a:ln>
        </p:spPr>
        <p:txBody>
          <a:bodyPr lIns="45718" tIns="45718" rIns="45718" bIns="45718"/>
          <a:lstStyle/>
          <a:p>
            <a:pPr/>
          </a:p>
        </p:txBody>
      </p:sp>
      <p:sp>
        <p:nvSpPr>
          <p:cNvPr id="231" name="c4_num"/>
          <p:cNvSpPr txBox="1"/>
          <p:nvPr/>
        </p:nvSpPr>
        <p:spPr>
          <a:xfrm>
            <a:off x="1371600" y="4406391"/>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5</a:t>
            </a:r>
          </a:p>
        </p:txBody>
      </p:sp>
      <p:sp>
        <p:nvSpPr>
          <p:cNvPr id="232" name="c4_q"/>
          <p:cNvSpPr txBox="1"/>
          <p:nvPr/>
        </p:nvSpPr>
        <p:spPr>
          <a:xfrm>
            <a:off x="1901950" y="4297680"/>
            <a:ext cx="418475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nSpc>
                <a:spcPts val="1900"/>
              </a:lnSpc>
              <a:defRPr sz="1200">
                <a:solidFill>
                  <a:srgbClr val="0C2730"/>
                </a:solidFill>
                <a:latin typeface="Arial"/>
                <a:ea typeface="Arial"/>
                <a:cs typeface="Arial"/>
                <a:sym typeface="Arial"/>
              </a:defRPr>
            </a:lvl1pPr>
          </a:lstStyle>
          <a:p>
            <a:pPr/>
            <a:r>
              <a:t>What must be true about the object before you use its displaced-water volume?</a:t>
            </a:r>
          </a:p>
        </p:txBody>
      </p:sp>
      <p:grpSp>
        <p:nvGrpSpPr>
          <p:cNvPr id="235" name="c4_a"/>
          <p:cNvGrpSpPr/>
          <p:nvPr/>
        </p:nvGrpSpPr>
        <p:grpSpPr>
          <a:xfrm>
            <a:off x="1371599" y="4992623"/>
            <a:ext cx="4715107" cy="402339"/>
            <a:chOff x="0" y="0"/>
            <a:chExt cx="4715105" cy="402338"/>
          </a:xfrm>
        </p:grpSpPr>
        <p:sp>
          <p:nvSpPr>
            <p:cNvPr id="233" name="Rounded Rectangle"/>
            <p:cNvSpPr/>
            <p:nvPr/>
          </p:nvSpPr>
          <p:spPr>
            <a:xfrm>
              <a:off x="-1" y="-1"/>
              <a:ext cx="4715107" cy="402340"/>
            </a:xfrm>
            <a:prstGeom prst="roundRect">
              <a:avLst>
                <a:gd name="adj" fmla="val 22727"/>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defRPr sz="1500"/>
              </a:pPr>
            </a:p>
          </p:txBody>
        </p:sp>
        <p:sp>
          <p:nvSpPr>
            <p:cNvPr id="234" name="Its density compared with the liquid's density."/>
            <p:cNvSpPr txBox="1"/>
            <p:nvPr/>
          </p:nvSpPr>
          <p:spPr>
            <a:xfrm>
              <a:off x="35037" y="95318"/>
              <a:ext cx="4645031" cy="211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normAutofit fontScale="100000" lnSpcReduction="0"/>
            </a:bodyPr>
            <a:lstStyle>
              <a:lvl1pPr>
                <a:defRPr b="1" sz="1500">
                  <a:solidFill>
                    <a:srgbClr val="0B3D4C"/>
                  </a:solidFill>
                  <a:latin typeface="Arial"/>
                  <a:ea typeface="Arial"/>
                  <a:cs typeface="Arial"/>
                  <a:sym typeface="Arial"/>
                </a:defRPr>
              </a:lvl1pPr>
            </a:lstStyle>
            <a:p>
              <a:pPr/>
              <a:r>
                <a:t>It must be fully submerged.</a:t>
              </a:r>
            </a:p>
          </p:txBody>
        </p:sp>
      </p:grpSp>
      <p:sp>
        <p:nvSpPr>
          <p:cNvPr id="236" name="c5_bg"/>
          <p:cNvSpPr/>
          <p:nvPr/>
        </p:nvSpPr>
        <p:spPr>
          <a:xfrm>
            <a:off x="6525614" y="4151376"/>
            <a:ext cx="5117442" cy="1389890"/>
          </a:xfrm>
          <a:prstGeom prst="roundRect">
            <a:avLst>
              <a:gd name="adj" fmla="val 6579"/>
            </a:avLst>
          </a:prstGeom>
          <a:solidFill>
            <a:srgbClr val="FFFFFF"/>
          </a:solidFill>
          <a:ln w="16510">
            <a:solidFill>
              <a:srgbClr val="D8DEEC"/>
            </a:solidFill>
          </a:ln>
        </p:spPr>
        <p:txBody>
          <a:bodyPr lIns="45718" tIns="45718" rIns="45718" bIns="45718"/>
          <a:lstStyle/>
          <a:p>
            <a:pPr/>
          </a:p>
        </p:txBody>
      </p:sp>
      <p:sp>
        <p:nvSpPr>
          <p:cNvPr id="237" name="c5_badge"/>
          <p:cNvSpPr/>
          <p:nvPr/>
        </p:nvSpPr>
        <p:spPr>
          <a:xfrm>
            <a:off x="6726783" y="4315967"/>
            <a:ext cx="384051" cy="384051"/>
          </a:xfrm>
          <a:prstGeom prst="ellipse">
            <a:avLst/>
          </a:prstGeom>
          <a:solidFill>
            <a:srgbClr val="FF8952"/>
          </a:solidFill>
          <a:ln w="12700">
            <a:solidFill>
              <a:srgbClr val="FF8952"/>
            </a:solidFill>
          </a:ln>
        </p:spPr>
        <p:txBody>
          <a:bodyPr lIns="45718" tIns="45718" rIns="45718" bIns="45718"/>
          <a:lstStyle/>
          <a:p>
            <a:pPr/>
          </a:p>
        </p:txBody>
      </p:sp>
      <p:sp>
        <p:nvSpPr>
          <p:cNvPr id="238" name="c5_num"/>
          <p:cNvSpPr txBox="1"/>
          <p:nvPr/>
        </p:nvSpPr>
        <p:spPr>
          <a:xfrm>
            <a:off x="6726783" y="4406391"/>
            <a:ext cx="38405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6</a:t>
            </a:r>
          </a:p>
        </p:txBody>
      </p:sp>
      <p:sp>
        <p:nvSpPr>
          <p:cNvPr id="239" name="c5_q"/>
          <p:cNvSpPr txBox="1"/>
          <p:nvPr/>
        </p:nvSpPr>
        <p:spPr>
          <a:xfrm>
            <a:off x="7257136" y="4270637"/>
            <a:ext cx="4184754"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nSpc>
                <a:spcPts val="1900"/>
              </a:lnSpc>
              <a:defRPr sz="1200">
                <a:solidFill>
                  <a:srgbClr val="0C2730"/>
                </a:solidFill>
                <a:latin typeface="Arial"/>
                <a:ea typeface="Arial"/>
                <a:cs typeface="Arial"/>
                <a:sym typeface="Arial"/>
              </a:defRPr>
            </a:lvl1pPr>
          </a:lstStyle>
          <a:p>
            <a:pPr/>
            <a:r>
              <a:t>A stone has mass 45 g and displaces 18 cm³. Find its density.</a:t>
            </a:r>
          </a:p>
        </p:txBody>
      </p:sp>
      <p:grpSp>
        <p:nvGrpSpPr>
          <p:cNvPr id="242" name="c5_a"/>
          <p:cNvGrpSpPr/>
          <p:nvPr/>
        </p:nvGrpSpPr>
        <p:grpSpPr>
          <a:xfrm>
            <a:off x="6726783" y="4992623"/>
            <a:ext cx="4715108" cy="402339"/>
            <a:chOff x="0" y="0"/>
            <a:chExt cx="4715106" cy="402338"/>
          </a:xfrm>
        </p:grpSpPr>
        <p:sp>
          <p:nvSpPr>
            <p:cNvPr id="240" name="Rounded Rectangle"/>
            <p:cNvSpPr/>
            <p:nvPr/>
          </p:nvSpPr>
          <p:spPr>
            <a:xfrm>
              <a:off x="0" y="-1"/>
              <a:ext cx="4715107" cy="402340"/>
            </a:xfrm>
            <a:prstGeom prst="roundRect">
              <a:avLst>
                <a:gd name="adj" fmla="val 22727"/>
              </a:avLst>
            </a:prstGeom>
            <a:solidFill>
              <a:srgbClr val="FFEEE4"/>
            </a:solidFill>
            <a:ln w="16510" cap="flat">
              <a:solidFill>
                <a:srgbClr val="FF8952"/>
              </a:solidFill>
              <a:prstDash val="solid"/>
              <a:round/>
            </a:ln>
            <a:effectLst/>
          </p:spPr>
          <p:txBody>
            <a:bodyPr wrap="square" lIns="45718" tIns="45718" rIns="45718" bIns="45718" numCol="1" anchor="ctr">
              <a:noAutofit/>
            </a:bodyPr>
            <a:lstStyle/>
            <a:p>
              <a:pPr>
                <a:defRPr sz="1500"/>
              </a:pPr>
            </a:p>
          </p:txBody>
        </p:sp>
        <p:sp>
          <p:nvSpPr>
            <p:cNvPr id="241" name="66 − 50 = 16 cm³"/>
            <p:cNvSpPr txBox="1"/>
            <p:nvPr/>
          </p:nvSpPr>
          <p:spPr>
            <a:xfrm>
              <a:off x="35037" y="95318"/>
              <a:ext cx="4645032" cy="211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normAutofit fontScale="100000" lnSpcReduction="0"/>
            </a:bodyPr>
            <a:lstStyle>
              <a:lvl1pPr>
                <a:defRPr b="1" sz="1500">
                  <a:solidFill>
                    <a:srgbClr val="0B3D4C"/>
                  </a:solidFill>
                  <a:latin typeface="Arial"/>
                  <a:ea typeface="Arial"/>
                  <a:cs typeface="Arial"/>
                  <a:sym typeface="Arial"/>
                </a:defRPr>
              </a:lvl1pPr>
            </a:lstStyle>
            <a:p>
              <a:pPr/>
              <a:r>
                <a:t>45 ÷ 18 = 2.5 g/cm³</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197"/>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07"/>
                                        </p:tgtEl>
                                        <p:attrNameLst>
                                          <p:attrName>style.visibility</p:attrName>
                                        </p:attrNameLst>
                                      </p:cBhvr>
                                      <p:to>
                                        <p:strVal val="visible"/>
                                      </p:to>
                                    </p:set>
                                    <p:animEffect filter="wipe(left)" transition="in">
                                      <p:cBhvr>
                                        <p:cTn id="11" dur="400"/>
                                        <p:tgtEl>
                                          <p:spTgt spid="20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14"/>
                                        </p:tgtEl>
                                        <p:attrNameLst>
                                          <p:attrName>style.visibility</p:attrName>
                                        </p:attrNameLst>
                                      </p:cBhvr>
                                      <p:to>
                                        <p:strVal val="visible"/>
                                      </p:to>
                                    </p:set>
                                    <p:animEffect filter="wipe(left)" transition="in">
                                      <p:cBhvr>
                                        <p:cTn id="16" dur="400"/>
                                        <p:tgtEl>
                                          <p:spTgt spid="214"/>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21"/>
                                        </p:tgtEl>
                                        <p:attrNameLst>
                                          <p:attrName>style.visibility</p:attrName>
                                        </p:attrNameLst>
                                      </p:cBhvr>
                                      <p:to>
                                        <p:strVal val="visible"/>
                                      </p:to>
                                    </p:set>
                                    <p:animEffect filter="wipe(left)" transition="in">
                                      <p:cBhvr>
                                        <p:cTn id="21" dur="400"/>
                                        <p:tgtEl>
                                          <p:spTgt spid="22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28"/>
                                        </p:tgtEl>
                                        <p:attrNameLst>
                                          <p:attrName>style.visibility</p:attrName>
                                        </p:attrNameLst>
                                      </p:cBhvr>
                                      <p:to>
                                        <p:strVal val="visible"/>
                                      </p:to>
                                    </p:set>
                                    <p:animEffect filter="wipe(left)" transition="in">
                                      <p:cBhvr>
                                        <p:cTn id="26" dur="400"/>
                                        <p:tgtEl>
                                          <p:spTgt spid="228"/>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35"/>
                                        </p:tgtEl>
                                        <p:attrNameLst>
                                          <p:attrName>style.visibility</p:attrName>
                                        </p:attrNameLst>
                                      </p:cBhvr>
                                      <p:to>
                                        <p:strVal val="visible"/>
                                      </p:to>
                                    </p:set>
                                    <p:animEffect filter="wipe(left)" transition="in">
                                      <p:cBhvr>
                                        <p:cTn id="31" dur="400"/>
                                        <p:tgtEl>
                                          <p:spTgt spid="235"/>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42"/>
                                        </p:tgtEl>
                                        <p:attrNameLst>
                                          <p:attrName>style.visibility</p:attrName>
                                        </p:attrNameLst>
                                      </p:cBhvr>
                                      <p:to>
                                        <p:strVal val="visible"/>
                                      </p:to>
                                    </p:set>
                                    <p:animEffect filter="wipe(left)" transition="in">
                                      <p:cBhvr>
                                        <p:cTn id="36" dur="400"/>
                                        <p:tgtEl>
                                          <p:spTgt spid="242"/>
                                        </p:tgtEl>
                                      </p:cBhvr>
                                    </p:animEffect>
                                  </p:childTnLst>
                                </p:cTn>
                              </p:par>
                            </p:childTnLst>
                          </p:cTn>
                        </p:par>
                      </p:childTnLst>
                    </p:cTn>
                  </p:par>
                  <p:par>
                    <p:cTn id="37" fill="hold">
                      <p:stCondLst>
                        <p:cond delay="indefinite"/>
                      </p:stCondLst>
                      <p:childTnLst>
                        <p:par>
                          <p:cTn id="38" fill="hold">
                            <p:stCondLst>
                              <p:cond delay="0"/>
                            </p:stCondLst>
                            <p:childTnLst>
                              <p:par>
                                <p:cTn id="39" presetClass="mediacall" nodeType="clickEffect" presetSubtype="0" presetID="3" grpId="1" fill="hold">
                                  <p:stCondLst>
                                    <p:cond delay="0"/>
                                  </p:stCondLst>
                                  <p:childTnLst>
                                    <p:cmd type="call" cmd="stop">
                                      <p:cBhvr>
                                        <p:cTn id="40" dur="1000" fill="hold"/>
                                        <p:tgtEl>
                                          <p:spTgt spid="197"/>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41" fill="hold" display="0">
                  <p:stCondLst>
                    <p:cond delay="indefinite"/>
                  </p:stCondLst>
                </p:cTn>
                <p:tgtEl>
                  <p:spTgt spid="197"/>
                </p:tgtEl>
              </p:cMediaNode>
            </p:video>
            <p:seq concurrent="1" prevAc="none" nextAc="seek">
              <p:cTn id="42" evtFilter="cancelBubble" nodeType="interactiveSeq" restart="whenNotActive" fill="hold">
                <p:stCondLst>
                  <p:cond delay="0" evt="onClick">
                    <p:tgtEl>
                      <p:spTgt spid="197"/>
                    </p:tgtEl>
                  </p:cond>
                </p:stCondLst>
                <p:endSync delay="0" evt="end">
                  <p:rtn val="all"/>
                </p:endSync>
                <p:childTnLst>
                  <p:par>
                    <p:cTn id="43" fill="hold">
                      <p:stCondLst>
                        <p:cond delay="0"/>
                      </p:stCondLst>
                      <p:childTnLst>
                        <p:par>
                          <p:cTn id="44" fill="hold">
                            <p:stCondLst>
                              <p:cond delay="0"/>
                            </p:stCondLst>
                            <p:childTnLst>
                              <p:par>
                                <p:cTn id="45" presetClass="mediacall" nodeType="clickEffect" presetSubtype="0" presetID="2" fill="hold">
                                  <p:stCondLst>
                                    <p:cond delay="0"/>
                                  </p:stCondLst>
                                  <p:childTnLst>
                                    <p:cmd type="call" cmd="togglePause">
                                      <p:cBhvr>
                                        <p:cTn id="46" dur="1" fill="hold"/>
                                        <p:tgtEl>
                                          <p:spTgt spid="197"/>
                                        </p:tgtEl>
                                      </p:cBhvr>
                                    </p:cmd>
                                  </p:childTnLst>
                                </p:cTn>
                              </p:par>
                            </p:childTnLst>
                          </p:cTn>
                        </p:par>
                      </p:childTnLst>
                    </p:cTn>
                  </p:par>
                </p:childTnLst>
              </p:cTn>
              <p:nextCondLst>
                <p:cond delay="0" evt="onClick">
                  <p:tgtEl>
                    <p:spTgt spid="197"/>
                  </p:tgtEl>
                </p:cond>
              </p:nextCondLst>
            </p:seq>
          </p:childTnLst>
        </p:cTn>
      </p:par>
    </p:tnLst>
    <p:bldLst>
      <p:bldP build="whole" bldLvl="1" animBg="1" rev="0" advAuto="0" spid="221" grpId="4"/>
      <p:bldP build="whole" bldLvl="1" animBg="1" rev="0" advAuto="0" spid="207" grpId="2"/>
      <p:bldP build="whole" bldLvl="1" animBg="1" rev="0" advAuto="0" spid="242" grpId="7"/>
      <p:bldP build="whole" bldLvl="1" animBg="1" rev="0" advAuto="0" spid="214" grpId="3"/>
      <p:bldP build="whole" bldLvl="1" animBg="1" rev="0" advAuto="0" spid="228" grpId="5"/>
      <p:bldP build="whole" bldLvl="1" animBg="1" rev="0" advAuto="0" spid="235" grpId="6"/>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24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249" name="phase_pill"/>
          <p:cNvGrpSpPr/>
          <p:nvPr/>
        </p:nvGrpSpPr>
        <p:grpSpPr>
          <a:xfrm>
            <a:off x="1170432" y="310894"/>
            <a:ext cx="1892809" cy="329188"/>
            <a:chOff x="0" y="0"/>
            <a:chExt cx="1892808" cy="329186"/>
          </a:xfrm>
        </p:grpSpPr>
        <p:sp>
          <p:nvSpPr>
            <p:cNvPr id="247" name="Rounded Rectangle"/>
            <p:cNvSpPr/>
            <p:nvPr/>
          </p:nvSpPr>
          <p:spPr>
            <a:xfrm>
              <a:off x="0" y="-1"/>
              <a:ext cx="1892809" cy="329188"/>
            </a:xfrm>
            <a:prstGeom prst="roundRect">
              <a:avLst>
                <a:gd name="adj" fmla="val 44444"/>
              </a:avLst>
            </a:prstGeom>
            <a:solidFill>
              <a:srgbClr val="0B3D4C"/>
            </a:solidFill>
            <a:ln w="12700" cap="flat">
              <a:noFill/>
              <a:miter lim="400000"/>
            </a:ln>
            <a:effectLst/>
          </p:spPr>
          <p:txBody>
            <a:bodyPr wrap="square" lIns="45718" tIns="45718" rIns="45718" bIns="45718" numCol="1" anchor="ctr">
              <a:noAutofit/>
            </a:bodyPr>
            <a:lstStyle/>
            <a:p>
              <a:pPr algn="ctr">
                <a:defRPr sz="1100"/>
              </a:pPr>
            </a:p>
          </p:txBody>
        </p:sp>
        <p:sp>
          <p:nvSpPr>
            <p:cNvPr id="248" name="YOU DO · 14 MIN"/>
            <p:cNvSpPr txBox="1"/>
            <p:nvPr/>
          </p:nvSpPr>
          <p:spPr>
            <a:xfrm>
              <a:off x="42850" y="90677"/>
              <a:ext cx="1807107"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gn="ctr">
                <a:defRPr b="1" spc="100" sz="1100">
                  <a:solidFill>
                    <a:srgbClr val="FFFFFF"/>
                  </a:solidFill>
                  <a:latin typeface="Arial"/>
                  <a:ea typeface="Arial"/>
                  <a:cs typeface="Arial"/>
                  <a:sym typeface="Arial"/>
                </a:defRPr>
              </a:lvl1pPr>
            </a:lstStyle>
            <a:p>
              <a:pPr/>
              <a:r>
                <a:t>YOU DO · 18 MIN</a:t>
              </a:r>
            </a:p>
          </p:txBody>
        </p:sp>
      </p:grpSp>
      <p:sp>
        <p:nvSpPr>
          <p:cNvPr id="250" name="slide_title"/>
          <p:cNvSpPr txBox="1"/>
          <p:nvPr/>
        </p:nvSpPr>
        <p:spPr>
          <a:xfrm>
            <a:off x="1170432" y="1082946"/>
            <a:ext cx="8643823" cy="44929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896111">
              <a:lnSpc>
                <a:spcPts val="3500"/>
              </a:lnSpc>
              <a:defRPr b="1" sz="2940">
                <a:solidFill>
                  <a:srgbClr val="0B3D4C"/>
                </a:solidFill>
                <a:latin typeface="Georgia"/>
                <a:ea typeface="Georgia"/>
                <a:cs typeface="Georgia"/>
                <a:sym typeface="Georgia"/>
              </a:defRPr>
            </a:lvl1pPr>
          </a:lstStyle>
          <a:p>
            <a:pPr/>
            <a:r>
              <a:t>Eureka can practical</a:t>
            </a:r>
          </a:p>
        </p:txBody>
      </p:sp>
      <p:sp>
        <p:nvSpPr>
          <p:cNvPr id="251" name="slide_sub"/>
          <p:cNvSpPr txBox="1"/>
          <p:nvPr/>
        </p:nvSpPr>
        <p:spPr>
          <a:xfrm>
            <a:off x="1170432" y="1924786"/>
            <a:ext cx="8643823" cy="24693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886968">
              <a:defRPr b="1" sz="1649">
                <a:solidFill>
                  <a:srgbClr val="D63447"/>
                </a:solidFill>
                <a:latin typeface="Arial"/>
                <a:ea typeface="Arial"/>
                <a:cs typeface="Arial"/>
                <a:sym typeface="Arial"/>
              </a:defRPr>
            </a:lvl1pPr>
          </a:lstStyle>
          <a:p>
            <a:pPr/>
            <a:r>
              <a:t>Work in pairs. Record results neatly.</a:t>
            </a:r>
          </a:p>
        </p:txBody>
      </p:sp>
      <p:grpSp>
        <p:nvGrpSpPr>
          <p:cNvPr id="256" name="t0"/>
          <p:cNvGrpSpPr/>
          <p:nvPr/>
        </p:nvGrpSpPr>
        <p:grpSpPr>
          <a:xfrm>
            <a:off x="1170431" y="2322576"/>
            <a:ext cx="3307996" cy="1828802"/>
            <a:chOff x="0" y="0"/>
            <a:chExt cx="3307994" cy="1828800"/>
          </a:xfrm>
        </p:grpSpPr>
        <p:sp>
          <p:nvSpPr>
            <p:cNvPr id="252" name="t0_bg"/>
            <p:cNvSpPr/>
            <p:nvPr/>
          </p:nvSpPr>
          <p:spPr>
            <a:xfrm>
              <a:off x="-1" y="0"/>
              <a:ext cx="3307996" cy="1828801"/>
            </a:xfrm>
            <a:prstGeom prst="roundRect">
              <a:avLst>
                <a:gd name="adj" fmla="val 5000"/>
              </a:avLst>
            </a:prstGeom>
            <a:solidFill>
              <a:srgbClr val="FFEBE4"/>
            </a:solidFill>
            <a:ln w="20320" cap="flat">
              <a:solidFill>
                <a:srgbClr val="D63447"/>
              </a:solidFill>
              <a:prstDash val="solid"/>
              <a:round/>
            </a:ln>
            <a:effectLst/>
          </p:spPr>
          <p:txBody>
            <a:bodyPr wrap="square" lIns="45718" tIns="45718" rIns="45718" bIns="45718" numCol="1" anchor="t">
              <a:noAutofit/>
            </a:bodyPr>
            <a:lstStyle/>
            <a:p>
              <a:pPr/>
            </a:p>
          </p:txBody>
        </p:sp>
        <p:sp>
          <p:nvSpPr>
            <p:cNvPr id="253" name="t0_h"/>
            <p:cNvSpPr txBox="1"/>
            <p:nvPr/>
          </p:nvSpPr>
          <p:spPr>
            <a:xfrm>
              <a:off x="237744" y="242638"/>
              <a:ext cx="2832507"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b="1" spc="100" sz="1500">
                  <a:solidFill>
                    <a:srgbClr val="D63447"/>
                  </a:solidFill>
                  <a:latin typeface="Arial"/>
                  <a:ea typeface="Arial"/>
                  <a:cs typeface="Arial"/>
                  <a:sym typeface="Arial"/>
                </a:defRPr>
              </a:lvl1pPr>
            </a:lstStyle>
            <a:p>
              <a:pPr/>
              <a:r>
                <a:t>SET UP</a:t>
              </a:r>
            </a:p>
          </p:txBody>
        </p:sp>
        <p:sp>
          <p:nvSpPr>
            <p:cNvPr id="254" name="t0_s"/>
            <p:cNvSpPr txBox="1"/>
            <p:nvPr/>
          </p:nvSpPr>
          <p:spPr>
            <a:xfrm>
              <a:off x="237744" y="571475"/>
              <a:ext cx="2832507" cy="2469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defTabSz="886968">
                <a:defRPr b="1" sz="1649">
                  <a:solidFill>
                    <a:srgbClr val="0B3D4C"/>
                  </a:solidFill>
                  <a:latin typeface="Arial"/>
                  <a:ea typeface="Arial"/>
                  <a:cs typeface="Arial"/>
                  <a:sym typeface="Arial"/>
                </a:defRPr>
              </a:lvl1pPr>
            </a:lstStyle>
            <a:p>
              <a:pPr/>
              <a:r>
                <a:t>Apparatus</a:t>
              </a:r>
            </a:p>
          </p:txBody>
        </p:sp>
        <p:sp>
          <p:nvSpPr>
            <p:cNvPr id="255" name="t0_b"/>
            <p:cNvSpPr txBox="1"/>
            <p:nvPr/>
          </p:nvSpPr>
          <p:spPr>
            <a:xfrm>
              <a:off x="237744" y="877823"/>
              <a:ext cx="2832507" cy="2205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lvl1pPr defTabSz="777240">
                <a:lnSpc>
                  <a:spcPts val="1500"/>
                </a:lnSpc>
                <a:defRPr sz="1020">
                  <a:solidFill>
                    <a:srgbClr val="4E6D74"/>
                  </a:solidFill>
                  <a:latin typeface="Arial"/>
                  <a:ea typeface="Arial"/>
                  <a:cs typeface="Arial"/>
                  <a:sym typeface="Arial"/>
                </a:defRPr>
              </a:lvl1pPr>
            </a:lstStyle>
            <a:p>
              <a:pPr/>
              <a:r>
                <a:t>Eureka can • collector • cylinder • balance • solid.</a:t>
              </a:r>
            </a:p>
          </p:txBody>
        </p:sp>
      </p:grpSp>
      <p:grpSp>
        <p:nvGrpSpPr>
          <p:cNvPr id="261" name="t1"/>
          <p:cNvGrpSpPr/>
          <p:nvPr/>
        </p:nvGrpSpPr>
        <p:grpSpPr>
          <a:xfrm>
            <a:off x="4752745" y="2322576"/>
            <a:ext cx="3307997" cy="1828802"/>
            <a:chOff x="0" y="0"/>
            <a:chExt cx="3307995" cy="1828800"/>
          </a:xfrm>
        </p:grpSpPr>
        <p:sp>
          <p:nvSpPr>
            <p:cNvPr id="257" name="t1_bg"/>
            <p:cNvSpPr/>
            <p:nvPr/>
          </p:nvSpPr>
          <p:spPr>
            <a:xfrm>
              <a:off x="0" y="0"/>
              <a:ext cx="3307996" cy="1828801"/>
            </a:xfrm>
            <a:prstGeom prst="roundRect">
              <a:avLst>
                <a:gd name="adj" fmla="val 5000"/>
              </a:avLst>
            </a:prstGeom>
            <a:solidFill>
              <a:srgbClr val="F1F4F4"/>
            </a:solidFill>
            <a:ln w="20320" cap="flat">
              <a:solidFill>
                <a:srgbClr val="6E838A"/>
              </a:solidFill>
              <a:prstDash val="solid"/>
              <a:round/>
            </a:ln>
            <a:effectLst/>
          </p:spPr>
          <p:txBody>
            <a:bodyPr wrap="square" lIns="45718" tIns="45718" rIns="45718" bIns="45718" numCol="1" anchor="t">
              <a:noAutofit/>
            </a:bodyPr>
            <a:lstStyle/>
            <a:p>
              <a:pPr/>
            </a:p>
          </p:txBody>
        </p:sp>
        <p:sp>
          <p:nvSpPr>
            <p:cNvPr id="258" name="t1_h"/>
            <p:cNvSpPr txBox="1"/>
            <p:nvPr/>
          </p:nvSpPr>
          <p:spPr>
            <a:xfrm>
              <a:off x="237744" y="242638"/>
              <a:ext cx="2832508"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b="1" spc="100" sz="1500">
                  <a:solidFill>
                    <a:srgbClr val="6E838A"/>
                  </a:solidFill>
                  <a:latin typeface="Arial"/>
                  <a:ea typeface="Arial"/>
                  <a:cs typeface="Arial"/>
                  <a:sym typeface="Arial"/>
                </a:defRPr>
              </a:lvl1pPr>
            </a:lstStyle>
            <a:p>
              <a:pPr/>
              <a:r>
                <a:t>DO IT</a:t>
              </a:r>
            </a:p>
          </p:txBody>
        </p:sp>
        <p:sp>
          <p:nvSpPr>
            <p:cNvPr id="259" name="t1_s"/>
            <p:cNvSpPr txBox="1"/>
            <p:nvPr/>
          </p:nvSpPr>
          <p:spPr>
            <a:xfrm>
              <a:off x="237744" y="571475"/>
              <a:ext cx="2832508" cy="2469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defTabSz="886968">
                <a:defRPr b="1" sz="1649">
                  <a:solidFill>
                    <a:srgbClr val="0B3D4C"/>
                  </a:solidFill>
                  <a:latin typeface="Arial"/>
                  <a:ea typeface="Arial"/>
                  <a:cs typeface="Arial"/>
                  <a:sym typeface="Arial"/>
                </a:defRPr>
              </a:lvl1pPr>
            </a:lstStyle>
            <a:p>
              <a:pPr/>
              <a:r>
                <a:t>Method</a:t>
              </a:r>
            </a:p>
          </p:txBody>
        </p:sp>
        <p:sp>
          <p:nvSpPr>
            <p:cNvPr id="260" name="t1_b"/>
            <p:cNvSpPr txBox="1"/>
            <p:nvPr/>
          </p:nvSpPr>
          <p:spPr>
            <a:xfrm>
              <a:off x="237744" y="877823"/>
              <a:ext cx="2832508" cy="4491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lvl1pPr defTabSz="749808">
                <a:lnSpc>
                  <a:spcPts val="1400"/>
                </a:lnSpc>
                <a:defRPr sz="901">
                  <a:solidFill>
                    <a:srgbClr val="4E6D74"/>
                  </a:solidFill>
                  <a:latin typeface="Arial"/>
                  <a:ea typeface="Arial"/>
                  <a:cs typeface="Arial"/>
                  <a:sym typeface="Arial"/>
                </a:defRPr>
              </a:lvl1pPr>
            </a:lstStyle>
            <a:p>
              <a:pPr/>
              <a:r>
                <a:t>Fill to the spout → place collector → lower object gently → collect all displaced water → measure volume.</a:t>
              </a:r>
            </a:p>
          </p:txBody>
        </p:sp>
      </p:grpSp>
      <p:grpSp>
        <p:nvGrpSpPr>
          <p:cNvPr id="266" name="t2"/>
          <p:cNvGrpSpPr/>
          <p:nvPr/>
        </p:nvGrpSpPr>
        <p:grpSpPr>
          <a:xfrm>
            <a:off x="8335060" y="2322576"/>
            <a:ext cx="3307996" cy="1828802"/>
            <a:chOff x="0" y="0"/>
            <a:chExt cx="3307994" cy="1828800"/>
          </a:xfrm>
        </p:grpSpPr>
        <p:sp>
          <p:nvSpPr>
            <p:cNvPr id="262" name="t2_bg"/>
            <p:cNvSpPr/>
            <p:nvPr/>
          </p:nvSpPr>
          <p:spPr>
            <a:xfrm>
              <a:off x="-1" y="0"/>
              <a:ext cx="3307996" cy="1828801"/>
            </a:xfrm>
            <a:prstGeom prst="roundRect">
              <a:avLst>
                <a:gd name="adj" fmla="val 5000"/>
              </a:avLst>
            </a:prstGeom>
            <a:solidFill>
              <a:srgbClr val="FFEEE4"/>
            </a:solidFill>
            <a:ln w="20320" cap="flat">
              <a:solidFill>
                <a:srgbClr val="C25A29"/>
              </a:solidFill>
              <a:prstDash val="solid"/>
              <a:round/>
            </a:ln>
            <a:effectLst/>
          </p:spPr>
          <p:txBody>
            <a:bodyPr wrap="square" lIns="45718" tIns="45718" rIns="45718" bIns="45718" numCol="1" anchor="t">
              <a:noAutofit/>
            </a:bodyPr>
            <a:lstStyle/>
            <a:p>
              <a:pPr/>
            </a:p>
          </p:txBody>
        </p:sp>
        <p:sp>
          <p:nvSpPr>
            <p:cNvPr id="263" name="t2_h"/>
            <p:cNvSpPr txBox="1"/>
            <p:nvPr/>
          </p:nvSpPr>
          <p:spPr>
            <a:xfrm>
              <a:off x="237744" y="242638"/>
              <a:ext cx="2832507" cy="20966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b="1" spc="100" sz="1500">
                  <a:solidFill>
                    <a:srgbClr val="C25A29"/>
                  </a:solidFill>
                  <a:latin typeface="Arial"/>
                  <a:ea typeface="Arial"/>
                  <a:cs typeface="Arial"/>
                  <a:sym typeface="Arial"/>
                </a:defRPr>
              </a:lvl1pPr>
            </a:lstStyle>
            <a:p>
              <a:pPr/>
              <a:r>
                <a:t>CALCULATE</a:t>
              </a:r>
            </a:p>
          </p:txBody>
        </p:sp>
        <p:sp>
          <p:nvSpPr>
            <p:cNvPr id="264" name="t2_s"/>
            <p:cNvSpPr txBox="1"/>
            <p:nvPr/>
          </p:nvSpPr>
          <p:spPr>
            <a:xfrm>
              <a:off x="237744" y="571475"/>
              <a:ext cx="2832507" cy="2469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defTabSz="886968">
                <a:defRPr b="1" sz="1649">
                  <a:solidFill>
                    <a:srgbClr val="0B3D4C"/>
                  </a:solidFill>
                  <a:latin typeface="Arial"/>
                  <a:ea typeface="Arial"/>
                  <a:cs typeface="Arial"/>
                  <a:sym typeface="Arial"/>
                </a:defRPr>
              </a:lvl1pPr>
            </a:lstStyle>
            <a:p>
              <a:pPr/>
              <a:r>
                <a:t>Density</a:t>
              </a:r>
            </a:p>
          </p:txBody>
        </p:sp>
        <p:sp>
          <p:nvSpPr>
            <p:cNvPr id="265" name="t2_b"/>
            <p:cNvSpPr txBox="1"/>
            <p:nvPr/>
          </p:nvSpPr>
          <p:spPr>
            <a:xfrm>
              <a:off x="237744" y="877823"/>
              <a:ext cx="2832507" cy="6777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rmAutofit fontScale="100000" lnSpcReduction="0"/>
            </a:bodyPr>
            <a:lstStyle>
              <a:lvl1pPr>
                <a:lnSpc>
                  <a:spcPts val="1800"/>
                </a:lnSpc>
                <a:defRPr sz="1100">
                  <a:solidFill>
                    <a:srgbClr val="4E6D74"/>
                  </a:solidFill>
                  <a:latin typeface="Arial"/>
                  <a:ea typeface="Arial"/>
                  <a:cs typeface="Arial"/>
                  <a:sym typeface="Arial"/>
                </a:defRPr>
              </a:lvl1pPr>
            </a:lstStyle>
            <a:p>
              <a:pPr/>
              <a:r>
                <a:t>Measure mass. Use ρ = m ÷ V. Repeat a second time and compare your volumes.</a:t>
              </a:r>
            </a:p>
          </p:txBody>
        </p:sp>
      </p:grpSp>
      <p:sp>
        <p:nvSpPr>
          <p:cNvPr id="267" name="yd_note"/>
          <p:cNvSpPr txBox="1"/>
          <p:nvPr/>
        </p:nvSpPr>
        <p:spPr>
          <a:xfrm>
            <a:off x="1170432" y="4302228"/>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b="1" sz="1200">
                <a:solidFill>
                  <a:srgbClr val="0B3D4C"/>
                </a:solidFill>
                <a:latin typeface="Arial"/>
                <a:ea typeface="Arial"/>
                <a:cs typeface="Arial"/>
                <a:sym typeface="Arial"/>
              </a:defRPr>
            </a:lvl1pPr>
          </a:lstStyle>
          <a:p>
            <a:pPr/>
            <a:r>
              <a:t>Accuracy: read the measuring cylinder at eye level. Also, avoid splashes/bubbles, and wipe spills immediately.</a:t>
            </a:r>
          </a:p>
        </p:txBody>
      </p:sp>
      <p:pic>
        <p:nvPicPr>
          <p:cNvPr id="268" name="Image" descr="Image"/>
          <p:cNvPicPr>
            <a:picLocks noChangeAspect="1"/>
          </p:cNvPicPr>
          <p:nvPr/>
        </p:nvPicPr>
        <p:blipFill>
          <a:blip r:embed="rId6">
            <a:extLst/>
          </a:blip>
          <a:stretch>
            <a:fillRect/>
          </a:stretch>
        </p:blipFill>
        <p:spPr>
          <a:xfrm>
            <a:off x="8249090" y="225606"/>
            <a:ext cx="3479937" cy="2018665"/>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840000" fill="hold"/>
                                        <p:tgtEl>
                                          <p:spTgt spid="24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56"/>
                                        </p:tgtEl>
                                        <p:attrNameLst>
                                          <p:attrName>style.visibility</p:attrName>
                                        </p:attrNameLst>
                                      </p:cBhvr>
                                      <p:to>
                                        <p:strVal val="visible"/>
                                      </p:to>
                                    </p:set>
                                    <p:animEffect filter="fade" transition="in">
                                      <p:cBhvr>
                                        <p:cTn id="11" dur="400"/>
                                        <p:tgtEl>
                                          <p:spTgt spid="256"/>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61"/>
                                        </p:tgtEl>
                                        <p:attrNameLst>
                                          <p:attrName>style.visibility</p:attrName>
                                        </p:attrNameLst>
                                      </p:cBhvr>
                                      <p:to>
                                        <p:strVal val="visible"/>
                                      </p:to>
                                    </p:set>
                                    <p:animEffect filter="fade" transition="in">
                                      <p:cBhvr>
                                        <p:cTn id="16" dur="400"/>
                                        <p:tgtEl>
                                          <p:spTgt spid="261"/>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66"/>
                                        </p:tgtEl>
                                        <p:attrNameLst>
                                          <p:attrName>style.visibility</p:attrName>
                                        </p:attrNameLst>
                                      </p:cBhvr>
                                      <p:to>
                                        <p:strVal val="visible"/>
                                      </p:to>
                                    </p:set>
                                    <p:animEffect filter="fade" transition="in">
                                      <p:cBhvr>
                                        <p:cTn id="21" dur="400"/>
                                        <p:tgtEl>
                                          <p:spTgt spid="266"/>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67"/>
                                        </p:tgtEl>
                                        <p:attrNameLst>
                                          <p:attrName>style.visibility</p:attrName>
                                        </p:attrNameLst>
                                      </p:cBhvr>
                                      <p:to>
                                        <p:strVal val="visible"/>
                                      </p:to>
                                    </p:set>
                                    <p:animEffect filter="fade" transition="in">
                                      <p:cBhvr>
                                        <p:cTn id="26" dur="400"/>
                                        <p:tgtEl>
                                          <p:spTgt spid="267"/>
                                        </p:tgtEl>
                                      </p:cBhvr>
                                    </p:animEffect>
                                  </p:childTnLst>
                                </p:cTn>
                              </p:par>
                            </p:childTnLst>
                          </p:cTn>
                        </p:par>
                      </p:childTnLst>
                    </p:cTn>
                  </p:par>
                  <p:par>
                    <p:cTn id="27" fill="hold">
                      <p:stCondLst>
                        <p:cond delay="indefinite"/>
                      </p:stCondLst>
                      <p:childTnLst>
                        <p:par>
                          <p:cTn id="28" fill="hold">
                            <p:stCondLst>
                              <p:cond delay="0"/>
                            </p:stCondLst>
                            <p:childTnLst>
                              <p:par>
                                <p:cTn id="29" presetClass="mediacall" nodeType="clickEffect" presetSubtype="0" presetID="3" grpId="1" fill="hold">
                                  <p:stCondLst>
                                    <p:cond delay="0"/>
                                  </p:stCondLst>
                                  <p:childTnLst>
                                    <p:cmd type="call" cmd="stop">
                                      <p:cBhvr>
                                        <p:cTn id="30" dur="1000" fill="hold"/>
                                        <p:tgtEl>
                                          <p:spTgt spid="246"/>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246"/>
                </p:tgtEl>
              </p:cMediaNode>
            </p:video>
            <p:seq concurrent="1" prevAc="none" nextAc="seek">
              <p:cTn id="32" evtFilter="cancelBubble" nodeType="interactiveSeq" restart="whenNotActive" fill="hold">
                <p:stCondLst>
                  <p:cond delay="0" evt="onClick">
                    <p:tgtEl>
                      <p:spTgt spid="246"/>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246"/>
                                        </p:tgtEl>
                                      </p:cBhvr>
                                    </p:cmd>
                                  </p:childTnLst>
                                </p:cTn>
                              </p:par>
                            </p:childTnLst>
                          </p:cTn>
                        </p:par>
                      </p:childTnLst>
                    </p:cTn>
                  </p:par>
                </p:childTnLst>
              </p:cTn>
              <p:nextCondLst>
                <p:cond delay="0" evt="onClick">
                  <p:tgtEl>
                    <p:spTgt spid="246"/>
                  </p:tgtEl>
                </p:cond>
              </p:nextCondLst>
            </p:seq>
          </p:childTnLst>
        </p:cTn>
      </p:par>
    </p:tnLst>
    <p:bldLst>
      <p:bldP build="whole" bldLvl="1" animBg="1" rev="0" advAuto="0" spid="261" grpId="3"/>
      <p:bldP build="whole" bldLvl="1" animBg="1" rev="0" advAuto="0" spid="256" grpId="2"/>
      <p:bldP build="whole" bldLvl="1" animBg="1" rev="0" advAuto="0" spid="266" grpId="4"/>
      <p:bldP build="whole" bldLvl="1" animBg="1" rev="0" advAuto="0" spid="267" grpId="5"/>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8"/>
        </a:solidFill>
      </p:bgPr>
    </p:bg>
    <p:spTree>
      <p:nvGrpSpPr>
        <p:cNvPr id="1" name=""/>
        <p:cNvGrpSpPr/>
        <p:nvPr/>
      </p:nvGrpSpPr>
      <p:grpSpPr>
        <a:xfrm>
          <a:off x="0" y="0"/>
          <a:ext cx="0" cy="0"/>
          <a:chOff x="0" y="0"/>
          <a:chExt cx="0" cy="0"/>
        </a:xfrm>
      </p:grpSpPr>
      <p:sp>
        <p:nvSpPr>
          <p:cNvPr id="272" name="Rectangle 1"/>
          <p:cNvSpPr/>
          <p:nvPr/>
        </p:nvSpPr>
        <p:spPr>
          <a:xfrm>
            <a:off x="283463" y="283463"/>
            <a:ext cx="374906" cy="6272786"/>
          </a:xfrm>
          <a:prstGeom prst="rect">
            <a:avLst/>
          </a:prstGeom>
          <a:solidFill>
            <a:srgbClr val="A6DAD8"/>
          </a:solidFill>
          <a:ln w="12700">
            <a:miter lim="400000"/>
          </a:ln>
        </p:spPr>
        <p:txBody>
          <a:bodyPr lIns="45718" tIns="45718" rIns="45718" bIns="45718" anchor="ctr"/>
          <a:lstStyle/>
          <a:p>
            <a:pPr algn="ctr">
              <a:defRPr>
                <a:solidFill>
                  <a:srgbClr val="FFFFFF"/>
                </a:solidFill>
              </a:defRPr>
            </a:pPr>
          </a:p>
        </p:txBody>
      </p:sp>
      <p:grpSp>
        <p:nvGrpSpPr>
          <p:cNvPr id="275" name="Rounded Rectangle 2"/>
          <p:cNvGrpSpPr/>
          <p:nvPr/>
        </p:nvGrpSpPr>
        <p:grpSpPr>
          <a:xfrm>
            <a:off x="877824" y="265175"/>
            <a:ext cx="1581913" cy="393193"/>
            <a:chOff x="0" y="0"/>
            <a:chExt cx="1581911" cy="393191"/>
          </a:xfrm>
        </p:grpSpPr>
        <p:sp>
          <p:nvSpPr>
            <p:cNvPr id="273" name="Rounded Rectangle"/>
            <p:cNvSpPr/>
            <p:nvPr/>
          </p:nvSpPr>
          <p:spPr>
            <a:xfrm>
              <a:off x="0" y="0"/>
              <a:ext cx="1581912" cy="393192"/>
            </a:xfrm>
            <a:prstGeom prst="roundRect">
              <a:avLst>
                <a:gd name="adj" fmla="val 16667"/>
              </a:avLst>
            </a:prstGeom>
            <a:solidFill>
              <a:srgbClr val="0D4959"/>
            </a:solidFill>
            <a:ln w="12700" cap="flat">
              <a:noFill/>
              <a:miter lim="400000"/>
            </a:ln>
            <a:effectLst/>
          </p:spPr>
          <p:txBody>
            <a:bodyPr wrap="square" lIns="45718" tIns="45718" rIns="45718" bIns="45718" numCol="1" anchor="ctr">
              <a:noAutofit/>
            </a:bodyPr>
            <a:lstStyle/>
            <a:p>
              <a:pPr algn="ctr">
                <a:defRPr>
                  <a:solidFill>
                    <a:srgbClr val="FFFFFF"/>
                  </a:solidFill>
                </a:defRPr>
              </a:pPr>
            </a:p>
          </p:txBody>
        </p:sp>
        <p:sp>
          <p:nvSpPr>
            <p:cNvPr id="274" name="RECORD  ·  5 MIN"/>
            <p:cNvSpPr txBox="1"/>
            <p:nvPr/>
          </p:nvSpPr>
          <p:spPr>
            <a:xfrm>
              <a:off x="64914" y="61975"/>
              <a:ext cx="1452085" cy="269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200">
                  <a:solidFill>
                    <a:srgbClr val="FFFFFF"/>
                  </a:solidFill>
                  <a:latin typeface="Aptos"/>
                  <a:ea typeface="Aptos"/>
                  <a:cs typeface="Aptos"/>
                  <a:sym typeface="Aptos"/>
                </a:defRPr>
              </a:lvl1pPr>
            </a:lstStyle>
            <a:p>
              <a:pPr/>
              <a:r>
                <a:t>RECORD  ·  5 MIN</a:t>
              </a:r>
            </a:p>
          </p:txBody>
        </p:sp>
      </p:grpSp>
      <p:sp>
        <p:nvSpPr>
          <p:cNvPr id="276" name="TextBox 3"/>
          <p:cNvSpPr txBox="1"/>
          <p:nvPr/>
        </p:nvSpPr>
        <p:spPr>
          <a:xfrm>
            <a:off x="923544" y="768095"/>
            <a:ext cx="2542869" cy="510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900">
                <a:solidFill>
                  <a:srgbClr val="0D4959"/>
                </a:solidFill>
                <a:latin typeface="Georgia"/>
                <a:ea typeface="Georgia"/>
                <a:cs typeface="Georgia"/>
                <a:sym typeface="Georgia"/>
              </a:defRPr>
            </a:lvl1pPr>
          </a:lstStyle>
          <a:p>
            <a:pPr/>
            <a:r>
              <a:t>Results table</a:t>
            </a:r>
          </a:p>
        </p:txBody>
      </p:sp>
      <p:sp>
        <p:nvSpPr>
          <p:cNvPr id="277" name="TextBox 4"/>
          <p:cNvSpPr txBox="1"/>
          <p:nvPr/>
        </p:nvSpPr>
        <p:spPr>
          <a:xfrm>
            <a:off x="932687" y="1353311"/>
            <a:ext cx="4104989" cy="307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1400">
                <a:solidFill>
                  <a:srgbClr val="E43041"/>
                </a:solidFill>
                <a:latin typeface="Aptos"/>
                <a:ea typeface="Aptos"/>
                <a:cs typeface="Aptos"/>
                <a:sym typeface="Aptos"/>
              </a:defRPr>
            </a:lvl1pPr>
          </a:lstStyle>
          <a:p>
            <a:pPr/>
            <a:r>
              <a:t>Copy this table into your book before you start.</a:t>
            </a:r>
          </a:p>
        </p:txBody>
      </p:sp>
      <p:graphicFrame>
        <p:nvGraphicFramePr>
          <p:cNvPr id="278" name="Table 5"/>
          <p:cNvGraphicFramePr/>
          <p:nvPr/>
        </p:nvGraphicFramePr>
        <p:xfrm>
          <a:off x="886967" y="2355595"/>
          <a:ext cx="9281161" cy="3291842"/>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2057400"/>
                <a:gridCol w="2331720"/>
                <a:gridCol w="2606040"/>
                <a:gridCol w="2286000"/>
              </a:tblGrid>
              <a:tr h="658368">
                <a:tc>
                  <a:txBody>
                    <a:bodyPr/>
                    <a:lstStyle/>
                    <a:p>
                      <a:pPr algn="ctr">
                        <a:defRPr b="0" sz="1800">
                          <a:solidFill>
                            <a:srgbClr val="000000"/>
                          </a:solidFill>
                        </a:defRPr>
                      </a:pPr>
                      <a:r>
                        <a:rPr b="1" sz="1400">
                          <a:solidFill>
                            <a:srgbClr val="FFFFFF"/>
                          </a:solidFill>
                          <a:latin typeface="Aptos"/>
                          <a:ea typeface="Aptos"/>
                          <a:cs typeface="Aptos"/>
                          <a:sym typeface="Aptos"/>
                        </a:rPr>
                        <a:t>Object</a:t>
                      </a:r>
                    </a:p>
                  </a:txBody>
                  <a:tcPr marL="27432" marR="27432" marT="27432" marB="27432" anchor="t" anchorCtr="0" horzOverflow="overflow">
                    <a:solidFill>
                      <a:srgbClr val="0D4959"/>
                    </a:solidFill>
                  </a:tcPr>
                </a:tc>
                <a:tc>
                  <a:txBody>
                    <a:bodyPr/>
                    <a:lstStyle/>
                    <a:p>
                      <a:pPr algn="ctr">
                        <a:defRPr b="0" sz="1800">
                          <a:solidFill>
                            <a:srgbClr val="000000"/>
                          </a:solidFill>
                        </a:defRPr>
                      </a:pPr>
                      <a:r>
                        <a:rPr b="1" sz="1400">
                          <a:solidFill>
                            <a:srgbClr val="FFFFFF"/>
                          </a:solidFill>
                          <a:latin typeface="Aptos"/>
                          <a:ea typeface="Aptos"/>
                          <a:cs typeface="Aptos"/>
                          <a:sym typeface="Aptos"/>
                        </a:rPr>
                        <a:t>Mass / g</a:t>
                      </a:r>
                    </a:p>
                  </a:txBody>
                  <a:tcPr marL="27432" marR="27432" marT="27432" marB="27432" anchor="t" anchorCtr="0" horzOverflow="overflow">
                    <a:solidFill>
                      <a:srgbClr val="0D4959"/>
                    </a:solidFill>
                  </a:tcPr>
                </a:tc>
                <a:tc>
                  <a:txBody>
                    <a:bodyPr/>
                    <a:lstStyle/>
                    <a:p>
                      <a:pPr algn="ctr">
                        <a:defRPr b="0" sz="1800">
                          <a:solidFill>
                            <a:srgbClr val="000000"/>
                          </a:solidFill>
                        </a:defRPr>
                      </a:pPr>
                      <a:r>
                        <a:rPr b="1" sz="1400">
                          <a:solidFill>
                            <a:srgbClr val="FFFFFF"/>
                          </a:solidFill>
                          <a:latin typeface="Aptos"/>
                          <a:ea typeface="Aptos"/>
                          <a:cs typeface="Aptos"/>
                          <a:sym typeface="Aptos"/>
                        </a:rPr>
                        <a:t>Volume displaced / cm³</a:t>
                      </a:r>
                    </a:p>
                  </a:txBody>
                  <a:tcPr marL="27432" marR="27432" marT="27432" marB="27432" anchor="t" anchorCtr="0" horzOverflow="overflow">
                    <a:solidFill>
                      <a:srgbClr val="0D4959"/>
                    </a:solidFill>
                  </a:tcPr>
                </a:tc>
                <a:tc>
                  <a:txBody>
                    <a:bodyPr/>
                    <a:lstStyle/>
                    <a:p>
                      <a:pPr algn="ctr">
                        <a:defRPr b="0" sz="1800">
                          <a:solidFill>
                            <a:srgbClr val="000000"/>
                          </a:solidFill>
                        </a:defRPr>
                      </a:pPr>
                      <a:r>
                        <a:rPr b="1" sz="1400">
                          <a:solidFill>
                            <a:srgbClr val="FFFFFF"/>
                          </a:solidFill>
                          <a:latin typeface="Aptos"/>
                          <a:ea typeface="Aptos"/>
                          <a:cs typeface="Aptos"/>
                          <a:sym typeface="Aptos"/>
                        </a:rPr>
                        <a:t>Density / g/cm³</a:t>
                      </a:r>
                    </a:p>
                  </a:txBody>
                  <a:tcPr marL="27432" marR="27432" marT="27432" marB="27432" anchor="t" anchorCtr="0" horzOverflow="overflow">
                    <a:solidFill>
                      <a:srgbClr val="0D4959"/>
                    </a:solidFill>
                  </a:tcPr>
                </a:tc>
              </a:tr>
              <a:tr h="658368">
                <a:tc>
                  <a:txBody>
                    <a:bodyPr/>
                    <a:lstStyle/>
                    <a:p>
                      <a:pPr algn="l">
                        <a:defRPr sz="1800"/>
                      </a:pPr>
                      <a:r>
                        <a:rPr b="1" sz="1500">
                          <a:solidFill>
                            <a:srgbClr val="0D4959"/>
                          </a:solidFill>
                          <a:latin typeface="Aptos"/>
                          <a:ea typeface="Aptos"/>
                          <a:cs typeface="Aptos"/>
                          <a:sym typeface="Aptos"/>
                        </a:rPr>
                        <a:t>Object 1</a:t>
                      </a:r>
                    </a:p>
                  </a:txBody>
                  <a:tcPr marL="45720" marR="45720" marT="45720" marB="45720" anchor="t" anchorCtr="0" horzOverflow="overflow">
                    <a:solidFill>
                      <a:srgbClr val="FFFFFF"/>
                    </a:solidFill>
                  </a:tcPr>
                </a:tc>
                <a:tc>
                  <a:txBody>
                    <a:bodyPr/>
                    <a:lstStyle/>
                    <a:p>
                      <a:pPr indent="457200"/>
                    </a:p>
                  </a:txBody>
                  <a:tcPr marL="45720" marR="45720" marT="45720" marB="45720" anchor="t" anchorCtr="0" horzOverflow="overflow">
                    <a:solidFill>
                      <a:srgbClr val="FFFFFF"/>
                    </a:solidFill>
                  </a:tcPr>
                </a:tc>
                <a:tc>
                  <a:txBody>
                    <a:bodyPr/>
                    <a:lstStyle/>
                    <a:p>
                      <a:pPr indent="457200"/>
                    </a:p>
                  </a:txBody>
                  <a:tcPr marL="45720" marR="45720" marT="45720" marB="45720" anchor="t" anchorCtr="0" horzOverflow="overflow">
                    <a:solidFill>
                      <a:srgbClr val="FFFFFF"/>
                    </a:solidFill>
                  </a:tcPr>
                </a:tc>
                <a:tc>
                  <a:txBody>
                    <a:bodyPr/>
                    <a:lstStyle/>
                    <a:p>
                      <a:pPr indent="457200"/>
                    </a:p>
                  </a:txBody>
                  <a:tcPr marL="45720" marR="45720" marT="45720" marB="45720" anchor="t" anchorCtr="0" horzOverflow="overflow">
                    <a:solidFill>
                      <a:srgbClr val="FFFFFF"/>
                    </a:solidFill>
                  </a:tcPr>
                </a:tc>
              </a:tr>
              <a:tr h="658368">
                <a:tc>
                  <a:txBody>
                    <a:bodyPr/>
                    <a:lstStyle/>
                    <a:p>
                      <a:pPr algn="l">
                        <a:defRPr sz="1800"/>
                      </a:pPr>
                      <a:r>
                        <a:rPr b="1" sz="1500">
                          <a:solidFill>
                            <a:srgbClr val="0D4959"/>
                          </a:solidFill>
                          <a:latin typeface="Aptos"/>
                          <a:ea typeface="Aptos"/>
                          <a:cs typeface="Aptos"/>
                          <a:sym typeface="Aptos"/>
                        </a:rPr>
                        <a:t>Object 2</a:t>
                      </a:r>
                    </a:p>
                  </a:txBody>
                  <a:tcPr marL="45720" marR="45720" marT="45720" marB="45720" anchor="t" anchorCtr="0" horzOverflow="overflow">
                    <a:solidFill>
                      <a:srgbClr val="F8FBFC"/>
                    </a:solidFill>
                  </a:tcPr>
                </a:tc>
                <a:tc>
                  <a:txBody>
                    <a:bodyPr/>
                    <a:lstStyle/>
                    <a:p>
                      <a:pPr indent="457200"/>
                    </a:p>
                  </a:txBody>
                  <a:tcPr marL="45720" marR="45720" marT="45720" marB="45720" anchor="t" anchorCtr="0" horzOverflow="overflow">
                    <a:solidFill>
                      <a:srgbClr val="F8FBFC"/>
                    </a:solidFill>
                  </a:tcPr>
                </a:tc>
                <a:tc>
                  <a:txBody>
                    <a:bodyPr/>
                    <a:lstStyle/>
                    <a:p>
                      <a:pPr indent="457200"/>
                    </a:p>
                  </a:txBody>
                  <a:tcPr marL="45720" marR="45720" marT="45720" marB="45720" anchor="t" anchorCtr="0" horzOverflow="overflow">
                    <a:solidFill>
                      <a:srgbClr val="F8FBFC"/>
                    </a:solidFill>
                  </a:tcPr>
                </a:tc>
                <a:tc>
                  <a:txBody>
                    <a:bodyPr/>
                    <a:lstStyle/>
                    <a:p>
                      <a:pPr indent="457200"/>
                    </a:p>
                  </a:txBody>
                  <a:tcPr marL="45720" marR="45720" marT="45720" marB="45720" anchor="t" anchorCtr="0" horzOverflow="overflow">
                    <a:solidFill>
                      <a:srgbClr val="F8FBFC"/>
                    </a:solidFill>
                  </a:tcPr>
                </a:tc>
              </a:tr>
              <a:tr h="658368">
                <a:tc>
                  <a:txBody>
                    <a:bodyPr/>
                    <a:lstStyle/>
                    <a:p>
                      <a:pPr algn="l">
                        <a:defRPr sz="1800"/>
                      </a:pPr>
                      <a:r>
                        <a:rPr b="1" sz="1500">
                          <a:solidFill>
                            <a:srgbClr val="0D4959"/>
                          </a:solidFill>
                          <a:latin typeface="Aptos"/>
                          <a:ea typeface="Aptos"/>
                          <a:cs typeface="Aptos"/>
                          <a:sym typeface="Aptos"/>
                        </a:rPr>
                        <a:t>Object 3</a:t>
                      </a:r>
                    </a:p>
                  </a:txBody>
                  <a:tcPr marL="45720" marR="45720" marT="45720" marB="45720" anchor="t" anchorCtr="0" horzOverflow="overflow">
                    <a:solidFill>
                      <a:srgbClr val="FFFFFF"/>
                    </a:solidFill>
                  </a:tcPr>
                </a:tc>
                <a:tc>
                  <a:txBody>
                    <a:bodyPr/>
                    <a:lstStyle/>
                    <a:p>
                      <a:pPr indent="457200"/>
                    </a:p>
                  </a:txBody>
                  <a:tcPr marL="45720" marR="45720" marT="45720" marB="45720" anchor="t" anchorCtr="0" horzOverflow="overflow">
                    <a:solidFill>
                      <a:srgbClr val="FFFFFF"/>
                    </a:solidFill>
                  </a:tcPr>
                </a:tc>
                <a:tc>
                  <a:txBody>
                    <a:bodyPr/>
                    <a:lstStyle/>
                    <a:p>
                      <a:pPr indent="457200"/>
                    </a:p>
                  </a:txBody>
                  <a:tcPr marL="45720" marR="45720" marT="45720" marB="45720" anchor="t" anchorCtr="0" horzOverflow="overflow">
                    <a:solidFill>
                      <a:srgbClr val="FFFFFF"/>
                    </a:solidFill>
                  </a:tcPr>
                </a:tc>
                <a:tc>
                  <a:txBody>
                    <a:bodyPr/>
                    <a:lstStyle/>
                    <a:p>
                      <a:pPr indent="457200"/>
                    </a:p>
                  </a:txBody>
                  <a:tcPr marL="45720" marR="45720" marT="45720" marB="45720" anchor="t" anchorCtr="0" horzOverflow="overflow">
                    <a:solidFill>
                      <a:srgbClr val="FFFFFF"/>
                    </a:solidFill>
                  </a:tcPr>
                </a:tc>
              </a:tr>
              <a:tr h="658368">
                <a:tc>
                  <a:txBody>
                    <a:bodyPr/>
                    <a:lstStyle/>
                    <a:p>
                      <a:pPr algn="l">
                        <a:defRPr sz="1800"/>
                      </a:pPr>
                      <a:r>
                        <a:rPr b="1" sz="1500">
                          <a:solidFill>
                            <a:srgbClr val="0D4959"/>
                          </a:solidFill>
                          <a:latin typeface="Aptos"/>
                          <a:ea typeface="Aptos"/>
                          <a:cs typeface="Aptos"/>
                          <a:sym typeface="Aptos"/>
                        </a:rPr>
                        <a:t>Object 4</a:t>
                      </a:r>
                    </a:p>
                  </a:txBody>
                  <a:tcPr marL="45720" marR="45720" marT="45720" marB="45720" anchor="t" anchorCtr="0" horzOverflow="overflow">
                    <a:solidFill>
                      <a:srgbClr val="F8FBFC"/>
                    </a:solidFill>
                  </a:tcPr>
                </a:tc>
                <a:tc>
                  <a:txBody>
                    <a:bodyPr/>
                    <a:lstStyle/>
                    <a:p>
                      <a:pPr indent="457200"/>
                    </a:p>
                  </a:txBody>
                  <a:tcPr marL="45720" marR="45720" marT="45720" marB="45720" anchor="t" anchorCtr="0" horzOverflow="overflow">
                    <a:solidFill>
                      <a:srgbClr val="F8FBFC"/>
                    </a:solidFill>
                  </a:tcPr>
                </a:tc>
                <a:tc>
                  <a:txBody>
                    <a:bodyPr/>
                    <a:lstStyle/>
                    <a:p>
                      <a:pPr indent="457200"/>
                    </a:p>
                  </a:txBody>
                  <a:tcPr marL="45720" marR="45720" marT="45720" marB="45720" anchor="t" anchorCtr="0" horzOverflow="overflow">
                    <a:solidFill>
                      <a:srgbClr val="F8FBFC"/>
                    </a:solidFill>
                  </a:tcPr>
                </a:tc>
                <a:tc>
                  <a:txBody>
                    <a:bodyPr/>
                    <a:lstStyle/>
                    <a:p>
                      <a:pPr indent="457200"/>
                    </a:p>
                  </a:txBody>
                  <a:tcPr marL="45720" marR="45720" marT="45720" marB="45720" anchor="t" anchorCtr="0" horzOverflow="overflow">
                    <a:solidFill>
                      <a:srgbClr val="F8FBFC"/>
                    </a:solidFill>
                  </a:tcPr>
                </a:tc>
              </a:tr>
            </a:tbl>
          </a:graphicData>
        </a:graphic>
      </p:graphicFrame>
      <p:grpSp>
        <p:nvGrpSpPr>
          <p:cNvPr id="281" name="Rounded Rectangle 6"/>
          <p:cNvGrpSpPr/>
          <p:nvPr/>
        </p:nvGrpSpPr>
        <p:grpSpPr>
          <a:xfrm>
            <a:off x="886967" y="5940044"/>
            <a:ext cx="9281161" cy="667514"/>
            <a:chOff x="0" y="0"/>
            <a:chExt cx="9281159" cy="667512"/>
          </a:xfrm>
        </p:grpSpPr>
        <p:sp>
          <p:nvSpPr>
            <p:cNvPr id="279" name="Rounded Rectangle"/>
            <p:cNvSpPr/>
            <p:nvPr/>
          </p:nvSpPr>
          <p:spPr>
            <a:xfrm>
              <a:off x="0" y="0"/>
              <a:ext cx="9281160" cy="667513"/>
            </a:xfrm>
            <a:prstGeom prst="roundRect">
              <a:avLst>
                <a:gd name="adj" fmla="val 16667"/>
              </a:avLst>
            </a:prstGeom>
            <a:solidFill>
              <a:srgbClr val="FFEBE5"/>
            </a:solidFill>
            <a:ln w="15240" cap="flat">
              <a:solidFill>
                <a:srgbClr val="E43041"/>
              </a:solidFill>
              <a:prstDash val="solid"/>
              <a:round/>
            </a:ln>
            <a:effectLst/>
          </p:spPr>
          <p:txBody>
            <a:bodyPr wrap="square" lIns="45718" tIns="45718" rIns="45718" bIns="45718" numCol="1" anchor="ctr">
              <a:noAutofit/>
            </a:bodyPr>
            <a:lstStyle/>
            <a:p>
              <a:pPr algn="ctr">
                <a:defRPr>
                  <a:solidFill>
                    <a:srgbClr val="FFFFFF"/>
                  </a:solidFill>
                </a:defRPr>
              </a:pPr>
            </a:p>
          </p:txBody>
        </p:sp>
        <p:sp>
          <p:nvSpPr>
            <p:cNvPr id="280" name="Remember:  density = mass ÷ volume     •     Show your working."/>
            <p:cNvSpPr txBox="1"/>
            <p:nvPr/>
          </p:nvSpPr>
          <p:spPr>
            <a:xfrm>
              <a:off x="85924" y="173736"/>
              <a:ext cx="9109311" cy="320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500">
                  <a:solidFill>
                    <a:srgbClr val="0D4959"/>
                  </a:solidFill>
                  <a:latin typeface="Aptos"/>
                  <a:ea typeface="Aptos"/>
                  <a:cs typeface="Aptos"/>
                  <a:sym typeface="Aptos"/>
                </a:defRPr>
              </a:lvl1pPr>
            </a:lstStyle>
            <a:p>
              <a:pPr/>
              <a:r>
                <a:t>Remember:  density = mass ÷ volume     •     Show your working.</a:t>
              </a:r>
            </a:p>
          </p:txBody>
        </p:sp>
      </p:grpSp>
      <p:sp>
        <p:nvSpPr>
          <p:cNvPr id="282" name="TextBox 7"/>
          <p:cNvSpPr txBox="1"/>
          <p:nvPr/>
        </p:nvSpPr>
        <p:spPr>
          <a:xfrm>
            <a:off x="9964695" y="320040"/>
            <a:ext cx="139425" cy="243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r">
              <a:defRPr b="1" sz="1000">
                <a:solidFill>
                  <a:srgbClr val="52747F"/>
                </a:solidFill>
                <a:latin typeface="Aptos"/>
                <a:ea typeface="Aptos"/>
                <a:cs typeface="Aptos"/>
                <a:sym typeface="Aptos"/>
              </a:defRPr>
            </a:lvl1pPr>
          </a:lstStyle>
          <a:p>
            <a:pPr/>
            <a:r>
              <a:t>\</a:t>
            </a:r>
          </a:p>
        </p:txBody>
      </p:sp>
      <p:pic>
        <p:nvPicPr>
          <p:cNvPr id="283" name="Image" descr="Image"/>
          <p:cNvPicPr>
            <a:picLocks noChangeAspect="1"/>
          </p:cNvPicPr>
          <p:nvPr/>
        </p:nvPicPr>
        <p:blipFill>
          <a:blip r:embed="rId2">
            <a:extLst/>
          </a:blip>
          <a:stretch>
            <a:fillRect/>
          </a:stretch>
        </p:blipFill>
        <p:spPr>
          <a:xfrm>
            <a:off x="8249090" y="225606"/>
            <a:ext cx="3479937" cy="2018665"/>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28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288" name="phase_pill"/>
          <p:cNvGrpSpPr/>
          <p:nvPr/>
        </p:nvGrpSpPr>
        <p:grpSpPr>
          <a:xfrm>
            <a:off x="1170432" y="310894"/>
            <a:ext cx="1892809" cy="329188"/>
            <a:chOff x="0" y="0"/>
            <a:chExt cx="1892808" cy="329186"/>
          </a:xfrm>
        </p:grpSpPr>
        <p:sp>
          <p:nvSpPr>
            <p:cNvPr id="286" name="Rounded Rectangle"/>
            <p:cNvSpPr/>
            <p:nvPr/>
          </p:nvSpPr>
          <p:spPr>
            <a:xfrm>
              <a:off x="0" y="-1"/>
              <a:ext cx="1892809" cy="329188"/>
            </a:xfrm>
            <a:prstGeom prst="roundRect">
              <a:avLst>
                <a:gd name="adj" fmla="val 44444"/>
              </a:avLst>
            </a:prstGeom>
            <a:solidFill>
              <a:srgbClr val="0B3D4C"/>
            </a:solidFill>
            <a:ln w="12700" cap="flat">
              <a:noFill/>
              <a:miter lim="400000"/>
            </a:ln>
            <a:effectLst/>
          </p:spPr>
          <p:txBody>
            <a:bodyPr wrap="square" lIns="45718" tIns="45718" rIns="45718" bIns="45718" numCol="1" anchor="ctr">
              <a:noAutofit/>
            </a:bodyPr>
            <a:lstStyle/>
            <a:p>
              <a:pPr algn="ctr">
                <a:defRPr sz="1100"/>
              </a:pPr>
            </a:p>
          </p:txBody>
        </p:sp>
        <p:sp>
          <p:nvSpPr>
            <p:cNvPr id="287" name="ANSWERS · 3 MIN"/>
            <p:cNvSpPr txBox="1"/>
            <p:nvPr/>
          </p:nvSpPr>
          <p:spPr>
            <a:xfrm>
              <a:off x="42850" y="90677"/>
              <a:ext cx="1807107"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gn="ctr">
                <a:defRPr b="1" spc="100" sz="1100">
                  <a:solidFill>
                    <a:srgbClr val="FFFFFF"/>
                  </a:solidFill>
                  <a:latin typeface="Arial"/>
                  <a:ea typeface="Arial"/>
                  <a:cs typeface="Arial"/>
                  <a:sym typeface="Arial"/>
                </a:defRPr>
              </a:lvl1pPr>
            </a:lstStyle>
            <a:p>
              <a:pPr/>
              <a:r>
                <a:t>ANSWERS · 3 MIN</a:t>
              </a:r>
            </a:p>
          </p:txBody>
        </p:sp>
      </p:grpSp>
      <p:sp>
        <p:nvSpPr>
          <p:cNvPr id="289" name="slide_title"/>
          <p:cNvSpPr txBox="1"/>
          <p:nvPr/>
        </p:nvSpPr>
        <p:spPr>
          <a:xfrm>
            <a:off x="1170432" y="965707"/>
            <a:ext cx="10472623" cy="482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b="1" sz="3400">
                <a:solidFill>
                  <a:srgbClr val="0B3D4C"/>
                </a:solidFill>
                <a:latin typeface="Georgia"/>
                <a:ea typeface="Georgia"/>
                <a:cs typeface="Georgia"/>
                <a:sym typeface="Georgia"/>
              </a:defRPr>
            </a:lvl1pPr>
          </a:lstStyle>
          <a:p>
            <a:pPr/>
            <a:r>
              <a:t>Answers</a:t>
            </a:r>
          </a:p>
        </p:txBody>
      </p:sp>
      <p:grpSp>
        <p:nvGrpSpPr>
          <p:cNvPr id="293" name="a0"/>
          <p:cNvGrpSpPr/>
          <p:nvPr/>
        </p:nvGrpSpPr>
        <p:grpSpPr>
          <a:xfrm>
            <a:off x="1170432" y="1828799"/>
            <a:ext cx="5117443" cy="658372"/>
            <a:chOff x="0" y="0"/>
            <a:chExt cx="5117441" cy="658370"/>
          </a:xfrm>
        </p:grpSpPr>
        <p:sp>
          <p:nvSpPr>
            <p:cNvPr id="290" name="a0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291" name="a0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1</a:t>
              </a:r>
            </a:p>
          </p:txBody>
        </p:sp>
        <p:sp>
          <p:nvSpPr>
            <p:cNvPr id="292" name="a0_t"/>
            <p:cNvSpPr txBox="1"/>
            <p:nvPr/>
          </p:nvSpPr>
          <p:spPr>
            <a:xfrm>
              <a:off x="749808" y="225330"/>
              <a:ext cx="4166466" cy="2077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defTabSz="886968">
                <a:lnSpc>
                  <a:spcPts val="1600"/>
                </a:lnSpc>
                <a:defRPr sz="1261">
                  <a:solidFill>
                    <a:srgbClr val="0C2730"/>
                  </a:solidFill>
                  <a:latin typeface="Arial"/>
                  <a:ea typeface="Arial"/>
                  <a:cs typeface="Arial"/>
                  <a:sym typeface="Arial"/>
                </a:defRPr>
              </a:lvl1pPr>
            </a:lstStyle>
            <a:p>
              <a:pPr/>
              <a:r>
                <a:t>Eureka can, collector, measuring cylinder and balance.</a:t>
              </a:r>
            </a:p>
          </p:txBody>
        </p:sp>
      </p:grpSp>
      <p:grpSp>
        <p:nvGrpSpPr>
          <p:cNvPr id="297" name="a1"/>
          <p:cNvGrpSpPr/>
          <p:nvPr/>
        </p:nvGrpSpPr>
        <p:grpSpPr>
          <a:xfrm>
            <a:off x="6525614" y="1828799"/>
            <a:ext cx="5117443" cy="658372"/>
            <a:chOff x="0" y="0"/>
            <a:chExt cx="5117441" cy="658370"/>
          </a:xfrm>
        </p:grpSpPr>
        <p:sp>
          <p:nvSpPr>
            <p:cNvPr id="294" name="a1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295" name="a1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2</a:t>
              </a:r>
            </a:p>
          </p:txBody>
        </p:sp>
        <p:sp>
          <p:nvSpPr>
            <p:cNvPr id="296" name="a1_t"/>
            <p:cNvSpPr txBox="1"/>
            <p:nvPr/>
          </p:nvSpPr>
          <p:spPr>
            <a:xfrm>
              <a:off x="749808" y="225330"/>
              <a:ext cx="4166466" cy="2077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defTabSz="886968">
                <a:lnSpc>
                  <a:spcPts val="1600"/>
                </a:lnSpc>
                <a:defRPr sz="1261">
                  <a:solidFill>
                    <a:srgbClr val="0C2730"/>
                  </a:solidFill>
                  <a:latin typeface="Arial"/>
                  <a:ea typeface="Arial"/>
                  <a:cs typeface="Arial"/>
                  <a:sym typeface="Arial"/>
                </a:defRPr>
              </a:lvl1pPr>
            </a:lstStyle>
            <a:p>
              <a:pPr/>
              <a:r>
                <a:t>It collects the water displaced by the submerged object.</a:t>
              </a:r>
            </a:p>
          </p:txBody>
        </p:sp>
      </p:grpSp>
      <p:grpSp>
        <p:nvGrpSpPr>
          <p:cNvPr id="301" name="a2"/>
          <p:cNvGrpSpPr/>
          <p:nvPr/>
        </p:nvGrpSpPr>
        <p:grpSpPr>
          <a:xfrm>
            <a:off x="1170432" y="2578606"/>
            <a:ext cx="5117443" cy="658371"/>
            <a:chOff x="0" y="0"/>
            <a:chExt cx="5117441" cy="658370"/>
          </a:xfrm>
        </p:grpSpPr>
        <p:sp>
          <p:nvSpPr>
            <p:cNvPr id="298" name="a2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299" name="a2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3</a:t>
              </a:r>
            </a:p>
          </p:txBody>
        </p:sp>
        <p:sp>
          <p:nvSpPr>
            <p:cNvPr id="300" name="a2_t"/>
            <p:cNvSpPr txBox="1"/>
            <p:nvPr/>
          </p:nvSpPr>
          <p:spPr>
            <a:xfrm>
              <a:off x="749808" y="225330"/>
              <a:ext cx="4166466" cy="2077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defTabSz="886968">
                <a:lnSpc>
                  <a:spcPts val="1600"/>
                </a:lnSpc>
                <a:defRPr sz="1261">
                  <a:solidFill>
                    <a:srgbClr val="0C2730"/>
                  </a:solidFill>
                  <a:latin typeface="Arial"/>
                  <a:ea typeface="Arial"/>
                  <a:cs typeface="Arial"/>
                  <a:sym typeface="Arial"/>
                </a:defRPr>
              </a:lvl1pPr>
            </a:lstStyle>
            <a:p>
              <a:pPr/>
              <a:r>
                <a:t>79 − 62 = 17 cm³.</a:t>
              </a:r>
            </a:p>
          </p:txBody>
        </p:sp>
      </p:grpSp>
      <p:grpSp>
        <p:nvGrpSpPr>
          <p:cNvPr id="305" name="a3"/>
          <p:cNvGrpSpPr/>
          <p:nvPr/>
        </p:nvGrpSpPr>
        <p:grpSpPr>
          <a:xfrm>
            <a:off x="6525614" y="2578606"/>
            <a:ext cx="5117443" cy="658371"/>
            <a:chOff x="0" y="0"/>
            <a:chExt cx="5117441" cy="658370"/>
          </a:xfrm>
        </p:grpSpPr>
        <p:sp>
          <p:nvSpPr>
            <p:cNvPr id="302" name="a3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303" name="a3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4</a:t>
              </a:r>
            </a:p>
          </p:txBody>
        </p:sp>
        <p:sp>
          <p:nvSpPr>
            <p:cNvPr id="304" name="a3_t"/>
            <p:cNvSpPr txBox="1"/>
            <p:nvPr/>
          </p:nvSpPr>
          <p:spPr>
            <a:xfrm>
              <a:off x="749808" y="225330"/>
              <a:ext cx="4166466" cy="2077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defTabSz="886968">
                <a:lnSpc>
                  <a:spcPts val="1600"/>
                </a:lnSpc>
                <a:defRPr sz="1261">
                  <a:solidFill>
                    <a:srgbClr val="0C2730"/>
                  </a:solidFill>
                  <a:latin typeface="Arial"/>
                  <a:ea typeface="Arial"/>
                  <a:cs typeface="Arial"/>
                  <a:sym typeface="Arial"/>
                </a:defRPr>
              </a:lvl1pPr>
            </a:lstStyle>
            <a:p>
              <a:pPr/>
              <a:r>
                <a:t>It gives a known full starting level at the spout.</a:t>
              </a:r>
            </a:p>
          </p:txBody>
        </p:sp>
      </p:grpSp>
      <p:grpSp>
        <p:nvGrpSpPr>
          <p:cNvPr id="309" name="a4"/>
          <p:cNvGrpSpPr/>
          <p:nvPr/>
        </p:nvGrpSpPr>
        <p:grpSpPr>
          <a:xfrm>
            <a:off x="1170432" y="3328415"/>
            <a:ext cx="5117443" cy="658371"/>
            <a:chOff x="0" y="0"/>
            <a:chExt cx="5117441" cy="658370"/>
          </a:xfrm>
        </p:grpSpPr>
        <p:sp>
          <p:nvSpPr>
            <p:cNvPr id="306" name="a4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307" name="a4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5</a:t>
              </a:r>
            </a:p>
          </p:txBody>
        </p:sp>
        <p:sp>
          <p:nvSpPr>
            <p:cNvPr id="308" name="a4_t"/>
            <p:cNvSpPr txBox="1"/>
            <p:nvPr/>
          </p:nvSpPr>
          <p:spPr>
            <a:xfrm>
              <a:off x="749808" y="225330"/>
              <a:ext cx="4166466" cy="2077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defTabSz="886968">
                <a:lnSpc>
                  <a:spcPts val="1600"/>
                </a:lnSpc>
                <a:defRPr sz="1261">
                  <a:solidFill>
                    <a:srgbClr val="0C2730"/>
                  </a:solidFill>
                  <a:latin typeface="Arial"/>
                  <a:ea typeface="Arial"/>
                  <a:cs typeface="Arial"/>
                  <a:sym typeface="Arial"/>
                </a:defRPr>
              </a:lvl1pPr>
            </a:lstStyle>
            <a:p>
              <a:pPr/>
              <a:r>
                <a:t>Lower gently; avoid splashing; collect all the water.</a:t>
              </a:r>
            </a:p>
          </p:txBody>
        </p:sp>
      </p:grpSp>
      <p:grpSp>
        <p:nvGrpSpPr>
          <p:cNvPr id="313" name="a5"/>
          <p:cNvGrpSpPr/>
          <p:nvPr/>
        </p:nvGrpSpPr>
        <p:grpSpPr>
          <a:xfrm>
            <a:off x="6525614" y="3328415"/>
            <a:ext cx="5117443" cy="658371"/>
            <a:chOff x="0" y="0"/>
            <a:chExt cx="5117441" cy="658370"/>
          </a:xfrm>
        </p:grpSpPr>
        <p:sp>
          <p:nvSpPr>
            <p:cNvPr id="310" name="a5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311" name="a5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6</a:t>
              </a:r>
            </a:p>
          </p:txBody>
        </p:sp>
        <p:sp>
          <p:nvSpPr>
            <p:cNvPr id="312" name="a5_t"/>
            <p:cNvSpPr txBox="1"/>
            <p:nvPr/>
          </p:nvSpPr>
          <p:spPr>
            <a:xfrm>
              <a:off x="749808" y="117380"/>
              <a:ext cx="4166466" cy="4236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nSpc>
                  <a:spcPts val="1700"/>
                </a:lnSpc>
                <a:defRPr sz="1300">
                  <a:solidFill>
                    <a:srgbClr val="0C2730"/>
                  </a:solidFill>
                  <a:latin typeface="Arial"/>
                  <a:ea typeface="Arial"/>
                  <a:cs typeface="Arial"/>
                  <a:sym typeface="Arial"/>
                </a:defRPr>
              </a:lvl1pPr>
            </a:lstStyle>
            <a:p>
              <a:pPr/>
              <a:r>
                <a:t>51 ÷ 17 = 3.0 g/cm³.</a:t>
              </a:r>
            </a:p>
          </p:txBody>
        </p:sp>
      </p:grpSp>
      <p:grpSp>
        <p:nvGrpSpPr>
          <p:cNvPr id="317" name="a6"/>
          <p:cNvGrpSpPr/>
          <p:nvPr/>
        </p:nvGrpSpPr>
        <p:grpSpPr>
          <a:xfrm>
            <a:off x="1170432" y="4078223"/>
            <a:ext cx="5117443" cy="658371"/>
            <a:chOff x="0" y="0"/>
            <a:chExt cx="5117441" cy="658370"/>
          </a:xfrm>
        </p:grpSpPr>
        <p:sp>
          <p:nvSpPr>
            <p:cNvPr id="314" name="a6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315" name="a6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7</a:t>
              </a:r>
            </a:p>
          </p:txBody>
        </p:sp>
        <p:sp>
          <p:nvSpPr>
            <p:cNvPr id="316" name="a6_t"/>
            <p:cNvSpPr txBox="1"/>
            <p:nvPr/>
          </p:nvSpPr>
          <p:spPr>
            <a:xfrm>
              <a:off x="749808" y="225330"/>
              <a:ext cx="4166466" cy="2077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defTabSz="886968">
                <a:lnSpc>
                  <a:spcPts val="1600"/>
                </a:lnSpc>
                <a:defRPr sz="1261">
                  <a:solidFill>
                    <a:srgbClr val="0C2730"/>
                  </a:solidFill>
                  <a:latin typeface="Arial"/>
                  <a:ea typeface="Arial"/>
                  <a:cs typeface="Arial"/>
                  <a:sym typeface="Arial"/>
                </a:defRPr>
              </a:lvl1pPr>
            </a:lstStyle>
            <a:p>
              <a:pPr/>
              <a:r>
                <a:t>Volume is too small; the object must be fully submerged.</a:t>
              </a:r>
            </a:p>
          </p:txBody>
        </p:sp>
      </p:grpSp>
      <p:grpSp>
        <p:nvGrpSpPr>
          <p:cNvPr id="321" name="a7"/>
          <p:cNvGrpSpPr/>
          <p:nvPr/>
        </p:nvGrpSpPr>
        <p:grpSpPr>
          <a:xfrm>
            <a:off x="6525614" y="4078223"/>
            <a:ext cx="5117443" cy="658371"/>
            <a:chOff x="0" y="0"/>
            <a:chExt cx="5117441" cy="658370"/>
          </a:xfrm>
        </p:grpSpPr>
        <p:sp>
          <p:nvSpPr>
            <p:cNvPr id="318" name="a7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319" name="a7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8</a:t>
              </a:r>
            </a:p>
          </p:txBody>
        </p:sp>
        <p:sp>
          <p:nvSpPr>
            <p:cNvPr id="320" name="a7_t"/>
            <p:cNvSpPr txBox="1"/>
            <p:nvPr/>
          </p:nvSpPr>
          <p:spPr>
            <a:xfrm>
              <a:off x="749808" y="225330"/>
              <a:ext cx="4166466" cy="2077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defTabSz="886968">
                <a:lnSpc>
                  <a:spcPts val="1600"/>
                </a:lnSpc>
                <a:defRPr sz="1261">
                  <a:solidFill>
                    <a:srgbClr val="0C2730"/>
                  </a:solidFill>
                  <a:latin typeface="Arial"/>
                  <a:ea typeface="Arial"/>
                  <a:cs typeface="Arial"/>
                  <a:sym typeface="Arial"/>
                </a:defRPr>
              </a:lvl1pPr>
            </a:lstStyle>
            <a:p>
              <a:pPr/>
              <a:r>
                <a:t>68 ÷ 25 = 2.72 g/cm³.</a:t>
              </a:r>
            </a:p>
          </p:txBody>
        </p:sp>
      </p:grpSp>
      <p:grpSp>
        <p:nvGrpSpPr>
          <p:cNvPr id="325" name="a8"/>
          <p:cNvGrpSpPr/>
          <p:nvPr/>
        </p:nvGrpSpPr>
        <p:grpSpPr>
          <a:xfrm>
            <a:off x="1170432" y="4828032"/>
            <a:ext cx="5117443" cy="658371"/>
            <a:chOff x="0" y="0"/>
            <a:chExt cx="5117441" cy="658370"/>
          </a:xfrm>
        </p:grpSpPr>
        <p:sp>
          <p:nvSpPr>
            <p:cNvPr id="322" name="a8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323" name="a8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9</a:t>
              </a:r>
            </a:p>
          </p:txBody>
        </p:sp>
        <p:sp>
          <p:nvSpPr>
            <p:cNvPr id="324" name="a8_t"/>
            <p:cNvSpPr txBox="1"/>
            <p:nvPr/>
          </p:nvSpPr>
          <p:spPr>
            <a:xfrm>
              <a:off x="749808" y="225330"/>
              <a:ext cx="4166466" cy="2077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defTabSz="886968">
                <a:lnSpc>
                  <a:spcPts val="1600"/>
                </a:lnSpc>
                <a:defRPr sz="1261">
                  <a:solidFill>
                    <a:srgbClr val="0C2730"/>
                  </a:solidFill>
                  <a:latin typeface="Arial"/>
                  <a:ea typeface="Arial"/>
                  <a:cs typeface="Arial"/>
                  <a:sym typeface="Arial"/>
                </a:defRPr>
              </a:lvl1pPr>
            </a:lstStyle>
            <a:p>
              <a:pPr/>
              <a:r>
                <a:t>(24 + 25) ÷ 2 = 24.5 cm³.</a:t>
              </a:r>
            </a:p>
          </p:txBody>
        </p:sp>
      </p:grpSp>
      <p:grpSp>
        <p:nvGrpSpPr>
          <p:cNvPr id="329" name="a9"/>
          <p:cNvGrpSpPr/>
          <p:nvPr/>
        </p:nvGrpSpPr>
        <p:grpSpPr>
          <a:xfrm>
            <a:off x="6525614" y="4828032"/>
            <a:ext cx="5117443" cy="658371"/>
            <a:chOff x="0" y="0"/>
            <a:chExt cx="5117441" cy="658370"/>
          </a:xfrm>
        </p:grpSpPr>
        <p:sp>
          <p:nvSpPr>
            <p:cNvPr id="326" name="a9_bg"/>
            <p:cNvSpPr/>
            <p:nvPr/>
          </p:nvSpPr>
          <p:spPr>
            <a:xfrm>
              <a:off x="0" y="-1"/>
              <a:ext cx="5117443" cy="658372"/>
            </a:xfrm>
            <a:prstGeom prst="roundRect">
              <a:avLst>
                <a:gd name="adj" fmla="val 13889"/>
              </a:avLst>
            </a:prstGeom>
            <a:solidFill>
              <a:srgbClr val="FFFFFF"/>
            </a:solidFill>
            <a:ln w="16510" cap="flat">
              <a:solidFill>
                <a:srgbClr val="D8DEEC"/>
              </a:solidFill>
              <a:prstDash val="solid"/>
              <a:round/>
            </a:ln>
            <a:effectLst/>
          </p:spPr>
          <p:txBody>
            <a:bodyPr wrap="square" lIns="45718" tIns="45718" rIns="45718" bIns="45718" numCol="1" anchor="t">
              <a:noAutofit/>
            </a:bodyPr>
            <a:lstStyle/>
            <a:p>
              <a:pPr/>
            </a:p>
          </p:txBody>
        </p:sp>
        <p:sp>
          <p:nvSpPr>
            <p:cNvPr id="327" name="a9_n"/>
            <p:cNvSpPr txBox="1"/>
            <p:nvPr/>
          </p:nvSpPr>
          <p:spPr>
            <a:xfrm>
              <a:off x="219455" y="195833"/>
              <a:ext cx="45720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25A29"/>
                  </a:solidFill>
                  <a:latin typeface="Georgia"/>
                  <a:ea typeface="Georgia"/>
                  <a:cs typeface="Georgia"/>
                  <a:sym typeface="Georgia"/>
                </a:defRPr>
              </a:lvl1pPr>
            </a:lstStyle>
            <a:p>
              <a:pPr/>
              <a:r>
                <a:t>10</a:t>
              </a:r>
            </a:p>
          </p:txBody>
        </p:sp>
        <p:sp>
          <p:nvSpPr>
            <p:cNvPr id="328" name="a9_t"/>
            <p:cNvSpPr txBox="1"/>
            <p:nvPr/>
          </p:nvSpPr>
          <p:spPr>
            <a:xfrm>
              <a:off x="749808" y="117380"/>
              <a:ext cx="4166466" cy="4236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nSpc>
                  <a:spcPts val="1700"/>
                </a:lnSpc>
                <a:defRPr sz="1200">
                  <a:solidFill>
                    <a:srgbClr val="0C2730"/>
                  </a:solidFill>
                  <a:latin typeface="Arial"/>
                  <a:ea typeface="Arial"/>
                  <a:cs typeface="Arial"/>
                  <a:sym typeface="Arial"/>
                </a:defRPr>
              </a:lvl1pPr>
            </a:lstStyle>
            <a:p>
              <a:pPr/>
              <a:r>
                <a:t>Water adds mass, so the density is measured too high.</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8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93"/>
                                        </p:tgtEl>
                                        <p:attrNameLst>
                                          <p:attrName>style.visibility</p:attrName>
                                        </p:attrNameLst>
                                      </p:cBhvr>
                                      <p:to>
                                        <p:strVal val="visible"/>
                                      </p:to>
                                    </p:set>
                                    <p:animEffect filter="fade" transition="in">
                                      <p:cBhvr>
                                        <p:cTn id="11" dur="400"/>
                                        <p:tgtEl>
                                          <p:spTgt spid="293"/>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297"/>
                                        </p:tgtEl>
                                        <p:attrNameLst>
                                          <p:attrName>style.visibility</p:attrName>
                                        </p:attrNameLst>
                                      </p:cBhvr>
                                      <p:to>
                                        <p:strVal val="visible"/>
                                      </p:to>
                                    </p:set>
                                    <p:animEffect filter="fade" transition="in">
                                      <p:cBhvr>
                                        <p:cTn id="15" dur="400"/>
                                        <p:tgtEl>
                                          <p:spTgt spid="297"/>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301"/>
                                        </p:tgtEl>
                                        <p:attrNameLst>
                                          <p:attrName>style.visibility</p:attrName>
                                        </p:attrNameLst>
                                      </p:cBhvr>
                                      <p:to>
                                        <p:strVal val="visible"/>
                                      </p:to>
                                    </p:set>
                                    <p:animEffect filter="fade" transition="in">
                                      <p:cBhvr>
                                        <p:cTn id="20" dur="400"/>
                                        <p:tgtEl>
                                          <p:spTgt spid="301"/>
                                        </p:tgtEl>
                                      </p:cBhvr>
                                    </p:animEffect>
                                  </p:childTnLst>
                                </p:cTn>
                              </p:par>
                            </p:childTnLst>
                          </p:cTn>
                        </p:par>
                        <p:par>
                          <p:cTn id="21" fill="hold">
                            <p:stCondLst>
                              <p:cond delay="400"/>
                            </p:stCondLst>
                            <p:childTnLst>
                              <p:par>
                                <p:cTn id="22" presetClass="entr" nodeType="afterEffect" presetID="10" grpId="5" fill="hold">
                                  <p:stCondLst>
                                    <p:cond delay="150"/>
                                  </p:stCondLst>
                                  <p:iterate type="el" backwards="0">
                                    <p:tmAbs val="0"/>
                                  </p:iterate>
                                  <p:childTnLst>
                                    <p:set>
                                      <p:cBhvr>
                                        <p:cTn id="23" fill="hold"/>
                                        <p:tgtEl>
                                          <p:spTgt spid="305"/>
                                        </p:tgtEl>
                                        <p:attrNameLst>
                                          <p:attrName>style.visibility</p:attrName>
                                        </p:attrNameLst>
                                      </p:cBhvr>
                                      <p:to>
                                        <p:strVal val="visible"/>
                                      </p:to>
                                    </p:set>
                                    <p:animEffect filter="fade" transition="in">
                                      <p:cBhvr>
                                        <p:cTn id="24" dur="400"/>
                                        <p:tgtEl>
                                          <p:spTgt spid="305"/>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309"/>
                                        </p:tgtEl>
                                        <p:attrNameLst>
                                          <p:attrName>style.visibility</p:attrName>
                                        </p:attrNameLst>
                                      </p:cBhvr>
                                      <p:to>
                                        <p:strVal val="visible"/>
                                      </p:to>
                                    </p:set>
                                    <p:animEffect filter="fade" transition="in">
                                      <p:cBhvr>
                                        <p:cTn id="29" dur="400"/>
                                        <p:tgtEl>
                                          <p:spTgt spid="309"/>
                                        </p:tgtEl>
                                      </p:cBhvr>
                                    </p:animEffect>
                                  </p:childTnLst>
                                </p:cTn>
                              </p:par>
                            </p:childTnLst>
                          </p:cTn>
                        </p:par>
                        <p:par>
                          <p:cTn id="30" fill="hold">
                            <p:stCondLst>
                              <p:cond delay="400"/>
                            </p:stCondLst>
                            <p:childTnLst>
                              <p:par>
                                <p:cTn id="31" presetClass="entr" nodeType="afterEffect" presetID="10" grpId="7" fill="hold">
                                  <p:stCondLst>
                                    <p:cond delay="150"/>
                                  </p:stCondLst>
                                  <p:iterate type="el" backwards="0">
                                    <p:tmAbs val="0"/>
                                  </p:iterate>
                                  <p:childTnLst>
                                    <p:set>
                                      <p:cBhvr>
                                        <p:cTn id="32" fill="hold"/>
                                        <p:tgtEl>
                                          <p:spTgt spid="313"/>
                                        </p:tgtEl>
                                        <p:attrNameLst>
                                          <p:attrName>style.visibility</p:attrName>
                                        </p:attrNameLst>
                                      </p:cBhvr>
                                      <p:to>
                                        <p:strVal val="visible"/>
                                      </p:to>
                                    </p:set>
                                    <p:animEffect filter="fade" transition="in">
                                      <p:cBhvr>
                                        <p:cTn id="33" dur="400"/>
                                        <p:tgtEl>
                                          <p:spTgt spid="313"/>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ID="10" grpId="8" fill="hold">
                                  <p:stCondLst>
                                    <p:cond delay="0"/>
                                  </p:stCondLst>
                                  <p:iterate type="el" backwards="0">
                                    <p:tmAbs val="0"/>
                                  </p:iterate>
                                  <p:childTnLst>
                                    <p:set>
                                      <p:cBhvr>
                                        <p:cTn id="37" fill="hold"/>
                                        <p:tgtEl>
                                          <p:spTgt spid="317"/>
                                        </p:tgtEl>
                                        <p:attrNameLst>
                                          <p:attrName>style.visibility</p:attrName>
                                        </p:attrNameLst>
                                      </p:cBhvr>
                                      <p:to>
                                        <p:strVal val="visible"/>
                                      </p:to>
                                    </p:set>
                                    <p:animEffect filter="fade" transition="in">
                                      <p:cBhvr>
                                        <p:cTn id="38" dur="400"/>
                                        <p:tgtEl>
                                          <p:spTgt spid="317"/>
                                        </p:tgtEl>
                                      </p:cBhvr>
                                    </p:animEffect>
                                  </p:childTnLst>
                                </p:cTn>
                              </p:par>
                            </p:childTnLst>
                          </p:cTn>
                        </p:par>
                        <p:par>
                          <p:cTn id="39" fill="hold">
                            <p:stCondLst>
                              <p:cond delay="400"/>
                            </p:stCondLst>
                            <p:childTnLst>
                              <p:par>
                                <p:cTn id="40" presetClass="entr" nodeType="afterEffect" presetID="10" grpId="9" fill="hold">
                                  <p:stCondLst>
                                    <p:cond delay="150"/>
                                  </p:stCondLst>
                                  <p:iterate type="el" backwards="0">
                                    <p:tmAbs val="0"/>
                                  </p:iterate>
                                  <p:childTnLst>
                                    <p:set>
                                      <p:cBhvr>
                                        <p:cTn id="41" fill="hold"/>
                                        <p:tgtEl>
                                          <p:spTgt spid="321"/>
                                        </p:tgtEl>
                                        <p:attrNameLst>
                                          <p:attrName>style.visibility</p:attrName>
                                        </p:attrNameLst>
                                      </p:cBhvr>
                                      <p:to>
                                        <p:strVal val="visible"/>
                                      </p:to>
                                    </p:set>
                                    <p:animEffect filter="fade" transition="in">
                                      <p:cBhvr>
                                        <p:cTn id="42" dur="400"/>
                                        <p:tgtEl>
                                          <p:spTgt spid="321"/>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ID="10" grpId="10" fill="hold">
                                  <p:stCondLst>
                                    <p:cond delay="0"/>
                                  </p:stCondLst>
                                  <p:iterate type="el" backwards="0">
                                    <p:tmAbs val="0"/>
                                  </p:iterate>
                                  <p:childTnLst>
                                    <p:set>
                                      <p:cBhvr>
                                        <p:cTn id="46" fill="hold"/>
                                        <p:tgtEl>
                                          <p:spTgt spid="325"/>
                                        </p:tgtEl>
                                        <p:attrNameLst>
                                          <p:attrName>style.visibility</p:attrName>
                                        </p:attrNameLst>
                                      </p:cBhvr>
                                      <p:to>
                                        <p:strVal val="visible"/>
                                      </p:to>
                                    </p:set>
                                    <p:animEffect filter="fade" transition="in">
                                      <p:cBhvr>
                                        <p:cTn id="47" dur="400"/>
                                        <p:tgtEl>
                                          <p:spTgt spid="325"/>
                                        </p:tgtEl>
                                      </p:cBhvr>
                                    </p:animEffect>
                                  </p:childTnLst>
                                </p:cTn>
                              </p:par>
                            </p:childTnLst>
                          </p:cTn>
                        </p:par>
                        <p:par>
                          <p:cTn id="48" fill="hold">
                            <p:stCondLst>
                              <p:cond delay="400"/>
                            </p:stCondLst>
                            <p:childTnLst>
                              <p:par>
                                <p:cTn id="49" presetClass="entr" nodeType="afterEffect" presetID="10" grpId="11" fill="hold">
                                  <p:stCondLst>
                                    <p:cond delay="150"/>
                                  </p:stCondLst>
                                  <p:iterate type="el" backwards="0">
                                    <p:tmAbs val="0"/>
                                  </p:iterate>
                                  <p:childTnLst>
                                    <p:set>
                                      <p:cBhvr>
                                        <p:cTn id="50" fill="hold"/>
                                        <p:tgtEl>
                                          <p:spTgt spid="329"/>
                                        </p:tgtEl>
                                        <p:attrNameLst>
                                          <p:attrName>style.visibility</p:attrName>
                                        </p:attrNameLst>
                                      </p:cBhvr>
                                      <p:to>
                                        <p:strVal val="visible"/>
                                      </p:to>
                                    </p:set>
                                    <p:animEffect filter="fade" transition="in">
                                      <p:cBhvr>
                                        <p:cTn id="51" dur="400"/>
                                        <p:tgtEl>
                                          <p:spTgt spid="329"/>
                                        </p:tgtEl>
                                      </p:cBhvr>
                                    </p:animEffect>
                                  </p:childTnLst>
                                </p:cTn>
                              </p:par>
                            </p:childTnLst>
                          </p:cTn>
                        </p:par>
                      </p:childTnLst>
                    </p:cTn>
                  </p:par>
                  <p:par>
                    <p:cTn id="52" fill="hold">
                      <p:stCondLst>
                        <p:cond delay="indefinite"/>
                      </p:stCondLst>
                      <p:childTnLst>
                        <p:par>
                          <p:cTn id="53" fill="hold">
                            <p:stCondLst>
                              <p:cond delay="0"/>
                            </p:stCondLst>
                            <p:childTnLst>
                              <p:par>
                                <p:cTn id="54" presetClass="mediacall" nodeType="clickEffect" presetSubtype="0" presetID="3" grpId="1" fill="hold">
                                  <p:stCondLst>
                                    <p:cond delay="0"/>
                                  </p:stCondLst>
                                  <p:childTnLst>
                                    <p:cmd type="call" cmd="stop">
                                      <p:cBhvr>
                                        <p:cTn id="55" dur="1000" fill="hold"/>
                                        <p:tgtEl>
                                          <p:spTgt spid="285"/>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56" fill="hold" display="0">
                  <p:stCondLst>
                    <p:cond delay="indefinite"/>
                  </p:stCondLst>
                </p:cTn>
                <p:tgtEl>
                  <p:spTgt spid="285"/>
                </p:tgtEl>
              </p:cMediaNode>
            </p:video>
            <p:seq concurrent="1" prevAc="none" nextAc="seek">
              <p:cTn id="57" evtFilter="cancelBubble" nodeType="interactiveSeq" restart="whenNotActive" fill="hold">
                <p:stCondLst>
                  <p:cond delay="0" evt="onClick">
                    <p:tgtEl>
                      <p:spTgt spid="285"/>
                    </p:tgtEl>
                  </p:cond>
                </p:stCondLst>
                <p:endSync delay="0" evt="end">
                  <p:rtn val="all"/>
                </p:endSync>
                <p:childTnLst>
                  <p:par>
                    <p:cTn id="58" fill="hold">
                      <p:stCondLst>
                        <p:cond delay="0"/>
                      </p:stCondLst>
                      <p:childTnLst>
                        <p:par>
                          <p:cTn id="59" fill="hold">
                            <p:stCondLst>
                              <p:cond delay="0"/>
                            </p:stCondLst>
                            <p:childTnLst>
                              <p:par>
                                <p:cTn id="60" presetClass="mediacall" nodeType="clickEffect" presetSubtype="0" presetID="2" fill="hold">
                                  <p:stCondLst>
                                    <p:cond delay="0"/>
                                  </p:stCondLst>
                                  <p:childTnLst>
                                    <p:cmd type="call" cmd="togglePause">
                                      <p:cBhvr>
                                        <p:cTn id="61" dur="1" fill="hold"/>
                                        <p:tgtEl>
                                          <p:spTgt spid="285"/>
                                        </p:tgtEl>
                                      </p:cBhvr>
                                    </p:cmd>
                                  </p:childTnLst>
                                </p:cTn>
                              </p:par>
                            </p:childTnLst>
                          </p:cTn>
                        </p:par>
                      </p:childTnLst>
                    </p:cTn>
                  </p:par>
                </p:childTnLst>
              </p:cTn>
              <p:nextCondLst>
                <p:cond delay="0" evt="onClick">
                  <p:tgtEl>
                    <p:spTgt spid="285"/>
                  </p:tgtEl>
                </p:cond>
              </p:nextCondLst>
            </p:seq>
          </p:childTnLst>
        </p:cTn>
      </p:par>
    </p:tnLst>
    <p:bldLst>
      <p:bldP build="whole" bldLvl="1" animBg="1" rev="0" advAuto="0" spid="321" grpId="9"/>
      <p:bldP build="whole" bldLvl="1" animBg="1" rev="0" advAuto="0" spid="301" grpId="4"/>
      <p:bldP build="whole" bldLvl="1" animBg="1" rev="0" advAuto="0" spid="317" grpId="8"/>
      <p:bldP build="whole" bldLvl="1" animBg="1" rev="0" advAuto="0" spid="297" grpId="3"/>
      <p:bldP build="whole" bldLvl="1" animBg="1" rev="0" advAuto="0" spid="313" grpId="7"/>
      <p:bldP build="whole" bldLvl="1" animBg="1" rev="0" advAuto="0" spid="329" grpId="11"/>
      <p:bldP build="whole" bldLvl="1" animBg="1" rev="0" advAuto="0" spid="293" grpId="2"/>
      <p:bldP build="whole" bldLvl="1" animBg="1" rev="0" advAuto="0" spid="309" grpId="6"/>
      <p:bldP build="whole" bldLvl="1" animBg="1" rev="0" advAuto="0" spid="325" grpId="10"/>
      <p:bldP build="whole" bldLvl="1" animBg="1" rev="0" advAuto="0" spid="305" grpId="5"/>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3D4C"/>
        </a:solidFill>
      </p:bgPr>
    </p:bg>
    <p:spTree>
      <p:nvGrpSpPr>
        <p:cNvPr id="1" name=""/>
        <p:cNvGrpSpPr/>
        <p:nvPr/>
      </p:nvGrpSpPr>
      <p:grpSpPr>
        <a:xfrm>
          <a:off x="0" y="0"/>
          <a:ext cx="0" cy="0"/>
          <a:chOff x="0" y="0"/>
          <a:chExt cx="0" cy="0"/>
        </a:xfrm>
      </p:grpSpPr>
      <p:pic>
        <p:nvPicPr>
          <p:cNvPr id="33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2" cy="6236211"/>
          </a:xfrm>
          <a:prstGeom prst="rect">
            <a:avLst/>
          </a:prstGeom>
          <a:ln w="12700">
            <a:miter lim="400000"/>
          </a:ln>
        </p:spPr>
      </p:pic>
      <p:grpSp>
        <p:nvGrpSpPr>
          <p:cNvPr id="336" name="phase_pill"/>
          <p:cNvGrpSpPr/>
          <p:nvPr/>
        </p:nvGrpSpPr>
        <p:grpSpPr>
          <a:xfrm>
            <a:off x="1170432" y="310894"/>
            <a:ext cx="1892809" cy="329188"/>
            <a:chOff x="0" y="0"/>
            <a:chExt cx="1892808" cy="329186"/>
          </a:xfrm>
        </p:grpSpPr>
        <p:sp>
          <p:nvSpPr>
            <p:cNvPr id="334" name="Rounded Rectangle"/>
            <p:cNvSpPr/>
            <p:nvPr/>
          </p:nvSpPr>
          <p:spPr>
            <a:xfrm>
              <a:off x="0" y="-1"/>
              <a:ext cx="1892809" cy="329188"/>
            </a:xfrm>
            <a:prstGeom prst="roundRect">
              <a:avLst>
                <a:gd name="adj" fmla="val 44444"/>
              </a:avLst>
            </a:prstGeom>
            <a:solidFill>
              <a:srgbClr val="FF8952"/>
            </a:solidFill>
            <a:ln w="12700" cap="flat">
              <a:noFill/>
              <a:miter lim="400000"/>
            </a:ln>
            <a:effectLst/>
          </p:spPr>
          <p:txBody>
            <a:bodyPr wrap="square" lIns="45718" tIns="45718" rIns="45718" bIns="45718" numCol="1" anchor="ctr">
              <a:noAutofit/>
            </a:bodyPr>
            <a:lstStyle/>
            <a:p>
              <a:pPr algn="ctr">
                <a:defRPr sz="1100"/>
              </a:pPr>
            </a:p>
          </p:txBody>
        </p:sp>
        <p:sp>
          <p:nvSpPr>
            <p:cNvPr id="335" name="PLENARY · 3 MIN"/>
            <p:cNvSpPr txBox="1"/>
            <p:nvPr/>
          </p:nvSpPr>
          <p:spPr>
            <a:xfrm>
              <a:off x="42850" y="90677"/>
              <a:ext cx="1807107" cy="1478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lgn="ctr">
                <a:defRPr b="1" spc="100" sz="1100">
                  <a:solidFill>
                    <a:srgbClr val="0B3D4C"/>
                  </a:solidFill>
                  <a:latin typeface="Arial"/>
                  <a:ea typeface="Arial"/>
                  <a:cs typeface="Arial"/>
                  <a:sym typeface="Arial"/>
                </a:defRPr>
              </a:lvl1pPr>
            </a:lstStyle>
            <a:p>
              <a:pPr/>
              <a:r>
                <a:t>PLENARY · 3 MIN</a:t>
              </a:r>
            </a:p>
          </p:txBody>
        </p:sp>
      </p:grpSp>
      <p:sp>
        <p:nvSpPr>
          <p:cNvPr id="337" name="slide_title"/>
          <p:cNvSpPr txBox="1"/>
          <p:nvPr/>
        </p:nvSpPr>
        <p:spPr>
          <a:xfrm>
            <a:off x="1170432" y="965707"/>
            <a:ext cx="10472623" cy="48260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defRPr b="1" sz="3400">
                <a:solidFill>
                  <a:srgbClr val="EFF6F7"/>
                </a:solidFill>
                <a:latin typeface="Georgia"/>
                <a:ea typeface="Georgia"/>
                <a:cs typeface="Georgia"/>
                <a:sym typeface="Georgia"/>
              </a:defRPr>
            </a:lvl1pPr>
          </a:lstStyle>
          <a:p>
            <a:pPr/>
            <a:r>
              <a:t>True or false?</a:t>
            </a:r>
          </a:p>
        </p:txBody>
      </p:sp>
      <p:grpSp>
        <p:nvGrpSpPr>
          <p:cNvPr id="340" name="p0_stmt"/>
          <p:cNvGrpSpPr/>
          <p:nvPr/>
        </p:nvGrpSpPr>
        <p:grpSpPr>
          <a:xfrm>
            <a:off x="1170431" y="2194560"/>
            <a:ext cx="8552385" cy="640083"/>
            <a:chOff x="0" y="0"/>
            <a:chExt cx="8552384" cy="640082"/>
          </a:xfrm>
        </p:grpSpPr>
        <p:sp>
          <p:nvSpPr>
            <p:cNvPr id="338" name="p0_bg"/>
            <p:cNvSpPr/>
            <p:nvPr/>
          </p:nvSpPr>
          <p:spPr>
            <a:xfrm>
              <a:off x="-1" y="-1"/>
              <a:ext cx="8552385" cy="640083"/>
            </a:xfrm>
            <a:prstGeom prst="roundRect">
              <a:avLst>
                <a:gd name="adj" fmla="val 14286"/>
              </a:avLst>
            </a:prstGeom>
            <a:solidFill>
              <a:srgbClr val="1C5A70"/>
            </a:solidFill>
            <a:ln w="12700" cap="flat">
              <a:solidFill>
                <a:srgbClr val="1C5A70"/>
              </a:solidFill>
              <a:prstDash val="solid"/>
              <a:round/>
            </a:ln>
            <a:effectLst/>
          </p:spPr>
          <p:txBody>
            <a:bodyPr wrap="square" lIns="45718" tIns="45718" rIns="45718" bIns="45718" numCol="1" anchor="t">
              <a:noAutofit/>
            </a:bodyPr>
            <a:lstStyle/>
            <a:p>
              <a:pPr/>
            </a:p>
          </p:txBody>
        </p:sp>
        <p:sp>
          <p:nvSpPr>
            <p:cNvPr id="339" name="p0_q"/>
            <p:cNvSpPr txBox="1"/>
            <p:nvPr/>
          </p:nvSpPr>
          <p:spPr>
            <a:xfrm>
              <a:off x="256032" y="209063"/>
              <a:ext cx="8186623" cy="2219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sz="1400">
                  <a:solidFill>
                    <a:srgbClr val="EFF6F7"/>
                  </a:solidFill>
                  <a:latin typeface="Arial"/>
                  <a:ea typeface="Arial"/>
                  <a:cs typeface="Arial"/>
                  <a:sym typeface="Arial"/>
                </a:defRPr>
              </a:lvl1pPr>
            </a:lstStyle>
            <a:p>
              <a:pPr/>
              <a:r>
                <a:t>The volume of displaced water equals the volume of a fully submerged object.</a:t>
              </a:r>
            </a:p>
          </p:txBody>
        </p:sp>
      </p:grpSp>
      <p:sp>
        <p:nvSpPr>
          <p:cNvPr id="341" name="p0_v"/>
          <p:cNvSpPr txBox="1"/>
          <p:nvPr/>
        </p:nvSpPr>
        <p:spPr>
          <a:xfrm>
            <a:off x="9905695" y="2391130"/>
            <a:ext cx="1737362" cy="24693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886968">
              <a:defRPr b="1" spc="97" sz="1649">
                <a:solidFill>
                  <a:srgbClr val="1FA37A"/>
                </a:solidFill>
                <a:latin typeface="Arial"/>
                <a:ea typeface="Arial"/>
                <a:cs typeface="Arial"/>
                <a:sym typeface="Arial"/>
              </a:defRPr>
            </a:lvl1pPr>
          </a:lstStyle>
          <a:p>
            <a:pPr/>
            <a:r>
              <a:t>TRUE</a:t>
            </a:r>
          </a:p>
        </p:txBody>
      </p:sp>
      <p:grpSp>
        <p:nvGrpSpPr>
          <p:cNvPr id="344" name="p1_stmt"/>
          <p:cNvGrpSpPr/>
          <p:nvPr/>
        </p:nvGrpSpPr>
        <p:grpSpPr>
          <a:xfrm>
            <a:off x="1170431" y="2999232"/>
            <a:ext cx="8552385" cy="640083"/>
            <a:chOff x="0" y="0"/>
            <a:chExt cx="8552384" cy="640082"/>
          </a:xfrm>
        </p:grpSpPr>
        <p:sp>
          <p:nvSpPr>
            <p:cNvPr id="342" name="p1_bg"/>
            <p:cNvSpPr/>
            <p:nvPr/>
          </p:nvSpPr>
          <p:spPr>
            <a:xfrm>
              <a:off x="-1" y="-1"/>
              <a:ext cx="8552385" cy="640083"/>
            </a:xfrm>
            <a:prstGeom prst="roundRect">
              <a:avLst>
                <a:gd name="adj" fmla="val 14286"/>
              </a:avLst>
            </a:prstGeom>
            <a:solidFill>
              <a:srgbClr val="1C5A70"/>
            </a:solidFill>
            <a:ln w="12700" cap="flat">
              <a:solidFill>
                <a:srgbClr val="1C5A70"/>
              </a:solidFill>
              <a:prstDash val="solid"/>
              <a:round/>
            </a:ln>
            <a:effectLst/>
          </p:spPr>
          <p:txBody>
            <a:bodyPr wrap="square" lIns="45718" tIns="45718" rIns="45718" bIns="45718" numCol="1" anchor="t">
              <a:noAutofit/>
            </a:bodyPr>
            <a:lstStyle/>
            <a:p>
              <a:pPr/>
            </a:p>
          </p:txBody>
        </p:sp>
        <p:sp>
          <p:nvSpPr>
            <p:cNvPr id="343" name="p1_q"/>
            <p:cNvSpPr txBox="1"/>
            <p:nvPr/>
          </p:nvSpPr>
          <p:spPr>
            <a:xfrm>
              <a:off x="256032" y="209063"/>
              <a:ext cx="8186623" cy="2219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sz="1400">
                  <a:solidFill>
                    <a:srgbClr val="EFF6F7"/>
                  </a:solidFill>
                  <a:latin typeface="Arial"/>
                  <a:ea typeface="Arial"/>
                  <a:cs typeface="Arial"/>
                  <a:sym typeface="Arial"/>
                </a:defRPr>
              </a:lvl1pPr>
            </a:lstStyle>
            <a:p>
              <a:pPr/>
              <a:r>
                <a:t>The object can be partly submerged if we want its total volume.</a:t>
              </a:r>
            </a:p>
          </p:txBody>
        </p:sp>
      </p:grpSp>
      <p:sp>
        <p:nvSpPr>
          <p:cNvPr id="345" name="p1_v"/>
          <p:cNvSpPr txBox="1"/>
          <p:nvPr/>
        </p:nvSpPr>
        <p:spPr>
          <a:xfrm>
            <a:off x="9905695" y="3195802"/>
            <a:ext cx="1737362" cy="24693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886968">
              <a:defRPr b="1" spc="97" sz="1649">
                <a:solidFill>
                  <a:srgbClr val="1FA37A"/>
                </a:solidFill>
                <a:latin typeface="Arial"/>
                <a:ea typeface="Arial"/>
                <a:cs typeface="Arial"/>
                <a:sym typeface="Arial"/>
              </a:defRPr>
            </a:lvl1pPr>
          </a:lstStyle>
          <a:p>
            <a:pPr/>
            <a:r>
              <a:t>FALSE</a:t>
            </a:r>
          </a:p>
        </p:txBody>
      </p:sp>
      <p:grpSp>
        <p:nvGrpSpPr>
          <p:cNvPr id="348" name="p2_stmt"/>
          <p:cNvGrpSpPr/>
          <p:nvPr/>
        </p:nvGrpSpPr>
        <p:grpSpPr>
          <a:xfrm>
            <a:off x="1170431" y="3803903"/>
            <a:ext cx="8552385" cy="640083"/>
            <a:chOff x="0" y="0"/>
            <a:chExt cx="8552384" cy="640082"/>
          </a:xfrm>
        </p:grpSpPr>
        <p:sp>
          <p:nvSpPr>
            <p:cNvPr id="346" name="p2_bg"/>
            <p:cNvSpPr/>
            <p:nvPr/>
          </p:nvSpPr>
          <p:spPr>
            <a:xfrm>
              <a:off x="-1" y="-1"/>
              <a:ext cx="8552385" cy="640083"/>
            </a:xfrm>
            <a:prstGeom prst="roundRect">
              <a:avLst>
                <a:gd name="adj" fmla="val 14286"/>
              </a:avLst>
            </a:prstGeom>
            <a:solidFill>
              <a:srgbClr val="1C5A70"/>
            </a:solidFill>
            <a:ln w="12700" cap="flat">
              <a:solidFill>
                <a:srgbClr val="1C5A70"/>
              </a:solidFill>
              <a:prstDash val="solid"/>
              <a:round/>
            </a:ln>
            <a:effectLst/>
          </p:spPr>
          <p:txBody>
            <a:bodyPr wrap="square" lIns="45718" tIns="45718" rIns="45718" bIns="45718" numCol="1" anchor="t">
              <a:noAutofit/>
            </a:bodyPr>
            <a:lstStyle/>
            <a:p>
              <a:pPr/>
            </a:p>
          </p:txBody>
        </p:sp>
        <p:sp>
          <p:nvSpPr>
            <p:cNvPr id="347" name="p2_q"/>
            <p:cNvSpPr txBox="1"/>
            <p:nvPr/>
          </p:nvSpPr>
          <p:spPr>
            <a:xfrm>
              <a:off x="256032" y="209063"/>
              <a:ext cx="8186623" cy="2219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sz="1400">
                  <a:solidFill>
                    <a:srgbClr val="EFF6F7"/>
                  </a:solidFill>
                  <a:latin typeface="Arial"/>
                  <a:ea typeface="Arial"/>
                  <a:cs typeface="Arial"/>
                  <a:sym typeface="Arial"/>
                </a:defRPr>
              </a:lvl1pPr>
            </a:lstStyle>
            <a:p>
              <a:pPr/>
              <a:r>
                <a:t>A measuring cylinder is used to measure the collected displaced water.</a:t>
              </a:r>
            </a:p>
          </p:txBody>
        </p:sp>
      </p:grpSp>
      <p:sp>
        <p:nvSpPr>
          <p:cNvPr id="349" name="p2_v"/>
          <p:cNvSpPr txBox="1"/>
          <p:nvPr/>
        </p:nvSpPr>
        <p:spPr>
          <a:xfrm>
            <a:off x="9905695" y="4000474"/>
            <a:ext cx="1737362" cy="24693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886968">
              <a:defRPr b="1" spc="97" sz="1649">
                <a:solidFill>
                  <a:srgbClr val="FF8952"/>
                </a:solidFill>
                <a:latin typeface="Arial"/>
                <a:ea typeface="Arial"/>
                <a:cs typeface="Arial"/>
                <a:sym typeface="Arial"/>
              </a:defRPr>
            </a:lvl1pPr>
          </a:lstStyle>
          <a:p>
            <a:pPr/>
            <a:r>
              <a:t>TRUE</a:t>
            </a:r>
          </a:p>
        </p:txBody>
      </p:sp>
      <p:grpSp>
        <p:nvGrpSpPr>
          <p:cNvPr id="352" name="p3_stmt"/>
          <p:cNvGrpSpPr/>
          <p:nvPr/>
        </p:nvGrpSpPr>
        <p:grpSpPr>
          <a:xfrm>
            <a:off x="1170431" y="4608576"/>
            <a:ext cx="8552385" cy="640083"/>
            <a:chOff x="0" y="0"/>
            <a:chExt cx="8552384" cy="640082"/>
          </a:xfrm>
        </p:grpSpPr>
        <p:sp>
          <p:nvSpPr>
            <p:cNvPr id="350" name="p3_bg"/>
            <p:cNvSpPr/>
            <p:nvPr/>
          </p:nvSpPr>
          <p:spPr>
            <a:xfrm>
              <a:off x="-1" y="-1"/>
              <a:ext cx="8552385" cy="640083"/>
            </a:xfrm>
            <a:prstGeom prst="roundRect">
              <a:avLst>
                <a:gd name="adj" fmla="val 14286"/>
              </a:avLst>
            </a:prstGeom>
            <a:solidFill>
              <a:srgbClr val="1C5A70"/>
            </a:solidFill>
            <a:ln w="12700" cap="flat">
              <a:solidFill>
                <a:srgbClr val="1C5A70"/>
              </a:solidFill>
              <a:prstDash val="solid"/>
              <a:round/>
            </a:ln>
            <a:effectLst/>
          </p:spPr>
          <p:txBody>
            <a:bodyPr wrap="square" lIns="45718" tIns="45718" rIns="45718" bIns="45718" numCol="1" anchor="t">
              <a:noAutofit/>
            </a:bodyPr>
            <a:lstStyle/>
            <a:p>
              <a:pPr/>
            </a:p>
          </p:txBody>
        </p:sp>
        <p:sp>
          <p:nvSpPr>
            <p:cNvPr id="351" name="p3_q"/>
            <p:cNvSpPr txBox="1"/>
            <p:nvPr/>
          </p:nvSpPr>
          <p:spPr>
            <a:xfrm>
              <a:off x="256032" y="209063"/>
              <a:ext cx="8186623" cy="2219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sz="1300">
                  <a:solidFill>
                    <a:srgbClr val="EFF6F7"/>
                  </a:solidFill>
                  <a:latin typeface="Arial"/>
                  <a:ea typeface="Arial"/>
                  <a:cs typeface="Arial"/>
                  <a:sym typeface="Arial"/>
                </a:defRPr>
              </a:lvl1pPr>
            </a:lstStyle>
            <a:p>
              <a:pPr/>
              <a:r>
                <a:t>The Eureka can should be filled to the spout and allowed to stop running before the test.</a:t>
              </a:r>
            </a:p>
          </p:txBody>
        </p:sp>
      </p:grpSp>
      <p:sp>
        <p:nvSpPr>
          <p:cNvPr id="353" name="p3_v"/>
          <p:cNvSpPr txBox="1"/>
          <p:nvPr/>
        </p:nvSpPr>
        <p:spPr>
          <a:xfrm>
            <a:off x="9905695" y="4805147"/>
            <a:ext cx="1737362" cy="24693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886968">
              <a:defRPr b="1" spc="97" sz="1649">
                <a:solidFill>
                  <a:srgbClr val="1FA37A"/>
                </a:solidFill>
                <a:latin typeface="Arial"/>
                <a:ea typeface="Arial"/>
                <a:cs typeface="Arial"/>
                <a:sym typeface="Arial"/>
              </a:defRPr>
            </a:lvl1pPr>
          </a:lstStyle>
          <a:p>
            <a:pPr/>
            <a:r>
              <a:t>TRUE</a:t>
            </a:r>
          </a:p>
        </p:txBody>
      </p:sp>
      <p:grpSp>
        <p:nvGrpSpPr>
          <p:cNvPr id="356" name="p4_stmt"/>
          <p:cNvGrpSpPr/>
          <p:nvPr/>
        </p:nvGrpSpPr>
        <p:grpSpPr>
          <a:xfrm>
            <a:off x="1170431" y="5413247"/>
            <a:ext cx="8552385" cy="640083"/>
            <a:chOff x="0" y="0"/>
            <a:chExt cx="8552384" cy="640082"/>
          </a:xfrm>
        </p:grpSpPr>
        <p:sp>
          <p:nvSpPr>
            <p:cNvPr id="354" name="p4_bg"/>
            <p:cNvSpPr/>
            <p:nvPr/>
          </p:nvSpPr>
          <p:spPr>
            <a:xfrm>
              <a:off x="-1" y="-1"/>
              <a:ext cx="8552385" cy="640083"/>
            </a:xfrm>
            <a:prstGeom prst="roundRect">
              <a:avLst>
                <a:gd name="adj" fmla="val 14286"/>
              </a:avLst>
            </a:prstGeom>
            <a:solidFill>
              <a:srgbClr val="1C5A70"/>
            </a:solidFill>
            <a:ln w="12700" cap="flat">
              <a:solidFill>
                <a:srgbClr val="1C5A70"/>
              </a:solidFill>
              <a:prstDash val="solid"/>
              <a:round/>
            </a:ln>
            <a:effectLst/>
          </p:spPr>
          <p:txBody>
            <a:bodyPr wrap="square" lIns="45718" tIns="45718" rIns="45718" bIns="45718" numCol="1" anchor="t">
              <a:noAutofit/>
            </a:bodyPr>
            <a:lstStyle/>
            <a:p>
              <a:pPr/>
            </a:p>
          </p:txBody>
        </p:sp>
        <p:sp>
          <p:nvSpPr>
            <p:cNvPr id="355" name="p4_q"/>
            <p:cNvSpPr txBox="1"/>
            <p:nvPr/>
          </p:nvSpPr>
          <p:spPr>
            <a:xfrm>
              <a:off x="256032" y="209063"/>
              <a:ext cx="8186623" cy="2219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rmAutofit fontScale="100000" lnSpcReduction="0"/>
            </a:bodyPr>
            <a:lstStyle>
              <a:lvl1pPr>
                <a:defRPr sz="1400">
                  <a:solidFill>
                    <a:srgbClr val="EFF6F7"/>
                  </a:solidFill>
                  <a:latin typeface="Arial"/>
                  <a:ea typeface="Arial"/>
                  <a:cs typeface="Arial"/>
                  <a:sym typeface="Arial"/>
                </a:defRPr>
              </a:lvl1pPr>
            </a:lstStyle>
            <a:p>
              <a:pPr/>
              <a:r>
                <a:t>Losing some displaced water makes the measured volume too high.</a:t>
              </a:r>
            </a:p>
          </p:txBody>
        </p:sp>
      </p:grpSp>
      <p:sp>
        <p:nvSpPr>
          <p:cNvPr id="357" name="p4_v"/>
          <p:cNvSpPr txBox="1"/>
          <p:nvPr/>
        </p:nvSpPr>
        <p:spPr>
          <a:xfrm>
            <a:off x="9905695" y="5609818"/>
            <a:ext cx="1737362" cy="24693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886968">
              <a:defRPr b="1" spc="97" sz="1649">
                <a:solidFill>
                  <a:srgbClr val="FF8952"/>
                </a:solidFill>
                <a:latin typeface="Arial"/>
                <a:ea typeface="Arial"/>
                <a:cs typeface="Arial"/>
                <a:sym typeface="Arial"/>
              </a:defRPr>
            </a:lvl1pPr>
          </a:lstStyle>
          <a:p>
            <a:pPr/>
            <a:r>
              <a:t>FALSE</a:t>
            </a:r>
          </a:p>
        </p:txBody>
      </p:sp>
      <p:sp>
        <p:nvSpPr>
          <p:cNvPr id="358" name="pl_next"/>
          <p:cNvSpPr txBox="1"/>
          <p:nvPr/>
        </p:nvSpPr>
        <p:spPr>
          <a:xfrm>
            <a:off x="1170432" y="6189238"/>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868680">
              <a:defRPr b="1" i="1" sz="1520">
                <a:solidFill>
                  <a:srgbClr val="FF8952"/>
                </a:solidFill>
                <a:latin typeface="Arial"/>
                <a:ea typeface="Arial"/>
                <a:cs typeface="Arial"/>
                <a:sym typeface="Arial"/>
              </a:defRPr>
            </a:lvl1pPr>
          </a:lstStyle>
          <a:p>
            <a:pPr/>
            <a:r>
              <a:t>Collect all the water. Measure the volume. Then ρ = m ÷ V.</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3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40"/>
                                        </p:tgtEl>
                                        <p:attrNameLst>
                                          <p:attrName>style.visibility</p:attrName>
                                        </p:attrNameLst>
                                      </p:cBhvr>
                                      <p:to>
                                        <p:strVal val="visible"/>
                                      </p:to>
                                    </p:set>
                                    <p:animEffect filter="fade" transition="in">
                                      <p:cBhvr>
                                        <p:cTn id="11" dur="400"/>
                                        <p:tgtEl>
                                          <p:spTgt spid="340"/>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341"/>
                                        </p:tgtEl>
                                        <p:attrNameLst>
                                          <p:attrName>style.visibility</p:attrName>
                                        </p:attrNameLst>
                                      </p:cBhvr>
                                      <p:to>
                                        <p:strVal val="visible"/>
                                      </p:to>
                                    </p:set>
                                    <p:anim calcmode="lin" valueType="num">
                                      <p:cBhvr>
                                        <p:cTn id="16" dur="400" fill="hold"/>
                                        <p:tgtEl>
                                          <p:spTgt spid="341"/>
                                        </p:tgtEl>
                                        <p:attrNameLst>
                                          <p:attrName>ppt_w</p:attrName>
                                        </p:attrNameLst>
                                      </p:cBhvr>
                                      <p:tavLst>
                                        <p:tav tm="0">
                                          <p:val>
                                            <p:fltVal val="0"/>
                                          </p:val>
                                        </p:tav>
                                        <p:tav tm="100000">
                                          <p:val>
                                            <p:strVal val="#ppt_w"/>
                                          </p:val>
                                        </p:tav>
                                      </p:tavLst>
                                    </p:anim>
                                    <p:anim calcmode="lin" valueType="num">
                                      <p:cBhvr>
                                        <p:cTn id="17" dur="400" fill="hold"/>
                                        <p:tgtEl>
                                          <p:spTgt spid="341"/>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44"/>
                                        </p:tgtEl>
                                        <p:attrNameLst>
                                          <p:attrName>style.visibility</p:attrName>
                                        </p:attrNameLst>
                                      </p:cBhvr>
                                      <p:to>
                                        <p:strVal val="visible"/>
                                      </p:to>
                                    </p:set>
                                    <p:animEffect filter="fade" transition="in">
                                      <p:cBhvr>
                                        <p:cTn id="22" dur="400"/>
                                        <p:tgtEl>
                                          <p:spTgt spid="344"/>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45"/>
                                        </p:tgtEl>
                                        <p:attrNameLst>
                                          <p:attrName>style.visibility</p:attrName>
                                        </p:attrNameLst>
                                      </p:cBhvr>
                                      <p:to>
                                        <p:strVal val="visible"/>
                                      </p:to>
                                    </p:set>
                                    <p:anim calcmode="lin" valueType="num">
                                      <p:cBhvr>
                                        <p:cTn id="27" dur="400" fill="hold"/>
                                        <p:tgtEl>
                                          <p:spTgt spid="345"/>
                                        </p:tgtEl>
                                        <p:attrNameLst>
                                          <p:attrName>ppt_w</p:attrName>
                                        </p:attrNameLst>
                                      </p:cBhvr>
                                      <p:tavLst>
                                        <p:tav tm="0">
                                          <p:val>
                                            <p:fltVal val="0"/>
                                          </p:val>
                                        </p:tav>
                                        <p:tav tm="100000">
                                          <p:val>
                                            <p:strVal val="#ppt_w"/>
                                          </p:val>
                                        </p:tav>
                                      </p:tavLst>
                                    </p:anim>
                                    <p:anim calcmode="lin" valueType="num">
                                      <p:cBhvr>
                                        <p:cTn id="28" dur="400" fill="hold"/>
                                        <p:tgtEl>
                                          <p:spTgt spid="345"/>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48"/>
                                        </p:tgtEl>
                                        <p:attrNameLst>
                                          <p:attrName>style.visibility</p:attrName>
                                        </p:attrNameLst>
                                      </p:cBhvr>
                                      <p:to>
                                        <p:strVal val="visible"/>
                                      </p:to>
                                    </p:set>
                                    <p:animEffect filter="fade" transition="in">
                                      <p:cBhvr>
                                        <p:cTn id="33" dur="400"/>
                                        <p:tgtEl>
                                          <p:spTgt spid="348"/>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49"/>
                                        </p:tgtEl>
                                        <p:attrNameLst>
                                          <p:attrName>style.visibility</p:attrName>
                                        </p:attrNameLst>
                                      </p:cBhvr>
                                      <p:to>
                                        <p:strVal val="visible"/>
                                      </p:to>
                                    </p:set>
                                    <p:anim calcmode="lin" valueType="num">
                                      <p:cBhvr>
                                        <p:cTn id="38" dur="400" fill="hold"/>
                                        <p:tgtEl>
                                          <p:spTgt spid="349"/>
                                        </p:tgtEl>
                                        <p:attrNameLst>
                                          <p:attrName>ppt_w</p:attrName>
                                        </p:attrNameLst>
                                      </p:cBhvr>
                                      <p:tavLst>
                                        <p:tav tm="0">
                                          <p:val>
                                            <p:fltVal val="0"/>
                                          </p:val>
                                        </p:tav>
                                        <p:tav tm="100000">
                                          <p:val>
                                            <p:strVal val="#ppt_w"/>
                                          </p:val>
                                        </p:tav>
                                      </p:tavLst>
                                    </p:anim>
                                    <p:anim calcmode="lin" valueType="num">
                                      <p:cBhvr>
                                        <p:cTn id="39" dur="400" fill="hold"/>
                                        <p:tgtEl>
                                          <p:spTgt spid="349"/>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52"/>
                                        </p:tgtEl>
                                        <p:attrNameLst>
                                          <p:attrName>style.visibility</p:attrName>
                                        </p:attrNameLst>
                                      </p:cBhvr>
                                      <p:to>
                                        <p:strVal val="visible"/>
                                      </p:to>
                                    </p:set>
                                    <p:animEffect filter="fade" transition="in">
                                      <p:cBhvr>
                                        <p:cTn id="44" dur="400"/>
                                        <p:tgtEl>
                                          <p:spTgt spid="352"/>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53"/>
                                        </p:tgtEl>
                                        <p:attrNameLst>
                                          <p:attrName>style.visibility</p:attrName>
                                        </p:attrNameLst>
                                      </p:cBhvr>
                                      <p:to>
                                        <p:strVal val="visible"/>
                                      </p:to>
                                    </p:set>
                                    <p:anim calcmode="lin" valueType="num">
                                      <p:cBhvr>
                                        <p:cTn id="49" dur="400" fill="hold"/>
                                        <p:tgtEl>
                                          <p:spTgt spid="353"/>
                                        </p:tgtEl>
                                        <p:attrNameLst>
                                          <p:attrName>ppt_w</p:attrName>
                                        </p:attrNameLst>
                                      </p:cBhvr>
                                      <p:tavLst>
                                        <p:tav tm="0">
                                          <p:val>
                                            <p:fltVal val="0"/>
                                          </p:val>
                                        </p:tav>
                                        <p:tav tm="100000">
                                          <p:val>
                                            <p:strVal val="#ppt_w"/>
                                          </p:val>
                                        </p:tav>
                                      </p:tavLst>
                                    </p:anim>
                                    <p:anim calcmode="lin" valueType="num">
                                      <p:cBhvr>
                                        <p:cTn id="50" dur="400" fill="hold"/>
                                        <p:tgtEl>
                                          <p:spTgt spid="353"/>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56"/>
                                        </p:tgtEl>
                                        <p:attrNameLst>
                                          <p:attrName>style.visibility</p:attrName>
                                        </p:attrNameLst>
                                      </p:cBhvr>
                                      <p:to>
                                        <p:strVal val="visible"/>
                                      </p:to>
                                    </p:set>
                                    <p:animEffect filter="fade" transition="in">
                                      <p:cBhvr>
                                        <p:cTn id="55" dur="400"/>
                                        <p:tgtEl>
                                          <p:spTgt spid="356"/>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57"/>
                                        </p:tgtEl>
                                        <p:attrNameLst>
                                          <p:attrName>style.visibility</p:attrName>
                                        </p:attrNameLst>
                                      </p:cBhvr>
                                      <p:to>
                                        <p:strVal val="visible"/>
                                      </p:to>
                                    </p:set>
                                    <p:anim calcmode="lin" valueType="num">
                                      <p:cBhvr>
                                        <p:cTn id="60" dur="400" fill="hold"/>
                                        <p:tgtEl>
                                          <p:spTgt spid="357"/>
                                        </p:tgtEl>
                                        <p:attrNameLst>
                                          <p:attrName>ppt_w</p:attrName>
                                        </p:attrNameLst>
                                      </p:cBhvr>
                                      <p:tavLst>
                                        <p:tav tm="0">
                                          <p:val>
                                            <p:fltVal val="0"/>
                                          </p:val>
                                        </p:tav>
                                        <p:tav tm="100000">
                                          <p:val>
                                            <p:strVal val="#ppt_w"/>
                                          </p:val>
                                        </p:tav>
                                      </p:tavLst>
                                    </p:anim>
                                    <p:anim calcmode="lin" valueType="num">
                                      <p:cBhvr>
                                        <p:cTn id="61" dur="400" fill="hold"/>
                                        <p:tgtEl>
                                          <p:spTgt spid="357"/>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58"/>
                                        </p:tgtEl>
                                        <p:attrNameLst>
                                          <p:attrName>style.visibility</p:attrName>
                                        </p:attrNameLst>
                                      </p:cBhvr>
                                      <p:to>
                                        <p:strVal val="visible"/>
                                      </p:to>
                                    </p:set>
                                    <p:animEffect filter="fade" transition="in">
                                      <p:cBhvr>
                                        <p:cTn id="66" dur="400"/>
                                        <p:tgtEl>
                                          <p:spTgt spid="358"/>
                                        </p:tgtEl>
                                      </p:cBhvr>
                                    </p:animEffect>
                                  </p:childTnLst>
                                </p:cTn>
                              </p:par>
                            </p:childTnLst>
                          </p:cTn>
                        </p:par>
                      </p:childTnLst>
                    </p:cTn>
                  </p:par>
                  <p:par>
                    <p:cTn id="67" fill="hold">
                      <p:stCondLst>
                        <p:cond delay="indefinite"/>
                      </p:stCondLst>
                      <p:childTnLst>
                        <p:par>
                          <p:cTn id="68" fill="hold">
                            <p:stCondLst>
                              <p:cond delay="0"/>
                            </p:stCondLst>
                            <p:childTnLst>
                              <p:par>
                                <p:cTn id="69" presetClass="mediacall" nodeType="clickEffect" presetSubtype="0" presetID="3" grpId="1" fill="hold">
                                  <p:stCondLst>
                                    <p:cond delay="0"/>
                                  </p:stCondLst>
                                  <p:childTnLst>
                                    <p:cmd type="call" cmd="stop">
                                      <p:cBhvr>
                                        <p:cTn id="70" dur="1000" fill="hold"/>
                                        <p:tgtEl>
                                          <p:spTgt spid="333"/>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71" fill="hold" display="0">
                  <p:stCondLst>
                    <p:cond delay="indefinite"/>
                  </p:stCondLst>
                </p:cTn>
                <p:tgtEl>
                  <p:spTgt spid="333"/>
                </p:tgtEl>
              </p:cMediaNode>
            </p:video>
            <p:seq concurrent="1" prevAc="none" nextAc="seek">
              <p:cTn id="72" evtFilter="cancelBubble" nodeType="interactiveSeq" restart="whenNotActive" fill="hold">
                <p:stCondLst>
                  <p:cond delay="0" evt="onClick">
                    <p:tgtEl>
                      <p:spTgt spid="333"/>
                    </p:tgtEl>
                  </p:cond>
                </p:stCondLst>
                <p:endSync delay="0" evt="end">
                  <p:rtn val="all"/>
                </p:endSync>
                <p:childTnLst>
                  <p:par>
                    <p:cTn id="73" fill="hold">
                      <p:stCondLst>
                        <p:cond delay="0"/>
                      </p:stCondLst>
                      <p:childTnLst>
                        <p:par>
                          <p:cTn id="74" fill="hold">
                            <p:stCondLst>
                              <p:cond delay="0"/>
                            </p:stCondLst>
                            <p:childTnLst>
                              <p:par>
                                <p:cTn id="75" presetClass="mediacall" nodeType="clickEffect" presetSubtype="0" presetID="2" fill="hold">
                                  <p:stCondLst>
                                    <p:cond delay="0"/>
                                  </p:stCondLst>
                                  <p:childTnLst>
                                    <p:cmd type="call" cmd="togglePause">
                                      <p:cBhvr>
                                        <p:cTn id="76" dur="1" fill="hold"/>
                                        <p:tgtEl>
                                          <p:spTgt spid="333"/>
                                        </p:tgtEl>
                                      </p:cBhvr>
                                    </p:cmd>
                                  </p:childTnLst>
                                </p:cTn>
                              </p:par>
                            </p:childTnLst>
                          </p:cTn>
                        </p:par>
                      </p:childTnLst>
                    </p:cTn>
                  </p:par>
                </p:childTnLst>
              </p:cTn>
              <p:nextCondLst>
                <p:cond delay="0" evt="onClick">
                  <p:tgtEl>
                    <p:spTgt spid="333"/>
                  </p:tgtEl>
                </p:cond>
              </p:nextCondLst>
            </p:seq>
          </p:childTnLst>
        </p:cTn>
      </p:par>
    </p:tnLst>
    <p:bldLst>
      <p:bldP build="whole" bldLvl="1" animBg="1" rev="0" advAuto="0" spid="358" grpId="12"/>
      <p:bldP build="whole" bldLvl="1" animBg="1" rev="0" advAuto="0" spid="345" grpId="5"/>
      <p:bldP build="whole" bldLvl="1" animBg="1" rev="0" advAuto="0" spid="344" grpId="4"/>
      <p:bldP build="whole" bldLvl="1" animBg="1" rev="0" advAuto="0" spid="349" grpId="7"/>
      <p:bldP build="whole" bldLvl="1" animBg="1" rev="0" advAuto="0" spid="352" grpId="8"/>
      <p:bldP build="whole" bldLvl="1" animBg="1" rev="0" advAuto="0" spid="356" grpId="10"/>
      <p:bldP build="whole" bldLvl="1" animBg="1" rev="0" advAuto="0" spid="353" grpId="9"/>
      <p:bldP build="whole" bldLvl="1" animBg="1" rev="0" advAuto="0" spid="340" grpId="2"/>
      <p:bldP build="whole" bldLvl="1" animBg="1" rev="0" advAuto="0" spid="357" grpId="11"/>
      <p:bldP build="whole" bldLvl="1" animBg="1" rev="0" advAuto="0" spid="341" grpId="3"/>
      <p:bldP build="whole" bldLvl="1" animBg="1" rev="0" advAuto="0" spid="348" grpId="6"/>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