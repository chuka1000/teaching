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31" name="Shape 31"/>
          <p:cNvSpPr/>
          <p:nvPr>
            <p:ph type="sldImg"/>
          </p:nvPr>
        </p:nvSpPr>
        <p:spPr>
          <a:xfrm>
            <a:off x="1143000" y="685800"/>
            <a:ext cx="4572000" cy="3429000"/>
          </a:xfrm>
          <a:prstGeom prst="rect">
            <a:avLst/>
          </a:prstGeom>
        </p:spPr>
        <p:txBody>
          <a:bodyPr/>
          <a:lstStyle/>
          <a:p>
            <a:pPr/>
          </a:p>
        </p:txBody>
      </p:sp>
      <p:sp>
        <p:nvSpPr>
          <p:cNvPr id="32" name="Shape 3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 name="Shape 47"/>
          <p:cNvSpPr/>
          <p:nvPr>
            <p:ph type="sldImg"/>
          </p:nvPr>
        </p:nvSpPr>
        <p:spPr>
          <a:prstGeom prst="rect">
            <a:avLst/>
          </a:prstGeom>
        </p:spPr>
        <p:txBody>
          <a:bodyPr/>
          <a:lstStyle/>
          <a:p>
            <a:pPr/>
          </a:p>
        </p:txBody>
      </p:sp>
      <p:sp>
        <p:nvSpPr>
          <p:cNvPr id="48" name="Shape 48"/>
          <p:cNvSpPr/>
          <p:nvPr>
            <p:ph type="body" sz="quarter" idx="1"/>
          </p:nvPr>
        </p:nvSpPr>
        <p:spPr>
          <a:prstGeom prst="rect">
            <a:avLst/>
          </a:prstGeom>
        </p:spPr>
        <p:txBody>
          <a:bodyPr/>
          <a:lstStyle/>
          <a:p>
            <a:pPr/>
            <a:r>
              <a:t>Hidden teacher slide. Before lesson: remind yourself that this lesson is intentionally simple. Students will learn the locations “centre” and “outside”, not the identities of particles.</a:t>
            </a:r>
          </a:p>
          <a:p>
            <a:pPr/>
          </a:p>
          <a:p>
            <a:pPr/>
            <a:r>
              <a:t>Timings: Title 1; Today 2; Do Now 5; Hook 4; New words 5; I Do draw 6; I Do label 5; We Do 5; model-kit activity 7; worksheet 7; plenary 3 = 50.</a:t>
            </a:r>
          </a:p>
          <a:p>
            <a:pPr/>
          </a:p>
          <a:p>
            <a:pPr/>
            <a:r>
              <a:t>Click: this slide is hidden in the slideshow.</a:t>
            </a:r>
          </a:p>
          <a:p>
            <a:pPr/>
            <a:r>
              <a:t>Model answer: centre = inside the atom; outside = outer area.</a:t>
            </a:r>
          </a:p>
          <a:p>
            <a:pPr/>
            <a:r>
              <a:t>Misconception: pupils may picture the atom as a solid ball with a small ball inside. Recast: “simple picture: centre and outside area”.</a:t>
            </a:r>
          </a:p>
          <a:p>
            <a:pPr/>
            <a:r>
              <a:t>Stretch: “Why is this only a model?” Because the picture is simplified and not to scale.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 name="Shape 63"/>
          <p:cNvSpPr/>
          <p:nvPr>
            <p:ph type="sldImg"/>
          </p:nvPr>
        </p:nvSpPr>
        <p:spPr>
          <a:prstGeom prst="rect">
            <a:avLst/>
          </a:prstGeom>
        </p:spPr>
        <p:txBody>
          <a:bodyPr/>
          <a:lstStyle/>
          <a:p>
            <a:pPr/>
          </a:p>
        </p:txBody>
      </p:sp>
      <p:sp>
        <p:nvSpPr>
          <p:cNvPr id="64" name="Shape 64"/>
          <p:cNvSpPr/>
          <p:nvPr>
            <p:ph type="body" sz="quarter" idx="1"/>
          </p:nvPr>
        </p:nvSpPr>
        <p:spPr>
          <a:prstGeom prst="rect">
            <a:avLst/>
          </a:prstGeom>
        </p:spPr>
        <p:txBody>
          <a:bodyPr/>
          <a:lstStyle/>
          <a:p>
            <a:pPr/>
            <a:r>
              <a:t>Title 1 minute. Read the title slowly; class repeats. Point to the big simple atom picture.</a:t>
            </a:r>
          </a:p>
          <a:p>
            <a:pPr/>
          </a:p>
          <a:p>
            <a:pPr/>
            <a:r>
              <a:t>Say: “Today we will draw a simple atom. We will learn two places: the centre and the outside.”</a:t>
            </a:r>
          </a:p>
          <a:p>
            <a:pPr/>
          </a:p>
          <a:p>
            <a:pPr/>
            <a:r>
              <a:t>Click: the motif should reveal centre first, then outside labels.</a:t>
            </a:r>
          </a:p>
          <a:p>
            <a:pPr/>
            <a:r>
              <a:t>Watch: do not name proton/electron.</a:t>
            </a:r>
          </a:p>
          <a:p>
            <a:pPr/>
            <a:r>
              <a:t>Stretch: “Why do we call this a simple picture?” Answer: “Because it leaves out detail.”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Shape 88"/>
          <p:cNvSpPr/>
          <p:nvPr>
            <p:ph type="sldImg"/>
          </p:nvPr>
        </p:nvSpPr>
        <p:spPr>
          <a:prstGeom prst="rect">
            <a:avLst/>
          </a:prstGeom>
        </p:spPr>
        <p:txBody>
          <a:bodyPr/>
          <a:lstStyle/>
          <a:p>
            <a:pPr/>
          </a:p>
        </p:txBody>
      </p:sp>
      <p:sp>
        <p:nvSpPr>
          <p:cNvPr id="89" name="Shape 89"/>
          <p:cNvSpPr/>
          <p:nvPr>
            <p:ph type="body" sz="quarter" idx="1"/>
          </p:nvPr>
        </p:nvSpPr>
        <p:spPr>
          <a:prstGeom prst="rect">
            <a:avLst/>
          </a:prstGeom>
        </p:spPr>
        <p:txBody>
          <a:bodyPr/>
          <a:lstStyle/>
          <a:p>
            <a:pPr/>
            <a:r>
              <a:t>Today 2 minutes. Four clicks. Read each short goal; class repeats key words.</a:t>
            </a:r>
          </a:p>
          <a:p>
            <a:pPr/>
          </a:p>
          <a:p>
            <a:pPr/>
            <a:r>
              <a:t>Click: one card per click.</a:t>
            </a:r>
          </a:p>
          <a:p>
            <a:pPr/>
            <a:r>
              <a:t>Say: “The same two words will stay on the screen today: centre and outside.”</a:t>
            </a:r>
          </a:p>
          <a:p>
            <a:pPr/>
            <a:r>
              <a:t>Misconception: do not let “outside” become “another part of the atom”. It means the outer area in our simple picture.</a:t>
            </a:r>
          </a:p>
          <a:p>
            <a:pPr/>
            <a:r>
              <a:t>Stretch: “Can you use centre in a sentence?”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Do Now 5 minutes: 4 working, 1 marking. Five clicks reveal one answer at a time.</a:t>
            </a:r>
          </a:p>
          <a:p>
            <a:pPr/>
          </a:p>
          <a:p>
            <a:pPr/>
            <a:r>
              <a:t>Q1 answer: a very, very small part. Q2: anything you can touch. Q3: very small. Q4: part. Q5: atoms.</a:t>
            </a:r>
          </a:p>
          <a:p>
            <a:pPr/>
          </a:p>
          <a:p>
            <a:pPr/>
            <a:r>
              <a:t>Click: reveal answers one at a time; do not advance until most have committed.</a:t>
            </a:r>
          </a:p>
          <a:p>
            <a:pPr/>
            <a:r>
              <a:t>Watch: students may say “matter = solids”. Recast to the simple Lesson 1 definition.</a:t>
            </a:r>
          </a:p>
          <a:p>
            <a:pPr/>
            <a:r>
              <a:t>Stretch: “What is the difference between an atom and a part of a chair?” Atom is a tiny part; chair parts are visible parts.</a:t>
            </a:r>
          </a:p>
          <a:p>
            <a:pPr/>
            <a:r>
              <a:t>Exact teacher wording: “No shouting out yet. Write your answer. I will reveal them one at a time.”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Shape 137"/>
          <p:cNvSpPr/>
          <p:nvPr>
            <p:ph type="sldImg"/>
          </p:nvPr>
        </p:nvSpPr>
        <p:spPr>
          <a:prstGeom prst="rect">
            <a:avLst/>
          </a:prstGeom>
        </p:spPr>
        <p:txBody>
          <a:bodyPr/>
          <a:lstStyle/>
          <a:p>
            <a:pPr/>
          </a:p>
        </p:txBody>
      </p:sp>
      <p:sp>
        <p:nvSpPr>
          <p:cNvPr id="138" name="Shape 138"/>
          <p:cNvSpPr/>
          <p:nvPr>
            <p:ph type="body" sz="quarter" idx="1"/>
          </p:nvPr>
        </p:nvSpPr>
        <p:spPr>
          <a:prstGeom prst="rect">
            <a:avLst/>
          </a:prstGeom>
        </p:spPr>
        <p:txBody>
          <a:bodyPr/>
          <a:lstStyle/>
          <a:p>
            <a:pPr/>
            <a:r>
              <a:t>Hook 4 minutes. Ask: “How can we draw something we cannot see?” Take a vote: A photograph, B a simple model, C nothing.</a:t>
            </a:r>
          </a:p>
          <a:p>
            <a:pPr/>
          </a:p>
          <a:p>
            <a:pPr/>
            <a:r>
              <a:t>Do not answer yet. The lesson answers it by building a simple scientific model.</a:t>
            </a:r>
          </a:p>
          <a:p>
            <a:pPr/>
          </a:p>
          <a:p>
            <a:pPr/>
            <a:r>
              <a:t>Clicks: question, then A/B/C.</a:t>
            </a:r>
          </a:p>
          <a:p>
            <a:pPr/>
            <a:r>
              <a:t>Misconception: pupils may think the correct diagram must look exactly like a real atom. Explain later that models are simplified representations.</a:t>
            </a:r>
          </a:p>
          <a:p>
            <a:pPr/>
            <a:r>
              <a:t>Stretch: “What can a model help us do?” It helps us picture something too small to see directly.</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 name="Shape 156"/>
          <p:cNvSpPr/>
          <p:nvPr>
            <p:ph type="sldImg"/>
          </p:nvPr>
        </p:nvSpPr>
        <p:spPr>
          <a:prstGeom prst="rect">
            <a:avLst/>
          </a:prstGeom>
        </p:spPr>
        <p:txBody>
          <a:bodyPr/>
          <a:lstStyle/>
          <a:p>
            <a:pPr/>
          </a:p>
        </p:txBody>
      </p:sp>
      <p:sp>
        <p:nvSpPr>
          <p:cNvPr id="157" name="Shape 157"/>
          <p:cNvSpPr/>
          <p:nvPr>
            <p:ph type="body" sz="quarter" idx="1"/>
          </p:nvPr>
        </p:nvSpPr>
        <p:spPr>
          <a:prstGeom prst="rect">
            <a:avLst/>
          </a:prstGeom>
        </p:spPr>
        <p:txBody>
          <a:bodyPr/>
          <a:lstStyle/>
          <a:p>
            <a:pPr>
              <a:defRPr>
                <a:latin typeface="Calibri"/>
                <a:ea typeface="Calibri"/>
                <a:cs typeface="Calibri"/>
                <a:sym typeface="Calibri"/>
              </a:defRPr>
            </a:pPr>
            <a:r>
              <a:t>NEW WORDS — 4 minutes. Two clicks, one card each.</a:t>
            </a:r>
          </a:p>
          <a:p>
            <a:pPr>
              <a:defRPr>
                <a:latin typeface="Calibri"/>
                <a:ea typeface="Calibri"/>
                <a:cs typeface="Calibri"/>
                <a:sym typeface="Calibri"/>
              </a:defRPr>
            </a:pPr>
          </a:p>
          <a:p>
            <a:pPr>
              <a:defRPr>
                <a:latin typeface="Calibri"/>
                <a:ea typeface="Calibri"/>
                <a:cs typeface="Calibri"/>
                <a:sym typeface="Calibri"/>
              </a:defRPr>
            </a:pPr>
            <a:r>
              <a:t>FULL DRILL ON BOTH. You say it, whole class, half the class, three individuals, then they say it off the picture alone. Thirty seconds each.</a:t>
            </a:r>
          </a:p>
          <a:p>
            <a:pPr>
              <a:defRPr>
                <a:latin typeface="Calibri"/>
                <a:ea typeface="Calibri"/>
                <a:cs typeface="Calibri"/>
                <a:sym typeface="Calibri"/>
              </a:defRPr>
            </a:pPr>
          </a:p>
          <a:p>
            <a:pPr>
              <a:defRPr>
                <a:latin typeface="Calibri"/>
                <a:ea typeface="Calibri"/>
                <a:cs typeface="Calibri"/>
                <a:sym typeface="Calibri"/>
              </a:defRPr>
            </a:pPr>
            <a:r>
              <a:t>ATOM: two beats, stress on the FIRST. Thai speakers reach for "a-TOM". Tap the desk twice as you say it — A-tom — and have them tap with you.</a:t>
            </a:r>
          </a:p>
          <a:p>
            <a:pPr>
              <a:defRPr>
                <a:latin typeface="Calibri"/>
                <a:ea typeface="Calibri"/>
                <a:cs typeface="Calibri"/>
                <a:sym typeface="Calibri"/>
              </a:defRPr>
            </a:pPr>
          </a:p>
          <a:p>
            <a:pPr>
              <a:defRPr>
                <a:latin typeface="Calibri"/>
                <a:ea typeface="Calibri"/>
                <a:cs typeface="Calibri"/>
                <a:sym typeface="Calibri"/>
              </a:defRPr>
            </a:pPr>
            <a:r>
              <a:t>MATTER: two beats. Hold up a rock or a pen and say "this is matter". Then the air — wave your hand — "this is matter too". That surprises them and it is worth the surprise.</a:t>
            </a:r>
          </a:p>
          <a:p>
            <a:pPr>
              <a:defRPr>
                <a:latin typeface="Calibri"/>
                <a:ea typeface="Calibri"/>
                <a:cs typeface="Calibri"/>
                <a:sym typeface="Calibri"/>
              </a:defRPr>
            </a:pPr>
          </a:p>
          <a:p>
            <a:pPr>
              <a:defRPr>
                <a:latin typeface="Calibri"/>
                <a:ea typeface="Calibri"/>
                <a:cs typeface="Calibri"/>
                <a:sym typeface="Calibri"/>
              </a:defRPr>
            </a:pPr>
            <a:r>
              <a:t>DO NOT DEFINE MATTER AS "SOLID, LIQUID, GAS". They do not have those words yet and they do not need them today. "Anything you can touch" is enough and it is true enough.</a:t>
            </a:r>
          </a:p>
          <a:p>
            <a:pPr>
              <a:defRPr>
                <a:latin typeface="Calibri"/>
                <a:ea typeface="Calibri"/>
                <a:cs typeface="Calibri"/>
                <a:sym typeface="Calibri"/>
              </a:defRPr>
            </a:pPr>
          </a:p>
          <a:p>
            <a:pPr>
              <a:defRPr>
                <a:latin typeface="Calibri"/>
                <a:ea typeface="Calibri"/>
                <a:cs typeface="Calibri"/>
                <a:sym typeface="Calibri"/>
              </a:defRPr>
            </a:pPr>
            <a:r>
              <a:t>CHECK, pointing at each picture: "Atom or matter?" Either/or questions only. No open questions yet.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 name="Shape 176"/>
          <p:cNvSpPr/>
          <p:nvPr>
            <p:ph type="sldImg"/>
          </p:nvPr>
        </p:nvSpPr>
        <p:spPr>
          <a:prstGeom prst="rect">
            <a:avLst/>
          </a:prstGeom>
        </p:spPr>
        <p:txBody>
          <a:bodyPr/>
          <a:lstStyle/>
          <a:p>
            <a:pPr/>
          </a:p>
        </p:txBody>
      </p:sp>
      <p:sp>
        <p:nvSpPr>
          <p:cNvPr id="177" name="Shape 177"/>
          <p:cNvSpPr/>
          <p:nvPr>
            <p:ph type="body" sz="quarter" idx="1"/>
          </p:nvPr>
        </p:nvSpPr>
        <p:spPr>
          <a:prstGeom prst="rect">
            <a:avLst/>
          </a:prstGeom>
        </p:spPr>
        <p:txBody>
          <a:bodyPr/>
          <a:lstStyle/>
          <a:p>
            <a:pPr>
              <a:defRPr>
                <a:latin typeface="Calibri"/>
                <a:ea typeface="Calibri"/>
                <a:cs typeface="Calibri"/>
                <a:sym typeface="Calibri"/>
              </a:defRPr>
            </a:pPr>
            <a:r>
              <a:t>NEW WORDS — 4 minutes. Two clicks. Same drill.</a:t>
            </a:r>
          </a:p>
          <a:p>
            <a:pPr>
              <a:defRPr>
                <a:latin typeface="Calibri"/>
                <a:ea typeface="Calibri"/>
                <a:cs typeface="Calibri"/>
                <a:sym typeface="Calibri"/>
              </a:defRPr>
            </a:pPr>
          </a:p>
          <a:p>
            <a:pPr>
              <a:defRPr>
                <a:latin typeface="Calibri"/>
                <a:ea typeface="Calibri"/>
                <a:cs typeface="Calibri"/>
                <a:sym typeface="Calibri"/>
              </a:defRPr>
            </a:pPr>
            <a:r>
              <a:t>TINY: the gesture is everything. Finger and thumb almost touching, then closer, then closer still. Say "small… smaller… TINY". They copy the hand, not just the word.</a:t>
            </a:r>
          </a:p>
          <a:p>
            <a:pPr>
              <a:defRPr>
                <a:latin typeface="Calibri"/>
                <a:ea typeface="Calibri"/>
                <a:cs typeface="Calibri"/>
                <a:sym typeface="Calibri"/>
              </a:defRPr>
            </a:pPr>
          </a:p>
          <a:p>
            <a:pPr>
              <a:defRPr>
                <a:latin typeface="Calibri"/>
                <a:ea typeface="Calibri"/>
                <a:cs typeface="Calibri"/>
                <a:sym typeface="Calibri"/>
              </a:defRPr>
            </a:pPr>
            <a:r>
              <a:t>PART: point at a chair. Point at the leg. "The leg is a part of the chair." Point at the back. "The back is a part of the chair." Then point at a student's hand and wait — someone will offer "part of the arm". Take it.</a:t>
            </a:r>
          </a:p>
          <a:p>
            <a:pPr>
              <a:defRPr>
                <a:latin typeface="Calibri"/>
                <a:ea typeface="Calibri"/>
                <a:cs typeface="Calibri"/>
                <a:sym typeface="Calibri"/>
              </a:defRPr>
            </a:pPr>
          </a:p>
          <a:p>
            <a:pPr>
              <a:defRPr>
                <a:latin typeface="Calibri"/>
                <a:ea typeface="Calibri"/>
                <a:cs typeface="Calibri"/>
                <a:sym typeface="Calibri"/>
              </a:defRPr>
            </a:pPr>
            <a:r>
              <a:t>NOW PUT THEM TOGETHER, and this is the sentence the whole unit rests on: "An atom is a tiny part." Say it. Class repeats. Write it on the board and leave it there all lesson.</a:t>
            </a:r>
          </a:p>
          <a:p>
            <a:pPr>
              <a:defRPr>
                <a:latin typeface="Calibri"/>
                <a:ea typeface="Calibri"/>
                <a:cs typeface="Calibri"/>
                <a:sym typeface="Calibri"/>
              </a:defRPr>
            </a:pPr>
          </a:p>
          <a:p>
            <a:pPr>
              <a:defRPr>
                <a:latin typeface="Calibri"/>
                <a:ea typeface="Calibri"/>
                <a:cs typeface="Calibri"/>
                <a:sym typeface="Calibri"/>
              </a:defRPr>
            </a:pPr>
            <a:r>
              <a:t>CHECK with yes/no only: "Is a chair tiny?" No. "Is an atom tiny?" Yes.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Shape 190"/>
          <p:cNvSpPr/>
          <p:nvPr>
            <p:ph type="sldImg"/>
          </p:nvPr>
        </p:nvSpPr>
        <p:spPr>
          <a:prstGeom prst="rect">
            <a:avLst/>
          </a:prstGeom>
        </p:spPr>
        <p:txBody>
          <a:bodyPr/>
          <a:lstStyle/>
          <a:p>
            <a:pPr/>
          </a:p>
        </p:txBody>
      </p:sp>
      <p:sp>
        <p:nvSpPr>
          <p:cNvPr id="191" name="Shape 191"/>
          <p:cNvSpPr/>
          <p:nvPr>
            <p:ph type="body" sz="quarter" idx="1"/>
          </p:nvPr>
        </p:nvSpPr>
        <p:spPr>
          <a:prstGeom prst="rect">
            <a:avLst/>
          </a:prstGeom>
        </p:spPr>
        <p:txBody>
          <a:bodyPr/>
          <a:lstStyle/>
          <a:p>
            <a:pPr/>
            <a:r>
              <a:t>I DO — 5 minutes. Model drawing live on the board.</a:t>
            </a:r>
          </a:p>
          <a:p>
            <a:pPr/>
            <a:r>
              <a:t>Click 1: big circle. Click 2: centre circle. Click 3: label the two places.</a:t>
            </a:r>
          </a:p>
          <a:p>
            <a:pPr/>
            <a:r>
              <a:t>Say: “Start with one big circle. Now draw the centre. The empty area around it is the outside area.”</a:t>
            </a:r>
          </a:p>
          <a:p>
            <a:pPr/>
            <a:r>
              <a:t>Misconception: the centre is not outside. This is a simplified model, not a scale drawing.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I DO — 5 minutes. Build the labels.</a:t>
            </a:r>
          </a:p>
          <a:p>
            <a:pPr/>
            <a:r>
              <a:t>Click 1 nucleus. Click 2 centre. Click 3 electron. Click 4 outside. Click 5 sentence frame.</a:t>
            </a:r>
          </a:p>
          <a:p>
            <a:pPr/>
            <a:r>
              <a:t>Say: “Point to the nucleus. Now point to the centre. Where is the electron? Point to the outside.”</a:t>
            </a:r>
          </a:p>
          <a:p>
            <a:pPr/>
            <a:r>
              <a:t>Stretch: “What is this picture missing?” Answer: lots of real detail; it is a simple model.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hape 224"/>
          <p:cNvSpPr/>
          <p:nvPr>
            <p:ph type="sldImg"/>
          </p:nvPr>
        </p:nvSpPr>
        <p:spPr>
          <a:prstGeom prst="rect">
            <a:avLst/>
          </a:prstGeom>
        </p:spPr>
        <p:txBody>
          <a:bodyPr/>
          <a:lstStyle/>
          <a:p>
            <a:pPr/>
          </a:p>
        </p:txBody>
      </p:sp>
      <p:sp>
        <p:nvSpPr>
          <p:cNvPr id="225" name="Shape 225"/>
          <p:cNvSpPr/>
          <p:nvPr>
            <p:ph type="body" sz="quarter" idx="1"/>
          </p:nvPr>
        </p:nvSpPr>
        <p:spPr>
          <a:prstGeom prst="rect">
            <a:avLst/>
          </a:prstGeom>
        </p:spPr>
        <p:txBody>
          <a:bodyPr/>
          <a:lstStyle/>
          <a:p>
            <a:pPr/>
            <a:r>
              <a:t>WE DO — 5 minutes. Students draw with you.</a:t>
            </a:r>
          </a:p>
          <a:p>
            <a:pPr/>
            <a:r>
              <a:t>Click 1: circle. Click 2: centre. Click 3: electrons. Click 4: labels.</a:t>
            </a:r>
          </a:p>
          <a:p>
            <a:pPr/>
            <a:r>
              <a:t>At each click say the sentence fragment and have pupils repeat.</a:t>
            </a:r>
          </a:p>
          <a:p>
            <a:pPr/>
            <a:r>
              <a:t>Ask: “Where is the nucleus?” → “In the centre.” “Where are the electrons?” → “Outside the nucleus.”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4" name="Shape 254"/>
          <p:cNvSpPr/>
          <p:nvPr>
            <p:ph type="sldImg"/>
          </p:nvPr>
        </p:nvSpPr>
        <p:spPr>
          <a:prstGeom prst="rect">
            <a:avLst/>
          </a:prstGeom>
        </p:spPr>
        <p:txBody>
          <a:bodyPr/>
          <a:lstStyle/>
          <a:p>
            <a:pPr/>
          </a:p>
        </p:txBody>
      </p:sp>
      <p:sp>
        <p:nvSpPr>
          <p:cNvPr id="255" name="Shape 255"/>
          <p:cNvSpPr/>
          <p:nvPr>
            <p:ph type="body" sz="quarter" idx="1"/>
          </p:nvPr>
        </p:nvSpPr>
        <p:spPr>
          <a:prstGeom prst="rect">
            <a:avLst/>
          </a:prstGeom>
        </p:spPr>
        <p:txBody>
          <a:bodyPr/>
          <a:lstStyle/>
          <a:p>
            <a:pPr/>
            <a:r>
              <a:t>MODEL-KIT ACTIVITY — 7 minutes. Pairs share a professional ball-and-stick model kit.</a:t>
            </a:r>
          </a:p>
          <a:p>
            <a:pPr/>
            <a:r>
              <a:t>Routine: build → point → say. Ask every pupil to point before speaking.</a:t>
            </a:r>
          </a:p>
          <a:p>
            <a:pPr/>
            <a:r>
              <a:t>Teacher oral assessment starts here: “Point to the centre.” “Point to the outside.” “Where is the nucleus?” “Where is the electron?”</a:t>
            </a:r>
          </a:p>
          <a:p>
            <a:pPr/>
            <a:r>
              <a:t>Keep the model simple. Do not add further particle names.</a:t>
            </a:r>
          </a:p>
          <a:p>
            <a:pPr/>
            <a:r>
              <a:t>Safety: follow the kit manufacturer guidance; small parts are a choking risk, so monitor closely.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YOU DO — 7 minutes. Hand out worksheet.</a:t>
            </a:r>
          </a:p>
          <a:p>
            <a:pPr/>
            <a:r>
              <a:t>Students draw, label, then complete the point-and-say task with a partner.</a:t>
            </a:r>
          </a:p>
          <a:p>
            <a:pPr/>
            <a:r>
              <a:t>Circulate and ask one question: “Point to the centre.” Then “Say the sentence.”</a:t>
            </a:r>
          </a:p>
          <a:p>
            <a:pPr/>
            <a:r>
              <a:t>Success criterion: correct locations and the sentence structure.</a:t>
            </a:r>
          </a:p>
          <a:p>
            <a:pPr/>
            <a:r>
              <a:t>Fast finishers: draw a second simple atom and label it without the word bank.</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PLENARY — 3 minutes. Point + say.</a:t>
            </a:r>
          </a:p>
          <a:p>
            <a:pPr/>
            <a:r>
              <a:t>Ask the four pointing questions first. Then pairs say both sentences.</a:t>
            </a:r>
          </a:p>
          <a:p>
            <a:pPr/>
            <a:r>
              <a:t>Exact wording: “Point to the nucleus. Point to the centre. Point to an electron. Point to the outside. Now say both sentences.”</a:t>
            </a:r>
          </a:p>
          <a:p>
            <a:pPr/>
            <a:r>
              <a:t>Watch: centre/ outside reversal.</a:t>
            </a:r>
          </a:p>
          <a:p>
            <a:pPr/>
            <a:r>
              <a:t>Stop here. Lesson 3 introduces the particle names in more detail.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ASE">
    <p:bg>
      <p:bgPr>
        <a:solidFill>
          <a:srgbClr val="F4F8FA"/>
        </a:solidFill>
      </p:bgPr>
    </p:bg>
    <p:spTree>
      <p:nvGrpSpPr>
        <p:cNvPr id="1" name=""/>
        <p:cNvGrpSpPr/>
        <p:nvPr/>
      </p:nvGrpSpPr>
      <p:grpSpPr>
        <a:xfrm>
          <a:off x="0" y="0"/>
          <a:ext cx="0" cy="0"/>
          <a:chOff x="0" y="0"/>
          <a:chExt cx="0" cy="0"/>
        </a:xfrm>
      </p:grpSpPr>
      <p:sp>
        <p:nvSpPr>
          <p:cNvPr id="1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MASTER">
    <p:bg>
      <p:bgPr>
        <a:solidFill>
          <a:srgbClr val="F7FAFC"/>
        </a:solidFill>
      </p:bgPr>
    </p:bg>
    <p:spTree>
      <p:nvGrpSpPr>
        <p:cNvPr id="1" name=""/>
        <p:cNvGrpSpPr/>
        <p:nvPr/>
      </p:nvGrpSpPr>
      <p:grpSpPr>
        <a:xfrm>
          <a:off x="0" y="0"/>
          <a:ext cx="0" cy="0"/>
          <a:chOff x="0" y="0"/>
          <a:chExt cx="0" cy="0"/>
        </a:xfrm>
      </p:grpSpPr>
      <p:sp>
        <p:nvSpPr>
          <p:cNvPr id="25" name="Slide Number"/>
          <p:cNvSpPr txBox="1"/>
          <p:nvPr>
            <p:ph type="sldNum" sz="quarter" idx="2"/>
          </p:nvPr>
        </p:nvSpPr>
        <p:spPr>
          <a:xfrm>
            <a:off x="5892799" y="6172200"/>
            <a:ext cx="2844802" cy="368301"/>
          </a:xfrm>
          <a:prstGeom prst="rect">
            <a:avLst/>
          </a:prstGeom>
        </p:spPr>
        <p:txBody>
          <a:bodyPr lIns="60959" tIns="60959" rIns="60959" bIns="60959"/>
          <a:lstStyle>
            <a:lvl1pPr defTabSz="1219200">
              <a:defRPr sz="1600"/>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92800" y="6172200"/>
            <a:ext cx="2844800"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Georgia"/>
          <a:ea typeface="Georgia"/>
          <a:cs typeface="Georgia"/>
          <a:sym typeface="Georgia"/>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tif"/><Relationship Id="rId4" Type="http://schemas.openxmlformats.org/officeDocument/2006/relationships/image" Target="../media/image2.tif"/></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tif"/><Relationship Id="rId4" Type="http://schemas.openxmlformats.org/officeDocument/2006/relationships/image" Target="../media/image4.tif"/></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34" name="obj_1"/>
          <p:cNvSpPr/>
          <p:nvPr/>
        </p:nvSpPr>
        <p:spPr>
          <a:xfrm>
            <a:off x="502919" y="274320"/>
            <a:ext cx="2606041" cy="347473"/>
          </a:xfrm>
          <a:prstGeom prst="roundRect">
            <a:avLst>
              <a:gd name="adj" fmla="val 47368"/>
            </a:avLst>
          </a:prstGeom>
          <a:solidFill>
            <a:srgbClr val="123B54"/>
          </a:solidFill>
          <a:ln w="12700">
            <a:solidFill>
              <a:srgbClr val="123B54">
                <a:alpha val="0"/>
              </a:srgbClr>
            </a:solidFill>
          </a:ln>
        </p:spPr>
        <p:txBody>
          <a:bodyPr lIns="45719" rIns="45719"/>
          <a:lstStyle/>
          <a:p>
            <a:pPr/>
          </a:p>
        </p:txBody>
      </p:sp>
      <p:sp>
        <p:nvSpPr>
          <p:cNvPr id="35" name="obj_2"/>
          <p:cNvSpPr txBox="1"/>
          <p:nvPr/>
        </p:nvSpPr>
        <p:spPr>
          <a:xfrm>
            <a:off x="566927" y="274320"/>
            <a:ext cx="2468882" cy="34747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100">
                <a:solidFill>
                  <a:srgbClr val="F4F8FA"/>
                </a:solidFill>
              </a:defRPr>
            </a:lvl1pPr>
          </a:lstStyle>
          <a:p>
            <a:pPr/>
            <a:r>
              <a:t>TEACHER ONLY · HIDDEN</a:t>
            </a:r>
          </a:p>
        </p:txBody>
      </p:sp>
      <p:sp>
        <p:nvSpPr>
          <p:cNvPr id="36" name="obj_3"/>
          <p:cNvSpPr txBox="1"/>
          <p:nvPr/>
        </p:nvSpPr>
        <p:spPr>
          <a:xfrm>
            <a:off x="566927" y="914399"/>
            <a:ext cx="10972801" cy="5029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3000">
                <a:solidFill>
                  <a:srgbClr val="123B54"/>
                </a:solidFill>
                <a:latin typeface="Georgia"/>
                <a:ea typeface="Georgia"/>
                <a:cs typeface="Georgia"/>
                <a:sym typeface="Georgia"/>
              </a:defRPr>
            </a:lvl1pPr>
          </a:lstStyle>
          <a:p>
            <a:pPr/>
            <a:r>
              <a:t>Atoms · Lesson 2 · 50 minutes</a:t>
            </a:r>
          </a:p>
        </p:txBody>
      </p:sp>
      <p:sp>
        <p:nvSpPr>
          <p:cNvPr id="37" name="obj_4"/>
          <p:cNvSpPr txBox="1"/>
          <p:nvPr/>
        </p:nvSpPr>
        <p:spPr>
          <a:xfrm>
            <a:off x="548639" y="1600199"/>
            <a:ext cx="3017522"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400">
                <a:solidFill>
                  <a:srgbClr val="EF476F"/>
                </a:solidFill>
              </a:defRPr>
            </a:lvl1pPr>
          </a:lstStyle>
          <a:p>
            <a:pPr/>
            <a:r>
              <a:t>PRIOR KNOWLEDGE</a:t>
            </a:r>
          </a:p>
        </p:txBody>
      </p:sp>
      <p:sp>
        <p:nvSpPr>
          <p:cNvPr id="38" name="obj_5"/>
          <p:cNvSpPr/>
          <p:nvPr/>
        </p:nvSpPr>
        <p:spPr>
          <a:xfrm>
            <a:off x="548640" y="1965960"/>
            <a:ext cx="3154680" cy="4160521"/>
          </a:xfrm>
          <a:prstGeom prst="roundRect">
            <a:avLst>
              <a:gd name="adj" fmla="val 3478"/>
            </a:avLst>
          </a:prstGeom>
          <a:solidFill>
            <a:srgbClr val="FFFFFF"/>
          </a:solidFill>
          <a:ln w="12700">
            <a:solidFill>
              <a:srgbClr val="D3E3EB"/>
            </a:solidFill>
          </a:ln>
        </p:spPr>
        <p:txBody>
          <a:bodyPr lIns="45719" rIns="45719"/>
          <a:lstStyle/>
          <a:p>
            <a:pPr/>
          </a:p>
        </p:txBody>
      </p:sp>
      <p:sp>
        <p:nvSpPr>
          <p:cNvPr id="39" name="obj_6"/>
          <p:cNvSpPr txBox="1"/>
          <p:nvPr/>
        </p:nvSpPr>
        <p:spPr>
          <a:xfrm>
            <a:off x="4069079" y="1600199"/>
            <a:ext cx="3017521"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400">
                <a:solidFill>
                  <a:srgbClr val="EF476F"/>
                </a:solidFill>
              </a:defRPr>
            </a:lvl1pPr>
          </a:lstStyle>
          <a:p>
            <a:pPr/>
            <a:r>
              <a:t>MISCONCEPTIONS TO WATCH</a:t>
            </a:r>
          </a:p>
        </p:txBody>
      </p:sp>
      <p:sp>
        <p:nvSpPr>
          <p:cNvPr id="40" name="obj_7"/>
          <p:cNvSpPr/>
          <p:nvPr/>
        </p:nvSpPr>
        <p:spPr>
          <a:xfrm>
            <a:off x="4069079" y="1965960"/>
            <a:ext cx="3154681" cy="4160521"/>
          </a:xfrm>
          <a:prstGeom prst="roundRect">
            <a:avLst>
              <a:gd name="adj" fmla="val 3478"/>
            </a:avLst>
          </a:prstGeom>
          <a:solidFill>
            <a:srgbClr val="FFFFFF"/>
          </a:solidFill>
          <a:ln w="12700">
            <a:solidFill>
              <a:srgbClr val="D3E3EB"/>
            </a:solidFill>
          </a:ln>
        </p:spPr>
        <p:txBody>
          <a:bodyPr lIns="45719" rIns="45719"/>
          <a:lstStyle/>
          <a:p>
            <a:pPr/>
          </a:p>
        </p:txBody>
      </p:sp>
      <p:sp>
        <p:nvSpPr>
          <p:cNvPr id="41" name="obj_8"/>
          <p:cNvSpPr txBox="1"/>
          <p:nvPr/>
        </p:nvSpPr>
        <p:spPr>
          <a:xfrm>
            <a:off x="7635240" y="1600199"/>
            <a:ext cx="3017521"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400">
                <a:solidFill>
                  <a:srgbClr val="EF476F"/>
                </a:solidFill>
              </a:defRPr>
            </a:lvl1pPr>
          </a:lstStyle>
          <a:p>
            <a:pPr/>
            <a:r>
              <a:t>LESSON FLOW</a:t>
            </a:r>
          </a:p>
        </p:txBody>
      </p:sp>
      <p:sp>
        <p:nvSpPr>
          <p:cNvPr id="42" name="obj_9"/>
          <p:cNvSpPr/>
          <p:nvPr/>
        </p:nvSpPr>
        <p:spPr>
          <a:xfrm>
            <a:off x="7635240" y="1965960"/>
            <a:ext cx="3154681" cy="4160521"/>
          </a:xfrm>
          <a:prstGeom prst="roundRect">
            <a:avLst>
              <a:gd name="adj" fmla="val 3478"/>
            </a:avLst>
          </a:prstGeom>
          <a:solidFill>
            <a:srgbClr val="FFFFFF"/>
          </a:solidFill>
          <a:ln w="12700">
            <a:solidFill>
              <a:srgbClr val="D3E3EB"/>
            </a:solidFill>
          </a:ln>
        </p:spPr>
        <p:txBody>
          <a:bodyPr lIns="45719" rIns="45719"/>
          <a:lstStyle/>
          <a:p>
            <a:pPr/>
          </a:p>
        </p:txBody>
      </p:sp>
      <p:sp>
        <p:nvSpPr>
          <p:cNvPr id="43" name="obj_10"/>
          <p:cNvSpPr txBox="1"/>
          <p:nvPr/>
        </p:nvSpPr>
        <p:spPr>
          <a:xfrm>
            <a:off x="713231" y="2212848"/>
            <a:ext cx="2788922" cy="3611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p>
            <a:pPr>
              <a:defRPr sz="1500">
                <a:solidFill>
                  <a:srgbClr val="123B54"/>
                </a:solidFill>
              </a:defRPr>
            </a:pPr>
            <a:r>
              <a:t>• Atom = a very small part.</a:t>
            </a:r>
          </a:p>
          <a:p>
            <a:pPr>
              <a:defRPr sz="1500">
                <a:solidFill>
                  <a:srgbClr val="123B54"/>
                </a:solidFill>
              </a:defRPr>
            </a:pPr>
            <a:r>
              <a:t>• Matter = anything you can touch.</a:t>
            </a:r>
          </a:p>
          <a:p>
            <a:pPr>
              <a:defRPr sz="1500">
                <a:solidFill>
                  <a:srgbClr val="123B54"/>
                </a:solidFill>
              </a:defRPr>
            </a:pPr>
            <a:r>
              <a:t>• Tiny = very, very small.</a:t>
            </a:r>
          </a:p>
          <a:p>
            <a:pPr>
              <a:defRPr sz="1500">
                <a:solidFill>
                  <a:srgbClr val="123B54"/>
                </a:solidFill>
              </a:defRPr>
            </a:pPr>
            <a:r>
              <a:t>• Part = one piece of something.</a:t>
            </a:r>
          </a:p>
          <a:p>
            <a:pPr>
              <a:defRPr sz="1500">
                <a:solidFill>
                  <a:srgbClr val="123B54"/>
                </a:solidFill>
              </a:defRPr>
            </a:pPr>
            <a:r>
              <a:t>• Sentence frame: “___ is made of atoms.”</a:t>
            </a:r>
          </a:p>
        </p:txBody>
      </p:sp>
      <p:sp>
        <p:nvSpPr>
          <p:cNvPr id="44" name="obj_11"/>
          <p:cNvSpPr txBox="1"/>
          <p:nvPr/>
        </p:nvSpPr>
        <p:spPr>
          <a:xfrm>
            <a:off x="4233671" y="2212848"/>
            <a:ext cx="2788921" cy="36118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p>
            <a:pPr>
              <a:defRPr sz="1300">
                <a:solidFill>
                  <a:srgbClr val="123B54"/>
                </a:solidFill>
              </a:defRPr>
            </a:pPr>
            <a:r>
              <a:t>✗ “The atom has a centre ball inside it and electrons orbit it.”</a:t>
            </a:r>
          </a:p>
          <a:p>
            <a:pPr>
              <a:defRPr sz="1300">
                <a:solidFill>
                  <a:srgbClr val="123B54"/>
                </a:solidFill>
              </a:defRPr>
            </a:pPr>
            <a:r>
              <a:t>→ Today we only use a simple model: a centre and an outside area.</a:t>
            </a:r>
          </a:p>
          <a:p>
            <a:pPr>
              <a:defRPr sz="1300"/>
            </a:pPr>
          </a:p>
          <a:p>
            <a:pPr>
              <a:defRPr sz="1300">
                <a:solidFill>
                  <a:srgbClr val="123B54"/>
                </a:solidFill>
              </a:defRPr>
            </a:pPr>
            <a:r>
              <a:t>✗ “The centre is outside the atom.”</a:t>
            </a:r>
          </a:p>
          <a:p>
            <a:pPr>
              <a:defRPr sz="1300">
                <a:solidFill>
                  <a:srgbClr val="123B54"/>
                </a:solidFill>
              </a:defRPr>
            </a:pPr>
            <a:r>
              <a:t>→ The centre is inside the atom.</a:t>
            </a:r>
          </a:p>
          <a:p>
            <a:pPr>
              <a:defRPr sz="1300"/>
            </a:pPr>
          </a:p>
          <a:p>
            <a:pPr>
              <a:defRPr sz="1300">
                <a:solidFill>
                  <a:srgbClr val="123B54"/>
                </a:solidFill>
              </a:defRPr>
            </a:pPr>
            <a:r>
              <a:t>✗ “The outside is another atom.”</a:t>
            </a:r>
          </a:p>
          <a:p>
            <a:pPr>
              <a:defRPr sz="1300">
                <a:solidFill>
                  <a:srgbClr val="123B54"/>
                </a:solidFill>
              </a:defRPr>
            </a:pPr>
            <a:r>
              <a:t>→ Outside means the outer area of this simple atom picture.</a:t>
            </a:r>
          </a:p>
        </p:txBody>
      </p:sp>
      <p:sp>
        <p:nvSpPr>
          <p:cNvPr id="45" name="obj_12"/>
          <p:cNvSpPr txBox="1"/>
          <p:nvPr/>
        </p:nvSpPr>
        <p:spPr>
          <a:xfrm>
            <a:off x="7845552" y="2212848"/>
            <a:ext cx="2651761" cy="3840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p>
            <a:pPr>
              <a:defRPr sz="1300">
                <a:solidFill>
                  <a:srgbClr val="123B54"/>
                </a:solidFill>
              </a:defRPr>
            </a:pPr>
            <a:r>
              <a:t>Title · 1</a:t>
            </a:r>
          </a:p>
          <a:p>
            <a:pPr>
              <a:defRPr sz="1300">
                <a:solidFill>
                  <a:srgbClr val="123B54"/>
                </a:solidFill>
              </a:defRPr>
            </a:pPr>
            <a:r>
              <a:t>Today · 2</a:t>
            </a:r>
          </a:p>
          <a:p>
            <a:pPr>
              <a:defRPr sz="1300">
                <a:solidFill>
                  <a:srgbClr val="123B54"/>
                </a:solidFill>
              </a:defRPr>
            </a:pPr>
            <a:r>
              <a:t>Do Now · 5</a:t>
            </a:r>
          </a:p>
          <a:p>
            <a:pPr>
              <a:defRPr sz="1300">
                <a:solidFill>
                  <a:srgbClr val="123B54"/>
                </a:solidFill>
              </a:defRPr>
            </a:pPr>
            <a:r>
              <a:t>Hook · 4</a:t>
            </a:r>
          </a:p>
          <a:p>
            <a:pPr>
              <a:defRPr sz="1300">
                <a:solidFill>
                  <a:srgbClr val="123B54"/>
                </a:solidFill>
              </a:defRPr>
            </a:pPr>
            <a:r>
              <a:t>New words: centre / outside · 5</a:t>
            </a:r>
          </a:p>
          <a:p>
            <a:pPr>
              <a:defRPr sz="1300">
                <a:solidFill>
                  <a:srgbClr val="123B54"/>
                </a:solidFill>
              </a:defRPr>
            </a:pPr>
            <a:r>
              <a:t>I Do: draw the atom · 6</a:t>
            </a:r>
          </a:p>
          <a:p>
            <a:pPr>
              <a:defRPr sz="1300">
                <a:solidFill>
                  <a:srgbClr val="123B54"/>
                </a:solidFill>
              </a:defRPr>
            </a:pPr>
            <a:r>
              <a:t>I Do: label it · 5</a:t>
            </a:r>
          </a:p>
          <a:p>
            <a:pPr>
              <a:defRPr sz="1300">
                <a:solidFill>
                  <a:srgbClr val="123B54"/>
                </a:solidFill>
              </a:defRPr>
            </a:pPr>
            <a:r>
              <a:t>We Do: build together · 5</a:t>
            </a:r>
          </a:p>
          <a:p>
            <a:pPr>
              <a:defRPr sz="1300">
                <a:solidFill>
                  <a:srgbClr val="123B54"/>
                </a:solidFill>
              </a:defRPr>
            </a:pPr>
            <a:r>
              <a:t>Model-kit activity · 7</a:t>
            </a:r>
          </a:p>
          <a:p>
            <a:pPr>
              <a:defRPr sz="1300">
                <a:solidFill>
                  <a:srgbClr val="123B54"/>
                </a:solidFill>
              </a:defRPr>
            </a:pPr>
            <a:r>
              <a:t>You Do: worksheet · 7</a:t>
            </a:r>
          </a:p>
          <a:p>
            <a:pPr>
              <a:defRPr sz="1300">
                <a:solidFill>
                  <a:srgbClr val="123B54"/>
                </a:solidFill>
              </a:defRPr>
            </a:pPr>
            <a:r>
              <a:t>Plenary: point + say · 3</a:t>
            </a:r>
          </a:p>
          <a:p>
            <a:pPr>
              <a:defRPr sz="1300"/>
            </a:pPr>
          </a:p>
          <a:p>
            <a:pPr>
              <a:defRPr sz="1300">
                <a:solidFill>
                  <a:srgbClr val="123B54"/>
                </a:solidFill>
              </a:defRPr>
            </a:pPr>
            <a:r>
              <a:t>TOTAL 50 min</a:t>
            </a:r>
          </a:p>
        </p:txBody>
      </p:sp>
      <p:sp>
        <p:nvSpPr>
          <p:cNvPr id="46" name="obj_13"/>
          <p:cNvSpPr txBox="1"/>
          <p:nvPr/>
        </p:nvSpPr>
        <p:spPr>
          <a:xfrm>
            <a:off x="10497311" y="2212848"/>
            <a:ext cx="1051561" cy="3840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p>
            <a:pPr>
              <a:defRPr sz="1000">
                <a:solidFill>
                  <a:srgbClr val="5B7484"/>
                </a:solidFill>
              </a:defRPr>
            </a:pPr>
            <a:r>
              <a:t>Language routine: say it → whole class → half class → individuals → point at picture and say it.</a:t>
            </a:r>
          </a:p>
          <a:p>
            <a:pPr>
              <a:defRPr sz="1000"/>
            </a:pPr>
          </a:p>
          <a:p>
            <a:pPr>
              <a:defRPr sz="1000">
                <a:solidFill>
                  <a:srgbClr val="5B7484"/>
                </a:solidFill>
              </a:defRPr>
            </a:pPr>
            <a:r>
              <a:t>Do not introduce proton or electron names today; those are Lesson 3.</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E2A3B"/>
        </a:solidFill>
      </p:bgPr>
    </p:bg>
    <p:spTree>
      <p:nvGrpSpPr>
        <p:cNvPr id="1" name=""/>
        <p:cNvGrpSpPr/>
        <p:nvPr/>
      </p:nvGrpSpPr>
      <p:grpSpPr>
        <a:xfrm>
          <a:off x="0" y="0"/>
          <a:ext cx="0" cy="0"/>
          <a:chOff x="0" y="0"/>
          <a:chExt cx="0" cy="0"/>
        </a:xfrm>
      </p:grpSpPr>
      <p:sp>
        <p:nvSpPr>
          <p:cNvPr id="50" name="obj_14"/>
          <p:cNvSpPr/>
          <p:nvPr/>
        </p:nvSpPr>
        <p:spPr>
          <a:xfrm>
            <a:off x="502919" y="274320"/>
            <a:ext cx="2606041" cy="347473"/>
          </a:xfrm>
          <a:prstGeom prst="roundRect">
            <a:avLst>
              <a:gd name="adj" fmla="val 47368"/>
            </a:avLst>
          </a:prstGeom>
          <a:solidFill>
            <a:srgbClr val="123B54"/>
          </a:solidFill>
          <a:ln w="12700">
            <a:solidFill>
              <a:srgbClr val="123B54">
                <a:alpha val="0"/>
              </a:srgbClr>
            </a:solidFill>
          </a:ln>
        </p:spPr>
        <p:txBody>
          <a:bodyPr lIns="45719" rIns="45719"/>
          <a:lstStyle/>
          <a:p>
            <a:pPr/>
          </a:p>
        </p:txBody>
      </p:sp>
      <p:sp>
        <p:nvSpPr>
          <p:cNvPr id="51" name="obj_15"/>
          <p:cNvSpPr txBox="1"/>
          <p:nvPr/>
        </p:nvSpPr>
        <p:spPr>
          <a:xfrm>
            <a:off x="566927" y="274320"/>
            <a:ext cx="2468882" cy="34747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100">
                <a:solidFill>
                  <a:srgbClr val="F4F8FA"/>
                </a:solidFill>
              </a:defRPr>
            </a:lvl1pPr>
          </a:lstStyle>
          <a:p>
            <a:pPr/>
            <a:r>
              <a:t>ATOMS · LESSON 2</a:t>
            </a:r>
          </a:p>
        </p:txBody>
      </p:sp>
      <p:sp>
        <p:nvSpPr>
          <p:cNvPr id="52" name="obj_16"/>
          <p:cNvSpPr txBox="1"/>
          <p:nvPr/>
        </p:nvSpPr>
        <p:spPr>
          <a:xfrm>
            <a:off x="594359" y="1371600"/>
            <a:ext cx="7772401" cy="68580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4200">
                <a:solidFill>
                  <a:srgbClr val="F4F8FA"/>
                </a:solidFill>
                <a:latin typeface="Georgia"/>
                <a:ea typeface="Georgia"/>
                <a:cs typeface="Georgia"/>
                <a:sym typeface="Georgia"/>
              </a:defRPr>
            </a:lvl1pPr>
          </a:lstStyle>
          <a:p>
            <a:pPr/>
            <a:r>
              <a:t>Drawing an atom</a:t>
            </a:r>
          </a:p>
        </p:txBody>
      </p:sp>
      <p:sp>
        <p:nvSpPr>
          <p:cNvPr id="53" name="obj_17"/>
          <p:cNvSpPr txBox="1"/>
          <p:nvPr/>
        </p:nvSpPr>
        <p:spPr>
          <a:xfrm>
            <a:off x="621791" y="2103120"/>
            <a:ext cx="5943601" cy="50292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2800">
                <a:solidFill>
                  <a:srgbClr val="FFD166"/>
                </a:solidFill>
                <a:latin typeface="Georgia"/>
                <a:ea typeface="Georgia"/>
                <a:cs typeface="Georgia"/>
                <a:sym typeface="Georgia"/>
              </a:defRPr>
            </a:lvl1pPr>
          </a:lstStyle>
          <a:p>
            <a:pPr/>
            <a:r>
              <a:t>centre and outside</a:t>
            </a:r>
          </a:p>
        </p:txBody>
      </p:sp>
      <p:sp>
        <p:nvSpPr>
          <p:cNvPr id="54" name="obj_18"/>
          <p:cNvSpPr txBox="1"/>
          <p:nvPr/>
        </p:nvSpPr>
        <p:spPr>
          <a:xfrm>
            <a:off x="640080" y="2971800"/>
            <a:ext cx="4297680" cy="141732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p>
            <a:pPr>
              <a:defRPr sz="2300">
                <a:solidFill>
                  <a:srgbClr val="F4F8FA"/>
                </a:solidFill>
              </a:defRPr>
            </a:pPr>
            <a:r>
              <a:t>One picture.</a:t>
            </a:r>
          </a:p>
          <a:p>
            <a:pPr>
              <a:defRPr sz="2300">
                <a:solidFill>
                  <a:srgbClr val="F4F8FA"/>
                </a:solidFill>
              </a:defRPr>
            </a:pPr>
            <a:r>
              <a:t>Two places.</a:t>
            </a:r>
          </a:p>
          <a:p>
            <a:pPr>
              <a:defRPr sz="2300">
                <a:solidFill>
                  <a:srgbClr val="F4F8FA"/>
                </a:solidFill>
              </a:defRPr>
            </a:pPr>
            <a:r>
              <a:t>Four words.</a:t>
            </a:r>
          </a:p>
        </p:txBody>
      </p:sp>
      <p:sp>
        <p:nvSpPr>
          <p:cNvPr id="55" name="obj_19"/>
          <p:cNvSpPr/>
          <p:nvPr/>
        </p:nvSpPr>
        <p:spPr>
          <a:xfrm>
            <a:off x="7909559" y="1417319"/>
            <a:ext cx="2971801" cy="2971801"/>
          </a:xfrm>
          <a:prstGeom prst="roundRect">
            <a:avLst>
              <a:gd name="adj" fmla="val 49846"/>
            </a:avLst>
          </a:prstGeom>
          <a:solidFill>
            <a:srgbClr val="123B54"/>
          </a:solidFill>
          <a:ln w="12700">
            <a:solidFill>
              <a:srgbClr val="FFFFFF"/>
            </a:solidFill>
          </a:ln>
        </p:spPr>
        <p:txBody>
          <a:bodyPr lIns="45719" rIns="45719"/>
          <a:lstStyle/>
          <a:p>
            <a:pPr/>
          </a:p>
        </p:txBody>
      </p:sp>
      <p:sp>
        <p:nvSpPr>
          <p:cNvPr id="56" name="obj_20"/>
          <p:cNvSpPr/>
          <p:nvPr/>
        </p:nvSpPr>
        <p:spPr>
          <a:xfrm>
            <a:off x="8887968" y="2395727"/>
            <a:ext cx="1005841" cy="1005842"/>
          </a:xfrm>
          <a:prstGeom prst="ellipse">
            <a:avLst/>
          </a:prstGeom>
          <a:solidFill>
            <a:srgbClr val="FFD166"/>
          </a:solidFill>
          <a:ln w="12700">
            <a:solidFill>
              <a:srgbClr val="FFD166"/>
            </a:solidFill>
          </a:ln>
        </p:spPr>
        <p:txBody>
          <a:bodyPr lIns="45719" rIns="45719"/>
          <a:lstStyle/>
          <a:p>
            <a:pPr/>
          </a:p>
        </p:txBody>
      </p:sp>
      <p:sp>
        <p:nvSpPr>
          <p:cNvPr id="57" name="obj_21"/>
          <p:cNvSpPr/>
          <p:nvPr/>
        </p:nvSpPr>
        <p:spPr>
          <a:xfrm>
            <a:off x="8113487" y="1740844"/>
            <a:ext cx="347473" cy="347473"/>
          </a:xfrm>
          <a:prstGeom prst="ellipse">
            <a:avLst/>
          </a:prstGeom>
          <a:solidFill>
            <a:srgbClr val="D3E3EB"/>
          </a:solidFill>
          <a:ln w="12700">
            <a:solidFill>
              <a:srgbClr val="D3E3EB"/>
            </a:solidFill>
          </a:ln>
        </p:spPr>
        <p:txBody>
          <a:bodyPr lIns="45719" rIns="45719"/>
          <a:lstStyle/>
          <a:p>
            <a:pPr/>
          </a:p>
        </p:txBody>
      </p:sp>
      <p:sp>
        <p:nvSpPr>
          <p:cNvPr id="58" name="obj_22"/>
          <p:cNvSpPr/>
          <p:nvPr/>
        </p:nvSpPr>
        <p:spPr>
          <a:xfrm>
            <a:off x="10463193" y="1930834"/>
            <a:ext cx="347473" cy="347473"/>
          </a:xfrm>
          <a:prstGeom prst="ellipse">
            <a:avLst/>
          </a:prstGeom>
          <a:solidFill>
            <a:srgbClr val="D3E3EB"/>
          </a:solidFill>
          <a:ln w="12700">
            <a:solidFill>
              <a:srgbClr val="D3E3EB"/>
            </a:solidFill>
          </a:ln>
        </p:spPr>
        <p:txBody>
          <a:bodyPr lIns="45719" rIns="45719"/>
          <a:lstStyle/>
          <a:p>
            <a:pPr/>
          </a:p>
        </p:txBody>
      </p:sp>
      <p:sp>
        <p:nvSpPr>
          <p:cNvPr id="59" name="obj_23"/>
          <p:cNvSpPr/>
          <p:nvPr/>
        </p:nvSpPr>
        <p:spPr>
          <a:xfrm>
            <a:off x="8113487" y="3760056"/>
            <a:ext cx="347473" cy="347473"/>
          </a:xfrm>
          <a:prstGeom prst="ellipse">
            <a:avLst/>
          </a:prstGeom>
          <a:solidFill>
            <a:srgbClr val="D3E3EB"/>
          </a:solidFill>
          <a:ln w="12700">
            <a:solidFill>
              <a:srgbClr val="D3E3EB"/>
            </a:solidFill>
          </a:ln>
        </p:spPr>
        <p:txBody>
          <a:bodyPr lIns="45719" rIns="45719"/>
          <a:lstStyle/>
          <a:p>
            <a:pPr/>
          </a:p>
        </p:txBody>
      </p:sp>
      <p:sp>
        <p:nvSpPr>
          <p:cNvPr id="60" name="obj_24"/>
          <p:cNvSpPr/>
          <p:nvPr/>
        </p:nvSpPr>
        <p:spPr>
          <a:xfrm>
            <a:off x="10136123" y="3935967"/>
            <a:ext cx="347473" cy="347473"/>
          </a:xfrm>
          <a:prstGeom prst="ellipse">
            <a:avLst/>
          </a:prstGeom>
          <a:solidFill>
            <a:srgbClr val="D3E3EB"/>
          </a:solidFill>
          <a:ln w="12700">
            <a:solidFill>
              <a:srgbClr val="D3E3EB"/>
            </a:solidFill>
          </a:ln>
        </p:spPr>
        <p:txBody>
          <a:bodyPr lIns="45719" rIns="45719"/>
          <a:lstStyle/>
          <a:p>
            <a:pPr/>
          </a:p>
        </p:txBody>
      </p:sp>
      <p:sp>
        <p:nvSpPr>
          <p:cNvPr id="61" name="obj_25"/>
          <p:cNvSpPr txBox="1"/>
          <p:nvPr/>
        </p:nvSpPr>
        <p:spPr>
          <a:xfrm>
            <a:off x="8709659" y="2743199"/>
            <a:ext cx="137160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52939"/>
                </a:solidFill>
              </a:defRPr>
            </a:lvl1pPr>
          </a:lstStyle>
          <a:p>
            <a:pPr/>
            <a:r>
              <a:t>centre</a:t>
            </a:r>
          </a:p>
        </p:txBody>
      </p:sp>
      <p:sp>
        <p:nvSpPr>
          <p:cNvPr id="62" name="obj_26"/>
          <p:cNvSpPr txBox="1"/>
          <p:nvPr/>
        </p:nvSpPr>
        <p:spPr>
          <a:xfrm>
            <a:off x="9646919" y="1175225"/>
            <a:ext cx="132588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400">
                <a:solidFill>
                  <a:srgbClr val="D3E3EB"/>
                </a:solidFill>
              </a:defRPr>
            </a:lvl1pPr>
          </a:lstStyle>
          <a:p>
            <a:pPr/>
            <a:r>
              <a:t>outside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 name="obj_27"/>
          <p:cNvSpPr/>
          <p:nvPr/>
        </p:nvSpPr>
        <p:spPr>
          <a:xfrm>
            <a:off x="502919" y="274320"/>
            <a:ext cx="2606041" cy="347473"/>
          </a:xfrm>
          <a:prstGeom prst="roundRect">
            <a:avLst>
              <a:gd name="adj" fmla="val 47368"/>
            </a:avLst>
          </a:prstGeom>
          <a:solidFill>
            <a:srgbClr val="123B54"/>
          </a:solidFill>
          <a:ln w="12700">
            <a:solidFill>
              <a:srgbClr val="123B54">
                <a:alpha val="0"/>
              </a:srgbClr>
            </a:solidFill>
          </a:ln>
        </p:spPr>
        <p:txBody>
          <a:bodyPr lIns="45719" rIns="45719"/>
          <a:lstStyle/>
          <a:p>
            <a:pPr/>
          </a:p>
        </p:txBody>
      </p:sp>
      <p:sp>
        <p:nvSpPr>
          <p:cNvPr id="67" name="obj_28"/>
          <p:cNvSpPr txBox="1"/>
          <p:nvPr/>
        </p:nvSpPr>
        <p:spPr>
          <a:xfrm>
            <a:off x="566927" y="274320"/>
            <a:ext cx="2468882" cy="34747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100">
                <a:solidFill>
                  <a:srgbClr val="F4F8FA"/>
                </a:solidFill>
              </a:defRPr>
            </a:lvl1pPr>
          </a:lstStyle>
          <a:p>
            <a:pPr/>
            <a:r>
              <a:t>TODAY · 2 MIN</a:t>
            </a:r>
          </a:p>
        </p:txBody>
      </p:sp>
      <p:sp>
        <p:nvSpPr>
          <p:cNvPr id="68" name="obj_29"/>
          <p:cNvSpPr txBox="1"/>
          <p:nvPr/>
        </p:nvSpPr>
        <p:spPr>
          <a:xfrm>
            <a:off x="7315200" y="283463"/>
            <a:ext cx="4343400"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000">
                <a:solidFill>
                  <a:srgbClr val="5B7484"/>
                </a:solidFill>
              </a:defRPr>
            </a:lvl1pPr>
          </a:lstStyle>
          <a:p>
            <a:pPr/>
            <a:r>
              <a:t>atom   ·   centre   ·   outside</a:t>
            </a:r>
          </a:p>
        </p:txBody>
      </p:sp>
      <p:sp>
        <p:nvSpPr>
          <p:cNvPr id="69" name="obj_30"/>
          <p:cNvSpPr txBox="1"/>
          <p:nvPr/>
        </p:nvSpPr>
        <p:spPr>
          <a:xfrm>
            <a:off x="566927" y="914399"/>
            <a:ext cx="10972801" cy="5029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3000">
                <a:solidFill>
                  <a:srgbClr val="123B54"/>
                </a:solidFill>
                <a:latin typeface="Georgia"/>
                <a:ea typeface="Georgia"/>
                <a:cs typeface="Georgia"/>
                <a:sym typeface="Georgia"/>
              </a:defRPr>
            </a:lvl1pPr>
          </a:lstStyle>
          <a:p>
            <a:pPr/>
            <a:r>
              <a:t>Today</a:t>
            </a:r>
          </a:p>
        </p:txBody>
      </p:sp>
      <p:sp>
        <p:nvSpPr>
          <p:cNvPr id="70" name="obj_31"/>
          <p:cNvSpPr/>
          <p:nvPr/>
        </p:nvSpPr>
        <p:spPr>
          <a:xfrm>
            <a:off x="685800" y="1737360"/>
            <a:ext cx="10789920" cy="868681"/>
          </a:xfrm>
          <a:prstGeom prst="roundRect">
            <a:avLst>
              <a:gd name="adj" fmla="val 12632"/>
            </a:avLst>
          </a:prstGeom>
          <a:solidFill>
            <a:srgbClr val="FFFFFF"/>
          </a:solidFill>
          <a:ln w="12700">
            <a:solidFill>
              <a:srgbClr val="D3E3EB"/>
            </a:solidFill>
          </a:ln>
        </p:spPr>
        <p:txBody>
          <a:bodyPr lIns="45719" rIns="45719"/>
          <a:lstStyle/>
          <a:p>
            <a:pPr/>
          </a:p>
        </p:txBody>
      </p:sp>
      <p:sp>
        <p:nvSpPr>
          <p:cNvPr id="71" name="obj_32"/>
          <p:cNvSpPr/>
          <p:nvPr/>
        </p:nvSpPr>
        <p:spPr>
          <a:xfrm>
            <a:off x="914399" y="1911095"/>
            <a:ext cx="502922" cy="502921"/>
          </a:xfrm>
          <a:prstGeom prst="ellipse">
            <a:avLst/>
          </a:prstGeom>
          <a:solidFill>
            <a:srgbClr val="FFD166"/>
          </a:solidFill>
          <a:ln w="12700">
            <a:solidFill>
              <a:srgbClr val="FFD166"/>
            </a:solidFill>
          </a:ln>
        </p:spPr>
        <p:txBody>
          <a:bodyPr lIns="45719" rIns="45719"/>
          <a:lstStyle/>
          <a:p>
            <a:pPr/>
          </a:p>
        </p:txBody>
      </p:sp>
      <p:sp>
        <p:nvSpPr>
          <p:cNvPr id="72" name="obj_33"/>
          <p:cNvSpPr txBox="1"/>
          <p:nvPr/>
        </p:nvSpPr>
        <p:spPr>
          <a:xfrm>
            <a:off x="914399" y="1911095"/>
            <a:ext cx="502921" cy="50292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700">
                <a:solidFill>
                  <a:srgbClr val="123B54"/>
                </a:solidFill>
              </a:defRPr>
            </a:lvl1pPr>
          </a:lstStyle>
          <a:p>
            <a:pPr/>
            <a:r>
              <a:t>1</a:t>
            </a:r>
          </a:p>
        </p:txBody>
      </p:sp>
      <p:sp>
        <p:nvSpPr>
          <p:cNvPr id="73" name="obj_34"/>
          <p:cNvSpPr txBox="1"/>
          <p:nvPr/>
        </p:nvSpPr>
        <p:spPr>
          <a:xfrm>
            <a:off x="1664207" y="1828799"/>
            <a:ext cx="4572001"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2000">
                <a:solidFill>
                  <a:srgbClr val="123B54"/>
                </a:solidFill>
                <a:latin typeface="Georgia"/>
                <a:ea typeface="Georgia"/>
                <a:cs typeface="Georgia"/>
                <a:sym typeface="Georgia"/>
              </a:defRPr>
            </a:lvl1pPr>
          </a:lstStyle>
          <a:p>
            <a:pPr/>
            <a:r>
              <a:t>Learn four words.</a:t>
            </a:r>
          </a:p>
        </p:txBody>
      </p:sp>
      <p:sp>
        <p:nvSpPr>
          <p:cNvPr id="74" name="obj_35"/>
          <p:cNvSpPr txBox="1"/>
          <p:nvPr/>
        </p:nvSpPr>
        <p:spPr>
          <a:xfrm>
            <a:off x="6126479" y="1828799"/>
            <a:ext cx="4526281"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sz="1700">
                <a:solidFill>
                  <a:srgbClr val="5B7484"/>
                </a:solidFill>
              </a:defRPr>
            </a:lvl1pPr>
          </a:lstStyle>
          <a:p>
            <a:pPr/>
            <a:r>
              <a:t>nucleus · centre · electron · outside</a:t>
            </a:r>
          </a:p>
        </p:txBody>
      </p:sp>
      <p:sp>
        <p:nvSpPr>
          <p:cNvPr id="75" name="obj_36"/>
          <p:cNvSpPr/>
          <p:nvPr/>
        </p:nvSpPr>
        <p:spPr>
          <a:xfrm>
            <a:off x="685800" y="2807207"/>
            <a:ext cx="10789920" cy="868681"/>
          </a:xfrm>
          <a:prstGeom prst="roundRect">
            <a:avLst>
              <a:gd name="adj" fmla="val 12632"/>
            </a:avLst>
          </a:prstGeom>
          <a:solidFill>
            <a:srgbClr val="FFFFFF"/>
          </a:solidFill>
          <a:ln w="12700">
            <a:solidFill>
              <a:srgbClr val="D3E3EB"/>
            </a:solidFill>
          </a:ln>
        </p:spPr>
        <p:txBody>
          <a:bodyPr lIns="45719" rIns="45719"/>
          <a:lstStyle/>
          <a:p>
            <a:pPr/>
          </a:p>
        </p:txBody>
      </p:sp>
      <p:sp>
        <p:nvSpPr>
          <p:cNvPr id="76" name="obj_37"/>
          <p:cNvSpPr/>
          <p:nvPr/>
        </p:nvSpPr>
        <p:spPr>
          <a:xfrm>
            <a:off x="914399" y="2980944"/>
            <a:ext cx="502922" cy="502921"/>
          </a:xfrm>
          <a:prstGeom prst="ellipse">
            <a:avLst/>
          </a:prstGeom>
          <a:solidFill>
            <a:srgbClr val="FFD166"/>
          </a:solidFill>
          <a:ln w="12700">
            <a:solidFill>
              <a:srgbClr val="FFD166"/>
            </a:solidFill>
          </a:ln>
        </p:spPr>
        <p:txBody>
          <a:bodyPr lIns="45719" rIns="45719"/>
          <a:lstStyle/>
          <a:p>
            <a:pPr/>
          </a:p>
        </p:txBody>
      </p:sp>
      <p:sp>
        <p:nvSpPr>
          <p:cNvPr id="77" name="obj_38"/>
          <p:cNvSpPr txBox="1"/>
          <p:nvPr/>
        </p:nvSpPr>
        <p:spPr>
          <a:xfrm>
            <a:off x="914399" y="2980944"/>
            <a:ext cx="502921" cy="50292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700">
                <a:solidFill>
                  <a:srgbClr val="123B54"/>
                </a:solidFill>
              </a:defRPr>
            </a:lvl1pPr>
          </a:lstStyle>
          <a:p>
            <a:pPr/>
            <a:r>
              <a:t>2</a:t>
            </a:r>
          </a:p>
        </p:txBody>
      </p:sp>
      <p:sp>
        <p:nvSpPr>
          <p:cNvPr id="78" name="obj_39"/>
          <p:cNvSpPr txBox="1"/>
          <p:nvPr/>
        </p:nvSpPr>
        <p:spPr>
          <a:xfrm>
            <a:off x="1664207" y="2898648"/>
            <a:ext cx="457200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2000">
                <a:solidFill>
                  <a:srgbClr val="123B54"/>
                </a:solidFill>
                <a:latin typeface="Georgia"/>
                <a:ea typeface="Georgia"/>
                <a:cs typeface="Georgia"/>
                <a:sym typeface="Georgia"/>
              </a:defRPr>
            </a:lvl1pPr>
          </a:lstStyle>
          <a:p>
            <a:pPr/>
            <a:r>
              <a:t>Draw a simple atom.</a:t>
            </a:r>
          </a:p>
        </p:txBody>
      </p:sp>
      <p:sp>
        <p:nvSpPr>
          <p:cNvPr id="79" name="obj_41"/>
          <p:cNvSpPr/>
          <p:nvPr/>
        </p:nvSpPr>
        <p:spPr>
          <a:xfrm>
            <a:off x="685800" y="3877055"/>
            <a:ext cx="10789920" cy="868682"/>
          </a:xfrm>
          <a:prstGeom prst="roundRect">
            <a:avLst>
              <a:gd name="adj" fmla="val 12632"/>
            </a:avLst>
          </a:prstGeom>
          <a:solidFill>
            <a:srgbClr val="FFFFFF"/>
          </a:solidFill>
          <a:ln w="12700">
            <a:solidFill>
              <a:srgbClr val="D3E3EB"/>
            </a:solidFill>
          </a:ln>
        </p:spPr>
        <p:txBody>
          <a:bodyPr lIns="45719" rIns="45719"/>
          <a:lstStyle/>
          <a:p>
            <a:pPr/>
          </a:p>
        </p:txBody>
      </p:sp>
      <p:sp>
        <p:nvSpPr>
          <p:cNvPr id="80" name="obj_42"/>
          <p:cNvSpPr/>
          <p:nvPr/>
        </p:nvSpPr>
        <p:spPr>
          <a:xfrm>
            <a:off x="914399" y="4050791"/>
            <a:ext cx="502922" cy="502921"/>
          </a:xfrm>
          <a:prstGeom prst="ellipse">
            <a:avLst/>
          </a:prstGeom>
          <a:solidFill>
            <a:srgbClr val="FFD166"/>
          </a:solidFill>
          <a:ln w="12700">
            <a:solidFill>
              <a:srgbClr val="FFD166"/>
            </a:solidFill>
          </a:ln>
        </p:spPr>
        <p:txBody>
          <a:bodyPr lIns="45719" rIns="45719"/>
          <a:lstStyle/>
          <a:p>
            <a:pPr/>
          </a:p>
        </p:txBody>
      </p:sp>
      <p:sp>
        <p:nvSpPr>
          <p:cNvPr id="81" name="obj_43"/>
          <p:cNvSpPr txBox="1"/>
          <p:nvPr/>
        </p:nvSpPr>
        <p:spPr>
          <a:xfrm>
            <a:off x="914399" y="4050791"/>
            <a:ext cx="502921" cy="50292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700">
                <a:solidFill>
                  <a:srgbClr val="123B54"/>
                </a:solidFill>
              </a:defRPr>
            </a:lvl1pPr>
          </a:lstStyle>
          <a:p>
            <a:pPr/>
            <a:r>
              <a:t>3</a:t>
            </a:r>
          </a:p>
        </p:txBody>
      </p:sp>
      <p:sp>
        <p:nvSpPr>
          <p:cNvPr id="82" name="obj_44"/>
          <p:cNvSpPr txBox="1"/>
          <p:nvPr/>
        </p:nvSpPr>
        <p:spPr>
          <a:xfrm>
            <a:off x="1664207" y="3968496"/>
            <a:ext cx="457200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2000">
                <a:solidFill>
                  <a:srgbClr val="123B54"/>
                </a:solidFill>
                <a:latin typeface="Georgia"/>
                <a:ea typeface="Georgia"/>
                <a:cs typeface="Georgia"/>
                <a:sym typeface="Georgia"/>
              </a:defRPr>
            </a:lvl1pPr>
          </a:lstStyle>
          <a:p>
            <a:pPr/>
            <a:r>
              <a:t>Label the picture.</a:t>
            </a:r>
          </a:p>
        </p:txBody>
      </p:sp>
      <p:sp>
        <p:nvSpPr>
          <p:cNvPr id="83" name="obj_46"/>
          <p:cNvSpPr/>
          <p:nvPr/>
        </p:nvSpPr>
        <p:spPr>
          <a:xfrm>
            <a:off x="685800" y="4946903"/>
            <a:ext cx="10789920" cy="868681"/>
          </a:xfrm>
          <a:prstGeom prst="roundRect">
            <a:avLst>
              <a:gd name="adj" fmla="val 12632"/>
            </a:avLst>
          </a:prstGeom>
          <a:solidFill>
            <a:srgbClr val="FFFFFF"/>
          </a:solidFill>
          <a:ln w="12700">
            <a:solidFill>
              <a:srgbClr val="D3E3EB"/>
            </a:solidFill>
          </a:ln>
        </p:spPr>
        <p:txBody>
          <a:bodyPr lIns="45719" rIns="45719"/>
          <a:lstStyle/>
          <a:p>
            <a:pPr/>
          </a:p>
        </p:txBody>
      </p:sp>
      <p:sp>
        <p:nvSpPr>
          <p:cNvPr id="84" name="obj_47"/>
          <p:cNvSpPr/>
          <p:nvPr/>
        </p:nvSpPr>
        <p:spPr>
          <a:xfrm>
            <a:off x="914399" y="5120640"/>
            <a:ext cx="502922" cy="502921"/>
          </a:xfrm>
          <a:prstGeom prst="ellipse">
            <a:avLst/>
          </a:prstGeom>
          <a:solidFill>
            <a:srgbClr val="FFD166"/>
          </a:solidFill>
          <a:ln w="12700">
            <a:solidFill>
              <a:srgbClr val="FFD166"/>
            </a:solidFill>
          </a:ln>
        </p:spPr>
        <p:txBody>
          <a:bodyPr lIns="45719" rIns="45719"/>
          <a:lstStyle/>
          <a:p>
            <a:pPr/>
          </a:p>
        </p:txBody>
      </p:sp>
      <p:sp>
        <p:nvSpPr>
          <p:cNvPr id="85" name="obj_48"/>
          <p:cNvSpPr txBox="1"/>
          <p:nvPr/>
        </p:nvSpPr>
        <p:spPr>
          <a:xfrm>
            <a:off x="914399" y="5120640"/>
            <a:ext cx="502921" cy="502920"/>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700">
                <a:solidFill>
                  <a:srgbClr val="123B54"/>
                </a:solidFill>
              </a:defRPr>
            </a:lvl1pPr>
          </a:lstStyle>
          <a:p>
            <a:pPr/>
            <a:r>
              <a:t>4</a:t>
            </a:r>
          </a:p>
        </p:txBody>
      </p:sp>
      <p:sp>
        <p:nvSpPr>
          <p:cNvPr id="86" name="obj_49"/>
          <p:cNvSpPr txBox="1"/>
          <p:nvPr/>
        </p:nvSpPr>
        <p:spPr>
          <a:xfrm>
            <a:off x="1664207" y="5038344"/>
            <a:ext cx="457200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2000">
                <a:solidFill>
                  <a:srgbClr val="123B54"/>
                </a:solidFill>
                <a:latin typeface="Georgia"/>
                <a:ea typeface="Georgia"/>
                <a:cs typeface="Georgia"/>
                <a:sym typeface="Georgia"/>
              </a:defRPr>
            </a:lvl1pPr>
          </a:lstStyle>
          <a:p>
            <a:pPr/>
            <a:r>
              <a:t>Point and say.</a:t>
            </a:r>
          </a:p>
        </p:txBody>
      </p:sp>
      <p:sp>
        <p:nvSpPr>
          <p:cNvPr id="87" name="obj_50"/>
          <p:cNvSpPr txBox="1"/>
          <p:nvPr/>
        </p:nvSpPr>
        <p:spPr>
          <a:xfrm>
            <a:off x="6126479" y="5038344"/>
            <a:ext cx="452628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sz="1700">
                <a:solidFill>
                  <a:srgbClr val="5B7484"/>
                </a:solidFill>
              </a:defRPr>
            </a:lvl1pPr>
          </a:lstStyle>
          <a:p>
            <a:pPr/>
            <a:r>
              <a:t>“The nucleus is in the centre of the atom.”</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1" name="obj_51"/>
          <p:cNvSpPr/>
          <p:nvPr/>
        </p:nvSpPr>
        <p:spPr>
          <a:xfrm>
            <a:off x="502919" y="274320"/>
            <a:ext cx="2606041" cy="347473"/>
          </a:xfrm>
          <a:prstGeom prst="roundRect">
            <a:avLst>
              <a:gd name="adj" fmla="val 47368"/>
            </a:avLst>
          </a:prstGeom>
          <a:solidFill>
            <a:srgbClr val="123B54"/>
          </a:solidFill>
          <a:ln w="12700">
            <a:solidFill>
              <a:srgbClr val="123B54">
                <a:alpha val="0"/>
              </a:srgbClr>
            </a:solidFill>
          </a:ln>
        </p:spPr>
        <p:txBody>
          <a:bodyPr lIns="45719" rIns="45719"/>
          <a:lstStyle/>
          <a:p>
            <a:pPr/>
          </a:p>
        </p:txBody>
      </p:sp>
      <p:sp>
        <p:nvSpPr>
          <p:cNvPr id="92" name="obj_52"/>
          <p:cNvSpPr txBox="1"/>
          <p:nvPr/>
        </p:nvSpPr>
        <p:spPr>
          <a:xfrm>
            <a:off x="566927" y="274320"/>
            <a:ext cx="2468882" cy="34747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100">
                <a:solidFill>
                  <a:srgbClr val="F4F8FA"/>
                </a:solidFill>
              </a:defRPr>
            </a:lvl1pPr>
          </a:lstStyle>
          <a:p>
            <a:pPr/>
            <a:r>
              <a:t>DO NOW · 5 MIN</a:t>
            </a:r>
          </a:p>
        </p:txBody>
      </p:sp>
      <p:sp>
        <p:nvSpPr>
          <p:cNvPr id="93" name="obj_53"/>
          <p:cNvSpPr txBox="1"/>
          <p:nvPr/>
        </p:nvSpPr>
        <p:spPr>
          <a:xfrm>
            <a:off x="7315200" y="283463"/>
            <a:ext cx="4343400"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000">
                <a:solidFill>
                  <a:srgbClr val="5B7484"/>
                </a:solidFill>
              </a:defRPr>
            </a:lvl1pPr>
          </a:lstStyle>
          <a:p>
            <a:pPr/>
            <a:r>
              <a:t>atom   ·   matter   ·   tiny   ·   part</a:t>
            </a:r>
          </a:p>
        </p:txBody>
      </p:sp>
      <p:sp>
        <p:nvSpPr>
          <p:cNvPr id="94" name="obj_54"/>
          <p:cNvSpPr txBox="1"/>
          <p:nvPr/>
        </p:nvSpPr>
        <p:spPr>
          <a:xfrm>
            <a:off x="566927" y="914399"/>
            <a:ext cx="10972801" cy="5029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3000">
                <a:solidFill>
                  <a:srgbClr val="123B54"/>
                </a:solidFill>
                <a:latin typeface="Georgia"/>
                <a:ea typeface="Georgia"/>
                <a:cs typeface="Georgia"/>
                <a:sym typeface="Georgia"/>
              </a:defRPr>
            </a:lvl1pPr>
          </a:lstStyle>
          <a:p>
            <a:pPr/>
            <a:r>
              <a:t>Do Now</a:t>
            </a:r>
          </a:p>
        </p:txBody>
      </p:sp>
      <p:sp>
        <p:nvSpPr>
          <p:cNvPr id="95" name="obj_55"/>
          <p:cNvSpPr txBox="1"/>
          <p:nvPr/>
        </p:nvSpPr>
        <p:spPr>
          <a:xfrm>
            <a:off x="621791" y="1417319"/>
            <a:ext cx="640080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a:solidFill>
                  <a:srgbClr val="5B7484"/>
                </a:solidFill>
              </a:defRPr>
            </a:lvl1pPr>
          </a:lstStyle>
          <a:p>
            <a:pPr/>
            <a:r>
              <a:t>Answer first. Then we check.</a:t>
            </a:r>
          </a:p>
        </p:txBody>
      </p:sp>
      <p:sp>
        <p:nvSpPr>
          <p:cNvPr id="96" name="obj_56"/>
          <p:cNvSpPr/>
          <p:nvPr/>
        </p:nvSpPr>
        <p:spPr>
          <a:xfrm>
            <a:off x="685800" y="1828800"/>
            <a:ext cx="438912" cy="438912"/>
          </a:xfrm>
          <a:prstGeom prst="ellipse">
            <a:avLst/>
          </a:prstGeom>
          <a:solidFill>
            <a:srgbClr val="FFD166"/>
          </a:solidFill>
          <a:ln w="12700">
            <a:solidFill>
              <a:srgbClr val="FFD166"/>
            </a:solidFill>
          </a:ln>
        </p:spPr>
        <p:txBody>
          <a:bodyPr lIns="45719" rIns="45719"/>
          <a:lstStyle/>
          <a:p>
            <a:pPr/>
          </a:p>
        </p:txBody>
      </p:sp>
      <p:sp>
        <p:nvSpPr>
          <p:cNvPr id="97" name="obj_57"/>
          <p:cNvSpPr txBox="1"/>
          <p:nvPr/>
        </p:nvSpPr>
        <p:spPr>
          <a:xfrm>
            <a:off x="685800" y="1828800"/>
            <a:ext cx="438912" cy="43891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1</a:t>
            </a:r>
          </a:p>
        </p:txBody>
      </p:sp>
      <p:sp>
        <p:nvSpPr>
          <p:cNvPr id="98" name="obj_58"/>
          <p:cNvSpPr txBox="1"/>
          <p:nvPr/>
        </p:nvSpPr>
        <p:spPr>
          <a:xfrm>
            <a:off x="1298447" y="1810511"/>
            <a:ext cx="5806442"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700">
                <a:solidFill>
                  <a:srgbClr val="123B54"/>
                </a:solidFill>
              </a:defRPr>
            </a:lvl1pPr>
          </a:lstStyle>
          <a:p>
            <a:pPr/>
            <a:r>
              <a:t>What is an atom?</a:t>
            </a:r>
          </a:p>
        </p:txBody>
      </p:sp>
      <p:sp>
        <p:nvSpPr>
          <p:cNvPr id="99" name="obj_59"/>
          <p:cNvSpPr txBox="1"/>
          <p:nvPr/>
        </p:nvSpPr>
        <p:spPr>
          <a:xfrm>
            <a:off x="7406640" y="1810511"/>
            <a:ext cx="4114801"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700">
                <a:solidFill>
                  <a:srgbClr val="EF476F"/>
                </a:solidFill>
              </a:defRPr>
            </a:lvl1pPr>
          </a:lstStyle>
          <a:p>
            <a:pPr/>
            <a:r>
              <a:t>A tiny part of matter.</a:t>
            </a:r>
          </a:p>
        </p:txBody>
      </p:sp>
      <p:sp>
        <p:nvSpPr>
          <p:cNvPr id="100" name="obj_60"/>
          <p:cNvSpPr/>
          <p:nvPr/>
        </p:nvSpPr>
        <p:spPr>
          <a:xfrm>
            <a:off x="685800" y="2633472"/>
            <a:ext cx="438912" cy="438912"/>
          </a:xfrm>
          <a:prstGeom prst="ellipse">
            <a:avLst/>
          </a:prstGeom>
          <a:solidFill>
            <a:srgbClr val="FFD166"/>
          </a:solidFill>
          <a:ln w="12700">
            <a:solidFill>
              <a:srgbClr val="FFD166"/>
            </a:solidFill>
          </a:ln>
        </p:spPr>
        <p:txBody>
          <a:bodyPr lIns="45719" rIns="45719"/>
          <a:lstStyle/>
          <a:p>
            <a:pPr/>
          </a:p>
        </p:txBody>
      </p:sp>
      <p:sp>
        <p:nvSpPr>
          <p:cNvPr id="101" name="obj_61"/>
          <p:cNvSpPr txBox="1"/>
          <p:nvPr/>
        </p:nvSpPr>
        <p:spPr>
          <a:xfrm>
            <a:off x="685800" y="2633472"/>
            <a:ext cx="438912" cy="43891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2</a:t>
            </a:r>
          </a:p>
        </p:txBody>
      </p:sp>
      <p:sp>
        <p:nvSpPr>
          <p:cNvPr id="102" name="obj_62"/>
          <p:cNvSpPr txBox="1"/>
          <p:nvPr/>
        </p:nvSpPr>
        <p:spPr>
          <a:xfrm>
            <a:off x="1298447" y="2615183"/>
            <a:ext cx="5806442"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700">
                <a:solidFill>
                  <a:srgbClr val="123B54"/>
                </a:solidFill>
              </a:defRPr>
            </a:lvl1pPr>
          </a:lstStyle>
          <a:p>
            <a:pPr/>
            <a:r>
              <a:t>What is matter?</a:t>
            </a:r>
          </a:p>
        </p:txBody>
      </p:sp>
      <p:sp>
        <p:nvSpPr>
          <p:cNvPr id="103" name="obj_63"/>
          <p:cNvSpPr txBox="1"/>
          <p:nvPr/>
        </p:nvSpPr>
        <p:spPr>
          <a:xfrm>
            <a:off x="7406640" y="2615183"/>
            <a:ext cx="4114801"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700">
                <a:solidFill>
                  <a:srgbClr val="EF476F"/>
                </a:solidFill>
              </a:defRPr>
            </a:lvl1pPr>
          </a:lstStyle>
          <a:p>
            <a:pPr/>
            <a:r>
              <a:t>Anything you can touch.</a:t>
            </a:r>
          </a:p>
        </p:txBody>
      </p:sp>
      <p:sp>
        <p:nvSpPr>
          <p:cNvPr id="104" name="obj_64"/>
          <p:cNvSpPr/>
          <p:nvPr/>
        </p:nvSpPr>
        <p:spPr>
          <a:xfrm>
            <a:off x="685800" y="3438144"/>
            <a:ext cx="438912" cy="438913"/>
          </a:xfrm>
          <a:prstGeom prst="ellipse">
            <a:avLst/>
          </a:prstGeom>
          <a:solidFill>
            <a:srgbClr val="FFD166"/>
          </a:solidFill>
          <a:ln w="12700">
            <a:solidFill>
              <a:srgbClr val="FFD166"/>
            </a:solidFill>
          </a:ln>
        </p:spPr>
        <p:txBody>
          <a:bodyPr lIns="45719" rIns="45719"/>
          <a:lstStyle/>
          <a:p>
            <a:pPr/>
          </a:p>
        </p:txBody>
      </p:sp>
      <p:sp>
        <p:nvSpPr>
          <p:cNvPr id="105" name="obj_65"/>
          <p:cNvSpPr txBox="1"/>
          <p:nvPr/>
        </p:nvSpPr>
        <p:spPr>
          <a:xfrm>
            <a:off x="685800" y="3438144"/>
            <a:ext cx="438912" cy="43891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3</a:t>
            </a:r>
          </a:p>
        </p:txBody>
      </p:sp>
      <p:sp>
        <p:nvSpPr>
          <p:cNvPr id="106" name="obj_66"/>
          <p:cNvSpPr txBox="1"/>
          <p:nvPr/>
        </p:nvSpPr>
        <p:spPr>
          <a:xfrm>
            <a:off x="1298447" y="3419855"/>
            <a:ext cx="5806442"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700">
                <a:solidFill>
                  <a:srgbClr val="123B54"/>
                </a:solidFill>
              </a:defRPr>
            </a:lvl1pPr>
          </a:lstStyle>
          <a:p>
            <a:pPr/>
            <a:r>
              <a:t>Does “tiny” mean very big or very small?</a:t>
            </a:r>
          </a:p>
        </p:txBody>
      </p:sp>
      <p:sp>
        <p:nvSpPr>
          <p:cNvPr id="107" name="obj_67"/>
          <p:cNvSpPr txBox="1"/>
          <p:nvPr/>
        </p:nvSpPr>
        <p:spPr>
          <a:xfrm>
            <a:off x="7406640" y="3419855"/>
            <a:ext cx="4114801"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700">
                <a:solidFill>
                  <a:srgbClr val="EF476F"/>
                </a:solidFill>
              </a:defRPr>
            </a:lvl1pPr>
          </a:lstStyle>
          <a:p>
            <a:pPr/>
            <a:r>
              <a:t>Very small.</a:t>
            </a:r>
          </a:p>
        </p:txBody>
      </p:sp>
      <p:sp>
        <p:nvSpPr>
          <p:cNvPr id="108" name="obj_68"/>
          <p:cNvSpPr/>
          <p:nvPr/>
        </p:nvSpPr>
        <p:spPr>
          <a:xfrm>
            <a:off x="685800" y="4242815"/>
            <a:ext cx="438912" cy="438913"/>
          </a:xfrm>
          <a:prstGeom prst="ellipse">
            <a:avLst/>
          </a:prstGeom>
          <a:solidFill>
            <a:srgbClr val="FFD166"/>
          </a:solidFill>
          <a:ln w="12700">
            <a:solidFill>
              <a:srgbClr val="FFD166"/>
            </a:solidFill>
          </a:ln>
        </p:spPr>
        <p:txBody>
          <a:bodyPr lIns="45719" rIns="45719"/>
          <a:lstStyle/>
          <a:p>
            <a:pPr/>
          </a:p>
        </p:txBody>
      </p:sp>
      <p:sp>
        <p:nvSpPr>
          <p:cNvPr id="109" name="obj_69"/>
          <p:cNvSpPr txBox="1"/>
          <p:nvPr/>
        </p:nvSpPr>
        <p:spPr>
          <a:xfrm>
            <a:off x="685800" y="4242815"/>
            <a:ext cx="438912" cy="43891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4</a:t>
            </a:r>
          </a:p>
        </p:txBody>
      </p:sp>
      <p:sp>
        <p:nvSpPr>
          <p:cNvPr id="110" name="obj_70"/>
          <p:cNvSpPr txBox="1"/>
          <p:nvPr/>
        </p:nvSpPr>
        <p:spPr>
          <a:xfrm>
            <a:off x="1298447" y="4224528"/>
            <a:ext cx="5806442"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700">
                <a:solidFill>
                  <a:srgbClr val="123B54"/>
                </a:solidFill>
              </a:defRPr>
            </a:lvl1pPr>
          </a:lstStyle>
          <a:p>
            <a:pPr/>
            <a:r>
              <a:t>Complete: “A chair is a ___ of something.”</a:t>
            </a:r>
          </a:p>
        </p:txBody>
      </p:sp>
      <p:sp>
        <p:nvSpPr>
          <p:cNvPr id="111" name="obj_71"/>
          <p:cNvSpPr txBox="1"/>
          <p:nvPr/>
        </p:nvSpPr>
        <p:spPr>
          <a:xfrm>
            <a:off x="7406640" y="4224528"/>
            <a:ext cx="4114801"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700">
                <a:solidFill>
                  <a:srgbClr val="EF476F"/>
                </a:solidFill>
              </a:defRPr>
            </a:lvl1pPr>
          </a:lstStyle>
          <a:p>
            <a:pPr/>
            <a:r>
              <a:t>part</a:t>
            </a:r>
          </a:p>
        </p:txBody>
      </p:sp>
      <p:sp>
        <p:nvSpPr>
          <p:cNvPr id="112" name="obj_72"/>
          <p:cNvSpPr/>
          <p:nvPr/>
        </p:nvSpPr>
        <p:spPr>
          <a:xfrm>
            <a:off x="685800" y="5047488"/>
            <a:ext cx="438912" cy="438913"/>
          </a:xfrm>
          <a:prstGeom prst="ellipse">
            <a:avLst/>
          </a:prstGeom>
          <a:solidFill>
            <a:srgbClr val="FFD166"/>
          </a:solidFill>
          <a:ln w="12700">
            <a:solidFill>
              <a:srgbClr val="FFD166"/>
            </a:solidFill>
          </a:ln>
        </p:spPr>
        <p:txBody>
          <a:bodyPr lIns="45719" rIns="45719"/>
          <a:lstStyle/>
          <a:p>
            <a:pPr/>
          </a:p>
        </p:txBody>
      </p:sp>
      <p:sp>
        <p:nvSpPr>
          <p:cNvPr id="113" name="obj_73"/>
          <p:cNvSpPr txBox="1"/>
          <p:nvPr/>
        </p:nvSpPr>
        <p:spPr>
          <a:xfrm>
            <a:off x="685800" y="5047488"/>
            <a:ext cx="438912" cy="43891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5</a:t>
            </a:r>
          </a:p>
        </p:txBody>
      </p:sp>
      <p:sp>
        <p:nvSpPr>
          <p:cNvPr id="114" name="obj_74"/>
          <p:cNvSpPr txBox="1"/>
          <p:nvPr/>
        </p:nvSpPr>
        <p:spPr>
          <a:xfrm>
            <a:off x="1298447" y="5029199"/>
            <a:ext cx="5806442" cy="41148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700">
                <a:solidFill>
                  <a:srgbClr val="123B54"/>
                </a:solidFill>
              </a:defRPr>
            </a:lvl1pPr>
          </a:lstStyle>
          <a:p>
            <a:pPr/>
            <a:r>
              <a:t>Complete: “A rock is made of ___.”</a:t>
            </a:r>
          </a:p>
        </p:txBody>
      </p:sp>
      <p:sp>
        <p:nvSpPr>
          <p:cNvPr id="115" name="obj_75"/>
          <p:cNvSpPr txBox="1"/>
          <p:nvPr/>
        </p:nvSpPr>
        <p:spPr>
          <a:xfrm>
            <a:off x="7406640" y="5029199"/>
            <a:ext cx="4114801" cy="41148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700">
                <a:solidFill>
                  <a:srgbClr val="EF476F"/>
                </a:solidFill>
              </a:defRPr>
            </a:lvl1pPr>
          </a:lstStyle>
          <a:p>
            <a:pPr/>
            <a:r>
              <a:t>stone/atoms</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19" name="obj_76"/>
          <p:cNvSpPr/>
          <p:nvPr/>
        </p:nvSpPr>
        <p:spPr>
          <a:xfrm>
            <a:off x="502919" y="274320"/>
            <a:ext cx="2606041" cy="347473"/>
          </a:xfrm>
          <a:prstGeom prst="roundRect">
            <a:avLst>
              <a:gd name="adj" fmla="val 47368"/>
            </a:avLst>
          </a:prstGeom>
          <a:solidFill>
            <a:srgbClr val="123B54"/>
          </a:solidFill>
          <a:ln w="12700">
            <a:solidFill>
              <a:srgbClr val="123B54">
                <a:alpha val="0"/>
              </a:srgbClr>
            </a:solidFill>
          </a:ln>
        </p:spPr>
        <p:txBody>
          <a:bodyPr lIns="45719" rIns="45719"/>
          <a:lstStyle/>
          <a:p>
            <a:pPr/>
          </a:p>
        </p:txBody>
      </p:sp>
      <p:sp>
        <p:nvSpPr>
          <p:cNvPr id="120" name="obj_77"/>
          <p:cNvSpPr txBox="1"/>
          <p:nvPr/>
        </p:nvSpPr>
        <p:spPr>
          <a:xfrm>
            <a:off x="566927" y="274320"/>
            <a:ext cx="2468882" cy="347473"/>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100">
                <a:solidFill>
                  <a:srgbClr val="F4F8FA"/>
                </a:solidFill>
              </a:defRPr>
            </a:lvl1pPr>
          </a:lstStyle>
          <a:p>
            <a:pPr/>
            <a:r>
              <a:t>HOOK · 4 MIN</a:t>
            </a:r>
          </a:p>
        </p:txBody>
      </p:sp>
      <p:sp>
        <p:nvSpPr>
          <p:cNvPr id="121" name="obj_78"/>
          <p:cNvSpPr txBox="1"/>
          <p:nvPr/>
        </p:nvSpPr>
        <p:spPr>
          <a:xfrm>
            <a:off x="7315200" y="283463"/>
            <a:ext cx="4343400" cy="32004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r">
              <a:defRPr b="1" sz="1000">
                <a:solidFill>
                  <a:srgbClr val="5B7484"/>
                </a:solidFill>
              </a:defRPr>
            </a:lvl1pPr>
          </a:lstStyle>
          <a:p>
            <a:pPr/>
            <a:r>
              <a:t>atom   ·   tiny   ·   part</a:t>
            </a:r>
          </a:p>
        </p:txBody>
      </p:sp>
      <p:sp>
        <p:nvSpPr>
          <p:cNvPr id="122" name="obj_79"/>
          <p:cNvSpPr txBox="1"/>
          <p:nvPr/>
        </p:nvSpPr>
        <p:spPr>
          <a:xfrm>
            <a:off x="566927" y="914399"/>
            <a:ext cx="10972801" cy="5029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3000">
                <a:solidFill>
                  <a:srgbClr val="123B54"/>
                </a:solidFill>
                <a:latin typeface="Georgia"/>
                <a:ea typeface="Georgia"/>
                <a:cs typeface="Georgia"/>
                <a:sym typeface="Georgia"/>
              </a:defRPr>
            </a:lvl1pPr>
          </a:lstStyle>
          <a:p>
            <a:pPr/>
            <a:r>
              <a:t>How can we draw something we cannot see?</a:t>
            </a:r>
          </a:p>
        </p:txBody>
      </p:sp>
      <p:sp>
        <p:nvSpPr>
          <p:cNvPr id="123" name="obj_80"/>
          <p:cNvSpPr txBox="1"/>
          <p:nvPr/>
        </p:nvSpPr>
        <p:spPr>
          <a:xfrm>
            <a:off x="731519" y="1600199"/>
            <a:ext cx="2926082" cy="365762"/>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a:solidFill>
                  <a:srgbClr val="5B7484"/>
                </a:solidFill>
              </a:defRPr>
            </a:lvl1pPr>
          </a:lstStyle>
          <a:p>
            <a:pPr/>
            <a:r>
              <a:t>A tiny atom</a:t>
            </a:r>
          </a:p>
        </p:txBody>
      </p:sp>
      <p:sp>
        <p:nvSpPr>
          <p:cNvPr id="124" name="obj_81"/>
          <p:cNvSpPr/>
          <p:nvPr/>
        </p:nvSpPr>
        <p:spPr>
          <a:xfrm>
            <a:off x="1051559" y="2148839"/>
            <a:ext cx="2331722" cy="2331721"/>
          </a:xfrm>
          <a:prstGeom prst="ellipse">
            <a:avLst/>
          </a:prstGeom>
          <a:solidFill>
            <a:srgbClr val="FFFFFF"/>
          </a:solidFill>
          <a:ln w="38100">
            <a:solidFill>
              <a:srgbClr val="123B54"/>
            </a:solidFill>
          </a:ln>
        </p:spPr>
        <p:txBody>
          <a:bodyPr lIns="45719" rIns="45719"/>
          <a:lstStyle/>
          <a:p>
            <a:pPr/>
          </a:p>
        </p:txBody>
      </p:sp>
      <p:sp>
        <p:nvSpPr>
          <p:cNvPr id="125" name="obj_82"/>
          <p:cNvSpPr txBox="1"/>
          <p:nvPr/>
        </p:nvSpPr>
        <p:spPr>
          <a:xfrm>
            <a:off x="1577340" y="2948939"/>
            <a:ext cx="1280161" cy="73152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4400">
                <a:solidFill>
                  <a:srgbClr val="123B54"/>
                </a:solidFill>
                <a:latin typeface="Georgia"/>
                <a:ea typeface="Georgia"/>
                <a:cs typeface="Georgia"/>
                <a:sym typeface="Georgia"/>
              </a:defRPr>
            </a:lvl1pPr>
          </a:lstStyle>
          <a:p>
            <a:pPr/>
            <a:r>
              <a:t>?</a:t>
            </a:r>
          </a:p>
        </p:txBody>
      </p:sp>
      <p:sp>
        <p:nvSpPr>
          <p:cNvPr id="126" name="obj_83"/>
          <p:cNvSpPr/>
          <p:nvPr/>
        </p:nvSpPr>
        <p:spPr>
          <a:xfrm>
            <a:off x="4572000" y="1828800"/>
            <a:ext cx="6355080" cy="2971800"/>
          </a:xfrm>
          <a:prstGeom prst="roundRect">
            <a:avLst>
              <a:gd name="adj" fmla="val 5538"/>
            </a:avLst>
          </a:prstGeom>
          <a:solidFill>
            <a:srgbClr val="FFFFFF"/>
          </a:solidFill>
          <a:ln w="12700">
            <a:solidFill>
              <a:srgbClr val="D3E3EB"/>
            </a:solidFill>
          </a:ln>
        </p:spPr>
        <p:txBody>
          <a:bodyPr lIns="45719" rIns="45719"/>
          <a:lstStyle/>
          <a:p>
            <a:pPr/>
          </a:p>
        </p:txBody>
      </p:sp>
      <p:sp>
        <p:nvSpPr>
          <p:cNvPr id="127" name="obj_84"/>
          <p:cNvSpPr/>
          <p:nvPr/>
        </p:nvSpPr>
        <p:spPr>
          <a:xfrm>
            <a:off x="4892040" y="2148839"/>
            <a:ext cx="420625" cy="420625"/>
          </a:xfrm>
          <a:prstGeom prst="ellipse">
            <a:avLst/>
          </a:prstGeom>
          <a:solidFill>
            <a:srgbClr val="FFD166"/>
          </a:solidFill>
          <a:ln w="12700">
            <a:solidFill>
              <a:srgbClr val="FFD166"/>
            </a:solidFill>
          </a:ln>
        </p:spPr>
        <p:txBody>
          <a:bodyPr lIns="45719" rIns="45719"/>
          <a:lstStyle/>
          <a:p>
            <a:pPr/>
          </a:p>
        </p:txBody>
      </p:sp>
      <p:sp>
        <p:nvSpPr>
          <p:cNvPr id="128" name="obj_85"/>
          <p:cNvSpPr txBox="1"/>
          <p:nvPr/>
        </p:nvSpPr>
        <p:spPr>
          <a:xfrm>
            <a:off x="4892040" y="2148839"/>
            <a:ext cx="420625" cy="420625"/>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A</a:t>
            </a:r>
          </a:p>
        </p:txBody>
      </p:sp>
      <p:sp>
        <p:nvSpPr>
          <p:cNvPr id="129" name="obj_86"/>
          <p:cNvSpPr txBox="1"/>
          <p:nvPr/>
        </p:nvSpPr>
        <p:spPr>
          <a:xfrm>
            <a:off x="5532120" y="2130551"/>
            <a:ext cx="4800601"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900">
                <a:solidFill>
                  <a:srgbClr val="123B54"/>
                </a:solidFill>
              </a:defRPr>
            </a:lvl1pPr>
          </a:lstStyle>
          <a:p>
            <a:pPr/>
            <a:r>
              <a:t>Take a picture</a:t>
            </a:r>
          </a:p>
        </p:txBody>
      </p:sp>
      <p:sp>
        <p:nvSpPr>
          <p:cNvPr id="130" name="obj_87"/>
          <p:cNvSpPr/>
          <p:nvPr/>
        </p:nvSpPr>
        <p:spPr>
          <a:xfrm>
            <a:off x="4892040" y="2898648"/>
            <a:ext cx="420625" cy="420625"/>
          </a:xfrm>
          <a:prstGeom prst="ellipse">
            <a:avLst/>
          </a:prstGeom>
          <a:solidFill>
            <a:srgbClr val="FFD166"/>
          </a:solidFill>
          <a:ln w="12700">
            <a:solidFill>
              <a:srgbClr val="FFD166"/>
            </a:solidFill>
          </a:ln>
        </p:spPr>
        <p:txBody>
          <a:bodyPr lIns="45719" rIns="45719"/>
          <a:lstStyle/>
          <a:p>
            <a:pPr/>
          </a:p>
        </p:txBody>
      </p:sp>
      <p:sp>
        <p:nvSpPr>
          <p:cNvPr id="131" name="obj_88"/>
          <p:cNvSpPr txBox="1"/>
          <p:nvPr/>
        </p:nvSpPr>
        <p:spPr>
          <a:xfrm>
            <a:off x="4892040" y="2898648"/>
            <a:ext cx="420625" cy="420625"/>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B</a:t>
            </a:r>
          </a:p>
        </p:txBody>
      </p:sp>
      <p:sp>
        <p:nvSpPr>
          <p:cNvPr id="132" name="obj_89"/>
          <p:cNvSpPr txBox="1"/>
          <p:nvPr/>
        </p:nvSpPr>
        <p:spPr>
          <a:xfrm>
            <a:off x="5532120" y="2880360"/>
            <a:ext cx="4800601"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900">
                <a:solidFill>
                  <a:srgbClr val="123B54"/>
                </a:solidFill>
              </a:defRPr>
            </a:lvl1pPr>
          </a:lstStyle>
          <a:p>
            <a:pPr/>
            <a:r>
              <a:t>Draw a model</a:t>
            </a:r>
          </a:p>
        </p:txBody>
      </p:sp>
      <p:sp>
        <p:nvSpPr>
          <p:cNvPr id="133" name="obj_90"/>
          <p:cNvSpPr/>
          <p:nvPr/>
        </p:nvSpPr>
        <p:spPr>
          <a:xfrm>
            <a:off x="4892040" y="3648455"/>
            <a:ext cx="420625" cy="420625"/>
          </a:xfrm>
          <a:prstGeom prst="ellipse">
            <a:avLst/>
          </a:prstGeom>
          <a:solidFill>
            <a:srgbClr val="FFD166"/>
          </a:solidFill>
          <a:ln w="12700">
            <a:solidFill>
              <a:srgbClr val="FFD166"/>
            </a:solidFill>
          </a:ln>
        </p:spPr>
        <p:txBody>
          <a:bodyPr lIns="45719" rIns="45719"/>
          <a:lstStyle/>
          <a:p>
            <a:pPr/>
          </a:p>
        </p:txBody>
      </p:sp>
      <p:sp>
        <p:nvSpPr>
          <p:cNvPr id="134" name="obj_91"/>
          <p:cNvSpPr txBox="1"/>
          <p:nvPr/>
        </p:nvSpPr>
        <p:spPr>
          <a:xfrm>
            <a:off x="4892040" y="3648455"/>
            <a:ext cx="420625" cy="420625"/>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500">
                <a:solidFill>
                  <a:srgbClr val="123B54"/>
                </a:solidFill>
              </a:defRPr>
            </a:lvl1pPr>
          </a:lstStyle>
          <a:p>
            <a:pPr/>
            <a:r>
              <a:t>C</a:t>
            </a:r>
          </a:p>
        </p:txBody>
      </p:sp>
      <p:sp>
        <p:nvSpPr>
          <p:cNvPr id="135" name="obj_92"/>
          <p:cNvSpPr txBox="1"/>
          <p:nvPr/>
        </p:nvSpPr>
        <p:spPr>
          <a:xfrm>
            <a:off x="5532120" y="3630167"/>
            <a:ext cx="4800601" cy="41148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defRPr b="1" sz="1900">
                <a:solidFill>
                  <a:srgbClr val="123B54"/>
                </a:solidFill>
              </a:defRPr>
            </a:lvl1pPr>
          </a:lstStyle>
          <a:p>
            <a:pPr/>
            <a:r>
              <a:t>You cannot</a:t>
            </a:r>
          </a:p>
        </p:txBody>
      </p:sp>
      <p:sp>
        <p:nvSpPr>
          <p:cNvPr id="136" name="obj_93"/>
          <p:cNvSpPr txBox="1"/>
          <p:nvPr/>
        </p:nvSpPr>
        <p:spPr>
          <a:xfrm>
            <a:off x="4892040" y="4480559"/>
            <a:ext cx="5212081" cy="320041"/>
          </a:xfrm>
          <a:prstGeom prst="rect">
            <a:avLst/>
          </a:prstGeom>
          <a:ln w="12700">
            <a:miter lim="400000"/>
          </a:ln>
          <a:extLst>
            <a:ext uri="{C572A759-6A51-4108-AA02-DFA0A04FC94B}">
              <ma14:wrappingTextBoxFlag xmlns:ma14="http://schemas.microsoft.com/office/mac/drawingml/2011/main" val="1"/>
            </a:ext>
          </a:extLst>
        </p:spPr>
        <p:txBody>
          <a:bodyPr lIns="507" tIns="507" rIns="507" bIns="507" anchor="ctr">
            <a:normAutofit fontScale="100000" lnSpcReduction="0"/>
          </a:bodyPr>
          <a:lstStyle>
            <a:lvl1pPr algn="ctr">
              <a:defRPr b="1" sz="1700">
                <a:solidFill>
                  <a:srgbClr val="EF476F"/>
                </a:solidFill>
              </a:defRPr>
            </a:lvl1pPr>
          </a:lstStyle>
          <a:p>
            <a:pPr/>
            <a:r>
              <a:t>Vote: A · B · C</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grpSp>
        <p:nvGrpSpPr>
          <p:cNvPr id="142" name="phase_pill"/>
          <p:cNvGrpSpPr/>
          <p:nvPr/>
        </p:nvGrpSpPr>
        <p:grpSpPr>
          <a:xfrm>
            <a:off x="509269" y="274320"/>
            <a:ext cx="2871218" cy="347473"/>
            <a:chOff x="0" y="0"/>
            <a:chExt cx="2871216" cy="347472"/>
          </a:xfrm>
        </p:grpSpPr>
        <p:sp>
          <p:nvSpPr>
            <p:cNvPr id="140" name="Rounded Rectangle"/>
            <p:cNvSpPr/>
            <p:nvPr/>
          </p:nvSpPr>
          <p:spPr>
            <a:xfrm>
              <a:off x="0" y="0"/>
              <a:ext cx="2871217" cy="347473"/>
            </a:xfrm>
            <a:prstGeom prst="roundRect">
              <a:avLst>
                <a:gd name="adj" fmla="val 50000"/>
              </a:avLst>
            </a:prstGeom>
            <a:solidFill>
              <a:srgbClr val="123B54"/>
            </a:solidFill>
            <a:ln w="12700" cap="flat">
              <a:noFill/>
              <a:miter lim="400000"/>
            </a:ln>
            <a:effectLst/>
          </p:spPr>
          <p:txBody>
            <a:bodyPr wrap="square" lIns="45719" tIns="45719" rIns="45719" bIns="45719" numCol="1" anchor="ctr">
              <a:noAutofit/>
            </a:bodyPr>
            <a:lstStyle/>
            <a:p>
              <a:pPr algn="ctr">
                <a:defRPr sz="1100">
                  <a:latin typeface="Calibri"/>
                  <a:ea typeface="Calibri"/>
                  <a:cs typeface="Calibri"/>
                  <a:sym typeface="Calibri"/>
                </a:defRPr>
              </a:pPr>
            </a:p>
          </p:txBody>
        </p:sp>
        <p:sp>
          <p:nvSpPr>
            <p:cNvPr id="141" name="NEW WORDS · 4 MIN"/>
            <p:cNvSpPr txBox="1"/>
            <p:nvPr/>
          </p:nvSpPr>
          <p:spPr>
            <a:xfrm>
              <a:off x="50885" y="99821"/>
              <a:ext cx="276944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4F8FA"/>
                  </a:solidFill>
                </a:defRPr>
              </a:lvl1pPr>
            </a:lstStyle>
            <a:p>
              <a:pPr/>
              <a:r>
                <a:t>NEW WORDS · 4 MIN</a:t>
              </a:r>
            </a:p>
          </p:txBody>
        </p:sp>
      </p:grpSp>
      <p:sp>
        <p:nvSpPr>
          <p:cNvPr id="143" name="slide_title"/>
          <p:cNvSpPr txBox="1"/>
          <p:nvPr/>
        </p:nvSpPr>
        <p:spPr>
          <a:xfrm>
            <a:off x="50926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23B54"/>
                </a:solidFill>
                <a:latin typeface="Georgia"/>
                <a:ea typeface="Georgia"/>
                <a:cs typeface="Georgia"/>
                <a:sym typeface="Georgia"/>
              </a:defRPr>
            </a:lvl1pPr>
          </a:lstStyle>
          <a:p>
            <a:pPr/>
            <a:r>
              <a:t>Nucleus</a:t>
            </a:r>
          </a:p>
        </p:txBody>
      </p:sp>
      <p:grpSp>
        <p:nvGrpSpPr>
          <p:cNvPr id="149" name="w0"/>
          <p:cNvGrpSpPr/>
          <p:nvPr/>
        </p:nvGrpSpPr>
        <p:grpSpPr>
          <a:xfrm>
            <a:off x="1057910" y="1920728"/>
            <a:ext cx="4572001" cy="3346216"/>
            <a:chOff x="0" y="-200679"/>
            <a:chExt cx="4572000" cy="3346215"/>
          </a:xfrm>
        </p:grpSpPr>
        <p:sp>
          <p:nvSpPr>
            <p:cNvPr id="144" name="w0_bg"/>
            <p:cNvSpPr/>
            <p:nvPr/>
          </p:nvSpPr>
          <p:spPr>
            <a:xfrm>
              <a:off x="0" y="-1"/>
              <a:ext cx="4572000" cy="3145538"/>
            </a:xfrm>
            <a:prstGeom prst="roundRect">
              <a:avLst>
                <a:gd name="adj" fmla="val 4070"/>
              </a:avLst>
            </a:prstGeom>
            <a:solidFill>
              <a:srgbClr val="FFFFFF"/>
            </a:solidFill>
            <a:ln w="12700" cap="flat">
              <a:solidFill>
                <a:srgbClr val="D3E3EB"/>
              </a:solidFill>
              <a:prstDash val="solid"/>
              <a:round/>
            </a:ln>
            <a:effectLst/>
          </p:spPr>
          <p:txBody>
            <a:bodyPr wrap="square" lIns="45719" tIns="45719" rIns="45719" bIns="45719" numCol="1" anchor="t">
              <a:noAutofit/>
            </a:bodyPr>
            <a:lstStyle/>
            <a:p>
              <a:pPr>
                <a:defRPr>
                  <a:latin typeface="Calibri"/>
                  <a:ea typeface="Calibri"/>
                  <a:cs typeface="Calibri"/>
                  <a:sym typeface="Calibri"/>
                </a:defRPr>
              </a:pPr>
            </a:p>
          </p:txBody>
        </p:sp>
        <p:sp>
          <p:nvSpPr>
            <p:cNvPr id="145" name="w0_word"/>
            <p:cNvSpPr txBox="1"/>
            <p:nvPr/>
          </p:nvSpPr>
          <p:spPr>
            <a:xfrm>
              <a:off x="91439" y="1351279"/>
              <a:ext cx="4389122"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800">
                  <a:solidFill>
                    <a:srgbClr val="123B54"/>
                  </a:solidFill>
                  <a:latin typeface="Georgia"/>
                  <a:ea typeface="Georgia"/>
                  <a:cs typeface="Georgia"/>
                  <a:sym typeface="Georgia"/>
                </a:defRPr>
              </a:lvl1pPr>
            </a:lstStyle>
            <a:p>
              <a:pPr/>
              <a:r>
                <a:t>nucleus</a:t>
              </a:r>
            </a:p>
          </p:txBody>
        </p:sp>
        <p:sp>
          <p:nvSpPr>
            <p:cNvPr id="146" name="w0_say"/>
            <p:cNvSpPr txBox="1"/>
            <p:nvPr/>
          </p:nvSpPr>
          <p:spPr>
            <a:xfrm>
              <a:off x="91439" y="1867268"/>
              <a:ext cx="4389122"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EF476F"/>
                  </a:solidFill>
                </a:defRPr>
              </a:lvl1pPr>
            </a:lstStyle>
            <a:p>
              <a:pPr/>
              <a:r>
                <a:t>NEW-clee-us</a:t>
              </a:r>
            </a:p>
          </p:txBody>
        </p:sp>
        <p:sp>
          <p:nvSpPr>
            <p:cNvPr id="147" name="w0_means"/>
            <p:cNvSpPr txBox="1"/>
            <p:nvPr/>
          </p:nvSpPr>
          <p:spPr>
            <a:xfrm>
              <a:off x="164591" y="2176272"/>
              <a:ext cx="4242817" cy="4948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ts val="2000"/>
                </a:lnSpc>
                <a:defRPr sz="1400">
                  <a:solidFill>
                    <a:srgbClr val="0E2A3B"/>
                  </a:solidFill>
                </a:defRPr>
              </a:pPr>
              <a:r>
                <a:t>The largest part of an atom.</a:t>
              </a:r>
            </a:p>
            <a:p>
              <a:pPr algn="ctr">
                <a:lnSpc>
                  <a:spcPts val="2000"/>
                </a:lnSpc>
                <a:defRPr sz="1400">
                  <a:solidFill>
                    <a:srgbClr val="0E2A3B"/>
                  </a:solidFill>
                </a:defRPr>
              </a:pPr>
              <a:r>
                <a:t>It gave us the nuclear bomb.</a:t>
              </a:r>
            </a:p>
          </p:txBody>
        </p:sp>
        <p:pic>
          <p:nvPicPr>
            <p:cNvPr id="148" name="Image" descr="Image"/>
            <p:cNvPicPr>
              <a:picLocks noChangeAspect="1"/>
            </p:cNvPicPr>
            <p:nvPr/>
          </p:nvPicPr>
          <p:blipFill>
            <a:blip r:embed="rId3">
              <a:extLst/>
            </a:blip>
            <a:stretch>
              <a:fillRect/>
            </a:stretch>
          </p:blipFill>
          <p:spPr>
            <a:xfrm>
              <a:off x="1499747" y="-200680"/>
              <a:ext cx="1572506" cy="1572506"/>
            </a:xfrm>
            <a:prstGeom prst="rect">
              <a:avLst/>
            </a:prstGeom>
            <a:ln w="12700" cap="flat">
              <a:noFill/>
              <a:miter lim="400000"/>
            </a:ln>
            <a:effectLst/>
          </p:spPr>
        </p:pic>
      </p:grpSp>
      <p:grpSp>
        <p:nvGrpSpPr>
          <p:cNvPr id="155" name="w1"/>
          <p:cNvGrpSpPr/>
          <p:nvPr/>
        </p:nvGrpSpPr>
        <p:grpSpPr>
          <a:xfrm>
            <a:off x="6269990" y="1991872"/>
            <a:ext cx="4572001" cy="3275072"/>
            <a:chOff x="0" y="-129535"/>
            <a:chExt cx="4572000" cy="3275071"/>
          </a:xfrm>
        </p:grpSpPr>
        <p:sp>
          <p:nvSpPr>
            <p:cNvPr id="150" name="w1_bg"/>
            <p:cNvSpPr/>
            <p:nvPr/>
          </p:nvSpPr>
          <p:spPr>
            <a:xfrm>
              <a:off x="0" y="-1"/>
              <a:ext cx="4572000" cy="3145538"/>
            </a:xfrm>
            <a:prstGeom prst="roundRect">
              <a:avLst>
                <a:gd name="adj" fmla="val 4070"/>
              </a:avLst>
            </a:prstGeom>
            <a:solidFill>
              <a:srgbClr val="FFFFFF"/>
            </a:solidFill>
            <a:ln w="12700" cap="flat">
              <a:solidFill>
                <a:srgbClr val="D3E3EB"/>
              </a:solidFill>
              <a:prstDash val="solid"/>
              <a:round/>
            </a:ln>
            <a:effectLst/>
          </p:spPr>
          <p:txBody>
            <a:bodyPr wrap="square" lIns="45719" tIns="45719" rIns="45719" bIns="45719" numCol="1" anchor="t">
              <a:noAutofit/>
            </a:bodyPr>
            <a:lstStyle/>
            <a:p>
              <a:pPr>
                <a:defRPr>
                  <a:latin typeface="Calibri"/>
                  <a:ea typeface="Calibri"/>
                  <a:cs typeface="Calibri"/>
                  <a:sym typeface="Calibri"/>
                </a:defRPr>
              </a:pPr>
            </a:p>
          </p:txBody>
        </p:sp>
        <p:sp>
          <p:nvSpPr>
            <p:cNvPr id="151" name="w1_word"/>
            <p:cNvSpPr txBox="1"/>
            <p:nvPr/>
          </p:nvSpPr>
          <p:spPr>
            <a:xfrm>
              <a:off x="91439" y="1351279"/>
              <a:ext cx="4389122"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800">
                  <a:solidFill>
                    <a:srgbClr val="123B54"/>
                  </a:solidFill>
                  <a:latin typeface="Georgia"/>
                  <a:ea typeface="Georgia"/>
                  <a:cs typeface="Georgia"/>
                  <a:sym typeface="Georgia"/>
                </a:defRPr>
              </a:lvl1pPr>
            </a:lstStyle>
            <a:p>
              <a:pPr/>
              <a:r>
                <a:t>centre</a:t>
              </a:r>
            </a:p>
          </p:txBody>
        </p:sp>
        <p:sp>
          <p:nvSpPr>
            <p:cNvPr id="152" name="w1_say"/>
            <p:cNvSpPr txBox="1"/>
            <p:nvPr/>
          </p:nvSpPr>
          <p:spPr>
            <a:xfrm>
              <a:off x="91439" y="1867268"/>
              <a:ext cx="4389122"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EF476F"/>
                  </a:solidFill>
                </a:defRPr>
              </a:lvl1pPr>
            </a:lstStyle>
            <a:p>
              <a:pPr/>
              <a:r>
                <a:t>SEN-ter</a:t>
              </a:r>
            </a:p>
          </p:txBody>
        </p:sp>
        <p:sp>
          <p:nvSpPr>
            <p:cNvPr id="153" name="w1_means"/>
            <p:cNvSpPr txBox="1"/>
            <p:nvPr/>
          </p:nvSpPr>
          <p:spPr>
            <a:xfrm>
              <a:off x="164591" y="2176272"/>
              <a:ext cx="4242817" cy="4948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ts val="2000"/>
                </a:lnSpc>
                <a:defRPr sz="1400">
                  <a:solidFill>
                    <a:srgbClr val="0E2A3B"/>
                  </a:solidFill>
                </a:defRPr>
              </a:pPr>
              <a:r>
                <a:t>The middle of something.</a:t>
              </a:r>
            </a:p>
            <a:p>
              <a:pPr algn="ctr">
                <a:lnSpc>
                  <a:spcPts val="2000"/>
                </a:lnSpc>
                <a:defRPr sz="1400">
                  <a:solidFill>
                    <a:srgbClr val="0E2A3B"/>
                  </a:solidFill>
                </a:defRPr>
              </a:pPr>
              <a:r>
                <a:t>The nucleus is in the centre of the atom.</a:t>
              </a:r>
            </a:p>
          </p:txBody>
        </p:sp>
        <p:pic>
          <p:nvPicPr>
            <p:cNvPr id="154" name="Image" descr="Image"/>
            <p:cNvPicPr>
              <a:picLocks noChangeAspect="1"/>
            </p:cNvPicPr>
            <p:nvPr/>
          </p:nvPicPr>
          <p:blipFill>
            <a:blip r:embed="rId4">
              <a:extLst/>
            </a:blip>
            <a:srcRect l="0" t="0" r="0" b="0"/>
            <a:stretch>
              <a:fillRect/>
            </a:stretch>
          </p:blipFill>
          <p:spPr>
            <a:xfrm>
              <a:off x="1454623" y="-129536"/>
              <a:ext cx="1662754" cy="15401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248" y="12860"/>
                  </a:moveTo>
                  <a:cubicBezTo>
                    <a:pt x="8247" y="13308"/>
                    <a:pt x="8049" y="15362"/>
                    <a:pt x="7999" y="15450"/>
                  </a:cubicBezTo>
                  <a:cubicBezTo>
                    <a:pt x="7968" y="15504"/>
                    <a:pt x="7918" y="16079"/>
                    <a:pt x="7887" y="16730"/>
                  </a:cubicBezTo>
                  <a:cubicBezTo>
                    <a:pt x="7813" y="18290"/>
                    <a:pt x="7703" y="18425"/>
                    <a:pt x="7063" y="17745"/>
                  </a:cubicBezTo>
                  <a:lnTo>
                    <a:pt x="6569" y="17220"/>
                  </a:lnTo>
                  <a:lnTo>
                    <a:pt x="4501" y="19404"/>
                  </a:lnTo>
                  <a:lnTo>
                    <a:pt x="2433" y="21589"/>
                  </a:lnTo>
                  <a:lnTo>
                    <a:pt x="0" y="21600"/>
                  </a:lnTo>
                  <a:lnTo>
                    <a:pt x="0" y="18967"/>
                  </a:lnTo>
                  <a:lnTo>
                    <a:pt x="4088" y="14533"/>
                  </a:lnTo>
                  <a:lnTo>
                    <a:pt x="3565" y="13955"/>
                  </a:lnTo>
                  <a:cubicBezTo>
                    <a:pt x="3277" y="13637"/>
                    <a:pt x="3071" y="13345"/>
                    <a:pt x="3107" y="13306"/>
                  </a:cubicBezTo>
                  <a:cubicBezTo>
                    <a:pt x="3195" y="13210"/>
                    <a:pt x="6272" y="12840"/>
                    <a:pt x="6646" y="12880"/>
                  </a:cubicBezTo>
                  <a:cubicBezTo>
                    <a:pt x="6809" y="12898"/>
                    <a:pt x="6996" y="12876"/>
                    <a:pt x="7062" y="12832"/>
                  </a:cubicBezTo>
                  <a:cubicBezTo>
                    <a:pt x="7127" y="12789"/>
                    <a:pt x="7421" y="12734"/>
                    <a:pt x="7714" y="12711"/>
                  </a:cubicBezTo>
                  <a:cubicBezTo>
                    <a:pt x="8124" y="12679"/>
                    <a:pt x="8248" y="12714"/>
                    <a:pt x="8248" y="12860"/>
                  </a:cubicBezTo>
                  <a:close/>
                  <a:moveTo>
                    <a:pt x="14538" y="12832"/>
                  </a:moveTo>
                  <a:cubicBezTo>
                    <a:pt x="14604" y="12876"/>
                    <a:pt x="14791" y="12898"/>
                    <a:pt x="14954" y="12880"/>
                  </a:cubicBezTo>
                  <a:cubicBezTo>
                    <a:pt x="15328" y="12840"/>
                    <a:pt x="18405" y="13210"/>
                    <a:pt x="18493" y="13306"/>
                  </a:cubicBezTo>
                  <a:cubicBezTo>
                    <a:pt x="18529" y="13345"/>
                    <a:pt x="18323" y="13637"/>
                    <a:pt x="18035" y="13955"/>
                  </a:cubicBezTo>
                  <a:lnTo>
                    <a:pt x="17512" y="14533"/>
                  </a:lnTo>
                  <a:lnTo>
                    <a:pt x="21600" y="18967"/>
                  </a:lnTo>
                  <a:lnTo>
                    <a:pt x="21600" y="21600"/>
                  </a:lnTo>
                  <a:lnTo>
                    <a:pt x="19167" y="21593"/>
                  </a:lnTo>
                  <a:lnTo>
                    <a:pt x="17110" y="19394"/>
                  </a:lnTo>
                  <a:lnTo>
                    <a:pt x="15053" y="17196"/>
                  </a:lnTo>
                  <a:lnTo>
                    <a:pt x="14548" y="17733"/>
                  </a:lnTo>
                  <a:cubicBezTo>
                    <a:pt x="14155" y="18151"/>
                    <a:pt x="14016" y="18233"/>
                    <a:pt x="13922" y="18103"/>
                  </a:cubicBezTo>
                  <a:cubicBezTo>
                    <a:pt x="13780" y="17908"/>
                    <a:pt x="13342" y="13403"/>
                    <a:pt x="13453" y="13283"/>
                  </a:cubicBezTo>
                  <a:cubicBezTo>
                    <a:pt x="13494" y="13239"/>
                    <a:pt x="13467" y="13123"/>
                    <a:pt x="13393" y="13027"/>
                  </a:cubicBezTo>
                  <a:cubicBezTo>
                    <a:pt x="13319" y="12930"/>
                    <a:pt x="13295" y="12811"/>
                    <a:pt x="13340" y="12763"/>
                  </a:cubicBezTo>
                  <a:cubicBezTo>
                    <a:pt x="13434" y="12661"/>
                    <a:pt x="14362" y="12715"/>
                    <a:pt x="14538" y="12832"/>
                  </a:cubicBezTo>
                  <a:close/>
                  <a:moveTo>
                    <a:pt x="12105" y="10865"/>
                  </a:moveTo>
                  <a:cubicBezTo>
                    <a:pt x="12105" y="11570"/>
                    <a:pt x="11483" y="12214"/>
                    <a:pt x="10800" y="12214"/>
                  </a:cubicBezTo>
                  <a:cubicBezTo>
                    <a:pt x="10391" y="12214"/>
                    <a:pt x="10229" y="12136"/>
                    <a:pt x="9898" y="11777"/>
                  </a:cubicBezTo>
                  <a:cubicBezTo>
                    <a:pt x="9567" y="11419"/>
                    <a:pt x="9495" y="11243"/>
                    <a:pt x="9495" y="10800"/>
                  </a:cubicBezTo>
                  <a:cubicBezTo>
                    <a:pt x="9495" y="10357"/>
                    <a:pt x="9567" y="10181"/>
                    <a:pt x="9898" y="9823"/>
                  </a:cubicBezTo>
                  <a:cubicBezTo>
                    <a:pt x="10772" y="8877"/>
                    <a:pt x="12105" y="9506"/>
                    <a:pt x="12105" y="10865"/>
                  </a:cubicBezTo>
                  <a:close/>
                  <a:moveTo>
                    <a:pt x="1216" y="2"/>
                  </a:moveTo>
                  <a:lnTo>
                    <a:pt x="2433" y="3"/>
                  </a:lnTo>
                  <a:lnTo>
                    <a:pt x="4489" y="2205"/>
                  </a:lnTo>
                  <a:lnTo>
                    <a:pt x="6545" y="4406"/>
                  </a:lnTo>
                  <a:lnTo>
                    <a:pt x="7051" y="3868"/>
                  </a:lnTo>
                  <a:cubicBezTo>
                    <a:pt x="7444" y="3451"/>
                    <a:pt x="7584" y="3368"/>
                    <a:pt x="7677" y="3497"/>
                  </a:cubicBezTo>
                  <a:cubicBezTo>
                    <a:pt x="7823" y="3700"/>
                    <a:pt x="8327" y="8777"/>
                    <a:pt x="8212" y="8880"/>
                  </a:cubicBezTo>
                  <a:cubicBezTo>
                    <a:pt x="8167" y="8920"/>
                    <a:pt x="7016" y="8823"/>
                    <a:pt x="5655" y="8664"/>
                  </a:cubicBezTo>
                  <a:cubicBezTo>
                    <a:pt x="4295" y="8505"/>
                    <a:pt x="3150" y="8341"/>
                    <a:pt x="3111" y="8299"/>
                  </a:cubicBezTo>
                  <a:cubicBezTo>
                    <a:pt x="3073" y="8257"/>
                    <a:pt x="3277" y="7963"/>
                    <a:pt x="3565" y="7645"/>
                  </a:cubicBezTo>
                  <a:lnTo>
                    <a:pt x="4088" y="7067"/>
                  </a:lnTo>
                  <a:lnTo>
                    <a:pt x="2044" y="4850"/>
                  </a:lnTo>
                  <a:lnTo>
                    <a:pt x="0" y="2633"/>
                  </a:lnTo>
                  <a:lnTo>
                    <a:pt x="0" y="0"/>
                  </a:lnTo>
                  <a:close/>
                  <a:moveTo>
                    <a:pt x="21600" y="0"/>
                  </a:moveTo>
                  <a:lnTo>
                    <a:pt x="21600" y="2633"/>
                  </a:lnTo>
                  <a:lnTo>
                    <a:pt x="19556" y="4850"/>
                  </a:lnTo>
                  <a:lnTo>
                    <a:pt x="17512" y="7067"/>
                  </a:lnTo>
                  <a:lnTo>
                    <a:pt x="18035" y="7645"/>
                  </a:lnTo>
                  <a:cubicBezTo>
                    <a:pt x="18323" y="7963"/>
                    <a:pt x="18528" y="8257"/>
                    <a:pt x="18490" y="8298"/>
                  </a:cubicBezTo>
                  <a:cubicBezTo>
                    <a:pt x="18394" y="8401"/>
                    <a:pt x="13405" y="8965"/>
                    <a:pt x="13356" y="8878"/>
                  </a:cubicBezTo>
                  <a:cubicBezTo>
                    <a:pt x="13287" y="8755"/>
                    <a:pt x="13830" y="3489"/>
                    <a:pt x="13922" y="3390"/>
                  </a:cubicBezTo>
                  <a:cubicBezTo>
                    <a:pt x="13970" y="3337"/>
                    <a:pt x="14248" y="3548"/>
                    <a:pt x="14540" y="3858"/>
                  </a:cubicBezTo>
                  <a:lnTo>
                    <a:pt x="15070" y="4422"/>
                  </a:lnTo>
                  <a:lnTo>
                    <a:pt x="17123" y="2211"/>
                  </a:lnTo>
                  <a:lnTo>
                    <a:pt x="19176" y="0"/>
                  </a:lnTo>
                  <a:close/>
                </a:path>
              </a:pathLst>
            </a:custGeom>
            <a:ln w="12700" cap="flat">
              <a:noFill/>
              <a:miter lim="400000"/>
            </a:ln>
            <a:effectLst/>
          </p:spPr>
        </p:pic>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49"/>
                                        </p:tgtEl>
                                        <p:attrNameLst>
                                          <p:attrName>style.visibility</p:attrName>
                                        </p:attrNameLst>
                                      </p:cBhvr>
                                      <p:to>
                                        <p:strVal val="visible"/>
                                      </p:to>
                                    </p:set>
                                    <p:anim calcmode="lin" valueType="num">
                                      <p:cBhvr>
                                        <p:cTn id="7" dur="400" fill="hold"/>
                                        <p:tgtEl>
                                          <p:spTgt spid="149"/>
                                        </p:tgtEl>
                                        <p:attrNameLst>
                                          <p:attrName>ppt_w</p:attrName>
                                        </p:attrNameLst>
                                      </p:cBhvr>
                                      <p:tavLst>
                                        <p:tav tm="0">
                                          <p:val>
                                            <p:fltVal val="0"/>
                                          </p:val>
                                        </p:tav>
                                        <p:tav tm="100000">
                                          <p:val>
                                            <p:strVal val="#ppt_w"/>
                                          </p:val>
                                        </p:tav>
                                      </p:tavLst>
                                    </p:anim>
                                    <p:anim calcmode="lin" valueType="num">
                                      <p:cBhvr>
                                        <p:cTn id="8" dur="400" fill="hold"/>
                                        <p:tgtEl>
                                          <p:spTgt spid="14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155"/>
                                        </p:tgtEl>
                                        <p:attrNameLst>
                                          <p:attrName>style.visibility</p:attrName>
                                        </p:attrNameLst>
                                      </p:cBhvr>
                                      <p:to>
                                        <p:strVal val="visible"/>
                                      </p:to>
                                    </p:set>
                                    <p:anim calcmode="lin" valueType="num">
                                      <p:cBhvr>
                                        <p:cTn id="13" dur="400" fill="hold"/>
                                        <p:tgtEl>
                                          <p:spTgt spid="155"/>
                                        </p:tgtEl>
                                        <p:attrNameLst>
                                          <p:attrName>ppt_w</p:attrName>
                                        </p:attrNameLst>
                                      </p:cBhvr>
                                      <p:tavLst>
                                        <p:tav tm="0">
                                          <p:val>
                                            <p:fltVal val="0"/>
                                          </p:val>
                                        </p:tav>
                                        <p:tav tm="100000">
                                          <p:val>
                                            <p:strVal val="#ppt_w"/>
                                          </p:val>
                                        </p:tav>
                                      </p:tavLst>
                                    </p:anim>
                                    <p:anim calcmode="lin" valueType="num">
                                      <p:cBhvr>
                                        <p:cTn id="14" dur="400" fill="hold"/>
                                        <p:tgtEl>
                                          <p:spTgt spid="15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5" grpId="2"/>
      <p:bldP build="whole" bldLvl="1" animBg="1" rev="0" advAuto="0" spid="149"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4F8FA"/>
        </a:solidFill>
      </p:bgPr>
    </p:bg>
    <p:spTree>
      <p:nvGrpSpPr>
        <p:cNvPr id="1" name=""/>
        <p:cNvGrpSpPr/>
        <p:nvPr/>
      </p:nvGrpSpPr>
      <p:grpSpPr>
        <a:xfrm>
          <a:off x="0" y="0"/>
          <a:ext cx="0" cy="0"/>
          <a:chOff x="0" y="0"/>
          <a:chExt cx="0" cy="0"/>
        </a:xfrm>
      </p:grpSpPr>
      <p:grpSp>
        <p:nvGrpSpPr>
          <p:cNvPr id="161" name="phase_pill"/>
          <p:cNvGrpSpPr/>
          <p:nvPr/>
        </p:nvGrpSpPr>
        <p:grpSpPr>
          <a:xfrm>
            <a:off x="509269" y="274320"/>
            <a:ext cx="2871218" cy="347473"/>
            <a:chOff x="0" y="0"/>
            <a:chExt cx="2871216" cy="347472"/>
          </a:xfrm>
        </p:grpSpPr>
        <p:sp>
          <p:nvSpPr>
            <p:cNvPr id="159" name="Rounded Rectangle"/>
            <p:cNvSpPr/>
            <p:nvPr/>
          </p:nvSpPr>
          <p:spPr>
            <a:xfrm>
              <a:off x="0" y="0"/>
              <a:ext cx="2871217" cy="347473"/>
            </a:xfrm>
            <a:prstGeom prst="roundRect">
              <a:avLst>
                <a:gd name="adj" fmla="val 50000"/>
              </a:avLst>
            </a:prstGeom>
            <a:solidFill>
              <a:srgbClr val="123B54"/>
            </a:solidFill>
            <a:ln w="12700" cap="flat">
              <a:noFill/>
              <a:miter lim="400000"/>
            </a:ln>
            <a:effectLst/>
          </p:spPr>
          <p:txBody>
            <a:bodyPr wrap="square" lIns="45719" tIns="45719" rIns="45719" bIns="45719" numCol="1" anchor="ctr">
              <a:noAutofit/>
            </a:bodyPr>
            <a:lstStyle/>
            <a:p>
              <a:pPr algn="ctr">
                <a:defRPr sz="1100">
                  <a:latin typeface="Calibri"/>
                  <a:ea typeface="Calibri"/>
                  <a:cs typeface="Calibri"/>
                  <a:sym typeface="Calibri"/>
                </a:defRPr>
              </a:pPr>
            </a:p>
          </p:txBody>
        </p:sp>
        <p:sp>
          <p:nvSpPr>
            <p:cNvPr id="160" name="NEW WORDS · 4 MIN"/>
            <p:cNvSpPr txBox="1"/>
            <p:nvPr/>
          </p:nvSpPr>
          <p:spPr>
            <a:xfrm>
              <a:off x="50885" y="99821"/>
              <a:ext cx="276944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10" sz="1100">
                  <a:solidFill>
                    <a:srgbClr val="F4F8FA"/>
                  </a:solidFill>
                </a:defRPr>
              </a:lvl1pPr>
            </a:lstStyle>
            <a:p>
              <a:pPr/>
              <a:r>
                <a:t>NEW WORDS · 4 MIN</a:t>
              </a:r>
            </a:p>
          </p:txBody>
        </p:sp>
      </p:grpSp>
      <p:sp>
        <p:nvSpPr>
          <p:cNvPr id="162" name="slide_title"/>
          <p:cNvSpPr txBox="1"/>
          <p:nvPr/>
        </p:nvSpPr>
        <p:spPr>
          <a:xfrm>
            <a:off x="509269" y="1021333"/>
            <a:ext cx="11185857"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23B54"/>
                </a:solidFill>
                <a:latin typeface="Georgia"/>
                <a:ea typeface="Georgia"/>
                <a:cs typeface="Georgia"/>
                <a:sym typeface="Georgia"/>
              </a:defRPr>
            </a:lvl1pPr>
          </a:lstStyle>
          <a:p>
            <a:pPr/>
            <a:r>
              <a:t>Electron</a:t>
            </a:r>
          </a:p>
        </p:txBody>
      </p:sp>
      <p:grpSp>
        <p:nvGrpSpPr>
          <p:cNvPr id="169" name="w2"/>
          <p:cNvGrpSpPr/>
          <p:nvPr/>
        </p:nvGrpSpPr>
        <p:grpSpPr>
          <a:xfrm>
            <a:off x="1057910" y="1764603"/>
            <a:ext cx="4572001" cy="3502341"/>
            <a:chOff x="0" y="-356804"/>
            <a:chExt cx="4572000" cy="3502340"/>
          </a:xfrm>
        </p:grpSpPr>
        <p:sp>
          <p:nvSpPr>
            <p:cNvPr id="163" name="w2_bg"/>
            <p:cNvSpPr/>
            <p:nvPr/>
          </p:nvSpPr>
          <p:spPr>
            <a:xfrm>
              <a:off x="0" y="-1"/>
              <a:ext cx="4572000" cy="3145538"/>
            </a:xfrm>
            <a:prstGeom prst="roundRect">
              <a:avLst>
                <a:gd name="adj" fmla="val 4070"/>
              </a:avLst>
            </a:prstGeom>
            <a:solidFill>
              <a:srgbClr val="FFFFFF"/>
            </a:solidFill>
            <a:ln w="12700" cap="flat">
              <a:solidFill>
                <a:srgbClr val="D3E3EB"/>
              </a:solidFill>
              <a:prstDash val="solid"/>
              <a:round/>
            </a:ln>
            <a:effectLst/>
          </p:spPr>
          <p:txBody>
            <a:bodyPr wrap="square" lIns="45719" tIns="45719" rIns="45719" bIns="45719" numCol="1" anchor="t">
              <a:noAutofit/>
            </a:bodyPr>
            <a:lstStyle/>
            <a:p>
              <a:pPr>
                <a:defRPr>
                  <a:latin typeface="Calibri"/>
                  <a:ea typeface="Calibri"/>
                  <a:cs typeface="Calibri"/>
                  <a:sym typeface="Calibri"/>
                </a:defRPr>
              </a:pPr>
            </a:p>
          </p:txBody>
        </p:sp>
        <p:sp>
          <p:nvSpPr>
            <p:cNvPr id="164" name="w2_word"/>
            <p:cNvSpPr txBox="1"/>
            <p:nvPr/>
          </p:nvSpPr>
          <p:spPr>
            <a:xfrm>
              <a:off x="91439" y="1351279"/>
              <a:ext cx="4389122"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800">
                  <a:solidFill>
                    <a:srgbClr val="123B54"/>
                  </a:solidFill>
                  <a:latin typeface="Georgia"/>
                  <a:ea typeface="Georgia"/>
                  <a:cs typeface="Georgia"/>
                  <a:sym typeface="Georgia"/>
                </a:defRPr>
              </a:lvl1pPr>
            </a:lstStyle>
            <a:p>
              <a:pPr/>
              <a:r>
                <a:t>electron</a:t>
              </a:r>
            </a:p>
          </p:txBody>
        </p:sp>
        <p:sp>
          <p:nvSpPr>
            <p:cNvPr id="165" name="w2_say"/>
            <p:cNvSpPr txBox="1"/>
            <p:nvPr/>
          </p:nvSpPr>
          <p:spPr>
            <a:xfrm>
              <a:off x="91439" y="1867268"/>
              <a:ext cx="4389122"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EF476F"/>
                  </a:solidFill>
                </a:defRPr>
              </a:lvl1pPr>
            </a:lstStyle>
            <a:p>
              <a:pPr/>
              <a:r>
                <a:t>eh-LEK-tron</a:t>
              </a:r>
            </a:p>
          </p:txBody>
        </p:sp>
        <p:sp>
          <p:nvSpPr>
            <p:cNvPr id="166" name="w2_means"/>
            <p:cNvSpPr txBox="1"/>
            <p:nvPr/>
          </p:nvSpPr>
          <p:spPr>
            <a:xfrm>
              <a:off x="164591" y="2176272"/>
              <a:ext cx="4242817" cy="4948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ts val="2000"/>
                </a:lnSpc>
                <a:defRPr sz="1400">
                  <a:solidFill>
                    <a:srgbClr val="0E2A3B"/>
                  </a:solidFill>
                </a:defRPr>
              </a:pPr>
              <a:r>
                <a:t>The smallest part of an atom.</a:t>
              </a:r>
            </a:p>
            <a:p>
              <a:pPr algn="ctr">
                <a:lnSpc>
                  <a:spcPts val="2000"/>
                </a:lnSpc>
                <a:defRPr sz="1400">
                  <a:solidFill>
                    <a:srgbClr val="0E2A3B"/>
                  </a:solidFill>
                </a:defRPr>
              </a:pPr>
              <a:r>
                <a:t>It gives us electricity.</a:t>
              </a:r>
            </a:p>
          </p:txBody>
        </p:sp>
        <p:pic>
          <p:nvPicPr>
            <p:cNvPr id="167" name="Image" descr="Image"/>
            <p:cNvPicPr>
              <a:picLocks noChangeAspect="1"/>
            </p:cNvPicPr>
            <p:nvPr/>
          </p:nvPicPr>
          <p:blipFill>
            <a:blip r:embed="rId3">
              <a:extLst/>
            </a:blip>
            <a:srcRect l="0" t="0" r="0" b="0"/>
            <a:stretch>
              <a:fillRect/>
            </a:stretch>
          </p:blipFill>
          <p:spPr>
            <a:xfrm>
              <a:off x="1424268" y="-356805"/>
              <a:ext cx="1723464" cy="1723465"/>
            </a:xfrm>
            <a:prstGeom prst="rect">
              <a:avLst/>
            </a:prstGeom>
            <a:ln w="12700" cap="flat">
              <a:noFill/>
              <a:miter lim="400000"/>
            </a:ln>
            <a:effectLst/>
          </p:spPr>
        </p:pic>
        <p:sp>
          <p:nvSpPr>
            <p:cNvPr id="168" name="Circle"/>
            <p:cNvSpPr/>
            <p:nvPr/>
          </p:nvSpPr>
          <p:spPr>
            <a:xfrm>
              <a:off x="2024562" y="243489"/>
              <a:ext cx="522876" cy="522877"/>
            </a:xfrm>
            <a:prstGeom prst="ellipse">
              <a:avLst/>
            </a:prstGeom>
            <a:solidFill>
              <a:srgbClr val="FFFFFF"/>
            </a:solidFill>
            <a:ln w="12700" cap="flat">
              <a:noFill/>
              <a:miter lim="400000"/>
            </a:ln>
            <a:effectLst/>
          </p:spPr>
          <p:txBody>
            <a:bodyPr wrap="square" lIns="45719" tIns="45719" rIns="45719" bIns="45719" numCol="1" anchor="ctr">
              <a:noAutofit/>
            </a:bodyPr>
            <a:lstStyle/>
            <a:p>
              <a:pPr/>
            </a:p>
          </p:txBody>
        </p:sp>
      </p:grpSp>
      <p:grpSp>
        <p:nvGrpSpPr>
          <p:cNvPr id="175" name="w3"/>
          <p:cNvGrpSpPr/>
          <p:nvPr/>
        </p:nvGrpSpPr>
        <p:grpSpPr>
          <a:xfrm>
            <a:off x="6269990" y="1899797"/>
            <a:ext cx="4572001" cy="3367147"/>
            <a:chOff x="0" y="-221610"/>
            <a:chExt cx="4572000" cy="3367146"/>
          </a:xfrm>
        </p:grpSpPr>
        <p:sp>
          <p:nvSpPr>
            <p:cNvPr id="170" name="w3_bg"/>
            <p:cNvSpPr/>
            <p:nvPr/>
          </p:nvSpPr>
          <p:spPr>
            <a:xfrm>
              <a:off x="0" y="-1"/>
              <a:ext cx="4572000" cy="3145538"/>
            </a:xfrm>
            <a:prstGeom prst="roundRect">
              <a:avLst>
                <a:gd name="adj" fmla="val 4070"/>
              </a:avLst>
            </a:prstGeom>
            <a:solidFill>
              <a:srgbClr val="FFFFFF"/>
            </a:solidFill>
            <a:ln w="12700" cap="flat">
              <a:solidFill>
                <a:srgbClr val="D3E3EB"/>
              </a:solidFill>
              <a:prstDash val="solid"/>
              <a:round/>
            </a:ln>
            <a:effectLst/>
          </p:spPr>
          <p:txBody>
            <a:bodyPr wrap="square" lIns="45719" tIns="45719" rIns="45719" bIns="45719" numCol="1" anchor="t">
              <a:noAutofit/>
            </a:bodyPr>
            <a:lstStyle/>
            <a:p>
              <a:pPr>
                <a:defRPr>
                  <a:latin typeface="Calibri"/>
                  <a:ea typeface="Calibri"/>
                  <a:cs typeface="Calibri"/>
                  <a:sym typeface="Calibri"/>
                </a:defRPr>
              </a:pPr>
            </a:p>
          </p:txBody>
        </p:sp>
        <p:sp>
          <p:nvSpPr>
            <p:cNvPr id="171" name="w3_word"/>
            <p:cNvSpPr txBox="1"/>
            <p:nvPr/>
          </p:nvSpPr>
          <p:spPr>
            <a:xfrm>
              <a:off x="91439" y="1351279"/>
              <a:ext cx="4389122"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2800">
                  <a:solidFill>
                    <a:srgbClr val="123B54"/>
                  </a:solidFill>
                  <a:latin typeface="Georgia"/>
                  <a:ea typeface="Georgia"/>
                  <a:cs typeface="Georgia"/>
                  <a:sym typeface="Georgia"/>
                </a:defRPr>
              </a:lvl1pPr>
            </a:lstStyle>
            <a:p>
              <a:pPr/>
              <a:r>
                <a:t>Outside</a:t>
              </a:r>
            </a:p>
          </p:txBody>
        </p:sp>
        <p:sp>
          <p:nvSpPr>
            <p:cNvPr id="172" name="w3_say"/>
            <p:cNvSpPr txBox="1"/>
            <p:nvPr/>
          </p:nvSpPr>
          <p:spPr>
            <a:xfrm>
              <a:off x="91439" y="1867268"/>
              <a:ext cx="4389122" cy="19738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EF476F"/>
                  </a:solidFill>
                </a:defRPr>
              </a:lvl1pPr>
            </a:lstStyle>
            <a:p>
              <a:pPr/>
              <a:r>
                <a:t>OWT-side</a:t>
              </a:r>
            </a:p>
          </p:txBody>
        </p:sp>
        <p:sp>
          <p:nvSpPr>
            <p:cNvPr id="173" name="w3_means"/>
            <p:cNvSpPr txBox="1"/>
            <p:nvPr/>
          </p:nvSpPr>
          <p:spPr>
            <a:xfrm>
              <a:off x="164591" y="2176272"/>
              <a:ext cx="4242817" cy="49487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algn="ctr">
                <a:lnSpc>
                  <a:spcPts val="2000"/>
                </a:lnSpc>
                <a:defRPr sz="1400">
                  <a:solidFill>
                    <a:srgbClr val="0E2A3B"/>
                  </a:solidFill>
                </a:defRPr>
              </a:pPr>
              <a:r>
                <a:t>The area beyond something.</a:t>
              </a:r>
            </a:p>
            <a:p>
              <a:pPr algn="ctr">
                <a:lnSpc>
                  <a:spcPts val="2000"/>
                </a:lnSpc>
                <a:defRPr sz="1400">
                  <a:solidFill>
                    <a:srgbClr val="0E2A3B"/>
                  </a:solidFill>
                </a:defRPr>
              </a:pPr>
              <a:r>
                <a:t>Electrons are outside the nucleus.</a:t>
              </a:r>
            </a:p>
          </p:txBody>
        </p:sp>
        <p:pic>
          <p:nvPicPr>
            <p:cNvPr id="174" name="Image" descr="Image"/>
            <p:cNvPicPr>
              <a:picLocks noChangeAspect="1"/>
            </p:cNvPicPr>
            <p:nvPr/>
          </p:nvPicPr>
          <p:blipFill>
            <a:blip r:embed="rId4">
              <a:extLst/>
            </a:blip>
            <a:srcRect l="0" t="0" r="0" b="0"/>
            <a:stretch>
              <a:fillRect/>
            </a:stretch>
          </p:blipFill>
          <p:spPr>
            <a:xfrm>
              <a:off x="1202125" y="-221611"/>
              <a:ext cx="2167750" cy="1576224"/>
            </a:xfrm>
            <a:prstGeom prst="rect">
              <a:avLst/>
            </a:prstGeom>
            <a:ln w="12700" cap="flat">
              <a:noFill/>
              <a:miter lim="400000"/>
            </a:ln>
            <a:effectLst/>
          </p:spPr>
        </p:pic>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16" presetID="23" grpId="1" fill="hold">
                                  <p:stCondLst>
                                    <p:cond delay="0"/>
                                  </p:stCondLst>
                                  <p:iterate type="el" backwards="0">
                                    <p:tmAbs val="0"/>
                                  </p:iterate>
                                  <p:childTnLst>
                                    <p:set>
                                      <p:cBhvr>
                                        <p:cTn id="6" fill="hold"/>
                                        <p:tgtEl>
                                          <p:spTgt spid="169"/>
                                        </p:tgtEl>
                                        <p:attrNameLst>
                                          <p:attrName>style.visibility</p:attrName>
                                        </p:attrNameLst>
                                      </p:cBhvr>
                                      <p:to>
                                        <p:strVal val="visible"/>
                                      </p:to>
                                    </p:set>
                                    <p:anim calcmode="lin" valueType="num">
                                      <p:cBhvr>
                                        <p:cTn id="7" dur="400" fill="hold"/>
                                        <p:tgtEl>
                                          <p:spTgt spid="169"/>
                                        </p:tgtEl>
                                        <p:attrNameLst>
                                          <p:attrName>ppt_w</p:attrName>
                                        </p:attrNameLst>
                                      </p:cBhvr>
                                      <p:tavLst>
                                        <p:tav tm="0">
                                          <p:val>
                                            <p:fltVal val="0"/>
                                          </p:val>
                                        </p:tav>
                                        <p:tav tm="100000">
                                          <p:val>
                                            <p:strVal val="#ppt_w"/>
                                          </p:val>
                                        </p:tav>
                                      </p:tavLst>
                                    </p:anim>
                                    <p:anim calcmode="lin" valueType="num">
                                      <p:cBhvr>
                                        <p:cTn id="8" dur="400" fill="hold"/>
                                        <p:tgtEl>
                                          <p:spTgt spid="169"/>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16" presetID="23" grpId="2" fill="hold">
                                  <p:stCondLst>
                                    <p:cond delay="0"/>
                                  </p:stCondLst>
                                  <p:iterate type="el" backwards="0">
                                    <p:tmAbs val="0"/>
                                  </p:iterate>
                                  <p:childTnLst>
                                    <p:set>
                                      <p:cBhvr>
                                        <p:cTn id="12" fill="hold"/>
                                        <p:tgtEl>
                                          <p:spTgt spid="175"/>
                                        </p:tgtEl>
                                        <p:attrNameLst>
                                          <p:attrName>style.visibility</p:attrName>
                                        </p:attrNameLst>
                                      </p:cBhvr>
                                      <p:to>
                                        <p:strVal val="visible"/>
                                      </p:to>
                                    </p:set>
                                    <p:anim calcmode="lin" valueType="num">
                                      <p:cBhvr>
                                        <p:cTn id="13" dur="400" fill="hold"/>
                                        <p:tgtEl>
                                          <p:spTgt spid="175"/>
                                        </p:tgtEl>
                                        <p:attrNameLst>
                                          <p:attrName>ppt_w</p:attrName>
                                        </p:attrNameLst>
                                      </p:cBhvr>
                                      <p:tavLst>
                                        <p:tav tm="0">
                                          <p:val>
                                            <p:fltVal val="0"/>
                                          </p:val>
                                        </p:tav>
                                        <p:tav tm="100000">
                                          <p:val>
                                            <p:strVal val="#ppt_w"/>
                                          </p:val>
                                        </p:tav>
                                      </p:tavLst>
                                    </p:anim>
                                    <p:anim calcmode="lin" valueType="num">
                                      <p:cBhvr>
                                        <p:cTn id="14" dur="400" fill="hold"/>
                                        <p:tgtEl>
                                          <p:spTgt spid="17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75" grpId="2"/>
      <p:bldP build="whole" bldLvl="1" animBg="1" rev="0" advAuto="0" spid="169"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phase_pill"/>
          <p:cNvSpPr/>
          <p:nvPr/>
        </p:nvSpPr>
        <p:spPr>
          <a:xfrm>
            <a:off x="512063" y="256031"/>
            <a:ext cx="2743201" cy="390145"/>
          </a:xfrm>
          <a:prstGeom prst="roundRect">
            <a:avLst>
              <a:gd name="adj" fmla="val 43750"/>
            </a:avLst>
          </a:prstGeom>
          <a:solidFill>
            <a:srgbClr val="174A67"/>
          </a:solidFill>
          <a:ln w="12700">
            <a:solidFill>
              <a:srgbClr val="174A67"/>
            </a:solidFill>
          </a:ln>
        </p:spPr>
        <p:txBody>
          <a:bodyPr lIns="60959" tIns="60959" rIns="60959" bIns="60959"/>
          <a:lstStyle/>
          <a:p>
            <a:pPr defTabSz="1219200">
              <a:defRPr sz="2400"/>
            </a:pPr>
          </a:p>
        </p:txBody>
      </p:sp>
      <p:sp>
        <p:nvSpPr>
          <p:cNvPr id="180" name="Text 1"/>
          <p:cNvSpPr txBox="1"/>
          <p:nvPr/>
        </p:nvSpPr>
        <p:spPr>
          <a:xfrm>
            <a:off x="512063" y="256031"/>
            <a:ext cx="274320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FFFFFF"/>
                </a:solidFill>
              </a:defRPr>
            </a:lvl1pPr>
          </a:lstStyle>
          <a:p>
            <a:pPr/>
            <a:r>
              <a:t>I DO · 5 MIN</a:t>
            </a:r>
          </a:p>
        </p:txBody>
      </p:sp>
      <p:sp>
        <p:nvSpPr>
          <p:cNvPr id="181" name="Text 2"/>
          <p:cNvSpPr txBox="1"/>
          <p:nvPr/>
        </p:nvSpPr>
        <p:spPr>
          <a:xfrm>
            <a:off x="8656320" y="304799"/>
            <a:ext cx="2560321" cy="3413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r" defTabSz="1219200">
              <a:defRPr b="1" sz="1200">
                <a:solidFill>
                  <a:srgbClr val="5B7486"/>
                </a:solidFill>
              </a:defRPr>
            </a:lvl1pPr>
          </a:lstStyle>
          <a:p>
            <a:pPr/>
            <a:r>
              <a:t>atom  ·  nucleus  ·  outside</a:t>
            </a:r>
          </a:p>
        </p:txBody>
      </p:sp>
      <p:sp>
        <p:nvSpPr>
          <p:cNvPr id="182" name="Text 3"/>
          <p:cNvSpPr txBox="1"/>
          <p:nvPr/>
        </p:nvSpPr>
        <p:spPr>
          <a:xfrm>
            <a:off x="560831" y="999743"/>
            <a:ext cx="10728960" cy="7071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3600">
                <a:solidFill>
                  <a:srgbClr val="123B54"/>
                </a:solidFill>
                <a:latin typeface="Georgia"/>
                <a:ea typeface="Georgia"/>
                <a:cs typeface="Georgia"/>
                <a:sym typeface="Georgia"/>
              </a:defRPr>
            </a:lvl1pPr>
          </a:lstStyle>
          <a:p>
            <a:pPr/>
            <a:r>
              <a:t>Draw a simple atom</a:t>
            </a:r>
          </a:p>
        </p:txBody>
      </p:sp>
      <p:sp>
        <p:nvSpPr>
          <p:cNvPr id="183" name="draw_step1"/>
          <p:cNvSpPr txBox="1"/>
          <p:nvPr/>
        </p:nvSpPr>
        <p:spPr>
          <a:xfrm>
            <a:off x="731519" y="1731263"/>
            <a:ext cx="5120641"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600">
                <a:solidFill>
                  <a:srgbClr val="123B54"/>
                </a:solidFill>
                <a:latin typeface="Georgia"/>
                <a:ea typeface="Georgia"/>
                <a:cs typeface="Georgia"/>
                <a:sym typeface="Georgia"/>
              </a:defRPr>
            </a:lvl1pPr>
          </a:lstStyle>
          <a:p>
            <a:pPr/>
            <a:r>
              <a:t>Start with one big circle.</a:t>
            </a:r>
          </a:p>
        </p:txBody>
      </p:sp>
      <p:sp>
        <p:nvSpPr>
          <p:cNvPr id="184" name="atom_outline"/>
          <p:cNvSpPr/>
          <p:nvPr/>
        </p:nvSpPr>
        <p:spPr>
          <a:xfrm>
            <a:off x="6644639" y="1438655"/>
            <a:ext cx="3230882" cy="3230882"/>
          </a:xfrm>
          <a:prstGeom prst="ellipse">
            <a:avLst/>
          </a:prstGeom>
          <a:solidFill>
            <a:srgbClr val="EDF5F8"/>
          </a:solidFill>
          <a:ln w="25400">
            <a:solidFill>
              <a:srgbClr val="123B54"/>
            </a:solidFill>
          </a:ln>
        </p:spPr>
        <p:txBody>
          <a:bodyPr lIns="60959" tIns="60959" rIns="60959" bIns="60959"/>
          <a:lstStyle/>
          <a:p>
            <a:pPr defTabSz="1219200">
              <a:defRPr sz="2400"/>
            </a:pPr>
          </a:p>
        </p:txBody>
      </p:sp>
      <p:sp>
        <p:nvSpPr>
          <p:cNvPr id="185" name="draw_step2"/>
          <p:cNvSpPr txBox="1"/>
          <p:nvPr/>
        </p:nvSpPr>
        <p:spPr>
          <a:xfrm>
            <a:off x="731519" y="2621280"/>
            <a:ext cx="5120641"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600">
                <a:solidFill>
                  <a:srgbClr val="123B54"/>
                </a:solidFill>
                <a:latin typeface="Georgia"/>
                <a:ea typeface="Georgia"/>
                <a:cs typeface="Georgia"/>
                <a:sym typeface="Georgia"/>
              </a:defRPr>
            </a:lvl1pPr>
          </a:lstStyle>
          <a:p>
            <a:pPr/>
            <a:r>
              <a:t>Now draw the centre.</a:t>
            </a:r>
          </a:p>
        </p:txBody>
      </p:sp>
      <p:sp>
        <p:nvSpPr>
          <p:cNvPr id="186" name="atom_nucleus"/>
          <p:cNvSpPr/>
          <p:nvPr/>
        </p:nvSpPr>
        <p:spPr>
          <a:xfrm>
            <a:off x="7754112" y="2548127"/>
            <a:ext cx="1024129" cy="1024129"/>
          </a:xfrm>
          <a:prstGeom prst="ellipse">
            <a:avLst/>
          </a:prstGeom>
          <a:solidFill>
            <a:srgbClr val="FFD166"/>
          </a:solidFill>
          <a:ln w="12700">
            <a:solidFill>
              <a:srgbClr val="123B54"/>
            </a:solidFill>
          </a:ln>
        </p:spPr>
        <p:txBody>
          <a:bodyPr lIns="60959" tIns="60959" rIns="60959" bIns="60959"/>
          <a:lstStyle/>
          <a:p>
            <a:pPr defTabSz="1219200">
              <a:defRPr sz="2400"/>
            </a:pPr>
          </a:p>
        </p:txBody>
      </p:sp>
      <p:sp>
        <p:nvSpPr>
          <p:cNvPr id="187" name="draw_step3"/>
          <p:cNvSpPr txBox="1"/>
          <p:nvPr/>
        </p:nvSpPr>
        <p:spPr>
          <a:xfrm>
            <a:off x="731519" y="3511296"/>
            <a:ext cx="5665854" cy="6096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600">
                <a:solidFill>
                  <a:srgbClr val="123B54"/>
                </a:solidFill>
                <a:latin typeface="Georgia"/>
                <a:ea typeface="Georgia"/>
                <a:cs typeface="Georgia"/>
                <a:sym typeface="Georgia"/>
              </a:defRPr>
            </a:lvl1pPr>
          </a:lstStyle>
          <a:p>
            <a:pPr/>
            <a:r>
              <a:t>Leave an outside area around it.</a:t>
            </a:r>
          </a:p>
        </p:txBody>
      </p:sp>
      <p:sp>
        <p:nvSpPr>
          <p:cNvPr id="188" name="centre_label"/>
          <p:cNvSpPr txBox="1"/>
          <p:nvPr/>
        </p:nvSpPr>
        <p:spPr>
          <a:xfrm>
            <a:off x="7559039" y="2852927"/>
            <a:ext cx="1402082"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600">
                <a:solidFill>
                  <a:srgbClr val="123B54"/>
                </a:solidFill>
              </a:defRPr>
            </a:lvl1pPr>
          </a:lstStyle>
          <a:p>
            <a:pPr/>
            <a:r>
              <a:t>centre</a:t>
            </a:r>
          </a:p>
        </p:txBody>
      </p:sp>
      <p:sp>
        <p:nvSpPr>
          <p:cNvPr id="189" name="outside_label"/>
          <p:cNvSpPr txBox="1"/>
          <p:nvPr/>
        </p:nvSpPr>
        <p:spPr>
          <a:xfrm>
            <a:off x="7412736" y="4206239"/>
            <a:ext cx="219456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600">
                <a:solidFill>
                  <a:srgbClr val="2E8B57"/>
                </a:solidFill>
              </a:defRPr>
            </a:lvl1pPr>
          </a:lstStyle>
          <a:p>
            <a:pPr/>
            <a:r>
              <a:t>outside</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phase_pill"/>
          <p:cNvSpPr/>
          <p:nvPr/>
        </p:nvSpPr>
        <p:spPr>
          <a:xfrm>
            <a:off x="512063" y="256031"/>
            <a:ext cx="2743201" cy="390145"/>
          </a:xfrm>
          <a:prstGeom prst="roundRect">
            <a:avLst>
              <a:gd name="adj" fmla="val 43750"/>
            </a:avLst>
          </a:prstGeom>
          <a:solidFill>
            <a:srgbClr val="174A67"/>
          </a:solidFill>
          <a:ln w="12700">
            <a:solidFill>
              <a:srgbClr val="174A67"/>
            </a:solidFill>
          </a:ln>
        </p:spPr>
        <p:txBody>
          <a:bodyPr lIns="60959" tIns="60959" rIns="60959" bIns="60959"/>
          <a:lstStyle/>
          <a:p>
            <a:pPr defTabSz="1219200">
              <a:defRPr sz="2400"/>
            </a:pPr>
          </a:p>
        </p:txBody>
      </p:sp>
      <p:sp>
        <p:nvSpPr>
          <p:cNvPr id="194" name="Text 1"/>
          <p:cNvSpPr txBox="1"/>
          <p:nvPr/>
        </p:nvSpPr>
        <p:spPr>
          <a:xfrm>
            <a:off x="512063" y="256031"/>
            <a:ext cx="274320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FFFFFF"/>
                </a:solidFill>
              </a:defRPr>
            </a:lvl1pPr>
          </a:lstStyle>
          <a:p>
            <a:pPr/>
            <a:r>
              <a:t>I DO · 5 MIN</a:t>
            </a:r>
          </a:p>
        </p:txBody>
      </p:sp>
      <p:sp>
        <p:nvSpPr>
          <p:cNvPr id="195" name="Text 2"/>
          <p:cNvSpPr txBox="1"/>
          <p:nvPr/>
        </p:nvSpPr>
        <p:spPr>
          <a:xfrm>
            <a:off x="8656320" y="304799"/>
            <a:ext cx="2560321" cy="3712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r" defTabSz="1219200">
              <a:defRPr b="1" sz="1200">
                <a:solidFill>
                  <a:srgbClr val="5B7486"/>
                </a:solidFill>
              </a:defRPr>
            </a:lvl1pPr>
          </a:lstStyle>
          <a:p>
            <a:pPr/>
            <a:r>
              <a:t>centre  ·  outside  ·  nucleus  ·  electron</a:t>
            </a:r>
          </a:p>
        </p:txBody>
      </p:sp>
      <p:sp>
        <p:nvSpPr>
          <p:cNvPr id="196" name="Text 3"/>
          <p:cNvSpPr txBox="1"/>
          <p:nvPr/>
        </p:nvSpPr>
        <p:spPr>
          <a:xfrm>
            <a:off x="560831" y="999743"/>
            <a:ext cx="10728960" cy="7071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3600">
                <a:solidFill>
                  <a:srgbClr val="123B54"/>
                </a:solidFill>
                <a:latin typeface="Georgia"/>
                <a:ea typeface="Georgia"/>
                <a:cs typeface="Georgia"/>
                <a:sym typeface="Georgia"/>
              </a:defRPr>
            </a:lvl1pPr>
          </a:lstStyle>
          <a:p>
            <a:pPr/>
            <a:r>
              <a:t>Label the picture</a:t>
            </a:r>
          </a:p>
        </p:txBody>
      </p:sp>
      <p:sp>
        <p:nvSpPr>
          <p:cNvPr id="197" name="Shape 4"/>
          <p:cNvSpPr/>
          <p:nvPr/>
        </p:nvSpPr>
        <p:spPr>
          <a:xfrm>
            <a:off x="5977740" y="1539239"/>
            <a:ext cx="3779521" cy="3779522"/>
          </a:xfrm>
          <a:prstGeom prst="ellipse">
            <a:avLst/>
          </a:prstGeom>
          <a:solidFill>
            <a:srgbClr val="EDF5F8"/>
          </a:solidFill>
          <a:ln w="25400">
            <a:solidFill>
              <a:srgbClr val="123B54"/>
            </a:solidFill>
          </a:ln>
        </p:spPr>
        <p:txBody>
          <a:bodyPr lIns="60959" tIns="60959" rIns="60959" bIns="60959"/>
          <a:lstStyle/>
          <a:p>
            <a:pPr defTabSz="1219200">
              <a:defRPr sz="2400"/>
            </a:pPr>
          </a:p>
        </p:txBody>
      </p:sp>
      <p:sp>
        <p:nvSpPr>
          <p:cNvPr id="198" name="Shape 5"/>
          <p:cNvSpPr/>
          <p:nvPr/>
        </p:nvSpPr>
        <p:spPr>
          <a:xfrm>
            <a:off x="7379820" y="2941320"/>
            <a:ext cx="975361" cy="975361"/>
          </a:xfrm>
          <a:prstGeom prst="ellipse">
            <a:avLst/>
          </a:prstGeom>
          <a:solidFill>
            <a:srgbClr val="FFD166"/>
          </a:solidFill>
          <a:ln w="12700">
            <a:solidFill>
              <a:srgbClr val="123B54"/>
            </a:solidFill>
          </a:ln>
        </p:spPr>
        <p:txBody>
          <a:bodyPr lIns="60959" tIns="60959" rIns="60959" bIns="60959"/>
          <a:lstStyle/>
          <a:p>
            <a:pPr defTabSz="1219200">
              <a:defRPr sz="2400"/>
            </a:pPr>
          </a:p>
        </p:txBody>
      </p:sp>
      <p:sp>
        <p:nvSpPr>
          <p:cNvPr id="199" name="Shape 6"/>
          <p:cNvSpPr/>
          <p:nvPr/>
        </p:nvSpPr>
        <p:spPr>
          <a:xfrm>
            <a:off x="6404460" y="2063496"/>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00" name="Shape 7"/>
          <p:cNvSpPr/>
          <p:nvPr/>
        </p:nvSpPr>
        <p:spPr>
          <a:xfrm>
            <a:off x="9288586" y="2205013"/>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01" name="Shape 8"/>
          <p:cNvSpPr/>
          <p:nvPr/>
        </p:nvSpPr>
        <p:spPr>
          <a:xfrm>
            <a:off x="9056220" y="4660392"/>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02" name="label_nucleus"/>
          <p:cNvSpPr txBox="1"/>
          <p:nvPr/>
        </p:nvSpPr>
        <p:spPr>
          <a:xfrm>
            <a:off x="7148172" y="3221736"/>
            <a:ext cx="1524001"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600">
                <a:solidFill>
                  <a:srgbClr val="123B54"/>
                </a:solidFill>
              </a:defRPr>
            </a:lvl1pPr>
          </a:lstStyle>
          <a:p>
            <a:pPr/>
            <a:r>
              <a:t>nucleus</a:t>
            </a:r>
          </a:p>
        </p:txBody>
      </p:sp>
      <p:sp>
        <p:nvSpPr>
          <p:cNvPr id="203" name="label_electron"/>
          <p:cNvSpPr txBox="1"/>
          <p:nvPr/>
        </p:nvSpPr>
        <p:spPr>
          <a:xfrm>
            <a:off x="9513420" y="1819656"/>
            <a:ext cx="1828801"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1600">
                <a:solidFill>
                  <a:srgbClr val="2E8B57"/>
                </a:solidFill>
              </a:defRPr>
            </a:lvl1pPr>
          </a:lstStyle>
          <a:p>
            <a:pPr/>
            <a:r>
              <a:t>electron</a:t>
            </a:r>
          </a:p>
        </p:txBody>
      </p:sp>
      <p:sp>
        <p:nvSpPr>
          <p:cNvPr id="204" name="label_sentences"/>
          <p:cNvSpPr txBox="1"/>
          <p:nvPr/>
        </p:nvSpPr>
        <p:spPr>
          <a:xfrm>
            <a:off x="614246" y="2758440"/>
            <a:ext cx="3901441" cy="13411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defTabSz="1060704">
              <a:defRPr b="1" sz="2262">
                <a:solidFill>
                  <a:srgbClr val="C0392B"/>
                </a:solidFill>
              </a:defRPr>
            </a:pPr>
            <a:r>
              <a:t>The nucleus is in the centre.</a:t>
            </a:r>
          </a:p>
          <a:p>
            <a:pPr defTabSz="1060704">
              <a:defRPr b="1" sz="2262">
                <a:solidFill>
                  <a:srgbClr val="C0392B"/>
                </a:solidFill>
              </a:defRPr>
            </a:pPr>
            <a:r>
              <a:t>The electron is outside the nucleus.</a:t>
            </a:r>
          </a:p>
        </p:txBody>
      </p:sp>
    </p:spTree>
  </p:cSld>
  <p:clrMapOvr>
    <a:masterClrMapping/>
  </p:clrMapOvr>
  <mc:AlternateContent xmlns:mc="http://schemas.openxmlformats.org/markup-compatibility/2006">
    <mc:Choice xmlns:p14="http://schemas.microsoft.com/office/powerpoint/2010/main" Requires="p14">
      <p:transition spd="med" advClick="1" p14:dur="1000">
        <p:push dir="l"/>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 name="phase_pill"/>
          <p:cNvSpPr/>
          <p:nvPr/>
        </p:nvSpPr>
        <p:spPr>
          <a:xfrm>
            <a:off x="512063" y="256031"/>
            <a:ext cx="2743201" cy="390145"/>
          </a:xfrm>
          <a:prstGeom prst="roundRect">
            <a:avLst>
              <a:gd name="adj" fmla="val 43750"/>
            </a:avLst>
          </a:prstGeom>
          <a:solidFill>
            <a:srgbClr val="174A67"/>
          </a:solidFill>
          <a:ln w="12700">
            <a:solidFill>
              <a:srgbClr val="174A67"/>
            </a:solidFill>
          </a:ln>
        </p:spPr>
        <p:txBody>
          <a:bodyPr lIns="60959" tIns="60959" rIns="60959" bIns="60959"/>
          <a:lstStyle/>
          <a:p>
            <a:pPr defTabSz="1219200">
              <a:defRPr sz="2400"/>
            </a:pPr>
          </a:p>
        </p:txBody>
      </p:sp>
      <p:sp>
        <p:nvSpPr>
          <p:cNvPr id="209" name="Text 1"/>
          <p:cNvSpPr txBox="1"/>
          <p:nvPr/>
        </p:nvSpPr>
        <p:spPr>
          <a:xfrm>
            <a:off x="512063" y="256031"/>
            <a:ext cx="274320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FFFFFF"/>
                </a:solidFill>
              </a:defRPr>
            </a:lvl1pPr>
          </a:lstStyle>
          <a:p>
            <a:pPr/>
            <a:r>
              <a:t>WE DO · 5 MIN</a:t>
            </a:r>
          </a:p>
        </p:txBody>
      </p:sp>
      <p:sp>
        <p:nvSpPr>
          <p:cNvPr id="210" name="Text 2"/>
          <p:cNvSpPr txBox="1"/>
          <p:nvPr/>
        </p:nvSpPr>
        <p:spPr>
          <a:xfrm>
            <a:off x="8656320" y="304799"/>
            <a:ext cx="2560321" cy="3712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r" defTabSz="1219200">
              <a:defRPr b="1" sz="1200">
                <a:solidFill>
                  <a:srgbClr val="5B7486"/>
                </a:solidFill>
              </a:defRPr>
            </a:lvl1pPr>
          </a:lstStyle>
          <a:p>
            <a:pPr/>
            <a:r>
              <a:t>nucleus  ·  electron  ·  centre  ·  outside</a:t>
            </a:r>
          </a:p>
        </p:txBody>
      </p:sp>
      <p:sp>
        <p:nvSpPr>
          <p:cNvPr id="211" name="Text 3"/>
          <p:cNvSpPr txBox="1"/>
          <p:nvPr/>
        </p:nvSpPr>
        <p:spPr>
          <a:xfrm>
            <a:off x="560831" y="999743"/>
            <a:ext cx="10728960" cy="7071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3600">
                <a:solidFill>
                  <a:srgbClr val="123B54"/>
                </a:solidFill>
                <a:latin typeface="Georgia"/>
                <a:ea typeface="Georgia"/>
                <a:cs typeface="Georgia"/>
                <a:sym typeface="Georgia"/>
              </a:defRPr>
            </a:lvl1pPr>
          </a:lstStyle>
          <a:p>
            <a:pPr/>
            <a:r>
              <a:t>Build one together</a:t>
            </a:r>
          </a:p>
        </p:txBody>
      </p:sp>
      <p:sp>
        <p:nvSpPr>
          <p:cNvPr id="212" name="we_step1"/>
          <p:cNvSpPr txBox="1"/>
          <p:nvPr/>
        </p:nvSpPr>
        <p:spPr>
          <a:xfrm>
            <a:off x="731519" y="1621535"/>
            <a:ext cx="3657601" cy="4876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400">
                <a:solidFill>
                  <a:srgbClr val="123B54"/>
                </a:solidFill>
                <a:latin typeface="Georgia"/>
                <a:ea typeface="Georgia"/>
                <a:cs typeface="Georgia"/>
                <a:sym typeface="Georgia"/>
              </a:defRPr>
            </a:lvl1pPr>
          </a:lstStyle>
          <a:p>
            <a:pPr/>
            <a:r>
              <a:t>1. Draw the circle.</a:t>
            </a:r>
          </a:p>
        </p:txBody>
      </p:sp>
      <p:sp>
        <p:nvSpPr>
          <p:cNvPr id="213" name="we_step2"/>
          <p:cNvSpPr txBox="1"/>
          <p:nvPr/>
        </p:nvSpPr>
        <p:spPr>
          <a:xfrm>
            <a:off x="731519" y="2340864"/>
            <a:ext cx="3657601"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400">
                <a:solidFill>
                  <a:srgbClr val="123B54"/>
                </a:solidFill>
                <a:latin typeface="Georgia"/>
                <a:ea typeface="Georgia"/>
                <a:cs typeface="Georgia"/>
                <a:sym typeface="Georgia"/>
              </a:defRPr>
            </a:lvl1pPr>
          </a:lstStyle>
          <a:p>
            <a:pPr/>
            <a:r>
              <a:t>2. Draw the centre.</a:t>
            </a:r>
          </a:p>
        </p:txBody>
      </p:sp>
      <p:sp>
        <p:nvSpPr>
          <p:cNvPr id="214" name="we_step3"/>
          <p:cNvSpPr txBox="1"/>
          <p:nvPr/>
        </p:nvSpPr>
        <p:spPr>
          <a:xfrm>
            <a:off x="731519" y="3060192"/>
            <a:ext cx="4389122"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400">
                <a:solidFill>
                  <a:srgbClr val="123B54"/>
                </a:solidFill>
                <a:latin typeface="Georgia"/>
                <a:ea typeface="Georgia"/>
                <a:cs typeface="Georgia"/>
                <a:sym typeface="Georgia"/>
              </a:defRPr>
            </a:lvl1pPr>
          </a:lstStyle>
          <a:p>
            <a:pPr/>
            <a:r>
              <a:t>3. Put electrons outside.</a:t>
            </a:r>
          </a:p>
        </p:txBody>
      </p:sp>
      <p:sp>
        <p:nvSpPr>
          <p:cNvPr id="215" name="we_step4"/>
          <p:cNvSpPr txBox="1"/>
          <p:nvPr/>
        </p:nvSpPr>
        <p:spPr>
          <a:xfrm>
            <a:off x="731519" y="3779519"/>
            <a:ext cx="4389122"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400">
                <a:solidFill>
                  <a:srgbClr val="123B54"/>
                </a:solidFill>
                <a:latin typeface="Georgia"/>
                <a:ea typeface="Georgia"/>
                <a:cs typeface="Georgia"/>
                <a:sym typeface="Georgia"/>
              </a:defRPr>
            </a:lvl1pPr>
          </a:lstStyle>
          <a:p>
            <a:pPr/>
            <a:r>
              <a:t>4. Label centre + outside.</a:t>
            </a:r>
          </a:p>
        </p:txBody>
      </p:sp>
      <p:sp>
        <p:nvSpPr>
          <p:cNvPr id="216" name="we_atom"/>
          <p:cNvSpPr/>
          <p:nvPr/>
        </p:nvSpPr>
        <p:spPr>
          <a:xfrm>
            <a:off x="6315455" y="1377695"/>
            <a:ext cx="3962401" cy="3962402"/>
          </a:xfrm>
          <a:prstGeom prst="ellipse">
            <a:avLst/>
          </a:prstGeom>
          <a:solidFill>
            <a:srgbClr val="F1F8FB"/>
          </a:solidFill>
          <a:ln w="25400">
            <a:solidFill>
              <a:srgbClr val="123B54"/>
            </a:solidFill>
          </a:ln>
        </p:spPr>
        <p:txBody>
          <a:bodyPr lIns="60959" tIns="60959" rIns="60959" bIns="60959"/>
          <a:lstStyle/>
          <a:p>
            <a:pPr defTabSz="1219200">
              <a:defRPr sz="2400"/>
            </a:pPr>
          </a:p>
        </p:txBody>
      </p:sp>
      <p:sp>
        <p:nvSpPr>
          <p:cNvPr id="217" name="we_nucleus"/>
          <p:cNvSpPr/>
          <p:nvPr/>
        </p:nvSpPr>
        <p:spPr>
          <a:xfrm>
            <a:off x="7778495" y="2840735"/>
            <a:ext cx="1024129" cy="1024129"/>
          </a:xfrm>
          <a:prstGeom prst="ellipse">
            <a:avLst/>
          </a:prstGeom>
          <a:solidFill>
            <a:srgbClr val="FFD166"/>
          </a:solidFill>
          <a:ln w="12700">
            <a:solidFill>
              <a:srgbClr val="123B54"/>
            </a:solidFill>
          </a:ln>
        </p:spPr>
        <p:txBody>
          <a:bodyPr lIns="60959" tIns="60959" rIns="60959" bIns="60959"/>
          <a:lstStyle/>
          <a:p>
            <a:pPr defTabSz="1219200">
              <a:defRPr sz="2400"/>
            </a:pPr>
          </a:p>
        </p:txBody>
      </p:sp>
      <p:sp>
        <p:nvSpPr>
          <p:cNvPr id="218" name="we_e0"/>
          <p:cNvSpPr/>
          <p:nvPr/>
        </p:nvSpPr>
        <p:spPr>
          <a:xfrm>
            <a:off x="6758141" y="1889759"/>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19" name="we_e1"/>
          <p:cNvSpPr/>
          <p:nvPr/>
        </p:nvSpPr>
        <p:spPr>
          <a:xfrm>
            <a:off x="8918321" y="1453325"/>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20" name="we_e2"/>
          <p:cNvSpPr/>
          <p:nvPr/>
        </p:nvSpPr>
        <p:spPr>
          <a:xfrm>
            <a:off x="10039816" y="3913631"/>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21" name="we_e3"/>
          <p:cNvSpPr/>
          <p:nvPr/>
        </p:nvSpPr>
        <p:spPr>
          <a:xfrm>
            <a:off x="6941020" y="4793624"/>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22" name="we_centre_label"/>
          <p:cNvSpPr txBox="1"/>
          <p:nvPr/>
        </p:nvSpPr>
        <p:spPr>
          <a:xfrm>
            <a:off x="7498079" y="3108960"/>
            <a:ext cx="1584961"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600">
                <a:solidFill>
                  <a:srgbClr val="123B54"/>
                </a:solidFill>
              </a:defRPr>
            </a:lvl1pPr>
          </a:lstStyle>
          <a:p>
            <a:pPr/>
            <a:r>
              <a:t>centre</a:t>
            </a:r>
          </a:p>
        </p:txBody>
      </p:sp>
      <p:sp>
        <p:nvSpPr>
          <p:cNvPr id="223" name="we_outside_label"/>
          <p:cNvSpPr txBox="1"/>
          <p:nvPr/>
        </p:nvSpPr>
        <p:spPr>
          <a:xfrm>
            <a:off x="7138415" y="4720472"/>
            <a:ext cx="2316481"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600">
                <a:solidFill>
                  <a:srgbClr val="2E8B57"/>
                </a:solidFill>
              </a:defRPr>
            </a:lvl1pPr>
          </a:lstStyle>
          <a:p>
            <a:pPr/>
            <a:r>
              <a:t>outside</a:t>
            </a:r>
          </a:p>
        </p:txBody>
      </p:sp>
    </p:spTree>
  </p:cSld>
  <p:clrMapOvr>
    <a:masterClrMapping/>
  </p:clrMapOvr>
  <mc:AlternateContent xmlns:mc="http://schemas.openxmlformats.org/markup-compatibility/2006">
    <mc:Choice xmlns:p14="http://schemas.microsoft.com/office/powerpoint/2010/main" Requires="p14">
      <p:transition spd="med" advClick="1" p14:dur="1000">
        <p:push dir="l"/>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227" name="phase_pill"/>
          <p:cNvSpPr/>
          <p:nvPr/>
        </p:nvSpPr>
        <p:spPr>
          <a:xfrm>
            <a:off x="512063" y="256031"/>
            <a:ext cx="2743201" cy="390145"/>
          </a:xfrm>
          <a:prstGeom prst="roundRect">
            <a:avLst>
              <a:gd name="adj" fmla="val 43750"/>
            </a:avLst>
          </a:prstGeom>
          <a:solidFill>
            <a:srgbClr val="174A67"/>
          </a:solidFill>
          <a:ln w="12700">
            <a:solidFill>
              <a:srgbClr val="174A67"/>
            </a:solidFill>
          </a:ln>
        </p:spPr>
        <p:txBody>
          <a:bodyPr lIns="60959" tIns="60959" rIns="60959" bIns="60959"/>
          <a:lstStyle/>
          <a:p>
            <a:pPr defTabSz="1219200">
              <a:defRPr sz="2400"/>
            </a:pPr>
          </a:p>
        </p:txBody>
      </p:sp>
      <p:sp>
        <p:nvSpPr>
          <p:cNvPr id="228" name="Text 1"/>
          <p:cNvSpPr txBox="1"/>
          <p:nvPr/>
        </p:nvSpPr>
        <p:spPr>
          <a:xfrm>
            <a:off x="512063" y="256031"/>
            <a:ext cx="274320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FFFFFF"/>
                </a:solidFill>
              </a:defRPr>
            </a:lvl1pPr>
          </a:lstStyle>
          <a:p>
            <a:pPr/>
            <a:r>
              <a:t>ACTIVITY · 7 MIN</a:t>
            </a:r>
          </a:p>
        </p:txBody>
      </p:sp>
      <p:sp>
        <p:nvSpPr>
          <p:cNvPr id="229" name="Text 2"/>
          <p:cNvSpPr txBox="1"/>
          <p:nvPr/>
        </p:nvSpPr>
        <p:spPr>
          <a:xfrm>
            <a:off x="8656320" y="304799"/>
            <a:ext cx="2560321" cy="3712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r" defTabSz="1219200">
              <a:defRPr b="1" sz="1200">
                <a:solidFill>
                  <a:srgbClr val="5B7486"/>
                </a:solidFill>
              </a:defRPr>
            </a:lvl1pPr>
          </a:lstStyle>
          <a:p>
            <a:pPr/>
            <a:r>
              <a:t>nucleus  ·  electron  ·  centre  ·  outside</a:t>
            </a:r>
          </a:p>
        </p:txBody>
      </p:sp>
      <p:sp>
        <p:nvSpPr>
          <p:cNvPr id="230" name="Text 3"/>
          <p:cNvSpPr txBox="1"/>
          <p:nvPr/>
        </p:nvSpPr>
        <p:spPr>
          <a:xfrm>
            <a:off x="560831" y="999743"/>
            <a:ext cx="10728960" cy="7071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3600">
                <a:solidFill>
                  <a:srgbClr val="123B54"/>
                </a:solidFill>
                <a:latin typeface="Georgia"/>
                <a:ea typeface="Georgia"/>
                <a:cs typeface="Georgia"/>
                <a:sym typeface="Georgia"/>
              </a:defRPr>
            </a:lvl1pPr>
          </a:lstStyle>
          <a:p>
            <a:pPr/>
            <a:r>
              <a:t>Build it with a model kit</a:t>
            </a:r>
          </a:p>
        </p:txBody>
      </p:sp>
      <p:sp>
        <p:nvSpPr>
          <p:cNvPr id="231" name="Shape 4"/>
          <p:cNvSpPr/>
          <p:nvPr/>
        </p:nvSpPr>
        <p:spPr>
          <a:xfrm>
            <a:off x="731519" y="1584959"/>
            <a:ext cx="10789922" cy="3840482"/>
          </a:xfrm>
          <a:prstGeom prst="roundRect">
            <a:avLst>
              <a:gd name="adj" fmla="val 2540"/>
            </a:avLst>
          </a:prstGeom>
          <a:solidFill>
            <a:srgbClr val="FFFFFF"/>
          </a:solidFill>
          <a:ln w="12700">
            <a:solidFill>
              <a:srgbClr val="D3E3EB"/>
            </a:solidFill>
          </a:ln>
        </p:spPr>
        <p:txBody>
          <a:bodyPr lIns="60959" tIns="60959" rIns="60959" bIns="60959"/>
          <a:lstStyle/>
          <a:p>
            <a:pPr defTabSz="1219200">
              <a:defRPr sz="2400"/>
            </a:pPr>
          </a:p>
        </p:txBody>
      </p:sp>
      <p:sp>
        <p:nvSpPr>
          <p:cNvPr id="232" name="Text 5"/>
          <p:cNvSpPr txBox="1"/>
          <p:nvPr/>
        </p:nvSpPr>
        <p:spPr>
          <a:xfrm>
            <a:off x="1036319" y="1914143"/>
            <a:ext cx="4632962" cy="4267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170431">
              <a:defRPr b="1" sz="2688">
                <a:solidFill>
                  <a:srgbClr val="123B54"/>
                </a:solidFill>
                <a:latin typeface="Georgia"/>
                <a:ea typeface="Georgia"/>
                <a:cs typeface="Georgia"/>
                <a:sym typeface="Georgia"/>
              </a:defRPr>
            </a:lvl1pPr>
          </a:lstStyle>
          <a:p>
            <a:pPr/>
            <a:r>
              <a:t>MODEL-KIT CHALLENGE</a:t>
            </a:r>
          </a:p>
        </p:txBody>
      </p:sp>
      <p:sp>
        <p:nvSpPr>
          <p:cNvPr id="233" name="act_0"/>
          <p:cNvSpPr/>
          <p:nvPr/>
        </p:nvSpPr>
        <p:spPr>
          <a:xfrm>
            <a:off x="1072895" y="2865119"/>
            <a:ext cx="487681" cy="487681"/>
          </a:xfrm>
          <a:prstGeom prst="ellipse">
            <a:avLst/>
          </a:prstGeom>
          <a:solidFill>
            <a:srgbClr val="FFD166"/>
          </a:solidFill>
          <a:ln w="12700">
            <a:solidFill>
              <a:srgbClr val="FFD166"/>
            </a:solidFill>
          </a:ln>
        </p:spPr>
        <p:txBody>
          <a:bodyPr lIns="60959" tIns="60959" rIns="60959" bIns="60959"/>
          <a:lstStyle/>
          <a:p>
            <a:pPr defTabSz="1219200">
              <a:defRPr sz="2400"/>
            </a:pPr>
          </a:p>
        </p:txBody>
      </p:sp>
      <p:sp>
        <p:nvSpPr>
          <p:cNvPr id="234" name="Text 7"/>
          <p:cNvSpPr txBox="1"/>
          <p:nvPr/>
        </p:nvSpPr>
        <p:spPr>
          <a:xfrm>
            <a:off x="1072895" y="2865119"/>
            <a:ext cx="487681"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123B54"/>
                </a:solidFill>
              </a:defRPr>
            </a:lvl1pPr>
          </a:lstStyle>
          <a:p>
            <a:pPr/>
            <a:r>
              <a:t>1</a:t>
            </a:r>
          </a:p>
        </p:txBody>
      </p:sp>
      <p:sp>
        <p:nvSpPr>
          <p:cNvPr id="235" name="Text 8"/>
          <p:cNvSpPr txBox="1"/>
          <p:nvPr/>
        </p:nvSpPr>
        <p:spPr>
          <a:xfrm>
            <a:off x="950975" y="3535680"/>
            <a:ext cx="877825"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a:solidFill>
                  <a:srgbClr val="123B54"/>
                </a:solidFill>
                <a:latin typeface="Georgia"/>
                <a:ea typeface="Georgia"/>
                <a:cs typeface="Georgia"/>
                <a:sym typeface="Georgia"/>
              </a:defRPr>
            </a:lvl1pPr>
          </a:lstStyle>
          <a:p>
            <a:pPr/>
            <a:r>
              <a:t>Build</a:t>
            </a:r>
          </a:p>
        </p:txBody>
      </p:sp>
      <p:sp>
        <p:nvSpPr>
          <p:cNvPr id="236" name="Text 9"/>
          <p:cNvSpPr txBox="1"/>
          <p:nvPr/>
        </p:nvSpPr>
        <p:spPr>
          <a:xfrm>
            <a:off x="792479" y="3998976"/>
            <a:ext cx="1219201" cy="6705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200">
                <a:solidFill>
                  <a:srgbClr val="123B54"/>
                </a:solidFill>
              </a:defRPr>
            </a:lvl1pPr>
          </a:lstStyle>
          <a:p>
            <a:pPr/>
            <a:r>
              <a:t>one simple atom model.</a:t>
            </a:r>
          </a:p>
        </p:txBody>
      </p:sp>
      <p:sp>
        <p:nvSpPr>
          <p:cNvPr id="237" name="act_1"/>
          <p:cNvSpPr/>
          <p:nvPr/>
        </p:nvSpPr>
        <p:spPr>
          <a:xfrm>
            <a:off x="3133343" y="2865119"/>
            <a:ext cx="487681" cy="487681"/>
          </a:xfrm>
          <a:prstGeom prst="ellipse">
            <a:avLst/>
          </a:prstGeom>
          <a:solidFill>
            <a:srgbClr val="FFD166"/>
          </a:solidFill>
          <a:ln w="12700">
            <a:solidFill>
              <a:srgbClr val="FFD166"/>
            </a:solidFill>
          </a:ln>
        </p:spPr>
        <p:txBody>
          <a:bodyPr lIns="60959" tIns="60959" rIns="60959" bIns="60959"/>
          <a:lstStyle/>
          <a:p>
            <a:pPr defTabSz="1219200">
              <a:defRPr sz="2400"/>
            </a:pPr>
          </a:p>
        </p:txBody>
      </p:sp>
      <p:sp>
        <p:nvSpPr>
          <p:cNvPr id="238" name="Text 11"/>
          <p:cNvSpPr txBox="1"/>
          <p:nvPr/>
        </p:nvSpPr>
        <p:spPr>
          <a:xfrm>
            <a:off x="3133343" y="2865119"/>
            <a:ext cx="487681"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123B54"/>
                </a:solidFill>
              </a:defRPr>
            </a:lvl1pPr>
          </a:lstStyle>
          <a:p>
            <a:pPr/>
            <a:r>
              <a:t>2</a:t>
            </a:r>
          </a:p>
        </p:txBody>
      </p:sp>
      <p:sp>
        <p:nvSpPr>
          <p:cNvPr id="239" name="Text 12"/>
          <p:cNvSpPr txBox="1"/>
          <p:nvPr/>
        </p:nvSpPr>
        <p:spPr>
          <a:xfrm>
            <a:off x="3011423" y="3535680"/>
            <a:ext cx="877825"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a:solidFill>
                  <a:srgbClr val="123B54"/>
                </a:solidFill>
                <a:latin typeface="Georgia"/>
                <a:ea typeface="Georgia"/>
                <a:cs typeface="Georgia"/>
                <a:sym typeface="Georgia"/>
              </a:defRPr>
            </a:lvl1pPr>
          </a:lstStyle>
          <a:p>
            <a:pPr/>
            <a:r>
              <a:t>Point</a:t>
            </a:r>
          </a:p>
        </p:txBody>
      </p:sp>
      <p:sp>
        <p:nvSpPr>
          <p:cNvPr id="240" name="Text 13"/>
          <p:cNvSpPr txBox="1"/>
          <p:nvPr/>
        </p:nvSpPr>
        <p:spPr>
          <a:xfrm>
            <a:off x="2852927" y="3998976"/>
            <a:ext cx="1219201" cy="6705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200">
                <a:solidFill>
                  <a:srgbClr val="123B54"/>
                </a:solidFill>
              </a:defRPr>
            </a:lvl1pPr>
          </a:lstStyle>
          <a:p>
            <a:pPr/>
            <a:r>
              <a:t>to the centre.</a:t>
            </a:r>
          </a:p>
        </p:txBody>
      </p:sp>
      <p:sp>
        <p:nvSpPr>
          <p:cNvPr id="241" name="act_2"/>
          <p:cNvSpPr/>
          <p:nvPr/>
        </p:nvSpPr>
        <p:spPr>
          <a:xfrm>
            <a:off x="5193791" y="2865119"/>
            <a:ext cx="487682" cy="487681"/>
          </a:xfrm>
          <a:prstGeom prst="ellipse">
            <a:avLst/>
          </a:prstGeom>
          <a:solidFill>
            <a:srgbClr val="FFD166"/>
          </a:solidFill>
          <a:ln w="12700">
            <a:solidFill>
              <a:srgbClr val="FFD166"/>
            </a:solidFill>
          </a:ln>
        </p:spPr>
        <p:txBody>
          <a:bodyPr lIns="60959" tIns="60959" rIns="60959" bIns="60959"/>
          <a:lstStyle/>
          <a:p>
            <a:pPr defTabSz="1219200">
              <a:defRPr sz="2400"/>
            </a:pPr>
          </a:p>
        </p:txBody>
      </p:sp>
      <p:sp>
        <p:nvSpPr>
          <p:cNvPr id="242" name="Text 15"/>
          <p:cNvSpPr txBox="1"/>
          <p:nvPr/>
        </p:nvSpPr>
        <p:spPr>
          <a:xfrm>
            <a:off x="5193791" y="2865119"/>
            <a:ext cx="487682"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123B54"/>
                </a:solidFill>
              </a:defRPr>
            </a:lvl1pPr>
          </a:lstStyle>
          <a:p>
            <a:pPr/>
            <a:r>
              <a:t>3</a:t>
            </a:r>
          </a:p>
        </p:txBody>
      </p:sp>
      <p:sp>
        <p:nvSpPr>
          <p:cNvPr id="243" name="Text 16"/>
          <p:cNvSpPr txBox="1"/>
          <p:nvPr/>
        </p:nvSpPr>
        <p:spPr>
          <a:xfrm>
            <a:off x="5071871" y="3535680"/>
            <a:ext cx="877825"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a:solidFill>
                  <a:srgbClr val="123B54"/>
                </a:solidFill>
                <a:latin typeface="Georgia"/>
                <a:ea typeface="Georgia"/>
                <a:cs typeface="Georgia"/>
                <a:sym typeface="Georgia"/>
              </a:defRPr>
            </a:lvl1pPr>
          </a:lstStyle>
          <a:p>
            <a:pPr/>
            <a:r>
              <a:t>Point</a:t>
            </a:r>
          </a:p>
        </p:txBody>
      </p:sp>
      <p:sp>
        <p:nvSpPr>
          <p:cNvPr id="244" name="Text 17"/>
          <p:cNvSpPr txBox="1"/>
          <p:nvPr/>
        </p:nvSpPr>
        <p:spPr>
          <a:xfrm>
            <a:off x="4913376" y="3998976"/>
            <a:ext cx="1219201" cy="6705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200">
                <a:solidFill>
                  <a:srgbClr val="123B54"/>
                </a:solidFill>
              </a:defRPr>
            </a:lvl1pPr>
          </a:lstStyle>
          <a:p>
            <a:pPr/>
            <a:r>
              <a:t>to the outside.</a:t>
            </a:r>
          </a:p>
        </p:txBody>
      </p:sp>
      <p:sp>
        <p:nvSpPr>
          <p:cNvPr id="245" name="act_3"/>
          <p:cNvSpPr/>
          <p:nvPr/>
        </p:nvSpPr>
        <p:spPr>
          <a:xfrm>
            <a:off x="7254239" y="2865119"/>
            <a:ext cx="487681" cy="487681"/>
          </a:xfrm>
          <a:prstGeom prst="ellipse">
            <a:avLst/>
          </a:prstGeom>
          <a:solidFill>
            <a:srgbClr val="FFD166"/>
          </a:solidFill>
          <a:ln w="12700">
            <a:solidFill>
              <a:srgbClr val="FFD166"/>
            </a:solidFill>
          </a:ln>
        </p:spPr>
        <p:txBody>
          <a:bodyPr lIns="60959" tIns="60959" rIns="60959" bIns="60959"/>
          <a:lstStyle/>
          <a:p>
            <a:pPr defTabSz="1219200">
              <a:defRPr sz="2400"/>
            </a:pPr>
          </a:p>
        </p:txBody>
      </p:sp>
      <p:sp>
        <p:nvSpPr>
          <p:cNvPr id="246" name="Text 19"/>
          <p:cNvSpPr txBox="1"/>
          <p:nvPr/>
        </p:nvSpPr>
        <p:spPr>
          <a:xfrm>
            <a:off x="7254239" y="2865119"/>
            <a:ext cx="487681"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123B54"/>
                </a:solidFill>
              </a:defRPr>
            </a:lvl1pPr>
          </a:lstStyle>
          <a:p>
            <a:pPr/>
            <a:r>
              <a:t>4</a:t>
            </a:r>
          </a:p>
        </p:txBody>
      </p:sp>
      <p:sp>
        <p:nvSpPr>
          <p:cNvPr id="247" name="Text 20"/>
          <p:cNvSpPr txBox="1"/>
          <p:nvPr/>
        </p:nvSpPr>
        <p:spPr>
          <a:xfrm>
            <a:off x="7132320" y="3535680"/>
            <a:ext cx="877825"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a:solidFill>
                  <a:srgbClr val="123B54"/>
                </a:solidFill>
                <a:latin typeface="Georgia"/>
                <a:ea typeface="Georgia"/>
                <a:cs typeface="Georgia"/>
                <a:sym typeface="Georgia"/>
              </a:defRPr>
            </a:lvl1pPr>
          </a:lstStyle>
          <a:p>
            <a:pPr/>
            <a:r>
              <a:t>Say</a:t>
            </a:r>
          </a:p>
        </p:txBody>
      </p:sp>
      <p:sp>
        <p:nvSpPr>
          <p:cNvPr id="248" name="Text 21"/>
          <p:cNvSpPr txBox="1"/>
          <p:nvPr/>
        </p:nvSpPr>
        <p:spPr>
          <a:xfrm>
            <a:off x="6973823" y="3998976"/>
            <a:ext cx="1219202" cy="6705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200">
                <a:solidFill>
                  <a:srgbClr val="123B54"/>
                </a:solidFill>
              </a:defRPr>
            </a:lvl1pPr>
          </a:lstStyle>
          <a:p>
            <a:pPr/>
            <a:r>
              <a:t>“The nucleus is in the centre.”</a:t>
            </a:r>
          </a:p>
        </p:txBody>
      </p:sp>
      <p:sp>
        <p:nvSpPr>
          <p:cNvPr id="249" name="act_4"/>
          <p:cNvSpPr/>
          <p:nvPr/>
        </p:nvSpPr>
        <p:spPr>
          <a:xfrm>
            <a:off x="9314688" y="2865119"/>
            <a:ext cx="487681" cy="487681"/>
          </a:xfrm>
          <a:prstGeom prst="ellipse">
            <a:avLst/>
          </a:prstGeom>
          <a:solidFill>
            <a:srgbClr val="FFD166"/>
          </a:solidFill>
          <a:ln w="12700">
            <a:solidFill>
              <a:srgbClr val="FFD166"/>
            </a:solidFill>
          </a:ln>
        </p:spPr>
        <p:txBody>
          <a:bodyPr lIns="60959" tIns="60959" rIns="60959" bIns="60959"/>
          <a:lstStyle/>
          <a:p>
            <a:pPr defTabSz="1219200">
              <a:defRPr sz="2400"/>
            </a:pPr>
          </a:p>
        </p:txBody>
      </p:sp>
      <p:sp>
        <p:nvSpPr>
          <p:cNvPr id="250" name="Text 23"/>
          <p:cNvSpPr txBox="1"/>
          <p:nvPr/>
        </p:nvSpPr>
        <p:spPr>
          <a:xfrm>
            <a:off x="9314688" y="2865119"/>
            <a:ext cx="487681"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123B54"/>
                </a:solidFill>
              </a:defRPr>
            </a:lvl1pPr>
          </a:lstStyle>
          <a:p>
            <a:pPr/>
            <a:r>
              <a:t>5</a:t>
            </a:r>
          </a:p>
        </p:txBody>
      </p:sp>
      <p:sp>
        <p:nvSpPr>
          <p:cNvPr id="251" name="Text 24"/>
          <p:cNvSpPr txBox="1"/>
          <p:nvPr/>
        </p:nvSpPr>
        <p:spPr>
          <a:xfrm>
            <a:off x="9192768" y="3535680"/>
            <a:ext cx="877825" cy="3657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a:solidFill>
                  <a:srgbClr val="123B54"/>
                </a:solidFill>
                <a:latin typeface="Georgia"/>
                <a:ea typeface="Georgia"/>
                <a:cs typeface="Georgia"/>
                <a:sym typeface="Georgia"/>
              </a:defRPr>
            </a:lvl1pPr>
          </a:lstStyle>
          <a:p>
            <a:pPr/>
            <a:r>
              <a:t>Say</a:t>
            </a:r>
          </a:p>
        </p:txBody>
      </p:sp>
      <p:sp>
        <p:nvSpPr>
          <p:cNvPr id="252" name="Text 25"/>
          <p:cNvSpPr txBox="1"/>
          <p:nvPr/>
        </p:nvSpPr>
        <p:spPr>
          <a:xfrm>
            <a:off x="9034272" y="3998976"/>
            <a:ext cx="1219201" cy="67055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200">
                <a:solidFill>
                  <a:srgbClr val="123B54"/>
                </a:solidFill>
              </a:defRPr>
            </a:lvl1pPr>
          </a:lstStyle>
          <a:p>
            <a:pPr/>
            <a:r>
              <a:t>“The electron is outside the nucleus.”</a:t>
            </a:r>
          </a:p>
        </p:txBody>
      </p:sp>
      <p:sp>
        <p:nvSpPr>
          <p:cNvPr id="253" name="Text 26"/>
          <p:cNvSpPr txBox="1"/>
          <p:nvPr/>
        </p:nvSpPr>
        <p:spPr>
          <a:xfrm>
            <a:off x="3108960" y="5754624"/>
            <a:ext cx="512064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2200">
                <a:solidFill>
                  <a:srgbClr val="C0392B"/>
                </a:solidFill>
              </a:defRPr>
            </a:lvl1pPr>
          </a:lstStyle>
          <a:p>
            <a:pPr/>
            <a:r>
              <a:t>Partner routine: build → point → say.</a:t>
            </a:r>
          </a:p>
        </p:txBody>
      </p:sp>
    </p:spTree>
  </p:cSld>
  <p:clrMapOvr>
    <a:masterClrMapping/>
  </p:clrMapOvr>
  <mc:AlternateContent xmlns:mc="http://schemas.openxmlformats.org/markup-compatibility/2006">
    <mc:Choice xmlns:p14="http://schemas.microsoft.com/office/powerpoint/2010/main" Requires="p14">
      <p:transition spd="med" advClick="1" p14:dur="1000">
        <p:push dir="l"/>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7" name="phase_pill"/>
          <p:cNvSpPr/>
          <p:nvPr/>
        </p:nvSpPr>
        <p:spPr>
          <a:xfrm>
            <a:off x="512063" y="256031"/>
            <a:ext cx="2743201" cy="390145"/>
          </a:xfrm>
          <a:prstGeom prst="roundRect">
            <a:avLst>
              <a:gd name="adj" fmla="val 43750"/>
            </a:avLst>
          </a:prstGeom>
          <a:solidFill>
            <a:srgbClr val="174A67"/>
          </a:solidFill>
          <a:ln w="12700">
            <a:solidFill>
              <a:srgbClr val="174A67"/>
            </a:solidFill>
          </a:ln>
        </p:spPr>
        <p:txBody>
          <a:bodyPr lIns="60959" tIns="60959" rIns="60959" bIns="60959"/>
          <a:lstStyle/>
          <a:p>
            <a:pPr defTabSz="1219200">
              <a:defRPr sz="2400"/>
            </a:pPr>
          </a:p>
        </p:txBody>
      </p:sp>
      <p:sp>
        <p:nvSpPr>
          <p:cNvPr id="258" name="Text 1"/>
          <p:cNvSpPr txBox="1"/>
          <p:nvPr/>
        </p:nvSpPr>
        <p:spPr>
          <a:xfrm>
            <a:off x="512063" y="256031"/>
            <a:ext cx="274320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FFFFFF"/>
                </a:solidFill>
              </a:defRPr>
            </a:lvl1pPr>
          </a:lstStyle>
          <a:p>
            <a:pPr/>
            <a:r>
              <a:t>YOU DO · 7 MIN</a:t>
            </a:r>
          </a:p>
        </p:txBody>
      </p:sp>
      <p:sp>
        <p:nvSpPr>
          <p:cNvPr id="259" name="Text 2"/>
          <p:cNvSpPr txBox="1"/>
          <p:nvPr/>
        </p:nvSpPr>
        <p:spPr>
          <a:xfrm>
            <a:off x="8656320" y="304799"/>
            <a:ext cx="2560321" cy="3712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r" defTabSz="1219200">
              <a:defRPr b="1" sz="1200">
                <a:solidFill>
                  <a:srgbClr val="5B7486"/>
                </a:solidFill>
              </a:defRPr>
            </a:lvl1pPr>
          </a:lstStyle>
          <a:p>
            <a:pPr/>
            <a:r>
              <a:t>atom  ·  nucleus  ·  electron  ·  centre  ·  outside</a:t>
            </a:r>
          </a:p>
        </p:txBody>
      </p:sp>
      <p:sp>
        <p:nvSpPr>
          <p:cNvPr id="260" name="Text 3"/>
          <p:cNvSpPr txBox="1"/>
          <p:nvPr/>
        </p:nvSpPr>
        <p:spPr>
          <a:xfrm>
            <a:off x="560831" y="999743"/>
            <a:ext cx="10728960" cy="7071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3600">
                <a:solidFill>
                  <a:srgbClr val="123B54"/>
                </a:solidFill>
                <a:latin typeface="Georgia"/>
                <a:ea typeface="Georgia"/>
                <a:cs typeface="Georgia"/>
                <a:sym typeface="Georgia"/>
              </a:defRPr>
            </a:lvl1pPr>
          </a:lstStyle>
          <a:p>
            <a:pPr/>
            <a:r>
              <a:t>Your worksheet</a:t>
            </a:r>
          </a:p>
        </p:txBody>
      </p:sp>
      <p:sp>
        <p:nvSpPr>
          <p:cNvPr id="261" name="Shape 4"/>
          <p:cNvSpPr/>
          <p:nvPr/>
        </p:nvSpPr>
        <p:spPr>
          <a:xfrm>
            <a:off x="792479" y="1645919"/>
            <a:ext cx="4876801" cy="3535682"/>
          </a:xfrm>
          <a:prstGeom prst="roundRect">
            <a:avLst>
              <a:gd name="adj" fmla="val 2759"/>
            </a:avLst>
          </a:prstGeom>
          <a:solidFill>
            <a:srgbClr val="FFFFFF"/>
          </a:solidFill>
          <a:ln w="12700">
            <a:solidFill>
              <a:srgbClr val="D3E3EB"/>
            </a:solidFill>
          </a:ln>
        </p:spPr>
        <p:txBody>
          <a:bodyPr lIns="60959" tIns="60959" rIns="60959" bIns="60959"/>
          <a:lstStyle/>
          <a:p>
            <a:pPr defTabSz="1219200">
              <a:defRPr sz="2400"/>
            </a:pPr>
          </a:p>
        </p:txBody>
      </p:sp>
      <p:sp>
        <p:nvSpPr>
          <p:cNvPr id="262" name="Text 5"/>
          <p:cNvSpPr txBox="1"/>
          <p:nvPr/>
        </p:nvSpPr>
        <p:spPr>
          <a:xfrm>
            <a:off x="1097279" y="1975103"/>
            <a:ext cx="3901442" cy="4267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800">
                <a:solidFill>
                  <a:srgbClr val="123B54"/>
                </a:solidFill>
                <a:latin typeface="Georgia"/>
                <a:ea typeface="Georgia"/>
                <a:cs typeface="Georgia"/>
                <a:sym typeface="Georgia"/>
              </a:defRPr>
            </a:lvl1pPr>
          </a:lstStyle>
          <a:p>
            <a:pPr/>
            <a:r>
              <a:t>A  DRAW</a:t>
            </a:r>
          </a:p>
        </p:txBody>
      </p:sp>
      <p:sp>
        <p:nvSpPr>
          <p:cNvPr id="263" name="Text 6"/>
          <p:cNvSpPr txBox="1"/>
          <p:nvPr/>
        </p:nvSpPr>
        <p:spPr>
          <a:xfrm>
            <a:off x="1097279" y="2621280"/>
            <a:ext cx="3840482"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400">
                <a:solidFill>
                  <a:srgbClr val="123B54"/>
                </a:solidFill>
              </a:defRPr>
            </a:lvl1pPr>
          </a:lstStyle>
          <a:p>
            <a:pPr/>
            <a:r>
              <a:t>Draw a simple atom.</a:t>
            </a:r>
          </a:p>
        </p:txBody>
      </p:sp>
      <p:sp>
        <p:nvSpPr>
          <p:cNvPr id="264" name="Text 7"/>
          <p:cNvSpPr txBox="1"/>
          <p:nvPr/>
        </p:nvSpPr>
        <p:spPr>
          <a:xfrm>
            <a:off x="1097279" y="3474719"/>
            <a:ext cx="3901442" cy="4267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800">
                <a:solidFill>
                  <a:srgbClr val="123B54"/>
                </a:solidFill>
                <a:latin typeface="Georgia"/>
                <a:ea typeface="Georgia"/>
                <a:cs typeface="Georgia"/>
                <a:sym typeface="Georgia"/>
              </a:defRPr>
            </a:lvl1pPr>
          </a:lstStyle>
          <a:p>
            <a:pPr/>
            <a:r>
              <a:t>B  LABEL</a:t>
            </a:r>
          </a:p>
        </p:txBody>
      </p:sp>
      <p:sp>
        <p:nvSpPr>
          <p:cNvPr id="265" name="Text 8"/>
          <p:cNvSpPr txBox="1"/>
          <p:nvPr/>
        </p:nvSpPr>
        <p:spPr>
          <a:xfrm>
            <a:off x="1097279" y="4072127"/>
            <a:ext cx="3840482" cy="8534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defTabSz="1219200">
              <a:defRPr b="1" sz="2200">
                <a:solidFill>
                  <a:srgbClr val="123B54"/>
                </a:solidFill>
              </a:defRPr>
            </a:pPr>
            <a:r>
              <a:t>Label: nucleus, centre,</a:t>
            </a:r>
          </a:p>
          <a:p>
            <a:pPr defTabSz="1219200">
              <a:defRPr b="1" sz="2200">
                <a:solidFill>
                  <a:srgbClr val="123B54"/>
                </a:solidFill>
              </a:defRPr>
            </a:pPr>
            <a:r>
              <a:t>electron, outside.</a:t>
            </a:r>
          </a:p>
        </p:txBody>
      </p:sp>
      <p:sp>
        <p:nvSpPr>
          <p:cNvPr id="266" name="Shape 9"/>
          <p:cNvSpPr/>
          <p:nvPr/>
        </p:nvSpPr>
        <p:spPr>
          <a:xfrm>
            <a:off x="6035039" y="1645919"/>
            <a:ext cx="4876802" cy="3535682"/>
          </a:xfrm>
          <a:prstGeom prst="roundRect">
            <a:avLst>
              <a:gd name="adj" fmla="val 2759"/>
            </a:avLst>
          </a:prstGeom>
          <a:solidFill>
            <a:srgbClr val="FFFFFF"/>
          </a:solidFill>
          <a:ln w="12700">
            <a:solidFill>
              <a:srgbClr val="D3E3EB"/>
            </a:solidFill>
          </a:ln>
        </p:spPr>
        <p:txBody>
          <a:bodyPr lIns="60959" tIns="60959" rIns="60959" bIns="60959"/>
          <a:lstStyle/>
          <a:p>
            <a:pPr defTabSz="1219200">
              <a:defRPr sz="2400"/>
            </a:pPr>
          </a:p>
        </p:txBody>
      </p:sp>
      <p:sp>
        <p:nvSpPr>
          <p:cNvPr id="267" name="Text 10"/>
          <p:cNvSpPr txBox="1"/>
          <p:nvPr/>
        </p:nvSpPr>
        <p:spPr>
          <a:xfrm>
            <a:off x="6364223" y="1975103"/>
            <a:ext cx="3901442" cy="42672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800">
                <a:solidFill>
                  <a:srgbClr val="123B54"/>
                </a:solidFill>
                <a:latin typeface="Georgia"/>
                <a:ea typeface="Georgia"/>
                <a:cs typeface="Georgia"/>
                <a:sym typeface="Georgia"/>
              </a:defRPr>
            </a:lvl1pPr>
          </a:lstStyle>
          <a:p>
            <a:pPr/>
            <a:r>
              <a:t>C  SAY</a:t>
            </a:r>
          </a:p>
        </p:txBody>
      </p:sp>
      <p:sp>
        <p:nvSpPr>
          <p:cNvPr id="268" name="Text 11"/>
          <p:cNvSpPr txBox="1"/>
          <p:nvPr/>
        </p:nvSpPr>
        <p:spPr>
          <a:xfrm>
            <a:off x="6364223" y="2621280"/>
            <a:ext cx="3840482" cy="48768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2400">
                <a:solidFill>
                  <a:srgbClr val="123B54"/>
                </a:solidFill>
              </a:defRPr>
            </a:lvl1pPr>
          </a:lstStyle>
          <a:p>
            <a:pPr/>
            <a:r>
              <a:t>Point and say:</a:t>
            </a:r>
          </a:p>
        </p:txBody>
      </p:sp>
      <p:sp>
        <p:nvSpPr>
          <p:cNvPr id="269" name="Text 12"/>
          <p:cNvSpPr txBox="1"/>
          <p:nvPr/>
        </p:nvSpPr>
        <p:spPr>
          <a:xfrm>
            <a:off x="6364223" y="3267456"/>
            <a:ext cx="3962402" cy="85344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defTabSz="1219200">
              <a:defRPr b="1" sz="2200">
                <a:solidFill>
                  <a:srgbClr val="C0392B"/>
                </a:solidFill>
              </a:defRPr>
            </a:pPr>
            <a:r>
              <a:t>“The nucleus is in</a:t>
            </a:r>
          </a:p>
          <a:p>
            <a:pPr defTabSz="1219200">
              <a:defRPr b="1" sz="2200">
                <a:solidFill>
                  <a:srgbClr val="C0392B"/>
                </a:solidFill>
              </a:defRPr>
            </a:pPr>
            <a:r>
              <a:t>the centre of the atom.”</a:t>
            </a:r>
          </a:p>
        </p:txBody>
      </p:sp>
      <p:sp>
        <p:nvSpPr>
          <p:cNvPr id="270" name="Text 13"/>
          <p:cNvSpPr txBox="1"/>
          <p:nvPr/>
        </p:nvSpPr>
        <p:spPr>
          <a:xfrm>
            <a:off x="6364223" y="4303776"/>
            <a:ext cx="3901442" cy="58521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a:solidFill>
                  <a:srgbClr val="2E8B57"/>
                </a:solidFill>
              </a:defRPr>
            </a:lvl1pPr>
          </a:lstStyle>
          <a:p>
            <a:pPr/>
            <a:r>
              <a:t>Then: “The electron is outside the nucleus.”</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23B54"/>
        </a:solidFill>
      </p:bgPr>
    </p:bg>
    <p:spTree>
      <p:nvGrpSpPr>
        <p:cNvPr id="1" name=""/>
        <p:cNvGrpSpPr/>
        <p:nvPr/>
      </p:nvGrpSpPr>
      <p:grpSpPr>
        <a:xfrm>
          <a:off x="0" y="0"/>
          <a:ext cx="0" cy="0"/>
          <a:chOff x="0" y="0"/>
          <a:chExt cx="0" cy="0"/>
        </a:xfrm>
      </p:grpSpPr>
      <p:sp>
        <p:nvSpPr>
          <p:cNvPr id="274" name="phase_pill"/>
          <p:cNvSpPr/>
          <p:nvPr/>
        </p:nvSpPr>
        <p:spPr>
          <a:xfrm>
            <a:off x="512063" y="256031"/>
            <a:ext cx="2743201" cy="390145"/>
          </a:xfrm>
          <a:prstGeom prst="roundRect">
            <a:avLst>
              <a:gd name="adj" fmla="val 43750"/>
            </a:avLst>
          </a:prstGeom>
          <a:solidFill>
            <a:srgbClr val="174A67"/>
          </a:solidFill>
          <a:ln w="12700">
            <a:solidFill>
              <a:srgbClr val="174A67"/>
            </a:solidFill>
          </a:ln>
        </p:spPr>
        <p:txBody>
          <a:bodyPr lIns="60959" tIns="60959" rIns="60959" bIns="60959"/>
          <a:lstStyle/>
          <a:p>
            <a:pPr defTabSz="1219200">
              <a:defRPr sz="2400"/>
            </a:pPr>
          </a:p>
        </p:txBody>
      </p:sp>
      <p:sp>
        <p:nvSpPr>
          <p:cNvPr id="275" name="Text 1"/>
          <p:cNvSpPr txBox="1"/>
          <p:nvPr/>
        </p:nvSpPr>
        <p:spPr>
          <a:xfrm>
            <a:off x="512063" y="256031"/>
            <a:ext cx="2743201" cy="39014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defTabSz="1219200">
              <a:defRPr b="1" sz="1400">
                <a:solidFill>
                  <a:srgbClr val="FFFFFF"/>
                </a:solidFill>
              </a:defRPr>
            </a:lvl1pPr>
          </a:lstStyle>
          <a:p>
            <a:pPr/>
            <a:r>
              <a:t>PLENARY · 3 MIN</a:t>
            </a:r>
          </a:p>
        </p:txBody>
      </p:sp>
      <p:sp>
        <p:nvSpPr>
          <p:cNvPr id="276" name="Text 2"/>
          <p:cNvSpPr txBox="1"/>
          <p:nvPr/>
        </p:nvSpPr>
        <p:spPr>
          <a:xfrm>
            <a:off x="8656320" y="304799"/>
            <a:ext cx="2560321" cy="37122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r" defTabSz="1219200">
              <a:defRPr b="1" sz="1200">
                <a:solidFill>
                  <a:srgbClr val="5B7486"/>
                </a:solidFill>
              </a:defRPr>
            </a:lvl1pPr>
          </a:lstStyle>
          <a:p>
            <a:pPr/>
            <a:r>
              <a:t>nucleus  ·  electron  ·  centre  ·  outside</a:t>
            </a:r>
          </a:p>
        </p:txBody>
      </p:sp>
      <p:sp>
        <p:nvSpPr>
          <p:cNvPr id="277" name="Text 3"/>
          <p:cNvSpPr txBox="1"/>
          <p:nvPr/>
        </p:nvSpPr>
        <p:spPr>
          <a:xfrm>
            <a:off x="585215" y="999743"/>
            <a:ext cx="6096002" cy="70713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sz="4000">
                <a:solidFill>
                  <a:srgbClr val="FFFFFF"/>
                </a:solidFill>
                <a:latin typeface="Georgia"/>
                <a:ea typeface="Georgia"/>
                <a:cs typeface="Georgia"/>
                <a:sym typeface="Georgia"/>
              </a:defRPr>
            </a:lvl1pPr>
          </a:lstStyle>
          <a:p>
            <a:pPr/>
            <a:r>
              <a:t>Point + say</a:t>
            </a:r>
          </a:p>
        </p:txBody>
      </p:sp>
      <p:sp>
        <p:nvSpPr>
          <p:cNvPr id="278" name="Text 4"/>
          <p:cNvSpPr txBox="1"/>
          <p:nvPr/>
        </p:nvSpPr>
        <p:spPr>
          <a:xfrm>
            <a:off x="755903" y="1889759"/>
            <a:ext cx="6096002" cy="329184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defTabSz="1219200">
              <a:defRPr b="1" sz="2400">
                <a:solidFill>
                  <a:srgbClr val="EAF2F7"/>
                </a:solidFill>
              </a:defRPr>
            </a:pPr>
            <a:r>
              <a:t>1  Point to the nucleus.</a:t>
            </a:r>
          </a:p>
          <a:p>
            <a:pPr defTabSz="1219200">
              <a:defRPr b="1" sz="2400">
                <a:solidFill>
                  <a:srgbClr val="EAF2F7"/>
                </a:solidFill>
              </a:defRPr>
            </a:pPr>
            <a:r>
              <a:t>2  Point to the centre.</a:t>
            </a:r>
          </a:p>
          <a:p>
            <a:pPr defTabSz="1219200">
              <a:defRPr b="1" sz="2400">
                <a:solidFill>
                  <a:srgbClr val="EAF2F7"/>
                </a:solidFill>
              </a:defRPr>
            </a:pPr>
            <a:r>
              <a:t>3  Point to an electron.</a:t>
            </a:r>
          </a:p>
          <a:p>
            <a:pPr defTabSz="1219200">
              <a:defRPr b="1" sz="2400">
                <a:solidFill>
                  <a:srgbClr val="EAF2F7"/>
                </a:solidFill>
              </a:defRPr>
            </a:pPr>
            <a:r>
              <a:t>4  Point to the outside.</a:t>
            </a:r>
          </a:p>
          <a:p>
            <a:pPr defTabSz="1219200">
              <a:defRPr b="1" sz="2400">
                <a:solidFill>
                  <a:srgbClr val="EAF2F7"/>
                </a:solidFill>
              </a:defRPr>
            </a:pPr>
            <a:r>
              <a:t>5  Say both sentences.</a:t>
            </a:r>
          </a:p>
        </p:txBody>
      </p:sp>
      <p:sp>
        <p:nvSpPr>
          <p:cNvPr id="279" name="Shape 5"/>
          <p:cNvSpPr/>
          <p:nvPr/>
        </p:nvSpPr>
        <p:spPr>
          <a:xfrm>
            <a:off x="7559039" y="1645919"/>
            <a:ext cx="2926082" cy="2926082"/>
          </a:xfrm>
          <a:prstGeom prst="ellipse">
            <a:avLst/>
          </a:prstGeom>
          <a:solidFill>
            <a:srgbClr val="234D67"/>
          </a:solidFill>
          <a:ln w="25400">
            <a:solidFill>
              <a:srgbClr val="6C9BB4"/>
            </a:solidFill>
          </a:ln>
        </p:spPr>
        <p:txBody>
          <a:bodyPr lIns="60959" tIns="60959" rIns="60959" bIns="60959"/>
          <a:lstStyle/>
          <a:p>
            <a:pPr defTabSz="1219200">
              <a:defRPr sz="2400"/>
            </a:pPr>
          </a:p>
        </p:txBody>
      </p:sp>
      <p:sp>
        <p:nvSpPr>
          <p:cNvPr id="280" name="Shape 6"/>
          <p:cNvSpPr/>
          <p:nvPr/>
        </p:nvSpPr>
        <p:spPr>
          <a:xfrm>
            <a:off x="8595360" y="2682239"/>
            <a:ext cx="853441" cy="853441"/>
          </a:xfrm>
          <a:prstGeom prst="ellipse">
            <a:avLst/>
          </a:prstGeom>
          <a:solidFill>
            <a:srgbClr val="FFD166"/>
          </a:solidFill>
          <a:ln w="12700">
            <a:solidFill>
              <a:srgbClr val="FFD166"/>
            </a:solidFill>
          </a:ln>
        </p:spPr>
        <p:txBody>
          <a:bodyPr lIns="60959" tIns="60959" rIns="60959" bIns="60959"/>
          <a:lstStyle/>
          <a:p>
            <a:pPr defTabSz="1219200">
              <a:defRPr sz="2400"/>
            </a:pPr>
          </a:p>
        </p:txBody>
      </p:sp>
      <p:sp>
        <p:nvSpPr>
          <p:cNvPr id="281" name="Shape 7"/>
          <p:cNvSpPr/>
          <p:nvPr/>
        </p:nvSpPr>
        <p:spPr>
          <a:xfrm>
            <a:off x="7924800" y="1950719"/>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82" name="Shape 8"/>
          <p:cNvSpPr/>
          <p:nvPr/>
        </p:nvSpPr>
        <p:spPr>
          <a:xfrm>
            <a:off x="10105563" y="2143097"/>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83" name="Shape 9"/>
          <p:cNvSpPr/>
          <p:nvPr/>
        </p:nvSpPr>
        <p:spPr>
          <a:xfrm>
            <a:off x="10105563" y="3835974"/>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84" name="Shape 10"/>
          <p:cNvSpPr/>
          <p:nvPr/>
        </p:nvSpPr>
        <p:spPr>
          <a:xfrm>
            <a:off x="7588804" y="3648167"/>
            <a:ext cx="219457" cy="219457"/>
          </a:xfrm>
          <a:prstGeom prst="ellipse">
            <a:avLst/>
          </a:prstGeom>
          <a:solidFill>
            <a:srgbClr val="2E8B57"/>
          </a:solidFill>
          <a:ln w="12700">
            <a:solidFill>
              <a:srgbClr val="2E8B57"/>
            </a:solidFill>
          </a:ln>
        </p:spPr>
        <p:txBody>
          <a:bodyPr lIns="60959" tIns="60959" rIns="60959" bIns="60959"/>
          <a:lstStyle/>
          <a:p>
            <a:pPr defTabSz="1219200">
              <a:defRPr sz="2400"/>
            </a:pPr>
          </a:p>
        </p:txBody>
      </p:sp>
      <p:sp>
        <p:nvSpPr>
          <p:cNvPr id="285" name="Text 11"/>
          <p:cNvSpPr txBox="1"/>
          <p:nvPr/>
        </p:nvSpPr>
        <p:spPr>
          <a:xfrm>
            <a:off x="6949439" y="5059679"/>
            <a:ext cx="4023362" cy="101081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p>
            <a:pPr algn="ctr" defTabSz="1219200">
              <a:defRPr b="1" sz="2200">
                <a:solidFill>
                  <a:srgbClr val="FFD166"/>
                </a:solidFill>
              </a:defRPr>
            </a:pPr>
            <a:r>
              <a:t>The nucleus is in the centre.</a:t>
            </a:r>
          </a:p>
          <a:p>
            <a:pPr algn="ctr" defTabSz="1219200">
              <a:defRPr b="1" sz="2200">
                <a:solidFill>
                  <a:srgbClr val="FFD166"/>
                </a:solidFill>
              </a:defRPr>
            </a:pPr>
            <a:r>
              <a:t>The electron is outside the nucleus.</a:t>
            </a:r>
          </a:p>
        </p:txBody>
      </p:sp>
      <p:sp>
        <p:nvSpPr>
          <p:cNvPr id="286" name="Text 12"/>
          <p:cNvSpPr txBox="1"/>
          <p:nvPr/>
        </p:nvSpPr>
        <p:spPr>
          <a:xfrm>
            <a:off x="755903" y="6035039"/>
            <a:ext cx="5852162" cy="3901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defTabSz="1219200">
              <a:defRPr b="1">
                <a:solidFill>
                  <a:srgbClr val="B6E0C8"/>
                </a:solidFill>
              </a:defRPr>
            </a:lvl1pPr>
          </a:lstStyle>
          <a:p>
            <a:pPr/>
            <a:r>
              <a:t>Next lesson: the parts of the atom.</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4F8FA"/>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