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notesSlides/notesSlide6.xml" ContentType="application/vnd.openxmlformats-officedocument.presentationml.notesSlide+xml"/>
  <Override PartName="/ppt/media/media5.mp4" ContentType="video/unknown"/>
  <Override PartName="/ppt/notesSlides/notesSlide7.xml" ContentType="application/vnd.openxmlformats-officedocument.presentationml.notesSlide+xml"/>
  <Override PartName="/ppt/media/media6.mp4" ContentType="video/unknown"/>
  <Override PartName="/ppt/notesSlides/notesSlide8.xml" ContentType="application/vnd.openxmlformats-officedocument.presentationml.notesSlide+xml"/>
  <Override PartName="/ppt/media/media7.mp4" ContentType="video/unknown"/>
  <Override PartName="/ppt/notesSlides/notesSlide9.xml" ContentType="application/vnd.openxmlformats-officedocument.presentationml.notesSlide+xml"/>
  <Override PartName="/ppt/media/media8.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10 minutes, the standard length. Six clicks.</a:t>
            </a:r>
          </a:p>
          <a:p>
            <a:pPr/>
          </a:p>
          <a:p>
            <a:pPr/>
            <a:r>
              <a:t>I READ reference/Density.pptx (the stated PREVIOUS lesson). It is an older-style build, so its shape is not copied, but Q1 to Q4 retrieve its content directly: the equation, a fresh density calculation (new numbers, not the worksheet's 63 g and 9 cm³), the g/cm³-to-kg/m³ conversion it flagged as "worth having ready", and the ship/marble Hook's own conclusion, restated as a spot-the-error.</a:t>
            </a:r>
          </a:p>
          <a:p>
            <a:pPr/>
          </a:p>
          <a:p>
            <a:pPr/>
            <a:r>
              <a:t>Q4 IS THE HINGE QUESTION. It is Density's plenary promise, tested before the lesson starts: "compare densities, not weights". If most of the room gets this right unprompted, today is about applying that idea, not re-teaching it.</a:t>
            </a:r>
          </a:p>
          <a:p>
            <a:pPr/>
          </a:p>
          <a:p>
            <a:pPr/>
            <a:r>
              <a:t>Q5 AND Q6 ARE INTUITIVE, NOT TAUGHT YET. Accept any reasonable prediction with a reason. Q5 primes objective 3. Q6 primes the comparison rule in numbers, ahead of I Do 1.</a:t>
            </a:r>
          </a:p>
          <a:p>
            <a:pPr/>
          </a:p>
          <a:p>
            <a:pPr/>
            <a:r>
              <a:t>THEY FOUND HARD: not stated in the brief. Nothing guessed.</a:t>
            </a:r>
          </a:p>
          <a:p>
            <a:pPr/>
          </a:p>
          <a:p>
            <a:pPr/>
            <a:r>
              <a:t>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OBJECTIVES. 1 minute. Five clicks.</a:t>
            </a:r>
          </a:p>
          <a:p>
            <a:pPr/>
          </a:p>
          <a:p>
            <a:pPr/>
            <a:r>
              <a:t>WHERE THIS SITS. Density gave you the tool: mass ÷ volume. Today is the first thing that tool is actually FOR. Say "last lesson you learned to measure density. Today you use it."</a:t>
            </a:r>
          </a:p>
          <a:p>
            <a:pPr/>
          </a:p>
          <a:p>
            <a:pPr/>
            <a:r>
              <a:t>OBJECTIVE 1 IS TAGGED P1.4.3, quoted from the 0654 scheme of work almost exactly: "determine whether an object floats or sinks based on density data" (tools/syllabus.py P1.4). That is the wording the exam is written against.</a:t>
            </a:r>
          </a:p>
          <a:p>
            <a:pPr/>
          </a:p>
          <a:p>
            <a:pPr/>
            <a:r>
              <a:t>THE BANNER IS DENSITY'S OWN CLOSING LINE, WORD FOR WORD. That repetition is deliberate: this lesson does not introduce a new idea, it applies last lesson's idea, twice (objective 2 in general, objective 3 to one specific, surprising case).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r>
              <a:t>HOOK. 2 minutes. Three cards on one click.</a:t>
            </a:r>
          </a:p>
          <a:p>
            <a:pPr/>
          </a:p>
          <a:p>
            <a:pPr/>
            <a:r>
              <a:t>Show of hands for each, and tally on the board. Do not settle it: I Do 2 does.</a:t>
            </a:r>
          </a:p>
          <a:p>
            <a:pPr/>
          </a:p>
          <a:p>
            <a:pPr/>
            <a:r>
              <a:t>ANSWER, FOR YOU: B. Ice really is less dense than liquid water, about 0.92 g/cm³ against about 1.00 g/cm³. Expect A and C to attract most of the votes: "weighs less" repeats the exact misconception this class fixed last lesson (size and weight are not density), and "trapped air" is the single most common wrong explanation for this fact anywhere, including outside school.</a:t>
            </a:r>
          </a:p>
          <a:p>
            <a:pPr/>
          </a:p>
          <a:p>
            <a:pPr/>
            <a:r>
              <a:t>DO NOT EXPLAIN THE REAL REASON YET. Say "hold that thought, we will come back to the actual numbers" and move to I Do 1, which is the general rule this is one example of.</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Shape 153"/>
          <p:cNvSpPr/>
          <p:nvPr>
            <p:ph type="sldImg"/>
          </p:nvPr>
        </p:nvSpPr>
        <p:spPr>
          <a:prstGeom prst="rect">
            <a:avLst/>
          </a:prstGeom>
        </p:spPr>
        <p:txBody>
          <a:bodyPr/>
          <a:lstStyle/>
          <a:p>
            <a:pPr/>
          </a:p>
        </p:txBody>
      </p:sp>
      <p:sp>
        <p:nvSpPr>
          <p:cNvPr id="154" name="Shape 154"/>
          <p:cNvSpPr/>
          <p:nvPr>
            <p:ph type="body" sz="quarter" idx="1"/>
          </p:nvPr>
        </p:nvSpPr>
        <p:spPr>
          <a:prstGeom prst="rect">
            <a:avLst/>
          </a:prstGeom>
        </p:spPr>
        <p:txBody>
          <a:bodyPr/>
          <a:lstStyle/>
          <a:p>
            <a:pPr/>
            <a:r>
              <a:t>I DO. 3 minutes. Two clicks: the rule, then the four-card row.</a:t>
            </a:r>
          </a:p>
          <a:p>
            <a:pPr/>
          </a:p>
          <a:p>
            <a:pPr/>
            <a:r>
              <a:t>THE RULE IS OBJECTIVE 1, DIRECTLY: this is the whole of P1.4.3. It only needs the two densities compared, nothing else.</a:t>
            </a:r>
          </a:p>
          <a:p>
            <a:pPr/>
          </a:p>
          <a:p>
            <a:pPr/>
            <a:r>
              <a:t>RUN THIS LIVE IF YOU CAN: the syllabus's own suggested activity for this objective is the PhET Buoyancy simulation (phet.colorado.edu/en/simulation/legacy/buoyancy). It needs the room's internet, so it is not built into the slide, but if you have it, project it here: drop in a block, read its density off the sim, and ask the class to predict floats or sinks BEFORE you release it. Two or three objects is enough; do not let it eat I Do 2's time.</a:t>
            </a:r>
          </a:p>
          <a:p>
            <a:pPr/>
          </a:p>
          <a:p>
            <a:pPr/>
            <a:r>
              <a:t>THE FOUR MATERIALS ARE REAL, VERIFIED VALUES, not rounded for convenience: cork about 0.25 g/cm³, oak wood about 0.85 g/cm³, aluminium about 2.70 g/cm³, steel about 7.90 g/cm³, all compared against water at 1.00 g/cm³. Read each one as "compare it to water's 1.00 g/cm³" out loud, every time, until it is automatic.</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7" name="Shape 177"/>
          <p:cNvSpPr/>
          <p:nvPr>
            <p:ph type="sldImg"/>
          </p:nvPr>
        </p:nvSpPr>
        <p:spPr>
          <a:prstGeom prst="rect">
            <a:avLst/>
          </a:prstGeom>
        </p:spPr>
        <p:txBody>
          <a:bodyPr/>
          <a:lstStyle/>
          <a:p>
            <a:pPr/>
          </a:p>
        </p:txBody>
      </p:sp>
      <p:sp>
        <p:nvSpPr>
          <p:cNvPr id="178" name="Shape 178"/>
          <p:cNvSpPr/>
          <p:nvPr>
            <p:ph type="body" sz="quarter" idx="1"/>
          </p:nvPr>
        </p:nvSpPr>
        <p:spPr>
          <a:prstGeom prst="rect">
            <a:avLst/>
          </a:prstGeom>
        </p:spPr>
        <p:txBody>
          <a:bodyPr/>
          <a:lstStyle/>
          <a:p>
            <a:pPr/>
            <a:r>
              <a:t>I DO. 3 minutes. Three clicks: the two bars, then the why card.</a:t>
            </a:r>
          </a:p>
          <a:p>
            <a:pPr/>
          </a:p>
          <a:p>
            <a:pPr/>
            <a:r>
              <a:t>THE HOOK IS SETTLED HERE. Ice is about 0.92 g/cm³, water is about 1.00 g/cm³, both real, checked values (0.9167 and 0.9998 at 0°C, rounded for the room). Ice is lower, so by yesterday's rule it floats. That is objective 3, done in one comparison.</a:t>
            </a:r>
          </a:p>
          <a:p>
            <a:pPr/>
          </a:p>
          <a:p>
            <a:pPr/>
            <a:r>
              <a:t>THE 92% UNDERWATER LINE IS WORTH SAYING SLOWLY: a floating object sinks until it displaces its own weight of liquid, so the fraction submerged is roughly its own density divided by the liquid's. An iceberg's "tip" being small is this fact, at scale.</a:t>
            </a:r>
          </a:p>
          <a:p>
            <a:pPr/>
          </a:p>
          <a:p>
            <a:pPr/>
            <a:r>
              <a:t>WHY IT HAPPENS AT ALL is the deeper point, for the strongest students: liquid water's molecules pack close and randomly, but frozen water molecules lock into an open, hexagonal pattern, held apart by hydrogen bonds, so the same mass spreads over more volume. Density is mass PER VOLUME, so more volume for the same mass means lower density. You do not need to name hydrogen bonds if this class has not met them; "the molecules lock into a pattern that holds them further apart" is enough.</a:t>
            </a:r>
          </a:p>
          <a:p>
            <a:pPr/>
          </a:p>
          <a:p>
            <a:pPr/>
            <a:r>
              <a:t>KILL THE TRAPPED-AIR MYTH EXPLICITLY, out loud, pointing at the last bullet. It is the Hook's option C and it will still be in the room.</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6" name="Shape 206"/>
          <p:cNvSpPr/>
          <p:nvPr>
            <p:ph type="sldImg"/>
          </p:nvPr>
        </p:nvSpPr>
        <p:spPr>
          <a:prstGeom prst="rect">
            <a:avLst/>
          </a:prstGeom>
        </p:spPr>
        <p:txBody>
          <a:bodyPr/>
          <a:lstStyle/>
          <a:p>
            <a:pPr/>
          </a:p>
        </p:txBody>
      </p:sp>
      <p:sp>
        <p:nvSpPr>
          <p:cNvPr id="207" name="Shape 207"/>
          <p:cNvSpPr/>
          <p:nvPr>
            <p:ph type="body" sz="quarter" idx="1"/>
          </p:nvPr>
        </p:nvSpPr>
        <p:spPr>
          <a:prstGeom prst="rect">
            <a:avLst/>
          </a:prstGeom>
        </p:spPr>
        <p:txBody>
          <a:bodyPr/>
          <a:lstStyle/>
          <a:p>
            <a:pPr/>
            <a:r>
              <a:t>WE DO. 5 minutes. Four clicks. Take answers from the room first, then click.</a:t>
            </a:r>
          </a:p>
          <a:p>
            <a:pPr/>
          </a:p>
          <a:p>
            <a:pPr/>
            <a:r>
              <a:t>ROW 1 IS OBJECTIVE 1, THE PLAIN CASE. Say the comparison out loud every time: "3 against 1".</a:t>
            </a:r>
          </a:p>
          <a:p>
            <a:pPr/>
          </a:p>
          <a:p>
            <a:pPr/>
            <a:r>
              <a:t>ROW 2 IS OBJECTIVE 2 AND THE MOST IMPORTANT ROW ON THE SLIDE. Weight is not density. A supertanker is far heavier than a paperclip and still floats; the paperclip sinks. If this lands, everything else on the slide is easier.</a:t>
            </a:r>
          </a:p>
          <a:p>
            <a:pPr/>
          </a:p>
          <a:p>
            <a:pPr/>
            <a:r>
              <a:t>ROW 3 IS OBJECTIVE 3, THE HOOK'S TRAP, SPELLED OUT. Row 4 is objective 1 again, from the other direction (a number BELOW 1.00 for once), so students do not default to "big number sinks" without checking which way the comparison runs.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5" name="Shape 255"/>
          <p:cNvSpPr/>
          <p:nvPr>
            <p:ph type="sldImg"/>
          </p:nvPr>
        </p:nvSpPr>
        <p:spPr>
          <a:prstGeom prst="rect">
            <a:avLst/>
          </a:prstGeom>
        </p:spPr>
        <p:txBody>
          <a:bodyPr/>
          <a:lstStyle/>
          <a:p>
            <a:pPr/>
          </a:p>
        </p:txBody>
      </p:sp>
      <p:sp>
        <p:nvSpPr>
          <p:cNvPr id="256" name="Shape 256"/>
          <p:cNvSpPr/>
          <p:nvPr>
            <p:ph type="body" sz="quarter" idx="1"/>
          </p:nvPr>
        </p:nvSpPr>
        <p:spPr>
          <a:prstGeom prst="rect">
            <a:avLst/>
          </a:prstGeom>
        </p:spPr>
        <p:txBody>
          <a:bodyPr/>
          <a:lstStyle/>
          <a:p>
            <a:pPr/>
            <a:r>
              <a:t>COLD CALL. 6 minutes. Six clicks. Name a student, then ask. Students have no mini whiteboards, so answers are spoken.</a:t>
            </a:r>
          </a:p>
          <a:p>
            <a:pPr/>
          </a:p>
          <a:p>
            <a:pPr/>
            <a:r>
              <a:t>Q1 IS OBJECTIVE 1, STATED COLD. It needs both halves: compare TO the liquid, and which way round lower and higher go.</a:t>
            </a:r>
          </a:p>
          <a:p>
            <a:pPr/>
          </a:p>
          <a:p>
            <a:pPr/>
            <a:r>
              <a:t>Q2 AND Q3 ARE OBJECTIVE 1, APPLIED, ONE EACH WAY. Both are real values already seen on I Do 1; the test is recall plus the comparison, not new numbers.</a:t>
            </a:r>
          </a:p>
          <a:p>
            <a:pPr/>
          </a:p>
          <a:p>
            <a:pPr/>
            <a:r>
              <a:t>Q4 AND Q5 ARE OBJECTIVE 3. Q4 wants the numbers; Q5 wants the reason, not just "lower density" repeated.</a:t>
            </a:r>
          </a:p>
          <a:p>
            <a:pPr/>
          </a:p>
          <a:p>
            <a:pPr/>
            <a:r>
              <a:t>Q6 IS OBJECTIVE 2, THE HARDEST QUESTION ON THE SLIDE, closing the loop back to Density's own Hook. It needs "average density", not just "it has air in it". If the room stalls, ask "what is the ship's volume, if you count the air inside the hull as part of it?"</a:t>
            </a:r>
          </a:p>
          <a:p>
            <a:pPr/>
          </a:p>
          <a:p>
            <a:pPr/>
            <a:r>
              <a:t>IF MOST OF THE ROOM IS RIGHT BY Q4, spend longer on Q5 and Q6. IF SHORT OF TIME, cut Q2.</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1" name="Shape 281"/>
          <p:cNvSpPr/>
          <p:nvPr>
            <p:ph type="sldImg"/>
          </p:nvPr>
        </p:nvSpPr>
        <p:spPr>
          <a:prstGeom prst="rect">
            <a:avLst/>
          </a:prstGeom>
        </p:spPr>
        <p:txBody>
          <a:bodyPr/>
          <a:lstStyle/>
          <a:p>
            <a:pPr/>
          </a:p>
        </p:txBody>
      </p:sp>
      <p:sp>
        <p:nvSpPr>
          <p:cNvPr id="282" name="Shape 282"/>
          <p:cNvSpPr/>
          <p:nvPr>
            <p:ph type="body" sz="quarter" idx="1"/>
          </p:nvPr>
        </p:nvSpPr>
        <p:spPr>
          <a:prstGeom prst="rect">
            <a:avLst/>
          </a:prstGeom>
        </p:spPr>
        <p:txBody>
          <a:bodyPr/>
          <a:lstStyle/>
          <a:p>
            <a:pPr/>
            <a:r>
              <a:t>YOU DO. 17 minutes: the standard 14 and the 3 that used to be the Answers slide. Four clicks. THE GAME IS FLOAT OR SINK ("your call"), and the worksheet is the fallback, built every time.</a:t>
            </a:r>
          </a:p>
          <a:p>
            <a:pPr/>
          </a:p>
          <a:p>
            <a:pPr/>
            <a:r>
              <a:t>WHAT THEY DO. Open the file "Float Or Sink game" from Google Classroom. Three rounds of six questions, each on their own device, all multiple choice: Floats, Sinks, Stays suspended, or Not enough information. A wrong answer says what the mistake probably was. EVERY STUDENT GETS A DIFFERENT GAME: different materials, different numbers, in a different order. The skills and their order are the same for everyone. Each game has a six-character code, shown on the start and end screens; add #CODE to the file's address to see exactly what a student saw.</a:t>
            </a:r>
          </a:p>
          <a:p>
            <a:pPr/>
          </a:p>
          <a:p>
            <a:pPr/>
            <a:r>
              <a:t>THE DIFFICULTY RAMPS ON PURPOSE. Round 1 gives both densities directly. Round 2 gives mass and volume, so the density has to be calculated first, then compared. Round 3 is hollow and composite objects (a container with air inside, like the steel ship), and switching the liquid (the same object in fresh water and in seawater, which are different densities). The last two questions (17 and 18) are drawn from a small pool of very hard templates, including the case where an object's density exactly equals the liquid's and it neither floats nor sinks. Expect most students to fail those two. That is the design; tell them before they start.</a:t>
            </a:r>
          </a:p>
          <a:p>
            <a:pPr/>
          </a:p>
          <a:p>
            <a:pPr/>
            <a:r>
              <a:t>AT THE END OF EACH ROUND, and again on the last screen, there is a drop-down for every round with how long each question took and, for a wrong one, what the student wrote and how to get to the answer. There is a "Stop and see my results" button on every question.</a:t>
            </a:r>
          </a:p>
          <a:p>
            <a:pPr/>
          </a:p>
          <a:p>
            <a:pPr/>
            <a:r>
              <a:t>ON AN iPAD, an HTML file attached in Google Classroom can be awkward to open. Check before relying on it. If a student cannot open it, finishes early or is absent, the worksheet is the fallback: ten questions in Bronze, Silver and Gold, with the answers printed UPSIDE DOWN on its last page.</a:t>
            </a:r>
          </a:p>
          <a:p>
            <a:pPr/>
          </a:p>
          <a:p>
            <a:pPr/>
            <a:r>
              <a:t>CIRCULATE WITH ONE QUESTION: "which density is bigger, the object's or the liquid's?" AT 3 MINUTES REMAINING, stop them. There is no Answers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Shape 310"/>
          <p:cNvSpPr/>
          <p:nvPr>
            <p:ph type="sldImg"/>
          </p:nvPr>
        </p:nvSpPr>
        <p:spPr>
          <a:prstGeom prst="rect">
            <a:avLst/>
          </a:prstGeom>
        </p:spPr>
        <p:txBody>
          <a:bodyPr/>
          <a:lstStyle/>
          <a:p>
            <a:pPr/>
          </a:p>
        </p:txBody>
      </p:sp>
      <p:sp>
        <p:nvSpPr>
          <p:cNvPr id="311" name="Shape 311"/>
          <p:cNvSpPr/>
          <p:nvPr>
            <p:ph type="body" sz="quarter" idx="1"/>
          </p:nvPr>
        </p:nvSpPr>
        <p:spPr>
          <a:prstGeom prst="rect">
            <a:avLst/>
          </a:prstGeom>
        </p:spPr>
        <p:txBody>
          <a:bodyPr/>
          <a:lstStyle/>
          <a:p>
            <a:pPr/>
            <a:r>
              <a:t>PLENARY. 3 minutes. Eleven clicks: each statement, then its answer, then the closing line.</a:t>
            </a:r>
          </a:p>
          <a:p>
            <a:pPr/>
          </a:p>
          <a:p>
            <a:pPr/>
            <a:r>
              <a:t>Q1 IS OBJECTIVE 1, PLAINLY TRUE. Q2 IS THE MISCONCEPTION AND OBJECTIVE 2 DIRECTLY. If this splits the room, that is the first five minutes of next lesson, not a footnote.</a:t>
            </a:r>
          </a:p>
          <a:p>
            <a:pPr/>
          </a:p>
          <a:p>
            <a:pPr/>
            <a:r>
              <a:t>Q3 IS THE HOOK, SETTLED ONE LAST TIME. Q4 IS OBJECTIVE 3, GENERALISED: water's solid-less-dense-than-liquid behaviour is genuinely unusual among substances, worth saying plainly.</a:t>
            </a:r>
          </a:p>
          <a:p>
            <a:pPr/>
          </a:p>
          <a:p>
            <a:pPr/>
            <a:r>
              <a:t>Q5 IS THE SAME CHECK AS WE DO ROW 4, asked cold: 0.95 is lower than 1.00, so it floats, not sinks.</a:t>
            </a:r>
          </a:p>
          <a:p>
            <a:pPr/>
          </a:p>
          <a:p>
            <a:pPr/>
            <a:r>
              <a:t>THE CLOSING LINE REPEATS THE OBJECTIVES BANNER, on purpose. THIS LESSON MAKES NO PROMISE FOR THE NEXT ONE.</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2.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png"/><Relationship Id="rId6"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8.mp4"/><Relationship Id="rId4" Type="http://schemas.microsoft.com/office/2007/relationships/media" Target="../media/media8.mp4"/><Relationship Id="rId5"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92808" cy="329185"/>
            <a:chOff x="0" y="0"/>
            <a:chExt cx="1892807" cy="329184"/>
          </a:xfrm>
        </p:grpSpPr>
        <p:sp>
          <p:nvSpPr>
            <p:cNvPr id="21" name="Rounded Rectangle"/>
            <p:cNvSpPr/>
            <p:nvPr/>
          </p:nvSpPr>
          <p:spPr>
            <a:xfrm>
              <a:off x="0" y="0"/>
              <a:ext cx="1892808"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22" name="DO NOW · 10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10 MIN</a:t>
              </a:r>
            </a:p>
          </p:txBody>
        </p:sp>
      </p:grpSp>
      <p:sp>
        <p:nvSpPr>
          <p:cNvPr id="24" name="lesson_title"/>
          <p:cNvSpPr txBox="1"/>
          <p:nvPr/>
        </p:nvSpPr>
        <p:spPr>
          <a:xfrm>
            <a:off x="2651760" y="344170"/>
            <a:ext cx="685800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0B3D4C"/>
                </a:solidFill>
                <a:latin typeface="Georgia"/>
                <a:ea typeface="Georgia"/>
                <a:cs typeface="Georgia"/>
                <a:sym typeface="Georgia"/>
              </a:defRPr>
            </a:lvl1pPr>
          </a:lstStyle>
          <a:p>
            <a:pPr/>
            <a:r>
              <a:t>Float Or Sink</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4E6D74"/>
                </a:solidFill>
                <a:latin typeface="Arial"/>
                <a:ea typeface="Arial"/>
                <a:cs typeface="Arial"/>
                <a:sym typeface="Arial"/>
              </a:defRPr>
            </a:lvl1pPr>
          </a:lstStyle>
          <a:p>
            <a:pPr/>
            <a:r>
              <a:t>Tuesday 29 September 2026</a:t>
            </a:r>
          </a:p>
        </p:txBody>
      </p:sp>
      <p:sp>
        <p:nvSpPr>
          <p:cNvPr id="26" name="rule"/>
          <p:cNvSpPr/>
          <p:nvPr/>
        </p:nvSpPr>
        <p:spPr>
          <a:xfrm>
            <a:off x="1170432" y="896111"/>
            <a:ext cx="10472623" cy="36577"/>
          </a:xfrm>
          <a:prstGeom prst="rect">
            <a:avLst/>
          </a:prstGeom>
          <a:solidFill>
            <a:srgbClr val="FF8952"/>
          </a:solidFill>
          <a:ln w="12700">
            <a:solidFill>
              <a:srgbClr val="FF8952"/>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7E8EA"/>
            </a:solidFill>
          </a:ln>
        </p:spPr>
        <p:txBody>
          <a:bodyPr lIns="45719" rIns="45719"/>
          <a:lstStyle/>
          <a:p>
            <a:pPr/>
          </a:p>
        </p:txBody>
      </p:sp>
      <p:sp>
        <p:nvSpPr>
          <p:cNvPr id="28" name="d0_badge"/>
          <p:cNvSpPr/>
          <p:nvPr/>
        </p:nvSpPr>
        <p:spPr>
          <a:xfrm>
            <a:off x="1371600" y="1426463"/>
            <a:ext cx="384048" cy="384049"/>
          </a:xfrm>
          <a:prstGeom prst="ellipse">
            <a:avLst/>
          </a:prstGeom>
          <a:solidFill>
            <a:srgbClr val="FF8952"/>
          </a:solidFill>
          <a:ln w="12700">
            <a:solidFill>
              <a:srgbClr val="FF8952"/>
            </a:solidFill>
          </a:ln>
        </p:spPr>
        <p:txBody>
          <a:bodyPr lIns="45719" rIns="45719"/>
          <a:lstStyle/>
          <a:p>
            <a:pPr/>
          </a:p>
        </p:txBody>
      </p:sp>
      <p:sp>
        <p:nvSpPr>
          <p:cNvPr id="29" name="d0_num"/>
          <p:cNvSpPr txBox="1"/>
          <p:nvPr/>
        </p:nvSpPr>
        <p:spPr>
          <a:xfrm>
            <a:off x="1371600" y="1516887"/>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1</a:t>
            </a:r>
          </a:p>
        </p:txBody>
      </p:sp>
      <p:sp>
        <p:nvSpPr>
          <p:cNvPr id="30" name="d0_q"/>
          <p:cNvSpPr txBox="1"/>
          <p:nvPr/>
        </p:nvSpPr>
        <p:spPr>
          <a:xfrm>
            <a:off x="1901951" y="1501783"/>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State the equation for density.</a:t>
            </a:r>
          </a:p>
        </p:txBody>
      </p:sp>
      <p:grpSp>
        <p:nvGrpSpPr>
          <p:cNvPr id="33" name="d0_a"/>
          <p:cNvGrpSpPr/>
          <p:nvPr/>
        </p:nvGrpSpPr>
        <p:grpSpPr>
          <a:xfrm>
            <a:off x="1371600" y="2048255"/>
            <a:ext cx="4696817" cy="438914"/>
            <a:chOff x="0" y="0"/>
            <a:chExt cx="4696816" cy="438912"/>
          </a:xfrm>
        </p:grpSpPr>
        <p:sp>
          <p:nvSpPr>
            <p:cNvPr id="31" name="Rounded Rectangle"/>
            <p:cNvSpPr/>
            <p:nvPr/>
          </p:nvSpPr>
          <p:spPr>
            <a:xfrm>
              <a:off x="0" y="0"/>
              <a:ext cx="4696817" cy="438913"/>
            </a:xfrm>
            <a:prstGeom prst="roundRect">
              <a:avLst>
                <a:gd name="adj" fmla="val 20833"/>
              </a:avLst>
            </a:prstGeom>
            <a:solidFill>
              <a:srgbClr val="D7E8EA"/>
            </a:solidFill>
            <a:ln w="16510" cap="flat">
              <a:solidFill>
                <a:srgbClr val="FF8952"/>
              </a:solidFill>
              <a:prstDash val="solid"/>
              <a:round/>
            </a:ln>
            <a:effectLst/>
          </p:spPr>
          <p:txBody>
            <a:bodyPr wrap="square" lIns="45719" tIns="45719" rIns="45719" bIns="45719" numCol="1" anchor="ctr">
              <a:noAutofit/>
            </a:bodyPr>
            <a:lstStyle/>
            <a:p>
              <a:pPr>
                <a:defRPr sz="1300"/>
              </a:pPr>
            </a:p>
          </p:txBody>
        </p:sp>
        <p:sp>
          <p:nvSpPr>
            <p:cNvPr id="32" name="Density = mass ÷ volume."/>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B3D4C"/>
                  </a:solidFill>
                  <a:latin typeface="Arial"/>
                  <a:ea typeface="Arial"/>
                  <a:cs typeface="Arial"/>
                  <a:sym typeface="Arial"/>
                </a:defRPr>
              </a:lvl1pPr>
            </a:lstStyle>
            <a:p>
              <a:pPr/>
              <a:r>
                <a:t>Density = mass ÷ volume.</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D7E8EA"/>
            </a:solidFill>
          </a:ln>
        </p:spPr>
        <p:txBody>
          <a:bodyPr lIns="45719" rIns="45719"/>
          <a:lstStyle/>
          <a:p>
            <a:pPr/>
          </a:p>
        </p:txBody>
      </p:sp>
      <p:sp>
        <p:nvSpPr>
          <p:cNvPr id="35" name="d1_badge"/>
          <p:cNvSpPr/>
          <p:nvPr/>
        </p:nvSpPr>
        <p:spPr>
          <a:xfrm>
            <a:off x="6745072" y="1426463"/>
            <a:ext cx="384049" cy="384049"/>
          </a:xfrm>
          <a:prstGeom prst="ellipse">
            <a:avLst/>
          </a:prstGeom>
          <a:solidFill>
            <a:srgbClr val="FF8952"/>
          </a:solidFill>
          <a:ln w="12700">
            <a:solidFill>
              <a:srgbClr val="FF8952"/>
            </a:solidFill>
          </a:ln>
        </p:spPr>
        <p:txBody>
          <a:bodyPr lIns="45719" rIns="45719"/>
          <a:lstStyle/>
          <a:p>
            <a:pPr/>
          </a:p>
        </p:txBody>
      </p:sp>
      <p:sp>
        <p:nvSpPr>
          <p:cNvPr id="36" name="d1_num"/>
          <p:cNvSpPr txBox="1"/>
          <p:nvPr/>
        </p:nvSpPr>
        <p:spPr>
          <a:xfrm>
            <a:off x="6745072" y="1516887"/>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2</a:t>
            </a:r>
          </a:p>
        </p:txBody>
      </p:sp>
      <p:sp>
        <p:nvSpPr>
          <p:cNvPr id="37" name="d1_q"/>
          <p:cNvSpPr txBox="1"/>
          <p:nvPr/>
        </p:nvSpPr>
        <p:spPr>
          <a:xfrm>
            <a:off x="7275424" y="1381133"/>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Find the density of a 40 g object with a volume of 8 cm³.</a:t>
            </a:r>
          </a:p>
        </p:txBody>
      </p:sp>
      <p:grpSp>
        <p:nvGrpSpPr>
          <p:cNvPr id="40" name="d1_a"/>
          <p:cNvGrpSpPr/>
          <p:nvPr/>
        </p:nvGrpSpPr>
        <p:grpSpPr>
          <a:xfrm>
            <a:off x="6745072" y="2048255"/>
            <a:ext cx="4696817" cy="438914"/>
            <a:chOff x="0" y="0"/>
            <a:chExt cx="4696816" cy="438912"/>
          </a:xfrm>
        </p:grpSpPr>
        <p:sp>
          <p:nvSpPr>
            <p:cNvPr id="38" name="Rounded Rectangle"/>
            <p:cNvSpPr/>
            <p:nvPr/>
          </p:nvSpPr>
          <p:spPr>
            <a:xfrm>
              <a:off x="0" y="0"/>
              <a:ext cx="4696817" cy="438913"/>
            </a:xfrm>
            <a:prstGeom prst="roundRect">
              <a:avLst>
                <a:gd name="adj" fmla="val 20833"/>
              </a:avLst>
            </a:prstGeom>
            <a:solidFill>
              <a:srgbClr val="D7E8EA"/>
            </a:solidFill>
            <a:ln w="16510" cap="flat">
              <a:solidFill>
                <a:srgbClr val="FF8952"/>
              </a:solidFill>
              <a:prstDash val="solid"/>
              <a:round/>
            </a:ln>
            <a:effectLst/>
          </p:spPr>
          <p:txBody>
            <a:bodyPr wrap="square" lIns="45719" tIns="45719" rIns="45719" bIns="45719" numCol="1" anchor="ctr">
              <a:noAutofit/>
            </a:bodyPr>
            <a:lstStyle/>
            <a:p>
              <a:pPr>
                <a:defRPr sz="1300"/>
              </a:pPr>
            </a:p>
          </p:txBody>
        </p:sp>
        <p:sp>
          <p:nvSpPr>
            <p:cNvPr id="39" name="5 g/cm³. 40 ÷ 8."/>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B3D4C"/>
                  </a:solidFill>
                  <a:latin typeface="Arial"/>
                  <a:ea typeface="Arial"/>
                  <a:cs typeface="Arial"/>
                  <a:sym typeface="Arial"/>
                </a:defRPr>
              </a:lvl1pPr>
            </a:lstStyle>
            <a:p>
              <a:pPr/>
              <a:r>
                <a:t>5 g/cm³. 40 ÷ 8.</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D7E8EA"/>
            </a:solidFill>
          </a:ln>
        </p:spPr>
        <p:txBody>
          <a:bodyPr lIns="45719" rIns="45719"/>
          <a:lstStyle/>
          <a:p>
            <a:pPr/>
          </a:p>
        </p:txBody>
      </p:sp>
      <p:sp>
        <p:nvSpPr>
          <p:cNvPr id="42" name="d2_badge"/>
          <p:cNvSpPr/>
          <p:nvPr/>
        </p:nvSpPr>
        <p:spPr>
          <a:xfrm>
            <a:off x="1371600" y="3090672"/>
            <a:ext cx="384048" cy="384049"/>
          </a:xfrm>
          <a:prstGeom prst="ellipse">
            <a:avLst/>
          </a:prstGeom>
          <a:solidFill>
            <a:srgbClr val="FF8952"/>
          </a:solidFill>
          <a:ln w="12700">
            <a:solidFill>
              <a:srgbClr val="FF8952"/>
            </a:solidFill>
          </a:ln>
        </p:spPr>
        <p:txBody>
          <a:bodyPr lIns="45719" rIns="45719"/>
          <a:lstStyle/>
          <a:p>
            <a:pPr/>
          </a:p>
        </p:txBody>
      </p:sp>
      <p:sp>
        <p:nvSpPr>
          <p:cNvPr id="43" name="d2_num"/>
          <p:cNvSpPr txBox="1"/>
          <p:nvPr/>
        </p:nvSpPr>
        <p:spPr>
          <a:xfrm>
            <a:off x="1371600" y="3181096"/>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3</a:t>
            </a:r>
          </a:p>
        </p:txBody>
      </p:sp>
      <p:sp>
        <p:nvSpPr>
          <p:cNvPr id="44" name="d2_q"/>
          <p:cNvSpPr txBox="1"/>
          <p:nvPr/>
        </p:nvSpPr>
        <p:spPr>
          <a:xfrm>
            <a:off x="1901951" y="3165991"/>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Convert 1 g/cm³ to kg/m³.</a:t>
            </a:r>
          </a:p>
        </p:txBody>
      </p:sp>
      <p:grpSp>
        <p:nvGrpSpPr>
          <p:cNvPr id="47" name="d2_a"/>
          <p:cNvGrpSpPr/>
          <p:nvPr/>
        </p:nvGrpSpPr>
        <p:grpSpPr>
          <a:xfrm>
            <a:off x="1371600" y="3712464"/>
            <a:ext cx="4696817" cy="438913"/>
            <a:chOff x="0" y="0"/>
            <a:chExt cx="4696816" cy="438912"/>
          </a:xfrm>
        </p:grpSpPr>
        <p:sp>
          <p:nvSpPr>
            <p:cNvPr id="45" name="Rounded Rectangle"/>
            <p:cNvSpPr/>
            <p:nvPr/>
          </p:nvSpPr>
          <p:spPr>
            <a:xfrm>
              <a:off x="0" y="0"/>
              <a:ext cx="4696817" cy="438913"/>
            </a:xfrm>
            <a:prstGeom prst="roundRect">
              <a:avLst>
                <a:gd name="adj" fmla="val 20833"/>
              </a:avLst>
            </a:prstGeom>
            <a:solidFill>
              <a:srgbClr val="D7E8EA"/>
            </a:solidFill>
            <a:ln w="16510" cap="flat">
              <a:solidFill>
                <a:srgbClr val="FF8952"/>
              </a:solidFill>
              <a:prstDash val="solid"/>
              <a:round/>
            </a:ln>
            <a:effectLst/>
          </p:spPr>
          <p:txBody>
            <a:bodyPr wrap="square" lIns="45719" tIns="45719" rIns="45719" bIns="45719" numCol="1" anchor="ctr">
              <a:noAutofit/>
            </a:bodyPr>
            <a:lstStyle/>
            <a:p>
              <a:pPr>
                <a:defRPr sz="1300"/>
              </a:pPr>
            </a:p>
          </p:txBody>
        </p:sp>
        <p:sp>
          <p:nvSpPr>
            <p:cNvPr id="46" name="1000 kg/m³."/>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B3D4C"/>
                  </a:solidFill>
                  <a:latin typeface="Arial"/>
                  <a:ea typeface="Arial"/>
                  <a:cs typeface="Arial"/>
                  <a:sym typeface="Arial"/>
                </a:defRPr>
              </a:lvl1pPr>
            </a:lstStyle>
            <a:p>
              <a:pPr/>
              <a:r>
                <a:t>1000 kg/m³.</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D7E8EA"/>
            </a:solidFill>
          </a:ln>
        </p:spPr>
        <p:txBody>
          <a:bodyPr lIns="45719" rIns="45719"/>
          <a:lstStyle/>
          <a:p>
            <a:pPr/>
          </a:p>
        </p:txBody>
      </p:sp>
      <p:sp>
        <p:nvSpPr>
          <p:cNvPr id="49" name="d3_badge"/>
          <p:cNvSpPr/>
          <p:nvPr/>
        </p:nvSpPr>
        <p:spPr>
          <a:xfrm>
            <a:off x="6745072" y="3090672"/>
            <a:ext cx="384049" cy="384049"/>
          </a:xfrm>
          <a:prstGeom prst="ellipse">
            <a:avLst/>
          </a:prstGeom>
          <a:solidFill>
            <a:srgbClr val="FF8952"/>
          </a:solidFill>
          <a:ln w="12700">
            <a:solidFill>
              <a:srgbClr val="FF8952"/>
            </a:solidFill>
          </a:ln>
        </p:spPr>
        <p:txBody>
          <a:bodyPr lIns="45719" rIns="45719"/>
          <a:lstStyle/>
          <a:p>
            <a:pPr/>
          </a:p>
        </p:txBody>
      </p:sp>
      <p:sp>
        <p:nvSpPr>
          <p:cNvPr id="50" name="d3_num"/>
          <p:cNvSpPr txBox="1"/>
          <p:nvPr/>
        </p:nvSpPr>
        <p:spPr>
          <a:xfrm>
            <a:off x="6745072" y="3181096"/>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4</a:t>
            </a:r>
          </a:p>
        </p:txBody>
      </p:sp>
      <p:sp>
        <p:nvSpPr>
          <p:cNvPr id="51" name="d3_q"/>
          <p:cNvSpPr txBox="1"/>
          <p:nvPr/>
        </p:nvSpPr>
        <p:spPr>
          <a:xfrm>
            <a:off x="7275424" y="2924691"/>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A student says: "The steel ship floats because it weighs less than the marble." Explain the mistake.</a:t>
            </a:r>
          </a:p>
        </p:txBody>
      </p:sp>
      <p:grpSp>
        <p:nvGrpSpPr>
          <p:cNvPr id="54" name="d3_a"/>
          <p:cNvGrpSpPr/>
          <p:nvPr/>
        </p:nvGrpSpPr>
        <p:grpSpPr>
          <a:xfrm>
            <a:off x="6745072" y="3712464"/>
            <a:ext cx="4696817" cy="438913"/>
            <a:chOff x="0" y="0"/>
            <a:chExt cx="4696816" cy="438912"/>
          </a:xfrm>
        </p:grpSpPr>
        <p:sp>
          <p:nvSpPr>
            <p:cNvPr id="52" name="Rounded Rectangle"/>
            <p:cNvSpPr/>
            <p:nvPr/>
          </p:nvSpPr>
          <p:spPr>
            <a:xfrm>
              <a:off x="0" y="0"/>
              <a:ext cx="4696817" cy="438913"/>
            </a:xfrm>
            <a:prstGeom prst="roundRect">
              <a:avLst>
                <a:gd name="adj" fmla="val 20833"/>
              </a:avLst>
            </a:prstGeom>
            <a:solidFill>
              <a:srgbClr val="D7E8EA"/>
            </a:solidFill>
            <a:ln w="16510" cap="flat">
              <a:solidFill>
                <a:srgbClr val="FF8952"/>
              </a:solidFill>
              <a:prstDash val="solid"/>
              <a:round/>
            </a:ln>
            <a:effectLst/>
          </p:spPr>
          <p:txBody>
            <a:bodyPr wrap="square" lIns="45719" tIns="45719" rIns="45719" bIns="45719" numCol="1" anchor="ctr">
              <a:noAutofit/>
            </a:bodyPr>
            <a:lstStyle/>
            <a:p>
              <a:pPr>
                <a:defRPr sz="1300"/>
              </a:pPr>
            </a:p>
          </p:txBody>
        </p:sp>
        <p:sp>
          <p:nvSpPr>
            <p:cNvPr id="53" name="The ship weighs far more overall. Its average density, air included, is lower than water's."/>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B3D4C"/>
                  </a:solidFill>
                  <a:latin typeface="Arial"/>
                  <a:ea typeface="Arial"/>
                  <a:cs typeface="Arial"/>
                  <a:sym typeface="Arial"/>
                </a:defRPr>
              </a:lvl1pPr>
            </a:lstStyle>
            <a:p>
              <a:pPr/>
              <a:r>
                <a:t>The ship weighs far more overall. Its average density, air included, is lower than water's.</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7E8EA"/>
            </a:solidFill>
          </a:ln>
        </p:spPr>
        <p:txBody>
          <a:bodyPr lIns="45719" rIns="45719"/>
          <a:lstStyle/>
          <a:p>
            <a:pPr/>
          </a:p>
        </p:txBody>
      </p:sp>
      <p:sp>
        <p:nvSpPr>
          <p:cNvPr id="56" name="d4_badge"/>
          <p:cNvSpPr/>
          <p:nvPr/>
        </p:nvSpPr>
        <p:spPr>
          <a:xfrm>
            <a:off x="1371600" y="4754879"/>
            <a:ext cx="384048" cy="384049"/>
          </a:xfrm>
          <a:prstGeom prst="ellipse">
            <a:avLst/>
          </a:prstGeom>
          <a:solidFill>
            <a:srgbClr val="FF8952"/>
          </a:solidFill>
          <a:ln w="12700">
            <a:solidFill>
              <a:srgbClr val="FF8952"/>
            </a:solidFill>
          </a:ln>
        </p:spPr>
        <p:txBody>
          <a:bodyPr lIns="45719" rIns="45719"/>
          <a:lstStyle/>
          <a:p>
            <a:pPr/>
          </a:p>
        </p:txBody>
      </p:sp>
      <p:sp>
        <p:nvSpPr>
          <p:cNvPr id="57" name="d4_num"/>
          <p:cNvSpPr txBox="1"/>
          <p:nvPr/>
        </p:nvSpPr>
        <p:spPr>
          <a:xfrm>
            <a:off x="1371600" y="4845303"/>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5</a:t>
            </a:r>
          </a:p>
        </p:txBody>
      </p:sp>
      <p:sp>
        <p:nvSpPr>
          <p:cNvPr id="58" name="d4_q"/>
          <p:cNvSpPr txBox="1"/>
          <p:nvPr/>
        </p:nvSpPr>
        <p:spPr>
          <a:xfrm>
            <a:off x="1901951"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State whether you think an ice cube will float or sink in water, and why.</a:t>
            </a:r>
          </a:p>
        </p:txBody>
      </p:sp>
      <p:grpSp>
        <p:nvGrpSpPr>
          <p:cNvPr id="61" name="d4_a"/>
          <p:cNvGrpSpPr/>
          <p:nvPr/>
        </p:nvGrpSpPr>
        <p:grpSpPr>
          <a:xfrm>
            <a:off x="1371600" y="5376671"/>
            <a:ext cx="4696817" cy="438913"/>
            <a:chOff x="0" y="0"/>
            <a:chExt cx="4696816" cy="438912"/>
          </a:xfrm>
        </p:grpSpPr>
        <p:sp>
          <p:nvSpPr>
            <p:cNvPr id="59" name="Rounded Rectangle"/>
            <p:cNvSpPr/>
            <p:nvPr/>
          </p:nvSpPr>
          <p:spPr>
            <a:xfrm>
              <a:off x="0" y="0"/>
              <a:ext cx="4696817" cy="438913"/>
            </a:xfrm>
            <a:prstGeom prst="roundRect">
              <a:avLst>
                <a:gd name="adj" fmla="val 20833"/>
              </a:avLst>
            </a:prstGeom>
            <a:solidFill>
              <a:srgbClr val="D7E8EA"/>
            </a:solidFill>
            <a:ln w="16510" cap="flat">
              <a:solidFill>
                <a:srgbClr val="FF8952"/>
              </a:solidFill>
              <a:prstDash val="solid"/>
              <a:round/>
            </a:ln>
            <a:effectLst/>
          </p:spPr>
          <p:txBody>
            <a:bodyPr wrap="square" lIns="45719" tIns="45719" rIns="45719" bIns="45719" numCol="1" anchor="ctr">
              <a:noAutofit/>
            </a:bodyPr>
            <a:lstStyle/>
            <a:p>
              <a:pPr>
                <a:defRPr sz="1300"/>
              </a:pPr>
            </a:p>
          </p:txBody>
        </p:sp>
        <p:sp>
          <p:nvSpPr>
            <p:cNvPr id="60" name="Any reasonable prediction and reason."/>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B3D4C"/>
                  </a:solidFill>
                  <a:latin typeface="Arial"/>
                  <a:ea typeface="Arial"/>
                  <a:cs typeface="Arial"/>
                  <a:sym typeface="Arial"/>
                </a:defRPr>
              </a:lvl1pPr>
            </a:lstStyle>
            <a:p>
              <a:pPr/>
              <a:r>
                <a:t>Any reasonable prediction and reason.</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D7E8EA"/>
            </a:solidFill>
          </a:ln>
        </p:spPr>
        <p:txBody>
          <a:bodyPr lIns="45719" rIns="45719"/>
          <a:lstStyle/>
          <a:p>
            <a:pPr/>
          </a:p>
        </p:txBody>
      </p:sp>
      <p:sp>
        <p:nvSpPr>
          <p:cNvPr id="63" name="d5_badge"/>
          <p:cNvSpPr/>
          <p:nvPr/>
        </p:nvSpPr>
        <p:spPr>
          <a:xfrm>
            <a:off x="6745072" y="4754879"/>
            <a:ext cx="384049" cy="384049"/>
          </a:xfrm>
          <a:prstGeom prst="ellipse">
            <a:avLst/>
          </a:prstGeom>
          <a:solidFill>
            <a:srgbClr val="FF8952"/>
          </a:solidFill>
          <a:ln w="12700">
            <a:solidFill>
              <a:srgbClr val="FF8952"/>
            </a:solidFill>
          </a:ln>
        </p:spPr>
        <p:txBody>
          <a:bodyPr lIns="45719" rIns="45719"/>
          <a:lstStyle/>
          <a:p>
            <a:pPr/>
          </a:p>
        </p:txBody>
      </p:sp>
      <p:sp>
        <p:nvSpPr>
          <p:cNvPr id="64" name="d5_num"/>
          <p:cNvSpPr txBox="1"/>
          <p:nvPr/>
        </p:nvSpPr>
        <p:spPr>
          <a:xfrm>
            <a:off x="6745072" y="4845303"/>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6</a:t>
            </a:r>
          </a:p>
        </p:txBody>
      </p:sp>
      <p:sp>
        <p:nvSpPr>
          <p:cNvPr id="65" name="d5_q"/>
          <p:cNvSpPr txBox="1"/>
          <p:nvPr/>
        </p:nvSpPr>
        <p:spPr>
          <a:xfrm>
            <a:off x="7275424" y="4588899"/>
            <a:ext cx="4166465" cy="7160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Water has a density of 1 g/cm³. A block has a density of 0.9 g/cm³. Predict whether it floats or sinks.</a:t>
            </a:r>
          </a:p>
        </p:txBody>
      </p:sp>
      <p:grpSp>
        <p:nvGrpSpPr>
          <p:cNvPr id="68" name="d5_a"/>
          <p:cNvGrpSpPr/>
          <p:nvPr/>
        </p:nvGrpSpPr>
        <p:grpSpPr>
          <a:xfrm>
            <a:off x="6745072" y="5376671"/>
            <a:ext cx="4696817" cy="438913"/>
            <a:chOff x="0" y="0"/>
            <a:chExt cx="4696816" cy="438912"/>
          </a:xfrm>
        </p:grpSpPr>
        <p:sp>
          <p:nvSpPr>
            <p:cNvPr id="66" name="Rounded Rectangle"/>
            <p:cNvSpPr/>
            <p:nvPr/>
          </p:nvSpPr>
          <p:spPr>
            <a:xfrm>
              <a:off x="0" y="0"/>
              <a:ext cx="4696817" cy="438913"/>
            </a:xfrm>
            <a:prstGeom prst="roundRect">
              <a:avLst>
                <a:gd name="adj" fmla="val 20833"/>
              </a:avLst>
            </a:prstGeom>
            <a:solidFill>
              <a:srgbClr val="D7E8EA"/>
            </a:solidFill>
            <a:ln w="16510" cap="flat">
              <a:solidFill>
                <a:srgbClr val="FF8952"/>
              </a:solidFill>
              <a:prstDash val="solid"/>
              <a:round/>
            </a:ln>
            <a:effectLst/>
          </p:spPr>
          <p:txBody>
            <a:bodyPr wrap="square" lIns="45719" tIns="45719" rIns="45719" bIns="45719" numCol="1" anchor="ctr">
              <a:noAutofit/>
            </a:bodyPr>
            <a:lstStyle/>
            <a:p>
              <a:pPr>
                <a:defRPr sz="1300"/>
              </a:pPr>
            </a:p>
          </p:txBody>
        </p:sp>
        <p:sp>
          <p:nvSpPr>
            <p:cNvPr id="67" name="Floats: any reasonable prediction, not marked on the reason yet."/>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B3D4C"/>
                  </a:solidFill>
                  <a:latin typeface="Arial"/>
                  <a:ea typeface="Arial"/>
                  <a:cs typeface="Arial"/>
                  <a:sym typeface="Arial"/>
                </a:defRPr>
              </a:lvl1pPr>
            </a:lstStyle>
            <a:p>
              <a:pPr/>
              <a:r>
                <a:t>Floats: any reasonable prediction, not marked on the reason yet.</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40" grpId="3"/>
      <p:bldP build="whole" bldLvl="1" animBg="1" rev="0" advAuto="0" spid="33" grpId="2"/>
      <p:bldP build="whole" bldLvl="1" animBg="1" rev="0" advAuto="0" spid="47" grpId="4"/>
      <p:bldP build="whole" bldLvl="1" animBg="1" rev="0" advAuto="0" spid="61" grpId="6"/>
      <p:bldP build="whole" bldLvl="1" animBg="1" rev="0" advAuto="0" spid="54" grpId="5"/>
      <p:bldP build="whole" bldLvl="1" animBg="1" rev="0" advAuto="0" spid="68" grpId="7"/>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B3D4C"/>
                </a:solidFill>
                <a:latin typeface="Georgia"/>
                <a:ea typeface="Georgia"/>
                <a:cs typeface="Georgia"/>
                <a:sym typeface="Georgia"/>
              </a:defRPr>
            </a:lvl1pPr>
          </a:lstStyle>
          <a:p>
            <a:pPr/>
            <a:r>
              <a:t>Objectives</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D7E8EA"/>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FF8952"/>
            </a:solidFill>
            <a:ln w="12700" cap="flat">
              <a:solidFill>
                <a:srgbClr val="FF8952"/>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B3D4C"/>
                  </a:solidFill>
                  <a:latin typeface="Georgia"/>
                  <a:ea typeface="Georgia"/>
                  <a:cs typeface="Georgia"/>
                  <a:sym typeface="Georgia"/>
                </a:defRPr>
              </a:lvl1pPr>
            </a:lstStyle>
            <a:p>
              <a:pPr/>
              <a:r>
                <a:t>1</a:t>
              </a:r>
            </a:p>
          </p:txBody>
        </p:sp>
        <p:sp>
          <p:nvSpPr>
            <p:cNvPr id="80" name="o0_t"/>
            <p:cNvSpPr txBox="1"/>
            <p:nvPr/>
          </p:nvSpPr>
          <p:spPr>
            <a:xfrm>
              <a:off x="237744" y="713231"/>
              <a:ext cx="2832506"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C2730"/>
                  </a:solidFill>
                  <a:latin typeface="Arial"/>
                  <a:ea typeface="Arial"/>
                  <a:cs typeface="Arial"/>
                  <a:sym typeface="Arial"/>
                </a:defRPr>
              </a:lvl1pPr>
            </a:lstStyle>
            <a:p>
              <a:pPr/>
              <a:r>
                <a:t>Determine whether an object floats or sinks from density data.</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D7E8EA"/>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FF8952"/>
            </a:solidFill>
            <a:ln w="12700" cap="flat">
              <a:solidFill>
                <a:srgbClr val="FF8952"/>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B3D4C"/>
                  </a:solidFill>
                  <a:latin typeface="Georgia"/>
                  <a:ea typeface="Georgia"/>
                  <a:cs typeface="Georgia"/>
                  <a:sym typeface="Georgia"/>
                </a:defRPr>
              </a:lvl1pPr>
            </a:lstStyle>
            <a:p>
              <a:pPr/>
              <a:r>
                <a:t>2</a:t>
              </a:r>
            </a:p>
          </p:txBody>
        </p:sp>
        <p:sp>
          <p:nvSpPr>
            <p:cNvPr id="85" name="o1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C2730"/>
                  </a:solidFill>
                  <a:latin typeface="Arial"/>
                  <a:ea typeface="Arial"/>
                  <a:cs typeface="Arial"/>
                  <a:sym typeface="Arial"/>
                </a:defRPr>
              </a:lvl1pPr>
            </a:lstStyle>
            <a:p>
              <a:pPr/>
              <a:r>
                <a:t>Explain floating and sinking by comparing densities.</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D7E8EA"/>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FF8952"/>
            </a:solidFill>
            <a:ln w="12700" cap="flat">
              <a:solidFill>
                <a:srgbClr val="FF8952"/>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B3D4C"/>
                  </a:solidFill>
                  <a:latin typeface="Georgia"/>
                  <a:ea typeface="Georgia"/>
                  <a:cs typeface="Georgia"/>
                  <a:sym typeface="Georgia"/>
                </a:defRPr>
              </a:lvl1pPr>
            </a:lstStyle>
            <a:p>
              <a:pPr/>
              <a:r>
                <a:t>3</a:t>
              </a:r>
            </a:p>
          </p:txBody>
        </p:sp>
        <p:sp>
          <p:nvSpPr>
            <p:cNvPr id="90" name="o2_t"/>
            <p:cNvSpPr txBox="1"/>
            <p:nvPr/>
          </p:nvSpPr>
          <p:spPr>
            <a:xfrm>
              <a:off x="237744" y="713231"/>
              <a:ext cx="2832506"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0C2730"/>
                  </a:solidFill>
                  <a:latin typeface="Arial"/>
                  <a:ea typeface="Arial"/>
                  <a:cs typeface="Arial"/>
                  <a:sym typeface="Arial"/>
                </a:defRPr>
              </a:lvl1pPr>
            </a:lstStyle>
            <a:p>
              <a:pPr/>
              <a:r>
                <a:t>Explain why ice floats on water.</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0B3D4C"/>
            </a:solidFill>
            <a:ln w="9525" cap="flat">
              <a:solidFill>
                <a:srgbClr val="0B3D4C"/>
              </a:solidFill>
              <a:prstDash val="solid"/>
              <a:round/>
            </a:ln>
            <a:effectLst/>
          </p:spPr>
          <p:txBody>
            <a:bodyPr wrap="square" lIns="45719" tIns="45719" rIns="45719" bIns="45719" numCol="1" anchor="ctr">
              <a:noAutofit/>
            </a:bodyPr>
            <a:lstStyle/>
            <a:p>
              <a:pPr algn="ctr">
                <a:lnSpc>
                  <a:spcPts val="2200"/>
                </a:lnSpc>
                <a:defRPr sz="1700"/>
              </a:pPr>
            </a:p>
          </p:txBody>
        </p:sp>
        <p:sp>
          <p:nvSpPr>
            <p:cNvPr id="93" name="The ability to float or sink is decided by comparing densities, not weights."/>
            <p:cNvSpPr txBox="1"/>
            <p:nvPr/>
          </p:nvSpPr>
          <p:spPr>
            <a:xfrm>
              <a:off x="36901" y="183879"/>
              <a:ext cx="10398821" cy="2723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523" tIns="1523" rIns="1523" bIns="1523" numCol="1" anchor="ctr">
              <a:spAutoFit/>
            </a:bodyPr>
            <a:lstStyle/>
            <a:p>
              <a:pPr algn="ctr">
                <a:lnSpc>
                  <a:spcPts val="2200"/>
                </a:lnSpc>
                <a:defRPr b="1" sz="1700">
                  <a:solidFill>
                    <a:srgbClr val="FF8952"/>
                  </a:solidFill>
                  <a:latin typeface="Arial"/>
                  <a:ea typeface="Arial"/>
                  <a:cs typeface="Arial"/>
                  <a:sym typeface="Arial"/>
                </a:defRPr>
              </a:pPr>
              <a:r>
                <a:t>The ability to float or sink is decided by comparing </a:t>
              </a:r>
              <a:r>
                <a:rPr u="sng"/>
                <a:t>densities</a:t>
              </a:r>
              <a:r>
                <a:t>, not weights.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94" grpId="5"/>
      <p:bldP build="whole" bldLvl="1" animBg="1" rev="0" advAuto="0" spid="81" grpId="2"/>
      <p:bldP build="whole" bldLvl="1" animBg="1" rev="0" advAuto="0" spid="91" grpId="4"/>
      <p:bldP build="whole" bldLvl="1" animBg="1" rev="0" advAuto="0" spid="86" grpId="3"/>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1003039"/>
            <a:ext cx="9055304" cy="755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0B3D4C"/>
                </a:solidFill>
                <a:latin typeface="Georgia"/>
                <a:ea typeface="Georgia"/>
                <a:cs typeface="Georgia"/>
                <a:sym typeface="Georgia"/>
              </a:defRPr>
            </a:lvl1pPr>
          </a:lstStyle>
          <a:p>
            <a:pPr/>
            <a:r>
              <a:t>Almost every solid sinks in its own liquid. Ice floats on water. Why?</a:t>
            </a:r>
          </a:p>
        </p:txBody>
      </p:sp>
      <p:pic>
        <p:nvPicPr>
          <p:cNvPr id="103" name="hook_ice" descr="hook_ice"/>
          <p:cNvPicPr>
            <a:picLocks noChangeAspect="1"/>
          </p:cNvPicPr>
          <p:nvPr/>
        </p:nvPicPr>
        <p:blipFill>
          <a:blip r:embed="rId6">
            <a:extLst/>
          </a:blip>
          <a:stretch>
            <a:fillRect/>
          </a:stretch>
        </p:blipFill>
        <p:spPr>
          <a:xfrm>
            <a:off x="10362895" y="822960"/>
            <a:ext cx="1188721" cy="1188721"/>
          </a:xfrm>
          <a:prstGeom prst="rect">
            <a:avLst/>
          </a:prstGeom>
          <a:ln w="12700">
            <a:miter lim="400000"/>
          </a:ln>
        </p:spPr>
      </p:pic>
      <p:grpSp>
        <p:nvGrpSpPr>
          <p:cNvPr id="107" name="h0"/>
          <p:cNvGrpSpPr/>
          <p:nvPr/>
        </p:nvGrpSpPr>
        <p:grpSpPr>
          <a:xfrm>
            <a:off x="1170432" y="2487167"/>
            <a:ext cx="3307994" cy="1828801"/>
            <a:chOff x="0" y="0"/>
            <a:chExt cx="3307993" cy="1828800"/>
          </a:xfrm>
        </p:grpSpPr>
        <p:sp>
          <p:nvSpPr>
            <p:cNvPr id="104" name="h0_bg"/>
            <p:cNvSpPr/>
            <p:nvPr/>
          </p:nvSpPr>
          <p:spPr>
            <a:xfrm>
              <a:off x="0" y="0"/>
              <a:ext cx="3307994" cy="1828800"/>
            </a:xfrm>
            <a:prstGeom prst="roundRect">
              <a:avLst>
                <a:gd name="adj" fmla="val 5000"/>
              </a:avLst>
            </a:prstGeom>
            <a:solidFill>
              <a:srgbClr val="FFFFFF"/>
            </a:solidFill>
            <a:ln w="16510" cap="flat">
              <a:solidFill>
                <a:srgbClr val="D7E8EA"/>
              </a:solidFill>
              <a:prstDash val="solid"/>
              <a:round/>
            </a:ln>
            <a:effectLst/>
          </p:spPr>
          <p:txBody>
            <a:bodyPr wrap="square" lIns="45719" tIns="45719" rIns="45719" bIns="45719" numCol="1" anchor="t">
              <a:noAutofit/>
            </a:bodyPr>
            <a:lstStyle/>
            <a:p>
              <a:pPr/>
            </a:p>
          </p:txBody>
        </p:sp>
        <p:sp>
          <p:nvSpPr>
            <p:cNvPr id="105" name="h0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D63447"/>
                  </a:solidFill>
                  <a:latin typeface="Georgia"/>
                  <a:ea typeface="Georgia"/>
                  <a:cs typeface="Georgia"/>
                  <a:sym typeface="Georgia"/>
                </a:defRPr>
              </a:lvl1pPr>
            </a:lstStyle>
            <a:p>
              <a:pPr/>
              <a:r>
                <a:t>A</a:t>
              </a:r>
            </a:p>
          </p:txBody>
        </p:sp>
        <p:sp>
          <p:nvSpPr>
            <p:cNvPr id="106" name="h0_t"/>
            <p:cNvSpPr txBox="1"/>
            <p:nvPr/>
          </p:nvSpPr>
          <p:spPr>
            <a:xfrm>
              <a:off x="256032" y="676655"/>
              <a:ext cx="2795930" cy="5246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0B3D4C"/>
                  </a:solidFill>
                  <a:latin typeface="Georgia"/>
                  <a:ea typeface="Georgia"/>
                  <a:cs typeface="Georgia"/>
                  <a:sym typeface="Georgia"/>
                </a:defRPr>
              </a:lvl1pPr>
            </a:lstStyle>
            <a:p>
              <a:pPr/>
              <a:r>
                <a:t>Ice weighs less than the water around it.</a:t>
              </a:r>
            </a:p>
          </p:txBody>
        </p:sp>
      </p:grpSp>
      <p:grpSp>
        <p:nvGrpSpPr>
          <p:cNvPr id="111" name="h1"/>
          <p:cNvGrpSpPr/>
          <p:nvPr/>
        </p:nvGrpSpPr>
        <p:grpSpPr>
          <a:xfrm>
            <a:off x="4752745" y="2487167"/>
            <a:ext cx="3307995" cy="1828801"/>
            <a:chOff x="0" y="0"/>
            <a:chExt cx="3307993" cy="1828800"/>
          </a:xfrm>
        </p:grpSpPr>
        <p:sp>
          <p:nvSpPr>
            <p:cNvPr id="108" name="h1_bg"/>
            <p:cNvSpPr/>
            <p:nvPr/>
          </p:nvSpPr>
          <p:spPr>
            <a:xfrm>
              <a:off x="0" y="0"/>
              <a:ext cx="3307994" cy="1828800"/>
            </a:xfrm>
            <a:prstGeom prst="roundRect">
              <a:avLst>
                <a:gd name="adj" fmla="val 5000"/>
              </a:avLst>
            </a:prstGeom>
            <a:solidFill>
              <a:srgbClr val="FFFFFF"/>
            </a:solidFill>
            <a:ln w="16510" cap="flat">
              <a:solidFill>
                <a:srgbClr val="D7E8EA"/>
              </a:solidFill>
              <a:prstDash val="solid"/>
              <a:round/>
            </a:ln>
            <a:effectLst/>
          </p:spPr>
          <p:txBody>
            <a:bodyPr wrap="square" lIns="45719" tIns="45719" rIns="45719" bIns="45719" numCol="1" anchor="t">
              <a:noAutofit/>
            </a:bodyPr>
            <a:lstStyle/>
            <a:p>
              <a:pPr/>
            </a:p>
          </p:txBody>
        </p:sp>
        <p:sp>
          <p:nvSpPr>
            <p:cNvPr id="109" name="h1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D63447"/>
                  </a:solidFill>
                  <a:latin typeface="Georgia"/>
                  <a:ea typeface="Georgia"/>
                  <a:cs typeface="Georgia"/>
                  <a:sym typeface="Georgia"/>
                </a:defRPr>
              </a:lvl1pPr>
            </a:lstStyle>
            <a:p>
              <a:pPr/>
              <a:r>
                <a:t>B</a:t>
              </a:r>
            </a:p>
          </p:txBody>
        </p:sp>
        <p:sp>
          <p:nvSpPr>
            <p:cNvPr id="110" name="h1_t"/>
            <p:cNvSpPr txBox="1"/>
            <p:nvPr/>
          </p:nvSpPr>
          <p:spPr>
            <a:xfrm>
              <a:off x="256032" y="676655"/>
              <a:ext cx="2795930" cy="5246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0B3D4C"/>
                  </a:solidFill>
                  <a:latin typeface="Georgia"/>
                  <a:ea typeface="Georgia"/>
                  <a:cs typeface="Georgia"/>
                  <a:sym typeface="Georgia"/>
                </a:defRPr>
              </a:lvl1pPr>
            </a:lstStyle>
            <a:p>
              <a:pPr/>
              <a:r>
                <a:t>Ice has a lower density than liquid water.</a:t>
              </a:r>
            </a:p>
          </p:txBody>
        </p:sp>
      </p:grpSp>
      <p:grpSp>
        <p:nvGrpSpPr>
          <p:cNvPr id="115" name="h2"/>
          <p:cNvGrpSpPr/>
          <p:nvPr/>
        </p:nvGrpSpPr>
        <p:grpSpPr>
          <a:xfrm>
            <a:off x="8335061" y="2487167"/>
            <a:ext cx="3307994" cy="1828801"/>
            <a:chOff x="0" y="0"/>
            <a:chExt cx="3307993" cy="1828800"/>
          </a:xfrm>
        </p:grpSpPr>
        <p:sp>
          <p:nvSpPr>
            <p:cNvPr id="112" name="h2_bg"/>
            <p:cNvSpPr/>
            <p:nvPr/>
          </p:nvSpPr>
          <p:spPr>
            <a:xfrm>
              <a:off x="0" y="0"/>
              <a:ext cx="3307994" cy="1828800"/>
            </a:xfrm>
            <a:prstGeom prst="roundRect">
              <a:avLst>
                <a:gd name="adj" fmla="val 5000"/>
              </a:avLst>
            </a:prstGeom>
            <a:solidFill>
              <a:srgbClr val="FFFFFF"/>
            </a:solidFill>
            <a:ln w="16510" cap="flat">
              <a:solidFill>
                <a:srgbClr val="D7E8EA"/>
              </a:solidFill>
              <a:prstDash val="solid"/>
              <a:round/>
            </a:ln>
            <a:effectLst/>
          </p:spPr>
          <p:txBody>
            <a:bodyPr wrap="square" lIns="45719" tIns="45719" rIns="45719" bIns="45719" numCol="1" anchor="t">
              <a:noAutofit/>
            </a:bodyPr>
            <a:lstStyle/>
            <a:p>
              <a:pPr/>
            </a:p>
          </p:txBody>
        </p:sp>
        <p:sp>
          <p:nvSpPr>
            <p:cNvPr id="113" name="h2_k"/>
            <p:cNvSpPr txBox="1"/>
            <p:nvPr/>
          </p:nvSpPr>
          <p:spPr>
            <a:xfrm>
              <a:off x="256032" y="239267"/>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D63447"/>
                  </a:solidFill>
                  <a:latin typeface="Georgia"/>
                  <a:ea typeface="Georgia"/>
                  <a:cs typeface="Georgia"/>
                  <a:sym typeface="Georgia"/>
                </a:defRPr>
              </a:lvl1pPr>
            </a:lstStyle>
            <a:p>
              <a:pPr/>
              <a:r>
                <a:t>C</a:t>
              </a:r>
            </a:p>
          </p:txBody>
        </p:sp>
        <p:sp>
          <p:nvSpPr>
            <p:cNvPr id="114" name="h2_t"/>
            <p:cNvSpPr txBox="1"/>
            <p:nvPr/>
          </p:nvSpPr>
          <p:spPr>
            <a:xfrm>
              <a:off x="256032" y="676655"/>
              <a:ext cx="2795930" cy="52461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100"/>
                </a:lnSpc>
                <a:defRPr b="1" sz="1600">
                  <a:solidFill>
                    <a:srgbClr val="0B3D4C"/>
                  </a:solidFill>
                  <a:latin typeface="Georgia"/>
                  <a:ea typeface="Georgia"/>
                  <a:cs typeface="Georgia"/>
                  <a:sym typeface="Georgia"/>
                </a:defRPr>
              </a:lvl1pPr>
            </a:lstStyle>
            <a:p>
              <a:pPr/>
              <a:r>
                <a:t>Ice contains trapped air bubbles.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7"/>
                                        </p:tgtEl>
                                        <p:attrNameLst>
                                          <p:attrName>style.visibility</p:attrName>
                                        </p:attrNameLst>
                                      </p:cBhvr>
                                      <p:to>
                                        <p:strVal val="visible"/>
                                      </p:to>
                                    </p:set>
                                    <p:animEffect filter="fade" transition="in">
                                      <p:cBhvr>
                                        <p:cTn id="11" dur="400"/>
                                        <p:tgtEl>
                                          <p:spTgt spid="107"/>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1"/>
                                        </p:tgtEl>
                                        <p:attrNameLst>
                                          <p:attrName>style.visibility</p:attrName>
                                        </p:attrNameLst>
                                      </p:cBhvr>
                                      <p:to>
                                        <p:strVal val="visible"/>
                                      </p:to>
                                    </p:set>
                                    <p:animEffect filter="fade" transition="in">
                                      <p:cBhvr>
                                        <p:cTn id="15" dur="400"/>
                                        <p:tgtEl>
                                          <p:spTgt spid="111"/>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5"/>
                                        </p:tgtEl>
                                        <p:attrNameLst>
                                          <p:attrName>style.visibility</p:attrName>
                                        </p:attrNameLst>
                                      </p:cBhvr>
                                      <p:to>
                                        <p:strVal val="visible"/>
                                      </p:to>
                                    </p:set>
                                    <p:animEffect filter="fade" transition="in">
                                      <p:cBhvr>
                                        <p:cTn id="19" dur="4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07" grpId="2"/>
      <p:bldP build="whole" bldLvl="1" animBg="1" rev="0" advAuto="0" spid="111" grpId="3"/>
      <p:bldP build="whole" bldLvl="1" animBg="1" rev="0" advAuto="0" spid="115" grpId="4"/>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11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2" name="phase_pill"/>
          <p:cNvGrpSpPr/>
          <p:nvPr/>
        </p:nvGrpSpPr>
        <p:grpSpPr>
          <a:xfrm>
            <a:off x="1170432" y="310895"/>
            <a:ext cx="1623975" cy="329185"/>
            <a:chOff x="0" y="0"/>
            <a:chExt cx="1623974" cy="329184"/>
          </a:xfrm>
        </p:grpSpPr>
        <p:sp>
          <p:nvSpPr>
            <p:cNvPr id="120" name="Rounded Rectangle"/>
            <p:cNvSpPr/>
            <p:nvPr/>
          </p:nvSpPr>
          <p:spPr>
            <a:xfrm>
              <a:off x="0" y="0"/>
              <a:ext cx="1623975"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121"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3"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B3D4C"/>
                </a:solidFill>
                <a:latin typeface="Georgia"/>
                <a:ea typeface="Georgia"/>
                <a:cs typeface="Georgia"/>
                <a:sym typeface="Georgia"/>
              </a:defRPr>
            </a:lvl1pPr>
          </a:lstStyle>
          <a:p>
            <a:pPr/>
            <a:r>
              <a:t>Compare the densities</a:t>
            </a:r>
          </a:p>
        </p:txBody>
      </p:sp>
      <p:grpSp>
        <p:nvGrpSpPr>
          <p:cNvPr id="126" name="def"/>
          <p:cNvGrpSpPr/>
          <p:nvPr/>
        </p:nvGrpSpPr>
        <p:grpSpPr>
          <a:xfrm>
            <a:off x="1170432" y="1920239"/>
            <a:ext cx="10472623" cy="914401"/>
            <a:chOff x="0" y="0"/>
            <a:chExt cx="10472622" cy="914400"/>
          </a:xfrm>
        </p:grpSpPr>
        <p:sp>
          <p:nvSpPr>
            <p:cNvPr id="124" name="def_bg"/>
            <p:cNvSpPr/>
            <p:nvPr/>
          </p:nvSpPr>
          <p:spPr>
            <a:xfrm>
              <a:off x="0" y="0"/>
              <a:ext cx="10472623" cy="914400"/>
            </a:xfrm>
            <a:prstGeom prst="roundRect">
              <a:avLst>
                <a:gd name="adj" fmla="val 10000"/>
              </a:avLst>
            </a:prstGeom>
            <a:solidFill>
              <a:srgbClr val="FFFFFF"/>
            </a:solidFill>
            <a:ln w="16510" cap="flat">
              <a:solidFill>
                <a:srgbClr val="D7E8EA"/>
              </a:solidFill>
              <a:prstDash val="solid"/>
              <a:round/>
            </a:ln>
            <a:effectLst/>
          </p:spPr>
          <p:txBody>
            <a:bodyPr wrap="square" lIns="45719" tIns="45719" rIns="45719" bIns="45719" numCol="1" anchor="t">
              <a:noAutofit/>
            </a:bodyPr>
            <a:lstStyle/>
            <a:p>
              <a:pPr/>
            </a:p>
          </p:txBody>
        </p:sp>
        <p:sp>
          <p:nvSpPr>
            <p:cNvPr id="125" name="def_t"/>
            <p:cNvSpPr txBox="1"/>
            <p:nvPr/>
          </p:nvSpPr>
          <p:spPr>
            <a:xfrm>
              <a:off x="274319" y="328989"/>
              <a:ext cx="9923984" cy="25642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2100"/>
                </a:lnSpc>
                <a:defRPr sz="1600">
                  <a:solidFill>
                    <a:srgbClr val="0C2730"/>
                  </a:solidFill>
                  <a:latin typeface="Arial"/>
                  <a:ea typeface="Arial"/>
                  <a:cs typeface="Arial"/>
                  <a:sym typeface="Arial"/>
                </a:defRPr>
              </a:pPr>
              <a:r>
                <a:t>An object floats if its density is </a:t>
              </a:r>
              <a:r>
                <a:rPr b="1">
                  <a:solidFill>
                    <a:srgbClr val="C25A29"/>
                  </a:solidFill>
                </a:rPr>
                <a:t>lower</a:t>
              </a:r>
              <a:r>
                <a:t> than the liquid's. It sinks if its density is </a:t>
              </a:r>
              <a:r>
                <a:rPr b="1">
                  <a:solidFill>
                    <a:srgbClr val="C25A29"/>
                  </a:solidFill>
                </a:rPr>
                <a:t>higher</a:t>
              </a:r>
              <a:r>
                <a:t>.</a:t>
              </a:r>
            </a:p>
          </p:txBody>
        </p:sp>
      </p:grpSp>
      <p:grpSp>
        <p:nvGrpSpPr>
          <p:cNvPr id="152" name="fsrow"/>
          <p:cNvGrpSpPr/>
          <p:nvPr/>
        </p:nvGrpSpPr>
        <p:grpSpPr>
          <a:xfrm>
            <a:off x="1170431" y="3054095"/>
            <a:ext cx="10472625" cy="1906065"/>
            <a:chOff x="0" y="0"/>
            <a:chExt cx="10472623" cy="1906063"/>
          </a:xfrm>
        </p:grpSpPr>
        <p:sp>
          <p:nvSpPr>
            <p:cNvPr id="127" name="fs0_bg"/>
            <p:cNvSpPr/>
            <p:nvPr/>
          </p:nvSpPr>
          <p:spPr>
            <a:xfrm>
              <a:off x="0" y="0"/>
              <a:ext cx="2508429" cy="1517905"/>
            </a:xfrm>
            <a:prstGeom prst="roundRect">
              <a:avLst>
                <a:gd name="adj" fmla="val 6024"/>
              </a:avLst>
            </a:prstGeom>
            <a:solidFill>
              <a:srgbClr val="FFFFFF"/>
            </a:solidFill>
            <a:ln w="16510" cap="flat">
              <a:solidFill>
                <a:srgbClr val="D7E8EA"/>
              </a:solidFill>
              <a:prstDash val="solid"/>
              <a:round/>
            </a:ln>
            <a:effectLst/>
          </p:spPr>
          <p:txBody>
            <a:bodyPr wrap="square" lIns="45719" tIns="45719" rIns="45719" bIns="45719" numCol="1" anchor="t">
              <a:noAutofit/>
            </a:bodyPr>
            <a:lstStyle/>
            <a:p>
              <a:pPr/>
            </a:p>
          </p:txBody>
        </p:sp>
        <p:sp>
          <p:nvSpPr>
            <p:cNvPr id="128" name="fs0_n"/>
            <p:cNvSpPr txBox="1"/>
            <p:nvPr/>
          </p:nvSpPr>
          <p:spPr>
            <a:xfrm>
              <a:off x="146304" y="184658"/>
              <a:ext cx="2215821"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0B3D4C"/>
                  </a:solidFill>
                  <a:latin typeface="Georgia"/>
                  <a:ea typeface="Georgia"/>
                  <a:cs typeface="Georgia"/>
                  <a:sym typeface="Georgia"/>
                </a:defRPr>
              </a:lvl1pPr>
            </a:lstStyle>
            <a:p>
              <a:pPr/>
              <a:r>
                <a:t>Cork</a:t>
              </a:r>
            </a:p>
          </p:txBody>
        </p:sp>
        <p:sp>
          <p:nvSpPr>
            <p:cNvPr id="129" name="fs0_d"/>
            <p:cNvSpPr txBox="1"/>
            <p:nvPr/>
          </p:nvSpPr>
          <p:spPr>
            <a:xfrm>
              <a:off x="146304" y="553672"/>
              <a:ext cx="221582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E6D74"/>
                  </a:solidFill>
                  <a:latin typeface="Arial"/>
                  <a:ea typeface="Arial"/>
                  <a:cs typeface="Arial"/>
                  <a:sym typeface="Arial"/>
                </a:defRPr>
              </a:lvl1pPr>
            </a:lstStyle>
            <a:p>
              <a:pPr/>
              <a:r>
                <a:t>0.25 g/cm³</a:t>
              </a:r>
            </a:p>
          </p:txBody>
        </p:sp>
        <p:grpSp>
          <p:nvGrpSpPr>
            <p:cNvPr id="132" name="fs0_v"/>
            <p:cNvGrpSpPr/>
            <p:nvPr/>
          </p:nvGrpSpPr>
          <p:grpSpPr>
            <a:xfrm>
              <a:off x="146304" y="932688"/>
              <a:ext cx="2215821" cy="438913"/>
              <a:chOff x="0" y="0"/>
              <a:chExt cx="2215819" cy="438912"/>
            </a:xfrm>
          </p:grpSpPr>
          <p:sp>
            <p:nvSpPr>
              <p:cNvPr id="130" name="Rounded Rectangle"/>
              <p:cNvSpPr/>
              <p:nvPr/>
            </p:nvSpPr>
            <p:spPr>
              <a:xfrm>
                <a:off x="0" y="0"/>
                <a:ext cx="2215820" cy="438913"/>
              </a:xfrm>
              <a:prstGeom prst="roundRect">
                <a:avLst>
                  <a:gd name="adj" fmla="val 16667"/>
                </a:avLst>
              </a:prstGeom>
              <a:solidFill>
                <a:srgbClr val="D7E8EA"/>
              </a:solidFill>
              <a:ln w="16510" cap="flat">
                <a:solidFill>
                  <a:srgbClr val="1FA37A"/>
                </a:solidFill>
                <a:prstDash val="solid"/>
                <a:round/>
              </a:ln>
              <a:effectLst/>
            </p:spPr>
            <p:txBody>
              <a:bodyPr wrap="square" lIns="45719" tIns="45719" rIns="45719" bIns="45719" numCol="1" anchor="ctr">
                <a:noAutofit/>
              </a:bodyPr>
              <a:lstStyle/>
              <a:p>
                <a:pPr algn="ctr">
                  <a:defRPr sz="1400"/>
                </a:pPr>
              </a:p>
            </p:txBody>
          </p:sp>
          <p:sp>
            <p:nvSpPr>
              <p:cNvPr id="131" name="Floats"/>
              <p:cNvSpPr txBox="1"/>
              <p:nvPr/>
            </p:nvSpPr>
            <p:spPr>
              <a:xfrm>
                <a:off x="29681" y="117856"/>
                <a:ext cx="215645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B3D4C"/>
                    </a:solidFill>
                    <a:latin typeface="Georgia"/>
                    <a:ea typeface="Georgia"/>
                    <a:cs typeface="Georgia"/>
                    <a:sym typeface="Georgia"/>
                  </a:defRPr>
                </a:lvl1pPr>
              </a:lstStyle>
              <a:p>
                <a:pPr/>
                <a:r>
                  <a:t>Floats</a:t>
                </a:r>
              </a:p>
            </p:txBody>
          </p:sp>
        </p:grpSp>
        <p:sp>
          <p:nvSpPr>
            <p:cNvPr id="133" name="fs1_bg"/>
            <p:cNvSpPr/>
            <p:nvPr/>
          </p:nvSpPr>
          <p:spPr>
            <a:xfrm>
              <a:off x="2654732" y="0"/>
              <a:ext cx="2508429" cy="1517905"/>
            </a:xfrm>
            <a:prstGeom prst="roundRect">
              <a:avLst>
                <a:gd name="adj" fmla="val 6024"/>
              </a:avLst>
            </a:prstGeom>
            <a:solidFill>
              <a:srgbClr val="FFFFFF"/>
            </a:solidFill>
            <a:ln w="16510" cap="flat">
              <a:solidFill>
                <a:srgbClr val="D7E8EA"/>
              </a:solidFill>
              <a:prstDash val="solid"/>
              <a:round/>
            </a:ln>
            <a:effectLst/>
          </p:spPr>
          <p:txBody>
            <a:bodyPr wrap="square" lIns="45719" tIns="45719" rIns="45719" bIns="45719" numCol="1" anchor="t">
              <a:noAutofit/>
            </a:bodyPr>
            <a:lstStyle/>
            <a:p>
              <a:pPr/>
            </a:p>
          </p:txBody>
        </p:sp>
        <p:sp>
          <p:nvSpPr>
            <p:cNvPr id="134" name="fs1_n"/>
            <p:cNvSpPr txBox="1"/>
            <p:nvPr/>
          </p:nvSpPr>
          <p:spPr>
            <a:xfrm>
              <a:off x="2801036" y="184658"/>
              <a:ext cx="2215821"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0B3D4C"/>
                  </a:solidFill>
                  <a:latin typeface="Georgia"/>
                  <a:ea typeface="Georgia"/>
                  <a:cs typeface="Georgia"/>
                  <a:sym typeface="Georgia"/>
                </a:defRPr>
              </a:lvl1pPr>
            </a:lstStyle>
            <a:p>
              <a:pPr/>
              <a:r>
                <a:t>Oak wood</a:t>
              </a:r>
            </a:p>
          </p:txBody>
        </p:sp>
        <p:sp>
          <p:nvSpPr>
            <p:cNvPr id="135" name="fs1_d"/>
            <p:cNvSpPr txBox="1"/>
            <p:nvPr/>
          </p:nvSpPr>
          <p:spPr>
            <a:xfrm>
              <a:off x="2801036" y="553672"/>
              <a:ext cx="221582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E6D74"/>
                  </a:solidFill>
                  <a:latin typeface="Arial"/>
                  <a:ea typeface="Arial"/>
                  <a:cs typeface="Arial"/>
                  <a:sym typeface="Arial"/>
                </a:defRPr>
              </a:lvl1pPr>
            </a:lstStyle>
            <a:p>
              <a:pPr/>
              <a:r>
                <a:t>0.85 g/cm³</a:t>
              </a:r>
            </a:p>
          </p:txBody>
        </p:sp>
        <p:grpSp>
          <p:nvGrpSpPr>
            <p:cNvPr id="138" name="fs1_v"/>
            <p:cNvGrpSpPr/>
            <p:nvPr/>
          </p:nvGrpSpPr>
          <p:grpSpPr>
            <a:xfrm>
              <a:off x="2801036" y="932688"/>
              <a:ext cx="2215821" cy="438913"/>
              <a:chOff x="0" y="0"/>
              <a:chExt cx="2215819" cy="438912"/>
            </a:xfrm>
          </p:grpSpPr>
          <p:sp>
            <p:nvSpPr>
              <p:cNvPr id="136" name="Rounded Rectangle"/>
              <p:cNvSpPr/>
              <p:nvPr/>
            </p:nvSpPr>
            <p:spPr>
              <a:xfrm>
                <a:off x="0" y="0"/>
                <a:ext cx="2215820" cy="438913"/>
              </a:xfrm>
              <a:prstGeom prst="roundRect">
                <a:avLst>
                  <a:gd name="adj" fmla="val 16667"/>
                </a:avLst>
              </a:prstGeom>
              <a:solidFill>
                <a:srgbClr val="D7E8EA"/>
              </a:solidFill>
              <a:ln w="16510" cap="flat">
                <a:solidFill>
                  <a:srgbClr val="1FA37A"/>
                </a:solidFill>
                <a:prstDash val="solid"/>
                <a:round/>
              </a:ln>
              <a:effectLst/>
            </p:spPr>
            <p:txBody>
              <a:bodyPr wrap="square" lIns="45719" tIns="45719" rIns="45719" bIns="45719" numCol="1" anchor="ctr">
                <a:noAutofit/>
              </a:bodyPr>
              <a:lstStyle/>
              <a:p>
                <a:pPr algn="ctr">
                  <a:defRPr sz="1400"/>
                </a:pPr>
              </a:p>
            </p:txBody>
          </p:sp>
          <p:sp>
            <p:nvSpPr>
              <p:cNvPr id="137" name="Floats"/>
              <p:cNvSpPr txBox="1"/>
              <p:nvPr/>
            </p:nvSpPr>
            <p:spPr>
              <a:xfrm>
                <a:off x="29681" y="117856"/>
                <a:ext cx="215645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B3D4C"/>
                    </a:solidFill>
                    <a:latin typeface="Georgia"/>
                    <a:ea typeface="Georgia"/>
                    <a:cs typeface="Georgia"/>
                    <a:sym typeface="Georgia"/>
                  </a:defRPr>
                </a:lvl1pPr>
              </a:lstStyle>
              <a:p>
                <a:pPr/>
                <a:r>
                  <a:t>Floats</a:t>
                </a:r>
              </a:p>
            </p:txBody>
          </p:sp>
        </p:grpSp>
        <p:sp>
          <p:nvSpPr>
            <p:cNvPr id="139" name="fs2_bg"/>
            <p:cNvSpPr/>
            <p:nvPr/>
          </p:nvSpPr>
          <p:spPr>
            <a:xfrm>
              <a:off x="5309464" y="0"/>
              <a:ext cx="2508429" cy="1517905"/>
            </a:xfrm>
            <a:prstGeom prst="roundRect">
              <a:avLst>
                <a:gd name="adj" fmla="val 6024"/>
              </a:avLst>
            </a:prstGeom>
            <a:solidFill>
              <a:srgbClr val="FFFFFF"/>
            </a:solidFill>
            <a:ln w="16510" cap="flat">
              <a:solidFill>
                <a:srgbClr val="D7E8EA"/>
              </a:solidFill>
              <a:prstDash val="solid"/>
              <a:round/>
            </a:ln>
            <a:effectLst/>
          </p:spPr>
          <p:txBody>
            <a:bodyPr wrap="square" lIns="45719" tIns="45719" rIns="45719" bIns="45719" numCol="1" anchor="t">
              <a:noAutofit/>
            </a:bodyPr>
            <a:lstStyle/>
            <a:p>
              <a:pPr/>
            </a:p>
          </p:txBody>
        </p:sp>
        <p:sp>
          <p:nvSpPr>
            <p:cNvPr id="140" name="fs2_n"/>
            <p:cNvSpPr txBox="1"/>
            <p:nvPr/>
          </p:nvSpPr>
          <p:spPr>
            <a:xfrm>
              <a:off x="5455768" y="184658"/>
              <a:ext cx="2215821"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0B3D4C"/>
                  </a:solidFill>
                  <a:latin typeface="Georgia"/>
                  <a:ea typeface="Georgia"/>
                  <a:cs typeface="Georgia"/>
                  <a:sym typeface="Georgia"/>
                </a:defRPr>
              </a:lvl1pPr>
            </a:lstStyle>
            <a:p>
              <a:pPr/>
              <a:r>
                <a:t>Aluminium</a:t>
              </a:r>
            </a:p>
          </p:txBody>
        </p:sp>
        <p:sp>
          <p:nvSpPr>
            <p:cNvPr id="141" name="fs2_d"/>
            <p:cNvSpPr txBox="1"/>
            <p:nvPr/>
          </p:nvSpPr>
          <p:spPr>
            <a:xfrm>
              <a:off x="5455768" y="553672"/>
              <a:ext cx="221582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E6D74"/>
                  </a:solidFill>
                  <a:latin typeface="Arial"/>
                  <a:ea typeface="Arial"/>
                  <a:cs typeface="Arial"/>
                  <a:sym typeface="Arial"/>
                </a:defRPr>
              </a:lvl1pPr>
            </a:lstStyle>
            <a:p>
              <a:pPr/>
              <a:r>
                <a:t>2.70 g/cm³</a:t>
              </a:r>
            </a:p>
          </p:txBody>
        </p:sp>
        <p:grpSp>
          <p:nvGrpSpPr>
            <p:cNvPr id="144" name="fs2_v"/>
            <p:cNvGrpSpPr/>
            <p:nvPr/>
          </p:nvGrpSpPr>
          <p:grpSpPr>
            <a:xfrm>
              <a:off x="5455768" y="932688"/>
              <a:ext cx="2215821" cy="438913"/>
              <a:chOff x="0" y="0"/>
              <a:chExt cx="2215819" cy="438912"/>
            </a:xfrm>
          </p:grpSpPr>
          <p:sp>
            <p:nvSpPr>
              <p:cNvPr id="142" name="Rounded Rectangle"/>
              <p:cNvSpPr/>
              <p:nvPr/>
            </p:nvSpPr>
            <p:spPr>
              <a:xfrm>
                <a:off x="0" y="0"/>
                <a:ext cx="2215820" cy="438913"/>
              </a:xfrm>
              <a:prstGeom prst="roundRect">
                <a:avLst>
                  <a:gd name="adj" fmla="val 16667"/>
                </a:avLst>
              </a:prstGeom>
              <a:solidFill>
                <a:srgbClr val="FBE4E4"/>
              </a:solidFill>
              <a:ln w="16510" cap="flat">
                <a:solidFill>
                  <a:srgbClr val="D63447"/>
                </a:solidFill>
                <a:prstDash val="solid"/>
                <a:round/>
              </a:ln>
              <a:effectLst/>
            </p:spPr>
            <p:txBody>
              <a:bodyPr wrap="square" lIns="45719" tIns="45719" rIns="45719" bIns="45719" numCol="1" anchor="ctr">
                <a:noAutofit/>
              </a:bodyPr>
              <a:lstStyle/>
              <a:p>
                <a:pPr algn="ctr">
                  <a:defRPr sz="1400"/>
                </a:pPr>
              </a:p>
            </p:txBody>
          </p:sp>
          <p:sp>
            <p:nvSpPr>
              <p:cNvPr id="143" name="Sinks"/>
              <p:cNvSpPr txBox="1"/>
              <p:nvPr/>
            </p:nvSpPr>
            <p:spPr>
              <a:xfrm>
                <a:off x="29681" y="117856"/>
                <a:ext cx="215645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B3D4C"/>
                    </a:solidFill>
                    <a:latin typeface="Georgia"/>
                    <a:ea typeface="Georgia"/>
                    <a:cs typeface="Georgia"/>
                    <a:sym typeface="Georgia"/>
                  </a:defRPr>
                </a:lvl1pPr>
              </a:lstStyle>
              <a:p>
                <a:pPr/>
                <a:r>
                  <a:t>Sinks</a:t>
                </a:r>
              </a:p>
            </p:txBody>
          </p:sp>
        </p:grpSp>
        <p:sp>
          <p:nvSpPr>
            <p:cNvPr id="145" name="fs3_bg"/>
            <p:cNvSpPr/>
            <p:nvPr/>
          </p:nvSpPr>
          <p:spPr>
            <a:xfrm>
              <a:off x="7964195" y="0"/>
              <a:ext cx="2508429" cy="1517905"/>
            </a:xfrm>
            <a:prstGeom prst="roundRect">
              <a:avLst>
                <a:gd name="adj" fmla="val 6024"/>
              </a:avLst>
            </a:prstGeom>
            <a:solidFill>
              <a:srgbClr val="FFFFFF"/>
            </a:solidFill>
            <a:ln w="16510" cap="flat">
              <a:solidFill>
                <a:srgbClr val="D7E8EA"/>
              </a:solidFill>
              <a:prstDash val="solid"/>
              <a:round/>
            </a:ln>
            <a:effectLst/>
          </p:spPr>
          <p:txBody>
            <a:bodyPr wrap="square" lIns="45719" tIns="45719" rIns="45719" bIns="45719" numCol="1" anchor="t">
              <a:noAutofit/>
            </a:bodyPr>
            <a:lstStyle/>
            <a:p>
              <a:pPr/>
            </a:p>
          </p:txBody>
        </p:sp>
        <p:sp>
          <p:nvSpPr>
            <p:cNvPr id="146" name="fs3_n"/>
            <p:cNvSpPr txBox="1"/>
            <p:nvPr/>
          </p:nvSpPr>
          <p:spPr>
            <a:xfrm>
              <a:off x="8110499" y="184658"/>
              <a:ext cx="2215821" cy="2159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500">
                  <a:solidFill>
                    <a:srgbClr val="0B3D4C"/>
                  </a:solidFill>
                  <a:latin typeface="Georgia"/>
                  <a:ea typeface="Georgia"/>
                  <a:cs typeface="Georgia"/>
                  <a:sym typeface="Georgia"/>
                </a:defRPr>
              </a:lvl1pPr>
            </a:lstStyle>
            <a:p>
              <a:pPr/>
              <a:r>
                <a:t>Steel</a:t>
              </a:r>
            </a:p>
          </p:txBody>
        </p:sp>
        <p:sp>
          <p:nvSpPr>
            <p:cNvPr id="147" name="fs3_d"/>
            <p:cNvSpPr txBox="1"/>
            <p:nvPr/>
          </p:nvSpPr>
          <p:spPr>
            <a:xfrm>
              <a:off x="8110499" y="553672"/>
              <a:ext cx="2215821"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200">
                  <a:solidFill>
                    <a:srgbClr val="4E6D74"/>
                  </a:solidFill>
                  <a:latin typeface="Arial"/>
                  <a:ea typeface="Arial"/>
                  <a:cs typeface="Arial"/>
                  <a:sym typeface="Arial"/>
                </a:defRPr>
              </a:lvl1pPr>
            </a:lstStyle>
            <a:p>
              <a:pPr/>
              <a:r>
                <a:t>7.90 g/cm³</a:t>
              </a:r>
            </a:p>
          </p:txBody>
        </p:sp>
        <p:grpSp>
          <p:nvGrpSpPr>
            <p:cNvPr id="150" name="fs3_v"/>
            <p:cNvGrpSpPr/>
            <p:nvPr/>
          </p:nvGrpSpPr>
          <p:grpSpPr>
            <a:xfrm>
              <a:off x="8110499" y="932688"/>
              <a:ext cx="2215821" cy="438913"/>
              <a:chOff x="0" y="0"/>
              <a:chExt cx="2215819" cy="438912"/>
            </a:xfrm>
          </p:grpSpPr>
          <p:sp>
            <p:nvSpPr>
              <p:cNvPr id="148" name="Rounded Rectangle"/>
              <p:cNvSpPr/>
              <p:nvPr/>
            </p:nvSpPr>
            <p:spPr>
              <a:xfrm>
                <a:off x="0" y="0"/>
                <a:ext cx="2215820" cy="438913"/>
              </a:xfrm>
              <a:prstGeom prst="roundRect">
                <a:avLst>
                  <a:gd name="adj" fmla="val 16667"/>
                </a:avLst>
              </a:prstGeom>
              <a:solidFill>
                <a:srgbClr val="FBE4E4"/>
              </a:solidFill>
              <a:ln w="16510" cap="flat">
                <a:solidFill>
                  <a:srgbClr val="D63447"/>
                </a:solidFill>
                <a:prstDash val="solid"/>
                <a:round/>
              </a:ln>
              <a:effectLst/>
            </p:spPr>
            <p:txBody>
              <a:bodyPr wrap="square" lIns="45719" tIns="45719" rIns="45719" bIns="45719" numCol="1" anchor="ctr">
                <a:noAutofit/>
              </a:bodyPr>
              <a:lstStyle/>
              <a:p>
                <a:pPr algn="ctr">
                  <a:defRPr sz="1400"/>
                </a:pPr>
              </a:p>
            </p:txBody>
          </p:sp>
          <p:sp>
            <p:nvSpPr>
              <p:cNvPr id="149" name="Sinks"/>
              <p:cNvSpPr txBox="1"/>
              <p:nvPr/>
            </p:nvSpPr>
            <p:spPr>
              <a:xfrm>
                <a:off x="29681" y="117856"/>
                <a:ext cx="215645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0B3D4C"/>
                    </a:solidFill>
                    <a:latin typeface="Georgia"/>
                    <a:ea typeface="Georgia"/>
                    <a:cs typeface="Georgia"/>
                    <a:sym typeface="Georgia"/>
                  </a:defRPr>
                </a:lvl1pPr>
              </a:lstStyle>
              <a:p>
                <a:pPr/>
                <a:r>
                  <a:t>Sinks</a:t>
                </a:r>
              </a:p>
            </p:txBody>
          </p:sp>
        </p:grpSp>
        <p:sp>
          <p:nvSpPr>
            <p:cNvPr id="151" name="fs_note"/>
            <p:cNvSpPr txBox="1"/>
            <p:nvPr/>
          </p:nvSpPr>
          <p:spPr>
            <a:xfrm>
              <a:off x="0" y="1733248"/>
              <a:ext cx="10472624" cy="17281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i="1" sz="1200">
                  <a:solidFill>
                    <a:srgbClr val="4E6D74"/>
                  </a:solidFill>
                  <a:latin typeface="Arial"/>
                  <a:ea typeface="Arial"/>
                  <a:cs typeface="Arial"/>
                  <a:sym typeface="Arial"/>
                </a:defRPr>
              </a:lvl1pPr>
            </a:lstStyle>
            <a:p>
              <a:pPr/>
              <a:r>
                <a:t>Water’s density is 1.00 g/cm³ throughout.</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6"/>
                                        </p:tgtEl>
                                        <p:attrNameLst>
                                          <p:attrName>style.visibility</p:attrName>
                                        </p:attrNameLst>
                                      </p:cBhvr>
                                      <p:to>
                                        <p:strVal val="visible"/>
                                      </p:to>
                                    </p:set>
                                    <p:animEffect filter="fade" transition="in">
                                      <p:cBhvr>
                                        <p:cTn id="11" dur="400"/>
                                        <p:tgtEl>
                                          <p:spTgt spid="126"/>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52"/>
                                        </p:tgtEl>
                                        <p:attrNameLst>
                                          <p:attrName>style.visibility</p:attrName>
                                        </p:attrNameLst>
                                      </p:cBhvr>
                                      <p:to>
                                        <p:strVal val="visible"/>
                                      </p:to>
                                    </p:set>
                                    <p:animEffect filter="fade" transition="in">
                                      <p:cBhvr>
                                        <p:cTn id="16" dur="400"/>
                                        <p:tgtEl>
                                          <p:spTgt spid="152"/>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17" fill="hold" display="0">
                  <p:stCondLst>
                    <p:cond delay="indefinite"/>
                  </p:stCondLst>
                </p:cTn>
                <p:tgtEl>
                  <p:spTgt spid="119"/>
                </p:tgtEl>
              </p:cMediaNode>
            </p:video>
            <p:seq concurrent="1" prevAc="none" nextAc="seek">
              <p:cTn id="18" evtFilter="cancelBubble" nodeType="interactiveSeq" restart="whenNotActive" fill="hold">
                <p:stCondLst>
                  <p:cond delay="0" evt="onClick">
                    <p:tgtEl>
                      <p:spTgt spid="119"/>
                    </p:tgtEl>
                  </p:cond>
                </p:stCondLst>
                <p:endSync delay="0" evt="end">
                  <p:rtn val="all"/>
                </p:endSync>
                <p:childTnLst>
                  <p:par>
                    <p:cTn id="19" fill="hold">
                      <p:stCondLst>
                        <p:cond delay="0"/>
                      </p:stCondLst>
                      <p:childTnLst>
                        <p:par>
                          <p:cTn id="20" fill="hold">
                            <p:stCondLst>
                              <p:cond delay="0"/>
                            </p:stCondLst>
                            <p:childTnLst>
                              <p:par>
                                <p:cTn id="21" presetClass="mediacall" nodeType="clickEffect" presetSubtype="0" presetID="2" fill="hold">
                                  <p:stCondLst>
                                    <p:cond delay="0"/>
                                  </p:stCondLst>
                                  <p:childTnLst>
                                    <p:cmd type="call" cmd="togglePause">
                                      <p:cBhvr>
                                        <p:cTn id="22" dur="1" fill="hold"/>
                                        <p:tgtEl>
                                          <p:spTgt spid="119"/>
                                        </p:tgtEl>
                                      </p:cBhvr>
                                    </p:cmd>
                                  </p:childTnLst>
                                </p:cTn>
                              </p:par>
                            </p:childTnLst>
                          </p:cTn>
                        </p:par>
                      </p:childTnLst>
                    </p:cTn>
                  </p:par>
                </p:childTnLst>
              </p:cTn>
              <p:nextCondLst>
                <p:cond delay="0" evt="onClick">
                  <p:tgtEl>
                    <p:spTgt spid="119"/>
                  </p:tgtEl>
                </p:cond>
              </p:nextCondLst>
            </p:seq>
          </p:childTnLst>
        </p:cTn>
      </p:par>
    </p:tnLst>
    <p:bldLst>
      <p:bldP build="whole" bldLvl="1" animBg="1" rev="0" advAuto="0" spid="126" grpId="2"/>
      <p:bldP build="whole" bldLvl="1" animBg="1" rev="0" advAuto="0" spid="152" grpId="3"/>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15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59" name="phase_pill"/>
          <p:cNvGrpSpPr/>
          <p:nvPr/>
        </p:nvGrpSpPr>
        <p:grpSpPr>
          <a:xfrm>
            <a:off x="1170432" y="310895"/>
            <a:ext cx="1623975" cy="329185"/>
            <a:chOff x="0" y="0"/>
            <a:chExt cx="1623974" cy="329184"/>
          </a:xfrm>
        </p:grpSpPr>
        <p:sp>
          <p:nvSpPr>
            <p:cNvPr id="157" name="Rounded Rectangle"/>
            <p:cNvSpPr/>
            <p:nvPr/>
          </p:nvSpPr>
          <p:spPr>
            <a:xfrm>
              <a:off x="0" y="0"/>
              <a:ext cx="1623975"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158"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60"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B3D4C"/>
                </a:solidFill>
                <a:latin typeface="Georgia"/>
                <a:ea typeface="Georgia"/>
                <a:cs typeface="Georgia"/>
                <a:sym typeface="Georgia"/>
              </a:defRPr>
            </a:lvl1pPr>
          </a:lstStyle>
          <a:p>
            <a:pPr/>
            <a:r>
              <a:t>Why ice floats on water</a:t>
            </a:r>
          </a:p>
        </p:txBody>
      </p:sp>
      <p:sp>
        <p:nvSpPr>
          <p:cNvPr id="161" name="iw_bg"/>
          <p:cNvSpPr/>
          <p:nvPr/>
        </p:nvSpPr>
        <p:spPr>
          <a:xfrm>
            <a:off x="1170432" y="1920239"/>
            <a:ext cx="5099152" cy="2651761"/>
          </a:xfrm>
          <a:prstGeom prst="roundRect">
            <a:avLst>
              <a:gd name="adj" fmla="val 3448"/>
            </a:avLst>
          </a:prstGeom>
          <a:solidFill>
            <a:srgbClr val="FFFFFF"/>
          </a:solidFill>
          <a:ln w="16510">
            <a:solidFill>
              <a:srgbClr val="D7E8EA"/>
            </a:solidFill>
          </a:ln>
        </p:spPr>
        <p:txBody>
          <a:bodyPr lIns="45719" rIns="45719"/>
          <a:lstStyle/>
          <a:p>
            <a:pPr/>
          </a:p>
        </p:txBody>
      </p:sp>
      <p:pic>
        <p:nvPicPr>
          <p:cNvPr id="162" name="iw_icon" descr="iw_icon"/>
          <p:cNvPicPr>
            <a:picLocks noChangeAspect="1"/>
          </p:cNvPicPr>
          <p:nvPr/>
        </p:nvPicPr>
        <p:blipFill>
          <a:blip r:embed="rId6">
            <a:extLst/>
          </a:blip>
          <a:stretch>
            <a:fillRect/>
          </a:stretch>
        </p:blipFill>
        <p:spPr>
          <a:xfrm>
            <a:off x="5666080" y="2084832"/>
            <a:ext cx="420625" cy="420625"/>
          </a:xfrm>
          <a:prstGeom prst="rect">
            <a:avLst/>
          </a:prstGeom>
          <a:ln w="12700">
            <a:miter lim="400000"/>
          </a:ln>
        </p:spPr>
      </p:pic>
      <p:sp>
        <p:nvSpPr>
          <p:cNvPr id="163" name="iw_h"/>
          <p:cNvSpPr txBox="1"/>
          <p:nvPr/>
        </p:nvSpPr>
        <p:spPr>
          <a:xfrm>
            <a:off x="1408175" y="2129536"/>
            <a:ext cx="4312770"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400">
                <a:solidFill>
                  <a:srgbClr val="0B3D4C"/>
                </a:solidFill>
                <a:latin typeface="Georgia"/>
                <a:ea typeface="Georgia"/>
                <a:cs typeface="Georgia"/>
                <a:sym typeface="Georgia"/>
              </a:defRPr>
            </a:lvl1pPr>
          </a:lstStyle>
          <a:p>
            <a:pPr/>
            <a:r>
              <a:t>THE NUMBERS</a:t>
            </a:r>
          </a:p>
        </p:txBody>
      </p:sp>
      <p:grpSp>
        <p:nvGrpSpPr>
          <p:cNvPr id="167" name="bar0"/>
          <p:cNvGrpSpPr/>
          <p:nvPr/>
        </p:nvGrpSpPr>
        <p:grpSpPr>
          <a:xfrm>
            <a:off x="1408175" y="2492200"/>
            <a:ext cx="4623665" cy="525321"/>
            <a:chOff x="0" y="0"/>
            <a:chExt cx="4623663" cy="525319"/>
          </a:xfrm>
        </p:grpSpPr>
        <p:sp>
          <p:nvSpPr>
            <p:cNvPr id="164" name="iw_water_l"/>
            <p:cNvSpPr txBox="1"/>
            <p:nvPr/>
          </p:nvSpPr>
          <p:spPr>
            <a:xfrm>
              <a:off x="0" y="0"/>
              <a:ext cx="4623664"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0C2730"/>
                  </a:solidFill>
                  <a:latin typeface="Arial"/>
                  <a:ea typeface="Arial"/>
                  <a:cs typeface="Arial"/>
                  <a:sym typeface="Arial"/>
                </a:defRPr>
              </a:lvl1pPr>
            </a:lstStyle>
            <a:p>
              <a:pPr/>
              <a:r>
                <a:t>Water  1.00 g/cm³</a:t>
              </a:r>
            </a:p>
          </p:txBody>
        </p:sp>
        <p:sp>
          <p:nvSpPr>
            <p:cNvPr id="165" name="iw_water_track"/>
            <p:cNvSpPr/>
            <p:nvPr/>
          </p:nvSpPr>
          <p:spPr>
            <a:xfrm>
              <a:off x="0" y="250999"/>
              <a:ext cx="4623664" cy="274321"/>
            </a:xfrm>
            <a:prstGeom prst="roundRect">
              <a:avLst>
                <a:gd name="adj" fmla="val 20000"/>
              </a:avLst>
            </a:prstGeom>
            <a:solidFill>
              <a:srgbClr val="D7E8EA"/>
            </a:solidFill>
            <a:ln w="12700" cap="flat">
              <a:solidFill>
                <a:srgbClr val="D7E8EA"/>
              </a:solidFill>
              <a:prstDash val="solid"/>
              <a:round/>
            </a:ln>
            <a:effectLst/>
          </p:spPr>
          <p:txBody>
            <a:bodyPr wrap="square" lIns="45719" tIns="45719" rIns="45719" bIns="45719" numCol="1" anchor="t">
              <a:noAutofit/>
            </a:bodyPr>
            <a:lstStyle/>
            <a:p>
              <a:pPr/>
            </a:p>
          </p:txBody>
        </p:sp>
        <p:sp>
          <p:nvSpPr>
            <p:cNvPr id="166" name="iw_water_fill"/>
            <p:cNvSpPr/>
            <p:nvPr/>
          </p:nvSpPr>
          <p:spPr>
            <a:xfrm>
              <a:off x="0" y="250999"/>
              <a:ext cx="4623664" cy="274321"/>
            </a:xfrm>
            <a:prstGeom prst="roundRect">
              <a:avLst>
                <a:gd name="adj" fmla="val 20000"/>
              </a:avLst>
            </a:prstGeom>
            <a:solidFill>
              <a:srgbClr val="1FA37A"/>
            </a:solidFill>
            <a:ln w="12700" cap="flat">
              <a:solidFill>
                <a:srgbClr val="1FA37A"/>
              </a:solidFill>
              <a:prstDash val="solid"/>
              <a:round/>
            </a:ln>
            <a:effectLst/>
          </p:spPr>
          <p:txBody>
            <a:bodyPr wrap="square" lIns="45719" tIns="45719" rIns="45719" bIns="45719" numCol="1" anchor="t">
              <a:noAutofit/>
            </a:bodyPr>
            <a:lstStyle/>
            <a:p>
              <a:pPr/>
            </a:p>
          </p:txBody>
        </p:sp>
      </p:grpSp>
      <p:grpSp>
        <p:nvGrpSpPr>
          <p:cNvPr id="172" name="bar1"/>
          <p:cNvGrpSpPr/>
          <p:nvPr/>
        </p:nvGrpSpPr>
        <p:grpSpPr>
          <a:xfrm>
            <a:off x="1408175" y="3132280"/>
            <a:ext cx="4623665" cy="1101684"/>
            <a:chOff x="0" y="0"/>
            <a:chExt cx="4623663" cy="1101682"/>
          </a:xfrm>
        </p:grpSpPr>
        <p:sp>
          <p:nvSpPr>
            <p:cNvPr id="168" name="iw_ice_l"/>
            <p:cNvSpPr txBox="1"/>
            <p:nvPr/>
          </p:nvSpPr>
          <p:spPr>
            <a:xfrm>
              <a:off x="0" y="0"/>
              <a:ext cx="4623664" cy="172815"/>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200">
                  <a:solidFill>
                    <a:srgbClr val="0C2730"/>
                  </a:solidFill>
                  <a:latin typeface="Arial"/>
                  <a:ea typeface="Arial"/>
                  <a:cs typeface="Arial"/>
                  <a:sym typeface="Arial"/>
                </a:defRPr>
              </a:lvl1pPr>
            </a:lstStyle>
            <a:p>
              <a:pPr/>
              <a:r>
                <a:t>Ice  0.92 g/cm³</a:t>
              </a:r>
            </a:p>
          </p:txBody>
        </p:sp>
        <p:sp>
          <p:nvSpPr>
            <p:cNvPr id="169" name="iw_ice_track"/>
            <p:cNvSpPr/>
            <p:nvPr/>
          </p:nvSpPr>
          <p:spPr>
            <a:xfrm>
              <a:off x="0" y="250999"/>
              <a:ext cx="4623664" cy="274321"/>
            </a:xfrm>
            <a:prstGeom prst="roundRect">
              <a:avLst>
                <a:gd name="adj" fmla="val 20000"/>
              </a:avLst>
            </a:prstGeom>
            <a:solidFill>
              <a:srgbClr val="D7E8EA"/>
            </a:solidFill>
            <a:ln w="12700" cap="flat">
              <a:solidFill>
                <a:srgbClr val="D7E8EA"/>
              </a:solidFill>
              <a:prstDash val="solid"/>
              <a:round/>
            </a:ln>
            <a:effectLst/>
          </p:spPr>
          <p:txBody>
            <a:bodyPr wrap="square" lIns="45719" tIns="45719" rIns="45719" bIns="45719" numCol="1" anchor="t">
              <a:noAutofit/>
            </a:bodyPr>
            <a:lstStyle/>
            <a:p>
              <a:pPr/>
            </a:p>
          </p:txBody>
        </p:sp>
        <p:sp>
          <p:nvSpPr>
            <p:cNvPr id="170" name="iw_ice_fill"/>
            <p:cNvSpPr/>
            <p:nvPr/>
          </p:nvSpPr>
          <p:spPr>
            <a:xfrm>
              <a:off x="0" y="250999"/>
              <a:ext cx="4253771" cy="274321"/>
            </a:xfrm>
            <a:prstGeom prst="roundRect">
              <a:avLst>
                <a:gd name="adj" fmla="val 20000"/>
              </a:avLst>
            </a:prstGeom>
            <a:solidFill>
              <a:srgbClr val="FF8952"/>
            </a:solidFill>
            <a:ln w="12700" cap="flat">
              <a:solidFill>
                <a:srgbClr val="FF8952"/>
              </a:solidFill>
              <a:prstDash val="solid"/>
              <a:round/>
            </a:ln>
            <a:effectLst/>
          </p:spPr>
          <p:txBody>
            <a:bodyPr wrap="square" lIns="45719" tIns="45719" rIns="45719" bIns="45719" numCol="1" anchor="t">
              <a:noAutofit/>
            </a:bodyPr>
            <a:lstStyle/>
            <a:p>
              <a:pPr/>
            </a:p>
          </p:txBody>
        </p:sp>
        <p:sp>
          <p:nvSpPr>
            <p:cNvPr id="171" name="iw_fact"/>
            <p:cNvSpPr txBox="1"/>
            <p:nvPr/>
          </p:nvSpPr>
          <p:spPr>
            <a:xfrm>
              <a:off x="0" y="726487"/>
              <a:ext cx="4623664" cy="3751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500"/>
                </a:lnSpc>
                <a:defRPr sz="1200">
                  <a:solidFill>
                    <a:srgbClr val="4E6D74"/>
                  </a:solidFill>
                  <a:latin typeface="Arial"/>
                  <a:ea typeface="Arial"/>
                  <a:cs typeface="Arial"/>
                  <a:sym typeface="Arial"/>
                </a:defRPr>
              </a:lvl1pPr>
            </a:lstStyle>
            <a:p>
              <a:pPr/>
              <a:r>
                <a:t>Ice is about 8% less dense than water, so it floats with roughly 92% of itself underwater.</a:t>
              </a:r>
            </a:p>
          </p:txBody>
        </p:sp>
      </p:grpSp>
      <p:grpSp>
        <p:nvGrpSpPr>
          <p:cNvPr id="176" name="whyg"/>
          <p:cNvGrpSpPr/>
          <p:nvPr/>
        </p:nvGrpSpPr>
        <p:grpSpPr>
          <a:xfrm>
            <a:off x="6543903" y="1920239"/>
            <a:ext cx="5099153" cy="2651761"/>
            <a:chOff x="0" y="0"/>
            <a:chExt cx="5099151" cy="2651760"/>
          </a:xfrm>
        </p:grpSpPr>
        <p:sp>
          <p:nvSpPr>
            <p:cNvPr id="173" name="why_bg"/>
            <p:cNvSpPr/>
            <p:nvPr/>
          </p:nvSpPr>
          <p:spPr>
            <a:xfrm>
              <a:off x="0" y="0"/>
              <a:ext cx="5099152" cy="2651761"/>
            </a:xfrm>
            <a:prstGeom prst="roundRect">
              <a:avLst>
                <a:gd name="adj" fmla="val 3448"/>
              </a:avLst>
            </a:prstGeom>
            <a:solidFill>
              <a:srgbClr val="FFFFFF"/>
            </a:solidFill>
            <a:ln w="16510" cap="flat">
              <a:solidFill>
                <a:srgbClr val="D7E8EA"/>
              </a:solidFill>
              <a:prstDash val="solid"/>
              <a:round/>
            </a:ln>
            <a:effectLst/>
          </p:spPr>
          <p:txBody>
            <a:bodyPr wrap="square" lIns="45719" tIns="45719" rIns="45719" bIns="45719" numCol="1" anchor="t">
              <a:noAutofit/>
            </a:bodyPr>
            <a:lstStyle/>
            <a:p>
              <a:pPr/>
            </a:p>
          </p:txBody>
        </p:sp>
        <p:sp>
          <p:nvSpPr>
            <p:cNvPr id="174" name="why_h"/>
            <p:cNvSpPr txBox="1"/>
            <p:nvPr/>
          </p:nvSpPr>
          <p:spPr>
            <a:xfrm>
              <a:off x="237744" y="209296"/>
              <a:ext cx="4623664"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400">
                  <a:solidFill>
                    <a:srgbClr val="0B3D4C"/>
                  </a:solidFill>
                  <a:latin typeface="Georgia"/>
                  <a:ea typeface="Georgia"/>
                  <a:cs typeface="Georgia"/>
                  <a:sym typeface="Georgia"/>
                </a:defRPr>
              </a:lvl1pPr>
            </a:lstStyle>
            <a:p>
              <a:pPr/>
              <a:r>
                <a:t>WHY</a:t>
              </a:r>
            </a:p>
          </p:txBody>
        </p:sp>
        <p:sp>
          <p:nvSpPr>
            <p:cNvPr id="175" name="why_t"/>
            <p:cNvSpPr txBox="1"/>
            <p:nvPr/>
          </p:nvSpPr>
          <p:spPr>
            <a:xfrm>
              <a:off x="237744" y="530351"/>
              <a:ext cx="4623664" cy="20238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p>
              <a:pPr marL="342900" indent="-342900">
                <a:lnSpc>
                  <a:spcPts val="1700"/>
                </a:lnSpc>
                <a:spcBef>
                  <a:spcPts val="800"/>
                </a:spcBef>
                <a:buSzPct val="100000"/>
                <a:buChar char="•"/>
                <a:defRPr sz="1300">
                  <a:solidFill>
                    <a:srgbClr val="0C2730"/>
                  </a:solidFill>
                  <a:latin typeface="Arial"/>
                  <a:ea typeface="Arial"/>
                  <a:cs typeface="Arial"/>
                  <a:sym typeface="Arial"/>
                </a:defRPr>
              </a:pPr>
              <a:r>
                <a:t>Liquid water: molecules are close together, packed at random.</a:t>
              </a:r>
            </a:p>
            <a:p>
              <a:pPr marL="342900" indent="-342900">
                <a:lnSpc>
                  <a:spcPts val="1700"/>
                </a:lnSpc>
                <a:spcBef>
                  <a:spcPts val="800"/>
                </a:spcBef>
                <a:buSzPct val="100000"/>
                <a:buChar char="•"/>
                <a:defRPr sz="1300">
                  <a:solidFill>
                    <a:srgbClr val="0C2730"/>
                  </a:solidFill>
                  <a:latin typeface="Arial"/>
                  <a:ea typeface="Arial"/>
                  <a:cs typeface="Arial"/>
                  <a:sym typeface="Arial"/>
                </a:defRPr>
              </a:pPr>
              <a:r>
                <a:t>Frozen water: molecules lock into a fixed, open pattern, held apart from each other.</a:t>
              </a:r>
            </a:p>
            <a:p>
              <a:pPr marL="342900" indent="-342900">
                <a:lnSpc>
                  <a:spcPts val="1700"/>
                </a:lnSpc>
                <a:spcBef>
                  <a:spcPts val="800"/>
                </a:spcBef>
                <a:buSzPct val="100000"/>
                <a:buChar char="•"/>
                <a:defRPr b="1" sz="1300">
                  <a:solidFill>
                    <a:srgbClr val="0C2730"/>
                  </a:solidFill>
                  <a:latin typeface="Arial"/>
                  <a:ea typeface="Arial"/>
                  <a:cs typeface="Arial"/>
                  <a:sym typeface="Arial"/>
                </a:defRPr>
              </a:pPr>
              <a:r>
                <a:t>The same mass of water takes up MORE space as ice, so its density is LOWER.</a:t>
              </a:r>
            </a:p>
            <a:p>
              <a:pPr marL="342900" indent="-342900">
                <a:lnSpc>
                  <a:spcPts val="1700"/>
                </a:lnSpc>
                <a:buSzPct val="100000"/>
                <a:buChar char="•"/>
                <a:defRPr sz="1300">
                  <a:solidFill>
                    <a:srgbClr val="0C2730"/>
                  </a:solidFill>
                  <a:latin typeface="Arial"/>
                  <a:ea typeface="Arial"/>
                  <a:cs typeface="Arial"/>
                  <a:sym typeface="Arial"/>
                </a:defRPr>
              </a:pPr>
              <a:r>
                <a:t>It is not trapped air. It is the arrangement of the water molecules themselves.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5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67"/>
                                        </p:tgtEl>
                                        <p:attrNameLst>
                                          <p:attrName>style.visibility</p:attrName>
                                        </p:attrNameLst>
                                      </p:cBhvr>
                                      <p:to>
                                        <p:strVal val="visible"/>
                                      </p:to>
                                    </p:set>
                                    <p:animEffect filter="fade" transition="in">
                                      <p:cBhvr>
                                        <p:cTn id="11" dur="400"/>
                                        <p:tgtEl>
                                          <p:spTgt spid="167"/>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72"/>
                                        </p:tgtEl>
                                        <p:attrNameLst>
                                          <p:attrName>style.visibility</p:attrName>
                                        </p:attrNameLst>
                                      </p:cBhvr>
                                      <p:to>
                                        <p:strVal val="visible"/>
                                      </p:to>
                                    </p:set>
                                    <p:animEffect filter="fade" transition="in">
                                      <p:cBhvr>
                                        <p:cTn id="16" dur="400"/>
                                        <p:tgtEl>
                                          <p:spTgt spid="172"/>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76"/>
                                        </p:tgtEl>
                                        <p:attrNameLst>
                                          <p:attrName>style.visibility</p:attrName>
                                        </p:attrNameLst>
                                      </p:cBhvr>
                                      <p:to>
                                        <p:strVal val="visible"/>
                                      </p:to>
                                    </p:set>
                                    <p:animEffect filter="fade" transition="in">
                                      <p:cBhvr>
                                        <p:cTn id="21" dur="400"/>
                                        <p:tgtEl>
                                          <p:spTgt spid="176"/>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2" fill="hold" display="0">
                  <p:stCondLst>
                    <p:cond delay="indefinite"/>
                  </p:stCondLst>
                </p:cTn>
                <p:tgtEl>
                  <p:spTgt spid="156"/>
                </p:tgtEl>
              </p:cMediaNode>
            </p:video>
            <p:seq concurrent="1" prevAc="none" nextAc="seek">
              <p:cTn id="23" evtFilter="cancelBubble" nodeType="interactiveSeq" restart="whenNotActive" fill="hold">
                <p:stCondLst>
                  <p:cond delay="0" evt="onClick">
                    <p:tgtEl>
                      <p:spTgt spid="156"/>
                    </p:tgtEl>
                  </p:cond>
                </p:stCondLst>
                <p:endSync delay="0" evt="end">
                  <p:rtn val="all"/>
                </p:endSync>
                <p:childTnLst>
                  <p:par>
                    <p:cTn id="24" fill="hold">
                      <p:stCondLst>
                        <p:cond delay="0"/>
                      </p:stCondLst>
                      <p:childTnLst>
                        <p:par>
                          <p:cTn id="25" fill="hold">
                            <p:stCondLst>
                              <p:cond delay="0"/>
                            </p:stCondLst>
                            <p:childTnLst>
                              <p:par>
                                <p:cTn id="26" presetClass="mediacall" nodeType="clickEffect" presetSubtype="0" presetID="2" fill="hold">
                                  <p:stCondLst>
                                    <p:cond delay="0"/>
                                  </p:stCondLst>
                                  <p:childTnLst>
                                    <p:cmd type="call" cmd="togglePause">
                                      <p:cBhvr>
                                        <p:cTn id="27" dur="1" fill="hold"/>
                                        <p:tgtEl>
                                          <p:spTgt spid="156"/>
                                        </p:tgtEl>
                                      </p:cBhvr>
                                    </p:cmd>
                                  </p:childTnLst>
                                </p:cTn>
                              </p:par>
                            </p:childTnLst>
                          </p:cTn>
                        </p:par>
                      </p:childTnLst>
                    </p:cTn>
                  </p:par>
                </p:childTnLst>
              </p:cTn>
              <p:nextCondLst>
                <p:cond delay="0" evt="onClick">
                  <p:tgtEl>
                    <p:spTgt spid="156"/>
                  </p:tgtEl>
                </p:cond>
              </p:nextCondLst>
            </p:seq>
          </p:childTnLst>
        </p:cTn>
      </p:par>
    </p:tnLst>
    <p:bldLst>
      <p:bldP build="whole" bldLvl="1" animBg="1" rev="0" advAuto="0" spid="167" grpId="2"/>
      <p:bldP build="whole" bldLvl="1" animBg="1" rev="0" advAuto="0" spid="172" grpId="3"/>
      <p:bldP build="whole" bldLvl="1" animBg="1" rev="0" advAuto="0" spid="176" grpId="4"/>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18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83" name="phase_pill"/>
          <p:cNvGrpSpPr/>
          <p:nvPr/>
        </p:nvGrpSpPr>
        <p:grpSpPr>
          <a:xfrm>
            <a:off x="1170432" y="310895"/>
            <a:ext cx="1713586" cy="329185"/>
            <a:chOff x="0" y="0"/>
            <a:chExt cx="1713585" cy="329184"/>
          </a:xfrm>
        </p:grpSpPr>
        <p:sp>
          <p:nvSpPr>
            <p:cNvPr id="181" name="Rounded Rectangle"/>
            <p:cNvSpPr/>
            <p:nvPr/>
          </p:nvSpPr>
          <p:spPr>
            <a:xfrm>
              <a:off x="0" y="0"/>
              <a:ext cx="1713586"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182"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184"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0B3D4C"/>
                </a:solidFill>
                <a:latin typeface="Georgia"/>
                <a:ea typeface="Georgia"/>
                <a:cs typeface="Georgia"/>
                <a:sym typeface="Georgia"/>
              </a:defRPr>
            </a:lvl1pPr>
          </a:lstStyle>
          <a:p>
            <a:pPr/>
            <a:r>
              <a:t>What should be the correct answer?</a:t>
            </a:r>
          </a:p>
        </p:txBody>
      </p:sp>
      <p:sp>
        <p:nvSpPr>
          <p:cNvPr id="185"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4E6D74"/>
                </a:solidFill>
                <a:latin typeface="Arial"/>
                <a:ea typeface="Arial"/>
                <a:cs typeface="Arial"/>
                <a:sym typeface="Arial"/>
              </a:defRPr>
            </a:lvl1pPr>
          </a:lstStyle>
          <a:p>
            <a:pPr/>
            <a:r>
              <a:t>Spot the mistake.</a:t>
            </a:r>
          </a:p>
        </p:txBody>
      </p:sp>
      <p:sp>
        <p:nvSpPr>
          <p:cNvPr id="186" name="wd0_bg"/>
          <p:cNvSpPr/>
          <p:nvPr/>
        </p:nvSpPr>
        <p:spPr>
          <a:xfrm>
            <a:off x="1170432" y="2322576"/>
            <a:ext cx="10472623" cy="841249"/>
          </a:xfrm>
          <a:prstGeom prst="roundRect">
            <a:avLst>
              <a:gd name="adj" fmla="val 10870"/>
            </a:avLst>
          </a:prstGeom>
          <a:solidFill>
            <a:srgbClr val="FFFFFF"/>
          </a:solidFill>
          <a:ln w="16510">
            <a:solidFill>
              <a:srgbClr val="D7E8EA"/>
            </a:solidFill>
          </a:ln>
        </p:spPr>
        <p:txBody>
          <a:bodyPr lIns="45719" rIns="45719"/>
          <a:lstStyle/>
          <a:p>
            <a:pPr/>
          </a:p>
        </p:txBody>
      </p:sp>
      <p:sp>
        <p:nvSpPr>
          <p:cNvPr id="187" name="wd0_q"/>
          <p:cNvSpPr txBox="1"/>
          <p:nvPr/>
        </p:nvSpPr>
        <p:spPr>
          <a:xfrm>
            <a:off x="1426463" y="2626495"/>
            <a:ext cx="512064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"A material with a density of 3 g/cm³ will float in water."</a:t>
            </a:r>
          </a:p>
        </p:txBody>
      </p:sp>
      <p:grpSp>
        <p:nvGrpSpPr>
          <p:cNvPr id="190" name="wd0_a"/>
          <p:cNvGrpSpPr/>
          <p:nvPr/>
        </p:nvGrpSpPr>
        <p:grpSpPr>
          <a:xfrm>
            <a:off x="6748271" y="2404872"/>
            <a:ext cx="4803344" cy="676656"/>
            <a:chOff x="0" y="0"/>
            <a:chExt cx="4803342" cy="676655"/>
          </a:xfrm>
        </p:grpSpPr>
        <p:sp>
          <p:nvSpPr>
            <p:cNvPr id="188" name="Rounded Rectangle"/>
            <p:cNvSpPr/>
            <p:nvPr/>
          </p:nvSpPr>
          <p:spPr>
            <a:xfrm>
              <a:off x="0" y="0"/>
              <a:ext cx="4803343" cy="676656"/>
            </a:xfrm>
            <a:prstGeom prst="roundRect">
              <a:avLst>
                <a:gd name="adj" fmla="val 13514"/>
              </a:avLst>
            </a:prstGeom>
            <a:solidFill>
              <a:srgbClr val="D7E8EA"/>
            </a:solidFill>
            <a:ln w="19050" cap="flat">
              <a:solidFill>
                <a:srgbClr val="D63447"/>
              </a:solidFill>
              <a:prstDash val="solid"/>
              <a:round/>
            </a:ln>
            <a:effectLst/>
          </p:spPr>
          <p:txBody>
            <a:bodyPr wrap="square" lIns="45719" tIns="45719" rIns="45719" bIns="45719" numCol="1" anchor="ctr">
              <a:noAutofit/>
            </a:bodyPr>
            <a:lstStyle/>
            <a:p>
              <a:pPr algn="ctr">
                <a:defRPr sz="1200"/>
              </a:pPr>
            </a:p>
          </p:txBody>
        </p:sp>
        <p:sp>
          <p:nvSpPr>
            <p:cNvPr id="189" name="3 g/cm³ is higher than water's 1.00 g/cm³, so it sinks."/>
            <p:cNvSpPr txBox="1"/>
            <p:nvPr/>
          </p:nvSpPr>
          <p:spPr>
            <a:xfrm>
              <a:off x="36307" y="251158"/>
              <a:ext cx="4730729" cy="174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0B3D4C"/>
                  </a:solidFill>
                  <a:latin typeface="Arial"/>
                  <a:ea typeface="Arial"/>
                  <a:cs typeface="Arial"/>
                  <a:sym typeface="Arial"/>
                </a:defRPr>
              </a:lvl1pPr>
            </a:lstStyle>
            <a:p>
              <a:pPr/>
              <a:r>
                <a:t>3 g/cm³ is higher than water's 1.00 g/cm³, so it sinks.</a:t>
              </a:r>
            </a:p>
          </p:txBody>
        </p:sp>
      </p:grpSp>
      <p:sp>
        <p:nvSpPr>
          <p:cNvPr id="191" name="wd1_bg"/>
          <p:cNvSpPr/>
          <p:nvPr/>
        </p:nvSpPr>
        <p:spPr>
          <a:xfrm>
            <a:off x="1170432" y="3346703"/>
            <a:ext cx="10472623" cy="841249"/>
          </a:xfrm>
          <a:prstGeom prst="roundRect">
            <a:avLst>
              <a:gd name="adj" fmla="val 10870"/>
            </a:avLst>
          </a:prstGeom>
          <a:solidFill>
            <a:srgbClr val="FFFFFF"/>
          </a:solidFill>
          <a:ln w="16510">
            <a:solidFill>
              <a:srgbClr val="D7E8EA"/>
            </a:solidFill>
          </a:ln>
        </p:spPr>
        <p:txBody>
          <a:bodyPr lIns="45719" rIns="45719"/>
          <a:lstStyle/>
          <a:p>
            <a:pPr/>
          </a:p>
        </p:txBody>
      </p:sp>
      <p:sp>
        <p:nvSpPr>
          <p:cNvPr id="192" name="wd1_q"/>
          <p:cNvSpPr txBox="1"/>
          <p:nvPr/>
        </p:nvSpPr>
        <p:spPr>
          <a:xfrm>
            <a:off x="1426463" y="3650623"/>
            <a:ext cx="512064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"An object floats because it is lighter than the liquid."</a:t>
            </a:r>
          </a:p>
        </p:txBody>
      </p:sp>
      <p:grpSp>
        <p:nvGrpSpPr>
          <p:cNvPr id="195" name="wd1_a"/>
          <p:cNvGrpSpPr/>
          <p:nvPr/>
        </p:nvGrpSpPr>
        <p:grpSpPr>
          <a:xfrm>
            <a:off x="6748271" y="3429000"/>
            <a:ext cx="4803344" cy="676656"/>
            <a:chOff x="0" y="0"/>
            <a:chExt cx="4803342" cy="676655"/>
          </a:xfrm>
        </p:grpSpPr>
        <p:sp>
          <p:nvSpPr>
            <p:cNvPr id="193" name="Rounded Rectangle"/>
            <p:cNvSpPr/>
            <p:nvPr/>
          </p:nvSpPr>
          <p:spPr>
            <a:xfrm>
              <a:off x="0" y="0"/>
              <a:ext cx="4803343" cy="676656"/>
            </a:xfrm>
            <a:prstGeom prst="roundRect">
              <a:avLst>
                <a:gd name="adj" fmla="val 13514"/>
              </a:avLst>
            </a:prstGeom>
            <a:solidFill>
              <a:srgbClr val="D7E8EA"/>
            </a:solidFill>
            <a:ln w="19050" cap="flat">
              <a:solidFill>
                <a:srgbClr val="D63447"/>
              </a:solidFill>
              <a:prstDash val="solid"/>
              <a:round/>
            </a:ln>
            <a:effectLst/>
          </p:spPr>
          <p:txBody>
            <a:bodyPr wrap="square" lIns="45719" tIns="45719" rIns="45719" bIns="45719" numCol="1" anchor="ctr">
              <a:noAutofit/>
            </a:bodyPr>
            <a:lstStyle/>
            <a:p>
              <a:pPr algn="ctr">
                <a:defRPr sz="1200"/>
              </a:pPr>
            </a:p>
          </p:txBody>
        </p:sp>
        <p:sp>
          <p:nvSpPr>
            <p:cNvPr id="194" name="It floats because its DENSITY is lower, not its weight. A floating log is heavier than a sinking pebble."/>
            <p:cNvSpPr txBox="1"/>
            <p:nvPr/>
          </p:nvSpPr>
          <p:spPr>
            <a:xfrm>
              <a:off x="36307" y="162258"/>
              <a:ext cx="4730729" cy="352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0B3D4C"/>
                  </a:solidFill>
                  <a:latin typeface="Arial"/>
                  <a:ea typeface="Arial"/>
                  <a:cs typeface="Arial"/>
                  <a:sym typeface="Arial"/>
                </a:defRPr>
              </a:lvl1pPr>
            </a:lstStyle>
            <a:p>
              <a:pPr/>
              <a:r>
                <a:t>It floats because its DENSITY is lower, not its weight. A floating log is heavier than a sinking pebble.</a:t>
              </a:r>
            </a:p>
          </p:txBody>
        </p:sp>
      </p:grpSp>
      <p:sp>
        <p:nvSpPr>
          <p:cNvPr id="196" name="wd2_bg"/>
          <p:cNvSpPr/>
          <p:nvPr/>
        </p:nvSpPr>
        <p:spPr>
          <a:xfrm>
            <a:off x="1170432" y="4370832"/>
            <a:ext cx="10472623" cy="841249"/>
          </a:xfrm>
          <a:prstGeom prst="roundRect">
            <a:avLst>
              <a:gd name="adj" fmla="val 10870"/>
            </a:avLst>
          </a:prstGeom>
          <a:solidFill>
            <a:srgbClr val="FFFFFF"/>
          </a:solidFill>
          <a:ln w="16510">
            <a:solidFill>
              <a:srgbClr val="D7E8EA"/>
            </a:solidFill>
          </a:ln>
        </p:spPr>
        <p:txBody>
          <a:bodyPr lIns="45719" rIns="45719"/>
          <a:lstStyle/>
          <a:p>
            <a:pPr/>
          </a:p>
        </p:txBody>
      </p:sp>
      <p:sp>
        <p:nvSpPr>
          <p:cNvPr id="197" name="wd2_q"/>
          <p:cNvSpPr txBox="1"/>
          <p:nvPr/>
        </p:nvSpPr>
        <p:spPr>
          <a:xfrm>
            <a:off x="1426463" y="4674751"/>
            <a:ext cx="512064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"Ice floats because it has trapped air bubbles inside it."</a:t>
            </a:r>
          </a:p>
        </p:txBody>
      </p:sp>
      <p:grpSp>
        <p:nvGrpSpPr>
          <p:cNvPr id="200" name="wd2_a"/>
          <p:cNvGrpSpPr/>
          <p:nvPr/>
        </p:nvGrpSpPr>
        <p:grpSpPr>
          <a:xfrm>
            <a:off x="6748271" y="4453128"/>
            <a:ext cx="4803344" cy="676657"/>
            <a:chOff x="0" y="0"/>
            <a:chExt cx="4803342" cy="676655"/>
          </a:xfrm>
        </p:grpSpPr>
        <p:sp>
          <p:nvSpPr>
            <p:cNvPr id="198" name="Rounded Rectangle"/>
            <p:cNvSpPr/>
            <p:nvPr/>
          </p:nvSpPr>
          <p:spPr>
            <a:xfrm>
              <a:off x="0" y="0"/>
              <a:ext cx="4803343" cy="676656"/>
            </a:xfrm>
            <a:prstGeom prst="roundRect">
              <a:avLst>
                <a:gd name="adj" fmla="val 13514"/>
              </a:avLst>
            </a:prstGeom>
            <a:solidFill>
              <a:srgbClr val="D7E8EA"/>
            </a:solidFill>
            <a:ln w="19050" cap="flat">
              <a:solidFill>
                <a:srgbClr val="D63447"/>
              </a:solidFill>
              <a:prstDash val="solid"/>
              <a:round/>
            </a:ln>
            <a:effectLst/>
          </p:spPr>
          <p:txBody>
            <a:bodyPr wrap="square" lIns="45719" tIns="45719" rIns="45719" bIns="45719" numCol="1" anchor="ctr">
              <a:noAutofit/>
            </a:bodyPr>
            <a:lstStyle/>
            <a:p>
              <a:pPr algn="ctr">
                <a:defRPr sz="1200"/>
              </a:pPr>
            </a:p>
          </p:txBody>
        </p:sp>
        <p:sp>
          <p:nvSpPr>
            <p:cNvPr id="199" name="Ice floats because its density, 0.92 g/cm³, is lower than water's, 1.00 g/cm³. That is the molecules, not air."/>
            <p:cNvSpPr txBox="1"/>
            <p:nvPr/>
          </p:nvSpPr>
          <p:spPr>
            <a:xfrm>
              <a:off x="36307" y="162258"/>
              <a:ext cx="4730729" cy="352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0B3D4C"/>
                  </a:solidFill>
                  <a:latin typeface="Arial"/>
                  <a:ea typeface="Arial"/>
                  <a:cs typeface="Arial"/>
                  <a:sym typeface="Arial"/>
                </a:defRPr>
              </a:lvl1pPr>
            </a:lstStyle>
            <a:p>
              <a:pPr/>
              <a:r>
                <a:t>Ice floats because its density, 0.92 g/cm³, is lower than water's, 1.00 g/cm³. That is the molecules, not air.</a:t>
              </a:r>
            </a:p>
          </p:txBody>
        </p:sp>
      </p:grpSp>
      <p:sp>
        <p:nvSpPr>
          <p:cNvPr id="201" name="wd3_bg"/>
          <p:cNvSpPr/>
          <p:nvPr/>
        </p:nvSpPr>
        <p:spPr>
          <a:xfrm>
            <a:off x="1170432" y="5394959"/>
            <a:ext cx="10472623" cy="841249"/>
          </a:xfrm>
          <a:prstGeom prst="roundRect">
            <a:avLst>
              <a:gd name="adj" fmla="val 10870"/>
            </a:avLst>
          </a:prstGeom>
          <a:solidFill>
            <a:srgbClr val="FFFFFF"/>
          </a:solidFill>
          <a:ln w="16510">
            <a:solidFill>
              <a:srgbClr val="D7E8EA"/>
            </a:solidFill>
          </a:ln>
        </p:spPr>
        <p:txBody>
          <a:bodyPr lIns="45719" rIns="45719"/>
          <a:lstStyle/>
          <a:p>
            <a:pPr/>
          </a:p>
        </p:txBody>
      </p:sp>
      <p:sp>
        <p:nvSpPr>
          <p:cNvPr id="202" name="wd3_q"/>
          <p:cNvSpPr txBox="1"/>
          <p:nvPr/>
        </p:nvSpPr>
        <p:spPr>
          <a:xfrm>
            <a:off x="1426463" y="5698879"/>
            <a:ext cx="512064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0C2730"/>
                </a:solidFill>
                <a:latin typeface="Arial"/>
                <a:ea typeface="Arial"/>
                <a:cs typeface="Arial"/>
                <a:sym typeface="Arial"/>
              </a:defRPr>
            </a:lvl1pPr>
          </a:lstStyle>
          <a:p>
            <a:pPr/>
            <a:r>
              <a:t>"An object with a density of 0.95 g/cm³ will sink in water."</a:t>
            </a:r>
          </a:p>
        </p:txBody>
      </p:sp>
      <p:grpSp>
        <p:nvGrpSpPr>
          <p:cNvPr id="205" name="wd3_a"/>
          <p:cNvGrpSpPr/>
          <p:nvPr/>
        </p:nvGrpSpPr>
        <p:grpSpPr>
          <a:xfrm>
            <a:off x="6748271" y="5477255"/>
            <a:ext cx="4803344" cy="676657"/>
            <a:chOff x="0" y="0"/>
            <a:chExt cx="4803342" cy="676655"/>
          </a:xfrm>
        </p:grpSpPr>
        <p:sp>
          <p:nvSpPr>
            <p:cNvPr id="203" name="Rounded Rectangle"/>
            <p:cNvSpPr/>
            <p:nvPr/>
          </p:nvSpPr>
          <p:spPr>
            <a:xfrm>
              <a:off x="0" y="0"/>
              <a:ext cx="4803343" cy="676656"/>
            </a:xfrm>
            <a:prstGeom prst="roundRect">
              <a:avLst>
                <a:gd name="adj" fmla="val 13514"/>
              </a:avLst>
            </a:prstGeom>
            <a:solidFill>
              <a:srgbClr val="D7E8EA"/>
            </a:solidFill>
            <a:ln w="19050" cap="flat">
              <a:solidFill>
                <a:srgbClr val="D63447"/>
              </a:solidFill>
              <a:prstDash val="solid"/>
              <a:round/>
            </a:ln>
            <a:effectLst/>
          </p:spPr>
          <p:txBody>
            <a:bodyPr wrap="square" lIns="45719" tIns="45719" rIns="45719" bIns="45719" numCol="1" anchor="ctr">
              <a:noAutofit/>
            </a:bodyPr>
            <a:lstStyle/>
            <a:p>
              <a:pPr algn="ctr">
                <a:defRPr sz="1200"/>
              </a:pPr>
            </a:p>
          </p:txBody>
        </p:sp>
        <p:sp>
          <p:nvSpPr>
            <p:cNvPr id="204" name="0.95 g/cm³ is lower than water's 1.00 g/cm³, so it floats."/>
            <p:cNvSpPr txBox="1"/>
            <p:nvPr/>
          </p:nvSpPr>
          <p:spPr>
            <a:xfrm>
              <a:off x="36307" y="251158"/>
              <a:ext cx="4730729" cy="1743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0B3D4C"/>
                  </a:solidFill>
                  <a:latin typeface="Arial"/>
                  <a:ea typeface="Arial"/>
                  <a:cs typeface="Arial"/>
                  <a:sym typeface="Arial"/>
                </a:defRPr>
              </a:lvl1pPr>
            </a:lstStyle>
            <a:p>
              <a:pPr/>
              <a:r>
                <a:t>0.95 g/cm³ is lower than water's 1.00 g/cm³, so it floats.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18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190"/>
                                        </p:tgtEl>
                                        <p:attrNameLst>
                                          <p:attrName>style.visibility</p:attrName>
                                        </p:attrNameLst>
                                      </p:cBhvr>
                                      <p:to>
                                        <p:strVal val="visible"/>
                                      </p:to>
                                    </p:set>
                                    <p:anim calcmode="lin" valueType="num">
                                      <p:cBhvr>
                                        <p:cTn id="11" dur="400" fill="hold"/>
                                        <p:tgtEl>
                                          <p:spTgt spid="190"/>
                                        </p:tgtEl>
                                        <p:attrNameLst>
                                          <p:attrName>ppt_w</p:attrName>
                                        </p:attrNameLst>
                                      </p:cBhvr>
                                      <p:tavLst>
                                        <p:tav tm="0">
                                          <p:val>
                                            <p:fltVal val="0"/>
                                          </p:val>
                                        </p:tav>
                                        <p:tav tm="100000">
                                          <p:val>
                                            <p:strVal val="#ppt_w"/>
                                          </p:val>
                                        </p:tav>
                                      </p:tavLst>
                                    </p:anim>
                                    <p:anim calcmode="lin" valueType="num">
                                      <p:cBhvr>
                                        <p:cTn id="12" dur="400" fill="hold"/>
                                        <p:tgtEl>
                                          <p:spTgt spid="190"/>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195"/>
                                        </p:tgtEl>
                                        <p:attrNameLst>
                                          <p:attrName>style.visibility</p:attrName>
                                        </p:attrNameLst>
                                      </p:cBhvr>
                                      <p:to>
                                        <p:strVal val="visible"/>
                                      </p:to>
                                    </p:set>
                                    <p:anim calcmode="lin" valueType="num">
                                      <p:cBhvr>
                                        <p:cTn id="17" dur="400" fill="hold"/>
                                        <p:tgtEl>
                                          <p:spTgt spid="195"/>
                                        </p:tgtEl>
                                        <p:attrNameLst>
                                          <p:attrName>ppt_w</p:attrName>
                                        </p:attrNameLst>
                                      </p:cBhvr>
                                      <p:tavLst>
                                        <p:tav tm="0">
                                          <p:val>
                                            <p:fltVal val="0"/>
                                          </p:val>
                                        </p:tav>
                                        <p:tav tm="100000">
                                          <p:val>
                                            <p:strVal val="#ppt_w"/>
                                          </p:val>
                                        </p:tav>
                                      </p:tavLst>
                                    </p:anim>
                                    <p:anim calcmode="lin" valueType="num">
                                      <p:cBhvr>
                                        <p:cTn id="18" dur="400" fill="hold"/>
                                        <p:tgtEl>
                                          <p:spTgt spid="195"/>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200"/>
                                        </p:tgtEl>
                                        <p:attrNameLst>
                                          <p:attrName>style.visibility</p:attrName>
                                        </p:attrNameLst>
                                      </p:cBhvr>
                                      <p:to>
                                        <p:strVal val="visible"/>
                                      </p:to>
                                    </p:set>
                                    <p:anim calcmode="lin" valueType="num">
                                      <p:cBhvr>
                                        <p:cTn id="23" dur="400" fill="hold"/>
                                        <p:tgtEl>
                                          <p:spTgt spid="200"/>
                                        </p:tgtEl>
                                        <p:attrNameLst>
                                          <p:attrName>ppt_w</p:attrName>
                                        </p:attrNameLst>
                                      </p:cBhvr>
                                      <p:tavLst>
                                        <p:tav tm="0">
                                          <p:val>
                                            <p:fltVal val="0"/>
                                          </p:val>
                                        </p:tav>
                                        <p:tav tm="100000">
                                          <p:val>
                                            <p:strVal val="#ppt_w"/>
                                          </p:val>
                                        </p:tav>
                                      </p:tavLst>
                                    </p:anim>
                                    <p:anim calcmode="lin" valueType="num">
                                      <p:cBhvr>
                                        <p:cTn id="24" dur="400" fill="hold"/>
                                        <p:tgtEl>
                                          <p:spTgt spid="200"/>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205"/>
                                        </p:tgtEl>
                                        <p:attrNameLst>
                                          <p:attrName>style.visibility</p:attrName>
                                        </p:attrNameLst>
                                      </p:cBhvr>
                                      <p:to>
                                        <p:strVal val="visible"/>
                                      </p:to>
                                    </p:set>
                                    <p:anim calcmode="lin" valueType="num">
                                      <p:cBhvr>
                                        <p:cTn id="29" dur="400" fill="hold"/>
                                        <p:tgtEl>
                                          <p:spTgt spid="205"/>
                                        </p:tgtEl>
                                        <p:attrNameLst>
                                          <p:attrName>ppt_w</p:attrName>
                                        </p:attrNameLst>
                                      </p:cBhvr>
                                      <p:tavLst>
                                        <p:tav tm="0">
                                          <p:val>
                                            <p:fltVal val="0"/>
                                          </p:val>
                                        </p:tav>
                                        <p:tav tm="100000">
                                          <p:val>
                                            <p:strVal val="#ppt_w"/>
                                          </p:val>
                                        </p:tav>
                                      </p:tavLst>
                                    </p:anim>
                                    <p:anim calcmode="lin" valueType="num">
                                      <p:cBhvr>
                                        <p:cTn id="30" dur="400" fill="hold"/>
                                        <p:tgtEl>
                                          <p:spTgt spid="20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180"/>
                </p:tgtEl>
              </p:cMediaNode>
            </p:video>
            <p:seq concurrent="1" prevAc="none" nextAc="seek">
              <p:cTn id="32" evtFilter="cancelBubble" nodeType="interactiveSeq" restart="whenNotActive" fill="hold">
                <p:stCondLst>
                  <p:cond delay="0" evt="onClick">
                    <p:tgtEl>
                      <p:spTgt spid="180"/>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180"/>
                                        </p:tgtEl>
                                      </p:cBhvr>
                                    </p:cmd>
                                  </p:childTnLst>
                                </p:cTn>
                              </p:par>
                            </p:childTnLst>
                          </p:cTn>
                        </p:par>
                      </p:childTnLst>
                    </p:cTn>
                  </p:par>
                </p:childTnLst>
              </p:cTn>
              <p:nextCondLst>
                <p:cond delay="0" evt="onClick">
                  <p:tgtEl>
                    <p:spTgt spid="180"/>
                  </p:tgtEl>
                </p:cond>
              </p:nextCondLst>
            </p:seq>
          </p:childTnLst>
        </p:cTn>
      </p:par>
    </p:tnLst>
    <p:bldLst>
      <p:bldP build="whole" bldLvl="1" animBg="1" rev="0" advAuto="0" spid="205" grpId="5"/>
      <p:bldP build="whole" bldLvl="1" animBg="1" rev="0" advAuto="0" spid="190" grpId="2"/>
      <p:bldP build="whole" bldLvl="1" animBg="1" rev="0" advAuto="0" spid="200" grpId="4"/>
      <p:bldP build="whole" bldLvl="1" animBg="1" rev="0" advAuto="0" spid="195" grpId="3"/>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20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12" name="phase_pill"/>
          <p:cNvGrpSpPr/>
          <p:nvPr/>
        </p:nvGrpSpPr>
        <p:grpSpPr>
          <a:xfrm>
            <a:off x="1170432" y="310895"/>
            <a:ext cx="2072030" cy="329185"/>
            <a:chOff x="0" y="0"/>
            <a:chExt cx="2072029" cy="329184"/>
          </a:xfrm>
        </p:grpSpPr>
        <p:sp>
          <p:nvSpPr>
            <p:cNvPr id="210" name="Rounded Rectangle"/>
            <p:cNvSpPr/>
            <p:nvPr/>
          </p:nvSpPr>
          <p:spPr>
            <a:xfrm>
              <a:off x="0" y="0"/>
              <a:ext cx="2072030"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211" name="COLD CALL · 6 MIN"/>
            <p:cNvSpPr txBox="1"/>
            <p:nvPr/>
          </p:nvSpPr>
          <p:spPr>
            <a:xfrm>
              <a:off x="42850" y="90677"/>
              <a:ext cx="198632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COLD CALL · 6 MIN</a:t>
              </a:r>
            </a:p>
          </p:txBody>
        </p:sp>
      </p:grpSp>
      <p:sp>
        <p:nvSpPr>
          <p:cNvPr id="213" name="c0_bg"/>
          <p:cNvSpPr/>
          <p:nvPr/>
        </p:nvSpPr>
        <p:spPr>
          <a:xfrm>
            <a:off x="1170432" y="960119"/>
            <a:ext cx="5099152" cy="1572769"/>
          </a:xfrm>
          <a:prstGeom prst="roundRect">
            <a:avLst>
              <a:gd name="adj" fmla="val 5814"/>
            </a:avLst>
          </a:prstGeom>
          <a:solidFill>
            <a:srgbClr val="FFFFFF"/>
          </a:solidFill>
          <a:ln w="16510">
            <a:solidFill>
              <a:srgbClr val="D7E8EA"/>
            </a:solidFill>
          </a:ln>
        </p:spPr>
        <p:txBody>
          <a:bodyPr lIns="45719" rIns="45719"/>
          <a:lstStyle/>
          <a:p>
            <a:pPr/>
          </a:p>
        </p:txBody>
      </p:sp>
      <p:sp>
        <p:nvSpPr>
          <p:cNvPr id="214" name="c0_badge"/>
          <p:cNvSpPr/>
          <p:nvPr/>
        </p:nvSpPr>
        <p:spPr>
          <a:xfrm>
            <a:off x="1371600" y="1307591"/>
            <a:ext cx="384048" cy="384049"/>
          </a:xfrm>
          <a:prstGeom prst="ellipse">
            <a:avLst/>
          </a:prstGeom>
          <a:solidFill>
            <a:srgbClr val="FF8952"/>
          </a:solidFill>
          <a:ln w="12700">
            <a:solidFill>
              <a:srgbClr val="FF8952"/>
            </a:solidFill>
          </a:ln>
        </p:spPr>
        <p:txBody>
          <a:bodyPr lIns="45719" rIns="45719"/>
          <a:lstStyle/>
          <a:p>
            <a:pPr/>
          </a:p>
        </p:txBody>
      </p:sp>
      <p:sp>
        <p:nvSpPr>
          <p:cNvPr id="215" name="c0_num"/>
          <p:cNvSpPr txBox="1"/>
          <p:nvPr/>
        </p:nvSpPr>
        <p:spPr>
          <a:xfrm>
            <a:off x="1371600" y="1398015"/>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1</a:t>
            </a:r>
          </a:p>
        </p:txBody>
      </p:sp>
      <p:sp>
        <p:nvSpPr>
          <p:cNvPr id="216" name="c0_q"/>
          <p:cNvSpPr txBox="1"/>
          <p:nvPr/>
        </p:nvSpPr>
        <p:spPr>
          <a:xfrm>
            <a:off x="1901951" y="1249485"/>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C2730"/>
                </a:solidFill>
                <a:latin typeface="Arial"/>
                <a:ea typeface="Arial"/>
                <a:cs typeface="Arial"/>
                <a:sym typeface="Arial"/>
              </a:defRPr>
            </a:lvl1pPr>
          </a:lstStyle>
          <a:p>
            <a:pPr/>
            <a:r>
              <a:t>State the rule that decides whether an object floats or sinks in a liquid.</a:t>
            </a:r>
          </a:p>
        </p:txBody>
      </p:sp>
      <p:grpSp>
        <p:nvGrpSpPr>
          <p:cNvPr id="219" name="c0_a"/>
          <p:cNvGrpSpPr/>
          <p:nvPr/>
        </p:nvGrpSpPr>
        <p:grpSpPr>
          <a:xfrm>
            <a:off x="1371600" y="1965960"/>
            <a:ext cx="4696817" cy="438913"/>
            <a:chOff x="0" y="0"/>
            <a:chExt cx="4696816" cy="438912"/>
          </a:xfrm>
        </p:grpSpPr>
        <p:sp>
          <p:nvSpPr>
            <p:cNvPr id="217" name="Rounded Rectangle"/>
            <p:cNvSpPr/>
            <p:nvPr/>
          </p:nvSpPr>
          <p:spPr>
            <a:xfrm>
              <a:off x="0" y="0"/>
              <a:ext cx="4696817" cy="438913"/>
            </a:xfrm>
            <a:prstGeom prst="roundRect">
              <a:avLst>
                <a:gd name="adj" fmla="val 20833"/>
              </a:avLst>
            </a:prstGeom>
            <a:solidFill>
              <a:srgbClr val="D7E8EA"/>
            </a:solidFill>
            <a:ln w="16510" cap="flat">
              <a:solidFill>
                <a:srgbClr val="FF8952"/>
              </a:solidFill>
              <a:prstDash val="solid"/>
              <a:round/>
            </a:ln>
            <a:effectLst/>
          </p:spPr>
          <p:txBody>
            <a:bodyPr wrap="square" lIns="45719" tIns="45719" rIns="45719" bIns="45719" numCol="1" anchor="ctr">
              <a:noAutofit/>
            </a:bodyPr>
            <a:lstStyle/>
            <a:p>
              <a:pPr>
                <a:defRPr sz="1300"/>
              </a:pPr>
            </a:p>
          </p:txBody>
        </p:sp>
        <p:sp>
          <p:nvSpPr>
            <p:cNvPr id="218" name="Compare the object's density to the liquid's. Lower floats, higher sinks."/>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B3D4C"/>
                  </a:solidFill>
                  <a:latin typeface="Arial"/>
                  <a:ea typeface="Arial"/>
                  <a:cs typeface="Arial"/>
                  <a:sym typeface="Arial"/>
                </a:defRPr>
              </a:lvl1pPr>
            </a:lstStyle>
            <a:p>
              <a:pPr/>
              <a:r>
                <a:t>Compare the object's density to the liquid's. Lower floats, higher sinks.</a:t>
              </a:r>
            </a:p>
          </p:txBody>
        </p:sp>
      </p:grpSp>
      <p:sp>
        <p:nvSpPr>
          <p:cNvPr id="220" name="c1_bg"/>
          <p:cNvSpPr/>
          <p:nvPr/>
        </p:nvSpPr>
        <p:spPr>
          <a:xfrm>
            <a:off x="6543903" y="960119"/>
            <a:ext cx="5099153" cy="1572769"/>
          </a:xfrm>
          <a:prstGeom prst="roundRect">
            <a:avLst>
              <a:gd name="adj" fmla="val 5814"/>
            </a:avLst>
          </a:prstGeom>
          <a:solidFill>
            <a:srgbClr val="FFFFFF"/>
          </a:solidFill>
          <a:ln w="16510">
            <a:solidFill>
              <a:srgbClr val="D7E8EA"/>
            </a:solidFill>
          </a:ln>
        </p:spPr>
        <p:txBody>
          <a:bodyPr lIns="45719" rIns="45719"/>
          <a:lstStyle/>
          <a:p>
            <a:pPr/>
          </a:p>
        </p:txBody>
      </p:sp>
      <p:sp>
        <p:nvSpPr>
          <p:cNvPr id="221" name="c1_badge"/>
          <p:cNvSpPr/>
          <p:nvPr/>
        </p:nvSpPr>
        <p:spPr>
          <a:xfrm>
            <a:off x="6745072" y="1307591"/>
            <a:ext cx="384049" cy="384049"/>
          </a:xfrm>
          <a:prstGeom prst="ellipse">
            <a:avLst/>
          </a:prstGeom>
          <a:solidFill>
            <a:srgbClr val="FF8952"/>
          </a:solidFill>
          <a:ln w="12700">
            <a:solidFill>
              <a:srgbClr val="FF8952"/>
            </a:solidFill>
          </a:ln>
        </p:spPr>
        <p:txBody>
          <a:bodyPr lIns="45719" rIns="45719"/>
          <a:lstStyle/>
          <a:p>
            <a:pPr/>
          </a:p>
        </p:txBody>
      </p:sp>
      <p:sp>
        <p:nvSpPr>
          <p:cNvPr id="222" name="c1_num"/>
          <p:cNvSpPr txBox="1"/>
          <p:nvPr/>
        </p:nvSpPr>
        <p:spPr>
          <a:xfrm>
            <a:off x="6745072" y="1398015"/>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2</a:t>
            </a:r>
          </a:p>
        </p:txBody>
      </p:sp>
      <p:sp>
        <p:nvSpPr>
          <p:cNvPr id="223" name="c1_q"/>
          <p:cNvSpPr txBox="1"/>
          <p:nvPr/>
        </p:nvSpPr>
        <p:spPr>
          <a:xfrm>
            <a:off x="7275424" y="1249485"/>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C2730"/>
                </a:solidFill>
                <a:latin typeface="Arial"/>
                <a:ea typeface="Arial"/>
                <a:cs typeface="Arial"/>
                <a:sym typeface="Arial"/>
              </a:defRPr>
            </a:lvl1pPr>
          </a:lstStyle>
          <a:p>
            <a:pPr/>
            <a:r>
              <a:t>Aluminium has a density of 2.70 g/cm³. Determine whether it floats or sinks in water.</a:t>
            </a:r>
          </a:p>
        </p:txBody>
      </p:sp>
      <p:grpSp>
        <p:nvGrpSpPr>
          <p:cNvPr id="226" name="c1_a"/>
          <p:cNvGrpSpPr/>
          <p:nvPr/>
        </p:nvGrpSpPr>
        <p:grpSpPr>
          <a:xfrm>
            <a:off x="6745072" y="1965960"/>
            <a:ext cx="4696817" cy="438913"/>
            <a:chOff x="0" y="0"/>
            <a:chExt cx="4696816" cy="438912"/>
          </a:xfrm>
        </p:grpSpPr>
        <p:sp>
          <p:nvSpPr>
            <p:cNvPr id="224" name="Rounded Rectangle"/>
            <p:cNvSpPr/>
            <p:nvPr/>
          </p:nvSpPr>
          <p:spPr>
            <a:xfrm>
              <a:off x="0" y="0"/>
              <a:ext cx="4696817" cy="438913"/>
            </a:xfrm>
            <a:prstGeom prst="roundRect">
              <a:avLst>
                <a:gd name="adj" fmla="val 20833"/>
              </a:avLst>
            </a:prstGeom>
            <a:solidFill>
              <a:srgbClr val="D7E8EA"/>
            </a:solidFill>
            <a:ln w="16510" cap="flat">
              <a:solidFill>
                <a:srgbClr val="FF8952"/>
              </a:solidFill>
              <a:prstDash val="solid"/>
              <a:round/>
            </a:ln>
            <a:effectLst/>
          </p:spPr>
          <p:txBody>
            <a:bodyPr wrap="square" lIns="45719" tIns="45719" rIns="45719" bIns="45719" numCol="1" anchor="ctr">
              <a:noAutofit/>
            </a:bodyPr>
            <a:lstStyle/>
            <a:p>
              <a:pPr>
                <a:defRPr sz="1300"/>
              </a:pPr>
            </a:p>
          </p:txBody>
        </p:sp>
        <p:sp>
          <p:nvSpPr>
            <p:cNvPr id="225" name="Sinks. 2.70 is higher than water's 1.00 g/cm³."/>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B3D4C"/>
                  </a:solidFill>
                  <a:latin typeface="Arial"/>
                  <a:ea typeface="Arial"/>
                  <a:cs typeface="Arial"/>
                  <a:sym typeface="Arial"/>
                </a:defRPr>
              </a:lvl1pPr>
            </a:lstStyle>
            <a:p>
              <a:pPr/>
              <a:r>
                <a:t>Sinks. 2.70 is higher than water's 1.00 g/cm³.</a:t>
              </a:r>
            </a:p>
          </p:txBody>
        </p:sp>
      </p:grpSp>
      <p:sp>
        <p:nvSpPr>
          <p:cNvPr id="227" name="c2_bg"/>
          <p:cNvSpPr/>
          <p:nvPr/>
        </p:nvSpPr>
        <p:spPr>
          <a:xfrm>
            <a:off x="1170432" y="2679192"/>
            <a:ext cx="5099152" cy="1572769"/>
          </a:xfrm>
          <a:prstGeom prst="roundRect">
            <a:avLst>
              <a:gd name="adj" fmla="val 5814"/>
            </a:avLst>
          </a:prstGeom>
          <a:solidFill>
            <a:srgbClr val="FFFFFF"/>
          </a:solidFill>
          <a:ln w="16510">
            <a:solidFill>
              <a:srgbClr val="D7E8EA"/>
            </a:solidFill>
          </a:ln>
        </p:spPr>
        <p:txBody>
          <a:bodyPr lIns="45719" rIns="45719"/>
          <a:lstStyle/>
          <a:p>
            <a:pPr/>
          </a:p>
        </p:txBody>
      </p:sp>
      <p:sp>
        <p:nvSpPr>
          <p:cNvPr id="228" name="c2_badge"/>
          <p:cNvSpPr/>
          <p:nvPr/>
        </p:nvSpPr>
        <p:spPr>
          <a:xfrm>
            <a:off x="1371600" y="3026664"/>
            <a:ext cx="384048" cy="384049"/>
          </a:xfrm>
          <a:prstGeom prst="ellipse">
            <a:avLst/>
          </a:prstGeom>
          <a:solidFill>
            <a:srgbClr val="FF8952"/>
          </a:solidFill>
          <a:ln w="12700">
            <a:solidFill>
              <a:srgbClr val="FF8952"/>
            </a:solidFill>
          </a:ln>
        </p:spPr>
        <p:txBody>
          <a:bodyPr lIns="45719" rIns="45719"/>
          <a:lstStyle/>
          <a:p>
            <a:pPr/>
          </a:p>
        </p:txBody>
      </p:sp>
      <p:sp>
        <p:nvSpPr>
          <p:cNvPr id="229" name="c2_num"/>
          <p:cNvSpPr txBox="1"/>
          <p:nvPr/>
        </p:nvSpPr>
        <p:spPr>
          <a:xfrm>
            <a:off x="1371600" y="31170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3</a:t>
            </a:r>
          </a:p>
        </p:txBody>
      </p:sp>
      <p:sp>
        <p:nvSpPr>
          <p:cNvPr id="230" name="c2_q"/>
          <p:cNvSpPr txBox="1"/>
          <p:nvPr/>
        </p:nvSpPr>
        <p:spPr>
          <a:xfrm>
            <a:off x="1901951" y="2968557"/>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C2730"/>
                </a:solidFill>
                <a:latin typeface="Arial"/>
                <a:ea typeface="Arial"/>
                <a:cs typeface="Arial"/>
                <a:sym typeface="Arial"/>
              </a:defRPr>
            </a:lvl1pPr>
          </a:lstStyle>
          <a:p>
            <a:pPr/>
            <a:r>
              <a:t>Cork has a density of 0.25 g/cm³. Determine whether it floats or sinks in water.</a:t>
            </a:r>
          </a:p>
        </p:txBody>
      </p:sp>
      <p:grpSp>
        <p:nvGrpSpPr>
          <p:cNvPr id="233" name="c2_a"/>
          <p:cNvGrpSpPr/>
          <p:nvPr/>
        </p:nvGrpSpPr>
        <p:grpSpPr>
          <a:xfrm>
            <a:off x="1371600" y="3685032"/>
            <a:ext cx="4696817" cy="438913"/>
            <a:chOff x="0" y="0"/>
            <a:chExt cx="4696816" cy="438912"/>
          </a:xfrm>
        </p:grpSpPr>
        <p:sp>
          <p:nvSpPr>
            <p:cNvPr id="231" name="Rounded Rectangle"/>
            <p:cNvSpPr/>
            <p:nvPr/>
          </p:nvSpPr>
          <p:spPr>
            <a:xfrm>
              <a:off x="0" y="0"/>
              <a:ext cx="4696817" cy="438913"/>
            </a:xfrm>
            <a:prstGeom prst="roundRect">
              <a:avLst>
                <a:gd name="adj" fmla="val 20833"/>
              </a:avLst>
            </a:prstGeom>
            <a:solidFill>
              <a:srgbClr val="D7E8EA"/>
            </a:solidFill>
            <a:ln w="16510" cap="flat">
              <a:solidFill>
                <a:srgbClr val="FF8952"/>
              </a:solidFill>
              <a:prstDash val="solid"/>
              <a:round/>
            </a:ln>
            <a:effectLst/>
          </p:spPr>
          <p:txBody>
            <a:bodyPr wrap="square" lIns="45719" tIns="45719" rIns="45719" bIns="45719" numCol="1" anchor="ctr">
              <a:noAutofit/>
            </a:bodyPr>
            <a:lstStyle/>
            <a:p>
              <a:pPr>
                <a:defRPr sz="1300"/>
              </a:pPr>
            </a:p>
          </p:txBody>
        </p:sp>
        <p:sp>
          <p:nvSpPr>
            <p:cNvPr id="232" name="Floats. 0.25 is lower than water's 1.00 g/cm³."/>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B3D4C"/>
                  </a:solidFill>
                  <a:latin typeface="Arial"/>
                  <a:ea typeface="Arial"/>
                  <a:cs typeface="Arial"/>
                  <a:sym typeface="Arial"/>
                </a:defRPr>
              </a:lvl1pPr>
            </a:lstStyle>
            <a:p>
              <a:pPr/>
              <a:r>
                <a:t>Floats. 0.25 is lower than water's 1.00 g/cm³.</a:t>
              </a:r>
            </a:p>
          </p:txBody>
        </p:sp>
      </p:grpSp>
      <p:sp>
        <p:nvSpPr>
          <p:cNvPr id="234" name="c3_bg"/>
          <p:cNvSpPr/>
          <p:nvPr/>
        </p:nvSpPr>
        <p:spPr>
          <a:xfrm>
            <a:off x="6543903" y="2679192"/>
            <a:ext cx="5099153" cy="1572769"/>
          </a:xfrm>
          <a:prstGeom prst="roundRect">
            <a:avLst>
              <a:gd name="adj" fmla="val 5814"/>
            </a:avLst>
          </a:prstGeom>
          <a:solidFill>
            <a:srgbClr val="FFFFFF"/>
          </a:solidFill>
          <a:ln w="16510">
            <a:solidFill>
              <a:srgbClr val="D7E8EA"/>
            </a:solidFill>
          </a:ln>
        </p:spPr>
        <p:txBody>
          <a:bodyPr lIns="45719" rIns="45719"/>
          <a:lstStyle/>
          <a:p>
            <a:pPr/>
          </a:p>
        </p:txBody>
      </p:sp>
      <p:sp>
        <p:nvSpPr>
          <p:cNvPr id="235" name="c3_badge"/>
          <p:cNvSpPr/>
          <p:nvPr/>
        </p:nvSpPr>
        <p:spPr>
          <a:xfrm>
            <a:off x="6745072" y="3026664"/>
            <a:ext cx="384049" cy="384049"/>
          </a:xfrm>
          <a:prstGeom prst="ellipse">
            <a:avLst/>
          </a:prstGeom>
          <a:solidFill>
            <a:srgbClr val="FF8952"/>
          </a:solidFill>
          <a:ln w="12700">
            <a:solidFill>
              <a:srgbClr val="FF8952"/>
            </a:solidFill>
          </a:ln>
        </p:spPr>
        <p:txBody>
          <a:bodyPr lIns="45719" rIns="45719"/>
          <a:lstStyle/>
          <a:p>
            <a:pPr/>
          </a:p>
        </p:txBody>
      </p:sp>
      <p:sp>
        <p:nvSpPr>
          <p:cNvPr id="236" name="c3_num"/>
          <p:cNvSpPr txBox="1"/>
          <p:nvPr/>
        </p:nvSpPr>
        <p:spPr>
          <a:xfrm>
            <a:off x="6745072" y="31170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4</a:t>
            </a:r>
          </a:p>
        </p:txBody>
      </p:sp>
      <p:sp>
        <p:nvSpPr>
          <p:cNvPr id="237" name="c3_q"/>
          <p:cNvSpPr txBox="1"/>
          <p:nvPr/>
        </p:nvSpPr>
        <p:spPr>
          <a:xfrm>
            <a:off x="7275424" y="2968557"/>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C2730"/>
                </a:solidFill>
                <a:latin typeface="Arial"/>
                <a:ea typeface="Arial"/>
                <a:cs typeface="Arial"/>
                <a:sym typeface="Arial"/>
              </a:defRPr>
            </a:lvl1pPr>
          </a:lstStyle>
          <a:p>
            <a:pPr/>
            <a:r>
              <a:t>State the density of ice and the density of water, in g/cm³.</a:t>
            </a:r>
          </a:p>
        </p:txBody>
      </p:sp>
      <p:grpSp>
        <p:nvGrpSpPr>
          <p:cNvPr id="240" name="c3_a"/>
          <p:cNvGrpSpPr/>
          <p:nvPr/>
        </p:nvGrpSpPr>
        <p:grpSpPr>
          <a:xfrm>
            <a:off x="6745072" y="3685032"/>
            <a:ext cx="4696817" cy="438913"/>
            <a:chOff x="0" y="0"/>
            <a:chExt cx="4696816" cy="438912"/>
          </a:xfrm>
        </p:grpSpPr>
        <p:sp>
          <p:nvSpPr>
            <p:cNvPr id="238" name="Rounded Rectangle"/>
            <p:cNvSpPr/>
            <p:nvPr/>
          </p:nvSpPr>
          <p:spPr>
            <a:xfrm>
              <a:off x="0" y="0"/>
              <a:ext cx="4696817" cy="438913"/>
            </a:xfrm>
            <a:prstGeom prst="roundRect">
              <a:avLst>
                <a:gd name="adj" fmla="val 20833"/>
              </a:avLst>
            </a:prstGeom>
            <a:solidFill>
              <a:srgbClr val="D7E8EA"/>
            </a:solidFill>
            <a:ln w="16510" cap="flat">
              <a:solidFill>
                <a:srgbClr val="FF8952"/>
              </a:solidFill>
              <a:prstDash val="solid"/>
              <a:round/>
            </a:ln>
            <a:effectLst/>
          </p:spPr>
          <p:txBody>
            <a:bodyPr wrap="square" lIns="45719" tIns="45719" rIns="45719" bIns="45719" numCol="1" anchor="ctr">
              <a:noAutofit/>
            </a:bodyPr>
            <a:lstStyle/>
            <a:p>
              <a:pPr>
                <a:defRPr sz="1300"/>
              </a:pPr>
            </a:p>
          </p:txBody>
        </p:sp>
        <p:sp>
          <p:nvSpPr>
            <p:cNvPr id="239" name="Ice is about 0.92 g/cm³. Water is about 1.00 g/cm³."/>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B3D4C"/>
                  </a:solidFill>
                  <a:latin typeface="Arial"/>
                  <a:ea typeface="Arial"/>
                  <a:cs typeface="Arial"/>
                  <a:sym typeface="Arial"/>
                </a:defRPr>
              </a:lvl1pPr>
            </a:lstStyle>
            <a:p>
              <a:pPr/>
              <a:r>
                <a:t>Ice is about 0.92 g/cm³. Water is about 1.00 g/cm³.</a:t>
              </a:r>
            </a:p>
          </p:txBody>
        </p:sp>
      </p:grpSp>
      <p:sp>
        <p:nvSpPr>
          <p:cNvPr id="241" name="c4_bg"/>
          <p:cNvSpPr/>
          <p:nvPr/>
        </p:nvSpPr>
        <p:spPr>
          <a:xfrm>
            <a:off x="1170432" y="4398264"/>
            <a:ext cx="5099152" cy="1572769"/>
          </a:xfrm>
          <a:prstGeom prst="roundRect">
            <a:avLst>
              <a:gd name="adj" fmla="val 5814"/>
            </a:avLst>
          </a:prstGeom>
          <a:solidFill>
            <a:srgbClr val="FFFFFF"/>
          </a:solidFill>
          <a:ln w="16510">
            <a:solidFill>
              <a:srgbClr val="D7E8EA"/>
            </a:solidFill>
          </a:ln>
        </p:spPr>
        <p:txBody>
          <a:bodyPr lIns="45719" rIns="45719"/>
          <a:lstStyle/>
          <a:p>
            <a:pPr/>
          </a:p>
        </p:txBody>
      </p:sp>
      <p:sp>
        <p:nvSpPr>
          <p:cNvPr id="242" name="c4_badge"/>
          <p:cNvSpPr/>
          <p:nvPr/>
        </p:nvSpPr>
        <p:spPr>
          <a:xfrm>
            <a:off x="1371600" y="4745735"/>
            <a:ext cx="384048" cy="384049"/>
          </a:xfrm>
          <a:prstGeom prst="ellipse">
            <a:avLst/>
          </a:prstGeom>
          <a:solidFill>
            <a:srgbClr val="FF8952"/>
          </a:solidFill>
          <a:ln w="12700">
            <a:solidFill>
              <a:srgbClr val="FF8952"/>
            </a:solidFill>
          </a:ln>
        </p:spPr>
        <p:txBody>
          <a:bodyPr lIns="45719" rIns="45719"/>
          <a:lstStyle/>
          <a:p>
            <a:pPr/>
          </a:p>
        </p:txBody>
      </p:sp>
      <p:sp>
        <p:nvSpPr>
          <p:cNvPr id="243" name="c4_num"/>
          <p:cNvSpPr txBox="1"/>
          <p:nvPr/>
        </p:nvSpPr>
        <p:spPr>
          <a:xfrm>
            <a:off x="1371600" y="483615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5</a:t>
            </a:r>
          </a:p>
        </p:txBody>
      </p:sp>
      <p:sp>
        <p:nvSpPr>
          <p:cNvPr id="244" name="c4_q"/>
          <p:cNvSpPr txBox="1"/>
          <p:nvPr/>
        </p:nvSpPr>
        <p:spPr>
          <a:xfrm>
            <a:off x="1901951"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C2730"/>
                </a:solidFill>
                <a:latin typeface="Arial"/>
                <a:ea typeface="Arial"/>
                <a:cs typeface="Arial"/>
                <a:sym typeface="Arial"/>
              </a:defRPr>
            </a:lvl1pPr>
          </a:lstStyle>
          <a:p>
            <a:pPr/>
            <a:r>
              <a:t>Explain, in terms of density, why ice floats on water.</a:t>
            </a:r>
          </a:p>
        </p:txBody>
      </p:sp>
      <p:grpSp>
        <p:nvGrpSpPr>
          <p:cNvPr id="247" name="c4_a"/>
          <p:cNvGrpSpPr/>
          <p:nvPr/>
        </p:nvGrpSpPr>
        <p:grpSpPr>
          <a:xfrm>
            <a:off x="1371600" y="5404103"/>
            <a:ext cx="4696817" cy="438913"/>
            <a:chOff x="0" y="0"/>
            <a:chExt cx="4696816" cy="438912"/>
          </a:xfrm>
        </p:grpSpPr>
        <p:sp>
          <p:nvSpPr>
            <p:cNvPr id="245" name="Rounded Rectangle"/>
            <p:cNvSpPr/>
            <p:nvPr/>
          </p:nvSpPr>
          <p:spPr>
            <a:xfrm>
              <a:off x="0" y="0"/>
              <a:ext cx="4696817" cy="438913"/>
            </a:xfrm>
            <a:prstGeom prst="roundRect">
              <a:avLst>
                <a:gd name="adj" fmla="val 20833"/>
              </a:avLst>
            </a:prstGeom>
            <a:solidFill>
              <a:srgbClr val="D7E8EA"/>
            </a:solidFill>
            <a:ln w="16510" cap="flat">
              <a:solidFill>
                <a:srgbClr val="FF8952"/>
              </a:solidFill>
              <a:prstDash val="solid"/>
              <a:round/>
            </a:ln>
            <a:effectLst/>
          </p:spPr>
          <p:txBody>
            <a:bodyPr wrap="square" lIns="45719" tIns="45719" rIns="45719" bIns="45719" numCol="1" anchor="ctr">
              <a:noAutofit/>
            </a:bodyPr>
            <a:lstStyle/>
            <a:p>
              <a:pPr>
                <a:defRPr sz="1300"/>
              </a:pPr>
            </a:p>
          </p:txBody>
        </p:sp>
        <p:sp>
          <p:nvSpPr>
            <p:cNvPr id="246" name="Ice's density is lower than water's. Its molecules lock into a pattern that holds them further apart."/>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B3D4C"/>
                  </a:solidFill>
                  <a:latin typeface="Arial"/>
                  <a:ea typeface="Arial"/>
                  <a:cs typeface="Arial"/>
                  <a:sym typeface="Arial"/>
                </a:defRPr>
              </a:lvl1pPr>
            </a:lstStyle>
            <a:p>
              <a:pPr/>
              <a:r>
                <a:t>Ice's density is lower than water's. Its molecules lock into a pattern that holds them further apart.</a:t>
              </a:r>
            </a:p>
          </p:txBody>
        </p:sp>
      </p:grpSp>
      <p:sp>
        <p:nvSpPr>
          <p:cNvPr id="248" name="c5_bg"/>
          <p:cNvSpPr/>
          <p:nvPr/>
        </p:nvSpPr>
        <p:spPr>
          <a:xfrm>
            <a:off x="6543903" y="4398264"/>
            <a:ext cx="5099153" cy="1572769"/>
          </a:xfrm>
          <a:prstGeom prst="roundRect">
            <a:avLst>
              <a:gd name="adj" fmla="val 5814"/>
            </a:avLst>
          </a:prstGeom>
          <a:solidFill>
            <a:srgbClr val="FFFFFF"/>
          </a:solidFill>
          <a:ln w="16510">
            <a:solidFill>
              <a:srgbClr val="D7E8EA"/>
            </a:solidFill>
          </a:ln>
        </p:spPr>
        <p:txBody>
          <a:bodyPr lIns="45719" rIns="45719"/>
          <a:lstStyle/>
          <a:p>
            <a:pPr/>
          </a:p>
        </p:txBody>
      </p:sp>
      <p:sp>
        <p:nvSpPr>
          <p:cNvPr id="249" name="c5_badge"/>
          <p:cNvSpPr/>
          <p:nvPr/>
        </p:nvSpPr>
        <p:spPr>
          <a:xfrm>
            <a:off x="6745072" y="4745735"/>
            <a:ext cx="384049" cy="384049"/>
          </a:xfrm>
          <a:prstGeom prst="ellipse">
            <a:avLst/>
          </a:prstGeom>
          <a:solidFill>
            <a:srgbClr val="FF8952"/>
          </a:solidFill>
          <a:ln w="12700">
            <a:solidFill>
              <a:srgbClr val="FF8952"/>
            </a:solidFill>
          </a:ln>
        </p:spPr>
        <p:txBody>
          <a:bodyPr lIns="45719" rIns="45719"/>
          <a:lstStyle/>
          <a:p>
            <a:pPr/>
          </a:p>
        </p:txBody>
      </p:sp>
      <p:sp>
        <p:nvSpPr>
          <p:cNvPr id="250" name="c5_num"/>
          <p:cNvSpPr txBox="1"/>
          <p:nvPr/>
        </p:nvSpPr>
        <p:spPr>
          <a:xfrm>
            <a:off x="6745072" y="483615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0B3D4C"/>
                </a:solidFill>
                <a:latin typeface="Georgia"/>
                <a:ea typeface="Georgia"/>
                <a:cs typeface="Georgia"/>
                <a:sym typeface="Georgia"/>
              </a:defRPr>
            </a:lvl1pPr>
          </a:lstStyle>
          <a:p>
            <a:pPr/>
            <a:r>
              <a:t>6</a:t>
            </a:r>
          </a:p>
        </p:txBody>
      </p:sp>
      <p:sp>
        <p:nvSpPr>
          <p:cNvPr id="251" name="c5_q"/>
          <p:cNvSpPr txBox="1"/>
          <p:nvPr/>
        </p:nvSpPr>
        <p:spPr>
          <a:xfrm>
            <a:off x="7275424" y="4687629"/>
            <a:ext cx="4166465" cy="50026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2000"/>
              </a:lnSpc>
              <a:defRPr sz="1600">
                <a:solidFill>
                  <a:srgbClr val="0C2730"/>
                </a:solidFill>
                <a:latin typeface="Arial"/>
                <a:ea typeface="Arial"/>
                <a:cs typeface="Arial"/>
                <a:sym typeface="Arial"/>
              </a:defRPr>
            </a:lvl1pPr>
          </a:lstStyle>
          <a:p>
            <a:pPr/>
            <a:r>
              <a:t>A steel ship floats, even though steel itself is denser than water. Explain why, using density.</a:t>
            </a:r>
          </a:p>
        </p:txBody>
      </p:sp>
      <p:grpSp>
        <p:nvGrpSpPr>
          <p:cNvPr id="254" name="c5_a"/>
          <p:cNvGrpSpPr/>
          <p:nvPr/>
        </p:nvGrpSpPr>
        <p:grpSpPr>
          <a:xfrm>
            <a:off x="6745072" y="5404103"/>
            <a:ext cx="4696817" cy="438913"/>
            <a:chOff x="0" y="0"/>
            <a:chExt cx="4696816" cy="438912"/>
          </a:xfrm>
        </p:grpSpPr>
        <p:sp>
          <p:nvSpPr>
            <p:cNvPr id="252" name="Rounded Rectangle"/>
            <p:cNvSpPr/>
            <p:nvPr/>
          </p:nvSpPr>
          <p:spPr>
            <a:xfrm>
              <a:off x="0" y="0"/>
              <a:ext cx="4696817" cy="438913"/>
            </a:xfrm>
            <a:prstGeom prst="roundRect">
              <a:avLst>
                <a:gd name="adj" fmla="val 20833"/>
              </a:avLst>
            </a:prstGeom>
            <a:solidFill>
              <a:srgbClr val="D7E8EA"/>
            </a:solidFill>
            <a:ln w="16510" cap="flat">
              <a:solidFill>
                <a:srgbClr val="FF8952"/>
              </a:solidFill>
              <a:prstDash val="solid"/>
              <a:round/>
            </a:ln>
            <a:effectLst/>
          </p:spPr>
          <p:txBody>
            <a:bodyPr wrap="square" lIns="45719" tIns="45719" rIns="45719" bIns="45719" numCol="1" anchor="ctr">
              <a:noAutofit/>
            </a:bodyPr>
            <a:lstStyle/>
            <a:p>
              <a:pPr>
                <a:defRPr sz="1300"/>
              </a:pPr>
            </a:p>
          </p:txBody>
        </p:sp>
        <p:sp>
          <p:nvSpPr>
            <p:cNvPr id="253" name="The hull traps a lot of air. The ship's average density, air included, is lower than water's."/>
            <p:cNvSpPr txBox="1"/>
            <p:nvPr/>
          </p:nvSpPr>
          <p:spPr>
            <a:xfrm>
              <a:off x="35035" y="30640"/>
              <a:ext cx="4626746" cy="3776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0B3D4C"/>
                  </a:solidFill>
                  <a:latin typeface="Arial"/>
                  <a:ea typeface="Arial"/>
                  <a:cs typeface="Arial"/>
                  <a:sym typeface="Arial"/>
                </a:defRPr>
              </a:lvl1pPr>
            </a:lstStyle>
            <a:p>
              <a:pPr/>
              <a:r>
                <a:t>The hull traps a lot of air. The ship's average density, air included, is lower than water's.</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60000" fill="hold"/>
                                        <p:tgtEl>
                                          <p:spTgt spid="20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219"/>
                                        </p:tgtEl>
                                        <p:attrNameLst>
                                          <p:attrName>style.visibility</p:attrName>
                                        </p:attrNameLst>
                                      </p:cBhvr>
                                      <p:to>
                                        <p:strVal val="visible"/>
                                      </p:to>
                                    </p:set>
                                    <p:animEffect filter="wipe(left)" transition="in">
                                      <p:cBhvr>
                                        <p:cTn id="11" dur="400"/>
                                        <p:tgtEl>
                                          <p:spTgt spid="219"/>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226"/>
                                        </p:tgtEl>
                                        <p:attrNameLst>
                                          <p:attrName>style.visibility</p:attrName>
                                        </p:attrNameLst>
                                      </p:cBhvr>
                                      <p:to>
                                        <p:strVal val="visible"/>
                                      </p:to>
                                    </p:set>
                                    <p:animEffect filter="wipe(left)" transition="in">
                                      <p:cBhvr>
                                        <p:cTn id="16" dur="400"/>
                                        <p:tgtEl>
                                          <p:spTgt spid="22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233"/>
                                        </p:tgtEl>
                                        <p:attrNameLst>
                                          <p:attrName>style.visibility</p:attrName>
                                        </p:attrNameLst>
                                      </p:cBhvr>
                                      <p:to>
                                        <p:strVal val="visible"/>
                                      </p:to>
                                    </p:set>
                                    <p:animEffect filter="wipe(left)" transition="in">
                                      <p:cBhvr>
                                        <p:cTn id="21" dur="400"/>
                                        <p:tgtEl>
                                          <p:spTgt spid="233"/>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240"/>
                                        </p:tgtEl>
                                        <p:attrNameLst>
                                          <p:attrName>style.visibility</p:attrName>
                                        </p:attrNameLst>
                                      </p:cBhvr>
                                      <p:to>
                                        <p:strVal val="visible"/>
                                      </p:to>
                                    </p:set>
                                    <p:animEffect filter="wipe(left)" transition="in">
                                      <p:cBhvr>
                                        <p:cTn id="26" dur="400"/>
                                        <p:tgtEl>
                                          <p:spTgt spid="240"/>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247"/>
                                        </p:tgtEl>
                                        <p:attrNameLst>
                                          <p:attrName>style.visibility</p:attrName>
                                        </p:attrNameLst>
                                      </p:cBhvr>
                                      <p:to>
                                        <p:strVal val="visible"/>
                                      </p:to>
                                    </p:set>
                                    <p:animEffect filter="wipe(left)" transition="in">
                                      <p:cBhvr>
                                        <p:cTn id="31" dur="400"/>
                                        <p:tgtEl>
                                          <p:spTgt spid="247"/>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254"/>
                                        </p:tgtEl>
                                        <p:attrNameLst>
                                          <p:attrName>style.visibility</p:attrName>
                                        </p:attrNameLst>
                                      </p:cBhvr>
                                      <p:to>
                                        <p:strVal val="visible"/>
                                      </p:to>
                                    </p:set>
                                    <p:animEffect filter="wipe(left)" transition="in">
                                      <p:cBhvr>
                                        <p:cTn id="36" dur="400"/>
                                        <p:tgtEl>
                                          <p:spTgt spid="254"/>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9"/>
                </p:tgtEl>
              </p:cMediaNode>
            </p:video>
            <p:seq concurrent="1" prevAc="none" nextAc="seek">
              <p:cTn id="38" evtFilter="cancelBubble" nodeType="interactiveSeq" restart="whenNotActive" fill="hold">
                <p:stCondLst>
                  <p:cond delay="0" evt="onClick">
                    <p:tgtEl>
                      <p:spTgt spid="209"/>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9"/>
                                        </p:tgtEl>
                                      </p:cBhvr>
                                    </p:cmd>
                                  </p:childTnLst>
                                </p:cTn>
                              </p:par>
                            </p:childTnLst>
                          </p:cTn>
                        </p:par>
                      </p:childTnLst>
                    </p:cTn>
                  </p:par>
                </p:childTnLst>
              </p:cTn>
              <p:nextCondLst>
                <p:cond delay="0" evt="onClick">
                  <p:tgtEl>
                    <p:spTgt spid="209"/>
                  </p:tgtEl>
                </p:cond>
              </p:nextCondLst>
            </p:seq>
          </p:childTnLst>
        </p:cTn>
      </p:par>
    </p:tnLst>
    <p:bldLst>
      <p:bldP build="whole" bldLvl="1" animBg="1" rev="0" advAuto="0" spid="240" grpId="5"/>
      <p:bldP build="whole" bldLvl="1" animBg="1" rev="0" advAuto="0" spid="226" grpId="3"/>
      <p:bldP build="whole" bldLvl="1" animBg="1" rev="0" advAuto="0" spid="247" grpId="6"/>
      <p:bldP build="whole" bldLvl="1" animBg="1" rev="0" advAuto="0" spid="233" grpId="4"/>
      <p:bldP build="whole" bldLvl="1" animBg="1" rev="0" advAuto="0" spid="219" grpId="2"/>
      <p:bldP build="whole" bldLvl="1" animBg="1" rev="0" advAuto="0" spid="254" grpId="7"/>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EFF6F7"/>
        </a:solidFill>
      </p:bgPr>
    </p:bg>
    <p:spTree>
      <p:nvGrpSpPr>
        <p:cNvPr id="1" name=""/>
        <p:cNvGrpSpPr/>
        <p:nvPr/>
      </p:nvGrpSpPr>
      <p:grpSpPr>
        <a:xfrm>
          <a:off x="0" y="0"/>
          <a:ext cx="0" cy="0"/>
          <a:chOff x="0" y="0"/>
          <a:chExt cx="0" cy="0"/>
        </a:xfrm>
      </p:grpSpPr>
      <p:pic>
        <p:nvPicPr>
          <p:cNvPr id="25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61" name="phase_pill"/>
          <p:cNvGrpSpPr/>
          <p:nvPr/>
        </p:nvGrpSpPr>
        <p:grpSpPr>
          <a:xfrm>
            <a:off x="1170432" y="310895"/>
            <a:ext cx="1892808" cy="329185"/>
            <a:chOff x="0" y="0"/>
            <a:chExt cx="1892807" cy="329184"/>
          </a:xfrm>
        </p:grpSpPr>
        <p:sp>
          <p:nvSpPr>
            <p:cNvPr id="259" name="Rounded Rectangle"/>
            <p:cNvSpPr/>
            <p:nvPr/>
          </p:nvSpPr>
          <p:spPr>
            <a:xfrm>
              <a:off x="0" y="0"/>
              <a:ext cx="1892808" cy="329185"/>
            </a:xfrm>
            <a:prstGeom prst="roundRect">
              <a:avLst>
                <a:gd name="adj" fmla="val 44444"/>
              </a:avLst>
            </a:prstGeom>
            <a:solidFill>
              <a:srgbClr val="0B3D4C"/>
            </a:solidFill>
            <a:ln w="12700" cap="flat">
              <a:noFill/>
              <a:miter lim="400000"/>
            </a:ln>
            <a:effectLst/>
          </p:spPr>
          <p:txBody>
            <a:bodyPr wrap="square" lIns="45719" tIns="45719" rIns="45719" bIns="45719" numCol="1" anchor="ctr">
              <a:noAutofit/>
            </a:bodyPr>
            <a:lstStyle/>
            <a:p>
              <a:pPr algn="ctr">
                <a:defRPr sz="1100"/>
              </a:pPr>
            </a:p>
          </p:txBody>
        </p:sp>
        <p:sp>
          <p:nvSpPr>
            <p:cNvPr id="260" name="YOU DO · 17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17 MIN</a:t>
              </a:r>
            </a:p>
          </p:txBody>
        </p:sp>
      </p:grpSp>
      <p:pic>
        <p:nvPicPr>
          <p:cNvPr id="262"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63" name="slide_title"/>
          <p:cNvSpPr txBox="1"/>
          <p:nvPr/>
        </p:nvSpPr>
        <p:spPr>
          <a:xfrm>
            <a:off x="1170432" y="1120387"/>
            <a:ext cx="8643823" cy="374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0B3D4C"/>
                </a:solidFill>
                <a:latin typeface="Georgia"/>
                <a:ea typeface="Georgia"/>
                <a:cs typeface="Georgia"/>
                <a:sym typeface="Georgia"/>
              </a:defRPr>
            </a:lvl1pPr>
          </a:lstStyle>
          <a:p>
            <a:pPr/>
            <a:r>
              <a:t>Float Or Sink game</a:t>
            </a:r>
          </a:p>
        </p:txBody>
      </p:sp>
      <p:sp>
        <p:nvSpPr>
          <p:cNvPr id="264"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D63447"/>
                </a:solidFill>
                <a:latin typeface="Arial"/>
                <a:ea typeface="Arial"/>
                <a:cs typeface="Arial"/>
                <a:sym typeface="Arial"/>
              </a:defRPr>
            </a:lvl1pPr>
          </a:lstStyle>
          <a:p>
            <a:pPr/>
            <a:r>
              <a:t>Open Google Classroom now.</a:t>
            </a:r>
          </a:p>
        </p:txBody>
      </p:sp>
      <p:grpSp>
        <p:nvGrpSpPr>
          <p:cNvPr id="269" name="t0"/>
          <p:cNvGrpSpPr/>
          <p:nvPr/>
        </p:nvGrpSpPr>
        <p:grpSpPr>
          <a:xfrm>
            <a:off x="1170432" y="2322576"/>
            <a:ext cx="3307994" cy="1920241"/>
            <a:chOff x="0" y="0"/>
            <a:chExt cx="3307993" cy="1920239"/>
          </a:xfrm>
        </p:grpSpPr>
        <p:sp>
          <p:nvSpPr>
            <p:cNvPr id="265" name="t0_bg"/>
            <p:cNvSpPr/>
            <p:nvPr/>
          </p:nvSpPr>
          <p:spPr>
            <a:xfrm>
              <a:off x="0" y="0"/>
              <a:ext cx="3307994" cy="1920240"/>
            </a:xfrm>
            <a:prstGeom prst="roundRect">
              <a:avLst>
                <a:gd name="adj" fmla="val 4762"/>
              </a:avLst>
            </a:prstGeom>
            <a:solidFill>
              <a:srgbClr val="FBE4E4"/>
            </a:solidFill>
            <a:ln w="20320" cap="flat">
              <a:solidFill>
                <a:srgbClr val="D63447"/>
              </a:solidFill>
              <a:prstDash val="solid"/>
              <a:round/>
            </a:ln>
            <a:effectLst/>
          </p:spPr>
          <p:txBody>
            <a:bodyPr wrap="square" lIns="45719" tIns="45719" rIns="45719" bIns="45719" numCol="1" anchor="t">
              <a:noAutofit/>
            </a:bodyPr>
            <a:lstStyle/>
            <a:p>
              <a:pPr/>
            </a:p>
          </p:txBody>
        </p:sp>
        <p:sp>
          <p:nvSpPr>
            <p:cNvPr id="266" name="t0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D63447"/>
                  </a:solidFill>
                  <a:latin typeface="Arial"/>
                  <a:ea typeface="Arial"/>
                  <a:cs typeface="Arial"/>
                  <a:sym typeface="Arial"/>
                </a:defRPr>
              </a:lvl1pPr>
            </a:lstStyle>
            <a:p>
              <a:pPr/>
              <a:r>
                <a:t>ROUND 1</a:t>
              </a:r>
            </a:p>
          </p:txBody>
        </p:sp>
        <p:sp>
          <p:nvSpPr>
            <p:cNvPr id="267" name="t0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0B3D4C"/>
                  </a:solidFill>
                  <a:latin typeface="Arial"/>
                  <a:ea typeface="Arial"/>
                  <a:cs typeface="Arial"/>
                  <a:sym typeface="Arial"/>
                </a:defRPr>
              </a:lvl1pPr>
            </a:lstStyle>
            <a:p>
              <a:pPr/>
              <a:r>
                <a:t>Compare the densities</a:t>
              </a:r>
            </a:p>
          </p:txBody>
        </p:sp>
        <p:sp>
          <p:nvSpPr>
            <p:cNvPr id="268" name="t0_b"/>
            <p:cNvSpPr txBox="1"/>
            <p:nvPr/>
          </p:nvSpPr>
          <p:spPr>
            <a:xfrm>
              <a:off x="237744" y="877823"/>
              <a:ext cx="2832506" cy="4236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4E6D74"/>
                  </a:solidFill>
                  <a:latin typeface="Arial"/>
                  <a:ea typeface="Arial"/>
                  <a:cs typeface="Arial"/>
                  <a:sym typeface="Arial"/>
                </a:defRPr>
              </a:lvl1pPr>
            </a:lstStyle>
            <a:p>
              <a:pPr/>
              <a:r>
                <a:t>Given both densities directly. Floats, sinks, or not enough information.</a:t>
              </a:r>
            </a:p>
          </p:txBody>
        </p:sp>
      </p:grpSp>
      <p:grpSp>
        <p:nvGrpSpPr>
          <p:cNvPr id="274" name="t1"/>
          <p:cNvGrpSpPr/>
          <p:nvPr/>
        </p:nvGrpSpPr>
        <p:grpSpPr>
          <a:xfrm>
            <a:off x="4752745" y="2322576"/>
            <a:ext cx="3307995" cy="1920241"/>
            <a:chOff x="0" y="0"/>
            <a:chExt cx="3307993" cy="1920239"/>
          </a:xfrm>
        </p:grpSpPr>
        <p:sp>
          <p:nvSpPr>
            <p:cNvPr id="270" name="t1_bg"/>
            <p:cNvSpPr/>
            <p:nvPr/>
          </p:nvSpPr>
          <p:spPr>
            <a:xfrm>
              <a:off x="0" y="0"/>
              <a:ext cx="3307994" cy="1920240"/>
            </a:xfrm>
            <a:prstGeom prst="roundRect">
              <a:avLst>
                <a:gd name="adj" fmla="val 4762"/>
              </a:avLst>
            </a:prstGeom>
            <a:solidFill>
              <a:srgbClr val="D7EFE5"/>
            </a:solidFill>
            <a:ln w="20320" cap="flat">
              <a:solidFill>
                <a:srgbClr val="1FA37A"/>
              </a:solidFill>
              <a:prstDash val="solid"/>
              <a:round/>
            </a:ln>
            <a:effectLst/>
          </p:spPr>
          <p:txBody>
            <a:bodyPr wrap="square" lIns="45719" tIns="45719" rIns="45719" bIns="45719" numCol="1" anchor="t">
              <a:noAutofit/>
            </a:bodyPr>
            <a:lstStyle/>
            <a:p>
              <a:pPr/>
            </a:p>
          </p:txBody>
        </p:sp>
        <p:sp>
          <p:nvSpPr>
            <p:cNvPr id="271" name="t1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1FA37A"/>
                  </a:solidFill>
                  <a:latin typeface="Arial"/>
                  <a:ea typeface="Arial"/>
                  <a:cs typeface="Arial"/>
                  <a:sym typeface="Arial"/>
                </a:defRPr>
              </a:lvl1pPr>
            </a:lstStyle>
            <a:p>
              <a:pPr/>
              <a:r>
                <a:t>ROUND 2</a:t>
              </a:r>
            </a:p>
          </p:txBody>
        </p:sp>
        <p:sp>
          <p:nvSpPr>
            <p:cNvPr id="272" name="t1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0B3D4C"/>
                  </a:solidFill>
                  <a:latin typeface="Arial"/>
                  <a:ea typeface="Arial"/>
                  <a:cs typeface="Arial"/>
                  <a:sym typeface="Arial"/>
                </a:defRPr>
              </a:lvl1pPr>
            </a:lstStyle>
            <a:p>
              <a:pPr/>
              <a:r>
                <a:t>Calculate, then decide</a:t>
              </a:r>
            </a:p>
          </p:txBody>
        </p:sp>
        <p:sp>
          <p:nvSpPr>
            <p:cNvPr id="273" name="t1_b"/>
            <p:cNvSpPr txBox="1"/>
            <p:nvPr/>
          </p:nvSpPr>
          <p:spPr>
            <a:xfrm>
              <a:off x="237744" y="877823"/>
              <a:ext cx="2832506" cy="4236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4E6D74"/>
                  </a:solidFill>
                  <a:latin typeface="Arial"/>
                  <a:ea typeface="Arial"/>
                  <a:cs typeface="Arial"/>
                  <a:sym typeface="Arial"/>
                </a:defRPr>
              </a:lvl1pPr>
            </a:lstStyle>
            <a:p>
              <a:pPr/>
              <a:r>
                <a:t>Work out the density first, from mass and volume.</a:t>
              </a:r>
            </a:p>
          </p:txBody>
        </p:sp>
      </p:grpSp>
      <p:grpSp>
        <p:nvGrpSpPr>
          <p:cNvPr id="279" name="t2"/>
          <p:cNvGrpSpPr/>
          <p:nvPr/>
        </p:nvGrpSpPr>
        <p:grpSpPr>
          <a:xfrm>
            <a:off x="8335061" y="2322576"/>
            <a:ext cx="3307994" cy="1920241"/>
            <a:chOff x="0" y="0"/>
            <a:chExt cx="3307993" cy="1920239"/>
          </a:xfrm>
        </p:grpSpPr>
        <p:sp>
          <p:nvSpPr>
            <p:cNvPr id="275" name="t2_bg"/>
            <p:cNvSpPr/>
            <p:nvPr/>
          </p:nvSpPr>
          <p:spPr>
            <a:xfrm>
              <a:off x="0" y="0"/>
              <a:ext cx="3307994" cy="1920240"/>
            </a:xfrm>
            <a:prstGeom prst="roundRect">
              <a:avLst>
                <a:gd name="adj" fmla="val 4762"/>
              </a:avLst>
            </a:prstGeom>
            <a:solidFill>
              <a:srgbClr val="D7E8EA"/>
            </a:solidFill>
            <a:ln w="20320" cap="flat">
              <a:solidFill>
                <a:srgbClr val="C25A29"/>
              </a:solidFill>
              <a:prstDash val="solid"/>
              <a:round/>
            </a:ln>
            <a:effectLst/>
          </p:spPr>
          <p:txBody>
            <a:bodyPr wrap="square" lIns="45719" tIns="45719" rIns="45719" bIns="45719" numCol="1" anchor="t">
              <a:noAutofit/>
            </a:bodyPr>
            <a:lstStyle/>
            <a:p>
              <a:pPr/>
            </a:p>
          </p:txBody>
        </p:sp>
        <p:sp>
          <p:nvSpPr>
            <p:cNvPr id="276" name="t2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C25A29"/>
                  </a:solidFill>
                  <a:latin typeface="Arial"/>
                  <a:ea typeface="Arial"/>
                  <a:cs typeface="Arial"/>
                  <a:sym typeface="Arial"/>
                </a:defRPr>
              </a:lvl1pPr>
            </a:lstStyle>
            <a:p>
              <a:pPr/>
              <a:r>
                <a:t>ROUND 3</a:t>
              </a:r>
            </a:p>
          </p:txBody>
        </p:sp>
        <p:sp>
          <p:nvSpPr>
            <p:cNvPr id="277" name="t2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0B3D4C"/>
                  </a:solidFill>
                  <a:latin typeface="Arial"/>
                  <a:ea typeface="Arial"/>
                  <a:cs typeface="Arial"/>
                  <a:sym typeface="Arial"/>
                </a:defRPr>
              </a:lvl1pPr>
            </a:lstStyle>
            <a:p>
              <a:pPr/>
              <a:r>
                <a:t>Harder shapes and liquids</a:t>
              </a:r>
            </a:p>
          </p:txBody>
        </p:sp>
        <p:sp>
          <p:nvSpPr>
            <p:cNvPr id="278" name="t2_b"/>
            <p:cNvSpPr txBox="1"/>
            <p:nvPr/>
          </p:nvSpPr>
          <p:spPr>
            <a:xfrm>
              <a:off x="237744" y="877823"/>
              <a:ext cx="2832506" cy="42360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700"/>
                </a:lnSpc>
                <a:defRPr sz="1300">
                  <a:solidFill>
                    <a:srgbClr val="4E6D74"/>
                  </a:solidFill>
                  <a:latin typeface="Arial"/>
                  <a:ea typeface="Arial"/>
                  <a:cs typeface="Arial"/>
                  <a:sym typeface="Arial"/>
                </a:defRPr>
              </a:lvl1pPr>
            </a:lstStyle>
            <a:p>
              <a:pPr/>
              <a:r>
                <a:t>Very hard. The last two questions are meant to be almost impossible.</a:t>
              </a:r>
            </a:p>
          </p:txBody>
        </p:sp>
      </p:grpSp>
      <p:sp>
        <p:nvSpPr>
          <p:cNvPr id="280" name="yd_note"/>
          <p:cNvSpPr txBox="1"/>
          <p:nvPr/>
        </p:nvSpPr>
        <p:spPr>
          <a:xfrm>
            <a:off x="1170432" y="4535423"/>
            <a:ext cx="10472623" cy="5231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ts val="2100"/>
              </a:lnSpc>
              <a:defRPr b="1" sz="1600">
                <a:solidFill>
                  <a:srgbClr val="0B3D4C"/>
                </a:solidFill>
                <a:latin typeface="Arial"/>
                <a:ea typeface="Arial"/>
                <a:cs typeface="Arial"/>
                <a:sym typeface="Arial"/>
              </a:defRPr>
            </a:lvl1pPr>
          </a:lstStyle>
          <a:p>
            <a:pPr/>
            <a:r>
              <a:t>No timer on the questions. Read the feedback. Stop and see your results any time. Finished? The worksheet is there too.</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020000" fill="hold"/>
                                        <p:tgtEl>
                                          <p:spTgt spid="25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69"/>
                                        </p:tgtEl>
                                        <p:attrNameLst>
                                          <p:attrName>style.visibility</p:attrName>
                                        </p:attrNameLst>
                                      </p:cBhvr>
                                      <p:to>
                                        <p:strVal val="visible"/>
                                      </p:to>
                                    </p:set>
                                    <p:animEffect filter="fade" transition="in">
                                      <p:cBhvr>
                                        <p:cTn id="11" dur="400"/>
                                        <p:tgtEl>
                                          <p:spTgt spid="269"/>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74"/>
                                        </p:tgtEl>
                                        <p:attrNameLst>
                                          <p:attrName>style.visibility</p:attrName>
                                        </p:attrNameLst>
                                      </p:cBhvr>
                                      <p:to>
                                        <p:strVal val="visible"/>
                                      </p:to>
                                    </p:set>
                                    <p:animEffect filter="fade" transition="in">
                                      <p:cBhvr>
                                        <p:cTn id="16" dur="400"/>
                                        <p:tgtEl>
                                          <p:spTgt spid="274"/>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79"/>
                                        </p:tgtEl>
                                        <p:attrNameLst>
                                          <p:attrName>style.visibility</p:attrName>
                                        </p:attrNameLst>
                                      </p:cBhvr>
                                      <p:to>
                                        <p:strVal val="visible"/>
                                      </p:to>
                                    </p:set>
                                    <p:animEffect filter="fade" transition="in">
                                      <p:cBhvr>
                                        <p:cTn id="21" dur="400"/>
                                        <p:tgtEl>
                                          <p:spTgt spid="279"/>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80"/>
                                        </p:tgtEl>
                                        <p:attrNameLst>
                                          <p:attrName>style.visibility</p:attrName>
                                        </p:attrNameLst>
                                      </p:cBhvr>
                                      <p:to>
                                        <p:strVal val="visible"/>
                                      </p:to>
                                    </p:set>
                                    <p:animEffect filter="fade" transition="in">
                                      <p:cBhvr>
                                        <p:cTn id="26" dur="4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58"/>
                </p:tgtEl>
              </p:cMediaNode>
            </p:video>
            <p:seq concurrent="1" prevAc="none" nextAc="seek">
              <p:cTn id="28" evtFilter="cancelBubble" nodeType="interactiveSeq" restart="whenNotActive" fill="hold">
                <p:stCondLst>
                  <p:cond delay="0" evt="onClick">
                    <p:tgtEl>
                      <p:spTgt spid="258"/>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58"/>
                                        </p:tgtEl>
                                      </p:cBhvr>
                                    </p:cmd>
                                  </p:childTnLst>
                                </p:cTn>
                              </p:par>
                            </p:childTnLst>
                          </p:cTn>
                        </p:par>
                      </p:childTnLst>
                    </p:cTn>
                  </p:par>
                </p:childTnLst>
              </p:cTn>
              <p:nextCondLst>
                <p:cond delay="0" evt="onClick">
                  <p:tgtEl>
                    <p:spTgt spid="258"/>
                  </p:tgtEl>
                </p:cond>
              </p:nextCondLst>
            </p:seq>
          </p:childTnLst>
        </p:cTn>
      </p:par>
    </p:tnLst>
    <p:bldLst>
      <p:bldP build="whole" bldLvl="1" animBg="1" rev="0" advAuto="0" spid="274" grpId="3"/>
      <p:bldP build="whole" bldLvl="1" animBg="1" rev="0" advAuto="0" spid="280" grpId="5"/>
      <p:bldP build="whole" bldLvl="1" animBg="1" rev="0" advAuto="0" spid="269" grpId="2"/>
      <p:bldP build="whole" bldLvl="1" animBg="1" rev="0" advAuto="0" spid="279" grpId="4"/>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B3D4C"/>
        </a:solidFill>
      </p:bgPr>
    </p:bg>
    <p:spTree>
      <p:nvGrpSpPr>
        <p:cNvPr id="1" name=""/>
        <p:cNvGrpSpPr/>
        <p:nvPr/>
      </p:nvGrpSpPr>
      <p:grpSpPr>
        <a:xfrm>
          <a:off x="0" y="0"/>
          <a:ext cx="0" cy="0"/>
          <a:chOff x="0" y="0"/>
          <a:chExt cx="0" cy="0"/>
        </a:xfrm>
      </p:grpSpPr>
      <p:pic>
        <p:nvPicPr>
          <p:cNvPr id="284"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87" name="phase_pill"/>
          <p:cNvGrpSpPr/>
          <p:nvPr/>
        </p:nvGrpSpPr>
        <p:grpSpPr>
          <a:xfrm>
            <a:off x="1170432" y="310895"/>
            <a:ext cx="1892808" cy="329185"/>
            <a:chOff x="0" y="0"/>
            <a:chExt cx="1892807" cy="329184"/>
          </a:xfrm>
        </p:grpSpPr>
        <p:sp>
          <p:nvSpPr>
            <p:cNvPr id="285" name="Rounded Rectangle"/>
            <p:cNvSpPr/>
            <p:nvPr/>
          </p:nvSpPr>
          <p:spPr>
            <a:xfrm>
              <a:off x="0" y="0"/>
              <a:ext cx="1892808" cy="329185"/>
            </a:xfrm>
            <a:prstGeom prst="roundRect">
              <a:avLst>
                <a:gd name="adj" fmla="val 44444"/>
              </a:avLst>
            </a:prstGeom>
            <a:solidFill>
              <a:srgbClr val="FF8952"/>
            </a:solidFill>
            <a:ln w="12700" cap="flat">
              <a:noFill/>
              <a:miter lim="400000"/>
            </a:ln>
            <a:effectLst/>
          </p:spPr>
          <p:txBody>
            <a:bodyPr wrap="square" lIns="45719" tIns="45719" rIns="45719" bIns="45719" numCol="1" anchor="ctr">
              <a:noAutofit/>
            </a:bodyPr>
            <a:lstStyle/>
            <a:p>
              <a:pPr algn="ctr">
                <a:defRPr sz="1100"/>
              </a:pPr>
            </a:p>
          </p:txBody>
        </p:sp>
        <p:sp>
          <p:nvSpPr>
            <p:cNvPr id="286"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0B3D4C"/>
                  </a:solidFill>
                  <a:latin typeface="Arial"/>
                  <a:ea typeface="Arial"/>
                  <a:cs typeface="Arial"/>
                  <a:sym typeface="Arial"/>
                </a:defRPr>
              </a:lvl1pPr>
            </a:lstStyle>
            <a:p>
              <a:pPr/>
              <a:r>
                <a:t>PLENARY · 3 MIN</a:t>
              </a:r>
            </a:p>
          </p:txBody>
        </p:sp>
      </p:grpSp>
      <p:sp>
        <p:nvSpPr>
          <p:cNvPr id="288"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EFF6F7"/>
                </a:solidFill>
                <a:latin typeface="Georgia"/>
                <a:ea typeface="Georgia"/>
                <a:cs typeface="Georgia"/>
                <a:sym typeface="Georgia"/>
              </a:defRPr>
            </a:lvl1pPr>
          </a:lstStyle>
          <a:p>
            <a:pPr/>
            <a:r>
              <a:t>True or false?</a:t>
            </a:r>
          </a:p>
        </p:txBody>
      </p:sp>
      <p:grpSp>
        <p:nvGrpSpPr>
          <p:cNvPr id="291" name="p0_stmt"/>
          <p:cNvGrpSpPr/>
          <p:nvPr/>
        </p:nvGrpSpPr>
        <p:grpSpPr>
          <a:xfrm>
            <a:off x="1170432" y="2194560"/>
            <a:ext cx="8552383" cy="640081"/>
            <a:chOff x="0" y="0"/>
            <a:chExt cx="8552382" cy="640080"/>
          </a:xfrm>
        </p:grpSpPr>
        <p:sp>
          <p:nvSpPr>
            <p:cNvPr id="289" name="p0_bg"/>
            <p:cNvSpPr/>
            <p:nvPr/>
          </p:nvSpPr>
          <p:spPr>
            <a:xfrm>
              <a:off x="0" y="0"/>
              <a:ext cx="8552383" cy="640081"/>
            </a:xfrm>
            <a:prstGeom prst="roundRect">
              <a:avLst>
                <a:gd name="adj" fmla="val 14286"/>
              </a:avLst>
            </a:prstGeom>
            <a:solidFill>
              <a:srgbClr val="1C5A70"/>
            </a:solidFill>
            <a:ln w="12700" cap="flat">
              <a:solidFill>
                <a:srgbClr val="1C5A70"/>
              </a:solidFill>
              <a:prstDash val="solid"/>
              <a:round/>
            </a:ln>
            <a:effectLst/>
          </p:spPr>
          <p:txBody>
            <a:bodyPr wrap="square" lIns="45719" tIns="45719" rIns="45719" bIns="45719" numCol="1" anchor="t">
              <a:noAutofit/>
            </a:bodyPr>
            <a:lstStyle/>
            <a:p>
              <a:pPr/>
            </a:p>
          </p:txBody>
        </p:sp>
        <p:sp>
          <p:nvSpPr>
            <p:cNvPr id="290" name="p0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EFF6F7"/>
                  </a:solidFill>
                  <a:latin typeface="Arial"/>
                  <a:ea typeface="Arial"/>
                  <a:cs typeface="Arial"/>
                  <a:sym typeface="Arial"/>
                </a:defRPr>
              </a:lvl1pPr>
            </a:lstStyle>
            <a:p>
              <a:pPr/>
              <a:r>
                <a:t>An object floats if its density is less than the liquid's density.</a:t>
              </a:r>
            </a:p>
          </p:txBody>
        </p:sp>
      </p:grpSp>
      <p:sp>
        <p:nvSpPr>
          <p:cNvPr id="292" name="p0_v"/>
          <p:cNvSpPr txBox="1"/>
          <p:nvPr/>
        </p:nvSpPr>
        <p:spPr>
          <a:xfrm>
            <a:off x="9905695" y="2391131"/>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1FA37A"/>
                </a:solidFill>
                <a:latin typeface="Arial"/>
                <a:ea typeface="Arial"/>
                <a:cs typeface="Arial"/>
                <a:sym typeface="Arial"/>
              </a:defRPr>
            </a:lvl1pPr>
          </a:lstStyle>
          <a:p>
            <a:pPr/>
            <a:r>
              <a:t>TRUE</a:t>
            </a:r>
          </a:p>
        </p:txBody>
      </p:sp>
      <p:grpSp>
        <p:nvGrpSpPr>
          <p:cNvPr id="295" name="p1_stmt"/>
          <p:cNvGrpSpPr/>
          <p:nvPr/>
        </p:nvGrpSpPr>
        <p:grpSpPr>
          <a:xfrm>
            <a:off x="1170432" y="2999232"/>
            <a:ext cx="8552383" cy="640081"/>
            <a:chOff x="0" y="0"/>
            <a:chExt cx="8552382" cy="640080"/>
          </a:xfrm>
        </p:grpSpPr>
        <p:sp>
          <p:nvSpPr>
            <p:cNvPr id="293" name="p1_bg"/>
            <p:cNvSpPr/>
            <p:nvPr/>
          </p:nvSpPr>
          <p:spPr>
            <a:xfrm>
              <a:off x="0" y="0"/>
              <a:ext cx="8552383" cy="640081"/>
            </a:xfrm>
            <a:prstGeom prst="roundRect">
              <a:avLst>
                <a:gd name="adj" fmla="val 14286"/>
              </a:avLst>
            </a:prstGeom>
            <a:solidFill>
              <a:srgbClr val="1C5A70"/>
            </a:solidFill>
            <a:ln w="12700" cap="flat">
              <a:solidFill>
                <a:srgbClr val="1C5A70"/>
              </a:solidFill>
              <a:prstDash val="solid"/>
              <a:round/>
            </a:ln>
            <a:effectLst/>
          </p:spPr>
          <p:txBody>
            <a:bodyPr wrap="square" lIns="45719" tIns="45719" rIns="45719" bIns="45719" numCol="1" anchor="t">
              <a:noAutofit/>
            </a:bodyPr>
            <a:lstStyle/>
            <a:p>
              <a:pPr/>
            </a:p>
          </p:txBody>
        </p:sp>
        <p:sp>
          <p:nvSpPr>
            <p:cNvPr id="294" name="p1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EFF6F7"/>
                  </a:solidFill>
                  <a:latin typeface="Arial"/>
                  <a:ea typeface="Arial"/>
                  <a:cs typeface="Arial"/>
                  <a:sym typeface="Arial"/>
                </a:defRPr>
              </a:lvl1pPr>
            </a:lstStyle>
            <a:p>
              <a:pPr/>
              <a:r>
                <a:t>A heavier object always sinks.</a:t>
              </a:r>
            </a:p>
          </p:txBody>
        </p:sp>
      </p:grpSp>
      <p:sp>
        <p:nvSpPr>
          <p:cNvPr id="296" name="p1_v"/>
          <p:cNvSpPr txBox="1"/>
          <p:nvPr/>
        </p:nvSpPr>
        <p:spPr>
          <a:xfrm>
            <a:off x="9905695" y="31958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8952"/>
                </a:solidFill>
                <a:latin typeface="Arial"/>
                <a:ea typeface="Arial"/>
                <a:cs typeface="Arial"/>
                <a:sym typeface="Arial"/>
              </a:defRPr>
            </a:lvl1pPr>
          </a:lstStyle>
          <a:p>
            <a:pPr/>
            <a:r>
              <a:t>FALSE</a:t>
            </a:r>
          </a:p>
        </p:txBody>
      </p:sp>
      <p:grpSp>
        <p:nvGrpSpPr>
          <p:cNvPr id="299" name="p2_stmt"/>
          <p:cNvGrpSpPr/>
          <p:nvPr/>
        </p:nvGrpSpPr>
        <p:grpSpPr>
          <a:xfrm>
            <a:off x="1170432" y="3803903"/>
            <a:ext cx="8552383" cy="640081"/>
            <a:chOff x="0" y="0"/>
            <a:chExt cx="8552382" cy="640080"/>
          </a:xfrm>
        </p:grpSpPr>
        <p:sp>
          <p:nvSpPr>
            <p:cNvPr id="297" name="p2_bg"/>
            <p:cNvSpPr/>
            <p:nvPr/>
          </p:nvSpPr>
          <p:spPr>
            <a:xfrm>
              <a:off x="0" y="0"/>
              <a:ext cx="8552383" cy="640081"/>
            </a:xfrm>
            <a:prstGeom prst="roundRect">
              <a:avLst>
                <a:gd name="adj" fmla="val 14286"/>
              </a:avLst>
            </a:prstGeom>
            <a:solidFill>
              <a:srgbClr val="1C5A70"/>
            </a:solidFill>
            <a:ln w="12700" cap="flat">
              <a:solidFill>
                <a:srgbClr val="1C5A70"/>
              </a:solidFill>
              <a:prstDash val="solid"/>
              <a:round/>
            </a:ln>
            <a:effectLst/>
          </p:spPr>
          <p:txBody>
            <a:bodyPr wrap="square" lIns="45719" tIns="45719" rIns="45719" bIns="45719" numCol="1" anchor="t">
              <a:noAutofit/>
            </a:bodyPr>
            <a:lstStyle/>
            <a:p>
              <a:pPr/>
            </a:p>
          </p:txBody>
        </p:sp>
        <p:sp>
          <p:nvSpPr>
            <p:cNvPr id="298" name="p2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EFF6F7"/>
                  </a:solidFill>
                  <a:latin typeface="Arial"/>
                  <a:ea typeface="Arial"/>
                  <a:cs typeface="Arial"/>
                  <a:sym typeface="Arial"/>
                </a:defRPr>
              </a:lvl1pPr>
            </a:lstStyle>
            <a:p>
              <a:pPr/>
              <a:r>
                <a:t>Ice floats because it contains trapped air bubbles.</a:t>
              </a:r>
            </a:p>
          </p:txBody>
        </p:sp>
      </p:grpSp>
      <p:sp>
        <p:nvSpPr>
          <p:cNvPr id="300" name="p2_v"/>
          <p:cNvSpPr txBox="1"/>
          <p:nvPr/>
        </p:nvSpPr>
        <p:spPr>
          <a:xfrm>
            <a:off x="9905695" y="4000475"/>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8952"/>
                </a:solidFill>
                <a:latin typeface="Arial"/>
                <a:ea typeface="Arial"/>
                <a:cs typeface="Arial"/>
                <a:sym typeface="Arial"/>
              </a:defRPr>
            </a:lvl1pPr>
          </a:lstStyle>
          <a:p>
            <a:pPr/>
            <a:r>
              <a:t>FALSE</a:t>
            </a:r>
          </a:p>
        </p:txBody>
      </p:sp>
      <p:grpSp>
        <p:nvGrpSpPr>
          <p:cNvPr id="303" name="p3_stmt"/>
          <p:cNvGrpSpPr/>
          <p:nvPr/>
        </p:nvGrpSpPr>
        <p:grpSpPr>
          <a:xfrm>
            <a:off x="1170432" y="4608576"/>
            <a:ext cx="8552383" cy="640081"/>
            <a:chOff x="0" y="0"/>
            <a:chExt cx="8552382" cy="640080"/>
          </a:xfrm>
        </p:grpSpPr>
        <p:sp>
          <p:nvSpPr>
            <p:cNvPr id="301" name="p3_bg"/>
            <p:cNvSpPr/>
            <p:nvPr/>
          </p:nvSpPr>
          <p:spPr>
            <a:xfrm>
              <a:off x="0" y="0"/>
              <a:ext cx="8552383" cy="640081"/>
            </a:xfrm>
            <a:prstGeom prst="roundRect">
              <a:avLst>
                <a:gd name="adj" fmla="val 14286"/>
              </a:avLst>
            </a:prstGeom>
            <a:solidFill>
              <a:srgbClr val="1C5A70"/>
            </a:solidFill>
            <a:ln w="12700" cap="flat">
              <a:solidFill>
                <a:srgbClr val="1C5A70"/>
              </a:solidFill>
              <a:prstDash val="solid"/>
              <a:round/>
            </a:ln>
            <a:effectLst/>
          </p:spPr>
          <p:txBody>
            <a:bodyPr wrap="square" lIns="45719" tIns="45719" rIns="45719" bIns="45719" numCol="1" anchor="t">
              <a:noAutofit/>
            </a:bodyPr>
            <a:lstStyle/>
            <a:p>
              <a:pPr/>
            </a:p>
          </p:txBody>
        </p:sp>
        <p:sp>
          <p:nvSpPr>
            <p:cNvPr id="302" name="p3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EFF6F7"/>
                  </a:solidFill>
                  <a:latin typeface="Arial"/>
                  <a:ea typeface="Arial"/>
                  <a:cs typeface="Arial"/>
                  <a:sym typeface="Arial"/>
                </a:defRPr>
              </a:lvl1pPr>
            </a:lstStyle>
            <a:p>
              <a:pPr/>
              <a:r>
                <a:t>Water is one of very few substances where the solid is less dense than the liquid.</a:t>
              </a:r>
            </a:p>
          </p:txBody>
        </p:sp>
      </p:grpSp>
      <p:sp>
        <p:nvSpPr>
          <p:cNvPr id="304" name="p3_v"/>
          <p:cNvSpPr txBox="1"/>
          <p:nvPr/>
        </p:nvSpPr>
        <p:spPr>
          <a:xfrm>
            <a:off x="9905695" y="4805147"/>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1FA37A"/>
                </a:solidFill>
                <a:latin typeface="Arial"/>
                <a:ea typeface="Arial"/>
                <a:cs typeface="Arial"/>
                <a:sym typeface="Arial"/>
              </a:defRPr>
            </a:lvl1pPr>
          </a:lstStyle>
          <a:p>
            <a:pPr/>
            <a:r>
              <a:t>TRUE</a:t>
            </a:r>
          </a:p>
        </p:txBody>
      </p:sp>
      <p:grpSp>
        <p:nvGrpSpPr>
          <p:cNvPr id="307" name="p4_stmt"/>
          <p:cNvGrpSpPr/>
          <p:nvPr/>
        </p:nvGrpSpPr>
        <p:grpSpPr>
          <a:xfrm>
            <a:off x="1170432" y="5413247"/>
            <a:ext cx="8552383" cy="640081"/>
            <a:chOff x="0" y="0"/>
            <a:chExt cx="8552382" cy="640080"/>
          </a:xfrm>
        </p:grpSpPr>
        <p:sp>
          <p:nvSpPr>
            <p:cNvPr id="305" name="p4_bg"/>
            <p:cNvSpPr/>
            <p:nvPr/>
          </p:nvSpPr>
          <p:spPr>
            <a:xfrm>
              <a:off x="0" y="0"/>
              <a:ext cx="8552383" cy="640081"/>
            </a:xfrm>
            <a:prstGeom prst="roundRect">
              <a:avLst>
                <a:gd name="adj" fmla="val 14286"/>
              </a:avLst>
            </a:prstGeom>
            <a:solidFill>
              <a:srgbClr val="1C5A70"/>
            </a:solidFill>
            <a:ln w="12700" cap="flat">
              <a:solidFill>
                <a:srgbClr val="1C5A70"/>
              </a:solidFill>
              <a:prstDash val="solid"/>
              <a:round/>
            </a:ln>
            <a:effectLst/>
          </p:spPr>
          <p:txBody>
            <a:bodyPr wrap="square" lIns="45719" tIns="45719" rIns="45719" bIns="45719" numCol="1" anchor="t">
              <a:noAutofit/>
            </a:bodyPr>
            <a:lstStyle/>
            <a:p>
              <a:pPr/>
            </a:p>
          </p:txBody>
        </p:sp>
        <p:sp>
          <p:nvSpPr>
            <p:cNvPr id="306" name="p4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EFF6F7"/>
                  </a:solidFill>
                  <a:latin typeface="Arial"/>
                  <a:ea typeface="Arial"/>
                  <a:cs typeface="Arial"/>
                  <a:sym typeface="Arial"/>
                </a:defRPr>
              </a:lvl1pPr>
            </a:lstStyle>
            <a:p>
              <a:pPr/>
              <a:r>
                <a:t>An object with a density of 0.95 g/cm³ will sink in water.</a:t>
              </a:r>
            </a:p>
          </p:txBody>
        </p:sp>
      </p:grpSp>
      <p:sp>
        <p:nvSpPr>
          <p:cNvPr id="308" name="p4_v"/>
          <p:cNvSpPr txBox="1"/>
          <p:nvPr/>
        </p:nvSpPr>
        <p:spPr>
          <a:xfrm>
            <a:off x="9905695" y="5609819"/>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FF8952"/>
                </a:solidFill>
                <a:latin typeface="Arial"/>
                <a:ea typeface="Arial"/>
                <a:cs typeface="Arial"/>
                <a:sym typeface="Arial"/>
              </a:defRPr>
            </a:lvl1pPr>
          </a:lstStyle>
          <a:p>
            <a:pPr/>
            <a:r>
              <a:t>FALSE</a:t>
            </a:r>
          </a:p>
        </p:txBody>
      </p:sp>
      <p:sp>
        <p:nvSpPr>
          <p:cNvPr id="309" name="pl_next"/>
          <p:cNvSpPr txBox="1"/>
          <p:nvPr/>
        </p:nvSpPr>
        <p:spPr>
          <a:xfrm>
            <a:off x="1170432" y="6195381"/>
            <a:ext cx="10472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FF8952"/>
                </a:solidFill>
                <a:latin typeface="Arial"/>
                <a:ea typeface="Arial"/>
                <a:cs typeface="Arial"/>
                <a:sym typeface="Arial"/>
              </a:defRPr>
            </a:lvl1pPr>
          </a:lstStyle>
          <a:p>
            <a:pPr/>
            <a:r>
              <a:t>Compare the densities to know whether something floats or sinks. Weight never decides it alone.</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84"/>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91"/>
                                        </p:tgtEl>
                                        <p:attrNameLst>
                                          <p:attrName>style.visibility</p:attrName>
                                        </p:attrNameLst>
                                      </p:cBhvr>
                                      <p:to>
                                        <p:strVal val="visible"/>
                                      </p:to>
                                    </p:set>
                                    <p:animEffect filter="fade" transition="in">
                                      <p:cBhvr>
                                        <p:cTn id="11" dur="400"/>
                                        <p:tgtEl>
                                          <p:spTgt spid="29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292"/>
                                        </p:tgtEl>
                                        <p:attrNameLst>
                                          <p:attrName>style.visibility</p:attrName>
                                        </p:attrNameLst>
                                      </p:cBhvr>
                                      <p:to>
                                        <p:strVal val="visible"/>
                                      </p:to>
                                    </p:set>
                                    <p:anim calcmode="lin" valueType="num">
                                      <p:cBhvr>
                                        <p:cTn id="16" dur="400" fill="hold"/>
                                        <p:tgtEl>
                                          <p:spTgt spid="292"/>
                                        </p:tgtEl>
                                        <p:attrNameLst>
                                          <p:attrName>ppt_w</p:attrName>
                                        </p:attrNameLst>
                                      </p:cBhvr>
                                      <p:tavLst>
                                        <p:tav tm="0">
                                          <p:val>
                                            <p:fltVal val="0"/>
                                          </p:val>
                                        </p:tav>
                                        <p:tav tm="100000">
                                          <p:val>
                                            <p:strVal val="#ppt_w"/>
                                          </p:val>
                                        </p:tav>
                                      </p:tavLst>
                                    </p:anim>
                                    <p:anim calcmode="lin" valueType="num">
                                      <p:cBhvr>
                                        <p:cTn id="17" dur="400" fill="hold"/>
                                        <p:tgtEl>
                                          <p:spTgt spid="292"/>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295"/>
                                        </p:tgtEl>
                                        <p:attrNameLst>
                                          <p:attrName>style.visibility</p:attrName>
                                        </p:attrNameLst>
                                      </p:cBhvr>
                                      <p:to>
                                        <p:strVal val="visible"/>
                                      </p:to>
                                    </p:set>
                                    <p:animEffect filter="fade" transition="in">
                                      <p:cBhvr>
                                        <p:cTn id="22" dur="400"/>
                                        <p:tgtEl>
                                          <p:spTgt spid="295"/>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296"/>
                                        </p:tgtEl>
                                        <p:attrNameLst>
                                          <p:attrName>style.visibility</p:attrName>
                                        </p:attrNameLst>
                                      </p:cBhvr>
                                      <p:to>
                                        <p:strVal val="visible"/>
                                      </p:to>
                                    </p:set>
                                    <p:anim calcmode="lin" valueType="num">
                                      <p:cBhvr>
                                        <p:cTn id="27" dur="400" fill="hold"/>
                                        <p:tgtEl>
                                          <p:spTgt spid="296"/>
                                        </p:tgtEl>
                                        <p:attrNameLst>
                                          <p:attrName>ppt_w</p:attrName>
                                        </p:attrNameLst>
                                      </p:cBhvr>
                                      <p:tavLst>
                                        <p:tav tm="0">
                                          <p:val>
                                            <p:fltVal val="0"/>
                                          </p:val>
                                        </p:tav>
                                        <p:tav tm="100000">
                                          <p:val>
                                            <p:strVal val="#ppt_w"/>
                                          </p:val>
                                        </p:tav>
                                      </p:tavLst>
                                    </p:anim>
                                    <p:anim calcmode="lin" valueType="num">
                                      <p:cBhvr>
                                        <p:cTn id="28" dur="400" fill="hold"/>
                                        <p:tgtEl>
                                          <p:spTgt spid="296"/>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299"/>
                                        </p:tgtEl>
                                        <p:attrNameLst>
                                          <p:attrName>style.visibility</p:attrName>
                                        </p:attrNameLst>
                                      </p:cBhvr>
                                      <p:to>
                                        <p:strVal val="visible"/>
                                      </p:to>
                                    </p:set>
                                    <p:animEffect filter="fade" transition="in">
                                      <p:cBhvr>
                                        <p:cTn id="33" dur="400"/>
                                        <p:tgtEl>
                                          <p:spTgt spid="299"/>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00"/>
                                        </p:tgtEl>
                                        <p:attrNameLst>
                                          <p:attrName>style.visibility</p:attrName>
                                        </p:attrNameLst>
                                      </p:cBhvr>
                                      <p:to>
                                        <p:strVal val="visible"/>
                                      </p:to>
                                    </p:set>
                                    <p:anim calcmode="lin" valueType="num">
                                      <p:cBhvr>
                                        <p:cTn id="38" dur="400" fill="hold"/>
                                        <p:tgtEl>
                                          <p:spTgt spid="300"/>
                                        </p:tgtEl>
                                        <p:attrNameLst>
                                          <p:attrName>ppt_w</p:attrName>
                                        </p:attrNameLst>
                                      </p:cBhvr>
                                      <p:tavLst>
                                        <p:tav tm="0">
                                          <p:val>
                                            <p:fltVal val="0"/>
                                          </p:val>
                                        </p:tav>
                                        <p:tav tm="100000">
                                          <p:val>
                                            <p:strVal val="#ppt_w"/>
                                          </p:val>
                                        </p:tav>
                                      </p:tavLst>
                                    </p:anim>
                                    <p:anim calcmode="lin" valueType="num">
                                      <p:cBhvr>
                                        <p:cTn id="39" dur="400" fill="hold"/>
                                        <p:tgtEl>
                                          <p:spTgt spid="300"/>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03"/>
                                        </p:tgtEl>
                                        <p:attrNameLst>
                                          <p:attrName>style.visibility</p:attrName>
                                        </p:attrNameLst>
                                      </p:cBhvr>
                                      <p:to>
                                        <p:strVal val="visible"/>
                                      </p:to>
                                    </p:set>
                                    <p:animEffect filter="fade" transition="in">
                                      <p:cBhvr>
                                        <p:cTn id="44" dur="400"/>
                                        <p:tgtEl>
                                          <p:spTgt spid="303"/>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04"/>
                                        </p:tgtEl>
                                        <p:attrNameLst>
                                          <p:attrName>style.visibility</p:attrName>
                                        </p:attrNameLst>
                                      </p:cBhvr>
                                      <p:to>
                                        <p:strVal val="visible"/>
                                      </p:to>
                                    </p:set>
                                    <p:anim calcmode="lin" valueType="num">
                                      <p:cBhvr>
                                        <p:cTn id="49" dur="400" fill="hold"/>
                                        <p:tgtEl>
                                          <p:spTgt spid="304"/>
                                        </p:tgtEl>
                                        <p:attrNameLst>
                                          <p:attrName>ppt_w</p:attrName>
                                        </p:attrNameLst>
                                      </p:cBhvr>
                                      <p:tavLst>
                                        <p:tav tm="0">
                                          <p:val>
                                            <p:fltVal val="0"/>
                                          </p:val>
                                        </p:tav>
                                        <p:tav tm="100000">
                                          <p:val>
                                            <p:strVal val="#ppt_w"/>
                                          </p:val>
                                        </p:tav>
                                      </p:tavLst>
                                    </p:anim>
                                    <p:anim calcmode="lin" valueType="num">
                                      <p:cBhvr>
                                        <p:cTn id="50" dur="400" fill="hold"/>
                                        <p:tgtEl>
                                          <p:spTgt spid="304"/>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07"/>
                                        </p:tgtEl>
                                        <p:attrNameLst>
                                          <p:attrName>style.visibility</p:attrName>
                                        </p:attrNameLst>
                                      </p:cBhvr>
                                      <p:to>
                                        <p:strVal val="visible"/>
                                      </p:to>
                                    </p:set>
                                    <p:animEffect filter="fade" transition="in">
                                      <p:cBhvr>
                                        <p:cTn id="55" dur="400"/>
                                        <p:tgtEl>
                                          <p:spTgt spid="307"/>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08"/>
                                        </p:tgtEl>
                                        <p:attrNameLst>
                                          <p:attrName>style.visibility</p:attrName>
                                        </p:attrNameLst>
                                      </p:cBhvr>
                                      <p:to>
                                        <p:strVal val="visible"/>
                                      </p:to>
                                    </p:set>
                                    <p:anim calcmode="lin" valueType="num">
                                      <p:cBhvr>
                                        <p:cTn id="60" dur="400" fill="hold"/>
                                        <p:tgtEl>
                                          <p:spTgt spid="308"/>
                                        </p:tgtEl>
                                        <p:attrNameLst>
                                          <p:attrName>ppt_w</p:attrName>
                                        </p:attrNameLst>
                                      </p:cBhvr>
                                      <p:tavLst>
                                        <p:tav tm="0">
                                          <p:val>
                                            <p:fltVal val="0"/>
                                          </p:val>
                                        </p:tav>
                                        <p:tav tm="100000">
                                          <p:val>
                                            <p:strVal val="#ppt_w"/>
                                          </p:val>
                                        </p:tav>
                                      </p:tavLst>
                                    </p:anim>
                                    <p:anim calcmode="lin" valueType="num">
                                      <p:cBhvr>
                                        <p:cTn id="61" dur="400" fill="hold"/>
                                        <p:tgtEl>
                                          <p:spTgt spid="308"/>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09"/>
                                        </p:tgtEl>
                                        <p:attrNameLst>
                                          <p:attrName>style.visibility</p:attrName>
                                        </p:attrNameLst>
                                      </p:cBhvr>
                                      <p:to>
                                        <p:strVal val="visible"/>
                                      </p:to>
                                    </p:set>
                                    <p:animEffect filter="fade" transition="in">
                                      <p:cBhvr>
                                        <p:cTn id="66" dur="400"/>
                                        <p:tgtEl>
                                          <p:spTgt spid="309"/>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284"/>
                </p:tgtEl>
              </p:cMediaNode>
            </p:video>
            <p:seq concurrent="1" prevAc="none" nextAc="seek">
              <p:cTn id="68" evtFilter="cancelBubble" nodeType="interactiveSeq" restart="whenNotActive" fill="hold">
                <p:stCondLst>
                  <p:cond delay="0" evt="onClick">
                    <p:tgtEl>
                      <p:spTgt spid="284"/>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284"/>
                                        </p:tgtEl>
                                      </p:cBhvr>
                                    </p:cmd>
                                  </p:childTnLst>
                                </p:cTn>
                              </p:par>
                            </p:childTnLst>
                          </p:cTn>
                        </p:par>
                      </p:childTnLst>
                    </p:cTn>
                  </p:par>
                </p:childTnLst>
              </p:cTn>
              <p:nextCondLst>
                <p:cond delay="0" evt="onClick">
                  <p:tgtEl>
                    <p:spTgt spid="284"/>
                  </p:tgtEl>
                </p:cond>
              </p:nextCondLst>
            </p:seq>
          </p:childTnLst>
        </p:cTn>
      </p:par>
    </p:tnLst>
    <p:bldLst>
      <p:bldP build="whole" bldLvl="1" animBg="1" rev="0" advAuto="0" spid="300" grpId="7"/>
      <p:bldP build="whole" bldLvl="1" animBg="1" rev="0" advAuto="0" spid="292" grpId="3"/>
      <p:bldP build="whole" bldLvl="1" animBg="1" rev="0" advAuto="0" spid="307" grpId="10"/>
      <p:bldP build="whole" bldLvl="1" animBg="1" rev="0" advAuto="0" spid="303" grpId="8"/>
      <p:bldP build="whole" bldLvl="1" animBg="1" rev="0" advAuto="0" spid="296" grpId="5"/>
      <p:bldP build="whole" bldLvl="1" animBg="1" rev="0" advAuto="0" spid="299" grpId="6"/>
      <p:bldP build="whole" bldLvl="1" animBg="1" rev="0" advAuto="0" spid="308" grpId="11"/>
      <p:bldP build="whole" bldLvl="1" animBg="1" rev="0" advAuto="0" spid="295" grpId="4"/>
      <p:bldP build="whole" bldLvl="1" animBg="1" rev="0" advAuto="0" spid="304" grpId="9"/>
      <p:bldP build="whole" bldLvl="1" animBg="1" rev="0" advAuto="0" spid="291" grpId="2"/>
      <p:bldP build="whole" bldLvl="1" animBg="1" rev="0" advAuto="0" spid="309" grpId="12"/>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