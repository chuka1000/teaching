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Six clicks.</a:t>
            </a:r>
          </a:p>
          <a:p>
            <a:pPr/>
          </a:p>
          <a:p>
            <a:pPr/>
            <a:r>
              <a:t>THIS CLASS HAS NO PREVIOUS LESSON IN THIS UNIT, so nothing here is retrieval from a deck. These are everyday ideas: differences between people, competition for resources, family resemblance. The point is to have the raw material on the table before the vocabulary arrives.</a:t>
            </a:r>
          </a:p>
          <a:p>
            <a:pPr/>
          </a:p>
          <a:p>
            <a:pPr/>
            <a:r>
              <a:t>Q5 IS A DELIBERATE PLANT. "Charles Darwin" primes the Today slide and the lesson's subtitle. Do not explain who he is yet, that is coming.</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a:t>
            </a:r>
          </a:p>
          <a:p>
            <a:pPr/>
          </a:p>
          <a:p>
            <a:pPr/>
            <a:r>
              <a:t>THE BANNER IS THE MISCONCEPTION-CORRECTION THIS WHOLE LESSON IS BUILT AROUND. Read it slowly. It is worth returning to word for word at the end.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HOOK. 2 minutes. Four clicks.</a:t>
            </a:r>
          </a:p>
          <a:p>
            <a:pPr/>
          </a:p>
          <a:p>
            <a:pPr/>
            <a:r>
              <a:t>Hands up for each. Tally on the board. Expect real votes for A, it is the most common misconception about evolution there is (it is essentially Lamarck's theory, which Darwin's own theory replaced).</a:t>
            </a:r>
          </a:p>
          <a:p>
            <a:pPr/>
          </a:p>
          <a:p>
            <a:pPr/>
            <a:r>
              <a:t>DO NOT REVEAL THE ANSWER HERE. Say "let's find out" and move to I Do, which closes this loop properly.</a:t>
            </a:r>
          </a:p>
          <a:p>
            <a:pPr/>
          </a:p>
          <a:p>
            <a:pPr/>
            <a:r>
              <a:t>ANSWER, FOR YOU: B. A describes an individual changing through effort within its own lifetime, which does not happen. C describes purposeful, intentional change, which also does not happen. Both are the exact misconceptions this lesson exists to correct.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Shape 132"/>
          <p:cNvSpPr/>
          <p:nvPr>
            <p:ph type="sldImg"/>
          </p:nvPr>
        </p:nvSpPr>
        <p:spPr>
          <a:prstGeom prst="rect">
            <a:avLst/>
          </a:prstGeom>
        </p:spPr>
        <p:txBody>
          <a:bodyPr/>
          <a:lstStyle/>
          <a:p>
            <a:pPr/>
          </a:p>
        </p:txBody>
      </p:sp>
      <p:sp>
        <p:nvSpPr>
          <p:cNvPr id="133" name="Shape 133"/>
          <p:cNvSpPr/>
          <p:nvPr>
            <p:ph type="body" sz="quarter" idx="1"/>
          </p:nvPr>
        </p:nvSpPr>
        <p:spPr>
          <a:prstGeom prst="rect">
            <a:avLst/>
          </a:prstGeom>
        </p:spPr>
        <p:txBody>
          <a:bodyPr/>
          <a:lstStyle/>
          <a:p>
            <a:pPr/>
            <a:r>
              <a:t>I DO. 3 minutes. Three clicks: the definition, then the two Hook-closing cards.</a:t>
            </a:r>
          </a:p>
          <a:p>
            <a:pPr/>
          </a:p>
          <a:p>
            <a:pPr/>
            <a:r>
              <a:t>READ THE DEFINITION SLOWLY. Every word is doing work: "vary" (not "change"), "more likely" (not "definitely"), "over many generations" (not "in its lifetime").</a:t>
            </a:r>
          </a:p>
          <a:p>
            <a:pPr/>
          </a:p>
          <a:p>
            <a:pPr/>
            <a:r>
              <a:t>GO BACK TO THE TALLY FROM THE HOOK. Whoever voted A or C is not wrong to have thought it, it is the intuitive answer. Say that directly, it lowers the stakes of having got it wrong.</a:t>
            </a:r>
          </a:p>
          <a:p>
            <a:pPr/>
          </a:p>
          <a:p>
            <a:pPr/>
            <a:r>
              <a:t>THE ORDER MATTERS: variation comes FIRST, by chance, before any advantage exists. Survival is a consequence of variation that was already there, never a cause of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a:r>
              <a:t>I DO. 3 minutes. Four clicks, one item at a time.</a:t>
            </a:r>
          </a:p>
          <a:p>
            <a:pPr/>
          </a:p>
          <a:p>
            <a:pPr/>
            <a:r>
              <a:t>READ THEM IN ORDER, V-C-S-I, every time this framework is used for the rest of the unit. The order matters: variation and competition come first and do not depend on the others; survival and inheritance are consequences.</a:t>
            </a:r>
          </a:p>
          <a:p>
            <a:pPr/>
          </a:p>
          <a:p>
            <a:pPr/>
            <a:r>
              <a:t>THIS IS THE SLIDE STUDENTS WILL BE ASKED TO REPRODUCE FOR A NEW ORGANISM. Say that now: "You will do this exact thing for a different animal later today."</a:t>
            </a:r>
          </a:p>
          <a:p>
            <a:pPr/>
          </a:p>
          <a:p>
            <a:pPr/>
            <a:r>
              <a:t>THE INHERITANCE ICON IS DNA. It is fine to say "genes" here if the class has met the word; if not, "passed on to offspring" is enough for today.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WE DO. 5 minutes. Four clicks. Take answers from the room first.</a:t>
            </a:r>
          </a:p>
          <a:p>
            <a:pPr/>
          </a:p>
          <a:p>
            <a:pPr/>
            <a:r>
              <a:t>ROWS 1 AND 2 ARE THE HOOK'S WRONG OPTIONS, RESTATED. If either still feels right to someone, that is worth stopping for.</a:t>
            </a:r>
          </a:p>
          <a:p>
            <a:pPr/>
          </a:p>
          <a:p>
            <a:pPr/>
            <a:r>
              <a:t>ROW 3 IS OBJECTIVE 3, ASKED DIRECTLY. Ask a follow-up: "so what actually changes, if not one animal?" Answer: the mix of variations across the whole population.</a:t>
            </a:r>
          </a:p>
          <a:p>
            <a:pPr/>
          </a:p>
          <a:p>
            <a:pPr/>
            <a:r>
              <a:t>ROW 4 CONNECTS BACK TO VARIATION. Every fair-test lesson vocabulary word (if this class has had one) applies here too: variation is the raw material, nothing else works without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r>
              <a:t>COLD CALL. 6 minutes. Six clicks. Name a student, then ask. Thinking time before the answer.</a:t>
            </a:r>
          </a:p>
          <a:p>
            <a:pPr/>
          </a:p>
          <a:p>
            <a:pPr/>
            <a:r>
              <a:t>Q1 AND Q2 ARE THE CORE CONTENT, cold. If these are shaky, that is worth five minutes at the start of next lesson, not something to push past.</a:t>
            </a:r>
          </a:p>
          <a:p>
            <a:pPr/>
          </a:p>
          <a:p>
            <a:pPr/>
            <a:r>
              <a:t>Q5 IS A FRESH ORGANISM. If it lands as easily as the giraffe, the framework has actually transferred, not just been memorised for one example.</a:t>
            </a:r>
          </a:p>
          <a:p>
            <a:pPr/>
          </a:p>
          <a:p>
            <a:pPr/>
            <a:r>
              <a:t>Q4 IS THE AVOID POINT, asked as directly as it will be all lesson.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hape 264"/>
          <p:cNvSpPr/>
          <p:nvPr>
            <p:ph type="sldImg"/>
          </p:nvPr>
        </p:nvSpPr>
        <p:spPr>
          <a:prstGeom prst="rect">
            <a:avLst/>
          </a:prstGeom>
        </p:spPr>
        <p:txBody>
          <a:bodyPr/>
          <a:lstStyle/>
          <a:p>
            <a:pPr/>
          </a:p>
        </p:txBody>
      </p:sp>
      <p:sp>
        <p:nvSpPr>
          <p:cNvPr id="265" name="Shape 265"/>
          <p:cNvSpPr/>
          <p:nvPr>
            <p:ph type="body" sz="quarter" idx="1"/>
          </p:nvPr>
        </p:nvSpPr>
        <p:spPr>
          <a:prstGeom prst="rect">
            <a:avLst/>
          </a:prstGeom>
        </p:spPr>
        <p:txBody>
          <a:bodyPr/>
          <a:lstStyle/>
          <a:p>
            <a:pPr/>
            <a:r>
              <a:t>YOU DO. 14 minutes. Four clicks.</a:t>
            </a:r>
          </a:p>
          <a:p>
            <a:pPr/>
          </a:p>
          <a:p>
            <a:pPr/>
            <a:r>
              <a:t>CIRCULATE WITH ONE QUESTION: "did that happen because it was needed, or was it already there by chance?"</a:t>
            </a:r>
          </a:p>
          <a:p>
            <a:pPr/>
          </a:p>
          <a:p>
            <a:pPr/>
            <a:r>
              <a:t>WHERE THEY WILL STALL: Silver, switching the framework to beetles rather than giraffes, and Gold Q9 (population vs individual), which is genuinely abstract for this age group.</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Shape 312"/>
          <p:cNvSpPr/>
          <p:nvPr>
            <p:ph type="sldImg"/>
          </p:nvPr>
        </p:nvSpPr>
        <p:spPr>
          <a:prstGeom prst="rect">
            <a:avLst/>
          </a:prstGeom>
        </p:spPr>
        <p:txBody>
          <a:bodyPr/>
          <a:lstStyle/>
          <a:p>
            <a:pPr/>
          </a:p>
        </p:txBody>
      </p:sp>
      <p:sp>
        <p:nvSpPr>
          <p:cNvPr id="313" name="Shape 313"/>
          <p:cNvSpPr/>
          <p:nvPr>
            <p:ph type="body" sz="quarter" idx="1"/>
          </p:nvPr>
        </p:nvSpPr>
        <p:spPr>
          <a:prstGeom prst="rect">
            <a:avLst/>
          </a:prstGeom>
        </p:spPr>
        <p:txBody>
          <a:bodyPr/>
          <a:lstStyle/>
          <a:p>
            <a:pPr/>
            <a:r>
              <a:t>ANSWERS. 3 minutes. Five clicks, two at a time. They mark their own in a different colour.</a:t>
            </a:r>
          </a:p>
          <a:p>
            <a:pPr/>
          </a:p>
          <a:p>
            <a:pPr/>
            <a:r>
              <a:t>Q8 AND Q9 ARE THE REAL TEST OF TODAY. Take two or three student answers out loud for each rather than reading the model answer straight off the slide.</a:t>
            </a:r>
          </a:p>
          <a:p>
            <a:pPr/>
          </a:p>
          <a:p>
            <a:pPr/>
            <a:r>
              <a:t>Q9 IS THE LESSON'S THESIS, restated as an answer. If it is shaky, that is worth five minutes at the start of next lesson before anything new.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1" name="Shape 341"/>
          <p:cNvSpPr/>
          <p:nvPr>
            <p:ph type="sldImg"/>
          </p:nvPr>
        </p:nvSpPr>
        <p:spPr>
          <a:prstGeom prst="rect">
            <a:avLst/>
          </a:prstGeom>
        </p:spPr>
        <p:txBody>
          <a:bodyPr/>
          <a:lstStyle/>
          <a:p>
            <a:pPr/>
          </a:p>
        </p:txBody>
      </p:sp>
      <p:sp>
        <p:nvSpPr>
          <p:cNvPr id="342" name="Shape 342"/>
          <p:cNvSpPr/>
          <p:nvPr>
            <p:ph type="body" sz="quarter" idx="1"/>
          </p:nvPr>
        </p:nvSpPr>
        <p:spPr>
          <a:prstGeom prst="rect">
            <a:avLst/>
          </a:prstGeom>
        </p:spPr>
        <p:txBody>
          <a:bodyPr/>
          <a:lstStyle/>
          <a:p>
            <a:pPr/>
            <a:r>
              <a:t>PLENARY. 3 minutes. Six clicks.</a:t>
            </a:r>
          </a:p>
          <a:p>
            <a:pPr/>
          </a:p>
          <a:p>
            <a:pPr/>
            <a:r>
              <a:t>Q1 AND Q3 ARE THE AVOID POINT AND OBJECTIVE 3, asked directly. If either splits the room, that is the first five minutes of next lesson, not a footnote.</a:t>
            </a:r>
          </a:p>
          <a:p>
            <a:pPr/>
          </a:p>
          <a:p>
            <a:pPr/>
            <a:r>
              <a:t>Q5 IS THE HONEST TEST of whether "population, not individual" actually landed. Ask a follow-up: "who changes, then?" Answer: nobody, the mix across the population shifts.</a:t>
            </a:r>
          </a:p>
          <a:p>
            <a:pPr/>
          </a:p>
          <a:p>
            <a:pPr/>
            <a:r>
              <a:t>The closing line is the banner from Today, word for word. That repetition is deliberate.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3291840" y="331470"/>
            <a:ext cx="566928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400">
                <a:solidFill>
                  <a:srgbClr val="1F3D2B"/>
                </a:solidFill>
                <a:latin typeface="Georgia"/>
                <a:ea typeface="Georgia"/>
                <a:cs typeface="Georgia"/>
                <a:sym typeface="Georgia"/>
              </a:defRPr>
            </a:lvl1pPr>
          </a:lstStyle>
          <a:p>
            <a:pPr/>
            <a:r>
              <a:t>Natural Selection</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2685A"/>
                </a:solidFill>
                <a:latin typeface="Arial"/>
                <a:ea typeface="Arial"/>
                <a:cs typeface="Arial"/>
                <a:sym typeface="Arial"/>
              </a:defRPr>
            </a:lvl1pPr>
          </a:lstStyle>
          <a:p>
            <a:pPr/>
            <a:r>
              <a:t>Monday 28 September 2026</a:t>
            </a:r>
          </a:p>
        </p:txBody>
      </p:sp>
      <p:sp>
        <p:nvSpPr>
          <p:cNvPr id="26" name="rule"/>
          <p:cNvSpPr/>
          <p:nvPr/>
        </p:nvSpPr>
        <p:spPr>
          <a:xfrm>
            <a:off x="1170432" y="896111"/>
            <a:ext cx="10472623" cy="36577"/>
          </a:xfrm>
          <a:prstGeom prst="rect">
            <a:avLst/>
          </a:prstGeom>
          <a:solidFill>
            <a:srgbClr val="DE9A4C"/>
          </a:solidFill>
          <a:ln w="12700">
            <a:solidFill>
              <a:srgbClr val="DE9A4C"/>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DE9A4C"/>
          </a:solidFill>
          <a:ln w="12700">
            <a:solidFill>
              <a:srgbClr val="DE9A4C"/>
            </a:solidFill>
          </a:ln>
        </p:spPr>
        <p:txBody>
          <a:bodyPr lIns="45719" rIns="45719"/>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30" name="d0_q"/>
          <p:cNvSpPr txBox="1"/>
          <p:nvPr/>
        </p:nvSpPr>
        <p:spPr>
          <a:xfrm>
            <a:off x="1901951" y="1292097"/>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Name the process by which offspring (children) get features from their parents.</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400"/>
              </a:pPr>
            </a:p>
          </p:txBody>
        </p:sp>
        <p:sp>
          <p:nvSpPr>
            <p:cNvPr id="32" name="Inheritance."/>
            <p:cNvSpPr txBox="1"/>
            <p:nvPr/>
          </p:nvSpPr>
          <p:spPr>
            <a:xfrm>
              <a:off x="35035" y="119748"/>
              <a:ext cx="4626746"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F3D2B"/>
                  </a:solidFill>
                  <a:latin typeface="Arial"/>
                  <a:ea typeface="Arial"/>
                  <a:cs typeface="Arial"/>
                  <a:sym typeface="Arial"/>
                </a:defRPr>
              </a:lvl1pPr>
            </a:lstStyle>
            <a:p>
              <a:pPr/>
              <a:r>
                <a:t>Inheritance.</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DE9A4C"/>
          </a:solidFill>
          <a:ln w="12700">
            <a:solidFill>
              <a:srgbClr val="DE9A4C"/>
            </a:solidFill>
          </a:ln>
        </p:spPr>
        <p:txBody>
          <a:bodyPr lIns="45719" rIns="45719"/>
          <a:lstStyle/>
          <a:p>
            <a:pPr/>
          </a:p>
        </p:txBody>
      </p:sp>
      <p:sp>
        <p:nvSpPr>
          <p:cNvPr id="36" name="d1_num"/>
          <p:cNvSpPr txBox="1"/>
          <p:nvPr/>
        </p:nvSpPr>
        <p:spPr>
          <a:xfrm>
            <a:off x="6745072" y="138887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37" name="d1_q"/>
          <p:cNvSpPr txBox="1"/>
          <p:nvPr/>
        </p:nvSpPr>
        <p:spPr>
          <a:xfrm>
            <a:off x="7275424" y="1292097"/>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what happens when there is not enough food for every animal in a group.</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400"/>
              </a:pPr>
            </a:p>
          </p:txBody>
        </p:sp>
        <p:sp>
          <p:nvSpPr>
            <p:cNvPr id="39" name="Some individuals will not get enough, and may not survive."/>
            <p:cNvSpPr txBox="1"/>
            <p:nvPr/>
          </p:nvSpPr>
          <p:spPr>
            <a:xfrm>
              <a:off x="35035" y="18148"/>
              <a:ext cx="4626746" cy="4026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F3D2B"/>
                  </a:solidFill>
                  <a:latin typeface="Arial"/>
                  <a:ea typeface="Arial"/>
                  <a:cs typeface="Arial"/>
                  <a:sym typeface="Arial"/>
                </a:defRPr>
              </a:lvl1pPr>
            </a:lstStyle>
            <a:p>
              <a:pPr/>
              <a:r>
                <a:t>Some individuals will not get enough, and may not survive.</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DE9A4C"/>
          </a:solidFill>
          <a:ln w="12700">
            <a:solidFill>
              <a:srgbClr val="DE9A4C"/>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44" name="d2_q"/>
          <p:cNvSpPr txBox="1"/>
          <p:nvPr/>
        </p:nvSpPr>
        <p:spPr>
          <a:xfrm>
            <a:off x="1901951" y="3076955"/>
            <a:ext cx="4166465"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what "variation" means.</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400"/>
              </a:pPr>
            </a:p>
          </p:txBody>
        </p:sp>
        <p:sp>
          <p:nvSpPr>
            <p:cNvPr id="46" name="Differences between individuals of the same species."/>
            <p:cNvSpPr txBox="1"/>
            <p:nvPr/>
          </p:nvSpPr>
          <p:spPr>
            <a:xfrm>
              <a:off x="35035" y="119748"/>
              <a:ext cx="4626746"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F3D2B"/>
                  </a:solidFill>
                  <a:latin typeface="Arial"/>
                  <a:ea typeface="Arial"/>
                  <a:cs typeface="Arial"/>
                  <a:sym typeface="Arial"/>
                </a:defRPr>
              </a:lvl1pPr>
            </a:lstStyle>
            <a:p>
              <a:pPr/>
              <a:r>
                <a:t>Differences between individuals of the same species.</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DE9A4C"/>
          </a:solidFill>
          <a:ln w="12700">
            <a:solidFill>
              <a:srgbClr val="DE9A4C"/>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51" name="d3_q"/>
          <p:cNvSpPr txBox="1"/>
          <p:nvPr/>
        </p:nvSpPr>
        <p:spPr>
          <a:xfrm>
            <a:off x="7275424" y="2956305"/>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whether every member of a species looks identical.</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400"/>
              </a:pPr>
            </a:p>
          </p:txBody>
        </p:sp>
        <p:sp>
          <p:nvSpPr>
            <p:cNvPr id="53" name="No. Individuals vary."/>
            <p:cNvSpPr txBox="1"/>
            <p:nvPr/>
          </p:nvSpPr>
          <p:spPr>
            <a:xfrm>
              <a:off x="35035" y="119748"/>
              <a:ext cx="4626746"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F3D2B"/>
                  </a:solidFill>
                  <a:latin typeface="Arial"/>
                  <a:ea typeface="Arial"/>
                  <a:cs typeface="Arial"/>
                  <a:sym typeface="Arial"/>
                </a:defRPr>
              </a:lvl1pPr>
            </a:lstStyle>
            <a:p>
              <a:pPr/>
              <a:r>
                <a:t>No. Individuals vary.</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DE9A4C"/>
          </a:solidFill>
          <a:ln w="12700">
            <a:solidFill>
              <a:srgbClr val="DE9A4C"/>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58" name="d4_q"/>
          <p:cNvSpPr txBox="1"/>
          <p:nvPr/>
        </p:nvSpPr>
        <p:spPr>
          <a:xfrm>
            <a:off x="1901951" y="4620513"/>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Name the scientist famous for the theory of evolution.</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400"/>
              </a:pPr>
            </a:p>
          </p:txBody>
        </p:sp>
        <p:sp>
          <p:nvSpPr>
            <p:cNvPr id="60" name="Charles Darwin."/>
            <p:cNvSpPr txBox="1"/>
            <p:nvPr/>
          </p:nvSpPr>
          <p:spPr>
            <a:xfrm>
              <a:off x="35035" y="119748"/>
              <a:ext cx="4626746"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F3D2B"/>
                  </a:solidFill>
                  <a:latin typeface="Arial"/>
                  <a:ea typeface="Arial"/>
                  <a:cs typeface="Arial"/>
                  <a:sym typeface="Arial"/>
                </a:defRPr>
              </a:lvl1pPr>
            </a:lstStyle>
            <a:p>
              <a:pPr/>
              <a:r>
                <a:t>Charles Darwin.</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DE9A4C"/>
          </a:solidFill>
          <a:ln w="12700">
            <a:solidFill>
              <a:srgbClr val="DE9A4C"/>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65" name="d5_q"/>
          <p:cNvSpPr txBox="1"/>
          <p:nvPr/>
        </p:nvSpPr>
        <p:spPr>
          <a:xfrm>
            <a:off x="7275424" y="4620513"/>
            <a:ext cx="4166465"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one feature that can be inherited from a parent.</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400"/>
              </a:pPr>
            </a:p>
          </p:txBody>
        </p:sp>
        <p:sp>
          <p:nvSpPr>
            <p:cNvPr id="67" name="Eye colour, height, genetic disorders."/>
            <p:cNvSpPr txBox="1"/>
            <p:nvPr/>
          </p:nvSpPr>
          <p:spPr>
            <a:xfrm>
              <a:off x="35035" y="119748"/>
              <a:ext cx="4626746" cy="199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400">
                  <a:solidFill>
                    <a:srgbClr val="1F3D2B"/>
                  </a:solidFill>
                  <a:latin typeface="Arial"/>
                  <a:ea typeface="Arial"/>
                  <a:cs typeface="Arial"/>
                  <a:sym typeface="Arial"/>
                </a:defRPr>
              </a:lvl1pPr>
            </a:lstStyle>
            <a:p>
              <a:pPr/>
              <a:r>
                <a:t>Eye colour, height, genetic disorders.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7" grpId="4"/>
      <p:bldP build="whole" bldLvl="1" animBg="1" rev="0" advAuto="0" spid="68" grpId="7"/>
      <p:bldP build="whole" bldLvl="1" animBg="1" rev="0" advAuto="0" spid="54" grpId="5"/>
      <p:bldP build="whole" bldLvl="1" animBg="1" rev="0" advAuto="0" spid="61" grpId="6"/>
      <p:bldP build="whole" bldLvl="1" animBg="1" rev="0" advAuto="0" spid="40" grpId="3"/>
      <p:bldP build="whole" bldLvl="1" animBg="1" rev="0" advAuto="0" spid="33" grpId="2"/>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F3D2B"/>
                </a:solidFill>
                <a:latin typeface="Georgia"/>
                <a:ea typeface="Georgia"/>
                <a:cs typeface="Georgia"/>
                <a:sym typeface="Georgia"/>
              </a:defRPr>
            </a:lvl1pPr>
          </a:lstStyle>
          <a:p>
            <a:pPr/>
            <a:r>
              <a:t>Today</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80" name="o0_t"/>
            <p:cNvSpPr txBox="1"/>
            <p:nvPr/>
          </p:nvSpPr>
          <p:spPr>
            <a:xfrm>
              <a:off x="237744" y="713231"/>
              <a:ext cx="2832506"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182B1E"/>
                  </a:solidFill>
                  <a:latin typeface="Arial"/>
                  <a:ea typeface="Arial"/>
                  <a:cs typeface="Arial"/>
                  <a:sym typeface="Arial"/>
                </a:defRPr>
              </a:lvl1pPr>
            </a:lstStyle>
            <a:p>
              <a:pPr/>
              <a:r>
                <a:t>State Darwin's theory of evolution by natural selection.</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85" name="o1_t"/>
            <p:cNvSpPr txBox="1"/>
            <p:nvPr/>
          </p:nvSpPr>
          <p:spPr>
            <a:xfrm>
              <a:off x="237744" y="713231"/>
              <a:ext cx="2832506" cy="9573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182B1E"/>
                  </a:solidFill>
                  <a:latin typeface="Arial"/>
                  <a:ea typeface="Arial"/>
                  <a:cs typeface="Arial"/>
                  <a:sym typeface="Arial"/>
                </a:defRPr>
              </a:lvl1pPr>
            </a:lstStyle>
            <a:p>
              <a:pPr/>
              <a:r>
                <a:t>Explain the four things natural selection needs: variation, competition, survival, inheritance.</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90" name="o2_t"/>
            <p:cNvSpPr txBox="1"/>
            <p:nvPr/>
          </p:nvSpPr>
          <p:spPr>
            <a:xfrm>
              <a:off x="237744" y="713231"/>
              <a:ext cx="2832506" cy="7160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b="1" sz="1500">
                  <a:solidFill>
                    <a:srgbClr val="182B1E"/>
                  </a:solidFill>
                  <a:latin typeface="Arial"/>
                  <a:ea typeface="Arial"/>
                  <a:cs typeface="Arial"/>
                  <a:sym typeface="Arial"/>
                </a:defRPr>
              </a:lvl1pPr>
            </a:lstStyle>
            <a:p>
              <a:pPr/>
              <a:r>
                <a:t>Explain why evolution happens to populations, not individuals.</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500"/>
              </a:pPr>
            </a:p>
          </p:txBody>
        </p:sp>
        <p:sp>
          <p:nvSpPr>
            <p:cNvPr id="93" name="Survival of the fittest (i.e. most reproductive)!"/>
            <p:cNvSpPr txBox="1"/>
            <p:nvPr/>
          </p:nvSpPr>
          <p:spPr>
            <a:xfrm>
              <a:off x="36901" y="215206"/>
              <a:ext cx="10398821"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DE9A4C"/>
                  </a:solidFill>
                  <a:latin typeface="Arial"/>
                  <a:ea typeface="Arial"/>
                  <a:cs typeface="Arial"/>
                  <a:sym typeface="Arial"/>
                </a:defRPr>
              </a:lvl1pPr>
            </a:lstStyle>
            <a:p>
              <a:pPr/>
              <a:r>
                <a:t>Survival of the fittest (i.e. most reproductive)!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1" grpId="2"/>
      <p:bldP build="whole" bldLvl="1" animBg="1" rev="0" advAuto="0" spid="94" grpId="5"/>
      <p:bldP build="whole" bldLvl="1" animBg="1" rev="0" advAuto="0" spid="91" grpId="4"/>
      <p:bldP build="whole" bldLvl="1" animBg="1" rev="0" advAuto="0" spid="86" grpId="3"/>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843415"/>
            <a:ext cx="10472623" cy="8552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400"/>
              </a:lnSpc>
              <a:defRPr b="1" sz="2800">
                <a:solidFill>
                  <a:srgbClr val="1F3D2B"/>
                </a:solidFill>
                <a:latin typeface="Georgia"/>
                <a:ea typeface="Georgia"/>
                <a:cs typeface="Georgia"/>
                <a:sym typeface="Georgia"/>
              </a:defRPr>
            </a:lvl1pPr>
          </a:lstStyle>
          <a:p>
            <a:pPr/>
            <a:r>
              <a:t>Giraffes have very long necks. Which explanation is correct?</a:t>
            </a:r>
          </a:p>
        </p:txBody>
      </p:sp>
      <p:grpSp>
        <p:nvGrpSpPr>
          <p:cNvPr id="106" name="h0"/>
          <p:cNvGrpSpPr/>
          <p:nvPr/>
        </p:nvGrpSpPr>
        <p:grpSpPr>
          <a:xfrm>
            <a:off x="1170432" y="2487167"/>
            <a:ext cx="3307994" cy="1828801"/>
            <a:chOff x="0" y="0"/>
            <a:chExt cx="3307993" cy="1828800"/>
          </a:xfrm>
        </p:grpSpPr>
        <p:sp>
          <p:nvSpPr>
            <p:cNvPr id="103" name="h0_bg"/>
            <p:cNvSpPr/>
            <p:nvPr/>
          </p:nvSpPr>
          <p:spPr>
            <a:xfrm>
              <a:off x="0" y="0"/>
              <a:ext cx="3307994" cy="1828800"/>
            </a:xfrm>
            <a:prstGeom prst="roundRect">
              <a:avLst>
                <a:gd name="adj" fmla="val 50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4" name="h0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A</a:t>
              </a:r>
            </a:p>
          </p:txBody>
        </p:sp>
        <p:sp>
          <p:nvSpPr>
            <p:cNvPr id="105" name="h0_t"/>
            <p:cNvSpPr txBox="1"/>
            <p:nvPr/>
          </p:nvSpPr>
          <p:spPr>
            <a:xfrm>
              <a:off x="256032" y="676655"/>
              <a:ext cx="2795930" cy="6790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1F3D2B"/>
                  </a:solidFill>
                  <a:latin typeface="Georgia"/>
                  <a:ea typeface="Georgia"/>
                  <a:cs typeface="Georgia"/>
                  <a:sym typeface="Georgia"/>
                </a:defRPr>
              </a:lvl1pPr>
            </a:lstStyle>
            <a:p>
              <a:pPr/>
              <a:r>
                <a:t>Giraffes needed to reach high leaves, so their necks grew longer over their lives.</a:t>
              </a:r>
            </a:p>
          </p:txBody>
        </p:sp>
      </p:grpSp>
      <p:grpSp>
        <p:nvGrpSpPr>
          <p:cNvPr id="110" name="h1"/>
          <p:cNvGrpSpPr/>
          <p:nvPr/>
        </p:nvGrpSpPr>
        <p:grpSpPr>
          <a:xfrm>
            <a:off x="4752745" y="2487167"/>
            <a:ext cx="3307995" cy="1828801"/>
            <a:chOff x="0" y="0"/>
            <a:chExt cx="3307993" cy="1828800"/>
          </a:xfrm>
        </p:grpSpPr>
        <p:sp>
          <p:nvSpPr>
            <p:cNvPr id="107" name="h1_bg"/>
            <p:cNvSpPr/>
            <p:nvPr/>
          </p:nvSpPr>
          <p:spPr>
            <a:xfrm>
              <a:off x="0" y="0"/>
              <a:ext cx="3307994" cy="1828800"/>
            </a:xfrm>
            <a:prstGeom prst="roundRect">
              <a:avLst>
                <a:gd name="adj" fmla="val 50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8" name="h1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B</a:t>
              </a:r>
            </a:p>
          </p:txBody>
        </p:sp>
        <p:sp>
          <p:nvSpPr>
            <p:cNvPr id="109" name="h1_t"/>
            <p:cNvSpPr txBox="1"/>
            <p:nvPr/>
          </p:nvSpPr>
          <p:spPr>
            <a:xfrm>
              <a:off x="256032" y="676655"/>
              <a:ext cx="2795930" cy="6790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1F3D2B"/>
                  </a:solidFill>
                  <a:latin typeface="Georgia"/>
                  <a:ea typeface="Georgia"/>
                  <a:cs typeface="Georgia"/>
                  <a:sym typeface="Georgia"/>
                </a:defRPr>
              </a:lvl1pPr>
            </a:lstStyle>
            <a:p>
              <a:pPr/>
              <a:r>
                <a:t>Some giraffes were born with slightly longer necks by chance.</a:t>
              </a:r>
            </a:p>
          </p:txBody>
        </p:sp>
      </p:grpSp>
      <p:grpSp>
        <p:nvGrpSpPr>
          <p:cNvPr id="114" name="h2"/>
          <p:cNvGrpSpPr/>
          <p:nvPr/>
        </p:nvGrpSpPr>
        <p:grpSpPr>
          <a:xfrm>
            <a:off x="8335061" y="2487167"/>
            <a:ext cx="3307994" cy="1828801"/>
            <a:chOff x="0" y="0"/>
            <a:chExt cx="3307993" cy="1828800"/>
          </a:xfrm>
        </p:grpSpPr>
        <p:sp>
          <p:nvSpPr>
            <p:cNvPr id="111" name="h2_bg"/>
            <p:cNvSpPr/>
            <p:nvPr/>
          </p:nvSpPr>
          <p:spPr>
            <a:xfrm>
              <a:off x="0" y="0"/>
              <a:ext cx="3307994" cy="1828800"/>
            </a:xfrm>
            <a:prstGeom prst="roundRect">
              <a:avLst>
                <a:gd name="adj" fmla="val 50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2" name="h2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C</a:t>
              </a:r>
            </a:p>
          </p:txBody>
        </p:sp>
        <p:sp>
          <p:nvSpPr>
            <p:cNvPr id="113" name="h2_t"/>
            <p:cNvSpPr txBox="1"/>
            <p:nvPr/>
          </p:nvSpPr>
          <p:spPr>
            <a:xfrm>
              <a:off x="256032" y="676655"/>
              <a:ext cx="2795930" cy="4504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1F3D2B"/>
                  </a:solidFill>
                  <a:latin typeface="Georgia"/>
                  <a:ea typeface="Georgia"/>
                  <a:cs typeface="Georgia"/>
                  <a:sym typeface="Georgia"/>
                </a:defRPr>
              </a:lvl1pPr>
            </a:lstStyle>
            <a:p>
              <a:pPr/>
              <a:r>
                <a:t>Giraffes decided to grow longer necks to survive.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6"/>
                                        </p:tgtEl>
                                        <p:attrNameLst>
                                          <p:attrName>style.visibility</p:attrName>
                                        </p:attrNameLst>
                                      </p:cBhvr>
                                      <p:to>
                                        <p:strVal val="visible"/>
                                      </p:to>
                                    </p:set>
                                    <p:animEffect filter="fade" transition="in">
                                      <p:cBhvr>
                                        <p:cTn id="11" dur="400"/>
                                        <p:tgtEl>
                                          <p:spTgt spid="10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0"/>
                                        </p:tgtEl>
                                        <p:attrNameLst>
                                          <p:attrName>style.visibility</p:attrName>
                                        </p:attrNameLst>
                                      </p:cBhvr>
                                      <p:to>
                                        <p:strVal val="visible"/>
                                      </p:to>
                                    </p:set>
                                    <p:animEffect filter="fade" transition="in">
                                      <p:cBhvr>
                                        <p:cTn id="15" dur="400"/>
                                        <p:tgtEl>
                                          <p:spTgt spid="110"/>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4"/>
                                        </p:tgtEl>
                                        <p:attrNameLst>
                                          <p:attrName>style.visibility</p:attrName>
                                        </p:attrNameLst>
                                      </p:cBhvr>
                                      <p:to>
                                        <p:strVal val="visible"/>
                                      </p:to>
                                    </p:set>
                                    <p:animEffect filter="fade" transition="in">
                                      <p:cBhvr>
                                        <p:cTn id="19" dur="4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0" grpId="3"/>
      <p:bldP build="whole" bldLvl="1" animBg="1" rev="0" advAuto="0" spid="114" grpId="4"/>
      <p:bldP build="whole" bldLvl="1" animBg="1" rev="0" advAuto="0" spid="106"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1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1" name="phase_pill"/>
          <p:cNvGrpSpPr/>
          <p:nvPr/>
        </p:nvGrpSpPr>
        <p:grpSpPr>
          <a:xfrm>
            <a:off x="1170432" y="310895"/>
            <a:ext cx="1623975" cy="329185"/>
            <a:chOff x="0" y="0"/>
            <a:chExt cx="1623974" cy="329184"/>
          </a:xfrm>
        </p:grpSpPr>
        <p:sp>
          <p:nvSpPr>
            <p:cNvPr id="11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20"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2"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F3D2B"/>
                </a:solidFill>
                <a:latin typeface="Georgia"/>
                <a:ea typeface="Georgia"/>
                <a:cs typeface="Georgia"/>
                <a:sym typeface="Georgia"/>
              </a:defRPr>
            </a:lvl1pPr>
          </a:lstStyle>
          <a:p>
            <a:pPr/>
            <a:r>
              <a:t>Darwin's big idea: natural selection</a:t>
            </a:r>
          </a:p>
        </p:txBody>
      </p:sp>
      <p:grpSp>
        <p:nvGrpSpPr>
          <p:cNvPr id="125" name="def"/>
          <p:cNvGrpSpPr/>
          <p:nvPr/>
        </p:nvGrpSpPr>
        <p:grpSpPr>
          <a:xfrm>
            <a:off x="1170432" y="1965960"/>
            <a:ext cx="10472623" cy="1005840"/>
            <a:chOff x="0" y="0"/>
            <a:chExt cx="10472622" cy="1005839"/>
          </a:xfrm>
        </p:grpSpPr>
        <p:sp>
          <p:nvSpPr>
            <p:cNvPr id="123" name="def_bg"/>
            <p:cNvSpPr/>
            <p:nvPr/>
          </p:nvSpPr>
          <p:spPr>
            <a:xfrm>
              <a:off x="0" y="0"/>
              <a:ext cx="10472623" cy="1005840"/>
            </a:xfrm>
            <a:prstGeom prst="roundRect">
              <a:avLst>
                <a:gd name="adj" fmla="val 9091"/>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4" name="def_t"/>
            <p:cNvSpPr txBox="1"/>
            <p:nvPr/>
          </p:nvSpPr>
          <p:spPr>
            <a:xfrm>
              <a:off x="274319" y="228583"/>
              <a:ext cx="9923984" cy="54867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200"/>
                </a:lnSpc>
                <a:defRPr b="1" sz="1700">
                  <a:solidFill>
                    <a:srgbClr val="1F3D2B"/>
                  </a:solidFill>
                  <a:latin typeface="Arial"/>
                  <a:ea typeface="Arial"/>
                  <a:cs typeface="Arial"/>
                  <a:sym typeface="Arial"/>
                </a:defRPr>
              </a:lvl1pPr>
            </a:lstStyle>
            <a:p>
              <a:pPr/>
              <a:r>
                <a:t>Individuals vary. Those with a helpful variation are more likely to survive and reproduce. Over many generations, the population changes.</a:t>
              </a:r>
            </a:p>
          </p:txBody>
        </p:sp>
      </p:grpSp>
      <p:grpSp>
        <p:nvGrpSpPr>
          <p:cNvPr id="128" name="wrong"/>
          <p:cNvGrpSpPr/>
          <p:nvPr/>
        </p:nvGrpSpPr>
        <p:grpSpPr>
          <a:xfrm>
            <a:off x="1170432" y="3127248"/>
            <a:ext cx="5099152" cy="1188721"/>
            <a:chOff x="0" y="0"/>
            <a:chExt cx="5099151" cy="1188719"/>
          </a:xfrm>
        </p:grpSpPr>
        <p:sp>
          <p:nvSpPr>
            <p:cNvPr id="126" name="wrong_bg"/>
            <p:cNvSpPr/>
            <p:nvPr/>
          </p:nvSpPr>
          <p:spPr>
            <a:xfrm>
              <a:off x="0" y="0"/>
              <a:ext cx="5099152" cy="1188720"/>
            </a:xfrm>
            <a:prstGeom prst="roundRect">
              <a:avLst>
                <a:gd name="adj" fmla="val 7692"/>
              </a:avLst>
            </a:prstGeom>
            <a:solidFill>
              <a:srgbClr val="FBEAE6"/>
            </a:solidFill>
            <a:ln w="16510" cap="flat">
              <a:solidFill>
                <a:srgbClr val="C1442D"/>
              </a:solidFill>
              <a:prstDash val="solid"/>
              <a:round/>
            </a:ln>
            <a:effectLst/>
          </p:spPr>
          <p:txBody>
            <a:bodyPr wrap="square" lIns="45719" tIns="45719" rIns="45719" bIns="45719" numCol="1" anchor="t">
              <a:noAutofit/>
            </a:bodyPr>
            <a:lstStyle/>
            <a:p>
              <a:pPr/>
            </a:p>
          </p:txBody>
        </p:sp>
        <p:sp>
          <p:nvSpPr>
            <p:cNvPr id="127" name="wrong_t"/>
            <p:cNvSpPr txBox="1"/>
            <p:nvPr/>
          </p:nvSpPr>
          <p:spPr>
            <a:xfrm>
              <a:off x="219456" y="146304"/>
              <a:ext cx="4660240"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1F3D2B"/>
                  </a:solidFill>
                  <a:latin typeface="Arial"/>
                  <a:ea typeface="Arial"/>
                  <a:cs typeface="Arial"/>
                  <a:sym typeface="Arial"/>
                </a:defRPr>
              </a:lvl1pPr>
            </a:lstStyle>
            <a:p>
              <a:pPr/>
              <a:r>
                <a:t>B was correct. A and C both describe an animal changing on purpose or through effort.</a:t>
              </a:r>
            </a:p>
          </p:txBody>
        </p:sp>
      </p:grpSp>
      <p:grpSp>
        <p:nvGrpSpPr>
          <p:cNvPr id="131" name="right"/>
          <p:cNvGrpSpPr/>
          <p:nvPr/>
        </p:nvGrpSpPr>
        <p:grpSpPr>
          <a:xfrm>
            <a:off x="6543903" y="3127248"/>
            <a:ext cx="5099153" cy="1188721"/>
            <a:chOff x="0" y="0"/>
            <a:chExt cx="5099151" cy="1188719"/>
          </a:xfrm>
        </p:grpSpPr>
        <p:sp>
          <p:nvSpPr>
            <p:cNvPr id="129" name="right_bg"/>
            <p:cNvSpPr/>
            <p:nvPr/>
          </p:nvSpPr>
          <p:spPr>
            <a:xfrm>
              <a:off x="0" y="0"/>
              <a:ext cx="5099152" cy="1188720"/>
            </a:xfrm>
            <a:prstGeom prst="roundRect">
              <a:avLst>
                <a:gd name="adj" fmla="val 7692"/>
              </a:avLst>
            </a:prstGeom>
            <a:solidFill>
              <a:srgbClr val="F3E7CE"/>
            </a:solidFill>
            <a:ln w="16510" cap="flat">
              <a:solidFill>
                <a:srgbClr val="DE9A4C"/>
              </a:solidFill>
              <a:prstDash val="solid"/>
              <a:round/>
            </a:ln>
            <a:effectLst/>
          </p:spPr>
          <p:txBody>
            <a:bodyPr wrap="square" lIns="45719" tIns="45719" rIns="45719" bIns="45719" numCol="1" anchor="t">
              <a:noAutofit/>
            </a:bodyPr>
            <a:lstStyle/>
            <a:p>
              <a:pPr/>
            </a:p>
          </p:txBody>
        </p:sp>
        <p:sp>
          <p:nvSpPr>
            <p:cNvPr id="130" name="right_t"/>
            <p:cNvSpPr txBox="1"/>
            <p:nvPr/>
          </p:nvSpPr>
          <p:spPr>
            <a:xfrm>
              <a:off x="219456" y="146304"/>
              <a:ext cx="4660240" cy="677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1F3D2B"/>
                  </a:solidFill>
                  <a:latin typeface="Arial"/>
                  <a:ea typeface="Arial"/>
                  <a:cs typeface="Arial"/>
                  <a:sym typeface="Arial"/>
                </a:defRPr>
              </a:lvl1pPr>
            </a:lstStyle>
            <a:p>
              <a:pPr/>
              <a:r>
                <a:t>Longer necks already existed, by chance, before any giraffe needed them. Giraffes with longer necks survived better and had more babies.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5"/>
                                        </p:tgtEl>
                                        <p:attrNameLst>
                                          <p:attrName>style.visibility</p:attrName>
                                        </p:attrNameLst>
                                      </p:cBhvr>
                                      <p:to>
                                        <p:strVal val="visible"/>
                                      </p:to>
                                    </p:set>
                                    <p:animEffect filter="fade" transition="in">
                                      <p:cBhvr>
                                        <p:cTn id="11" dur="400"/>
                                        <p:tgtEl>
                                          <p:spTgt spid="12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28"/>
                                        </p:tgtEl>
                                        <p:attrNameLst>
                                          <p:attrName>style.visibility</p:attrName>
                                        </p:attrNameLst>
                                      </p:cBhvr>
                                      <p:to>
                                        <p:strVal val="visible"/>
                                      </p:to>
                                    </p:set>
                                    <p:animEffect filter="fade" transition="in">
                                      <p:cBhvr>
                                        <p:cTn id="16" dur="400"/>
                                        <p:tgtEl>
                                          <p:spTgt spid="12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1"/>
                                        </p:tgtEl>
                                        <p:attrNameLst>
                                          <p:attrName>style.visibility</p:attrName>
                                        </p:attrNameLst>
                                      </p:cBhvr>
                                      <p:to>
                                        <p:strVal val="visible"/>
                                      </p:to>
                                    </p:set>
                                    <p:animEffect filter="fade" transition="in">
                                      <p:cBhvr>
                                        <p:cTn id="21" dur="4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118"/>
                </p:tgtEl>
              </p:cMediaNode>
            </p:video>
            <p:seq concurrent="1" prevAc="none" nextAc="seek">
              <p:cTn id="23" evtFilter="cancelBubble" nodeType="interactiveSeq" restart="whenNotActive" fill="hold">
                <p:stCondLst>
                  <p:cond delay="0" evt="onClick">
                    <p:tgtEl>
                      <p:spTgt spid="118"/>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118"/>
                                        </p:tgtEl>
                                      </p:cBhvr>
                                    </p:cmd>
                                  </p:childTnLst>
                                </p:cTn>
                              </p:par>
                            </p:childTnLst>
                          </p:cTn>
                        </p:par>
                      </p:childTnLst>
                    </p:cTn>
                  </p:par>
                </p:childTnLst>
              </p:cTn>
              <p:nextCondLst>
                <p:cond delay="0" evt="onClick">
                  <p:tgtEl>
                    <p:spTgt spid="118"/>
                  </p:tgtEl>
                </p:cond>
              </p:nextCondLst>
            </p:seq>
          </p:childTnLst>
        </p:cTn>
      </p:par>
    </p:tnLst>
    <p:bldLst>
      <p:bldP build="whole" bldLvl="1" animBg="1" rev="0" advAuto="0" spid="128" grpId="3"/>
      <p:bldP build="whole" bldLvl="1" animBg="1" rev="0" advAuto="0" spid="131" grpId="4"/>
      <p:bldP build="whole" bldLvl="1" animBg="1" rev="0" advAuto="0" spid="125"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3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38" name="phase_pill"/>
          <p:cNvGrpSpPr/>
          <p:nvPr/>
        </p:nvGrpSpPr>
        <p:grpSpPr>
          <a:xfrm>
            <a:off x="1170432" y="310895"/>
            <a:ext cx="1623975" cy="329185"/>
            <a:chOff x="0" y="0"/>
            <a:chExt cx="1623974" cy="329184"/>
          </a:xfrm>
        </p:grpSpPr>
        <p:sp>
          <p:nvSpPr>
            <p:cNvPr id="136"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37"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39"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F3D2B"/>
                </a:solidFill>
                <a:latin typeface="Georgia"/>
                <a:ea typeface="Georgia"/>
                <a:cs typeface="Georgia"/>
                <a:sym typeface="Georgia"/>
              </a:defRPr>
            </a:lvl1pPr>
          </a:lstStyle>
          <a:p>
            <a:pPr/>
            <a:r>
              <a:t>Four things natural selection needs</a:t>
            </a:r>
          </a:p>
        </p:txBody>
      </p:sp>
      <p:grpSp>
        <p:nvGrpSpPr>
          <p:cNvPr id="144" name="vi0"/>
          <p:cNvGrpSpPr/>
          <p:nvPr/>
        </p:nvGrpSpPr>
        <p:grpSpPr>
          <a:xfrm>
            <a:off x="1170432" y="2011679"/>
            <a:ext cx="5099152" cy="1188721"/>
            <a:chOff x="0" y="0"/>
            <a:chExt cx="5099151" cy="1188719"/>
          </a:xfrm>
        </p:grpSpPr>
        <p:sp>
          <p:nvSpPr>
            <p:cNvPr id="140" name="vi0_bg"/>
            <p:cNvSpPr/>
            <p:nvPr/>
          </p:nvSpPr>
          <p:spPr>
            <a:xfrm>
              <a:off x="0" y="0"/>
              <a:ext cx="5099152"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41" name="vi0_icon" descr="vi0_icon"/>
            <p:cNvPicPr>
              <a:picLocks noChangeAspect="1"/>
            </p:cNvPicPr>
            <p:nvPr/>
          </p:nvPicPr>
          <p:blipFill>
            <a:blip r:embed="rId6">
              <a:extLst/>
            </a:blip>
            <a:stretch>
              <a:fillRect/>
            </a:stretch>
          </p:blipFill>
          <p:spPr>
            <a:xfrm>
              <a:off x="182879" y="164591"/>
              <a:ext cx="365761" cy="365761"/>
            </a:xfrm>
            <a:prstGeom prst="rect">
              <a:avLst/>
            </a:prstGeom>
            <a:ln w="12700" cap="flat">
              <a:noFill/>
              <a:miter lim="400000"/>
            </a:ln>
            <a:effectLst/>
          </p:spPr>
        </p:pic>
        <p:sp>
          <p:nvSpPr>
            <p:cNvPr id="142" name="vi0_n"/>
            <p:cNvSpPr txBox="1"/>
            <p:nvPr/>
          </p:nvSpPr>
          <p:spPr>
            <a:xfrm>
              <a:off x="658367" y="202945"/>
              <a:ext cx="42396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F3D2B"/>
                  </a:solidFill>
                  <a:latin typeface="Georgia"/>
                  <a:ea typeface="Georgia"/>
                  <a:cs typeface="Georgia"/>
                  <a:sym typeface="Georgia"/>
                </a:defRPr>
              </a:lvl1pPr>
            </a:lstStyle>
            <a:p>
              <a:pPr/>
              <a:r>
                <a:t>VARIATION</a:t>
              </a:r>
            </a:p>
          </p:txBody>
        </p:sp>
        <p:sp>
          <p:nvSpPr>
            <p:cNvPr id="143" name="vi0_t"/>
            <p:cNvSpPr txBox="1"/>
            <p:nvPr/>
          </p:nvSpPr>
          <p:spPr>
            <a:xfrm>
              <a:off x="182879" y="566927"/>
              <a:ext cx="4733393" cy="3980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182B1E"/>
                  </a:solidFill>
                  <a:latin typeface="Arial"/>
                  <a:ea typeface="Arial"/>
                  <a:cs typeface="Arial"/>
                  <a:sym typeface="Arial"/>
                </a:defRPr>
              </a:lvl1pPr>
            </a:lstStyle>
            <a:p>
              <a:pPr/>
              <a:r>
                <a:t>No two giraffes are the same. Some have slightly longer necks than others, by chance.</a:t>
              </a:r>
            </a:p>
          </p:txBody>
        </p:sp>
      </p:grpSp>
      <p:grpSp>
        <p:nvGrpSpPr>
          <p:cNvPr id="149" name="vi1"/>
          <p:cNvGrpSpPr/>
          <p:nvPr/>
        </p:nvGrpSpPr>
        <p:grpSpPr>
          <a:xfrm>
            <a:off x="6543903" y="2011679"/>
            <a:ext cx="5099153" cy="1188721"/>
            <a:chOff x="0" y="0"/>
            <a:chExt cx="5099151" cy="1188719"/>
          </a:xfrm>
        </p:grpSpPr>
        <p:sp>
          <p:nvSpPr>
            <p:cNvPr id="145" name="vi1_bg"/>
            <p:cNvSpPr/>
            <p:nvPr/>
          </p:nvSpPr>
          <p:spPr>
            <a:xfrm>
              <a:off x="0" y="0"/>
              <a:ext cx="5099152"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46" name="vi1_icon" descr="vi1_icon"/>
            <p:cNvPicPr>
              <a:picLocks noChangeAspect="1"/>
            </p:cNvPicPr>
            <p:nvPr/>
          </p:nvPicPr>
          <p:blipFill>
            <a:blip r:embed="rId7">
              <a:extLst/>
            </a:blip>
            <a:stretch>
              <a:fillRect/>
            </a:stretch>
          </p:blipFill>
          <p:spPr>
            <a:xfrm>
              <a:off x="182879" y="164591"/>
              <a:ext cx="365761" cy="365761"/>
            </a:xfrm>
            <a:prstGeom prst="rect">
              <a:avLst/>
            </a:prstGeom>
            <a:ln w="12700" cap="flat">
              <a:noFill/>
              <a:miter lim="400000"/>
            </a:ln>
            <a:effectLst/>
          </p:spPr>
        </p:pic>
        <p:sp>
          <p:nvSpPr>
            <p:cNvPr id="147" name="vi1_n"/>
            <p:cNvSpPr txBox="1"/>
            <p:nvPr/>
          </p:nvSpPr>
          <p:spPr>
            <a:xfrm>
              <a:off x="658367" y="202945"/>
              <a:ext cx="42396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F3D2B"/>
                  </a:solidFill>
                  <a:latin typeface="Georgia"/>
                  <a:ea typeface="Georgia"/>
                  <a:cs typeface="Georgia"/>
                  <a:sym typeface="Georgia"/>
                </a:defRPr>
              </a:lvl1pPr>
            </a:lstStyle>
            <a:p>
              <a:pPr/>
              <a:r>
                <a:t>COMPETITION</a:t>
              </a:r>
            </a:p>
          </p:txBody>
        </p:sp>
        <p:sp>
          <p:nvSpPr>
            <p:cNvPr id="148" name="vi1_t"/>
            <p:cNvSpPr txBox="1"/>
            <p:nvPr/>
          </p:nvSpPr>
          <p:spPr>
            <a:xfrm>
              <a:off x="182879" y="566927"/>
              <a:ext cx="4733393" cy="3980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182B1E"/>
                  </a:solidFill>
                  <a:latin typeface="Arial"/>
                  <a:ea typeface="Arial"/>
                  <a:cs typeface="Arial"/>
                  <a:sym typeface="Arial"/>
                </a:defRPr>
              </a:lvl1pPr>
            </a:lstStyle>
            <a:p>
              <a:pPr/>
              <a:r>
                <a:t>There is not enough food for every giraffe. They compete for the same leaves.</a:t>
              </a:r>
            </a:p>
          </p:txBody>
        </p:sp>
      </p:grpSp>
      <p:grpSp>
        <p:nvGrpSpPr>
          <p:cNvPr id="154" name="vi2"/>
          <p:cNvGrpSpPr/>
          <p:nvPr/>
        </p:nvGrpSpPr>
        <p:grpSpPr>
          <a:xfrm>
            <a:off x="1170432" y="3383279"/>
            <a:ext cx="5099152" cy="1188721"/>
            <a:chOff x="0" y="0"/>
            <a:chExt cx="5099151" cy="1188719"/>
          </a:xfrm>
        </p:grpSpPr>
        <p:sp>
          <p:nvSpPr>
            <p:cNvPr id="150" name="vi2_bg"/>
            <p:cNvSpPr/>
            <p:nvPr/>
          </p:nvSpPr>
          <p:spPr>
            <a:xfrm>
              <a:off x="0" y="0"/>
              <a:ext cx="5099152"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51" name="vi2_icon" descr="vi2_icon"/>
            <p:cNvPicPr>
              <a:picLocks noChangeAspect="1"/>
            </p:cNvPicPr>
            <p:nvPr/>
          </p:nvPicPr>
          <p:blipFill>
            <a:blip r:embed="rId8">
              <a:extLst/>
            </a:blip>
            <a:stretch>
              <a:fillRect/>
            </a:stretch>
          </p:blipFill>
          <p:spPr>
            <a:xfrm>
              <a:off x="182879" y="164591"/>
              <a:ext cx="365761" cy="365761"/>
            </a:xfrm>
            <a:prstGeom prst="rect">
              <a:avLst/>
            </a:prstGeom>
            <a:ln w="12700" cap="flat">
              <a:noFill/>
              <a:miter lim="400000"/>
            </a:ln>
            <a:effectLst/>
          </p:spPr>
        </p:pic>
        <p:sp>
          <p:nvSpPr>
            <p:cNvPr id="152" name="vi2_n"/>
            <p:cNvSpPr txBox="1"/>
            <p:nvPr/>
          </p:nvSpPr>
          <p:spPr>
            <a:xfrm>
              <a:off x="658367" y="202945"/>
              <a:ext cx="42396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F3D2B"/>
                  </a:solidFill>
                  <a:latin typeface="Georgia"/>
                  <a:ea typeface="Georgia"/>
                  <a:cs typeface="Georgia"/>
                  <a:sym typeface="Georgia"/>
                </a:defRPr>
              </a:lvl1pPr>
            </a:lstStyle>
            <a:p>
              <a:pPr/>
              <a:r>
                <a:t>SURVIVAL</a:t>
              </a:r>
            </a:p>
          </p:txBody>
        </p:sp>
        <p:sp>
          <p:nvSpPr>
            <p:cNvPr id="153" name="vi2_t"/>
            <p:cNvSpPr txBox="1"/>
            <p:nvPr/>
          </p:nvSpPr>
          <p:spPr>
            <a:xfrm>
              <a:off x="182879" y="566927"/>
              <a:ext cx="4733393" cy="3980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182B1E"/>
                  </a:solidFill>
                  <a:latin typeface="Arial"/>
                  <a:ea typeface="Arial"/>
                  <a:cs typeface="Arial"/>
                  <a:sym typeface="Arial"/>
                </a:defRPr>
              </a:lvl1pPr>
            </a:lstStyle>
            <a:p>
              <a:pPr/>
              <a:r>
                <a:t>Giraffes with longer necks can reach more food, so they are more likely to survive.</a:t>
              </a:r>
            </a:p>
          </p:txBody>
        </p:sp>
      </p:grpSp>
      <p:grpSp>
        <p:nvGrpSpPr>
          <p:cNvPr id="159" name="vi3"/>
          <p:cNvGrpSpPr/>
          <p:nvPr/>
        </p:nvGrpSpPr>
        <p:grpSpPr>
          <a:xfrm>
            <a:off x="6543903" y="3383279"/>
            <a:ext cx="5099153" cy="1188721"/>
            <a:chOff x="0" y="0"/>
            <a:chExt cx="5099151" cy="1188719"/>
          </a:xfrm>
        </p:grpSpPr>
        <p:sp>
          <p:nvSpPr>
            <p:cNvPr id="155" name="vi3_bg"/>
            <p:cNvSpPr/>
            <p:nvPr/>
          </p:nvSpPr>
          <p:spPr>
            <a:xfrm>
              <a:off x="0" y="0"/>
              <a:ext cx="5099152"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56" name="vi3_icon" descr="vi3_icon"/>
            <p:cNvPicPr>
              <a:picLocks noChangeAspect="1"/>
            </p:cNvPicPr>
            <p:nvPr/>
          </p:nvPicPr>
          <p:blipFill>
            <a:blip r:embed="rId9">
              <a:extLst/>
            </a:blip>
            <a:stretch>
              <a:fillRect/>
            </a:stretch>
          </p:blipFill>
          <p:spPr>
            <a:xfrm>
              <a:off x="182879" y="164591"/>
              <a:ext cx="365761" cy="365761"/>
            </a:xfrm>
            <a:prstGeom prst="rect">
              <a:avLst/>
            </a:prstGeom>
            <a:ln w="12700" cap="flat">
              <a:noFill/>
              <a:miter lim="400000"/>
            </a:ln>
            <a:effectLst/>
          </p:spPr>
        </p:pic>
        <p:sp>
          <p:nvSpPr>
            <p:cNvPr id="157" name="vi3_n"/>
            <p:cNvSpPr txBox="1"/>
            <p:nvPr/>
          </p:nvSpPr>
          <p:spPr>
            <a:xfrm>
              <a:off x="658367" y="202945"/>
              <a:ext cx="42396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F3D2B"/>
                  </a:solidFill>
                  <a:latin typeface="Georgia"/>
                  <a:ea typeface="Georgia"/>
                  <a:cs typeface="Georgia"/>
                  <a:sym typeface="Georgia"/>
                </a:defRPr>
              </a:lvl1pPr>
            </a:lstStyle>
            <a:p>
              <a:pPr/>
              <a:r>
                <a:t>INHERITANCE</a:t>
              </a:r>
            </a:p>
          </p:txBody>
        </p:sp>
        <p:sp>
          <p:nvSpPr>
            <p:cNvPr id="158" name="vi3_t"/>
            <p:cNvSpPr txBox="1"/>
            <p:nvPr/>
          </p:nvSpPr>
          <p:spPr>
            <a:xfrm>
              <a:off x="182879" y="566927"/>
              <a:ext cx="4733393" cy="3980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182B1E"/>
                  </a:solidFill>
                  <a:latin typeface="Arial"/>
                  <a:ea typeface="Arial"/>
                  <a:cs typeface="Arial"/>
                  <a:sym typeface="Arial"/>
                </a:defRPr>
              </a:lvl1pPr>
            </a:lstStyle>
            <a:p>
              <a:pPr/>
              <a:r>
                <a:t>Giraffes that survive can reproduce. Long necks are passed on to their offspring.</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3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44"/>
                                        </p:tgtEl>
                                        <p:attrNameLst>
                                          <p:attrName>style.visibility</p:attrName>
                                        </p:attrNameLst>
                                      </p:cBhvr>
                                      <p:to>
                                        <p:strVal val="visible"/>
                                      </p:to>
                                    </p:set>
                                    <p:animEffect filter="fade" transition="in">
                                      <p:cBhvr>
                                        <p:cTn id="11" dur="400"/>
                                        <p:tgtEl>
                                          <p:spTgt spid="14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49"/>
                                        </p:tgtEl>
                                        <p:attrNameLst>
                                          <p:attrName>style.visibility</p:attrName>
                                        </p:attrNameLst>
                                      </p:cBhvr>
                                      <p:to>
                                        <p:strVal val="visible"/>
                                      </p:to>
                                    </p:set>
                                    <p:animEffect filter="fade" transition="in">
                                      <p:cBhvr>
                                        <p:cTn id="16" dur="400"/>
                                        <p:tgtEl>
                                          <p:spTgt spid="14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54"/>
                                        </p:tgtEl>
                                        <p:attrNameLst>
                                          <p:attrName>style.visibility</p:attrName>
                                        </p:attrNameLst>
                                      </p:cBhvr>
                                      <p:to>
                                        <p:strVal val="visible"/>
                                      </p:to>
                                    </p:set>
                                    <p:animEffect filter="fade" transition="in">
                                      <p:cBhvr>
                                        <p:cTn id="21" dur="400"/>
                                        <p:tgtEl>
                                          <p:spTgt spid="15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59"/>
                                        </p:tgtEl>
                                        <p:attrNameLst>
                                          <p:attrName>style.visibility</p:attrName>
                                        </p:attrNameLst>
                                      </p:cBhvr>
                                      <p:to>
                                        <p:strVal val="visible"/>
                                      </p:to>
                                    </p:set>
                                    <p:animEffect filter="fade" transition="in">
                                      <p:cBhvr>
                                        <p:cTn id="26" dur="4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135"/>
                </p:tgtEl>
              </p:cMediaNode>
            </p:video>
            <p:seq concurrent="1" prevAc="none" nextAc="seek">
              <p:cTn id="28" evtFilter="cancelBubble" nodeType="interactiveSeq" restart="whenNotActive" fill="hold">
                <p:stCondLst>
                  <p:cond delay="0" evt="onClick">
                    <p:tgtEl>
                      <p:spTgt spid="135"/>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135"/>
                                        </p:tgtEl>
                                      </p:cBhvr>
                                    </p:cmd>
                                  </p:childTnLst>
                                </p:cTn>
                              </p:par>
                            </p:childTnLst>
                          </p:cTn>
                        </p:par>
                      </p:childTnLst>
                    </p:cTn>
                  </p:par>
                </p:childTnLst>
              </p:cTn>
              <p:nextCondLst>
                <p:cond delay="0" evt="onClick">
                  <p:tgtEl>
                    <p:spTgt spid="135"/>
                  </p:tgtEl>
                </p:cond>
              </p:nextCondLst>
            </p:seq>
          </p:childTnLst>
        </p:cTn>
      </p:par>
    </p:tnLst>
    <p:bldLst>
      <p:bldP build="whole" bldLvl="1" animBg="1" rev="0" advAuto="0" spid="144" grpId="2"/>
      <p:bldP build="whole" bldLvl="1" animBg="1" rev="0" advAuto="0" spid="149" grpId="3"/>
      <p:bldP build="whole" bldLvl="1" animBg="1" rev="0" advAuto="0" spid="154" grpId="4"/>
      <p:bldP build="whole" bldLvl="1" animBg="1" rev="0" advAuto="0" spid="159"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6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66" name="phase_pill"/>
          <p:cNvGrpSpPr/>
          <p:nvPr/>
        </p:nvGrpSpPr>
        <p:grpSpPr>
          <a:xfrm>
            <a:off x="1170432" y="310895"/>
            <a:ext cx="1713586" cy="329185"/>
            <a:chOff x="0" y="0"/>
            <a:chExt cx="1713585" cy="329184"/>
          </a:xfrm>
        </p:grpSpPr>
        <p:sp>
          <p:nvSpPr>
            <p:cNvPr id="164"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65"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67"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F3D2B"/>
                </a:solidFill>
                <a:latin typeface="Georgia"/>
                <a:ea typeface="Georgia"/>
                <a:cs typeface="Georgia"/>
                <a:sym typeface="Georgia"/>
              </a:defRPr>
            </a:lvl1pPr>
          </a:lstStyle>
          <a:p>
            <a:pPr/>
            <a:r>
              <a:t>What should be the correct answer?</a:t>
            </a:r>
          </a:p>
        </p:txBody>
      </p:sp>
      <p:sp>
        <p:nvSpPr>
          <p:cNvPr id="168"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2685A"/>
                </a:solidFill>
                <a:latin typeface="Arial"/>
                <a:ea typeface="Arial"/>
                <a:cs typeface="Arial"/>
                <a:sym typeface="Arial"/>
              </a:defRPr>
            </a:lvl1pPr>
          </a:lstStyle>
          <a:p>
            <a:pPr/>
            <a:r>
              <a:t>Spot the mistake.</a:t>
            </a:r>
          </a:p>
        </p:txBody>
      </p:sp>
      <p:sp>
        <p:nvSpPr>
          <p:cNvPr id="169"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70" name="wd0_q"/>
          <p:cNvSpPr txBox="1"/>
          <p:nvPr/>
        </p:nvSpPr>
        <p:spPr>
          <a:xfrm>
            <a:off x="1426463" y="2627840"/>
            <a:ext cx="6035042" cy="230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182B1E"/>
                </a:solidFill>
                <a:latin typeface="Arial"/>
                <a:ea typeface="Arial"/>
                <a:cs typeface="Arial"/>
                <a:sym typeface="Arial"/>
              </a:defRPr>
            </a:lvl1pPr>
          </a:lstStyle>
          <a:p>
            <a:pPr/>
            <a:r>
              <a:t>"The giraffe stretched its neck to reach the leaves."</a:t>
            </a:r>
          </a:p>
        </p:txBody>
      </p:sp>
      <p:grpSp>
        <p:nvGrpSpPr>
          <p:cNvPr id="173" name="wd0_a"/>
          <p:cNvGrpSpPr/>
          <p:nvPr/>
        </p:nvGrpSpPr>
        <p:grpSpPr>
          <a:xfrm>
            <a:off x="7662671" y="2414016"/>
            <a:ext cx="3888944" cy="658369"/>
            <a:chOff x="0" y="0"/>
            <a:chExt cx="3888942" cy="658368"/>
          </a:xfrm>
        </p:grpSpPr>
        <p:sp>
          <p:nvSpPr>
            <p:cNvPr id="171" name="Rounded Rectangle"/>
            <p:cNvSpPr/>
            <p:nvPr/>
          </p:nvSpPr>
          <p:spPr>
            <a:xfrm>
              <a:off x="0" y="0"/>
              <a:ext cx="3888943" cy="658369"/>
            </a:xfrm>
            <a:prstGeom prst="roundRect">
              <a:avLst>
                <a:gd name="adj" fmla="val 13889"/>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172" name="Longer necks come from variation, not effort."/>
            <p:cNvSpPr txBox="1"/>
            <p:nvPr/>
          </p:nvSpPr>
          <p:spPr>
            <a:xfrm>
              <a:off x="36307" y="242014"/>
              <a:ext cx="3816328"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Longer necks come from variation, not effort.</a:t>
              </a:r>
            </a:p>
          </p:txBody>
        </p:sp>
      </p:grpSp>
      <p:sp>
        <p:nvSpPr>
          <p:cNvPr id="174"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75" name="wd1_q"/>
          <p:cNvSpPr txBox="1"/>
          <p:nvPr/>
        </p:nvSpPr>
        <p:spPr>
          <a:xfrm>
            <a:off x="1426463" y="3651968"/>
            <a:ext cx="6035042" cy="230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182B1E"/>
                </a:solidFill>
                <a:latin typeface="Arial"/>
                <a:ea typeface="Arial"/>
                <a:cs typeface="Arial"/>
                <a:sym typeface="Arial"/>
              </a:defRPr>
            </a:lvl1pPr>
          </a:lstStyle>
          <a:p>
            <a:pPr/>
            <a:r>
              <a:t>"The giraffe changed because it needed more food."</a:t>
            </a:r>
          </a:p>
        </p:txBody>
      </p:sp>
      <p:grpSp>
        <p:nvGrpSpPr>
          <p:cNvPr id="178" name="wd1_a"/>
          <p:cNvGrpSpPr/>
          <p:nvPr/>
        </p:nvGrpSpPr>
        <p:grpSpPr>
          <a:xfrm>
            <a:off x="7662671" y="3438144"/>
            <a:ext cx="3888944" cy="658369"/>
            <a:chOff x="0" y="0"/>
            <a:chExt cx="3888942" cy="658368"/>
          </a:xfrm>
        </p:grpSpPr>
        <p:sp>
          <p:nvSpPr>
            <p:cNvPr id="176" name="Rounded Rectangle"/>
            <p:cNvSpPr/>
            <p:nvPr/>
          </p:nvSpPr>
          <p:spPr>
            <a:xfrm>
              <a:off x="0" y="0"/>
              <a:ext cx="3888943" cy="658369"/>
            </a:xfrm>
            <a:prstGeom prst="roundRect">
              <a:avLst>
                <a:gd name="adj" fmla="val 13889"/>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177" name="Only individuals that already had an advantage survived better."/>
            <p:cNvSpPr txBox="1"/>
            <p:nvPr/>
          </p:nvSpPr>
          <p:spPr>
            <a:xfrm>
              <a:off x="36307" y="153114"/>
              <a:ext cx="3816328"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Only individuals that already had an advantage survived better.</a:t>
              </a:r>
            </a:p>
          </p:txBody>
        </p:sp>
      </p:grpSp>
      <p:sp>
        <p:nvSpPr>
          <p:cNvPr id="179"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80" name="wd2_q"/>
          <p:cNvSpPr txBox="1"/>
          <p:nvPr/>
        </p:nvSpPr>
        <p:spPr>
          <a:xfrm>
            <a:off x="1426463" y="4676096"/>
            <a:ext cx="6035042" cy="230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182B1E"/>
                </a:solidFill>
                <a:latin typeface="Arial"/>
                <a:ea typeface="Arial"/>
                <a:cs typeface="Arial"/>
                <a:sym typeface="Arial"/>
              </a:defRPr>
            </a:lvl1pPr>
          </a:lstStyle>
          <a:p>
            <a:pPr/>
            <a:r>
              <a:t>"Evolution happens to one animal during its life."</a:t>
            </a:r>
          </a:p>
        </p:txBody>
      </p:sp>
      <p:grpSp>
        <p:nvGrpSpPr>
          <p:cNvPr id="183" name="wd2_a"/>
          <p:cNvGrpSpPr/>
          <p:nvPr/>
        </p:nvGrpSpPr>
        <p:grpSpPr>
          <a:xfrm>
            <a:off x="7662671" y="4462271"/>
            <a:ext cx="3888944" cy="658369"/>
            <a:chOff x="0" y="0"/>
            <a:chExt cx="3888942" cy="658368"/>
          </a:xfrm>
        </p:grpSpPr>
        <p:sp>
          <p:nvSpPr>
            <p:cNvPr id="181" name="Rounded Rectangle"/>
            <p:cNvSpPr/>
            <p:nvPr/>
          </p:nvSpPr>
          <p:spPr>
            <a:xfrm>
              <a:off x="0" y="0"/>
              <a:ext cx="3888943" cy="658369"/>
            </a:xfrm>
            <a:prstGeom prst="roundRect">
              <a:avLst>
                <a:gd name="adj" fmla="val 13889"/>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182" name="Evolution happens to populations over many generations."/>
            <p:cNvSpPr txBox="1"/>
            <p:nvPr/>
          </p:nvSpPr>
          <p:spPr>
            <a:xfrm>
              <a:off x="36307" y="153114"/>
              <a:ext cx="3816328"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Evolution happens to populations over many generations.</a:t>
              </a:r>
            </a:p>
          </p:txBody>
        </p:sp>
      </p:grpSp>
      <p:sp>
        <p:nvSpPr>
          <p:cNvPr id="184"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85" name="wd3_q"/>
          <p:cNvSpPr txBox="1"/>
          <p:nvPr/>
        </p:nvSpPr>
        <p:spPr>
          <a:xfrm>
            <a:off x="1426463" y="5700224"/>
            <a:ext cx="6035042" cy="230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400">
                <a:solidFill>
                  <a:srgbClr val="182B1E"/>
                </a:solidFill>
                <a:latin typeface="Arial"/>
                <a:ea typeface="Arial"/>
                <a:cs typeface="Arial"/>
                <a:sym typeface="Arial"/>
              </a:defRPr>
            </a:lvl1pPr>
          </a:lstStyle>
          <a:p>
            <a:pPr/>
            <a:r>
              <a:t>"All giraffes have the same neck length."</a:t>
            </a:r>
          </a:p>
        </p:txBody>
      </p:sp>
      <p:grpSp>
        <p:nvGrpSpPr>
          <p:cNvPr id="188" name="wd3_a"/>
          <p:cNvGrpSpPr/>
          <p:nvPr/>
        </p:nvGrpSpPr>
        <p:grpSpPr>
          <a:xfrm>
            <a:off x="7662671" y="5486400"/>
            <a:ext cx="3888944" cy="658369"/>
            <a:chOff x="0" y="0"/>
            <a:chExt cx="3888942" cy="658368"/>
          </a:xfrm>
        </p:grpSpPr>
        <p:sp>
          <p:nvSpPr>
            <p:cNvPr id="186" name="Rounded Rectangle"/>
            <p:cNvSpPr/>
            <p:nvPr/>
          </p:nvSpPr>
          <p:spPr>
            <a:xfrm>
              <a:off x="0" y="0"/>
              <a:ext cx="3888943" cy="658369"/>
            </a:xfrm>
            <a:prstGeom prst="roundRect">
              <a:avLst>
                <a:gd name="adj" fmla="val 13889"/>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187" name="There is variation. Individual giraffes have slightly different neck lengths."/>
            <p:cNvSpPr txBox="1"/>
            <p:nvPr/>
          </p:nvSpPr>
          <p:spPr>
            <a:xfrm>
              <a:off x="36307" y="153114"/>
              <a:ext cx="3816328"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There is variation. Individual giraffes have slightly different neck lengths.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6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73"/>
                                        </p:tgtEl>
                                        <p:attrNameLst>
                                          <p:attrName>style.visibility</p:attrName>
                                        </p:attrNameLst>
                                      </p:cBhvr>
                                      <p:to>
                                        <p:strVal val="visible"/>
                                      </p:to>
                                    </p:set>
                                    <p:anim calcmode="lin" valueType="num">
                                      <p:cBhvr>
                                        <p:cTn id="11" dur="400" fill="hold"/>
                                        <p:tgtEl>
                                          <p:spTgt spid="173"/>
                                        </p:tgtEl>
                                        <p:attrNameLst>
                                          <p:attrName>ppt_w</p:attrName>
                                        </p:attrNameLst>
                                      </p:cBhvr>
                                      <p:tavLst>
                                        <p:tav tm="0">
                                          <p:val>
                                            <p:fltVal val="0"/>
                                          </p:val>
                                        </p:tav>
                                        <p:tav tm="100000">
                                          <p:val>
                                            <p:strVal val="#ppt_w"/>
                                          </p:val>
                                        </p:tav>
                                      </p:tavLst>
                                    </p:anim>
                                    <p:anim calcmode="lin" valueType="num">
                                      <p:cBhvr>
                                        <p:cTn id="12" dur="400" fill="hold"/>
                                        <p:tgtEl>
                                          <p:spTgt spid="173"/>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78"/>
                                        </p:tgtEl>
                                        <p:attrNameLst>
                                          <p:attrName>style.visibility</p:attrName>
                                        </p:attrNameLst>
                                      </p:cBhvr>
                                      <p:to>
                                        <p:strVal val="visible"/>
                                      </p:to>
                                    </p:set>
                                    <p:anim calcmode="lin" valueType="num">
                                      <p:cBhvr>
                                        <p:cTn id="17" dur="400" fill="hold"/>
                                        <p:tgtEl>
                                          <p:spTgt spid="178"/>
                                        </p:tgtEl>
                                        <p:attrNameLst>
                                          <p:attrName>ppt_w</p:attrName>
                                        </p:attrNameLst>
                                      </p:cBhvr>
                                      <p:tavLst>
                                        <p:tav tm="0">
                                          <p:val>
                                            <p:fltVal val="0"/>
                                          </p:val>
                                        </p:tav>
                                        <p:tav tm="100000">
                                          <p:val>
                                            <p:strVal val="#ppt_w"/>
                                          </p:val>
                                        </p:tav>
                                      </p:tavLst>
                                    </p:anim>
                                    <p:anim calcmode="lin" valueType="num">
                                      <p:cBhvr>
                                        <p:cTn id="18" dur="400" fill="hold"/>
                                        <p:tgtEl>
                                          <p:spTgt spid="17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83"/>
                                        </p:tgtEl>
                                        <p:attrNameLst>
                                          <p:attrName>style.visibility</p:attrName>
                                        </p:attrNameLst>
                                      </p:cBhvr>
                                      <p:to>
                                        <p:strVal val="visible"/>
                                      </p:to>
                                    </p:set>
                                    <p:anim calcmode="lin" valueType="num">
                                      <p:cBhvr>
                                        <p:cTn id="23" dur="400" fill="hold"/>
                                        <p:tgtEl>
                                          <p:spTgt spid="183"/>
                                        </p:tgtEl>
                                        <p:attrNameLst>
                                          <p:attrName>ppt_w</p:attrName>
                                        </p:attrNameLst>
                                      </p:cBhvr>
                                      <p:tavLst>
                                        <p:tav tm="0">
                                          <p:val>
                                            <p:fltVal val="0"/>
                                          </p:val>
                                        </p:tav>
                                        <p:tav tm="100000">
                                          <p:val>
                                            <p:strVal val="#ppt_w"/>
                                          </p:val>
                                        </p:tav>
                                      </p:tavLst>
                                    </p:anim>
                                    <p:anim calcmode="lin" valueType="num">
                                      <p:cBhvr>
                                        <p:cTn id="24" dur="400" fill="hold"/>
                                        <p:tgtEl>
                                          <p:spTgt spid="18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88"/>
                                        </p:tgtEl>
                                        <p:attrNameLst>
                                          <p:attrName>style.visibility</p:attrName>
                                        </p:attrNameLst>
                                      </p:cBhvr>
                                      <p:to>
                                        <p:strVal val="visible"/>
                                      </p:to>
                                    </p:set>
                                    <p:anim calcmode="lin" valueType="num">
                                      <p:cBhvr>
                                        <p:cTn id="29" dur="400" fill="hold"/>
                                        <p:tgtEl>
                                          <p:spTgt spid="188"/>
                                        </p:tgtEl>
                                        <p:attrNameLst>
                                          <p:attrName>ppt_w</p:attrName>
                                        </p:attrNameLst>
                                      </p:cBhvr>
                                      <p:tavLst>
                                        <p:tav tm="0">
                                          <p:val>
                                            <p:fltVal val="0"/>
                                          </p:val>
                                        </p:tav>
                                        <p:tav tm="100000">
                                          <p:val>
                                            <p:strVal val="#ppt_w"/>
                                          </p:val>
                                        </p:tav>
                                      </p:tavLst>
                                    </p:anim>
                                    <p:anim calcmode="lin" valueType="num">
                                      <p:cBhvr>
                                        <p:cTn id="30" dur="400" fill="hold"/>
                                        <p:tgtEl>
                                          <p:spTgt spid="1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63"/>
                </p:tgtEl>
              </p:cMediaNode>
            </p:video>
            <p:seq concurrent="1" prevAc="none" nextAc="seek">
              <p:cTn id="32" evtFilter="cancelBubble" nodeType="interactiveSeq" restart="whenNotActive" fill="hold">
                <p:stCondLst>
                  <p:cond delay="0" evt="onClick">
                    <p:tgtEl>
                      <p:spTgt spid="163"/>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63"/>
                                        </p:tgtEl>
                                      </p:cBhvr>
                                    </p:cmd>
                                  </p:childTnLst>
                                </p:cTn>
                              </p:par>
                            </p:childTnLst>
                          </p:cTn>
                        </p:par>
                      </p:childTnLst>
                    </p:cTn>
                  </p:par>
                </p:childTnLst>
              </p:cTn>
              <p:nextCondLst>
                <p:cond delay="0" evt="onClick">
                  <p:tgtEl>
                    <p:spTgt spid="163"/>
                  </p:tgtEl>
                </p:cond>
              </p:nextCondLst>
            </p:seq>
          </p:childTnLst>
        </p:cTn>
      </p:par>
    </p:tnLst>
    <p:bldLst>
      <p:bldP build="whole" bldLvl="1" animBg="1" rev="0" advAuto="0" spid="188" grpId="5"/>
      <p:bldP build="whole" bldLvl="1" animBg="1" rev="0" advAuto="0" spid="173" grpId="2"/>
      <p:bldP build="whole" bldLvl="1" animBg="1" rev="0" advAuto="0" spid="183" grpId="4"/>
      <p:bldP build="whole" bldLvl="1" animBg="1" rev="0" advAuto="0" spid="178"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9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95" name="phase_pill"/>
          <p:cNvGrpSpPr/>
          <p:nvPr/>
        </p:nvGrpSpPr>
        <p:grpSpPr>
          <a:xfrm>
            <a:off x="1170432" y="310895"/>
            <a:ext cx="2072030" cy="329185"/>
            <a:chOff x="0" y="0"/>
            <a:chExt cx="2072029" cy="329184"/>
          </a:xfrm>
        </p:grpSpPr>
        <p:sp>
          <p:nvSpPr>
            <p:cNvPr id="193" name="Rounded Rectangle"/>
            <p:cNvSpPr/>
            <p:nvPr/>
          </p:nvSpPr>
          <p:spPr>
            <a:xfrm>
              <a:off x="0" y="0"/>
              <a:ext cx="2072030"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94"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196" name="c0_bg"/>
          <p:cNvSpPr/>
          <p:nvPr/>
        </p:nvSpPr>
        <p:spPr>
          <a:xfrm>
            <a:off x="1170432"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197" name="c0_badge"/>
          <p:cNvSpPr/>
          <p:nvPr/>
        </p:nvSpPr>
        <p:spPr>
          <a:xfrm>
            <a:off x="1371600" y="1133855"/>
            <a:ext cx="384048" cy="384049"/>
          </a:xfrm>
          <a:prstGeom prst="ellipse">
            <a:avLst/>
          </a:prstGeom>
          <a:solidFill>
            <a:srgbClr val="DE9A4C"/>
          </a:solidFill>
          <a:ln w="12700">
            <a:solidFill>
              <a:srgbClr val="DE9A4C"/>
            </a:solidFill>
          </a:ln>
        </p:spPr>
        <p:txBody>
          <a:bodyPr lIns="45719" rIns="45719"/>
          <a:lstStyle/>
          <a:p>
            <a:pPr/>
          </a:p>
        </p:txBody>
      </p:sp>
      <p:sp>
        <p:nvSpPr>
          <p:cNvPr id="198" name="c0_num"/>
          <p:cNvSpPr txBox="1"/>
          <p:nvPr/>
        </p:nvSpPr>
        <p:spPr>
          <a:xfrm>
            <a:off x="1371600" y="12242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199" name="c0_q"/>
          <p:cNvSpPr txBox="1"/>
          <p:nvPr/>
        </p:nvSpPr>
        <p:spPr>
          <a:xfrm>
            <a:off x="1901951" y="1307040"/>
            <a:ext cx="4184753"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r>
              <a:t>State Darwin's theory in one sentence.</a:t>
            </a:r>
          </a:p>
        </p:txBody>
      </p:sp>
      <p:grpSp>
        <p:nvGrpSpPr>
          <p:cNvPr id="202" name="c0_a"/>
          <p:cNvGrpSpPr/>
          <p:nvPr/>
        </p:nvGrpSpPr>
        <p:grpSpPr>
          <a:xfrm>
            <a:off x="1371600" y="1810511"/>
            <a:ext cx="4715105" cy="402337"/>
            <a:chOff x="0" y="0"/>
            <a:chExt cx="4715104" cy="402336"/>
          </a:xfrm>
        </p:grpSpPr>
        <p:sp>
          <p:nvSpPr>
            <p:cNvPr id="200" name="Rounded Rectangle"/>
            <p:cNvSpPr/>
            <p:nvPr/>
          </p:nvSpPr>
          <p:spPr>
            <a:xfrm>
              <a:off x="0" y="0"/>
              <a:ext cx="4715105" cy="402337"/>
            </a:xfrm>
            <a:prstGeom prst="roundRect">
              <a:avLst>
                <a:gd name="adj" fmla="val 22727"/>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01" name="Individuals with helpful variations are more likely to survive, reproduce, and pass those variations on."/>
            <p:cNvSpPr txBox="1"/>
            <p:nvPr/>
          </p:nvSpPr>
          <p:spPr>
            <a:xfrm>
              <a:off x="35037" y="24844"/>
              <a:ext cx="4645030" cy="352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1F3D2B"/>
                  </a:solidFill>
                  <a:latin typeface="Arial"/>
                  <a:ea typeface="Arial"/>
                  <a:cs typeface="Arial"/>
                  <a:sym typeface="Arial"/>
                </a:defRPr>
              </a:lvl1pPr>
            </a:lstStyle>
            <a:p>
              <a:pPr/>
              <a:r>
                <a:t>Individuals with helpful variations are more likely to survive, reproduce, and pass those variations on.</a:t>
              </a:r>
            </a:p>
          </p:txBody>
        </p:sp>
      </p:grpSp>
      <p:sp>
        <p:nvSpPr>
          <p:cNvPr id="203" name="c1_bg"/>
          <p:cNvSpPr/>
          <p:nvPr/>
        </p:nvSpPr>
        <p:spPr>
          <a:xfrm>
            <a:off x="6525615"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04" name="c1_badge"/>
          <p:cNvSpPr/>
          <p:nvPr/>
        </p:nvSpPr>
        <p:spPr>
          <a:xfrm>
            <a:off x="6726783" y="1133855"/>
            <a:ext cx="384049" cy="384049"/>
          </a:xfrm>
          <a:prstGeom prst="ellipse">
            <a:avLst/>
          </a:prstGeom>
          <a:solidFill>
            <a:srgbClr val="DE9A4C"/>
          </a:solidFill>
          <a:ln w="12700">
            <a:solidFill>
              <a:srgbClr val="DE9A4C"/>
            </a:solidFill>
          </a:ln>
        </p:spPr>
        <p:txBody>
          <a:bodyPr lIns="45719" rIns="45719"/>
          <a:lstStyle/>
          <a:p>
            <a:pPr/>
          </a:p>
        </p:txBody>
      </p:sp>
      <p:sp>
        <p:nvSpPr>
          <p:cNvPr id="205" name="c1_num"/>
          <p:cNvSpPr txBox="1"/>
          <p:nvPr/>
        </p:nvSpPr>
        <p:spPr>
          <a:xfrm>
            <a:off x="6726783" y="12242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206" name="c1_q"/>
          <p:cNvSpPr txBox="1"/>
          <p:nvPr/>
        </p:nvSpPr>
        <p:spPr>
          <a:xfrm>
            <a:off x="7257136" y="1307040"/>
            <a:ext cx="4184753"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r>
              <a:t>Name the four things natural selection needs.</a:t>
            </a:r>
          </a:p>
        </p:txBody>
      </p:sp>
      <p:grpSp>
        <p:nvGrpSpPr>
          <p:cNvPr id="209" name="c1_a"/>
          <p:cNvGrpSpPr/>
          <p:nvPr/>
        </p:nvGrpSpPr>
        <p:grpSpPr>
          <a:xfrm>
            <a:off x="6726783" y="1810511"/>
            <a:ext cx="4715106" cy="402337"/>
            <a:chOff x="0" y="0"/>
            <a:chExt cx="4715104" cy="402336"/>
          </a:xfrm>
        </p:grpSpPr>
        <p:sp>
          <p:nvSpPr>
            <p:cNvPr id="207" name="Rounded Rectangle"/>
            <p:cNvSpPr/>
            <p:nvPr/>
          </p:nvSpPr>
          <p:spPr>
            <a:xfrm>
              <a:off x="0" y="0"/>
              <a:ext cx="4715105" cy="402337"/>
            </a:xfrm>
            <a:prstGeom prst="roundRect">
              <a:avLst>
                <a:gd name="adj" fmla="val 22727"/>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08" name="Variation, competition, survival, inheritance."/>
            <p:cNvSpPr txBox="1"/>
            <p:nvPr/>
          </p:nvSpPr>
          <p:spPr>
            <a:xfrm>
              <a:off x="35037" y="113744"/>
              <a:ext cx="464503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1F3D2B"/>
                  </a:solidFill>
                  <a:latin typeface="Arial"/>
                  <a:ea typeface="Arial"/>
                  <a:cs typeface="Arial"/>
                  <a:sym typeface="Arial"/>
                </a:defRPr>
              </a:lvl1pPr>
            </a:lstStyle>
            <a:p>
              <a:pPr/>
              <a:r>
                <a:t>Variation, competition, survival, inheritance.</a:t>
              </a:r>
            </a:p>
          </p:txBody>
        </p:sp>
      </p:grpSp>
      <p:sp>
        <p:nvSpPr>
          <p:cNvPr id="210" name="c2_bg"/>
          <p:cNvSpPr/>
          <p:nvPr/>
        </p:nvSpPr>
        <p:spPr>
          <a:xfrm>
            <a:off x="1170432"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11" name="c2_badge"/>
          <p:cNvSpPr/>
          <p:nvPr/>
        </p:nvSpPr>
        <p:spPr>
          <a:xfrm>
            <a:off x="1371600" y="2724911"/>
            <a:ext cx="384048" cy="384049"/>
          </a:xfrm>
          <a:prstGeom prst="ellipse">
            <a:avLst/>
          </a:prstGeom>
          <a:solidFill>
            <a:srgbClr val="DE9A4C"/>
          </a:solidFill>
          <a:ln w="12700">
            <a:solidFill>
              <a:srgbClr val="DE9A4C"/>
            </a:solidFill>
          </a:ln>
        </p:spPr>
        <p:txBody>
          <a:bodyPr lIns="45719" rIns="45719"/>
          <a:lstStyle/>
          <a:p>
            <a:pPr/>
          </a:p>
        </p:txBody>
      </p:sp>
      <p:sp>
        <p:nvSpPr>
          <p:cNvPr id="212" name="c2_num"/>
          <p:cNvSpPr txBox="1"/>
          <p:nvPr/>
        </p:nvSpPr>
        <p:spPr>
          <a:xfrm>
            <a:off x="1371600" y="281533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213" name="c2_q"/>
          <p:cNvSpPr txBox="1"/>
          <p:nvPr/>
        </p:nvSpPr>
        <p:spPr>
          <a:xfrm>
            <a:off x="1901951" y="2783796"/>
            <a:ext cx="4184753" cy="4491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r>
              <a:t>State whether one animal can evolve during its own lifetime.</a:t>
            </a:r>
          </a:p>
        </p:txBody>
      </p:sp>
      <p:grpSp>
        <p:nvGrpSpPr>
          <p:cNvPr id="216" name="c2_a"/>
          <p:cNvGrpSpPr/>
          <p:nvPr/>
        </p:nvGrpSpPr>
        <p:grpSpPr>
          <a:xfrm>
            <a:off x="1371600" y="3401567"/>
            <a:ext cx="4715105" cy="402337"/>
            <a:chOff x="0" y="0"/>
            <a:chExt cx="4715104" cy="402336"/>
          </a:xfrm>
        </p:grpSpPr>
        <p:sp>
          <p:nvSpPr>
            <p:cNvPr id="214" name="Rounded Rectangle"/>
            <p:cNvSpPr/>
            <p:nvPr/>
          </p:nvSpPr>
          <p:spPr>
            <a:xfrm>
              <a:off x="0" y="0"/>
              <a:ext cx="4715105" cy="402337"/>
            </a:xfrm>
            <a:prstGeom prst="roundRect">
              <a:avLst>
                <a:gd name="adj" fmla="val 22727"/>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15" name="No. Evolution happens to populations, over generations."/>
            <p:cNvSpPr txBox="1"/>
            <p:nvPr/>
          </p:nvSpPr>
          <p:spPr>
            <a:xfrm>
              <a:off x="35037" y="113744"/>
              <a:ext cx="464503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1F3D2B"/>
                  </a:solidFill>
                  <a:latin typeface="Arial"/>
                  <a:ea typeface="Arial"/>
                  <a:cs typeface="Arial"/>
                  <a:sym typeface="Arial"/>
                </a:defRPr>
              </a:lvl1pPr>
            </a:lstStyle>
            <a:p>
              <a:pPr/>
              <a:r>
                <a:t>No. Evolution happens to populations, over generations.</a:t>
              </a:r>
            </a:p>
          </p:txBody>
        </p:sp>
      </p:grpSp>
      <p:sp>
        <p:nvSpPr>
          <p:cNvPr id="217" name="c3_bg"/>
          <p:cNvSpPr/>
          <p:nvPr/>
        </p:nvSpPr>
        <p:spPr>
          <a:xfrm>
            <a:off x="6525615"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18" name="c3_badge"/>
          <p:cNvSpPr/>
          <p:nvPr/>
        </p:nvSpPr>
        <p:spPr>
          <a:xfrm>
            <a:off x="6726783" y="2724911"/>
            <a:ext cx="384049" cy="384049"/>
          </a:xfrm>
          <a:prstGeom prst="ellipse">
            <a:avLst/>
          </a:prstGeom>
          <a:solidFill>
            <a:srgbClr val="DE9A4C"/>
          </a:solidFill>
          <a:ln w="12700">
            <a:solidFill>
              <a:srgbClr val="DE9A4C"/>
            </a:solidFill>
          </a:ln>
        </p:spPr>
        <p:txBody>
          <a:bodyPr lIns="45719" rIns="45719"/>
          <a:lstStyle/>
          <a:p>
            <a:pPr/>
          </a:p>
        </p:txBody>
      </p:sp>
      <p:sp>
        <p:nvSpPr>
          <p:cNvPr id="219" name="c3_num"/>
          <p:cNvSpPr txBox="1"/>
          <p:nvPr/>
        </p:nvSpPr>
        <p:spPr>
          <a:xfrm>
            <a:off x="6726783" y="281533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220" name="c3_q"/>
          <p:cNvSpPr txBox="1"/>
          <p:nvPr/>
        </p:nvSpPr>
        <p:spPr>
          <a:xfrm>
            <a:off x="7257136" y="2783796"/>
            <a:ext cx="4184753" cy="4491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r>
              <a:t>State where variation between individuals comes from.</a:t>
            </a:r>
          </a:p>
        </p:txBody>
      </p:sp>
      <p:grpSp>
        <p:nvGrpSpPr>
          <p:cNvPr id="223" name="c3_a"/>
          <p:cNvGrpSpPr/>
          <p:nvPr/>
        </p:nvGrpSpPr>
        <p:grpSpPr>
          <a:xfrm>
            <a:off x="6726783" y="3401567"/>
            <a:ext cx="4715106" cy="402337"/>
            <a:chOff x="0" y="0"/>
            <a:chExt cx="4715104" cy="402336"/>
          </a:xfrm>
        </p:grpSpPr>
        <p:sp>
          <p:nvSpPr>
            <p:cNvPr id="221" name="Rounded Rectangle"/>
            <p:cNvSpPr/>
            <p:nvPr/>
          </p:nvSpPr>
          <p:spPr>
            <a:xfrm>
              <a:off x="0" y="0"/>
              <a:ext cx="4715105" cy="402337"/>
            </a:xfrm>
            <a:prstGeom prst="roundRect">
              <a:avLst>
                <a:gd name="adj" fmla="val 22727"/>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22" name="Random chance, not effort or need."/>
            <p:cNvSpPr txBox="1"/>
            <p:nvPr/>
          </p:nvSpPr>
          <p:spPr>
            <a:xfrm>
              <a:off x="35037" y="113744"/>
              <a:ext cx="464503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p>
              <a:pPr>
                <a:defRPr b="1" sz="1200">
                  <a:solidFill>
                    <a:srgbClr val="1F3D2B"/>
                  </a:solidFill>
                  <a:latin typeface="Arial"/>
                  <a:ea typeface="Arial"/>
                  <a:cs typeface="Arial"/>
                  <a:sym typeface="Arial"/>
                </a:defRPr>
              </a:pPr>
              <a:r>
                <a:t>Random chance</a:t>
              </a:r>
              <a:r>
                <a:rPr b="0"/>
                <a:t>, not effort or need.</a:t>
              </a:r>
            </a:p>
          </p:txBody>
        </p:sp>
      </p:grpSp>
      <p:sp>
        <p:nvSpPr>
          <p:cNvPr id="224" name="c4_bg"/>
          <p:cNvSpPr/>
          <p:nvPr/>
        </p:nvSpPr>
        <p:spPr>
          <a:xfrm>
            <a:off x="1170432"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25" name="c4_badge"/>
          <p:cNvSpPr/>
          <p:nvPr/>
        </p:nvSpPr>
        <p:spPr>
          <a:xfrm>
            <a:off x="1371600" y="4315967"/>
            <a:ext cx="384048" cy="384049"/>
          </a:xfrm>
          <a:prstGeom prst="ellipse">
            <a:avLst/>
          </a:prstGeom>
          <a:solidFill>
            <a:srgbClr val="DE9A4C"/>
          </a:solidFill>
          <a:ln w="12700">
            <a:solidFill>
              <a:srgbClr val="DE9A4C"/>
            </a:solidFill>
          </a:ln>
        </p:spPr>
        <p:txBody>
          <a:bodyPr lIns="45719" rIns="45719"/>
          <a:lstStyle/>
          <a:p>
            <a:pPr/>
          </a:p>
        </p:txBody>
      </p:sp>
      <p:sp>
        <p:nvSpPr>
          <p:cNvPr id="226" name="c4_num"/>
          <p:cNvSpPr txBox="1"/>
          <p:nvPr/>
        </p:nvSpPr>
        <p:spPr>
          <a:xfrm>
            <a:off x="1371600" y="440639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227" name="c4_q"/>
          <p:cNvSpPr txBox="1"/>
          <p:nvPr/>
        </p:nvSpPr>
        <p:spPr>
          <a:xfrm>
            <a:off x="1901951" y="4374852"/>
            <a:ext cx="4184753" cy="4491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r>
              <a:t>For rabbits and speed, state which rabbits are more likely to survive foxes.</a:t>
            </a:r>
          </a:p>
        </p:txBody>
      </p:sp>
      <p:grpSp>
        <p:nvGrpSpPr>
          <p:cNvPr id="230" name="c4_a"/>
          <p:cNvGrpSpPr/>
          <p:nvPr/>
        </p:nvGrpSpPr>
        <p:grpSpPr>
          <a:xfrm>
            <a:off x="1371600" y="4992623"/>
            <a:ext cx="4715105" cy="402337"/>
            <a:chOff x="0" y="0"/>
            <a:chExt cx="4715104" cy="402336"/>
          </a:xfrm>
        </p:grpSpPr>
        <p:sp>
          <p:nvSpPr>
            <p:cNvPr id="228" name="Rounded Rectangle"/>
            <p:cNvSpPr/>
            <p:nvPr/>
          </p:nvSpPr>
          <p:spPr>
            <a:xfrm>
              <a:off x="0" y="0"/>
              <a:ext cx="4715105" cy="402337"/>
            </a:xfrm>
            <a:prstGeom prst="roundRect">
              <a:avLst>
                <a:gd name="adj" fmla="val 22727"/>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29" name="Faster rabbits as they are more likely to escape, survive, and reproduce."/>
            <p:cNvSpPr txBox="1"/>
            <p:nvPr/>
          </p:nvSpPr>
          <p:spPr>
            <a:xfrm>
              <a:off x="35037" y="24844"/>
              <a:ext cx="4645030" cy="352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1F3D2B"/>
                  </a:solidFill>
                  <a:latin typeface="Arial"/>
                  <a:ea typeface="Arial"/>
                  <a:cs typeface="Arial"/>
                  <a:sym typeface="Arial"/>
                </a:defRPr>
              </a:lvl1pPr>
            </a:lstStyle>
            <a:p>
              <a:pPr/>
              <a:r>
                <a:t>Faster rabbits as they are more likely to escape, survive, and reproduce.</a:t>
              </a:r>
            </a:p>
          </p:txBody>
        </p:sp>
      </p:grpSp>
      <p:sp>
        <p:nvSpPr>
          <p:cNvPr id="231" name="c5_bg"/>
          <p:cNvSpPr/>
          <p:nvPr/>
        </p:nvSpPr>
        <p:spPr>
          <a:xfrm>
            <a:off x="6525615"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2" name="c5_badge"/>
          <p:cNvSpPr/>
          <p:nvPr/>
        </p:nvSpPr>
        <p:spPr>
          <a:xfrm>
            <a:off x="6726783" y="4315967"/>
            <a:ext cx="384049" cy="384049"/>
          </a:xfrm>
          <a:prstGeom prst="ellipse">
            <a:avLst/>
          </a:prstGeom>
          <a:solidFill>
            <a:srgbClr val="DE9A4C"/>
          </a:solidFill>
          <a:ln w="12700">
            <a:solidFill>
              <a:srgbClr val="DE9A4C"/>
            </a:solidFill>
          </a:ln>
        </p:spPr>
        <p:txBody>
          <a:bodyPr lIns="45719" rIns="45719"/>
          <a:lstStyle/>
          <a:p>
            <a:pPr/>
          </a:p>
        </p:txBody>
      </p:sp>
      <p:sp>
        <p:nvSpPr>
          <p:cNvPr id="233" name="c5_num"/>
          <p:cNvSpPr txBox="1"/>
          <p:nvPr/>
        </p:nvSpPr>
        <p:spPr>
          <a:xfrm>
            <a:off x="6726783" y="440639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234" name="c5_q"/>
          <p:cNvSpPr txBox="1"/>
          <p:nvPr/>
        </p:nvSpPr>
        <p:spPr>
          <a:xfrm>
            <a:off x="7257136" y="4374852"/>
            <a:ext cx="4184753" cy="4491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r>
              <a:t>State what happens to a helpful variation over many generations.</a:t>
            </a:r>
          </a:p>
        </p:txBody>
      </p:sp>
      <p:grpSp>
        <p:nvGrpSpPr>
          <p:cNvPr id="237" name="c5_a"/>
          <p:cNvGrpSpPr/>
          <p:nvPr/>
        </p:nvGrpSpPr>
        <p:grpSpPr>
          <a:xfrm>
            <a:off x="6726783" y="4992623"/>
            <a:ext cx="4715106" cy="402337"/>
            <a:chOff x="0" y="0"/>
            <a:chExt cx="4715104" cy="402336"/>
          </a:xfrm>
        </p:grpSpPr>
        <p:sp>
          <p:nvSpPr>
            <p:cNvPr id="235" name="Rounded Rectangle"/>
            <p:cNvSpPr/>
            <p:nvPr/>
          </p:nvSpPr>
          <p:spPr>
            <a:xfrm>
              <a:off x="0" y="0"/>
              <a:ext cx="4715105" cy="402337"/>
            </a:xfrm>
            <a:prstGeom prst="roundRect">
              <a:avLst>
                <a:gd name="adj" fmla="val 22727"/>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36" name="It becomes more common in the population."/>
            <p:cNvSpPr txBox="1"/>
            <p:nvPr/>
          </p:nvSpPr>
          <p:spPr>
            <a:xfrm>
              <a:off x="35037" y="113744"/>
              <a:ext cx="464503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1F3D2B"/>
                  </a:solidFill>
                  <a:latin typeface="Arial"/>
                  <a:ea typeface="Arial"/>
                  <a:cs typeface="Arial"/>
                  <a:sym typeface="Arial"/>
                </a:defRPr>
              </a:lvl1pPr>
            </a:lstStyle>
            <a:p>
              <a:pPr/>
              <a:r>
                <a:t>It becomes more common in the population.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9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02"/>
                                        </p:tgtEl>
                                        <p:attrNameLst>
                                          <p:attrName>style.visibility</p:attrName>
                                        </p:attrNameLst>
                                      </p:cBhvr>
                                      <p:to>
                                        <p:strVal val="visible"/>
                                      </p:to>
                                    </p:set>
                                    <p:animEffect filter="wipe(left)" transition="in">
                                      <p:cBhvr>
                                        <p:cTn id="11" dur="400"/>
                                        <p:tgtEl>
                                          <p:spTgt spid="20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09"/>
                                        </p:tgtEl>
                                        <p:attrNameLst>
                                          <p:attrName>style.visibility</p:attrName>
                                        </p:attrNameLst>
                                      </p:cBhvr>
                                      <p:to>
                                        <p:strVal val="visible"/>
                                      </p:to>
                                    </p:set>
                                    <p:animEffect filter="wipe(left)" transition="in">
                                      <p:cBhvr>
                                        <p:cTn id="16" dur="400"/>
                                        <p:tgtEl>
                                          <p:spTgt spid="20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16"/>
                                        </p:tgtEl>
                                        <p:attrNameLst>
                                          <p:attrName>style.visibility</p:attrName>
                                        </p:attrNameLst>
                                      </p:cBhvr>
                                      <p:to>
                                        <p:strVal val="visible"/>
                                      </p:to>
                                    </p:set>
                                    <p:animEffect filter="wipe(left)" transition="in">
                                      <p:cBhvr>
                                        <p:cTn id="21" dur="400"/>
                                        <p:tgtEl>
                                          <p:spTgt spid="21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23"/>
                                        </p:tgtEl>
                                        <p:attrNameLst>
                                          <p:attrName>style.visibility</p:attrName>
                                        </p:attrNameLst>
                                      </p:cBhvr>
                                      <p:to>
                                        <p:strVal val="visible"/>
                                      </p:to>
                                    </p:set>
                                    <p:animEffect filter="wipe(left)" transition="in">
                                      <p:cBhvr>
                                        <p:cTn id="26" dur="400"/>
                                        <p:tgtEl>
                                          <p:spTgt spid="223"/>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0"/>
                                        </p:tgtEl>
                                        <p:attrNameLst>
                                          <p:attrName>style.visibility</p:attrName>
                                        </p:attrNameLst>
                                      </p:cBhvr>
                                      <p:to>
                                        <p:strVal val="visible"/>
                                      </p:to>
                                    </p:set>
                                    <p:animEffect filter="wipe(left)" transition="in">
                                      <p:cBhvr>
                                        <p:cTn id="31" dur="400"/>
                                        <p:tgtEl>
                                          <p:spTgt spid="230"/>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37"/>
                                        </p:tgtEl>
                                        <p:attrNameLst>
                                          <p:attrName>style.visibility</p:attrName>
                                        </p:attrNameLst>
                                      </p:cBhvr>
                                      <p:to>
                                        <p:strVal val="visible"/>
                                      </p:to>
                                    </p:set>
                                    <p:animEffect filter="wipe(left)" transition="in">
                                      <p:cBhvr>
                                        <p:cTn id="36" dur="4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192"/>
                </p:tgtEl>
              </p:cMediaNode>
            </p:video>
            <p:seq concurrent="1" prevAc="none" nextAc="seek">
              <p:cTn id="38" evtFilter="cancelBubble" nodeType="interactiveSeq" restart="whenNotActive" fill="hold">
                <p:stCondLst>
                  <p:cond delay="0" evt="onClick">
                    <p:tgtEl>
                      <p:spTgt spid="192"/>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192"/>
                                        </p:tgtEl>
                                      </p:cBhvr>
                                    </p:cmd>
                                  </p:childTnLst>
                                </p:cTn>
                              </p:par>
                            </p:childTnLst>
                          </p:cTn>
                        </p:par>
                      </p:childTnLst>
                    </p:cTn>
                  </p:par>
                </p:childTnLst>
              </p:cTn>
              <p:nextCondLst>
                <p:cond delay="0" evt="onClick">
                  <p:tgtEl>
                    <p:spTgt spid="192"/>
                  </p:tgtEl>
                </p:cond>
              </p:nextCondLst>
            </p:seq>
          </p:childTnLst>
        </p:cTn>
      </p:par>
    </p:tnLst>
    <p:bldLst>
      <p:bldP build="whole" bldLvl="1" animBg="1" rev="0" advAuto="0" spid="237" grpId="7"/>
      <p:bldP build="whole" bldLvl="1" animBg="1" rev="0" advAuto="0" spid="223" grpId="5"/>
      <p:bldP build="whole" bldLvl="1" animBg="1" rev="0" advAuto="0" spid="209" grpId="3"/>
      <p:bldP build="whole" bldLvl="1" animBg="1" rev="0" advAuto="0" spid="230" grpId="6"/>
      <p:bldP build="whole" bldLvl="1" animBg="1" rev="0" advAuto="0" spid="216" grpId="4"/>
      <p:bldP build="whole" bldLvl="1" animBg="1" rev="0" advAuto="0" spid="202"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4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44" name="phase_pill"/>
          <p:cNvGrpSpPr/>
          <p:nvPr/>
        </p:nvGrpSpPr>
        <p:grpSpPr>
          <a:xfrm>
            <a:off x="1170432" y="310895"/>
            <a:ext cx="1892808" cy="329185"/>
            <a:chOff x="0" y="0"/>
            <a:chExt cx="1892807" cy="329184"/>
          </a:xfrm>
        </p:grpSpPr>
        <p:sp>
          <p:nvSpPr>
            <p:cNvPr id="242"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43"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45"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46" name="slide_title"/>
          <p:cNvSpPr txBox="1"/>
          <p:nvPr/>
        </p:nvSpPr>
        <p:spPr>
          <a:xfrm>
            <a:off x="1170432" y="1095891"/>
            <a:ext cx="8643823" cy="4234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400"/>
              </a:lnSpc>
              <a:defRPr b="1" sz="2800">
                <a:solidFill>
                  <a:srgbClr val="1F3D2B"/>
                </a:solidFill>
                <a:latin typeface="Georgia"/>
                <a:ea typeface="Georgia"/>
                <a:cs typeface="Georgia"/>
                <a:sym typeface="Georgia"/>
              </a:defRPr>
            </a:lvl1pPr>
          </a:lstStyle>
          <a:p>
            <a:pPr/>
            <a:r>
              <a:t>Natural Selection worksheet</a:t>
            </a:r>
          </a:p>
        </p:txBody>
      </p:sp>
      <p:sp>
        <p:nvSpPr>
          <p:cNvPr id="247"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1442D"/>
                </a:solidFill>
                <a:latin typeface="Arial"/>
                <a:ea typeface="Arial"/>
                <a:cs typeface="Arial"/>
                <a:sym typeface="Arial"/>
              </a:defRPr>
            </a:lvl1pPr>
          </a:lstStyle>
          <a:p>
            <a:pPr/>
            <a:r>
              <a:t>Open Google Classroom now.</a:t>
            </a:r>
          </a:p>
        </p:txBody>
      </p:sp>
      <p:grpSp>
        <p:nvGrpSpPr>
          <p:cNvPr id="252" name="t0"/>
          <p:cNvGrpSpPr/>
          <p:nvPr/>
        </p:nvGrpSpPr>
        <p:grpSpPr>
          <a:xfrm>
            <a:off x="1170432" y="2322576"/>
            <a:ext cx="3307994" cy="1828801"/>
            <a:chOff x="0" y="0"/>
            <a:chExt cx="3307993" cy="1828800"/>
          </a:xfrm>
        </p:grpSpPr>
        <p:sp>
          <p:nvSpPr>
            <p:cNvPr id="248" name="t0_bg"/>
            <p:cNvSpPr/>
            <p:nvPr/>
          </p:nvSpPr>
          <p:spPr>
            <a:xfrm>
              <a:off x="0" y="0"/>
              <a:ext cx="3307994" cy="1828800"/>
            </a:xfrm>
            <a:prstGeom prst="roundRect">
              <a:avLst>
                <a:gd name="adj" fmla="val 5000"/>
              </a:avLst>
            </a:prstGeom>
            <a:solidFill>
              <a:srgbClr val="FBEAE6"/>
            </a:solidFill>
            <a:ln w="20320" cap="flat">
              <a:solidFill>
                <a:srgbClr val="C1442D"/>
              </a:solidFill>
              <a:prstDash val="solid"/>
              <a:round/>
            </a:ln>
            <a:effectLst/>
          </p:spPr>
          <p:txBody>
            <a:bodyPr wrap="square" lIns="45719" tIns="45719" rIns="45719" bIns="45719" numCol="1" anchor="t">
              <a:noAutofit/>
            </a:bodyPr>
            <a:lstStyle/>
            <a:p>
              <a:pPr/>
            </a:p>
          </p:txBody>
        </p:sp>
        <p:sp>
          <p:nvSpPr>
            <p:cNvPr id="249"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1442D"/>
                  </a:solidFill>
                  <a:latin typeface="Arial"/>
                  <a:ea typeface="Arial"/>
                  <a:cs typeface="Arial"/>
                  <a:sym typeface="Arial"/>
                </a:defRPr>
              </a:lvl1pPr>
            </a:lstStyle>
            <a:p>
              <a:pPr/>
              <a:r>
                <a:t>BRONZE</a:t>
              </a:r>
            </a:p>
          </p:txBody>
        </p:sp>
        <p:sp>
          <p:nvSpPr>
            <p:cNvPr id="250"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Label it</a:t>
              </a:r>
            </a:p>
          </p:txBody>
        </p:sp>
        <p:sp>
          <p:nvSpPr>
            <p:cNvPr id="251" name="t0_b"/>
            <p:cNvSpPr txBox="1"/>
            <p:nvPr/>
          </p:nvSpPr>
          <p:spPr>
            <a:xfrm>
              <a:off x="237744" y="877823"/>
              <a:ext cx="2832506" cy="677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Name variation, competition, survival and inheritance for the giraffe.</a:t>
              </a:r>
            </a:p>
          </p:txBody>
        </p:sp>
      </p:grpSp>
      <p:grpSp>
        <p:nvGrpSpPr>
          <p:cNvPr id="257" name="t1"/>
          <p:cNvGrpSpPr/>
          <p:nvPr/>
        </p:nvGrpSpPr>
        <p:grpSpPr>
          <a:xfrm>
            <a:off x="4752745" y="2322576"/>
            <a:ext cx="3307995" cy="1828801"/>
            <a:chOff x="0" y="0"/>
            <a:chExt cx="3307993" cy="1828800"/>
          </a:xfrm>
        </p:grpSpPr>
        <p:sp>
          <p:nvSpPr>
            <p:cNvPr id="253" name="t1_bg"/>
            <p:cNvSpPr/>
            <p:nvPr/>
          </p:nvSpPr>
          <p:spPr>
            <a:xfrm>
              <a:off x="0" y="0"/>
              <a:ext cx="3307994" cy="1828800"/>
            </a:xfrm>
            <a:prstGeom prst="roundRect">
              <a:avLst>
                <a:gd name="adj" fmla="val 5000"/>
              </a:avLst>
            </a:prstGeom>
            <a:solidFill>
              <a:srgbClr val="F1F2EE"/>
            </a:solidFill>
            <a:ln w="20320" cap="flat">
              <a:solidFill>
                <a:srgbClr val="6E8074"/>
              </a:solidFill>
              <a:prstDash val="solid"/>
              <a:round/>
            </a:ln>
            <a:effectLst/>
          </p:spPr>
          <p:txBody>
            <a:bodyPr wrap="square" lIns="45719" tIns="45719" rIns="45719" bIns="45719" numCol="1" anchor="t">
              <a:noAutofit/>
            </a:bodyPr>
            <a:lstStyle/>
            <a:p>
              <a:pPr/>
            </a:p>
          </p:txBody>
        </p:sp>
        <p:sp>
          <p:nvSpPr>
            <p:cNvPr id="254"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6E8074"/>
                  </a:solidFill>
                  <a:latin typeface="Arial"/>
                  <a:ea typeface="Arial"/>
                  <a:cs typeface="Arial"/>
                  <a:sym typeface="Arial"/>
                </a:defRPr>
              </a:lvl1pPr>
            </a:lstStyle>
            <a:p>
              <a:pPr/>
              <a:r>
                <a:t>SILVER</a:t>
              </a:r>
            </a:p>
          </p:txBody>
        </p:sp>
        <p:sp>
          <p:nvSpPr>
            <p:cNvPr id="255"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Apply it</a:t>
              </a:r>
            </a:p>
          </p:txBody>
        </p:sp>
        <p:sp>
          <p:nvSpPr>
            <p:cNvPr id="256"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Explain natural selection for a new animal: camouflage beetles.</a:t>
              </a:r>
            </a:p>
          </p:txBody>
        </p:sp>
      </p:grpSp>
      <p:grpSp>
        <p:nvGrpSpPr>
          <p:cNvPr id="262" name="t2"/>
          <p:cNvGrpSpPr/>
          <p:nvPr/>
        </p:nvGrpSpPr>
        <p:grpSpPr>
          <a:xfrm>
            <a:off x="8335061" y="2322576"/>
            <a:ext cx="3307994" cy="1828801"/>
            <a:chOff x="0" y="0"/>
            <a:chExt cx="3307993" cy="1828800"/>
          </a:xfrm>
        </p:grpSpPr>
        <p:sp>
          <p:nvSpPr>
            <p:cNvPr id="258" name="t2_bg"/>
            <p:cNvSpPr/>
            <p:nvPr/>
          </p:nvSpPr>
          <p:spPr>
            <a:xfrm>
              <a:off x="0" y="0"/>
              <a:ext cx="3307994" cy="1828800"/>
            </a:xfrm>
            <a:prstGeom prst="roundRect">
              <a:avLst>
                <a:gd name="adj" fmla="val 5000"/>
              </a:avLst>
            </a:prstGeom>
            <a:solidFill>
              <a:srgbClr val="F3E7CE"/>
            </a:solidFill>
            <a:ln w="20320" cap="flat">
              <a:solidFill>
                <a:srgbClr val="A8651F"/>
              </a:solidFill>
              <a:prstDash val="solid"/>
              <a:round/>
            </a:ln>
            <a:effectLst/>
          </p:spPr>
          <p:txBody>
            <a:bodyPr wrap="square" lIns="45719" tIns="45719" rIns="45719" bIns="45719" numCol="1" anchor="t">
              <a:noAutofit/>
            </a:bodyPr>
            <a:lstStyle/>
            <a:p>
              <a:pPr/>
            </a:p>
          </p:txBody>
        </p:sp>
        <p:sp>
          <p:nvSpPr>
            <p:cNvPr id="259"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A8651F"/>
                  </a:solidFill>
                  <a:latin typeface="Arial"/>
                  <a:ea typeface="Arial"/>
                  <a:cs typeface="Arial"/>
                  <a:sym typeface="Arial"/>
                </a:defRPr>
              </a:lvl1pPr>
            </a:lstStyle>
            <a:p>
              <a:pPr/>
              <a:r>
                <a:t>GOLD</a:t>
              </a:r>
            </a:p>
          </p:txBody>
        </p:sp>
        <p:sp>
          <p:nvSpPr>
            <p:cNvPr id="260"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Correct it</a:t>
              </a:r>
            </a:p>
          </p:txBody>
        </p:sp>
        <p:sp>
          <p:nvSpPr>
            <p:cNvPr id="261" name="t2_b"/>
            <p:cNvSpPr txBox="1"/>
            <p:nvPr/>
          </p:nvSpPr>
          <p:spPr>
            <a:xfrm>
              <a:off x="237744" y="877823"/>
              <a:ext cx="2832506" cy="677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Correct a wrong statement, and explain why evolution needs a population.</a:t>
              </a:r>
            </a:p>
          </p:txBody>
        </p:sp>
      </p:grpSp>
      <p:sp>
        <p:nvSpPr>
          <p:cNvPr id="263" name="yd_note"/>
          <p:cNvSpPr txBox="1"/>
          <p:nvPr/>
        </p:nvSpPr>
        <p:spPr>
          <a:xfrm>
            <a:off x="1170432" y="454331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3D2B"/>
                </a:solidFill>
                <a:latin typeface="Arial"/>
                <a:ea typeface="Arial"/>
                <a:cs typeface="Arial"/>
                <a:sym typeface="Arial"/>
              </a:defRPr>
            </a:lvl1pPr>
          </a:lstStyle>
          <a:p>
            <a:pPr/>
            <a:r>
              <a:t>Remember: variation comes first, by chance. Nothing changes on purpose.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4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52"/>
                                        </p:tgtEl>
                                        <p:attrNameLst>
                                          <p:attrName>style.visibility</p:attrName>
                                        </p:attrNameLst>
                                      </p:cBhvr>
                                      <p:to>
                                        <p:strVal val="visible"/>
                                      </p:to>
                                    </p:set>
                                    <p:animEffect filter="fade" transition="in">
                                      <p:cBhvr>
                                        <p:cTn id="11" dur="400"/>
                                        <p:tgtEl>
                                          <p:spTgt spid="25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57"/>
                                        </p:tgtEl>
                                        <p:attrNameLst>
                                          <p:attrName>style.visibility</p:attrName>
                                        </p:attrNameLst>
                                      </p:cBhvr>
                                      <p:to>
                                        <p:strVal val="visible"/>
                                      </p:to>
                                    </p:set>
                                    <p:animEffect filter="fade" transition="in">
                                      <p:cBhvr>
                                        <p:cTn id="16" dur="400"/>
                                        <p:tgtEl>
                                          <p:spTgt spid="25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62"/>
                                        </p:tgtEl>
                                        <p:attrNameLst>
                                          <p:attrName>style.visibility</p:attrName>
                                        </p:attrNameLst>
                                      </p:cBhvr>
                                      <p:to>
                                        <p:strVal val="visible"/>
                                      </p:to>
                                    </p:set>
                                    <p:animEffect filter="fade" transition="in">
                                      <p:cBhvr>
                                        <p:cTn id="21" dur="400"/>
                                        <p:tgtEl>
                                          <p:spTgt spid="262"/>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63"/>
                                        </p:tgtEl>
                                        <p:attrNameLst>
                                          <p:attrName>style.visibility</p:attrName>
                                        </p:attrNameLst>
                                      </p:cBhvr>
                                      <p:to>
                                        <p:strVal val="visible"/>
                                      </p:to>
                                    </p:set>
                                    <p:animEffect filter="fade" transition="in">
                                      <p:cBhvr>
                                        <p:cTn id="26" dur="4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41"/>
                </p:tgtEl>
              </p:cMediaNode>
            </p:video>
            <p:seq concurrent="1" prevAc="none" nextAc="seek">
              <p:cTn id="28" evtFilter="cancelBubble" nodeType="interactiveSeq" restart="whenNotActive" fill="hold">
                <p:stCondLst>
                  <p:cond delay="0" evt="onClick">
                    <p:tgtEl>
                      <p:spTgt spid="241"/>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41"/>
                                        </p:tgtEl>
                                      </p:cBhvr>
                                    </p:cmd>
                                  </p:childTnLst>
                                </p:cTn>
                              </p:par>
                            </p:childTnLst>
                          </p:cTn>
                        </p:par>
                      </p:childTnLst>
                    </p:cTn>
                  </p:par>
                </p:childTnLst>
              </p:cTn>
              <p:nextCondLst>
                <p:cond delay="0" evt="onClick">
                  <p:tgtEl>
                    <p:spTgt spid="241"/>
                  </p:tgtEl>
                </p:cond>
              </p:nextCondLst>
            </p:seq>
          </p:childTnLst>
        </p:cTn>
      </p:par>
    </p:tnLst>
    <p:bldLst>
      <p:bldP build="whole" bldLvl="1" animBg="1" rev="0" advAuto="0" spid="252" grpId="2"/>
      <p:bldP build="whole" bldLvl="1" animBg="1" rev="0" advAuto="0" spid="262" grpId="4"/>
      <p:bldP build="whole" bldLvl="1" animBg="1" rev="0" advAuto="0" spid="263" grpId="5"/>
      <p:bldP build="whole" bldLvl="1" animBg="1" rev="0" advAuto="0" spid="257"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6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70" name="phase_pill"/>
          <p:cNvGrpSpPr/>
          <p:nvPr/>
        </p:nvGrpSpPr>
        <p:grpSpPr>
          <a:xfrm>
            <a:off x="1170432" y="310895"/>
            <a:ext cx="1892808" cy="329185"/>
            <a:chOff x="0" y="0"/>
            <a:chExt cx="1892807" cy="329184"/>
          </a:xfrm>
        </p:grpSpPr>
        <p:sp>
          <p:nvSpPr>
            <p:cNvPr id="268"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69"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271"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F3D2B"/>
                </a:solidFill>
                <a:latin typeface="Georgia"/>
                <a:ea typeface="Georgia"/>
                <a:cs typeface="Georgia"/>
                <a:sym typeface="Georgia"/>
              </a:defRPr>
            </a:lvl1pPr>
          </a:lstStyle>
          <a:p>
            <a:pPr/>
            <a:r>
              <a:t>Answers</a:t>
            </a:r>
          </a:p>
        </p:txBody>
      </p:sp>
      <p:grpSp>
        <p:nvGrpSpPr>
          <p:cNvPr id="275" name="a0"/>
          <p:cNvGrpSpPr/>
          <p:nvPr/>
        </p:nvGrpSpPr>
        <p:grpSpPr>
          <a:xfrm>
            <a:off x="1170432" y="1828800"/>
            <a:ext cx="5117441" cy="658369"/>
            <a:chOff x="0" y="0"/>
            <a:chExt cx="5117439" cy="658368"/>
          </a:xfrm>
        </p:grpSpPr>
        <p:sp>
          <p:nvSpPr>
            <p:cNvPr id="272"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73"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1</a:t>
              </a:r>
            </a:p>
          </p:txBody>
        </p:sp>
        <p:sp>
          <p:nvSpPr>
            <p:cNvPr id="274" name="a0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Some giraffes have slightly longer necks than others, by chance.</a:t>
              </a:r>
            </a:p>
          </p:txBody>
        </p:sp>
      </p:grpSp>
      <p:grpSp>
        <p:nvGrpSpPr>
          <p:cNvPr id="279" name="a1"/>
          <p:cNvGrpSpPr/>
          <p:nvPr/>
        </p:nvGrpSpPr>
        <p:grpSpPr>
          <a:xfrm>
            <a:off x="6525615" y="1828800"/>
            <a:ext cx="5117441" cy="658369"/>
            <a:chOff x="0" y="0"/>
            <a:chExt cx="5117439" cy="658368"/>
          </a:xfrm>
        </p:grpSpPr>
        <p:sp>
          <p:nvSpPr>
            <p:cNvPr id="276"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77"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2</a:t>
              </a:r>
            </a:p>
          </p:txBody>
        </p:sp>
        <p:sp>
          <p:nvSpPr>
            <p:cNvPr id="278" name="a1_t"/>
            <p:cNvSpPr txBox="1"/>
            <p:nvPr/>
          </p:nvSpPr>
          <p:spPr>
            <a:xfrm>
              <a:off x="749808" y="236836"/>
              <a:ext cx="4166464"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Giraffes compete with each other for the same food (leaves).</a:t>
              </a:r>
            </a:p>
          </p:txBody>
        </p:sp>
      </p:grpSp>
      <p:grpSp>
        <p:nvGrpSpPr>
          <p:cNvPr id="283" name="a2"/>
          <p:cNvGrpSpPr/>
          <p:nvPr/>
        </p:nvGrpSpPr>
        <p:grpSpPr>
          <a:xfrm>
            <a:off x="1170432" y="2578607"/>
            <a:ext cx="5117441" cy="658369"/>
            <a:chOff x="0" y="0"/>
            <a:chExt cx="5117439" cy="658368"/>
          </a:xfrm>
        </p:grpSpPr>
        <p:sp>
          <p:nvSpPr>
            <p:cNvPr id="280"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1"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3</a:t>
              </a:r>
            </a:p>
          </p:txBody>
        </p:sp>
        <p:sp>
          <p:nvSpPr>
            <p:cNvPr id="282" name="a2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Giraffes with longer necks can reach more food and are more likely to survive.</a:t>
              </a:r>
            </a:p>
          </p:txBody>
        </p:sp>
      </p:grpSp>
      <p:grpSp>
        <p:nvGrpSpPr>
          <p:cNvPr id="287" name="a3"/>
          <p:cNvGrpSpPr/>
          <p:nvPr/>
        </p:nvGrpSpPr>
        <p:grpSpPr>
          <a:xfrm>
            <a:off x="6525615" y="2578607"/>
            <a:ext cx="5117441" cy="658369"/>
            <a:chOff x="0" y="0"/>
            <a:chExt cx="5117439" cy="658368"/>
          </a:xfrm>
        </p:grpSpPr>
        <p:sp>
          <p:nvSpPr>
            <p:cNvPr id="284"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5"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4</a:t>
              </a:r>
            </a:p>
          </p:txBody>
        </p:sp>
        <p:sp>
          <p:nvSpPr>
            <p:cNvPr id="286" name="a3_t"/>
            <p:cNvSpPr txBox="1"/>
            <p:nvPr/>
          </p:nvSpPr>
          <p:spPr>
            <a:xfrm>
              <a:off x="749808" y="236836"/>
              <a:ext cx="4166464"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Long necks are passed on to offspring.</a:t>
              </a:r>
            </a:p>
          </p:txBody>
        </p:sp>
      </p:grpSp>
      <p:grpSp>
        <p:nvGrpSpPr>
          <p:cNvPr id="291" name="a4"/>
          <p:cNvGrpSpPr/>
          <p:nvPr/>
        </p:nvGrpSpPr>
        <p:grpSpPr>
          <a:xfrm>
            <a:off x="1170432" y="3328415"/>
            <a:ext cx="5117441" cy="658369"/>
            <a:chOff x="0" y="0"/>
            <a:chExt cx="5117439" cy="658368"/>
          </a:xfrm>
        </p:grpSpPr>
        <p:sp>
          <p:nvSpPr>
            <p:cNvPr id="288"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9"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5</a:t>
              </a:r>
            </a:p>
          </p:txBody>
        </p:sp>
        <p:sp>
          <p:nvSpPr>
            <p:cNvPr id="290" name="a4_t"/>
            <p:cNvSpPr txBox="1"/>
            <p:nvPr/>
          </p:nvSpPr>
          <p:spPr>
            <a:xfrm>
              <a:off x="749808" y="236836"/>
              <a:ext cx="4166464" cy="184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Beetle colour varies: some green, some brown.</a:t>
              </a:r>
            </a:p>
          </p:txBody>
        </p:sp>
      </p:grpSp>
      <p:grpSp>
        <p:nvGrpSpPr>
          <p:cNvPr id="295" name="a5"/>
          <p:cNvGrpSpPr/>
          <p:nvPr/>
        </p:nvGrpSpPr>
        <p:grpSpPr>
          <a:xfrm>
            <a:off x="6525615" y="3328415"/>
            <a:ext cx="5117441" cy="658369"/>
            <a:chOff x="0" y="0"/>
            <a:chExt cx="5117439" cy="658368"/>
          </a:xfrm>
        </p:grpSpPr>
        <p:sp>
          <p:nvSpPr>
            <p:cNvPr id="292"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3"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6</a:t>
              </a:r>
            </a:p>
          </p:txBody>
        </p:sp>
        <p:sp>
          <p:nvSpPr>
            <p:cNvPr id="294" name="a5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Green beetles are harder for birds to see, so less likely to be eaten.</a:t>
              </a:r>
            </a:p>
          </p:txBody>
        </p:sp>
      </p:grpSp>
      <p:grpSp>
        <p:nvGrpSpPr>
          <p:cNvPr id="299" name="a6"/>
          <p:cNvGrpSpPr/>
          <p:nvPr/>
        </p:nvGrpSpPr>
        <p:grpSpPr>
          <a:xfrm>
            <a:off x="1170432" y="4078223"/>
            <a:ext cx="5117441" cy="658369"/>
            <a:chOff x="0" y="0"/>
            <a:chExt cx="5117439" cy="658368"/>
          </a:xfrm>
        </p:grpSpPr>
        <p:sp>
          <p:nvSpPr>
            <p:cNvPr id="296"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7"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7</a:t>
              </a:r>
            </a:p>
          </p:txBody>
        </p:sp>
        <p:sp>
          <p:nvSpPr>
            <p:cNvPr id="298" name="a6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Green beetles survive and reproduce more, so green becomes more common.</a:t>
              </a:r>
            </a:p>
          </p:txBody>
        </p:sp>
      </p:grpSp>
      <p:grpSp>
        <p:nvGrpSpPr>
          <p:cNvPr id="303" name="a7"/>
          <p:cNvGrpSpPr/>
          <p:nvPr/>
        </p:nvGrpSpPr>
        <p:grpSpPr>
          <a:xfrm>
            <a:off x="6525615" y="4078223"/>
            <a:ext cx="5117441" cy="658369"/>
            <a:chOff x="0" y="0"/>
            <a:chExt cx="5117439" cy="658368"/>
          </a:xfrm>
        </p:grpSpPr>
        <p:sp>
          <p:nvSpPr>
            <p:cNvPr id="300"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1"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8</a:t>
              </a:r>
            </a:p>
          </p:txBody>
        </p:sp>
        <p:sp>
          <p:nvSpPr>
            <p:cNvPr id="302" name="a7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Beetles cannot change colour by trying. The variation already existed by chance.</a:t>
              </a:r>
            </a:p>
          </p:txBody>
        </p:sp>
      </p:grpSp>
      <p:grpSp>
        <p:nvGrpSpPr>
          <p:cNvPr id="307" name="a8"/>
          <p:cNvGrpSpPr/>
          <p:nvPr/>
        </p:nvGrpSpPr>
        <p:grpSpPr>
          <a:xfrm>
            <a:off x="1170432" y="4828032"/>
            <a:ext cx="5117441" cy="658369"/>
            <a:chOff x="0" y="0"/>
            <a:chExt cx="5117439" cy="658368"/>
          </a:xfrm>
        </p:grpSpPr>
        <p:sp>
          <p:nvSpPr>
            <p:cNvPr id="304"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5"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9</a:t>
              </a:r>
            </a:p>
          </p:txBody>
        </p:sp>
        <p:sp>
          <p:nvSpPr>
            <p:cNvPr id="306" name="a8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One beetle keeps the same colour its whole life. The mix across the population changes.</a:t>
              </a:r>
            </a:p>
          </p:txBody>
        </p:sp>
      </p:grpSp>
      <p:grpSp>
        <p:nvGrpSpPr>
          <p:cNvPr id="311" name="a9"/>
          <p:cNvGrpSpPr/>
          <p:nvPr/>
        </p:nvGrpSpPr>
        <p:grpSpPr>
          <a:xfrm>
            <a:off x="6525615" y="4828032"/>
            <a:ext cx="5117441" cy="658369"/>
            <a:chOff x="0" y="0"/>
            <a:chExt cx="5117439" cy="658368"/>
          </a:xfrm>
        </p:grpSpPr>
        <p:sp>
          <p:nvSpPr>
            <p:cNvPr id="308"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9"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10</a:t>
              </a:r>
            </a:p>
          </p:txBody>
        </p:sp>
        <p:sp>
          <p:nvSpPr>
            <p:cNvPr id="310" name="a9_t"/>
            <p:cNvSpPr txBox="1"/>
            <p:nvPr/>
          </p:nvSpPr>
          <p:spPr>
            <a:xfrm>
              <a:off x="749808" y="141586"/>
              <a:ext cx="41664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Answers vary. Must use chance/advantage language, not need or purpose.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6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5"/>
                                        </p:tgtEl>
                                        <p:attrNameLst>
                                          <p:attrName>style.visibility</p:attrName>
                                        </p:attrNameLst>
                                      </p:cBhvr>
                                      <p:to>
                                        <p:strVal val="visible"/>
                                      </p:to>
                                    </p:set>
                                    <p:animEffect filter="fade" transition="in">
                                      <p:cBhvr>
                                        <p:cTn id="11" dur="400"/>
                                        <p:tgtEl>
                                          <p:spTgt spid="275"/>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79"/>
                                        </p:tgtEl>
                                        <p:attrNameLst>
                                          <p:attrName>style.visibility</p:attrName>
                                        </p:attrNameLst>
                                      </p:cBhvr>
                                      <p:to>
                                        <p:strVal val="visible"/>
                                      </p:to>
                                    </p:set>
                                    <p:animEffect filter="fade" transition="in">
                                      <p:cBhvr>
                                        <p:cTn id="15" dur="400"/>
                                        <p:tgtEl>
                                          <p:spTgt spid="279"/>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283"/>
                                        </p:tgtEl>
                                        <p:attrNameLst>
                                          <p:attrName>style.visibility</p:attrName>
                                        </p:attrNameLst>
                                      </p:cBhvr>
                                      <p:to>
                                        <p:strVal val="visible"/>
                                      </p:to>
                                    </p:set>
                                    <p:animEffect filter="fade" transition="in">
                                      <p:cBhvr>
                                        <p:cTn id="20" dur="400"/>
                                        <p:tgtEl>
                                          <p:spTgt spid="283"/>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287"/>
                                        </p:tgtEl>
                                        <p:attrNameLst>
                                          <p:attrName>style.visibility</p:attrName>
                                        </p:attrNameLst>
                                      </p:cBhvr>
                                      <p:to>
                                        <p:strVal val="visible"/>
                                      </p:to>
                                    </p:set>
                                    <p:animEffect filter="fade" transition="in">
                                      <p:cBhvr>
                                        <p:cTn id="24" dur="400"/>
                                        <p:tgtEl>
                                          <p:spTgt spid="287"/>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291"/>
                                        </p:tgtEl>
                                        <p:attrNameLst>
                                          <p:attrName>style.visibility</p:attrName>
                                        </p:attrNameLst>
                                      </p:cBhvr>
                                      <p:to>
                                        <p:strVal val="visible"/>
                                      </p:to>
                                    </p:set>
                                    <p:animEffect filter="fade" transition="in">
                                      <p:cBhvr>
                                        <p:cTn id="29" dur="400"/>
                                        <p:tgtEl>
                                          <p:spTgt spid="291"/>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295"/>
                                        </p:tgtEl>
                                        <p:attrNameLst>
                                          <p:attrName>style.visibility</p:attrName>
                                        </p:attrNameLst>
                                      </p:cBhvr>
                                      <p:to>
                                        <p:strVal val="visible"/>
                                      </p:to>
                                    </p:set>
                                    <p:animEffect filter="fade" transition="in">
                                      <p:cBhvr>
                                        <p:cTn id="33" dur="400"/>
                                        <p:tgtEl>
                                          <p:spTgt spid="29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299"/>
                                        </p:tgtEl>
                                        <p:attrNameLst>
                                          <p:attrName>style.visibility</p:attrName>
                                        </p:attrNameLst>
                                      </p:cBhvr>
                                      <p:to>
                                        <p:strVal val="visible"/>
                                      </p:to>
                                    </p:set>
                                    <p:animEffect filter="fade" transition="in">
                                      <p:cBhvr>
                                        <p:cTn id="38" dur="400"/>
                                        <p:tgtEl>
                                          <p:spTgt spid="299"/>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03"/>
                                        </p:tgtEl>
                                        <p:attrNameLst>
                                          <p:attrName>style.visibility</p:attrName>
                                        </p:attrNameLst>
                                      </p:cBhvr>
                                      <p:to>
                                        <p:strVal val="visible"/>
                                      </p:to>
                                    </p:set>
                                    <p:animEffect filter="fade" transition="in">
                                      <p:cBhvr>
                                        <p:cTn id="42" dur="400"/>
                                        <p:tgtEl>
                                          <p:spTgt spid="303"/>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07"/>
                                        </p:tgtEl>
                                        <p:attrNameLst>
                                          <p:attrName>style.visibility</p:attrName>
                                        </p:attrNameLst>
                                      </p:cBhvr>
                                      <p:to>
                                        <p:strVal val="visible"/>
                                      </p:to>
                                    </p:set>
                                    <p:animEffect filter="fade" transition="in">
                                      <p:cBhvr>
                                        <p:cTn id="47" dur="400"/>
                                        <p:tgtEl>
                                          <p:spTgt spid="307"/>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11"/>
                                        </p:tgtEl>
                                        <p:attrNameLst>
                                          <p:attrName>style.visibility</p:attrName>
                                        </p:attrNameLst>
                                      </p:cBhvr>
                                      <p:to>
                                        <p:strVal val="visible"/>
                                      </p:to>
                                    </p:set>
                                    <p:animEffect filter="fade" transition="in">
                                      <p:cBhvr>
                                        <p:cTn id="51" dur="4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267"/>
                </p:tgtEl>
              </p:cMediaNode>
            </p:video>
            <p:seq concurrent="1" prevAc="none" nextAc="seek">
              <p:cTn id="53" evtFilter="cancelBubble" nodeType="interactiveSeq" restart="whenNotActive" fill="hold">
                <p:stCondLst>
                  <p:cond delay="0" evt="onClick">
                    <p:tgtEl>
                      <p:spTgt spid="267"/>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267"/>
                                        </p:tgtEl>
                                      </p:cBhvr>
                                    </p:cmd>
                                  </p:childTnLst>
                                </p:cTn>
                              </p:par>
                            </p:childTnLst>
                          </p:cTn>
                        </p:par>
                      </p:childTnLst>
                    </p:cTn>
                  </p:par>
                </p:childTnLst>
              </p:cTn>
              <p:nextCondLst>
                <p:cond delay="0" evt="onClick">
                  <p:tgtEl>
                    <p:spTgt spid="267"/>
                  </p:tgtEl>
                </p:cond>
              </p:nextCondLst>
            </p:seq>
          </p:childTnLst>
        </p:cTn>
      </p:par>
    </p:tnLst>
    <p:bldLst>
      <p:bldP build="whole" bldLvl="1" animBg="1" rev="0" advAuto="0" spid="283" grpId="4"/>
      <p:bldP build="whole" bldLvl="1" animBg="1" rev="0" advAuto="0" spid="299" grpId="8"/>
      <p:bldP build="whole" bldLvl="1" animBg="1" rev="0" advAuto="0" spid="275" grpId="2"/>
      <p:bldP build="whole" bldLvl="1" animBg="1" rev="0" advAuto="0" spid="295" grpId="7"/>
      <p:bldP build="whole" bldLvl="1" animBg="1" rev="0" advAuto="0" spid="279" grpId="3"/>
      <p:bldP build="whole" bldLvl="1" animBg="1" rev="0" advAuto="0" spid="311" grpId="11"/>
      <p:bldP build="whole" bldLvl="1" animBg="1" rev="0" advAuto="0" spid="291" grpId="6"/>
      <p:bldP build="whole" bldLvl="1" animBg="1" rev="0" advAuto="0" spid="307" grpId="10"/>
      <p:bldP build="whole" bldLvl="1" animBg="1" rev="0" advAuto="0" spid="287" grpId="5"/>
      <p:bldP build="whole" bldLvl="1" animBg="1" rev="0" advAuto="0" spid="303" grpId="9"/>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D2B"/>
        </a:solidFill>
      </p:bgPr>
    </p:bg>
    <p:spTree>
      <p:nvGrpSpPr>
        <p:cNvPr id="1" name=""/>
        <p:cNvGrpSpPr/>
        <p:nvPr/>
      </p:nvGrpSpPr>
      <p:grpSpPr>
        <a:xfrm>
          <a:off x="0" y="0"/>
          <a:ext cx="0" cy="0"/>
          <a:chOff x="0" y="0"/>
          <a:chExt cx="0" cy="0"/>
        </a:xfrm>
      </p:grpSpPr>
      <p:pic>
        <p:nvPicPr>
          <p:cNvPr id="31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18" name="phase_pill"/>
          <p:cNvGrpSpPr/>
          <p:nvPr/>
        </p:nvGrpSpPr>
        <p:grpSpPr>
          <a:xfrm>
            <a:off x="1170432" y="310895"/>
            <a:ext cx="1892808" cy="329185"/>
            <a:chOff x="0" y="0"/>
            <a:chExt cx="1892807" cy="329184"/>
          </a:xfrm>
        </p:grpSpPr>
        <p:sp>
          <p:nvSpPr>
            <p:cNvPr id="316" name="Rounded Rectangle"/>
            <p:cNvSpPr/>
            <p:nvPr/>
          </p:nvSpPr>
          <p:spPr>
            <a:xfrm>
              <a:off x="0" y="0"/>
              <a:ext cx="1892808" cy="329185"/>
            </a:xfrm>
            <a:prstGeom prst="roundRect">
              <a:avLst>
                <a:gd name="adj" fmla="val 44444"/>
              </a:avLst>
            </a:prstGeom>
            <a:solidFill>
              <a:srgbClr val="DE9A4C"/>
            </a:solidFill>
            <a:ln w="12700" cap="flat">
              <a:noFill/>
              <a:miter lim="400000"/>
            </a:ln>
            <a:effectLst/>
          </p:spPr>
          <p:txBody>
            <a:bodyPr wrap="square" lIns="45719" tIns="45719" rIns="45719" bIns="45719" numCol="1" anchor="ctr">
              <a:noAutofit/>
            </a:bodyPr>
            <a:lstStyle/>
            <a:p>
              <a:pPr algn="ctr">
                <a:defRPr sz="1100"/>
              </a:pPr>
            </a:p>
          </p:txBody>
        </p:sp>
        <p:sp>
          <p:nvSpPr>
            <p:cNvPr id="317"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F3D2B"/>
                  </a:solidFill>
                  <a:latin typeface="Arial"/>
                  <a:ea typeface="Arial"/>
                  <a:cs typeface="Arial"/>
                  <a:sym typeface="Arial"/>
                </a:defRPr>
              </a:lvl1pPr>
            </a:lstStyle>
            <a:p>
              <a:pPr/>
              <a:r>
                <a:t>PLENARY · 3 MIN</a:t>
              </a:r>
            </a:p>
          </p:txBody>
        </p:sp>
      </p:grpSp>
      <p:sp>
        <p:nvSpPr>
          <p:cNvPr id="319"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5F1E6"/>
                </a:solidFill>
                <a:latin typeface="Georgia"/>
                <a:ea typeface="Georgia"/>
                <a:cs typeface="Georgia"/>
                <a:sym typeface="Georgia"/>
              </a:defRPr>
            </a:lvl1pPr>
          </a:lstStyle>
          <a:p>
            <a:pPr/>
            <a:r>
              <a:t>True or false?</a:t>
            </a:r>
          </a:p>
        </p:txBody>
      </p:sp>
      <p:grpSp>
        <p:nvGrpSpPr>
          <p:cNvPr id="322" name="p0_stmt"/>
          <p:cNvGrpSpPr/>
          <p:nvPr/>
        </p:nvGrpSpPr>
        <p:grpSpPr>
          <a:xfrm>
            <a:off x="1170432" y="2194560"/>
            <a:ext cx="8552383" cy="640081"/>
            <a:chOff x="0" y="0"/>
            <a:chExt cx="8552382" cy="640080"/>
          </a:xfrm>
        </p:grpSpPr>
        <p:sp>
          <p:nvSpPr>
            <p:cNvPr id="320" name="p0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21"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An animal can change its features because it needs to.</a:t>
              </a:r>
            </a:p>
          </p:txBody>
        </p:sp>
      </p:grpSp>
      <p:sp>
        <p:nvSpPr>
          <p:cNvPr id="323"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26" name="p1_stmt"/>
          <p:cNvGrpSpPr/>
          <p:nvPr/>
        </p:nvGrpSpPr>
        <p:grpSpPr>
          <a:xfrm>
            <a:off x="1170432" y="2999232"/>
            <a:ext cx="8552383" cy="640081"/>
            <a:chOff x="0" y="0"/>
            <a:chExt cx="8552382" cy="640080"/>
          </a:xfrm>
        </p:grpSpPr>
        <p:sp>
          <p:nvSpPr>
            <p:cNvPr id="324" name="p1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25"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Variation exists before an animal needs it.</a:t>
              </a:r>
            </a:p>
          </p:txBody>
        </p:sp>
      </p:grpSp>
      <p:sp>
        <p:nvSpPr>
          <p:cNvPr id="327"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30" name="p2_stmt"/>
          <p:cNvGrpSpPr/>
          <p:nvPr/>
        </p:nvGrpSpPr>
        <p:grpSpPr>
          <a:xfrm>
            <a:off x="1170432" y="3803903"/>
            <a:ext cx="8552383" cy="640081"/>
            <a:chOff x="0" y="0"/>
            <a:chExt cx="8552382" cy="640080"/>
          </a:xfrm>
        </p:grpSpPr>
        <p:sp>
          <p:nvSpPr>
            <p:cNvPr id="328" name="p2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29"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Evolution happens to one individual during its life.</a:t>
              </a:r>
            </a:p>
          </p:txBody>
        </p:sp>
      </p:grpSp>
      <p:sp>
        <p:nvSpPr>
          <p:cNvPr id="331"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34" name="p3_stmt"/>
          <p:cNvGrpSpPr/>
          <p:nvPr/>
        </p:nvGrpSpPr>
        <p:grpSpPr>
          <a:xfrm>
            <a:off x="1170432" y="4608576"/>
            <a:ext cx="8552383" cy="640081"/>
            <a:chOff x="0" y="0"/>
            <a:chExt cx="8552382" cy="640080"/>
          </a:xfrm>
        </p:grpSpPr>
        <p:sp>
          <p:nvSpPr>
            <p:cNvPr id="332" name="p3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33"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Natural selection needs variation, competition, survival and inheritance.</a:t>
              </a:r>
            </a:p>
          </p:txBody>
        </p:sp>
      </p:grpSp>
      <p:sp>
        <p:nvSpPr>
          <p:cNvPr id="335"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38" name="p4_stmt"/>
          <p:cNvGrpSpPr/>
          <p:nvPr/>
        </p:nvGrpSpPr>
        <p:grpSpPr>
          <a:xfrm>
            <a:off x="1170432" y="5413247"/>
            <a:ext cx="8552383" cy="640081"/>
            <a:chOff x="0" y="0"/>
            <a:chExt cx="8552382" cy="640080"/>
          </a:xfrm>
        </p:grpSpPr>
        <p:sp>
          <p:nvSpPr>
            <p:cNvPr id="336" name="p4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37"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A helpful variation can become more common in a population over many generations.</a:t>
              </a:r>
            </a:p>
          </p:txBody>
        </p:sp>
      </p:grpSp>
      <p:sp>
        <p:nvSpPr>
          <p:cNvPr id="339"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sp>
        <p:nvSpPr>
          <p:cNvPr id="340"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DE9A4C"/>
                </a:solidFill>
                <a:latin typeface="Arial"/>
                <a:ea typeface="Arial"/>
                <a:cs typeface="Arial"/>
                <a:sym typeface="Arial"/>
              </a:defRPr>
            </a:lvl1pPr>
          </a:lstStyle>
          <a:p>
            <a:pPr/>
            <a:r>
              <a:t>Nothing changes on purpose. What survives and reproduces changes the population.</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1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22"/>
                                        </p:tgtEl>
                                        <p:attrNameLst>
                                          <p:attrName>style.visibility</p:attrName>
                                        </p:attrNameLst>
                                      </p:cBhvr>
                                      <p:to>
                                        <p:strVal val="visible"/>
                                      </p:to>
                                    </p:set>
                                    <p:animEffect filter="fade" transition="in">
                                      <p:cBhvr>
                                        <p:cTn id="11" dur="400"/>
                                        <p:tgtEl>
                                          <p:spTgt spid="32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23"/>
                                        </p:tgtEl>
                                        <p:attrNameLst>
                                          <p:attrName>style.visibility</p:attrName>
                                        </p:attrNameLst>
                                      </p:cBhvr>
                                      <p:to>
                                        <p:strVal val="visible"/>
                                      </p:to>
                                    </p:set>
                                    <p:anim calcmode="lin" valueType="num">
                                      <p:cBhvr>
                                        <p:cTn id="16" dur="400" fill="hold"/>
                                        <p:tgtEl>
                                          <p:spTgt spid="323"/>
                                        </p:tgtEl>
                                        <p:attrNameLst>
                                          <p:attrName>ppt_w</p:attrName>
                                        </p:attrNameLst>
                                      </p:cBhvr>
                                      <p:tavLst>
                                        <p:tav tm="0">
                                          <p:val>
                                            <p:fltVal val="0"/>
                                          </p:val>
                                        </p:tav>
                                        <p:tav tm="100000">
                                          <p:val>
                                            <p:strVal val="#ppt_w"/>
                                          </p:val>
                                        </p:tav>
                                      </p:tavLst>
                                    </p:anim>
                                    <p:anim calcmode="lin" valueType="num">
                                      <p:cBhvr>
                                        <p:cTn id="17" dur="400" fill="hold"/>
                                        <p:tgtEl>
                                          <p:spTgt spid="323"/>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26"/>
                                        </p:tgtEl>
                                        <p:attrNameLst>
                                          <p:attrName>style.visibility</p:attrName>
                                        </p:attrNameLst>
                                      </p:cBhvr>
                                      <p:to>
                                        <p:strVal val="visible"/>
                                      </p:to>
                                    </p:set>
                                    <p:animEffect filter="fade" transition="in">
                                      <p:cBhvr>
                                        <p:cTn id="22" dur="400"/>
                                        <p:tgtEl>
                                          <p:spTgt spid="326"/>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27"/>
                                        </p:tgtEl>
                                        <p:attrNameLst>
                                          <p:attrName>style.visibility</p:attrName>
                                        </p:attrNameLst>
                                      </p:cBhvr>
                                      <p:to>
                                        <p:strVal val="visible"/>
                                      </p:to>
                                    </p:set>
                                    <p:anim calcmode="lin" valueType="num">
                                      <p:cBhvr>
                                        <p:cTn id="27" dur="400" fill="hold"/>
                                        <p:tgtEl>
                                          <p:spTgt spid="327"/>
                                        </p:tgtEl>
                                        <p:attrNameLst>
                                          <p:attrName>ppt_w</p:attrName>
                                        </p:attrNameLst>
                                      </p:cBhvr>
                                      <p:tavLst>
                                        <p:tav tm="0">
                                          <p:val>
                                            <p:fltVal val="0"/>
                                          </p:val>
                                        </p:tav>
                                        <p:tav tm="100000">
                                          <p:val>
                                            <p:strVal val="#ppt_w"/>
                                          </p:val>
                                        </p:tav>
                                      </p:tavLst>
                                    </p:anim>
                                    <p:anim calcmode="lin" valueType="num">
                                      <p:cBhvr>
                                        <p:cTn id="28" dur="400" fill="hold"/>
                                        <p:tgtEl>
                                          <p:spTgt spid="32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30"/>
                                        </p:tgtEl>
                                        <p:attrNameLst>
                                          <p:attrName>style.visibility</p:attrName>
                                        </p:attrNameLst>
                                      </p:cBhvr>
                                      <p:to>
                                        <p:strVal val="visible"/>
                                      </p:to>
                                    </p:set>
                                    <p:animEffect filter="fade" transition="in">
                                      <p:cBhvr>
                                        <p:cTn id="33" dur="400"/>
                                        <p:tgtEl>
                                          <p:spTgt spid="330"/>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31"/>
                                        </p:tgtEl>
                                        <p:attrNameLst>
                                          <p:attrName>style.visibility</p:attrName>
                                        </p:attrNameLst>
                                      </p:cBhvr>
                                      <p:to>
                                        <p:strVal val="visible"/>
                                      </p:to>
                                    </p:set>
                                    <p:anim calcmode="lin" valueType="num">
                                      <p:cBhvr>
                                        <p:cTn id="38" dur="400" fill="hold"/>
                                        <p:tgtEl>
                                          <p:spTgt spid="331"/>
                                        </p:tgtEl>
                                        <p:attrNameLst>
                                          <p:attrName>ppt_w</p:attrName>
                                        </p:attrNameLst>
                                      </p:cBhvr>
                                      <p:tavLst>
                                        <p:tav tm="0">
                                          <p:val>
                                            <p:fltVal val="0"/>
                                          </p:val>
                                        </p:tav>
                                        <p:tav tm="100000">
                                          <p:val>
                                            <p:strVal val="#ppt_w"/>
                                          </p:val>
                                        </p:tav>
                                      </p:tavLst>
                                    </p:anim>
                                    <p:anim calcmode="lin" valueType="num">
                                      <p:cBhvr>
                                        <p:cTn id="39" dur="400" fill="hold"/>
                                        <p:tgtEl>
                                          <p:spTgt spid="331"/>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34"/>
                                        </p:tgtEl>
                                        <p:attrNameLst>
                                          <p:attrName>style.visibility</p:attrName>
                                        </p:attrNameLst>
                                      </p:cBhvr>
                                      <p:to>
                                        <p:strVal val="visible"/>
                                      </p:to>
                                    </p:set>
                                    <p:animEffect filter="fade" transition="in">
                                      <p:cBhvr>
                                        <p:cTn id="44" dur="400"/>
                                        <p:tgtEl>
                                          <p:spTgt spid="334"/>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35"/>
                                        </p:tgtEl>
                                        <p:attrNameLst>
                                          <p:attrName>style.visibility</p:attrName>
                                        </p:attrNameLst>
                                      </p:cBhvr>
                                      <p:to>
                                        <p:strVal val="visible"/>
                                      </p:to>
                                    </p:set>
                                    <p:anim calcmode="lin" valueType="num">
                                      <p:cBhvr>
                                        <p:cTn id="49" dur="400" fill="hold"/>
                                        <p:tgtEl>
                                          <p:spTgt spid="335"/>
                                        </p:tgtEl>
                                        <p:attrNameLst>
                                          <p:attrName>ppt_w</p:attrName>
                                        </p:attrNameLst>
                                      </p:cBhvr>
                                      <p:tavLst>
                                        <p:tav tm="0">
                                          <p:val>
                                            <p:fltVal val="0"/>
                                          </p:val>
                                        </p:tav>
                                        <p:tav tm="100000">
                                          <p:val>
                                            <p:strVal val="#ppt_w"/>
                                          </p:val>
                                        </p:tav>
                                      </p:tavLst>
                                    </p:anim>
                                    <p:anim calcmode="lin" valueType="num">
                                      <p:cBhvr>
                                        <p:cTn id="50" dur="400" fill="hold"/>
                                        <p:tgtEl>
                                          <p:spTgt spid="335"/>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38"/>
                                        </p:tgtEl>
                                        <p:attrNameLst>
                                          <p:attrName>style.visibility</p:attrName>
                                        </p:attrNameLst>
                                      </p:cBhvr>
                                      <p:to>
                                        <p:strVal val="visible"/>
                                      </p:to>
                                    </p:set>
                                    <p:animEffect filter="fade" transition="in">
                                      <p:cBhvr>
                                        <p:cTn id="55" dur="400"/>
                                        <p:tgtEl>
                                          <p:spTgt spid="338"/>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39"/>
                                        </p:tgtEl>
                                        <p:attrNameLst>
                                          <p:attrName>style.visibility</p:attrName>
                                        </p:attrNameLst>
                                      </p:cBhvr>
                                      <p:to>
                                        <p:strVal val="visible"/>
                                      </p:to>
                                    </p:set>
                                    <p:anim calcmode="lin" valueType="num">
                                      <p:cBhvr>
                                        <p:cTn id="60" dur="400" fill="hold"/>
                                        <p:tgtEl>
                                          <p:spTgt spid="339"/>
                                        </p:tgtEl>
                                        <p:attrNameLst>
                                          <p:attrName>ppt_w</p:attrName>
                                        </p:attrNameLst>
                                      </p:cBhvr>
                                      <p:tavLst>
                                        <p:tav tm="0">
                                          <p:val>
                                            <p:fltVal val="0"/>
                                          </p:val>
                                        </p:tav>
                                        <p:tav tm="100000">
                                          <p:val>
                                            <p:strVal val="#ppt_w"/>
                                          </p:val>
                                        </p:tav>
                                      </p:tavLst>
                                    </p:anim>
                                    <p:anim calcmode="lin" valueType="num">
                                      <p:cBhvr>
                                        <p:cTn id="61" dur="400" fill="hold"/>
                                        <p:tgtEl>
                                          <p:spTgt spid="339"/>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40"/>
                                        </p:tgtEl>
                                        <p:attrNameLst>
                                          <p:attrName>style.visibility</p:attrName>
                                        </p:attrNameLst>
                                      </p:cBhvr>
                                      <p:to>
                                        <p:strVal val="visible"/>
                                      </p:to>
                                    </p:set>
                                    <p:animEffect filter="fade" transition="in">
                                      <p:cBhvr>
                                        <p:cTn id="66" dur="4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15"/>
                </p:tgtEl>
              </p:cMediaNode>
            </p:video>
            <p:seq concurrent="1" prevAc="none" nextAc="seek">
              <p:cTn id="68" evtFilter="cancelBubble" nodeType="interactiveSeq" restart="whenNotActive" fill="hold">
                <p:stCondLst>
                  <p:cond delay="0" evt="onClick">
                    <p:tgtEl>
                      <p:spTgt spid="315"/>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15"/>
                                        </p:tgtEl>
                                      </p:cBhvr>
                                    </p:cmd>
                                  </p:childTnLst>
                                </p:cTn>
                              </p:par>
                            </p:childTnLst>
                          </p:cTn>
                        </p:par>
                      </p:childTnLst>
                    </p:cTn>
                  </p:par>
                </p:childTnLst>
              </p:cTn>
              <p:nextCondLst>
                <p:cond delay="0" evt="onClick">
                  <p:tgtEl>
                    <p:spTgt spid="315"/>
                  </p:tgtEl>
                </p:cond>
              </p:nextCondLst>
            </p:seq>
          </p:childTnLst>
        </p:cTn>
      </p:par>
    </p:tnLst>
    <p:bldLst>
      <p:bldP build="whole" bldLvl="1" animBg="1" rev="0" advAuto="0" spid="340" grpId="12"/>
      <p:bldP build="whole" bldLvl="1" animBg="1" rev="0" advAuto="0" spid="326" grpId="4"/>
      <p:bldP build="whole" bldLvl="1" animBg="1" rev="0" advAuto="0" spid="339" grpId="11"/>
      <p:bldP build="whole" bldLvl="1" animBg="1" rev="0" advAuto="0" spid="334" grpId="8"/>
      <p:bldP build="whole" bldLvl="1" animBg="1" rev="0" advAuto="0" spid="331" grpId="7"/>
      <p:bldP build="whole" bldLvl="1" animBg="1" rev="0" advAuto="0" spid="323" grpId="3"/>
      <p:bldP build="whole" bldLvl="1" animBg="1" rev="0" advAuto="0" spid="338" grpId="10"/>
      <p:bldP build="whole" bldLvl="1" animBg="1" rev="0" advAuto="0" spid="322" grpId="2"/>
      <p:bldP build="whole" bldLvl="1" animBg="1" rev="0" advAuto="0" spid="327" grpId="5"/>
      <p:bldP build="whole" bldLvl="1" animBg="1" rev="0" advAuto="0" spid="335" grpId="9"/>
      <p:bldP build="whole" bldLvl="1" animBg="1" rev="0" advAuto="0" spid="330" grpId="6"/>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