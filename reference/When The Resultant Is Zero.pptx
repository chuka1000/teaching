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media/media5.mp4" ContentType="video/unknown"/>
  <Override PartName="/ppt/notesSlides/notesSlide5.xml" ContentType="application/vnd.openxmlformats-officedocument.presentationml.notesSlide+xml"/>
  <Override PartName="/ppt/media/media6.mp4" ContentType="video/unknown"/>
  <Override PartName="/ppt/notesSlides/notesSlide6.xml" ContentType="application/vnd.openxmlformats-officedocument.presentationml.notesSlide+xml"/>
  <Override PartName="/ppt/media/media7.mp4" ContentType="video/unknown"/>
  <Override PartName="/ppt/notesSlides/notesSlide7.xml" ContentType="application/vnd.openxmlformats-officedocument.presentationml.notesSlide+xml"/>
  <Override PartName="/ppt/media/media8.mp4" ContentType="video/unknown"/>
  <Override PartName="/ppt/notesSlides/notesSlide8.xml" ContentType="application/vnd.openxmlformats-officedocument.presentationml.notesSlide+xml"/>
  <Override PartName="/ppt/media/media9.mp4" ContentType="video/unknown"/>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10.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 one answer each.</a:t>
            </a:r>
          </a:p>
          <a:p>
            <a:pPr/>
          </a:p>
          <a:p>
            <a:pPr/>
            <a:r>
              <a:t>THE PREVIOUS LESSON IS NOT ON FILE UNDER THE NAME IN THE BRIEF. The brief says reference/Forces And The Resultant.pptx and there is no such file. I took the lesson built just before this one, "Resultant Forces", as the previous lesson, and read it. If you taught something else, swap Q1 and Q2.</a:t>
            </a:r>
          </a:p>
          <a:p>
            <a:pPr/>
          </a:p>
          <a:p>
            <a:pPr/>
            <a:r>
              <a:t>THE MIX FOLLOWS TEMPLATE.md. Q1 and Q2 are from LAST LESSON (Resultant Forces): the resultant of two opposite forces, and the two forces on a book at rest. Q2 IS NOT FILLER: it is the seed of the collapse this lesson is about (a book at rest HAS forces on it). Q3 and Q4 are earlier in the physics (Equations of Motion, v = at; Motion Graphs, what the gradient of a distance-time graph shows). Q5 is another science (chemistry). Q6 PREVIEWS TODAY and cannot be answered fully yet: it is the ball that rolls and stops, and it is settled in Cold Call Q4 and in I Do 1 (a resultant force, friction, acts against the ball).</a:t>
            </a:r>
          </a:p>
          <a:p>
            <a:pPr/>
          </a:p>
          <a:p>
            <a:pPr/>
            <a:r>
              <a:t>I CHECKED EVERY QUESTION against the Do Nows of the last 10A lessons. Nothing repeats. I dropped a question on what g = 9.8 N/kg means, because Weight and Gravity already asked it.</a:t>
            </a:r>
          </a:p>
          <a:p>
            <a:pPr/>
          </a:p>
          <a:p>
            <a:pPr/>
            <a:r>
              <a:t>Q1: 80 − 35 = 45 N to the right. Q2: weight down, the reaction force up (say both directions). Q3: v = u + at = 0 + 3 × 5 = 15 m/s. Q4: the gradient is the speed (distance ÷ time); a straight sloping line is a steady speed, which is the idea of today. Q5: protons and neutrons. Q6: "friction", or "something is slowing it". Take any answer that names a force. Do NOT say "there is a resultant force" yet: they should reach that themselves in I Do 1.</a:t>
            </a:r>
          </a:p>
          <a:p>
            <a:pPr/>
          </a:p>
          <a:p>
            <a:pPr/>
            <a:r>
              <a:t>THEY FOUND HARD: left blank in the brief. Nothing guessed. CHANGE THE DATE before you teach, if the actual lesson falls on a different 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Four clicks.</a:t>
            </a:r>
          </a:p>
          <a:p>
            <a:pPr/>
          </a:p>
          <a:p>
            <a:pPr/>
            <a:r>
              <a:t>WHERE THIS SITS. Last lesson they drew free-body diagrams and found the resultant along a line, and the Plenary ended on a question: what does a resultant of zero tell us about how something moves? Today answers it. Say "last lesson you found the resultant. Today we find out what it DOES".</a:t>
            </a:r>
          </a:p>
          <a:p>
            <a:pPr/>
          </a:p>
          <a:p>
            <a:pPr/>
            <a:r>
              <a:t>THE THREE OBJECTIVES ARE YOUR WORDING. Objective 1 is syllabus P1.5.1.6, which the 0654 scheme of work words as "Know that an object either remains at rest or continues in a straight line at constant speed unless there is a resultant force on the object". Objectives 2 and 3 are the two halves of using it.</a:t>
            </a:r>
          </a:p>
          <a:p>
            <a:pPr/>
          </a:p>
          <a:p>
            <a:pPr/>
            <a:r>
              <a:t>NEW WORDS: Newton's first law, constant speed (steady speed: the same thing, and the lesson uses both), at rest. THE BANNER IS THE WHOLE LESSON IN ONE SENTENCE, and its last clause is the answer to the brief's warning: the forces can still be there. A resultant of zero is NOT the same as no forces. Say it now, once, and then keep saying it.</a:t>
            </a:r>
          </a:p>
          <a:p>
            <a:pPr/>
          </a:p>
          <a:p>
            <a:pPr/>
            <a:r>
              <a:t>EVERY FORCE TODAY IS ALONG ONE STRAIGHT LINE, as last lesson. The scheme's paper-ball activity uses forces from different angles; it is not used.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WRITE THE TALLY ON THE BOARD. Do not settle it yet: I Do 2 settles it, pointing at the tally.</a:t>
            </a:r>
          </a:p>
          <a:p>
            <a:pPr/>
          </a:p>
          <a:p>
            <a:pPr/>
            <a:r>
              <a:t>ANSWER, FOR YOU: B. With no forces on the probe there is no resultant force, so its motion does not change: the same speed, in a straight line, for ever. Expect most votes for A, because everything they have ever seen slows down and stops. That is the oldest idea in the subject (Aristotle held it) and it is wrong, and the reason is the whole lesson: things on Earth stop because friction and air resistance act on them, not because motion needs a push. C is the other trap: speeding up needs a resultant force too.</a:t>
            </a:r>
          </a:p>
          <a:p>
            <a:pPr/>
          </a:p>
          <a:p>
            <a:pPr/>
            <a:r>
              <a:t>THIS IS THE SCHEME'S OWN EXAMPLE (the tennis ball thrown in space), made into a probe so the speed is a number. In practice no place is completely free of forces (gravity reaches everywhere) but far from every star and planet they are too small to matter. Say so only if asked.</a:t>
            </a:r>
          </a:p>
          <a:p>
            <a:pPr/>
          </a:p>
          <a:p>
            <a:pPr/>
            <a:r>
              <a:t>A COMMITMENT THAT IS WRONG IS CORRECTED MORE STRONGLY (PEDAGOGY.md), so do not tell them. Say "write your vote".</a:t>
            </a:r>
          </a:p>
          <a:p>
            <a:pPr/>
          </a:p>
          <a:p>
            <a:pPr/>
            <a:r>
              <a:t>DO NOT EXPLAIN YET. Say "by the end of today you will be able to prove which one it 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r>
              <a:t>I DO. 3 minutes. Four clicks: the animation (ON CLICK, so say the idea first), the law, the other way round, then the worked example.</a:t>
            </a:r>
          </a:p>
          <a:p>
            <a:pPr/>
          </a:p>
          <a:p>
            <a:pPr/>
            <a:r>
              <a:t>OBJECTIVES 1 AND 2 TOGETHER, ON PURPOSE. TEMPLATE.md gives each I Do one objective, but with three objectives and two I Do slides, the law (objective 1) and its other half (objective 2) are one idea read two ways and share one animation. Objective 3 has the next slide to itself, because it is the one the brief warns about.</a:t>
            </a:r>
          </a:p>
          <a:p>
            <a:pPr/>
          </a:p>
          <a:p>
            <a:pPr/>
            <a:r>
              <a:t>THE ANIMATION (about 25 seconds) is ONE crate in three situations, with the arrows to scale and the speed on screen. (1) At rest: weight 100 N down, reaction force 100 N up, resultant 0 N, speed 0 m/s: it stays at rest. (2) Sliding at a steady 5 m/s: push 60 N right, friction 60 N left, resultant 0 N, and the speed stays 5 m/s (the ground scrolls past at a steady rate so the motion is SEEN). (3) The push stops: friction 60 N alone, a resultant of 60 N to the left, and the speed FALLS to 0. Pause it and ask before each: "what does the resultant say about the speed?" You can click it to play it again.</a:t>
            </a:r>
          </a:p>
          <a:p>
            <a:pPr/>
          </a:p>
          <a:p>
            <a:pPr/>
            <a:r>
              <a:t>THE LAW HAS TWO HALVES: at rest stays at rest; moving keeps going at a constant speed in a straight line. BOTH are "no change in motion". THE CONVERSE IS OBJECTIVE 2: if the motion is not changing, there is no resultant force. It is how the worked example works: the crate slides at a steady speed, so the resultant is 0 N, so the friction is exactly the push. THIS IS THE METHOD FOR EVERY MISSING-FORCE QUESTION TODAY.</a:t>
            </a:r>
          </a:p>
          <a:p>
            <a:pPr/>
          </a:p>
          <a:p>
            <a:pPr/>
            <a:r>
              <a:t>BACK TO THE DO NOW (Q6): the ball stops because a resultant force, friction, acts against it. It is not that motion "runs out". Frame 3 of the animation is the ball.</a:t>
            </a:r>
          </a:p>
          <a:p>
            <a:pPr/>
          </a:p>
          <a:p>
            <a:pPr/>
            <a:r>
              <a:t>MISCONCEPTIONS. (1) "A force is needed to keep something moving." The animation shows a steady speed with a resultant of ZERO. (2) "Any force changes the motion." A RESULTANT force does; forces that cancel do not. This is the word the brief wants watched. (3) "At a steady speed the forward force must be bigger." It is equal.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Shape 173"/>
          <p:cNvSpPr/>
          <p:nvPr>
            <p:ph type="sldImg"/>
          </p:nvPr>
        </p:nvSpPr>
        <p:spPr>
          <a:prstGeom prst="rect">
            <a:avLst/>
          </a:prstGeom>
        </p:spPr>
        <p:txBody>
          <a:bodyPr/>
          <a:lstStyle/>
          <a:p>
            <a:pPr/>
          </a:p>
        </p:txBody>
      </p:sp>
      <p:sp>
        <p:nvSpPr>
          <p:cNvPr id="174" name="Shape 174"/>
          <p:cNvSpPr/>
          <p:nvPr>
            <p:ph type="body" sz="quarter" idx="1"/>
          </p:nvPr>
        </p:nvSpPr>
        <p:spPr>
          <a:prstGeom prst="rect">
            <a:avLst/>
          </a:prstGeom>
        </p:spPr>
        <p:txBody>
          <a:bodyPr/>
          <a:lstStyle/>
          <a:p>
            <a:pPr/>
            <a:r>
              <a:t>I DO. 3 minutes. Four clicks: the left card (forces that cancel), the probe animation (ON CLICK), the right card, then the banner. THE HEADERS ARE ON SCREEN FROM THE START.</a:t>
            </a:r>
          </a:p>
          <a:p>
            <a:pPr/>
          </a:p>
          <a:p>
            <a:pPr/>
            <a:r>
              <a:t>THIS IS OBJECTIVE 3, AND IT IS THE SLIDE THE BRIEF'S WARNING IS ABOUT: "no resultant force" must not collapse into "no forces". Two different situations give the SAME result (the motion does not change) for two different reasons. LEFT: forces ARE acting and they cancel: a book on a table (weight down, reaction force up), a car at a steady speed (the driving force equals the resistive forces), a skydiver at a steady speed (weight equals air resistance). RIGHT: there are NO forces at all: a probe far from every star and planet. The layout is the same on both sides on purpose, so the difference is structural.</a:t>
            </a:r>
          </a:p>
          <a:p>
            <a:pPr/>
          </a:p>
          <a:p>
            <a:pPr/>
            <a:r>
              <a:t>POINT AT THE HOOK TALLY. It was a probe in deep space with the engine off: B. With no forces there is no resultant, so by the first law the motion does not change: 5 km/s, in a straight line, for ever. Ask the people who voted A: "what would slow it down?" Nothing is there to do it. Things on Earth stop because friction and air resistance act on them.</a:t>
            </a:r>
          </a:p>
          <a:p>
            <a:pPr/>
          </a:p>
          <a:p>
            <a:pPr/>
            <a:r>
              <a:t>THE ANIMATION (14 seconds) shows stars scrolling past a probe at a constant rate, with the speed on screen and no arrows at all, because there is nothing to draw. Click it to replay.</a:t>
            </a:r>
          </a:p>
          <a:p>
            <a:pPr/>
          </a:p>
          <a:p>
            <a:pPr/>
            <a:r>
              <a:t>HONEST CAVEAT, IF ASKED: nowhere is truly free of forces (gravity has no limit), but far from every star and planet they are too small to matter. The deep-space case is the cleanest picture of "no forces". The case students meet every day is the LEFT one.</a:t>
            </a:r>
          </a:p>
          <a:p>
            <a:pPr/>
          </a:p>
          <a:p>
            <a:pPr/>
            <a:r>
              <a:t>THE SENTENCE TO MAKE THEM SAY: "A resultant of zero does not mean there are no forces. It means the forces cancel."</a:t>
            </a:r>
          </a:p>
          <a:p>
            <a:pPr/>
          </a:p>
          <a:p>
            <a:pPr/>
            <a:r>
              <a:t>MISCONCEPTIONS. (1) "The book is not moving, so no forces act on it." Weight and the reaction force both act. (2) "Deep space is where things stop, because there is no air to carry them." Air only slows things down. (3) "No forces means it stops." No forces means NOTHING changes.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hape 197"/>
          <p:cNvSpPr/>
          <p:nvPr>
            <p:ph type="sldImg"/>
          </p:nvPr>
        </p:nvSpPr>
        <p:spPr>
          <a:prstGeom prst="rect">
            <a:avLst/>
          </a:prstGeom>
        </p:spPr>
        <p:txBody>
          <a:bodyPr/>
          <a:lstStyle/>
          <a:p>
            <a:pPr/>
          </a:p>
        </p:txBody>
      </p:sp>
      <p:sp>
        <p:nvSpPr>
          <p:cNvPr id="198" name="Shape 198"/>
          <p:cNvSpPr/>
          <p:nvPr>
            <p:ph type="body" sz="quarter" idx="1"/>
          </p:nvPr>
        </p:nvSpPr>
        <p:spPr>
          <a:prstGeom prst="rect">
            <a:avLst/>
          </a:prstGeom>
        </p:spPr>
        <p:txBody>
          <a:bodyPr/>
          <a:lstStyle/>
          <a:p>
            <a:pPr/>
            <a:r>
              <a:t>WE DO. 5 minutes. Three clicks. THE MODE IS "FINISH THIS ONE" (TEMPLATE.md): three partly worked solutions, and they supply the missing step. The last lesson used "what should be the correct answer?", and TEMPLATE.md says to alternate across a unit, so a unit of nothing but spot-the-mistake does not teach error-hunting. A method lesson fits this mode.</a:t>
            </a:r>
          </a:p>
          <a:p>
            <a:pPr/>
          </a:p>
          <a:p>
            <a:pPr/>
            <a:r>
              <a:t>THEY SAY THE MISSING STEP OUT LOUD BEFORE EACH REVEAL, and you ask "why?" every time. The three rows are mixed on purpose, so each one needs a decision.</a:t>
            </a:r>
          </a:p>
          <a:p>
            <a:pPr/>
          </a:p>
          <a:p>
            <a:pPr/>
            <a:r>
              <a:t>ROW 1 IS OBJECTIVE 2 AND THE METHOD: a steady speed means the resultant is zero, so the forces one way equal the forces the other way. 0 N, then the driving force, then 1800 N. Watch for "1800 + something". ROW 2 IS THE OTHER SIDE OF THE COIN: a resultant that is NOT zero changes the motion. The friction stays 45 N (it did not grow), so 70 − 45 = 25 N forwards, and the sledge SPEEDS UP. Before the pull went up the forces were balanced; the extra 25 N is what is left over. ROW 3 IS OBJECTIVE 3: no forces, resultant 0 N, the same speed in a straight line.</a:t>
            </a:r>
          </a:p>
          <a:p>
            <a:pPr/>
          </a:p>
          <a:p>
            <a:pPr/>
            <a:r>
              <a:t>WATCH THE WORD "NO". A student who writes "no resultant force" in row 1 and "no forces" in row 3 is fine. A student who says "no forces" in row 1 has made the collapse the brief warns about: the driving force and the resistive forces are both THERE. Ask "which forces are there?" and make them name them.</a:t>
            </a:r>
          </a:p>
          <a:p>
            <a:pPr/>
          </a:p>
          <a:p>
            <a:pPr/>
            <a:r>
              <a:t>IF THEY ARE QUICK, ask for a case with a resultant of zero where the object is moving, and another where it is at rest. IF SHORT OF TIME, do rows 1 and 3 only.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246"/>
          <p:cNvSpPr/>
          <p:nvPr>
            <p:ph type="sldImg"/>
          </p:nvPr>
        </p:nvSpPr>
        <p:spPr>
          <a:prstGeom prst="rect">
            <a:avLst/>
          </a:prstGeom>
        </p:spPr>
        <p:txBody>
          <a:bodyPr/>
          <a:lstStyle/>
          <a:p>
            <a:pPr/>
          </a:p>
        </p:txBody>
      </p:sp>
      <p:sp>
        <p:nvSpPr>
          <p:cNvPr id="247" name="Shape 247"/>
          <p:cNvSpPr/>
          <p:nvPr>
            <p:ph type="body" sz="quarter" idx="1"/>
          </p:nvPr>
        </p:nvSpPr>
        <p:spPr>
          <a:prstGeom prst="rect">
            <a:avLst/>
          </a:prstGeom>
        </p:spPr>
        <p:txBody>
          <a:bodyPr/>
          <a:lstStyle/>
          <a:p>
            <a:pPr/>
            <a:r>
              <a:t>COLD CALL. 6 minutes. Six clicks. Name a student, then ask: thinking time first, no hands up, no whiteboards (the scheme suggests miniature whiteboards; this class does not have them, so every answer is spoken). If a student cannot answer, take it elsewhere and come back to them to repeat it.</a:t>
            </a:r>
          </a:p>
          <a:p>
            <a:pPr/>
          </a:p>
          <a:p>
            <a:pPr/>
            <a:r>
              <a:t>TWO OF THE SIX ARE FROM EARLIER LESSONS (TEMPLATE.md): Q5 (the resultant of three forces on a line, from Resultant Forces) and Q6 (free fall, from Gravitational Fields and Free Fall).</a:t>
            </a:r>
          </a:p>
          <a:p>
            <a:pPr/>
          </a:p>
          <a:p>
            <a:pPr/>
            <a:r>
              <a:t>Q1 IS OBJECTIVE 1: the law, in their own words, with "resultant". Listen for "unless a force acts on it": that is the collapse. Ask "any force?" Q2 IS OBJECTIVE 2: zero, because a steady speed is no change in motion. Q3 IS OBJECTIVE 3 AND THE BRIEF'S WARNING, IN THE STUDENT'S OWN VOICE: the book has two forces and they cancel. If a student says "the forces cancel", ask "so are there forces or not?" Q4 SETTLES THE DO NOW Q6: the ball changes speed, so a resultant force acts: friction. Q5: 90 + 35 = 125, then 150 − 125 = 25 N to the right; watch for a missing direction. Q6: v = u + at = 0 + 9.8 × 2 = 19.6 m/s.</a:t>
            </a:r>
          </a:p>
          <a:p>
            <a:pPr/>
          </a:p>
          <a:p>
            <a:pPr/>
            <a:r>
              <a:t>IF MOST OF THE ROOM IS RIGHT BY Q3, ask Q4 with a ball in deep space: what happens then? IF SHORT OF TIME, cut Q6.</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p>
            <a:pPr/>
            <a:r>
              <a:t>YOU DO. 14 minutes, then 3 to mark (the next slide). Five clicks: the three rounds, then the note. THE GAME IS ZERO OR NOT ("your call"), and the worksheet is the fallback, built every time.</a:t>
            </a:r>
          </a:p>
          <a:p>
            <a:pPr/>
          </a:p>
          <a:p>
            <a:pPr/>
            <a:r>
              <a:t>WHY THIS GAME. The lesson is a concept with one sharp trap, so the game is built as questions where the wrong options ARE the misconceptions: "motion needs a force", "any force changes the motion", and above all "no resultant force means no forces". It is the same engine as Net Force, so they already know how it works. Some questions are multiple choice and some need a number on the on-screen keypad. Every force diagram is drawn to scale, and where an arrow is unknown it is labelled X.</a:t>
            </a:r>
          </a:p>
          <a:p>
            <a:pPr/>
          </a:p>
          <a:p>
            <a:pPr/>
            <a:r>
              <a:t>WHAT THEY DO. Open the file "When The Resultant Is Zero game" from Google Classroom. Three rounds of six questions. Each question is a single go: a wrong answer says what the mistake probably was and shows the working. EVERY STUDENT GETS A DIFFERENT GAME: different objects, forces, numbers and wording, in a different order, so a neighbour's answers are no use. The skills and their order are the same for everyone. Each game has a six-character code, shown on the start and end screens; add #CODE to the file's address to see exactly what a student saw. There are no lives and no penalty for being slow. NOTHING IS SAID ABOUT ANGLES: every force is along one line.</a:t>
            </a:r>
          </a:p>
          <a:p>
            <a:pPr/>
          </a:p>
          <a:p>
            <a:pPr/>
            <a:r>
              <a:t>THE DIFFICULTY RAMPS ON PURPOSE, AND THE TOP IS MEANT TO BE HARD. Round 1: the law, and what the forces say about the speed. Round 2: why a rolling ball stops, deep space, and the missing force at a steady speed. Round 3 goes far past the lesson: an odd one out, a car at a steady speed, a skydiver, a pull that is increased, then two very hard last questions (a ball at the top of its path, a lift, a probe whose engine switches off, or a parachute that opens). Expect most of the room to miss some of the last two. That is the design. Tell them before they start, so nobody reads a red mark as "I am bad at science".</a:t>
            </a:r>
          </a:p>
          <a:p>
            <a:pPr/>
          </a:p>
          <a:p>
            <a:pPr/>
            <a:r>
              <a:t>EVERY QUESTION HAS EXACTLY ONE RIGHT ANSWER BY CONSTRUCTION, and "there are no forces" is a MARKED MISTAKE everywhere except deep space. AT THE END OF EACH ROUND, and again on the last screen, there is a drop-down with how long each question took, whether it was right and, for a wrong one, what the student chose and why it is a common mistake.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fourteen questions in Bronze, Silver and Gold, with the answers printed UPSIDE DOWN on its last page.</a:t>
            </a:r>
          </a:p>
          <a:p>
            <a:pPr/>
          </a:p>
          <a:p>
            <a:pPr/>
            <a:r>
              <a:t>CIRCULATE WITH ONE QUESTION: "are there forces on it, or is the resultant zero?" AT THE END OF 14 MINUTES, stop them and go straight to the Mark slide. It does not get absorbed into the You 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MARK. 3 minutes. Two clicks: the game line, then the checklist. THE INSTRUCTION ON THE SLIDE IS "Turn to the back. Mark your own in a different colour." (TEMPLATE.md). This phase is not optional and is not absorbed into the You Do: marking straight after doing is a retrieval event and a feedback event at once.</a:t>
            </a:r>
          </a:p>
          <a:p>
            <a:pPr/>
          </a:p>
          <a:p>
            <a:pPr/>
            <a:r>
              <a:t>ON THE WORKSHEET the answers are printed UPSIDE DOWN at the foot of the last page. Q1, Q2, Q8, Q9, Q12 and Q14 are in words: check the KEY WORDS (resultant, constant speed, straight line, cancel). The numbers are exact: check the size, the unit, and a direction where there is one. ON THE GAME, the drop-down for each round shows the working for every question.</a:t>
            </a:r>
          </a:p>
          <a:p>
            <a:pPr/>
          </a:p>
          <a:p>
            <a:pPr/>
            <a:r>
              <a:t>WALK ROUND for the three commonest mistakes: writing "no forces" where it should be "no resultant force", saying the forward force must be bigger at a steady speed, and answering "the pull" instead of the leftover when the pull goes up (Q13).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hape 316"/>
          <p:cNvSpPr/>
          <p:nvPr>
            <p:ph type="sldImg"/>
          </p:nvPr>
        </p:nvSpPr>
        <p:spPr>
          <a:prstGeom prst="rect">
            <a:avLst/>
          </a:prstGeom>
        </p:spPr>
        <p:txBody>
          <a:bodyPr/>
          <a:lstStyle/>
          <a:p>
            <a:pPr/>
          </a:p>
        </p:txBody>
      </p:sp>
      <p:sp>
        <p:nvSpPr>
          <p:cNvPr id="317" name="Shape 317"/>
          <p:cNvSpPr/>
          <p:nvPr>
            <p:ph type="body" sz="quarter" idx="1"/>
          </p:nvPr>
        </p:nvSpPr>
        <p:spPr>
          <a:prstGeom prst="rect">
            <a:avLst/>
          </a:prstGeom>
        </p:spPr>
        <p:txBody>
          <a:bodyPr/>
          <a:lstStyle/>
          <a:p>
            <a:pPr/>
            <a:r>
              <a:t>PLENARY. 3 minutes. Eleven clicks: each statement, then its answer, then the closing line.</a:t>
            </a:r>
          </a:p>
          <a:p>
            <a:pPr/>
          </a:p>
          <a:p>
            <a:pPr/>
            <a:r>
              <a:t>EVERY FALSE IS A MISCONCEPTION FROM TODAY, AND TWO OF THEM ARE THE BRIEF'S COLLAPSE IN EACH DIRECTION. Q2: no force is needed to keep a moving object going at a constant speed (Aristotle's idea, and the Hook's option A). Q3: THE COLLAPSE: a book at rest has weight and a reaction force, and they cancel. Q5: the other face of it: with no forces at all, a probe does NOT slow down; things stop on Earth because friction and air resistance act. Q1 is plainly TRUE (objective 1). Q4 IS THE APPLIED ITEM (TEMPLATE.md asks for at least one): a steady speed means a resultant of zero, so the friction equals the pull.</a:t>
            </a:r>
          </a:p>
          <a:p>
            <a:pPr/>
          </a:p>
          <a:p>
            <a:pPr/>
            <a:r>
              <a:t>SETTLE THE HOOK, POINTING AT THE TALLY: it was a probe in deep space with the engine off, and the answer was B (Q5 is the same idea again, in other words).</a:t>
            </a:r>
          </a:p>
          <a:p>
            <a:pPr/>
          </a:p>
          <a:p>
            <a:pPr/>
            <a:r>
              <a:t>THE CLOSING LINE SAYS WHAT THE NEXT LESSON DOES, BUT THE NEXT LESSON IS NOT WRITTEN DOWN, so I assumed it is the other half of the first law: what happens when the resultant is NOT zero (the scheme's next objective, P1.5.1.7, F = ma). CHANGE THE LINE if your next lesson is something else.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video" Target="../media/media5.mp4"/><Relationship Id="rId7" Type="http://schemas.microsoft.com/office/2007/relationships/media" Target="../media/media5.mp4"/><Relationship Id="rId8"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video" Target="../media/media6.mp4"/><Relationship Id="rId10" Type="http://schemas.microsoft.com/office/2007/relationships/media" Target="../media/media6.mp4"/><Relationship Id="rId11" Type="http://schemas.openxmlformats.org/officeDocument/2006/relationships/image" Target="../media/image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9.mp4"/><Relationship Id="rId4" Type="http://schemas.microsoft.com/office/2007/relationships/media" Target="../media/media9.mp4"/><Relationship Id="rId5" Type="http://schemas.openxmlformats.org/officeDocument/2006/relationships/image" Target="../media/image1.png"/><Relationship Id="rId6" Type="http://schemas.openxmlformats.org/officeDocument/2006/relationships/image" Target="../media/image8.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10.mp4"/><Relationship Id="rId4" Type="http://schemas.microsoft.com/office/2007/relationships/media" Target="../media/media10.mp4"/><Relationship Id="rId5"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7203F"/>
                </a:solidFill>
                <a:latin typeface="Georgia"/>
                <a:ea typeface="Georgia"/>
                <a:cs typeface="Georgia"/>
                <a:sym typeface="Georgia"/>
              </a:defRPr>
            </a:lvl1pPr>
          </a:lstStyle>
          <a:p>
            <a:pPr/>
            <a:r>
              <a:t>When The Resultant Is Zero</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A6480"/>
                </a:solidFill>
                <a:latin typeface="Arial"/>
                <a:ea typeface="Arial"/>
                <a:cs typeface="Arial"/>
                <a:sym typeface="Arial"/>
              </a:defRPr>
            </a:lvl1pPr>
          </a:lstStyle>
          <a:p>
            <a:pPr/>
            <a:r>
              <a:t>Tuesday 6 October 2026</a:t>
            </a:r>
          </a:p>
        </p:txBody>
      </p:sp>
      <p:sp>
        <p:nvSpPr>
          <p:cNvPr id="26" name="rule"/>
          <p:cNvSpPr/>
          <p:nvPr/>
        </p:nvSpPr>
        <p:spPr>
          <a:xfrm>
            <a:off x="1170432" y="896111"/>
            <a:ext cx="10472623" cy="36577"/>
          </a:xfrm>
          <a:prstGeom prst="rect">
            <a:avLst/>
          </a:prstGeom>
          <a:solidFill>
            <a:srgbClr val="FF8A3D"/>
          </a:solidFill>
          <a:ln w="12700">
            <a:solidFill>
              <a:srgbClr val="FF8A3D"/>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28" name="d0_badge"/>
          <p:cNvSpPr/>
          <p:nvPr/>
        </p:nvSpPr>
        <p:spPr>
          <a:xfrm>
            <a:off x="1371600" y="1426463"/>
            <a:ext cx="384048" cy="384049"/>
          </a:xfrm>
          <a:prstGeom prst="ellipse">
            <a:avLst/>
          </a:prstGeom>
          <a:solidFill>
            <a:srgbClr val="FF8A3D"/>
          </a:solidFill>
          <a:ln w="12700">
            <a:solidFill>
              <a:srgbClr val="FF8A3D"/>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30" name="d0_q"/>
          <p:cNvSpPr txBox="1"/>
          <p:nvPr/>
        </p:nvSpPr>
        <p:spPr>
          <a:xfrm>
            <a:off x="1901951" y="1260483"/>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force of 80 N acts to the right and a force of 35 N acts to the left on a box. Find the resultant force.</a:t>
            </a:r>
          </a:p>
        </p:txBody>
      </p:sp>
      <p:grpSp>
        <p:nvGrpSpPr>
          <p:cNvPr id="33" name="d0_a"/>
          <p:cNvGrpSpPr/>
          <p:nvPr/>
        </p:nvGrpSpPr>
        <p:grpSpPr>
          <a:xfrm>
            <a:off x="1371600" y="2029967"/>
            <a:ext cx="4696817" cy="457201"/>
            <a:chOff x="0" y="0"/>
            <a:chExt cx="4696816" cy="457200"/>
          </a:xfrm>
        </p:grpSpPr>
        <p:sp>
          <p:nvSpPr>
            <p:cNvPr id="31"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32" name="45 N to the right. 80 − 35."/>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45 N to the right. 80 − 35.</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35" name="d1_badge"/>
          <p:cNvSpPr/>
          <p:nvPr/>
        </p:nvSpPr>
        <p:spPr>
          <a:xfrm>
            <a:off x="6745072" y="1426463"/>
            <a:ext cx="384049" cy="384049"/>
          </a:xfrm>
          <a:prstGeom prst="ellipse">
            <a:avLst/>
          </a:prstGeom>
          <a:solidFill>
            <a:srgbClr val="FF8A3D"/>
          </a:solidFill>
          <a:ln w="12700">
            <a:solidFill>
              <a:srgbClr val="FF8A3D"/>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Name the two forces on a book resting on a table. Say which way each one acts.</a:t>
            </a:r>
          </a:p>
        </p:txBody>
      </p:sp>
      <p:grpSp>
        <p:nvGrpSpPr>
          <p:cNvPr id="40" name="d1_a"/>
          <p:cNvGrpSpPr/>
          <p:nvPr/>
        </p:nvGrpSpPr>
        <p:grpSpPr>
          <a:xfrm>
            <a:off x="6745072" y="2029967"/>
            <a:ext cx="4696817" cy="457201"/>
            <a:chOff x="0" y="0"/>
            <a:chExt cx="4696816" cy="457200"/>
          </a:xfrm>
        </p:grpSpPr>
        <p:sp>
          <p:nvSpPr>
            <p:cNvPr id="38"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39" name="Weight, down. The reaction force from the table, up."/>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Weight, down. The reaction force from the table, up.</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42" name="d2_badge"/>
          <p:cNvSpPr/>
          <p:nvPr/>
        </p:nvSpPr>
        <p:spPr>
          <a:xfrm>
            <a:off x="1371600" y="3090672"/>
            <a:ext cx="384048" cy="384049"/>
          </a:xfrm>
          <a:prstGeom prst="ellipse">
            <a:avLst/>
          </a:prstGeom>
          <a:solidFill>
            <a:srgbClr val="FF8A3D"/>
          </a:solidFill>
          <a:ln w="12700">
            <a:solidFill>
              <a:srgbClr val="FF8A3D"/>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44" name="d2_q"/>
          <p:cNvSpPr txBox="1"/>
          <p:nvPr/>
        </p:nvSpPr>
        <p:spPr>
          <a:xfrm>
            <a:off x="1901951"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car accelerates from rest at 3 m/s² for 5 s. Find its final speed.</a:t>
            </a:r>
          </a:p>
        </p:txBody>
      </p:sp>
      <p:grpSp>
        <p:nvGrpSpPr>
          <p:cNvPr id="47" name="d2_a"/>
          <p:cNvGrpSpPr/>
          <p:nvPr/>
        </p:nvGrpSpPr>
        <p:grpSpPr>
          <a:xfrm>
            <a:off x="1371600" y="3694176"/>
            <a:ext cx="4696817" cy="457201"/>
            <a:chOff x="0" y="0"/>
            <a:chExt cx="4696816" cy="457200"/>
          </a:xfrm>
        </p:grpSpPr>
        <p:sp>
          <p:nvSpPr>
            <p:cNvPr id="45"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46" name="15 m/s. 3 × 5."/>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15 m/s. 3 × 5.</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49" name="d3_badge"/>
          <p:cNvSpPr/>
          <p:nvPr/>
        </p:nvSpPr>
        <p:spPr>
          <a:xfrm>
            <a:off x="6745072" y="3090672"/>
            <a:ext cx="384049" cy="384049"/>
          </a:xfrm>
          <a:prstGeom prst="ellipse">
            <a:avLst/>
          </a:prstGeom>
          <a:solidFill>
            <a:srgbClr val="FF8A3D"/>
          </a:solidFill>
          <a:ln w="12700">
            <a:solidFill>
              <a:srgbClr val="FF8A3D"/>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4</a:t>
            </a:r>
          </a:p>
        </p:txBody>
      </p:sp>
      <p:sp>
        <p:nvSpPr>
          <p:cNvPr id="51" name="d3_q"/>
          <p:cNvSpPr txBox="1"/>
          <p:nvPr/>
        </p:nvSpPr>
        <p:spPr>
          <a:xfrm>
            <a:off x="7275424" y="3045341"/>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State what the gradient of a distance-time graph shows.</a:t>
            </a:r>
          </a:p>
        </p:txBody>
      </p:sp>
      <p:grpSp>
        <p:nvGrpSpPr>
          <p:cNvPr id="54" name="d3_a"/>
          <p:cNvGrpSpPr/>
          <p:nvPr/>
        </p:nvGrpSpPr>
        <p:grpSpPr>
          <a:xfrm>
            <a:off x="6745072" y="3694176"/>
            <a:ext cx="4696817" cy="457201"/>
            <a:chOff x="0" y="0"/>
            <a:chExt cx="4696816" cy="457200"/>
          </a:xfrm>
        </p:grpSpPr>
        <p:sp>
          <p:nvSpPr>
            <p:cNvPr id="52"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53" name="The speed. A steeper line means a faster speed."/>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The speed. A steeper line means a faster speed.</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56" name="d4_badge"/>
          <p:cNvSpPr/>
          <p:nvPr/>
        </p:nvSpPr>
        <p:spPr>
          <a:xfrm>
            <a:off x="1371600" y="4754879"/>
            <a:ext cx="384048" cy="384049"/>
          </a:xfrm>
          <a:prstGeom prst="ellipse">
            <a:avLst/>
          </a:prstGeom>
          <a:solidFill>
            <a:srgbClr val="FF8A3D"/>
          </a:solidFill>
          <a:ln w="12700">
            <a:solidFill>
              <a:srgbClr val="FF8A3D"/>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Name the two kinds of particle in the nucleus of an atom.</a:t>
            </a:r>
          </a:p>
        </p:txBody>
      </p:sp>
      <p:grpSp>
        <p:nvGrpSpPr>
          <p:cNvPr id="61" name="d4_a"/>
          <p:cNvGrpSpPr/>
          <p:nvPr/>
        </p:nvGrpSpPr>
        <p:grpSpPr>
          <a:xfrm>
            <a:off x="1371600" y="5358384"/>
            <a:ext cx="4696817" cy="457201"/>
            <a:chOff x="0" y="0"/>
            <a:chExt cx="4696816" cy="457200"/>
          </a:xfrm>
        </p:grpSpPr>
        <p:sp>
          <p:nvSpPr>
            <p:cNvPr id="59"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60" name="Protons and neutrons."/>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Protons and neutrons.</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C3C8D8"/>
            </a:solidFill>
          </a:ln>
        </p:spPr>
        <p:txBody>
          <a:bodyPr lIns="45719" rIns="45719"/>
          <a:lstStyle/>
          <a:p>
            <a:pPr/>
          </a:p>
        </p:txBody>
      </p:sp>
      <p:sp>
        <p:nvSpPr>
          <p:cNvPr id="63" name="d5_badge"/>
          <p:cNvSpPr/>
          <p:nvPr/>
        </p:nvSpPr>
        <p:spPr>
          <a:xfrm>
            <a:off x="6745072" y="4754879"/>
            <a:ext cx="384049" cy="384049"/>
          </a:xfrm>
          <a:prstGeom prst="ellipse">
            <a:avLst/>
          </a:prstGeom>
          <a:solidFill>
            <a:srgbClr val="FF8A3D"/>
          </a:solidFill>
          <a:ln w="12700">
            <a:solidFill>
              <a:srgbClr val="FF8A3D"/>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6</a:t>
            </a:r>
          </a:p>
        </p:txBody>
      </p:sp>
      <p:sp>
        <p:nvSpPr>
          <p:cNvPr id="65" name="d5_q"/>
          <p:cNvSpPr txBox="1"/>
          <p:nvPr/>
        </p:nvSpPr>
        <p:spPr>
          <a:xfrm>
            <a:off x="7275424"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41A30"/>
                </a:solidFill>
                <a:latin typeface="Arial"/>
                <a:ea typeface="Arial"/>
                <a:cs typeface="Arial"/>
                <a:sym typeface="Arial"/>
              </a:defRPr>
            </a:lvl1pPr>
          </a:lstStyle>
          <a:p>
            <a:pPr/>
            <a:r>
              <a:t>A ball rolls along the floor and slowly stops. Why does it stop?</a:t>
            </a:r>
          </a:p>
        </p:txBody>
      </p:sp>
      <p:grpSp>
        <p:nvGrpSpPr>
          <p:cNvPr id="68" name="d5_a"/>
          <p:cNvGrpSpPr/>
          <p:nvPr/>
        </p:nvGrpSpPr>
        <p:grpSpPr>
          <a:xfrm>
            <a:off x="6745072" y="5335477"/>
            <a:ext cx="4696817" cy="503015"/>
            <a:chOff x="0" y="0"/>
            <a:chExt cx="4696816" cy="503014"/>
          </a:xfrm>
        </p:grpSpPr>
        <p:sp>
          <p:nvSpPr>
            <p:cNvPr id="66"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67" name="A force acts against it: friction and air resistance. We see what that means today."/>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A force acts against it: friction and air resistance. We see what that means today.</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7" grpId="4"/>
      <p:bldP build="whole" bldLvl="1" animBg="1" rev="0" advAuto="0" spid="40" grpId="3"/>
      <p:bldP build="whole" bldLvl="1" animBg="1" rev="0" advAuto="0" spid="33" grpId="2"/>
      <p:bldP build="whole" bldLvl="1" animBg="1" rev="0" advAuto="0" spid="54" grpId="5"/>
      <p:bldP build="whole" bldLvl="1" animBg="1" rev="0" advAuto="0" spid="61" grpId="6"/>
      <p:bldP build="whole" bldLvl="1" animBg="1" rev="0" advAuto="0" spid="68" grpId="7"/>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80" name="o0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State Newton’s first law. (P1.5.1.6)</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85" name="o1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Explain why an object at constant speed has no resultant force.</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FF8A3D"/>
            </a:solidFill>
            <a:ln w="12700" cap="flat">
              <a:solidFill>
                <a:srgbClr val="FF8A3D"/>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41A30"/>
                  </a:solidFill>
                  <a:latin typeface="Arial"/>
                  <a:ea typeface="Arial"/>
                  <a:cs typeface="Arial"/>
                  <a:sym typeface="Arial"/>
                </a:defRPr>
              </a:lvl1pPr>
            </a:lstStyle>
            <a:p>
              <a:pPr/>
              <a:r>
                <a:t>Explain what happens to an object with no forces acting at all.</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7203F"/>
            </a:solidFill>
            <a:ln w="9525" cap="flat">
              <a:solidFill>
                <a:srgbClr val="17203F"/>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No resultant force means no change in speed or direction, but the forces can still be there."/>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u="sng">
                  <a:solidFill>
                    <a:srgbClr val="FF8A3D"/>
                  </a:solidFill>
                  <a:latin typeface="Arial"/>
                  <a:ea typeface="Arial"/>
                  <a:cs typeface="Arial"/>
                  <a:sym typeface="Arial"/>
                </a:defRPr>
              </a:pPr>
              <a:r>
                <a:t>No resultant force</a:t>
              </a:r>
              <a:r>
                <a:rPr u="none"/>
                <a:t> means </a:t>
              </a:r>
              <a:r>
                <a:t>no change</a:t>
              </a:r>
              <a:r>
                <a:rPr u="none"/>
                <a:t> in speed or direction, but the forces can still be there.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94" grpId="5"/>
      <p:bldP build="whole" bldLvl="1" animBg="1" rev="0" advAuto="0" spid="81" grpId="2"/>
      <p:bldP build="whole" bldLvl="1" animBg="1" rev="0" advAuto="0" spid="91" grpId="4"/>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54328"/>
            <a:ext cx="9055304" cy="65283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600"/>
              </a:lnSpc>
              <a:defRPr b="1" sz="2100">
                <a:solidFill>
                  <a:srgbClr val="17203F"/>
                </a:solidFill>
                <a:latin typeface="Georgia"/>
                <a:ea typeface="Georgia"/>
                <a:cs typeface="Georgia"/>
                <a:sym typeface="Georgia"/>
              </a:defRPr>
            </a:lvl1pPr>
          </a:lstStyle>
          <a:p>
            <a:pPr/>
            <a:r>
              <a:t>A probe is far from every star and planet, with its engine off. It is moving at 5 km/s. What happens next?</a:t>
            </a:r>
          </a:p>
        </p:txBody>
      </p:sp>
      <p:pic>
        <p:nvPicPr>
          <p:cNvPr id="103" name="hook_rocket" descr="hook_rocket"/>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2103122"/>
            <a:chOff x="0" y="0"/>
            <a:chExt cx="3307993" cy="2103120"/>
          </a:xfrm>
        </p:grpSpPr>
        <p:sp>
          <p:nvSpPr>
            <p:cNvPr id="104" name="h0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A</a:t>
              </a:r>
            </a:p>
          </p:txBody>
        </p:sp>
        <p:sp>
          <p:nvSpPr>
            <p:cNvPr id="106" name="h0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It slows down and stops, because nothing is pushing it.</a:t>
              </a:r>
            </a:p>
          </p:txBody>
        </p:sp>
      </p:grpSp>
      <p:grpSp>
        <p:nvGrpSpPr>
          <p:cNvPr id="111" name="h1"/>
          <p:cNvGrpSpPr/>
          <p:nvPr/>
        </p:nvGrpSpPr>
        <p:grpSpPr>
          <a:xfrm>
            <a:off x="4752745" y="2487167"/>
            <a:ext cx="3307995" cy="2103122"/>
            <a:chOff x="0" y="0"/>
            <a:chExt cx="3307993" cy="2103120"/>
          </a:xfrm>
        </p:grpSpPr>
        <p:sp>
          <p:nvSpPr>
            <p:cNvPr id="108" name="h1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B</a:t>
              </a:r>
            </a:p>
          </p:txBody>
        </p:sp>
        <p:sp>
          <p:nvSpPr>
            <p:cNvPr id="110" name="h1_t"/>
            <p:cNvSpPr txBox="1"/>
            <p:nvPr/>
          </p:nvSpPr>
          <p:spPr>
            <a:xfrm>
              <a:off x="256032" y="676656"/>
              <a:ext cx="2795930" cy="5246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It keeps moving at 5 km/s in a straight line.</a:t>
              </a:r>
            </a:p>
          </p:txBody>
        </p:sp>
      </p:grpSp>
      <p:grpSp>
        <p:nvGrpSpPr>
          <p:cNvPr id="115" name="h2"/>
          <p:cNvGrpSpPr/>
          <p:nvPr/>
        </p:nvGrpSpPr>
        <p:grpSpPr>
          <a:xfrm>
            <a:off x="8335061" y="2487167"/>
            <a:ext cx="3307994" cy="2103122"/>
            <a:chOff x="0" y="0"/>
            <a:chExt cx="3307993" cy="2103120"/>
          </a:xfrm>
        </p:grpSpPr>
        <p:sp>
          <p:nvSpPr>
            <p:cNvPr id="112" name="h2_bg"/>
            <p:cNvSpPr/>
            <p:nvPr/>
          </p:nvSpPr>
          <p:spPr>
            <a:xfrm>
              <a:off x="0" y="0"/>
              <a:ext cx="3307994" cy="2103121"/>
            </a:xfrm>
            <a:prstGeom prst="roundRect">
              <a:avLst>
                <a:gd name="adj" fmla="val 434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E03D6B"/>
                  </a:solidFill>
                  <a:latin typeface="Georgia"/>
                  <a:ea typeface="Georgia"/>
                  <a:cs typeface="Georgia"/>
                  <a:sym typeface="Georgia"/>
                </a:defRPr>
              </a:lvl1pPr>
            </a:lstStyle>
            <a:p>
              <a:pPr/>
              <a:r>
                <a:t>C</a:t>
              </a:r>
            </a:p>
          </p:txBody>
        </p:sp>
        <p:sp>
          <p:nvSpPr>
            <p:cNvPr id="114" name="h2_t"/>
            <p:cNvSpPr txBox="1"/>
            <p:nvPr/>
          </p:nvSpPr>
          <p:spPr>
            <a:xfrm>
              <a:off x="256032" y="676656"/>
              <a:ext cx="2795930" cy="791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17203F"/>
                  </a:solidFill>
                  <a:latin typeface="Georgia"/>
                  <a:ea typeface="Georgia"/>
                  <a:cs typeface="Georgia"/>
                  <a:sym typeface="Georgia"/>
                </a:defRPr>
              </a:lvl1pPr>
            </a:lstStyle>
            <a:p>
              <a:pPr/>
              <a:r>
                <a:t>It speeds up slowly, because nothing is holding it back.</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5" grpId="4"/>
      <p:bldP build="whole" bldLvl="1" animBg="1" rev="0" advAuto="0" spid="107" grpId="2"/>
      <p:bldP build="whole" bldLvl="1" animBg="1" rev="0" advAuto="0" spid="111" grpId="3"/>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Newton’s first law</a:t>
            </a:r>
          </a:p>
        </p:txBody>
      </p:sp>
      <p:pic>
        <p:nvPicPr>
          <p:cNvPr id="124" name="vid_motion" descr="vid_motion"/>
          <p:cNvPicPr>
            <a:picLocks noChangeAspect="0"/>
          </p:cNvPicPr>
          <p:nvPr>
            <a:videoFile r:link="rId6"/>
            <p:extLst>
              <p:ext uri="{DAA4B4D4-6D71-4841-9C94-3DE7FCFB9230}">
                <p14:media xmlns:p14="http://schemas.microsoft.com/office/powerpoint/2010/main" r:embed="rId7"/>
              </p:ext>
            </p:extLst>
          </p:nvPr>
        </p:nvPicPr>
        <p:blipFill>
          <a:blip r:embed="rId8">
            <a:extLst/>
          </a:blip>
          <a:stretch>
            <a:fillRect/>
          </a:stretch>
        </p:blipFill>
        <p:spPr>
          <a:xfrm>
            <a:off x="1170432" y="1792223"/>
            <a:ext cx="5074921" cy="2854644"/>
          </a:xfrm>
          <a:prstGeom prst="rect">
            <a:avLst/>
          </a:prstGeom>
          <a:ln w="12700">
            <a:miter lim="400000"/>
          </a:ln>
        </p:spPr>
      </p:pic>
      <p:grpSp>
        <p:nvGrpSpPr>
          <p:cNvPr id="127" name="wxg"/>
          <p:cNvGrpSpPr/>
          <p:nvPr/>
        </p:nvGrpSpPr>
        <p:grpSpPr>
          <a:xfrm>
            <a:off x="1170432" y="4774882"/>
            <a:ext cx="5074921" cy="1188721"/>
            <a:chOff x="0" y="0"/>
            <a:chExt cx="5074920" cy="1188719"/>
          </a:xfrm>
        </p:grpSpPr>
        <p:sp>
          <p:nvSpPr>
            <p:cNvPr id="125" name="wx_bg"/>
            <p:cNvSpPr/>
            <p:nvPr/>
          </p:nvSpPr>
          <p:spPr>
            <a:xfrm>
              <a:off x="0" y="0"/>
              <a:ext cx="5074921" cy="1188720"/>
            </a:xfrm>
            <a:prstGeom prst="roundRect">
              <a:avLst>
                <a:gd name="adj" fmla="val 7692"/>
              </a:avLst>
            </a:prstGeom>
            <a:solidFill>
              <a:srgbClr val="FFE9D6"/>
            </a:solidFill>
            <a:ln w="19050" cap="flat">
              <a:solidFill>
                <a:srgbClr val="C25A16"/>
              </a:solidFill>
              <a:prstDash val="solid"/>
              <a:round/>
            </a:ln>
            <a:effectLst/>
          </p:spPr>
          <p:txBody>
            <a:bodyPr wrap="square" lIns="45719" tIns="45719" rIns="45719" bIns="45719" numCol="1" anchor="t">
              <a:noAutofit/>
            </a:bodyPr>
            <a:lstStyle/>
            <a:p>
              <a:pPr/>
            </a:p>
          </p:txBody>
        </p:sp>
        <p:sp>
          <p:nvSpPr>
            <p:cNvPr id="126" name="wx_t"/>
            <p:cNvSpPr txBox="1"/>
            <p:nvPr/>
          </p:nvSpPr>
          <p:spPr>
            <a:xfrm>
              <a:off x="219455" y="236430"/>
              <a:ext cx="4636010" cy="7158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800"/>
                </a:lnSpc>
                <a:spcBef>
                  <a:spcPts val="300"/>
                </a:spcBef>
                <a:defRPr b="1" sz="1400">
                  <a:solidFill>
                    <a:srgbClr val="17203F"/>
                  </a:solidFill>
                  <a:latin typeface="Arial"/>
                  <a:ea typeface="Arial"/>
                  <a:cs typeface="Arial"/>
                  <a:sym typeface="Arial"/>
                </a:defRPr>
              </a:pPr>
              <a:r>
                <a:t>A crate slides at a steady speed. The push is 60 N.</a:t>
              </a:r>
            </a:p>
            <a:p>
              <a:pPr>
                <a:lnSpc>
                  <a:spcPts val="1800"/>
                </a:lnSpc>
                <a:defRPr b="1" sz="1400">
                  <a:solidFill>
                    <a:srgbClr val="C25A16"/>
                  </a:solidFill>
                  <a:latin typeface="Arial"/>
                  <a:ea typeface="Arial"/>
                  <a:cs typeface="Arial"/>
                  <a:sym typeface="Arial"/>
                </a:defRPr>
              </a:pPr>
              <a:r>
                <a:t>Steady speed: </a:t>
              </a:r>
              <a:r>
                <a:rPr b="0">
                  <a:solidFill>
                    <a:srgbClr val="141A30"/>
                  </a:solidFill>
                </a:rPr>
                <a:t>the resultant is 0 N.</a:t>
              </a:r>
            </a:p>
            <a:p>
              <a:pPr>
                <a:lnSpc>
                  <a:spcPts val="1800"/>
                </a:lnSpc>
                <a:defRPr b="1" sz="1400">
                  <a:solidFill>
                    <a:srgbClr val="E03D6B"/>
                  </a:solidFill>
                  <a:latin typeface="Arial"/>
                  <a:ea typeface="Arial"/>
                  <a:cs typeface="Arial"/>
                  <a:sym typeface="Arial"/>
                </a:defRPr>
              </a:pPr>
              <a:r>
                <a:t>The friction equals the push: 60 N.</a:t>
              </a:r>
            </a:p>
          </p:txBody>
        </p:sp>
      </p:grpSp>
      <p:grpSp>
        <p:nvGrpSpPr>
          <p:cNvPr id="131" name="fbg"/>
          <p:cNvGrpSpPr/>
          <p:nvPr/>
        </p:nvGrpSpPr>
        <p:grpSpPr>
          <a:xfrm>
            <a:off x="6519671" y="1792223"/>
            <a:ext cx="5123384" cy="2194561"/>
            <a:chOff x="0" y="0"/>
            <a:chExt cx="5123383" cy="2194560"/>
          </a:xfrm>
        </p:grpSpPr>
        <p:sp>
          <p:nvSpPr>
            <p:cNvPr id="128" name="fb_bg"/>
            <p:cNvSpPr/>
            <p:nvPr/>
          </p:nvSpPr>
          <p:spPr>
            <a:xfrm>
              <a:off x="0" y="0"/>
              <a:ext cx="5123384" cy="2194561"/>
            </a:xfrm>
            <a:prstGeom prst="roundRect">
              <a:avLst>
                <a:gd name="adj" fmla="val 4167"/>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29" name="fb_h"/>
            <p:cNvSpPr txBox="1"/>
            <p:nvPr/>
          </p:nvSpPr>
          <p:spPr>
            <a:xfrm>
              <a:off x="219455" y="160782"/>
              <a:ext cx="468447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C25A16"/>
                  </a:solidFill>
                  <a:latin typeface="Georgia"/>
                  <a:ea typeface="Georgia"/>
                  <a:cs typeface="Georgia"/>
                  <a:sym typeface="Georgia"/>
                </a:defRPr>
              </a:lvl1pPr>
            </a:lstStyle>
            <a:p>
              <a:pPr/>
              <a:r>
                <a:t>NEWTON’S FIRST LAW</a:t>
              </a:r>
            </a:p>
          </p:txBody>
        </p:sp>
        <p:sp>
          <p:nvSpPr>
            <p:cNvPr id="130" name="fb_t"/>
            <p:cNvSpPr txBox="1"/>
            <p:nvPr/>
          </p:nvSpPr>
          <p:spPr>
            <a:xfrm>
              <a:off x="219455" y="475487"/>
              <a:ext cx="4684473" cy="1005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2000"/>
                </a:lnSpc>
                <a:defRPr sz="1500">
                  <a:solidFill>
                    <a:srgbClr val="141A30"/>
                  </a:solidFill>
                  <a:latin typeface="Arial"/>
                  <a:ea typeface="Arial"/>
                  <a:cs typeface="Arial"/>
                  <a:sym typeface="Arial"/>
                </a:defRPr>
              </a:pPr>
              <a:r>
                <a:t>An object stays at rest, or keeps moving at a constant speed in a straight line, </a:t>
              </a:r>
              <a:r>
                <a:rPr b="1">
                  <a:solidFill>
                    <a:srgbClr val="E03D6B"/>
                  </a:solidFill>
                </a:rPr>
                <a:t>unless a resultant force acts on it.</a:t>
              </a:r>
            </a:p>
            <a:p>
              <a:pPr>
                <a:lnSpc>
                  <a:spcPts val="2000"/>
                </a:lnSpc>
                <a:defRPr b="1" sz="1500">
                  <a:solidFill>
                    <a:srgbClr val="141A30"/>
                  </a:solidFill>
                  <a:latin typeface="Arial"/>
                  <a:ea typeface="Arial"/>
                  <a:cs typeface="Arial"/>
                  <a:sym typeface="Arial"/>
                </a:defRPr>
              </a:pPr>
              <a:r>
                <a:t>No resultant force: no change in motion.</a:t>
              </a:r>
            </a:p>
          </p:txBody>
        </p:sp>
      </p:grpSp>
      <p:grpSp>
        <p:nvGrpSpPr>
          <p:cNvPr id="135" name="rsg"/>
          <p:cNvGrpSpPr/>
          <p:nvPr/>
        </p:nvGrpSpPr>
        <p:grpSpPr>
          <a:xfrm>
            <a:off x="6519671" y="4114800"/>
            <a:ext cx="5123384" cy="2157984"/>
            <a:chOff x="0" y="0"/>
            <a:chExt cx="5123383" cy="2157983"/>
          </a:xfrm>
        </p:grpSpPr>
        <p:sp>
          <p:nvSpPr>
            <p:cNvPr id="132" name="rs_bg"/>
            <p:cNvSpPr/>
            <p:nvPr/>
          </p:nvSpPr>
          <p:spPr>
            <a:xfrm>
              <a:off x="0" y="0"/>
              <a:ext cx="5123384" cy="2157984"/>
            </a:xfrm>
            <a:prstGeom prst="roundRect">
              <a:avLst>
                <a:gd name="adj" fmla="val 4237"/>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133" name="rs_h"/>
            <p:cNvSpPr txBox="1"/>
            <p:nvPr/>
          </p:nvSpPr>
          <p:spPr>
            <a:xfrm>
              <a:off x="219455" y="160781"/>
              <a:ext cx="4684473"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C25A16"/>
                  </a:solidFill>
                  <a:latin typeface="Georgia"/>
                  <a:ea typeface="Georgia"/>
                  <a:cs typeface="Georgia"/>
                  <a:sym typeface="Georgia"/>
                </a:defRPr>
              </a:lvl1pPr>
            </a:lstStyle>
            <a:p>
              <a:pPr/>
              <a:r>
                <a:t>THE OTHER WAY ROUND</a:t>
              </a:r>
            </a:p>
          </p:txBody>
        </p:sp>
        <p:sp>
          <p:nvSpPr>
            <p:cNvPr id="134" name="rs_t"/>
            <p:cNvSpPr txBox="1"/>
            <p:nvPr/>
          </p:nvSpPr>
          <p:spPr>
            <a:xfrm>
              <a:off x="219455" y="457199"/>
              <a:ext cx="4684473" cy="10078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nSpc>
                  <a:spcPts val="1700"/>
                </a:lnSpc>
                <a:spcBef>
                  <a:spcPts val="400"/>
                </a:spcBef>
                <a:defRPr sz="1300">
                  <a:solidFill>
                    <a:srgbClr val="141A30"/>
                  </a:solidFill>
                  <a:latin typeface="Arial"/>
                  <a:ea typeface="Arial"/>
                  <a:cs typeface="Arial"/>
                  <a:sym typeface="Arial"/>
                </a:defRPr>
              </a:pPr>
              <a:r>
                <a:t>At rest, or at a steady speed, the motion is not changing.</a:t>
              </a:r>
            </a:p>
            <a:p>
              <a:pPr>
                <a:lnSpc>
                  <a:spcPts val="1700"/>
                </a:lnSpc>
                <a:spcBef>
                  <a:spcPts val="400"/>
                </a:spcBef>
                <a:defRPr sz="1300">
                  <a:solidFill>
                    <a:srgbClr val="141A30"/>
                  </a:solidFill>
                  <a:latin typeface="Arial"/>
                  <a:ea typeface="Arial"/>
                  <a:cs typeface="Arial"/>
                  <a:sym typeface="Arial"/>
                </a:defRPr>
              </a:pPr>
              <a:r>
                <a:t>So there is no resultant force: it is 0 N.</a:t>
              </a:r>
            </a:p>
            <a:p>
              <a:pPr>
                <a:lnSpc>
                  <a:spcPts val="1700"/>
                </a:lnSpc>
                <a:spcBef>
                  <a:spcPts val="400"/>
                </a:spcBef>
                <a:defRPr sz="1300">
                  <a:solidFill>
                    <a:srgbClr val="141A30"/>
                  </a:solidFill>
                  <a:latin typeface="Arial"/>
                  <a:ea typeface="Arial"/>
                  <a:cs typeface="Arial"/>
                  <a:sym typeface="Arial"/>
                </a:defRPr>
              </a:pPr>
              <a:r>
                <a:t>The forces one way equal the forces the other way.</a:t>
              </a:r>
            </a:p>
            <a:p>
              <a:pPr>
                <a:lnSpc>
                  <a:spcPts val="1700"/>
                </a:lnSpc>
                <a:defRPr b="1" sz="1300">
                  <a:solidFill>
                    <a:srgbClr val="141A30"/>
                  </a:solidFill>
                  <a:latin typeface="Arial"/>
                  <a:ea typeface="Arial"/>
                  <a:cs typeface="Arial"/>
                  <a:sym typeface="Arial"/>
                </a:defRPr>
              </a:pPr>
              <a:r>
                <a:t>If the speed or direction changes, there IS a resultant force.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mediacall" nodeType="clickEffect" presetSubtype="0" presetID="1" grpId="2" fill="hold">
                                  <p:stCondLst>
                                    <p:cond delay="0"/>
                                  </p:stCondLst>
                                  <p:childTnLst>
                                    <p:cmd type="call" cmd="playFrom(0.0)">
                                      <p:cBhvr>
                                        <p:cTn id="10" dur="25000" fill="hold"/>
                                        <p:tgtEl>
                                          <p:spTgt spid="124"/>
                                        </p:tgtEl>
                                      </p:cBhvr>
                                    </p:cmd>
                                  </p:childTnLst>
                                </p:cTn>
                              </p:par>
                            </p:childTnLst>
                          </p:cTn>
                        </p:par>
                      </p:childTnLst>
                    </p:cTn>
                  </p:par>
                  <p:par>
                    <p:cTn id="11" fill="hold">
                      <p:stCondLst>
                        <p:cond delay="indefinite"/>
                      </p:stCondLst>
                      <p:childTnLst>
                        <p:par>
                          <p:cTn id="12" fill="hold">
                            <p:stCondLst>
                              <p:cond delay="0"/>
                            </p:stCondLst>
                            <p:childTnLst>
                              <p:par>
                                <p:cTn id="13" presetClass="entr" nodeType="clickEffect" presetID="10" grpId="3" fill="hold">
                                  <p:stCondLst>
                                    <p:cond delay="0"/>
                                  </p:stCondLst>
                                  <p:iterate type="el" backwards="0">
                                    <p:tmAbs val="0"/>
                                  </p:iterate>
                                  <p:childTnLst>
                                    <p:set>
                                      <p:cBhvr>
                                        <p:cTn id="14" fill="hold"/>
                                        <p:tgtEl>
                                          <p:spTgt spid="131"/>
                                        </p:tgtEl>
                                        <p:attrNameLst>
                                          <p:attrName>style.visibility</p:attrName>
                                        </p:attrNameLst>
                                      </p:cBhvr>
                                      <p:to>
                                        <p:strVal val="visible"/>
                                      </p:to>
                                    </p:set>
                                    <p:animEffect filter="fade" transition="in">
                                      <p:cBhvr>
                                        <p:cTn id="15" dur="400"/>
                                        <p:tgtEl>
                                          <p:spTgt spid="131"/>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135"/>
                                        </p:tgtEl>
                                        <p:attrNameLst>
                                          <p:attrName>style.visibility</p:attrName>
                                        </p:attrNameLst>
                                      </p:cBhvr>
                                      <p:to>
                                        <p:strVal val="visible"/>
                                      </p:to>
                                    </p:set>
                                    <p:animEffect filter="fade" transition="in">
                                      <p:cBhvr>
                                        <p:cTn id="20" dur="400"/>
                                        <p:tgtEl>
                                          <p:spTgt spid="135"/>
                                        </p:tgtEl>
                                      </p:cBhvr>
                                    </p:animEffect>
                                  </p:childTnLst>
                                </p:cTn>
                              </p:par>
                            </p:childTnLst>
                          </p:cTn>
                        </p:par>
                      </p:childTnLst>
                    </p:cTn>
                  </p:par>
                  <p:par>
                    <p:cTn id="21" fill="hold">
                      <p:stCondLst>
                        <p:cond delay="indefinite"/>
                      </p:stCondLst>
                      <p:childTnLst>
                        <p:par>
                          <p:cTn id="22" fill="hold">
                            <p:stCondLst>
                              <p:cond delay="0"/>
                            </p:stCondLst>
                            <p:childTnLst>
                              <p:par>
                                <p:cTn id="23" presetClass="entr" nodeType="clickEffect" presetID="10" grpId="5" fill="hold">
                                  <p:stCondLst>
                                    <p:cond delay="0"/>
                                  </p:stCondLst>
                                  <p:iterate type="el" backwards="0">
                                    <p:tmAbs val="0"/>
                                  </p:iterate>
                                  <p:childTnLst>
                                    <p:set>
                                      <p:cBhvr>
                                        <p:cTn id="24" fill="hold"/>
                                        <p:tgtEl>
                                          <p:spTgt spid="127"/>
                                        </p:tgtEl>
                                        <p:attrNameLst>
                                          <p:attrName>style.visibility</p:attrName>
                                        </p:attrNameLst>
                                      </p:cBhvr>
                                      <p:to>
                                        <p:strVal val="visible"/>
                                      </p:to>
                                    </p:set>
                                    <p:animEffect filter="fade" transition="in">
                                      <p:cBhvr>
                                        <p:cTn id="25" dur="400"/>
                                        <p:tgtEl>
                                          <p:spTgt spid="127"/>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6" fill="hold" display="0">
                  <p:stCondLst>
                    <p:cond delay="indefinite"/>
                  </p:stCondLst>
                </p:cTn>
                <p:tgtEl>
                  <p:spTgt spid="119"/>
                </p:tgtEl>
              </p:cMediaNode>
            </p:video>
            <p:seq concurrent="1" prevAc="none" nextAc="seek">
              <p:cTn id="27" evtFilter="cancelBubble" nodeType="interactiveSeq" restart="whenNotActive" fill="hold">
                <p:stCondLst>
                  <p:cond delay="0" evt="onClick">
                    <p:tgtEl>
                      <p:spTgt spid="119"/>
                    </p:tgtEl>
                  </p:cond>
                </p:stCondLst>
                <p:endSync delay="0" evt="end">
                  <p:rtn val="all"/>
                </p:endSync>
                <p:childTnLst>
                  <p:par>
                    <p:cTn id="28" fill="hold">
                      <p:stCondLst>
                        <p:cond delay="0"/>
                      </p:stCondLst>
                      <p:childTnLst>
                        <p:par>
                          <p:cTn id="29" fill="hold">
                            <p:stCondLst>
                              <p:cond delay="0"/>
                            </p:stCondLst>
                            <p:childTnLst>
                              <p:par>
                                <p:cTn id="30" presetClass="mediacall" nodeType="clickEffect" presetSubtype="0" presetID="2" fill="hold">
                                  <p:stCondLst>
                                    <p:cond delay="0"/>
                                  </p:stCondLst>
                                  <p:childTnLst>
                                    <p:cmd type="call" cmd="togglePause">
                                      <p:cBhvr>
                                        <p:cTn id="31" dur="1" fill="hold"/>
                                        <p:tgtEl>
                                          <p:spTgt spid="119"/>
                                        </p:tgtEl>
                                      </p:cBhvr>
                                    </p:cmd>
                                  </p:childTnLst>
                                </p:cTn>
                              </p:par>
                            </p:childTnLst>
                          </p:cTn>
                        </p:par>
                      </p:childTnLst>
                    </p:cTn>
                  </p:par>
                </p:childTnLst>
              </p:cTn>
              <p:nextCondLst>
                <p:cond delay="0" evt="onClick">
                  <p:tgtEl>
                    <p:spTgt spid="119"/>
                  </p:tgtEl>
                </p:cond>
              </p:nextCondLst>
            </p:seq>
            <p:video fullScrn="0">
              <p:cMediaNode mute="0" showWhenStopped="1" numSld="1" vol="100000">
                <p:cTn id="32" fill="hold" display="0">
                  <p:stCondLst>
                    <p:cond delay="indefinite"/>
                  </p:stCondLst>
                </p:cTn>
                <p:tgtEl>
                  <p:spTgt spid="124"/>
                </p:tgtEl>
              </p:cMediaNode>
            </p:video>
            <p:seq concurrent="1" prevAc="none" nextAc="seek">
              <p:cTn id="33" evtFilter="cancelBubble" nodeType="interactiveSeq" restart="whenNotActive" fill="hold">
                <p:stCondLst>
                  <p:cond delay="0" evt="onClick">
                    <p:tgtEl>
                      <p:spTgt spid="124"/>
                    </p:tgtEl>
                  </p:cond>
                </p:stCondLst>
                <p:endSync delay="0" evt="end">
                  <p:rtn val="all"/>
                </p:endSync>
                <p:childTnLst>
                  <p:par>
                    <p:cTn id="34" fill="hold">
                      <p:stCondLst>
                        <p:cond delay="0"/>
                      </p:stCondLst>
                      <p:childTnLst>
                        <p:par>
                          <p:cTn id="35" fill="hold">
                            <p:stCondLst>
                              <p:cond delay="0"/>
                            </p:stCondLst>
                            <p:childTnLst>
                              <p:par>
                                <p:cTn id="36" presetClass="mediacall" nodeType="clickEffect" presetSubtype="0" presetID="2" fill="hold">
                                  <p:stCondLst>
                                    <p:cond delay="0"/>
                                  </p:stCondLst>
                                  <p:childTnLst>
                                    <p:cmd type="call" cmd="togglePause">
                                      <p:cBhvr>
                                        <p:cTn id="37" dur="1" fill="hold"/>
                                        <p:tgtEl>
                                          <p:spTgt spid="124"/>
                                        </p:tgtEl>
                                      </p:cBhvr>
                                    </p:cmd>
                                  </p:childTnLst>
                                </p:cTn>
                              </p:par>
                            </p:childTnLst>
                          </p:cTn>
                        </p:par>
                      </p:childTnLst>
                    </p:cTn>
                  </p:par>
                </p:childTnLst>
              </p:cTn>
              <p:nextCondLst>
                <p:cond delay="0" evt="onClick">
                  <p:tgtEl>
                    <p:spTgt spid="124"/>
                  </p:tgtEl>
                </p:cond>
              </p:nextCondLst>
            </p:seq>
          </p:childTnLst>
        </p:cTn>
      </p:par>
    </p:tnLst>
    <p:bldLst>
      <p:bldP build="whole" bldLvl="1" animBg="1" rev="0" advAuto="0" spid="127" grpId="5"/>
      <p:bldP build="whole" bldLvl="1" animBg="1" rev="0" advAuto="0" spid="131" grpId="3"/>
      <p:bldP build="whole" bldLvl="1" animBg="1" rev="0" advAuto="0" spid="135"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13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42" name="phase_pill"/>
          <p:cNvGrpSpPr/>
          <p:nvPr/>
        </p:nvGrpSpPr>
        <p:grpSpPr>
          <a:xfrm>
            <a:off x="1170432" y="310895"/>
            <a:ext cx="1623975" cy="329185"/>
            <a:chOff x="0" y="0"/>
            <a:chExt cx="1623974" cy="329184"/>
          </a:xfrm>
        </p:grpSpPr>
        <p:sp>
          <p:nvSpPr>
            <p:cNvPr id="140"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4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43" name="slide_title"/>
          <p:cNvSpPr txBox="1"/>
          <p:nvPr/>
        </p:nvSpPr>
        <p:spPr>
          <a:xfrm>
            <a:off x="1170432" y="1010157"/>
            <a:ext cx="10472623" cy="393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700">
                <a:solidFill>
                  <a:srgbClr val="17203F"/>
                </a:solidFill>
                <a:latin typeface="Georgia"/>
                <a:ea typeface="Georgia"/>
                <a:cs typeface="Georgia"/>
                <a:sym typeface="Georgia"/>
              </a:defRPr>
            </a:lvl1pPr>
          </a:lstStyle>
          <a:p>
            <a:pPr/>
            <a:r>
              <a:t>A zero resultant is not the same as no forces</a:t>
            </a:r>
          </a:p>
        </p:txBody>
      </p:sp>
      <p:sp>
        <p:nvSpPr>
          <p:cNvPr id="144" name="lh_bg"/>
          <p:cNvSpPr/>
          <p:nvPr/>
        </p:nvSpPr>
        <p:spPr>
          <a:xfrm>
            <a:off x="1170432" y="1828800"/>
            <a:ext cx="5669280" cy="402337"/>
          </a:xfrm>
          <a:prstGeom prst="roundRect">
            <a:avLst>
              <a:gd name="adj" fmla="val 22727"/>
            </a:avLst>
          </a:prstGeom>
          <a:solidFill>
            <a:srgbClr val="17203F"/>
          </a:solidFill>
          <a:ln w="16510">
            <a:solidFill>
              <a:srgbClr val="17203F"/>
            </a:solidFill>
          </a:ln>
        </p:spPr>
        <p:txBody>
          <a:bodyPr lIns="45719" rIns="45719"/>
          <a:lstStyle/>
          <a:p>
            <a:pPr/>
          </a:p>
        </p:txBody>
      </p:sp>
      <p:sp>
        <p:nvSpPr>
          <p:cNvPr id="145" name="lh_t"/>
          <p:cNvSpPr txBox="1"/>
          <p:nvPr/>
        </p:nvSpPr>
        <p:spPr>
          <a:xfrm>
            <a:off x="1371599" y="1934717"/>
            <a:ext cx="5394962"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300">
                <a:solidFill>
                  <a:srgbClr val="FF8A3D"/>
                </a:solidFill>
                <a:latin typeface="Georgia"/>
                <a:ea typeface="Georgia"/>
                <a:cs typeface="Georgia"/>
                <a:sym typeface="Georgia"/>
              </a:defRPr>
            </a:lvl1pPr>
          </a:lstStyle>
          <a:p>
            <a:pPr/>
            <a:r>
              <a:t>THE RESULTANT IS ZERO: the forces cancel</a:t>
            </a:r>
          </a:p>
        </p:txBody>
      </p:sp>
      <p:grpSp>
        <p:nvGrpSpPr>
          <p:cNvPr id="150" name="lr0g"/>
          <p:cNvGrpSpPr/>
          <p:nvPr/>
        </p:nvGrpSpPr>
        <p:grpSpPr>
          <a:xfrm>
            <a:off x="1170432" y="2340864"/>
            <a:ext cx="5669280" cy="786385"/>
            <a:chOff x="0" y="0"/>
            <a:chExt cx="5669279" cy="786384"/>
          </a:xfrm>
        </p:grpSpPr>
        <p:sp>
          <p:nvSpPr>
            <p:cNvPr id="146" name="lr0_bg"/>
            <p:cNvSpPr/>
            <p:nvPr/>
          </p:nvSpPr>
          <p:spPr>
            <a:xfrm>
              <a:off x="0" y="-1"/>
              <a:ext cx="5669280" cy="786386"/>
            </a:xfrm>
            <a:prstGeom prst="roundRect">
              <a:avLst>
                <a:gd name="adj" fmla="val 1162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47" name="lr0_icon" descr="lr0_icon"/>
            <p:cNvPicPr>
              <a:picLocks noChangeAspect="1"/>
            </p:cNvPicPr>
            <p:nvPr/>
          </p:nvPicPr>
          <p:blipFill>
            <a:blip r:embed="rId6">
              <a:extLst/>
            </a:blip>
            <a:stretch>
              <a:fillRect/>
            </a:stretch>
          </p:blipFill>
          <p:spPr>
            <a:xfrm>
              <a:off x="182879" y="155447"/>
              <a:ext cx="475489" cy="475490"/>
            </a:xfrm>
            <a:prstGeom prst="rect">
              <a:avLst/>
            </a:prstGeom>
            <a:ln w="12700" cap="flat">
              <a:noFill/>
              <a:miter lim="400000"/>
            </a:ln>
            <a:effectLst/>
          </p:spPr>
        </p:pic>
        <p:sp>
          <p:nvSpPr>
            <p:cNvPr id="148" name="lr0_h"/>
            <p:cNvSpPr txBox="1"/>
            <p:nvPr/>
          </p:nvSpPr>
          <p:spPr>
            <a:xfrm>
              <a:off x="841247" y="138937"/>
              <a:ext cx="466344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A book on a table</a:t>
              </a:r>
            </a:p>
          </p:txBody>
        </p:sp>
        <p:sp>
          <p:nvSpPr>
            <p:cNvPr id="149" name="lr0_t"/>
            <p:cNvSpPr txBox="1"/>
            <p:nvPr/>
          </p:nvSpPr>
          <p:spPr>
            <a:xfrm>
              <a:off x="841247" y="420623"/>
              <a:ext cx="46634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sz="1300">
                  <a:solidFill>
                    <a:srgbClr val="141A30"/>
                  </a:solidFill>
                  <a:latin typeface="Arial"/>
                  <a:ea typeface="Arial"/>
                  <a:cs typeface="Arial"/>
                  <a:sym typeface="Arial"/>
                </a:defRPr>
              </a:lvl1pPr>
            </a:lstStyle>
            <a:p>
              <a:pPr/>
              <a:r>
                <a:t>Weight down, reaction force up. Equal.</a:t>
              </a:r>
            </a:p>
          </p:txBody>
        </p:sp>
      </p:grpSp>
      <p:grpSp>
        <p:nvGrpSpPr>
          <p:cNvPr id="155" name="lr1g"/>
          <p:cNvGrpSpPr/>
          <p:nvPr/>
        </p:nvGrpSpPr>
        <p:grpSpPr>
          <a:xfrm>
            <a:off x="1170432" y="3218688"/>
            <a:ext cx="5669280" cy="786385"/>
            <a:chOff x="0" y="0"/>
            <a:chExt cx="5669279" cy="786384"/>
          </a:xfrm>
        </p:grpSpPr>
        <p:sp>
          <p:nvSpPr>
            <p:cNvPr id="151" name="lr1_bg"/>
            <p:cNvSpPr/>
            <p:nvPr/>
          </p:nvSpPr>
          <p:spPr>
            <a:xfrm>
              <a:off x="0" y="-1"/>
              <a:ext cx="5669280" cy="786386"/>
            </a:xfrm>
            <a:prstGeom prst="roundRect">
              <a:avLst>
                <a:gd name="adj" fmla="val 1162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52" name="lr1_icon" descr="lr1_icon"/>
            <p:cNvPicPr>
              <a:picLocks noChangeAspect="1"/>
            </p:cNvPicPr>
            <p:nvPr/>
          </p:nvPicPr>
          <p:blipFill>
            <a:blip r:embed="rId7">
              <a:extLst/>
            </a:blip>
            <a:stretch>
              <a:fillRect/>
            </a:stretch>
          </p:blipFill>
          <p:spPr>
            <a:xfrm>
              <a:off x="182879" y="155447"/>
              <a:ext cx="475489" cy="475490"/>
            </a:xfrm>
            <a:prstGeom prst="rect">
              <a:avLst/>
            </a:prstGeom>
            <a:ln w="12700" cap="flat">
              <a:noFill/>
              <a:miter lim="400000"/>
            </a:ln>
            <a:effectLst/>
          </p:spPr>
        </p:pic>
        <p:sp>
          <p:nvSpPr>
            <p:cNvPr id="153" name="lr1_h"/>
            <p:cNvSpPr txBox="1"/>
            <p:nvPr/>
          </p:nvSpPr>
          <p:spPr>
            <a:xfrm>
              <a:off x="841247" y="138937"/>
              <a:ext cx="466344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A car at a steady speed</a:t>
              </a:r>
            </a:p>
          </p:txBody>
        </p:sp>
        <p:sp>
          <p:nvSpPr>
            <p:cNvPr id="154" name="lr1_t"/>
            <p:cNvSpPr txBox="1"/>
            <p:nvPr/>
          </p:nvSpPr>
          <p:spPr>
            <a:xfrm>
              <a:off x="841247" y="420623"/>
              <a:ext cx="46634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sz="1300">
                  <a:solidFill>
                    <a:srgbClr val="141A30"/>
                  </a:solidFill>
                  <a:latin typeface="Arial"/>
                  <a:ea typeface="Arial"/>
                  <a:cs typeface="Arial"/>
                  <a:sym typeface="Arial"/>
                </a:defRPr>
              </a:lvl1pPr>
            </a:lstStyle>
            <a:p>
              <a:pPr/>
              <a:r>
                <a:t>Driving force = resistive forces.</a:t>
              </a:r>
            </a:p>
          </p:txBody>
        </p:sp>
      </p:grpSp>
      <p:grpSp>
        <p:nvGrpSpPr>
          <p:cNvPr id="160" name="lr2g"/>
          <p:cNvGrpSpPr/>
          <p:nvPr/>
        </p:nvGrpSpPr>
        <p:grpSpPr>
          <a:xfrm>
            <a:off x="1170432" y="4096511"/>
            <a:ext cx="5669280" cy="786385"/>
            <a:chOff x="0" y="0"/>
            <a:chExt cx="5669279" cy="786384"/>
          </a:xfrm>
        </p:grpSpPr>
        <p:sp>
          <p:nvSpPr>
            <p:cNvPr id="156" name="lr2_bg"/>
            <p:cNvSpPr/>
            <p:nvPr/>
          </p:nvSpPr>
          <p:spPr>
            <a:xfrm>
              <a:off x="0" y="-1"/>
              <a:ext cx="5669280" cy="786386"/>
            </a:xfrm>
            <a:prstGeom prst="roundRect">
              <a:avLst>
                <a:gd name="adj" fmla="val 11628"/>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pic>
          <p:nvPicPr>
            <p:cNvPr id="157" name="lr2_icon" descr="lr2_icon"/>
            <p:cNvPicPr>
              <a:picLocks noChangeAspect="1"/>
            </p:cNvPicPr>
            <p:nvPr/>
          </p:nvPicPr>
          <p:blipFill>
            <a:blip r:embed="rId8">
              <a:extLst/>
            </a:blip>
            <a:stretch>
              <a:fillRect/>
            </a:stretch>
          </p:blipFill>
          <p:spPr>
            <a:xfrm>
              <a:off x="182879" y="155447"/>
              <a:ext cx="475489" cy="475490"/>
            </a:xfrm>
            <a:prstGeom prst="rect">
              <a:avLst/>
            </a:prstGeom>
            <a:ln w="12700" cap="flat">
              <a:noFill/>
              <a:miter lim="400000"/>
            </a:ln>
            <a:effectLst/>
          </p:spPr>
        </p:pic>
        <p:sp>
          <p:nvSpPr>
            <p:cNvPr id="158" name="lr2_h"/>
            <p:cNvSpPr txBox="1"/>
            <p:nvPr/>
          </p:nvSpPr>
          <p:spPr>
            <a:xfrm>
              <a:off x="841247" y="138937"/>
              <a:ext cx="466344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17203F"/>
                  </a:solidFill>
                  <a:latin typeface="Georgia"/>
                  <a:ea typeface="Georgia"/>
                  <a:cs typeface="Georgia"/>
                  <a:sym typeface="Georgia"/>
                </a:defRPr>
              </a:lvl1pPr>
            </a:lstStyle>
            <a:p>
              <a:pPr/>
              <a:r>
                <a:t>A skydiver at a steady speed</a:t>
              </a:r>
            </a:p>
          </p:txBody>
        </p:sp>
        <p:sp>
          <p:nvSpPr>
            <p:cNvPr id="159" name="lr2_t"/>
            <p:cNvSpPr txBox="1"/>
            <p:nvPr/>
          </p:nvSpPr>
          <p:spPr>
            <a:xfrm>
              <a:off x="841247" y="420623"/>
              <a:ext cx="4663441" cy="1851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defRPr sz="1300">
                  <a:solidFill>
                    <a:srgbClr val="141A30"/>
                  </a:solidFill>
                  <a:latin typeface="Arial"/>
                  <a:ea typeface="Arial"/>
                  <a:cs typeface="Arial"/>
                  <a:sym typeface="Arial"/>
                </a:defRPr>
              </a:lvl1pPr>
            </a:lstStyle>
            <a:p>
              <a:pPr/>
              <a:r>
                <a:t>Weight = air resistance.</a:t>
              </a:r>
            </a:p>
          </p:txBody>
        </p:sp>
      </p:grpSp>
      <p:grpSp>
        <p:nvGrpSpPr>
          <p:cNvPr id="163" name="lfg"/>
          <p:cNvGrpSpPr/>
          <p:nvPr/>
        </p:nvGrpSpPr>
        <p:grpSpPr>
          <a:xfrm>
            <a:off x="1170432" y="4974335"/>
            <a:ext cx="5669280" cy="566929"/>
            <a:chOff x="0" y="0"/>
            <a:chExt cx="5669279" cy="566927"/>
          </a:xfrm>
        </p:grpSpPr>
        <p:sp>
          <p:nvSpPr>
            <p:cNvPr id="161" name="lf_bg"/>
            <p:cNvSpPr/>
            <p:nvPr/>
          </p:nvSpPr>
          <p:spPr>
            <a:xfrm>
              <a:off x="0" y="0"/>
              <a:ext cx="5669280" cy="566928"/>
            </a:xfrm>
            <a:prstGeom prst="roundRect">
              <a:avLst>
                <a:gd name="adj" fmla="val 16129"/>
              </a:avLst>
            </a:prstGeom>
            <a:solidFill>
              <a:srgbClr val="FFE9D6"/>
            </a:solidFill>
            <a:ln w="19050" cap="flat">
              <a:solidFill>
                <a:srgbClr val="C25A16"/>
              </a:solidFill>
              <a:prstDash val="solid"/>
              <a:round/>
            </a:ln>
            <a:effectLst/>
          </p:spPr>
          <p:txBody>
            <a:bodyPr wrap="square" lIns="45719" tIns="45719" rIns="45719" bIns="45719" numCol="1" anchor="t">
              <a:noAutofit/>
            </a:bodyPr>
            <a:lstStyle/>
            <a:p>
              <a:pPr/>
            </a:p>
          </p:txBody>
        </p:sp>
        <p:sp>
          <p:nvSpPr>
            <p:cNvPr id="162" name="lf_t"/>
            <p:cNvSpPr txBox="1"/>
            <p:nvPr/>
          </p:nvSpPr>
          <p:spPr>
            <a:xfrm>
              <a:off x="201167" y="70314"/>
              <a:ext cx="5266945" cy="426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700"/>
                </a:lnSpc>
                <a:defRPr b="1" sz="1400">
                  <a:solidFill>
                    <a:srgbClr val="C25A16"/>
                  </a:solidFill>
                  <a:latin typeface="Arial"/>
                  <a:ea typeface="Arial"/>
                  <a:cs typeface="Arial"/>
                  <a:sym typeface="Arial"/>
                </a:defRPr>
              </a:pPr>
              <a:r>
                <a:t>Forces ARE acting. </a:t>
              </a:r>
              <a:r>
                <a:rPr b="0">
                  <a:solidFill>
                    <a:srgbClr val="141A30"/>
                  </a:solidFill>
                </a:rPr>
                <a:t>The resultant is 0 N, so the motion does not change.</a:t>
              </a:r>
            </a:p>
          </p:txBody>
        </p:sp>
      </p:grpSp>
      <p:sp>
        <p:nvSpPr>
          <p:cNvPr id="164" name="rh_bg"/>
          <p:cNvSpPr/>
          <p:nvPr/>
        </p:nvSpPr>
        <p:spPr>
          <a:xfrm>
            <a:off x="7114031" y="1828800"/>
            <a:ext cx="4529024" cy="402337"/>
          </a:xfrm>
          <a:prstGeom prst="roundRect">
            <a:avLst>
              <a:gd name="adj" fmla="val 22727"/>
            </a:avLst>
          </a:prstGeom>
          <a:solidFill>
            <a:srgbClr val="17203F"/>
          </a:solidFill>
          <a:ln w="16510">
            <a:solidFill>
              <a:srgbClr val="17203F"/>
            </a:solidFill>
          </a:ln>
        </p:spPr>
        <p:txBody>
          <a:bodyPr lIns="45719" rIns="45719"/>
          <a:lstStyle/>
          <a:p>
            <a:pPr/>
          </a:p>
        </p:txBody>
      </p:sp>
      <p:sp>
        <p:nvSpPr>
          <p:cNvPr id="165" name="rh_t"/>
          <p:cNvSpPr txBox="1"/>
          <p:nvPr/>
        </p:nvSpPr>
        <p:spPr>
          <a:xfrm>
            <a:off x="7315199" y="1839467"/>
            <a:ext cx="425470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300">
                <a:solidFill>
                  <a:srgbClr val="FF8A3D"/>
                </a:solidFill>
                <a:latin typeface="Georgia"/>
                <a:ea typeface="Georgia"/>
                <a:cs typeface="Georgia"/>
                <a:sym typeface="Georgia"/>
              </a:defRPr>
            </a:lvl1pPr>
          </a:lstStyle>
          <a:p>
            <a:pPr/>
            <a:r>
              <a:t>NO FORCES AT ALL: nothing pushes or pulls</a:t>
            </a:r>
          </a:p>
        </p:txBody>
      </p:sp>
      <p:pic>
        <p:nvPicPr>
          <p:cNvPr id="166" name="vid_probe" descr="vid_probe"/>
          <p:cNvPicPr>
            <a:picLocks noChangeAspect="0"/>
          </p:cNvPicPr>
          <p:nvPr>
            <a:videoFile r:link="rId9"/>
            <p:extLst>
              <p:ext uri="{DAA4B4D4-6D71-4841-9C94-3DE7FCFB9230}">
                <p14:media xmlns:p14="http://schemas.microsoft.com/office/powerpoint/2010/main" r:embed="rId10"/>
              </p:ext>
            </p:extLst>
          </p:nvPr>
        </p:nvPicPr>
        <p:blipFill>
          <a:blip r:embed="rId11">
            <a:extLst/>
          </a:blip>
          <a:stretch>
            <a:fillRect/>
          </a:stretch>
        </p:blipFill>
        <p:spPr>
          <a:xfrm>
            <a:off x="7114031" y="2340864"/>
            <a:ext cx="4529024" cy="2547577"/>
          </a:xfrm>
          <a:prstGeom prst="rect">
            <a:avLst/>
          </a:prstGeom>
          <a:ln w="12700">
            <a:miter lim="400000"/>
          </a:ln>
        </p:spPr>
      </p:pic>
      <p:grpSp>
        <p:nvGrpSpPr>
          <p:cNvPr id="169" name="rcg"/>
          <p:cNvGrpSpPr/>
          <p:nvPr/>
        </p:nvGrpSpPr>
        <p:grpSpPr>
          <a:xfrm>
            <a:off x="7114031" y="4979880"/>
            <a:ext cx="4529024" cy="561385"/>
            <a:chOff x="0" y="0"/>
            <a:chExt cx="4529023" cy="561383"/>
          </a:xfrm>
        </p:grpSpPr>
        <p:sp>
          <p:nvSpPr>
            <p:cNvPr id="167" name="rc_bg"/>
            <p:cNvSpPr/>
            <p:nvPr/>
          </p:nvSpPr>
          <p:spPr>
            <a:xfrm>
              <a:off x="0" y="0"/>
              <a:ext cx="4529024" cy="561384"/>
            </a:xfrm>
            <a:prstGeom prst="roundRect">
              <a:avLst>
                <a:gd name="adj" fmla="val 16288"/>
              </a:avLst>
            </a:prstGeom>
            <a:solidFill>
              <a:srgbClr val="FFE9D6"/>
            </a:solidFill>
            <a:ln w="19050" cap="flat">
              <a:solidFill>
                <a:srgbClr val="C25A16"/>
              </a:solidFill>
              <a:prstDash val="solid"/>
              <a:round/>
            </a:ln>
            <a:effectLst/>
          </p:spPr>
          <p:txBody>
            <a:bodyPr wrap="square" lIns="45719" tIns="45719" rIns="45719" bIns="45719" numCol="1" anchor="t">
              <a:noAutofit/>
            </a:bodyPr>
            <a:lstStyle/>
            <a:p>
              <a:pPr/>
            </a:p>
          </p:txBody>
        </p:sp>
        <p:sp>
          <p:nvSpPr>
            <p:cNvPr id="168" name="rc_t"/>
            <p:cNvSpPr txBox="1"/>
            <p:nvPr/>
          </p:nvSpPr>
          <p:spPr>
            <a:xfrm>
              <a:off x="201168" y="67542"/>
              <a:ext cx="4126687" cy="426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1700"/>
                </a:lnSpc>
                <a:defRPr b="1" sz="1400">
                  <a:solidFill>
                    <a:srgbClr val="C25A16"/>
                  </a:solidFill>
                  <a:latin typeface="Arial"/>
                  <a:ea typeface="Arial"/>
                  <a:cs typeface="Arial"/>
                  <a:sym typeface="Arial"/>
                </a:defRPr>
              </a:pPr>
              <a:r>
                <a:t>A probe in deep space. </a:t>
              </a:r>
              <a:r>
                <a:rPr b="0">
                  <a:solidFill>
                    <a:srgbClr val="141A30"/>
                  </a:solidFill>
                </a:rPr>
                <a:t>No forces: the motion does not change.</a:t>
              </a:r>
            </a:p>
          </p:txBody>
        </p:sp>
      </p:grpSp>
      <p:grpSp>
        <p:nvGrpSpPr>
          <p:cNvPr id="172" name="bn"/>
          <p:cNvGrpSpPr/>
          <p:nvPr/>
        </p:nvGrpSpPr>
        <p:grpSpPr>
          <a:xfrm>
            <a:off x="1170432" y="5705855"/>
            <a:ext cx="10472623" cy="566929"/>
            <a:chOff x="0" y="0"/>
            <a:chExt cx="10472622" cy="566927"/>
          </a:xfrm>
        </p:grpSpPr>
        <p:sp>
          <p:nvSpPr>
            <p:cNvPr id="170" name="Rounded Rectangle"/>
            <p:cNvSpPr/>
            <p:nvPr/>
          </p:nvSpPr>
          <p:spPr>
            <a:xfrm>
              <a:off x="0" y="0"/>
              <a:ext cx="10472623" cy="566928"/>
            </a:xfrm>
            <a:prstGeom prst="roundRect">
              <a:avLst>
                <a:gd name="adj" fmla="val 19355"/>
              </a:avLst>
            </a:prstGeom>
            <a:solidFill>
              <a:srgbClr val="17203F"/>
            </a:solidFill>
            <a:ln w="9525" cap="flat">
              <a:solidFill>
                <a:srgbClr val="17203F"/>
              </a:solidFill>
              <a:prstDash val="solid"/>
              <a:round/>
            </a:ln>
            <a:effectLst/>
          </p:spPr>
          <p:txBody>
            <a:bodyPr wrap="square" lIns="45719" tIns="45719" rIns="45719" bIns="45719" numCol="1" anchor="ctr">
              <a:noAutofit/>
            </a:bodyPr>
            <a:lstStyle/>
            <a:p>
              <a:pPr algn="ctr">
                <a:lnSpc>
                  <a:spcPts val="2100"/>
                </a:lnSpc>
                <a:defRPr sz="1600"/>
              </a:pPr>
            </a:p>
          </p:txBody>
        </p:sp>
        <p:sp>
          <p:nvSpPr>
            <p:cNvPr id="171" name="Two different reasons, the same result. The first law is about the resultant force."/>
            <p:cNvSpPr txBox="1"/>
            <p:nvPr/>
          </p:nvSpPr>
          <p:spPr>
            <a:xfrm>
              <a:off x="36901" y="153729"/>
              <a:ext cx="10398821" cy="25947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100"/>
                </a:lnSpc>
                <a:defRPr b="1" sz="1600">
                  <a:solidFill>
                    <a:srgbClr val="FF8A3D"/>
                  </a:solidFill>
                  <a:latin typeface="Arial"/>
                  <a:ea typeface="Arial"/>
                  <a:cs typeface="Arial"/>
                  <a:sym typeface="Arial"/>
                </a:defRPr>
              </a:pPr>
              <a:r>
                <a:t>Two different reasons, </a:t>
              </a:r>
              <a:r>
                <a:rPr u="sng"/>
                <a:t>the same result</a:t>
              </a:r>
              <a:r>
                <a:t>. The first law is about the </a:t>
              </a:r>
              <a:r>
                <a:rPr u="sng"/>
                <a:t>resultant</a:t>
              </a:r>
              <a:r>
                <a:t> force.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3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50"/>
                                        </p:tgtEl>
                                        <p:attrNameLst>
                                          <p:attrName>style.visibility</p:attrName>
                                        </p:attrNameLst>
                                      </p:cBhvr>
                                      <p:to>
                                        <p:strVal val="visible"/>
                                      </p:to>
                                    </p:set>
                                    <p:animEffect filter="fade" transition="in">
                                      <p:cBhvr>
                                        <p:cTn id="11" dur="400"/>
                                        <p:tgtEl>
                                          <p:spTgt spid="150"/>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55"/>
                                        </p:tgtEl>
                                        <p:attrNameLst>
                                          <p:attrName>style.visibility</p:attrName>
                                        </p:attrNameLst>
                                      </p:cBhvr>
                                      <p:to>
                                        <p:strVal val="visible"/>
                                      </p:to>
                                    </p:set>
                                    <p:animEffect filter="fade" transition="in">
                                      <p:cBhvr>
                                        <p:cTn id="15" dur="400"/>
                                        <p:tgtEl>
                                          <p:spTgt spid="155"/>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60"/>
                                        </p:tgtEl>
                                        <p:attrNameLst>
                                          <p:attrName>style.visibility</p:attrName>
                                        </p:attrNameLst>
                                      </p:cBhvr>
                                      <p:to>
                                        <p:strVal val="visible"/>
                                      </p:to>
                                    </p:set>
                                    <p:animEffect filter="fade" transition="in">
                                      <p:cBhvr>
                                        <p:cTn id="19" dur="400"/>
                                        <p:tgtEl>
                                          <p:spTgt spid="160"/>
                                        </p:tgtEl>
                                      </p:cBhvr>
                                    </p:animEffect>
                                  </p:childTnLst>
                                </p:cTn>
                              </p:par>
                            </p:childTnLst>
                          </p:cTn>
                        </p:par>
                        <p:par>
                          <p:cTn id="20" fill="hold">
                            <p:stCondLst>
                              <p:cond delay="1650"/>
                            </p:stCondLst>
                            <p:childTnLst>
                              <p:par>
                                <p:cTn id="21" presetClass="entr" nodeType="afterEffect" presetID="10" grpId="5" fill="hold">
                                  <p:stCondLst>
                                    <p:cond delay="450"/>
                                  </p:stCondLst>
                                  <p:iterate type="el" backwards="0">
                                    <p:tmAbs val="0"/>
                                  </p:iterate>
                                  <p:childTnLst>
                                    <p:set>
                                      <p:cBhvr>
                                        <p:cTn id="22" fill="hold"/>
                                        <p:tgtEl>
                                          <p:spTgt spid="163"/>
                                        </p:tgtEl>
                                        <p:attrNameLst>
                                          <p:attrName>style.visibility</p:attrName>
                                        </p:attrNameLst>
                                      </p:cBhvr>
                                      <p:to>
                                        <p:strVal val="visible"/>
                                      </p:to>
                                    </p:set>
                                    <p:animEffect filter="fade" transition="in">
                                      <p:cBhvr>
                                        <p:cTn id="23" dur="400"/>
                                        <p:tgtEl>
                                          <p:spTgt spid="163"/>
                                        </p:tgtEl>
                                      </p:cBhvr>
                                    </p:animEffect>
                                  </p:childTnLst>
                                </p:cTn>
                              </p:par>
                            </p:childTnLst>
                          </p:cTn>
                        </p:par>
                      </p:childTnLst>
                    </p:cTn>
                  </p:par>
                  <p:par>
                    <p:cTn id="24" fill="hold">
                      <p:stCondLst>
                        <p:cond delay="indefinite"/>
                      </p:stCondLst>
                      <p:childTnLst>
                        <p:par>
                          <p:cTn id="25" fill="hold">
                            <p:stCondLst>
                              <p:cond delay="0"/>
                            </p:stCondLst>
                            <p:childTnLst>
                              <p:par>
                                <p:cTn id="26" presetClass="mediacall" nodeType="clickEffect" presetSubtype="0" presetID="1" grpId="6" fill="hold">
                                  <p:stCondLst>
                                    <p:cond delay="0"/>
                                  </p:stCondLst>
                                  <p:childTnLst>
                                    <p:cmd type="call" cmd="playFrom(0.0)">
                                      <p:cBhvr>
                                        <p:cTn id="27" dur="14000" fill="hold"/>
                                        <p:tgtEl>
                                          <p:spTgt spid="166"/>
                                        </p:tgtEl>
                                      </p:cBhvr>
                                    </p:cmd>
                                  </p:childTnLst>
                                </p:cTn>
                              </p:par>
                            </p:childTnLst>
                          </p:cTn>
                        </p:par>
                      </p:childTnLst>
                    </p:cTn>
                  </p:par>
                  <p:par>
                    <p:cTn id="28" fill="hold">
                      <p:stCondLst>
                        <p:cond delay="indefinite"/>
                      </p:stCondLst>
                      <p:childTnLst>
                        <p:par>
                          <p:cTn id="29" fill="hold">
                            <p:stCondLst>
                              <p:cond delay="0"/>
                            </p:stCondLst>
                            <p:childTnLst>
                              <p:par>
                                <p:cTn id="30" presetClass="entr" nodeType="clickEffect" presetID="10" grpId="7" fill="hold">
                                  <p:stCondLst>
                                    <p:cond delay="0"/>
                                  </p:stCondLst>
                                  <p:iterate type="el" backwards="0">
                                    <p:tmAbs val="0"/>
                                  </p:iterate>
                                  <p:childTnLst>
                                    <p:set>
                                      <p:cBhvr>
                                        <p:cTn id="31" fill="hold"/>
                                        <p:tgtEl>
                                          <p:spTgt spid="169"/>
                                        </p:tgtEl>
                                        <p:attrNameLst>
                                          <p:attrName>style.visibility</p:attrName>
                                        </p:attrNameLst>
                                      </p:cBhvr>
                                      <p:to>
                                        <p:strVal val="visible"/>
                                      </p:to>
                                    </p:set>
                                    <p:animEffect filter="fade" transition="in">
                                      <p:cBhvr>
                                        <p:cTn id="32" dur="4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3" fill="hold" display="0">
                  <p:stCondLst>
                    <p:cond delay="indefinite"/>
                  </p:stCondLst>
                </p:cTn>
                <p:tgtEl>
                  <p:spTgt spid="139"/>
                </p:tgtEl>
              </p:cMediaNode>
            </p:video>
            <p:seq concurrent="1" prevAc="none" nextAc="seek">
              <p:cTn id="34" evtFilter="cancelBubble" nodeType="interactiveSeq" restart="whenNotActive" fill="hold">
                <p:stCondLst>
                  <p:cond delay="0" evt="onClick">
                    <p:tgtEl>
                      <p:spTgt spid="139"/>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139"/>
                                        </p:tgtEl>
                                      </p:cBhvr>
                                    </p:cmd>
                                  </p:childTnLst>
                                </p:cTn>
                              </p:par>
                            </p:childTnLst>
                          </p:cTn>
                        </p:par>
                      </p:childTnLst>
                    </p:cTn>
                  </p:par>
                </p:childTnLst>
              </p:cTn>
              <p:nextCondLst>
                <p:cond delay="0" evt="onClick">
                  <p:tgtEl>
                    <p:spTgt spid="139"/>
                  </p:tgtEl>
                </p:cond>
              </p:nextCondLst>
            </p:seq>
            <p:video fullScrn="0">
              <p:cMediaNode mute="0" showWhenStopped="1" numSld="1" vol="100000">
                <p:cTn id="39" fill="hold" display="0">
                  <p:stCondLst>
                    <p:cond delay="indefinite"/>
                  </p:stCondLst>
                </p:cTn>
                <p:tgtEl>
                  <p:spTgt spid="166"/>
                </p:tgtEl>
              </p:cMediaNode>
            </p:video>
            <p:seq concurrent="1" prevAc="none" nextAc="seek">
              <p:cTn id="40" evtFilter="cancelBubble" nodeType="interactiveSeq" restart="whenNotActive" fill="hold">
                <p:stCondLst>
                  <p:cond delay="0" evt="onClick">
                    <p:tgtEl>
                      <p:spTgt spid="166"/>
                    </p:tgtEl>
                  </p:cond>
                </p:stCondLst>
                <p:endSync delay="0" evt="end">
                  <p:rtn val="all"/>
                </p:endSync>
                <p:childTnLst>
                  <p:par>
                    <p:cTn id="41" fill="hold">
                      <p:stCondLst>
                        <p:cond delay="0"/>
                      </p:stCondLst>
                      <p:childTnLst>
                        <p:par>
                          <p:cTn id="42" fill="hold">
                            <p:stCondLst>
                              <p:cond delay="0"/>
                            </p:stCondLst>
                            <p:childTnLst>
                              <p:par>
                                <p:cTn id="43" presetClass="mediacall" nodeType="clickEffect" presetSubtype="0" presetID="2" fill="hold">
                                  <p:stCondLst>
                                    <p:cond delay="0"/>
                                  </p:stCondLst>
                                  <p:childTnLst>
                                    <p:cmd type="call" cmd="togglePause">
                                      <p:cBhvr>
                                        <p:cTn id="44" dur="1" fill="hold"/>
                                        <p:tgtEl>
                                          <p:spTgt spid="166"/>
                                        </p:tgtEl>
                                      </p:cBhvr>
                                    </p:cmd>
                                  </p:childTnLst>
                                </p:cTn>
                              </p:par>
                            </p:childTnLst>
                          </p:cTn>
                        </p:par>
                      </p:childTnLst>
                    </p:cTn>
                  </p:par>
                </p:childTnLst>
              </p:cTn>
              <p:nextCondLst>
                <p:cond delay="0" evt="onClick">
                  <p:tgtEl>
                    <p:spTgt spid="166"/>
                  </p:tgtEl>
                </p:cond>
              </p:nextCondLst>
            </p:seq>
          </p:childTnLst>
        </p:cTn>
      </p:par>
    </p:tnLst>
    <p:bldLst>
      <p:bldP build="whole" bldLvl="1" animBg="1" rev="0" advAuto="0" spid="150" grpId="2"/>
      <p:bldP build="whole" bldLvl="1" animBg="1" rev="0" advAuto="0" spid="169" grpId="7"/>
      <p:bldP build="whole" bldLvl="1" animBg="1" rev="0" advAuto="0" spid="155" grpId="3"/>
      <p:bldP build="whole" bldLvl="1" animBg="1" rev="0" advAuto="0" spid="163" grpId="5"/>
      <p:bldP build="whole" bldLvl="1" animBg="1" rev="0" advAuto="0" spid="160"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17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79" name="phase_pill"/>
          <p:cNvGrpSpPr/>
          <p:nvPr/>
        </p:nvGrpSpPr>
        <p:grpSpPr>
          <a:xfrm>
            <a:off x="1170432" y="310895"/>
            <a:ext cx="1713586" cy="329185"/>
            <a:chOff x="0" y="0"/>
            <a:chExt cx="1713585" cy="329184"/>
          </a:xfrm>
        </p:grpSpPr>
        <p:sp>
          <p:nvSpPr>
            <p:cNvPr id="177" name="Rounded Rectangle"/>
            <p:cNvSpPr/>
            <p:nvPr/>
          </p:nvSpPr>
          <p:spPr>
            <a:xfrm>
              <a:off x="0" y="0"/>
              <a:ext cx="1713586"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178"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7203F"/>
                </a:solidFill>
                <a:latin typeface="Georgia"/>
                <a:ea typeface="Georgia"/>
                <a:cs typeface="Georgia"/>
                <a:sym typeface="Georgia"/>
              </a:defRPr>
            </a:lvl1pPr>
          </a:lstStyle>
          <a:p>
            <a:pPr/>
            <a:r>
              <a:t>Finish this one</a:t>
            </a:r>
          </a:p>
        </p:txBody>
      </p:sp>
      <p:sp>
        <p:nvSpPr>
          <p:cNvPr id="181"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A6480"/>
                </a:solidFill>
                <a:latin typeface="Arial"/>
                <a:ea typeface="Arial"/>
                <a:cs typeface="Arial"/>
                <a:sym typeface="Arial"/>
              </a:defRPr>
            </a:lvl1pPr>
          </a:lstStyle>
          <a:p>
            <a:pPr/>
            <a:r>
              <a:t>Say the missing step out loud before the answer appears.</a:t>
            </a:r>
          </a:p>
        </p:txBody>
      </p:sp>
      <p:sp>
        <p:nvSpPr>
          <p:cNvPr id="182" name="wd0_bg"/>
          <p:cNvSpPr/>
          <p:nvPr/>
        </p:nvSpPr>
        <p:spPr>
          <a:xfrm>
            <a:off x="1170432" y="2121407"/>
            <a:ext cx="10472623" cy="1188721"/>
          </a:xfrm>
          <a:prstGeom prst="roundRect">
            <a:avLst>
              <a:gd name="adj" fmla="val 7692"/>
            </a:avLst>
          </a:prstGeom>
          <a:solidFill>
            <a:srgbClr val="FFFFFF"/>
          </a:solidFill>
          <a:ln w="16510">
            <a:solidFill>
              <a:srgbClr val="C3C8D8"/>
            </a:solidFill>
          </a:ln>
        </p:spPr>
        <p:txBody>
          <a:bodyPr lIns="45719" rIns="45719"/>
          <a:lstStyle/>
          <a:p>
            <a:pPr/>
          </a:p>
        </p:txBody>
      </p:sp>
      <p:sp>
        <p:nvSpPr>
          <p:cNvPr id="183" name="wd0_q"/>
          <p:cNvSpPr txBox="1"/>
          <p:nvPr/>
        </p:nvSpPr>
        <p:spPr>
          <a:xfrm>
            <a:off x="1426463" y="2199013"/>
            <a:ext cx="5852162" cy="10335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900"/>
              </a:lnSpc>
              <a:spcBef>
                <a:spcPts val="600"/>
              </a:spcBef>
              <a:defRPr b="1" sz="1500">
                <a:solidFill>
                  <a:srgbClr val="17203F"/>
                </a:solidFill>
                <a:latin typeface="Arial"/>
                <a:ea typeface="Arial"/>
                <a:cs typeface="Arial"/>
                <a:sym typeface="Arial"/>
              </a:defRPr>
            </a:pPr>
            <a:r>
              <a:t>A car moves at a steady speed. The driving force is 1800 N. Find the total resistive force.</a:t>
            </a:r>
          </a:p>
          <a:p>
            <a:pPr>
              <a:lnSpc>
                <a:spcPts val="1900"/>
              </a:lnSpc>
              <a:defRPr sz="1500">
                <a:solidFill>
                  <a:srgbClr val="141A30"/>
                </a:solidFill>
                <a:latin typeface="Arial"/>
                <a:ea typeface="Arial"/>
                <a:cs typeface="Arial"/>
                <a:sym typeface="Arial"/>
              </a:defRPr>
            </a:pPr>
            <a:r>
              <a:t>Steady speed, so the resultant is ____ N. The resistive force equals the ____ force.</a:t>
            </a:r>
          </a:p>
        </p:txBody>
      </p:sp>
      <p:grpSp>
        <p:nvGrpSpPr>
          <p:cNvPr id="186" name="wd0_a"/>
          <p:cNvGrpSpPr/>
          <p:nvPr/>
        </p:nvGrpSpPr>
        <p:grpSpPr>
          <a:xfrm>
            <a:off x="7479792" y="2231135"/>
            <a:ext cx="4035248" cy="969265"/>
            <a:chOff x="0" y="0"/>
            <a:chExt cx="4035247" cy="969263"/>
          </a:xfrm>
        </p:grpSpPr>
        <p:sp>
          <p:nvSpPr>
            <p:cNvPr id="184" name="Rounded Rectangle"/>
            <p:cNvSpPr/>
            <p:nvPr/>
          </p:nvSpPr>
          <p:spPr>
            <a:xfrm>
              <a:off x="0" y="0"/>
              <a:ext cx="4035248" cy="969264"/>
            </a:xfrm>
            <a:prstGeom prst="roundRect">
              <a:avLst>
                <a:gd name="adj" fmla="val 9434"/>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800"/>
                </a:lnSpc>
                <a:defRPr sz="1400"/>
              </a:pPr>
            </a:p>
          </p:txBody>
        </p:sp>
        <p:sp>
          <p:nvSpPr>
            <p:cNvPr id="185" name="0 N.…"/>
            <p:cNvSpPr txBox="1"/>
            <p:nvPr/>
          </p:nvSpPr>
          <p:spPr>
            <a:xfrm>
              <a:off x="36307" y="158452"/>
              <a:ext cx="3962633" cy="652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800"/>
                </a:lnSpc>
                <a:defRPr b="1" sz="1400">
                  <a:solidFill>
                    <a:srgbClr val="17203F"/>
                  </a:solidFill>
                  <a:latin typeface="Arial"/>
                  <a:ea typeface="Arial"/>
                  <a:cs typeface="Arial"/>
                  <a:sym typeface="Arial"/>
                </a:defRPr>
              </a:pPr>
              <a:r>
                <a:t>0 N. </a:t>
              </a:r>
            </a:p>
            <a:p>
              <a:pPr>
                <a:lnSpc>
                  <a:spcPts val="1800"/>
                </a:lnSpc>
                <a:defRPr b="1" sz="1400">
                  <a:solidFill>
                    <a:srgbClr val="17203F"/>
                  </a:solidFill>
                  <a:latin typeface="Arial"/>
                  <a:ea typeface="Arial"/>
                  <a:cs typeface="Arial"/>
                  <a:sym typeface="Arial"/>
                </a:defRPr>
              </a:pPr>
              <a:r>
                <a:t>driving force.</a:t>
              </a:r>
            </a:p>
          </p:txBody>
        </p:sp>
      </p:grpSp>
      <p:sp>
        <p:nvSpPr>
          <p:cNvPr id="187" name="wd1_bg"/>
          <p:cNvSpPr/>
          <p:nvPr/>
        </p:nvSpPr>
        <p:spPr>
          <a:xfrm>
            <a:off x="1170432" y="3456432"/>
            <a:ext cx="10472623" cy="1188721"/>
          </a:xfrm>
          <a:prstGeom prst="roundRect">
            <a:avLst>
              <a:gd name="adj" fmla="val 7692"/>
            </a:avLst>
          </a:prstGeom>
          <a:solidFill>
            <a:srgbClr val="FFFFFF"/>
          </a:solidFill>
          <a:ln w="16510">
            <a:solidFill>
              <a:srgbClr val="C3C8D8"/>
            </a:solidFill>
          </a:ln>
        </p:spPr>
        <p:txBody>
          <a:bodyPr lIns="45719" rIns="45719"/>
          <a:lstStyle/>
          <a:p>
            <a:pPr/>
          </a:p>
        </p:txBody>
      </p:sp>
      <p:sp>
        <p:nvSpPr>
          <p:cNvPr id="188" name="wd1_q"/>
          <p:cNvSpPr txBox="1"/>
          <p:nvPr/>
        </p:nvSpPr>
        <p:spPr>
          <a:xfrm>
            <a:off x="1426463" y="3534037"/>
            <a:ext cx="5852162" cy="10335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900"/>
              </a:lnSpc>
              <a:spcBef>
                <a:spcPts val="600"/>
              </a:spcBef>
              <a:defRPr b="1" sz="1500">
                <a:solidFill>
                  <a:srgbClr val="17203F"/>
                </a:solidFill>
                <a:latin typeface="Arial"/>
                <a:ea typeface="Arial"/>
                <a:cs typeface="Arial"/>
                <a:sym typeface="Arial"/>
              </a:defRPr>
            </a:pPr>
            <a:r>
              <a:t>A sledge is pulled at a steady speed with a pull of 45 N. The pull is then increased to 70 N.</a:t>
            </a:r>
          </a:p>
          <a:p>
            <a:pPr>
              <a:lnSpc>
                <a:spcPts val="1900"/>
              </a:lnSpc>
              <a:defRPr sz="1500">
                <a:solidFill>
                  <a:srgbClr val="141A30"/>
                </a:solidFill>
                <a:latin typeface="Arial"/>
                <a:ea typeface="Arial"/>
                <a:cs typeface="Arial"/>
                <a:sym typeface="Arial"/>
              </a:defRPr>
            </a:pPr>
            <a:r>
              <a:t>The friction stays at ____ N. Resultant: 70 − 45 = ____ N. The speed will ____.</a:t>
            </a:r>
          </a:p>
        </p:txBody>
      </p:sp>
      <p:grpSp>
        <p:nvGrpSpPr>
          <p:cNvPr id="191" name="wd1_a"/>
          <p:cNvGrpSpPr/>
          <p:nvPr/>
        </p:nvGrpSpPr>
        <p:grpSpPr>
          <a:xfrm>
            <a:off x="7479792" y="3566159"/>
            <a:ext cx="4035248" cy="969265"/>
            <a:chOff x="0" y="0"/>
            <a:chExt cx="4035247" cy="969263"/>
          </a:xfrm>
        </p:grpSpPr>
        <p:sp>
          <p:nvSpPr>
            <p:cNvPr id="189" name="Rounded Rectangle"/>
            <p:cNvSpPr/>
            <p:nvPr/>
          </p:nvSpPr>
          <p:spPr>
            <a:xfrm>
              <a:off x="0" y="0"/>
              <a:ext cx="4035248" cy="969264"/>
            </a:xfrm>
            <a:prstGeom prst="roundRect">
              <a:avLst>
                <a:gd name="adj" fmla="val 9434"/>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800"/>
                </a:lnSpc>
                <a:defRPr sz="1400"/>
              </a:pPr>
            </a:p>
          </p:txBody>
        </p:sp>
        <p:sp>
          <p:nvSpPr>
            <p:cNvPr id="190" name="45 N…"/>
            <p:cNvSpPr txBox="1"/>
            <p:nvPr/>
          </p:nvSpPr>
          <p:spPr>
            <a:xfrm>
              <a:off x="36307" y="44152"/>
              <a:ext cx="3962633" cy="8809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800"/>
                </a:lnSpc>
                <a:defRPr b="1" sz="1400">
                  <a:solidFill>
                    <a:srgbClr val="17203F"/>
                  </a:solidFill>
                  <a:latin typeface="Arial"/>
                  <a:ea typeface="Arial"/>
                  <a:cs typeface="Arial"/>
                  <a:sym typeface="Arial"/>
                </a:defRPr>
              </a:pPr>
              <a:r>
                <a:t>45 N</a:t>
              </a:r>
            </a:p>
            <a:p>
              <a:pPr>
                <a:lnSpc>
                  <a:spcPts val="1800"/>
                </a:lnSpc>
                <a:defRPr b="1" sz="1400">
                  <a:solidFill>
                    <a:srgbClr val="17203F"/>
                  </a:solidFill>
                  <a:latin typeface="Arial"/>
                  <a:ea typeface="Arial"/>
                  <a:cs typeface="Arial"/>
                  <a:sym typeface="Arial"/>
                </a:defRPr>
              </a:pPr>
              <a:r>
                <a:t>25 N</a:t>
              </a:r>
            </a:p>
            <a:p>
              <a:pPr>
                <a:lnSpc>
                  <a:spcPts val="1800"/>
                </a:lnSpc>
                <a:defRPr b="1" sz="1400">
                  <a:solidFill>
                    <a:srgbClr val="17203F"/>
                  </a:solidFill>
                  <a:latin typeface="Arial"/>
                  <a:ea typeface="Arial"/>
                  <a:cs typeface="Arial"/>
                  <a:sym typeface="Arial"/>
                </a:defRPr>
              </a:pPr>
              <a:r>
                <a:t>increase</a:t>
              </a:r>
            </a:p>
          </p:txBody>
        </p:sp>
      </p:grpSp>
      <p:sp>
        <p:nvSpPr>
          <p:cNvPr id="192" name="wd2_bg"/>
          <p:cNvSpPr/>
          <p:nvPr/>
        </p:nvSpPr>
        <p:spPr>
          <a:xfrm>
            <a:off x="1170432" y="4791455"/>
            <a:ext cx="10472623" cy="1188721"/>
          </a:xfrm>
          <a:prstGeom prst="roundRect">
            <a:avLst>
              <a:gd name="adj" fmla="val 7692"/>
            </a:avLst>
          </a:prstGeom>
          <a:solidFill>
            <a:srgbClr val="FFFFFF"/>
          </a:solidFill>
          <a:ln w="16510">
            <a:solidFill>
              <a:srgbClr val="C3C8D8"/>
            </a:solidFill>
          </a:ln>
        </p:spPr>
        <p:txBody>
          <a:bodyPr lIns="45719" rIns="45719"/>
          <a:lstStyle/>
          <a:p>
            <a:pPr/>
          </a:p>
        </p:txBody>
      </p:sp>
      <p:sp>
        <p:nvSpPr>
          <p:cNvPr id="193" name="wd2_q"/>
          <p:cNvSpPr txBox="1"/>
          <p:nvPr/>
        </p:nvSpPr>
        <p:spPr>
          <a:xfrm>
            <a:off x="1426463" y="4989711"/>
            <a:ext cx="5852162" cy="7922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ts val="1900"/>
              </a:lnSpc>
              <a:spcBef>
                <a:spcPts val="600"/>
              </a:spcBef>
              <a:defRPr b="1" sz="1500">
                <a:solidFill>
                  <a:srgbClr val="17203F"/>
                </a:solidFill>
                <a:latin typeface="Arial"/>
                <a:ea typeface="Arial"/>
                <a:cs typeface="Arial"/>
                <a:sym typeface="Arial"/>
              </a:defRPr>
            </a:pPr>
            <a:r>
              <a:t>A probe in deep space has its engine off. Describe its motion.</a:t>
            </a:r>
          </a:p>
          <a:p>
            <a:pPr>
              <a:lnSpc>
                <a:spcPts val="1900"/>
              </a:lnSpc>
              <a:defRPr sz="1500">
                <a:solidFill>
                  <a:srgbClr val="141A30"/>
                </a:solidFill>
                <a:latin typeface="Arial"/>
                <a:ea typeface="Arial"/>
                <a:cs typeface="Arial"/>
                <a:sym typeface="Arial"/>
              </a:defRPr>
            </a:pPr>
            <a:r>
              <a:t>No forces act, so the resultant is ____ N. By the first law the probe ____.</a:t>
            </a:r>
          </a:p>
        </p:txBody>
      </p:sp>
      <p:grpSp>
        <p:nvGrpSpPr>
          <p:cNvPr id="196" name="wd2_a"/>
          <p:cNvGrpSpPr/>
          <p:nvPr/>
        </p:nvGrpSpPr>
        <p:grpSpPr>
          <a:xfrm>
            <a:off x="7479792" y="4901184"/>
            <a:ext cx="4035248" cy="969265"/>
            <a:chOff x="0" y="0"/>
            <a:chExt cx="4035247" cy="969263"/>
          </a:xfrm>
        </p:grpSpPr>
        <p:sp>
          <p:nvSpPr>
            <p:cNvPr id="194" name="Rounded Rectangle"/>
            <p:cNvSpPr/>
            <p:nvPr/>
          </p:nvSpPr>
          <p:spPr>
            <a:xfrm>
              <a:off x="0" y="0"/>
              <a:ext cx="4035248" cy="969264"/>
            </a:xfrm>
            <a:prstGeom prst="roundRect">
              <a:avLst>
                <a:gd name="adj" fmla="val 9434"/>
              </a:avLst>
            </a:prstGeom>
            <a:solidFill>
              <a:srgbClr val="FFE9D6"/>
            </a:solidFill>
            <a:ln w="19050" cap="flat">
              <a:solidFill>
                <a:srgbClr val="E03D6B"/>
              </a:solidFill>
              <a:prstDash val="solid"/>
              <a:round/>
            </a:ln>
            <a:effectLst/>
          </p:spPr>
          <p:txBody>
            <a:bodyPr wrap="square" lIns="45719" tIns="45719" rIns="45719" bIns="45719" numCol="1" anchor="ctr">
              <a:noAutofit/>
            </a:bodyPr>
            <a:lstStyle/>
            <a:p>
              <a:pPr>
                <a:lnSpc>
                  <a:spcPts val="1800"/>
                </a:lnSpc>
                <a:defRPr sz="1400"/>
              </a:pPr>
            </a:p>
          </p:txBody>
        </p:sp>
        <p:sp>
          <p:nvSpPr>
            <p:cNvPr id="195" name="0 N.…"/>
            <p:cNvSpPr txBox="1"/>
            <p:nvPr/>
          </p:nvSpPr>
          <p:spPr>
            <a:xfrm>
              <a:off x="36307" y="44152"/>
              <a:ext cx="3962633" cy="8809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600" tIns="101600" rIns="101600" bIns="101600" numCol="1" anchor="ctr">
              <a:spAutoFit/>
            </a:bodyPr>
            <a:lstStyle/>
            <a:p>
              <a:pPr>
                <a:lnSpc>
                  <a:spcPts val="1800"/>
                </a:lnSpc>
                <a:defRPr b="1" sz="1400">
                  <a:solidFill>
                    <a:srgbClr val="17203F"/>
                  </a:solidFill>
                  <a:latin typeface="Arial"/>
                  <a:ea typeface="Arial"/>
                  <a:cs typeface="Arial"/>
                  <a:sym typeface="Arial"/>
                </a:defRPr>
              </a:pPr>
              <a:r>
                <a:t>0 N. </a:t>
              </a:r>
            </a:p>
            <a:p>
              <a:pPr>
                <a:lnSpc>
                  <a:spcPts val="1800"/>
                </a:lnSpc>
                <a:defRPr b="1" sz="1400">
                  <a:solidFill>
                    <a:srgbClr val="17203F"/>
                  </a:solidFill>
                  <a:latin typeface="Arial"/>
                  <a:ea typeface="Arial"/>
                  <a:cs typeface="Arial"/>
                  <a:sym typeface="Arial"/>
                </a:defRPr>
              </a:pPr>
              <a:r>
                <a:t>keeps moving at the same speed in a straight line.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7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86"/>
                                        </p:tgtEl>
                                        <p:attrNameLst>
                                          <p:attrName>style.visibility</p:attrName>
                                        </p:attrNameLst>
                                      </p:cBhvr>
                                      <p:to>
                                        <p:strVal val="visible"/>
                                      </p:to>
                                    </p:set>
                                    <p:anim calcmode="lin" valueType="num">
                                      <p:cBhvr>
                                        <p:cTn id="11" dur="400" fill="hold"/>
                                        <p:tgtEl>
                                          <p:spTgt spid="186"/>
                                        </p:tgtEl>
                                        <p:attrNameLst>
                                          <p:attrName>ppt_w</p:attrName>
                                        </p:attrNameLst>
                                      </p:cBhvr>
                                      <p:tavLst>
                                        <p:tav tm="0">
                                          <p:val>
                                            <p:fltVal val="0"/>
                                          </p:val>
                                        </p:tav>
                                        <p:tav tm="100000">
                                          <p:val>
                                            <p:strVal val="#ppt_w"/>
                                          </p:val>
                                        </p:tav>
                                      </p:tavLst>
                                    </p:anim>
                                    <p:anim calcmode="lin" valueType="num">
                                      <p:cBhvr>
                                        <p:cTn id="12" dur="400" fill="hold"/>
                                        <p:tgtEl>
                                          <p:spTgt spid="186"/>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1"/>
                                        </p:tgtEl>
                                        <p:attrNameLst>
                                          <p:attrName>style.visibility</p:attrName>
                                        </p:attrNameLst>
                                      </p:cBhvr>
                                      <p:to>
                                        <p:strVal val="visible"/>
                                      </p:to>
                                    </p:set>
                                    <p:anim calcmode="lin" valueType="num">
                                      <p:cBhvr>
                                        <p:cTn id="17" dur="400" fill="hold"/>
                                        <p:tgtEl>
                                          <p:spTgt spid="191"/>
                                        </p:tgtEl>
                                        <p:attrNameLst>
                                          <p:attrName>ppt_w</p:attrName>
                                        </p:attrNameLst>
                                      </p:cBhvr>
                                      <p:tavLst>
                                        <p:tav tm="0">
                                          <p:val>
                                            <p:fltVal val="0"/>
                                          </p:val>
                                        </p:tav>
                                        <p:tav tm="100000">
                                          <p:val>
                                            <p:strVal val="#ppt_w"/>
                                          </p:val>
                                        </p:tav>
                                      </p:tavLst>
                                    </p:anim>
                                    <p:anim calcmode="lin" valueType="num">
                                      <p:cBhvr>
                                        <p:cTn id="18" dur="400" fill="hold"/>
                                        <p:tgtEl>
                                          <p:spTgt spid="191"/>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196"/>
                                        </p:tgtEl>
                                        <p:attrNameLst>
                                          <p:attrName>style.visibility</p:attrName>
                                        </p:attrNameLst>
                                      </p:cBhvr>
                                      <p:to>
                                        <p:strVal val="visible"/>
                                      </p:to>
                                    </p:set>
                                    <p:anim calcmode="lin" valueType="num">
                                      <p:cBhvr>
                                        <p:cTn id="23" dur="400" fill="hold"/>
                                        <p:tgtEl>
                                          <p:spTgt spid="196"/>
                                        </p:tgtEl>
                                        <p:attrNameLst>
                                          <p:attrName>ppt_w</p:attrName>
                                        </p:attrNameLst>
                                      </p:cBhvr>
                                      <p:tavLst>
                                        <p:tav tm="0">
                                          <p:val>
                                            <p:fltVal val="0"/>
                                          </p:val>
                                        </p:tav>
                                        <p:tav tm="100000">
                                          <p:val>
                                            <p:strVal val="#ppt_w"/>
                                          </p:val>
                                        </p:tav>
                                      </p:tavLst>
                                    </p:anim>
                                    <p:anim calcmode="lin" valueType="num">
                                      <p:cBhvr>
                                        <p:cTn id="24" dur="400" fill="hold"/>
                                        <p:tgtEl>
                                          <p:spTgt spid="19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5" fill="hold" display="0">
                  <p:stCondLst>
                    <p:cond delay="indefinite"/>
                  </p:stCondLst>
                </p:cTn>
                <p:tgtEl>
                  <p:spTgt spid="176"/>
                </p:tgtEl>
              </p:cMediaNode>
            </p:video>
            <p:seq concurrent="1" prevAc="none" nextAc="seek">
              <p:cTn id="26" evtFilter="cancelBubble" nodeType="interactiveSeq" restart="whenNotActive" fill="hold">
                <p:stCondLst>
                  <p:cond delay="0" evt="onClick">
                    <p:tgtEl>
                      <p:spTgt spid="176"/>
                    </p:tgtEl>
                  </p:cond>
                </p:stCondLst>
                <p:endSync delay="0" evt="end">
                  <p:rtn val="all"/>
                </p:endSync>
                <p:childTnLst>
                  <p:par>
                    <p:cTn id="27" fill="hold">
                      <p:stCondLst>
                        <p:cond delay="0"/>
                      </p:stCondLst>
                      <p:childTnLst>
                        <p:par>
                          <p:cTn id="28" fill="hold">
                            <p:stCondLst>
                              <p:cond delay="0"/>
                            </p:stCondLst>
                            <p:childTnLst>
                              <p:par>
                                <p:cTn id="29" presetClass="mediacall" nodeType="clickEffect" presetSubtype="0" presetID="2" fill="hold">
                                  <p:stCondLst>
                                    <p:cond delay="0"/>
                                  </p:stCondLst>
                                  <p:childTnLst>
                                    <p:cmd type="call" cmd="togglePause">
                                      <p:cBhvr>
                                        <p:cTn id="30" dur="1" fill="hold"/>
                                        <p:tgtEl>
                                          <p:spTgt spid="176"/>
                                        </p:tgtEl>
                                      </p:cBhvr>
                                    </p:cmd>
                                  </p:childTnLst>
                                </p:cTn>
                              </p:par>
                            </p:childTnLst>
                          </p:cTn>
                        </p:par>
                      </p:childTnLst>
                    </p:cTn>
                  </p:par>
                </p:childTnLst>
              </p:cTn>
              <p:nextCondLst>
                <p:cond delay="0" evt="onClick">
                  <p:tgtEl>
                    <p:spTgt spid="176"/>
                  </p:tgtEl>
                </p:cond>
              </p:nextCondLst>
            </p:seq>
          </p:childTnLst>
        </p:cTn>
      </p:par>
    </p:tnLst>
    <p:bldLst>
      <p:bldP build="whole" bldLvl="1" animBg="1" rev="0" advAuto="0" spid="191" grpId="3"/>
      <p:bldP build="whole" bldLvl="1" animBg="1" rev="0" advAuto="0" spid="196" grpId="4"/>
      <p:bldP build="whole" bldLvl="1" animBg="1" rev="0" advAuto="0" spid="186" grpId="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0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3" name="phase_pill"/>
          <p:cNvGrpSpPr/>
          <p:nvPr/>
        </p:nvGrpSpPr>
        <p:grpSpPr>
          <a:xfrm>
            <a:off x="1170432" y="310895"/>
            <a:ext cx="2072030" cy="329185"/>
            <a:chOff x="0" y="0"/>
            <a:chExt cx="2072029" cy="329184"/>
          </a:xfrm>
        </p:grpSpPr>
        <p:sp>
          <p:nvSpPr>
            <p:cNvPr id="201" name="Rounded Rectangle"/>
            <p:cNvSpPr/>
            <p:nvPr/>
          </p:nvSpPr>
          <p:spPr>
            <a:xfrm>
              <a:off x="0" y="0"/>
              <a:ext cx="2072030"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02"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04" name="c0_bg"/>
          <p:cNvSpPr/>
          <p:nvPr/>
        </p:nvSpPr>
        <p:spPr>
          <a:xfrm>
            <a:off x="1170432" y="960119"/>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05" name="c0_badge"/>
          <p:cNvSpPr/>
          <p:nvPr/>
        </p:nvSpPr>
        <p:spPr>
          <a:xfrm>
            <a:off x="1371600" y="1307591"/>
            <a:ext cx="384048" cy="384049"/>
          </a:xfrm>
          <a:prstGeom prst="ellipse">
            <a:avLst/>
          </a:prstGeom>
          <a:solidFill>
            <a:srgbClr val="FF8A3D"/>
          </a:solidFill>
          <a:ln w="12700">
            <a:solidFill>
              <a:srgbClr val="FF8A3D"/>
            </a:solidFill>
          </a:ln>
        </p:spPr>
        <p:txBody>
          <a:bodyPr lIns="45719" rIns="45719"/>
          <a:lstStyle/>
          <a:p>
            <a:pPr/>
          </a:p>
        </p:txBody>
      </p:sp>
      <p:sp>
        <p:nvSpPr>
          <p:cNvPr id="206"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1</a:t>
            </a:r>
          </a:p>
        </p:txBody>
      </p:sp>
      <p:sp>
        <p:nvSpPr>
          <p:cNvPr id="207" name="c0_q"/>
          <p:cNvSpPr txBox="1"/>
          <p:nvPr/>
        </p:nvSpPr>
        <p:spPr>
          <a:xfrm>
            <a:off x="1901951" y="1376485"/>
            <a:ext cx="4166465" cy="246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State Newton’s first law.</a:t>
            </a:r>
          </a:p>
        </p:txBody>
      </p:sp>
      <p:grpSp>
        <p:nvGrpSpPr>
          <p:cNvPr id="210" name="c0_a"/>
          <p:cNvGrpSpPr/>
          <p:nvPr/>
        </p:nvGrpSpPr>
        <p:grpSpPr>
          <a:xfrm>
            <a:off x="1371600" y="1924764"/>
            <a:ext cx="4696817" cy="503016"/>
            <a:chOff x="0" y="0"/>
            <a:chExt cx="4696816" cy="503014"/>
          </a:xfrm>
        </p:grpSpPr>
        <p:sp>
          <p:nvSpPr>
            <p:cNvPr id="208"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09" name="An object stays at rest, or keeps moving at a constant speed in a straight line, unless a resultant force acts on it."/>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An object stays at rest, or keeps moving at a constant speed in a straight line, unless a resultant force acts on it.</a:t>
              </a:r>
            </a:p>
          </p:txBody>
        </p:sp>
      </p:grpSp>
      <p:sp>
        <p:nvSpPr>
          <p:cNvPr id="211" name="c1_bg"/>
          <p:cNvSpPr/>
          <p:nvPr/>
        </p:nvSpPr>
        <p:spPr>
          <a:xfrm>
            <a:off x="6543903" y="960119"/>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12" name="c1_badge"/>
          <p:cNvSpPr/>
          <p:nvPr/>
        </p:nvSpPr>
        <p:spPr>
          <a:xfrm>
            <a:off x="6745072" y="1307591"/>
            <a:ext cx="384049" cy="384049"/>
          </a:xfrm>
          <a:prstGeom prst="ellipse">
            <a:avLst/>
          </a:prstGeom>
          <a:solidFill>
            <a:srgbClr val="FF8A3D"/>
          </a:solidFill>
          <a:ln w="12700">
            <a:solidFill>
              <a:srgbClr val="FF8A3D"/>
            </a:solidFill>
          </a:ln>
        </p:spPr>
        <p:txBody>
          <a:bodyPr lIns="45719" rIns="45719"/>
          <a:lstStyle/>
          <a:p>
            <a:pPr/>
          </a:p>
        </p:txBody>
      </p:sp>
      <p:sp>
        <p:nvSpPr>
          <p:cNvPr id="213"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2</a:t>
            </a:r>
          </a:p>
        </p:txBody>
      </p:sp>
      <p:sp>
        <p:nvSpPr>
          <p:cNvPr id="214"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box slides at a steady speed. What is the resultant force on it? How do you know?</a:t>
            </a:r>
          </a:p>
        </p:txBody>
      </p:sp>
      <p:grpSp>
        <p:nvGrpSpPr>
          <p:cNvPr id="217" name="c1_a"/>
          <p:cNvGrpSpPr/>
          <p:nvPr/>
        </p:nvGrpSpPr>
        <p:grpSpPr>
          <a:xfrm>
            <a:off x="6745072" y="1947672"/>
            <a:ext cx="4696817" cy="457201"/>
            <a:chOff x="0" y="0"/>
            <a:chExt cx="4696816" cy="457200"/>
          </a:xfrm>
        </p:grpSpPr>
        <p:sp>
          <p:nvSpPr>
            <p:cNvPr id="215"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16" name="0 N. A steady speed means the motion is not changing."/>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0 N. A steady speed means the motion is not changing.</a:t>
              </a:r>
            </a:p>
          </p:txBody>
        </p:sp>
      </p:grpSp>
      <p:sp>
        <p:nvSpPr>
          <p:cNvPr id="218" name="c2_bg"/>
          <p:cNvSpPr/>
          <p:nvPr/>
        </p:nvSpPr>
        <p:spPr>
          <a:xfrm>
            <a:off x="1170432" y="2679192"/>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19" name="c2_badge"/>
          <p:cNvSpPr/>
          <p:nvPr/>
        </p:nvSpPr>
        <p:spPr>
          <a:xfrm>
            <a:off x="1371600" y="3026664"/>
            <a:ext cx="384048" cy="384049"/>
          </a:xfrm>
          <a:prstGeom prst="ellipse">
            <a:avLst/>
          </a:prstGeom>
          <a:solidFill>
            <a:srgbClr val="FF8A3D"/>
          </a:solidFill>
          <a:ln w="12700">
            <a:solidFill>
              <a:srgbClr val="FF8A3D"/>
            </a:solidFill>
          </a:ln>
        </p:spPr>
        <p:txBody>
          <a:bodyPr lIns="45719" rIns="45719"/>
          <a:lstStyle/>
          <a:p>
            <a:pPr/>
          </a:p>
        </p:txBody>
      </p:sp>
      <p:sp>
        <p:nvSpPr>
          <p:cNvPr id="220"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3</a:t>
            </a:r>
          </a:p>
        </p:txBody>
      </p:sp>
      <p:sp>
        <p:nvSpPr>
          <p:cNvPr id="221" name="c2_q"/>
          <p:cNvSpPr txBox="1"/>
          <p:nvPr/>
        </p:nvSpPr>
        <p:spPr>
          <a:xfrm>
            <a:off x="1901951" y="2841557"/>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student says: “The book on the table is not moving, so there are no forces on it.” What is wrong?</a:t>
            </a:r>
          </a:p>
        </p:txBody>
      </p:sp>
      <p:grpSp>
        <p:nvGrpSpPr>
          <p:cNvPr id="224" name="c2_a"/>
          <p:cNvGrpSpPr/>
          <p:nvPr/>
        </p:nvGrpSpPr>
        <p:grpSpPr>
          <a:xfrm>
            <a:off x="1371600" y="3643836"/>
            <a:ext cx="4696817" cy="503016"/>
            <a:chOff x="0" y="0"/>
            <a:chExt cx="4696816" cy="503014"/>
          </a:xfrm>
        </p:grpSpPr>
        <p:sp>
          <p:nvSpPr>
            <p:cNvPr id="222"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23" name="Weight and the reaction force are both there. They are equal and opposite, so the resultant is 0 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Weight and the reaction force are both there. They are equal and opposite, so the resultant is 0 N.</a:t>
              </a:r>
            </a:p>
          </p:txBody>
        </p:sp>
      </p:grpSp>
      <p:sp>
        <p:nvSpPr>
          <p:cNvPr id="225" name="c3_bg"/>
          <p:cNvSpPr/>
          <p:nvPr/>
        </p:nvSpPr>
        <p:spPr>
          <a:xfrm>
            <a:off x="6543903" y="2679192"/>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26" name="c3_badge"/>
          <p:cNvSpPr/>
          <p:nvPr/>
        </p:nvSpPr>
        <p:spPr>
          <a:xfrm>
            <a:off x="6745072" y="3026664"/>
            <a:ext cx="384049" cy="384049"/>
          </a:xfrm>
          <a:prstGeom prst="ellipse">
            <a:avLst/>
          </a:prstGeom>
          <a:solidFill>
            <a:srgbClr val="FF8A3D"/>
          </a:solidFill>
          <a:ln w="12700">
            <a:solidFill>
              <a:srgbClr val="FF8A3D"/>
            </a:solidFill>
          </a:ln>
        </p:spPr>
        <p:txBody>
          <a:bodyPr lIns="45719" rIns="45719"/>
          <a:lstStyle/>
          <a:p>
            <a:pPr/>
          </a:p>
        </p:txBody>
      </p:sp>
      <p:sp>
        <p:nvSpPr>
          <p:cNvPr id="227"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4</a:t>
            </a:r>
          </a:p>
        </p:txBody>
      </p:sp>
      <p:sp>
        <p:nvSpPr>
          <p:cNvPr id="228"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ball rolls across the floor and slows down. Use the first law to explain why.</a:t>
            </a:r>
          </a:p>
        </p:txBody>
      </p:sp>
      <p:grpSp>
        <p:nvGrpSpPr>
          <p:cNvPr id="231" name="c3_a"/>
          <p:cNvGrpSpPr/>
          <p:nvPr/>
        </p:nvGrpSpPr>
        <p:grpSpPr>
          <a:xfrm>
            <a:off x="6745072" y="3643836"/>
            <a:ext cx="4696817" cy="503016"/>
            <a:chOff x="0" y="0"/>
            <a:chExt cx="4696816" cy="503014"/>
          </a:xfrm>
        </p:grpSpPr>
        <p:sp>
          <p:nvSpPr>
            <p:cNvPr id="229" name="Rounded Rectangle"/>
            <p:cNvSpPr/>
            <p:nvPr/>
          </p:nvSpPr>
          <p:spPr>
            <a:xfrm>
              <a:off x="0" y="22907"/>
              <a:ext cx="4696817" cy="457201"/>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30" name="The speed changes, so there is a resultant force: friction acts against the motion."/>
            <p:cNvSpPr txBox="1"/>
            <p:nvPr/>
          </p:nvSpPr>
          <p:spPr>
            <a:xfrm>
              <a:off x="35036" y="0"/>
              <a:ext cx="4626744" cy="5030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The speed changes, so there is a resultant force: friction acts against the motion.</a:t>
              </a:r>
            </a:p>
          </p:txBody>
        </p:sp>
      </p:grpSp>
      <p:sp>
        <p:nvSpPr>
          <p:cNvPr id="232" name="c4_bg"/>
          <p:cNvSpPr/>
          <p:nvPr/>
        </p:nvSpPr>
        <p:spPr>
          <a:xfrm>
            <a:off x="1170432" y="4398264"/>
            <a:ext cx="5099152"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33" name="c4_badge"/>
          <p:cNvSpPr/>
          <p:nvPr/>
        </p:nvSpPr>
        <p:spPr>
          <a:xfrm>
            <a:off x="1371600" y="4745735"/>
            <a:ext cx="384048" cy="384049"/>
          </a:xfrm>
          <a:prstGeom prst="ellipse">
            <a:avLst/>
          </a:prstGeom>
          <a:solidFill>
            <a:srgbClr val="FF8A3D"/>
          </a:solidFill>
          <a:ln w="12700">
            <a:solidFill>
              <a:srgbClr val="FF8A3D"/>
            </a:solidFill>
          </a:ln>
        </p:spPr>
        <p:txBody>
          <a:bodyPr lIns="45719" rIns="45719"/>
          <a:lstStyle/>
          <a:p>
            <a:pPr/>
          </a:p>
        </p:txBody>
      </p:sp>
      <p:sp>
        <p:nvSpPr>
          <p:cNvPr id="234"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5</a:t>
            </a:r>
          </a:p>
        </p:txBody>
      </p:sp>
      <p:sp>
        <p:nvSpPr>
          <p:cNvPr id="235" name="c4_q"/>
          <p:cNvSpPr txBox="1"/>
          <p:nvPr/>
        </p:nvSpPr>
        <p:spPr>
          <a:xfrm>
            <a:off x="1901951" y="4560629"/>
            <a:ext cx="4166465" cy="754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force of 150 N acts to the right. Forces of 90 N and 35 N act to the left. Find the resultant force.</a:t>
            </a:r>
          </a:p>
        </p:txBody>
      </p:sp>
      <p:grpSp>
        <p:nvGrpSpPr>
          <p:cNvPr id="238" name="c4_a"/>
          <p:cNvGrpSpPr/>
          <p:nvPr/>
        </p:nvGrpSpPr>
        <p:grpSpPr>
          <a:xfrm>
            <a:off x="1371600" y="5385815"/>
            <a:ext cx="4696817" cy="457201"/>
            <a:chOff x="0" y="0"/>
            <a:chExt cx="4696816" cy="457200"/>
          </a:xfrm>
        </p:grpSpPr>
        <p:sp>
          <p:nvSpPr>
            <p:cNvPr id="236"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37" name="25 N to the right. 150 − (90 + 35)."/>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25 N to the right. 150 − (90 + 35).</a:t>
              </a:r>
            </a:p>
          </p:txBody>
        </p:sp>
      </p:grpSp>
      <p:sp>
        <p:nvSpPr>
          <p:cNvPr id="239" name="c5_bg"/>
          <p:cNvSpPr/>
          <p:nvPr/>
        </p:nvSpPr>
        <p:spPr>
          <a:xfrm>
            <a:off x="6543903" y="4398264"/>
            <a:ext cx="5099153" cy="1572769"/>
          </a:xfrm>
          <a:prstGeom prst="roundRect">
            <a:avLst>
              <a:gd name="adj" fmla="val 5814"/>
            </a:avLst>
          </a:prstGeom>
          <a:solidFill>
            <a:srgbClr val="FFFFFF"/>
          </a:solidFill>
          <a:ln w="16510">
            <a:solidFill>
              <a:srgbClr val="C3C8D8"/>
            </a:solidFill>
          </a:ln>
        </p:spPr>
        <p:txBody>
          <a:bodyPr lIns="45719" rIns="45719"/>
          <a:lstStyle/>
          <a:p>
            <a:pPr/>
          </a:p>
        </p:txBody>
      </p:sp>
      <p:sp>
        <p:nvSpPr>
          <p:cNvPr id="240" name="c5_badge"/>
          <p:cNvSpPr/>
          <p:nvPr/>
        </p:nvSpPr>
        <p:spPr>
          <a:xfrm>
            <a:off x="6745072" y="4745735"/>
            <a:ext cx="384049" cy="384049"/>
          </a:xfrm>
          <a:prstGeom prst="ellipse">
            <a:avLst/>
          </a:prstGeom>
          <a:solidFill>
            <a:srgbClr val="FF8A3D"/>
          </a:solidFill>
          <a:ln w="12700">
            <a:solidFill>
              <a:srgbClr val="FF8A3D"/>
            </a:solidFill>
          </a:ln>
        </p:spPr>
        <p:txBody>
          <a:bodyPr lIns="45719" rIns="45719"/>
          <a:lstStyle/>
          <a:p>
            <a:pPr/>
          </a:p>
        </p:txBody>
      </p:sp>
      <p:sp>
        <p:nvSpPr>
          <p:cNvPr id="241"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7203F"/>
                </a:solidFill>
                <a:latin typeface="Georgia"/>
                <a:ea typeface="Georgia"/>
                <a:cs typeface="Georgia"/>
                <a:sym typeface="Georgia"/>
              </a:defRPr>
            </a:lvl1pPr>
          </a:lstStyle>
          <a:p>
            <a:pPr/>
            <a:r>
              <a:t>6</a:t>
            </a:r>
          </a:p>
        </p:txBody>
      </p:sp>
      <p:sp>
        <p:nvSpPr>
          <p:cNvPr id="242"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141A30"/>
                </a:solidFill>
                <a:latin typeface="Arial"/>
                <a:ea typeface="Arial"/>
                <a:cs typeface="Arial"/>
                <a:sym typeface="Arial"/>
              </a:defRPr>
            </a:lvl1pPr>
          </a:lstStyle>
          <a:p>
            <a:pPr/>
            <a:r>
              <a:t>A ball is dropped from rest and falls freely. Find its speed after 2 s. Use g = 9.8 m/s².</a:t>
            </a:r>
          </a:p>
        </p:txBody>
      </p:sp>
      <p:grpSp>
        <p:nvGrpSpPr>
          <p:cNvPr id="245" name="c5_a"/>
          <p:cNvGrpSpPr/>
          <p:nvPr/>
        </p:nvGrpSpPr>
        <p:grpSpPr>
          <a:xfrm>
            <a:off x="6745072" y="5385815"/>
            <a:ext cx="4696817" cy="457201"/>
            <a:chOff x="0" y="0"/>
            <a:chExt cx="4696816" cy="457200"/>
          </a:xfrm>
        </p:grpSpPr>
        <p:sp>
          <p:nvSpPr>
            <p:cNvPr id="243" name="Rounded Rectangle"/>
            <p:cNvSpPr/>
            <p:nvPr/>
          </p:nvSpPr>
          <p:spPr>
            <a:xfrm>
              <a:off x="0" y="0"/>
              <a:ext cx="4696817" cy="457200"/>
            </a:xfrm>
            <a:prstGeom prst="roundRect">
              <a:avLst>
                <a:gd name="adj" fmla="val 20000"/>
              </a:avLst>
            </a:prstGeom>
            <a:solidFill>
              <a:srgbClr val="FFE9D6"/>
            </a:solidFill>
            <a:ln w="16510" cap="flat">
              <a:solidFill>
                <a:srgbClr val="FF8A3D"/>
              </a:solidFill>
              <a:prstDash val="solid"/>
              <a:round/>
            </a:ln>
            <a:effectLst/>
          </p:spPr>
          <p:txBody>
            <a:bodyPr wrap="square" lIns="45719" tIns="45719" rIns="45719" bIns="45719" numCol="1" anchor="ctr">
              <a:noAutofit/>
            </a:bodyPr>
            <a:lstStyle/>
            <a:p>
              <a:pPr>
                <a:defRPr sz="1200"/>
              </a:pPr>
            </a:p>
          </p:txBody>
        </p:sp>
        <p:sp>
          <p:nvSpPr>
            <p:cNvPr id="244" name="19.6 m/s. 9.8 × 2."/>
            <p:cNvSpPr txBox="1"/>
            <p:nvPr/>
          </p:nvSpPr>
          <p:spPr>
            <a:xfrm>
              <a:off x="35036" y="65992"/>
              <a:ext cx="4626744" cy="3252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200" tIns="76200" rIns="76200" bIns="76200" numCol="1" anchor="ctr">
              <a:spAutoFit/>
            </a:bodyPr>
            <a:lstStyle>
              <a:lvl1pPr>
                <a:defRPr b="1" sz="1200">
                  <a:solidFill>
                    <a:srgbClr val="17203F"/>
                  </a:solidFill>
                  <a:latin typeface="Arial"/>
                  <a:ea typeface="Arial"/>
                  <a:cs typeface="Arial"/>
                  <a:sym typeface="Arial"/>
                </a:defRPr>
              </a:lvl1pPr>
            </a:lstStyle>
            <a:p>
              <a:pPr/>
              <a:r>
                <a:t>19.6 m/s. 9.8 × 2.</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0"/>
                                        </p:tgtEl>
                                        <p:attrNameLst>
                                          <p:attrName>style.visibility</p:attrName>
                                        </p:attrNameLst>
                                      </p:cBhvr>
                                      <p:to>
                                        <p:strVal val="visible"/>
                                      </p:to>
                                    </p:set>
                                    <p:animEffect filter="wipe(left)" transition="in">
                                      <p:cBhvr>
                                        <p:cTn id="11" dur="400"/>
                                        <p:tgtEl>
                                          <p:spTgt spid="21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17"/>
                                        </p:tgtEl>
                                        <p:attrNameLst>
                                          <p:attrName>style.visibility</p:attrName>
                                        </p:attrNameLst>
                                      </p:cBhvr>
                                      <p:to>
                                        <p:strVal val="visible"/>
                                      </p:to>
                                    </p:set>
                                    <p:animEffect filter="wipe(left)" transition="in">
                                      <p:cBhvr>
                                        <p:cTn id="16" dur="400"/>
                                        <p:tgtEl>
                                          <p:spTgt spid="217"/>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24"/>
                                        </p:tgtEl>
                                        <p:attrNameLst>
                                          <p:attrName>style.visibility</p:attrName>
                                        </p:attrNameLst>
                                      </p:cBhvr>
                                      <p:to>
                                        <p:strVal val="visible"/>
                                      </p:to>
                                    </p:set>
                                    <p:animEffect filter="wipe(left)" transition="in">
                                      <p:cBhvr>
                                        <p:cTn id="21" dur="400"/>
                                        <p:tgtEl>
                                          <p:spTgt spid="224"/>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31"/>
                                        </p:tgtEl>
                                        <p:attrNameLst>
                                          <p:attrName>style.visibility</p:attrName>
                                        </p:attrNameLst>
                                      </p:cBhvr>
                                      <p:to>
                                        <p:strVal val="visible"/>
                                      </p:to>
                                    </p:set>
                                    <p:animEffect filter="wipe(left)" transition="in">
                                      <p:cBhvr>
                                        <p:cTn id="26" dur="400"/>
                                        <p:tgtEl>
                                          <p:spTgt spid="231"/>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38"/>
                                        </p:tgtEl>
                                        <p:attrNameLst>
                                          <p:attrName>style.visibility</p:attrName>
                                        </p:attrNameLst>
                                      </p:cBhvr>
                                      <p:to>
                                        <p:strVal val="visible"/>
                                      </p:to>
                                    </p:set>
                                    <p:animEffect filter="wipe(left)" transition="in">
                                      <p:cBhvr>
                                        <p:cTn id="31" dur="400"/>
                                        <p:tgtEl>
                                          <p:spTgt spid="238"/>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45"/>
                                        </p:tgtEl>
                                        <p:attrNameLst>
                                          <p:attrName>style.visibility</p:attrName>
                                        </p:attrNameLst>
                                      </p:cBhvr>
                                      <p:to>
                                        <p:strVal val="visible"/>
                                      </p:to>
                                    </p:set>
                                    <p:animEffect filter="wipe(left)" transition="in">
                                      <p:cBhvr>
                                        <p:cTn id="36" dur="4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0"/>
                </p:tgtEl>
              </p:cMediaNode>
            </p:video>
            <p:seq concurrent="1" prevAc="none" nextAc="seek">
              <p:cTn id="38" evtFilter="cancelBubble" nodeType="interactiveSeq" restart="whenNotActive" fill="hold">
                <p:stCondLst>
                  <p:cond delay="0" evt="onClick">
                    <p:tgtEl>
                      <p:spTgt spid="20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0"/>
                                        </p:tgtEl>
                                      </p:cBhvr>
                                    </p:cmd>
                                  </p:childTnLst>
                                </p:cTn>
                              </p:par>
                            </p:childTnLst>
                          </p:cTn>
                        </p:par>
                      </p:childTnLst>
                    </p:cTn>
                  </p:par>
                </p:childTnLst>
              </p:cTn>
              <p:nextCondLst>
                <p:cond delay="0" evt="onClick">
                  <p:tgtEl>
                    <p:spTgt spid="200"/>
                  </p:tgtEl>
                </p:cond>
              </p:nextCondLst>
            </p:seq>
          </p:childTnLst>
        </p:cTn>
      </p:par>
    </p:tnLst>
    <p:bldLst>
      <p:bldP build="whole" bldLvl="1" animBg="1" rev="0" advAuto="0" spid="210" grpId="2"/>
      <p:bldP build="whole" bldLvl="1" animBg="1" rev="0" advAuto="0" spid="231" grpId="5"/>
      <p:bldP build="whole" bldLvl="1" animBg="1" rev="0" advAuto="0" spid="217" grpId="3"/>
      <p:bldP build="whole" bldLvl="1" animBg="1" rev="0" advAuto="0" spid="245" grpId="7"/>
      <p:bldP build="whole" bldLvl="1" animBg="1" rev="0" advAuto="0" spid="238" grpId="6"/>
      <p:bldP build="whole" bldLvl="1" animBg="1" rev="0" advAuto="0" spid="224" grpId="4"/>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4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52" name="phase_pill"/>
          <p:cNvGrpSpPr/>
          <p:nvPr/>
        </p:nvGrpSpPr>
        <p:grpSpPr>
          <a:xfrm>
            <a:off x="1170432" y="310895"/>
            <a:ext cx="1892808" cy="329185"/>
            <a:chOff x="0" y="0"/>
            <a:chExt cx="1892807" cy="329184"/>
          </a:xfrm>
        </p:grpSpPr>
        <p:sp>
          <p:nvSpPr>
            <p:cNvPr id="250" name="Rounded Rectangle"/>
            <p:cNvSpPr/>
            <p:nvPr/>
          </p:nvSpPr>
          <p:spPr>
            <a:xfrm>
              <a:off x="0" y="0"/>
              <a:ext cx="1892808"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51" name="YOU DO · 14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14 MIN</a:t>
              </a:r>
            </a:p>
          </p:txBody>
        </p:sp>
      </p:grpSp>
      <p:pic>
        <p:nvPicPr>
          <p:cNvPr id="253"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54"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7203F"/>
                </a:solidFill>
                <a:latin typeface="Georgia"/>
                <a:ea typeface="Georgia"/>
                <a:cs typeface="Georgia"/>
                <a:sym typeface="Georgia"/>
              </a:defRPr>
            </a:lvl1pPr>
          </a:lstStyle>
          <a:p>
            <a:pPr/>
            <a:r>
              <a:t>When The Resultant Is Zero game</a:t>
            </a:r>
          </a:p>
        </p:txBody>
      </p:sp>
      <p:sp>
        <p:nvSpPr>
          <p:cNvPr id="255"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E03D6B"/>
                </a:solidFill>
                <a:latin typeface="Arial"/>
                <a:ea typeface="Arial"/>
                <a:cs typeface="Arial"/>
                <a:sym typeface="Arial"/>
              </a:defRPr>
            </a:lvl1pPr>
          </a:lstStyle>
          <a:p>
            <a:pPr/>
            <a:r>
              <a:t>Open Google Classroom now.</a:t>
            </a:r>
          </a:p>
        </p:txBody>
      </p:sp>
      <p:grpSp>
        <p:nvGrpSpPr>
          <p:cNvPr id="260" name="t0"/>
          <p:cNvGrpSpPr/>
          <p:nvPr/>
        </p:nvGrpSpPr>
        <p:grpSpPr>
          <a:xfrm>
            <a:off x="1170432" y="2322576"/>
            <a:ext cx="3307994" cy="2103121"/>
            <a:chOff x="0" y="0"/>
            <a:chExt cx="3307993" cy="2103120"/>
          </a:xfrm>
        </p:grpSpPr>
        <p:sp>
          <p:nvSpPr>
            <p:cNvPr id="256" name="t0_bg"/>
            <p:cNvSpPr/>
            <p:nvPr/>
          </p:nvSpPr>
          <p:spPr>
            <a:xfrm>
              <a:off x="0" y="0"/>
              <a:ext cx="3307994" cy="2103121"/>
            </a:xfrm>
            <a:prstGeom prst="roundRect">
              <a:avLst>
                <a:gd name="adj" fmla="val 4348"/>
              </a:avLst>
            </a:prstGeom>
            <a:solidFill>
              <a:srgbClr val="FFFFFF"/>
            </a:solidFill>
            <a:ln w="20320" cap="flat">
              <a:solidFill>
                <a:srgbClr val="C25A16"/>
              </a:solidFill>
              <a:prstDash val="solid"/>
              <a:round/>
            </a:ln>
            <a:effectLst/>
          </p:spPr>
          <p:txBody>
            <a:bodyPr wrap="square" lIns="45719" tIns="45719" rIns="45719" bIns="45719" numCol="1" anchor="t">
              <a:noAutofit/>
            </a:bodyPr>
            <a:lstStyle/>
            <a:p>
              <a:pPr/>
            </a:p>
          </p:txBody>
        </p:sp>
        <p:sp>
          <p:nvSpPr>
            <p:cNvPr id="257" name="t0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25A16"/>
                  </a:solidFill>
                  <a:latin typeface="Arial"/>
                  <a:ea typeface="Arial"/>
                  <a:cs typeface="Arial"/>
                  <a:sym typeface="Arial"/>
                </a:defRPr>
              </a:lvl1pPr>
            </a:lstStyle>
            <a:p>
              <a:pPr/>
              <a:r>
                <a:t>ROUND 1</a:t>
              </a:r>
            </a:p>
          </p:txBody>
        </p:sp>
        <p:sp>
          <p:nvSpPr>
            <p:cNvPr id="258" name="t0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The first law</a:t>
              </a:r>
            </a:p>
          </p:txBody>
        </p:sp>
        <p:sp>
          <p:nvSpPr>
            <p:cNvPr id="259" name="t0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State the law, and read what a set of forces says about the motion.</a:t>
              </a:r>
            </a:p>
          </p:txBody>
        </p:sp>
      </p:grpSp>
      <p:grpSp>
        <p:nvGrpSpPr>
          <p:cNvPr id="265" name="t1"/>
          <p:cNvGrpSpPr/>
          <p:nvPr/>
        </p:nvGrpSpPr>
        <p:grpSpPr>
          <a:xfrm>
            <a:off x="4752745" y="2322576"/>
            <a:ext cx="3307995" cy="2103121"/>
            <a:chOff x="0" y="0"/>
            <a:chExt cx="3307993" cy="2103120"/>
          </a:xfrm>
        </p:grpSpPr>
        <p:sp>
          <p:nvSpPr>
            <p:cNvPr id="261" name="t1_bg"/>
            <p:cNvSpPr/>
            <p:nvPr/>
          </p:nvSpPr>
          <p:spPr>
            <a:xfrm>
              <a:off x="0" y="0"/>
              <a:ext cx="3307994" cy="2103121"/>
            </a:xfrm>
            <a:prstGeom prst="roundRect">
              <a:avLst>
                <a:gd name="adj" fmla="val 4348"/>
              </a:avLst>
            </a:prstGeom>
            <a:solidFill>
              <a:srgbClr val="FFFFFF"/>
            </a:solidFill>
            <a:ln w="20320" cap="flat">
              <a:solidFill>
                <a:srgbClr val="C25A16"/>
              </a:solidFill>
              <a:prstDash val="solid"/>
              <a:round/>
            </a:ln>
            <a:effectLst/>
          </p:spPr>
          <p:txBody>
            <a:bodyPr wrap="square" lIns="45719" tIns="45719" rIns="45719" bIns="45719" numCol="1" anchor="t">
              <a:noAutofit/>
            </a:bodyPr>
            <a:lstStyle/>
            <a:p>
              <a:pPr/>
            </a:p>
          </p:txBody>
        </p:sp>
        <p:sp>
          <p:nvSpPr>
            <p:cNvPr id="262" name="t1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C25A16"/>
                  </a:solidFill>
                  <a:latin typeface="Arial"/>
                  <a:ea typeface="Arial"/>
                  <a:cs typeface="Arial"/>
                  <a:sym typeface="Arial"/>
                </a:defRPr>
              </a:lvl1pPr>
            </a:lstStyle>
            <a:p>
              <a:pPr/>
              <a:r>
                <a:t>ROUND 2</a:t>
              </a:r>
            </a:p>
          </p:txBody>
        </p:sp>
        <p:sp>
          <p:nvSpPr>
            <p:cNvPr id="263" name="t1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Steady speed</a:t>
              </a:r>
            </a:p>
          </p:txBody>
        </p:sp>
        <p:sp>
          <p:nvSpPr>
            <p:cNvPr id="264" name="t1_b"/>
            <p:cNvSpPr txBox="1"/>
            <p:nvPr/>
          </p:nvSpPr>
          <p:spPr>
            <a:xfrm>
              <a:off x="237744" y="932688"/>
              <a:ext cx="2832506"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Why things slow down, deep space, and missing forces at a steady speed.</a:t>
              </a:r>
            </a:p>
          </p:txBody>
        </p:sp>
      </p:grpSp>
      <p:grpSp>
        <p:nvGrpSpPr>
          <p:cNvPr id="270" name="t2"/>
          <p:cNvGrpSpPr/>
          <p:nvPr/>
        </p:nvGrpSpPr>
        <p:grpSpPr>
          <a:xfrm>
            <a:off x="8335061" y="2322576"/>
            <a:ext cx="3307994" cy="2103121"/>
            <a:chOff x="0" y="0"/>
            <a:chExt cx="3307993" cy="2103120"/>
          </a:xfrm>
        </p:grpSpPr>
        <p:sp>
          <p:nvSpPr>
            <p:cNvPr id="266" name="t2_bg"/>
            <p:cNvSpPr/>
            <p:nvPr/>
          </p:nvSpPr>
          <p:spPr>
            <a:xfrm>
              <a:off x="0" y="0"/>
              <a:ext cx="3307994" cy="2103121"/>
            </a:xfrm>
            <a:prstGeom prst="roundRect">
              <a:avLst>
                <a:gd name="adj" fmla="val 4348"/>
              </a:avLst>
            </a:prstGeom>
            <a:solidFill>
              <a:srgbClr val="FBD9E1"/>
            </a:solidFill>
            <a:ln w="20320" cap="flat">
              <a:solidFill>
                <a:srgbClr val="E03D6B"/>
              </a:solidFill>
              <a:prstDash val="solid"/>
              <a:round/>
            </a:ln>
            <a:effectLst/>
          </p:spPr>
          <p:txBody>
            <a:bodyPr wrap="square" lIns="45719" tIns="45719" rIns="45719" bIns="45719" numCol="1" anchor="t">
              <a:noAutofit/>
            </a:bodyPr>
            <a:lstStyle/>
            <a:p>
              <a:pPr/>
            </a:p>
          </p:txBody>
        </p:sp>
        <p:sp>
          <p:nvSpPr>
            <p:cNvPr id="267" name="t2_h"/>
            <p:cNvSpPr txBox="1"/>
            <p:nvPr/>
          </p:nvSpPr>
          <p:spPr>
            <a:xfrm>
              <a:off x="237744" y="212204"/>
              <a:ext cx="2832506"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50" sz="1400">
                  <a:solidFill>
                    <a:srgbClr val="E03D6B"/>
                  </a:solidFill>
                  <a:latin typeface="Arial"/>
                  <a:ea typeface="Arial"/>
                  <a:cs typeface="Arial"/>
                  <a:sym typeface="Arial"/>
                </a:defRPr>
              </a:lvl1pPr>
            </a:lstStyle>
            <a:p>
              <a:pPr/>
              <a:r>
                <a:t>ROUND 3</a:t>
              </a:r>
            </a:p>
          </p:txBody>
        </p:sp>
        <p:sp>
          <p:nvSpPr>
            <p:cNvPr id="268" name="t2_s"/>
            <p:cNvSpPr txBox="1"/>
            <p:nvPr/>
          </p:nvSpPr>
          <p:spPr>
            <a:xfrm>
              <a:off x="237744" y="561594"/>
              <a:ext cx="2832506"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17203F"/>
                  </a:solidFill>
                  <a:latin typeface="Georgia"/>
                  <a:ea typeface="Georgia"/>
                  <a:cs typeface="Georgia"/>
                  <a:sym typeface="Georgia"/>
                </a:defRPr>
              </a:lvl1pPr>
            </a:lstStyle>
            <a:p>
              <a:pPr/>
              <a:r>
                <a:t>Beat the game</a:t>
              </a:r>
            </a:p>
          </p:txBody>
        </p:sp>
        <p:sp>
          <p:nvSpPr>
            <p:cNvPr id="269" name="t2_b"/>
            <p:cNvSpPr txBox="1"/>
            <p:nvPr/>
          </p:nvSpPr>
          <p:spPr>
            <a:xfrm>
              <a:off x="237744" y="932688"/>
              <a:ext cx="2832506" cy="6395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5A6480"/>
                  </a:solidFill>
                  <a:latin typeface="Arial"/>
                  <a:ea typeface="Arial"/>
                  <a:cs typeface="Arial"/>
                  <a:sym typeface="Arial"/>
                </a:defRPr>
              </a:lvl1pPr>
            </a:lstStyle>
            <a:p>
              <a:pPr/>
              <a:r>
                <a:t>Very hard. Zero resultant, or no forces? The last questions are meant to be almost impossible.</a:t>
              </a:r>
            </a:p>
          </p:txBody>
        </p:sp>
      </p:grpSp>
      <p:sp>
        <p:nvSpPr>
          <p:cNvPr id="271" name="yd_note"/>
          <p:cNvSpPr txBox="1"/>
          <p:nvPr/>
        </p:nvSpPr>
        <p:spPr>
          <a:xfrm>
            <a:off x="1170432" y="471830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17203F"/>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840000" fill="hold"/>
                                        <p:tgtEl>
                                          <p:spTgt spid="24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0"/>
                                        </p:tgtEl>
                                        <p:attrNameLst>
                                          <p:attrName>style.visibility</p:attrName>
                                        </p:attrNameLst>
                                      </p:cBhvr>
                                      <p:to>
                                        <p:strVal val="visible"/>
                                      </p:to>
                                    </p:set>
                                    <p:animEffect filter="fade" transition="in">
                                      <p:cBhvr>
                                        <p:cTn id="11" dur="400"/>
                                        <p:tgtEl>
                                          <p:spTgt spid="26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65"/>
                                        </p:tgtEl>
                                        <p:attrNameLst>
                                          <p:attrName>style.visibility</p:attrName>
                                        </p:attrNameLst>
                                      </p:cBhvr>
                                      <p:to>
                                        <p:strVal val="visible"/>
                                      </p:to>
                                    </p:set>
                                    <p:animEffect filter="fade" transition="in">
                                      <p:cBhvr>
                                        <p:cTn id="16" dur="400"/>
                                        <p:tgtEl>
                                          <p:spTgt spid="26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0"/>
                                        </p:tgtEl>
                                        <p:attrNameLst>
                                          <p:attrName>style.visibility</p:attrName>
                                        </p:attrNameLst>
                                      </p:cBhvr>
                                      <p:to>
                                        <p:strVal val="visible"/>
                                      </p:to>
                                    </p:set>
                                    <p:animEffect filter="fade" transition="in">
                                      <p:cBhvr>
                                        <p:cTn id="21" dur="400"/>
                                        <p:tgtEl>
                                          <p:spTgt spid="270"/>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71"/>
                                        </p:tgtEl>
                                        <p:attrNameLst>
                                          <p:attrName>style.visibility</p:attrName>
                                        </p:attrNameLst>
                                      </p:cBhvr>
                                      <p:to>
                                        <p:strVal val="visible"/>
                                      </p:to>
                                    </p:set>
                                    <p:animEffect filter="fade" transition="in">
                                      <p:cBhvr>
                                        <p:cTn id="26" dur="4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49"/>
                </p:tgtEl>
              </p:cMediaNode>
            </p:video>
            <p:seq concurrent="1" prevAc="none" nextAc="seek">
              <p:cTn id="28" evtFilter="cancelBubble" nodeType="interactiveSeq" restart="whenNotActive" fill="hold">
                <p:stCondLst>
                  <p:cond delay="0" evt="onClick">
                    <p:tgtEl>
                      <p:spTgt spid="249"/>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49"/>
                                        </p:tgtEl>
                                      </p:cBhvr>
                                    </p:cmd>
                                  </p:childTnLst>
                                </p:cTn>
                              </p:par>
                            </p:childTnLst>
                          </p:cTn>
                        </p:par>
                      </p:childTnLst>
                    </p:cTn>
                  </p:par>
                </p:childTnLst>
              </p:cTn>
              <p:nextCondLst>
                <p:cond delay="0" evt="onClick">
                  <p:tgtEl>
                    <p:spTgt spid="249"/>
                  </p:tgtEl>
                </p:cond>
              </p:nextCondLst>
            </p:seq>
          </p:childTnLst>
        </p:cTn>
      </p:par>
    </p:tnLst>
    <p:bldLst>
      <p:bldP build="whole" bldLvl="1" animBg="1" rev="0" advAuto="0" spid="271" grpId="5"/>
      <p:bldP build="whole" bldLvl="1" animBg="1" rev="0" advAuto="0" spid="265" grpId="3"/>
      <p:bldP build="whole" bldLvl="1" animBg="1" rev="0" advAuto="0" spid="260" grpId="2"/>
      <p:bldP build="whole" bldLvl="1" animBg="1" rev="0" advAuto="0" spid="270"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2F4FA"/>
        </a:solidFill>
      </p:bgPr>
    </p:bg>
    <p:spTree>
      <p:nvGrpSpPr>
        <p:cNvPr id="1" name=""/>
        <p:cNvGrpSpPr/>
        <p:nvPr/>
      </p:nvGrpSpPr>
      <p:grpSpPr>
        <a:xfrm>
          <a:off x="0" y="0"/>
          <a:ext cx="0" cy="0"/>
          <a:chOff x="0" y="0"/>
          <a:chExt cx="0" cy="0"/>
        </a:xfrm>
      </p:grpSpPr>
      <p:pic>
        <p:nvPicPr>
          <p:cNvPr id="275"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78" name="phase_pill"/>
          <p:cNvGrpSpPr/>
          <p:nvPr/>
        </p:nvGrpSpPr>
        <p:grpSpPr>
          <a:xfrm>
            <a:off x="1170432" y="310895"/>
            <a:ext cx="1623975" cy="329185"/>
            <a:chOff x="0" y="0"/>
            <a:chExt cx="1623974" cy="329184"/>
          </a:xfrm>
        </p:grpSpPr>
        <p:sp>
          <p:nvSpPr>
            <p:cNvPr id="276" name="Rounded Rectangle"/>
            <p:cNvSpPr/>
            <p:nvPr/>
          </p:nvSpPr>
          <p:spPr>
            <a:xfrm>
              <a:off x="0" y="0"/>
              <a:ext cx="1623975" cy="329185"/>
            </a:xfrm>
            <a:prstGeom prst="roundRect">
              <a:avLst>
                <a:gd name="adj" fmla="val 44444"/>
              </a:avLst>
            </a:prstGeom>
            <a:solidFill>
              <a:srgbClr val="17203F"/>
            </a:solidFill>
            <a:ln w="12700" cap="flat">
              <a:noFill/>
              <a:miter lim="400000"/>
            </a:ln>
            <a:effectLst/>
          </p:spPr>
          <p:txBody>
            <a:bodyPr wrap="square" lIns="45719" tIns="45719" rIns="45719" bIns="45719" numCol="1" anchor="ctr">
              <a:noAutofit/>
            </a:bodyPr>
            <a:lstStyle/>
            <a:p>
              <a:pPr algn="ctr">
                <a:defRPr sz="1100"/>
              </a:pPr>
            </a:p>
          </p:txBody>
        </p:sp>
        <p:sp>
          <p:nvSpPr>
            <p:cNvPr id="277" name="MARK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MARK · 3 MIN</a:t>
              </a:r>
            </a:p>
          </p:txBody>
        </p:sp>
      </p:grpSp>
      <p:sp>
        <p:nvSpPr>
          <p:cNvPr id="279" name="slide_title"/>
          <p:cNvSpPr txBox="1"/>
          <p:nvPr/>
        </p:nvSpPr>
        <p:spPr>
          <a:xfrm>
            <a:off x="1170432" y="1029870"/>
            <a:ext cx="10472623" cy="9577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800"/>
              </a:lnSpc>
              <a:defRPr b="1" sz="3200">
                <a:solidFill>
                  <a:srgbClr val="17203F"/>
                </a:solidFill>
                <a:latin typeface="Georgia"/>
                <a:ea typeface="Georgia"/>
                <a:cs typeface="Georgia"/>
                <a:sym typeface="Georgia"/>
              </a:defRPr>
            </a:lvl1pPr>
          </a:lstStyle>
          <a:p>
            <a:pPr/>
            <a:r>
              <a:t>Turn to the back. Mark your own in a different colour.</a:t>
            </a:r>
          </a:p>
        </p:txBody>
      </p:sp>
      <p:grpSp>
        <p:nvGrpSpPr>
          <p:cNvPr id="282" name="mkg"/>
          <p:cNvGrpSpPr/>
          <p:nvPr/>
        </p:nvGrpSpPr>
        <p:grpSpPr>
          <a:xfrm>
            <a:off x="1170432" y="2395727"/>
            <a:ext cx="10472623" cy="1097282"/>
            <a:chOff x="0" y="0"/>
            <a:chExt cx="10472622" cy="1097280"/>
          </a:xfrm>
        </p:grpSpPr>
        <p:sp>
          <p:nvSpPr>
            <p:cNvPr id="280" name="mk_game_bg"/>
            <p:cNvSpPr/>
            <p:nvPr/>
          </p:nvSpPr>
          <p:spPr>
            <a:xfrm>
              <a:off x="0" y="0"/>
              <a:ext cx="10472623" cy="1097281"/>
            </a:xfrm>
            <a:prstGeom prst="roundRect">
              <a:avLst>
                <a:gd name="adj" fmla="val 8333"/>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281" name="mk_game_t"/>
            <p:cNvSpPr txBox="1"/>
            <p:nvPr/>
          </p:nvSpPr>
          <p:spPr>
            <a:xfrm>
              <a:off x="274319" y="274303"/>
              <a:ext cx="9923984" cy="54867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200"/>
                </a:lnSpc>
                <a:defRPr b="1" sz="1700">
                  <a:solidFill>
                    <a:srgbClr val="C25A16"/>
                  </a:solidFill>
                  <a:latin typeface="Arial"/>
                  <a:ea typeface="Arial"/>
                  <a:cs typeface="Arial"/>
                  <a:sym typeface="Arial"/>
                </a:defRPr>
              </a:pPr>
              <a:r>
                <a:t>Played the game? </a:t>
              </a:r>
              <a:r>
                <a:rPr b="0">
                  <a:solidFill>
                    <a:srgbClr val="141A30"/>
                  </a:solidFill>
                </a:rPr>
                <a:t>Open the drop-down for each round. Read what you got wrong, and how to get to the answer.</a:t>
              </a:r>
            </a:p>
          </p:txBody>
        </p:sp>
      </p:grpSp>
      <p:grpSp>
        <p:nvGrpSpPr>
          <p:cNvPr id="286" name="mkc"/>
          <p:cNvGrpSpPr/>
          <p:nvPr/>
        </p:nvGrpSpPr>
        <p:grpSpPr>
          <a:xfrm>
            <a:off x="1170432" y="3694176"/>
            <a:ext cx="10472623" cy="2286001"/>
            <a:chOff x="0" y="0"/>
            <a:chExt cx="10472622" cy="2286000"/>
          </a:xfrm>
        </p:grpSpPr>
        <p:sp>
          <p:nvSpPr>
            <p:cNvPr id="283" name="mk_card_bg"/>
            <p:cNvSpPr/>
            <p:nvPr/>
          </p:nvSpPr>
          <p:spPr>
            <a:xfrm>
              <a:off x="0" y="0"/>
              <a:ext cx="10472623" cy="2286000"/>
            </a:xfrm>
            <a:prstGeom prst="roundRect">
              <a:avLst>
                <a:gd name="adj" fmla="val 4000"/>
              </a:avLst>
            </a:prstGeom>
            <a:solidFill>
              <a:srgbClr val="FFFFFF"/>
            </a:solidFill>
            <a:ln w="16510" cap="flat">
              <a:solidFill>
                <a:srgbClr val="C3C8D8"/>
              </a:solidFill>
              <a:prstDash val="solid"/>
              <a:round/>
            </a:ln>
            <a:effectLst/>
          </p:spPr>
          <p:txBody>
            <a:bodyPr wrap="square" lIns="45719" tIns="45719" rIns="45719" bIns="45719" numCol="1" anchor="t">
              <a:noAutofit/>
            </a:bodyPr>
            <a:lstStyle/>
            <a:p>
              <a:pPr/>
            </a:p>
          </p:txBody>
        </p:sp>
        <p:sp>
          <p:nvSpPr>
            <p:cNvPr id="284" name="mk_card_h"/>
            <p:cNvSpPr txBox="1"/>
            <p:nvPr/>
          </p:nvSpPr>
          <p:spPr>
            <a:xfrm>
              <a:off x="274319" y="188213"/>
              <a:ext cx="9923984" cy="1905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300">
                  <a:solidFill>
                    <a:srgbClr val="17203F"/>
                  </a:solidFill>
                  <a:latin typeface="Georgia"/>
                  <a:ea typeface="Georgia"/>
                  <a:cs typeface="Georgia"/>
                  <a:sym typeface="Georgia"/>
                </a:defRPr>
              </a:lvl1pPr>
            </a:lstStyle>
            <a:p>
              <a:pPr/>
              <a:r>
                <a:t>CHECK YOUR WORK AGAINST THIS</a:t>
              </a:r>
            </a:p>
          </p:txBody>
        </p:sp>
        <p:sp>
          <p:nvSpPr>
            <p:cNvPr id="285" name="mk_card_t"/>
            <p:cNvSpPr txBox="1"/>
            <p:nvPr/>
          </p:nvSpPr>
          <p:spPr>
            <a:xfrm>
              <a:off x="274319" y="512064"/>
              <a:ext cx="9923984" cy="146531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900"/>
                </a:lnSpc>
                <a:spcBef>
                  <a:spcPts val="700"/>
                </a:spcBef>
                <a:buSzPct val="100000"/>
                <a:buChar char="•"/>
                <a:defRPr sz="1500">
                  <a:solidFill>
                    <a:srgbClr val="141A30"/>
                  </a:solidFill>
                  <a:latin typeface="Arial"/>
                  <a:ea typeface="Arial"/>
                  <a:cs typeface="Arial"/>
                  <a:sym typeface="Arial"/>
                </a:defRPr>
              </a:pPr>
              <a:r>
                <a:t>Newton’s first law: an object stays at rest, or keeps moving at a constant speed in a straight line, unless a resultant force acts on it.</a:t>
              </a:r>
            </a:p>
            <a:p>
              <a:pPr marL="342900" indent="-342900">
                <a:lnSpc>
                  <a:spcPts val="1900"/>
                </a:lnSpc>
                <a:spcBef>
                  <a:spcPts val="700"/>
                </a:spcBef>
                <a:buSzPct val="100000"/>
                <a:buChar char="•"/>
                <a:defRPr sz="1500">
                  <a:solidFill>
                    <a:srgbClr val="141A30"/>
                  </a:solidFill>
                  <a:latin typeface="Arial"/>
                  <a:ea typeface="Arial"/>
                  <a:cs typeface="Arial"/>
                  <a:sym typeface="Arial"/>
                </a:defRPr>
              </a:pPr>
              <a:r>
                <a:t>At rest, or at a steady speed, the resultant force is 0 N. The forces one way equal the forces the other way.</a:t>
              </a:r>
            </a:p>
            <a:p>
              <a:pPr marL="342900" indent="-342900">
                <a:lnSpc>
                  <a:spcPts val="1900"/>
                </a:lnSpc>
                <a:spcBef>
                  <a:spcPts val="700"/>
                </a:spcBef>
                <a:buSzPct val="100000"/>
                <a:buChar char="•"/>
                <a:defRPr sz="1500">
                  <a:solidFill>
                    <a:srgbClr val="141A30"/>
                  </a:solidFill>
                  <a:latin typeface="Arial"/>
                  <a:ea typeface="Arial"/>
                  <a:cs typeface="Arial"/>
                  <a:sym typeface="Arial"/>
                </a:defRPr>
              </a:pPr>
              <a:r>
                <a:t>A resultant of 0 N does not mean there are no forces. A book on a table has weight and a reaction force.</a:t>
              </a:r>
            </a:p>
            <a:p>
              <a:pPr marL="342900" indent="-342900">
                <a:lnSpc>
                  <a:spcPts val="1900"/>
                </a:lnSpc>
                <a:buSzPct val="100000"/>
                <a:buChar char="•"/>
                <a:defRPr sz="1500">
                  <a:solidFill>
                    <a:srgbClr val="141A30"/>
                  </a:solidFill>
                  <a:latin typeface="Arial"/>
                  <a:ea typeface="Arial"/>
                  <a:cs typeface="Arial"/>
                  <a:sym typeface="Arial"/>
                </a:defRPr>
              </a:pPr>
              <a:r>
                <a:t>With no forces at all (far from everything in space) the motion does not change either.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75"/>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82"/>
                                        </p:tgtEl>
                                        <p:attrNameLst>
                                          <p:attrName>style.visibility</p:attrName>
                                        </p:attrNameLst>
                                      </p:cBhvr>
                                      <p:to>
                                        <p:strVal val="visible"/>
                                      </p:to>
                                    </p:set>
                                    <p:animEffect filter="fade" transition="in">
                                      <p:cBhvr>
                                        <p:cTn id="11" dur="400"/>
                                        <p:tgtEl>
                                          <p:spTgt spid="28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86"/>
                                        </p:tgtEl>
                                        <p:attrNameLst>
                                          <p:attrName>style.visibility</p:attrName>
                                        </p:attrNameLst>
                                      </p:cBhvr>
                                      <p:to>
                                        <p:strVal val="visible"/>
                                      </p:to>
                                    </p:set>
                                    <p:animEffect filter="fade" transition="in">
                                      <p:cBhvr>
                                        <p:cTn id="16" dur="4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275"/>
                </p:tgtEl>
              </p:cMediaNode>
            </p:video>
            <p:seq concurrent="1" prevAc="none" nextAc="seek">
              <p:cTn id="18" evtFilter="cancelBubble" nodeType="interactiveSeq" restart="whenNotActive" fill="hold">
                <p:stCondLst>
                  <p:cond delay="0" evt="onClick">
                    <p:tgtEl>
                      <p:spTgt spid="275"/>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275"/>
                                        </p:tgtEl>
                                      </p:cBhvr>
                                    </p:cmd>
                                  </p:childTnLst>
                                </p:cTn>
                              </p:par>
                            </p:childTnLst>
                          </p:cTn>
                        </p:par>
                      </p:childTnLst>
                    </p:cTn>
                  </p:par>
                </p:childTnLst>
              </p:cTn>
              <p:nextCondLst>
                <p:cond delay="0" evt="onClick">
                  <p:tgtEl>
                    <p:spTgt spid="275"/>
                  </p:tgtEl>
                </p:cond>
              </p:nextCondLst>
            </p:seq>
          </p:childTnLst>
        </p:cTn>
      </p:par>
    </p:tnLst>
    <p:bldLst>
      <p:bldP build="whole" bldLvl="1" animBg="1" rev="0" advAuto="0" spid="286" grpId="3"/>
      <p:bldP build="whole" bldLvl="1" animBg="1" rev="0" advAuto="0" spid="282"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7203F"/>
        </a:solidFill>
      </p:bgPr>
    </p:bg>
    <p:spTree>
      <p:nvGrpSpPr>
        <p:cNvPr id="1" name=""/>
        <p:cNvGrpSpPr/>
        <p:nvPr/>
      </p:nvGrpSpPr>
      <p:grpSpPr>
        <a:xfrm>
          <a:off x="0" y="0"/>
          <a:ext cx="0" cy="0"/>
          <a:chOff x="0" y="0"/>
          <a:chExt cx="0" cy="0"/>
        </a:xfrm>
      </p:grpSpPr>
      <p:pic>
        <p:nvPicPr>
          <p:cNvPr id="29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3" name="phase_pill"/>
          <p:cNvGrpSpPr/>
          <p:nvPr/>
        </p:nvGrpSpPr>
        <p:grpSpPr>
          <a:xfrm>
            <a:off x="1170432" y="310895"/>
            <a:ext cx="1892808" cy="329185"/>
            <a:chOff x="0" y="0"/>
            <a:chExt cx="1892807" cy="329184"/>
          </a:xfrm>
        </p:grpSpPr>
        <p:sp>
          <p:nvSpPr>
            <p:cNvPr id="291" name="Rounded Rectangle"/>
            <p:cNvSpPr/>
            <p:nvPr/>
          </p:nvSpPr>
          <p:spPr>
            <a:xfrm>
              <a:off x="0" y="0"/>
              <a:ext cx="1892808" cy="329185"/>
            </a:xfrm>
            <a:prstGeom prst="roundRect">
              <a:avLst>
                <a:gd name="adj" fmla="val 44444"/>
              </a:avLst>
            </a:prstGeom>
            <a:solidFill>
              <a:srgbClr val="FF8A3D"/>
            </a:solidFill>
            <a:ln w="12700" cap="flat">
              <a:noFill/>
              <a:miter lim="400000"/>
            </a:ln>
            <a:effectLst/>
          </p:spPr>
          <p:txBody>
            <a:bodyPr wrap="square" lIns="45719" tIns="45719" rIns="45719" bIns="45719" numCol="1" anchor="ctr">
              <a:noAutofit/>
            </a:bodyPr>
            <a:lstStyle/>
            <a:p>
              <a:pPr algn="ctr">
                <a:defRPr sz="1100"/>
              </a:pPr>
            </a:p>
          </p:txBody>
        </p:sp>
        <p:sp>
          <p:nvSpPr>
            <p:cNvPr id="292"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7203F"/>
                  </a:solidFill>
                  <a:latin typeface="Arial"/>
                  <a:ea typeface="Arial"/>
                  <a:cs typeface="Arial"/>
                  <a:sym typeface="Arial"/>
                </a:defRPr>
              </a:lvl1pPr>
            </a:lstStyle>
            <a:p>
              <a:pPr/>
              <a:r>
                <a:t>PLENARY · 3 MIN</a:t>
              </a:r>
            </a:p>
          </p:txBody>
        </p:sp>
      </p:grpSp>
      <p:sp>
        <p:nvSpPr>
          <p:cNvPr id="29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2F4FA"/>
                </a:solidFill>
                <a:latin typeface="Georgia"/>
                <a:ea typeface="Georgia"/>
                <a:cs typeface="Georgia"/>
                <a:sym typeface="Georgia"/>
              </a:defRPr>
            </a:lvl1pPr>
          </a:lstStyle>
          <a:p>
            <a:pPr/>
            <a:r>
              <a:t>True or false?</a:t>
            </a:r>
          </a:p>
        </p:txBody>
      </p:sp>
      <p:grpSp>
        <p:nvGrpSpPr>
          <p:cNvPr id="297" name="p0_stmt"/>
          <p:cNvGrpSpPr/>
          <p:nvPr/>
        </p:nvGrpSpPr>
        <p:grpSpPr>
          <a:xfrm>
            <a:off x="1170432" y="2103120"/>
            <a:ext cx="8552383" cy="603505"/>
            <a:chOff x="0" y="0"/>
            <a:chExt cx="8552382" cy="603504"/>
          </a:xfrm>
        </p:grpSpPr>
        <p:sp>
          <p:nvSpPr>
            <p:cNvPr id="295" name="p0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296" name="p0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An object at rest stays at rest unless a resultant force acts on it.</a:t>
              </a:r>
            </a:p>
          </p:txBody>
        </p:sp>
      </p:grpSp>
      <p:sp>
        <p:nvSpPr>
          <p:cNvPr id="298" name="p0_v"/>
          <p:cNvSpPr txBox="1"/>
          <p:nvPr/>
        </p:nvSpPr>
        <p:spPr>
          <a:xfrm>
            <a:off x="9905695" y="22814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B6BC"/>
                </a:solidFill>
                <a:latin typeface="Arial"/>
                <a:ea typeface="Arial"/>
                <a:cs typeface="Arial"/>
                <a:sym typeface="Arial"/>
              </a:defRPr>
            </a:lvl1pPr>
          </a:lstStyle>
          <a:p>
            <a:pPr/>
            <a:r>
              <a:t>TRUE</a:t>
            </a:r>
          </a:p>
        </p:txBody>
      </p:sp>
      <p:grpSp>
        <p:nvGrpSpPr>
          <p:cNvPr id="301" name="p1_stmt"/>
          <p:cNvGrpSpPr/>
          <p:nvPr/>
        </p:nvGrpSpPr>
        <p:grpSpPr>
          <a:xfrm>
            <a:off x="1170432" y="2834639"/>
            <a:ext cx="8552383" cy="603505"/>
            <a:chOff x="0" y="0"/>
            <a:chExt cx="8552382" cy="603504"/>
          </a:xfrm>
        </p:grpSpPr>
        <p:sp>
          <p:nvSpPr>
            <p:cNvPr id="299" name="p1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00" name="p1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 force is needed to keep an object moving at a constant speed.</a:t>
              </a:r>
            </a:p>
          </p:txBody>
        </p:sp>
      </p:grpSp>
      <p:sp>
        <p:nvSpPr>
          <p:cNvPr id="302" name="p1_v"/>
          <p:cNvSpPr txBox="1"/>
          <p:nvPr/>
        </p:nvSpPr>
        <p:spPr>
          <a:xfrm>
            <a:off x="9905695" y="301292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grpSp>
        <p:nvGrpSpPr>
          <p:cNvPr id="305" name="p2_stmt"/>
          <p:cNvGrpSpPr/>
          <p:nvPr/>
        </p:nvGrpSpPr>
        <p:grpSpPr>
          <a:xfrm>
            <a:off x="1170432" y="3566159"/>
            <a:ext cx="8552383" cy="603505"/>
            <a:chOff x="0" y="0"/>
            <a:chExt cx="8552382" cy="603504"/>
          </a:xfrm>
        </p:grpSpPr>
        <p:sp>
          <p:nvSpPr>
            <p:cNvPr id="303" name="p2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04" name="p2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 book rests on a table, so there are no forces on it.</a:t>
              </a:r>
            </a:p>
          </p:txBody>
        </p:sp>
      </p:grpSp>
      <p:sp>
        <p:nvSpPr>
          <p:cNvPr id="306" name="p2_v"/>
          <p:cNvSpPr txBox="1"/>
          <p:nvPr/>
        </p:nvSpPr>
        <p:spPr>
          <a:xfrm>
            <a:off x="9905695" y="374444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grpSp>
        <p:nvGrpSpPr>
          <p:cNvPr id="309" name="p3_stmt"/>
          <p:cNvGrpSpPr/>
          <p:nvPr/>
        </p:nvGrpSpPr>
        <p:grpSpPr>
          <a:xfrm>
            <a:off x="1170432" y="4297679"/>
            <a:ext cx="8552383" cy="603505"/>
            <a:chOff x="0" y="0"/>
            <a:chExt cx="8552382" cy="603504"/>
          </a:xfrm>
        </p:grpSpPr>
        <p:sp>
          <p:nvSpPr>
            <p:cNvPr id="307" name="p3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08" name="p3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 sledge moves at a steady speed. The pull is 45 N, so the friction is 45 N.</a:t>
              </a:r>
            </a:p>
          </p:txBody>
        </p:sp>
      </p:grpSp>
      <p:sp>
        <p:nvSpPr>
          <p:cNvPr id="310" name="p3_v"/>
          <p:cNvSpPr txBox="1"/>
          <p:nvPr/>
        </p:nvSpPr>
        <p:spPr>
          <a:xfrm>
            <a:off x="9905695" y="447596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B6BC"/>
                </a:solidFill>
                <a:latin typeface="Arial"/>
                <a:ea typeface="Arial"/>
                <a:cs typeface="Arial"/>
                <a:sym typeface="Arial"/>
              </a:defRPr>
            </a:lvl1pPr>
          </a:lstStyle>
          <a:p>
            <a:pPr/>
            <a:r>
              <a:t>TRUE</a:t>
            </a:r>
          </a:p>
        </p:txBody>
      </p:sp>
      <p:grpSp>
        <p:nvGrpSpPr>
          <p:cNvPr id="313" name="p4_stmt"/>
          <p:cNvGrpSpPr/>
          <p:nvPr/>
        </p:nvGrpSpPr>
        <p:grpSpPr>
          <a:xfrm>
            <a:off x="1170432" y="5029200"/>
            <a:ext cx="8552383" cy="603505"/>
            <a:chOff x="0" y="0"/>
            <a:chExt cx="8552382" cy="603504"/>
          </a:xfrm>
        </p:grpSpPr>
        <p:sp>
          <p:nvSpPr>
            <p:cNvPr id="311" name="p4_bg"/>
            <p:cNvSpPr/>
            <p:nvPr/>
          </p:nvSpPr>
          <p:spPr>
            <a:xfrm>
              <a:off x="0" y="0"/>
              <a:ext cx="8552383" cy="603505"/>
            </a:xfrm>
            <a:prstGeom prst="roundRect">
              <a:avLst>
                <a:gd name="adj" fmla="val 15152"/>
              </a:avLst>
            </a:prstGeom>
            <a:solidFill>
              <a:srgbClr val="2C3966"/>
            </a:solidFill>
            <a:ln w="12700" cap="flat">
              <a:solidFill>
                <a:srgbClr val="2C3966"/>
              </a:solidFill>
              <a:prstDash val="solid"/>
              <a:round/>
            </a:ln>
            <a:effectLst/>
          </p:spPr>
          <p:txBody>
            <a:bodyPr wrap="square" lIns="45719" tIns="45719" rIns="45719" bIns="45719" numCol="1" anchor="t">
              <a:noAutofit/>
            </a:bodyPr>
            <a:lstStyle/>
            <a:p>
              <a:pPr/>
            </a:p>
          </p:txBody>
        </p:sp>
        <p:sp>
          <p:nvSpPr>
            <p:cNvPr id="312" name="p4_q"/>
            <p:cNvSpPr txBox="1"/>
            <p:nvPr/>
          </p:nvSpPr>
          <p:spPr>
            <a:xfrm>
              <a:off x="256032" y="190127"/>
              <a:ext cx="8186623" cy="22325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800"/>
                </a:lnSpc>
                <a:defRPr sz="1500">
                  <a:solidFill>
                    <a:srgbClr val="F2F4FA"/>
                  </a:solidFill>
                  <a:latin typeface="Arial"/>
                  <a:ea typeface="Arial"/>
                  <a:cs typeface="Arial"/>
                  <a:sym typeface="Arial"/>
                </a:defRPr>
              </a:lvl1pPr>
            </a:lstStyle>
            <a:p>
              <a:pPr/>
              <a:r>
                <a:t>A probe far from every star and planet, with its engine off, slows down and stops.</a:t>
              </a:r>
            </a:p>
          </p:txBody>
        </p:sp>
      </p:grpSp>
      <p:sp>
        <p:nvSpPr>
          <p:cNvPr id="314" name="p4_v"/>
          <p:cNvSpPr txBox="1"/>
          <p:nvPr/>
        </p:nvSpPr>
        <p:spPr>
          <a:xfrm>
            <a:off x="9905695" y="520748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A3D"/>
                </a:solidFill>
                <a:latin typeface="Arial"/>
                <a:ea typeface="Arial"/>
                <a:cs typeface="Arial"/>
                <a:sym typeface="Arial"/>
              </a:defRPr>
            </a:lvl1pPr>
          </a:lstStyle>
          <a:p>
            <a:pPr/>
            <a:r>
              <a:t>FALSE</a:t>
            </a:r>
          </a:p>
        </p:txBody>
      </p:sp>
      <p:sp>
        <p:nvSpPr>
          <p:cNvPr id="315"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8A3D"/>
                </a:solidFill>
                <a:latin typeface="Arial"/>
                <a:ea typeface="Arial"/>
                <a:cs typeface="Arial"/>
                <a:sym typeface="Arial"/>
              </a:defRPr>
            </a:lvl1pPr>
          </a:lstStyle>
          <a:p>
            <a:pPr/>
            <a:r>
              <a:t>Next lesson: what happens when the resultant force is NOT zero?</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9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7"/>
                                        </p:tgtEl>
                                        <p:attrNameLst>
                                          <p:attrName>style.visibility</p:attrName>
                                        </p:attrNameLst>
                                      </p:cBhvr>
                                      <p:to>
                                        <p:strVal val="visible"/>
                                      </p:to>
                                    </p:set>
                                    <p:animEffect filter="fade" transition="in">
                                      <p:cBhvr>
                                        <p:cTn id="11" dur="400"/>
                                        <p:tgtEl>
                                          <p:spTgt spid="29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98"/>
                                        </p:tgtEl>
                                        <p:attrNameLst>
                                          <p:attrName>style.visibility</p:attrName>
                                        </p:attrNameLst>
                                      </p:cBhvr>
                                      <p:to>
                                        <p:strVal val="visible"/>
                                      </p:to>
                                    </p:set>
                                    <p:anim calcmode="lin" valueType="num">
                                      <p:cBhvr>
                                        <p:cTn id="16" dur="400" fill="hold"/>
                                        <p:tgtEl>
                                          <p:spTgt spid="298"/>
                                        </p:tgtEl>
                                        <p:attrNameLst>
                                          <p:attrName>ppt_w</p:attrName>
                                        </p:attrNameLst>
                                      </p:cBhvr>
                                      <p:tavLst>
                                        <p:tav tm="0">
                                          <p:val>
                                            <p:fltVal val="0"/>
                                          </p:val>
                                        </p:tav>
                                        <p:tav tm="100000">
                                          <p:val>
                                            <p:strVal val="#ppt_w"/>
                                          </p:val>
                                        </p:tav>
                                      </p:tavLst>
                                    </p:anim>
                                    <p:anim calcmode="lin" valueType="num">
                                      <p:cBhvr>
                                        <p:cTn id="17" dur="400" fill="hold"/>
                                        <p:tgtEl>
                                          <p:spTgt spid="298"/>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01"/>
                                        </p:tgtEl>
                                        <p:attrNameLst>
                                          <p:attrName>style.visibility</p:attrName>
                                        </p:attrNameLst>
                                      </p:cBhvr>
                                      <p:to>
                                        <p:strVal val="visible"/>
                                      </p:to>
                                    </p:set>
                                    <p:animEffect filter="fade" transition="in">
                                      <p:cBhvr>
                                        <p:cTn id="22" dur="400"/>
                                        <p:tgtEl>
                                          <p:spTgt spid="301"/>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02"/>
                                        </p:tgtEl>
                                        <p:attrNameLst>
                                          <p:attrName>style.visibility</p:attrName>
                                        </p:attrNameLst>
                                      </p:cBhvr>
                                      <p:to>
                                        <p:strVal val="visible"/>
                                      </p:to>
                                    </p:set>
                                    <p:anim calcmode="lin" valueType="num">
                                      <p:cBhvr>
                                        <p:cTn id="27" dur="400" fill="hold"/>
                                        <p:tgtEl>
                                          <p:spTgt spid="302"/>
                                        </p:tgtEl>
                                        <p:attrNameLst>
                                          <p:attrName>ppt_w</p:attrName>
                                        </p:attrNameLst>
                                      </p:cBhvr>
                                      <p:tavLst>
                                        <p:tav tm="0">
                                          <p:val>
                                            <p:fltVal val="0"/>
                                          </p:val>
                                        </p:tav>
                                        <p:tav tm="100000">
                                          <p:val>
                                            <p:strVal val="#ppt_w"/>
                                          </p:val>
                                        </p:tav>
                                      </p:tavLst>
                                    </p:anim>
                                    <p:anim calcmode="lin" valueType="num">
                                      <p:cBhvr>
                                        <p:cTn id="28" dur="400" fill="hold"/>
                                        <p:tgtEl>
                                          <p:spTgt spid="30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05"/>
                                        </p:tgtEl>
                                        <p:attrNameLst>
                                          <p:attrName>style.visibility</p:attrName>
                                        </p:attrNameLst>
                                      </p:cBhvr>
                                      <p:to>
                                        <p:strVal val="visible"/>
                                      </p:to>
                                    </p:set>
                                    <p:animEffect filter="fade" transition="in">
                                      <p:cBhvr>
                                        <p:cTn id="33" dur="400"/>
                                        <p:tgtEl>
                                          <p:spTgt spid="305"/>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06"/>
                                        </p:tgtEl>
                                        <p:attrNameLst>
                                          <p:attrName>style.visibility</p:attrName>
                                        </p:attrNameLst>
                                      </p:cBhvr>
                                      <p:to>
                                        <p:strVal val="visible"/>
                                      </p:to>
                                    </p:set>
                                    <p:anim calcmode="lin" valueType="num">
                                      <p:cBhvr>
                                        <p:cTn id="38" dur="400" fill="hold"/>
                                        <p:tgtEl>
                                          <p:spTgt spid="306"/>
                                        </p:tgtEl>
                                        <p:attrNameLst>
                                          <p:attrName>ppt_w</p:attrName>
                                        </p:attrNameLst>
                                      </p:cBhvr>
                                      <p:tavLst>
                                        <p:tav tm="0">
                                          <p:val>
                                            <p:fltVal val="0"/>
                                          </p:val>
                                        </p:tav>
                                        <p:tav tm="100000">
                                          <p:val>
                                            <p:strVal val="#ppt_w"/>
                                          </p:val>
                                        </p:tav>
                                      </p:tavLst>
                                    </p:anim>
                                    <p:anim calcmode="lin" valueType="num">
                                      <p:cBhvr>
                                        <p:cTn id="39" dur="400" fill="hold"/>
                                        <p:tgtEl>
                                          <p:spTgt spid="306"/>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09"/>
                                        </p:tgtEl>
                                        <p:attrNameLst>
                                          <p:attrName>style.visibility</p:attrName>
                                        </p:attrNameLst>
                                      </p:cBhvr>
                                      <p:to>
                                        <p:strVal val="visible"/>
                                      </p:to>
                                    </p:set>
                                    <p:animEffect filter="fade" transition="in">
                                      <p:cBhvr>
                                        <p:cTn id="44" dur="400"/>
                                        <p:tgtEl>
                                          <p:spTgt spid="309"/>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10"/>
                                        </p:tgtEl>
                                        <p:attrNameLst>
                                          <p:attrName>style.visibility</p:attrName>
                                        </p:attrNameLst>
                                      </p:cBhvr>
                                      <p:to>
                                        <p:strVal val="visible"/>
                                      </p:to>
                                    </p:set>
                                    <p:anim calcmode="lin" valueType="num">
                                      <p:cBhvr>
                                        <p:cTn id="49" dur="400" fill="hold"/>
                                        <p:tgtEl>
                                          <p:spTgt spid="310"/>
                                        </p:tgtEl>
                                        <p:attrNameLst>
                                          <p:attrName>ppt_w</p:attrName>
                                        </p:attrNameLst>
                                      </p:cBhvr>
                                      <p:tavLst>
                                        <p:tav tm="0">
                                          <p:val>
                                            <p:fltVal val="0"/>
                                          </p:val>
                                        </p:tav>
                                        <p:tav tm="100000">
                                          <p:val>
                                            <p:strVal val="#ppt_w"/>
                                          </p:val>
                                        </p:tav>
                                      </p:tavLst>
                                    </p:anim>
                                    <p:anim calcmode="lin" valueType="num">
                                      <p:cBhvr>
                                        <p:cTn id="50" dur="400" fill="hold"/>
                                        <p:tgtEl>
                                          <p:spTgt spid="310"/>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13"/>
                                        </p:tgtEl>
                                        <p:attrNameLst>
                                          <p:attrName>style.visibility</p:attrName>
                                        </p:attrNameLst>
                                      </p:cBhvr>
                                      <p:to>
                                        <p:strVal val="visible"/>
                                      </p:to>
                                    </p:set>
                                    <p:animEffect filter="fade" transition="in">
                                      <p:cBhvr>
                                        <p:cTn id="55" dur="400"/>
                                        <p:tgtEl>
                                          <p:spTgt spid="313"/>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14"/>
                                        </p:tgtEl>
                                        <p:attrNameLst>
                                          <p:attrName>style.visibility</p:attrName>
                                        </p:attrNameLst>
                                      </p:cBhvr>
                                      <p:to>
                                        <p:strVal val="visible"/>
                                      </p:to>
                                    </p:set>
                                    <p:anim calcmode="lin" valueType="num">
                                      <p:cBhvr>
                                        <p:cTn id="60" dur="400" fill="hold"/>
                                        <p:tgtEl>
                                          <p:spTgt spid="314"/>
                                        </p:tgtEl>
                                        <p:attrNameLst>
                                          <p:attrName>ppt_w</p:attrName>
                                        </p:attrNameLst>
                                      </p:cBhvr>
                                      <p:tavLst>
                                        <p:tav tm="0">
                                          <p:val>
                                            <p:fltVal val="0"/>
                                          </p:val>
                                        </p:tav>
                                        <p:tav tm="100000">
                                          <p:val>
                                            <p:strVal val="#ppt_w"/>
                                          </p:val>
                                        </p:tav>
                                      </p:tavLst>
                                    </p:anim>
                                    <p:anim calcmode="lin" valueType="num">
                                      <p:cBhvr>
                                        <p:cTn id="61" dur="400" fill="hold"/>
                                        <p:tgtEl>
                                          <p:spTgt spid="314"/>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15"/>
                                        </p:tgtEl>
                                        <p:attrNameLst>
                                          <p:attrName>style.visibility</p:attrName>
                                        </p:attrNameLst>
                                      </p:cBhvr>
                                      <p:to>
                                        <p:strVal val="visible"/>
                                      </p:to>
                                    </p:set>
                                    <p:animEffect filter="fade" transition="in">
                                      <p:cBhvr>
                                        <p:cTn id="66" dur="400"/>
                                        <p:tgtEl>
                                          <p:spTgt spid="3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90"/>
                </p:tgtEl>
              </p:cMediaNode>
            </p:video>
            <p:seq concurrent="1" prevAc="none" nextAc="seek">
              <p:cTn id="68" evtFilter="cancelBubble" nodeType="interactiveSeq" restart="whenNotActive" fill="hold">
                <p:stCondLst>
                  <p:cond delay="0" evt="onClick">
                    <p:tgtEl>
                      <p:spTgt spid="290"/>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90"/>
                                        </p:tgtEl>
                                      </p:cBhvr>
                                    </p:cmd>
                                  </p:childTnLst>
                                </p:cTn>
                              </p:par>
                            </p:childTnLst>
                          </p:cTn>
                        </p:par>
                      </p:childTnLst>
                    </p:cTn>
                  </p:par>
                </p:childTnLst>
              </p:cTn>
              <p:nextCondLst>
                <p:cond delay="0" evt="onClick">
                  <p:tgtEl>
                    <p:spTgt spid="290"/>
                  </p:tgtEl>
                </p:cond>
              </p:nextCondLst>
            </p:seq>
          </p:childTnLst>
        </p:cTn>
      </p:par>
    </p:tnLst>
    <p:bldLst>
      <p:bldP build="whole" bldLvl="1" animBg="1" rev="0" advAuto="0" spid="302" grpId="5"/>
      <p:bldP build="whole" bldLvl="1" animBg="1" rev="0" advAuto="0" spid="309" grpId="8"/>
      <p:bldP build="whole" bldLvl="1" animBg="1" rev="0" advAuto="0" spid="305" grpId="6"/>
      <p:bldP build="whole" bldLvl="1" animBg="1" rev="0" advAuto="0" spid="314" grpId="11"/>
      <p:bldP build="whole" bldLvl="1" animBg="1" rev="0" advAuto="0" spid="301" grpId="4"/>
      <p:bldP build="whole" bldLvl="1" animBg="1" rev="0" advAuto="0" spid="306" grpId="7"/>
      <p:bldP build="whole" bldLvl="1" animBg="1" rev="0" advAuto="0" spid="297" grpId="2"/>
      <p:bldP build="whole" bldLvl="1" animBg="1" rev="0" advAuto="0" spid="315" grpId="12"/>
      <p:bldP build="whole" bldLvl="1" animBg="1" rev="0" advAuto="0" spid="298" grpId="3"/>
      <p:bldP build="whole" bldLvl="1" animBg="1" rev="0" advAuto="0" spid="313" grpId="10"/>
      <p:bldP build="whole" bldLvl="1" animBg="1" rev="0" advAuto="0" spid="310" grpId="9"/>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